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4"/>
  </p:notesMasterIdLst>
  <p:sldIdLst>
    <p:sldId id="285" r:id="rId2"/>
    <p:sldId id="284" r:id="rId3"/>
    <p:sldId id="286" r:id="rId4"/>
    <p:sldId id="283" r:id="rId5"/>
    <p:sldId id="288" r:id="rId6"/>
    <p:sldId id="306" r:id="rId7"/>
    <p:sldId id="307" r:id="rId8"/>
    <p:sldId id="308" r:id="rId9"/>
    <p:sldId id="309" r:id="rId10"/>
    <p:sldId id="311" r:id="rId11"/>
    <p:sldId id="310" r:id="rId12"/>
    <p:sldId id="290" r:id="rId13"/>
    <p:sldId id="296" r:id="rId14"/>
    <p:sldId id="313" r:id="rId15"/>
    <p:sldId id="494" r:id="rId16"/>
    <p:sldId id="297" r:id="rId17"/>
    <p:sldId id="316" r:id="rId18"/>
    <p:sldId id="317" r:id="rId19"/>
    <p:sldId id="318" r:id="rId20"/>
    <p:sldId id="319" r:id="rId21"/>
    <p:sldId id="320" r:id="rId22"/>
    <p:sldId id="322" r:id="rId23"/>
    <p:sldId id="321" r:id="rId24"/>
    <p:sldId id="323" r:id="rId25"/>
    <p:sldId id="291" r:id="rId26"/>
    <p:sldId id="324" r:id="rId27"/>
    <p:sldId id="326" r:id="rId28"/>
    <p:sldId id="328" r:id="rId29"/>
    <p:sldId id="329" r:id="rId30"/>
    <p:sldId id="327" r:id="rId31"/>
    <p:sldId id="314" r:id="rId32"/>
    <p:sldId id="330" r:id="rId33"/>
    <p:sldId id="331" r:id="rId34"/>
    <p:sldId id="332" r:id="rId35"/>
    <p:sldId id="334" r:id="rId36"/>
    <p:sldId id="335" r:id="rId37"/>
    <p:sldId id="292" r:id="rId38"/>
    <p:sldId id="299" r:id="rId39"/>
    <p:sldId id="336" r:id="rId40"/>
    <p:sldId id="337" r:id="rId41"/>
    <p:sldId id="338" r:id="rId42"/>
    <p:sldId id="293" r:id="rId43"/>
    <p:sldId id="300" r:id="rId44"/>
    <p:sldId id="339" r:id="rId45"/>
    <p:sldId id="340" r:id="rId46"/>
    <p:sldId id="341" r:id="rId47"/>
    <p:sldId id="342" r:id="rId48"/>
    <p:sldId id="343" r:id="rId49"/>
    <p:sldId id="344" r:id="rId50"/>
    <p:sldId id="349" r:id="rId51"/>
    <p:sldId id="345" r:id="rId52"/>
    <p:sldId id="346" r:id="rId53"/>
    <p:sldId id="294" r:id="rId54"/>
    <p:sldId id="298" r:id="rId55"/>
    <p:sldId id="479" r:id="rId56"/>
    <p:sldId id="480" r:id="rId57"/>
    <p:sldId id="482" r:id="rId58"/>
    <p:sldId id="481" r:id="rId59"/>
    <p:sldId id="483" r:id="rId60"/>
    <p:sldId id="485" r:id="rId61"/>
    <p:sldId id="484" r:id="rId62"/>
    <p:sldId id="486" r:id="rId63"/>
    <p:sldId id="487" r:id="rId64"/>
    <p:sldId id="488" r:id="rId65"/>
    <p:sldId id="489" r:id="rId66"/>
    <p:sldId id="490" r:id="rId67"/>
    <p:sldId id="491" r:id="rId68"/>
    <p:sldId id="347" r:id="rId69"/>
    <p:sldId id="354" r:id="rId70"/>
    <p:sldId id="348" r:id="rId71"/>
    <p:sldId id="350" r:id="rId72"/>
    <p:sldId id="352" r:id="rId73"/>
    <p:sldId id="356" r:id="rId74"/>
    <p:sldId id="351" r:id="rId75"/>
    <p:sldId id="359" r:id="rId76"/>
    <p:sldId id="360" r:id="rId77"/>
    <p:sldId id="362" r:id="rId78"/>
    <p:sldId id="361" r:id="rId79"/>
    <p:sldId id="363" r:id="rId80"/>
    <p:sldId id="367" r:id="rId81"/>
    <p:sldId id="364" r:id="rId82"/>
    <p:sldId id="368" r:id="rId83"/>
    <p:sldId id="369" r:id="rId84"/>
    <p:sldId id="372" r:id="rId85"/>
    <p:sldId id="370" r:id="rId86"/>
    <p:sldId id="374" r:id="rId87"/>
    <p:sldId id="371" r:id="rId88"/>
    <p:sldId id="373" r:id="rId89"/>
    <p:sldId id="365" r:id="rId90"/>
    <p:sldId id="353" r:id="rId91"/>
    <p:sldId id="375" r:id="rId92"/>
    <p:sldId id="301" r:id="rId93"/>
    <p:sldId id="295" r:id="rId94"/>
    <p:sldId id="387" r:id="rId95"/>
    <p:sldId id="376" r:id="rId96"/>
    <p:sldId id="377" r:id="rId97"/>
    <p:sldId id="378" r:id="rId98"/>
    <p:sldId id="379" r:id="rId99"/>
    <p:sldId id="380" r:id="rId100"/>
    <p:sldId id="381" r:id="rId101"/>
    <p:sldId id="382" r:id="rId102"/>
    <p:sldId id="383" r:id="rId103"/>
    <p:sldId id="384" r:id="rId104"/>
    <p:sldId id="385" r:id="rId105"/>
    <p:sldId id="386" r:id="rId106"/>
    <p:sldId id="389" r:id="rId107"/>
    <p:sldId id="390" r:id="rId108"/>
    <p:sldId id="392" r:id="rId109"/>
    <p:sldId id="391" r:id="rId110"/>
    <p:sldId id="393" r:id="rId111"/>
    <p:sldId id="394" r:id="rId112"/>
    <p:sldId id="395" r:id="rId113"/>
    <p:sldId id="396" r:id="rId114"/>
    <p:sldId id="404" r:id="rId115"/>
    <p:sldId id="405" r:id="rId116"/>
    <p:sldId id="388" r:id="rId117"/>
    <p:sldId id="406" r:id="rId118"/>
    <p:sldId id="408" r:id="rId119"/>
    <p:sldId id="409" r:id="rId120"/>
    <p:sldId id="410" r:id="rId121"/>
    <p:sldId id="411" r:id="rId122"/>
    <p:sldId id="412" r:id="rId123"/>
    <p:sldId id="413" r:id="rId124"/>
    <p:sldId id="414" r:id="rId125"/>
    <p:sldId id="415" r:id="rId126"/>
    <p:sldId id="302" r:id="rId127"/>
    <p:sldId id="303" r:id="rId128"/>
    <p:sldId id="419" r:id="rId129"/>
    <p:sldId id="418" r:id="rId130"/>
    <p:sldId id="417" r:id="rId131"/>
    <p:sldId id="421" r:id="rId132"/>
    <p:sldId id="495" r:id="rId133"/>
    <p:sldId id="305" r:id="rId134"/>
    <p:sldId id="423" r:id="rId135"/>
    <p:sldId id="424" r:id="rId136"/>
    <p:sldId id="425" r:id="rId137"/>
    <p:sldId id="420" r:id="rId138"/>
    <p:sldId id="427" r:id="rId139"/>
    <p:sldId id="428" r:id="rId140"/>
    <p:sldId id="496" r:id="rId141"/>
    <p:sldId id="430" r:id="rId142"/>
    <p:sldId id="431" r:id="rId143"/>
    <p:sldId id="433" r:id="rId144"/>
    <p:sldId id="426" r:id="rId145"/>
    <p:sldId id="434" r:id="rId146"/>
    <p:sldId id="435" r:id="rId147"/>
    <p:sldId id="436" r:id="rId148"/>
    <p:sldId id="437" r:id="rId149"/>
    <p:sldId id="438" r:id="rId150"/>
    <p:sldId id="439" r:id="rId151"/>
    <p:sldId id="440" r:id="rId152"/>
    <p:sldId id="441" r:id="rId153"/>
    <p:sldId id="442" r:id="rId154"/>
    <p:sldId id="416" r:id="rId155"/>
    <p:sldId id="304" r:id="rId156"/>
    <p:sldId id="422" r:id="rId157"/>
    <p:sldId id="445" r:id="rId158"/>
    <p:sldId id="447" r:id="rId159"/>
    <p:sldId id="446" r:id="rId160"/>
    <p:sldId id="464" r:id="rId161"/>
    <p:sldId id="465" r:id="rId162"/>
    <p:sldId id="468" r:id="rId163"/>
    <p:sldId id="466" r:id="rId164"/>
    <p:sldId id="470" r:id="rId165"/>
    <p:sldId id="477" r:id="rId166"/>
    <p:sldId id="467" r:id="rId167"/>
    <p:sldId id="478" r:id="rId168"/>
    <p:sldId id="471" r:id="rId169"/>
    <p:sldId id="472" r:id="rId170"/>
    <p:sldId id="473" r:id="rId171"/>
    <p:sldId id="444" r:id="rId172"/>
    <p:sldId id="443" r:id="rId173"/>
    <p:sldId id="265" r:id="rId174"/>
    <p:sldId id="456" r:id="rId175"/>
    <p:sldId id="448" r:id="rId176"/>
    <p:sldId id="452" r:id="rId177"/>
    <p:sldId id="455" r:id="rId178"/>
    <p:sldId id="457" r:id="rId179"/>
    <p:sldId id="397" r:id="rId180"/>
    <p:sldId id="403" r:id="rId181"/>
    <p:sldId id="449" r:id="rId182"/>
    <p:sldId id="498" r:id="rId183"/>
    <p:sldId id="458" r:id="rId184"/>
    <p:sldId id="459" r:id="rId185"/>
    <p:sldId id="492" r:id="rId186"/>
    <p:sldId id="399" r:id="rId187"/>
    <p:sldId id="398" r:id="rId188"/>
    <p:sldId id="460" r:id="rId189"/>
    <p:sldId id="400" r:id="rId190"/>
    <p:sldId id="401" r:id="rId191"/>
    <p:sldId id="454" r:id="rId192"/>
    <p:sldId id="450" r:id="rId193"/>
    <p:sldId id="461" r:id="rId194"/>
    <p:sldId id="402" r:id="rId195"/>
    <p:sldId id="497" r:id="rId196"/>
    <p:sldId id="462" r:id="rId197"/>
    <p:sldId id="463" r:id="rId198"/>
    <p:sldId id="453" r:id="rId199"/>
    <p:sldId id="474" r:id="rId200"/>
    <p:sldId id="493" r:id="rId201"/>
    <p:sldId id="476" r:id="rId202"/>
    <p:sldId id="264" r:id="rId203"/>
  </p:sldIdLst>
  <p:sldSz cx="9144000" cy="6858000" type="screen4x3"/>
  <p:notesSz cx="6858000" cy="9144000"/>
  <p:defaultTextStyle>
    <a:defPPr>
      <a:defRPr lang="en-US"/>
    </a:defPPr>
    <a:lvl1pPr algn="l" rtl="0" eaLnBrk="0" fontAlgn="base" hangingPunct="0">
      <a:spcBef>
        <a:spcPct val="0"/>
      </a:spcBef>
      <a:spcAft>
        <a:spcPct val="0"/>
      </a:spcAft>
      <a:buChar char="•"/>
      <a:defRPr sz="16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buChar char="•"/>
      <a:defRPr sz="16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buChar char="•"/>
      <a:defRPr sz="16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buChar char="•"/>
      <a:defRPr sz="16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buChar char="•"/>
      <a:defRPr sz="1600" kern="1200">
        <a:solidFill>
          <a:schemeClr val="tx1"/>
        </a:solidFill>
        <a:latin typeface="Times New Roman" pitchFamily="18" charset="0"/>
        <a:ea typeface="+mn-ea"/>
        <a:cs typeface="+mn-cs"/>
      </a:defRPr>
    </a:lvl5pPr>
    <a:lvl6pPr marL="2286000" algn="l" defTabSz="914400" rtl="0" eaLnBrk="1" latinLnBrk="0" hangingPunct="1">
      <a:defRPr sz="1600" kern="1200">
        <a:solidFill>
          <a:schemeClr val="tx1"/>
        </a:solidFill>
        <a:latin typeface="Times New Roman" pitchFamily="18" charset="0"/>
        <a:ea typeface="+mn-ea"/>
        <a:cs typeface="+mn-cs"/>
      </a:defRPr>
    </a:lvl6pPr>
    <a:lvl7pPr marL="2743200" algn="l" defTabSz="914400" rtl="0" eaLnBrk="1" latinLnBrk="0" hangingPunct="1">
      <a:defRPr sz="1600" kern="1200">
        <a:solidFill>
          <a:schemeClr val="tx1"/>
        </a:solidFill>
        <a:latin typeface="Times New Roman" pitchFamily="18" charset="0"/>
        <a:ea typeface="+mn-ea"/>
        <a:cs typeface="+mn-cs"/>
      </a:defRPr>
    </a:lvl7pPr>
    <a:lvl8pPr marL="3200400" algn="l" defTabSz="914400" rtl="0" eaLnBrk="1" latinLnBrk="0" hangingPunct="1">
      <a:defRPr sz="1600" kern="1200">
        <a:solidFill>
          <a:schemeClr val="tx1"/>
        </a:solidFill>
        <a:latin typeface="Times New Roman" pitchFamily="18" charset="0"/>
        <a:ea typeface="+mn-ea"/>
        <a:cs typeface="+mn-cs"/>
      </a:defRPr>
    </a:lvl8pPr>
    <a:lvl9pPr marL="3657600" algn="l" defTabSz="914400" rtl="0" eaLnBrk="1" latinLnBrk="0" hangingPunct="1">
      <a:defRPr sz="16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99"/>
    <a:srgbClr val="DDDDDD"/>
    <a:srgbClr val="FFCCCC"/>
    <a:srgbClr val="003399"/>
    <a:srgbClr val="000000"/>
    <a:srgbClr val="FFFFCC"/>
    <a:srgbClr val="CCCCFF"/>
    <a:srgbClr val="CC0000"/>
    <a:srgbClr val="FFCCFF"/>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567" autoAdjust="0"/>
    <p:restoredTop sz="91886" autoAdjust="0"/>
  </p:normalViewPr>
  <p:slideViewPr>
    <p:cSldViewPr>
      <p:cViewPr>
        <p:scale>
          <a:sx n="90" d="100"/>
          <a:sy n="90" d="100"/>
        </p:scale>
        <p:origin x="-774" y="-4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viewProps" Target="viewProps.xml"/><Relationship Id="rId201" Type="http://schemas.openxmlformats.org/officeDocument/2006/relationships/slide" Target="slides/slide200.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2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570B1B-221F-4D79-B845-E31BC984E289}" type="datetimeFigureOut">
              <a:rPr lang="en-CA" smtClean="0"/>
              <a:t>20/02/2012</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630DF0C-DFF6-49EE-8B8C-718E67678C08}" type="slidenum">
              <a:rPr lang="en-CA" smtClean="0"/>
              <a:t>‹#›</a:t>
            </a:fld>
            <a:endParaRPr lang="en-CA"/>
          </a:p>
        </p:txBody>
      </p:sp>
    </p:spTree>
    <p:extLst>
      <p:ext uri="{BB962C8B-B14F-4D97-AF65-F5344CB8AC3E}">
        <p14:creationId xmlns:p14="http://schemas.microsoft.com/office/powerpoint/2010/main" val="3769009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6630DF0C-DFF6-49EE-8B8C-718E67678C08}" type="slidenum">
              <a:rPr lang="en-CA" smtClean="0"/>
              <a:t>84</a:t>
            </a:fld>
            <a:endParaRPr lang="en-CA"/>
          </a:p>
        </p:txBody>
      </p:sp>
    </p:spTree>
    <p:extLst>
      <p:ext uri="{BB962C8B-B14F-4D97-AF65-F5344CB8AC3E}">
        <p14:creationId xmlns:p14="http://schemas.microsoft.com/office/powerpoint/2010/main" val="3542398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0683EDB-7658-49F0-B96C-482436AB937A}" type="slidenum">
              <a:rPr lang="en-US"/>
              <a:pPr>
                <a:defRPr/>
              </a:pPr>
              <a:t>‹#›</a:t>
            </a:fld>
            <a:endParaRPr lang="en-US"/>
          </a:p>
        </p:txBody>
      </p:sp>
    </p:spTree>
    <p:extLst>
      <p:ext uri="{BB962C8B-B14F-4D97-AF65-F5344CB8AC3E}">
        <p14:creationId xmlns:p14="http://schemas.microsoft.com/office/powerpoint/2010/main" val="938673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D68C6A5-5F34-433B-BEF2-D75336D8F66B}" type="slidenum">
              <a:rPr lang="en-US"/>
              <a:pPr>
                <a:defRPr/>
              </a:pPr>
              <a:t>‹#›</a:t>
            </a:fld>
            <a:endParaRPr lang="en-US"/>
          </a:p>
        </p:txBody>
      </p:sp>
    </p:spTree>
    <p:extLst>
      <p:ext uri="{BB962C8B-B14F-4D97-AF65-F5344CB8AC3E}">
        <p14:creationId xmlns:p14="http://schemas.microsoft.com/office/powerpoint/2010/main" val="96536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A43159B-F416-48EB-AFD8-0D67CCFF83DA}" type="slidenum">
              <a:rPr lang="en-US"/>
              <a:pPr>
                <a:defRPr/>
              </a:pPr>
              <a:t>‹#›</a:t>
            </a:fld>
            <a:endParaRPr lang="en-US"/>
          </a:p>
        </p:txBody>
      </p:sp>
    </p:spTree>
    <p:extLst>
      <p:ext uri="{BB962C8B-B14F-4D97-AF65-F5344CB8AC3E}">
        <p14:creationId xmlns:p14="http://schemas.microsoft.com/office/powerpoint/2010/main" val="1672425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FAB0D56-0BC9-4273-A9F4-3F8CA2F59713}" type="slidenum">
              <a:rPr lang="en-US"/>
              <a:pPr>
                <a:defRPr/>
              </a:pPr>
              <a:t>‹#›</a:t>
            </a:fld>
            <a:endParaRPr lang="en-US"/>
          </a:p>
        </p:txBody>
      </p:sp>
    </p:spTree>
    <p:extLst>
      <p:ext uri="{BB962C8B-B14F-4D97-AF65-F5344CB8AC3E}">
        <p14:creationId xmlns:p14="http://schemas.microsoft.com/office/powerpoint/2010/main" val="865059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FA49927B-F1A3-4639-8186-1E50C9855921}" type="slidenum">
              <a:rPr lang="en-US"/>
              <a:pPr>
                <a:defRPr/>
              </a:pPr>
              <a:t>‹#›</a:t>
            </a:fld>
            <a:endParaRPr lang="en-US"/>
          </a:p>
        </p:txBody>
      </p:sp>
    </p:spTree>
    <p:extLst>
      <p:ext uri="{BB962C8B-B14F-4D97-AF65-F5344CB8AC3E}">
        <p14:creationId xmlns:p14="http://schemas.microsoft.com/office/powerpoint/2010/main" val="1186329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2EA72CB5-5472-4B1F-9EF4-151FAEB37976}" type="slidenum">
              <a:rPr lang="en-US"/>
              <a:pPr>
                <a:defRPr/>
              </a:pPr>
              <a:t>‹#›</a:t>
            </a:fld>
            <a:endParaRPr lang="en-US"/>
          </a:p>
        </p:txBody>
      </p:sp>
    </p:spTree>
    <p:extLst>
      <p:ext uri="{BB962C8B-B14F-4D97-AF65-F5344CB8AC3E}">
        <p14:creationId xmlns:p14="http://schemas.microsoft.com/office/powerpoint/2010/main" val="361313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5019D0FD-30FE-4170-95C0-BCF9C0F390F3}" type="slidenum">
              <a:rPr lang="en-US"/>
              <a:pPr>
                <a:defRPr/>
              </a:pPr>
              <a:t>‹#›</a:t>
            </a:fld>
            <a:endParaRPr lang="en-US"/>
          </a:p>
        </p:txBody>
      </p:sp>
    </p:spTree>
    <p:extLst>
      <p:ext uri="{BB962C8B-B14F-4D97-AF65-F5344CB8AC3E}">
        <p14:creationId xmlns:p14="http://schemas.microsoft.com/office/powerpoint/2010/main" val="2109020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3518395-F6C6-45F5-A069-971B06276970}" type="slidenum">
              <a:rPr lang="en-US"/>
              <a:pPr>
                <a:defRPr/>
              </a:pPr>
              <a:t>‹#›</a:t>
            </a:fld>
            <a:endParaRPr lang="en-US"/>
          </a:p>
        </p:txBody>
      </p:sp>
    </p:spTree>
    <p:extLst>
      <p:ext uri="{BB962C8B-B14F-4D97-AF65-F5344CB8AC3E}">
        <p14:creationId xmlns:p14="http://schemas.microsoft.com/office/powerpoint/2010/main" val="3636871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84BA80D-924E-4707-B875-F04FCA076672}" type="slidenum">
              <a:rPr lang="en-US"/>
              <a:pPr>
                <a:defRPr/>
              </a:pPr>
              <a:t>‹#›</a:t>
            </a:fld>
            <a:endParaRPr lang="en-US"/>
          </a:p>
        </p:txBody>
      </p:sp>
    </p:spTree>
    <p:extLst>
      <p:ext uri="{BB962C8B-B14F-4D97-AF65-F5344CB8AC3E}">
        <p14:creationId xmlns:p14="http://schemas.microsoft.com/office/powerpoint/2010/main" val="3019447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F9DA9CF-A1B5-48A4-AB96-D2612E5D5DC8}" type="slidenum">
              <a:rPr lang="en-US"/>
              <a:pPr>
                <a:defRPr/>
              </a:pPr>
              <a:t>‹#›</a:t>
            </a:fld>
            <a:endParaRPr lang="en-US"/>
          </a:p>
        </p:txBody>
      </p:sp>
    </p:spTree>
    <p:extLst>
      <p:ext uri="{BB962C8B-B14F-4D97-AF65-F5344CB8AC3E}">
        <p14:creationId xmlns:p14="http://schemas.microsoft.com/office/powerpoint/2010/main" val="777095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A741A1C-B620-4E66-A1EF-7E4FB95DE759}" type="slidenum">
              <a:rPr lang="en-US"/>
              <a:pPr>
                <a:defRPr/>
              </a:pPr>
              <a:t>‹#›</a:t>
            </a:fld>
            <a:endParaRPr lang="en-US"/>
          </a:p>
        </p:txBody>
      </p:sp>
    </p:spTree>
    <p:extLst>
      <p:ext uri="{BB962C8B-B14F-4D97-AF65-F5344CB8AC3E}">
        <p14:creationId xmlns:p14="http://schemas.microsoft.com/office/powerpoint/2010/main" val="2602410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CC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buFontTx/>
              <a:buNone/>
              <a:defRPr sz="1400" smtClean="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buFontTx/>
              <a:buNone/>
              <a:defRPr sz="1400" smtClean="0"/>
            </a:lvl1pPr>
          </a:lstStyle>
          <a:p>
            <a:pPr>
              <a:defRPr/>
            </a:pPr>
            <a:endParaRPr lang="en-US"/>
          </a:p>
        </p:txBody>
      </p:sp>
      <p:sp>
        <p:nvSpPr>
          <p:cNvPr id="1030" name="Rectangle 6"/>
          <p:cNvSpPr>
            <a:spLocks noGrp="1" noChangeArrowheads="1"/>
          </p:cNvSpPr>
          <p:nvPr>
            <p:ph type="sldNum" sz="quarter" idx="4"/>
          </p:nvPr>
        </p:nvSpPr>
        <p:spPr bwMode="auto">
          <a:xfrm>
            <a:off x="72390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buFontTx/>
              <a:buNone/>
              <a:defRPr sz="1400" smtClean="0">
                <a:solidFill>
                  <a:srgbClr val="7030A0"/>
                </a:solidFill>
              </a:defRPr>
            </a:lvl1pPr>
          </a:lstStyle>
          <a:p>
            <a:pPr>
              <a:defRPr/>
            </a:pPr>
            <a:fld id="{C90943BB-9970-4C5A-9350-9EA8FDED40E1}"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3.vml"/><Relationship Id="rId4" Type="http://schemas.openxmlformats.org/officeDocument/2006/relationships/image" Target="../media/image5.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image" Target="../media/image7.wmf"/><Relationship Id="rId5" Type="http://schemas.openxmlformats.org/officeDocument/2006/relationships/oleObject" Target="../embeddings/oleObject5.bin"/><Relationship Id="rId4" Type="http://schemas.openxmlformats.org/officeDocument/2006/relationships/image" Target="../media/image6.wmf"/></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6.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5.vml"/><Relationship Id="rId4" Type="http://schemas.openxmlformats.org/officeDocument/2006/relationships/image" Target="../media/image13.wmf"/></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5.wmf"/><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oleObject" Target="../embeddings/oleObject8.bin"/><Relationship Id="rId5" Type="http://schemas.openxmlformats.org/officeDocument/2006/relationships/image" Target="../media/image14.wmf"/><Relationship Id="rId4" Type="http://schemas.openxmlformats.org/officeDocument/2006/relationships/oleObject" Target="../embeddings/oleObject7.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vmlDrawing" Target="../drawings/vmlDrawing7.vml"/><Relationship Id="rId4" Type="http://schemas.openxmlformats.org/officeDocument/2006/relationships/image" Target="../media/image13.wmf"/></Relationships>
</file>

<file path=ppt/slides/_rels/slide3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jpeg"/><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6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hyperlink" Target="http://arxiv.org/PS_cache/cs/pdf/0207/0207061v2.pdf" TargetMode="Externa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8.vml"/><Relationship Id="rId4" Type="http://schemas.openxmlformats.org/officeDocument/2006/relationships/image" Target="../media/image17.wmf"/></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6.xml"/><Relationship Id="rId1" Type="http://schemas.openxmlformats.org/officeDocument/2006/relationships/vmlDrawing" Target="../drawings/vmlDrawing9.vml"/><Relationship Id="rId6" Type="http://schemas.openxmlformats.org/officeDocument/2006/relationships/image" Target="../media/image19.wmf"/><Relationship Id="rId5" Type="http://schemas.openxmlformats.org/officeDocument/2006/relationships/oleObject" Target="../embeddings/oleObject12.bin"/><Relationship Id="rId4" Type="http://schemas.openxmlformats.org/officeDocument/2006/relationships/image" Target="../media/image18.wmf"/></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1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6.xml"/><Relationship Id="rId5" Type="http://schemas.openxmlformats.org/officeDocument/2006/relationships/image" Target="../media/image26.png"/><Relationship Id="rId4" Type="http://schemas.openxmlformats.org/officeDocument/2006/relationships/image" Target="../media/image12.jpeg"/></Relationships>
</file>

<file path=ppt/slides/_rels/slide14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6.xml"/><Relationship Id="rId1" Type="http://schemas.openxmlformats.org/officeDocument/2006/relationships/vmlDrawing" Target="../drawings/vmlDrawing10.vml"/><Relationship Id="rId6" Type="http://schemas.openxmlformats.org/officeDocument/2006/relationships/image" Target="../media/image21.wmf"/><Relationship Id="rId5" Type="http://schemas.openxmlformats.org/officeDocument/2006/relationships/oleObject" Target="../embeddings/oleObject14.bin"/><Relationship Id="rId4" Type="http://schemas.openxmlformats.org/officeDocument/2006/relationships/image" Target="../media/image20.wmf"/></Relationships>
</file>

<file path=ppt/slides/_rels/slide142.xml.rels><?xml version="1.0" encoding="UTF-8" standalone="yes"?>
<Relationships xmlns="http://schemas.openxmlformats.org/package/2006/relationships"><Relationship Id="rId7" Type="http://schemas.openxmlformats.org/officeDocument/2006/relationships/image" Target="../media/image27.png"/><Relationship Id="rId2" Type="http://schemas.openxmlformats.org/officeDocument/2006/relationships/image" Target="../media/image12.jpeg"/><Relationship Id="rId1" Type="http://schemas.openxmlformats.org/officeDocument/2006/relationships/slideLayout" Target="../slideLayouts/slideLayout6.xml"/><Relationship Id="rId6" Type="http://schemas.openxmlformats.org/officeDocument/2006/relationships/image" Target="../media/image31.png"/><Relationship Id="rId10" Type="http://schemas.openxmlformats.org/officeDocument/2006/relationships/image" Target="../media/image33.png"/><Relationship Id="rId9" Type="http://schemas.openxmlformats.org/officeDocument/2006/relationships/image" Target="../media/image32.png"/></Relationships>
</file>

<file path=ppt/slides/_rels/slide1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 Id="rId5" Type="http://schemas.openxmlformats.org/officeDocument/2006/relationships/image" Target="../media/image36.png"/><Relationship Id="rId4" Type="http://schemas.openxmlformats.org/officeDocument/2006/relationships/image" Target="../media/image12.jpe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5.bin"/><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7.bin"/><Relationship Id="rId5" Type="http://schemas.openxmlformats.org/officeDocument/2006/relationships/oleObject" Target="../embeddings/oleObject16.bin"/><Relationship Id="rId4" Type="http://schemas.openxmlformats.org/officeDocument/2006/relationships/image" Target="../media/image22.wmf"/></Relationships>
</file>

<file path=ppt/slides/_rels/slide17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21.bin"/><Relationship Id="rId5" Type="http://schemas.openxmlformats.org/officeDocument/2006/relationships/oleObject" Target="../embeddings/oleObject20.bin"/><Relationship Id="rId4" Type="http://schemas.openxmlformats.org/officeDocument/2006/relationships/image" Target="../media/image22.wmf"/></Relationships>
</file>

<file path=ppt/slides/_rels/slide175.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24.bin"/><Relationship Id="rId5" Type="http://schemas.openxmlformats.org/officeDocument/2006/relationships/oleObject" Target="../embeddings/oleObject23.bin"/><Relationship Id="rId4" Type="http://schemas.openxmlformats.org/officeDocument/2006/relationships/image" Target="../media/image22.wmf"/></Relationships>
</file>

<file path=ppt/slides/_rels/slide176.xml.rels><?xml version="1.0" encoding="UTF-8" standalone="yes"?>
<Relationships xmlns="http://schemas.openxmlformats.org/package/2006/relationships"><Relationship Id="rId3" Type="http://schemas.openxmlformats.org/officeDocument/2006/relationships/oleObject" Target="../embeddings/oleObject25.bin"/><Relationship Id="rId7"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27.bin"/><Relationship Id="rId5" Type="http://schemas.openxmlformats.org/officeDocument/2006/relationships/oleObject" Target="../embeddings/oleObject26.bin"/><Relationship Id="rId4" Type="http://schemas.openxmlformats.org/officeDocument/2006/relationships/image" Target="../media/image22.wmf"/></Relationships>
</file>

<file path=ppt/slides/_rels/slide17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30.bin"/><Relationship Id="rId5" Type="http://schemas.openxmlformats.org/officeDocument/2006/relationships/oleObject" Target="../embeddings/oleObject29.bin"/><Relationship Id="rId4" Type="http://schemas.openxmlformats.org/officeDocument/2006/relationships/image" Target="../media/image22.wmf"/></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oleObject" Target="../embeddings/oleObject33.bin"/><Relationship Id="rId5" Type="http://schemas.openxmlformats.org/officeDocument/2006/relationships/oleObject" Target="../embeddings/oleObject32.bin"/><Relationship Id="rId4" Type="http://schemas.openxmlformats.org/officeDocument/2006/relationships/image" Target="../media/image22.wmf"/></Relationships>
</file>

<file path=ppt/slides/_rels/slide180.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oleObject" Target="../embeddings/oleObject34.bin"/><Relationship Id="rId7"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36.bin"/><Relationship Id="rId5" Type="http://schemas.openxmlformats.org/officeDocument/2006/relationships/oleObject" Target="../embeddings/oleObject35.bin"/><Relationship Id="rId4" Type="http://schemas.openxmlformats.org/officeDocument/2006/relationships/image" Target="../media/image22.wmf"/><Relationship Id="rId9" Type="http://schemas.openxmlformats.org/officeDocument/2006/relationships/oleObject" Target="../embeddings/oleObject39.bin"/></Relationships>
</file>

<file path=ppt/slides/_rels/slide181.xml.rels><?xml version="1.0" encoding="UTF-8" standalone="yes"?>
<Relationships xmlns="http://schemas.openxmlformats.org/package/2006/relationships"><Relationship Id="rId3" Type="http://schemas.openxmlformats.org/officeDocument/2006/relationships/oleObject" Target="../embeddings/oleObject40.bin"/><Relationship Id="rId7"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42.bin"/><Relationship Id="rId5" Type="http://schemas.openxmlformats.org/officeDocument/2006/relationships/oleObject" Target="../embeddings/oleObject41.bin"/><Relationship Id="rId4" Type="http://schemas.openxmlformats.org/officeDocument/2006/relationships/image" Target="../media/image22.wmf"/></Relationships>
</file>

<file path=ppt/slides/_rels/slide182.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45.bin"/><Relationship Id="rId5" Type="http://schemas.openxmlformats.org/officeDocument/2006/relationships/oleObject" Target="../embeddings/oleObject44.bin"/><Relationship Id="rId4" Type="http://schemas.openxmlformats.org/officeDocument/2006/relationships/image" Target="../media/image22.wmf"/></Relationships>
</file>

<file path=ppt/slides/_rels/slide183.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oleObject" Target="../embeddings/oleObject48.bin"/><Relationship Id="rId5" Type="http://schemas.openxmlformats.org/officeDocument/2006/relationships/oleObject" Target="../embeddings/oleObject47.bin"/><Relationship Id="rId4" Type="http://schemas.openxmlformats.org/officeDocument/2006/relationships/image" Target="../media/image22.wmf"/></Relationships>
</file>

<file path=ppt/slides/_rels/slide184.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oleObject" Target="../embeddings/oleObject51.bin"/><Relationship Id="rId5" Type="http://schemas.openxmlformats.org/officeDocument/2006/relationships/oleObject" Target="../embeddings/oleObject50.bin"/><Relationship Id="rId4" Type="http://schemas.openxmlformats.org/officeDocument/2006/relationships/image" Target="../media/image22.wmf"/></Relationships>
</file>

<file path=ppt/slides/_rels/slide185.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54.bin"/><Relationship Id="rId5" Type="http://schemas.openxmlformats.org/officeDocument/2006/relationships/oleObject" Target="../embeddings/oleObject53.bin"/><Relationship Id="rId4" Type="http://schemas.openxmlformats.org/officeDocument/2006/relationships/image" Target="../media/image22.wmf"/></Relationships>
</file>

<file path=ppt/slides/_rels/slide186.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57.bin"/><Relationship Id="rId5" Type="http://schemas.openxmlformats.org/officeDocument/2006/relationships/oleObject" Target="../embeddings/oleObject56.bin"/><Relationship Id="rId4" Type="http://schemas.openxmlformats.org/officeDocument/2006/relationships/image" Target="../media/image22.wmf"/></Relationships>
</file>

<file path=ppt/slides/_rels/slide187.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oleObject" Target="../embeddings/oleObject60.bin"/><Relationship Id="rId5" Type="http://schemas.openxmlformats.org/officeDocument/2006/relationships/oleObject" Target="../embeddings/oleObject59.bin"/><Relationship Id="rId4" Type="http://schemas.openxmlformats.org/officeDocument/2006/relationships/image" Target="../media/image22.wmf"/></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oleObject" Target="../embeddings/oleObject63.bin"/><Relationship Id="rId5" Type="http://schemas.openxmlformats.org/officeDocument/2006/relationships/oleObject" Target="../embeddings/oleObject62.bin"/><Relationship Id="rId4" Type="http://schemas.openxmlformats.org/officeDocument/2006/relationships/image" Target="../media/image22.wmf"/></Relationships>
</file>

<file path=ppt/slides/_rels/slide190.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oleObject" Target="../embeddings/oleObject66.bin"/><Relationship Id="rId5" Type="http://schemas.openxmlformats.org/officeDocument/2006/relationships/oleObject" Target="../embeddings/oleObject65.bin"/><Relationship Id="rId4" Type="http://schemas.openxmlformats.org/officeDocument/2006/relationships/image" Target="../media/image22.wmf"/></Relationships>
</file>

<file path=ppt/slides/_rels/slide191.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oleObject" Target="../embeddings/oleObject69.bin"/><Relationship Id="rId5" Type="http://schemas.openxmlformats.org/officeDocument/2006/relationships/oleObject" Target="../embeddings/oleObject68.bin"/><Relationship Id="rId4" Type="http://schemas.openxmlformats.org/officeDocument/2006/relationships/image" Target="../media/image22.wmf"/></Relationships>
</file>

<file path=ppt/slides/_rels/slide192.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oleObject" Target="../embeddings/oleObject72.bin"/><Relationship Id="rId5" Type="http://schemas.openxmlformats.org/officeDocument/2006/relationships/oleObject" Target="../embeddings/oleObject71.bin"/><Relationship Id="rId4" Type="http://schemas.openxmlformats.org/officeDocument/2006/relationships/image" Target="../media/image22.wmf"/></Relationships>
</file>

<file path=ppt/slides/_rels/slide193.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oleObject" Target="../embeddings/oleObject75.bin"/><Relationship Id="rId5" Type="http://schemas.openxmlformats.org/officeDocument/2006/relationships/oleObject" Target="../embeddings/oleObject74.bin"/><Relationship Id="rId4" Type="http://schemas.openxmlformats.org/officeDocument/2006/relationships/image" Target="../media/image22.wmf"/></Relationships>
</file>

<file path=ppt/slides/_rels/slide194.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oleObject" Target="../embeddings/oleObject78.bin"/><Relationship Id="rId5" Type="http://schemas.openxmlformats.org/officeDocument/2006/relationships/oleObject" Target="../embeddings/oleObject77.bin"/><Relationship Id="rId4" Type="http://schemas.openxmlformats.org/officeDocument/2006/relationships/image" Target="../media/image22.wmf"/></Relationships>
</file>

<file path=ppt/slides/_rels/slide195.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oleObject" Target="../embeddings/oleObject81.bin"/><Relationship Id="rId5" Type="http://schemas.openxmlformats.org/officeDocument/2006/relationships/oleObject" Target="../embeddings/oleObject80.bin"/><Relationship Id="rId4" Type="http://schemas.openxmlformats.org/officeDocument/2006/relationships/image" Target="../media/image22.wmf"/></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oleObject" Target="../embeddings/oleObject84.bin"/><Relationship Id="rId5" Type="http://schemas.openxmlformats.org/officeDocument/2006/relationships/oleObject" Target="../embeddings/oleObject83.bin"/><Relationship Id="rId4" Type="http://schemas.openxmlformats.org/officeDocument/2006/relationships/image" Target="../media/image22.wmf"/></Relationships>
</file>

<file path=ppt/slides/_rels/slide198.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oleObject" Target="../embeddings/oleObject87.bin"/><Relationship Id="rId5" Type="http://schemas.openxmlformats.org/officeDocument/2006/relationships/oleObject" Target="../embeddings/oleObject86.bin"/><Relationship Id="rId4" Type="http://schemas.openxmlformats.org/officeDocument/2006/relationships/image" Target="../media/image22.wmf"/></Relationships>
</file>

<file path=ppt/slides/_rels/slide19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2.xml"/><Relationship Id="rId1" Type="http://schemas.openxmlformats.org/officeDocument/2006/relationships/vmlDrawing" Target="../drawings/vmlDrawing34.vml"/><Relationship Id="rId4" Type="http://schemas.openxmlformats.org/officeDocument/2006/relationships/image" Target="../media/image24.wmf"/></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descr="White marble"/>
          <p:cNvSpPr>
            <a:spLocks noChangeArrowheads="1"/>
          </p:cNvSpPr>
          <p:nvPr/>
        </p:nvSpPr>
        <p:spPr bwMode="auto">
          <a:xfrm>
            <a:off x="0" y="0"/>
            <a:ext cx="9144000" cy="6858000"/>
          </a:xfrm>
          <a:prstGeom prst="rect">
            <a:avLst/>
          </a:prstGeom>
          <a:blipFill dpi="0" rotWithShape="0">
            <a:blip r:embed="rId2"/>
            <a:srcRect/>
            <a:tile tx="0" ty="0" sx="100000" sy="100000" flip="none" algn="tl"/>
          </a:blipFill>
          <a:ln w="3175">
            <a:pattFill prst="smCheck">
              <a:fgClr>
                <a:srgbClr val="990000"/>
              </a:fgClr>
              <a:bgClr>
                <a:srgbClr val="FFFFFF"/>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pic>
        <p:nvPicPr>
          <p:cNvPr id="2051" name="Picture 3" descr="tn_imgJJhXnYaKk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2400"/>
            <a:ext cx="8839200" cy="2106613"/>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4"/>
          <p:cNvSpPr>
            <a:spLocks noGrp="1" noChangeArrowheads="1"/>
          </p:cNvSpPr>
          <p:nvPr>
            <p:ph type="title"/>
          </p:nvPr>
        </p:nvSpPr>
        <p:spPr>
          <a:xfrm>
            <a:off x="228600" y="228600"/>
            <a:ext cx="3135313" cy="847725"/>
          </a:xfrm>
          <a:noFill/>
          <a:extLst>
            <a:ext uri="{91240B29-F687-4F45-9708-019B960494DF}">
              <a14:hiddenLine xmlns:a14="http://schemas.microsoft.com/office/drawing/2010/main" w="38100" cmpd="sng">
                <a:solidFill>
                  <a:schemeClr val="tx1"/>
                </a:solidFill>
                <a:miter lim="800000"/>
                <a:headEnd/>
                <a:tailEnd/>
              </a14:hiddenLine>
            </a:ext>
          </a:extLst>
        </p:spPr>
        <p:txBody>
          <a:bodyPr/>
          <a:lstStyle/>
          <a:p>
            <a:pPr eaLnBrk="1" hangingPunct="1"/>
            <a:r>
              <a:rPr lang="en-US" sz="4800" b="1" smtClean="0">
                <a:solidFill>
                  <a:schemeClr val="bg1"/>
                </a:solidFill>
              </a:rPr>
              <a:t>CSE 3101</a:t>
            </a:r>
            <a:endParaRPr lang="en-US" sz="1400" b="1" smtClean="0">
              <a:solidFill>
                <a:schemeClr val="bg1"/>
              </a:solidFill>
            </a:endParaRPr>
          </a:p>
        </p:txBody>
      </p:sp>
      <p:sp>
        <p:nvSpPr>
          <p:cNvPr id="75781" name="Rectangle 5"/>
          <p:cNvSpPr>
            <a:spLocks noChangeArrowheads="1"/>
          </p:cNvSpPr>
          <p:nvPr/>
        </p:nvSpPr>
        <p:spPr bwMode="auto">
          <a:xfrm>
            <a:off x="304800" y="1447800"/>
            <a:ext cx="38068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3200" b="1">
                <a:solidFill>
                  <a:srgbClr val="FFFF99"/>
                </a:solidFill>
              </a:rPr>
              <a:t>Prof. Andy Mirzaian</a:t>
            </a:r>
          </a:p>
        </p:txBody>
      </p:sp>
      <p:sp>
        <p:nvSpPr>
          <p:cNvPr id="75782" name="WordArt 6"/>
          <p:cNvSpPr>
            <a:spLocks noChangeArrowheads="1" noChangeShapeType="1" noTextEdit="1"/>
          </p:cNvSpPr>
          <p:nvPr/>
        </p:nvSpPr>
        <p:spPr bwMode="auto">
          <a:xfrm>
            <a:off x="685800" y="2667000"/>
            <a:ext cx="7543800" cy="3429000"/>
          </a:xfrm>
          <a:prstGeom prst="rect">
            <a:avLst/>
          </a:prstGeom>
        </p:spPr>
        <p:txBody>
          <a:bodyPr wrap="none" fromWordArt="1">
            <a:prstTxWarp prst="textPlain">
              <a:avLst>
                <a:gd name="adj" fmla="val 50000"/>
              </a:avLst>
            </a:prstTxWarp>
          </a:bodyPr>
          <a:lstStyle/>
          <a:p>
            <a:pPr algn="ctr">
              <a:buFontTx/>
              <a:buNone/>
            </a:pPr>
            <a:r>
              <a:rPr lang="en-CA" sz="3600" kern="10">
                <a:ln w="22225">
                  <a:solidFill>
                    <a:schemeClr val="bg1"/>
                  </a:solidFill>
                  <a:round/>
                  <a:headEnd/>
                  <a:tailEnd/>
                </a:ln>
                <a:solidFill>
                  <a:srgbClr val="000000"/>
                </a:solidFill>
                <a:effectLst>
                  <a:outerShdw dist="35921" dir="2700000" algn="ctr" rotWithShape="0">
                    <a:srgbClr val="990000"/>
                  </a:outerShdw>
                </a:effectLst>
                <a:latin typeface="Impact"/>
              </a:rPr>
              <a:t>Graph</a:t>
            </a:r>
          </a:p>
          <a:p>
            <a:pPr algn="ctr">
              <a:buFontTx/>
              <a:buNone/>
            </a:pPr>
            <a:r>
              <a:rPr lang="en-CA" sz="3600" kern="10">
                <a:ln w="22225">
                  <a:solidFill>
                    <a:schemeClr val="bg1"/>
                  </a:solidFill>
                  <a:round/>
                  <a:headEnd/>
                  <a:tailEnd/>
                </a:ln>
                <a:solidFill>
                  <a:srgbClr val="000000"/>
                </a:solidFill>
                <a:effectLst>
                  <a:outerShdw dist="35921" dir="2700000" algn="ctr" rotWithShape="0">
                    <a:srgbClr val="990000"/>
                  </a:outerShdw>
                </a:effectLst>
                <a:latin typeface="Impact"/>
              </a:rPr>
              <a:t>Algorithms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75780"/>
                                        </p:tgtEl>
                                        <p:attrNameLst>
                                          <p:attrName>style.visibility</p:attrName>
                                        </p:attrNameLst>
                                      </p:cBhvr>
                                      <p:to>
                                        <p:strVal val="visible"/>
                                      </p:to>
                                    </p:set>
                                    <p:anim calcmode="lin" valueType="num">
                                      <p:cBhvr>
                                        <p:cTn id="7" dur="500" fill="hold"/>
                                        <p:tgtEl>
                                          <p:spTgt spid="75780"/>
                                        </p:tgtEl>
                                        <p:attrNameLst>
                                          <p:attrName>ppt_w</p:attrName>
                                        </p:attrNameLst>
                                      </p:cBhvr>
                                      <p:tavLst>
                                        <p:tav tm="0">
                                          <p:val>
                                            <p:fltVal val="0"/>
                                          </p:val>
                                        </p:tav>
                                        <p:tav tm="100000">
                                          <p:val>
                                            <p:strVal val="#ppt_w"/>
                                          </p:val>
                                        </p:tav>
                                      </p:tavLst>
                                    </p:anim>
                                    <p:anim calcmode="lin" valueType="num">
                                      <p:cBhvr>
                                        <p:cTn id="8" dur="500" fill="hold"/>
                                        <p:tgtEl>
                                          <p:spTgt spid="75780"/>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17" presetClass="entr" presetSubtype="1" fill="hold" grpId="0" nodeType="afterEffect">
                                  <p:stCondLst>
                                    <p:cond delay="0"/>
                                  </p:stCondLst>
                                  <p:childTnLst>
                                    <p:set>
                                      <p:cBhvr>
                                        <p:cTn id="11" dur="1" fill="hold">
                                          <p:stCondLst>
                                            <p:cond delay="0"/>
                                          </p:stCondLst>
                                        </p:cTn>
                                        <p:tgtEl>
                                          <p:spTgt spid="75782"/>
                                        </p:tgtEl>
                                        <p:attrNameLst>
                                          <p:attrName>style.visibility</p:attrName>
                                        </p:attrNameLst>
                                      </p:cBhvr>
                                      <p:to>
                                        <p:strVal val="visible"/>
                                      </p:to>
                                    </p:set>
                                    <p:anim calcmode="lin" valueType="num">
                                      <p:cBhvr>
                                        <p:cTn id="12" dur="500" fill="hold"/>
                                        <p:tgtEl>
                                          <p:spTgt spid="75782"/>
                                        </p:tgtEl>
                                        <p:attrNameLst>
                                          <p:attrName>ppt_x</p:attrName>
                                        </p:attrNameLst>
                                      </p:cBhvr>
                                      <p:tavLst>
                                        <p:tav tm="0">
                                          <p:val>
                                            <p:strVal val="#ppt_x"/>
                                          </p:val>
                                        </p:tav>
                                        <p:tav tm="100000">
                                          <p:val>
                                            <p:strVal val="#ppt_x"/>
                                          </p:val>
                                        </p:tav>
                                      </p:tavLst>
                                    </p:anim>
                                    <p:anim calcmode="lin" valueType="num">
                                      <p:cBhvr>
                                        <p:cTn id="13" dur="500" fill="hold"/>
                                        <p:tgtEl>
                                          <p:spTgt spid="75782"/>
                                        </p:tgtEl>
                                        <p:attrNameLst>
                                          <p:attrName>ppt_y</p:attrName>
                                        </p:attrNameLst>
                                      </p:cBhvr>
                                      <p:tavLst>
                                        <p:tav tm="0">
                                          <p:val>
                                            <p:strVal val="#ppt_y-#ppt_h/2"/>
                                          </p:val>
                                        </p:tav>
                                        <p:tav tm="100000">
                                          <p:val>
                                            <p:strVal val="#ppt_y"/>
                                          </p:val>
                                        </p:tav>
                                      </p:tavLst>
                                    </p:anim>
                                    <p:anim calcmode="lin" valueType="num">
                                      <p:cBhvr>
                                        <p:cTn id="14" dur="500" fill="hold"/>
                                        <p:tgtEl>
                                          <p:spTgt spid="75782"/>
                                        </p:tgtEl>
                                        <p:attrNameLst>
                                          <p:attrName>ppt_w</p:attrName>
                                        </p:attrNameLst>
                                      </p:cBhvr>
                                      <p:tavLst>
                                        <p:tav tm="0">
                                          <p:val>
                                            <p:strVal val="#ppt_w"/>
                                          </p:val>
                                        </p:tav>
                                        <p:tav tm="100000">
                                          <p:val>
                                            <p:strVal val="#ppt_w"/>
                                          </p:val>
                                        </p:tav>
                                      </p:tavLst>
                                    </p:anim>
                                    <p:anim calcmode="lin" valueType="num">
                                      <p:cBhvr>
                                        <p:cTn id="15" dur="500" fill="hold"/>
                                        <p:tgtEl>
                                          <p:spTgt spid="75782"/>
                                        </p:tgtEl>
                                        <p:attrNameLst>
                                          <p:attrName>ppt_h</p:attrName>
                                        </p:attrNameLst>
                                      </p:cBhvr>
                                      <p:tavLst>
                                        <p:tav tm="0">
                                          <p:val>
                                            <p:fltVal val="0"/>
                                          </p:val>
                                        </p:tav>
                                        <p:tav tm="100000">
                                          <p:val>
                                            <p:strVal val="#ppt_h"/>
                                          </p:val>
                                        </p:tav>
                                      </p:tavLst>
                                    </p:anim>
                                  </p:childTnLst>
                                </p:cTn>
                              </p:par>
                            </p:childTnLst>
                          </p:cTn>
                        </p:par>
                        <p:par>
                          <p:cTn id="16" fill="hold" nodeType="afterGroup">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75781"/>
                                        </p:tgtEl>
                                        <p:attrNameLst>
                                          <p:attrName>style.visibility</p:attrName>
                                        </p:attrNameLst>
                                      </p:cBhvr>
                                      <p:to>
                                        <p:strVal val="visible"/>
                                      </p:to>
                                    </p:set>
                                    <p:animEffect transition="in" filter="wipe(left)">
                                      <p:cBhvr>
                                        <p:cTn id="19" dur="500"/>
                                        <p:tgtEl>
                                          <p:spTgt spid="75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autoUpdateAnimBg="0"/>
      <p:bldP spid="75781" grpId="0" autoUpdateAnimBg="0"/>
      <p:bldP spid="75782" grpId="0" animBg="1"/>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381000" y="228600"/>
            <a:ext cx="8458200" cy="762000"/>
          </a:xfrm>
          <a:solidFill>
            <a:srgbClr val="FFCCCC"/>
          </a:solidFill>
          <a:ln w="571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algn="l" eaLnBrk="1" hangingPunct="1"/>
            <a:r>
              <a:rPr lang="en-US" sz="4000" b="1" dirty="0" smtClean="0">
                <a:latin typeface="Arial Rounded MT Bold" pitchFamily="34" charset="0"/>
              </a:rPr>
              <a:t>STUDY  MATERIAL:</a:t>
            </a:r>
          </a:p>
        </p:txBody>
      </p:sp>
      <p:sp>
        <p:nvSpPr>
          <p:cNvPr id="72708" name="Rectangle 4"/>
          <p:cNvSpPr>
            <a:spLocks noChangeArrowheads="1"/>
          </p:cNvSpPr>
          <p:nvPr/>
        </p:nvSpPr>
        <p:spPr bwMode="auto">
          <a:xfrm>
            <a:off x="329381" y="1860755"/>
            <a:ext cx="8458200" cy="3276600"/>
          </a:xfrm>
          <a:prstGeom prst="rect">
            <a:avLst/>
          </a:prstGeom>
          <a:solidFill>
            <a:srgbClr val="FFCCCC"/>
          </a:solidFill>
          <a:ln w="571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lstStyle/>
          <a:p>
            <a:pPr marL="742950" lvl="1" indent="-285750" defTabSz="788988" eaLnBrk="1" hangingPunct="1">
              <a:lnSpc>
                <a:spcPct val="70000"/>
              </a:lnSpc>
              <a:spcBef>
                <a:spcPct val="20000"/>
              </a:spcBef>
              <a:buFontTx/>
              <a:buNone/>
            </a:pPr>
            <a:r>
              <a:rPr lang="en-US" sz="2000" dirty="0">
                <a:latin typeface="Arial Rounded MT Bold" pitchFamily="34" charset="0"/>
              </a:rPr>
              <a:t> </a:t>
            </a:r>
          </a:p>
          <a:p>
            <a:pPr marL="742950" lvl="1" indent="-285750" defTabSz="788988" eaLnBrk="1" hangingPunct="1">
              <a:spcBef>
                <a:spcPct val="20000"/>
              </a:spcBef>
            </a:pPr>
            <a:r>
              <a:rPr lang="en-US" sz="2000" b="1" dirty="0">
                <a:latin typeface="Arial Rounded MT Bold" pitchFamily="34" charset="0"/>
              </a:rPr>
              <a:t>[CLRS]</a:t>
            </a:r>
            <a:r>
              <a:rPr lang="en-US" sz="2000" dirty="0">
                <a:latin typeface="Arial Rounded MT Bold" pitchFamily="34" charset="0"/>
              </a:rPr>
              <a:t>         	 </a:t>
            </a:r>
            <a:r>
              <a:rPr lang="en-US" sz="2000" dirty="0" smtClean="0">
                <a:latin typeface="Arial Rounded MT Bold" pitchFamily="34" charset="0"/>
              </a:rPr>
              <a:t> chapters </a:t>
            </a:r>
            <a:r>
              <a:rPr lang="en-US" sz="2000" dirty="0">
                <a:latin typeface="Arial Rounded MT Bold" pitchFamily="34" charset="0"/>
              </a:rPr>
              <a:t>22, 23, 24, 25, 26</a:t>
            </a:r>
          </a:p>
          <a:p>
            <a:pPr marL="742950" lvl="1" indent="-285750" defTabSz="788988" eaLnBrk="1" hangingPunct="1">
              <a:spcBef>
                <a:spcPct val="20000"/>
              </a:spcBef>
            </a:pPr>
            <a:r>
              <a:rPr lang="en-US" sz="2000" b="1" dirty="0">
                <a:latin typeface="Arial Rounded MT Bold" pitchFamily="34" charset="0"/>
              </a:rPr>
              <a:t>Lecture Note</a:t>
            </a:r>
            <a:r>
              <a:rPr lang="en-US" sz="2000" dirty="0">
                <a:latin typeface="Arial Rounded MT Bold" pitchFamily="34" charset="0"/>
              </a:rPr>
              <a:t> </a:t>
            </a:r>
            <a:r>
              <a:rPr lang="en-US" sz="2000" dirty="0" smtClean="0">
                <a:latin typeface="Arial Rounded MT Bold" pitchFamily="34" charset="0"/>
              </a:rPr>
              <a:t> 10</a:t>
            </a:r>
            <a:endParaRPr lang="en-US" sz="2000" dirty="0">
              <a:latin typeface="Arial Rounded MT Bold" pitchFamily="34" charset="0"/>
            </a:endParaRPr>
          </a:p>
          <a:p>
            <a:pPr marL="742950" lvl="1" indent="-285750" defTabSz="788988" eaLnBrk="1" hangingPunct="1">
              <a:spcBef>
                <a:spcPct val="20000"/>
              </a:spcBef>
            </a:pPr>
            <a:r>
              <a:rPr lang="en-US" sz="2000" dirty="0" err="1">
                <a:latin typeface="Arial Rounded MT Bold" pitchFamily="34" charset="0"/>
              </a:rPr>
              <a:t>Algorithmics</a:t>
            </a:r>
            <a:r>
              <a:rPr lang="en-US" sz="2000" dirty="0">
                <a:latin typeface="Arial Rounded MT Bold" pitchFamily="34" charset="0"/>
              </a:rPr>
              <a:t> Animation Workshop:		 </a:t>
            </a:r>
          </a:p>
          <a:p>
            <a:pPr marL="1600200" lvl="3" indent="-228600" defTabSz="788988" eaLnBrk="1" hangingPunct="1">
              <a:spcBef>
                <a:spcPct val="20000"/>
              </a:spcBef>
              <a:buFont typeface="Wingdings" pitchFamily="2" charset="2"/>
              <a:buChar char="Ø"/>
            </a:pPr>
            <a:r>
              <a:rPr lang="en-US" sz="2000" dirty="0"/>
              <a:t> </a:t>
            </a:r>
            <a:r>
              <a:rPr lang="en-US" sz="2000" dirty="0" err="1"/>
              <a:t>Dijkstra</a:t>
            </a:r>
            <a:r>
              <a:rPr lang="en-US" sz="2000" dirty="0"/>
              <a:t> – Single Source Shortest Paths</a:t>
            </a:r>
          </a:p>
          <a:p>
            <a:pPr marL="1600200" lvl="3" indent="-228600" defTabSz="788988" eaLnBrk="1" hangingPunct="1">
              <a:spcBef>
                <a:spcPct val="20000"/>
              </a:spcBef>
              <a:buFont typeface="Wingdings" pitchFamily="2" charset="2"/>
              <a:buChar char="Ø"/>
            </a:pPr>
            <a:r>
              <a:rPr lang="en-US" sz="2000" dirty="0"/>
              <a:t> Minimum Spanning Tree</a:t>
            </a:r>
          </a:p>
          <a:p>
            <a:pPr marL="1600200" lvl="3" indent="-228600" defTabSz="788988" eaLnBrk="1" hangingPunct="1">
              <a:spcBef>
                <a:spcPct val="20000"/>
              </a:spcBef>
              <a:buFont typeface="Wingdings" pitchFamily="2" charset="2"/>
              <a:buChar char="Ø"/>
            </a:pPr>
            <a:r>
              <a:rPr lang="en-US" sz="2000" dirty="0"/>
              <a:t> Max-Flow Min-Cut</a:t>
            </a:r>
          </a:p>
          <a:p>
            <a:pPr marL="1600200" lvl="3" indent="-228600" defTabSz="788988" eaLnBrk="1" hangingPunct="1">
              <a:spcBef>
                <a:spcPct val="20000"/>
              </a:spcBef>
              <a:buFont typeface="Wingdings" pitchFamily="2" charset="2"/>
              <a:buChar char="Ø"/>
            </a:pPr>
            <a:r>
              <a:rPr lang="en-US" sz="2000" dirty="0"/>
              <a:t> Traveling Salesman</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2706"/>
                                        </p:tgtEl>
                                        <p:attrNameLst>
                                          <p:attrName>style.visibility</p:attrName>
                                        </p:attrNameLst>
                                      </p:cBhvr>
                                      <p:to>
                                        <p:strVal val="visible"/>
                                      </p:to>
                                    </p:set>
                                    <p:animEffect transition="in" filter="wipe(up)">
                                      <p:cBhvr>
                                        <p:cTn id="7" dur="500"/>
                                        <p:tgtEl>
                                          <p:spTgt spid="72706"/>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2708"/>
                                        </p:tgtEl>
                                        <p:attrNameLst>
                                          <p:attrName>style.visibility</p:attrName>
                                        </p:attrNameLst>
                                      </p:cBhvr>
                                      <p:to>
                                        <p:strVal val="visible"/>
                                      </p:to>
                                    </p:set>
                                    <p:animEffect transition="in" filter="wipe(up)">
                                      <p:cBhvr>
                                        <p:cTn id="11" dur="500"/>
                                        <p:tgtEl>
                                          <p:spTgt spid="72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animBg="1" autoUpdateAnimBg="0"/>
      <p:bldP spid="72708" grpId="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3200" smtClean="0">
                <a:solidFill>
                  <a:schemeClr val="tx1"/>
                </a:solidFill>
                <a:latin typeface="Arial Rounded MT Bold" pitchFamily="34" charset="0"/>
              </a:rPr>
              <a:t>TOPICS</a:t>
            </a:r>
          </a:p>
        </p:txBody>
      </p:sp>
      <p:sp>
        <p:nvSpPr>
          <p:cNvPr id="76803" name="Text Box 3"/>
          <p:cNvSpPr txBox="1">
            <a:spLocks noChangeArrowheads="1"/>
          </p:cNvSpPr>
          <p:nvPr/>
        </p:nvSpPr>
        <p:spPr bwMode="auto">
          <a:xfrm>
            <a:off x="762000" y="914400"/>
            <a:ext cx="7467600" cy="527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2575" indent="-282575">
              <a:defRPr sz="1600">
                <a:solidFill>
                  <a:schemeClr val="tx1"/>
                </a:solidFill>
                <a:latin typeface="Times New Roman" pitchFamily="18" charset="0"/>
              </a:defRPr>
            </a:lvl1pPr>
            <a:lvl2pPr marL="765175" indent="-29210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 typeface="Wingdings" pitchFamily="2" charset="2"/>
              <a:buChar char="§"/>
            </a:pPr>
            <a:r>
              <a:rPr lang="en-US" sz="2400" b="1">
                <a:solidFill>
                  <a:schemeClr val="tx2"/>
                </a:solidFill>
              </a:rPr>
              <a:t>Graph Representations</a:t>
            </a:r>
          </a:p>
          <a:p>
            <a:pPr eaLnBrk="1" hangingPunct="1">
              <a:buFont typeface="Wingdings" pitchFamily="2" charset="2"/>
              <a:buChar char="§"/>
            </a:pPr>
            <a:endParaRPr lang="en-US" sz="2400" b="1">
              <a:solidFill>
                <a:schemeClr val="tx2"/>
              </a:solidFill>
            </a:endParaRPr>
          </a:p>
          <a:p>
            <a:pPr eaLnBrk="1" hangingPunct="1">
              <a:buFont typeface="Wingdings" pitchFamily="2" charset="2"/>
              <a:buChar char="§"/>
            </a:pPr>
            <a:r>
              <a:rPr lang="en-US" sz="2400" b="1">
                <a:solidFill>
                  <a:schemeClr val="tx2"/>
                </a:solidFill>
              </a:rPr>
              <a:t>Graph Traversals:</a:t>
            </a:r>
          </a:p>
          <a:p>
            <a:pPr lvl="1" eaLnBrk="1" hangingPunct="1">
              <a:buFont typeface="Wingdings" pitchFamily="2" charset="2"/>
              <a:buChar char="Ø"/>
            </a:pPr>
            <a:r>
              <a:rPr lang="en-US" sz="2000">
                <a:solidFill>
                  <a:schemeClr val="hlink"/>
                </a:solidFill>
              </a:rPr>
              <a:t>Breadth First Search</a:t>
            </a:r>
          </a:p>
          <a:p>
            <a:pPr lvl="1" eaLnBrk="1" hangingPunct="1">
              <a:buFont typeface="Wingdings" pitchFamily="2" charset="2"/>
              <a:buChar char="Ø"/>
            </a:pPr>
            <a:r>
              <a:rPr lang="en-US" sz="2000">
                <a:solidFill>
                  <a:schemeClr val="hlink"/>
                </a:solidFill>
              </a:rPr>
              <a:t>Depth First Search</a:t>
            </a:r>
          </a:p>
          <a:p>
            <a:pPr lvl="1" eaLnBrk="1" hangingPunct="1">
              <a:buFont typeface="Wingdings" pitchFamily="2" charset="2"/>
              <a:buChar char="Ø"/>
            </a:pPr>
            <a:endParaRPr lang="en-US" sz="2000">
              <a:solidFill>
                <a:schemeClr val="hlink"/>
              </a:solidFill>
            </a:endParaRPr>
          </a:p>
          <a:p>
            <a:pPr eaLnBrk="1" hangingPunct="1">
              <a:buFont typeface="Wingdings" pitchFamily="2" charset="2"/>
              <a:buChar char="§"/>
            </a:pPr>
            <a:r>
              <a:rPr lang="en-US" sz="2400" b="1">
                <a:solidFill>
                  <a:schemeClr val="tx2"/>
                </a:solidFill>
              </a:rPr>
              <a:t>Un-weighted Graphs:</a:t>
            </a:r>
          </a:p>
          <a:p>
            <a:pPr lvl="1" eaLnBrk="1" hangingPunct="1">
              <a:buFont typeface="Wingdings" pitchFamily="2" charset="2"/>
              <a:buChar char="Ø"/>
            </a:pPr>
            <a:r>
              <a:rPr lang="en-US" sz="2000">
                <a:solidFill>
                  <a:schemeClr val="hlink"/>
                </a:solidFill>
              </a:rPr>
              <a:t>Topological Sort</a:t>
            </a:r>
          </a:p>
          <a:p>
            <a:pPr lvl="1" eaLnBrk="1" hangingPunct="1">
              <a:buFont typeface="Wingdings" pitchFamily="2" charset="2"/>
              <a:buChar char="Ø"/>
            </a:pPr>
            <a:r>
              <a:rPr lang="en-US" sz="2000">
                <a:solidFill>
                  <a:schemeClr val="hlink"/>
                </a:solidFill>
              </a:rPr>
              <a:t>Strongly Connected Components</a:t>
            </a:r>
          </a:p>
          <a:p>
            <a:pPr lvl="1" eaLnBrk="1" hangingPunct="1">
              <a:buFont typeface="Wingdings" pitchFamily="2" charset="2"/>
              <a:buChar char="Ø"/>
            </a:pPr>
            <a:r>
              <a:rPr lang="en-US" sz="2000">
                <a:solidFill>
                  <a:schemeClr val="hlink"/>
                </a:solidFill>
              </a:rPr>
              <a:t>Bi-connected Components</a:t>
            </a:r>
          </a:p>
          <a:p>
            <a:pPr lvl="1" eaLnBrk="1" hangingPunct="1">
              <a:buFont typeface="Wingdings" pitchFamily="2" charset="2"/>
              <a:buChar char="Ø"/>
            </a:pPr>
            <a:endParaRPr lang="en-US" sz="2000">
              <a:solidFill>
                <a:schemeClr val="hlink"/>
              </a:solidFill>
            </a:endParaRPr>
          </a:p>
          <a:p>
            <a:pPr eaLnBrk="1" hangingPunct="1">
              <a:buFont typeface="Wingdings" pitchFamily="2" charset="2"/>
              <a:buChar char="§"/>
            </a:pPr>
            <a:r>
              <a:rPr lang="en-US" sz="2400" b="1">
                <a:solidFill>
                  <a:schemeClr val="tx2"/>
                </a:solidFill>
              </a:rPr>
              <a:t>Weighted Graphs:</a:t>
            </a:r>
            <a:endParaRPr lang="en-US" sz="2000">
              <a:solidFill>
                <a:schemeClr val="hlink"/>
              </a:solidFill>
            </a:endParaRPr>
          </a:p>
          <a:p>
            <a:pPr lvl="1" eaLnBrk="1" hangingPunct="1">
              <a:buFont typeface="Wingdings" pitchFamily="2" charset="2"/>
              <a:buChar char="Ø"/>
            </a:pPr>
            <a:r>
              <a:rPr lang="en-US" sz="2000">
                <a:solidFill>
                  <a:schemeClr val="hlink"/>
                </a:solidFill>
              </a:rPr>
              <a:t>Minimum Spanning Trees</a:t>
            </a:r>
          </a:p>
          <a:p>
            <a:pPr lvl="1" eaLnBrk="1" hangingPunct="1">
              <a:buFont typeface="Wingdings" pitchFamily="2" charset="2"/>
              <a:buChar char="Ø"/>
            </a:pPr>
            <a:r>
              <a:rPr lang="en-US" sz="2000">
                <a:solidFill>
                  <a:schemeClr val="hlink"/>
                </a:solidFill>
              </a:rPr>
              <a:t>Shortest Paths</a:t>
            </a:r>
          </a:p>
          <a:p>
            <a:pPr lvl="1" eaLnBrk="1" hangingPunct="1">
              <a:buFont typeface="Wingdings" pitchFamily="2" charset="2"/>
              <a:buChar char="Ø"/>
            </a:pPr>
            <a:r>
              <a:rPr lang="en-US" sz="2000">
                <a:solidFill>
                  <a:schemeClr val="hlink"/>
                </a:solidFill>
              </a:rPr>
              <a:t>Max Flow</a:t>
            </a:r>
          </a:p>
          <a:p>
            <a:pPr lvl="1" eaLnBrk="1" hangingPunct="1">
              <a:buFont typeface="Wingdings" pitchFamily="2" charset="2"/>
              <a:buChar char="Ø"/>
            </a:pPr>
            <a:r>
              <a:rPr lang="en-US" sz="2000">
                <a:solidFill>
                  <a:schemeClr val="hlink"/>
                </a:solidFill>
              </a:rPr>
              <a:t>Matching</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76802"/>
                                        </p:tgtEl>
                                        <p:attrNameLst>
                                          <p:attrName>style.visibility</p:attrName>
                                        </p:attrNameLst>
                                      </p:cBhvr>
                                      <p:to>
                                        <p:strVal val="visible"/>
                                      </p:to>
                                    </p:set>
                                    <p:anim calcmode="lin" valueType="num">
                                      <p:cBhvr>
                                        <p:cTn id="7" dur="500" fill="hold"/>
                                        <p:tgtEl>
                                          <p:spTgt spid="76802"/>
                                        </p:tgtEl>
                                        <p:attrNameLst>
                                          <p:attrName>ppt_w</p:attrName>
                                        </p:attrNameLst>
                                      </p:cBhvr>
                                      <p:tavLst>
                                        <p:tav tm="0">
                                          <p:val>
                                            <p:fltVal val="0"/>
                                          </p:val>
                                        </p:tav>
                                        <p:tav tm="100000">
                                          <p:val>
                                            <p:strVal val="#ppt_w"/>
                                          </p:val>
                                        </p:tav>
                                      </p:tavLst>
                                    </p:anim>
                                    <p:anim calcmode="lin" valueType="num">
                                      <p:cBhvr>
                                        <p:cTn id="8" dur="500" fill="hold"/>
                                        <p:tgtEl>
                                          <p:spTgt spid="76802"/>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76803"/>
                                        </p:tgtEl>
                                        <p:attrNameLst>
                                          <p:attrName>style.visibility</p:attrName>
                                        </p:attrNameLst>
                                      </p:cBhvr>
                                      <p:to>
                                        <p:strVal val="visible"/>
                                      </p:to>
                                    </p:set>
                                    <p:animEffect transition="in" filter="wipe(up)">
                                      <p:cBhvr>
                                        <p:cTn id="12" dur="500"/>
                                        <p:tgtEl>
                                          <p:spTgt spid="76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animBg="1" autoUpdateAnimBg="0"/>
      <p:bldP spid="76803"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2"/>
          <p:cNvSpPr>
            <a:spLocks noGrp="1" noChangeArrowheads="1"/>
          </p:cNvSpPr>
          <p:nvPr>
            <p:ph type="ctrTitle"/>
          </p:nvPr>
        </p:nvSpPr>
        <p:spPr>
          <a:xfrm>
            <a:off x="685800" y="2286000"/>
            <a:ext cx="7772400" cy="2209800"/>
          </a:xfrm>
          <a:solidFill>
            <a:srgbClr val="FFCCCC"/>
          </a:solidFill>
          <a:ln w="76200">
            <a:solidFill>
              <a:schemeClr val="tx2"/>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lstStyle/>
          <a:p>
            <a:pPr eaLnBrk="1" hangingPunct="1"/>
            <a:r>
              <a:rPr lang="en-US" sz="5400" dirty="0" smtClean="0">
                <a:solidFill>
                  <a:schemeClr val="accent2"/>
                </a:solidFill>
                <a:latin typeface="Arial Rounded MT Bold" pitchFamily="34" charset="0"/>
              </a:rPr>
              <a:t>GRAPH REPRESENTATIONS</a:t>
            </a:r>
          </a:p>
        </p:txBody>
      </p:sp>
      <p:sp>
        <p:nvSpPr>
          <p:cNvPr id="2" name="Slide Number Placeholder 1"/>
          <p:cNvSpPr>
            <a:spLocks noGrp="1"/>
          </p:cNvSpPr>
          <p:nvPr>
            <p:ph type="sldNum" sz="quarter" idx="12"/>
          </p:nvPr>
        </p:nvSpPr>
        <p:spPr/>
        <p:txBody>
          <a:bodyPr/>
          <a:lstStyle/>
          <a:p>
            <a:pPr>
              <a:defRPr/>
            </a:pPr>
            <a:fld id="{90683EDB-7658-49F0-B96C-482436AB937A}" type="slidenum">
              <a:rPr lang="en-US" smtClean="0"/>
              <a:pPr>
                <a:defRPr/>
              </a:pPr>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71682"/>
                                        </p:tgtEl>
                                        <p:attrNameLst>
                                          <p:attrName>style.visibility</p:attrName>
                                        </p:attrNameLst>
                                      </p:cBhvr>
                                      <p:to>
                                        <p:strVal val="visible"/>
                                      </p:to>
                                    </p:set>
                                    <p:anim calcmode="lin" valueType="num">
                                      <p:cBhvr>
                                        <p:cTn id="7" dur="500" fill="hold"/>
                                        <p:tgtEl>
                                          <p:spTgt spid="71682"/>
                                        </p:tgtEl>
                                        <p:attrNameLst>
                                          <p:attrName>ppt_w</p:attrName>
                                        </p:attrNameLst>
                                      </p:cBhvr>
                                      <p:tavLst>
                                        <p:tav tm="0">
                                          <p:val>
                                            <p:fltVal val="0"/>
                                          </p:val>
                                        </p:tav>
                                        <p:tav tm="100000">
                                          <p:val>
                                            <p:strVal val="#ppt_w"/>
                                          </p:val>
                                        </p:tav>
                                      </p:tavLst>
                                    </p:anim>
                                    <p:anim calcmode="lin" valueType="num">
                                      <p:cBhvr>
                                        <p:cTn id="8" dur="500" fill="hold"/>
                                        <p:tgtEl>
                                          <p:spTgt spid="7168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Graph</a:t>
            </a:r>
          </a:p>
        </p:txBody>
      </p:sp>
      <p:sp>
        <p:nvSpPr>
          <p:cNvPr id="78859" name="Text Box 11"/>
          <p:cNvSpPr txBox="1">
            <a:spLocks noChangeArrowheads="1"/>
          </p:cNvSpPr>
          <p:nvPr/>
        </p:nvSpPr>
        <p:spPr bwMode="auto">
          <a:xfrm>
            <a:off x="1447800" y="914400"/>
            <a:ext cx="6013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dirty="0">
                <a:solidFill>
                  <a:schemeClr val="tx2"/>
                </a:solidFill>
                <a:latin typeface="Arial" pitchFamily="34" charset="0"/>
              </a:rPr>
              <a:t>Graph G = (V, E)  </a:t>
            </a:r>
            <a:br>
              <a:rPr lang="en-US" sz="1800" dirty="0">
                <a:solidFill>
                  <a:schemeClr val="tx2"/>
                </a:solidFill>
                <a:latin typeface="Arial" pitchFamily="34" charset="0"/>
              </a:rPr>
            </a:br>
            <a:r>
              <a:rPr lang="en-US" sz="1800" dirty="0">
                <a:solidFill>
                  <a:schemeClr val="tx2"/>
                </a:solidFill>
                <a:latin typeface="Arial" pitchFamily="34" charset="0"/>
              </a:rPr>
              <a:t>V = V(G) = </a:t>
            </a:r>
            <a:r>
              <a:rPr lang="en-US" sz="1800" b="1" dirty="0">
                <a:solidFill>
                  <a:srgbClr val="CC0000"/>
                </a:solidFill>
                <a:latin typeface="Arial" pitchFamily="34" charset="0"/>
              </a:rPr>
              <a:t>vertex set</a:t>
            </a:r>
            <a:r>
              <a:rPr lang="en-US" sz="1800" dirty="0">
                <a:solidFill>
                  <a:schemeClr val="tx2"/>
                </a:solidFill>
                <a:latin typeface="Arial" pitchFamily="34" charset="0"/>
              </a:rPr>
              <a:t> of G   </a:t>
            </a:r>
            <a:br>
              <a:rPr lang="en-US" sz="1800" dirty="0">
                <a:solidFill>
                  <a:schemeClr val="tx2"/>
                </a:solidFill>
                <a:latin typeface="Arial" pitchFamily="34" charset="0"/>
              </a:rPr>
            </a:br>
            <a:r>
              <a:rPr lang="en-US" sz="1800" dirty="0">
                <a:solidFill>
                  <a:schemeClr val="tx2"/>
                </a:solidFill>
                <a:latin typeface="Arial" pitchFamily="34" charset="0"/>
              </a:rPr>
              <a:t>E = E(G) = </a:t>
            </a:r>
            <a:r>
              <a:rPr lang="en-US" sz="1800" b="1" dirty="0">
                <a:solidFill>
                  <a:srgbClr val="CC0000"/>
                </a:solidFill>
                <a:latin typeface="Arial" pitchFamily="34" charset="0"/>
              </a:rPr>
              <a:t>edge set</a:t>
            </a:r>
            <a:r>
              <a:rPr lang="en-US" sz="1800" dirty="0">
                <a:solidFill>
                  <a:schemeClr val="tx2"/>
                </a:solidFill>
                <a:latin typeface="Arial" pitchFamily="34" charset="0"/>
              </a:rPr>
              <a:t> of G  ( a set of pairs of vertices of G)</a:t>
            </a:r>
          </a:p>
        </p:txBody>
      </p:sp>
      <p:grpSp>
        <p:nvGrpSpPr>
          <p:cNvPr id="4" name="Group 3"/>
          <p:cNvGrpSpPr/>
          <p:nvPr/>
        </p:nvGrpSpPr>
        <p:grpSpPr>
          <a:xfrm>
            <a:off x="374650" y="4267200"/>
            <a:ext cx="7658100" cy="2176463"/>
            <a:chOff x="374650" y="4267200"/>
            <a:chExt cx="7658100" cy="2176463"/>
          </a:xfrm>
        </p:grpSpPr>
        <p:sp>
          <p:nvSpPr>
            <p:cNvPr id="6167" name="Rectangle 28"/>
            <p:cNvSpPr>
              <a:spLocks noChangeArrowheads="1"/>
            </p:cNvSpPr>
            <p:nvPr/>
          </p:nvSpPr>
          <p:spPr bwMode="auto">
            <a:xfrm>
              <a:off x="374650" y="4267200"/>
              <a:ext cx="68897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dirty="0">
                  <a:solidFill>
                    <a:srgbClr val="CC0000"/>
                  </a:solidFill>
                  <a:latin typeface="Arial" pitchFamily="34" charset="0"/>
                </a:rPr>
                <a:t>Directed graph</a:t>
              </a:r>
              <a:r>
                <a:rPr lang="en-US" sz="1800" dirty="0">
                  <a:solidFill>
                    <a:schemeClr val="tx2"/>
                  </a:solidFill>
                  <a:latin typeface="Arial" pitchFamily="34" charset="0"/>
                </a:rPr>
                <a:t> (or digraph):   edges are </a:t>
              </a:r>
              <a:r>
                <a:rPr lang="en-US" sz="1800" dirty="0">
                  <a:solidFill>
                    <a:srgbClr val="CC0000"/>
                  </a:solidFill>
                  <a:latin typeface="Arial" pitchFamily="34" charset="0"/>
                </a:rPr>
                <a:t>ordered</a:t>
              </a:r>
              <a:r>
                <a:rPr lang="en-US" sz="1800" dirty="0">
                  <a:solidFill>
                    <a:schemeClr val="tx2"/>
                  </a:solidFill>
                  <a:latin typeface="Arial" pitchFamily="34" charset="0"/>
                </a:rPr>
                <a:t> pairs of vertices:</a:t>
              </a:r>
            </a:p>
          </p:txBody>
        </p:sp>
        <p:sp>
          <p:nvSpPr>
            <p:cNvPr id="6181" name="Rectangle 44"/>
            <p:cNvSpPr>
              <a:spLocks noChangeArrowheads="1"/>
            </p:cNvSpPr>
            <p:nvPr/>
          </p:nvSpPr>
          <p:spPr bwMode="auto">
            <a:xfrm>
              <a:off x="4343400" y="5181600"/>
              <a:ext cx="3689350"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1800">
                  <a:solidFill>
                    <a:schemeClr val="tx2"/>
                  </a:solidFill>
                  <a:latin typeface="Arial" pitchFamily="34" charset="0"/>
                </a:rPr>
                <a:t>V = { 1, 2, 3, 4, 5, 6 }</a:t>
              </a:r>
            </a:p>
            <a:p>
              <a:pPr eaLnBrk="1" hangingPunct="1">
                <a:buFontTx/>
                <a:buNone/>
              </a:pPr>
              <a:r>
                <a:rPr lang="en-US" sz="1800">
                  <a:solidFill>
                    <a:schemeClr val="tx2"/>
                  </a:solidFill>
                  <a:latin typeface="Arial" pitchFamily="34" charset="0"/>
                </a:rPr>
                <a:t/>
              </a:r>
              <a:br>
                <a:rPr lang="en-US" sz="1800">
                  <a:solidFill>
                    <a:schemeClr val="tx2"/>
                  </a:solidFill>
                  <a:latin typeface="Arial" pitchFamily="34" charset="0"/>
                </a:rPr>
              </a:br>
              <a:r>
                <a:rPr lang="en-US" sz="1800">
                  <a:solidFill>
                    <a:schemeClr val="tx2"/>
                  </a:solidFill>
                  <a:latin typeface="Arial" pitchFamily="34" charset="0"/>
                </a:rPr>
                <a:t>E = { (1,2), (1,4), (1,5), (3,2),</a:t>
              </a:r>
              <a:br>
                <a:rPr lang="en-US" sz="1800">
                  <a:solidFill>
                    <a:schemeClr val="tx2"/>
                  </a:solidFill>
                  <a:latin typeface="Arial" pitchFamily="34" charset="0"/>
                </a:rPr>
              </a:br>
              <a:r>
                <a:rPr lang="en-US" sz="1800">
                  <a:solidFill>
                    <a:schemeClr val="tx2"/>
                  </a:solidFill>
                  <a:latin typeface="Arial" pitchFamily="34" charset="0"/>
                </a:rPr>
                <a:t>         (4,4), (4,5), (5,1), (5,2), (5,3)}</a:t>
              </a:r>
            </a:p>
          </p:txBody>
        </p:sp>
        <p:grpSp>
          <p:nvGrpSpPr>
            <p:cNvPr id="2" name="Group 1"/>
            <p:cNvGrpSpPr/>
            <p:nvPr/>
          </p:nvGrpSpPr>
          <p:grpSpPr>
            <a:xfrm>
              <a:off x="623888" y="4876800"/>
              <a:ext cx="3302000" cy="1566863"/>
              <a:chOff x="623888" y="4876800"/>
              <a:chExt cx="3302000" cy="1566863"/>
            </a:xfrm>
          </p:grpSpPr>
          <p:sp>
            <p:nvSpPr>
              <p:cNvPr id="6166" name="Freeform 46"/>
              <p:cNvSpPr>
                <a:spLocks/>
              </p:cNvSpPr>
              <p:nvPr/>
            </p:nvSpPr>
            <p:spPr bwMode="auto">
              <a:xfrm>
                <a:off x="1544638" y="5222875"/>
                <a:ext cx="873125" cy="768350"/>
              </a:xfrm>
              <a:custGeom>
                <a:avLst/>
                <a:gdLst>
                  <a:gd name="T0" fmla="*/ 550 w 550"/>
                  <a:gd name="T1" fmla="*/ 484 h 484"/>
                  <a:gd name="T2" fmla="*/ 358 w 550"/>
                  <a:gd name="T3" fmla="*/ 245 h 484"/>
                  <a:gd name="T4" fmla="*/ 0 w 550"/>
                  <a:gd name="T5" fmla="*/ 0 h 484"/>
                  <a:gd name="T6" fmla="*/ 0 60000 65536"/>
                  <a:gd name="T7" fmla="*/ 0 60000 65536"/>
                  <a:gd name="T8" fmla="*/ 0 60000 65536"/>
                </a:gdLst>
                <a:ahLst/>
                <a:cxnLst>
                  <a:cxn ang="T6">
                    <a:pos x="T0" y="T1"/>
                  </a:cxn>
                  <a:cxn ang="T7">
                    <a:pos x="T2" y="T3"/>
                  </a:cxn>
                  <a:cxn ang="T8">
                    <a:pos x="T4" y="T5"/>
                  </a:cxn>
                </a:cxnLst>
                <a:rect l="0" t="0" r="r" b="b"/>
                <a:pathLst>
                  <a:path w="550" h="484">
                    <a:moveTo>
                      <a:pt x="550" y="484"/>
                    </a:moveTo>
                    <a:cubicBezTo>
                      <a:pt x="518" y="444"/>
                      <a:pt x="450" y="326"/>
                      <a:pt x="358" y="245"/>
                    </a:cubicBezTo>
                    <a:cubicBezTo>
                      <a:pt x="266" y="164"/>
                      <a:pt x="75" y="51"/>
                      <a:pt x="0" y="0"/>
                    </a:cubicBezTo>
                  </a:path>
                </a:pathLst>
              </a:custGeom>
              <a:noFill/>
              <a:ln w="38100" cap="flat" cmpd="sng">
                <a:solidFill>
                  <a:schemeClr val="accent2"/>
                </a:solidFill>
                <a:prstDash val="solid"/>
                <a:round/>
                <a:headEnd type="none" w="med" len="me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spAutoFit/>
              </a:bodyPr>
              <a:lstStyle/>
              <a:p>
                <a:endParaRPr lang="en-CA"/>
              </a:p>
            </p:txBody>
          </p:sp>
          <p:sp>
            <p:nvSpPr>
              <p:cNvPr id="6168" name="Line 31"/>
              <p:cNvSpPr>
                <a:spLocks noChangeShapeType="1"/>
              </p:cNvSpPr>
              <p:nvPr/>
            </p:nvSpPr>
            <p:spPr bwMode="auto">
              <a:xfrm>
                <a:off x="1295400" y="6172200"/>
                <a:ext cx="990600" cy="0"/>
              </a:xfrm>
              <a:prstGeom prst="line">
                <a:avLst/>
              </a:prstGeom>
              <a:noFill/>
              <a:ln w="38100">
                <a:solidFill>
                  <a:schemeClr val="accent2"/>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6169" name="Freeform 32"/>
              <p:cNvSpPr>
                <a:spLocks/>
              </p:cNvSpPr>
              <p:nvPr/>
            </p:nvSpPr>
            <p:spPr bwMode="auto">
              <a:xfrm>
                <a:off x="2514600" y="5286375"/>
                <a:ext cx="963613" cy="885825"/>
              </a:xfrm>
              <a:custGeom>
                <a:avLst/>
                <a:gdLst>
                  <a:gd name="T0" fmla="*/ 607 w 607"/>
                  <a:gd name="T1" fmla="*/ 0 h 558"/>
                  <a:gd name="T2" fmla="*/ 0 w 607"/>
                  <a:gd name="T3" fmla="*/ 558 h 558"/>
                  <a:gd name="T4" fmla="*/ 0 60000 65536"/>
                  <a:gd name="T5" fmla="*/ 0 60000 65536"/>
                </a:gdLst>
                <a:ahLst/>
                <a:cxnLst>
                  <a:cxn ang="T4">
                    <a:pos x="T0" y="T1"/>
                  </a:cxn>
                  <a:cxn ang="T5">
                    <a:pos x="T2" y="T3"/>
                  </a:cxn>
                </a:cxnLst>
                <a:rect l="0" t="0" r="r" b="b"/>
                <a:pathLst>
                  <a:path w="607" h="558">
                    <a:moveTo>
                      <a:pt x="607" y="0"/>
                    </a:moveTo>
                    <a:lnTo>
                      <a:pt x="0" y="558"/>
                    </a:lnTo>
                  </a:path>
                </a:pathLst>
              </a:custGeom>
              <a:noFill/>
              <a:ln w="38100" cap="flat" cmpd="sng">
                <a:solidFill>
                  <a:schemeClr val="accent2"/>
                </a:solidFill>
                <a:prstDash val="solid"/>
                <a:round/>
                <a:headEnd type="triangl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6170" name="Line 33"/>
              <p:cNvSpPr>
                <a:spLocks noChangeShapeType="1"/>
              </p:cNvSpPr>
              <p:nvPr/>
            </p:nvSpPr>
            <p:spPr bwMode="auto">
              <a:xfrm>
                <a:off x="1295400" y="5334000"/>
                <a:ext cx="0" cy="609600"/>
              </a:xfrm>
              <a:prstGeom prst="line">
                <a:avLst/>
              </a:prstGeom>
              <a:noFill/>
              <a:ln w="38100">
                <a:solidFill>
                  <a:schemeClr val="accent2"/>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6171" name="Freeform 34"/>
              <p:cNvSpPr>
                <a:spLocks/>
              </p:cNvSpPr>
              <p:nvPr/>
            </p:nvSpPr>
            <p:spPr bwMode="auto">
              <a:xfrm>
                <a:off x="1419225" y="5338763"/>
                <a:ext cx="903288" cy="725488"/>
              </a:xfrm>
              <a:custGeom>
                <a:avLst/>
                <a:gdLst>
                  <a:gd name="T0" fmla="*/ 569 w 569"/>
                  <a:gd name="T1" fmla="*/ 457 h 457"/>
                  <a:gd name="T2" fmla="*/ 232 w 569"/>
                  <a:gd name="T3" fmla="*/ 305 h 457"/>
                  <a:gd name="T4" fmla="*/ 0 w 569"/>
                  <a:gd name="T5" fmla="*/ 0 h 457"/>
                  <a:gd name="T6" fmla="*/ 0 60000 65536"/>
                  <a:gd name="T7" fmla="*/ 0 60000 65536"/>
                  <a:gd name="T8" fmla="*/ 0 60000 65536"/>
                </a:gdLst>
                <a:ahLst/>
                <a:cxnLst>
                  <a:cxn ang="T6">
                    <a:pos x="T0" y="T1"/>
                  </a:cxn>
                  <a:cxn ang="T7">
                    <a:pos x="T2" y="T3"/>
                  </a:cxn>
                  <a:cxn ang="T8">
                    <a:pos x="T4" y="T5"/>
                  </a:cxn>
                </a:cxnLst>
                <a:rect l="0" t="0" r="r" b="b"/>
                <a:pathLst>
                  <a:path w="569" h="457">
                    <a:moveTo>
                      <a:pt x="569" y="457"/>
                    </a:moveTo>
                    <a:cubicBezTo>
                      <a:pt x="513" y="432"/>
                      <a:pt x="327" y="381"/>
                      <a:pt x="232" y="305"/>
                    </a:cubicBezTo>
                    <a:cubicBezTo>
                      <a:pt x="137" y="229"/>
                      <a:pt x="48" y="64"/>
                      <a:pt x="0" y="0"/>
                    </a:cubicBezTo>
                  </a:path>
                </a:pathLst>
              </a:custGeom>
              <a:noFill/>
              <a:ln w="38100" cap="flat" cmpd="sng">
                <a:solidFill>
                  <a:schemeClr val="accent2"/>
                </a:solidFill>
                <a:prstDash val="solid"/>
                <a:round/>
                <a:headEnd type="triangl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6172" name="Freeform 35"/>
              <p:cNvSpPr>
                <a:spLocks/>
              </p:cNvSpPr>
              <p:nvPr/>
            </p:nvSpPr>
            <p:spPr bwMode="auto">
              <a:xfrm>
                <a:off x="2511425" y="5370513"/>
                <a:ext cx="3175" cy="801688"/>
              </a:xfrm>
              <a:custGeom>
                <a:avLst/>
                <a:gdLst>
                  <a:gd name="T0" fmla="*/ 2 w 2"/>
                  <a:gd name="T1" fmla="*/ 505 h 505"/>
                  <a:gd name="T2" fmla="*/ 0 w 2"/>
                  <a:gd name="T3" fmla="*/ 0 h 505"/>
                  <a:gd name="T4" fmla="*/ 0 60000 65536"/>
                  <a:gd name="T5" fmla="*/ 0 60000 65536"/>
                </a:gdLst>
                <a:ahLst/>
                <a:cxnLst>
                  <a:cxn ang="T4">
                    <a:pos x="T0" y="T1"/>
                  </a:cxn>
                  <a:cxn ang="T5">
                    <a:pos x="T2" y="T3"/>
                  </a:cxn>
                </a:cxnLst>
                <a:rect l="0" t="0" r="r" b="b"/>
                <a:pathLst>
                  <a:path w="2" h="505">
                    <a:moveTo>
                      <a:pt x="2" y="505"/>
                    </a:moveTo>
                    <a:lnTo>
                      <a:pt x="0" y="0"/>
                    </a:lnTo>
                  </a:path>
                </a:pathLst>
              </a:custGeom>
              <a:noFill/>
              <a:ln w="38100" cap="flat" cmpd="sng">
                <a:solidFill>
                  <a:schemeClr val="accent2"/>
                </a:solidFill>
                <a:prstDash val="solid"/>
                <a:round/>
                <a:headEnd type="none" w="med" len="me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6173" name="Freeform 36"/>
              <p:cNvSpPr>
                <a:spLocks/>
              </p:cNvSpPr>
              <p:nvPr/>
            </p:nvSpPr>
            <p:spPr bwMode="auto">
              <a:xfrm>
                <a:off x="2784475" y="5106988"/>
                <a:ext cx="873125" cy="1588"/>
              </a:xfrm>
              <a:custGeom>
                <a:avLst/>
                <a:gdLst>
                  <a:gd name="T0" fmla="*/ 0 w 550"/>
                  <a:gd name="T1" fmla="*/ 1 h 1"/>
                  <a:gd name="T2" fmla="*/ 550 w 550"/>
                  <a:gd name="T3" fmla="*/ 0 h 1"/>
                  <a:gd name="T4" fmla="*/ 0 60000 65536"/>
                  <a:gd name="T5" fmla="*/ 0 60000 65536"/>
                </a:gdLst>
                <a:ahLst/>
                <a:cxnLst>
                  <a:cxn ang="T4">
                    <a:pos x="T0" y="T1"/>
                  </a:cxn>
                  <a:cxn ang="T5">
                    <a:pos x="T2" y="T3"/>
                  </a:cxn>
                </a:cxnLst>
                <a:rect l="0" t="0" r="r" b="b"/>
                <a:pathLst>
                  <a:path w="550" h="1">
                    <a:moveTo>
                      <a:pt x="0" y="1"/>
                    </a:moveTo>
                    <a:lnTo>
                      <a:pt x="550" y="0"/>
                    </a:lnTo>
                  </a:path>
                </a:pathLst>
              </a:custGeom>
              <a:noFill/>
              <a:ln w="38100" cap="flat" cmpd="sng">
                <a:solidFill>
                  <a:schemeClr val="accent2"/>
                </a:solidFill>
                <a:prstDash val="solid"/>
                <a:round/>
                <a:headEnd type="triangl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6174" name="Line 37"/>
              <p:cNvSpPr>
                <a:spLocks noChangeShapeType="1"/>
              </p:cNvSpPr>
              <p:nvPr/>
            </p:nvSpPr>
            <p:spPr bwMode="auto">
              <a:xfrm>
                <a:off x="1295400" y="5105400"/>
                <a:ext cx="990600" cy="0"/>
              </a:xfrm>
              <a:prstGeom prst="line">
                <a:avLst/>
              </a:prstGeom>
              <a:noFill/>
              <a:ln w="38100">
                <a:solidFill>
                  <a:schemeClr val="accent2"/>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6175" name="Oval 38"/>
              <p:cNvSpPr>
                <a:spLocks noChangeArrowheads="1"/>
              </p:cNvSpPr>
              <p:nvPr/>
            </p:nvSpPr>
            <p:spPr bwMode="auto">
              <a:xfrm>
                <a:off x="1066800" y="48768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1</a:t>
                </a:r>
              </a:p>
            </p:txBody>
          </p:sp>
          <p:sp>
            <p:nvSpPr>
              <p:cNvPr id="6176" name="Oval 39"/>
              <p:cNvSpPr>
                <a:spLocks noChangeArrowheads="1"/>
              </p:cNvSpPr>
              <p:nvPr/>
            </p:nvSpPr>
            <p:spPr bwMode="auto">
              <a:xfrm>
                <a:off x="2286000" y="48768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2</a:t>
                </a:r>
              </a:p>
            </p:txBody>
          </p:sp>
          <p:sp>
            <p:nvSpPr>
              <p:cNvPr id="6177" name="Oval 40"/>
              <p:cNvSpPr>
                <a:spLocks noChangeArrowheads="1"/>
              </p:cNvSpPr>
              <p:nvPr/>
            </p:nvSpPr>
            <p:spPr bwMode="auto">
              <a:xfrm>
                <a:off x="1066800" y="5943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a:solidFill>
                      <a:schemeClr val="tx2"/>
                    </a:solidFill>
                    <a:latin typeface="Arial" pitchFamily="34" charset="0"/>
                  </a:rPr>
                  <a:t>4</a:t>
                </a:r>
              </a:p>
            </p:txBody>
          </p:sp>
          <p:sp>
            <p:nvSpPr>
              <p:cNvPr id="6178" name="Oval 41"/>
              <p:cNvSpPr>
                <a:spLocks noChangeArrowheads="1"/>
              </p:cNvSpPr>
              <p:nvPr/>
            </p:nvSpPr>
            <p:spPr bwMode="auto">
              <a:xfrm>
                <a:off x="2286000" y="5943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5</a:t>
                </a:r>
              </a:p>
            </p:txBody>
          </p:sp>
          <p:sp>
            <p:nvSpPr>
              <p:cNvPr id="6179" name="Oval 42"/>
              <p:cNvSpPr>
                <a:spLocks noChangeArrowheads="1"/>
              </p:cNvSpPr>
              <p:nvPr/>
            </p:nvSpPr>
            <p:spPr bwMode="auto">
              <a:xfrm>
                <a:off x="3429000" y="48768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3</a:t>
                </a:r>
              </a:p>
            </p:txBody>
          </p:sp>
          <p:sp>
            <p:nvSpPr>
              <p:cNvPr id="6180" name="Oval 43"/>
              <p:cNvSpPr>
                <a:spLocks noChangeArrowheads="1"/>
              </p:cNvSpPr>
              <p:nvPr/>
            </p:nvSpPr>
            <p:spPr bwMode="auto">
              <a:xfrm>
                <a:off x="3429000" y="5943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6</a:t>
                </a:r>
              </a:p>
            </p:txBody>
          </p:sp>
          <p:sp>
            <p:nvSpPr>
              <p:cNvPr id="6182" name="Freeform 47"/>
              <p:cNvSpPr>
                <a:spLocks/>
              </p:cNvSpPr>
              <p:nvPr/>
            </p:nvSpPr>
            <p:spPr bwMode="auto">
              <a:xfrm>
                <a:off x="623888" y="5792788"/>
                <a:ext cx="519113" cy="463550"/>
              </a:xfrm>
              <a:custGeom>
                <a:avLst/>
                <a:gdLst>
                  <a:gd name="T0" fmla="*/ 279 w 327"/>
                  <a:gd name="T1" fmla="*/ 239 h 292"/>
                  <a:gd name="T2" fmla="*/ 77 w 327"/>
                  <a:gd name="T3" fmla="*/ 270 h 292"/>
                  <a:gd name="T4" fmla="*/ 11 w 327"/>
                  <a:gd name="T5" fmla="*/ 105 h 292"/>
                  <a:gd name="T6" fmla="*/ 143 w 327"/>
                  <a:gd name="T7" fmla="*/ 6 h 292"/>
                  <a:gd name="T8" fmla="*/ 327 w 327"/>
                  <a:gd name="T9" fmla="*/ 143 h 2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292">
                    <a:moveTo>
                      <a:pt x="279" y="239"/>
                    </a:moveTo>
                    <a:cubicBezTo>
                      <a:pt x="245" y="244"/>
                      <a:pt x="122" y="292"/>
                      <a:pt x="77" y="270"/>
                    </a:cubicBezTo>
                    <a:cubicBezTo>
                      <a:pt x="32" y="248"/>
                      <a:pt x="0" y="149"/>
                      <a:pt x="11" y="105"/>
                    </a:cubicBezTo>
                    <a:cubicBezTo>
                      <a:pt x="22" y="61"/>
                      <a:pt x="90" y="0"/>
                      <a:pt x="143" y="6"/>
                    </a:cubicBezTo>
                    <a:cubicBezTo>
                      <a:pt x="196" y="12"/>
                      <a:pt x="289" y="115"/>
                      <a:pt x="327" y="143"/>
                    </a:cubicBezTo>
                  </a:path>
                </a:pathLst>
              </a:custGeom>
              <a:noFill/>
              <a:ln w="38100" cap="flat" cmpd="sng">
                <a:solidFill>
                  <a:schemeClr val="accent2"/>
                </a:solidFill>
                <a:prstDash val="solid"/>
                <a:round/>
                <a:headEnd type="none" w="med" len="me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spAutoFit/>
              </a:bodyPr>
              <a:lstStyle/>
              <a:p>
                <a:endParaRPr lang="en-CA"/>
              </a:p>
            </p:txBody>
          </p:sp>
        </p:grpSp>
      </p:grpSp>
      <p:grpSp>
        <p:nvGrpSpPr>
          <p:cNvPr id="3" name="Group 2"/>
          <p:cNvGrpSpPr/>
          <p:nvPr/>
        </p:nvGrpSpPr>
        <p:grpSpPr>
          <a:xfrm>
            <a:off x="400050" y="2057400"/>
            <a:ext cx="8667750" cy="2024063"/>
            <a:chOff x="400050" y="2057400"/>
            <a:chExt cx="8667750" cy="2024063"/>
          </a:xfrm>
        </p:grpSpPr>
        <p:grpSp>
          <p:nvGrpSpPr>
            <p:cNvPr id="6150" name="Group 27"/>
            <p:cNvGrpSpPr>
              <a:grpSpLocks/>
            </p:cNvGrpSpPr>
            <p:nvPr/>
          </p:nvGrpSpPr>
          <p:grpSpPr bwMode="auto">
            <a:xfrm>
              <a:off x="990600" y="2514600"/>
              <a:ext cx="2859088" cy="1566863"/>
              <a:chOff x="384" y="2064"/>
              <a:chExt cx="1801" cy="987"/>
            </a:xfrm>
          </p:grpSpPr>
          <p:sp>
            <p:nvSpPr>
              <p:cNvPr id="6153" name="Line 22"/>
              <p:cNvSpPr>
                <a:spLocks noChangeShapeType="1"/>
              </p:cNvSpPr>
              <p:nvPr/>
            </p:nvSpPr>
            <p:spPr bwMode="auto">
              <a:xfrm>
                <a:off x="528" y="2880"/>
                <a:ext cx="768" cy="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6154" name="Line 24"/>
              <p:cNvSpPr>
                <a:spLocks noChangeShapeType="1"/>
              </p:cNvSpPr>
              <p:nvPr/>
            </p:nvSpPr>
            <p:spPr bwMode="auto">
              <a:xfrm flipH="1">
                <a:off x="1296" y="2208"/>
                <a:ext cx="720" cy="672"/>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6155" name="Line 21"/>
              <p:cNvSpPr>
                <a:spLocks noChangeShapeType="1"/>
              </p:cNvSpPr>
              <p:nvPr/>
            </p:nvSpPr>
            <p:spPr bwMode="auto">
              <a:xfrm>
                <a:off x="528" y="2208"/>
                <a:ext cx="0" cy="672"/>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6156" name="Line 23"/>
              <p:cNvSpPr>
                <a:spLocks noChangeShapeType="1"/>
              </p:cNvSpPr>
              <p:nvPr/>
            </p:nvSpPr>
            <p:spPr bwMode="auto">
              <a:xfrm flipH="1" flipV="1">
                <a:off x="528" y="2208"/>
                <a:ext cx="768" cy="672"/>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6157" name="Line 25"/>
              <p:cNvSpPr>
                <a:spLocks noChangeShapeType="1"/>
              </p:cNvSpPr>
              <p:nvPr/>
            </p:nvSpPr>
            <p:spPr bwMode="auto">
              <a:xfrm flipV="1">
                <a:off x="1296" y="2208"/>
                <a:ext cx="0" cy="672"/>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6158" name="Line 20"/>
              <p:cNvSpPr>
                <a:spLocks noChangeShapeType="1"/>
              </p:cNvSpPr>
              <p:nvPr/>
            </p:nvSpPr>
            <p:spPr bwMode="auto">
              <a:xfrm>
                <a:off x="1296" y="2208"/>
                <a:ext cx="720" cy="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6159" name="Line 19"/>
              <p:cNvSpPr>
                <a:spLocks noChangeShapeType="1"/>
              </p:cNvSpPr>
              <p:nvPr/>
            </p:nvSpPr>
            <p:spPr bwMode="auto">
              <a:xfrm>
                <a:off x="528" y="2208"/>
                <a:ext cx="768" cy="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6160" name="Oval 13"/>
              <p:cNvSpPr>
                <a:spLocks noChangeArrowheads="1"/>
              </p:cNvSpPr>
              <p:nvPr/>
            </p:nvSpPr>
            <p:spPr bwMode="auto">
              <a:xfrm>
                <a:off x="384" y="2064"/>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1</a:t>
                </a:r>
              </a:p>
            </p:txBody>
          </p:sp>
          <p:sp>
            <p:nvSpPr>
              <p:cNvPr id="6161" name="Oval 14"/>
              <p:cNvSpPr>
                <a:spLocks noChangeArrowheads="1"/>
              </p:cNvSpPr>
              <p:nvPr/>
            </p:nvSpPr>
            <p:spPr bwMode="auto">
              <a:xfrm>
                <a:off x="1152" y="2064"/>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2</a:t>
                </a:r>
              </a:p>
            </p:txBody>
          </p:sp>
          <p:sp>
            <p:nvSpPr>
              <p:cNvPr id="6162" name="Oval 15"/>
              <p:cNvSpPr>
                <a:spLocks noChangeArrowheads="1"/>
              </p:cNvSpPr>
              <p:nvPr/>
            </p:nvSpPr>
            <p:spPr bwMode="auto">
              <a:xfrm>
                <a:off x="384" y="2736"/>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a:solidFill>
                      <a:schemeClr val="tx2"/>
                    </a:solidFill>
                    <a:latin typeface="Arial" pitchFamily="34" charset="0"/>
                  </a:rPr>
                  <a:t>4</a:t>
                </a:r>
              </a:p>
            </p:txBody>
          </p:sp>
          <p:sp>
            <p:nvSpPr>
              <p:cNvPr id="6163" name="Oval 16"/>
              <p:cNvSpPr>
                <a:spLocks noChangeArrowheads="1"/>
              </p:cNvSpPr>
              <p:nvPr/>
            </p:nvSpPr>
            <p:spPr bwMode="auto">
              <a:xfrm>
                <a:off x="1152" y="2736"/>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5</a:t>
                </a:r>
              </a:p>
            </p:txBody>
          </p:sp>
          <p:sp>
            <p:nvSpPr>
              <p:cNvPr id="6164" name="Oval 17"/>
              <p:cNvSpPr>
                <a:spLocks noChangeArrowheads="1"/>
              </p:cNvSpPr>
              <p:nvPr/>
            </p:nvSpPr>
            <p:spPr bwMode="auto">
              <a:xfrm>
                <a:off x="1872" y="2064"/>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3</a:t>
                </a:r>
              </a:p>
            </p:txBody>
          </p:sp>
          <p:sp>
            <p:nvSpPr>
              <p:cNvPr id="6165" name="Oval 18"/>
              <p:cNvSpPr>
                <a:spLocks noChangeArrowheads="1"/>
              </p:cNvSpPr>
              <p:nvPr/>
            </p:nvSpPr>
            <p:spPr bwMode="auto">
              <a:xfrm>
                <a:off x="1872" y="2736"/>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6</a:t>
                </a:r>
              </a:p>
            </p:txBody>
          </p:sp>
        </p:grpSp>
        <p:sp>
          <p:nvSpPr>
            <p:cNvPr id="6151" name="Rectangle 29"/>
            <p:cNvSpPr>
              <a:spLocks noChangeArrowheads="1"/>
            </p:cNvSpPr>
            <p:nvPr/>
          </p:nvSpPr>
          <p:spPr bwMode="auto">
            <a:xfrm>
              <a:off x="4267200" y="2819400"/>
              <a:ext cx="4800600" cy="91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1800">
                  <a:solidFill>
                    <a:schemeClr val="tx2"/>
                  </a:solidFill>
                  <a:latin typeface="Arial" pitchFamily="34" charset="0"/>
                </a:rPr>
                <a:t>V = { 1, 2, 3, 4, 5, 6 }</a:t>
              </a:r>
            </a:p>
            <a:p>
              <a:pPr eaLnBrk="1" hangingPunct="1">
                <a:buFontTx/>
                <a:buNone/>
              </a:pPr>
              <a:r>
                <a:rPr lang="en-US" sz="1800">
                  <a:solidFill>
                    <a:schemeClr val="tx2"/>
                  </a:solidFill>
                  <a:latin typeface="Arial" pitchFamily="34" charset="0"/>
                </a:rPr>
                <a:t/>
              </a:r>
              <a:br>
                <a:rPr lang="en-US" sz="1800">
                  <a:solidFill>
                    <a:schemeClr val="tx2"/>
                  </a:solidFill>
                  <a:latin typeface="Arial" pitchFamily="34" charset="0"/>
                </a:rPr>
              </a:br>
              <a:r>
                <a:rPr lang="en-US" sz="1800">
                  <a:solidFill>
                    <a:schemeClr val="tx2"/>
                  </a:solidFill>
                  <a:latin typeface="Arial" pitchFamily="34" charset="0"/>
                </a:rPr>
                <a:t>E = {(1,2), (1,4), (1,5), (2,3), (2,5), (3,5), (4,5)}</a:t>
              </a:r>
            </a:p>
          </p:txBody>
        </p:sp>
        <p:sp>
          <p:nvSpPr>
            <p:cNvPr id="6152" name="Rectangle 48"/>
            <p:cNvSpPr>
              <a:spLocks noChangeArrowheads="1"/>
            </p:cNvSpPr>
            <p:nvPr/>
          </p:nvSpPr>
          <p:spPr bwMode="auto">
            <a:xfrm>
              <a:off x="400050" y="2057400"/>
              <a:ext cx="61912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dirty="0">
                  <a:solidFill>
                    <a:srgbClr val="CC0000"/>
                  </a:solidFill>
                  <a:latin typeface="Arial" pitchFamily="34" charset="0"/>
                </a:rPr>
                <a:t>Undirected graph:</a:t>
              </a:r>
              <a:r>
                <a:rPr lang="en-US" sz="1800" dirty="0">
                  <a:solidFill>
                    <a:schemeClr val="tx2"/>
                  </a:solidFill>
                  <a:latin typeface="Arial" pitchFamily="34" charset="0"/>
                </a:rPr>
                <a:t>   edges are </a:t>
              </a:r>
              <a:r>
                <a:rPr lang="en-US" sz="1800" dirty="0">
                  <a:solidFill>
                    <a:srgbClr val="CC0000"/>
                  </a:solidFill>
                  <a:latin typeface="Arial" pitchFamily="34" charset="0"/>
                </a:rPr>
                <a:t>unordered</a:t>
              </a:r>
              <a:r>
                <a:rPr lang="en-US" sz="1800" dirty="0">
                  <a:solidFill>
                    <a:schemeClr val="tx2"/>
                  </a:solidFill>
                  <a:latin typeface="Arial" pitchFamily="34" charset="0"/>
                </a:rPr>
                <a:t> pairs of vertices:</a:t>
              </a:r>
            </a:p>
          </p:txBody>
        </p:sp>
      </p:grpSp>
      <p:sp>
        <p:nvSpPr>
          <p:cNvPr id="5" name="Slide Number Placeholder 4"/>
          <p:cNvSpPr>
            <a:spLocks noGrp="1"/>
          </p:cNvSpPr>
          <p:nvPr>
            <p:ph type="sldNum" sz="quarter" idx="12"/>
          </p:nvPr>
        </p:nvSpPr>
        <p:spPr/>
        <p:txBody>
          <a:bodyPr/>
          <a:lstStyle/>
          <a:p>
            <a:pPr>
              <a:defRPr/>
            </a:pPr>
            <a:fld id="{2EA72CB5-5472-4B1F-9EF4-151FAEB37976}" type="slidenum">
              <a:rPr lang="en-US" smtClean="0"/>
              <a:pPr>
                <a:defRPr/>
              </a:pPr>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78850"/>
                                        </p:tgtEl>
                                        <p:attrNameLst>
                                          <p:attrName>style.visibility</p:attrName>
                                        </p:attrNameLst>
                                      </p:cBhvr>
                                      <p:to>
                                        <p:strVal val="visible"/>
                                      </p:to>
                                    </p:set>
                                    <p:anim calcmode="lin" valueType="num">
                                      <p:cBhvr>
                                        <p:cTn id="7" dur="500" fill="hold"/>
                                        <p:tgtEl>
                                          <p:spTgt spid="78850"/>
                                        </p:tgtEl>
                                        <p:attrNameLst>
                                          <p:attrName>ppt_w</p:attrName>
                                        </p:attrNameLst>
                                      </p:cBhvr>
                                      <p:tavLst>
                                        <p:tav tm="0">
                                          <p:val>
                                            <p:fltVal val="0"/>
                                          </p:val>
                                        </p:tav>
                                        <p:tav tm="100000">
                                          <p:val>
                                            <p:strVal val="#ppt_w"/>
                                          </p:val>
                                        </p:tav>
                                      </p:tavLst>
                                    </p:anim>
                                    <p:anim calcmode="lin" valueType="num">
                                      <p:cBhvr>
                                        <p:cTn id="8" dur="500" fill="hold"/>
                                        <p:tgtEl>
                                          <p:spTgt spid="78850"/>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78859"/>
                                        </p:tgtEl>
                                        <p:attrNameLst>
                                          <p:attrName>style.visibility</p:attrName>
                                        </p:attrNameLst>
                                      </p:cBhvr>
                                      <p:to>
                                        <p:strVal val="visible"/>
                                      </p:to>
                                    </p:set>
                                    <p:animEffect transition="in" filter="wipe(up)">
                                      <p:cBhvr>
                                        <p:cTn id="12" dur="500"/>
                                        <p:tgtEl>
                                          <p:spTgt spid="788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animBg="1" autoUpdateAnimBg="0"/>
      <p:bldP spid="78859"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Edge Weighted Graph</a:t>
            </a:r>
          </a:p>
        </p:txBody>
      </p:sp>
      <p:sp>
        <p:nvSpPr>
          <p:cNvPr id="97283" name="Text Box 3"/>
          <p:cNvSpPr txBox="1">
            <a:spLocks noChangeArrowheads="1"/>
          </p:cNvSpPr>
          <p:nvPr/>
        </p:nvSpPr>
        <p:spPr bwMode="auto">
          <a:xfrm>
            <a:off x="3352800" y="889000"/>
            <a:ext cx="17795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2000">
                <a:solidFill>
                  <a:schemeClr val="tx2"/>
                </a:solidFill>
                <a:latin typeface="Arial" pitchFamily="34" charset="0"/>
              </a:rPr>
              <a:t>G = (V, E, w)  </a:t>
            </a:r>
            <a:br>
              <a:rPr lang="en-US" sz="2000">
                <a:solidFill>
                  <a:schemeClr val="tx2"/>
                </a:solidFill>
                <a:latin typeface="Arial" pitchFamily="34" charset="0"/>
              </a:rPr>
            </a:br>
            <a:r>
              <a:rPr lang="en-US" sz="2000">
                <a:solidFill>
                  <a:schemeClr val="tx2"/>
                </a:solidFill>
                <a:latin typeface="Arial" pitchFamily="34" charset="0"/>
              </a:rPr>
              <a:t>w: E</a:t>
            </a:r>
            <a:r>
              <a:rPr lang="en-US" sz="1800">
                <a:solidFill>
                  <a:schemeClr val="tx2"/>
                </a:solidFill>
                <a:latin typeface="Arial" pitchFamily="34" charset="0"/>
              </a:rPr>
              <a:t> </a:t>
            </a:r>
            <a:r>
              <a:rPr lang="en-US" sz="1800" b="1">
                <a:solidFill>
                  <a:schemeClr val="tx2"/>
                </a:solidFill>
                <a:latin typeface="Arial" pitchFamily="34" charset="0"/>
              </a:rPr>
              <a:t> </a:t>
            </a:r>
            <a:r>
              <a:rPr lang="en-US" sz="1000" b="1" baseline="26000">
                <a:solidFill>
                  <a:schemeClr val="tx2"/>
                </a:solidFill>
                <a:latin typeface="Arial" pitchFamily="34" charset="0"/>
              </a:rPr>
              <a:t>|</a:t>
            </a:r>
            <a:r>
              <a:rPr lang="en-US" sz="1800">
                <a:solidFill>
                  <a:schemeClr val="tx2"/>
                </a:solidFill>
                <a:latin typeface="Arial" pitchFamily="34" charset="0"/>
                <a:sym typeface="Symbol" pitchFamily="18" charset="2"/>
              </a:rPr>
              <a:t> </a:t>
            </a:r>
            <a:r>
              <a:rPr lang="en-US" sz="2400">
                <a:solidFill>
                  <a:schemeClr val="tx2"/>
                </a:solidFill>
                <a:latin typeface="Arial" pitchFamily="34" charset="0"/>
                <a:sym typeface="Symbol" pitchFamily="18" charset="2"/>
              </a:rPr>
              <a:t></a:t>
            </a:r>
          </a:p>
        </p:txBody>
      </p:sp>
      <p:grpSp>
        <p:nvGrpSpPr>
          <p:cNvPr id="97336" name="Group 56"/>
          <p:cNvGrpSpPr>
            <a:grpSpLocks/>
          </p:cNvGrpSpPr>
          <p:nvPr/>
        </p:nvGrpSpPr>
        <p:grpSpPr bwMode="auto">
          <a:xfrm>
            <a:off x="838200" y="1981200"/>
            <a:ext cx="7791450" cy="1719263"/>
            <a:chOff x="528" y="1248"/>
            <a:chExt cx="4908" cy="1083"/>
          </a:xfrm>
        </p:grpSpPr>
        <p:grpSp>
          <p:nvGrpSpPr>
            <p:cNvPr id="7197" name="Group 23"/>
            <p:cNvGrpSpPr>
              <a:grpSpLocks/>
            </p:cNvGrpSpPr>
            <p:nvPr/>
          </p:nvGrpSpPr>
          <p:grpSpPr bwMode="auto">
            <a:xfrm>
              <a:off x="616" y="1344"/>
              <a:ext cx="1801" cy="987"/>
              <a:chOff x="384" y="2064"/>
              <a:chExt cx="1801" cy="987"/>
            </a:xfrm>
          </p:grpSpPr>
          <p:sp>
            <p:nvSpPr>
              <p:cNvPr id="7206" name="Line 24"/>
              <p:cNvSpPr>
                <a:spLocks noChangeShapeType="1"/>
              </p:cNvSpPr>
              <p:nvPr/>
            </p:nvSpPr>
            <p:spPr bwMode="auto">
              <a:xfrm>
                <a:off x="528" y="2880"/>
                <a:ext cx="768" cy="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7207" name="Line 25"/>
              <p:cNvSpPr>
                <a:spLocks noChangeShapeType="1"/>
              </p:cNvSpPr>
              <p:nvPr/>
            </p:nvSpPr>
            <p:spPr bwMode="auto">
              <a:xfrm flipH="1">
                <a:off x="1296" y="2208"/>
                <a:ext cx="720" cy="672"/>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7208" name="Line 26"/>
              <p:cNvSpPr>
                <a:spLocks noChangeShapeType="1"/>
              </p:cNvSpPr>
              <p:nvPr/>
            </p:nvSpPr>
            <p:spPr bwMode="auto">
              <a:xfrm>
                <a:off x="528" y="2208"/>
                <a:ext cx="0" cy="672"/>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7209" name="Line 27"/>
              <p:cNvSpPr>
                <a:spLocks noChangeShapeType="1"/>
              </p:cNvSpPr>
              <p:nvPr/>
            </p:nvSpPr>
            <p:spPr bwMode="auto">
              <a:xfrm flipH="1" flipV="1">
                <a:off x="528" y="2208"/>
                <a:ext cx="768" cy="672"/>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7210" name="Line 28"/>
              <p:cNvSpPr>
                <a:spLocks noChangeShapeType="1"/>
              </p:cNvSpPr>
              <p:nvPr/>
            </p:nvSpPr>
            <p:spPr bwMode="auto">
              <a:xfrm flipV="1">
                <a:off x="1296" y="2208"/>
                <a:ext cx="0" cy="672"/>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7211" name="Line 29"/>
              <p:cNvSpPr>
                <a:spLocks noChangeShapeType="1"/>
              </p:cNvSpPr>
              <p:nvPr/>
            </p:nvSpPr>
            <p:spPr bwMode="auto">
              <a:xfrm>
                <a:off x="1296" y="2208"/>
                <a:ext cx="720" cy="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7212" name="Line 30"/>
              <p:cNvSpPr>
                <a:spLocks noChangeShapeType="1"/>
              </p:cNvSpPr>
              <p:nvPr/>
            </p:nvSpPr>
            <p:spPr bwMode="auto">
              <a:xfrm>
                <a:off x="528" y="2208"/>
                <a:ext cx="768" cy="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7213" name="Oval 31"/>
              <p:cNvSpPr>
                <a:spLocks noChangeArrowheads="1"/>
              </p:cNvSpPr>
              <p:nvPr/>
            </p:nvSpPr>
            <p:spPr bwMode="auto">
              <a:xfrm>
                <a:off x="384" y="2064"/>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a:solidFill>
                      <a:schemeClr val="tx2"/>
                    </a:solidFill>
                    <a:latin typeface="Arial" pitchFamily="34" charset="0"/>
                  </a:rPr>
                  <a:t>1</a:t>
                </a:r>
              </a:p>
            </p:txBody>
          </p:sp>
          <p:sp>
            <p:nvSpPr>
              <p:cNvPr id="7214" name="Oval 32"/>
              <p:cNvSpPr>
                <a:spLocks noChangeArrowheads="1"/>
              </p:cNvSpPr>
              <p:nvPr/>
            </p:nvSpPr>
            <p:spPr bwMode="auto">
              <a:xfrm>
                <a:off x="1152" y="2064"/>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2</a:t>
                </a:r>
              </a:p>
            </p:txBody>
          </p:sp>
          <p:sp>
            <p:nvSpPr>
              <p:cNvPr id="7215" name="Oval 33"/>
              <p:cNvSpPr>
                <a:spLocks noChangeArrowheads="1"/>
              </p:cNvSpPr>
              <p:nvPr/>
            </p:nvSpPr>
            <p:spPr bwMode="auto">
              <a:xfrm>
                <a:off x="384" y="2736"/>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4</a:t>
                </a:r>
              </a:p>
            </p:txBody>
          </p:sp>
          <p:sp>
            <p:nvSpPr>
              <p:cNvPr id="7216" name="Oval 34"/>
              <p:cNvSpPr>
                <a:spLocks noChangeArrowheads="1"/>
              </p:cNvSpPr>
              <p:nvPr/>
            </p:nvSpPr>
            <p:spPr bwMode="auto">
              <a:xfrm>
                <a:off x="1152" y="2736"/>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a:solidFill>
                      <a:schemeClr val="tx2"/>
                    </a:solidFill>
                    <a:latin typeface="Arial" pitchFamily="34" charset="0"/>
                  </a:rPr>
                  <a:t>5</a:t>
                </a:r>
              </a:p>
            </p:txBody>
          </p:sp>
          <p:sp>
            <p:nvSpPr>
              <p:cNvPr id="7217" name="Oval 35"/>
              <p:cNvSpPr>
                <a:spLocks noChangeArrowheads="1"/>
              </p:cNvSpPr>
              <p:nvPr/>
            </p:nvSpPr>
            <p:spPr bwMode="auto">
              <a:xfrm>
                <a:off x="1872" y="2064"/>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3</a:t>
                </a:r>
              </a:p>
            </p:txBody>
          </p:sp>
          <p:sp>
            <p:nvSpPr>
              <p:cNvPr id="7218" name="Oval 36"/>
              <p:cNvSpPr>
                <a:spLocks noChangeArrowheads="1"/>
              </p:cNvSpPr>
              <p:nvPr/>
            </p:nvSpPr>
            <p:spPr bwMode="auto">
              <a:xfrm>
                <a:off x="1872" y="2736"/>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6</a:t>
                </a:r>
              </a:p>
            </p:txBody>
          </p:sp>
        </p:grpSp>
        <p:sp>
          <p:nvSpPr>
            <p:cNvPr id="7198" name="Rectangle 37"/>
            <p:cNvSpPr>
              <a:spLocks noChangeArrowheads="1"/>
            </p:cNvSpPr>
            <p:nvPr/>
          </p:nvSpPr>
          <p:spPr bwMode="auto">
            <a:xfrm>
              <a:off x="2680" y="1536"/>
              <a:ext cx="2756" cy="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1800">
                  <a:solidFill>
                    <a:schemeClr val="tx2"/>
                  </a:solidFill>
                  <a:latin typeface="Arial" pitchFamily="34" charset="0"/>
                </a:rPr>
                <a:t>E = {(1,2,13),  (1,4,14), (1,5,17), </a:t>
              </a:r>
              <a:br>
                <a:rPr lang="en-US" sz="1800">
                  <a:solidFill>
                    <a:schemeClr val="tx2"/>
                  </a:solidFill>
                  <a:latin typeface="Arial" pitchFamily="34" charset="0"/>
                </a:rPr>
              </a:br>
              <a:r>
                <a:rPr lang="en-US" sz="1800">
                  <a:solidFill>
                    <a:schemeClr val="tx2"/>
                  </a:solidFill>
                  <a:latin typeface="Arial" pitchFamily="34" charset="0"/>
                </a:rPr>
                <a:t>        (2,3,-16), (2,5,21), (3,5,18), (4,5,23)}</a:t>
              </a:r>
            </a:p>
            <a:p>
              <a:pPr eaLnBrk="1" hangingPunct="1">
                <a:buFontTx/>
                <a:buNone/>
              </a:pPr>
              <a:endParaRPr lang="en-US" sz="1800">
                <a:solidFill>
                  <a:schemeClr val="tx2"/>
                </a:solidFill>
                <a:latin typeface="Arial" pitchFamily="34" charset="0"/>
              </a:endParaRPr>
            </a:p>
            <a:p>
              <a:pPr eaLnBrk="1" hangingPunct="1">
                <a:buFontTx/>
                <a:buNone/>
              </a:pPr>
              <a:r>
                <a:rPr lang="en-US" sz="1800">
                  <a:solidFill>
                    <a:srgbClr val="CC0000"/>
                  </a:solidFill>
                  <a:latin typeface="Arial" pitchFamily="34" charset="0"/>
                </a:rPr>
                <a:t>e.g., w(1,5) = w(5,1) = 17.</a:t>
              </a:r>
            </a:p>
          </p:txBody>
        </p:sp>
        <p:sp>
          <p:nvSpPr>
            <p:cNvPr id="7199" name="Rectangle 39"/>
            <p:cNvSpPr>
              <a:spLocks noChangeArrowheads="1"/>
            </p:cNvSpPr>
            <p:nvPr/>
          </p:nvSpPr>
          <p:spPr bwMode="auto">
            <a:xfrm>
              <a:off x="1016" y="1248"/>
              <a:ext cx="2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13</a:t>
              </a:r>
            </a:p>
          </p:txBody>
        </p:sp>
        <p:sp>
          <p:nvSpPr>
            <p:cNvPr id="7200" name="Rectangle 40"/>
            <p:cNvSpPr>
              <a:spLocks noChangeArrowheads="1"/>
            </p:cNvSpPr>
            <p:nvPr/>
          </p:nvSpPr>
          <p:spPr bwMode="auto">
            <a:xfrm>
              <a:off x="1704" y="1248"/>
              <a:ext cx="32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-16</a:t>
              </a:r>
            </a:p>
          </p:txBody>
        </p:sp>
        <p:sp>
          <p:nvSpPr>
            <p:cNvPr id="7201" name="Rectangle 41"/>
            <p:cNvSpPr>
              <a:spLocks noChangeArrowheads="1"/>
            </p:cNvSpPr>
            <p:nvPr/>
          </p:nvSpPr>
          <p:spPr bwMode="auto">
            <a:xfrm>
              <a:off x="528" y="1680"/>
              <a:ext cx="2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14</a:t>
              </a:r>
            </a:p>
          </p:txBody>
        </p:sp>
        <p:sp>
          <p:nvSpPr>
            <p:cNvPr id="7202" name="Rectangle 42"/>
            <p:cNvSpPr>
              <a:spLocks noChangeArrowheads="1"/>
            </p:cNvSpPr>
            <p:nvPr/>
          </p:nvSpPr>
          <p:spPr bwMode="auto">
            <a:xfrm>
              <a:off x="1056" y="1632"/>
              <a:ext cx="2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17</a:t>
              </a:r>
            </a:p>
          </p:txBody>
        </p:sp>
        <p:sp>
          <p:nvSpPr>
            <p:cNvPr id="7203" name="Rectangle 43"/>
            <p:cNvSpPr>
              <a:spLocks noChangeArrowheads="1"/>
            </p:cNvSpPr>
            <p:nvPr/>
          </p:nvSpPr>
          <p:spPr bwMode="auto">
            <a:xfrm>
              <a:off x="960" y="1968"/>
              <a:ext cx="2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23</a:t>
              </a:r>
            </a:p>
          </p:txBody>
        </p:sp>
        <p:sp>
          <p:nvSpPr>
            <p:cNvPr id="7204" name="Rectangle 44"/>
            <p:cNvSpPr>
              <a:spLocks noChangeArrowheads="1"/>
            </p:cNvSpPr>
            <p:nvPr/>
          </p:nvSpPr>
          <p:spPr bwMode="auto">
            <a:xfrm>
              <a:off x="1488" y="1680"/>
              <a:ext cx="2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buFontTx/>
                <a:buNone/>
              </a:pPr>
              <a:r>
                <a:rPr lang="en-US" sz="1800">
                  <a:solidFill>
                    <a:schemeClr val="tx2"/>
                  </a:solidFill>
                  <a:latin typeface="Arial" pitchFamily="34" charset="0"/>
                </a:rPr>
                <a:t>21</a:t>
              </a:r>
            </a:p>
          </p:txBody>
        </p:sp>
        <p:sp>
          <p:nvSpPr>
            <p:cNvPr id="7205" name="Rectangle 45"/>
            <p:cNvSpPr>
              <a:spLocks noChangeArrowheads="1"/>
            </p:cNvSpPr>
            <p:nvPr/>
          </p:nvSpPr>
          <p:spPr bwMode="auto">
            <a:xfrm>
              <a:off x="1776" y="1824"/>
              <a:ext cx="2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18</a:t>
              </a:r>
            </a:p>
          </p:txBody>
        </p:sp>
      </p:grpSp>
      <p:grpSp>
        <p:nvGrpSpPr>
          <p:cNvPr id="97337" name="Group 57"/>
          <p:cNvGrpSpPr>
            <a:grpSpLocks/>
          </p:cNvGrpSpPr>
          <p:nvPr/>
        </p:nvGrpSpPr>
        <p:grpSpPr bwMode="auto">
          <a:xfrm>
            <a:off x="850900" y="4343400"/>
            <a:ext cx="7778750" cy="1738313"/>
            <a:chOff x="536" y="2736"/>
            <a:chExt cx="4900" cy="1095"/>
          </a:xfrm>
        </p:grpSpPr>
        <p:sp>
          <p:nvSpPr>
            <p:cNvPr id="7174" name="Freeform 5"/>
            <p:cNvSpPr>
              <a:spLocks/>
            </p:cNvSpPr>
            <p:nvPr/>
          </p:nvSpPr>
          <p:spPr bwMode="auto">
            <a:xfrm>
              <a:off x="925" y="3050"/>
              <a:ext cx="550" cy="484"/>
            </a:xfrm>
            <a:custGeom>
              <a:avLst/>
              <a:gdLst>
                <a:gd name="T0" fmla="*/ 550 w 550"/>
                <a:gd name="T1" fmla="*/ 484 h 484"/>
                <a:gd name="T2" fmla="*/ 358 w 550"/>
                <a:gd name="T3" fmla="*/ 245 h 484"/>
                <a:gd name="T4" fmla="*/ 0 w 550"/>
                <a:gd name="T5" fmla="*/ 0 h 484"/>
                <a:gd name="T6" fmla="*/ 0 60000 65536"/>
                <a:gd name="T7" fmla="*/ 0 60000 65536"/>
                <a:gd name="T8" fmla="*/ 0 60000 65536"/>
              </a:gdLst>
              <a:ahLst/>
              <a:cxnLst>
                <a:cxn ang="T6">
                  <a:pos x="T0" y="T1"/>
                </a:cxn>
                <a:cxn ang="T7">
                  <a:pos x="T2" y="T3"/>
                </a:cxn>
                <a:cxn ang="T8">
                  <a:pos x="T4" y="T5"/>
                </a:cxn>
              </a:cxnLst>
              <a:rect l="0" t="0" r="r" b="b"/>
              <a:pathLst>
                <a:path w="550" h="484">
                  <a:moveTo>
                    <a:pt x="550" y="484"/>
                  </a:moveTo>
                  <a:cubicBezTo>
                    <a:pt x="518" y="444"/>
                    <a:pt x="450" y="326"/>
                    <a:pt x="358" y="245"/>
                  </a:cubicBezTo>
                  <a:cubicBezTo>
                    <a:pt x="266" y="164"/>
                    <a:pt x="75" y="51"/>
                    <a:pt x="0" y="0"/>
                  </a:cubicBezTo>
                </a:path>
              </a:pathLst>
            </a:custGeom>
            <a:noFill/>
            <a:ln w="38100" cap="flat" cmpd="sng">
              <a:solidFill>
                <a:schemeClr val="accent2"/>
              </a:solidFill>
              <a:prstDash val="solid"/>
              <a:round/>
              <a:headEnd type="none" w="med" len="me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spAutoFit/>
            </a:bodyPr>
            <a:lstStyle/>
            <a:p>
              <a:endParaRPr lang="en-CA"/>
            </a:p>
          </p:txBody>
        </p:sp>
        <p:sp>
          <p:nvSpPr>
            <p:cNvPr id="7175" name="Line 7"/>
            <p:cNvSpPr>
              <a:spLocks noChangeShapeType="1"/>
            </p:cNvSpPr>
            <p:nvPr/>
          </p:nvSpPr>
          <p:spPr bwMode="auto">
            <a:xfrm>
              <a:off x="768" y="3648"/>
              <a:ext cx="624" cy="0"/>
            </a:xfrm>
            <a:prstGeom prst="line">
              <a:avLst/>
            </a:prstGeom>
            <a:noFill/>
            <a:ln w="38100">
              <a:solidFill>
                <a:schemeClr val="accent2"/>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7176" name="Freeform 8"/>
            <p:cNvSpPr>
              <a:spLocks/>
            </p:cNvSpPr>
            <p:nvPr/>
          </p:nvSpPr>
          <p:spPr bwMode="auto">
            <a:xfrm>
              <a:off x="1536" y="3090"/>
              <a:ext cx="607" cy="558"/>
            </a:xfrm>
            <a:custGeom>
              <a:avLst/>
              <a:gdLst>
                <a:gd name="T0" fmla="*/ 607 w 607"/>
                <a:gd name="T1" fmla="*/ 0 h 558"/>
                <a:gd name="T2" fmla="*/ 0 w 607"/>
                <a:gd name="T3" fmla="*/ 558 h 558"/>
                <a:gd name="T4" fmla="*/ 0 60000 65536"/>
                <a:gd name="T5" fmla="*/ 0 60000 65536"/>
              </a:gdLst>
              <a:ahLst/>
              <a:cxnLst>
                <a:cxn ang="T4">
                  <a:pos x="T0" y="T1"/>
                </a:cxn>
                <a:cxn ang="T5">
                  <a:pos x="T2" y="T3"/>
                </a:cxn>
              </a:cxnLst>
              <a:rect l="0" t="0" r="r" b="b"/>
              <a:pathLst>
                <a:path w="607" h="558">
                  <a:moveTo>
                    <a:pt x="607" y="0"/>
                  </a:moveTo>
                  <a:lnTo>
                    <a:pt x="0" y="558"/>
                  </a:lnTo>
                </a:path>
              </a:pathLst>
            </a:custGeom>
            <a:noFill/>
            <a:ln w="38100" cap="flat" cmpd="sng">
              <a:solidFill>
                <a:schemeClr val="accent2"/>
              </a:solidFill>
              <a:prstDash val="solid"/>
              <a:round/>
              <a:headEnd type="triangl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7177" name="Line 9"/>
            <p:cNvSpPr>
              <a:spLocks noChangeShapeType="1"/>
            </p:cNvSpPr>
            <p:nvPr/>
          </p:nvSpPr>
          <p:spPr bwMode="auto">
            <a:xfrm>
              <a:off x="768" y="3120"/>
              <a:ext cx="0" cy="384"/>
            </a:xfrm>
            <a:prstGeom prst="line">
              <a:avLst/>
            </a:prstGeom>
            <a:noFill/>
            <a:ln w="38100">
              <a:solidFill>
                <a:schemeClr val="accent2"/>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7178" name="Freeform 10"/>
            <p:cNvSpPr>
              <a:spLocks/>
            </p:cNvSpPr>
            <p:nvPr/>
          </p:nvSpPr>
          <p:spPr bwMode="auto">
            <a:xfrm>
              <a:off x="846" y="3123"/>
              <a:ext cx="569" cy="457"/>
            </a:xfrm>
            <a:custGeom>
              <a:avLst/>
              <a:gdLst>
                <a:gd name="T0" fmla="*/ 569 w 569"/>
                <a:gd name="T1" fmla="*/ 457 h 457"/>
                <a:gd name="T2" fmla="*/ 232 w 569"/>
                <a:gd name="T3" fmla="*/ 305 h 457"/>
                <a:gd name="T4" fmla="*/ 0 w 569"/>
                <a:gd name="T5" fmla="*/ 0 h 457"/>
                <a:gd name="T6" fmla="*/ 0 60000 65536"/>
                <a:gd name="T7" fmla="*/ 0 60000 65536"/>
                <a:gd name="T8" fmla="*/ 0 60000 65536"/>
              </a:gdLst>
              <a:ahLst/>
              <a:cxnLst>
                <a:cxn ang="T6">
                  <a:pos x="T0" y="T1"/>
                </a:cxn>
                <a:cxn ang="T7">
                  <a:pos x="T2" y="T3"/>
                </a:cxn>
                <a:cxn ang="T8">
                  <a:pos x="T4" y="T5"/>
                </a:cxn>
              </a:cxnLst>
              <a:rect l="0" t="0" r="r" b="b"/>
              <a:pathLst>
                <a:path w="569" h="457">
                  <a:moveTo>
                    <a:pt x="569" y="457"/>
                  </a:moveTo>
                  <a:cubicBezTo>
                    <a:pt x="513" y="432"/>
                    <a:pt x="327" y="381"/>
                    <a:pt x="232" y="305"/>
                  </a:cubicBezTo>
                  <a:cubicBezTo>
                    <a:pt x="137" y="229"/>
                    <a:pt x="48" y="64"/>
                    <a:pt x="0" y="0"/>
                  </a:cubicBezTo>
                </a:path>
              </a:pathLst>
            </a:custGeom>
            <a:noFill/>
            <a:ln w="38100" cap="flat" cmpd="sng">
              <a:solidFill>
                <a:schemeClr val="accent2"/>
              </a:solidFill>
              <a:prstDash val="solid"/>
              <a:round/>
              <a:headEnd type="triangl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7179" name="Freeform 11"/>
            <p:cNvSpPr>
              <a:spLocks/>
            </p:cNvSpPr>
            <p:nvPr/>
          </p:nvSpPr>
          <p:spPr bwMode="auto">
            <a:xfrm>
              <a:off x="1534" y="3143"/>
              <a:ext cx="2" cy="505"/>
            </a:xfrm>
            <a:custGeom>
              <a:avLst/>
              <a:gdLst>
                <a:gd name="T0" fmla="*/ 2 w 2"/>
                <a:gd name="T1" fmla="*/ 505 h 505"/>
                <a:gd name="T2" fmla="*/ 0 w 2"/>
                <a:gd name="T3" fmla="*/ 0 h 505"/>
                <a:gd name="T4" fmla="*/ 0 60000 65536"/>
                <a:gd name="T5" fmla="*/ 0 60000 65536"/>
              </a:gdLst>
              <a:ahLst/>
              <a:cxnLst>
                <a:cxn ang="T4">
                  <a:pos x="T0" y="T1"/>
                </a:cxn>
                <a:cxn ang="T5">
                  <a:pos x="T2" y="T3"/>
                </a:cxn>
              </a:cxnLst>
              <a:rect l="0" t="0" r="r" b="b"/>
              <a:pathLst>
                <a:path w="2" h="505">
                  <a:moveTo>
                    <a:pt x="2" y="505"/>
                  </a:moveTo>
                  <a:lnTo>
                    <a:pt x="0" y="0"/>
                  </a:lnTo>
                </a:path>
              </a:pathLst>
            </a:custGeom>
            <a:noFill/>
            <a:ln w="19050"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80" name="Freeform 12"/>
            <p:cNvSpPr>
              <a:spLocks/>
            </p:cNvSpPr>
            <p:nvPr/>
          </p:nvSpPr>
          <p:spPr bwMode="auto">
            <a:xfrm>
              <a:off x="1706" y="2977"/>
              <a:ext cx="550" cy="1"/>
            </a:xfrm>
            <a:custGeom>
              <a:avLst/>
              <a:gdLst>
                <a:gd name="T0" fmla="*/ 0 w 550"/>
                <a:gd name="T1" fmla="*/ 1 h 1"/>
                <a:gd name="T2" fmla="*/ 550 w 550"/>
                <a:gd name="T3" fmla="*/ 0 h 1"/>
                <a:gd name="T4" fmla="*/ 0 60000 65536"/>
                <a:gd name="T5" fmla="*/ 0 60000 65536"/>
              </a:gdLst>
              <a:ahLst/>
              <a:cxnLst>
                <a:cxn ang="T4">
                  <a:pos x="T0" y="T1"/>
                </a:cxn>
                <a:cxn ang="T5">
                  <a:pos x="T2" y="T3"/>
                </a:cxn>
              </a:cxnLst>
              <a:rect l="0" t="0" r="r" b="b"/>
              <a:pathLst>
                <a:path w="550" h="1">
                  <a:moveTo>
                    <a:pt x="0" y="1"/>
                  </a:moveTo>
                  <a:lnTo>
                    <a:pt x="550" y="0"/>
                  </a:lnTo>
                </a:path>
              </a:pathLst>
            </a:custGeom>
            <a:noFill/>
            <a:ln w="38100" cap="flat" cmpd="sng">
              <a:solidFill>
                <a:schemeClr val="accent2"/>
              </a:solidFill>
              <a:prstDash val="solid"/>
              <a:round/>
              <a:headEnd type="triangl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7181" name="Line 13"/>
            <p:cNvSpPr>
              <a:spLocks noChangeShapeType="1"/>
            </p:cNvSpPr>
            <p:nvPr/>
          </p:nvSpPr>
          <p:spPr bwMode="auto">
            <a:xfrm>
              <a:off x="768" y="2976"/>
              <a:ext cx="624" cy="0"/>
            </a:xfrm>
            <a:prstGeom prst="line">
              <a:avLst/>
            </a:prstGeom>
            <a:noFill/>
            <a:ln w="38100">
              <a:solidFill>
                <a:schemeClr val="accent2"/>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7182" name="Oval 14"/>
            <p:cNvSpPr>
              <a:spLocks noChangeArrowheads="1"/>
            </p:cNvSpPr>
            <p:nvPr/>
          </p:nvSpPr>
          <p:spPr bwMode="auto">
            <a:xfrm>
              <a:off x="624" y="2832"/>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1</a:t>
              </a:r>
            </a:p>
          </p:txBody>
        </p:sp>
        <p:sp>
          <p:nvSpPr>
            <p:cNvPr id="7183" name="Oval 15"/>
            <p:cNvSpPr>
              <a:spLocks noChangeArrowheads="1"/>
            </p:cNvSpPr>
            <p:nvPr/>
          </p:nvSpPr>
          <p:spPr bwMode="auto">
            <a:xfrm>
              <a:off x="1392" y="2832"/>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a:solidFill>
                    <a:schemeClr val="tx2"/>
                  </a:solidFill>
                  <a:latin typeface="Arial" pitchFamily="34" charset="0"/>
                </a:rPr>
                <a:t>2</a:t>
              </a:r>
            </a:p>
          </p:txBody>
        </p:sp>
        <p:sp>
          <p:nvSpPr>
            <p:cNvPr id="7184" name="Oval 16"/>
            <p:cNvSpPr>
              <a:spLocks noChangeArrowheads="1"/>
            </p:cNvSpPr>
            <p:nvPr/>
          </p:nvSpPr>
          <p:spPr bwMode="auto">
            <a:xfrm>
              <a:off x="624" y="3504"/>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4</a:t>
              </a:r>
            </a:p>
          </p:txBody>
        </p:sp>
        <p:sp>
          <p:nvSpPr>
            <p:cNvPr id="7185" name="Oval 17"/>
            <p:cNvSpPr>
              <a:spLocks noChangeArrowheads="1"/>
            </p:cNvSpPr>
            <p:nvPr/>
          </p:nvSpPr>
          <p:spPr bwMode="auto">
            <a:xfrm>
              <a:off x="1392" y="3504"/>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5</a:t>
              </a:r>
            </a:p>
          </p:txBody>
        </p:sp>
        <p:sp>
          <p:nvSpPr>
            <p:cNvPr id="7186" name="Oval 18"/>
            <p:cNvSpPr>
              <a:spLocks noChangeArrowheads="1"/>
            </p:cNvSpPr>
            <p:nvPr/>
          </p:nvSpPr>
          <p:spPr bwMode="auto">
            <a:xfrm>
              <a:off x="2112" y="2832"/>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a:solidFill>
                    <a:schemeClr val="tx2"/>
                  </a:solidFill>
                  <a:latin typeface="Arial" pitchFamily="34" charset="0"/>
                </a:rPr>
                <a:t>3</a:t>
              </a:r>
            </a:p>
          </p:txBody>
        </p:sp>
        <p:sp>
          <p:nvSpPr>
            <p:cNvPr id="7187" name="Oval 19"/>
            <p:cNvSpPr>
              <a:spLocks noChangeArrowheads="1"/>
            </p:cNvSpPr>
            <p:nvPr/>
          </p:nvSpPr>
          <p:spPr bwMode="auto">
            <a:xfrm>
              <a:off x="2112" y="3504"/>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a:solidFill>
                    <a:schemeClr val="tx2"/>
                  </a:solidFill>
                  <a:latin typeface="Arial" pitchFamily="34" charset="0"/>
                </a:rPr>
                <a:t>6</a:t>
              </a:r>
            </a:p>
          </p:txBody>
        </p:sp>
        <p:sp>
          <p:nvSpPr>
            <p:cNvPr id="7188" name="Rectangle 20"/>
            <p:cNvSpPr>
              <a:spLocks noChangeArrowheads="1"/>
            </p:cNvSpPr>
            <p:nvPr/>
          </p:nvSpPr>
          <p:spPr bwMode="auto">
            <a:xfrm>
              <a:off x="2688" y="3024"/>
              <a:ext cx="2748" cy="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1800">
                  <a:solidFill>
                    <a:schemeClr val="tx2"/>
                  </a:solidFill>
                  <a:latin typeface="Arial" pitchFamily="34" charset="0"/>
                </a:rPr>
                <a:t>E = { (1,2,13), (1,4,14), (1,5,15), (3,2,-16)</a:t>
              </a:r>
              <a:br>
                <a:rPr lang="en-US" sz="1800">
                  <a:solidFill>
                    <a:schemeClr val="tx2"/>
                  </a:solidFill>
                  <a:latin typeface="Arial" pitchFamily="34" charset="0"/>
                </a:rPr>
              </a:br>
              <a:r>
                <a:rPr lang="en-US" sz="1800">
                  <a:solidFill>
                    <a:schemeClr val="tx2"/>
                  </a:solidFill>
                  <a:latin typeface="Arial" pitchFamily="34" charset="0"/>
                </a:rPr>
                <a:t>         (4,5,23), (5,1,14), (5,2,21), (5,3,18)}</a:t>
              </a:r>
            </a:p>
            <a:p>
              <a:pPr eaLnBrk="1" hangingPunct="1">
                <a:buFontTx/>
                <a:buNone/>
              </a:pPr>
              <a:endParaRPr lang="en-US" sz="1800">
                <a:solidFill>
                  <a:schemeClr val="tx2"/>
                </a:solidFill>
                <a:latin typeface="Arial" pitchFamily="34" charset="0"/>
              </a:endParaRPr>
            </a:p>
            <a:p>
              <a:pPr eaLnBrk="1" hangingPunct="1">
                <a:buFontTx/>
                <a:buNone/>
              </a:pPr>
              <a:r>
                <a:rPr lang="en-US" sz="1800">
                  <a:solidFill>
                    <a:srgbClr val="CC0000"/>
                  </a:solidFill>
                  <a:latin typeface="Arial" pitchFamily="34" charset="0"/>
                </a:rPr>
                <a:t>e.g., w(1,5) = 15,  w(5,1) = 14.</a:t>
              </a:r>
            </a:p>
          </p:txBody>
        </p:sp>
        <p:sp>
          <p:nvSpPr>
            <p:cNvPr id="7189" name="Rectangle 46"/>
            <p:cNvSpPr>
              <a:spLocks noChangeArrowheads="1"/>
            </p:cNvSpPr>
            <p:nvPr/>
          </p:nvSpPr>
          <p:spPr bwMode="auto">
            <a:xfrm>
              <a:off x="1016" y="2736"/>
              <a:ext cx="2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13</a:t>
              </a:r>
            </a:p>
          </p:txBody>
        </p:sp>
        <p:sp>
          <p:nvSpPr>
            <p:cNvPr id="7190" name="Rectangle 47"/>
            <p:cNvSpPr>
              <a:spLocks noChangeArrowheads="1"/>
            </p:cNvSpPr>
            <p:nvPr/>
          </p:nvSpPr>
          <p:spPr bwMode="auto">
            <a:xfrm>
              <a:off x="1808" y="2736"/>
              <a:ext cx="32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-16</a:t>
              </a:r>
            </a:p>
          </p:txBody>
        </p:sp>
        <p:sp>
          <p:nvSpPr>
            <p:cNvPr id="7191" name="Rectangle 48"/>
            <p:cNvSpPr>
              <a:spLocks noChangeArrowheads="1"/>
            </p:cNvSpPr>
            <p:nvPr/>
          </p:nvSpPr>
          <p:spPr bwMode="auto">
            <a:xfrm>
              <a:off x="1112" y="3072"/>
              <a:ext cx="2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14</a:t>
              </a:r>
            </a:p>
          </p:txBody>
        </p:sp>
        <p:sp>
          <p:nvSpPr>
            <p:cNvPr id="7192" name="Rectangle 49"/>
            <p:cNvSpPr>
              <a:spLocks noChangeArrowheads="1"/>
            </p:cNvSpPr>
            <p:nvPr/>
          </p:nvSpPr>
          <p:spPr bwMode="auto">
            <a:xfrm>
              <a:off x="920" y="3216"/>
              <a:ext cx="2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15</a:t>
              </a:r>
            </a:p>
          </p:txBody>
        </p:sp>
        <p:sp>
          <p:nvSpPr>
            <p:cNvPr id="7193" name="Rectangle 50"/>
            <p:cNvSpPr>
              <a:spLocks noChangeArrowheads="1"/>
            </p:cNvSpPr>
            <p:nvPr/>
          </p:nvSpPr>
          <p:spPr bwMode="auto">
            <a:xfrm>
              <a:off x="536" y="3168"/>
              <a:ext cx="2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14</a:t>
              </a:r>
            </a:p>
          </p:txBody>
        </p:sp>
        <p:sp>
          <p:nvSpPr>
            <p:cNvPr id="7194" name="Rectangle 51"/>
            <p:cNvSpPr>
              <a:spLocks noChangeArrowheads="1"/>
            </p:cNvSpPr>
            <p:nvPr/>
          </p:nvSpPr>
          <p:spPr bwMode="auto">
            <a:xfrm>
              <a:off x="968" y="3600"/>
              <a:ext cx="2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23</a:t>
              </a:r>
            </a:p>
          </p:txBody>
        </p:sp>
        <p:sp>
          <p:nvSpPr>
            <p:cNvPr id="7195" name="Rectangle 52"/>
            <p:cNvSpPr>
              <a:spLocks noChangeArrowheads="1"/>
            </p:cNvSpPr>
            <p:nvPr/>
          </p:nvSpPr>
          <p:spPr bwMode="auto">
            <a:xfrm>
              <a:off x="1488" y="3216"/>
              <a:ext cx="2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21</a:t>
              </a:r>
            </a:p>
          </p:txBody>
        </p:sp>
        <p:sp>
          <p:nvSpPr>
            <p:cNvPr id="7196" name="Rectangle 53"/>
            <p:cNvSpPr>
              <a:spLocks noChangeArrowheads="1"/>
            </p:cNvSpPr>
            <p:nvPr/>
          </p:nvSpPr>
          <p:spPr bwMode="auto">
            <a:xfrm>
              <a:off x="1784" y="3312"/>
              <a:ext cx="2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18</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97282"/>
                                        </p:tgtEl>
                                        <p:attrNameLst>
                                          <p:attrName>style.visibility</p:attrName>
                                        </p:attrNameLst>
                                      </p:cBhvr>
                                      <p:to>
                                        <p:strVal val="visible"/>
                                      </p:to>
                                    </p:set>
                                    <p:anim calcmode="lin" valueType="num">
                                      <p:cBhvr>
                                        <p:cTn id="7" dur="500" fill="hold"/>
                                        <p:tgtEl>
                                          <p:spTgt spid="97282"/>
                                        </p:tgtEl>
                                        <p:attrNameLst>
                                          <p:attrName>ppt_w</p:attrName>
                                        </p:attrNameLst>
                                      </p:cBhvr>
                                      <p:tavLst>
                                        <p:tav tm="0">
                                          <p:val>
                                            <p:fltVal val="0"/>
                                          </p:val>
                                        </p:tav>
                                        <p:tav tm="100000">
                                          <p:val>
                                            <p:strVal val="#ppt_w"/>
                                          </p:val>
                                        </p:tav>
                                      </p:tavLst>
                                    </p:anim>
                                    <p:anim calcmode="lin" valueType="num">
                                      <p:cBhvr>
                                        <p:cTn id="8" dur="500" fill="hold"/>
                                        <p:tgtEl>
                                          <p:spTgt spid="97282"/>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97283"/>
                                        </p:tgtEl>
                                        <p:attrNameLst>
                                          <p:attrName>style.visibility</p:attrName>
                                        </p:attrNameLst>
                                      </p:cBhvr>
                                      <p:to>
                                        <p:strVal val="visible"/>
                                      </p:to>
                                    </p:set>
                                    <p:animEffect transition="in" filter="wipe(up)">
                                      <p:cBhvr>
                                        <p:cTn id="12" dur="500"/>
                                        <p:tgtEl>
                                          <p:spTgt spid="972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97336"/>
                                        </p:tgtEl>
                                        <p:attrNameLst>
                                          <p:attrName>style.visibility</p:attrName>
                                        </p:attrNameLst>
                                      </p:cBhvr>
                                      <p:to>
                                        <p:strVal val="visible"/>
                                      </p:to>
                                    </p:set>
                                    <p:animEffect transition="in" filter="wipe(up)">
                                      <p:cBhvr>
                                        <p:cTn id="17" dur="500"/>
                                        <p:tgtEl>
                                          <p:spTgt spid="973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7337"/>
                                        </p:tgtEl>
                                        <p:attrNameLst>
                                          <p:attrName>style.visibility</p:attrName>
                                        </p:attrNameLst>
                                      </p:cBhvr>
                                      <p:to>
                                        <p:strVal val="visible"/>
                                      </p:to>
                                    </p:set>
                                    <p:animEffect transition="in" filter="wipe(up)">
                                      <p:cBhvr>
                                        <p:cTn id="22" dur="500"/>
                                        <p:tgtEl>
                                          <p:spTgt spid="97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animBg="1" autoUpdateAnimBg="0"/>
      <p:bldP spid="97283"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Adjacency Matrix</a:t>
            </a:r>
          </a:p>
        </p:txBody>
      </p:sp>
      <p:graphicFrame>
        <p:nvGraphicFramePr>
          <p:cNvPr id="98441" name="Object 137"/>
          <p:cNvGraphicFramePr>
            <a:graphicFrameLocks noChangeAspect="1"/>
          </p:cNvGraphicFramePr>
          <p:nvPr/>
        </p:nvGraphicFramePr>
        <p:xfrm>
          <a:off x="1981200" y="838200"/>
          <a:ext cx="4724400" cy="688975"/>
        </p:xfrm>
        <a:graphic>
          <a:graphicData uri="http://schemas.openxmlformats.org/presentationml/2006/ole">
            <mc:AlternateContent xmlns:mc="http://schemas.openxmlformats.org/markup-compatibility/2006">
              <mc:Choice xmlns:v="urn:schemas-microsoft-com:vml" Requires="v">
                <p:oleObj spid="_x0000_s8447" name="Equation" r:id="rId3" imgW="3136900" imgH="457200" progId="Equation.3">
                  <p:embed/>
                </p:oleObj>
              </mc:Choice>
              <mc:Fallback>
                <p:oleObj name="Equation" r:id="rId3" imgW="3136900" imgH="457200" progId="Equation.3">
                  <p:embed/>
                  <p:pic>
                    <p:nvPicPr>
                      <p:cNvPr id="0" name="Object 1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838200"/>
                        <a:ext cx="4724400" cy="688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
          <p:cNvGrpSpPr/>
          <p:nvPr/>
        </p:nvGrpSpPr>
        <p:grpSpPr>
          <a:xfrm>
            <a:off x="990600" y="1676400"/>
            <a:ext cx="6858000" cy="2406650"/>
            <a:chOff x="990600" y="1676400"/>
            <a:chExt cx="6858000" cy="2406650"/>
          </a:xfrm>
        </p:grpSpPr>
        <p:grpSp>
          <p:nvGrpSpPr>
            <p:cNvPr id="8268" name="Group 138"/>
            <p:cNvGrpSpPr>
              <a:grpSpLocks/>
            </p:cNvGrpSpPr>
            <p:nvPr/>
          </p:nvGrpSpPr>
          <p:grpSpPr bwMode="auto">
            <a:xfrm>
              <a:off x="4858209" y="1676400"/>
              <a:ext cx="2990391" cy="2406650"/>
              <a:chOff x="2598" y="470"/>
              <a:chExt cx="1818" cy="1516"/>
            </a:xfrm>
          </p:grpSpPr>
          <p:sp>
            <p:nvSpPr>
              <p:cNvPr id="8269" name="Rectangle 75"/>
              <p:cNvSpPr>
                <a:spLocks noChangeArrowheads="1"/>
              </p:cNvSpPr>
              <p:nvPr/>
            </p:nvSpPr>
            <p:spPr bwMode="auto">
              <a:xfrm>
                <a:off x="4224" y="1775"/>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70" name="Rectangle 74"/>
              <p:cNvSpPr>
                <a:spLocks noChangeArrowheads="1"/>
              </p:cNvSpPr>
              <p:nvPr/>
            </p:nvSpPr>
            <p:spPr bwMode="auto">
              <a:xfrm>
                <a:off x="4032" y="1775"/>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71" name="Rectangle 73"/>
              <p:cNvSpPr>
                <a:spLocks noChangeArrowheads="1"/>
              </p:cNvSpPr>
              <p:nvPr/>
            </p:nvSpPr>
            <p:spPr bwMode="auto">
              <a:xfrm>
                <a:off x="3840" y="1775"/>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72" name="Rectangle 72"/>
              <p:cNvSpPr>
                <a:spLocks noChangeArrowheads="1"/>
              </p:cNvSpPr>
              <p:nvPr/>
            </p:nvSpPr>
            <p:spPr bwMode="auto">
              <a:xfrm>
                <a:off x="3648" y="1775"/>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73" name="Rectangle 71"/>
              <p:cNvSpPr>
                <a:spLocks noChangeArrowheads="1"/>
              </p:cNvSpPr>
              <p:nvPr/>
            </p:nvSpPr>
            <p:spPr bwMode="auto">
              <a:xfrm>
                <a:off x="3456" y="1775"/>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74" name="Rectangle 70"/>
              <p:cNvSpPr>
                <a:spLocks noChangeArrowheads="1"/>
              </p:cNvSpPr>
              <p:nvPr/>
            </p:nvSpPr>
            <p:spPr bwMode="auto">
              <a:xfrm>
                <a:off x="3264" y="1775"/>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75" name="Rectangle 69"/>
              <p:cNvSpPr>
                <a:spLocks noChangeArrowheads="1"/>
              </p:cNvSpPr>
              <p:nvPr/>
            </p:nvSpPr>
            <p:spPr bwMode="auto">
              <a:xfrm>
                <a:off x="4224" y="1564"/>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76" name="Rectangle 68"/>
              <p:cNvSpPr>
                <a:spLocks noChangeArrowheads="1"/>
              </p:cNvSpPr>
              <p:nvPr/>
            </p:nvSpPr>
            <p:spPr bwMode="auto">
              <a:xfrm>
                <a:off x="4032" y="1564"/>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77" name="Rectangle 67"/>
              <p:cNvSpPr>
                <a:spLocks noChangeArrowheads="1"/>
              </p:cNvSpPr>
              <p:nvPr/>
            </p:nvSpPr>
            <p:spPr bwMode="auto">
              <a:xfrm>
                <a:off x="3840" y="1564"/>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78" name="Rectangle 66"/>
              <p:cNvSpPr>
                <a:spLocks noChangeArrowheads="1"/>
              </p:cNvSpPr>
              <p:nvPr/>
            </p:nvSpPr>
            <p:spPr bwMode="auto">
              <a:xfrm>
                <a:off x="3648" y="1564"/>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79" name="Rectangle 65"/>
              <p:cNvSpPr>
                <a:spLocks noChangeArrowheads="1"/>
              </p:cNvSpPr>
              <p:nvPr/>
            </p:nvSpPr>
            <p:spPr bwMode="auto">
              <a:xfrm>
                <a:off x="3456" y="1564"/>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80" name="Rectangle 64"/>
              <p:cNvSpPr>
                <a:spLocks noChangeArrowheads="1"/>
              </p:cNvSpPr>
              <p:nvPr/>
            </p:nvSpPr>
            <p:spPr bwMode="auto">
              <a:xfrm>
                <a:off x="3264" y="1564"/>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81" name="Rectangle 63"/>
              <p:cNvSpPr>
                <a:spLocks noChangeArrowheads="1"/>
              </p:cNvSpPr>
              <p:nvPr/>
            </p:nvSpPr>
            <p:spPr bwMode="auto">
              <a:xfrm>
                <a:off x="4224" y="1353"/>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82" name="Rectangle 62"/>
              <p:cNvSpPr>
                <a:spLocks noChangeArrowheads="1"/>
              </p:cNvSpPr>
              <p:nvPr/>
            </p:nvSpPr>
            <p:spPr bwMode="auto">
              <a:xfrm>
                <a:off x="4032" y="1353"/>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83" name="Rectangle 61"/>
              <p:cNvSpPr>
                <a:spLocks noChangeArrowheads="1"/>
              </p:cNvSpPr>
              <p:nvPr/>
            </p:nvSpPr>
            <p:spPr bwMode="auto">
              <a:xfrm>
                <a:off x="3840" y="1353"/>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84" name="Rectangle 60"/>
              <p:cNvSpPr>
                <a:spLocks noChangeArrowheads="1"/>
              </p:cNvSpPr>
              <p:nvPr/>
            </p:nvSpPr>
            <p:spPr bwMode="auto">
              <a:xfrm>
                <a:off x="3648" y="1353"/>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85" name="Rectangle 59"/>
              <p:cNvSpPr>
                <a:spLocks noChangeArrowheads="1"/>
              </p:cNvSpPr>
              <p:nvPr/>
            </p:nvSpPr>
            <p:spPr bwMode="auto">
              <a:xfrm>
                <a:off x="3456" y="1353"/>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86" name="Rectangle 58"/>
              <p:cNvSpPr>
                <a:spLocks noChangeArrowheads="1"/>
              </p:cNvSpPr>
              <p:nvPr/>
            </p:nvSpPr>
            <p:spPr bwMode="auto">
              <a:xfrm>
                <a:off x="3264" y="1353"/>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87" name="Rectangle 57"/>
              <p:cNvSpPr>
                <a:spLocks noChangeArrowheads="1"/>
              </p:cNvSpPr>
              <p:nvPr/>
            </p:nvSpPr>
            <p:spPr bwMode="auto">
              <a:xfrm>
                <a:off x="4224" y="1142"/>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88" name="Rectangle 56"/>
              <p:cNvSpPr>
                <a:spLocks noChangeArrowheads="1"/>
              </p:cNvSpPr>
              <p:nvPr/>
            </p:nvSpPr>
            <p:spPr bwMode="auto">
              <a:xfrm>
                <a:off x="4032" y="1142"/>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89" name="Rectangle 55"/>
              <p:cNvSpPr>
                <a:spLocks noChangeArrowheads="1"/>
              </p:cNvSpPr>
              <p:nvPr/>
            </p:nvSpPr>
            <p:spPr bwMode="auto">
              <a:xfrm>
                <a:off x="3840" y="1142"/>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90" name="Rectangle 54"/>
              <p:cNvSpPr>
                <a:spLocks noChangeArrowheads="1"/>
              </p:cNvSpPr>
              <p:nvPr/>
            </p:nvSpPr>
            <p:spPr bwMode="auto">
              <a:xfrm>
                <a:off x="3648" y="1142"/>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91" name="Rectangle 53"/>
              <p:cNvSpPr>
                <a:spLocks noChangeArrowheads="1"/>
              </p:cNvSpPr>
              <p:nvPr/>
            </p:nvSpPr>
            <p:spPr bwMode="auto">
              <a:xfrm>
                <a:off x="3456" y="1142"/>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92" name="Rectangle 52"/>
              <p:cNvSpPr>
                <a:spLocks noChangeArrowheads="1"/>
              </p:cNvSpPr>
              <p:nvPr/>
            </p:nvSpPr>
            <p:spPr bwMode="auto">
              <a:xfrm>
                <a:off x="3264" y="1142"/>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93" name="Rectangle 51"/>
              <p:cNvSpPr>
                <a:spLocks noChangeArrowheads="1"/>
              </p:cNvSpPr>
              <p:nvPr/>
            </p:nvSpPr>
            <p:spPr bwMode="auto">
              <a:xfrm>
                <a:off x="4224" y="93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94" name="Rectangle 50"/>
              <p:cNvSpPr>
                <a:spLocks noChangeArrowheads="1"/>
              </p:cNvSpPr>
              <p:nvPr/>
            </p:nvSpPr>
            <p:spPr bwMode="auto">
              <a:xfrm>
                <a:off x="4032" y="93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95" name="Rectangle 49"/>
              <p:cNvSpPr>
                <a:spLocks noChangeArrowheads="1"/>
              </p:cNvSpPr>
              <p:nvPr/>
            </p:nvSpPr>
            <p:spPr bwMode="auto">
              <a:xfrm>
                <a:off x="3840" y="93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96" name="Rectangle 48"/>
              <p:cNvSpPr>
                <a:spLocks noChangeArrowheads="1"/>
              </p:cNvSpPr>
              <p:nvPr/>
            </p:nvSpPr>
            <p:spPr bwMode="auto">
              <a:xfrm>
                <a:off x="3648" y="93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97" name="Rectangle 47"/>
              <p:cNvSpPr>
                <a:spLocks noChangeArrowheads="1"/>
              </p:cNvSpPr>
              <p:nvPr/>
            </p:nvSpPr>
            <p:spPr bwMode="auto">
              <a:xfrm>
                <a:off x="3456" y="93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98" name="Rectangle 46"/>
              <p:cNvSpPr>
                <a:spLocks noChangeArrowheads="1"/>
              </p:cNvSpPr>
              <p:nvPr/>
            </p:nvSpPr>
            <p:spPr bwMode="auto">
              <a:xfrm>
                <a:off x="3264" y="93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99" name="Rectangle 45"/>
              <p:cNvSpPr>
                <a:spLocks noChangeArrowheads="1"/>
              </p:cNvSpPr>
              <p:nvPr/>
            </p:nvSpPr>
            <p:spPr bwMode="auto">
              <a:xfrm>
                <a:off x="4224" y="72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300" name="Rectangle 44"/>
              <p:cNvSpPr>
                <a:spLocks noChangeArrowheads="1"/>
              </p:cNvSpPr>
              <p:nvPr/>
            </p:nvSpPr>
            <p:spPr bwMode="auto">
              <a:xfrm>
                <a:off x="4032" y="72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301" name="Rectangle 43"/>
              <p:cNvSpPr>
                <a:spLocks noChangeArrowheads="1"/>
              </p:cNvSpPr>
              <p:nvPr/>
            </p:nvSpPr>
            <p:spPr bwMode="auto">
              <a:xfrm>
                <a:off x="3840" y="72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302" name="Rectangle 42"/>
              <p:cNvSpPr>
                <a:spLocks noChangeArrowheads="1"/>
              </p:cNvSpPr>
              <p:nvPr/>
            </p:nvSpPr>
            <p:spPr bwMode="auto">
              <a:xfrm>
                <a:off x="3648" y="72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303" name="Rectangle 41"/>
              <p:cNvSpPr>
                <a:spLocks noChangeArrowheads="1"/>
              </p:cNvSpPr>
              <p:nvPr/>
            </p:nvSpPr>
            <p:spPr bwMode="auto">
              <a:xfrm>
                <a:off x="3456" y="72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304" name="Rectangle 40"/>
              <p:cNvSpPr>
                <a:spLocks noChangeArrowheads="1"/>
              </p:cNvSpPr>
              <p:nvPr/>
            </p:nvSpPr>
            <p:spPr bwMode="auto">
              <a:xfrm>
                <a:off x="3264" y="72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dirty="0">
                    <a:solidFill>
                      <a:srgbClr val="CC0000"/>
                    </a:solidFill>
                  </a:rPr>
                  <a:t>0</a:t>
                </a:r>
              </a:p>
            </p:txBody>
          </p:sp>
          <p:sp>
            <p:nvSpPr>
              <p:cNvPr id="8305" name="Line 76"/>
              <p:cNvSpPr>
                <a:spLocks noChangeShapeType="1"/>
              </p:cNvSpPr>
              <p:nvPr/>
            </p:nvSpPr>
            <p:spPr bwMode="auto">
              <a:xfrm>
                <a:off x="3264" y="720"/>
                <a:ext cx="115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306" name="Line 77"/>
              <p:cNvSpPr>
                <a:spLocks noChangeShapeType="1"/>
              </p:cNvSpPr>
              <p:nvPr/>
            </p:nvSpPr>
            <p:spPr bwMode="auto">
              <a:xfrm>
                <a:off x="3264" y="931"/>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307" name="Line 78"/>
              <p:cNvSpPr>
                <a:spLocks noChangeShapeType="1"/>
              </p:cNvSpPr>
              <p:nvPr/>
            </p:nvSpPr>
            <p:spPr bwMode="auto">
              <a:xfrm>
                <a:off x="3264" y="1142"/>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308" name="Line 79"/>
              <p:cNvSpPr>
                <a:spLocks noChangeShapeType="1"/>
              </p:cNvSpPr>
              <p:nvPr/>
            </p:nvSpPr>
            <p:spPr bwMode="auto">
              <a:xfrm>
                <a:off x="3264" y="1353"/>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309" name="Line 80"/>
              <p:cNvSpPr>
                <a:spLocks noChangeShapeType="1"/>
              </p:cNvSpPr>
              <p:nvPr/>
            </p:nvSpPr>
            <p:spPr bwMode="auto">
              <a:xfrm>
                <a:off x="3264" y="1564"/>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310" name="Line 81"/>
              <p:cNvSpPr>
                <a:spLocks noChangeShapeType="1"/>
              </p:cNvSpPr>
              <p:nvPr/>
            </p:nvSpPr>
            <p:spPr bwMode="auto">
              <a:xfrm>
                <a:off x="3264" y="1775"/>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311" name="Line 82"/>
              <p:cNvSpPr>
                <a:spLocks noChangeShapeType="1"/>
              </p:cNvSpPr>
              <p:nvPr/>
            </p:nvSpPr>
            <p:spPr bwMode="auto">
              <a:xfrm>
                <a:off x="3264" y="1986"/>
                <a:ext cx="115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312" name="Line 83"/>
              <p:cNvSpPr>
                <a:spLocks noChangeShapeType="1"/>
              </p:cNvSpPr>
              <p:nvPr/>
            </p:nvSpPr>
            <p:spPr bwMode="auto">
              <a:xfrm>
                <a:off x="3264" y="720"/>
                <a:ext cx="0" cy="1266"/>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313" name="Line 84"/>
              <p:cNvSpPr>
                <a:spLocks noChangeShapeType="1"/>
              </p:cNvSpPr>
              <p:nvPr/>
            </p:nvSpPr>
            <p:spPr bwMode="auto">
              <a:xfrm>
                <a:off x="3456" y="720"/>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314" name="Line 85"/>
              <p:cNvSpPr>
                <a:spLocks noChangeShapeType="1"/>
              </p:cNvSpPr>
              <p:nvPr/>
            </p:nvSpPr>
            <p:spPr bwMode="auto">
              <a:xfrm>
                <a:off x="3648" y="720"/>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315" name="Line 86"/>
              <p:cNvSpPr>
                <a:spLocks noChangeShapeType="1"/>
              </p:cNvSpPr>
              <p:nvPr/>
            </p:nvSpPr>
            <p:spPr bwMode="auto">
              <a:xfrm>
                <a:off x="3840" y="720"/>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316" name="Line 87"/>
              <p:cNvSpPr>
                <a:spLocks noChangeShapeType="1"/>
              </p:cNvSpPr>
              <p:nvPr/>
            </p:nvSpPr>
            <p:spPr bwMode="auto">
              <a:xfrm>
                <a:off x="4032" y="720"/>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317" name="Line 88"/>
              <p:cNvSpPr>
                <a:spLocks noChangeShapeType="1"/>
              </p:cNvSpPr>
              <p:nvPr/>
            </p:nvSpPr>
            <p:spPr bwMode="auto">
              <a:xfrm>
                <a:off x="4224" y="720"/>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318" name="Line 89"/>
              <p:cNvSpPr>
                <a:spLocks noChangeShapeType="1"/>
              </p:cNvSpPr>
              <p:nvPr/>
            </p:nvSpPr>
            <p:spPr bwMode="auto">
              <a:xfrm>
                <a:off x="4416" y="720"/>
                <a:ext cx="0" cy="1266"/>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319" name="Text Box 134"/>
              <p:cNvSpPr txBox="1">
                <a:spLocks noChangeArrowheads="1"/>
              </p:cNvSpPr>
              <p:nvPr/>
            </p:nvSpPr>
            <p:spPr bwMode="auto">
              <a:xfrm>
                <a:off x="3262" y="470"/>
                <a:ext cx="11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a:solidFill>
                      <a:schemeClr val="tx2"/>
                    </a:solidFill>
                    <a:latin typeface="Arial" pitchFamily="34" charset="0"/>
                  </a:rPr>
                  <a:t>1    2   3   4    5   6</a:t>
                </a:r>
              </a:p>
            </p:txBody>
          </p:sp>
          <p:sp>
            <p:nvSpPr>
              <p:cNvPr id="8320" name="Text Box 135"/>
              <p:cNvSpPr txBox="1">
                <a:spLocks noChangeArrowheads="1"/>
              </p:cNvSpPr>
              <p:nvPr/>
            </p:nvSpPr>
            <p:spPr bwMode="auto">
              <a:xfrm>
                <a:off x="3026" y="666"/>
                <a:ext cx="181" cy="1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35000"/>
                  </a:lnSpc>
                  <a:buFontTx/>
                  <a:buNone/>
                </a:pPr>
                <a:r>
                  <a:rPr lang="en-US">
                    <a:solidFill>
                      <a:schemeClr val="tx2"/>
                    </a:solidFill>
                    <a:latin typeface="Arial" pitchFamily="34" charset="0"/>
                  </a:rPr>
                  <a:t>1</a:t>
                </a:r>
              </a:p>
              <a:p>
                <a:pPr algn="ctr" eaLnBrk="1" hangingPunct="1">
                  <a:lnSpc>
                    <a:spcPct val="135000"/>
                  </a:lnSpc>
                  <a:buFontTx/>
                  <a:buNone/>
                </a:pPr>
                <a:r>
                  <a:rPr lang="en-US">
                    <a:solidFill>
                      <a:schemeClr val="tx2"/>
                    </a:solidFill>
                    <a:latin typeface="Arial" pitchFamily="34" charset="0"/>
                  </a:rPr>
                  <a:t>2</a:t>
                </a:r>
              </a:p>
              <a:p>
                <a:pPr algn="ctr" eaLnBrk="1" hangingPunct="1">
                  <a:lnSpc>
                    <a:spcPct val="135000"/>
                  </a:lnSpc>
                  <a:buFontTx/>
                  <a:buNone/>
                </a:pPr>
                <a:r>
                  <a:rPr lang="en-US">
                    <a:solidFill>
                      <a:schemeClr val="tx2"/>
                    </a:solidFill>
                    <a:latin typeface="Arial" pitchFamily="34" charset="0"/>
                  </a:rPr>
                  <a:t>3</a:t>
                </a:r>
              </a:p>
              <a:p>
                <a:pPr algn="ctr" eaLnBrk="1" hangingPunct="1">
                  <a:lnSpc>
                    <a:spcPct val="135000"/>
                  </a:lnSpc>
                  <a:buFontTx/>
                  <a:buNone/>
                </a:pPr>
                <a:r>
                  <a:rPr lang="en-US">
                    <a:solidFill>
                      <a:schemeClr val="tx2"/>
                    </a:solidFill>
                    <a:latin typeface="Arial" pitchFamily="34" charset="0"/>
                  </a:rPr>
                  <a:t>4</a:t>
                </a:r>
              </a:p>
              <a:p>
                <a:pPr algn="ctr" eaLnBrk="1" hangingPunct="1">
                  <a:lnSpc>
                    <a:spcPct val="135000"/>
                  </a:lnSpc>
                  <a:buFontTx/>
                  <a:buNone/>
                </a:pPr>
                <a:r>
                  <a:rPr lang="en-US">
                    <a:solidFill>
                      <a:schemeClr val="tx2"/>
                    </a:solidFill>
                    <a:latin typeface="Arial" pitchFamily="34" charset="0"/>
                  </a:rPr>
                  <a:t>5</a:t>
                </a:r>
              </a:p>
              <a:p>
                <a:pPr algn="ctr" eaLnBrk="1" hangingPunct="1">
                  <a:lnSpc>
                    <a:spcPct val="135000"/>
                  </a:lnSpc>
                  <a:buFontTx/>
                  <a:buNone/>
                </a:pPr>
                <a:r>
                  <a:rPr lang="en-US">
                    <a:solidFill>
                      <a:schemeClr val="tx2"/>
                    </a:solidFill>
                    <a:latin typeface="Arial" pitchFamily="34" charset="0"/>
                  </a:rPr>
                  <a:t>6</a:t>
                </a:r>
              </a:p>
            </p:txBody>
          </p:sp>
          <p:sp>
            <p:nvSpPr>
              <p:cNvPr id="8321" name="Text Box 136"/>
              <p:cNvSpPr txBox="1">
                <a:spLocks noChangeArrowheads="1"/>
              </p:cNvSpPr>
              <p:nvPr/>
            </p:nvSpPr>
            <p:spPr bwMode="auto">
              <a:xfrm>
                <a:off x="2598" y="1056"/>
                <a:ext cx="3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A =</a:t>
                </a:r>
              </a:p>
            </p:txBody>
          </p:sp>
        </p:grpSp>
        <p:grpSp>
          <p:nvGrpSpPr>
            <p:cNvPr id="143" name="Group 27"/>
            <p:cNvGrpSpPr>
              <a:grpSpLocks/>
            </p:cNvGrpSpPr>
            <p:nvPr/>
          </p:nvGrpSpPr>
          <p:grpSpPr bwMode="auto">
            <a:xfrm>
              <a:off x="990600" y="2514600"/>
              <a:ext cx="2859088" cy="1566863"/>
              <a:chOff x="384" y="2064"/>
              <a:chExt cx="1801" cy="987"/>
            </a:xfrm>
          </p:grpSpPr>
          <p:sp>
            <p:nvSpPr>
              <p:cNvPr id="144" name="Line 22"/>
              <p:cNvSpPr>
                <a:spLocks noChangeShapeType="1"/>
              </p:cNvSpPr>
              <p:nvPr/>
            </p:nvSpPr>
            <p:spPr bwMode="auto">
              <a:xfrm>
                <a:off x="528" y="2880"/>
                <a:ext cx="768" cy="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45" name="Line 24"/>
              <p:cNvSpPr>
                <a:spLocks noChangeShapeType="1"/>
              </p:cNvSpPr>
              <p:nvPr/>
            </p:nvSpPr>
            <p:spPr bwMode="auto">
              <a:xfrm flipH="1">
                <a:off x="1296" y="2208"/>
                <a:ext cx="720" cy="672"/>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46" name="Line 21"/>
              <p:cNvSpPr>
                <a:spLocks noChangeShapeType="1"/>
              </p:cNvSpPr>
              <p:nvPr/>
            </p:nvSpPr>
            <p:spPr bwMode="auto">
              <a:xfrm>
                <a:off x="528" y="2208"/>
                <a:ext cx="0" cy="672"/>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47" name="Line 23"/>
              <p:cNvSpPr>
                <a:spLocks noChangeShapeType="1"/>
              </p:cNvSpPr>
              <p:nvPr/>
            </p:nvSpPr>
            <p:spPr bwMode="auto">
              <a:xfrm flipH="1" flipV="1">
                <a:off x="528" y="2208"/>
                <a:ext cx="768" cy="672"/>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48" name="Line 25"/>
              <p:cNvSpPr>
                <a:spLocks noChangeShapeType="1"/>
              </p:cNvSpPr>
              <p:nvPr/>
            </p:nvSpPr>
            <p:spPr bwMode="auto">
              <a:xfrm flipV="1">
                <a:off x="1296" y="2208"/>
                <a:ext cx="0" cy="672"/>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49" name="Line 20"/>
              <p:cNvSpPr>
                <a:spLocks noChangeShapeType="1"/>
              </p:cNvSpPr>
              <p:nvPr/>
            </p:nvSpPr>
            <p:spPr bwMode="auto">
              <a:xfrm>
                <a:off x="1296" y="2208"/>
                <a:ext cx="720" cy="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50" name="Line 19"/>
              <p:cNvSpPr>
                <a:spLocks noChangeShapeType="1"/>
              </p:cNvSpPr>
              <p:nvPr/>
            </p:nvSpPr>
            <p:spPr bwMode="auto">
              <a:xfrm>
                <a:off x="528" y="2208"/>
                <a:ext cx="768" cy="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51" name="Oval 13"/>
              <p:cNvSpPr>
                <a:spLocks noChangeArrowheads="1"/>
              </p:cNvSpPr>
              <p:nvPr/>
            </p:nvSpPr>
            <p:spPr bwMode="auto">
              <a:xfrm>
                <a:off x="384" y="2064"/>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1</a:t>
                </a:r>
              </a:p>
            </p:txBody>
          </p:sp>
          <p:sp>
            <p:nvSpPr>
              <p:cNvPr id="152" name="Oval 14"/>
              <p:cNvSpPr>
                <a:spLocks noChangeArrowheads="1"/>
              </p:cNvSpPr>
              <p:nvPr/>
            </p:nvSpPr>
            <p:spPr bwMode="auto">
              <a:xfrm>
                <a:off x="1152" y="2064"/>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2</a:t>
                </a:r>
              </a:p>
            </p:txBody>
          </p:sp>
          <p:sp>
            <p:nvSpPr>
              <p:cNvPr id="153" name="Oval 15"/>
              <p:cNvSpPr>
                <a:spLocks noChangeArrowheads="1"/>
              </p:cNvSpPr>
              <p:nvPr/>
            </p:nvSpPr>
            <p:spPr bwMode="auto">
              <a:xfrm>
                <a:off x="384" y="2736"/>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a:solidFill>
                      <a:schemeClr val="tx2"/>
                    </a:solidFill>
                    <a:latin typeface="Arial" pitchFamily="34" charset="0"/>
                  </a:rPr>
                  <a:t>4</a:t>
                </a:r>
              </a:p>
            </p:txBody>
          </p:sp>
          <p:sp>
            <p:nvSpPr>
              <p:cNvPr id="154" name="Oval 16"/>
              <p:cNvSpPr>
                <a:spLocks noChangeArrowheads="1"/>
              </p:cNvSpPr>
              <p:nvPr/>
            </p:nvSpPr>
            <p:spPr bwMode="auto">
              <a:xfrm>
                <a:off x="1152" y="2736"/>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5</a:t>
                </a:r>
              </a:p>
            </p:txBody>
          </p:sp>
          <p:sp>
            <p:nvSpPr>
              <p:cNvPr id="155" name="Oval 17"/>
              <p:cNvSpPr>
                <a:spLocks noChangeArrowheads="1"/>
              </p:cNvSpPr>
              <p:nvPr/>
            </p:nvSpPr>
            <p:spPr bwMode="auto">
              <a:xfrm>
                <a:off x="1872" y="2064"/>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3</a:t>
                </a:r>
              </a:p>
            </p:txBody>
          </p:sp>
          <p:sp>
            <p:nvSpPr>
              <p:cNvPr id="156" name="Oval 18"/>
              <p:cNvSpPr>
                <a:spLocks noChangeArrowheads="1"/>
              </p:cNvSpPr>
              <p:nvPr/>
            </p:nvSpPr>
            <p:spPr bwMode="auto">
              <a:xfrm>
                <a:off x="1872" y="2736"/>
                <a:ext cx="313" cy="315"/>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6</a:t>
                </a:r>
              </a:p>
            </p:txBody>
          </p:sp>
        </p:grpSp>
      </p:grpSp>
      <p:grpSp>
        <p:nvGrpSpPr>
          <p:cNvPr id="3" name="Group 2"/>
          <p:cNvGrpSpPr/>
          <p:nvPr/>
        </p:nvGrpSpPr>
        <p:grpSpPr>
          <a:xfrm>
            <a:off x="623888" y="4267200"/>
            <a:ext cx="7224712" cy="2406650"/>
            <a:chOff x="623888" y="4267200"/>
            <a:chExt cx="7224712" cy="2406650"/>
          </a:xfrm>
        </p:grpSpPr>
        <p:grpSp>
          <p:nvGrpSpPr>
            <p:cNvPr id="8198" name="Group 155"/>
            <p:cNvGrpSpPr>
              <a:grpSpLocks/>
            </p:cNvGrpSpPr>
            <p:nvPr/>
          </p:nvGrpSpPr>
          <p:grpSpPr bwMode="auto">
            <a:xfrm>
              <a:off x="4864943" y="4267200"/>
              <a:ext cx="2983657" cy="2406650"/>
              <a:chOff x="2596" y="470"/>
              <a:chExt cx="1820" cy="1516"/>
            </a:xfrm>
          </p:grpSpPr>
          <p:sp>
            <p:nvSpPr>
              <p:cNvPr id="8214" name="Rectangle 156"/>
              <p:cNvSpPr>
                <a:spLocks noChangeArrowheads="1"/>
              </p:cNvSpPr>
              <p:nvPr/>
            </p:nvSpPr>
            <p:spPr bwMode="auto">
              <a:xfrm>
                <a:off x="4224" y="1775"/>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15" name="Rectangle 157"/>
              <p:cNvSpPr>
                <a:spLocks noChangeArrowheads="1"/>
              </p:cNvSpPr>
              <p:nvPr/>
            </p:nvSpPr>
            <p:spPr bwMode="auto">
              <a:xfrm>
                <a:off x="4032" y="1775"/>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16" name="Rectangle 158"/>
              <p:cNvSpPr>
                <a:spLocks noChangeArrowheads="1"/>
              </p:cNvSpPr>
              <p:nvPr/>
            </p:nvSpPr>
            <p:spPr bwMode="auto">
              <a:xfrm>
                <a:off x="3840" y="1775"/>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17" name="Rectangle 159"/>
              <p:cNvSpPr>
                <a:spLocks noChangeArrowheads="1"/>
              </p:cNvSpPr>
              <p:nvPr/>
            </p:nvSpPr>
            <p:spPr bwMode="auto">
              <a:xfrm>
                <a:off x="3648" y="1775"/>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18" name="Rectangle 160"/>
              <p:cNvSpPr>
                <a:spLocks noChangeArrowheads="1"/>
              </p:cNvSpPr>
              <p:nvPr/>
            </p:nvSpPr>
            <p:spPr bwMode="auto">
              <a:xfrm>
                <a:off x="3456" y="1775"/>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19" name="Rectangle 161"/>
              <p:cNvSpPr>
                <a:spLocks noChangeArrowheads="1"/>
              </p:cNvSpPr>
              <p:nvPr/>
            </p:nvSpPr>
            <p:spPr bwMode="auto">
              <a:xfrm>
                <a:off x="3264" y="1775"/>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20" name="Rectangle 162"/>
              <p:cNvSpPr>
                <a:spLocks noChangeArrowheads="1"/>
              </p:cNvSpPr>
              <p:nvPr/>
            </p:nvSpPr>
            <p:spPr bwMode="auto">
              <a:xfrm>
                <a:off x="4224" y="1564"/>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21" name="Rectangle 163"/>
              <p:cNvSpPr>
                <a:spLocks noChangeArrowheads="1"/>
              </p:cNvSpPr>
              <p:nvPr/>
            </p:nvSpPr>
            <p:spPr bwMode="auto">
              <a:xfrm>
                <a:off x="4032" y="1564"/>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22" name="Rectangle 164"/>
              <p:cNvSpPr>
                <a:spLocks noChangeArrowheads="1"/>
              </p:cNvSpPr>
              <p:nvPr/>
            </p:nvSpPr>
            <p:spPr bwMode="auto">
              <a:xfrm>
                <a:off x="3840" y="1564"/>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23" name="Rectangle 165"/>
              <p:cNvSpPr>
                <a:spLocks noChangeArrowheads="1"/>
              </p:cNvSpPr>
              <p:nvPr/>
            </p:nvSpPr>
            <p:spPr bwMode="auto">
              <a:xfrm>
                <a:off x="3648" y="1564"/>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24" name="Rectangle 166"/>
              <p:cNvSpPr>
                <a:spLocks noChangeArrowheads="1"/>
              </p:cNvSpPr>
              <p:nvPr/>
            </p:nvSpPr>
            <p:spPr bwMode="auto">
              <a:xfrm>
                <a:off x="3456" y="1564"/>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25" name="Rectangle 167"/>
              <p:cNvSpPr>
                <a:spLocks noChangeArrowheads="1"/>
              </p:cNvSpPr>
              <p:nvPr/>
            </p:nvSpPr>
            <p:spPr bwMode="auto">
              <a:xfrm>
                <a:off x="3264" y="1564"/>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26" name="Rectangle 168"/>
              <p:cNvSpPr>
                <a:spLocks noChangeArrowheads="1"/>
              </p:cNvSpPr>
              <p:nvPr/>
            </p:nvSpPr>
            <p:spPr bwMode="auto">
              <a:xfrm>
                <a:off x="4224" y="1353"/>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27" name="Rectangle 169"/>
              <p:cNvSpPr>
                <a:spLocks noChangeArrowheads="1"/>
              </p:cNvSpPr>
              <p:nvPr/>
            </p:nvSpPr>
            <p:spPr bwMode="auto">
              <a:xfrm>
                <a:off x="4032" y="1353"/>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28" name="Rectangle 170"/>
              <p:cNvSpPr>
                <a:spLocks noChangeArrowheads="1"/>
              </p:cNvSpPr>
              <p:nvPr/>
            </p:nvSpPr>
            <p:spPr bwMode="auto">
              <a:xfrm>
                <a:off x="3840" y="1353"/>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29" name="Rectangle 171"/>
              <p:cNvSpPr>
                <a:spLocks noChangeArrowheads="1"/>
              </p:cNvSpPr>
              <p:nvPr/>
            </p:nvSpPr>
            <p:spPr bwMode="auto">
              <a:xfrm>
                <a:off x="3648" y="1353"/>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30" name="Rectangle 172"/>
              <p:cNvSpPr>
                <a:spLocks noChangeArrowheads="1"/>
              </p:cNvSpPr>
              <p:nvPr/>
            </p:nvSpPr>
            <p:spPr bwMode="auto">
              <a:xfrm>
                <a:off x="3456" y="1353"/>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31" name="Rectangle 173"/>
              <p:cNvSpPr>
                <a:spLocks noChangeArrowheads="1"/>
              </p:cNvSpPr>
              <p:nvPr/>
            </p:nvSpPr>
            <p:spPr bwMode="auto">
              <a:xfrm>
                <a:off x="3264" y="1353"/>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endParaRPr lang="en-US"/>
              </a:p>
            </p:txBody>
          </p:sp>
          <p:sp>
            <p:nvSpPr>
              <p:cNvPr id="8232" name="Rectangle 174"/>
              <p:cNvSpPr>
                <a:spLocks noChangeArrowheads="1"/>
              </p:cNvSpPr>
              <p:nvPr/>
            </p:nvSpPr>
            <p:spPr bwMode="auto">
              <a:xfrm>
                <a:off x="4224" y="1142"/>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33" name="Rectangle 175"/>
              <p:cNvSpPr>
                <a:spLocks noChangeArrowheads="1"/>
              </p:cNvSpPr>
              <p:nvPr/>
            </p:nvSpPr>
            <p:spPr bwMode="auto">
              <a:xfrm>
                <a:off x="4032" y="1142"/>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endParaRPr lang="en-US"/>
              </a:p>
            </p:txBody>
          </p:sp>
          <p:sp>
            <p:nvSpPr>
              <p:cNvPr id="8234" name="Rectangle 176"/>
              <p:cNvSpPr>
                <a:spLocks noChangeArrowheads="1"/>
              </p:cNvSpPr>
              <p:nvPr/>
            </p:nvSpPr>
            <p:spPr bwMode="auto">
              <a:xfrm>
                <a:off x="3840" y="1142"/>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35" name="Rectangle 177"/>
              <p:cNvSpPr>
                <a:spLocks noChangeArrowheads="1"/>
              </p:cNvSpPr>
              <p:nvPr/>
            </p:nvSpPr>
            <p:spPr bwMode="auto">
              <a:xfrm>
                <a:off x="3648" y="1142"/>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36" name="Rectangle 178"/>
              <p:cNvSpPr>
                <a:spLocks noChangeArrowheads="1"/>
              </p:cNvSpPr>
              <p:nvPr/>
            </p:nvSpPr>
            <p:spPr bwMode="auto">
              <a:xfrm>
                <a:off x="3456" y="1142"/>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37" name="Rectangle 179"/>
              <p:cNvSpPr>
                <a:spLocks noChangeArrowheads="1"/>
              </p:cNvSpPr>
              <p:nvPr/>
            </p:nvSpPr>
            <p:spPr bwMode="auto">
              <a:xfrm>
                <a:off x="3264" y="1142"/>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38" name="Rectangle 180"/>
              <p:cNvSpPr>
                <a:spLocks noChangeArrowheads="1"/>
              </p:cNvSpPr>
              <p:nvPr/>
            </p:nvSpPr>
            <p:spPr bwMode="auto">
              <a:xfrm>
                <a:off x="4224" y="93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39" name="Rectangle 181"/>
              <p:cNvSpPr>
                <a:spLocks noChangeArrowheads="1"/>
              </p:cNvSpPr>
              <p:nvPr/>
            </p:nvSpPr>
            <p:spPr bwMode="auto">
              <a:xfrm>
                <a:off x="4032" y="93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endParaRPr lang="en-US"/>
              </a:p>
            </p:txBody>
          </p:sp>
          <p:sp>
            <p:nvSpPr>
              <p:cNvPr id="8240" name="Rectangle 182"/>
              <p:cNvSpPr>
                <a:spLocks noChangeArrowheads="1"/>
              </p:cNvSpPr>
              <p:nvPr/>
            </p:nvSpPr>
            <p:spPr bwMode="auto">
              <a:xfrm>
                <a:off x="3840" y="93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41" name="Rectangle 183"/>
              <p:cNvSpPr>
                <a:spLocks noChangeArrowheads="1"/>
              </p:cNvSpPr>
              <p:nvPr/>
            </p:nvSpPr>
            <p:spPr bwMode="auto">
              <a:xfrm>
                <a:off x="3648" y="93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endParaRPr lang="en-US"/>
              </a:p>
            </p:txBody>
          </p:sp>
          <p:sp>
            <p:nvSpPr>
              <p:cNvPr id="8242" name="Rectangle 184"/>
              <p:cNvSpPr>
                <a:spLocks noChangeArrowheads="1"/>
              </p:cNvSpPr>
              <p:nvPr/>
            </p:nvSpPr>
            <p:spPr bwMode="auto">
              <a:xfrm>
                <a:off x="3456" y="93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43" name="Rectangle 185"/>
              <p:cNvSpPr>
                <a:spLocks noChangeArrowheads="1"/>
              </p:cNvSpPr>
              <p:nvPr/>
            </p:nvSpPr>
            <p:spPr bwMode="auto">
              <a:xfrm>
                <a:off x="3264" y="93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endParaRPr lang="en-US"/>
              </a:p>
            </p:txBody>
          </p:sp>
          <p:sp>
            <p:nvSpPr>
              <p:cNvPr id="8244" name="Rectangle 186"/>
              <p:cNvSpPr>
                <a:spLocks noChangeArrowheads="1"/>
              </p:cNvSpPr>
              <p:nvPr/>
            </p:nvSpPr>
            <p:spPr bwMode="auto">
              <a:xfrm>
                <a:off x="4224" y="72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45" name="Rectangle 187"/>
              <p:cNvSpPr>
                <a:spLocks noChangeArrowheads="1"/>
              </p:cNvSpPr>
              <p:nvPr/>
            </p:nvSpPr>
            <p:spPr bwMode="auto">
              <a:xfrm>
                <a:off x="4032" y="72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46" name="Rectangle 188"/>
              <p:cNvSpPr>
                <a:spLocks noChangeArrowheads="1"/>
              </p:cNvSpPr>
              <p:nvPr/>
            </p:nvSpPr>
            <p:spPr bwMode="auto">
              <a:xfrm>
                <a:off x="3840" y="72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47" name="Rectangle 189"/>
              <p:cNvSpPr>
                <a:spLocks noChangeArrowheads="1"/>
              </p:cNvSpPr>
              <p:nvPr/>
            </p:nvSpPr>
            <p:spPr bwMode="auto">
              <a:xfrm>
                <a:off x="3648" y="72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48" name="Rectangle 190"/>
              <p:cNvSpPr>
                <a:spLocks noChangeArrowheads="1"/>
              </p:cNvSpPr>
              <p:nvPr/>
            </p:nvSpPr>
            <p:spPr bwMode="auto">
              <a:xfrm>
                <a:off x="3456" y="72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1</a:t>
                </a:r>
              </a:p>
            </p:txBody>
          </p:sp>
          <p:sp>
            <p:nvSpPr>
              <p:cNvPr id="8249" name="Rectangle 191"/>
              <p:cNvSpPr>
                <a:spLocks noChangeArrowheads="1"/>
              </p:cNvSpPr>
              <p:nvPr/>
            </p:nvSpPr>
            <p:spPr bwMode="auto">
              <a:xfrm>
                <a:off x="3264" y="72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8250" name="Line 192"/>
              <p:cNvSpPr>
                <a:spLocks noChangeShapeType="1"/>
              </p:cNvSpPr>
              <p:nvPr/>
            </p:nvSpPr>
            <p:spPr bwMode="auto">
              <a:xfrm>
                <a:off x="3264" y="720"/>
                <a:ext cx="115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251" name="Line 193"/>
              <p:cNvSpPr>
                <a:spLocks noChangeShapeType="1"/>
              </p:cNvSpPr>
              <p:nvPr/>
            </p:nvSpPr>
            <p:spPr bwMode="auto">
              <a:xfrm>
                <a:off x="3264" y="931"/>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252" name="Line 194"/>
              <p:cNvSpPr>
                <a:spLocks noChangeShapeType="1"/>
              </p:cNvSpPr>
              <p:nvPr/>
            </p:nvSpPr>
            <p:spPr bwMode="auto">
              <a:xfrm>
                <a:off x="3264" y="1142"/>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253" name="Line 195"/>
              <p:cNvSpPr>
                <a:spLocks noChangeShapeType="1"/>
              </p:cNvSpPr>
              <p:nvPr/>
            </p:nvSpPr>
            <p:spPr bwMode="auto">
              <a:xfrm>
                <a:off x="3264" y="1353"/>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254" name="Line 196"/>
              <p:cNvSpPr>
                <a:spLocks noChangeShapeType="1"/>
              </p:cNvSpPr>
              <p:nvPr/>
            </p:nvSpPr>
            <p:spPr bwMode="auto">
              <a:xfrm>
                <a:off x="3264" y="1564"/>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255" name="Line 197"/>
              <p:cNvSpPr>
                <a:spLocks noChangeShapeType="1"/>
              </p:cNvSpPr>
              <p:nvPr/>
            </p:nvSpPr>
            <p:spPr bwMode="auto">
              <a:xfrm>
                <a:off x="3264" y="1775"/>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256" name="Line 198"/>
              <p:cNvSpPr>
                <a:spLocks noChangeShapeType="1"/>
              </p:cNvSpPr>
              <p:nvPr/>
            </p:nvSpPr>
            <p:spPr bwMode="auto">
              <a:xfrm>
                <a:off x="3264" y="1986"/>
                <a:ext cx="115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257" name="Line 199"/>
              <p:cNvSpPr>
                <a:spLocks noChangeShapeType="1"/>
              </p:cNvSpPr>
              <p:nvPr/>
            </p:nvSpPr>
            <p:spPr bwMode="auto">
              <a:xfrm>
                <a:off x="3264" y="720"/>
                <a:ext cx="0" cy="1266"/>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258" name="Line 200"/>
              <p:cNvSpPr>
                <a:spLocks noChangeShapeType="1"/>
              </p:cNvSpPr>
              <p:nvPr/>
            </p:nvSpPr>
            <p:spPr bwMode="auto">
              <a:xfrm>
                <a:off x="3456" y="720"/>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259" name="Line 201"/>
              <p:cNvSpPr>
                <a:spLocks noChangeShapeType="1"/>
              </p:cNvSpPr>
              <p:nvPr/>
            </p:nvSpPr>
            <p:spPr bwMode="auto">
              <a:xfrm>
                <a:off x="3648" y="720"/>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260" name="Line 202"/>
              <p:cNvSpPr>
                <a:spLocks noChangeShapeType="1"/>
              </p:cNvSpPr>
              <p:nvPr/>
            </p:nvSpPr>
            <p:spPr bwMode="auto">
              <a:xfrm>
                <a:off x="3840" y="720"/>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261" name="Line 203"/>
              <p:cNvSpPr>
                <a:spLocks noChangeShapeType="1"/>
              </p:cNvSpPr>
              <p:nvPr/>
            </p:nvSpPr>
            <p:spPr bwMode="auto">
              <a:xfrm>
                <a:off x="4032" y="720"/>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262" name="Line 204"/>
              <p:cNvSpPr>
                <a:spLocks noChangeShapeType="1"/>
              </p:cNvSpPr>
              <p:nvPr/>
            </p:nvSpPr>
            <p:spPr bwMode="auto">
              <a:xfrm>
                <a:off x="4224" y="720"/>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263" name="Line 205"/>
              <p:cNvSpPr>
                <a:spLocks noChangeShapeType="1"/>
              </p:cNvSpPr>
              <p:nvPr/>
            </p:nvSpPr>
            <p:spPr bwMode="auto">
              <a:xfrm>
                <a:off x="4416" y="720"/>
                <a:ext cx="0" cy="1266"/>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8264" name="Text Box 206"/>
              <p:cNvSpPr txBox="1">
                <a:spLocks noChangeArrowheads="1"/>
              </p:cNvSpPr>
              <p:nvPr/>
            </p:nvSpPr>
            <p:spPr bwMode="auto">
              <a:xfrm>
                <a:off x="3263" y="470"/>
                <a:ext cx="111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a:solidFill>
                      <a:schemeClr val="tx2"/>
                    </a:solidFill>
                    <a:latin typeface="Arial" pitchFamily="34" charset="0"/>
                  </a:rPr>
                  <a:t>1    2   3   4    5   6</a:t>
                </a:r>
              </a:p>
            </p:txBody>
          </p:sp>
          <p:sp>
            <p:nvSpPr>
              <p:cNvPr id="8265" name="Text Box 207"/>
              <p:cNvSpPr txBox="1">
                <a:spLocks noChangeArrowheads="1"/>
              </p:cNvSpPr>
              <p:nvPr/>
            </p:nvSpPr>
            <p:spPr bwMode="auto">
              <a:xfrm>
                <a:off x="3027" y="666"/>
                <a:ext cx="181" cy="1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35000"/>
                  </a:lnSpc>
                  <a:buFontTx/>
                  <a:buNone/>
                </a:pPr>
                <a:r>
                  <a:rPr lang="en-US">
                    <a:solidFill>
                      <a:schemeClr val="tx2"/>
                    </a:solidFill>
                    <a:latin typeface="Arial" pitchFamily="34" charset="0"/>
                  </a:rPr>
                  <a:t>1</a:t>
                </a:r>
              </a:p>
              <a:p>
                <a:pPr algn="ctr" eaLnBrk="1" hangingPunct="1">
                  <a:lnSpc>
                    <a:spcPct val="135000"/>
                  </a:lnSpc>
                  <a:buFontTx/>
                  <a:buNone/>
                </a:pPr>
                <a:r>
                  <a:rPr lang="en-US">
                    <a:solidFill>
                      <a:schemeClr val="tx2"/>
                    </a:solidFill>
                    <a:latin typeface="Arial" pitchFamily="34" charset="0"/>
                  </a:rPr>
                  <a:t>2</a:t>
                </a:r>
              </a:p>
              <a:p>
                <a:pPr algn="ctr" eaLnBrk="1" hangingPunct="1">
                  <a:lnSpc>
                    <a:spcPct val="135000"/>
                  </a:lnSpc>
                  <a:buFontTx/>
                  <a:buNone/>
                </a:pPr>
                <a:r>
                  <a:rPr lang="en-US">
                    <a:solidFill>
                      <a:schemeClr val="tx2"/>
                    </a:solidFill>
                    <a:latin typeface="Arial" pitchFamily="34" charset="0"/>
                  </a:rPr>
                  <a:t>3</a:t>
                </a:r>
              </a:p>
              <a:p>
                <a:pPr algn="ctr" eaLnBrk="1" hangingPunct="1">
                  <a:lnSpc>
                    <a:spcPct val="135000"/>
                  </a:lnSpc>
                  <a:buFontTx/>
                  <a:buNone/>
                </a:pPr>
                <a:r>
                  <a:rPr lang="en-US">
                    <a:solidFill>
                      <a:schemeClr val="tx2"/>
                    </a:solidFill>
                    <a:latin typeface="Arial" pitchFamily="34" charset="0"/>
                  </a:rPr>
                  <a:t>4</a:t>
                </a:r>
              </a:p>
              <a:p>
                <a:pPr algn="ctr" eaLnBrk="1" hangingPunct="1">
                  <a:lnSpc>
                    <a:spcPct val="135000"/>
                  </a:lnSpc>
                  <a:buFontTx/>
                  <a:buNone/>
                </a:pPr>
                <a:r>
                  <a:rPr lang="en-US">
                    <a:solidFill>
                      <a:schemeClr val="tx2"/>
                    </a:solidFill>
                    <a:latin typeface="Arial" pitchFamily="34" charset="0"/>
                  </a:rPr>
                  <a:t>5</a:t>
                </a:r>
              </a:p>
              <a:p>
                <a:pPr algn="ctr" eaLnBrk="1" hangingPunct="1">
                  <a:lnSpc>
                    <a:spcPct val="135000"/>
                  </a:lnSpc>
                  <a:buFontTx/>
                  <a:buNone/>
                </a:pPr>
                <a:r>
                  <a:rPr lang="en-US">
                    <a:solidFill>
                      <a:schemeClr val="tx2"/>
                    </a:solidFill>
                    <a:latin typeface="Arial" pitchFamily="34" charset="0"/>
                  </a:rPr>
                  <a:t>6</a:t>
                </a:r>
              </a:p>
            </p:txBody>
          </p:sp>
          <p:sp>
            <p:nvSpPr>
              <p:cNvPr id="8266" name="Text Box 208"/>
              <p:cNvSpPr txBox="1">
                <a:spLocks noChangeArrowheads="1"/>
              </p:cNvSpPr>
              <p:nvPr/>
            </p:nvSpPr>
            <p:spPr bwMode="auto">
              <a:xfrm>
                <a:off x="2596" y="1056"/>
                <a:ext cx="3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A =</a:t>
                </a:r>
              </a:p>
            </p:txBody>
          </p:sp>
        </p:grpSp>
        <p:grpSp>
          <p:nvGrpSpPr>
            <p:cNvPr id="157" name="Group 156"/>
            <p:cNvGrpSpPr/>
            <p:nvPr/>
          </p:nvGrpSpPr>
          <p:grpSpPr>
            <a:xfrm>
              <a:off x="623888" y="4876800"/>
              <a:ext cx="3302000" cy="1566863"/>
              <a:chOff x="623888" y="4876800"/>
              <a:chExt cx="3302000" cy="1566863"/>
            </a:xfrm>
          </p:grpSpPr>
          <p:sp>
            <p:nvSpPr>
              <p:cNvPr id="158" name="Freeform 46"/>
              <p:cNvSpPr>
                <a:spLocks/>
              </p:cNvSpPr>
              <p:nvPr/>
            </p:nvSpPr>
            <p:spPr bwMode="auto">
              <a:xfrm>
                <a:off x="1544638" y="5222875"/>
                <a:ext cx="873125" cy="768350"/>
              </a:xfrm>
              <a:custGeom>
                <a:avLst/>
                <a:gdLst>
                  <a:gd name="T0" fmla="*/ 550 w 550"/>
                  <a:gd name="T1" fmla="*/ 484 h 484"/>
                  <a:gd name="T2" fmla="*/ 358 w 550"/>
                  <a:gd name="T3" fmla="*/ 245 h 484"/>
                  <a:gd name="T4" fmla="*/ 0 w 550"/>
                  <a:gd name="T5" fmla="*/ 0 h 484"/>
                  <a:gd name="T6" fmla="*/ 0 60000 65536"/>
                  <a:gd name="T7" fmla="*/ 0 60000 65536"/>
                  <a:gd name="T8" fmla="*/ 0 60000 65536"/>
                </a:gdLst>
                <a:ahLst/>
                <a:cxnLst>
                  <a:cxn ang="T6">
                    <a:pos x="T0" y="T1"/>
                  </a:cxn>
                  <a:cxn ang="T7">
                    <a:pos x="T2" y="T3"/>
                  </a:cxn>
                  <a:cxn ang="T8">
                    <a:pos x="T4" y="T5"/>
                  </a:cxn>
                </a:cxnLst>
                <a:rect l="0" t="0" r="r" b="b"/>
                <a:pathLst>
                  <a:path w="550" h="484">
                    <a:moveTo>
                      <a:pt x="550" y="484"/>
                    </a:moveTo>
                    <a:cubicBezTo>
                      <a:pt x="518" y="444"/>
                      <a:pt x="450" y="326"/>
                      <a:pt x="358" y="245"/>
                    </a:cubicBezTo>
                    <a:cubicBezTo>
                      <a:pt x="266" y="164"/>
                      <a:pt x="75" y="51"/>
                      <a:pt x="0" y="0"/>
                    </a:cubicBezTo>
                  </a:path>
                </a:pathLst>
              </a:custGeom>
              <a:noFill/>
              <a:ln w="38100" cap="flat" cmpd="sng">
                <a:solidFill>
                  <a:schemeClr val="accent2"/>
                </a:solidFill>
                <a:prstDash val="solid"/>
                <a:round/>
                <a:headEnd type="none" w="med" len="me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spAutoFit/>
              </a:bodyPr>
              <a:lstStyle/>
              <a:p>
                <a:endParaRPr lang="en-CA"/>
              </a:p>
            </p:txBody>
          </p:sp>
          <p:sp>
            <p:nvSpPr>
              <p:cNvPr id="159" name="Line 31"/>
              <p:cNvSpPr>
                <a:spLocks noChangeShapeType="1"/>
              </p:cNvSpPr>
              <p:nvPr/>
            </p:nvSpPr>
            <p:spPr bwMode="auto">
              <a:xfrm>
                <a:off x="1295400" y="6172200"/>
                <a:ext cx="990600" cy="0"/>
              </a:xfrm>
              <a:prstGeom prst="line">
                <a:avLst/>
              </a:prstGeom>
              <a:noFill/>
              <a:ln w="38100">
                <a:solidFill>
                  <a:schemeClr val="accent2"/>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160" name="Freeform 32"/>
              <p:cNvSpPr>
                <a:spLocks/>
              </p:cNvSpPr>
              <p:nvPr/>
            </p:nvSpPr>
            <p:spPr bwMode="auto">
              <a:xfrm>
                <a:off x="2514600" y="5286375"/>
                <a:ext cx="963613" cy="885825"/>
              </a:xfrm>
              <a:custGeom>
                <a:avLst/>
                <a:gdLst>
                  <a:gd name="T0" fmla="*/ 607 w 607"/>
                  <a:gd name="T1" fmla="*/ 0 h 558"/>
                  <a:gd name="T2" fmla="*/ 0 w 607"/>
                  <a:gd name="T3" fmla="*/ 558 h 558"/>
                  <a:gd name="T4" fmla="*/ 0 60000 65536"/>
                  <a:gd name="T5" fmla="*/ 0 60000 65536"/>
                </a:gdLst>
                <a:ahLst/>
                <a:cxnLst>
                  <a:cxn ang="T4">
                    <a:pos x="T0" y="T1"/>
                  </a:cxn>
                  <a:cxn ang="T5">
                    <a:pos x="T2" y="T3"/>
                  </a:cxn>
                </a:cxnLst>
                <a:rect l="0" t="0" r="r" b="b"/>
                <a:pathLst>
                  <a:path w="607" h="558">
                    <a:moveTo>
                      <a:pt x="607" y="0"/>
                    </a:moveTo>
                    <a:lnTo>
                      <a:pt x="0" y="558"/>
                    </a:lnTo>
                  </a:path>
                </a:pathLst>
              </a:custGeom>
              <a:noFill/>
              <a:ln w="38100" cap="flat" cmpd="sng">
                <a:solidFill>
                  <a:schemeClr val="accent2"/>
                </a:solidFill>
                <a:prstDash val="solid"/>
                <a:round/>
                <a:headEnd type="triangl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161" name="Line 33"/>
              <p:cNvSpPr>
                <a:spLocks noChangeShapeType="1"/>
              </p:cNvSpPr>
              <p:nvPr/>
            </p:nvSpPr>
            <p:spPr bwMode="auto">
              <a:xfrm>
                <a:off x="1295400" y="5334000"/>
                <a:ext cx="0" cy="609600"/>
              </a:xfrm>
              <a:prstGeom prst="line">
                <a:avLst/>
              </a:prstGeom>
              <a:noFill/>
              <a:ln w="38100">
                <a:solidFill>
                  <a:schemeClr val="accent2"/>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162" name="Freeform 34"/>
              <p:cNvSpPr>
                <a:spLocks/>
              </p:cNvSpPr>
              <p:nvPr/>
            </p:nvSpPr>
            <p:spPr bwMode="auto">
              <a:xfrm>
                <a:off x="1419225" y="5338763"/>
                <a:ext cx="903288" cy="725488"/>
              </a:xfrm>
              <a:custGeom>
                <a:avLst/>
                <a:gdLst>
                  <a:gd name="T0" fmla="*/ 569 w 569"/>
                  <a:gd name="T1" fmla="*/ 457 h 457"/>
                  <a:gd name="T2" fmla="*/ 232 w 569"/>
                  <a:gd name="T3" fmla="*/ 305 h 457"/>
                  <a:gd name="T4" fmla="*/ 0 w 569"/>
                  <a:gd name="T5" fmla="*/ 0 h 457"/>
                  <a:gd name="T6" fmla="*/ 0 60000 65536"/>
                  <a:gd name="T7" fmla="*/ 0 60000 65536"/>
                  <a:gd name="T8" fmla="*/ 0 60000 65536"/>
                </a:gdLst>
                <a:ahLst/>
                <a:cxnLst>
                  <a:cxn ang="T6">
                    <a:pos x="T0" y="T1"/>
                  </a:cxn>
                  <a:cxn ang="T7">
                    <a:pos x="T2" y="T3"/>
                  </a:cxn>
                  <a:cxn ang="T8">
                    <a:pos x="T4" y="T5"/>
                  </a:cxn>
                </a:cxnLst>
                <a:rect l="0" t="0" r="r" b="b"/>
                <a:pathLst>
                  <a:path w="569" h="457">
                    <a:moveTo>
                      <a:pt x="569" y="457"/>
                    </a:moveTo>
                    <a:cubicBezTo>
                      <a:pt x="513" y="432"/>
                      <a:pt x="327" y="381"/>
                      <a:pt x="232" y="305"/>
                    </a:cubicBezTo>
                    <a:cubicBezTo>
                      <a:pt x="137" y="229"/>
                      <a:pt x="48" y="64"/>
                      <a:pt x="0" y="0"/>
                    </a:cubicBezTo>
                  </a:path>
                </a:pathLst>
              </a:custGeom>
              <a:noFill/>
              <a:ln w="38100" cap="flat" cmpd="sng">
                <a:solidFill>
                  <a:schemeClr val="accent2"/>
                </a:solidFill>
                <a:prstDash val="solid"/>
                <a:round/>
                <a:headEnd type="triangl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163" name="Freeform 35"/>
              <p:cNvSpPr>
                <a:spLocks/>
              </p:cNvSpPr>
              <p:nvPr/>
            </p:nvSpPr>
            <p:spPr bwMode="auto">
              <a:xfrm>
                <a:off x="2511425" y="5370513"/>
                <a:ext cx="3175" cy="801688"/>
              </a:xfrm>
              <a:custGeom>
                <a:avLst/>
                <a:gdLst>
                  <a:gd name="T0" fmla="*/ 2 w 2"/>
                  <a:gd name="T1" fmla="*/ 505 h 505"/>
                  <a:gd name="T2" fmla="*/ 0 w 2"/>
                  <a:gd name="T3" fmla="*/ 0 h 505"/>
                  <a:gd name="T4" fmla="*/ 0 60000 65536"/>
                  <a:gd name="T5" fmla="*/ 0 60000 65536"/>
                </a:gdLst>
                <a:ahLst/>
                <a:cxnLst>
                  <a:cxn ang="T4">
                    <a:pos x="T0" y="T1"/>
                  </a:cxn>
                  <a:cxn ang="T5">
                    <a:pos x="T2" y="T3"/>
                  </a:cxn>
                </a:cxnLst>
                <a:rect l="0" t="0" r="r" b="b"/>
                <a:pathLst>
                  <a:path w="2" h="505">
                    <a:moveTo>
                      <a:pt x="2" y="505"/>
                    </a:moveTo>
                    <a:lnTo>
                      <a:pt x="0" y="0"/>
                    </a:lnTo>
                  </a:path>
                </a:pathLst>
              </a:custGeom>
              <a:noFill/>
              <a:ln w="38100" cap="flat" cmpd="sng">
                <a:solidFill>
                  <a:schemeClr val="accent2"/>
                </a:solidFill>
                <a:prstDash val="solid"/>
                <a:round/>
                <a:headEnd type="none" w="med" len="me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164" name="Freeform 36"/>
              <p:cNvSpPr>
                <a:spLocks/>
              </p:cNvSpPr>
              <p:nvPr/>
            </p:nvSpPr>
            <p:spPr bwMode="auto">
              <a:xfrm>
                <a:off x="2784475" y="5106988"/>
                <a:ext cx="873125" cy="1588"/>
              </a:xfrm>
              <a:custGeom>
                <a:avLst/>
                <a:gdLst>
                  <a:gd name="T0" fmla="*/ 0 w 550"/>
                  <a:gd name="T1" fmla="*/ 1 h 1"/>
                  <a:gd name="T2" fmla="*/ 550 w 550"/>
                  <a:gd name="T3" fmla="*/ 0 h 1"/>
                  <a:gd name="T4" fmla="*/ 0 60000 65536"/>
                  <a:gd name="T5" fmla="*/ 0 60000 65536"/>
                </a:gdLst>
                <a:ahLst/>
                <a:cxnLst>
                  <a:cxn ang="T4">
                    <a:pos x="T0" y="T1"/>
                  </a:cxn>
                  <a:cxn ang="T5">
                    <a:pos x="T2" y="T3"/>
                  </a:cxn>
                </a:cxnLst>
                <a:rect l="0" t="0" r="r" b="b"/>
                <a:pathLst>
                  <a:path w="550" h="1">
                    <a:moveTo>
                      <a:pt x="0" y="1"/>
                    </a:moveTo>
                    <a:lnTo>
                      <a:pt x="550" y="0"/>
                    </a:lnTo>
                  </a:path>
                </a:pathLst>
              </a:custGeom>
              <a:noFill/>
              <a:ln w="38100" cap="flat" cmpd="sng">
                <a:solidFill>
                  <a:schemeClr val="accent2"/>
                </a:solidFill>
                <a:prstDash val="solid"/>
                <a:round/>
                <a:headEnd type="triangl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165" name="Line 37"/>
              <p:cNvSpPr>
                <a:spLocks noChangeShapeType="1"/>
              </p:cNvSpPr>
              <p:nvPr/>
            </p:nvSpPr>
            <p:spPr bwMode="auto">
              <a:xfrm>
                <a:off x="1295400" y="5105400"/>
                <a:ext cx="990600" cy="0"/>
              </a:xfrm>
              <a:prstGeom prst="line">
                <a:avLst/>
              </a:prstGeom>
              <a:noFill/>
              <a:ln w="38100">
                <a:solidFill>
                  <a:schemeClr val="accent2"/>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166" name="Oval 38"/>
              <p:cNvSpPr>
                <a:spLocks noChangeArrowheads="1"/>
              </p:cNvSpPr>
              <p:nvPr/>
            </p:nvSpPr>
            <p:spPr bwMode="auto">
              <a:xfrm>
                <a:off x="1066800" y="48768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1</a:t>
                </a:r>
              </a:p>
            </p:txBody>
          </p:sp>
          <p:sp>
            <p:nvSpPr>
              <p:cNvPr id="167" name="Oval 39"/>
              <p:cNvSpPr>
                <a:spLocks noChangeArrowheads="1"/>
              </p:cNvSpPr>
              <p:nvPr/>
            </p:nvSpPr>
            <p:spPr bwMode="auto">
              <a:xfrm>
                <a:off x="2286000" y="48768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2</a:t>
                </a:r>
              </a:p>
            </p:txBody>
          </p:sp>
          <p:sp>
            <p:nvSpPr>
              <p:cNvPr id="168" name="Oval 40"/>
              <p:cNvSpPr>
                <a:spLocks noChangeArrowheads="1"/>
              </p:cNvSpPr>
              <p:nvPr/>
            </p:nvSpPr>
            <p:spPr bwMode="auto">
              <a:xfrm>
                <a:off x="1066800" y="5943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a:solidFill>
                      <a:schemeClr val="tx2"/>
                    </a:solidFill>
                    <a:latin typeface="Arial" pitchFamily="34" charset="0"/>
                  </a:rPr>
                  <a:t>4</a:t>
                </a:r>
              </a:p>
            </p:txBody>
          </p:sp>
          <p:sp>
            <p:nvSpPr>
              <p:cNvPr id="169" name="Oval 41"/>
              <p:cNvSpPr>
                <a:spLocks noChangeArrowheads="1"/>
              </p:cNvSpPr>
              <p:nvPr/>
            </p:nvSpPr>
            <p:spPr bwMode="auto">
              <a:xfrm>
                <a:off x="2286000" y="5943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5</a:t>
                </a:r>
              </a:p>
            </p:txBody>
          </p:sp>
          <p:sp>
            <p:nvSpPr>
              <p:cNvPr id="170" name="Oval 42"/>
              <p:cNvSpPr>
                <a:spLocks noChangeArrowheads="1"/>
              </p:cNvSpPr>
              <p:nvPr/>
            </p:nvSpPr>
            <p:spPr bwMode="auto">
              <a:xfrm>
                <a:off x="3429000" y="48768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3</a:t>
                </a:r>
              </a:p>
            </p:txBody>
          </p:sp>
          <p:sp>
            <p:nvSpPr>
              <p:cNvPr id="171" name="Oval 43"/>
              <p:cNvSpPr>
                <a:spLocks noChangeArrowheads="1"/>
              </p:cNvSpPr>
              <p:nvPr/>
            </p:nvSpPr>
            <p:spPr bwMode="auto">
              <a:xfrm>
                <a:off x="3429000" y="5943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6</a:t>
                </a:r>
              </a:p>
            </p:txBody>
          </p:sp>
          <p:sp>
            <p:nvSpPr>
              <p:cNvPr id="172" name="Freeform 47"/>
              <p:cNvSpPr>
                <a:spLocks/>
              </p:cNvSpPr>
              <p:nvPr/>
            </p:nvSpPr>
            <p:spPr bwMode="auto">
              <a:xfrm>
                <a:off x="623888" y="5792788"/>
                <a:ext cx="519113" cy="463550"/>
              </a:xfrm>
              <a:custGeom>
                <a:avLst/>
                <a:gdLst>
                  <a:gd name="T0" fmla="*/ 279 w 327"/>
                  <a:gd name="T1" fmla="*/ 239 h 292"/>
                  <a:gd name="T2" fmla="*/ 77 w 327"/>
                  <a:gd name="T3" fmla="*/ 270 h 292"/>
                  <a:gd name="T4" fmla="*/ 11 w 327"/>
                  <a:gd name="T5" fmla="*/ 105 h 292"/>
                  <a:gd name="T6" fmla="*/ 143 w 327"/>
                  <a:gd name="T7" fmla="*/ 6 h 292"/>
                  <a:gd name="T8" fmla="*/ 327 w 327"/>
                  <a:gd name="T9" fmla="*/ 143 h 2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7" h="292">
                    <a:moveTo>
                      <a:pt x="279" y="239"/>
                    </a:moveTo>
                    <a:cubicBezTo>
                      <a:pt x="245" y="244"/>
                      <a:pt x="122" y="292"/>
                      <a:pt x="77" y="270"/>
                    </a:cubicBezTo>
                    <a:cubicBezTo>
                      <a:pt x="32" y="248"/>
                      <a:pt x="0" y="149"/>
                      <a:pt x="11" y="105"/>
                    </a:cubicBezTo>
                    <a:cubicBezTo>
                      <a:pt x="22" y="61"/>
                      <a:pt x="90" y="0"/>
                      <a:pt x="143" y="6"/>
                    </a:cubicBezTo>
                    <a:cubicBezTo>
                      <a:pt x="196" y="12"/>
                      <a:pt x="289" y="115"/>
                      <a:pt x="327" y="143"/>
                    </a:cubicBezTo>
                  </a:path>
                </a:pathLst>
              </a:custGeom>
              <a:noFill/>
              <a:ln w="38100" cap="flat" cmpd="sng">
                <a:solidFill>
                  <a:schemeClr val="accent2"/>
                </a:solidFill>
                <a:prstDash val="solid"/>
                <a:round/>
                <a:headEnd type="none" w="med" len="me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spAutoFit/>
              </a:bodyPr>
              <a:lstStyle/>
              <a:p>
                <a:endParaRPr lang="en-CA"/>
              </a:p>
            </p:txBody>
          </p:sp>
        </p:grpSp>
      </p:grpSp>
      <p:sp>
        <p:nvSpPr>
          <p:cNvPr id="4" name="Slide Number Placeholder 3"/>
          <p:cNvSpPr>
            <a:spLocks noGrp="1"/>
          </p:cNvSpPr>
          <p:nvPr>
            <p:ph type="sldNum" sz="quarter" idx="12"/>
          </p:nvPr>
        </p:nvSpPr>
        <p:spPr/>
        <p:txBody>
          <a:bodyPr/>
          <a:lstStyle/>
          <a:p>
            <a:pPr>
              <a:defRPr/>
            </a:pPr>
            <a:fld id="{2EA72CB5-5472-4B1F-9EF4-151FAEB37976}" type="slidenum">
              <a:rPr lang="en-US" smtClean="0"/>
              <a:pPr>
                <a:defRPr/>
              </a:pPr>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98306"/>
                                        </p:tgtEl>
                                        <p:attrNameLst>
                                          <p:attrName>style.visibility</p:attrName>
                                        </p:attrNameLst>
                                      </p:cBhvr>
                                      <p:to>
                                        <p:strVal val="visible"/>
                                      </p:to>
                                    </p:set>
                                    <p:anim calcmode="lin" valueType="num">
                                      <p:cBhvr>
                                        <p:cTn id="7" dur="500" fill="hold"/>
                                        <p:tgtEl>
                                          <p:spTgt spid="98306"/>
                                        </p:tgtEl>
                                        <p:attrNameLst>
                                          <p:attrName>ppt_w</p:attrName>
                                        </p:attrNameLst>
                                      </p:cBhvr>
                                      <p:tavLst>
                                        <p:tav tm="0">
                                          <p:val>
                                            <p:fltVal val="0"/>
                                          </p:val>
                                        </p:tav>
                                        <p:tav tm="100000">
                                          <p:val>
                                            <p:strVal val="#ppt_w"/>
                                          </p:val>
                                        </p:tav>
                                      </p:tavLst>
                                    </p:anim>
                                    <p:anim calcmode="lin" valueType="num">
                                      <p:cBhvr>
                                        <p:cTn id="8" dur="500" fill="hold"/>
                                        <p:tgtEl>
                                          <p:spTgt spid="98306"/>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8" fill="hold" nodeType="afterEffect">
                                  <p:stCondLst>
                                    <p:cond delay="0"/>
                                  </p:stCondLst>
                                  <p:childTnLst>
                                    <p:set>
                                      <p:cBhvr>
                                        <p:cTn id="11" dur="1" fill="hold">
                                          <p:stCondLst>
                                            <p:cond delay="0"/>
                                          </p:stCondLst>
                                        </p:cTn>
                                        <p:tgtEl>
                                          <p:spTgt spid="98441"/>
                                        </p:tgtEl>
                                        <p:attrNameLst>
                                          <p:attrName>style.visibility</p:attrName>
                                        </p:attrNameLst>
                                      </p:cBhvr>
                                      <p:to>
                                        <p:strVal val="visible"/>
                                      </p:to>
                                    </p:set>
                                    <p:animEffect transition="in" filter="wipe(left)">
                                      <p:cBhvr>
                                        <p:cTn id="12" dur="500"/>
                                        <p:tgtEl>
                                          <p:spTgt spid="9844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Weighted Adjacency Matrix</a:t>
            </a:r>
          </a:p>
        </p:txBody>
      </p:sp>
      <p:graphicFrame>
        <p:nvGraphicFramePr>
          <p:cNvPr id="99400" name="Object 72"/>
          <p:cNvGraphicFramePr>
            <a:graphicFrameLocks noChangeAspect="1"/>
          </p:cNvGraphicFramePr>
          <p:nvPr/>
        </p:nvGraphicFramePr>
        <p:xfrm>
          <a:off x="1236663" y="762000"/>
          <a:ext cx="6161087" cy="1143000"/>
        </p:xfrm>
        <a:graphic>
          <a:graphicData uri="http://schemas.openxmlformats.org/presentationml/2006/ole">
            <mc:AlternateContent xmlns:mc="http://schemas.openxmlformats.org/markup-compatibility/2006">
              <mc:Choice xmlns:v="urn:schemas-microsoft-com:vml" Requires="v">
                <p:oleObj spid="_x0000_s9484" name="Equation" r:id="rId3" imgW="4089400" imgH="685800" progId="Equation.3">
                  <p:embed/>
                </p:oleObj>
              </mc:Choice>
              <mc:Fallback>
                <p:oleObj name="Equation" r:id="rId3" imgW="4089400" imgH="685800" progId="Equation.3">
                  <p:embed/>
                  <p:pic>
                    <p:nvPicPr>
                      <p:cNvPr id="0" name="Object 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6663" y="762000"/>
                        <a:ext cx="6161087"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 name="Group 6"/>
          <p:cNvGrpSpPr/>
          <p:nvPr/>
        </p:nvGrpSpPr>
        <p:grpSpPr>
          <a:xfrm>
            <a:off x="908233" y="1676400"/>
            <a:ext cx="7092767" cy="2464739"/>
            <a:chOff x="908233" y="1676400"/>
            <a:chExt cx="7092767" cy="2464739"/>
          </a:xfrm>
        </p:grpSpPr>
        <p:grpSp>
          <p:nvGrpSpPr>
            <p:cNvPr id="9311" name="Group 151"/>
            <p:cNvGrpSpPr>
              <a:grpSpLocks/>
            </p:cNvGrpSpPr>
            <p:nvPr/>
          </p:nvGrpSpPr>
          <p:grpSpPr bwMode="auto">
            <a:xfrm>
              <a:off x="5867400" y="2057400"/>
              <a:ext cx="2133600" cy="2009775"/>
              <a:chOff x="3648" y="1306"/>
              <a:chExt cx="1152" cy="1266"/>
            </a:xfrm>
          </p:grpSpPr>
          <p:sp>
            <p:nvSpPr>
              <p:cNvPr id="9322" name="Rectangle 19"/>
              <p:cNvSpPr>
                <a:spLocks noChangeArrowheads="1"/>
              </p:cNvSpPr>
              <p:nvPr/>
            </p:nvSpPr>
            <p:spPr bwMode="auto">
              <a:xfrm>
                <a:off x="4608" y="236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9323" name="Rectangle 20"/>
              <p:cNvSpPr>
                <a:spLocks noChangeArrowheads="1"/>
              </p:cNvSpPr>
              <p:nvPr/>
            </p:nvSpPr>
            <p:spPr bwMode="auto">
              <a:xfrm>
                <a:off x="4416" y="236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324" name="Rectangle 21"/>
              <p:cNvSpPr>
                <a:spLocks noChangeArrowheads="1"/>
              </p:cNvSpPr>
              <p:nvPr/>
            </p:nvSpPr>
            <p:spPr bwMode="auto">
              <a:xfrm>
                <a:off x="4224" y="236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325" name="Rectangle 22"/>
              <p:cNvSpPr>
                <a:spLocks noChangeArrowheads="1"/>
              </p:cNvSpPr>
              <p:nvPr/>
            </p:nvSpPr>
            <p:spPr bwMode="auto">
              <a:xfrm>
                <a:off x="4032" y="236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326" name="Rectangle 23"/>
              <p:cNvSpPr>
                <a:spLocks noChangeArrowheads="1"/>
              </p:cNvSpPr>
              <p:nvPr/>
            </p:nvSpPr>
            <p:spPr bwMode="auto">
              <a:xfrm>
                <a:off x="3840" y="236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327" name="Rectangle 24"/>
              <p:cNvSpPr>
                <a:spLocks noChangeArrowheads="1"/>
              </p:cNvSpPr>
              <p:nvPr/>
            </p:nvSpPr>
            <p:spPr bwMode="auto">
              <a:xfrm>
                <a:off x="3648" y="236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328" name="Rectangle 25"/>
              <p:cNvSpPr>
                <a:spLocks noChangeArrowheads="1"/>
              </p:cNvSpPr>
              <p:nvPr/>
            </p:nvSpPr>
            <p:spPr bwMode="auto">
              <a:xfrm>
                <a:off x="4608" y="215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329" name="Rectangle 26"/>
              <p:cNvSpPr>
                <a:spLocks noChangeArrowheads="1"/>
              </p:cNvSpPr>
              <p:nvPr/>
            </p:nvSpPr>
            <p:spPr bwMode="auto">
              <a:xfrm>
                <a:off x="4416" y="215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9330" name="Rectangle 27"/>
              <p:cNvSpPr>
                <a:spLocks noChangeArrowheads="1"/>
              </p:cNvSpPr>
              <p:nvPr/>
            </p:nvSpPr>
            <p:spPr bwMode="auto">
              <a:xfrm>
                <a:off x="4224" y="215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4</a:t>
                </a:r>
              </a:p>
            </p:txBody>
          </p:sp>
          <p:sp>
            <p:nvSpPr>
              <p:cNvPr id="9331" name="Rectangle 28"/>
              <p:cNvSpPr>
                <a:spLocks noChangeArrowheads="1"/>
              </p:cNvSpPr>
              <p:nvPr/>
            </p:nvSpPr>
            <p:spPr bwMode="auto">
              <a:xfrm>
                <a:off x="4032" y="215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-6</a:t>
                </a:r>
              </a:p>
            </p:txBody>
          </p:sp>
          <p:sp>
            <p:nvSpPr>
              <p:cNvPr id="9332" name="Rectangle 29"/>
              <p:cNvSpPr>
                <a:spLocks noChangeArrowheads="1"/>
              </p:cNvSpPr>
              <p:nvPr/>
            </p:nvSpPr>
            <p:spPr bwMode="auto">
              <a:xfrm>
                <a:off x="3840" y="215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5</a:t>
                </a:r>
              </a:p>
            </p:txBody>
          </p:sp>
          <p:sp>
            <p:nvSpPr>
              <p:cNvPr id="9333" name="Rectangle 30"/>
              <p:cNvSpPr>
                <a:spLocks noChangeArrowheads="1"/>
              </p:cNvSpPr>
              <p:nvPr/>
            </p:nvSpPr>
            <p:spPr bwMode="auto">
              <a:xfrm>
                <a:off x="3648" y="215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2</a:t>
                </a:r>
              </a:p>
            </p:txBody>
          </p:sp>
          <p:sp>
            <p:nvSpPr>
              <p:cNvPr id="9334" name="Rectangle 31"/>
              <p:cNvSpPr>
                <a:spLocks noChangeArrowheads="1"/>
              </p:cNvSpPr>
              <p:nvPr/>
            </p:nvSpPr>
            <p:spPr bwMode="auto">
              <a:xfrm>
                <a:off x="4608" y="1939"/>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335" name="Rectangle 32"/>
              <p:cNvSpPr>
                <a:spLocks noChangeArrowheads="1"/>
              </p:cNvSpPr>
              <p:nvPr/>
            </p:nvSpPr>
            <p:spPr bwMode="auto">
              <a:xfrm>
                <a:off x="4416" y="1939"/>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4</a:t>
                </a:r>
              </a:p>
            </p:txBody>
          </p:sp>
          <p:sp>
            <p:nvSpPr>
              <p:cNvPr id="9336" name="Rectangle 33"/>
              <p:cNvSpPr>
                <a:spLocks noChangeArrowheads="1"/>
              </p:cNvSpPr>
              <p:nvPr/>
            </p:nvSpPr>
            <p:spPr bwMode="auto">
              <a:xfrm>
                <a:off x="4224" y="1939"/>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9337" name="Rectangle 34"/>
              <p:cNvSpPr>
                <a:spLocks noChangeArrowheads="1"/>
              </p:cNvSpPr>
              <p:nvPr/>
            </p:nvSpPr>
            <p:spPr bwMode="auto">
              <a:xfrm>
                <a:off x="4032" y="1939"/>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338" name="Rectangle 35"/>
              <p:cNvSpPr>
                <a:spLocks noChangeArrowheads="1"/>
              </p:cNvSpPr>
              <p:nvPr/>
            </p:nvSpPr>
            <p:spPr bwMode="auto">
              <a:xfrm>
                <a:off x="3840" y="1939"/>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339" name="Rectangle 36"/>
              <p:cNvSpPr>
                <a:spLocks noChangeArrowheads="1"/>
              </p:cNvSpPr>
              <p:nvPr/>
            </p:nvSpPr>
            <p:spPr bwMode="auto">
              <a:xfrm>
                <a:off x="3648" y="1939"/>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9</a:t>
                </a:r>
              </a:p>
            </p:txBody>
          </p:sp>
          <p:sp>
            <p:nvSpPr>
              <p:cNvPr id="9340" name="Rectangle 37"/>
              <p:cNvSpPr>
                <a:spLocks noChangeArrowheads="1"/>
              </p:cNvSpPr>
              <p:nvPr/>
            </p:nvSpPr>
            <p:spPr bwMode="auto">
              <a:xfrm>
                <a:off x="4608" y="1728"/>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341" name="Rectangle 38"/>
              <p:cNvSpPr>
                <a:spLocks noChangeArrowheads="1"/>
              </p:cNvSpPr>
              <p:nvPr/>
            </p:nvSpPr>
            <p:spPr bwMode="auto">
              <a:xfrm>
                <a:off x="4416" y="1728"/>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-6</a:t>
                </a:r>
              </a:p>
            </p:txBody>
          </p:sp>
          <p:sp>
            <p:nvSpPr>
              <p:cNvPr id="9342" name="Rectangle 39"/>
              <p:cNvSpPr>
                <a:spLocks noChangeArrowheads="1"/>
              </p:cNvSpPr>
              <p:nvPr/>
            </p:nvSpPr>
            <p:spPr bwMode="auto">
              <a:xfrm>
                <a:off x="4224" y="1728"/>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343" name="Rectangle 40"/>
              <p:cNvSpPr>
                <a:spLocks noChangeArrowheads="1"/>
              </p:cNvSpPr>
              <p:nvPr/>
            </p:nvSpPr>
            <p:spPr bwMode="auto">
              <a:xfrm>
                <a:off x="4032" y="1728"/>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0</a:t>
                </a:r>
              </a:p>
            </p:txBody>
          </p:sp>
          <p:sp>
            <p:nvSpPr>
              <p:cNvPr id="9344" name="Rectangle 41"/>
              <p:cNvSpPr>
                <a:spLocks noChangeArrowheads="1"/>
              </p:cNvSpPr>
              <p:nvPr/>
            </p:nvSpPr>
            <p:spPr bwMode="auto">
              <a:xfrm>
                <a:off x="3840" y="1728"/>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8</a:t>
                </a:r>
              </a:p>
            </p:txBody>
          </p:sp>
          <p:sp>
            <p:nvSpPr>
              <p:cNvPr id="9345" name="Rectangle 42"/>
              <p:cNvSpPr>
                <a:spLocks noChangeArrowheads="1"/>
              </p:cNvSpPr>
              <p:nvPr/>
            </p:nvSpPr>
            <p:spPr bwMode="auto">
              <a:xfrm>
                <a:off x="3648" y="1728"/>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346" name="Rectangle 43"/>
              <p:cNvSpPr>
                <a:spLocks noChangeArrowheads="1"/>
              </p:cNvSpPr>
              <p:nvPr/>
            </p:nvSpPr>
            <p:spPr bwMode="auto">
              <a:xfrm>
                <a:off x="4608" y="1517"/>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347" name="Rectangle 44"/>
              <p:cNvSpPr>
                <a:spLocks noChangeArrowheads="1"/>
              </p:cNvSpPr>
              <p:nvPr/>
            </p:nvSpPr>
            <p:spPr bwMode="auto">
              <a:xfrm>
                <a:off x="4416" y="1517"/>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5</a:t>
                </a:r>
              </a:p>
            </p:txBody>
          </p:sp>
          <p:sp>
            <p:nvSpPr>
              <p:cNvPr id="9348" name="Rectangle 45"/>
              <p:cNvSpPr>
                <a:spLocks noChangeArrowheads="1"/>
              </p:cNvSpPr>
              <p:nvPr/>
            </p:nvSpPr>
            <p:spPr bwMode="auto">
              <a:xfrm>
                <a:off x="4224" y="1517"/>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endParaRPr lang="en-US">
                  <a:solidFill>
                    <a:srgbClr val="CC0000"/>
                  </a:solidFill>
                </a:endParaRPr>
              </a:p>
            </p:txBody>
          </p:sp>
          <p:sp>
            <p:nvSpPr>
              <p:cNvPr id="9349" name="Rectangle 46"/>
              <p:cNvSpPr>
                <a:spLocks noChangeArrowheads="1"/>
              </p:cNvSpPr>
              <p:nvPr/>
            </p:nvSpPr>
            <p:spPr bwMode="auto">
              <a:xfrm>
                <a:off x="4032" y="1517"/>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8</a:t>
                </a:r>
              </a:p>
            </p:txBody>
          </p:sp>
          <p:sp>
            <p:nvSpPr>
              <p:cNvPr id="9350" name="Rectangle 47"/>
              <p:cNvSpPr>
                <a:spLocks noChangeArrowheads="1"/>
              </p:cNvSpPr>
              <p:nvPr/>
            </p:nvSpPr>
            <p:spPr bwMode="auto">
              <a:xfrm>
                <a:off x="3840" y="1517"/>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9351" name="Rectangle 48"/>
              <p:cNvSpPr>
                <a:spLocks noChangeArrowheads="1"/>
              </p:cNvSpPr>
              <p:nvPr/>
            </p:nvSpPr>
            <p:spPr bwMode="auto">
              <a:xfrm>
                <a:off x="3648" y="1517"/>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6</a:t>
                </a:r>
              </a:p>
            </p:txBody>
          </p:sp>
          <p:sp>
            <p:nvSpPr>
              <p:cNvPr id="9352" name="Rectangle 49"/>
              <p:cNvSpPr>
                <a:spLocks noChangeArrowheads="1"/>
              </p:cNvSpPr>
              <p:nvPr/>
            </p:nvSpPr>
            <p:spPr bwMode="auto">
              <a:xfrm>
                <a:off x="4608" y="1306"/>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353" name="Rectangle 50"/>
              <p:cNvSpPr>
                <a:spLocks noChangeArrowheads="1"/>
              </p:cNvSpPr>
              <p:nvPr/>
            </p:nvSpPr>
            <p:spPr bwMode="auto">
              <a:xfrm>
                <a:off x="4416" y="1306"/>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2</a:t>
                </a:r>
              </a:p>
            </p:txBody>
          </p:sp>
          <p:sp>
            <p:nvSpPr>
              <p:cNvPr id="9354" name="Rectangle 51"/>
              <p:cNvSpPr>
                <a:spLocks noChangeArrowheads="1"/>
              </p:cNvSpPr>
              <p:nvPr/>
            </p:nvSpPr>
            <p:spPr bwMode="auto">
              <a:xfrm>
                <a:off x="4224" y="1306"/>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9</a:t>
                </a:r>
              </a:p>
            </p:txBody>
          </p:sp>
          <p:sp>
            <p:nvSpPr>
              <p:cNvPr id="9355" name="Rectangle 52"/>
              <p:cNvSpPr>
                <a:spLocks noChangeArrowheads="1"/>
              </p:cNvSpPr>
              <p:nvPr/>
            </p:nvSpPr>
            <p:spPr bwMode="auto">
              <a:xfrm>
                <a:off x="4032" y="1306"/>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356" name="Rectangle 53"/>
              <p:cNvSpPr>
                <a:spLocks noChangeArrowheads="1"/>
              </p:cNvSpPr>
              <p:nvPr/>
            </p:nvSpPr>
            <p:spPr bwMode="auto">
              <a:xfrm>
                <a:off x="3840" y="1306"/>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6</a:t>
                </a:r>
              </a:p>
            </p:txBody>
          </p:sp>
          <p:sp>
            <p:nvSpPr>
              <p:cNvPr id="9357" name="Rectangle 54"/>
              <p:cNvSpPr>
                <a:spLocks noChangeArrowheads="1"/>
              </p:cNvSpPr>
              <p:nvPr/>
            </p:nvSpPr>
            <p:spPr bwMode="auto">
              <a:xfrm>
                <a:off x="3648" y="1306"/>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9358" name="Line 55"/>
              <p:cNvSpPr>
                <a:spLocks noChangeShapeType="1"/>
              </p:cNvSpPr>
              <p:nvPr/>
            </p:nvSpPr>
            <p:spPr bwMode="auto">
              <a:xfrm>
                <a:off x="3648" y="1306"/>
                <a:ext cx="115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359" name="Line 56"/>
              <p:cNvSpPr>
                <a:spLocks noChangeShapeType="1"/>
              </p:cNvSpPr>
              <p:nvPr/>
            </p:nvSpPr>
            <p:spPr bwMode="auto">
              <a:xfrm>
                <a:off x="3648" y="1517"/>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360" name="Line 57"/>
              <p:cNvSpPr>
                <a:spLocks noChangeShapeType="1"/>
              </p:cNvSpPr>
              <p:nvPr/>
            </p:nvSpPr>
            <p:spPr bwMode="auto">
              <a:xfrm>
                <a:off x="3648" y="1728"/>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361" name="Line 58"/>
              <p:cNvSpPr>
                <a:spLocks noChangeShapeType="1"/>
              </p:cNvSpPr>
              <p:nvPr/>
            </p:nvSpPr>
            <p:spPr bwMode="auto">
              <a:xfrm>
                <a:off x="3648" y="1939"/>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362" name="Line 59"/>
              <p:cNvSpPr>
                <a:spLocks noChangeShapeType="1"/>
              </p:cNvSpPr>
              <p:nvPr/>
            </p:nvSpPr>
            <p:spPr bwMode="auto">
              <a:xfrm>
                <a:off x="3648" y="2150"/>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363" name="Line 60"/>
              <p:cNvSpPr>
                <a:spLocks noChangeShapeType="1"/>
              </p:cNvSpPr>
              <p:nvPr/>
            </p:nvSpPr>
            <p:spPr bwMode="auto">
              <a:xfrm>
                <a:off x="3648" y="2361"/>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364" name="Line 61"/>
              <p:cNvSpPr>
                <a:spLocks noChangeShapeType="1"/>
              </p:cNvSpPr>
              <p:nvPr/>
            </p:nvSpPr>
            <p:spPr bwMode="auto">
              <a:xfrm>
                <a:off x="3648" y="2572"/>
                <a:ext cx="115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365" name="Line 62"/>
              <p:cNvSpPr>
                <a:spLocks noChangeShapeType="1"/>
              </p:cNvSpPr>
              <p:nvPr/>
            </p:nvSpPr>
            <p:spPr bwMode="auto">
              <a:xfrm>
                <a:off x="3648" y="1306"/>
                <a:ext cx="0" cy="1266"/>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366" name="Line 63"/>
              <p:cNvSpPr>
                <a:spLocks noChangeShapeType="1"/>
              </p:cNvSpPr>
              <p:nvPr/>
            </p:nvSpPr>
            <p:spPr bwMode="auto">
              <a:xfrm>
                <a:off x="3840" y="1306"/>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367" name="Line 64"/>
              <p:cNvSpPr>
                <a:spLocks noChangeShapeType="1"/>
              </p:cNvSpPr>
              <p:nvPr/>
            </p:nvSpPr>
            <p:spPr bwMode="auto">
              <a:xfrm>
                <a:off x="4032" y="1306"/>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368" name="Line 65"/>
              <p:cNvSpPr>
                <a:spLocks noChangeShapeType="1"/>
              </p:cNvSpPr>
              <p:nvPr/>
            </p:nvSpPr>
            <p:spPr bwMode="auto">
              <a:xfrm>
                <a:off x="4224" y="1306"/>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369" name="Line 66"/>
              <p:cNvSpPr>
                <a:spLocks noChangeShapeType="1"/>
              </p:cNvSpPr>
              <p:nvPr/>
            </p:nvSpPr>
            <p:spPr bwMode="auto">
              <a:xfrm>
                <a:off x="4416" y="1306"/>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370" name="Line 67"/>
              <p:cNvSpPr>
                <a:spLocks noChangeShapeType="1"/>
              </p:cNvSpPr>
              <p:nvPr/>
            </p:nvSpPr>
            <p:spPr bwMode="auto">
              <a:xfrm>
                <a:off x="4608" y="1306"/>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371" name="Line 68"/>
              <p:cNvSpPr>
                <a:spLocks noChangeShapeType="1"/>
              </p:cNvSpPr>
              <p:nvPr/>
            </p:nvSpPr>
            <p:spPr bwMode="auto">
              <a:xfrm>
                <a:off x="4800" y="1306"/>
                <a:ext cx="0" cy="1266"/>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sp>
          <p:nvSpPr>
            <p:cNvPr id="9312" name="Text Box 69"/>
            <p:cNvSpPr txBox="1">
              <a:spLocks noChangeArrowheads="1"/>
            </p:cNvSpPr>
            <p:nvPr/>
          </p:nvSpPr>
          <p:spPr bwMode="auto">
            <a:xfrm>
              <a:off x="5788025" y="1676400"/>
              <a:ext cx="2174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a:solidFill>
                    <a:schemeClr val="tx2"/>
                  </a:solidFill>
                  <a:latin typeface="Arial" pitchFamily="34" charset="0"/>
                </a:rPr>
                <a:t> 1     2    3     4    5    6</a:t>
              </a:r>
            </a:p>
          </p:txBody>
        </p:sp>
        <p:sp>
          <p:nvSpPr>
            <p:cNvPr id="9313" name="Text Box 70"/>
            <p:cNvSpPr txBox="1">
              <a:spLocks noChangeArrowheads="1"/>
            </p:cNvSpPr>
            <p:nvPr/>
          </p:nvSpPr>
          <p:spPr bwMode="auto">
            <a:xfrm>
              <a:off x="5410200" y="1987550"/>
              <a:ext cx="296863" cy="207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35000"/>
                </a:lnSpc>
                <a:buFontTx/>
                <a:buNone/>
              </a:pPr>
              <a:r>
                <a:rPr lang="en-US">
                  <a:solidFill>
                    <a:schemeClr val="tx2"/>
                  </a:solidFill>
                  <a:latin typeface="Arial" pitchFamily="34" charset="0"/>
                </a:rPr>
                <a:t>1</a:t>
              </a:r>
            </a:p>
            <a:p>
              <a:pPr algn="ctr" eaLnBrk="1" hangingPunct="1">
                <a:lnSpc>
                  <a:spcPct val="135000"/>
                </a:lnSpc>
                <a:buFontTx/>
                <a:buNone/>
              </a:pPr>
              <a:r>
                <a:rPr lang="en-US">
                  <a:solidFill>
                    <a:schemeClr val="tx2"/>
                  </a:solidFill>
                  <a:latin typeface="Arial" pitchFamily="34" charset="0"/>
                </a:rPr>
                <a:t>2</a:t>
              </a:r>
            </a:p>
            <a:p>
              <a:pPr algn="ctr" eaLnBrk="1" hangingPunct="1">
                <a:lnSpc>
                  <a:spcPct val="135000"/>
                </a:lnSpc>
                <a:buFontTx/>
                <a:buNone/>
              </a:pPr>
              <a:r>
                <a:rPr lang="en-US">
                  <a:solidFill>
                    <a:schemeClr val="tx2"/>
                  </a:solidFill>
                  <a:latin typeface="Arial" pitchFamily="34" charset="0"/>
                </a:rPr>
                <a:t>3</a:t>
              </a:r>
            </a:p>
            <a:p>
              <a:pPr algn="ctr" eaLnBrk="1" hangingPunct="1">
                <a:lnSpc>
                  <a:spcPct val="135000"/>
                </a:lnSpc>
                <a:buFontTx/>
                <a:buNone/>
              </a:pPr>
              <a:r>
                <a:rPr lang="en-US">
                  <a:solidFill>
                    <a:schemeClr val="tx2"/>
                  </a:solidFill>
                  <a:latin typeface="Arial" pitchFamily="34" charset="0"/>
                </a:rPr>
                <a:t>4</a:t>
              </a:r>
            </a:p>
            <a:p>
              <a:pPr algn="ctr" eaLnBrk="1" hangingPunct="1">
                <a:lnSpc>
                  <a:spcPct val="135000"/>
                </a:lnSpc>
                <a:buFontTx/>
                <a:buNone/>
              </a:pPr>
              <a:r>
                <a:rPr lang="en-US">
                  <a:solidFill>
                    <a:schemeClr val="tx2"/>
                  </a:solidFill>
                  <a:latin typeface="Arial" pitchFamily="34" charset="0"/>
                </a:rPr>
                <a:t>5</a:t>
              </a:r>
            </a:p>
            <a:p>
              <a:pPr algn="ctr" eaLnBrk="1" hangingPunct="1">
                <a:lnSpc>
                  <a:spcPct val="135000"/>
                </a:lnSpc>
                <a:buFontTx/>
                <a:buNone/>
              </a:pPr>
              <a:r>
                <a:rPr lang="en-US">
                  <a:solidFill>
                    <a:schemeClr val="tx2"/>
                  </a:solidFill>
                  <a:latin typeface="Arial" pitchFamily="34" charset="0"/>
                </a:rPr>
                <a:t>6</a:t>
              </a:r>
            </a:p>
          </p:txBody>
        </p:sp>
        <p:sp>
          <p:nvSpPr>
            <p:cNvPr id="9314" name="Text Box 71"/>
            <p:cNvSpPr txBox="1">
              <a:spLocks noChangeArrowheads="1"/>
            </p:cNvSpPr>
            <p:nvPr/>
          </p:nvSpPr>
          <p:spPr bwMode="auto">
            <a:xfrm>
              <a:off x="4724400" y="2606675"/>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A =</a:t>
              </a:r>
            </a:p>
          </p:txBody>
        </p:sp>
        <p:grpSp>
          <p:nvGrpSpPr>
            <p:cNvPr id="5" name="Group 4"/>
            <p:cNvGrpSpPr/>
            <p:nvPr/>
          </p:nvGrpSpPr>
          <p:grpSpPr>
            <a:xfrm>
              <a:off x="908233" y="2342970"/>
              <a:ext cx="2941455" cy="1798169"/>
              <a:chOff x="908233" y="2342970"/>
              <a:chExt cx="2941455" cy="1798169"/>
            </a:xfrm>
          </p:grpSpPr>
          <p:sp>
            <p:nvSpPr>
              <p:cNvPr id="9315" name="Rectangle 143"/>
              <p:cNvSpPr>
                <a:spLocks noChangeArrowheads="1"/>
              </p:cNvSpPr>
              <p:nvPr/>
            </p:nvSpPr>
            <p:spPr bwMode="auto">
              <a:xfrm>
                <a:off x="1684337" y="2342970"/>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6</a:t>
                </a:r>
              </a:p>
            </p:txBody>
          </p:sp>
          <p:sp>
            <p:nvSpPr>
              <p:cNvPr id="9316" name="Rectangle 144"/>
              <p:cNvSpPr>
                <a:spLocks noChangeArrowheads="1"/>
              </p:cNvSpPr>
              <p:nvPr/>
            </p:nvSpPr>
            <p:spPr bwMode="auto">
              <a:xfrm>
                <a:off x="2861468" y="2387702"/>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8</a:t>
                </a:r>
              </a:p>
            </p:txBody>
          </p:sp>
          <p:sp>
            <p:nvSpPr>
              <p:cNvPr id="9317" name="Rectangle 145"/>
              <p:cNvSpPr>
                <a:spLocks noChangeArrowheads="1"/>
              </p:cNvSpPr>
              <p:nvPr/>
            </p:nvSpPr>
            <p:spPr bwMode="auto">
              <a:xfrm>
                <a:off x="908233" y="3108325"/>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9</a:t>
                </a:r>
              </a:p>
            </p:txBody>
          </p:sp>
          <p:sp>
            <p:nvSpPr>
              <p:cNvPr id="9318" name="Rectangle 146"/>
              <p:cNvSpPr>
                <a:spLocks noChangeArrowheads="1"/>
              </p:cNvSpPr>
              <p:nvPr/>
            </p:nvSpPr>
            <p:spPr bwMode="auto">
              <a:xfrm>
                <a:off x="1562388" y="3132222"/>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2</a:t>
                </a:r>
              </a:p>
            </p:txBody>
          </p:sp>
          <p:sp>
            <p:nvSpPr>
              <p:cNvPr id="9319" name="Rectangle 147"/>
              <p:cNvSpPr>
                <a:spLocks noChangeArrowheads="1"/>
              </p:cNvSpPr>
              <p:nvPr/>
            </p:nvSpPr>
            <p:spPr bwMode="auto">
              <a:xfrm>
                <a:off x="1642268" y="3804589"/>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4</a:t>
                </a:r>
              </a:p>
            </p:txBody>
          </p:sp>
          <p:sp>
            <p:nvSpPr>
              <p:cNvPr id="9320" name="Rectangle 148"/>
              <p:cNvSpPr>
                <a:spLocks noChangeArrowheads="1"/>
              </p:cNvSpPr>
              <p:nvPr/>
            </p:nvSpPr>
            <p:spPr bwMode="auto">
              <a:xfrm>
                <a:off x="2174081" y="3083585"/>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5</a:t>
                </a:r>
              </a:p>
            </p:txBody>
          </p:sp>
          <p:sp>
            <p:nvSpPr>
              <p:cNvPr id="9321" name="Rectangle 149"/>
              <p:cNvSpPr>
                <a:spLocks noChangeArrowheads="1"/>
              </p:cNvSpPr>
              <p:nvPr/>
            </p:nvSpPr>
            <p:spPr bwMode="auto">
              <a:xfrm>
                <a:off x="2748407" y="2963947"/>
                <a:ext cx="365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-6</a:t>
                </a:r>
              </a:p>
            </p:txBody>
          </p:sp>
          <p:sp>
            <p:nvSpPr>
              <p:cNvPr id="160" name="Line 22"/>
              <p:cNvSpPr>
                <a:spLocks noChangeShapeType="1"/>
              </p:cNvSpPr>
              <p:nvPr/>
            </p:nvSpPr>
            <p:spPr bwMode="auto">
              <a:xfrm>
                <a:off x="1219200" y="3810000"/>
                <a:ext cx="1219200" cy="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61" name="Line 24"/>
              <p:cNvSpPr>
                <a:spLocks noChangeShapeType="1"/>
              </p:cNvSpPr>
              <p:nvPr/>
            </p:nvSpPr>
            <p:spPr bwMode="auto">
              <a:xfrm flipH="1">
                <a:off x="2438400" y="2743200"/>
                <a:ext cx="1143000" cy="106680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62" name="Line 21"/>
              <p:cNvSpPr>
                <a:spLocks noChangeShapeType="1"/>
              </p:cNvSpPr>
              <p:nvPr/>
            </p:nvSpPr>
            <p:spPr bwMode="auto">
              <a:xfrm>
                <a:off x="1219200" y="2743200"/>
                <a:ext cx="0" cy="106680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63" name="Line 23"/>
              <p:cNvSpPr>
                <a:spLocks noChangeShapeType="1"/>
              </p:cNvSpPr>
              <p:nvPr/>
            </p:nvSpPr>
            <p:spPr bwMode="auto">
              <a:xfrm flipH="1" flipV="1">
                <a:off x="1219200" y="2743200"/>
                <a:ext cx="1219200" cy="106680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64" name="Line 25"/>
              <p:cNvSpPr>
                <a:spLocks noChangeShapeType="1"/>
              </p:cNvSpPr>
              <p:nvPr/>
            </p:nvSpPr>
            <p:spPr bwMode="auto">
              <a:xfrm flipV="1">
                <a:off x="2438400" y="2743200"/>
                <a:ext cx="0" cy="106680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65" name="Line 20"/>
              <p:cNvSpPr>
                <a:spLocks noChangeShapeType="1"/>
              </p:cNvSpPr>
              <p:nvPr/>
            </p:nvSpPr>
            <p:spPr bwMode="auto">
              <a:xfrm>
                <a:off x="2438400" y="2743200"/>
                <a:ext cx="1143000" cy="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66" name="Line 19"/>
              <p:cNvSpPr>
                <a:spLocks noChangeShapeType="1"/>
              </p:cNvSpPr>
              <p:nvPr/>
            </p:nvSpPr>
            <p:spPr bwMode="auto">
              <a:xfrm>
                <a:off x="1219200" y="2743200"/>
                <a:ext cx="1219200" cy="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67" name="Oval 13"/>
              <p:cNvSpPr>
                <a:spLocks noChangeArrowheads="1"/>
              </p:cNvSpPr>
              <p:nvPr/>
            </p:nvSpPr>
            <p:spPr bwMode="auto">
              <a:xfrm>
                <a:off x="990600" y="2514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1</a:t>
                </a:r>
              </a:p>
            </p:txBody>
          </p:sp>
          <p:sp>
            <p:nvSpPr>
              <p:cNvPr id="168" name="Oval 14"/>
              <p:cNvSpPr>
                <a:spLocks noChangeArrowheads="1"/>
              </p:cNvSpPr>
              <p:nvPr/>
            </p:nvSpPr>
            <p:spPr bwMode="auto">
              <a:xfrm>
                <a:off x="2209800" y="2514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2</a:t>
                </a:r>
              </a:p>
            </p:txBody>
          </p:sp>
          <p:sp>
            <p:nvSpPr>
              <p:cNvPr id="169" name="Oval 15"/>
              <p:cNvSpPr>
                <a:spLocks noChangeArrowheads="1"/>
              </p:cNvSpPr>
              <p:nvPr/>
            </p:nvSpPr>
            <p:spPr bwMode="auto">
              <a:xfrm>
                <a:off x="990600" y="35814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a:solidFill>
                      <a:schemeClr val="tx2"/>
                    </a:solidFill>
                    <a:latin typeface="Arial" pitchFamily="34" charset="0"/>
                  </a:rPr>
                  <a:t>4</a:t>
                </a:r>
              </a:p>
            </p:txBody>
          </p:sp>
          <p:sp>
            <p:nvSpPr>
              <p:cNvPr id="170" name="Oval 16"/>
              <p:cNvSpPr>
                <a:spLocks noChangeArrowheads="1"/>
              </p:cNvSpPr>
              <p:nvPr/>
            </p:nvSpPr>
            <p:spPr bwMode="auto">
              <a:xfrm>
                <a:off x="2209800" y="35814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5</a:t>
                </a:r>
              </a:p>
            </p:txBody>
          </p:sp>
          <p:sp>
            <p:nvSpPr>
              <p:cNvPr id="171" name="Oval 17"/>
              <p:cNvSpPr>
                <a:spLocks noChangeArrowheads="1"/>
              </p:cNvSpPr>
              <p:nvPr/>
            </p:nvSpPr>
            <p:spPr bwMode="auto">
              <a:xfrm>
                <a:off x="3352800" y="2514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3</a:t>
                </a:r>
              </a:p>
            </p:txBody>
          </p:sp>
          <p:sp>
            <p:nvSpPr>
              <p:cNvPr id="172" name="Oval 18"/>
              <p:cNvSpPr>
                <a:spLocks noChangeArrowheads="1"/>
              </p:cNvSpPr>
              <p:nvPr/>
            </p:nvSpPr>
            <p:spPr bwMode="auto">
              <a:xfrm>
                <a:off x="3352800" y="35814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6</a:t>
                </a:r>
              </a:p>
            </p:txBody>
          </p:sp>
        </p:grpSp>
      </p:grpSp>
      <p:grpSp>
        <p:nvGrpSpPr>
          <p:cNvPr id="8" name="Group 7"/>
          <p:cNvGrpSpPr/>
          <p:nvPr/>
        </p:nvGrpSpPr>
        <p:grpSpPr>
          <a:xfrm>
            <a:off x="1042019" y="4191000"/>
            <a:ext cx="6958981" cy="2390775"/>
            <a:chOff x="1042019" y="4191000"/>
            <a:chExt cx="6958981" cy="2390775"/>
          </a:xfrm>
        </p:grpSpPr>
        <p:grpSp>
          <p:nvGrpSpPr>
            <p:cNvPr id="9244" name="Group 161"/>
            <p:cNvGrpSpPr>
              <a:grpSpLocks/>
            </p:cNvGrpSpPr>
            <p:nvPr/>
          </p:nvGrpSpPr>
          <p:grpSpPr bwMode="auto">
            <a:xfrm>
              <a:off x="5867400" y="4572000"/>
              <a:ext cx="2133600" cy="2009775"/>
              <a:chOff x="3648" y="1306"/>
              <a:chExt cx="1152" cy="1266"/>
            </a:xfrm>
          </p:grpSpPr>
          <p:sp>
            <p:nvSpPr>
              <p:cNvPr id="9248" name="Rectangle 162"/>
              <p:cNvSpPr>
                <a:spLocks noChangeArrowheads="1"/>
              </p:cNvSpPr>
              <p:nvPr/>
            </p:nvSpPr>
            <p:spPr bwMode="auto">
              <a:xfrm>
                <a:off x="4608" y="236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9249" name="Rectangle 163"/>
              <p:cNvSpPr>
                <a:spLocks noChangeArrowheads="1"/>
              </p:cNvSpPr>
              <p:nvPr/>
            </p:nvSpPr>
            <p:spPr bwMode="auto">
              <a:xfrm>
                <a:off x="4416" y="236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50" name="Rectangle 164"/>
              <p:cNvSpPr>
                <a:spLocks noChangeArrowheads="1"/>
              </p:cNvSpPr>
              <p:nvPr/>
            </p:nvSpPr>
            <p:spPr bwMode="auto">
              <a:xfrm>
                <a:off x="4224" y="236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51" name="Rectangle 165"/>
              <p:cNvSpPr>
                <a:spLocks noChangeArrowheads="1"/>
              </p:cNvSpPr>
              <p:nvPr/>
            </p:nvSpPr>
            <p:spPr bwMode="auto">
              <a:xfrm>
                <a:off x="4032" y="236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52" name="Rectangle 166"/>
              <p:cNvSpPr>
                <a:spLocks noChangeArrowheads="1"/>
              </p:cNvSpPr>
              <p:nvPr/>
            </p:nvSpPr>
            <p:spPr bwMode="auto">
              <a:xfrm>
                <a:off x="3840" y="236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53" name="Rectangle 167"/>
              <p:cNvSpPr>
                <a:spLocks noChangeArrowheads="1"/>
              </p:cNvSpPr>
              <p:nvPr/>
            </p:nvSpPr>
            <p:spPr bwMode="auto">
              <a:xfrm>
                <a:off x="3648" y="2361"/>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54" name="Rectangle 168"/>
              <p:cNvSpPr>
                <a:spLocks noChangeArrowheads="1"/>
              </p:cNvSpPr>
              <p:nvPr/>
            </p:nvSpPr>
            <p:spPr bwMode="auto">
              <a:xfrm>
                <a:off x="4608" y="215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55" name="Rectangle 169"/>
              <p:cNvSpPr>
                <a:spLocks noChangeArrowheads="1"/>
              </p:cNvSpPr>
              <p:nvPr/>
            </p:nvSpPr>
            <p:spPr bwMode="auto">
              <a:xfrm>
                <a:off x="4416" y="215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9256" name="Rectangle 170"/>
              <p:cNvSpPr>
                <a:spLocks noChangeArrowheads="1"/>
              </p:cNvSpPr>
              <p:nvPr/>
            </p:nvSpPr>
            <p:spPr bwMode="auto">
              <a:xfrm>
                <a:off x="4224" y="215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57" name="Rectangle 171"/>
              <p:cNvSpPr>
                <a:spLocks noChangeArrowheads="1"/>
              </p:cNvSpPr>
              <p:nvPr/>
            </p:nvSpPr>
            <p:spPr bwMode="auto">
              <a:xfrm>
                <a:off x="4032" y="215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-6</a:t>
                </a:r>
              </a:p>
            </p:txBody>
          </p:sp>
          <p:sp>
            <p:nvSpPr>
              <p:cNvPr id="9258" name="Rectangle 172"/>
              <p:cNvSpPr>
                <a:spLocks noChangeArrowheads="1"/>
              </p:cNvSpPr>
              <p:nvPr/>
            </p:nvSpPr>
            <p:spPr bwMode="auto">
              <a:xfrm>
                <a:off x="3840" y="215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5</a:t>
                </a:r>
              </a:p>
            </p:txBody>
          </p:sp>
          <p:sp>
            <p:nvSpPr>
              <p:cNvPr id="9259" name="Rectangle 173"/>
              <p:cNvSpPr>
                <a:spLocks noChangeArrowheads="1"/>
              </p:cNvSpPr>
              <p:nvPr/>
            </p:nvSpPr>
            <p:spPr bwMode="auto">
              <a:xfrm>
                <a:off x="3648" y="2150"/>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7</a:t>
                </a:r>
              </a:p>
            </p:txBody>
          </p:sp>
          <p:sp>
            <p:nvSpPr>
              <p:cNvPr id="9260" name="Rectangle 174"/>
              <p:cNvSpPr>
                <a:spLocks noChangeArrowheads="1"/>
              </p:cNvSpPr>
              <p:nvPr/>
            </p:nvSpPr>
            <p:spPr bwMode="auto">
              <a:xfrm>
                <a:off x="4608" y="1939"/>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61" name="Rectangle 175"/>
              <p:cNvSpPr>
                <a:spLocks noChangeArrowheads="1"/>
              </p:cNvSpPr>
              <p:nvPr/>
            </p:nvSpPr>
            <p:spPr bwMode="auto">
              <a:xfrm>
                <a:off x="4416" y="1939"/>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4</a:t>
                </a:r>
              </a:p>
            </p:txBody>
          </p:sp>
          <p:sp>
            <p:nvSpPr>
              <p:cNvPr id="9262" name="Rectangle 176"/>
              <p:cNvSpPr>
                <a:spLocks noChangeArrowheads="1"/>
              </p:cNvSpPr>
              <p:nvPr/>
            </p:nvSpPr>
            <p:spPr bwMode="auto">
              <a:xfrm>
                <a:off x="4224" y="1939"/>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9263" name="Rectangle 177"/>
              <p:cNvSpPr>
                <a:spLocks noChangeArrowheads="1"/>
              </p:cNvSpPr>
              <p:nvPr/>
            </p:nvSpPr>
            <p:spPr bwMode="auto">
              <a:xfrm>
                <a:off x="4032" y="1939"/>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64" name="Rectangle 178"/>
              <p:cNvSpPr>
                <a:spLocks noChangeArrowheads="1"/>
              </p:cNvSpPr>
              <p:nvPr/>
            </p:nvSpPr>
            <p:spPr bwMode="auto">
              <a:xfrm>
                <a:off x="3840" y="1939"/>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65" name="Rectangle 179"/>
              <p:cNvSpPr>
                <a:spLocks noChangeArrowheads="1"/>
              </p:cNvSpPr>
              <p:nvPr/>
            </p:nvSpPr>
            <p:spPr bwMode="auto">
              <a:xfrm>
                <a:off x="3648" y="1939"/>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66" name="Rectangle 180"/>
              <p:cNvSpPr>
                <a:spLocks noChangeArrowheads="1"/>
              </p:cNvSpPr>
              <p:nvPr/>
            </p:nvSpPr>
            <p:spPr bwMode="auto">
              <a:xfrm>
                <a:off x="4608" y="1728"/>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67" name="Rectangle 181"/>
              <p:cNvSpPr>
                <a:spLocks noChangeArrowheads="1"/>
              </p:cNvSpPr>
              <p:nvPr/>
            </p:nvSpPr>
            <p:spPr bwMode="auto">
              <a:xfrm>
                <a:off x="4416" y="1728"/>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68" name="Rectangle 182"/>
              <p:cNvSpPr>
                <a:spLocks noChangeArrowheads="1"/>
              </p:cNvSpPr>
              <p:nvPr/>
            </p:nvSpPr>
            <p:spPr bwMode="auto">
              <a:xfrm>
                <a:off x="4224" y="1728"/>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69" name="Rectangle 183"/>
              <p:cNvSpPr>
                <a:spLocks noChangeArrowheads="1"/>
              </p:cNvSpPr>
              <p:nvPr/>
            </p:nvSpPr>
            <p:spPr bwMode="auto">
              <a:xfrm>
                <a:off x="4032" y="1728"/>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0</a:t>
                </a:r>
              </a:p>
            </p:txBody>
          </p:sp>
          <p:sp>
            <p:nvSpPr>
              <p:cNvPr id="9270" name="Rectangle 184"/>
              <p:cNvSpPr>
                <a:spLocks noChangeArrowheads="1"/>
              </p:cNvSpPr>
              <p:nvPr/>
            </p:nvSpPr>
            <p:spPr bwMode="auto">
              <a:xfrm>
                <a:off x="3840" y="1728"/>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8</a:t>
                </a:r>
              </a:p>
            </p:txBody>
          </p:sp>
          <p:sp>
            <p:nvSpPr>
              <p:cNvPr id="9271" name="Rectangle 185"/>
              <p:cNvSpPr>
                <a:spLocks noChangeArrowheads="1"/>
              </p:cNvSpPr>
              <p:nvPr/>
            </p:nvSpPr>
            <p:spPr bwMode="auto">
              <a:xfrm>
                <a:off x="3648" y="1728"/>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72" name="Rectangle 186"/>
              <p:cNvSpPr>
                <a:spLocks noChangeArrowheads="1"/>
              </p:cNvSpPr>
              <p:nvPr/>
            </p:nvSpPr>
            <p:spPr bwMode="auto">
              <a:xfrm>
                <a:off x="4608" y="1517"/>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73" name="Rectangle 187"/>
              <p:cNvSpPr>
                <a:spLocks noChangeArrowheads="1"/>
              </p:cNvSpPr>
              <p:nvPr/>
            </p:nvSpPr>
            <p:spPr bwMode="auto">
              <a:xfrm>
                <a:off x="4416" y="1517"/>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74" name="Rectangle 188"/>
              <p:cNvSpPr>
                <a:spLocks noChangeArrowheads="1"/>
              </p:cNvSpPr>
              <p:nvPr/>
            </p:nvSpPr>
            <p:spPr bwMode="auto">
              <a:xfrm>
                <a:off x="4224" y="1517"/>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endParaRPr lang="en-US">
                  <a:solidFill>
                    <a:srgbClr val="CC0000"/>
                  </a:solidFill>
                </a:endParaRPr>
              </a:p>
            </p:txBody>
          </p:sp>
          <p:sp>
            <p:nvSpPr>
              <p:cNvPr id="9275" name="Rectangle 189"/>
              <p:cNvSpPr>
                <a:spLocks noChangeArrowheads="1"/>
              </p:cNvSpPr>
              <p:nvPr/>
            </p:nvSpPr>
            <p:spPr bwMode="auto">
              <a:xfrm>
                <a:off x="4032" y="1517"/>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76" name="Rectangle 190"/>
              <p:cNvSpPr>
                <a:spLocks noChangeArrowheads="1"/>
              </p:cNvSpPr>
              <p:nvPr/>
            </p:nvSpPr>
            <p:spPr bwMode="auto">
              <a:xfrm>
                <a:off x="3840" y="1517"/>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9277" name="Rectangle 191"/>
              <p:cNvSpPr>
                <a:spLocks noChangeArrowheads="1"/>
              </p:cNvSpPr>
              <p:nvPr/>
            </p:nvSpPr>
            <p:spPr bwMode="auto">
              <a:xfrm>
                <a:off x="3648" y="1517"/>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78" name="Rectangle 192"/>
              <p:cNvSpPr>
                <a:spLocks noChangeArrowheads="1"/>
              </p:cNvSpPr>
              <p:nvPr/>
            </p:nvSpPr>
            <p:spPr bwMode="auto">
              <a:xfrm>
                <a:off x="4608" y="1306"/>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79" name="Rectangle 193"/>
              <p:cNvSpPr>
                <a:spLocks noChangeArrowheads="1"/>
              </p:cNvSpPr>
              <p:nvPr/>
            </p:nvSpPr>
            <p:spPr bwMode="auto">
              <a:xfrm>
                <a:off x="4416" y="1306"/>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3</a:t>
                </a:r>
              </a:p>
            </p:txBody>
          </p:sp>
          <p:sp>
            <p:nvSpPr>
              <p:cNvPr id="9280" name="Rectangle 194"/>
              <p:cNvSpPr>
                <a:spLocks noChangeArrowheads="1"/>
              </p:cNvSpPr>
              <p:nvPr/>
            </p:nvSpPr>
            <p:spPr bwMode="auto">
              <a:xfrm>
                <a:off x="4224" y="1306"/>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9</a:t>
                </a:r>
              </a:p>
            </p:txBody>
          </p:sp>
          <p:sp>
            <p:nvSpPr>
              <p:cNvPr id="9281" name="Rectangle 195"/>
              <p:cNvSpPr>
                <a:spLocks noChangeArrowheads="1"/>
              </p:cNvSpPr>
              <p:nvPr/>
            </p:nvSpPr>
            <p:spPr bwMode="auto">
              <a:xfrm>
                <a:off x="4032" y="1306"/>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sym typeface="Symbol" pitchFamily="18" charset="2"/>
                  </a:rPr>
                  <a:t></a:t>
                </a:r>
              </a:p>
            </p:txBody>
          </p:sp>
          <p:sp>
            <p:nvSpPr>
              <p:cNvPr id="9282" name="Rectangle 196"/>
              <p:cNvSpPr>
                <a:spLocks noChangeArrowheads="1"/>
              </p:cNvSpPr>
              <p:nvPr/>
            </p:nvSpPr>
            <p:spPr bwMode="auto">
              <a:xfrm>
                <a:off x="3840" y="1306"/>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t>6</a:t>
                </a:r>
              </a:p>
            </p:txBody>
          </p:sp>
          <p:sp>
            <p:nvSpPr>
              <p:cNvPr id="9283" name="Rectangle 197"/>
              <p:cNvSpPr>
                <a:spLocks noChangeArrowheads="1"/>
              </p:cNvSpPr>
              <p:nvPr/>
            </p:nvSpPr>
            <p:spPr bwMode="auto">
              <a:xfrm>
                <a:off x="3648" y="1306"/>
                <a:ext cx="192"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p>
                <a:pPr eaLnBrk="1" hangingPunct="1">
                  <a:spcBef>
                    <a:spcPct val="20000"/>
                  </a:spcBef>
                  <a:buFontTx/>
                  <a:buNone/>
                </a:pPr>
                <a:r>
                  <a:rPr lang="en-US">
                    <a:solidFill>
                      <a:srgbClr val="CC0000"/>
                    </a:solidFill>
                  </a:rPr>
                  <a:t>0</a:t>
                </a:r>
              </a:p>
            </p:txBody>
          </p:sp>
          <p:sp>
            <p:nvSpPr>
              <p:cNvPr id="9284" name="Line 198"/>
              <p:cNvSpPr>
                <a:spLocks noChangeShapeType="1"/>
              </p:cNvSpPr>
              <p:nvPr/>
            </p:nvSpPr>
            <p:spPr bwMode="auto">
              <a:xfrm>
                <a:off x="3648" y="1306"/>
                <a:ext cx="115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285" name="Line 199"/>
              <p:cNvSpPr>
                <a:spLocks noChangeShapeType="1"/>
              </p:cNvSpPr>
              <p:nvPr/>
            </p:nvSpPr>
            <p:spPr bwMode="auto">
              <a:xfrm>
                <a:off x="3648" y="1517"/>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286" name="Line 200"/>
              <p:cNvSpPr>
                <a:spLocks noChangeShapeType="1"/>
              </p:cNvSpPr>
              <p:nvPr/>
            </p:nvSpPr>
            <p:spPr bwMode="auto">
              <a:xfrm>
                <a:off x="3648" y="1728"/>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287" name="Line 201"/>
              <p:cNvSpPr>
                <a:spLocks noChangeShapeType="1"/>
              </p:cNvSpPr>
              <p:nvPr/>
            </p:nvSpPr>
            <p:spPr bwMode="auto">
              <a:xfrm>
                <a:off x="3648" y="1939"/>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288" name="Line 202"/>
              <p:cNvSpPr>
                <a:spLocks noChangeShapeType="1"/>
              </p:cNvSpPr>
              <p:nvPr/>
            </p:nvSpPr>
            <p:spPr bwMode="auto">
              <a:xfrm>
                <a:off x="3648" y="2150"/>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289" name="Line 203"/>
              <p:cNvSpPr>
                <a:spLocks noChangeShapeType="1"/>
              </p:cNvSpPr>
              <p:nvPr/>
            </p:nvSpPr>
            <p:spPr bwMode="auto">
              <a:xfrm>
                <a:off x="3648" y="2361"/>
                <a:ext cx="11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290" name="Line 204"/>
              <p:cNvSpPr>
                <a:spLocks noChangeShapeType="1"/>
              </p:cNvSpPr>
              <p:nvPr/>
            </p:nvSpPr>
            <p:spPr bwMode="auto">
              <a:xfrm>
                <a:off x="3648" y="2572"/>
                <a:ext cx="115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291" name="Line 205"/>
              <p:cNvSpPr>
                <a:spLocks noChangeShapeType="1"/>
              </p:cNvSpPr>
              <p:nvPr/>
            </p:nvSpPr>
            <p:spPr bwMode="auto">
              <a:xfrm>
                <a:off x="3648" y="1306"/>
                <a:ext cx="0" cy="1266"/>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292" name="Line 206"/>
              <p:cNvSpPr>
                <a:spLocks noChangeShapeType="1"/>
              </p:cNvSpPr>
              <p:nvPr/>
            </p:nvSpPr>
            <p:spPr bwMode="auto">
              <a:xfrm>
                <a:off x="3840" y="1306"/>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293" name="Line 207"/>
              <p:cNvSpPr>
                <a:spLocks noChangeShapeType="1"/>
              </p:cNvSpPr>
              <p:nvPr/>
            </p:nvSpPr>
            <p:spPr bwMode="auto">
              <a:xfrm>
                <a:off x="4032" y="1306"/>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294" name="Line 208"/>
              <p:cNvSpPr>
                <a:spLocks noChangeShapeType="1"/>
              </p:cNvSpPr>
              <p:nvPr/>
            </p:nvSpPr>
            <p:spPr bwMode="auto">
              <a:xfrm>
                <a:off x="4224" y="1306"/>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295" name="Line 209"/>
              <p:cNvSpPr>
                <a:spLocks noChangeShapeType="1"/>
              </p:cNvSpPr>
              <p:nvPr/>
            </p:nvSpPr>
            <p:spPr bwMode="auto">
              <a:xfrm>
                <a:off x="4416" y="1306"/>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296" name="Line 210"/>
              <p:cNvSpPr>
                <a:spLocks noChangeShapeType="1"/>
              </p:cNvSpPr>
              <p:nvPr/>
            </p:nvSpPr>
            <p:spPr bwMode="auto">
              <a:xfrm>
                <a:off x="4608" y="1306"/>
                <a:ext cx="0" cy="126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297" name="Line 211"/>
              <p:cNvSpPr>
                <a:spLocks noChangeShapeType="1"/>
              </p:cNvSpPr>
              <p:nvPr/>
            </p:nvSpPr>
            <p:spPr bwMode="auto">
              <a:xfrm>
                <a:off x="4800" y="1306"/>
                <a:ext cx="0" cy="1266"/>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sp>
          <p:nvSpPr>
            <p:cNvPr id="9245" name="Text Box 212"/>
            <p:cNvSpPr txBox="1">
              <a:spLocks noChangeArrowheads="1"/>
            </p:cNvSpPr>
            <p:nvPr/>
          </p:nvSpPr>
          <p:spPr bwMode="auto">
            <a:xfrm>
              <a:off x="5788025" y="4191000"/>
              <a:ext cx="2174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a:solidFill>
                    <a:schemeClr val="tx2"/>
                  </a:solidFill>
                  <a:latin typeface="Arial" pitchFamily="34" charset="0"/>
                </a:rPr>
                <a:t> 1     2    3     4    5    6</a:t>
              </a:r>
            </a:p>
          </p:txBody>
        </p:sp>
        <p:sp>
          <p:nvSpPr>
            <p:cNvPr id="9246" name="Text Box 213"/>
            <p:cNvSpPr txBox="1">
              <a:spLocks noChangeArrowheads="1"/>
            </p:cNvSpPr>
            <p:nvPr/>
          </p:nvSpPr>
          <p:spPr bwMode="auto">
            <a:xfrm>
              <a:off x="5410200" y="4502150"/>
              <a:ext cx="296863" cy="207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35000"/>
                </a:lnSpc>
                <a:buFontTx/>
                <a:buNone/>
              </a:pPr>
              <a:r>
                <a:rPr lang="en-US">
                  <a:solidFill>
                    <a:schemeClr val="tx2"/>
                  </a:solidFill>
                  <a:latin typeface="Arial" pitchFamily="34" charset="0"/>
                </a:rPr>
                <a:t>1</a:t>
              </a:r>
            </a:p>
            <a:p>
              <a:pPr algn="ctr" eaLnBrk="1" hangingPunct="1">
                <a:lnSpc>
                  <a:spcPct val="135000"/>
                </a:lnSpc>
                <a:buFontTx/>
                <a:buNone/>
              </a:pPr>
              <a:r>
                <a:rPr lang="en-US">
                  <a:solidFill>
                    <a:schemeClr val="tx2"/>
                  </a:solidFill>
                  <a:latin typeface="Arial" pitchFamily="34" charset="0"/>
                </a:rPr>
                <a:t>2</a:t>
              </a:r>
            </a:p>
            <a:p>
              <a:pPr algn="ctr" eaLnBrk="1" hangingPunct="1">
                <a:lnSpc>
                  <a:spcPct val="135000"/>
                </a:lnSpc>
                <a:buFontTx/>
                <a:buNone/>
              </a:pPr>
              <a:r>
                <a:rPr lang="en-US">
                  <a:solidFill>
                    <a:schemeClr val="tx2"/>
                  </a:solidFill>
                  <a:latin typeface="Arial" pitchFamily="34" charset="0"/>
                </a:rPr>
                <a:t>3</a:t>
              </a:r>
            </a:p>
            <a:p>
              <a:pPr algn="ctr" eaLnBrk="1" hangingPunct="1">
                <a:lnSpc>
                  <a:spcPct val="135000"/>
                </a:lnSpc>
                <a:buFontTx/>
                <a:buNone/>
              </a:pPr>
              <a:r>
                <a:rPr lang="en-US">
                  <a:solidFill>
                    <a:schemeClr val="tx2"/>
                  </a:solidFill>
                  <a:latin typeface="Arial" pitchFamily="34" charset="0"/>
                </a:rPr>
                <a:t>4</a:t>
              </a:r>
            </a:p>
            <a:p>
              <a:pPr algn="ctr" eaLnBrk="1" hangingPunct="1">
                <a:lnSpc>
                  <a:spcPct val="135000"/>
                </a:lnSpc>
                <a:buFontTx/>
                <a:buNone/>
              </a:pPr>
              <a:r>
                <a:rPr lang="en-US">
                  <a:solidFill>
                    <a:schemeClr val="tx2"/>
                  </a:solidFill>
                  <a:latin typeface="Arial" pitchFamily="34" charset="0"/>
                </a:rPr>
                <a:t>5</a:t>
              </a:r>
            </a:p>
            <a:p>
              <a:pPr algn="ctr" eaLnBrk="1" hangingPunct="1">
                <a:lnSpc>
                  <a:spcPct val="135000"/>
                </a:lnSpc>
                <a:buFontTx/>
                <a:buNone/>
              </a:pPr>
              <a:r>
                <a:rPr lang="en-US">
                  <a:solidFill>
                    <a:schemeClr val="tx2"/>
                  </a:solidFill>
                  <a:latin typeface="Arial" pitchFamily="34" charset="0"/>
                </a:rPr>
                <a:t>6</a:t>
              </a:r>
            </a:p>
          </p:txBody>
        </p:sp>
        <p:sp>
          <p:nvSpPr>
            <p:cNvPr id="9247" name="Text Box 214"/>
            <p:cNvSpPr txBox="1">
              <a:spLocks noChangeArrowheads="1"/>
            </p:cNvSpPr>
            <p:nvPr/>
          </p:nvSpPr>
          <p:spPr bwMode="auto">
            <a:xfrm>
              <a:off x="4724400" y="5121275"/>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A =</a:t>
              </a:r>
            </a:p>
          </p:txBody>
        </p:sp>
        <p:grpSp>
          <p:nvGrpSpPr>
            <p:cNvPr id="6" name="Group 5"/>
            <p:cNvGrpSpPr/>
            <p:nvPr/>
          </p:nvGrpSpPr>
          <p:grpSpPr>
            <a:xfrm>
              <a:off x="1042019" y="4738688"/>
              <a:ext cx="2883869" cy="1704975"/>
              <a:chOff x="1042019" y="4738688"/>
              <a:chExt cx="2883869" cy="1704975"/>
            </a:xfrm>
          </p:grpSpPr>
          <p:sp>
            <p:nvSpPr>
              <p:cNvPr id="9236" name="Rectangle 153"/>
              <p:cNvSpPr>
                <a:spLocks noChangeArrowheads="1"/>
              </p:cNvSpPr>
              <p:nvPr/>
            </p:nvSpPr>
            <p:spPr bwMode="auto">
              <a:xfrm>
                <a:off x="1793988" y="47386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6</a:t>
                </a:r>
              </a:p>
            </p:txBody>
          </p:sp>
          <p:sp>
            <p:nvSpPr>
              <p:cNvPr id="9237" name="Rectangle 154"/>
              <p:cNvSpPr>
                <a:spLocks noChangeArrowheads="1"/>
              </p:cNvSpPr>
              <p:nvPr/>
            </p:nvSpPr>
            <p:spPr bwMode="auto">
              <a:xfrm>
                <a:off x="2996406" y="47386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8</a:t>
                </a:r>
              </a:p>
            </p:txBody>
          </p:sp>
          <p:sp>
            <p:nvSpPr>
              <p:cNvPr id="9238" name="Rectangle 155"/>
              <p:cNvSpPr>
                <a:spLocks noChangeArrowheads="1"/>
              </p:cNvSpPr>
              <p:nvPr/>
            </p:nvSpPr>
            <p:spPr bwMode="auto">
              <a:xfrm>
                <a:off x="2487612" y="546496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5</a:t>
                </a:r>
              </a:p>
            </p:txBody>
          </p:sp>
          <p:sp>
            <p:nvSpPr>
              <p:cNvPr id="9239" name="Rectangle 156"/>
              <p:cNvSpPr>
                <a:spLocks noChangeArrowheads="1"/>
              </p:cNvSpPr>
              <p:nvPr/>
            </p:nvSpPr>
            <p:spPr bwMode="auto">
              <a:xfrm>
                <a:off x="2779712" y="5400274"/>
                <a:ext cx="365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-6</a:t>
                </a:r>
              </a:p>
            </p:txBody>
          </p:sp>
          <p:sp>
            <p:nvSpPr>
              <p:cNvPr id="9240" name="Rectangle 157"/>
              <p:cNvSpPr>
                <a:spLocks noChangeArrowheads="1"/>
              </p:cNvSpPr>
              <p:nvPr/>
            </p:nvSpPr>
            <p:spPr bwMode="auto">
              <a:xfrm>
                <a:off x="1885950" y="5268913"/>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7</a:t>
                </a:r>
              </a:p>
            </p:txBody>
          </p:sp>
          <p:sp>
            <p:nvSpPr>
              <p:cNvPr id="9241" name="Rectangle 158"/>
              <p:cNvSpPr>
                <a:spLocks noChangeArrowheads="1"/>
              </p:cNvSpPr>
              <p:nvPr/>
            </p:nvSpPr>
            <p:spPr bwMode="auto">
              <a:xfrm>
                <a:off x="1680368" y="5536799"/>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3</a:t>
                </a:r>
              </a:p>
            </p:txBody>
          </p:sp>
          <p:sp>
            <p:nvSpPr>
              <p:cNvPr id="9242" name="Rectangle 159"/>
              <p:cNvSpPr>
                <a:spLocks noChangeArrowheads="1"/>
              </p:cNvSpPr>
              <p:nvPr/>
            </p:nvSpPr>
            <p:spPr bwMode="auto">
              <a:xfrm>
                <a:off x="1042019" y="545623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9</a:t>
                </a:r>
              </a:p>
            </p:txBody>
          </p:sp>
          <p:sp>
            <p:nvSpPr>
              <p:cNvPr id="9243" name="Rectangle 160"/>
              <p:cNvSpPr>
                <a:spLocks noChangeArrowheads="1"/>
              </p:cNvSpPr>
              <p:nvPr/>
            </p:nvSpPr>
            <p:spPr bwMode="auto">
              <a:xfrm>
                <a:off x="1660968" y="6107113"/>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4</a:t>
                </a:r>
              </a:p>
            </p:txBody>
          </p:sp>
          <p:sp>
            <p:nvSpPr>
              <p:cNvPr id="174" name="Freeform 46"/>
              <p:cNvSpPr>
                <a:spLocks/>
              </p:cNvSpPr>
              <p:nvPr/>
            </p:nvSpPr>
            <p:spPr bwMode="auto">
              <a:xfrm>
                <a:off x="1544638" y="5222875"/>
                <a:ext cx="873125" cy="768350"/>
              </a:xfrm>
              <a:custGeom>
                <a:avLst/>
                <a:gdLst>
                  <a:gd name="T0" fmla="*/ 550 w 550"/>
                  <a:gd name="T1" fmla="*/ 484 h 484"/>
                  <a:gd name="T2" fmla="*/ 358 w 550"/>
                  <a:gd name="T3" fmla="*/ 245 h 484"/>
                  <a:gd name="T4" fmla="*/ 0 w 550"/>
                  <a:gd name="T5" fmla="*/ 0 h 484"/>
                  <a:gd name="T6" fmla="*/ 0 60000 65536"/>
                  <a:gd name="T7" fmla="*/ 0 60000 65536"/>
                  <a:gd name="T8" fmla="*/ 0 60000 65536"/>
                </a:gdLst>
                <a:ahLst/>
                <a:cxnLst>
                  <a:cxn ang="T6">
                    <a:pos x="T0" y="T1"/>
                  </a:cxn>
                  <a:cxn ang="T7">
                    <a:pos x="T2" y="T3"/>
                  </a:cxn>
                  <a:cxn ang="T8">
                    <a:pos x="T4" y="T5"/>
                  </a:cxn>
                </a:cxnLst>
                <a:rect l="0" t="0" r="r" b="b"/>
                <a:pathLst>
                  <a:path w="550" h="484">
                    <a:moveTo>
                      <a:pt x="550" y="484"/>
                    </a:moveTo>
                    <a:cubicBezTo>
                      <a:pt x="518" y="444"/>
                      <a:pt x="450" y="326"/>
                      <a:pt x="358" y="245"/>
                    </a:cubicBezTo>
                    <a:cubicBezTo>
                      <a:pt x="266" y="164"/>
                      <a:pt x="75" y="51"/>
                      <a:pt x="0" y="0"/>
                    </a:cubicBezTo>
                  </a:path>
                </a:pathLst>
              </a:custGeom>
              <a:noFill/>
              <a:ln w="38100" cap="flat" cmpd="sng">
                <a:solidFill>
                  <a:schemeClr val="accent2"/>
                </a:solidFill>
                <a:prstDash val="solid"/>
                <a:round/>
                <a:headEnd type="none" w="med" len="me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spAutoFit/>
              </a:bodyPr>
              <a:lstStyle/>
              <a:p>
                <a:endParaRPr lang="en-CA"/>
              </a:p>
            </p:txBody>
          </p:sp>
          <p:sp>
            <p:nvSpPr>
              <p:cNvPr id="175" name="Line 31"/>
              <p:cNvSpPr>
                <a:spLocks noChangeShapeType="1"/>
              </p:cNvSpPr>
              <p:nvPr/>
            </p:nvSpPr>
            <p:spPr bwMode="auto">
              <a:xfrm>
                <a:off x="1295400" y="6172200"/>
                <a:ext cx="990600" cy="0"/>
              </a:xfrm>
              <a:prstGeom prst="line">
                <a:avLst/>
              </a:prstGeom>
              <a:noFill/>
              <a:ln w="38100">
                <a:solidFill>
                  <a:schemeClr val="accent2"/>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176" name="Freeform 32"/>
              <p:cNvSpPr>
                <a:spLocks/>
              </p:cNvSpPr>
              <p:nvPr/>
            </p:nvSpPr>
            <p:spPr bwMode="auto">
              <a:xfrm>
                <a:off x="2514600" y="5286375"/>
                <a:ext cx="963613" cy="885825"/>
              </a:xfrm>
              <a:custGeom>
                <a:avLst/>
                <a:gdLst>
                  <a:gd name="T0" fmla="*/ 607 w 607"/>
                  <a:gd name="T1" fmla="*/ 0 h 558"/>
                  <a:gd name="T2" fmla="*/ 0 w 607"/>
                  <a:gd name="T3" fmla="*/ 558 h 558"/>
                  <a:gd name="T4" fmla="*/ 0 60000 65536"/>
                  <a:gd name="T5" fmla="*/ 0 60000 65536"/>
                </a:gdLst>
                <a:ahLst/>
                <a:cxnLst>
                  <a:cxn ang="T4">
                    <a:pos x="T0" y="T1"/>
                  </a:cxn>
                  <a:cxn ang="T5">
                    <a:pos x="T2" y="T3"/>
                  </a:cxn>
                </a:cxnLst>
                <a:rect l="0" t="0" r="r" b="b"/>
                <a:pathLst>
                  <a:path w="607" h="558">
                    <a:moveTo>
                      <a:pt x="607" y="0"/>
                    </a:moveTo>
                    <a:lnTo>
                      <a:pt x="0" y="558"/>
                    </a:lnTo>
                  </a:path>
                </a:pathLst>
              </a:custGeom>
              <a:noFill/>
              <a:ln w="38100" cap="flat" cmpd="sng">
                <a:solidFill>
                  <a:schemeClr val="accent2"/>
                </a:solidFill>
                <a:prstDash val="solid"/>
                <a:round/>
                <a:headEnd type="triangl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177" name="Line 33"/>
              <p:cNvSpPr>
                <a:spLocks noChangeShapeType="1"/>
              </p:cNvSpPr>
              <p:nvPr/>
            </p:nvSpPr>
            <p:spPr bwMode="auto">
              <a:xfrm>
                <a:off x="1295400" y="5334000"/>
                <a:ext cx="0" cy="609600"/>
              </a:xfrm>
              <a:prstGeom prst="line">
                <a:avLst/>
              </a:prstGeom>
              <a:noFill/>
              <a:ln w="38100">
                <a:solidFill>
                  <a:schemeClr val="accent2"/>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178" name="Freeform 34"/>
              <p:cNvSpPr>
                <a:spLocks/>
              </p:cNvSpPr>
              <p:nvPr/>
            </p:nvSpPr>
            <p:spPr bwMode="auto">
              <a:xfrm>
                <a:off x="1419225" y="5338763"/>
                <a:ext cx="903288" cy="725488"/>
              </a:xfrm>
              <a:custGeom>
                <a:avLst/>
                <a:gdLst>
                  <a:gd name="T0" fmla="*/ 569 w 569"/>
                  <a:gd name="T1" fmla="*/ 457 h 457"/>
                  <a:gd name="T2" fmla="*/ 232 w 569"/>
                  <a:gd name="T3" fmla="*/ 305 h 457"/>
                  <a:gd name="T4" fmla="*/ 0 w 569"/>
                  <a:gd name="T5" fmla="*/ 0 h 457"/>
                  <a:gd name="T6" fmla="*/ 0 60000 65536"/>
                  <a:gd name="T7" fmla="*/ 0 60000 65536"/>
                  <a:gd name="T8" fmla="*/ 0 60000 65536"/>
                </a:gdLst>
                <a:ahLst/>
                <a:cxnLst>
                  <a:cxn ang="T6">
                    <a:pos x="T0" y="T1"/>
                  </a:cxn>
                  <a:cxn ang="T7">
                    <a:pos x="T2" y="T3"/>
                  </a:cxn>
                  <a:cxn ang="T8">
                    <a:pos x="T4" y="T5"/>
                  </a:cxn>
                </a:cxnLst>
                <a:rect l="0" t="0" r="r" b="b"/>
                <a:pathLst>
                  <a:path w="569" h="457">
                    <a:moveTo>
                      <a:pt x="569" y="457"/>
                    </a:moveTo>
                    <a:cubicBezTo>
                      <a:pt x="513" y="432"/>
                      <a:pt x="327" y="381"/>
                      <a:pt x="232" y="305"/>
                    </a:cubicBezTo>
                    <a:cubicBezTo>
                      <a:pt x="137" y="229"/>
                      <a:pt x="48" y="64"/>
                      <a:pt x="0" y="0"/>
                    </a:cubicBezTo>
                  </a:path>
                </a:pathLst>
              </a:custGeom>
              <a:noFill/>
              <a:ln w="38100" cap="flat" cmpd="sng">
                <a:solidFill>
                  <a:schemeClr val="accent2"/>
                </a:solidFill>
                <a:prstDash val="solid"/>
                <a:round/>
                <a:headEnd type="triangl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179" name="Freeform 35"/>
              <p:cNvSpPr>
                <a:spLocks/>
              </p:cNvSpPr>
              <p:nvPr/>
            </p:nvSpPr>
            <p:spPr bwMode="auto">
              <a:xfrm>
                <a:off x="2511425" y="5370513"/>
                <a:ext cx="3175" cy="801688"/>
              </a:xfrm>
              <a:custGeom>
                <a:avLst/>
                <a:gdLst>
                  <a:gd name="T0" fmla="*/ 2 w 2"/>
                  <a:gd name="T1" fmla="*/ 505 h 505"/>
                  <a:gd name="T2" fmla="*/ 0 w 2"/>
                  <a:gd name="T3" fmla="*/ 0 h 505"/>
                  <a:gd name="T4" fmla="*/ 0 60000 65536"/>
                  <a:gd name="T5" fmla="*/ 0 60000 65536"/>
                </a:gdLst>
                <a:ahLst/>
                <a:cxnLst>
                  <a:cxn ang="T4">
                    <a:pos x="T0" y="T1"/>
                  </a:cxn>
                  <a:cxn ang="T5">
                    <a:pos x="T2" y="T3"/>
                  </a:cxn>
                </a:cxnLst>
                <a:rect l="0" t="0" r="r" b="b"/>
                <a:pathLst>
                  <a:path w="2" h="505">
                    <a:moveTo>
                      <a:pt x="2" y="505"/>
                    </a:moveTo>
                    <a:lnTo>
                      <a:pt x="0" y="0"/>
                    </a:lnTo>
                  </a:path>
                </a:pathLst>
              </a:custGeom>
              <a:noFill/>
              <a:ln w="38100" cap="flat" cmpd="sng">
                <a:solidFill>
                  <a:schemeClr val="accent2"/>
                </a:solidFill>
                <a:prstDash val="solid"/>
                <a:round/>
                <a:headEnd type="none" w="med" len="me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180" name="Freeform 36"/>
              <p:cNvSpPr>
                <a:spLocks/>
              </p:cNvSpPr>
              <p:nvPr/>
            </p:nvSpPr>
            <p:spPr bwMode="auto">
              <a:xfrm>
                <a:off x="2784475" y="5106988"/>
                <a:ext cx="873125" cy="1588"/>
              </a:xfrm>
              <a:custGeom>
                <a:avLst/>
                <a:gdLst>
                  <a:gd name="T0" fmla="*/ 0 w 550"/>
                  <a:gd name="T1" fmla="*/ 1 h 1"/>
                  <a:gd name="T2" fmla="*/ 550 w 550"/>
                  <a:gd name="T3" fmla="*/ 0 h 1"/>
                  <a:gd name="T4" fmla="*/ 0 60000 65536"/>
                  <a:gd name="T5" fmla="*/ 0 60000 65536"/>
                </a:gdLst>
                <a:ahLst/>
                <a:cxnLst>
                  <a:cxn ang="T4">
                    <a:pos x="T0" y="T1"/>
                  </a:cxn>
                  <a:cxn ang="T5">
                    <a:pos x="T2" y="T3"/>
                  </a:cxn>
                </a:cxnLst>
                <a:rect l="0" t="0" r="r" b="b"/>
                <a:pathLst>
                  <a:path w="550" h="1">
                    <a:moveTo>
                      <a:pt x="0" y="1"/>
                    </a:moveTo>
                    <a:lnTo>
                      <a:pt x="550" y="0"/>
                    </a:lnTo>
                  </a:path>
                </a:pathLst>
              </a:custGeom>
              <a:noFill/>
              <a:ln w="38100" cap="flat" cmpd="sng">
                <a:solidFill>
                  <a:schemeClr val="accent2"/>
                </a:solidFill>
                <a:prstDash val="solid"/>
                <a:round/>
                <a:headEnd type="triangl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181" name="Line 37"/>
              <p:cNvSpPr>
                <a:spLocks noChangeShapeType="1"/>
              </p:cNvSpPr>
              <p:nvPr/>
            </p:nvSpPr>
            <p:spPr bwMode="auto">
              <a:xfrm>
                <a:off x="1295400" y="5105400"/>
                <a:ext cx="990600" cy="0"/>
              </a:xfrm>
              <a:prstGeom prst="line">
                <a:avLst/>
              </a:prstGeom>
              <a:noFill/>
              <a:ln w="38100">
                <a:solidFill>
                  <a:schemeClr val="accent2"/>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182" name="Oval 38"/>
              <p:cNvSpPr>
                <a:spLocks noChangeArrowheads="1"/>
              </p:cNvSpPr>
              <p:nvPr/>
            </p:nvSpPr>
            <p:spPr bwMode="auto">
              <a:xfrm>
                <a:off x="1066800" y="48768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1</a:t>
                </a:r>
              </a:p>
            </p:txBody>
          </p:sp>
          <p:sp>
            <p:nvSpPr>
              <p:cNvPr id="183" name="Oval 39"/>
              <p:cNvSpPr>
                <a:spLocks noChangeArrowheads="1"/>
              </p:cNvSpPr>
              <p:nvPr/>
            </p:nvSpPr>
            <p:spPr bwMode="auto">
              <a:xfrm>
                <a:off x="2286000" y="48768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2</a:t>
                </a:r>
              </a:p>
            </p:txBody>
          </p:sp>
          <p:sp>
            <p:nvSpPr>
              <p:cNvPr id="184" name="Oval 40"/>
              <p:cNvSpPr>
                <a:spLocks noChangeArrowheads="1"/>
              </p:cNvSpPr>
              <p:nvPr/>
            </p:nvSpPr>
            <p:spPr bwMode="auto">
              <a:xfrm>
                <a:off x="1066800" y="5943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a:solidFill>
                      <a:schemeClr val="tx2"/>
                    </a:solidFill>
                    <a:latin typeface="Arial" pitchFamily="34" charset="0"/>
                  </a:rPr>
                  <a:t>4</a:t>
                </a:r>
              </a:p>
            </p:txBody>
          </p:sp>
          <p:sp>
            <p:nvSpPr>
              <p:cNvPr id="185" name="Oval 41"/>
              <p:cNvSpPr>
                <a:spLocks noChangeArrowheads="1"/>
              </p:cNvSpPr>
              <p:nvPr/>
            </p:nvSpPr>
            <p:spPr bwMode="auto">
              <a:xfrm>
                <a:off x="2286000" y="5943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5</a:t>
                </a:r>
              </a:p>
            </p:txBody>
          </p:sp>
          <p:sp>
            <p:nvSpPr>
              <p:cNvPr id="186" name="Oval 42"/>
              <p:cNvSpPr>
                <a:spLocks noChangeArrowheads="1"/>
              </p:cNvSpPr>
              <p:nvPr/>
            </p:nvSpPr>
            <p:spPr bwMode="auto">
              <a:xfrm>
                <a:off x="3429000" y="48768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3</a:t>
                </a:r>
              </a:p>
            </p:txBody>
          </p:sp>
          <p:sp>
            <p:nvSpPr>
              <p:cNvPr id="187" name="Oval 43"/>
              <p:cNvSpPr>
                <a:spLocks noChangeArrowheads="1"/>
              </p:cNvSpPr>
              <p:nvPr/>
            </p:nvSpPr>
            <p:spPr bwMode="auto">
              <a:xfrm>
                <a:off x="3429000" y="5943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6</a:t>
                </a:r>
              </a:p>
            </p:txBody>
          </p:sp>
        </p:gr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99330"/>
                                        </p:tgtEl>
                                        <p:attrNameLst>
                                          <p:attrName>style.visibility</p:attrName>
                                        </p:attrNameLst>
                                      </p:cBhvr>
                                      <p:to>
                                        <p:strVal val="visible"/>
                                      </p:to>
                                    </p:set>
                                    <p:anim calcmode="lin" valueType="num">
                                      <p:cBhvr>
                                        <p:cTn id="7" dur="500" fill="hold"/>
                                        <p:tgtEl>
                                          <p:spTgt spid="99330"/>
                                        </p:tgtEl>
                                        <p:attrNameLst>
                                          <p:attrName>ppt_w</p:attrName>
                                        </p:attrNameLst>
                                      </p:cBhvr>
                                      <p:tavLst>
                                        <p:tav tm="0">
                                          <p:val>
                                            <p:fltVal val="0"/>
                                          </p:val>
                                        </p:tav>
                                        <p:tav tm="100000">
                                          <p:val>
                                            <p:strVal val="#ppt_w"/>
                                          </p:val>
                                        </p:tav>
                                      </p:tavLst>
                                    </p:anim>
                                    <p:anim calcmode="lin" valueType="num">
                                      <p:cBhvr>
                                        <p:cTn id="8" dur="500" fill="hold"/>
                                        <p:tgtEl>
                                          <p:spTgt spid="99330"/>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8" fill="hold" nodeType="afterEffect">
                                  <p:stCondLst>
                                    <p:cond delay="0"/>
                                  </p:stCondLst>
                                  <p:childTnLst>
                                    <p:set>
                                      <p:cBhvr>
                                        <p:cTn id="11" dur="1" fill="hold">
                                          <p:stCondLst>
                                            <p:cond delay="0"/>
                                          </p:stCondLst>
                                        </p:cTn>
                                        <p:tgtEl>
                                          <p:spTgt spid="99400"/>
                                        </p:tgtEl>
                                        <p:attrNameLst>
                                          <p:attrName>style.visibility</p:attrName>
                                        </p:attrNameLst>
                                      </p:cBhvr>
                                      <p:to>
                                        <p:strVal val="visible"/>
                                      </p:to>
                                    </p:set>
                                    <p:animEffect transition="in" filter="wipe(left)">
                                      <p:cBhvr>
                                        <p:cTn id="12" dur="500"/>
                                        <p:tgtEl>
                                          <p:spTgt spid="994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(Weighted) Adjacency List Structure</a:t>
            </a:r>
          </a:p>
        </p:txBody>
      </p:sp>
      <p:graphicFrame>
        <p:nvGraphicFramePr>
          <p:cNvPr id="100355" name="Object 3"/>
          <p:cNvGraphicFramePr>
            <a:graphicFrameLocks noChangeAspect="1"/>
          </p:cNvGraphicFramePr>
          <p:nvPr/>
        </p:nvGraphicFramePr>
        <p:xfrm>
          <a:off x="1143000" y="838200"/>
          <a:ext cx="6629400" cy="384175"/>
        </p:xfrm>
        <a:graphic>
          <a:graphicData uri="http://schemas.openxmlformats.org/presentationml/2006/ole">
            <mc:AlternateContent xmlns:mc="http://schemas.openxmlformats.org/markup-compatibility/2006">
              <mc:Choice xmlns:v="urn:schemas-microsoft-com:vml" Requires="v">
                <p:oleObj spid="_x0000_s10666" name="Equation" r:id="rId3" imgW="3543300" imgH="203200" progId="Equation.3">
                  <p:embed/>
                </p:oleObj>
              </mc:Choice>
              <mc:Fallback>
                <p:oleObj name="Equation" r:id="rId3" imgW="3543300" imgH="203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838200"/>
                        <a:ext cx="662940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
          <p:cNvGrpSpPr/>
          <p:nvPr/>
        </p:nvGrpSpPr>
        <p:grpSpPr>
          <a:xfrm>
            <a:off x="242184" y="1371600"/>
            <a:ext cx="8749416" cy="2597150"/>
            <a:chOff x="242184" y="1371600"/>
            <a:chExt cx="8749416" cy="2597150"/>
          </a:xfrm>
        </p:grpSpPr>
        <p:sp>
          <p:nvSpPr>
            <p:cNvPr id="10397" name="Rectangle 164"/>
            <p:cNvSpPr>
              <a:spLocks noChangeArrowheads="1"/>
            </p:cNvSpPr>
            <p:nvPr/>
          </p:nvSpPr>
          <p:spPr bwMode="auto">
            <a:xfrm>
              <a:off x="3733800" y="3581400"/>
              <a:ext cx="381000" cy="381000"/>
            </a:xfrm>
            <a:prstGeom prst="rect">
              <a:avLst/>
            </a:prstGeom>
            <a:solidFill>
              <a:schemeClr val="bg1"/>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398" name="Rectangle 163"/>
            <p:cNvSpPr>
              <a:spLocks noChangeArrowheads="1"/>
            </p:cNvSpPr>
            <p:nvPr/>
          </p:nvSpPr>
          <p:spPr bwMode="auto">
            <a:xfrm>
              <a:off x="3733800" y="3200400"/>
              <a:ext cx="381000" cy="381000"/>
            </a:xfrm>
            <a:prstGeom prst="rect">
              <a:avLst/>
            </a:prstGeom>
            <a:solidFill>
              <a:schemeClr val="bg1"/>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399" name="Rectangle 162"/>
            <p:cNvSpPr>
              <a:spLocks noChangeArrowheads="1"/>
            </p:cNvSpPr>
            <p:nvPr/>
          </p:nvSpPr>
          <p:spPr bwMode="auto">
            <a:xfrm>
              <a:off x="3733800" y="2819400"/>
              <a:ext cx="381000" cy="381000"/>
            </a:xfrm>
            <a:prstGeom prst="rect">
              <a:avLst/>
            </a:prstGeom>
            <a:solidFill>
              <a:schemeClr val="bg1"/>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400" name="Rectangle 161"/>
            <p:cNvSpPr>
              <a:spLocks noChangeArrowheads="1"/>
            </p:cNvSpPr>
            <p:nvPr/>
          </p:nvSpPr>
          <p:spPr bwMode="auto">
            <a:xfrm>
              <a:off x="3733800" y="2438400"/>
              <a:ext cx="381000" cy="381000"/>
            </a:xfrm>
            <a:prstGeom prst="rect">
              <a:avLst/>
            </a:prstGeom>
            <a:solidFill>
              <a:schemeClr val="bg1"/>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401" name="Rectangle 160"/>
            <p:cNvSpPr>
              <a:spLocks noChangeArrowheads="1"/>
            </p:cNvSpPr>
            <p:nvPr/>
          </p:nvSpPr>
          <p:spPr bwMode="auto">
            <a:xfrm>
              <a:off x="3733800" y="2057400"/>
              <a:ext cx="381000" cy="381000"/>
            </a:xfrm>
            <a:prstGeom prst="rect">
              <a:avLst/>
            </a:prstGeom>
            <a:solidFill>
              <a:schemeClr val="bg1"/>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402" name="Rectangle 159"/>
            <p:cNvSpPr>
              <a:spLocks noChangeArrowheads="1"/>
            </p:cNvSpPr>
            <p:nvPr/>
          </p:nvSpPr>
          <p:spPr bwMode="auto">
            <a:xfrm>
              <a:off x="3733800" y="1676400"/>
              <a:ext cx="381000" cy="381000"/>
            </a:xfrm>
            <a:prstGeom prst="rect">
              <a:avLst/>
            </a:prstGeom>
            <a:solidFill>
              <a:schemeClr val="bg1"/>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403" name="Line 165"/>
            <p:cNvSpPr>
              <a:spLocks noChangeShapeType="1"/>
            </p:cNvSpPr>
            <p:nvPr/>
          </p:nvSpPr>
          <p:spPr bwMode="auto">
            <a:xfrm>
              <a:off x="3733800" y="1676400"/>
              <a:ext cx="3810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04" name="Line 166"/>
            <p:cNvSpPr>
              <a:spLocks noChangeShapeType="1"/>
            </p:cNvSpPr>
            <p:nvPr/>
          </p:nvSpPr>
          <p:spPr bwMode="auto">
            <a:xfrm>
              <a:off x="3733800" y="2057400"/>
              <a:ext cx="381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05" name="Line 167"/>
            <p:cNvSpPr>
              <a:spLocks noChangeShapeType="1"/>
            </p:cNvSpPr>
            <p:nvPr/>
          </p:nvSpPr>
          <p:spPr bwMode="auto">
            <a:xfrm>
              <a:off x="3733800" y="2438400"/>
              <a:ext cx="381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06" name="Line 168"/>
            <p:cNvSpPr>
              <a:spLocks noChangeShapeType="1"/>
            </p:cNvSpPr>
            <p:nvPr/>
          </p:nvSpPr>
          <p:spPr bwMode="auto">
            <a:xfrm>
              <a:off x="3733800" y="2819400"/>
              <a:ext cx="381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07" name="Line 169"/>
            <p:cNvSpPr>
              <a:spLocks noChangeShapeType="1"/>
            </p:cNvSpPr>
            <p:nvPr/>
          </p:nvSpPr>
          <p:spPr bwMode="auto">
            <a:xfrm>
              <a:off x="3733800" y="3200400"/>
              <a:ext cx="381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08" name="Line 170"/>
            <p:cNvSpPr>
              <a:spLocks noChangeShapeType="1"/>
            </p:cNvSpPr>
            <p:nvPr/>
          </p:nvSpPr>
          <p:spPr bwMode="auto">
            <a:xfrm>
              <a:off x="3733800" y="3581400"/>
              <a:ext cx="381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09" name="Line 171"/>
            <p:cNvSpPr>
              <a:spLocks noChangeShapeType="1"/>
            </p:cNvSpPr>
            <p:nvPr/>
          </p:nvSpPr>
          <p:spPr bwMode="auto">
            <a:xfrm>
              <a:off x="3733800" y="3962400"/>
              <a:ext cx="3810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10" name="Line 172"/>
            <p:cNvSpPr>
              <a:spLocks noChangeShapeType="1"/>
            </p:cNvSpPr>
            <p:nvPr/>
          </p:nvSpPr>
          <p:spPr bwMode="auto">
            <a:xfrm>
              <a:off x="3733800" y="1676400"/>
              <a:ext cx="0" cy="228600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11" name="Line 173"/>
            <p:cNvSpPr>
              <a:spLocks noChangeShapeType="1"/>
            </p:cNvSpPr>
            <p:nvPr/>
          </p:nvSpPr>
          <p:spPr bwMode="auto">
            <a:xfrm>
              <a:off x="4114800" y="1676400"/>
              <a:ext cx="0" cy="228600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12" name="Text Box 196"/>
            <p:cNvSpPr txBox="1">
              <a:spLocks noChangeArrowheads="1"/>
            </p:cNvSpPr>
            <p:nvPr/>
          </p:nvSpPr>
          <p:spPr bwMode="auto">
            <a:xfrm>
              <a:off x="3429000" y="1600200"/>
              <a:ext cx="296863" cy="236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55000"/>
                </a:lnSpc>
                <a:buFontTx/>
                <a:buNone/>
              </a:pPr>
              <a:r>
                <a:rPr lang="en-US">
                  <a:solidFill>
                    <a:schemeClr val="tx2"/>
                  </a:solidFill>
                  <a:latin typeface="Arial" pitchFamily="34" charset="0"/>
                </a:rPr>
                <a:t>1</a:t>
              </a:r>
            </a:p>
            <a:p>
              <a:pPr algn="ctr" eaLnBrk="1" hangingPunct="1">
                <a:lnSpc>
                  <a:spcPct val="155000"/>
                </a:lnSpc>
                <a:buFontTx/>
                <a:buNone/>
              </a:pPr>
              <a:r>
                <a:rPr lang="en-US">
                  <a:solidFill>
                    <a:schemeClr val="tx2"/>
                  </a:solidFill>
                  <a:latin typeface="Arial" pitchFamily="34" charset="0"/>
                </a:rPr>
                <a:t>2</a:t>
              </a:r>
            </a:p>
            <a:p>
              <a:pPr algn="ctr" eaLnBrk="1" hangingPunct="1">
                <a:lnSpc>
                  <a:spcPct val="155000"/>
                </a:lnSpc>
                <a:buFontTx/>
                <a:buNone/>
              </a:pPr>
              <a:r>
                <a:rPr lang="en-US">
                  <a:solidFill>
                    <a:schemeClr val="tx2"/>
                  </a:solidFill>
                  <a:latin typeface="Arial" pitchFamily="34" charset="0"/>
                </a:rPr>
                <a:t>3</a:t>
              </a:r>
            </a:p>
            <a:p>
              <a:pPr algn="ctr" eaLnBrk="1" hangingPunct="1">
                <a:lnSpc>
                  <a:spcPct val="155000"/>
                </a:lnSpc>
                <a:buFontTx/>
                <a:buNone/>
              </a:pPr>
              <a:r>
                <a:rPr lang="en-US">
                  <a:solidFill>
                    <a:schemeClr val="tx2"/>
                  </a:solidFill>
                  <a:latin typeface="Arial" pitchFamily="34" charset="0"/>
                </a:rPr>
                <a:t>4</a:t>
              </a:r>
            </a:p>
            <a:p>
              <a:pPr algn="ctr" eaLnBrk="1" hangingPunct="1">
                <a:lnSpc>
                  <a:spcPct val="155000"/>
                </a:lnSpc>
                <a:buFontTx/>
                <a:buNone/>
              </a:pPr>
              <a:r>
                <a:rPr lang="en-US">
                  <a:solidFill>
                    <a:schemeClr val="tx2"/>
                  </a:solidFill>
                  <a:latin typeface="Arial" pitchFamily="34" charset="0"/>
                </a:rPr>
                <a:t>5</a:t>
              </a:r>
            </a:p>
            <a:p>
              <a:pPr algn="ctr" eaLnBrk="1" hangingPunct="1">
                <a:lnSpc>
                  <a:spcPct val="155000"/>
                </a:lnSpc>
                <a:buFontTx/>
                <a:buNone/>
              </a:pPr>
              <a:r>
                <a:rPr lang="en-US">
                  <a:solidFill>
                    <a:schemeClr val="tx2"/>
                  </a:solidFill>
                  <a:latin typeface="Arial" pitchFamily="34" charset="0"/>
                </a:rPr>
                <a:t>6</a:t>
              </a:r>
            </a:p>
          </p:txBody>
        </p:sp>
        <p:sp>
          <p:nvSpPr>
            <p:cNvPr id="10413" name="Rectangle 200"/>
            <p:cNvSpPr>
              <a:spLocks noChangeArrowheads="1"/>
            </p:cNvSpPr>
            <p:nvPr/>
          </p:nvSpPr>
          <p:spPr bwMode="auto">
            <a:xfrm>
              <a:off x="5181600" y="16764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414" name="Rectangle 199"/>
            <p:cNvSpPr>
              <a:spLocks noChangeArrowheads="1"/>
            </p:cNvSpPr>
            <p:nvPr/>
          </p:nvSpPr>
          <p:spPr bwMode="auto">
            <a:xfrm>
              <a:off x="4800600" y="16764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6</a:t>
              </a:r>
            </a:p>
          </p:txBody>
        </p:sp>
        <p:sp>
          <p:nvSpPr>
            <p:cNvPr id="10415" name="Rectangle 198"/>
            <p:cNvSpPr>
              <a:spLocks noChangeArrowheads="1"/>
            </p:cNvSpPr>
            <p:nvPr/>
          </p:nvSpPr>
          <p:spPr bwMode="auto">
            <a:xfrm>
              <a:off x="4495800" y="16764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2</a:t>
              </a:r>
            </a:p>
          </p:txBody>
        </p:sp>
        <p:sp>
          <p:nvSpPr>
            <p:cNvPr id="10416" name="Line 201"/>
            <p:cNvSpPr>
              <a:spLocks noChangeShapeType="1"/>
            </p:cNvSpPr>
            <p:nvPr/>
          </p:nvSpPr>
          <p:spPr bwMode="auto">
            <a:xfrm>
              <a:off x="4495800" y="16764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17" name="Line 202"/>
            <p:cNvSpPr>
              <a:spLocks noChangeShapeType="1"/>
            </p:cNvSpPr>
            <p:nvPr/>
          </p:nvSpPr>
          <p:spPr bwMode="auto">
            <a:xfrm>
              <a:off x="4495800" y="20113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18" name="Line 203"/>
            <p:cNvSpPr>
              <a:spLocks noChangeShapeType="1"/>
            </p:cNvSpPr>
            <p:nvPr/>
          </p:nvSpPr>
          <p:spPr bwMode="auto">
            <a:xfrm>
              <a:off x="4495800" y="1676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19" name="Line 204"/>
            <p:cNvSpPr>
              <a:spLocks noChangeShapeType="1"/>
            </p:cNvSpPr>
            <p:nvPr/>
          </p:nvSpPr>
          <p:spPr bwMode="auto">
            <a:xfrm>
              <a:off x="4800600" y="1676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20" name="Line 205"/>
            <p:cNvSpPr>
              <a:spLocks noChangeShapeType="1"/>
            </p:cNvSpPr>
            <p:nvPr/>
          </p:nvSpPr>
          <p:spPr bwMode="auto">
            <a:xfrm>
              <a:off x="5181600" y="1676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21" name="Line 206"/>
            <p:cNvSpPr>
              <a:spLocks noChangeShapeType="1"/>
            </p:cNvSpPr>
            <p:nvPr/>
          </p:nvSpPr>
          <p:spPr bwMode="auto">
            <a:xfrm>
              <a:off x="5410200" y="1676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22" name="Rectangle 226"/>
            <p:cNvSpPr>
              <a:spLocks noChangeArrowheads="1"/>
            </p:cNvSpPr>
            <p:nvPr/>
          </p:nvSpPr>
          <p:spPr bwMode="auto">
            <a:xfrm>
              <a:off x="6324600" y="16764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423" name="Rectangle 227"/>
            <p:cNvSpPr>
              <a:spLocks noChangeArrowheads="1"/>
            </p:cNvSpPr>
            <p:nvPr/>
          </p:nvSpPr>
          <p:spPr bwMode="auto">
            <a:xfrm>
              <a:off x="5943600" y="16764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9</a:t>
              </a:r>
            </a:p>
          </p:txBody>
        </p:sp>
        <p:sp>
          <p:nvSpPr>
            <p:cNvPr id="10424" name="Rectangle 228"/>
            <p:cNvSpPr>
              <a:spLocks noChangeArrowheads="1"/>
            </p:cNvSpPr>
            <p:nvPr/>
          </p:nvSpPr>
          <p:spPr bwMode="auto">
            <a:xfrm>
              <a:off x="5638800" y="16764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4</a:t>
              </a:r>
            </a:p>
          </p:txBody>
        </p:sp>
        <p:sp>
          <p:nvSpPr>
            <p:cNvPr id="10425" name="Line 229"/>
            <p:cNvSpPr>
              <a:spLocks noChangeShapeType="1"/>
            </p:cNvSpPr>
            <p:nvPr/>
          </p:nvSpPr>
          <p:spPr bwMode="auto">
            <a:xfrm>
              <a:off x="5638800" y="16764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26" name="Line 230"/>
            <p:cNvSpPr>
              <a:spLocks noChangeShapeType="1"/>
            </p:cNvSpPr>
            <p:nvPr/>
          </p:nvSpPr>
          <p:spPr bwMode="auto">
            <a:xfrm>
              <a:off x="5638800" y="20113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27" name="Line 231"/>
            <p:cNvSpPr>
              <a:spLocks noChangeShapeType="1"/>
            </p:cNvSpPr>
            <p:nvPr/>
          </p:nvSpPr>
          <p:spPr bwMode="auto">
            <a:xfrm>
              <a:off x="5638800" y="1676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28" name="Line 232"/>
            <p:cNvSpPr>
              <a:spLocks noChangeShapeType="1"/>
            </p:cNvSpPr>
            <p:nvPr/>
          </p:nvSpPr>
          <p:spPr bwMode="auto">
            <a:xfrm>
              <a:off x="5943600" y="1676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29" name="Line 233"/>
            <p:cNvSpPr>
              <a:spLocks noChangeShapeType="1"/>
            </p:cNvSpPr>
            <p:nvPr/>
          </p:nvSpPr>
          <p:spPr bwMode="auto">
            <a:xfrm>
              <a:off x="6324600" y="1676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30" name="Line 234"/>
            <p:cNvSpPr>
              <a:spLocks noChangeShapeType="1"/>
            </p:cNvSpPr>
            <p:nvPr/>
          </p:nvSpPr>
          <p:spPr bwMode="auto">
            <a:xfrm>
              <a:off x="6553200" y="1676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31" name="Rectangle 236"/>
            <p:cNvSpPr>
              <a:spLocks noChangeArrowheads="1"/>
            </p:cNvSpPr>
            <p:nvPr/>
          </p:nvSpPr>
          <p:spPr bwMode="auto">
            <a:xfrm>
              <a:off x="7543800" y="16764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432" name="Rectangle 237"/>
            <p:cNvSpPr>
              <a:spLocks noChangeArrowheads="1"/>
            </p:cNvSpPr>
            <p:nvPr/>
          </p:nvSpPr>
          <p:spPr bwMode="auto">
            <a:xfrm>
              <a:off x="7162800" y="16764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2</a:t>
              </a:r>
            </a:p>
          </p:txBody>
        </p:sp>
        <p:sp>
          <p:nvSpPr>
            <p:cNvPr id="10433" name="Rectangle 238"/>
            <p:cNvSpPr>
              <a:spLocks noChangeArrowheads="1"/>
            </p:cNvSpPr>
            <p:nvPr/>
          </p:nvSpPr>
          <p:spPr bwMode="auto">
            <a:xfrm>
              <a:off x="6858000" y="16764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5</a:t>
              </a:r>
            </a:p>
          </p:txBody>
        </p:sp>
        <p:sp>
          <p:nvSpPr>
            <p:cNvPr id="10434" name="Line 239"/>
            <p:cNvSpPr>
              <a:spLocks noChangeShapeType="1"/>
            </p:cNvSpPr>
            <p:nvPr/>
          </p:nvSpPr>
          <p:spPr bwMode="auto">
            <a:xfrm>
              <a:off x="6858000" y="16764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35" name="Line 240"/>
            <p:cNvSpPr>
              <a:spLocks noChangeShapeType="1"/>
            </p:cNvSpPr>
            <p:nvPr/>
          </p:nvSpPr>
          <p:spPr bwMode="auto">
            <a:xfrm>
              <a:off x="6858000" y="20113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36" name="Line 241"/>
            <p:cNvSpPr>
              <a:spLocks noChangeShapeType="1"/>
            </p:cNvSpPr>
            <p:nvPr/>
          </p:nvSpPr>
          <p:spPr bwMode="auto">
            <a:xfrm>
              <a:off x="6858000" y="1676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37" name="Line 242"/>
            <p:cNvSpPr>
              <a:spLocks noChangeShapeType="1"/>
            </p:cNvSpPr>
            <p:nvPr/>
          </p:nvSpPr>
          <p:spPr bwMode="auto">
            <a:xfrm>
              <a:off x="7162800" y="1676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38" name="Line 243"/>
            <p:cNvSpPr>
              <a:spLocks noChangeShapeType="1"/>
            </p:cNvSpPr>
            <p:nvPr/>
          </p:nvSpPr>
          <p:spPr bwMode="auto">
            <a:xfrm>
              <a:off x="7543800" y="1676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39" name="Line 244"/>
            <p:cNvSpPr>
              <a:spLocks noChangeShapeType="1"/>
            </p:cNvSpPr>
            <p:nvPr/>
          </p:nvSpPr>
          <p:spPr bwMode="auto">
            <a:xfrm>
              <a:off x="7772400" y="1676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40" name="Rectangle 246"/>
            <p:cNvSpPr>
              <a:spLocks noChangeArrowheads="1"/>
            </p:cNvSpPr>
            <p:nvPr/>
          </p:nvSpPr>
          <p:spPr bwMode="auto">
            <a:xfrm>
              <a:off x="5181600" y="20574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441" name="Rectangle 247"/>
            <p:cNvSpPr>
              <a:spLocks noChangeArrowheads="1"/>
            </p:cNvSpPr>
            <p:nvPr/>
          </p:nvSpPr>
          <p:spPr bwMode="auto">
            <a:xfrm>
              <a:off x="4800600" y="20574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6</a:t>
              </a:r>
            </a:p>
          </p:txBody>
        </p:sp>
        <p:sp>
          <p:nvSpPr>
            <p:cNvPr id="10442" name="Rectangle 248"/>
            <p:cNvSpPr>
              <a:spLocks noChangeArrowheads="1"/>
            </p:cNvSpPr>
            <p:nvPr/>
          </p:nvSpPr>
          <p:spPr bwMode="auto">
            <a:xfrm>
              <a:off x="4495800" y="20574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1</a:t>
              </a:r>
            </a:p>
          </p:txBody>
        </p:sp>
        <p:sp>
          <p:nvSpPr>
            <p:cNvPr id="10443" name="Line 249"/>
            <p:cNvSpPr>
              <a:spLocks noChangeShapeType="1"/>
            </p:cNvSpPr>
            <p:nvPr/>
          </p:nvSpPr>
          <p:spPr bwMode="auto">
            <a:xfrm>
              <a:off x="4495800" y="20574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44" name="Line 250"/>
            <p:cNvSpPr>
              <a:spLocks noChangeShapeType="1"/>
            </p:cNvSpPr>
            <p:nvPr/>
          </p:nvSpPr>
          <p:spPr bwMode="auto">
            <a:xfrm>
              <a:off x="4495800" y="23923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45" name="Line 251"/>
            <p:cNvSpPr>
              <a:spLocks noChangeShapeType="1"/>
            </p:cNvSpPr>
            <p:nvPr/>
          </p:nvSpPr>
          <p:spPr bwMode="auto">
            <a:xfrm>
              <a:off x="4495800" y="2057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46" name="Line 252"/>
            <p:cNvSpPr>
              <a:spLocks noChangeShapeType="1"/>
            </p:cNvSpPr>
            <p:nvPr/>
          </p:nvSpPr>
          <p:spPr bwMode="auto">
            <a:xfrm>
              <a:off x="4800600" y="2057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47" name="Line 253"/>
            <p:cNvSpPr>
              <a:spLocks noChangeShapeType="1"/>
            </p:cNvSpPr>
            <p:nvPr/>
          </p:nvSpPr>
          <p:spPr bwMode="auto">
            <a:xfrm>
              <a:off x="5181600" y="2057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48" name="Line 254"/>
            <p:cNvSpPr>
              <a:spLocks noChangeShapeType="1"/>
            </p:cNvSpPr>
            <p:nvPr/>
          </p:nvSpPr>
          <p:spPr bwMode="auto">
            <a:xfrm>
              <a:off x="5410200" y="2057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49" name="Rectangle 256"/>
            <p:cNvSpPr>
              <a:spLocks noChangeArrowheads="1"/>
            </p:cNvSpPr>
            <p:nvPr/>
          </p:nvSpPr>
          <p:spPr bwMode="auto">
            <a:xfrm>
              <a:off x="6324600" y="20574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450" name="Rectangle 257"/>
            <p:cNvSpPr>
              <a:spLocks noChangeArrowheads="1"/>
            </p:cNvSpPr>
            <p:nvPr/>
          </p:nvSpPr>
          <p:spPr bwMode="auto">
            <a:xfrm>
              <a:off x="5943600" y="20574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8</a:t>
              </a:r>
            </a:p>
          </p:txBody>
        </p:sp>
        <p:sp>
          <p:nvSpPr>
            <p:cNvPr id="10451" name="Rectangle 258"/>
            <p:cNvSpPr>
              <a:spLocks noChangeArrowheads="1"/>
            </p:cNvSpPr>
            <p:nvPr/>
          </p:nvSpPr>
          <p:spPr bwMode="auto">
            <a:xfrm>
              <a:off x="5638800" y="20574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3</a:t>
              </a:r>
            </a:p>
          </p:txBody>
        </p:sp>
        <p:sp>
          <p:nvSpPr>
            <p:cNvPr id="10452" name="Line 259"/>
            <p:cNvSpPr>
              <a:spLocks noChangeShapeType="1"/>
            </p:cNvSpPr>
            <p:nvPr/>
          </p:nvSpPr>
          <p:spPr bwMode="auto">
            <a:xfrm>
              <a:off x="5638800" y="20574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53" name="Line 260"/>
            <p:cNvSpPr>
              <a:spLocks noChangeShapeType="1"/>
            </p:cNvSpPr>
            <p:nvPr/>
          </p:nvSpPr>
          <p:spPr bwMode="auto">
            <a:xfrm>
              <a:off x="5638800" y="23923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54" name="Line 261"/>
            <p:cNvSpPr>
              <a:spLocks noChangeShapeType="1"/>
            </p:cNvSpPr>
            <p:nvPr/>
          </p:nvSpPr>
          <p:spPr bwMode="auto">
            <a:xfrm>
              <a:off x="5638800" y="2057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55" name="Line 262"/>
            <p:cNvSpPr>
              <a:spLocks noChangeShapeType="1"/>
            </p:cNvSpPr>
            <p:nvPr/>
          </p:nvSpPr>
          <p:spPr bwMode="auto">
            <a:xfrm>
              <a:off x="5943600" y="2057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56" name="Line 263"/>
            <p:cNvSpPr>
              <a:spLocks noChangeShapeType="1"/>
            </p:cNvSpPr>
            <p:nvPr/>
          </p:nvSpPr>
          <p:spPr bwMode="auto">
            <a:xfrm>
              <a:off x="6324600" y="2057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57" name="Line 264"/>
            <p:cNvSpPr>
              <a:spLocks noChangeShapeType="1"/>
            </p:cNvSpPr>
            <p:nvPr/>
          </p:nvSpPr>
          <p:spPr bwMode="auto">
            <a:xfrm>
              <a:off x="6553200" y="2057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58" name="Rectangle 266"/>
            <p:cNvSpPr>
              <a:spLocks noChangeArrowheads="1"/>
            </p:cNvSpPr>
            <p:nvPr/>
          </p:nvSpPr>
          <p:spPr bwMode="auto">
            <a:xfrm>
              <a:off x="7543800" y="20574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459" name="Rectangle 267"/>
            <p:cNvSpPr>
              <a:spLocks noChangeArrowheads="1"/>
            </p:cNvSpPr>
            <p:nvPr/>
          </p:nvSpPr>
          <p:spPr bwMode="auto">
            <a:xfrm>
              <a:off x="7162800" y="20574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5</a:t>
              </a:r>
            </a:p>
          </p:txBody>
        </p:sp>
        <p:sp>
          <p:nvSpPr>
            <p:cNvPr id="10460" name="Rectangle 268"/>
            <p:cNvSpPr>
              <a:spLocks noChangeArrowheads="1"/>
            </p:cNvSpPr>
            <p:nvPr/>
          </p:nvSpPr>
          <p:spPr bwMode="auto">
            <a:xfrm>
              <a:off x="6858000" y="20574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5</a:t>
              </a:r>
            </a:p>
          </p:txBody>
        </p:sp>
        <p:sp>
          <p:nvSpPr>
            <p:cNvPr id="10461" name="Line 269"/>
            <p:cNvSpPr>
              <a:spLocks noChangeShapeType="1"/>
            </p:cNvSpPr>
            <p:nvPr/>
          </p:nvSpPr>
          <p:spPr bwMode="auto">
            <a:xfrm>
              <a:off x="6858000" y="20574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62" name="Line 270"/>
            <p:cNvSpPr>
              <a:spLocks noChangeShapeType="1"/>
            </p:cNvSpPr>
            <p:nvPr/>
          </p:nvSpPr>
          <p:spPr bwMode="auto">
            <a:xfrm>
              <a:off x="6858000" y="23923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63" name="Line 271"/>
            <p:cNvSpPr>
              <a:spLocks noChangeShapeType="1"/>
            </p:cNvSpPr>
            <p:nvPr/>
          </p:nvSpPr>
          <p:spPr bwMode="auto">
            <a:xfrm>
              <a:off x="6858000" y="2057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64" name="Line 272"/>
            <p:cNvSpPr>
              <a:spLocks noChangeShapeType="1"/>
            </p:cNvSpPr>
            <p:nvPr/>
          </p:nvSpPr>
          <p:spPr bwMode="auto">
            <a:xfrm>
              <a:off x="7162800" y="2057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65" name="Line 273"/>
            <p:cNvSpPr>
              <a:spLocks noChangeShapeType="1"/>
            </p:cNvSpPr>
            <p:nvPr/>
          </p:nvSpPr>
          <p:spPr bwMode="auto">
            <a:xfrm>
              <a:off x="7543800" y="2057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66" name="Line 274"/>
            <p:cNvSpPr>
              <a:spLocks noChangeShapeType="1"/>
            </p:cNvSpPr>
            <p:nvPr/>
          </p:nvSpPr>
          <p:spPr bwMode="auto">
            <a:xfrm>
              <a:off x="7772400" y="2057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67" name="Rectangle 286"/>
            <p:cNvSpPr>
              <a:spLocks noChangeArrowheads="1"/>
            </p:cNvSpPr>
            <p:nvPr/>
          </p:nvSpPr>
          <p:spPr bwMode="auto">
            <a:xfrm>
              <a:off x="5181600" y="24384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468" name="Rectangle 287"/>
            <p:cNvSpPr>
              <a:spLocks noChangeArrowheads="1"/>
            </p:cNvSpPr>
            <p:nvPr/>
          </p:nvSpPr>
          <p:spPr bwMode="auto">
            <a:xfrm>
              <a:off x="4800600" y="24384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8</a:t>
              </a:r>
            </a:p>
          </p:txBody>
        </p:sp>
        <p:sp>
          <p:nvSpPr>
            <p:cNvPr id="10469" name="Rectangle 288"/>
            <p:cNvSpPr>
              <a:spLocks noChangeArrowheads="1"/>
            </p:cNvSpPr>
            <p:nvPr/>
          </p:nvSpPr>
          <p:spPr bwMode="auto">
            <a:xfrm>
              <a:off x="4495800" y="24384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2</a:t>
              </a:r>
            </a:p>
          </p:txBody>
        </p:sp>
        <p:sp>
          <p:nvSpPr>
            <p:cNvPr id="10470" name="Line 289"/>
            <p:cNvSpPr>
              <a:spLocks noChangeShapeType="1"/>
            </p:cNvSpPr>
            <p:nvPr/>
          </p:nvSpPr>
          <p:spPr bwMode="auto">
            <a:xfrm>
              <a:off x="4495800" y="24384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71" name="Line 290"/>
            <p:cNvSpPr>
              <a:spLocks noChangeShapeType="1"/>
            </p:cNvSpPr>
            <p:nvPr/>
          </p:nvSpPr>
          <p:spPr bwMode="auto">
            <a:xfrm>
              <a:off x="4495800" y="27733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72" name="Line 291"/>
            <p:cNvSpPr>
              <a:spLocks noChangeShapeType="1"/>
            </p:cNvSpPr>
            <p:nvPr/>
          </p:nvSpPr>
          <p:spPr bwMode="auto">
            <a:xfrm>
              <a:off x="4495800" y="2438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73" name="Line 292"/>
            <p:cNvSpPr>
              <a:spLocks noChangeShapeType="1"/>
            </p:cNvSpPr>
            <p:nvPr/>
          </p:nvSpPr>
          <p:spPr bwMode="auto">
            <a:xfrm>
              <a:off x="4800600" y="2438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74" name="Line 293"/>
            <p:cNvSpPr>
              <a:spLocks noChangeShapeType="1"/>
            </p:cNvSpPr>
            <p:nvPr/>
          </p:nvSpPr>
          <p:spPr bwMode="auto">
            <a:xfrm>
              <a:off x="5181600" y="2438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75" name="Line 294"/>
            <p:cNvSpPr>
              <a:spLocks noChangeShapeType="1"/>
            </p:cNvSpPr>
            <p:nvPr/>
          </p:nvSpPr>
          <p:spPr bwMode="auto">
            <a:xfrm>
              <a:off x="5410200" y="2438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76" name="Rectangle 296"/>
            <p:cNvSpPr>
              <a:spLocks noChangeArrowheads="1"/>
            </p:cNvSpPr>
            <p:nvPr/>
          </p:nvSpPr>
          <p:spPr bwMode="auto">
            <a:xfrm>
              <a:off x="6324600" y="24384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477" name="Rectangle 297"/>
            <p:cNvSpPr>
              <a:spLocks noChangeArrowheads="1"/>
            </p:cNvSpPr>
            <p:nvPr/>
          </p:nvSpPr>
          <p:spPr bwMode="auto">
            <a:xfrm>
              <a:off x="5943600" y="24384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-6</a:t>
              </a:r>
            </a:p>
          </p:txBody>
        </p:sp>
        <p:sp>
          <p:nvSpPr>
            <p:cNvPr id="10478" name="Rectangle 298"/>
            <p:cNvSpPr>
              <a:spLocks noChangeArrowheads="1"/>
            </p:cNvSpPr>
            <p:nvPr/>
          </p:nvSpPr>
          <p:spPr bwMode="auto">
            <a:xfrm>
              <a:off x="5638800" y="24384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5</a:t>
              </a:r>
            </a:p>
          </p:txBody>
        </p:sp>
        <p:sp>
          <p:nvSpPr>
            <p:cNvPr id="10479" name="Line 299"/>
            <p:cNvSpPr>
              <a:spLocks noChangeShapeType="1"/>
            </p:cNvSpPr>
            <p:nvPr/>
          </p:nvSpPr>
          <p:spPr bwMode="auto">
            <a:xfrm>
              <a:off x="5638800" y="24384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80" name="Line 300"/>
            <p:cNvSpPr>
              <a:spLocks noChangeShapeType="1"/>
            </p:cNvSpPr>
            <p:nvPr/>
          </p:nvSpPr>
          <p:spPr bwMode="auto">
            <a:xfrm>
              <a:off x="5638800" y="27733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81" name="Line 301"/>
            <p:cNvSpPr>
              <a:spLocks noChangeShapeType="1"/>
            </p:cNvSpPr>
            <p:nvPr/>
          </p:nvSpPr>
          <p:spPr bwMode="auto">
            <a:xfrm>
              <a:off x="5638800" y="2438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82" name="Line 302"/>
            <p:cNvSpPr>
              <a:spLocks noChangeShapeType="1"/>
            </p:cNvSpPr>
            <p:nvPr/>
          </p:nvSpPr>
          <p:spPr bwMode="auto">
            <a:xfrm>
              <a:off x="5943600" y="2438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83" name="Line 303"/>
            <p:cNvSpPr>
              <a:spLocks noChangeShapeType="1"/>
            </p:cNvSpPr>
            <p:nvPr/>
          </p:nvSpPr>
          <p:spPr bwMode="auto">
            <a:xfrm>
              <a:off x="6324600" y="2438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84" name="Line 304"/>
            <p:cNvSpPr>
              <a:spLocks noChangeShapeType="1"/>
            </p:cNvSpPr>
            <p:nvPr/>
          </p:nvSpPr>
          <p:spPr bwMode="auto">
            <a:xfrm>
              <a:off x="6553200" y="2438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85" name="Rectangle 316"/>
            <p:cNvSpPr>
              <a:spLocks noChangeArrowheads="1"/>
            </p:cNvSpPr>
            <p:nvPr/>
          </p:nvSpPr>
          <p:spPr bwMode="auto">
            <a:xfrm>
              <a:off x="5181600" y="28194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486" name="Rectangle 317"/>
            <p:cNvSpPr>
              <a:spLocks noChangeArrowheads="1"/>
            </p:cNvSpPr>
            <p:nvPr/>
          </p:nvSpPr>
          <p:spPr bwMode="auto">
            <a:xfrm>
              <a:off x="4800600" y="28194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9</a:t>
              </a:r>
            </a:p>
          </p:txBody>
        </p:sp>
        <p:sp>
          <p:nvSpPr>
            <p:cNvPr id="10487" name="Rectangle 318"/>
            <p:cNvSpPr>
              <a:spLocks noChangeArrowheads="1"/>
            </p:cNvSpPr>
            <p:nvPr/>
          </p:nvSpPr>
          <p:spPr bwMode="auto">
            <a:xfrm>
              <a:off x="4495800" y="28194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1</a:t>
              </a:r>
            </a:p>
          </p:txBody>
        </p:sp>
        <p:sp>
          <p:nvSpPr>
            <p:cNvPr id="10488" name="Line 319"/>
            <p:cNvSpPr>
              <a:spLocks noChangeShapeType="1"/>
            </p:cNvSpPr>
            <p:nvPr/>
          </p:nvSpPr>
          <p:spPr bwMode="auto">
            <a:xfrm>
              <a:off x="4495800" y="28194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89" name="Line 320"/>
            <p:cNvSpPr>
              <a:spLocks noChangeShapeType="1"/>
            </p:cNvSpPr>
            <p:nvPr/>
          </p:nvSpPr>
          <p:spPr bwMode="auto">
            <a:xfrm>
              <a:off x="4495800" y="31543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90" name="Line 321"/>
            <p:cNvSpPr>
              <a:spLocks noChangeShapeType="1"/>
            </p:cNvSpPr>
            <p:nvPr/>
          </p:nvSpPr>
          <p:spPr bwMode="auto">
            <a:xfrm>
              <a:off x="4495800" y="2819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91" name="Line 322"/>
            <p:cNvSpPr>
              <a:spLocks noChangeShapeType="1"/>
            </p:cNvSpPr>
            <p:nvPr/>
          </p:nvSpPr>
          <p:spPr bwMode="auto">
            <a:xfrm>
              <a:off x="4800600" y="2819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92" name="Line 323"/>
            <p:cNvSpPr>
              <a:spLocks noChangeShapeType="1"/>
            </p:cNvSpPr>
            <p:nvPr/>
          </p:nvSpPr>
          <p:spPr bwMode="auto">
            <a:xfrm>
              <a:off x="5181600" y="2819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93" name="Line 324"/>
            <p:cNvSpPr>
              <a:spLocks noChangeShapeType="1"/>
            </p:cNvSpPr>
            <p:nvPr/>
          </p:nvSpPr>
          <p:spPr bwMode="auto">
            <a:xfrm>
              <a:off x="5410200" y="2819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94" name="Rectangle 326"/>
            <p:cNvSpPr>
              <a:spLocks noChangeArrowheads="1"/>
            </p:cNvSpPr>
            <p:nvPr/>
          </p:nvSpPr>
          <p:spPr bwMode="auto">
            <a:xfrm>
              <a:off x="6324600" y="28194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495" name="Rectangle 327"/>
            <p:cNvSpPr>
              <a:spLocks noChangeArrowheads="1"/>
            </p:cNvSpPr>
            <p:nvPr/>
          </p:nvSpPr>
          <p:spPr bwMode="auto">
            <a:xfrm>
              <a:off x="5943600" y="28194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4</a:t>
              </a:r>
            </a:p>
          </p:txBody>
        </p:sp>
        <p:sp>
          <p:nvSpPr>
            <p:cNvPr id="10496" name="Rectangle 328"/>
            <p:cNvSpPr>
              <a:spLocks noChangeArrowheads="1"/>
            </p:cNvSpPr>
            <p:nvPr/>
          </p:nvSpPr>
          <p:spPr bwMode="auto">
            <a:xfrm>
              <a:off x="5638800" y="28194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5</a:t>
              </a:r>
            </a:p>
          </p:txBody>
        </p:sp>
        <p:sp>
          <p:nvSpPr>
            <p:cNvPr id="10497" name="Line 329"/>
            <p:cNvSpPr>
              <a:spLocks noChangeShapeType="1"/>
            </p:cNvSpPr>
            <p:nvPr/>
          </p:nvSpPr>
          <p:spPr bwMode="auto">
            <a:xfrm>
              <a:off x="5638800" y="28194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98" name="Line 330"/>
            <p:cNvSpPr>
              <a:spLocks noChangeShapeType="1"/>
            </p:cNvSpPr>
            <p:nvPr/>
          </p:nvSpPr>
          <p:spPr bwMode="auto">
            <a:xfrm>
              <a:off x="5638800" y="31543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99" name="Line 331"/>
            <p:cNvSpPr>
              <a:spLocks noChangeShapeType="1"/>
            </p:cNvSpPr>
            <p:nvPr/>
          </p:nvSpPr>
          <p:spPr bwMode="auto">
            <a:xfrm>
              <a:off x="5638800" y="2819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00" name="Line 332"/>
            <p:cNvSpPr>
              <a:spLocks noChangeShapeType="1"/>
            </p:cNvSpPr>
            <p:nvPr/>
          </p:nvSpPr>
          <p:spPr bwMode="auto">
            <a:xfrm>
              <a:off x="5943600" y="2819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01" name="Line 333"/>
            <p:cNvSpPr>
              <a:spLocks noChangeShapeType="1"/>
            </p:cNvSpPr>
            <p:nvPr/>
          </p:nvSpPr>
          <p:spPr bwMode="auto">
            <a:xfrm>
              <a:off x="6324600" y="2819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02" name="Line 334"/>
            <p:cNvSpPr>
              <a:spLocks noChangeShapeType="1"/>
            </p:cNvSpPr>
            <p:nvPr/>
          </p:nvSpPr>
          <p:spPr bwMode="auto">
            <a:xfrm>
              <a:off x="6553200" y="2819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03" name="Rectangle 336"/>
            <p:cNvSpPr>
              <a:spLocks noChangeArrowheads="1"/>
            </p:cNvSpPr>
            <p:nvPr/>
          </p:nvSpPr>
          <p:spPr bwMode="auto">
            <a:xfrm>
              <a:off x="8763000" y="32004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504" name="Rectangle 337"/>
            <p:cNvSpPr>
              <a:spLocks noChangeArrowheads="1"/>
            </p:cNvSpPr>
            <p:nvPr/>
          </p:nvSpPr>
          <p:spPr bwMode="auto">
            <a:xfrm>
              <a:off x="8382000" y="32004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4</a:t>
              </a:r>
            </a:p>
          </p:txBody>
        </p:sp>
        <p:sp>
          <p:nvSpPr>
            <p:cNvPr id="10505" name="Rectangle 338"/>
            <p:cNvSpPr>
              <a:spLocks noChangeArrowheads="1"/>
            </p:cNvSpPr>
            <p:nvPr/>
          </p:nvSpPr>
          <p:spPr bwMode="auto">
            <a:xfrm>
              <a:off x="8077200" y="32004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4</a:t>
              </a:r>
            </a:p>
          </p:txBody>
        </p:sp>
        <p:sp>
          <p:nvSpPr>
            <p:cNvPr id="10506" name="Line 339"/>
            <p:cNvSpPr>
              <a:spLocks noChangeShapeType="1"/>
            </p:cNvSpPr>
            <p:nvPr/>
          </p:nvSpPr>
          <p:spPr bwMode="auto">
            <a:xfrm>
              <a:off x="8077200" y="32004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07" name="Line 340"/>
            <p:cNvSpPr>
              <a:spLocks noChangeShapeType="1"/>
            </p:cNvSpPr>
            <p:nvPr/>
          </p:nvSpPr>
          <p:spPr bwMode="auto">
            <a:xfrm>
              <a:off x="8077200" y="35353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08" name="Line 341"/>
            <p:cNvSpPr>
              <a:spLocks noChangeShapeType="1"/>
            </p:cNvSpPr>
            <p:nvPr/>
          </p:nvSpPr>
          <p:spPr bwMode="auto">
            <a:xfrm>
              <a:off x="8077200" y="3200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09" name="Line 342"/>
            <p:cNvSpPr>
              <a:spLocks noChangeShapeType="1"/>
            </p:cNvSpPr>
            <p:nvPr/>
          </p:nvSpPr>
          <p:spPr bwMode="auto">
            <a:xfrm>
              <a:off x="8382000" y="3200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10" name="Line 343"/>
            <p:cNvSpPr>
              <a:spLocks noChangeShapeType="1"/>
            </p:cNvSpPr>
            <p:nvPr/>
          </p:nvSpPr>
          <p:spPr bwMode="auto">
            <a:xfrm>
              <a:off x="8763000" y="3200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11" name="Line 344"/>
            <p:cNvSpPr>
              <a:spLocks noChangeShapeType="1"/>
            </p:cNvSpPr>
            <p:nvPr/>
          </p:nvSpPr>
          <p:spPr bwMode="auto">
            <a:xfrm>
              <a:off x="8991600" y="3200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12" name="Rectangle 346"/>
            <p:cNvSpPr>
              <a:spLocks noChangeArrowheads="1"/>
            </p:cNvSpPr>
            <p:nvPr/>
          </p:nvSpPr>
          <p:spPr bwMode="auto">
            <a:xfrm>
              <a:off x="5181600" y="32004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513" name="Rectangle 347"/>
            <p:cNvSpPr>
              <a:spLocks noChangeArrowheads="1"/>
            </p:cNvSpPr>
            <p:nvPr/>
          </p:nvSpPr>
          <p:spPr bwMode="auto">
            <a:xfrm>
              <a:off x="4800600" y="32004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2</a:t>
              </a:r>
            </a:p>
          </p:txBody>
        </p:sp>
        <p:sp>
          <p:nvSpPr>
            <p:cNvPr id="10514" name="Rectangle 348"/>
            <p:cNvSpPr>
              <a:spLocks noChangeArrowheads="1"/>
            </p:cNvSpPr>
            <p:nvPr/>
          </p:nvSpPr>
          <p:spPr bwMode="auto">
            <a:xfrm>
              <a:off x="4495800" y="32004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1</a:t>
              </a:r>
            </a:p>
          </p:txBody>
        </p:sp>
        <p:sp>
          <p:nvSpPr>
            <p:cNvPr id="10515" name="Line 349"/>
            <p:cNvSpPr>
              <a:spLocks noChangeShapeType="1"/>
            </p:cNvSpPr>
            <p:nvPr/>
          </p:nvSpPr>
          <p:spPr bwMode="auto">
            <a:xfrm>
              <a:off x="4495800" y="32004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16" name="Line 350"/>
            <p:cNvSpPr>
              <a:spLocks noChangeShapeType="1"/>
            </p:cNvSpPr>
            <p:nvPr/>
          </p:nvSpPr>
          <p:spPr bwMode="auto">
            <a:xfrm>
              <a:off x="4495800" y="35353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17" name="Line 351"/>
            <p:cNvSpPr>
              <a:spLocks noChangeShapeType="1"/>
            </p:cNvSpPr>
            <p:nvPr/>
          </p:nvSpPr>
          <p:spPr bwMode="auto">
            <a:xfrm>
              <a:off x="4495800" y="3200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18" name="Line 352"/>
            <p:cNvSpPr>
              <a:spLocks noChangeShapeType="1"/>
            </p:cNvSpPr>
            <p:nvPr/>
          </p:nvSpPr>
          <p:spPr bwMode="auto">
            <a:xfrm>
              <a:off x="4800600" y="3200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19" name="Line 353"/>
            <p:cNvSpPr>
              <a:spLocks noChangeShapeType="1"/>
            </p:cNvSpPr>
            <p:nvPr/>
          </p:nvSpPr>
          <p:spPr bwMode="auto">
            <a:xfrm>
              <a:off x="5181600" y="3200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20" name="Line 354"/>
            <p:cNvSpPr>
              <a:spLocks noChangeShapeType="1"/>
            </p:cNvSpPr>
            <p:nvPr/>
          </p:nvSpPr>
          <p:spPr bwMode="auto">
            <a:xfrm>
              <a:off x="5410200" y="3200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21" name="Rectangle 356"/>
            <p:cNvSpPr>
              <a:spLocks noChangeArrowheads="1"/>
            </p:cNvSpPr>
            <p:nvPr/>
          </p:nvSpPr>
          <p:spPr bwMode="auto">
            <a:xfrm>
              <a:off x="6324600" y="32004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522" name="Rectangle 357"/>
            <p:cNvSpPr>
              <a:spLocks noChangeArrowheads="1"/>
            </p:cNvSpPr>
            <p:nvPr/>
          </p:nvSpPr>
          <p:spPr bwMode="auto">
            <a:xfrm>
              <a:off x="5943600" y="32004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5</a:t>
              </a:r>
            </a:p>
          </p:txBody>
        </p:sp>
        <p:sp>
          <p:nvSpPr>
            <p:cNvPr id="10523" name="Rectangle 358"/>
            <p:cNvSpPr>
              <a:spLocks noChangeArrowheads="1"/>
            </p:cNvSpPr>
            <p:nvPr/>
          </p:nvSpPr>
          <p:spPr bwMode="auto">
            <a:xfrm>
              <a:off x="5638800" y="32004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2</a:t>
              </a:r>
            </a:p>
          </p:txBody>
        </p:sp>
        <p:sp>
          <p:nvSpPr>
            <p:cNvPr id="10524" name="Line 359"/>
            <p:cNvSpPr>
              <a:spLocks noChangeShapeType="1"/>
            </p:cNvSpPr>
            <p:nvPr/>
          </p:nvSpPr>
          <p:spPr bwMode="auto">
            <a:xfrm>
              <a:off x="5638800" y="32004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25" name="Line 360"/>
            <p:cNvSpPr>
              <a:spLocks noChangeShapeType="1"/>
            </p:cNvSpPr>
            <p:nvPr/>
          </p:nvSpPr>
          <p:spPr bwMode="auto">
            <a:xfrm>
              <a:off x="5638800" y="35353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26" name="Line 361"/>
            <p:cNvSpPr>
              <a:spLocks noChangeShapeType="1"/>
            </p:cNvSpPr>
            <p:nvPr/>
          </p:nvSpPr>
          <p:spPr bwMode="auto">
            <a:xfrm>
              <a:off x="5638800" y="3200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27" name="Line 362"/>
            <p:cNvSpPr>
              <a:spLocks noChangeShapeType="1"/>
            </p:cNvSpPr>
            <p:nvPr/>
          </p:nvSpPr>
          <p:spPr bwMode="auto">
            <a:xfrm>
              <a:off x="5943600" y="3200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28" name="Line 363"/>
            <p:cNvSpPr>
              <a:spLocks noChangeShapeType="1"/>
            </p:cNvSpPr>
            <p:nvPr/>
          </p:nvSpPr>
          <p:spPr bwMode="auto">
            <a:xfrm>
              <a:off x="6324600" y="3200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29" name="Line 364"/>
            <p:cNvSpPr>
              <a:spLocks noChangeShapeType="1"/>
            </p:cNvSpPr>
            <p:nvPr/>
          </p:nvSpPr>
          <p:spPr bwMode="auto">
            <a:xfrm>
              <a:off x="6553200" y="3200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30" name="Rectangle 366"/>
            <p:cNvSpPr>
              <a:spLocks noChangeArrowheads="1"/>
            </p:cNvSpPr>
            <p:nvPr/>
          </p:nvSpPr>
          <p:spPr bwMode="auto">
            <a:xfrm>
              <a:off x="7543800" y="32004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531" name="Rectangle 367"/>
            <p:cNvSpPr>
              <a:spLocks noChangeArrowheads="1"/>
            </p:cNvSpPr>
            <p:nvPr/>
          </p:nvSpPr>
          <p:spPr bwMode="auto">
            <a:xfrm>
              <a:off x="7162800" y="32004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-6</a:t>
              </a:r>
            </a:p>
          </p:txBody>
        </p:sp>
        <p:sp>
          <p:nvSpPr>
            <p:cNvPr id="10532" name="Rectangle 368"/>
            <p:cNvSpPr>
              <a:spLocks noChangeArrowheads="1"/>
            </p:cNvSpPr>
            <p:nvPr/>
          </p:nvSpPr>
          <p:spPr bwMode="auto">
            <a:xfrm>
              <a:off x="6858000" y="32004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3</a:t>
              </a:r>
            </a:p>
          </p:txBody>
        </p:sp>
        <p:sp>
          <p:nvSpPr>
            <p:cNvPr id="10533" name="Line 369"/>
            <p:cNvSpPr>
              <a:spLocks noChangeShapeType="1"/>
            </p:cNvSpPr>
            <p:nvPr/>
          </p:nvSpPr>
          <p:spPr bwMode="auto">
            <a:xfrm>
              <a:off x="6858000" y="32004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34" name="Line 370"/>
            <p:cNvSpPr>
              <a:spLocks noChangeShapeType="1"/>
            </p:cNvSpPr>
            <p:nvPr/>
          </p:nvSpPr>
          <p:spPr bwMode="auto">
            <a:xfrm>
              <a:off x="6858000" y="35353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35" name="Line 371"/>
            <p:cNvSpPr>
              <a:spLocks noChangeShapeType="1"/>
            </p:cNvSpPr>
            <p:nvPr/>
          </p:nvSpPr>
          <p:spPr bwMode="auto">
            <a:xfrm>
              <a:off x="6858000" y="3200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36" name="Line 372"/>
            <p:cNvSpPr>
              <a:spLocks noChangeShapeType="1"/>
            </p:cNvSpPr>
            <p:nvPr/>
          </p:nvSpPr>
          <p:spPr bwMode="auto">
            <a:xfrm>
              <a:off x="7162800" y="3200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37" name="Line 373"/>
            <p:cNvSpPr>
              <a:spLocks noChangeShapeType="1"/>
            </p:cNvSpPr>
            <p:nvPr/>
          </p:nvSpPr>
          <p:spPr bwMode="auto">
            <a:xfrm>
              <a:off x="7543800" y="32004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38" name="Line 374"/>
            <p:cNvSpPr>
              <a:spLocks noChangeShapeType="1"/>
            </p:cNvSpPr>
            <p:nvPr/>
          </p:nvSpPr>
          <p:spPr bwMode="auto">
            <a:xfrm>
              <a:off x="7772400" y="32004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39" name="Line 377"/>
            <p:cNvSpPr>
              <a:spLocks noChangeShapeType="1"/>
            </p:cNvSpPr>
            <p:nvPr/>
          </p:nvSpPr>
          <p:spPr bwMode="auto">
            <a:xfrm>
              <a:off x="3962400" y="1828800"/>
              <a:ext cx="533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540" name="Line 378"/>
            <p:cNvSpPr>
              <a:spLocks noChangeShapeType="1"/>
            </p:cNvSpPr>
            <p:nvPr/>
          </p:nvSpPr>
          <p:spPr bwMode="auto">
            <a:xfrm>
              <a:off x="5334000" y="1828800"/>
              <a:ext cx="3048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41" name="Line 379"/>
            <p:cNvSpPr>
              <a:spLocks noChangeShapeType="1"/>
            </p:cNvSpPr>
            <p:nvPr/>
          </p:nvSpPr>
          <p:spPr bwMode="auto">
            <a:xfrm>
              <a:off x="6400800" y="1828800"/>
              <a:ext cx="457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42" name="Line 380"/>
            <p:cNvSpPr>
              <a:spLocks noChangeShapeType="1"/>
            </p:cNvSpPr>
            <p:nvPr/>
          </p:nvSpPr>
          <p:spPr bwMode="auto">
            <a:xfrm>
              <a:off x="3962400" y="2286000"/>
              <a:ext cx="533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43" name="Line 381"/>
            <p:cNvSpPr>
              <a:spLocks noChangeShapeType="1"/>
            </p:cNvSpPr>
            <p:nvPr/>
          </p:nvSpPr>
          <p:spPr bwMode="auto">
            <a:xfrm>
              <a:off x="5257800" y="2286000"/>
              <a:ext cx="3810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44" name="Line 382"/>
            <p:cNvSpPr>
              <a:spLocks noChangeShapeType="1"/>
            </p:cNvSpPr>
            <p:nvPr/>
          </p:nvSpPr>
          <p:spPr bwMode="auto">
            <a:xfrm>
              <a:off x="6477000" y="2209800"/>
              <a:ext cx="3810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45" name="Line 383"/>
            <p:cNvSpPr>
              <a:spLocks noChangeShapeType="1"/>
            </p:cNvSpPr>
            <p:nvPr/>
          </p:nvSpPr>
          <p:spPr bwMode="auto">
            <a:xfrm>
              <a:off x="3962400" y="2667000"/>
              <a:ext cx="533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46" name="Line 384"/>
            <p:cNvSpPr>
              <a:spLocks noChangeShapeType="1"/>
            </p:cNvSpPr>
            <p:nvPr/>
          </p:nvSpPr>
          <p:spPr bwMode="auto">
            <a:xfrm>
              <a:off x="5334000" y="2590800"/>
              <a:ext cx="3048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47" name="Line 385"/>
            <p:cNvSpPr>
              <a:spLocks noChangeShapeType="1"/>
            </p:cNvSpPr>
            <p:nvPr/>
          </p:nvSpPr>
          <p:spPr bwMode="auto">
            <a:xfrm>
              <a:off x="3962400" y="3048000"/>
              <a:ext cx="533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48" name="Line 386"/>
            <p:cNvSpPr>
              <a:spLocks noChangeShapeType="1"/>
            </p:cNvSpPr>
            <p:nvPr/>
          </p:nvSpPr>
          <p:spPr bwMode="auto">
            <a:xfrm>
              <a:off x="5334000" y="2971800"/>
              <a:ext cx="3048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49" name="Line 387"/>
            <p:cNvSpPr>
              <a:spLocks noChangeShapeType="1"/>
            </p:cNvSpPr>
            <p:nvPr/>
          </p:nvSpPr>
          <p:spPr bwMode="auto">
            <a:xfrm>
              <a:off x="3962400" y="3429000"/>
              <a:ext cx="533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50" name="Line 388"/>
            <p:cNvSpPr>
              <a:spLocks noChangeShapeType="1"/>
            </p:cNvSpPr>
            <p:nvPr/>
          </p:nvSpPr>
          <p:spPr bwMode="auto">
            <a:xfrm>
              <a:off x="5257800" y="3352800"/>
              <a:ext cx="3810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51" name="Line 389"/>
            <p:cNvSpPr>
              <a:spLocks noChangeShapeType="1"/>
            </p:cNvSpPr>
            <p:nvPr/>
          </p:nvSpPr>
          <p:spPr bwMode="auto">
            <a:xfrm>
              <a:off x="6477000" y="3352800"/>
              <a:ext cx="3810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52" name="Line 390"/>
            <p:cNvSpPr>
              <a:spLocks noChangeShapeType="1"/>
            </p:cNvSpPr>
            <p:nvPr/>
          </p:nvSpPr>
          <p:spPr bwMode="auto">
            <a:xfrm>
              <a:off x="7620000" y="3352800"/>
              <a:ext cx="457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53" name="Rectangle 421"/>
            <p:cNvSpPr>
              <a:spLocks noChangeArrowheads="1"/>
            </p:cNvSpPr>
            <p:nvPr/>
          </p:nvSpPr>
          <p:spPr bwMode="auto">
            <a:xfrm>
              <a:off x="3657600" y="1371600"/>
              <a:ext cx="47625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a:solidFill>
                    <a:schemeClr val="tx2"/>
                  </a:solidFill>
                  <a:latin typeface="Arial" pitchFamily="34" charset="0"/>
                </a:rPr>
                <a:t>Adj</a:t>
              </a:r>
            </a:p>
          </p:txBody>
        </p:sp>
        <p:grpSp>
          <p:nvGrpSpPr>
            <p:cNvPr id="342" name="Group 341"/>
            <p:cNvGrpSpPr/>
            <p:nvPr/>
          </p:nvGrpSpPr>
          <p:grpSpPr>
            <a:xfrm>
              <a:off x="242184" y="1767915"/>
              <a:ext cx="2941455" cy="1798169"/>
              <a:chOff x="908233" y="2342970"/>
              <a:chExt cx="2941455" cy="1798169"/>
            </a:xfrm>
          </p:grpSpPr>
          <p:sp>
            <p:nvSpPr>
              <p:cNvPr id="343" name="Rectangle 143"/>
              <p:cNvSpPr>
                <a:spLocks noChangeArrowheads="1"/>
              </p:cNvSpPr>
              <p:nvPr/>
            </p:nvSpPr>
            <p:spPr bwMode="auto">
              <a:xfrm>
                <a:off x="1684337" y="2342970"/>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6</a:t>
                </a:r>
              </a:p>
            </p:txBody>
          </p:sp>
          <p:sp>
            <p:nvSpPr>
              <p:cNvPr id="344" name="Rectangle 144"/>
              <p:cNvSpPr>
                <a:spLocks noChangeArrowheads="1"/>
              </p:cNvSpPr>
              <p:nvPr/>
            </p:nvSpPr>
            <p:spPr bwMode="auto">
              <a:xfrm>
                <a:off x="2861468" y="2387702"/>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8</a:t>
                </a:r>
              </a:p>
            </p:txBody>
          </p:sp>
          <p:sp>
            <p:nvSpPr>
              <p:cNvPr id="345" name="Rectangle 145"/>
              <p:cNvSpPr>
                <a:spLocks noChangeArrowheads="1"/>
              </p:cNvSpPr>
              <p:nvPr/>
            </p:nvSpPr>
            <p:spPr bwMode="auto">
              <a:xfrm>
                <a:off x="908233" y="3108325"/>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9</a:t>
                </a:r>
              </a:p>
            </p:txBody>
          </p:sp>
          <p:sp>
            <p:nvSpPr>
              <p:cNvPr id="346" name="Rectangle 146"/>
              <p:cNvSpPr>
                <a:spLocks noChangeArrowheads="1"/>
              </p:cNvSpPr>
              <p:nvPr/>
            </p:nvSpPr>
            <p:spPr bwMode="auto">
              <a:xfrm>
                <a:off x="1562388" y="3132222"/>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2</a:t>
                </a:r>
              </a:p>
            </p:txBody>
          </p:sp>
          <p:sp>
            <p:nvSpPr>
              <p:cNvPr id="347" name="Rectangle 147"/>
              <p:cNvSpPr>
                <a:spLocks noChangeArrowheads="1"/>
              </p:cNvSpPr>
              <p:nvPr/>
            </p:nvSpPr>
            <p:spPr bwMode="auto">
              <a:xfrm>
                <a:off x="1642268" y="3804589"/>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4</a:t>
                </a:r>
              </a:p>
            </p:txBody>
          </p:sp>
          <p:sp>
            <p:nvSpPr>
              <p:cNvPr id="348" name="Rectangle 148"/>
              <p:cNvSpPr>
                <a:spLocks noChangeArrowheads="1"/>
              </p:cNvSpPr>
              <p:nvPr/>
            </p:nvSpPr>
            <p:spPr bwMode="auto">
              <a:xfrm>
                <a:off x="2174081" y="3083585"/>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5</a:t>
                </a:r>
              </a:p>
            </p:txBody>
          </p:sp>
          <p:sp>
            <p:nvSpPr>
              <p:cNvPr id="349" name="Rectangle 149"/>
              <p:cNvSpPr>
                <a:spLocks noChangeArrowheads="1"/>
              </p:cNvSpPr>
              <p:nvPr/>
            </p:nvSpPr>
            <p:spPr bwMode="auto">
              <a:xfrm>
                <a:off x="2748407" y="2963947"/>
                <a:ext cx="365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-6</a:t>
                </a:r>
              </a:p>
            </p:txBody>
          </p:sp>
          <p:sp>
            <p:nvSpPr>
              <p:cNvPr id="350" name="Line 22"/>
              <p:cNvSpPr>
                <a:spLocks noChangeShapeType="1"/>
              </p:cNvSpPr>
              <p:nvPr/>
            </p:nvSpPr>
            <p:spPr bwMode="auto">
              <a:xfrm>
                <a:off x="1219200" y="3810000"/>
                <a:ext cx="1219200" cy="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351" name="Line 24"/>
              <p:cNvSpPr>
                <a:spLocks noChangeShapeType="1"/>
              </p:cNvSpPr>
              <p:nvPr/>
            </p:nvSpPr>
            <p:spPr bwMode="auto">
              <a:xfrm flipH="1">
                <a:off x="2438400" y="2743200"/>
                <a:ext cx="1143000" cy="106680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352" name="Line 21"/>
              <p:cNvSpPr>
                <a:spLocks noChangeShapeType="1"/>
              </p:cNvSpPr>
              <p:nvPr/>
            </p:nvSpPr>
            <p:spPr bwMode="auto">
              <a:xfrm>
                <a:off x="1219200" y="2743200"/>
                <a:ext cx="0" cy="106680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353" name="Line 23"/>
              <p:cNvSpPr>
                <a:spLocks noChangeShapeType="1"/>
              </p:cNvSpPr>
              <p:nvPr/>
            </p:nvSpPr>
            <p:spPr bwMode="auto">
              <a:xfrm flipH="1" flipV="1">
                <a:off x="1219200" y="2743200"/>
                <a:ext cx="1219200" cy="106680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354" name="Line 25"/>
              <p:cNvSpPr>
                <a:spLocks noChangeShapeType="1"/>
              </p:cNvSpPr>
              <p:nvPr/>
            </p:nvSpPr>
            <p:spPr bwMode="auto">
              <a:xfrm flipV="1">
                <a:off x="2438400" y="2743200"/>
                <a:ext cx="0" cy="106680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355" name="Line 20"/>
              <p:cNvSpPr>
                <a:spLocks noChangeShapeType="1"/>
              </p:cNvSpPr>
              <p:nvPr/>
            </p:nvSpPr>
            <p:spPr bwMode="auto">
              <a:xfrm>
                <a:off x="2438400" y="2743200"/>
                <a:ext cx="1143000" cy="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356" name="Line 19"/>
              <p:cNvSpPr>
                <a:spLocks noChangeShapeType="1"/>
              </p:cNvSpPr>
              <p:nvPr/>
            </p:nvSpPr>
            <p:spPr bwMode="auto">
              <a:xfrm>
                <a:off x="1219200" y="2743200"/>
                <a:ext cx="1219200" cy="0"/>
              </a:xfrm>
              <a:prstGeom prst="line">
                <a:avLst/>
              </a:prstGeom>
              <a:noFill/>
              <a:ln w="38100">
                <a:solidFill>
                  <a:schemeClr val="accent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357" name="Oval 13"/>
              <p:cNvSpPr>
                <a:spLocks noChangeArrowheads="1"/>
              </p:cNvSpPr>
              <p:nvPr/>
            </p:nvSpPr>
            <p:spPr bwMode="auto">
              <a:xfrm>
                <a:off x="990600" y="2514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1</a:t>
                </a:r>
              </a:p>
            </p:txBody>
          </p:sp>
          <p:sp>
            <p:nvSpPr>
              <p:cNvPr id="358" name="Oval 14"/>
              <p:cNvSpPr>
                <a:spLocks noChangeArrowheads="1"/>
              </p:cNvSpPr>
              <p:nvPr/>
            </p:nvSpPr>
            <p:spPr bwMode="auto">
              <a:xfrm>
                <a:off x="2209800" y="2514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2</a:t>
                </a:r>
              </a:p>
            </p:txBody>
          </p:sp>
          <p:sp>
            <p:nvSpPr>
              <p:cNvPr id="359" name="Oval 15"/>
              <p:cNvSpPr>
                <a:spLocks noChangeArrowheads="1"/>
              </p:cNvSpPr>
              <p:nvPr/>
            </p:nvSpPr>
            <p:spPr bwMode="auto">
              <a:xfrm>
                <a:off x="990600" y="35814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a:solidFill>
                      <a:schemeClr val="tx2"/>
                    </a:solidFill>
                    <a:latin typeface="Arial" pitchFamily="34" charset="0"/>
                  </a:rPr>
                  <a:t>4</a:t>
                </a:r>
              </a:p>
            </p:txBody>
          </p:sp>
          <p:sp>
            <p:nvSpPr>
              <p:cNvPr id="360" name="Oval 16"/>
              <p:cNvSpPr>
                <a:spLocks noChangeArrowheads="1"/>
              </p:cNvSpPr>
              <p:nvPr/>
            </p:nvSpPr>
            <p:spPr bwMode="auto">
              <a:xfrm>
                <a:off x="2209800" y="35814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5</a:t>
                </a:r>
              </a:p>
            </p:txBody>
          </p:sp>
          <p:sp>
            <p:nvSpPr>
              <p:cNvPr id="361" name="Oval 17"/>
              <p:cNvSpPr>
                <a:spLocks noChangeArrowheads="1"/>
              </p:cNvSpPr>
              <p:nvPr/>
            </p:nvSpPr>
            <p:spPr bwMode="auto">
              <a:xfrm>
                <a:off x="3352800" y="2514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3</a:t>
                </a:r>
              </a:p>
            </p:txBody>
          </p:sp>
          <p:sp>
            <p:nvSpPr>
              <p:cNvPr id="362" name="Oval 18"/>
              <p:cNvSpPr>
                <a:spLocks noChangeArrowheads="1"/>
              </p:cNvSpPr>
              <p:nvPr/>
            </p:nvSpPr>
            <p:spPr bwMode="auto">
              <a:xfrm>
                <a:off x="3352800" y="35814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6</a:t>
                </a:r>
              </a:p>
            </p:txBody>
          </p:sp>
        </p:grpSp>
      </p:grpSp>
      <p:grpSp>
        <p:nvGrpSpPr>
          <p:cNvPr id="3" name="Group 2"/>
          <p:cNvGrpSpPr/>
          <p:nvPr/>
        </p:nvGrpSpPr>
        <p:grpSpPr>
          <a:xfrm>
            <a:off x="293290" y="4114800"/>
            <a:ext cx="7479110" cy="2597150"/>
            <a:chOff x="293290" y="4114800"/>
            <a:chExt cx="7479110" cy="2597150"/>
          </a:xfrm>
        </p:grpSpPr>
        <p:sp>
          <p:nvSpPr>
            <p:cNvPr id="10269" name="Rectangle 424"/>
            <p:cNvSpPr>
              <a:spLocks noChangeArrowheads="1"/>
            </p:cNvSpPr>
            <p:nvPr/>
          </p:nvSpPr>
          <p:spPr bwMode="auto">
            <a:xfrm>
              <a:off x="3733800" y="6324600"/>
              <a:ext cx="381000" cy="381000"/>
            </a:xfrm>
            <a:prstGeom prst="rect">
              <a:avLst/>
            </a:prstGeom>
            <a:solidFill>
              <a:schemeClr val="bg1"/>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270" name="Rectangle 425"/>
            <p:cNvSpPr>
              <a:spLocks noChangeArrowheads="1"/>
            </p:cNvSpPr>
            <p:nvPr/>
          </p:nvSpPr>
          <p:spPr bwMode="auto">
            <a:xfrm>
              <a:off x="3733800" y="5943600"/>
              <a:ext cx="381000" cy="381000"/>
            </a:xfrm>
            <a:prstGeom prst="rect">
              <a:avLst/>
            </a:prstGeom>
            <a:solidFill>
              <a:schemeClr val="bg1"/>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271" name="Rectangle 426"/>
            <p:cNvSpPr>
              <a:spLocks noChangeArrowheads="1"/>
            </p:cNvSpPr>
            <p:nvPr/>
          </p:nvSpPr>
          <p:spPr bwMode="auto">
            <a:xfrm>
              <a:off x="3733800" y="5562600"/>
              <a:ext cx="381000" cy="381000"/>
            </a:xfrm>
            <a:prstGeom prst="rect">
              <a:avLst/>
            </a:prstGeom>
            <a:solidFill>
              <a:schemeClr val="bg1"/>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272" name="Rectangle 427"/>
            <p:cNvSpPr>
              <a:spLocks noChangeArrowheads="1"/>
            </p:cNvSpPr>
            <p:nvPr/>
          </p:nvSpPr>
          <p:spPr bwMode="auto">
            <a:xfrm>
              <a:off x="3733800" y="5181600"/>
              <a:ext cx="381000" cy="381000"/>
            </a:xfrm>
            <a:prstGeom prst="rect">
              <a:avLst/>
            </a:prstGeom>
            <a:solidFill>
              <a:schemeClr val="bg1"/>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273" name="Rectangle 428"/>
            <p:cNvSpPr>
              <a:spLocks noChangeArrowheads="1"/>
            </p:cNvSpPr>
            <p:nvPr/>
          </p:nvSpPr>
          <p:spPr bwMode="auto">
            <a:xfrm>
              <a:off x="3733800" y="4800600"/>
              <a:ext cx="381000" cy="381000"/>
            </a:xfrm>
            <a:prstGeom prst="rect">
              <a:avLst/>
            </a:prstGeom>
            <a:solidFill>
              <a:schemeClr val="bg1"/>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274" name="Rectangle 429"/>
            <p:cNvSpPr>
              <a:spLocks noChangeArrowheads="1"/>
            </p:cNvSpPr>
            <p:nvPr/>
          </p:nvSpPr>
          <p:spPr bwMode="auto">
            <a:xfrm>
              <a:off x="3733800" y="4419600"/>
              <a:ext cx="381000" cy="381000"/>
            </a:xfrm>
            <a:prstGeom prst="rect">
              <a:avLst/>
            </a:prstGeom>
            <a:solidFill>
              <a:schemeClr val="bg1"/>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275" name="Line 430"/>
            <p:cNvSpPr>
              <a:spLocks noChangeShapeType="1"/>
            </p:cNvSpPr>
            <p:nvPr/>
          </p:nvSpPr>
          <p:spPr bwMode="auto">
            <a:xfrm>
              <a:off x="3733800" y="4419600"/>
              <a:ext cx="3810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76" name="Line 431"/>
            <p:cNvSpPr>
              <a:spLocks noChangeShapeType="1"/>
            </p:cNvSpPr>
            <p:nvPr/>
          </p:nvSpPr>
          <p:spPr bwMode="auto">
            <a:xfrm>
              <a:off x="3733800" y="4800600"/>
              <a:ext cx="381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77" name="Line 432"/>
            <p:cNvSpPr>
              <a:spLocks noChangeShapeType="1"/>
            </p:cNvSpPr>
            <p:nvPr/>
          </p:nvSpPr>
          <p:spPr bwMode="auto">
            <a:xfrm>
              <a:off x="3733800" y="5181600"/>
              <a:ext cx="381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78" name="Line 433"/>
            <p:cNvSpPr>
              <a:spLocks noChangeShapeType="1"/>
            </p:cNvSpPr>
            <p:nvPr/>
          </p:nvSpPr>
          <p:spPr bwMode="auto">
            <a:xfrm>
              <a:off x="3733800" y="5562600"/>
              <a:ext cx="381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79" name="Line 434"/>
            <p:cNvSpPr>
              <a:spLocks noChangeShapeType="1"/>
            </p:cNvSpPr>
            <p:nvPr/>
          </p:nvSpPr>
          <p:spPr bwMode="auto">
            <a:xfrm>
              <a:off x="3733800" y="5943600"/>
              <a:ext cx="381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80" name="Line 435"/>
            <p:cNvSpPr>
              <a:spLocks noChangeShapeType="1"/>
            </p:cNvSpPr>
            <p:nvPr/>
          </p:nvSpPr>
          <p:spPr bwMode="auto">
            <a:xfrm>
              <a:off x="3733800" y="6324600"/>
              <a:ext cx="381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81" name="Line 436"/>
            <p:cNvSpPr>
              <a:spLocks noChangeShapeType="1"/>
            </p:cNvSpPr>
            <p:nvPr/>
          </p:nvSpPr>
          <p:spPr bwMode="auto">
            <a:xfrm>
              <a:off x="3733800" y="6705600"/>
              <a:ext cx="3810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82" name="Line 437"/>
            <p:cNvSpPr>
              <a:spLocks noChangeShapeType="1"/>
            </p:cNvSpPr>
            <p:nvPr/>
          </p:nvSpPr>
          <p:spPr bwMode="auto">
            <a:xfrm>
              <a:off x="3733800" y="4419600"/>
              <a:ext cx="0" cy="228600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83" name="Line 438"/>
            <p:cNvSpPr>
              <a:spLocks noChangeShapeType="1"/>
            </p:cNvSpPr>
            <p:nvPr/>
          </p:nvSpPr>
          <p:spPr bwMode="auto">
            <a:xfrm>
              <a:off x="4114800" y="4419600"/>
              <a:ext cx="0" cy="228600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84" name="Text Box 439"/>
            <p:cNvSpPr txBox="1">
              <a:spLocks noChangeArrowheads="1"/>
            </p:cNvSpPr>
            <p:nvPr/>
          </p:nvSpPr>
          <p:spPr bwMode="auto">
            <a:xfrm>
              <a:off x="3429000" y="4343400"/>
              <a:ext cx="296863" cy="236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55000"/>
                </a:lnSpc>
                <a:buFontTx/>
                <a:buNone/>
              </a:pPr>
              <a:r>
                <a:rPr lang="en-US">
                  <a:solidFill>
                    <a:schemeClr val="tx2"/>
                  </a:solidFill>
                  <a:latin typeface="Arial" pitchFamily="34" charset="0"/>
                </a:rPr>
                <a:t>1</a:t>
              </a:r>
            </a:p>
            <a:p>
              <a:pPr algn="ctr" eaLnBrk="1" hangingPunct="1">
                <a:lnSpc>
                  <a:spcPct val="155000"/>
                </a:lnSpc>
                <a:buFontTx/>
                <a:buNone/>
              </a:pPr>
              <a:r>
                <a:rPr lang="en-US">
                  <a:solidFill>
                    <a:schemeClr val="tx2"/>
                  </a:solidFill>
                  <a:latin typeface="Arial" pitchFamily="34" charset="0"/>
                </a:rPr>
                <a:t>2</a:t>
              </a:r>
            </a:p>
            <a:p>
              <a:pPr algn="ctr" eaLnBrk="1" hangingPunct="1">
                <a:lnSpc>
                  <a:spcPct val="155000"/>
                </a:lnSpc>
                <a:buFontTx/>
                <a:buNone/>
              </a:pPr>
              <a:r>
                <a:rPr lang="en-US">
                  <a:solidFill>
                    <a:schemeClr val="tx2"/>
                  </a:solidFill>
                  <a:latin typeface="Arial" pitchFamily="34" charset="0"/>
                </a:rPr>
                <a:t>3</a:t>
              </a:r>
            </a:p>
            <a:p>
              <a:pPr algn="ctr" eaLnBrk="1" hangingPunct="1">
                <a:lnSpc>
                  <a:spcPct val="155000"/>
                </a:lnSpc>
                <a:buFontTx/>
                <a:buNone/>
              </a:pPr>
              <a:r>
                <a:rPr lang="en-US">
                  <a:solidFill>
                    <a:schemeClr val="tx2"/>
                  </a:solidFill>
                  <a:latin typeface="Arial" pitchFamily="34" charset="0"/>
                </a:rPr>
                <a:t>4</a:t>
              </a:r>
            </a:p>
            <a:p>
              <a:pPr algn="ctr" eaLnBrk="1" hangingPunct="1">
                <a:lnSpc>
                  <a:spcPct val="155000"/>
                </a:lnSpc>
                <a:buFontTx/>
                <a:buNone/>
              </a:pPr>
              <a:r>
                <a:rPr lang="en-US">
                  <a:solidFill>
                    <a:schemeClr val="tx2"/>
                  </a:solidFill>
                  <a:latin typeface="Arial" pitchFamily="34" charset="0"/>
                </a:rPr>
                <a:t>5</a:t>
              </a:r>
            </a:p>
            <a:p>
              <a:pPr algn="ctr" eaLnBrk="1" hangingPunct="1">
                <a:lnSpc>
                  <a:spcPct val="155000"/>
                </a:lnSpc>
                <a:buFontTx/>
                <a:buNone/>
              </a:pPr>
              <a:r>
                <a:rPr lang="en-US">
                  <a:solidFill>
                    <a:schemeClr val="tx2"/>
                  </a:solidFill>
                  <a:latin typeface="Arial" pitchFamily="34" charset="0"/>
                </a:rPr>
                <a:t>6</a:t>
              </a:r>
            </a:p>
          </p:txBody>
        </p:sp>
        <p:sp>
          <p:nvSpPr>
            <p:cNvPr id="10285" name="Rectangle 441"/>
            <p:cNvSpPr>
              <a:spLocks noChangeArrowheads="1"/>
            </p:cNvSpPr>
            <p:nvPr/>
          </p:nvSpPr>
          <p:spPr bwMode="auto">
            <a:xfrm>
              <a:off x="5181600" y="44196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286" name="Rectangle 442"/>
            <p:cNvSpPr>
              <a:spLocks noChangeArrowheads="1"/>
            </p:cNvSpPr>
            <p:nvPr/>
          </p:nvSpPr>
          <p:spPr bwMode="auto">
            <a:xfrm>
              <a:off x="4800600" y="44196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6</a:t>
              </a:r>
            </a:p>
          </p:txBody>
        </p:sp>
        <p:sp>
          <p:nvSpPr>
            <p:cNvPr id="10287" name="Rectangle 443"/>
            <p:cNvSpPr>
              <a:spLocks noChangeArrowheads="1"/>
            </p:cNvSpPr>
            <p:nvPr/>
          </p:nvSpPr>
          <p:spPr bwMode="auto">
            <a:xfrm>
              <a:off x="4495800" y="44196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2</a:t>
              </a:r>
            </a:p>
          </p:txBody>
        </p:sp>
        <p:sp>
          <p:nvSpPr>
            <p:cNvPr id="10288" name="Line 444"/>
            <p:cNvSpPr>
              <a:spLocks noChangeShapeType="1"/>
            </p:cNvSpPr>
            <p:nvPr/>
          </p:nvSpPr>
          <p:spPr bwMode="auto">
            <a:xfrm>
              <a:off x="4495800" y="44196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89" name="Line 445"/>
            <p:cNvSpPr>
              <a:spLocks noChangeShapeType="1"/>
            </p:cNvSpPr>
            <p:nvPr/>
          </p:nvSpPr>
          <p:spPr bwMode="auto">
            <a:xfrm>
              <a:off x="4495800" y="47545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90" name="Line 446"/>
            <p:cNvSpPr>
              <a:spLocks noChangeShapeType="1"/>
            </p:cNvSpPr>
            <p:nvPr/>
          </p:nvSpPr>
          <p:spPr bwMode="auto">
            <a:xfrm>
              <a:off x="4495800" y="4419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91" name="Line 447"/>
            <p:cNvSpPr>
              <a:spLocks noChangeShapeType="1"/>
            </p:cNvSpPr>
            <p:nvPr/>
          </p:nvSpPr>
          <p:spPr bwMode="auto">
            <a:xfrm>
              <a:off x="4800600" y="4419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92" name="Line 448"/>
            <p:cNvSpPr>
              <a:spLocks noChangeShapeType="1"/>
            </p:cNvSpPr>
            <p:nvPr/>
          </p:nvSpPr>
          <p:spPr bwMode="auto">
            <a:xfrm>
              <a:off x="5181600" y="4419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93" name="Line 449"/>
            <p:cNvSpPr>
              <a:spLocks noChangeShapeType="1"/>
            </p:cNvSpPr>
            <p:nvPr/>
          </p:nvSpPr>
          <p:spPr bwMode="auto">
            <a:xfrm>
              <a:off x="5410200" y="4419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94" name="Rectangle 451"/>
            <p:cNvSpPr>
              <a:spLocks noChangeArrowheads="1"/>
            </p:cNvSpPr>
            <p:nvPr/>
          </p:nvSpPr>
          <p:spPr bwMode="auto">
            <a:xfrm>
              <a:off x="6324600" y="44196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295" name="Rectangle 452"/>
            <p:cNvSpPr>
              <a:spLocks noChangeArrowheads="1"/>
            </p:cNvSpPr>
            <p:nvPr/>
          </p:nvSpPr>
          <p:spPr bwMode="auto">
            <a:xfrm>
              <a:off x="5943600" y="44196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9</a:t>
              </a:r>
            </a:p>
          </p:txBody>
        </p:sp>
        <p:sp>
          <p:nvSpPr>
            <p:cNvPr id="10296" name="Rectangle 453"/>
            <p:cNvSpPr>
              <a:spLocks noChangeArrowheads="1"/>
            </p:cNvSpPr>
            <p:nvPr/>
          </p:nvSpPr>
          <p:spPr bwMode="auto">
            <a:xfrm>
              <a:off x="5638800" y="44196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4</a:t>
              </a:r>
            </a:p>
          </p:txBody>
        </p:sp>
        <p:sp>
          <p:nvSpPr>
            <p:cNvPr id="10297" name="Line 454"/>
            <p:cNvSpPr>
              <a:spLocks noChangeShapeType="1"/>
            </p:cNvSpPr>
            <p:nvPr/>
          </p:nvSpPr>
          <p:spPr bwMode="auto">
            <a:xfrm>
              <a:off x="5638800" y="44196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98" name="Line 455"/>
            <p:cNvSpPr>
              <a:spLocks noChangeShapeType="1"/>
            </p:cNvSpPr>
            <p:nvPr/>
          </p:nvSpPr>
          <p:spPr bwMode="auto">
            <a:xfrm>
              <a:off x="5638800" y="47545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99" name="Line 456"/>
            <p:cNvSpPr>
              <a:spLocks noChangeShapeType="1"/>
            </p:cNvSpPr>
            <p:nvPr/>
          </p:nvSpPr>
          <p:spPr bwMode="auto">
            <a:xfrm>
              <a:off x="5638800" y="4419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00" name="Line 457"/>
            <p:cNvSpPr>
              <a:spLocks noChangeShapeType="1"/>
            </p:cNvSpPr>
            <p:nvPr/>
          </p:nvSpPr>
          <p:spPr bwMode="auto">
            <a:xfrm>
              <a:off x="5943600" y="4419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01" name="Line 458"/>
            <p:cNvSpPr>
              <a:spLocks noChangeShapeType="1"/>
            </p:cNvSpPr>
            <p:nvPr/>
          </p:nvSpPr>
          <p:spPr bwMode="auto">
            <a:xfrm>
              <a:off x="6324600" y="4419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02" name="Line 459"/>
            <p:cNvSpPr>
              <a:spLocks noChangeShapeType="1"/>
            </p:cNvSpPr>
            <p:nvPr/>
          </p:nvSpPr>
          <p:spPr bwMode="auto">
            <a:xfrm>
              <a:off x="6553200" y="4419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03" name="Rectangle 461"/>
            <p:cNvSpPr>
              <a:spLocks noChangeArrowheads="1"/>
            </p:cNvSpPr>
            <p:nvPr/>
          </p:nvSpPr>
          <p:spPr bwMode="auto">
            <a:xfrm>
              <a:off x="7543800" y="44196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304" name="Rectangle 462"/>
            <p:cNvSpPr>
              <a:spLocks noChangeArrowheads="1"/>
            </p:cNvSpPr>
            <p:nvPr/>
          </p:nvSpPr>
          <p:spPr bwMode="auto">
            <a:xfrm>
              <a:off x="7162800" y="44196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3</a:t>
              </a:r>
            </a:p>
          </p:txBody>
        </p:sp>
        <p:sp>
          <p:nvSpPr>
            <p:cNvPr id="10305" name="Rectangle 463"/>
            <p:cNvSpPr>
              <a:spLocks noChangeArrowheads="1"/>
            </p:cNvSpPr>
            <p:nvPr/>
          </p:nvSpPr>
          <p:spPr bwMode="auto">
            <a:xfrm>
              <a:off x="6858000" y="44196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5</a:t>
              </a:r>
            </a:p>
          </p:txBody>
        </p:sp>
        <p:sp>
          <p:nvSpPr>
            <p:cNvPr id="10306" name="Line 464"/>
            <p:cNvSpPr>
              <a:spLocks noChangeShapeType="1"/>
            </p:cNvSpPr>
            <p:nvPr/>
          </p:nvSpPr>
          <p:spPr bwMode="auto">
            <a:xfrm>
              <a:off x="6858000" y="44196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07" name="Line 465"/>
            <p:cNvSpPr>
              <a:spLocks noChangeShapeType="1"/>
            </p:cNvSpPr>
            <p:nvPr/>
          </p:nvSpPr>
          <p:spPr bwMode="auto">
            <a:xfrm>
              <a:off x="6858000" y="47545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08" name="Line 466"/>
            <p:cNvSpPr>
              <a:spLocks noChangeShapeType="1"/>
            </p:cNvSpPr>
            <p:nvPr/>
          </p:nvSpPr>
          <p:spPr bwMode="auto">
            <a:xfrm>
              <a:off x="6858000" y="4419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09" name="Line 467"/>
            <p:cNvSpPr>
              <a:spLocks noChangeShapeType="1"/>
            </p:cNvSpPr>
            <p:nvPr/>
          </p:nvSpPr>
          <p:spPr bwMode="auto">
            <a:xfrm>
              <a:off x="7162800" y="4419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10" name="Line 468"/>
            <p:cNvSpPr>
              <a:spLocks noChangeShapeType="1"/>
            </p:cNvSpPr>
            <p:nvPr/>
          </p:nvSpPr>
          <p:spPr bwMode="auto">
            <a:xfrm>
              <a:off x="7543800" y="4419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11" name="Line 469"/>
            <p:cNvSpPr>
              <a:spLocks noChangeShapeType="1"/>
            </p:cNvSpPr>
            <p:nvPr/>
          </p:nvSpPr>
          <p:spPr bwMode="auto">
            <a:xfrm>
              <a:off x="7772400" y="4419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12" name="Rectangle 501"/>
            <p:cNvSpPr>
              <a:spLocks noChangeArrowheads="1"/>
            </p:cNvSpPr>
            <p:nvPr/>
          </p:nvSpPr>
          <p:spPr bwMode="auto">
            <a:xfrm>
              <a:off x="5181600" y="51816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313" name="Rectangle 502"/>
            <p:cNvSpPr>
              <a:spLocks noChangeArrowheads="1"/>
            </p:cNvSpPr>
            <p:nvPr/>
          </p:nvSpPr>
          <p:spPr bwMode="auto">
            <a:xfrm>
              <a:off x="4800600" y="51816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8</a:t>
              </a:r>
            </a:p>
          </p:txBody>
        </p:sp>
        <p:sp>
          <p:nvSpPr>
            <p:cNvPr id="10314" name="Rectangle 503"/>
            <p:cNvSpPr>
              <a:spLocks noChangeArrowheads="1"/>
            </p:cNvSpPr>
            <p:nvPr/>
          </p:nvSpPr>
          <p:spPr bwMode="auto">
            <a:xfrm>
              <a:off x="4495800" y="51816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2</a:t>
              </a:r>
            </a:p>
          </p:txBody>
        </p:sp>
        <p:sp>
          <p:nvSpPr>
            <p:cNvPr id="10315" name="Line 504"/>
            <p:cNvSpPr>
              <a:spLocks noChangeShapeType="1"/>
            </p:cNvSpPr>
            <p:nvPr/>
          </p:nvSpPr>
          <p:spPr bwMode="auto">
            <a:xfrm>
              <a:off x="4495800" y="51816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16" name="Line 505"/>
            <p:cNvSpPr>
              <a:spLocks noChangeShapeType="1"/>
            </p:cNvSpPr>
            <p:nvPr/>
          </p:nvSpPr>
          <p:spPr bwMode="auto">
            <a:xfrm>
              <a:off x="4495800" y="55165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17" name="Line 506"/>
            <p:cNvSpPr>
              <a:spLocks noChangeShapeType="1"/>
            </p:cNvSpPr>
            <p:nvPr/>
          </p:nvSpPr>
          <p:spPr bwMode="auto">
            <a:xfrm>
              <a:off x="4495800" y="5181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18" name="Line 507"/>
            <p:cNvSpPr>
              <a:spLocks noChangeShapeType="1"/>
            </p:cNvSpPr>
            <p:nvPr/>
          </p:nvSpPr>
          <p:spPr bwMode="auto">
            <a:xfrm>
              <a:off x="4800600" y="5181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19" name="Line 508"/>
            <p:cNvSpPr>
              <a:spLocks noChangeShapeType="1"/>
            </p:cNvSpPr>
            <p:nvPr/>
          </p:nvSpPr>
          <p:spPr bwMode="auto">
            <a:xfrm>
              <a:off x="5181600" y="5181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20" name="Line 509"/>
            <p:cNvSpPr>
              <a:spLocks noChangeShapeType="1"/>
            </p:cNvSpPr>
            <p:nvPr/>
          </p:nvSpPr>
          <p:spPr bwMode="auto">
            <a:xfrm>
              <a:off x="5410200" y="5181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21" name="Rectangle 521"/>
            <p:cNvSpPr>
              <a:spLocks noChangeArrowheads="1"/>
            </p:cNvSpPr>
            <p:nvPr/>
          </p:nvSpPr>
          <p:spPr bwMode="auto">
            <a:xfrm>
              <a:off x="5181600" y="55626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322" name="Rectangle 522"/>
            <p:cNvSpPr>
              <a:spLocks noChangeArrowheads="1"/>
            </p:cNvSpPr>
            <p:nvPr/>
          </p:nvSpPr>
          <p:spPr bwMode="auto">
            <a:xfrm>
              <a:off x="4800600" y="55626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4</a:t>
              </a:r>
            </a:p>
          </p:txBody>
        </p:sp>
        <p:sp>
          <p:nvSpPr>
            <p:cNvPr id="10323" name="Rectangle 523"/>
            <p:cNvSpPr>
              <a:spLocks noChangeArrowheads="1"/>
            </p:cNvSpPr>
            <p:nvPr/>
          </p:nvSpPr>
          <p:spPr bwMode="auto">
            <a:xfrm>
              <a:off x="4495800" y="55626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5</a:t>
              </a:r>
            </a:p>
          </p:txBody>
        </p:sp>
        <p:sp>
          <p:nvSpPr>
            <p:cNvPr id="10324" name="Line 524"/>
            <p:cNvSpPr>
              <a:spLocks noChangeShapeType="1"/>
            </p:cNvSpPr>
            <p:nvPr/>
          </p:nvSpPr>
          <p:spPr bwMode="auto">
            <a:xfrm>
              <a:off x="4495800" y="55626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25" name="Line 525"/>
            <p:cNvSpPr>
              <a:spLocks noChangeShapeType="1"/>
            </p:cNvSpPr>
            <p:nvPr/>
          </p:nvSpPr>
          <p:spPr bwMode="auto">
            <a:xfrm>
              <a:off x="4495800" y="58975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26" name="Line 526"/>
            <p:cNvSpPr>
              <a:spLocks noChangeShapeType="1"/>
            </p:cNvSpPr>
            <p:nvPr/>
          </p:nvSpPr>
          <p:spPr bwMode="auto">
            <a:xfrm>
              <a:off x="4495800" y="5562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27" name="Line 527"/>
            <p:cNvSpPr>
              <a:spLocks noChangeShapeType="1"/>
            </p:cNvSpPr>
            <p:nvPr/>
          </p:nvSpPr>
          <p:spPr bwMode="auto">
            <a:xfrm>
              <a:off x="4800600" y="5562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28" name="Line 528"/>
            <p:cNvSpPr>
              <a:spLocks noChangeShapeType="1"/>
            </p:cNvSpPr>
            <p:nvPr/>
          </p:nvSpPr>
          <p:spPr bwMode="auto">
            <a:xfrm>
              <a:off x="5181600" y="5562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29" name="Line 529"/>
            <p:cNvSpPr>
              <a:spLocks noChangeShapeType="1"/>
            </p:cNvSpPr>
            <p:nvPr/>
          </p:nvSpPr>
          <p:spPr bwMode="auto">
            <a:xfrm>
              <a:off x="5410200" y="5562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30" name="Rectangle 551"/>
            <p:cNvSpPr>
              <a:spLocks noChangeArrowheads="1"/>
            </p:cNvSpPr>
            <p:nvPr/>
          </p:nvSpPr>
          <p:spPr bwMode="auto">
            <a:xfrm>
              <a:off x="5181600" y="59436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331" name="Rectangle 552"/>
            <p:cNvSpPr>
              <a:spLocks noChangeArrowheads="1"/>
            </p:cNvSpPr>
            <p:nvPr/>
          </p:nvSpPr>
          <p:spPr bwMode="auto">
            <a:xfrm>
              <a:off x="4800600" y="59436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7</a:t>
              </a:r>
            </a:p>
          </p:txBody>
        </p:sp>
        <p:sp>
          <p:nvSpPr>
            <p:cNvPr id="10332" name="Rectangle 553"/>
            <p:cNvSpPr>
              <a:spLocks noChangeArrowheads="1"/>
            </p:cNvSpPr>
            <p:nvPr/>
          </p:nvSpPr>
          <p:spPr bwMode="auto">
            <a:xfrm>
              <a:off x="4495800" y="59436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1</a:t>
              </a:r>
            </a:p>
          </p:txBody>
        </p:sp>
        <p:sp>
          <p:nvSpPr>
            <p:cNvPr id="10333" name="Line 554"/>
            <p:cNvSpPr>
              <a:spLocks noChangeShapeType="1"/>
            </p:cNvSpPr>
            <p:nvPr/>
          </p:nvSpPr>
          <p:spPr bwMode="auto">
            <a:xfrm>
              <a:off x="4495800" y="59436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34" name="Line 555"/>
            <p:cNvSpPr>
              <a:spLocks noChangeShapeType="1"/>
            </p:cNvSpPr>
            <p:nvPr/>
          </p:nvSpPr>
          <p:spPr bwMode="auto">
            <a:xfrm>
              <a:off x="4495800" y="62785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35" name="Line 556"/>
            <p:cNvSpPr>
              <a:spLocks noChangeShapeType="1"/>
            </p:cNvSpPr>
            <p:nvPr/>
          </p:nvSpPr>
          <p:spPr bwMode="auto">
            <a:xfrm>
              <a:off x="4495800" y="5943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36" name="Line 557"/>
            <p:cNvSpPr>
              <a:spLocks noChangeShapeType="1"/>
            </p:cNvSpPr>
            <p:nvPr/>
          </p:nvSpPr>
          <p:spPr bwMode="auto">
            <a:xfrm>
              <a:off x="4800600" y="5943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37" name="Line 558"/>
            <p:cNvSpPr>
              <a:spLocks noChangeShapeType="1"/>
            </p:cNvSpPr>
            <p:nvPr/>
          </p:nvSpPr>
          <p:spPr bwMode="auto">
            <a:xfrm>
              <a:off x="5181600" y="5943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38" name="Line 559"/>
            <p:cNvSpPr>
              <a:spLocks noChangeShapeType="1"/>
            </p:cNvSpPr>
            <p:nvPr/>
          </p:nvSpPr>
          <p:spPr bwMode="auto">
            <a:xfrm>
              <a:off x="5410200" y="5943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39" name="Rectangle 561"/>
            <p:cNvSpPr>
              <a:spLocks noChangeArrowheads="1"/>
            </p:cNvSpPr>
            <p:nvPr/>
          </p:nvSpPr>
          <p:spPr bwMode="auto">
            <a:xfrm>
              <a:off x="6324600" y="59436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340" name="Rectangle 562"/>
            <p:cNvSpPr>
              <a:spLocks noChangeArrowheads="1"/>
            </p:cNvSpPr>
            <p:nvPr/>
          </p:nvSpPr>
          <p:spPr bwMode="auto">
            <a:xfrm>
              <a:off x="5943600" y="59436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5</a:t>
              </a:r>
            </a:p>
          </p:txBody>
        </p:sp>
        <p:sp>
          <p:nvSpPr>
            <p:cNvPr id="10341" name="Rectangle 563"/>
            <p:cNvSpPr>
              <a:spLocks noChangeArrowheads="1"/>
            </p:cNvSpPr>
            <p:nvPr/>
          </p:nvSpPr>
          <p:spPr bwMode="auto">
            <a:xfrm>
              <a:off x="5638800" y="59436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2</a:t>
              </a:r>
            </a:p>
          </p:txBody>
        </p:sp>
        <p:sp>
          <p:nvSpPr>
            <p:cNvPr id="10342" name="Line 564"/>
            <p:cNvSpPr>
              <a:spLocks noChangeShapeType="1"/>
            </p:cNvSpPr>
            <p:nvPr/>
          </p:nvSpPr>
          <p:spPr bwMode="auto">
            <a:xfrm>
              <a:off x="5638800" y="59436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43" name="Line 565"/>
            <p:cNvSpPr>
              <a:spLocks noChangeShapeType="1"/>
            </p:cNvSpPr>
            <p:nvPr/>
          </p:nvSpPr>
          <p:spPr bwMode="auto">
            <a:xfrm>
              <a:off x="5638800" y="62785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44" name="Line 566"/>
            <p:cNvSpPr>
              <a:spLocks noChangeShapeType="1"/>
            </p:cNvSpPr>
            <p:nvPr/>
          </p:nvSpPr>
          <p:spPr bwMode="auto">
            <a:xfrm>
              <a:off x="5638800" y="5943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45" name="Line 567"/>
            <p:cNvSpPr>
              <a:spLocks noChangeShapeType="1"/>
            </p:cNvSpPr>
            <p:nvPr/>
          </p:nvSpPr>
          <p:spPr bwMode="auto">
            <a:xfrm>
              <a:off x="5943600" y="5943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46" name="Line 568"/>
            <p:cNvSpPr>
              <a:spLocks noChangeShapeType="1"/>
            </p:cNvSpPr>
            <p:nvPr/>
          </p:nvSpPr>
          <p:spPr bwMode="auto">
            <a:xfrm>
              <a:off x="6324600" y="5943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47" name="Line 569"/>
            <p:cNvSpPr>
              <a:spLocks noChangeShapeType="1"/>
            </p:cNvSpPr>
            <p:nvPr/>
          </p:nvSpPr>
          <p:spPr bwMode="auto">
            <a:xfrm>
              <a:off x="6553200" y="5943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48" name="Rectangle 571"/>
            <p:cNvSpPr>
              <a:spLocks noChangeArrowheads="1"/>
            </p:cNvSpPr>
            <p:nvPr/>
          </p:nvSpPr>
          <p:spPr bwMode="auto">
            <a:xfrm>
              <a:off x="7543800" y="59436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349" name="Rectangle 572"/>
            <p:cNvSpPr>
              <a:spLocks noChangeArrowheads="1"/>
            </p:cNvSpPr>
            <p:nvPr/>
          </p:nvSpPr>
          <p:spPr bwMode="auto">
            <a:xfrm>
              <a:off x="7162800" y="59436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-6</a:t>
              </a:r>
            </a:p>
          </p:txBody>
        </p:sp>
        <p:sp>
          <p:nvSpPr>
            <p:cNvPr id="10350" name="Rectangle 573"/>
            <p:cNvSpPr>
              <a:spLocks noChangeArrowheads="1"/>
            </p:cNvSpPr>
            <p:nvPr/>
          </p:nvSpPr>
          <p:spPr bwMode="auto">
            <a:xfrm>
              <a:off x="6858000" y="59436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3</a:t>
              </a:r>
            </a:p>
          </p:txBody>
        </p:sp>
        <p:sp>
          <p:nvSpPr>
            <p:cNvPr id="10351" name="Line 574"/>
            <p:cNvSpPr>
              <a:spLocks noChangeShapeType="1"/>
            </p:cNvSpPr>
            <p:nvPr/>
          </p:nvSpPr>
          <p:spPr bwMode="auto">
            <a:xfrm>
              <a:off x="6858000" y="59436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52" name="Line 575"/>
            <p:cNvSpPr>
              <a:spLocks noChangeShapeType="1"/>
            </p:cNvSpPr>
            <p:nvPr/>
          </p:nvSpPr>
          <p:spPr bwMode="auto">
            <a:xfrm>
              <a:off x="6858000" y="62785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53" name="Line 576"/>
            <p:cNvSpPr>
              <a:spLocks noChangeShapeType="1"/>
            </p:cNvSpPr>
            <p:nvPr/>
          </p:nvSpPr>
          <p:spPr bwMode="auto">
            <a:xfrm>
              <a:off x="6858000" y="5943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54" name="Line 577"/>
            <p:cNvSpPr>
              <a:spLocks noChangeShapeType="1"/>
            </p:cNvSpPr>
            <p:nvPr/>
          </p:nvSpPr>
          <p:spPr bwMode="auto">
            <a:xfrm>
              <a:off x="7162800" y="5943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55" name="Line 578"/>
            <p:cNvSpPr>
              <a:spLocks noChangeShapeType="1"/>
            </p:cNvSpPr>
            <p:nvPr/>
          </p:nvSpPr>
          <p:spPr bwMode="auto">
            <a:xfrm>
              <a:off x="7543800" y="5943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56" name="Line 579"/>
            <p:cNvSpPr>
              <a:spLocks noChangeShapeType="1"/>
            </p:cNvSpPr>
            <p:nvPr/>
          </p:nvSpPr>
          <p:spPr bwMode="auto">
            <a:xfrm>
              <a:off x="7772400" y="5943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57" name="Line 580"/>
            <p:cNvSpPr>
              <a:spLocks noChangeShapeType="1"/>
            </p:cNvSpPr>
            <p:nvPr/>
          </p:nvSpPr>
          <p:spPr bwMode="auto">
            <a:xfrm>
              <a:off x="3962400" y="4572000"/>
              <a:ext cx="533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358" name="Line 581"/>
            <p:cNvSpPr>
              <a:spLocks noChangeShapeType="1"/>
            </p:cNvSpPr>
            <p:nvPr/>
          </p:nvSpPr>
          <p:spPr bwMode="auto">
            <a:xfrm>
              <a:off x="5334000" y="4572000"/>
              <a:ext cx="3048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59" name="Line 582"/>
            <p:cNvSpPr>
              <a:spLocks noChangeShapeType="1"/>
            </p:cNvSpPr>
            <p:nvPr/>
          </p:nvSpPr>
          <p:spPr bwMode="auto">
            <a:xfrm>
              <a:off x="6400800" y="4572000"/>
              <a:ext cx="457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60" name="Line 586"/>
            <p:cNvSpPr>
              <a:spLocks noChangeShapeType="1"/>
            </p:cNvSpPr>
            <p:nvPr/>
          </p:nvSpPr>
          <p:spPr bwMode="auto">
            <a:xfrm>
              <a:off x="3962400" y="5410200"/>
              <a:ext cx="533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61" name="Line 588"/>
            <p:cNvSpPr>
              <a:spLocks noChangeShapeType="1"/>
            </p:cNvSpPr>
            <p:nvPr/>
          </p:nvSpPr>
          <p:spPr bwMode="auto">
            <a:xfrm>
              <a:off x="3962400" y="5791200"/>
              <a:ext cx="533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62" name="Line 590"/>
            <p:cNvSpPr>
              <a:spLocks noChangeShapeType="1"/>
            </p:cNvSpPr>
            <p:nvPr/>
          </p:nvSpPr>
          <p:spPr bwMode="auto">
            <a:xfrm>
              <a:off x="3962400" y="6172200"/>
              <a:ext cx="533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63" name="Line 591"/>
            <p:cNvSpPr>
              <a:spLocks noChangeShapeType="1"/>
            </p:cNvSpPr>
            <p:nvPr/>
          </p:nvSpPr>
          <p:spPr bwMode="auto">
            <a:xfrm>
              <a:off x="5257800" y="6096000"/>
              <a:ext cx="3810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64" name="Line 592"/>
            <p:cNvSpPr>
              <a:spLocks noChangeShapeType="1"/>
            </p:cNvSpPr>
            <p:nvPr/>
          </p:nvSpPr>
          <p:spPr bwMode="auto">
            <a:xfrm>
              <a:off x="6477000" y="6096000"/>
              <a:ext cx="3810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65" name="Rectangle 594"/>
            <p:cNvSpPr>
              <a:spLocks noChangeArrowheads="1"/>
            </p:cNvSpPr>
            <p:nvPr/>
          </p:nvSpPr>
          <p:spPr bwMode="auto">
            <a:xfrm>
              <a:off x="3657600" y="4114800"/>
              <a:ext cx="47625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a:solidFill>
                    <a:schemeClr val="tx2"/>
                  </a:solidFill>
                  <a:latin typeface="Arial" pitchFamily="34" charset="0"/>
                </a:rPr>
                <a:t>Adj</a:t>
              </a:r>
            </a:p>
          </p:txBody>
        </p:sp>
        <p:sp>
          <p:nvSpPr>
            <p:cNvPr id="10366" name="Rectangle 599"/>
            <p:cNvSpPr>
              <a:spLocks noChangeArrowheads="1"/>
            </p:cNvSpPr>
            <p:nvPr/>
          </p:nvSpPr>
          <p:spPr bwMode="auto">
            <a:xfrm>
              <a:off x="6324600" y="5181600"/>
              <a:ext cx="2286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endParaRPr lang="en-US"/>
            </a:p>
          </p:txBody>
        </p:sp>
        <p:sp>
          <p:nvSpPr>
            <p:cNvPr id="10367" name="Rectangle 600"/>
            <p:cNvSpPr>
              <a:spLocks noChangeArrowheads="1"/>
            </p:cNvSpPr>
            <p:nvPr/>
          </p:nvSpPr>
          <p:spPr bwMode="auto">
            <a:xfrm>
              <a:off x="5943600" y="5181600"/>
              <a:ext cx="3810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4</a:t>
              </a:r>
            </a:p>
          </p:txBody>
        </p:sp>
        <p:sp>
          <p:nvSpPr>
            <p:cNvPr id="10368" name="Rectangle 601"/>
            <p:cNvSpPr>
              <a:spLocks noChangeArrowheads="1"/>
            </p:cNvSpPr>
            <p:nvPr/>
          </p:nvSpPr>
          <p:spPr bwMode="auto">
            <a:xfrm>
              <a:off x="5638800" y="5181600"/>
              <a:ext cx="304800" cy="334963"/>
            </a:xfrm>
            <a:prstGeom prst="rect">
              <a:avLst/>
            </a:prstGeom>
            <a:solidFill>
              <a:srgbClr val="FF99CC"/>
            </a:solidFill>
            <a:ln>
              <a:noFill/>
            </a:ln>
            <a:effectLst/>
            <a:extLs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spcBef>
                  <a:spcPct val="20000"/>
                </a:spcBef>
                <a:buFontTx/>
                <a:buNone/>
              </a:pPr>
              <a:r>
                <a:rPr lang="en-US"/>
                <a:t>6</a:t>
              </a:r>
            </a:p>
          </p:txBody>
        </p:sp>
        <p:sp>
          <p:nvSpPr>
            <p:cNvPr id="10369" name="Line 602"/>
            <p:cNvSpPr>
              <a:spLocks noChangeShapeType="1"/>
            </p:cNvSpPr>
            <p:nvPr/>
          </p:nvSpPr>
          <p:spPr bwMode="auto">
            <a:xfrm>
              <a:off x="5638800" y="5181600"/>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70" name="Line 603"/>
            <p:cNvSpPr>
              <a:spLocks noChangeShapeType="1"/>
            </p:cNvSpPr>
            <p:nvPr/>
          </p:nvSpPr>
          <p:spPr bwMode="auto">
            <a:xfrm>
              <a:off x="5638800" y="5516563"/>
              <a:ext cx="9144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71" name="Line 604"/>
            <p:cNvSpPr>
              <a:spLocks noChangeShapeType="1"/>
            </p:cNvSpPr>
            <p:nvPr/>
          </p:nvSpPr>
          <p:spPr bwMode="auto">
            <a:xfrm>
              <a:off x="5638800" y="5181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72" name="Line 605"/>
            <p:cNvSpPr>
              <a:spLocks noChangeShapeType="1"/>
            </p:cNvSpPr>
            <p:nvPr/>
          </p:nvSpPr>
          <p:spPr bwMode="auto">
            <a:xfrm>
              <a:off x="5943600" y="5181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73" name="Line 606"/>
            <p:cNvSpPr>
              <a:spLocks noChangeShapeType="1"/>
            </p:cNvSpPr>
            <p:nvPr/>
          </p:nvSpPr>
          <p:spPr bwMode="auto">
            <a:xfrm>
              <a:off x="6324600" y="5181600"/>
              <a:ext cx="0" cy="334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74" name="Line 607"/>
            <p:cNvSpPr>
              <a:spLocks noChangeShapeType="1"/>
            </p:cNvSpPr>
            <p:nvPr/>
          </p:nvSpPr>
          <p:spPr bwMode="auto">
            <a:xfrm>
              <a:off x="6553200" y="5181600"/>
              <a:ext cx="0" cy="3349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75" name="Line 608"/>
            <p:cNvSpPr>
              <a:spLocks noChangeShapeType="1"/>
            </p:cNvSpPr>
            <p:nvPr/>
          </p:nvSpPr>
          <p:spPr bwMode="auto">
            <a:xfrm>
              <a:off x="5257800" y="5410200"/>
              <a:ext cx="3810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grpSp>
          <p:nvGrpSpPr>
            <p:cNvPr id="363" name="Group 362"/>
            <p:cNvGrpSpPr/>
            <p:nvPr/>
          </p:nvGrpSpPr>
          <p:grpSpPr>
            <a:xfrm>
              <a:off x="293290" y="4434374"/>
              <a:ext cx="2883869" cy="1704975"/>
              <a:chOff x="1042019" y="4738688"/>
              <a:chExt cx="2883869" cy="1704975"/>
            </a:xfrm>
          </p:grpSpPr>
          <p:sp>
            <p:nvSpPr>
              <p:cNvPr id="364" name="Rectangle 153"/>
              <p:cNvSpPr>
                <a:spLocks noChangeArrowheads="1"/>
              </p:cNvSpPr>
              <p:nvPr/>
            </p:nvSpPr>
            <p:spPr bwMode="auto">
              <a:xfrm>
                <a:off x="1793988" y="47386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6</a:t>
                </a:r>
              </a:p>
            </p:txBody>
          </p:sp>
          <p:sp>
            <p:nvSpPr>
              <p:cNvPr id="365" name="Rectangle 154"/>
              <p:cNvSpPr>
                <a:spLocks noChangeArrowheads="1"/>
              </p:cNvSpPr>
              <p:nvPr/>
            </p:nvSpPr>
            <p:spPr bwMode="auto">
              <a:xfrm>
                <a:off x="2996406" y="47386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8</a:t>
                </a:r>
              </a:p>
            </p:txBody>
          </p:sp>
          <p:sp>
            <p:nvSpPr>
              <p:cNvPr id="366" name="Rectangle 155"/>
              <p:cNvSpPr>
                <a:spLocks noChangeArrowheads="1"/>
              </p:cNvSpPr>
              <p:nvPr/>
            </p:nvSpPr>
            <p:spPr bwMode="auto">
              <a:xfrm>
                <a:off x="2487612" y="546496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5</a:t>
                </a:r>
              </a:p>
            </p:txBody>
          </p:sp>
          <p:sp>
            <p:nvSpPr>
              <p:cNvPr id="367" name="Rectangle 156"/>
              <p:cNvSpPr>
                <a:spLocks noChangeArrowheads="1"/>
              </p:cNvSpPr>
              <p:nvPr/>
            </p:nvSpPr>
            <p:spPr bwMode="auto">
              <a:xfrm>
                <a:off x="2779712" y="5400274"/>
                <a:ext cx="365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-6</a:t>
                </a:r>
              </a:p>
            </p:txBody>
          </p:sp>
          <p:sp>
            <p:nvSpPr>
              <p:cNvPr id="368" name="Rectangle 157"/>
              <p:cNvSpPr>
                <a:spLocks noChangeArrowheads="1"/>
              </p:cNvSpPr>
              <p:nvPr/>
            </p:nvSpPr>
            <p:spPr bwMode="auto">
              <a:xfrm>
                <a:off x="1885950" y="5268913"/>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7</a:t>
                </a:r>
              </a:p>
            </p:txBody>
          </p:sp>
          <p:sp>
            <p:nvSpPr>
              <p:cNvPr id="369" name="Rectangle 158"/>
              <p:cNvSpPr>
                <a:spLocks noChangeArrowheads="1"/>
              </p:cNvSpPr>
              <p:nvPr/>
            </p:nvSpPr>
            <p:spPr bwMode="auto">
              <a:xfrm>
                <a:off x="1680368" y="5536799"/>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3</a:t>
                </a:r>
              </a:p>
            </p:txBody>
          </p:sp>
          <p:sp>
            <p:nvSpPr>
              <p:cNvPr id="370" name="Rectangle 159"/>
              <p:cNvSpPr>
                <a:spLocks noChangeArrowheads="1"/>
              </p:cNvSpPr>
              <p:nvPr/>
            </p:nvSpPr>
            <p:spPr bwMode="auto">
              <a:xfrm>
                <a:off x="1042019" y="545623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9</a:t>
                </a:r>
              </a:p>
            </p:txBody>
          </p:sp>
          <p:sp>
            <p:nvSpPr>
              <p:cNvPr id="371" name="Rectangle 160"/>
              <p:cNvSpPr>
                <a:spLocks noChangeArrowheads="1"/>
              </p:cNvSpPr>
              <p:nvPr/>
            </p:nvSpPr>
            <p:spPr bwMode="auto">
              <a:xfrm>
                <a:off x="1660968" y="6107113"/>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dirty="0">
                    <a:solidFill>
                      <a:schemeClr val="tx2"/>
                    </a:solidFill>
                    <a:latin typeface="Arial" pitchFamily="34" charset="0"/>
                  </a:rPr>
                  <a:t>4</a:t>
                </a:r>
              </a:p>
            </p:txBody>
          </p:sp>
          <p:sp>
            <p:nvSpPr>
              <p:cNvPr id="372" name="Freeform 46"/>
              <p:cNvSpPr>
                <a:spLocks/>
              </p:cNvSpPr>
              <p:nvPr/>
            </p:nvSpPr>
            <p:spPr bwMode="auto">
              <a:xfrm>
                <a:off x="1544638" y="5222875"/>
                <a:ext cx="873125" cy="768350"/>
              </a:xfrm>
              <a:custGeom>
                <a:avLst/>
                <a:gdLst>
                  <a:gd name="T0" fmla="*/ 550 w 550"/>
                  <a:gd name="T1" fmla="*/ 484 h 484"/>
                  <a:gd name="T2" fmla="*/ 358 w 550"/>
                  <a:gd name="T3" fmla="*/ 245 h 484"/>
                  <a:gd name="T4" fmla="*/ 0 w 550"/>
                  <a:gd name="T5" fmla="*/ 0 h 484"/>
                  <a:gd name="T6" fmla="*/ 0 60000 65536"/>
                  <a:gd name="T7" fmla="*/ 0 60000 65536"/>
                  <a:gd name="T8" fmla="*/ 0 60000 65536"/>
                </a:gdLst>
                <a:ahLst/>
                <a:cxnLst>
                  <a:cxn ang="T6">
                    <a:pos x="T0" y="T1"/>
                  </a:cxn>
                  <a:cxn ang="T7">
                    <a:pos x="T2" y="T3"/>
                  </a:cxn>
                  <a:cxn ang="T8">
                    <a:pos x="T4" y="T5"/>
                  </a:cxn>
                </a:cxnLst>
                <a:rect l="0" t="0" r="r" b="b"/>
                <a:pathLst>
                  <a:path w="550" h="484">
                    <a:moveTo>
                      <a:pt x="550" y="484"/>
                    </a:moveTo>
                    <a:cubicBezTo>
                      <a:pt x="518" y="444"/>
                      <a:pt x="450" y="326"/>
                      <a:pt x="358" y="245"/>
                    </a:cubicBezTo>
                    <a:cubicBezTo>
                      <a:pt x="266" y="164"/>
                      <a:pt x="75" y="51"/>
                      <a:pt x="0" y="0"/>
                    </a:cubicBezTo>
                  </a:path>
                </a:pathLst>
              </a:custGeom>
              <a:noFill/>
              <a:ln w="38100" cap="flat" cmpd="sng">
                <a:solidFill>
                  <a:schemeClr val="accent2"/>
                </a:solidFill>
                <a:prstDash val="solid"/>
                <a:round/>
                <a:headEnd type="none" w="med" len="me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spAutoFit/>
              </a:bodyPr>
              <a:lstStyle/>
              <a:p>
                <a:endParaRPr lang="en-CA"/>
              </a:p>
            </p:txBody>
          </p:sp>
          <p:sp>
            <p:nvSpPr>
              <p:cNvPr id="373" name="Line 31"/>
              <p:cNvSpPr>
                <a:spLocks noChangeShapeType="1"/>
              </p:cNvSpPr>
              <p:nvPr/>
            </p:nvSpPr>
            <p:spPr bwMode="auto">
              <a:xfrm>
                <a:off x="1295400" y="6172200"/>
                <a:ext cx="990600" cy="0"/>
              </a:xfrm>
              <a:prstGeom prst="line">
                <a:avLst/>
              </a:prstGeom>
              <a:noFill/>
              <a:ln w="38100">
                <a:solidFill>
                  <a:schemeClr val="accent2"/>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374" name="Freeform 32"/>
              <p:cNvSpPr>
                <a:spLocks/>
              </p:cNvSpPr>
              <p:nvPr/>
            </p:nvSpPr>
            <p:spPr bwMode="auto">
              <a:xfrm>
                <a:off x="2514600" y="5286375"/>
                <a:ext cx="963613" cy="885825"/>
              </a:xfrm>
              <a:custGeom>
                <a:avLst/>
                <a:gdLst>
                  <a:gd name="T0" fmla="*/ 607 w 607"/>
                  <a:gd name="T1" fmla="*/ 0 h 558"/>
                  <a:gd name="T2" fmla="*/ 0 w 607"/>
                  <a:gd name="T3" fmla="*/ 558 h 558"/>
                  <a:gd name="T4" fmla="*/ 0 60000 65536"/>
                  <a:gd name="T5" fmla="*/ 0 60000 65536"/>
                </a:gdLst>
                <a:ahLst/>
                <a:cxnLst>
                  <a:cxn ang="T4">
                    <a:pos x="T0" y="T1"/>
                  </a:cxn>
                  <a:cxn ang="T5">
                    <a:pos x="T2" y="T3"/>
                  </a:cxn>
                </a:cxnLst>
                <a:rect l="0" t="0" r="r" b="b"/>
                <a:pathLst>
                  <a:path w="607" h="558">
                    <a:moveTo>
                      <a:pt x="607" y="0"/>
                    </a:moveTo>
                    <a:lnTo>
                      <a:pt x="0" y="558"/>
                    </a:lnTo>
                  </a:path>
                </a:pathLst>
              </a:custGeom>
              <a:noFill/>
              <a:ln w="38100" cap="flat" cmpd="sng">
                <a:solidFill>
                  <a:schemeClr val="accent2"/>
                </a:solidFill>
                <a:prstDash val="solid"/>
                <a:round/>
                <a:headEnd type="triangl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375" name="Line 33"/>
              <p:cNvSpPr>
                <a:spLocks noChangeShapeType="1"/>
              </p:cNvSpPr>
              <p:nvPr/>
            </p:nvSpPr>
            <p:spPr bwMode="auto">
              <a:xfrm>
                <a:off x="1295400" y="5334000"/>
                <a:ext cx="0" cy="609600"/>
              </a:xfrm>
              <a:prstGeom prst="line">
                <a:avLst/>
              </a:prstGeom>
              <a:noFill/>
              <a:ln w="38100">
                <a:solidFill>
                  <a:schemeClr val="accent2"/>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376" name="Freeform 34"/>
              <p:cNvSpPr>
                <a:spLocks/>
              </p:cNvSpPr>
              <p:nvPr/>
            </p:nvSpPr>
            <p:spPr bwMode="auto">
              <a:xfrm>
                <a:off x="1419225" y="5338763"/>
                <a:ext cx="903288" cy="725488"/>
              </a:xfrm>
              <a:custGeom>
                <a:avLst/>
                <a:gdLst>
                  <a:gd name="T0" fmla="*/ 569 w 569"/>
                  <a:gd name="T1" fmla="*/ 457 h 457"/>
                  <a:gd name="T2" fmla="*/ 232 w 569"/>
                  <a:gd name="T3" fmla="*/ 305 h 457"/>
                  <a:gd name="T4" fmla="*/ 0 w 569"/>
                  <a:gd name="T5" fmla="*/ 0 h 457"/>
                  <a:gd name="T6" fmla="*/ 0 60000 65536"/>
                  <a:gd name="T7" fmla="*/ 0 60000 65536"/>
                  <a:gd name="T8" fmla="*/ 0 60000 65536"/>
                </a:gdLst>
                <a:ahLst/>
                <a:cxnLst>
                  <a:cxn ang="T6">
                    <a:pos x="T0" y="T1"/>
                  </a:cxn>
                  <a:cxn ang="T7">
                    <a:pos x="T2" y="T3"/>
                  </a:cxn>
                  <a:cxn ang="T8">
                    <a:pos x="T4" y="T5"/>
                  </a:cxn>
                </a:cxnLst>
                <a:rect l="0" t="0" r="r" b="b"/>
                <a:pathLst>
                  <a:path w="569" h="457">
                    <a:moveTo>
                      <a:pt x="569" y="457"/>
                    </a:moveTo>
                    <a:cubicBezTo>
                      <a:pt x="513" y="432"/>
                      <a:pt x="327" y="381"/>
                      <a:pt x="232" y="305"/>
                    </a:cubicBezTo>
                    <a:cubicBezTo>
                      <a:pt x="137" y="229"/>
                      <a:pt x="48" y="64"/>
                      <a:pt x="0" y="0"/>
                    </a:cubicBezTo>
                  </a:path>
                </a:pathLst>
              </a:custGeom>
              <a:noFill/>
              <a:ln w="38100" cap="flat" cmpd="sng">
                <a:solidFill>
                  <a:schemeClr val="accent2"/>
                </a:solidFill>
                <a:prstDash val="solid"/>
                <a:round/>
                <a:headEnd type="triangl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377" name="Freeform 35"/>
              <p:cNvSpPr>
                <a:spLocks/>
              </p:cNvSpPr>
              <p:nvPr/>
            </p:nvSpPr>
            <p:spPr bwMode="auto">
              <a:xfrm>
                <a:off x="2511425" y="5370513"/>
                <a:ext cx="3175" cy="801688"/>
              </a:xfrm>
              <a:custGeom>
                <a:avLst/>
                <a:gdLst>
                  <a:gd name="T0" fmla="*/ 2 w 2"/>
                  <a:gd name="T1" fmla="*/ 505 h 505"/>
                  <a:gd name="T2" fmla="*/ 0 w 2"/>
                  <a:gd name="T3" fmla="*/ 0 h 505"/>
                  <a:gd name="T4" fmla="*/ 0 60000 65536"/>
                  <a:gd name="T5" fmla="*/ 0 60000 65536"/>
                </a:gdLst>
                <a:ahLst/>
                <a:cxnLst>
                  <a:cxn ang="T4">
                    <a:pos x="T0" y="T1"/>
                  </a:cxn>
                  <a:cxn ang="T5">
                    <a:pos x="T2" y="T3"/>
                  </a:cxn>
                </a:cxnLst>
                <a:rect l="0" t="0" r="r" b="b"/>
                <a:pathLst>
                  <a:path w="2" h="505">
                    <a:moveTo>
                      <a:pt x="2" y="505"/>
                    </a:moveTo>
                    <a:lnTo>
                      <a:pt x="0" y="0"/>
                    </a:lnTo>
                  </a:path>
                </a:pathLst>
              </a:custGeom>
              <a:noFill/>
              <a:ln w="38100" cap="flat" cmpd="sng">
                <a:solidFill>
                  <a:schemeClr val="accent2"/>
                </a:solidFill>
                <a:prstDash val="solid"/>
                <a:round/>
                <a:headEnd type="none" w="med" len="me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378" name="Freeform 36"/>
              <p:cNvSpPr>
                <a:spLocks/>
              </p:cNvSpPr>
              <p:nvPr/>
            </p:nvSpPr>
            <p:spPr bwMode="auto">
              <a:xfrm>
                <a:off x="2784475" y="5106988"/>
                <a:ext cx="873125" cy="1588"/>
              </a:xfrm>
              <a:custGeom>
                <a:avLst/>
                <a:gdLst>
                  <a:gd name="T0" fmla="*/ 0 w 550"/>
                  <a:gd name="T1" fmla="*/ 1 h 1"/>
                  <a:gd name="T2" fmla="*/ 550 w 550"/>
                  <a:gd name="T3" fmla="*/ 0 h 1"/>
                  <a:gd name="T4" fmla="*/ 0 60000 65536"/>
                  <a:gd name="T5" fmla="*/ 0 60000 65536"/>
                </a:gdLst>
                <a:ahLst/>
                <a:cxnLst>
                  <a:cxn ang="T4">
                    <a:pos x="T0" y="T1"/>
                  </a:cxn>
                  <a:cxn ang="T5">
                    <a:pos x="T2" y="T3"/>
                  </a:cxn>
                </a:cxnLst>
                <a:rect l="0" t="0" r="r" b="b"/>
                <a:pathLst>
                  <a:path w="550" h="1">
                    <a:moveTo>
                      <a:pt x="0" y="1"/>
                    </a:moveTo>
                    <a:lnTo>
                      <a:pt x="550" y="0"/>
                    </a:lnTo>
                  </a:path>
                </a:pathLst>
              </a:custGeom>
              <a:noFill/>
              <a:ln w="38100" cap="flat" cmpd="sng">
                <a:solidFill>
                  <a:schemeClr val="accent2"/>
                </a:solidFill>
                <a:prstDash val="solid"/>
                <a:round/>
                <a:headEnd type="triangl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379" name="Line 37"/>
              <p:cNvSpPr>
                <a:spLocks noChangeShapeType="1"/>
              </p:cNvSpPr>
              <p:nvPr/>
            </p:nvSpPr>
            <p:spPr bwMode="auto">
              <a:xfrm>
                <a:off x="1295400" y="5105400"/>
                <a:ext cx="990600" cy="0"/>
              </a:xfrm>
              <a:prstGeom prst="line">
                <a:avLst/>
              </a:prstGeom>
              <a:noFill/>
              <a:ln w="38100">
                <a:solidFill>
                  <a:schemeClr val="accent2"/>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380" name="Oval 38"/>
              <p:cNvSpPr>
                <a:spLocks noChangeArrowheads="1"/>
              </p:cNvSpPr>
              <p:nvPr/>
            </p:nvSpPr>
            <p:spPr bwMode="auto">
              <a:xfrm>
                <a:off x="1066800" y="48768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1</a:t>
                </a:r>
              </a:p>
            </p:txBody>
          </p:sp>
          <p:sp>
            <p:nvSpPr>
              <p:cNvPr id="381" name="Oval 39"/>
              <p:cNvSpPr>
                <a:spLocks noChangeArrowheads="1"/>
              </p:cNvSpPr>
              <p:nvPr/>
            </p:nvSpPr>
            <p:spPr bwMode="auto">
              <a:xfrm>
                <a:off x="2286000" y="48768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2</a:t>
                </a:r>
              </a:p>
            </p:txBody>
          </p:sp>
          <p:sp>
            <p:nvSpPr>
              <p:cNvPr id="382" name="Oval 40"/>
              <p:cNvSpPr>
                <a:spLocks noChangeArrowheads="1"/>
              </p:cNvSpPr>
              <p:nvPr/>
            </p:nvSpPr>
            <p:spPr bwMode="auto">
              <a:xfrm>
                <a:off x="1066800" y="5943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a:solidFill>
                      <a:schemeClr val="tx2"/>
                    </a:solidFill>
                    <a:latin typeface="Arial" pitchFamily="34" charset="0"/>
                  </a:rPr>
                  <a:t>4</a:t>
                </a:r>
              </a:p>
            </p:txBody>
          </p:sp>
          <p:sp>
            <p:nvSpPr>
              <p:cNvPr id="383" name="Oval 41"/>
              <p:cNvSpPr>
                <a:spLocks noChangeArrowheads="1"/>
              </p:cNvSpPr>
              <p:nvPr/>
            </p:nvSpPr>
            <p:spPr bwMode="auto">
              <a:xfrm>
                <a:off x="2286000" y="5943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5</a:t>
                </a:r>
              </a:p>
            </p:txBody>
          </p:sp>
          <p:sp>
            <p:nvSpPr>
              <p:cNvPr id="384" name="Oval 42"/>
              <p:cNvSpPr>
                <a:spLocks noChangeArrowheads="1"/>
              </p:cNvSpPr>
              <p:nvPr/>
            </p:nvSpPr>
            <p:spPr bwMode="auto">
              <a:xfrm>
                <a:off x="3429000" y="48768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3</a:t>
                </a:r>
              </a:p>
            </p:txBody>
          </p:sp>
          <p:sp>
            <p:nvSpPr>
              <p:cNvPr id="385" name="Oval 43"/>
              <p:cNvSpPr>
                <a:spLocks noChangeArrowheads="1"/>
              </p:cNvSpPr>
              <p:nvPr/>
            </p:nvSpPr>
            <p:spPr bwMode="auto">
              <a:xfrm>
                <a:off x="3429000" y="5943600"/>
                <a:ext cx="496888" cy="500063"/>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sz="1800" dirty="0">
                    <a:solidFill>
                      <a:schemeClr val="tx2"/>
                    </a:solidFill>
                    <a:latin typeface="Arial" pitchFamily="34" charset="0"/>
                  </a:rPr>
                  <a:t>6</a:t>
                </a:r>
              </a:p>
            </p:txBody>
          </p:sp>
        </p:grpSp>
      </p:grpSp>
      <p:sp>
        <p:nvSpPr>
          <p:cNvPr id="4" name="Slide Number Placeholder 3"/>
          <p:cNvSpPr>
            <a:spLocks noGrp="1"/>
          </p:cNvSpPr>
          <p:nvPr>
            <p:ph type="sldNum" sz="quarter" idx="12"/>
          </p:nvPr>
        </p:nvSpPr>
        <p:spPr/>
        <p:txBody>
          <a:bodyPr/>
          <a:lstStyle/>
          <a:p>
            <a:pPr>
              <a:defRPr/>
            </a:pPr>
            <a:fld id="{2EA72CB5-5472-4B1F-9EF4-151FAEB37976}" type="slidenum">
              <a:rPr lang="en-US" smtClean="0"/>
              <a:pPr>
                <a:defRPr/>
              </a:pPr>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00354"/>
                                        </p:tgtEl>
                                        <p:attrNameLst>
                                          <p:attrName>style.visibility</p:attrName>
                                        </p:attrNameLst>
                                      </p:cBhvr>
                                      <p:to>
                                        <p:strVal val="visible"/>
                                      </p:to>
                                    </p:set>
                                    <p:anim calcmode="lin" valueType="num">
                                      <p:cBhvr>
                                        <p:cTn id="7" dur="500" fill="hold"/>
                                        <p:tgtEl>
                                          <p:spTgt spid="100354"/>
                                        </p:tgtEl>
                                        <p:attrNameLst>
                                          <p:attrName>ppt_w</p:attrName>
                                        </p:attrNameLst>
                                      </p:cBhvr>
                                      <p:tavLst>
                                        <p:tav tm="0">
                                          <p:val>
                                            <p:fltVal val="0"/>
                                          </p:val>
                                        </p:tav>
                                        <p:tav tm="100000">
                                          <p:val>
                                            <p:strVal val="#ppt_w"/>
                                          </p:val>
                                        </p:tav>
                                      </p:tavLst>
                                    </p:anim>
                                    <p:anim calcmode="lin" valueType="num">
                                      <p:cBhvr>
                                        <p:cTn id="8" dur="500" fill="hold"/>
                                        <p:tgtEl>
                                          <p:spTgt spid="100354"/>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8" fill="hold" nodeType="afterEffect">
                                  <p:stCondLst>
                                    <p:cond delay="0"/>
                                  </p:stCondLst>
                                  <p:childTnLst>
                                    <p:set>
                                      <p:cBhvr>
                                        <p:cTn id="11" dur="1" fill="hold">
                                          <p:stCondLst>
                                            <p:cond delay="0"/>
                                          </p:stCondLst>
                                        </p:cTn>
                                        <p:tgtEl>
                                          <p:spTgt spid="100355"/>
                                        </p:tgtEl>
                                        <p:attrNameLst>
                                          <p:attrName>style.visibility</p:attrName>
                                        </p:attrNameLst>
                                      </p:cBhvr>
                                      <p:to>
                                        <p:strVal val="visible"/>
                                      </p:to>
                                    </p:set>
                                    <p:animEffect transition="in" filter="wipe(left)">
                                      <p:cBhvr>
                                        <p:cTn id="12" dur="500"/>
                                        <p:tgtEl>
                                          <p:spTgt spid="1003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The Hand-Shaking Lemma</a:t>
            </a:r>
          </a:p>
        </p:txBody>
      </p:sp>
      <p:grpSp>
        <p:nvGrpSpPr>
          <p:cNvPr id="102464" name="Group 64"/>
          <p:cNvGrpSpPr>
            <a:grpSpLocks/>
          </p:cNvGrpSpPr>
          <p:nvPr/>
        </p:nvGrpSpPr>
        <p:grpSpPr bwMode="auto">
          <a:xfrm>
            <a:off x="466725" y="3551237"/>
            <a:ext cx="7086600" cy="1758950"/>
            <a:chOff x="192" y="2208"/>
            <a:chExt cx="4464" cy="1108"/>
          </a:xfrm>
        </p:grpSpPr>
        <p:graphicFrame>
          <p:nvGraphicFramePr>
            <p:cNvPr id="11287" name="Object 40"/>
            <p:cNvGraphicFramePr>
              <a:graphicFrameLocks noChangeAspect="1"/>
            </p:cNvGraphicFramePr>
            <p:nvPr>
              <p:extLst>
                <p:ext uri="{D42A27DB-BD31-4B8C-83A1-F6EECF244321}">
                  <p14:modId xmlns:p14="http://schemas.microsoft.com/office/powerpoint/2010/main" val="2973797618"/>
                </p:ext>
              </p:extLst>
            </p:nvPr>
          </p:nvGraphicFramePr>
          <p:xfrm>
            <a:off x="1584" y="2880"/>
            <a:ext cx="1680" cy="436"/>
          </p:xfrm>
          <a:graphic>
            <a:graphicData uri="http://schemas.openxmlformats.org/presentationml/2006/ole">
              <mc:AlternateContent xmlns:mc="http://schemas.openxmlformats.org/markup-compatibility/2006">
                <mc:Choice xmlns:v="urn:schemas-microsoft-com:vml" Requires="v">
                  <p:oleObj spid="_x0000_s11515" name="Equation" r:id="rId3" imgW="1371600" imgH="355600" progId="Equation.3">
                    <p:embed/>
                  </p:oleObj>
                </mc:Choice>
                <mc:Fallback>
                  <p:oleObj name="Equation" r:id="rId3" imgW="1371600" imgH="355600" progId="Equation.3">
                    <p:embed/>
                    <p:pic>
                      <p:nvPicPr>
                        <p:cNvPr id="0"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 y="2880"/>
                          <a:ext cx="1680" cy="4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8" name="Rectangle 43"/>
            <p:cNvSpPr>
              <a:spLocks noChangeArrowheads="1"/>
            </p:cNvSpPr>
            <p:nvPr/>
          </p:nvSpPr>
          <p:spPr bwMode="auto">
            <a:xfrm>
              <a:off x="192" y="2208"/>
              <a:ext cx="4464" cy="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buFontTx/>
                <a:buNone/>
              </a:pPr>
              <a:r>
                <a:rPr lang="en-US" sz="2400" b="1" dirty="0" smtClean="0">
                  <a:solidFill>
                    <a:srgbClr val="CC0000"/>
                  </a:solidFill>
                  <a:latin typeface="Arial" pitchFamily="34" charset="0"/>
                </a:rPr>
                <a:t>The Hand-Shaking Lemma:</a:t>
              </a:r>
            </a:p>
            <a:p>
              <a:pPr eaLnBrk="1" hangingPunct="1">
                <a:spcBef>
                  <a:spcPct val="50000"/>
                </a:spcBef>
                <a:buFontTx/>
                <a:buNone/>
              </a:pPr>
              <a:r>
                <a:rPr lang="en-US" sz="2000" dirty="0" smtClean="0">
                  <a:solidFill>
                    <a:schemeClr val="tx2"/>
                  </a:solidFill>
                  <a:latin typeface="Arial" pitchFamily="34" charset="0"/>
                </a:rPr>
                <a:t>            For </a:t>
              </a:r>
              <a:r>
                <a:rPr lang="en-US" sz="2000" dirty="0">
                  <a:solidFill>
                    <a:schemeClr val="tx2"/>
                  </a:solidFill>
                  <a:latin typeface="Arial" pitchFamily="34" charset="0"/>
                </a:rPr>
                <a:t>any graph (directed or undirected) we have:</a:t>
              </a:r>
            </a:p>
          </p:txBody>
        </p:sp>
      </p:grpSp>
      <p:grpSp>
        <p:nvGrpSpPr>
          <p:cNvPr id="102462" name="Group 62"/>
          <p:cNvGrpSpPr>
            <a:grpSpLocks/>
          </p:cNvGrpSpPr>
          <p:nvPr/>
        </p:nvGrpSpPr>
        <p:grpSpPr bwMode="auto">
          <a:xfrm>
            <a:off x="1371600" y="5389562"/>
            <a:ext cx="5084763" cy="1149350"/>
            <a:chOff x="816" y="3072"/>
            <a:chExt cx="3203" cy="724"/>
          </a:xfrm>
        </p:grpSpPr>
        <p:graphicFrame>
          <p:nvGraphicFramePr>
            <p:cNvPr id="11285" name="Object 41"/>
            <p:cNvGraphicFramePr>
              <a:graphicFrameLocks noChangeAspect="1"/>
            </p:cNvGraphicFramePr>
            <p:nvPr/>
          </p:nvGraphicFramePr>
          <p:xfrm>
            <a:off x="864" y="3360"/>
            <a:ext cx="3155" cy="436"/>
          </p:xfrm>
          <a:graphic>
            <a:graphicData uri="http://schemas.openxmlformats.org/presentationml/2006/ole">
              <mc:AlternateContent xmlns:mc="http://schemas.openxmlformats.org/markup-compatibility/2006">
                <mc:Choice xmlns:v="urn:schemas-microsoft-com:vml" Requires="v">
                  <p:oleObj spid="_x0000_s11516" name="Equation" r:id="rId5" imgW="2527300" imgH="355600" progId="Equation.3">
                    <p:embed/>
                  </p:oleObj>
                </mc:Choice>
                <mc:Fallback>
                  <p:oleObj name="Equation" r:id="rId5" imgW="2527300" imgH="355600" progId="Equation.3">
                    <p:embed/>
                    <p:pic>
                      <p:nvPicPr>
                        <p:cNvPr id="0"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4" y="3360"/>
                          <a:ext cx="3155" cy="4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6" name="Rectangle 44"/>
            <p:cNvSpPr>
              <a:spLocks noChangeArrowheads="1"/>
            </p:cNvSpPr>
            <p:nvPr/>
          </p:nvSpPr>
          <p:spPr bwMode="auto">
            <a:xfrm>
              <a:off x="816" y="3072"/>
              <a:ext cx="274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2000" dirty="0">
                  <a:solidFill>
                    <a:schemeClr val="tx2"/>
                  </a:solidFill>
                  <a:latin typeface="Arial" pitchFamily="34" charset="0"/>
                </a:rPr>
                <a:t>For any directed graph we also have:</a:t>
              </a:r>
            </a:p>
          </p:txBody>
        </p:sp>
      </p:grpSp>
      <p:grpSp>
        <p:nvGrpSpPr>
          <p:cNvPr id="102463" name="Group 63"/>
          <p:cNvGrpSpPr>
            <a:grpSpLocks/>
          </p:cNvGrpSpPr>
          <p:nvPr/>
        </p:nvGrpSpPr>
        <p:grpSpPr bwMode="auto">
          <a:xfrm>
            <a:off x="152400" y="788988"/>
            <a:ext cx="8839199" cy="2616199"/>
            <a:chOff x="288" y="545"/>
            <a:chExt cx="5192" cy="1648"/>
          </a:xfrm>
        </p:grpSpPr>
        <p:sp>
          <p:nvSpPr>
            <p:cNvPr id="11270" name="Text Box 39"/>
            <p:cNvSpPr txBox="1">
              <a:spLocks noChangeArrowheads="1"/>
            </p:cNvSpPr>
            <p:nvPr/>
          </p:nvSpPr>
          <p:spPr bwMode="auto">
            <a:xfrm>
              <a:off x="288" y="545"/>
              <a:ext cx="5192" cy="1648"/>
            </a:xfrm>
            <a:prstGeom prst="rect">
              <a:avLst/>
            </a:prstGeom>
            <a:noFill/>
            <a:ln w="19050">
              <a:solidFill>
                <a:schemeClr val="bg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2400" dirty="0">
                  <a:solidFill>
                    <a:schemeClr val="hlink"/>
                  </a:solidFill>
                  <a:latin typeface="Arial" pitchFamily="34" charset="0"/>
                </a:rPr>
                <a:t>Vertex </a:t>
              </a:r>
              <a:r>
                <a:rPr lang="en-US" sz="2400" dirty="0" err="1">
                  <a:solidFill>
                    <a:schemeClr val="hlink"/>
                  </a:solidFill>
                  <a:latin typeface="Arial" pitchFamily="34" charset="0"/>
                </a:rPr>
                <a:t>v</a:t>
              </a:r>
              <a:r>
                <a:rPr lang="en-US" sz="2400" dirty="0" err="1">
                  <a:solidFill>
                    <a:schemeClr val="hlink"/>
                  </a:solidFill>
                  <a:latin typeface="Arial" pitchFamily="34" charset="0"/>
                  <a:sym typeface="Symbol" pitchFamily="18" charset="2"/>
                </a:rPr>
                <a:t></a:t>
              </a:r>
              <a:r>
                <a:rPr lang="en-US" sz="2400" dirty="0" err="1">
                  <a:solidFill>
                    <a:schemeClr val="hlink"/>
                  </a:solidFill>
                  <a:latin typeface="Arial" pitchFamily="34" charset="0"/>
                </a:rPr>
                <a:t>V</a:t>
              </a:r>
              <a:r>
                <a:rPr lang="en-US" sz="2400" dirty="0">
                  <a:solidFill>
                    <a:schemeClr val="hlink"/>
                  </a:solidFill>
                  <a:latin typeface="Arial" pitchFamily="34" charset="0"/>
                </a:rPr>
                <a:t>(G):      degree </a:t>
              </a:r>
              <a:r>
                <a:rPr lang="en-US" sz="1800" dirty="0">
                  <a:solidFill>
                    <a:schemeClr val="hlink"/>
                  </a:solidFill>
                  <a:latin typeface="Arial" pitchFamily="34" charset="0"/>
                </a:rPr>
                <a:t>(or valance)</a:t>
              </a:r>
              <a:r>
                <a:rPr lang="en-US" sz="2400" dirty="0">
                  <a:solidFill>
                    <a:schemeClr val="hlink"/>
                  </a:solidFill>
                  <a:latin typeface="Arial" pitchFamily="34" charset="0"/>
                </a:rPr>
                <a:t> , in-degree, out-degree</a:t>
              </a:r>
              <a:r>
                <a:rPr lang="en-US" sz="2000" dirty="0">
                  <a:solidFill>
                    <a:schemeClr val="tx2"/>
                  </a:solidFill>
                  <a:latin typeface="Arial" pitchFamily="34" charset="0"/>
                </a:rPr>
                <a:t/>
              </a:r>
              <a:br>
                <a:rPr lang="en-US" sz="2000" dirty="0">
                  <a:solidFill>
                    <a:schemeClr val="tx2"/>
                  </a:solidFill>
                  <a:latin typeface="Arial" pitchFamily="34" charset="0"/>
                </a:rPr>
              </a:br>
              <a:r>
                <a:rPr lang="en-US" sz="2000" dirty="0">
                  <a:solidFill>
                    <a:schemeClr val="tx2"/>
                  </a:solidFill>
                  <a:latin typeface="Arial" pitchFamily="34" charset="0"/>
                </a:rPr>
                <a:t/>
              </a:r>
              <a:br>
                <a:rPr lang="en-US" sz="2000" dirty="0">
                  <a:solidFill>
                    <a:schemeClr val="tx2"/>
                  </a:solidFill>
                  <a:latin typeface="Arial" pitchFamily="34" charset="0"/>
                </a:rPr>
              </a:br>
              <a:r>
                <a:rPr lang="en-US" sz="2000" b="1" dirty="0">
                  <a:solidFill>
                    <a:srgbClr val="CC0000"/>
                  </a:solidFill>
                  <a:latin typeface="Arial" pitchFamily="34" charset="0"/>
                </a:rPr>
                <a:t>Undirected G:</a:t>
              </a:r>
              <a:r>
                <a:rPr lang="en-US" sz="2000" dirty="0">
                  <a:solidFill>
                    <a:schemeClr val="tx2"/>
                  </a:solidFill>
                  <a:latin typeface="Arial" pitchFamily="34" charset="0"/>
                </a:rPr>
                <a:t>      </a:t>
              </a:r>
              <a:r>
                <a:rPr lang="en-US" sz="2000" dirty="0" err="1">
                  <a:solidFill>
                    <a:schemeClr val="tx2"/>
                  </a:solidFill>
                  <a:latin typeface="Arial" pitchFamily="34" charset="0"/>
                </a:rPr>
                <a:t>deg</a:t>
              </a:r>
              <a:r>
                <a:rPr lang="en-US" sz="2000" dirty="0">
                  <a:solidFill>
                    <a:schemeClr val="tx2"/>
                  </a:solidFill>
                  <a:latin typeface="Arial" pitchFamily="34" charset="0"/>
                </a:rPr>
                <a:t>(v)   =   | { u | (</a:t>
              </a:r>
              <a:r>
                <a:rPr lang="en-US" sz="2000" dirty="0" err="1">
                  <a:solidFill>
                    <a:schemeClr val="tx2"/>
                  </a:solidFill>
                  <a:latin typeface="Arial" pitchFamily="34" charset="0"/>
                </a:rPr>
                <a:t>v,u</a:t>
              </a:r>
              <a:r>
                <a:rPr lang="en-US" sz="2000" dirty="0">
                  <a:solidFill>
                    <a:schemeClr val="tx2"/>
                  </a:solidFill>
                  <a:latin typeface="Arial" pitchFamily="34" charset="0"/>
                </a:rPr>
                <a:t>) </a:t>
              </a:r>
              <a:r>
                <a:rPr lang="en-US" sz="2000" dirty="0">
                  <a:solidFill>
                    <a:schemeClr val="tx2"/>
                  </a:solidFill>
                  <a:latin typeface="Arial" pitchFamily="34" charset="0"/>
                  <a:sym typeface="Symbol" pitchFamily="18" charset="2"/>
                </a:rPr>
                <a:t></a:t>
              </a:r>
              <a:r>
                <a:rPr lang="en-US" sz="2000" dirty="0">
                  <a:solidFill>
                    <a:schemeClr val="tx2"/>
                  </a:solidFill>
                  <a:latin typeface="Arial" pitchFamily="34" charset="0"/>
                </a:rPr>
                <a:t> E(G) } |   =    | </a:t>
              </a:r>
              <a:r>
                <a:rPr lang="en-US" sz="2000" dirty="0" err="1">
                  <a:solidFill>
                    <a:schemeClr val="tx2"/>
                  </a:solidFill>
                  <a:latin typeface="Arial" pitchFamily="34" charset="0"/>
                </a:rPr>
                <a:t>Adj</a:t>
              </a:r>
              <a:r>
                <a:rPr lang="en-US" sz="2000" dirty="0">
                  <a:solidFill>
                    <a:schemeClr val="tx2"/>
                  </a:solidFill>
                  <a:latin typeface="Arial" pitchFamily="34" charset="0"/>
                </a:rPr>
                <a:t>[v] |</a:t>
              </a:r>
            </a:p>
            <a:p>
              <a:pPr eaLnBrk="1" hangingPunct="1">
                <a:buFontTx/>
                <a:buNone/>
              </a:pPr>
              <a:r>
                <a:rPr lang="en-US" sz="2000" dirty="0">
                  <a:solidFill>
                    <a:schemeClr val="tx2"/>
                  </a:solidFill>
                  <a:latin typeface="Arial" pitchFamily="34" charset="0"/>
                </a:rPr>
                <a:t/>
              </a:r>
              <a:br>
                <a:rPr lang="en-US" sz="2000" dirty="0">
                  <a:solidFill>
                    <a:schemeClr val="tx2"/>
                  </a:solidFill>
                  <a:latin typeface="Arial" pitchFamily="34" charset="0"/>
                </a:rPr>
              </a:br>
              <a:r>
                <a:rPr lang="en-US" sz="2000" b="1" dirty="0">
                  <a:solidFill>
                    <a:srgbClr val="CC0000"/>
                  </a:solidFill>
                  <a:latin typeface="Arial" pitchFamily="34" charset="0"/>
                </a:rPr>
                <a:t>Digraph G:</a:t>
              </a:r>
              <a:r>
                <a:rPr lang="en-US" sz="2000" dirty="0">
                  <a:solidFill>
                    <a:schemeClr val="tx2"/>
                  </a:solidFill>
                  <a:latin typeface="Arial" pitchFamily="34" charset="0"/>
                </a:rPr>
                <a:t> 	</a:t>
              </a:r>
              <a:r>
                <a:rPr lang="en-US" sz="2000" dirty="0" err="1">
                  <a:solidFill>
                    <a:schemeClr val="tx2"/>
                  </a:solidFill>
                  <a:latin typeface="Arial" pitchFamily="34" charset="0"/>
                </a:rPr>
                <a:t>outdeg</a:t>
              </a:r>
              <a:r>
                <a:rPr lang="en-US" sz="2000" dirty="0">
                  <a:solidFill>
                    <a:schemeClr val="tx2"/>
                  </a:solidFill>
                  <a:latin typeface="Arial" pitchFamily="34" charset="0"/>
                </a:rPr>
                <a:t>(v)  =  | { u | (</a:t>
              </a:r>
              <a:r>
                <a:rPr lang="en-US" sz="2000" dirty="0" err="1">
                  <a:solidFill>
                    <a:schemeClr val="tx2"/>
                  </a:solidFill>
                  <a:latin typeface="Arial" pitchFamily="34" charset="0"/>
                </a:rPr>
                <a:t>v,u</a:t>
              </a:r>
              <a:r>
                <a:rPr lang="en-US" sz="2000" dirty="0">
                  <a:solidFill>
                    <a:schemeClr val="tx2"/>
                  </a:solidFill>
                  <a:latin typeface="Arial" pitchFamily="34" charset="0"/>
                </a:rPr>
                <a:t>) </a:t>
              </a:r>
              <a:r>
                <a:rPr lang="en-US" sz="2000" dirty="0">
                  <a:solidFill>
                    <a:schemeClr val="tx2"/>
                  </a:solidFill>
                  <a:latin typeface="Arial" pitchFamily="34" charset="0"/>
                  <a:sym typeface="Symbol" pitchFamily="18" charset="2"/>
                </a:rPr>
                <a:t></a:t>
              </a:r>
              <a:r>
                <a:rPr lang="en-US" sz="2000" dirty="0">
                  <a:solidFill>
                    <a:schemeClr val="tx2"/>
                  </a:solidFill>
                  <a:latin typeface="Arial" pitchFamily="34" charset="0"/>
                </a:rPr>
                <a:t> E(G) } |    =    | </a:t>
              </a:r>
              <a:r>
                <a:rPr lang="en-US" sz="2000" dirty="0" err="1">
                  <a:solidFill>
                    <a:schemeClr val="tx2"/>
                  </a:solidFill>
                  <a:latin typeface="Arial" pitchFamily="34" charset="0"/>
                </a:rPr>
                <a:t>Adj</a:t>
              </a:r>
              <a:r>
                <a:rPr lang="en-US" sz="2000" dirty="0">
                  <a:solidFill>
                    <a:schemeClr val="tx2"/>
                  </a:solidFill>
                  <a:latin typeface="Arial" pitchFamily="34" charset="0"/>
                </a:rPr>
                <a:t>[v] |</a:t>
              </a:r>
            </a:p>
            <a:p>
              <a:pPr eaLnBrk="1" hangingPunct="1">
                <a:buFontTx/>
                <a:buNone/>
              </a:pPr>
              <a:r>
                <a:rPr lang="en-US" sz="2000" dirty="0">
                  <a:solidFill>
                    <a:schemeClr val="tx2"/>
                  </a:solidFill>
                  <a:latin typeface="Arial" pitchFamily="34" charset="0"/>
                </a:rPr>
                <a:t>		  </a:t>
              </a:r>
              <a:r>
                <a:rPr lang="en-US" sz="2000" dirty="0" err="1">
                  <a:solidFill>
                    <a:schemeClr val="tx2"/>
                  </a:solidFill>
                  <a:latin typeface="Arial" pitchFamily="34" charset="0"/>
                </a:rPr>
                <a:t>indeg</a:t>
              </a:r>
              <a:r>
                <a:rPr lang="en-US" sz="2000" dirty="0">
                  <a:solidFill>
                    <a:schemeClr val="tx2"/>
                  </a:solidFill>
                  <a:latin typeface="Arial" pitchFamily="34" charset="0"/>
                </a:rPr>
                <a:t>(v)  =  | { u | (</a:t>
              </a:r>
              <a:r>
                <a:rPr lang="en-US" sz="2000" dirty="0" err="1">
                  <a:solidFill>
                    <a:schemeClr val="tx2"/>
                  </a:solidFill>
                  <a:latin typeface="Arial" pitchFamily="34" charset="0"/>
                </a:rPr>
                <a:t>u,v</a:t>
              </a:r>
              <a:r>
                <a:rPr lang="en-US" sz="2000" dirty="0">
                  <a:solidFill>
                    <a:schemeClr val="tx2"/>
                  </a:solidFill>
                  <a:latin typeface="Arial" pitchFamily="34" charset="0"/>
                </a:rPr>
                <a:t>) </a:t>
              </a:r>
              <a:r>
                <a:rPr lang="en-US" sz="2000" dirty="0">
                  <a:solidFill>
                    <a:schemeClr val="tx2"/>
                  </a:solidFill>
                  <a:latin typeface="Arial" pitchFamily="34" charset="0"/>
                  <a:sym typeface="Symbol" pitchFamily="18" charset="2"/>
                </a:rPr>
                <a:t></a:t>
              </a:r>
              <a:r>
                <a:rPr lang="en-US" sz="2000" dirty="0">
                  <a:solidFill>
                    <a:schemeClr val="tx2"/>
                  </a:solidFill>
                  <a:latin typeface="Arial" pitchFamily="34" charset="0"/>
                </a:rPr>
                <a:t> E(G) } |</a:t>
              </a:r>
            </a:p>
            <a:p>
              <a:pPr eaLnBrk="1" hangingPunct="1">
                <a:buFontTx/>
                <a:buNone/>
              </a:pPr>
              <a:r>
                <a:rPr lang="en-US" sz="2000" dirty="0">
                  <a:solidFill>
                    <a:schemeClr val="tx2"/>
                  </a:solidFill>
                  <a:latin typeface="Arial" pitchFamily="34" charset="0"/>
                </a:rPr>
                <a:t>		     </a:t>
              </a:r>
              <a:r>
                <a:rPr lang="en-US" sz="2000" dirty="0" err="1">
                  <a:solidFill>
                    <a:schemeClr val="tx2"/>
                  </a:solidFill>
                  <a:latin typeface="Arial" pitchFamily="34" charset="0"/>
                </a:rPr>
                <a:t>deg</a:t>
              </a:r>
              <a:r>
                <a:rPr lang="en-US" sz="2000" dirty="0">
                  <a:solidFill>
                    <a:schemeClr val="tx2"/>
                  </a:solidFill>
                  <a:latin typeface="Arial" pitchFamily="34" charset="0"/>
                </a:rPr>
                <a:t>(v)  =  </a:t>
              </a:r>
              <a:r>
                <a:rPr lang="en-US" sz="2000" dirty="0" err="1">
                  <a:solidFill>
                    <a:schemeClr val="tx2"/>
                  </a:solidFill>
                  <a:latin typeface="Arial" pitchFamily="34" charset="0"/>
                </a:rPr>
                <a:t>outdeg</a:t>
              </a:r>
              <a:r>
                <a:rPr lang="en-US" sz="2000" dirty="0">
                  <a:solidFill>
                    <a:schemeClr val="tx2"/>
                  </a:solidFill>
                  <a:latin typeface="Arial" pitchFamily="34" charset="0"/>
                </a:rPr>
                <a:t>(v) + </a:t>
              </a:r>
              <a:r>
                <a:rPr lang="en-US" sz="2000" dirty="0" err="1">
                  <a:solidFill>
                    <a:schemeClr val="tx2"/>
                  </a:solidFill>
                  <a:latin typeface="Arial" pitchFamily="34" charset="0"/>
                </a:rPr>
                <a:t>indeg</a:t>
              </a:r>
              <a:r>
                <a:rPr lang="en-US" sz="2000" dirty="0">
                  <a:solidFill>
                    <a:schemeClr val="tx2"/>
                  </a:solidFill>
                  <a:latin typeface="Arial" pitchFamily="34" charset="0"/>
                </a:rPr>
                <a:t>(v) </a:t>
              </a:r>
              <a:endParaRPr lang="en-US" sz="2000" dirty="0" smtClean="0">
                <a:solidFill>
                  <a:schemeClr val="tx2"/>
                </a:solidFill>
                <a:latin typeface="Arial" pitchFamily="34" charset="0"/>
              </a:endParaRPr>
            </a:p>
            <a:p>
              <a:pPr eaLnBrk="1" hangingPunct="1">
                <a:buFontTx/>
                <a:buNone/>
              </a:pPr>
              <a:endParaRPr lang="en-US" sz="2000" dirty="0">
                <a:solidFill>
                  <a:schemeClr val="tx2"/>
                </a:solidFill>
                <a:latin typeface="Arial" pitchFamily="34" charset="0"/>
              </a:endParaRPr>
            </a:p>
          </p:txBody>
        </p:sp>
        <p:sp>
          <p:nvSpPr>
            <p:cNvPr id="11271" name="Line 48"/>
            <p:cNvSpPr>
              <a:spLocks noChangeShapeType="1"/>
            </p:cNvSpPr>
            <p:nvPr/>
          </p:nvSpPr>
          <p:spPr bwMode="auto">
            <a:xfrm flipV="1">
              <a:off x="5232" y="912"/>
              <a:ext cx="144" cy="192"/>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272" name="Line 49"/>
            <p:cNvSpPr>
              <a:spLocks noChangeShapeType="1"/>
            </p:cNvSpPr>
            <p:nvPr/>
          </p:nvSpPr>
          <p:spPr bwMode="auto">
            <a:xfrm>
              <a:off x="5232" y="1104"/>
              <a:ext cx="192" cy="48"/>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CA"/>
            </a:p>
          </p:txBody>
        </p:sp>
        <p:sp>
          <p:nvSpPr>
            <p:cNvPr id="11273" name="Line 50"/>
            <p:cNvSpPr>
              <a:spLocks noChangeShapeType="1"/>
            </p:cNvSpPr>
            <p:nvPr/>
          </p:nvSpPr>
          <p:spPr bwMode="auto">
            <a:xfrm>
              <a:off x="5232" y="1104"/>
              <a:ext cx="48" cy="24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274" name="Line 51"/>
            <p:cNvSpPr>
              <a:spLocks noChangeShapeType="1"/>
            </p:cNvSpPr>
            <p:nvPr/>
          </p:nvSpPr>
          <p:spPr bwMode="auto">
            <a:xfrm flipH="1">
              <a:off x="5040" y="1104"/>
              <a:ext cx="192" cy="144"/>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275" name="Line 52"/>
            <p:cNvSpPr>
              <a:spLocks noChangeShapeType="1"/>
            </p:cNvSpPr>
            <p:nvPr/>
          </p:nvSpPr>
          <p:spPr bwMode="auto">
            <a:xfrm flipH="1" flipV="1">
              <a:off x="5088" y="912"/>
              <a:ext cx="144" cy="192"/>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276" name="Oval 47"/>
            <p:cNvSpPr>
              <a:spLocks noChangeArrowheads="1"/>
            </p:cNvSpPr>
            <p:nvPr/>
          </p:nvSpPr>
          <p:spPr bwMode="auto">
            <a:xfrm>
              <a:off x="5184" y="1056"/>
              <a:ext cx="96" cy="96"/>
            </a:xfrm>
            <a:prstGeom prst="ellipse">
              <a:avLst/>
            </a:prstGeom>
            <a:solidFill>
              <a:schemeClr val="accent3">
                <a:lumMod val="65000"/>
              </a:schemeClr>
            </a:solidFill>
            <a:ln w="19050">
              <a:solidFill>
                <a:schemeClr val="bg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277" name="Freeform 54"/>
            <p:cNvSpPr>
              <a:spLocks/>
            </p:cNvSpPr>
            <p:nvPr/>
          </p:nvSpPr>
          <p:spPr bwMode="auto">
            <a:xfrm>
              <a:off x="4840" y="1754"/>
              <a:ext cx="258" cy="87"/>
            </a:xfrm>
            <a:custGeom>
              <a:avLst/>
              <a:gdLst>
                <a:gd name="T0" fmla="*/ 0 w 258"/>
                <a:gd name="T1" fmla="*/ 0 h 87"/>
                <a:gd name="T2" fmla="*/ 258 w 258"/>
                <a:gd name="T3" fmla="*/ 87 h 87"/>
                <a:gd name="T4" fmla="*/ 0 60000 65536"/>
                <a:gd name="T5" fmla="*/ 0 60000 65536"/>
              </a:gdLst>
              <a:ahLst/>
              <a:cxnLst>
                <a:cxn ang="T4">
                  <a:pos x="T0" y="T1"/>
                </a:cxn>
                <a:cxn ang="T5">
                  <a:pos x="T2" y="T3"/>
                </a:cxn>
              </a:cxnLst>
              <a:rect l="0" t="0" r="r" b="b"/>
              <a:pathLst>
                <a:path w="258" h="87">
                  <a:moveTo>
                    <a:pt x="0" y="0"/>
                  </a:moveTo>
                  <a:lnTo>
                    <a:pt x="258" y="87"/>
                  </a:lnTo>
                </a:path>
              </a:pathLst>
            </a:custGeom>
            <a:noFill/>
            <a:ln w="19050" cap="flat" cmpd="sng">
              <a:solidFill>
                <a:schemeClr val="bg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278" name="Freeform 55"/>
            <p:cNvSpPr>
              <a:spLocks/>
            </p:cNvSpPr>
            <p:nvPr/>
          </p:nvSpPr>
          <p:spPr bwMode="auto">
            <a:xfrm>
              <a:off x="4848" y="1880"/>
              <a:ext cx="243" cy="47"/>
            </a:xfrm>
            <a:custGeom>
              <a:avLst/>
              <a:gdLst>
                <a:gd name="T0" fmla="*/ 0 w 245"/>
                <a:gd name="T1" fmla="*/ 47 h 100"/>
                <a:gd name="T2" fmla="*/ 243 w 245"/>
                <a:gd name="T3" fmla="*/ 0 h 100"/>
                <a:gd name="T4" fmla="*/ 0 60000 65536"/>
                <a:gd name="T5" fmla="*/ 0 60000 65536"/>
              </a:gdLst>
              <a:ahLst/>
              <a:cxnLst>
                <a:cxn ang="T4">
                  <a:pos x="T0" y="T1"/>
                </a:cxn>
                <a:cxn ang="T5">
                  <a:pos x="T2" y="T3"/>
                </a:cxn>
              </a:cxnLst>
              <a:rect l="0" t="0" r="r" b="b"/>
              <a:pathLst>
                <a:path w="245" h="100">
                  <a:moveTo>
                    <a:pt x="0" y="100"/>
                  </a:moveTo>
                  <a:lnTo>
                    <a:pt x="245" y="0"/>
                  </a:lnTo>
                </a:path>
              </a:pathLst>
            </a:custGeom>
            <a:noFill/>
            <a:ln w="19050" cap="flat" cmpd="sng">
              <a:solidFill>
                <a:schemeClr val="bg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279" name="Freeform 56"/>
            <p:cNvSpPr>
              <a:spLocks/>
            </p:cNvSpPr>
            <p:nvPr/>
          </p:nvSpPr>
          <p:spPr bwMode="auto">
            <a:xfrm>
              <a:off x="4896" y="1920"/>
              <a:ext cx="228" cy="144"/>
            </a:xfrm>
            <a:custGeom>
              <a:avLst/>
              <a:gdLst>
                <a:gd name="T0" fmla="*/ 0 w 139"/>
                <a:gd name="T1" fmla="*/ 144 h 199"/>
                <a:gd name="T2" fmla="*/ 228 w 139"/>
                <a:gd name="T3" fmla="*/ 0 h 199"/>
                <a:gd name="T4" fmla="*/ 0 60000 65536"/>
                <a:gd name="T5" fmla="*/ 0 60000 65536"/>
              </a:gdLst>
              <a:ahLst/>
              <a:cxnLst>
                <a:cxn ang="T4">
                  <a:pos x="T0" y="T1"/>
                </a:cxn>
                <a:cxn ang="T5">
                  <a:pos x="T2" y="T3"/>
                </a:cxn>
              </a:cxnLst>
              <a:rect l="0" t="0" r="r" b="b"/>
              <a:pathLst>
                <a:path w="139" h="199">
                  <a:moveTo>
                    <a:pt x="0" y="199"/>
                  </a:moveTo>
                  <a:lnTo>
                    <a:pt x="139" y="0"/>
                  </a:lnTo>
                </a:path>
              </a:pathLst>
            </a:custGeom>
            <a:noFill/>
            <a:ln w="19050" cap="flat" cmpd="sng">
              <a:solidFill>
                <a:schemeClr val="bg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280" name="Freeform 57"/>
            <p:cNvSpPr>
              <a:spLocks/>
            </p:cNvSpPr>
            <p:nvPr/>
          </p:nvSpPr>
          <p:spPr bwMode="auto">
            <a:xfrm>
              <a:off x="5138" y="1632"/>
              <a:ext cx="142" cy="242"/>
            </a:xfrm>
            <a:custGeom>
              <a:avLst/>
              <a:gdLst>
                <a:gd name="T0" fmla="*/ 0 w 142"/>
                <a:gd name="T1" fmla="*/ 242 h 242"/>
                <a:gd name="T2" fmla="*/ 142 w 142"/>
                <a:gd name="T3" fmla="*/ 0 h 242"/>
                <a:gd name="T4" fmla="*/ 0 60000 65536"/>
                <a:gd name="T5" fmla="*/ 0 60000 65536"/>
              </a:gdLst>
              <a:ahLst/>
              <a:cxnLst>
                <a:cxn ang="T4">
                  <a:pos x="T0" y="T1"/>
                </a:cxn>
                <a:cxn ang="T5">
                  <a:pos x="T2" y="T3"/>
                </a:cxn>
              </a:cxnLst>
              <a:rect l="0" t="0" r="r" b="b"/>
              <a:pathLst>
                <a:path w="142" h="242">
                  <a:moveTo>
                    <a:pt x="0" y="242"/>
                  </a:moveTo>
                  <a:lnTo>
                    <a:pt x="142" y="0"/>
                  </a:lnTo>
                </a:path>
              </a:pathLst>
            </a:custGeom>
            <a:noFill/>
            <a:ln w="19050" cap="flat" cmpd="sng">
              <a:solidFill>
                <a:schemeClr val="bg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281" name="Freeform 58"/>
            <p:cNvSpPr>
              <a:spLocks/>
            </p:cNvSpPr>
            <p:nvPr/>
          </p:nvSpPr>
          <p:spPr bwMode="auto">
            <a:xfrm>
              <a:off x="5144" y="1781"/>
              <a:ext cx="272" cy="93"/>
            </a:xfrm>
            <a:custGeom>
              <a:avLst/>
              <a:gdLst>
                <a:gd name="T0" fmla="*/ 0 w 272"/>
                <a:gd name="T1" fmla="*/ 93 h 93"/>
                <a:gd name="T2" fmla="*/ 272 w 272"/>
                <a:gd name="T3" fmla="*/ 0 h 93"/>
                <a:gd name="T4" fmla="*/ 0 60000 65536"/>
                <a:gd name="T5" fmla="*/ 0 60000 65536"/>
              </a:gdLst>
              <a:ahLst/>
              <a:cxnLst>
                <a:cxn ang="T4">
                  <a:pos x="T0" y="T1"/>
                </a:cxn>
                <a:cxn ang="T5">
                  <a:pos x="T2" y="T3"/>
                </a:cxn>
              </a:cxnLst>
              <a:rect l="0" t="0" r="r" b="b"/>
              <a:pathLst>
                <a:path w="272" h="93">
                  <a:moveTo>
                    <a:pt x="0" y="93"/>
                  </a:moveTo>
                  <a:lnTo>
                    <a:pt x="272" y="0"/>
                  </a:lnTo>
                </a:path>
              </a:pathLst>
            </a:custGeom>
            <a:noFill/>
            <a:ln w="19050" cap="flat" cmpd="sng">
              <a:solidFill>
                <a:schemeClr val="bg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282" name="Freeform 59"/>
            <p:cNvSpPr>
              <a:spLocks/>
            </p:cNvSpPr>
            <p:nvPr/>
          </p:nvSpPr>
          <p:spPr bwMode="auto">
            <a:xfrm>
              <a:off x="5144" y="1874"/>
              <a:ext cx="280" cy="94"/>
            </a:xfrm>
            <a:custGeom>
              <a:avLst/>
              <a:gdLst>
                <a:gd name="T0" fmla="*/ 0 w 280"/>
                <a:gd name="T1" fmla="*/ 0 h 94"/>
                <a:gd name="T2" fmla="*/ 280 w 280"/>
                <a:gd name="T3" fmla="*/ 94 h 94"/>
                <a:gd name="T4" fmla="*/ 0 60000 65536"/>
                <a:gd name="T5" fmla="*/ 0 60000 65536"/>
              </a:gdLst>
              <a:ahLst/>
              <a:cxnLst>
                <a:cxn ang="T4">
                  <a:pos x="T0" y="T1"/>
                </a:cxn>
                <a:cxn ang="T5">
                  <a:pos x="T2" y="T3"/>
                </a:cxn>
              </a:cxnLst>
              <a:rect l="0" t="0" r="r" b="b"/>
              <a:pathLst>
                <a:path w="280" h="94">
                  <a:moveTo>
                    <a:pt x="0" y="0"/>
                  </a:moveTo>
                  <a:lnTo>
                    <a:pt x="280" y="94"/>
                  </a:lnTo>
                </a:path>
              </a:pathLst>
            </a:custGeom>
            <a:noFill/>
            <a:ln w="19050" cap="flat" cmpd="sng">
              <a:solidFill>
                <a:schemeClr val="bg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283" name="Freeform 60"/>
            <p:cNvSpPr>
              <a:spLocks/>
            </p:cNvSpPr>
            <p:nvPr/>
          </p:nvSpPr>
          <p:spPr bwMode="auto">
            <a:xfrm>
              <a:off x="5144" y="1880"/>
              <a:ext cx="136" cy="232"/>
            </a:xfrm>
            <a:custGeom>
              <a:avLst/>
              <a:gdLst>
                <a:gd name="T0" fmla="*/ 0 w 136"/>
                <a:gd name="T1" fmla="*/ 0 h 232"/>
                <a:gd name="T2" fmla="*/ 136 w 136"/>
                <a:gd name="T3" fmla="*/ 232 h 232"/>
                <a:gd name="T4" fmla="*/ 0 60000 65536"/>
                <a:gd name="T5" fmla="*/ 0 60000 65536"/>
              </a:gdLst>
              <a:ahLst/>
              <a:cxnLst>
                <a:cxn ang="T4">
                  <a:pos x="T0" y="T1"/>
                </a:cxn>
                <a:cxn ang="T5">
                  <a:pos x="T2" y="T3"/>
                </a:cxn>
              </a:cxnLst>
              <a:rect l="0" t="0" r="r" b="b"/>
              <a:pathLst>
                <a:path w="136" h="232">
                  <a:moveTo>
                    <a:pt x="0" y="0"/>
                  </a:moveTo>
                  <a:lnTo>
                    <a:pt x="136" y="232"/>
                  </a:lnTo>
                </a:path>
              </a:pathLst>
            </a:custGeom>
            <a:noFill/>
            <a:ln w="19050" cap="flat" cmpd="sng">
              <a:solidFill>
                <a:schemeClr val="bg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284" name="Oval 53"/>
            <p:cNvSpPr>
              <a:spLocks noChangeArrowheads="1"/>
            </p:cNvSpPr>
            <p:nvPr/>
          </p:nvSpPr>
          <p:spPr bwMode="auto">
            <a:xfrm>
              <a:off x="5088" y="1824"/>
              <a:ext cx="96" cy="96"/>
            </a:xfrm>
            <a:prstGeom prst="ellipse">
              <a:avLst/>
            </a:prstGeom>
            <a:solidFill>
              <a:schemeClr val="accent3">
                <a:lumMod val="65000"/>
              </a:schemeClr>
            </a:solidFill>
            <a:ln w="19050">
              <a:solidFill>
                <a:schemeClr val="bg2"/>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02402"/>
                                        </p:tgtEl>
                                        <p:attrNameLst>
                                          <p:attrName>style.visibility</p:attrName>
                                        </p:attrNameLst>
                                      </p:cBhvr>
                                      <p:to>
                                        <p:strVal val="visible"/>
                                      </p:to>
                                    </p:set>
                                    <p:anim calcmode="lin" valueType="num">
                                      <p:cBhvr>
                                        <p:cTn id="7" dur="500" fill="hold"/>
                                        <p:tgtEl>
                                          <p:spTgt spid="102402"/>
                                        </p:tgtEl>
                                        <p:attrNameLst>
                                          <p:attrName>ppt_w</p:attrName>
                                        </p:attrNameLst>
                                      </p:cBhvr>
                                      <p:tavLst>
                                        <p:tav tm="0">
                                          <p:val>
                                            <p:fltVal val="0"/>
                                          </p:val>
                                        </p:tav>
                                        <p:tav tm="100000">
                                          <p:val>
                                            <p:strVal val="#ppt_w"/>
                                          </p:val>
                                        </p:tav>
                                      </p:tavLst>
                                    </p:anim>
                                    <p:anim calcmode="lin" valueType="num">
                                      <p:cBhvr>
                                        <p:cTn id="8" dur="500" fill="hold"/>
                                        <p:tgtEl>
                                          <p:spTgt spid="102402"/>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102463"/>
                                        </p:tgtEl>
                                        <p:attrNameLst>
                                          <p:attrName>style.visibility</p:attrName>
                                        </p:attrNameLst>
                                      </p:cBhvr>
                                      <p:to>
                                        <p:strVal val="visible"/>
                                      </p:to>
                                    </p:set>
                                    <p:animEffect transition="in" filter="wipe(up)">
                                      <p:cBhvr>
                                        <p:cTn id="12" dur="500"/>
                                        <p:tgtEl>
                                          <p:spTgt spid="1024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02464"/>
                                        </p:tgtEl>
                                        <p:attrNameLst>
                                          <p:attrName>style.visibility</p:attrName>
                                        </p:attrNameLst>
                                      </p:cBhvr>
                                      <p:to>
                                        <p:strVal val="visible"/>
                                      </p:to>
                                    </p:set>
                                    <p:animEffect transition="in" filter="wipe(up)">
                                      <p:cBhvr>
                                        <p:cTn id="17" dur="500"/>
                                        <p:tgtEl>
                                          <p:spTgt spid="1024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02462"/>
                                        </p:tgtEl>
                                        <p:attrNameLst>
                                          <p:attrName>style.visibility</p:attrName>
                                        </p:attrNameLst>
                                      </p:cBhvr>
                                      <p:to>
                                        <p:strVal val="visible"/>
                                      </p:to>
                                    </p:set>
                                    <p:animEffect transition="in" filter="wipe(up)">
                                      <p:cBhvr>
                                        <p:cTn id="22" dur="500"/>
                                        <p:tgtEl>
                                          <p:spTgt spid="102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rgbClr val="CC0000"/>
                </a:solidFill>
                <a:latin typeface="Arial Rounded MT Bold" pitchFamily="34" charset="0"/>
              </a:rPr>
              <a:t>Adjacency Matrix</a:t>
            </a:r>
            <a:r>
              <a:rPr lang="en-US" sz="2800" dirty="0" smtClean="0">
                <a:solidFill>
                  <a:schemeClr val="tx1"/>
                </a:solidFill>
                <a:latin typeface="Arial Rounded MT Bold" pitchFamily="34" charset="0"/>
              </a:rPr>
              <a:t>  </a:t>
            </a:r>
            <a:r>
              <a:rPr lang="en-US" sz="2800" dirty="0" err="1" smtClean="0">
                <a:solidFill>
                  <a:schemeClr val="tx1"/>
                </a:solidFill>
                <a:latin typeface="Arial Rounded MT Bold" pitchFamily="34" charset="0"/>
              </a:rPr>
              <a:t>vs</a:t>
            </a:r>
            <a:r>
              <a:rPr lang="en-US" sz="2800" dirty="0" smtClean="0">
                <a:solidFill>
                  <a:schemeClr val="tx1"/>
                </a:solidFill>
                <a:latin typeface="Arial Rounded MT Bold" pitchFamily="34" charset="0"/>
              </a:rPr>
              <a:t>  </a:t>
            </a:r>
            <a:r>
              <a:rPr lang="en-US" sz="2800" dirty="0" smtClean="0">
                <a:solidFill>
                  <a:schemeClr val="hlink"/>
                </a:solidFill>
                <a:latin typeface="Arial Rounded MT Bold" pitchFamily="34" charset="0"/>
              </a:rPr>
              <a:t>Adjacency List Structure</a:t>
            </a:r>
          </a:p>
        </p:txBody>
      </p:sp>
      <p:graphicFrame>
        <p:nvGraphicFramePr>
          <p:cNvPr id="102000" name="Group 624"/>
          <p:cNvGraphicFramePr>
            <a:graphicFrameLocks noGrp="1"/>
          </p:cNvGraphicFramePr>
          <p:nvPr>
            <p:extLst>
              <p:ext uri="{D42A27DB-BD31-4B8C-83A1-F6EECF244321}">
                <p14:modId xmlns:p14="http://schemas.microsoft.com/office/powerpoint/2010/main" val="2928073747"/>
              </p:ext>
            </p:extLst>
          </p:nvPr>
        </p:nvGraphicFramePr>
        <p:xfrm>
          <a:off x="381000" y="1219200"/>
          <a:ext cx="8153400" cy="5192713"/>
        </p:xfrm>
        <a:graphic>
          <a:graphicData uri="http://schemas.openxmlformats.org/drawingml/2006/table">
            <a:tbl>
              <a:tblPr>
                <a:effectLst>
                  <a:outerShdw blurRad="50800" dist="38100" dir="2700000" algn="tl" rotWithShape="0">
                    <a:prstClr val="black">
                      <a:alpha val="40000"/>
                    </a:prstClr>
                  </a:outerShdw>
                </a:effectLst>
              </a:tblPr>
              <a:tblGrid>
                <a:gridCol w="3810000"/>
                <a:gridCol w="1066800"/>
                <a:gridCol w="1371600"/>
                <a:gridCol w="228600"/>
                <a:gridCol w="1676400"/>
              </a:tblGrid>
              <a:tr h="990600">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smtClean="0">
                          <a:ln>
                            <a:noFill/>
                          </a:ln>
                          <a:solidFill>
                            <a:schemeClr val="tx1"/>
                          </a:solidFill>
                          <a:effectLst/>
                          <a:latin typeface="Times New Roman" pitchFamily="18" charset="0"/>
                        </a:rPr>
                        <a:t>complexity</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2"/>
                      <a:srcRect/>
                      <a:tile tx="0" ty="0" sx="100000" sy="100000" flip="none" algn="tl"/>
                    </a:blipFill>
                  </a:tcPr>
                </a:tc>
                <a:tc hMerge="1">
                  <a:txBody>
                    <a:bodyPr/>
                    <a:lstStyle/>
                    <a:p>
                      <a:endParaRPr lang="en-CA"/>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smtClean="0">
                          <a:ln>
                            <a:noFill/>
                          </a:ln>
                          <a:solidFill>
                            <a:srgbClr val="CC0000"/>
                          </a:solidFill>
                          <a:effectLst/>
                          <a:latin typeface="Times New Roman" pitchFamily="18" charset="0"/>
                        </a:rPr>
                        <a:t>Adjacency</a:t>
                      </a:r>
                      <a:br>
                        <a:rPr kumimoji="0" lang="en-US" sz="2400" b="1" i="0" u="none" strike="noStrike" cap="none" normalizeH="0" baseline="0" dirty="0" smtClean="0">
                          <a:ln>
                            <a:noFill/>
                          </a:ln>
                          <a:solidFill>
                            <a:srgbClr val="CC0000"/>
                          </a:solidFill>
                          <a:effectLst/>
                          <a:latin typeface="Times New Roman" pitchFamily="18" charset="0"/>
                        </a:rPr>
                      </a:br>
                      <a:r>
                        <a:rPr kumimoji="0" lang="en-US" sz="2400" b="1" i="0" u="none" strike="noStrike" cap="none" normalizeH="0" baseline="0" dirty="0" smtClean="0">
                          <a:ln>
                            <a:noFill/>
                          </a:ln>
                          <a:solidFill>
                            <a:srgbClr val="CC0000"/>
                          </a:solidFill>
                          <a:effectLst/>
                          <a:latin typeface="Times New Roman" pitchFamily="18" charset="0"/>
                        </a:rPr>
                        <a:t>Matrix</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hMerge="1">
                  <a:txBody>
                    <a:bodyPr/>
                    <a:lstStyle/>
                    <a:p>
                      <a:endParaRPr lang="en-CA"/>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smtClean="0">
                          <a:ln>
                            <a:noFill/>
                          </a:ln>
                          <a:solidFill>
                            <a:schemeClr val="hlink"/>
                          </a:solidFill>
                          <a:effectLst/>
                          <a:latin typeface="Times New Roman" pitchFamily="18" charset="0"/>
                        </a:rPr>
                        <a:t>Adjacency</a:t>
                      </a:r>
                      <a:br>
                        <a:rPr kumimoji="0" lang="en-US" sz="2400" b="1" i="0" u="none" strike="noStrike" cap="none" normalizeH="0" baseline="0" dirty="0" smtClean="0">
                          <a:ln>
                            <a:noFill/>
                          </a:ln>
                          <a:solidFill>
                            <a:schemeClr val="hlink"/>
                          </a:solidFill>
                          <a:effectLst/>
                          <a:latin typeface="Times New Roman" pitchFamily="18" charset="0"/>
                        </a:rPr>
                      </a:br>
                      <a:r>
                        <a:rPr kumimoji="0" lang="en-US" sz="2400" b="1" i="0" u="none" strike="noStrike" cap="none" normalizeH="0" baseline="0" dirty="0" smtClean="0">
                          <a:ln>
                            <a:noFill/>
                          </a:ln>
                          <a:solidFill>
                            <a:schemeClr val="hlink"/>
                          </a:solidFill>
                          <a:effectLst/>
                          <a:latin typeface="Times New Roman" pitchFamily="18" charset="0"/>
                        </a:rPr>
                        <a:t>List</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r>
              <a:tr h="180975">
                <a:tc>
                  <a:txBody>
                    <a:bodyPr/>
                    <a:lstStyle/>
                    <a:p>
                      <a:pPr marL="0" marR="0" lvl="0" indent="0" algn="l" defTabSz="914400" rtl="0" eaLnBrk="1" fontAlgn="base" latinLnBrk="0" hangingPunct="1">
                        <a:lnSpc>
                          <a:spcPct val="35000"/>
                        </a:lnSpc>
                        <a:spcBef>
                          <a:spcPct val="20000"/>
                        </a:spcBef>
                        <a:spcAft>
                          <a:spcPct val="0"/>
                        </a:spcAft>
                        <a:buClrTx/>
                        <a:buSzTx/>
                        <a:buFontTx/>
                        <a:buNone/>
                        <a:tabLst/>
                      </a:pPr>
                      <a:endParaRPr kumimoji="0" lang="en-US" sz="800" b="0" i="0" u="none" strike="noStrike" cap="none" normalizeH="0" baseline="0" smtClean="0">
                        <a:ln>
                          <a:noFill/>
                        </a:ln>
                        <a:solidFill>
                          <a:schemeClr val="tx1"/>
                        </a:solidFill>
                        <a:effectLst/>
                        <a:latin typeface="Times New Roman" pitchFamily="18"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5"/>
                      <a:srcRect/>
                      <a:tile tx="0" ty="0" sx="100000" sy="100000" flip="none" algn="tl"/>
                    </a:blipFill>
                  </a:tcPr>
                </a:tc>
                <a:tc>
                  <a:txBody>
                    <a:bodyPr/>
                    <a:lstStyle/>
                    <a:p>
                      <a:pPr marL="0" marR="0" lvl="0" indent="0" algn="l" defTabSz="914400" rtl="0" eaLnBrk="1" fontAlgn="base" latinLnBrk="0" hangingPunct="1">
                        <a:lnSpc>
                          <a:spcPct val="35000"/>
                        </a:lnSpc>
                        <a:spcBef>
                          <a:spcPct val="20000"/>
                        </a:spcBef>
                        <a:spcAft>
                          <a:spcPct val="0"/>
                        </a:spcAft>
                        <a:buClrTx/>
                        <a:buSzTx/>
                        <a:buFontTx/>
                        <a:buNone/>
                        <a:tabLst/>
                      </a:pPr>
                      <a:endParaRPr kumimoji="0" lang="en-US" sz="800" b="0" i="0" u="none" strike="noStrike" cap="none" normalizeH="0" baseline="0" smtClean="0">
                        <a:ln>
                          <a:noFill/>
                        </a:ln>
                        <a:solidFill>
                          <a:srgbClr val="CC0000"/>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5"/>
                      <a:srcRect/>
                      <a:tile tx="0" ty="0" sx="100000" sy="100000" flip="none" algn="tl"/>
                    </a:blipFill>
                  </a:tcPr>
                </a:tc>
                <a:tc>
                  <a:txBody>
                    <a:bodyPr/>
                    <a:lstStyle/>
                    <a:p>
                      <a:pPr marL="0" marR="0" lvl="0" indent="0" algn="l" defTabSz="914400" rtl="0" eaLnBrk="1" fontAlgn="base" latinLnBrk="0" hangingPunct="1">
                        <a:lnSpc>
                          <a:spcPct val="35000"/>
                        </a:lnSpc>
                        <a:spcBef>
                          <a:spcPct val="20000"/>
                        </a:spcBef>
                        <a:spcAft>
                          <a:spcPct val="0"/>
                        </a:spcAft>
                        <a:buClrTx/>
                        <a:buSzTx/>
                        <a:buFontTx/>
                        <a:buNone/>
                        <a:tabLst/>
                      </a:pPr>
                      <a:endParaRPr kumimoji="0" lang="en-US" sz="800" b="0" i="0" u="none" strike="noStrike" cap="none" normalizeH="0" baseline="0" smtClean="0">
                        <a:ln>
                          <a:noFill/>
                        </a:ln>
                        <a:solidFill>
                          <a:srgbClr val="CC0000"/>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5"/>
                      <a:srcRect/>
                      <a:tile tx="0" ty="0" sx="100000" sy="100000" flip="none" algn="tl"/>
                    </a:blipFill>
                  </a:tcPr>
                </a:tc>
                <a:tc>
                  <a:txBody>
                    <a:bodyPr/>
                    <a:lstStyle/>
                    <a:p>
                      <a:pPr marL="0" marR="0" lvl="0" indent="0" algn="l" defTabSz="914400" rtl="0" eaLnBrk="1" fontAlgn="base" latinLnBrk="0" hangingPunct="1">
                        <a:lnSpc>
                          <a:spcPct val="35000"/>
                        </a:lnSpc>
                        <a:spcBef>
                          <a:spcPct val="20000"/>
                        </a:spcBef>
                        <a:spcAft>
                          <a:spcPct val="0"/>
                        </a:spcAft>
                        <a:buClrTx/>
                        <a:buSzTx/>
                        <a:buFontTx/>
                        <a:buNone/>
                        <a:tabLst/>
                      </a:pPr>
                      <a:endParaRPr kumimoji="0" lang="en-US" sz="800" b="0" i="0" u="none" strike="noStrike" cap="none" normalizeH="0" baseline="0" smtClean="0">
                        <a:ln>
                          <a:noFill/>
                        </a:ln>
                        <a:solidFill>
                          <a:srgbClr val="CC0000"/>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5"/>
                      <a:srcRect/>
                      <a:tile tx="0" ty="0" sx="100000" sy="100000" flip="none" algn="tl"/>
                    </a:blipFill>
                  </a:tcPr>
                </a:tc>
                <a:tc>
                  <a:txBody>
                    <a:bodyPr/>
                    <a:lstStyle/>
                    <a:p>
                      <a:pPr marL="0" marR="0" lvl="0" indent="0" algn="l" defTabSz="914400" rtl="0" eaLnBrk="1" fontAlgn="base" latinLnBrk="0" hangingPunct="1">
                        <a:lnSpc>
                          <a:spcPct val="35000"/>
                        </a:lnSpc>
                        <a:spcBef>
                          <a:spcPct val="20000"/>
                        </a:spcBef>
                        <a:spcAft>
                          <a:spcPct val="0"/>
                        </a:spcAft>
                        <a:buClrTx/>
                        <a:buSzTx/>
                        <a:buFontTx/>
                        <a:buNone/>
                        <a:tabLst/>
                      </a:pPr>
                      <a:endParaRPr kumimoji="0" lang="en-US" sz="800" b="0" i="0" u="none" strike="noStrike" cap="none" normalizeH="0" baseline="0" smtClean="0">
                        <a:ln>
                          <a:noFill/>
                        </a:ln>
                        <a:solidFill>
                          <a:schemeClr val="hlink"/>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5"/>
                      <a:srcRect/>
                      <a:tile tx="0" ty="0" sx="100000" sy="100000" flip="none" algn="tl"/>
                    </a:blipFill>
                  </a:tcPr>
                </a:tc>
              </a:tr>
              <a:tr h="8128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rPr>
                        <a:t># memory cells</a:t>
                      </a:r>
                      <a:endParaRPr kumimoji="0" lang="en-US" sz="2000" b="0" i="0" u="none" strike="noStrike" cap="none" normalizeH="0" baseline="0" dirty="0" smtClean="0">
                        <a:ln>
                          <a:noFill/>
                        </a:ln>
                        <a:solidFill>
                          <a:schemeClr val="hlink"/>
                        </a:solidFill>
                        <a:effectLst/>
                        <a:latin typeface="Arial" pitchFamily="34"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2"/>
                      <a:srcRect/>
                      <a:tile tx="0" ty="0" sx="100000" sy="100000" flip="none" algn="tl"/>
                    </a:blip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hlink"/>
                          </a:solidFill>
                          <a:effectLst/>
                          <a:latin typeface="Arial" pitchFamily="34" charset="0"/>
                        </a:rPr>
                        <a:t>Space</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6"/>
                      <a:srcRect/>
                      <a:tile tx="0" ty="0" sx="100000" sy="100000" flip="none" algn="tl"/>
                    </a:blipFill>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rgbClr val="CC0000"/>
                          </a:solidFill>
                          <a:effectLst/>
                          <a:latin typeface="Times New Roman" pitchFamily="18" charset="0"/>
                        </a:rPr>
                        <a:t>O(V</a:t>
                      </a:r>
                      <a:r>
                        <a:rPr kumimoji="0" lang="en-US" sz="2400" b="0" i="0" u="none" strike="noStrike" cap="none" normalizeH="0" baseline="30000" smtClean="0">
                          <a:ln>
                            <a:noFill/>
                          </a:ln>
                          <a:solidFill>
                            <a:srgbClr val="CC0000"/>
                          </a:solidFill>
                          <a:effectLst/>
                          <a:latin typeface="Times New Roman" pitchFamily="18" charset="0"/>
                        </a:rPr>
                        <a:t>2</a:t>
                      </a:r>
                      <a:r>
                        <a:rPr kumimoji="0" lang="en-US" sz="2400" b="0" i="0" u="none" strike="noStrike" cap="none" normalizeH="0" baseline="0" smtClean="0">
                          <a:ln>
                            <a:noFill/>
                          </a:ln>
                          <a:solidFill>
                            <a:srgbClr val="CC0000"/>
                          </a:solidFill>
                          <a:effectLst/>
                          <a:latin typeface="Times New Roman" pitchFamily="18" charset="0"/>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hMerge="1">
                  <a:txBody>
                    <a:bodyPr/>
                    <a:lstStyle/>
                    <a:p>
                      <a:endParaRPr lang="en-CA"/>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hlink"/>
                          </a:solidFill>
                          <a:effectLst/>
                          <a:latin typeface="Times New Roman" pitchFamily="18" charset="0"/>
                        </a:rPr>
                        <a:t>O(V + E)</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r>
              <a:tr h="8128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rPr>
                        <a:t>Initialize structure       </a:t>
                      </a:r>
                      <a:endParaRPr kumimoji="0" lang="en-US" sz="2000" b="0" i="0" u="none" strike="noStrike" cap="none" normalizeH="0" baseline="0" dirty="0" smtClean="0">
                        <a:ln>
                          <a:noFill/>
                        </a:ln>
                        <a:solidFill>
                          <a:schemeClr val="hlink"/>
                        </a:solidFill>
                        <a:effectLst/>
                        <a:latin typeface="Arial" pitchFamily="34"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2"/>
                      <a:srcRect/>
                      <a:tile tx="0" ty="0" sx="100000" sy="100000" flip="none" algn="tl"/>
                    </a:blipFill>
                  </a:tcPr>
                </a:tc>
                <a:tc row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hlink"/>
                          </a:solidFill>
                          <a:effectLst/>
                          <a:latin typeface="Arial" pitchFamily="34" charset="0"/>
                        </a:rPr>
                        <a:t>Time</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hlink"/>
                        </a:solidFill>
                        <a:effectLst/>
                        <a:latin typeface="Arial" pitchFamily="34" charset="0"/>
                        <a:sym typeface="Symbol" pitchFamily="18" charset="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dpi="0" rotWithShape="0">
                      <a:blip r:embed="rId6"/>
                      <a:srcRect/>
                      <a:tile tx="0" ty="0" sx="100000" sy="100000" flip="none" algn="tl"/>
                    </a:blipFill>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rgbClr val="CC0000"/>
                          </a:solidFill>
                          <a:effectLst/>
                          <a:latin typeface="Times New Roman" pitchFamily="18" charset="0"/>
                        </a:rPr>
                        <a:t>O(V</a:t>
                      </a:r>
                      <a:r>
                        <a:rPr kumimoji="0" lang="en-US" sz="2400" b="0" i="0" u="none" strike="noStrike" cap="none" normalizeH="0" baseline="30000" smtClean="0">
                          <a:ln>
                            <a:noFill/>
                          </a:ln>
                          <a:solidFill>
                            <a:srgbClr val="CC0000"/>
                          </a:solidFill>
                          <a:effectLst/>
                          <a:latin typeface="Times New Roman" pitchFamily="18" charset="0"/>
                        </a:rPr>
                        <a:t>2</a:t>
                      </a:r>
                      <a:r>
                        <a:rPr kumimoji="0" lang="en-US" sz="2400" b="0" i="0" u="none" strike="noStrike" cap="none" normalizeH="0" baseline="0" smtClean="0">
                          <a:ln>
                            <a:noFill/>
                          </a:ln>
                          <a:solidFill>
                            <a:srgbClr val="CC0000"/>
                          </a:solidFill>
                          <a:effectLst/>
                          <a:latin typeface="Times New Roman" pitchFamily="18" charset="0"/>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hMerge="1">
                  <a:txBody>
                    <a:bodyPr/>
                    <a:lstStyle/>
                    <a:p>
                      <a:endParaRPr lang="en-CA"/>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hlink"/>
                          </a:solidFill>
                          <a:effectLst/>
                          <a:latin typeface="Times New Roman" pitchFamily="18" charset="0"/>
                        </a:rPr>
                        <a:t>O(V + E)</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r>
              <a:tr h="769938">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rPr>
                        <a:t>Scan (incident edges of) all vertices </a:t>
                      </a:r>
                      <a:r>
                        <a:rPr kumimoji="0" lang="en-US" sz="2000" b="0" i="0" u="none" strike="noStrike" cap="none" normalizeH="0" baseline="0" dirty="0" smtClean="0">
                          <a:ln>
                            <a:noFill/>
                          </a:ln>
                          <a:solidFill>
                            <a:schemeClr val="tx1"/>
                          </a:solidFill>
                          <a:effectLst/>
                          <a:latin typeface="Times New Roman" pitchFamily="18" charset="0"/>
                          <a:sym typeface="Symbol" pitchFamily="18" charset="2"/>
                        </a:rPr>
                        <a:t> </a:t>
                      </a:r>
                      <a:endParaRPr kumimoji="0" lang="en-US" sz="2000" b="0" i="0" u="none" strike="noStrike" cap="none" normalizeH="0" baseline="0" dirty="0" smtClean="0">
                        <a:ln>
                          <a:noFill/>
                        </a:ln>
                        <a:solidFill>
                          <a:schemeClr val="hlink"/>
                        </a:solidFill>
                        <a:effectLst/>
                        <a:latin typeface="Arial" pitchFamily="34" charset="0"/>
                        <a:sym typeface="Symbol" pitchFamily="18" charset="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2"/>
                      <a:srcRect/>
                      <a:tile tx="0" ty="0" sx="100000" sy="100000" flip="none" algn="tl"/>
                    </a:blipFill>
                  </a:tcPr>
                </a:tc>
                <a:tc vMerge="1">
                  <a:txBody>
                    <a:bodyPr/>
                    <a:lstStyle/>
                    <a:p>
                      <a:endParaRPr lang="en-CA"/>
                    </a:p>
                  </a:txBody>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rgbClr val="CC0000"/>
                          </a:solidFill>
                          <a:effectLst/>
                          <a:latin typeface="Times New Roman" pitchFamily="18" charset="0"/>
                        </a:rPr>
                        <a:t>O(V</a:t>
                      </a:r>
                      <a:r>
                        <a:rPr kumimoji="0" lang="en-US" sz="2400" b="0" i="0" u="none" strike="noStrike" cap="none" normalizeH="0" baseline="30000" smtClean="0">
                          <a:ln>
                            <a:noFill/>
                          </a:ln>
                          <a:solidFill>
                            <a:srgbClr val="CC0000"/>
                          </a:solidFill>
                          <a:effectLst/>
                          <a:latin typeface="Times New Roman" pitchFamily="18" charset="0"/>
                        </a:rPr>
                        <a:t>2</a:t>
                      </a:r>
                      <a:r>
                        <a:rPr kumimoji="0" lang="en-US" sz="2400" b="0" i="0" u="none" strike="noStrike" cap="none" normalizeH="0" baseline="0" smtClean="0">
                          <a:ln>
                            <a:noFill/>
                          </a:ln>
                          <a:solidFill>
                            <a:srgbClr val="CC0000"/>
                          </a:solidFill>
                          <a:effectLst/>
                          <a:latin typeface="Times New Roman" pitchFamily="18" charset="0"/>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hMerge="1">
                  <a:txBody>
                    <a:bodyPr/>
                    <a:lstStyle/>
                    <a:p>
                      <a:endParaRPr lang="en-CA"/>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hlink"/>
                          </a:solidFill>
                          <a:effectLst/>
                          <a:latin typeface="Times New Roman" pitchFamily="18" charset="0"/>
                        </a:rPr>
                        <a:t>O(V + E)</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r>
              <a:tr h="8128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rPr>
                        <a:t>List vertices adjacent to </a:t>
                      </a:r>
                      <a:r>
                        <a:rPr kumimoji="0" lang="en-US" sz="2000" b="0" i="0" u="none" strike="noStrike" cap="none" normalizeH="0" baseline="0" dirty="0" err="1" smtClean="0">
                          <a:ln>
                            <a:noFill/>
                          </a:ln>
                          <a:solidFill>
                            <a:schemeClr val="tx1"/>
                          </a:solidFill>
                          <a:effectLst/>
                          <a:latin typeface="Times New Roman" pitchFamily="18" charset="0"/>
                        </a:rPr>
                        <a:t>u</a:t>
                      </a:r>
                      <a:r>
                        <a:rPr kumimoji="0" lang="en-US" sz="2000" b="0" i="0" u="none" strike="noStrike" cap="none" normalizeH="0" baseline="0" dirty="0" err="1" smtClean="0">
                          <a:ln>
                            <a:noFill/>
                          </a:ln>
                          <a:solidFill>
                            <a:schemeClr val="tx1"/>
                          </a:solidFill>
                          <a:effectLst/>
                          <a:latin typeface="Times New Roman" pitchFamily="18" charset="0"/>
                          <a:sym typeface="Symbol" pitchFamily="18" charset="2"/>
                        </a:rPr>
                        <a:t>V</a:t>
                      </a:r>
                      <a:r>
                        <a:rPr kumimoji="0" lang="en-US" sz="2000" b="0" i="0" u="none" strike="noStrike" cap="none" normalizeH="0" baseline="0" dirty="0" smtClean="0">
                          <a:ln>
                            <a:noFill/>
                          </a:ln>
                          <a:solidFill>
                            <a:schemeClr val="tx1"/>
                          </a:solidFill>
                          <a:effectLst/>
                          <a:latin typeface="Times New Roman" pitchFamily="18" charset="0"/>
                          <a:sym typeface="Symbol" pitchFamily="18" charset="2"/>
                        </a:rPr>
                        <a:t>(G) </a:t>
                      </a:r>
                      <a:endParaRPr kumimoji="0" lang="en-US" sz="2000" b="0" i="0" u="none" strike="noStrike" cap="none" normalizeH="0" baseline="0" dirty="0" smtClean="0">
                        <a:ln>
                          <a:noFill/>
                        </a:ln>
                        <a:solidFill>
                          <a:schemeClr val="hlink"/>
                        </a:solidFill>
                        <a:effectLst/>
                        <a:latin typeface="Arial" pitchFamily="34" charset="0"/>
                        <a:sym typeface="Symbol" pitchFamily="18" charset="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2"/>
                      <a:srcRect/>
                      <a:tile tx="0" ty="0" sx="100000" sy="100000" flip="none" algn="tl"/>
                    </a:blipFill>
                  </a:tcPr>
                </a:tc>
                <a:tc vMerge="1">
                  <a:txBody>
                    <a:bodyPr/>
                    <a:lstStyle/>
                    <a:p>
                      <a:endParaRPr lang="en-CA"/>
                    </a:p>
                  </a:txBody>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rgbClr val="CC0000"/>
                          </a:solidFill>
                          <a:effectLst/>
                          <a:latin typeface="Times New Roman" pitchFamily="18" charset="0"/>
                        </a:rPr>
                        <a:t>O(V)</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hMerge="1">
                  <a:txBody>
                    <a:bodyPr/>
                    <a:lstStyle/>
                    <a:p>
                      <a:endParaRPr lang="en-CA"/>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chemeClr val="hlink"/>
                          </a:solidFill>
                          <a:effectLst/>
                          <a:latin typeface="Times New Roman" pitchFamily="18" charset="0"/>
                        </a:rPr>
                        <a:t>O(|Adj[u]|)</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r>
              <a:tr h="8128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rPr>
                        <a:t>Is (</a:t>
                      </a:r>
                      <a:r>
                        <a:rPr kumimoji="0" lang="en-US" sz="2000" b="0" i="0" u="none" strike="noStrike" cap="none" normalizeH="0" baseline="0" dirty="0" err="1" smtClean="0">
                          <a:ln>
                            <a:noFill/>
                          </a:ln>
                          <a:solidFill>
                            <a:schemeClr val="tx1"/>
                          </a:solidFill>
                          <a:effectLst/>
                          <a:latin typeface="Times New Roman" pitchFamily="18" charset="0"/>
                        </a:rPr>
                        <a:t>u,v</a:t>
                      </a:r>
                      <a:r>
                        <a:rPr kumimoji="0" lang="en-US" sz="2000" b="0" i="0" u="none" strike="noStrike" cap="none" normalizeH="0" baseline="0" dirty="0" smtClean="0">
                          <a:ln>
                            <a:noFill/>
                          </a:ln>
                          <a:solidFill>
                            <a:schemeClr val="tx1"/>
                          </a:solidFill>
                          <a:effectLst/>
                          <a:latin typeface="Times New Roman" pitchFamily="18" charset="0"/>
                        </a:rPr>
                        <a:t>) </a:t>
                      </a:r>
                      <a:r>
                        <a:rPr kumimoji="0" lang="en-US" sz="2000" b="0" i="0" u="none" strike="noStrike" cap="none" normalizeH="0" baseline="0" dirty="0" smtClean="0">
                          <a:ln>
                            <a:noFill/>
                          </a:ln>
                          <a:solidFill>
                            <a:schemeClr val="tx1"/>
                          </a:solidFill>
                          <a:effectLst/>
                          <a:latin typeface="Times New Roman" pitchFamily="18" charset="0"/>
                          <a:sym typeface="Symbol" pitchFamily="18" charset="2"/>
                        </a:rPr>
                        <a:t> E(G)?          </a:t>
                      </a:r>
                      <a:endParaRPr kumimoji="0" lang="en-US" sz="2000" b="0" i="0" u="none" strike="noStrike" cap="none" normalizeH="0" baseline="0" dirty="0" smtClean="0">
                        <a:ln>
                          <a:noFill/>
                        </a:ln>
                        <a:solidFill>
                          <a:schemeClr val="hlink"/>
                        </a:solidFill>
                        <a:effectLst/>
                        <a:latin typeface="Arial" pitchFamily="34"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dpi="0" rotWithShape="0">
                      <a:blip r:embed="rId2"/>
                      <a:srcRect/>
                      <a:tile tx="0" ty="0" sx="100000" sy="100000" flip="none" algn="tl"/>
                    </a:blipFill>
                  </a:tcPr>
                </a:tc>
                <a:tc vMerge="1">
                  <a:txBody>
                    <a:bodyPr/>
                    <a:lstStyle/>
                    <a:p>
                      <a:endParaRPr lang="en-CA"/>
                    </a:p>
                  </a:txBody>
                  <a:tcPr/>
                </a:tc>
                <a:tc gridSpan="2">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smtClean="0">
                          <a:ln>
                            <a:noFill/>
                          </a:ln>
                          <a:solidFill>
                            <a:srgbClr val="CC0000"/>
                          </a:solidFill>
                          <a:effectLst/>
                          <a:latin typeface="Times New Roman" pitchFamily="18" charset="0"/>
                        </a:rPr>
                        <a:t>O(1)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hMerge="1">
                  <a:txBody>
                    <a:bodyPr/>
                    <a:lstStyle/>
                    <a:p>
                      <a:endParaRPr lang="en-CA"/>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hlink"/>
                          </a:solidFill>
                          <a:effectLst/>
                          <a:latin typeface="Times New Roman" pitchFamily="18" charset="0"/>
                        </a:rPr>
                        <a:t>O(|</a:t>
                      </a:r>
                      <a:r>
                        <a:rPr kumimoji="0" lang="en-US" sz="2400" b="0" i="0" u="none" strike="noStrike" cap="none" normalizeH="0" baseline="0" dirty="0" err="1" smtClean="0">
                          <a:ln>
                            <a:noFill/>
                          </a:ln>
                          <a:solidFill>
                            <a:schemeClr val="hlink"/>
                          </a:solidFill>
                          <a:effectLst/>
                          <a:latin typeface="Times New Roman" pitchFamily="18" charset="0"/>
                        </a:rPr>
                        <a:t>Adj</a:t>
                      </a:r>
                      <a:r>
                        <a:rPr kumimoji="0" lang="en-US" sz="2400" b="0" i="0" u="none" strike="noStrike" cap="none" normalizeH="0" baseline="0" dirty="0" smtClean="0">
                          <a:ln>
                            <a:noFill/>
                          </a:ln>
                          <a:solidFill>
                            <a:schemeClr val="hlink"/>
                          </a:solidFill>
                          <a:effectLst/>
                          <a:latin typeface="Times New Roman" pitchFamily="18" charset="0"/>
                        </a:rPr>
                        <a:t>[u]|)</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dpi="0" rotWithShape="0">
                      <a:blip r:embed="rId4"/>
                      <a:srcRect/>
                      <a:tile tx="0" ty="0" sx="100000" sy="100000" flip="none" algn="tl"/>
                    </a:blipFill>
                  </a:tcPr>
                </a:tc>
              </a:tr>
            </a:tbl>
          </a:graphicData>
        </a:graphic>
      </p:graphicFrame>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01378"/>
                                        </p:tgtEl>
                                        <p:attrNameLst>
                                          <p:attrName>style.visibility</p:attrName>
                                        </p:attrNameLst>
                                      </p:cBhvr>
                                      <p:to>
                                        <p:strVal val="visible"/>
                                      </p:to>
                                    </p:set>
                                    <p:anim calcmode="lin" valueType="num">
                                      <p:cBhvr>
                                        <p:cTn id="7" dur="500" fill="hold"/>
                                        <p:tgtEl>
                                          <p:spTgt spid="101378"/>
                                        </p:tgtEl>
                                        <p:attrNameLst>
                                          <p:attrName>ppt_w</p:attrName>
                                        </p:attrNameLst>
                                      </p:cBhvr>
                                      <p:tavLst>
                                        <p:tav tm="0">
                                          <p:val>
                                            <p:fltVal val="0"/>
                                          </p:val>
                                        </p:tav>
                                        <p:tav tm="100000">
                                          <p:val>
                                            <p:strVal val="#ppt_w"/>
                                          </p:val>
                                        </p:tav>
                                      </p:tavLst>
                                    </p:anim>
                                    <p:anim calcmode="lin" valueType="num">
                                      <p:cBhvr>
                                        <p:cTn id="8" dur="500" fill="hold"/>
                                        <p:tgtEl>
                                          <p:spTgt spid="101378"/>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102000"/>
                                        </p:tgtEl>
                                        <p:attrNameLst>
                                          <p:attrName>style.visibility</p:attrName>
                                        </p:attrNameLst>
                                      </p:cBhvr>
                                      <p:to>
                                        <p:strVal val="visible"/>
                                      </p:to>
                                    </p:set>
                                    <p:animEffect transition="in" filter="wipe(up)">
                                      <p:cBhvr>
                                        <p:cTn id="12" dur="500"/>
                                        <p:tgtEl>
                                          <p:spTgt spid="102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Rectangle 2"/>
          <p:cNvSpPr>
            <a:spLocks noGrp="1" noChangeArrowheads="1"/>
          </p:cNvSpPr>
          <p:nvPr>
            <p:ph type="ctrTitle"/>
          </p:nvPr>
        </p:nvSpPr>
        <p:spPr>
          <a:xfrm>
            <a:off x="685800" y="2286000"/>
            <a:ext cx="7772400" cy="1371600"/>
          </a:xfrm>
          <a:solidFill>
            <a:srgbClr val="FFCCCC"/>
          </a:solidFill>
          <a:ln w="762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lstStyle/>
          <a:p>
            <a:pPr eaLnBrk="1" hangingPunct="1"/>
            <a:r>
              <a:rPr lang="en-US" dirty="0" smtClean="0">
                <a:solidFill>
                  <a:schemeClr val="accent2"/>
                </a:solidFill>
                <a:latin typeface="Arial Rounded MT Bold" pitchFamily="34" charset="0"/>
              </a:rPr>
              <a:t>BREADTH  FIRST  SEARCH</a:t>
            </a:r>
          </a:p>
        </p:txBody>
      </p:sp>
      <p:sp>
        <p:nvSpPr>
          <p:cNvPr id="2" name="Slide Number Placeholder 1"/>
          <p:cNvSpPr>
            <a:spLocks noGrp="1"/>
          </p:cNvSpPr>
          <p:nvPr>
            <p:ph type="sldNum" sz="quarter" idx="12"/>
          </p:nvPr>
        </p:nvSpPr>
        <p:spPr/>
        <p:txBody>
          <a:bodyPr/>
          <a:lstStyle/>
          <a:p>
            <a:pPr>
              <a:defRPr/>
            </a:pPr>
            <a:fld id="{90683EDB-7658-49F0-B96C-482436AB937A}" type="slidenum">
              <a:rPr lang="en-US" smtClean="0"/>
              <a:pPr>
                <a:defRPr/>
              </a:pPr>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80898"/>
                                        </p:tgtEl>
                                        <p:attrNameLst>
                                          <p:attrName>style.visibility</p:attrName>
                                        </p:attrNameLst>
                                      </p:cBhvr>
                                      <p:to>
                                        <p:strVal val="visible"/>
                                      </p:to>
                                    </p:set>
                                    <p:anim calcmode="lin" valueType="num">
                                      <p:cBhvr>
                                        <p:cTn id="7" dur="500" fill="hold"/>
                                        <p:tgtEl>
                                          <p:spTgt spid="80898"/>
                                        </p:tgtEl>
                                        <p:attrNameLst>
                                          <p:attrName>ppt_w</p:attrName>
                                        </p:attrNameLst>
                                      </p:cBhvr>
                                      <p:tavLst>
                                        <p:tav tm="0">
                                          <p:val>
                                            <p:fltVal val="0"/>
                                          </p:val>
                                        </p:tav>
                                        <p:tav tm="100000">
                                          <p:val>
                                            <p:strVal val="#ppt_w"/>
                                          </p:val>
                                        </p:tav>
                                      </p:tavLst>
                                    </p:anim>
                                    <p:anim calcmode="lin" valueType="num">
                                      <p:cBhvr>
                                        <p:cTn id="8" dur="500" fill="hold"/>
                                        <p:tgtEl>
                                          <p:spTgt spid="8089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BFS  Properties</a:t>
            </a:r>
          </a:p>
        </p:txBody>
      </p:sp>
      <p:sp>
        <p:nvSpPr>
          <p:cNvPr id="87043" name="Text Box 3"/>
          <p:cNvSpPr txBox="1">
            <a:spLocks noChangeArrowheads="1"/>
          </p:cNvSpPr>
          <p:nvPr/>
        </p:nvSpPr>
        <p:spPr bwMode="auto">
          <a:xfrm>
            <a:off x="228600" y="838200"/>
            <a:ext cx="8763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8913" indent="-188913">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 typeface="Wingdings" pitchFamily="2" charset="2"/>
              <a:buChar char="§"/>
            </a:pPr>
            <a:r>
              <a:rPr lang="en-US" sz="1800">
                <a:solidFill>
                  <a:schemeClr val="tx2"/>
                </a:solidFill>
                <a:latin typeface="Arial" pitchFamily="34" charset="0"/>
              </a:rPr>
              <a:t>A simple linear-time graph search algorithm with many applications.</a:t>
            </a:r>
          </a:p>
          <a:p>
            <a:pPr eaLnBrk="1" hangingPunct="1">
              <a:buFont typeface="Wingdings" pitchFamily="2" charset="2"/>
              <a:buChar char="§"/>
            </a:pPr>
            <a:r>
              <a:rPr lang="en-US" sz="1800">
                <a:solidFill>
                  <a:schemeClr val="tx2"/>
                </a:solidFill>
                <a:latin typeface="Arial" pitchFamily="34" charset="0"/>
              </a:rPr>
              <a:t>Generalizes the level-order traversal on trees. </a:t>
            </a:r>
          </a:p>
          <a:p>
            <a:pPr eaLnBrk="1" hangingPunct="1">
              <a:buFont typeface="Wingdings" pitchFamily="2" charset="2"/>
              <a:buChar char="§"/>
            </a:pPr>
            <a:r>
              <a:rPr lang="en-US" sz="1800">
                <a:solidFill>
                  <a:srgbClr val="CC0000"/>
                </a:solidFill>
                <a:latin typeface="Arial" pitchFamily="34" charset="0"/>
              </a:rPr>
              <a:t>G</a:t>
            </a:r>
            <a:r>
              <a:rPr lang="en-US" sz="1800">
                <a:solidFill>
                  <a:schemeClr val="tx2"/>
                </a:solidFill>
                <a:latin typeface="Arial" pitchFamily="34" charset="0"/>
              </a:rPr>
              <a:t> </a:t>
            </a:r>
            <a:r>
              <a:rPr lang="en-US" sz="1800">
                <a:solidFill>
                  <a:srgbClr val="CC0000"/>
                </a:solidFill>
                <a:latin typeface="Arial" pitchFamily="34" charset="0"/>
              </a:rPr>
              <a:t>= (V,E)</a:t>
            </a:r>
            <a:r>
              <a:rPr lang="en-US" sz="1800">
                <a:solidFill>
                  <a:schemeClr val="tx2"/>
                </a:solidFill>
                <a:latin typeface="Arial" pitchFamily="34" charset="0"/>
              </a:rPr>
              <a:t> a given directed or undirected graph.</a:t>
            </a:r>
          </a:p>
          <a:p>
            <a:pPr eaLnBrk="1" hangingPunct="1">
              <a:buFont typeface="Wingdings" pitchFamily="2" charset="2"/>
              <a:buChar char="§"/>
            </a:pPr>
            <a:r>
              <a:rPr lang="en-US" sz="1800">
                <a:solidFill>
                  <a:schemeClr val="tx2"/>
                </a:solidFill>
                <a:latin typeface="Arial" pitchFamily="34" charset="0"/>
              </a:rPr>
              <a:t>Given a </a:t>
            </a:r>
            <a:r>
              <a:rPr lang="en-US" sz="1800">
                <a:solidFill>
                  <a:srgbClr val="CC0000"/>
                </a:solidFill>
                <a:latin typeface="Arial" pitchFamily="34" charset="0"/>
              </a:rPr>
              <a:t>source s</a:t>
            </a:r>
            <a:r>
              <a:rPr lang="en-US" sz="1800">
                <a:solidFill>
                  <a:srgbClr val="CC0000"/>
                </a:solidFill>
                <a:latin typeface="Arial" pitchFamily="34" charset="0"/>
                <a:sym typeface="Symbol" pitchFamily="18" charset="2"/>
              </a:rPr>
              <a:t>V</a:t>
            </a:r>
            <a:r>
              <a:rPr lang="en-US" sz="1800">
                <a:solidFill>
                  <a:schemeClr val="tx2"/>
                </a:solidFill>
                <a:latin typeface="Arial" pitchFamily="34" charset="0"/>
              </a:rPr>
              <a:t>,  BFS explores all parts of G that are </a:t>
            </a:r>
            <a:r>
              <a:rPr lang="en-US" sz="1800">
                <a:solidFill>
                  <a:srgbClr val="CC0000"/>
                </a:solidFill>
                <a:latin typeface="Arial" pitchFamily="34" charset="0"/>
              </a:rPr>
              <a:t>reachable from s</a:t>
            </a:r>
            <a:r>
              <a:rPr lang="en-US" sz="1800">
                <a:solidFill>
                  <a:schemeClr val="tx2"/>
                </a:solidFill>
                <a:latin typeface="Arial" pitchFamily="34" charset="0"/>
              </a:rPr>
              <a:t>.</a:t>
            </a:r>
          </a:p>
          <a:p>
            <a:pPr eaLnBrk="1" hangingPunct="1">
              <a:buFont typeface="Wingdings" pitchFamily="2" charset="2"/>
              <a:buChar char="§"/>
            </a:pPr>
            <a:r>
              <a:rPr lang="en-US" sz="1800">
                <a:solidFill>
                  <a:schemeClr val="tx2"/>
                </a:solidFill>
                <a:latin typeface="Arial" pitchFamily="34" charset="0"/>
              </a:rPr>
              <a:t>Discovers (visits) each vertex u in order of its un-weighted </a:t>
            </a:r>
            <a:r>
              <a:rPr lang="en-US" sz="1800">
                <a:solidFill>
                  <a:srgbClr val="CC0000"/>
                </a:solidFill>
                <a:latin typeface="Arial" pitchFamily="34" charset="0"/>
              </a:rPr>
              <a:t>distance d(u)</a:t>
            </a:r>
            <a:r>
              <a:rPr lang="en-US" sz="1800">
                <a:solidFill>
                  <a:schemeClr val="tx2"/>
                </a:solidFill>
                <a:latin typeface="Arial" pitchFamily="34" charset="0"/>
              </a:rPr>
              <a:t> from s.</a:t>
            </a:r>
          </a:p>
          <a:p>
            <a:pPr eaLnBrk="1" hangingPunct="1">
              <a:buFont typeface="Wingdings" pitchFamily="2" charset="2"/>
              <a:buChar char="§"/>
            </a:pPr>
            <a:r>
              <a:rPr lang="en-US" sz="1800">
                <a:solidFill>
                  <a:schemeClr val="tx2"/>
                </a:solidFill>
                <a:latin typeface="Arial" pitchFamily="34" charset="0"/>
              </a:rPr>
              <a:t>This distance is the length of the </a:t>
            </a:r>
            <a:r>
              <a:rPr lang="en-US" sz="1800">
                <a:solidFill>
                  <a:srgbClr val="CC0000"/>
                </a:solidFill>
                <a:latin typeface="Arial" pitchFamily="34" charset="0"/>
              </a:rPr>
              <a:t>un-weighted shortest path</a:t>
            </a:r>
            <a:r>
              <a:rPr lang="en-US" sz="1800">
                <a:solidFill>
                  <a:schemeClr val="tx2"/>
                </a:solidFill>
                <a:latin typeface="Arial" pitchFamily="34" charset="0"/>
              </a:rPr>
              <a:t> from s to u.</a:t>
            </a:r>
          </a:p>
        </p:txBody>
      </p:sp>
      <p:grpSp>
        <p:nvGrpSpPr>
          <p:cNvPr id="87086" name="Group 46"/>
          <p:cNvGrpSpPr>
            <a:grpSpLocks/>
          </p:cNvGrpSpPr>
          <p:nvPr/>
        </p:nvGrpSpPr>
        <p:grpSpPr bwMode="auto">
          <a:xfrm>
            <a:off x="1905000" y="3200400"/>
            <a:ext cx="2101850" cy="903288"/>
            <a:chOff x="1794" y="1867"/>
            <a:chExt cx="1324" cy="569"/>
          </a:xfrm>
        </p:grpSpPr>
        <p:sp>
          <p:nvSpPr>
            <p:cNvPr id="14394" name="Freeform 7"/>
            <p:cNvSpPr>
              <a:spLocks/>
            </p:cNvSpPr>
            <p:nvPr/>
          </p:nvSpPr>
          <p:spPr bwMode="auto">
            <a:xfrm>
              <a:off x="1794" y="1867"/>
              <a:ext cx="1324" cy="569"/>
            </a:xfrm>
            <a:custGeom>
              <a:avLst/>
              <a:gdLst>
                <a:gd name="T0" fmla="*/ 0 w 1324"/>
                <a:gd name="T1" fmla="*/ 113 h 569"/>
                <a:gd name="T2" fmla="*/ 258 w 1324"/>
                <a:gd name="T3" fmla="*/ 457 h 569"/>
                <a:gd name="T4" fmla="*/ 788 w 1324"/>
                <a:gd name="T5" fmla="*/ 543 h 569"/>
                <a:gd name="T6" fmla="*/ 1212 w 1324"/>
                <a:gd name="T7" fmla="*/ 298 h 569"/>
                <a:gd name="T8" fmla="*/ 1324 w 1324"/>
                <a:gd name="T9" fmla="*/ 0 h 5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4" h="569">
                  <a:moveTo>
                    <a:pt x="0" y="113"/>
                  </a:moveTo>
                  <a:cubicBezTo>
                    <a:pt x="43" y="170"/>
                    <a:pt x="127" y="385"/>
                    <a:pt x="258" y="457"/>
                  </a:cubicBezTo>
                  <a:cubicBezTo>
                    <a:pt x="389" y="529"/>
                    <a:pt x="629" y="569"/>
                    <a:pt x="788" y="543"/>
                  </a:cubicBezTo>
                  <a:cubicBezTo>
                    <a:pt x="947" y="517"/>
                    <a:pt x="1123" y="389"/>
                    <a:pt x="1212" y="298"/>
                  </a:cubicBezTo>
                  <a:cubicBezTo>
                    <a:pt x="1301" y="207"/>
                    <a:pt x="1301" y="62"/>
                    <a:pt x="1324" y="0"/>
                  </a:cubicBezTo>
                </a:path>
              </a:pathLst>
            </a:custGeom>
            <a:noFill/>
            <a:ln w="9525" cap="flat" cmpd="sng">
              <a:solidFill>
                <a:srgbClr val="CC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95" name="Line 9"/>
            <p:cNvSpPr>
              <a:spLocks noChangeShapeType="1"/>
            </p:cNvSpPr>
            <p:nvPr/>
          </p:nvSpPr>
          <p:spPr bwMode="auto">
            <a:xfrm flipH="1">
              <a:off x="1872" y="1968"/>
              <a:ext cx="576" cy="14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96" name="Line 10"/>
            <p:cNvSpPr>
              <a:spLocks noChangeShapeType="1"/>
            </p:cNvSpPr>
            <p:nvPr/>
          </p:nvSpPr>
          <p:spPr bwMode="auto">
            <a:xfrm flipH="1">
              <a:off x="2112" y="1968"/>
              <a:ext cx="336" cy="38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97" name="Line 11"/>
            <p:cNvSpPr>
              <a:spLocks noChangeShapeType="1"/>
            </p:cNvSpPr>
            <p:nvPr/>
          </p:nvSpPr>
          <p:spPr bwMode="auto">
            <a:xfrm>
              <a:off x="2448" y="1968"/>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98" name="Line 12"/>
            <p:cNvSpPr>
              <a:spLocks noChangeShapeType="1"/>
            </p:cNvSpPr>
            <p:nvPr/>
          </p:nvSpPr>
          <p:spPr bwMode="auto">
            <a:xfrm>
              <a:off x="2448" y="1968"/>
              <a:ext cx="480"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99" name="Line 13"/>
            <p:cNvSpPr>
              <a:spLocks noChangeShapeType="1"/>
            </p:cNvSpPr>
            <p:nvPr/>
          </p:nvSpPr>
          <p:spPr bwMode="auto">
            <a:xfrm>
              <a:off x="2448" y="1968"/>
              <a:ext cx="624" cy="4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grpSp>
        <p:nvGrpSpPr>
          <p:cNvPr id="87107" name="Group 67"/>
          <p:cNvGrpSpPr>
            <a:grpSpLocks/>
          </p:cNvGrpSpPr>
          <p:nvPr/>
        </p:nvGrpSpPr>
        <p:grpSpPr bwMode="auto">
          <a:xfrm>
            <a:off x="1066800" y="3475038"/>
            <a:ext cx="3962400" cy="1922463"/>
            <a:chOff x="2880" y="432"/>
            <a:chExt cx="2496" cy="1211"/>
          </a:xfrm>
        </p:grpSpPr>
        <p:sp>
          <p:nvSpPr>
            <p:cNvPr id="14378" name="Freeform 6"/>
            <p:cNvSpPr>
              <a:spLocks/>
            </p:cNvSpPr>
            <p:nvPr/>
          </p:nvSpPr>
          <p:spPr bwMode="auto">
            <a:xfrm>
              <a:off x="2880" y="864"/>
              <a:ext cx="2496" cy="779"/>
            </a:xfrm>
            <a:custGeom>
              <a:avLst/>
              <a:gdLst>
                <a:gd name="T0" fmla="*/ 0 w 2496"/>
                <a:gd name="T1" fmla="*/ 53 h 779"/>
                <a:gd name="T2" fmla="*/ 457 w 2496"/>
                <a:gd name="T3" fmla="*/ 603 h 779"/>
                <a:gd name="T4" fmla="*/ 1250 w 2496"/>
                <a:gd name="T5" fmla="*/ 770 h 779"/>
                <a:gd name="T6" fmla="*/ 1987 w 2496"/>
                <a:gd name="T7" fmla="*/ 550 h 779"/>
                <a:gd name="T8" fmla="*/ 2496 w 2496"/>
                <a:gd name="T9" fmla="*/ 0 h 7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96" h="779">
                  <a:moveTo>
                    <a:pt x="0" y="53"/>
                  </a:moveTo>
                  <a:cubicBezTo>
                    <a:pt x="76" y="144"/>
                    <a:pt x="249" y="484"/>
                    <a:pt x="457" y="603"/>
                  </a:cubicBezTo>
                  <a:cubicBezTo>
                    <a:pt x="665" y="722"/>
                    <a:pt x="995" y="779"/>
                    <a:pt x="1250" y="770"/>
                  </a:cubicBezTo>
                  <a:cubicBezTo>
                    <a:pt x="1505" y="761"/>
                    <a:pt x="1779" y="678"/>
                    <a:pt x="1987" y="550"/>
                  </a:cubicBezTo>
                  <a:cubicBezTo>
                    <a:pt x="2195" y="422"/>
                    <a:pt x="2390" y="115"/>
                    <a:pt x="2496" y="0"/>
                  </a:cubicBezTo>
                </a:path>
              </a:pathLst>
            </a:custGeom>
            <a:noFill/>
            <a:ln w="9525" cap="flat" cmpd="sng">
              <a:solidFill>
                <a:srgbClr val="CC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79" name="Line 14"/>
            <p:cNvSpPr>
              <a:spLocks noChangeShapeType="1"/>
            </p:cNvSpPr>
            <p:nvPr/>
          </p:nvSpPr>
          <p:spPr bwMode="auto">
            <a:xfrm flipH="1">
              <a:off x="2928" y="528"/>
              <a:ext cx="576"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80" name="Line 15"/>
            <p:cNvSpPr>
              <a:spLocks noChangeShapeType="1"/>
            </p:cNvSpPr>
            <p:nvPr/>
          </p:nvSpPr>
          <p:spPr bwMode="auto">
            <a:xfrm flipH="1">
              <a:off x="3120" y="528"/>
              <a:ext cx="384"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81" name="Line 16"/>
            <p:cNvSpPr>
              <a:spLocks noChangeShapeType="1"/>
            </p:cNvSpPr>
            <p:nvPr/>
          </p:nvSpPr>
          <p:spPr bwMode="auto">
            <a:xfrm flipH="1">
              <a:off x="3456" y="528"/>
              <a:ext cx="48" cy="100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82" name="Line 17"/>
            <p:cNvSpPr>
              <a:spLocks noChangeShapeType="1"/>
            </p:cNvSpPr>
            <p:nvPr/>
          </p:nvSpPr>
          <p:spPr bwMode="auto">
            <a:xfrm flipH="1">
              <a:off x="3120" y="768"/>
              <a:ext cx="624"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83" name="Line 18"/>
            <p:cNvSpPr>
              <a:spLocks noChangeShapeType="1"/>
            </p:cNvSpPr>
            <p:nvPr/>
          </p:nvSpPr>
          <p:spPr bwMode="auto">
            <a:xfrm>
              <a:off x="3744" y="768"/>
              <a:ext cx="48"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84" name="Line 19"/>
            <p:cNvSpPr>
              <a:spLocks noChangeShapeType="1"/>
            </p:cNvSpPr>
            <p:nvPr/>
          </p:nvSpPr>
          <p:spPr bwMode="auto">
            <a:xfrm>
              <a:off x="3744" y="768"/>
              <a:ext cx="432"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85" name="Line 20"/>
            <p:cNvSpPr>
              <a:spLocks noChangeShapeType="1"/>
            </p:cNvSpPr>
            <p:nvPr/>
          </p:nvSpPr>
          <p:spPr bwMode="auto">
            <a:xfrm flipH="1">
              <a:off x="3504" y="816"/>
              <a:ext cx="576"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86" name="Line 21"/>
            <p:cNvSpPr>
              <a:spLocks noChangeShapeType="1"/>
            </p:cNvSpPr>
            <p:nvPr/>
          </p:nvSpPr>
          <p:spPr bwMode="auto">
            <a:xfrm flipH="1">
              <a:off x="3840" y="816"/>
              <a:ext cx="24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87" name="Line 22"/>
            <p:cNvSpPr>
              <a:spLocks noChangeShapeType="1"/>
            </p:cNvSpPr>
            <p:nvPr/>
          </p:nvSpPr>
          <p:spPr bwMode="auto">
            <a:xfrm>
              <a:off x="4080" y="816"/>
              <a:ext cx="912"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88" name="Line 23"/>
            <p:cNvSpPr>
              <a:spLocks noChangeShapeType="1"/>
            </p:cNvSpPr>
            <p:nvPr/>
          </p:nvSpPr>
          <p:spPr bwMode="auto">
            <a:xfrm>
              <a:off x="4080" y="816"/>
              <a:ext cx="1152" cy="19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89" name="Line 24"/>
            <p:cNvSpPr>
              <a:spLocks noChangeShapeType="1"/>
            </p:cNvSpPr>
            <p:nvPr/>
          </p:nvSpPr>
          <p:spPr bwMode="auto">
            <a:xfrm>
              <a:off x="4560" y="672"/>
              <a:ext cx="48"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90" name="Line 25"/>
            <p:cNvSpPr>
              <a:spLocks noChangeShapeType="1"/>
            </p:cNvSpPr>
            <p:nvPr/>
          </p:nvSpPr>
          <p:spPr bwMode="auto">
            <a:xfrm flipH="1">
              <a:off x="4224" y="672"/>
              <a:ext cx="336" cy="91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91" name="Line 26"/>
            <p:cNvSpPr>
              <a:spLocks noChangeShapeType="1"/>
            </p:cNvSpPr>
            <p:nvPr/>
          </p:nvSpPr>
          <p:spPr bwMode="auto">
            <a:xfrm>
              <a:off x="4560" y="672"/>
              <a:ext cx="480" cy="57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92" name="Line 27"/>
            <p:cNvSpPr>
              <a:spLocks noChangeShapeType="1"/>
            </p:cNvSpPr>
            <p:nvPr/>
          </p:nvSpPr>
          <p:spPr bwMode="auto">
            <a:xfrm>
              <a:off x="4704" y="432"/>
              <a:ext cx="576" cy="52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93" name="Line 28"/>
            <p:cNvSpPr>
              <a:spLocks noChangeShapeType="1"/>
            </p:cNvSpPr>
            <p:nvPr/>
          </p:nvSpPr>
          <p:spPr bwMode="auto">
            <a:xfrm flipH="1">
              <a:off x="4656" y="432"/>
              <a:ext cx="48" cy="110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grpSp>
      <p:grpSp>
        <p:nvGrpSpPr>
          <p:cNvPr id="87088" name="Group 48"/>
          <p:cNvGrpSpPr>
            <a:grpSpLocks/>
          </p:cNvGrpSpPr>
          <p:nvPr/>
        </p:nvGrpSpPr>
        <p:grpSpPr bwMode="auto">
          <a:xfrm>
            <a:off x="307975" y="4389438"/>
            <a:ext cx="5654675" cy="2244725"/>
            <a:chOff x="788" y="2592"/>
            <a:chExt cx="3562" cy="1414"/>
          </a:xfrm>
        </p:grpSpPr>
        <p:sp>
          <p:nvSpPr>
            <p:cNvPr id="14361" name="Freeform 8"/>
            <p:cNvSpPr>
              <a:spLocks/>
            </p:cNvSpPr>
            <p:nvPr/>
          </p:nvSpPr>
          <p:spPr bwMode="auto">
            <a:xfrm>
              <a:off x="788" y="2854"/>
              <a:ext cx="3562" cy="1152"/>
            </a:xfrm>
            <a:custGeom>
              <a:avLst/>
              <a:gdLst>
                <a:gd name="T0" fmla="*/ 0 w 3562"/>
                <a:gd name="T1" fmla="*/ 271 h 1152"/>
                <a:gd name="T2" fmla="*/ 675 w 3562"/>
                <a:gd name="T3" fmla="*/ 940 h 1152"/>
                <a:gd name="T4" fmla="*/ 1614 w 3562"/>
                <a:gd name="T5" fmla="*/ 1132 h 1152"/>
                <a:gd name="T6" fmla="*/ 2781 w 3562"/>
                <a:gd name="T7" fmla="*/ 820 h 1152"/>
                <a:gd name="T8" fmla="*/ 3562 w 3562"/>
                <a:gd name="T9" fmla="*/ 0 h 1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2" h="1152">
                  <a:moveTo>
                    <a:pt x="0" y="271"/>
                  </a:moveTo>
                  <a:cubicBezTo>
                    <a:pt x="112" y="382"/>
                    <a:pt x="406" y="797"/>
                    <a:pt x="675" y="940"/>
                  </a:cubicBezTo>
                  <a:cubicBezTo>
                    <a:pt x="944" y="1083"/>
                    <a:pt x="1263" y="1152"/>
                    <a:pt x="1614" y="1132"/>
                  </a:cubicBezTo>
                  <a:cubicBezTo>
                    <a:pt x="1965" y="1112"/>
                    <a:pt x="2456" y="1009"/>
                    <a:pt x="2781" y="820"/>
                  </a:cubicBezTo>
                  <a:cubicBezTo>
                    <a:pt x="3106" y="631"/>
                    <a:pt x="3399" y="171"/>
                    <a:pt x="3562" y="0"/>
                  </a:cubicBezTo>
                </a:path>
              </a:pathLst>
            </a:custGeom>
            <a:noFill/>
            <a:ln w="9525" cap="flat" cmpd="sng">
              <a:solidFill>
                <a:srgbClr val="CC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62" name="Line 29"/>
            <p:cNvSpPr>
              <a:spLocks noChangeShapeType="1"/>
            </p:cNvSpPr>
            <p:nvPr/>
          </p:nvSpPr>
          <p:spPr bwMode="auto">
            <a:xfrm flipH="1">
              <a:off x="960" y="2592"/>
              <a:ext cx="33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63" name="Line 30"/>
            <p:cNvSpPr>
              <a:spLocks noChangeShapeType="1"/>
            </p:cNvSpPr>
            <p:nvPr/>
          </p:nvSpPr>
          <p:spPr bwMode="auto">
            <a:xfrm flipH="1">
              <a:off x="1008" y="2832"/>
              <a:ext cx="480" cy="57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64" name="Line 31"/>
            <p:cNvSpPr>
              <a:spLocks noChangeShapeType="1"/>
            </p:cNvSpPr>
            <p:nvPr/>
          </p:nvSpPr>
          <p:spPr bwMode="auto">
            <a:xfrm flipH="1">
              <a:off x="1344" y="2832"/>
              <a:ext cx="144" cy="91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65" name="Line 32"/>
            <p:cNvSpPr>
              <a:spLocks noChangeShapeType="1"/>
            </p:cNvSpPr>
            <p:nvPr/>
          </p:nvSpPr>
          <p:spPr bwMode="auto">
            <a:xfrm>
              <a:off x="1296" y="2592"/>
              <a:ext cx="480" cy="134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66" name="Line 33"/>
            <p:cNvSpPr>
              <a:spLocks noChangeShapeType="1"/>
            </p:cNvSpPr>
            <p:nvPr/>
          </p:nvSpPr>
          <p:spPr bwMode="auto">
            <a:xfrm flipH="1">
              <a:off x="1392" y="3120"/>
              <a:ext cx="432"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67" name="Line 34"/>
            <p:cNvSpPr>
              <a:spLocks noChangeShapeType="1"/>
            </p:cNvSpPr>
            <p:nvPr/>
          </p:nvSpPr>
          <p:spPr bwMode="auto">
            <a:xfrm>
              <a:off x="1824" y="3120"/>
              <a:ext cx="912"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68" name="Line 35"/>
            <p:cNvSpPr>
              <a:spLocks noChangeShapeType="1"/>
            </p:cNvSpPr>
            <p:nvPr/>
          </p:nvSpPr>
          <p:spPr bwMode="auto">
            <a:xfrm flipH="1">
              <a:off x="1824" y="3216"/>
              <a:ext cx="38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69" name="Line 36"/>
            <p:cNvSpPr>
              <a:spLocks noChangeShapeType="1"/>
            </p:cNvSpPr>
            <p:nvPr/>
          </p:nvSpPr>
          <p:spPr bwMode="auto">
            <a:xfrm flipH="1">
              <a:off x="2256" y="3216"/>
              <a:ext cx="288"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70" name="Line 37"/>
            <p:cNvSpPr>
              <a:spLocks noChangeShapeType="1"/>
            </p:cNvSpPr>
            <p:nvPr/>
          </p:nvSpPr>
          <p:spPr bwMode="auto">
            <a:xfrm>
              <a:off x="1824" y="3120"/>
              <a:ext cx="384"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71" name="Line 38"/>
            <p:cNvSpPr>
              <a:spLocks noChangeShapeType="1"/>
            </p:cNvSpPr>
            <p:nvPr/>
          </p:nvSpPr>
          <p:spPr bwMode="auto">
            <a:xfrm>
              <a:off x="2544" y="3216"/>
              <a:ext cx="1056"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72" name="Line 39"/>
            <p:cNvSpPr>
              <a:spLocks noChangeShapeType="1"/>
            </p:cNvSpPr>
            <p:nvPr/>
          </p:nvSpPr>
          <p:spPr bwMode="auto">
            <a:xfrm>
              <a:off x="2976" y="3120"/>
              <a:ext cx="960"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73" name="Line 40"/>
            <p:cNvSpPr>
              <a:spLocks noChangeShapeType="1"/>
            </p:cNvSpPr>
            <p:nvPr/>
          </p:nvSpPr>
          <p:spPr bwMode="auto">
            <a:xfrm flipH="1">
              <a:off x="3024" y="2880"/>
              <a:ext cx="384" cy="100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74" name="Line 41"/>
            <p:cNvSpPr>
              <a:spLocks noChangeShapeType="1"/>
            </p:cNvSpPr>
            <p:nvPr/>
          </p:nvSpPr>
          <p:spPr bwMode="auto">
            <a:xfrm flipH="1">
              <a:off x="2784" y="2880"/>
              <a:ext cx="624" cy="105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75" name="Line 42"/>
            <p:cNvSpPr>
              <a:spLocks noChangeShapeType="1"/>
            </p:cNvSpPr>
            <p:nvPr/>
          </p:nvSpPr>
          <p:spPr bwMode="auto">
            <a:xfrm>
              <a:off x="3408" y="2880"/>
              <a:ext cx="816" cy="14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76" name="Line 43"/>
            <p:cNvSpPr>
              <a:spLocks noChangeShapeType="1"/>
            </p:cNvSpPr>
            <p:nvPr/>
          </p:nvSpPr>
          <p:spPr bwMode="auto">
            <a:xfrm>
              <a:off x="3648" y="2592"/>
              <a:ext cx="288"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77" name="Line 44"/>
            <p:cNvSpPr>
              <a:spLocks noChangeShapeType="1"/>
            </p:cNvSpPr>
            <p:nvPr/>
          </p:nvSpPr>
          <p:spPr bwMode="auto">
            <a:xfrm flipH="1">
              <a:off x="3600" y="2592"/>
              <a:ext cx="48" cy="105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grpSp>
        <p:nvGrpSpPr>
          <p:cNvPr id="87085" name="Group 45"/>
          <p:cNvGrpSpPr>
            <a:grpSpLocks/>
          </p:cNvGrpSpPr>
          <p:nvPr/>
        </p:nvGrpSpPr>
        <p:grpSpPr bwMode="auto">
          <a:xfrm>
            <a:off x="2790825" y="2979738"/>
            <a:ext cx="298450" cy="457200"/>
            <a:chOff x="2352" y="1728"/>
            <a:chExt cx="188" cy="288"/>
          </a:xfrm>
        </p:grpSpPr>
        <p:sp>
          <p:nvSpPr>
            <p:cNvPr id="14359" name="Rectangle 5"/>
            <p:cNvSpPr>
              <a:spLocks noChangeArrowheads="1"/>
            </p:cNvSpPr>
            <p:nvPr/>
          </p:nvSpPr>
          <p:spPr bwMode="auto">
            <a:xfrm>
              <a:off x="2352" y="17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s</a:t>
              </a:r>
            </a:p>
          </p:txBody>
        </p:sp>
        <p:sp>
          <p:nvSpPr>
            <p:cNvPr id="14360" name="Oval 4"/>
            <p:cNvSpPr>
              <a:spLocks noChangeArrowheads="1"/>
            </p:cNvSpPr>
            <p:nvPr/>
          </p:nvSpPr>
          <p:spPr bwMode="auto">
            <a:xfrm>
              <a:off x="2400" y="1920"/>
              <a:ext cx="96" cy="96"/>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grpSp>
      <p:grpSp>
        <p:nvGrpSpPr>
          <p:cNvPr id="87105" name="Group 65"/>
          <p:cNvGrpSpPr>
            <a:grpSpLocks/>
          </p:cNvGrpSpPr>
          <p:nvPr/>
        </p:nvGrpSpPr>
        <p:grpSpPr bwMode="auto">
          <a:xfrm>
            <a:off x="6324600" y="2819400"/>
            <a:ext cx="1795463" cy="3643313"/>
            <a:chOff x="3984" y="1776"/>
            <a:chExt cx="1131" cy="2295"/>
          </a:xfrm>
        </p:grpSpPr>
        <p:sp>
          <p:nvSpPr>
            <p:cNvPr id="14345" name="Freeform 60"/>
            <p:cNvSpPr>
              <a:spLocks/>
            </p:cNvSpPr>
            <p:nvPr/>
          </p:nvSpPr>
          <p:spPr bwMode="auto">
            <a:xfrm>
              <a:off x="3984" y="3456"/>
              <a:ext cx="1023" cy="218"/>
            </a:xfrm>
            <a:custGeom>
              <a:avLst/>
              <a:gdLst>
                <a:gd name="T0" fmla="*/ 0 w 1023"/>
                <a:gd name="T1" fmla="*/ 23 h 218"/>
                <a:gd name="T2" fmla="*/ 228 w 1023"/>
                <a:gd name="T3" fmla="*/ 172 h 218"/>
                <a:gd name="T4" fmla="*/ 528 w 1023"/>
                <a:gd name="T5" fmla="*/ 215 h 218"/>
                <a:gd name="T6" fmla="*/ 838 w 1023"/>
                <a:gd name="T7" fmla="*/ 152 h 218"/>
                <a:gd name="T8" fmla="*/ 1023 w 1023"/>
                <a:gd name="T9" fmla="*/ 0 h 2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3" h="218">
                  <a:moveTo>
                    <a:pt x="0" y="23"/>
                  </a:moveTo>
                  <a:cubicBezTo>
                    <a:pt x="38" y="48"/>
                    <a:pt x="140" y="140"/>
                    <a:pt x="228" y="172"/>
                  </a:cubicBezTo>
                  <a:cubicBezTo>
                    <a:pt x="316" y="204"/>
                    <a:pt x="426" y="218"/>
                    <a:pt x="528" y="215"/>
                  </a:cubicBezTo>
                  <a:cubicBezTo>
                    <a:pt x="630" y="212"/>
                    <a:pt x="755" y="188"/>
                    <a:pt x="838" y="152"/>
                  </a:cubicBezTo>
                  <a:cubicBezTo>
                    <a:pt x="921" y="116"/>
                    <a:pt x="985" y="32"/>
                    <a:pt x="1023" y="0"/>
                  </a:cubicBezTo>
                </a:path>
              </a:pathLst>
            </a:custGeom>
            <a:noFill/>
            <a:ln w="9525" cap="flat" cmpd="sng">
              <a:solidFill>
                <a:srgbClr val="CC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46" name="Freeform 59"/>
            <p:cNvSpPr>
              <a:spLocks/>
            </p:cNvSpPr>
            <p:nvPr/>
          </p:nvSpPr>
          <p:spPr bwMode="auto">
            <a:xfrm>
              <a:off x="3984" y="2953"/>
              <a:ext cx="1023" cy="218"/>
            </a:xfrm>
            <a:custGeom>
              <a:avLst/>
              <a:gdLst>
                <a:gd name="T0" fmla="*/ 0 w 1023"/>
                <a:gd name="T1" fmla="*/ 23 h 218"/>
                <a:gd name="T2" fmla="*/ 228 w 1023"/>
                <a:gd name="T3" fmla="*/ 172 h 218"/>
                <a:gd name="T4" fmla="*/ 528 w 1023"/>
                <a:gd name="T5" fmla="*/ 215 h 218"/>
                <a:gd name="T6" fmla="*/ 838 w 1023"/>
                <a:gd name="T7" fmla="*/ 152 h 218"/>
                <a:gd name="T8" fmla="*/ 1023 w 1023"/>
                <a:gd name="T9" fmla="*/ 0 h 2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3" h="218">
                  <a:moveTo>
                    <a:pt x="0" y="23"/>
                  </a:moveTo>
                  <a:cubicBezTo>
                    <a:pt x="38" y="48"/>
                    <a:pt x="140" y="140"/>
                    <a:pt x="228" y="172"/>
                  </a:cubicBezTo>
                  <a:cubicBezTo>
                    <a:pt x="316" y="204"/>
                    <a:pt x="426" y="218"/>
                    <a:pt x="528" y="215"/>
                  </a:cubicBezTo>
                  <a:cubicBezTo>
                    <a:pt x="630" y="212"/>
                    <a:pt x="755" y="188"/>
                    <a:pt x="838" y="152"/>
                  </a:cubicBezTo>
                  <a:cubicBezTo>
                    <a:pt x="921" y="116"/>
                    <a:pt x="985" y="32"/>
                    <a:pt x="1023" y="0"/>
                  </a:cubicBezTo>
                </a:path>
              </a:pathLst>
            </a:custGeom>
            <a:noFill/>
            <a:ln w="9525" cap="flat" cmpd="sng">
              <a:solidFill>
                <a:srgbClr val="CC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47" name="Rectangle 53"/>
            <p:cNvSpPr>
              <a:spLocks noChangeArrowheads="1"/>
            </p:cNvSpPr>
            <p:nvPr/>
          </p:nvSpPr>
          <p:spPr bwMode="auto">
            <a:xfrm>
              <a:off x="4416" y="3648"/>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u</a:t>
              </a:r>
            </a:p>
          </p:txBody>
        </p:sp>
        <p:sp>
          <p:nvSpPr>
            <p:cNvPr id="14348" name="Oval 54"/>
            <p:cNvSpPr>
              <a:spLocks noChangeArrowheads="1"/>
            </p:cNvSpPr>
            <p:nvPr/>
          </p:nvSpPr>
          <p:spPr bwMode="auto">
            <a:xfrm>
              <a:off x="4464" y="3600"/>
              <a:ext cx="96" cy="96"/>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4349" name="Rectangle 55"/>
            <p:cNvSpPr>
              <a:spLocks noChangeArrowheads="1"/>
            </p:cNvSpPr>
            <p:nvPr/>
          </p:nvSpPr>
          <p:spPr bwMode="auto">
            <a:xfrm>
              <a:off x="4176" y="2928"/>
              <a:ext cx="37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Symbol" pitchFamily="18" charset="2"/>
                </a:rPr>
                <a:t>p</a:t>
              </a:r>
              <a:r>
                <a:rPr lang="en-US" sz="1800">
                  <a:solidFill>
                    <a:schemeClr val="tx2"/>
                  </a:solidFill>
                  <a:latin typeface="Arial" pitchFamily="34" charset="0"/>
                </a:rPr>
                <a:t>(u)</a:t>
              </a:r>
            </a:p>
          </p:txBody>
        </p:sp>
        <p:sp>
          <p:nvSpPr>
            <p:cNvPr id="14350" name="Line 57"/>
            <p:cNvSpPr>
              <a:spLocks noChangeShapeType="1"/>
            </p:cNvSpPr>
            <p:nvPr/>
          </p:nvSpPr>
          <p:spPr bwMode="auto">
            <a:xfrm>
              <a:off x="4512" y="3168"/>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351" name="Oval 56"/>
            <p:cNvSpPr>
              <a:spLocks noChangeArrowheads="1"/>
            </p:cNvSpPr>
            <p:nvPr/>
          </p:nvSpPr>
          <p:spPr bwMode="auto">
            <a:xfrm>
              <a:off x="4464" y="3120"/>
              <a:ext cx="96" cy="96"/>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4352" name="Freeform 58"/>
            <p:cNvSpPr>
              <a:spLocks/>
            </p:cNvSpPr>
            <p:nvPr/>
          </p:nvSpPr>
          <p:spPr bwMode="auto">
            <a:xfrm>
              <a:off x="4512" y="2016"/>
              <a:ext cx="48" cy="1104"/>
            </a:xfrm>
            <a:custGeom>
              <a:avLst/>
              <a:gdLst>
                <a:gd name="T0" fmla="*/ 48 w 48"/>
                <a:gd name="T1" fmla="*/ 0 h 1104"/>
                <a:gd name="T2" fmla="*/ 0 w 48"/>
                <a:gd name="T3" fmla="*/ 144 h 1104"/>
                <a:gd name="T4" fmla="*/ 48 w 48"/>
                <a:gd name="T5" fmla="*/ 240 h 1104"/>
                <a:gd name="T6" fmla="*/ 0 w 48"/>
                <a:gd name="T7" fmla="*/ 432 h 1104"/>
                <a:gd name="T8" fmla="*/ 48 w 48"/>
                <a:gd name="T9" fmla="*/ 576 h 1104"/>
                <a:gd name="T10" fmla="*/ 0 w 48"/>
                <a:gd name="T11" fmla="*/ 768 h 1104"/>
                <a:gd name="T12" fmla="*/ 48 w 48"/>
                <a:gd name="T13" fmla="*/ 912 h 1104"/>
                <a:gd name="T14" fmla="*/ 0 w 48"/>
                <a:gd name="T15" fmla="*/ 1104 h 11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8" h="1104">
                  <a:moveTo>
                    <a:pt x="48" y="0"/>
                  </a:moveTo>
                  <a:cubicBezTo>
                    <a:pt x="24" y="52"/>
                    <a:pt x="0" y="104"/>
                    <a:pt x="0" y="144"/>
                  </a:cubicBezTo>
                  <a:cubicBezTo>
                    <a:pt x="0" y="184"/>
                    <a:pt x="48" y="192"/>
                    <a:pt x="48" y="240"/>
                  </a:cubicBezTo>
                  <a:cubicBezTo>
                    <a:pt x="48" y="288"/>
                    <a:pt x="0" y="376"/>
                    <a:pt x="0" y="432"/>
                  </a:cubicBezTo>
                  <a:cubicBezTo>
                    <a:pt x="0" y="488"/>
                    <a:pt x="48" y="520"/>
                    <a:pt x="48" y="576"/>
                  </a:cubicBezTo>
                  <a:cubicBezTo>
                    <a:pt x="48" y="632"/>
                    <a:pt x="0" y="712"/>
                    <a:pt x="0" y="768"/>
                  </a:cubicBezTo>
                  <a:cubicBezTo>
                    <a:pt x="0" y="824"/>
                    <a:pt x="48" y="856"/>
                    <a:pt x="48" y="912"/>
                  </a:cubicBezTo>
                  <a:cubicBezTo>
                    <a:pt x="48" y="968"/>
                    <a:pt x="24" y="1036"/>
                    <a:pt x="0" y="1104"/>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nvGrpSpPr>
            <p:cNvPr id="14353" name="Group 49"/>
            <p:cNvGrpSpPr>
              <a:grpSpLocks/>
            </p:cNvGrpSpPr>
            <p:nvPr/>
          </p:nvGrpSpPr>
          <p:grpSpPr bwMode="auto">
            <a:xfrm>
              <a:off x="4464" y="1776"/>
              <a:ext cx="188" cy="288"/>
              <a:chOff x="2352" y="1728"/>
              <a:chExt cx="188" cy="288"/>
            </a:xfrm>
          </p:grpSpPr>
          <p:sp>
            <p:nvSpPr>
              <p:cNvPr id="14357" name="Rectangle 50"/>
              <p:cNvSpPr>
                <a:spLocks noChangeArrowheads="1"/>
              </p:cNvSpPr>
              <p:nvPr/>
            </p:nvSpPr>
            <p:spPr bwMode="auto">
              <a:xfrm>
                <a:off x="2352" y="17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s</a:t>
                </a:r>
              </a:p>
            </p:txBody>
          </p:sp>
          <p:sp>
            <p:nvSpPr>
              <p:cNvPr id="14358" name="Oval 51"/>
              <p:cNvSpPr>
                <a:spLocks noChangeArrowheads="1"/>
              </p:cNvSpPr>
              <p:nvPr/>
            </p:nvSpPr>
            <p:spPr bwMode="auto">
              <a:xfrm>
                <a:off x="2400" y="1920"/>
                <a:ext cx="96" cy="96"/>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grpSp>
        <p:sp>
          <p:nvSpPr>
            <p:cNvPr id="14354" name="Rectangle 61"/>
            <p:cNvSpPr>
              <a:spLocks noChangeArrowheads="1"/>
            </p:cNvSpPr>
            <p:nvPr/>
          </p:nvSpPr>
          <p:spPr bwMode="auto">
            <a:xfrm>
              <a:off x="4512" y="3120"/>
              <a:ext cx="54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rgbClr val="CC0000"/>
                  </a:solidFill>
                  <a:latin typeface="Arial" pitchFamily="34" charset="0"/>
                </a:rPr>
                <a:t>d(</a:t>
              </a:r>
              <a:r>
                <a:rPr lang="en-US" sz="1800">
                  <a:solidFill>
                    <a:srgbClr val="CC0000"/>
                  </a:solidFill>
                  <a:latin typeface="Symbol" pitchFamily="18" charset="2"/>
                </a:rPr>
                <a:t>p</a:t>
              </a:r>
              <a:r>
                <a:rPr lang="en-US" sz="1800">
                  <a:solidFill>
                    <a:srgbClr val="CC0000"/>
                  </a:solidFill>
                  <a:latin typeface="Arial" pitchFamily="34" charset="0"/>
                </a:rPr>
                <a:t>(u))</a:t>
              </a:r>
            </a:p>
          </p:txBody>
        </p:sp>
        <p:sp>
          <p:nvSpPr>
            <p:cNvPr id="14355" name="Rectangle 63"/>
            <p:cNvSpPr>
              <a:spLocks noChangeArrowheads="1"/>
            </p:cNvSpPr>
            <p:nvPr/>
          </p:nvSpPr>
          <p:spPr bwMode="auto">
            <a:xfrm>
              <a:off x="4560" y="1968"/>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rgbClr val="CC0000"/>
                  </a:solidFill>
                  <a:latin typeface="Arial" pitchFamily="34" charset="0"/>
                </a:rPr>
                <a:t>d(s)=0</a:t>
              </a:r>
            </a:p>
          </p:txBody>
        </p:sp>
        <p:sp>
          <p:nvSpPr>
            <p:cNvPr id="14356" name="Rectangle 62"/>
            <p:cNvSpPr>
              <a:spLocks noChangeArrowheads="1"/>
            </p:cNvSpPr>
            <p:nvPr/>
          </p:nvSpPr>
          <p:spPr bwMode="auto">
            <a:xfrm>
              <a:off x="3984" y="3840"/>
              <a:ext cx="113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rgbClr val="CC0000"/>
                  </a:solidFill>
                  <a:latin typeface="Arial" pitchFamily="34" charset="0"/>
                </a:rPr>
                <a:t>d(u) = 1+d(</a:t>
              </a:r>
              <a:r>
                <a:rPr lang="en-US" sz="1800">
                  <a:solidFill>
                    <a:srgbClr val="CC0000"/>
                  </a:solidFill>
                  <a:latin typeface="Symbol" pitchFamily="18" charset="2"/>
                </a:rPr>
                <a:t>p</a:t>
              </a:r>
              <a:r>
                <a:rPr lang="en-US" sz="1800">
                  <a:solidFill>
                    <a:srgbClr val="CC0000"/>
                  </a:solidFill>
                  <a:latin typeface="Arial" pitchFamily="34" charset="0"/>
                </a:rPr>
                <a:t>(u))</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87042"/>
                                        </p:tgtEl>
                                        <p:attrNameLst>
                                          <p:attrName>style.visibility</p:attrName>
                                        </p:attrNameLst>
                                      </p:cBhvr>
                                      <p:to>
                                        <p:strVal val="visible"/>
                                      </p:to>
                                    </p:set>
                                    <p:anim calcmode="lin" valueType="num">
                                      <p:cBhvr>
                                        <p:cTn id="7" dur="500" fill="hold"/>
                                        <p:tgtEl>
                                          <p:spTgt spid="87042"/>
                                        </p:tgtEl>
                                        <p:attrNameLst>
                                          <p:attrName>ppt_w</p:attrName>
                                        </p:attrNameLst>
                                      </p:cBhvr>
                                      <p:tavLst>
                                        <p:tav tm="0">
                                          <p:val>
                                            <p:fltVal val="0"/>
                                          </p:val>
                                        </p:tav>
                                        <p:tav tm="100000">
                                          <p:val>
                                            <p:strVal val="#ppt_w"/>
                                          </p:val>
                                        </p:tav>
                                      </p:tavLst>
                                    </p:anim>
                                    <p:anim calcmode="lin" valueType="num">
                                      <p:cBhvr>
                                        <p:cTn id="8" dur="500" fill="hold"/>
                                        <p:tgtEl>
                                          <p:spTgt spid="8704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87043"/>
                                        </p:tgtEl>
                                        <p:attrNameLst>
                                          <p:attrName>style.visibility</p:attrName>
                                        </p:attrNameLst>
                                      </p:cBhvr>
                                      <p:to>
                                        <p:strVal val="visible"/>
                                      </p:to>
                                    </p:set>
                                    <p:animEffect transition="in" filter="wipe(up)">
                                      <p:cBhvr>
                                        <p:cTn id="13" dur="500"/>
                                        <p:tgtEl>
                                          <p:spTgt spid="8704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87085"/>
                                        </p:tgtEl>
                                        <p:attrNameLst>
                                          <p:attrName>style.visibility</p:attrName>
                                        </p:attrNameLst>
                                      </p:cBhvr>
                                      <p:to>
                                        <p:strVal val="visible"/>
                                      </p:to>
                                    </p:set>
                                    <p:animEffect transition="in" filter="wipe(up)">
                                      <p:cBhvr>
                                        <p:cTn id="18" dur="500"/>
                                        <p:tgtEl>
                                          <p:spTgt spid="8708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87086"/>
                                        </p:tgtEl>
                                        <p:attrNameLst>
                                          <p:attrName>style.visibility</p:attrName>
                                        </p:attrNameLst>
                                      </p:cBhvr>
                                      <p:to>
                                        <p:strVal val="visible"/>
                                      </p:to>
                                    </p:set>
                                    <p:animEffect transition="in" filter="wipe(up)">
                                      <p:cBhvr>
                                        <p:cTn id="23" dur="1000"/>
                                        <p:tgtEl>
                                          <p:spTgt spid="8708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87107"/>
                                        </p:tgtEl>
                                        <p:attrNameLst>
                                          <p:attrName>style.visibility</p:attrName>
                                        </p:attrNameLst>
                                      </p:cBhvr>
                                      <p:to>
                                        <p:strVal val="visible"/>
                                      </p:to>
                                    </p:set>
                                    <p:animEffect transition="in" filter="wipe(left)">
                                      <p:cBhvr>
                                        <p:cTn id="28" dur="1000"/>
                                        <p:tgtEl>
                                          <p:spTgt spid="8710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87088"/>
                                        </p:tgtEl>
                                        <p:attrNameLst>
                                          <p:attrName>style.visibility</p:attrName>
                                        </p:attrNameLst>
                                      </p:cBhvr>
                                      <p:to>
                                        <p:strVal val="visible"/>
                                      </p:to>
                                    </p:set>
                                    <p:animEffect transition="in" filter="wipe(left)">
                                      <p:cBhvr>
                                        <p:cTn id="33" dur="1000"/>
                                        <p:tgtEl>
                                          <p:spTgt spid="8708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87105"/>
                                        </p:tgtEl>
                                        <p:attrNameLst>
                                          <p:attrName>style.visibility</p:attrName>
                                        </p:attrNameLst>
                                      </p:cBhvr>
                                      <p:to>
                                        <p:strVal val="visible"/>
                                      </p:to>
                                    </p:set>
                                    <p:animEffect transition="in" filter="wipe(up)">
                                      <p:cBhvr>
                                        <p:cTn id="38" dur="2000"/>
                                        <p:tgtEl>
                                          <p:spTgt spid="87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animBg="1" autoUpdateAnimBg="0"/>
      <p:bldP spid="8704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1" name="Rectangle 3"/>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How  BFS  works</a:t>
            </a:r>
          </a:p>
        </p:txBody>
      </p:sp>
      <p:grpSp>
        <p:nvGrpSpPr>
          <p:cNvPr id="104461" name="Group 13"/>
          <p:cNvGrpSpPr>
            <a:grpSpLocks/>
          </p:cNvGrpSpPr>
          <p:nvPr/>
        </p:nvGrpSpPr>
        <p:grpSpPr bwMode="auto">
          <a:xfrm>
            <a:off x="2971800" y="4267200"/>
            <a:ext cx="914400" cy="762000"/>
            <a:chOff x="1872" y="2688"/>
            <a:chExt cx="576" cy="480"/>
          </a:xfrm>
        </p:grpSpPr>
        <p:sp>
          <p:nvSpPr>
            <p:cNvPr id="15405" name="Line 14"/>
            <p:cNvSpPr>
              <a:spLocks noChangeShapeType="1"/>
            </p:cNvSpPr>
            <p:nvPr/>
          </p:nvSpPr>
          <p:spPr bwMode="auto">
            <a:xfrm>
              <a:off x="2160" y="2711"/>
              <a:ext cx="0" cy="432"/>
            </a:xfrm>
            <a:prstGeom prst="line">
              <a:avLst/>
            </a:prstGeom>
            <a:noFill/>
            <a:ln w="28575">
              <a:solidFill>
                <a:schemeClr val="tx1"/>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5406" name="Line 15"/>
            <p:cNvSpPr>
              <a:spLocks noChangeShapeType="1"/>
            </p:cNvSpPr>
            <p:nvPr/>
          </p:nvSpPr>
          <p:spPr bwMode="auto">
            <a:xfrm flipH="1">
              <a:off x="1872" y="2688"/>
              <a:ext cx="288" cy="480"/>
            </a:xfrm>
            <a:prstGeom prst="line">
              <a:avLst/>
            </a:prstGeom>
            <a:noFill/>
            <a:ln w="28575">
              <a:solidFill>
                <a:schemeClr val="tx1"/>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5407" name="Line 16"/>
            <p:cNvSpPr>
              <a:spLocks noChangeShapeType="1"/>
            </p:cNvSpPr>
            <p:nvPr/>
          </p:nvSpPr>
          <p:spPr bwMode="auto">
            <a:xfrm>
              <a:off x="2160" y="2688"/>
              <a:ext cx="288" cy="432"/>
            </a:xfrm>
            <a:prstGeom prst="line">
              <a:avLst/>
            </a:prstGeom>
            <a:noFill/>
            <a:ln w="28575">
              <a:solidFill>
                <a:schemeClr val="tx1"/>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grpSp>
      <p:grpSp>
        <p:nvGrpSpPr>
          <p:cNvPr id="104491" name="Group 43"/>
          <p:cNvGrpSpPr>
            <a:grpSpLocks/>
          </p:cNvGrpSpPr>
          <p:nvPr/>
        </p:nvGrpSpPr>
        <p:grpSpPr bwMode="auto">
          <a:xfrm>
            <a:off x="2971800" y="5092700"/>
            <a:ext cx="1504950" cy="1111250"/>
            <a:chOff x="4512" y="3112"/>
            <a:chExt cx="948" cy="700"/>
          </a:xfrm>
        </p:grpSpPr>
        <p:sp>
          <p:nvSpPr>
            <p:cNvPr id="15403" name="Rectangle 19"/>
            <p:cNvSpPr>
              <a:spLocks noChangeArrowheads="1"/>
            </p:cNvSpPr>
            <p:nvPr/>
          </p:nvSpPr>
          <p:spPr bwMode="auto">
            <a:xfrm>
              <a:off x="4512" y="3408"/>
              <a:ext cx="94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1800" dirty="0">
                  <a:solidFill>
                    <a:srgbClr val="CC0000"/>
                  </a:solidFill>
                  <a:latin typeface="Symbol" pitchFamily="18" charset="2"/>
                </a:rPr>
                <a:t>p</a:t>
              </a:r>
              <a:r>
                <a:rPr lang="en-US" sz="1800" dirty="0">
                  <a:solidFill>
                    <a:srgbClr val="CC0000"/>
                  </a:solidFill>
                  <a:latin typeface="Arial" pitchFamily="34" charset="0"/>
                </a:rPr>
                <a:t>(v) = u   </a:t>
              </a:r>
              <a:br>
                <a:rPr lang="en-US" sz="1800" dirty="0">
                  <a:solidFill>
                    <a:srgbClr val="CC0000"/>
                  </a:solidFill>
                  <a:latin typeface="Arial" pitchFamily="34" charset="0"/>
                </a:rPr>
              </a:br>
              <a:r>
                <a:rPr lang="en-US" sz="1800" dirty="0">
                  <a:solidFill>
                    <a:srgbClr val="CC0000"/>
                  </a:solidFill>
                  <a:latin typeface="Arial" pitchFamily="34" charset="0"/>
                </a:rPr>
                <a:t>d(v) = 1+d(u)</a:t>
              </a:r>
            </a:p>
          </p:txBody>
        </p:sp>
        <p:sp>
          <p:nvSpPr>
            <p:cNvPr id="15404" name="Rectangle 20"/>
            <p:cNvSpPr>
              <a:spLocks noChangeArrowheads="1"/>
            </p:cNvSpPr>
            <p:nvPr/>
          </p:nvSpPr>
          <p:spPr bwMode="auto">
            <a:xfrm>
              <a:off x="4704" y="311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dirty="0">
                  <a:solidFill>
                    <a:schemeClr val="tx2"/>
                  </a:solidFill>
                  <a:latin typeface="Arial" pitchFamily="34" charset="0"/>
                </a:rPr>
                <a:t>v</a:t>
              </a:r>
            </a:p>
          </p:txBody>
        </p:sp>
      </p:grpSp>
      <p:sp>
        <p:nvSpPr>
          <p:cNvPr id="104492" name="Text Box 44"/>
          <p:cNvSpPr txBox="1">
            <a:spLocks noChangeArrowheads="1"/>
          </p:cNvSpPr>
          <p:nvPr/>
        </p:nvSpPr>
        <p:spPr bwMode="auto">
          <a:xfrm>
            <a:off x="6400800" y="838200"/>
            <a:ext cx="2514600" cy="421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569913">
              <a:defRPr sz="1600">
                <a:solidFill>
                  <a:schemeClr val="tx1"/>
                </a:solidFill>
                <a:latin typeface="Times New Roman" pitchFamily="18" charset="0"/>
              </a:defRPr>
            </a:lvl1pPr>
            <a:lvl2pPr marL="284163" defTabSz="569913">
              <a:defRPr sz="1600">
                <a:solidFill>
                  <a:schemeClr val="tx1"/>
                </a:solidFill>
                <a:latin typeface="Times New Roman" pitchFamily="18" charset="0"/>
              </a:defRPr>
            </a:lvl2pPr>
            <a:lvl3pPr marL="1143000" indent="-228600" defTabSz="569913">
              <a:defRPr sz="1600">
                <a:solidFill>
                  <a:schemeClr val="tx1"/>
                </a:solidFill>
                <a:latin typeface="Times New Roman" pitchFamily="18" charset="0"/>
              </a:defRPr>
            </a:lvl3pPr>
            <a:lvl4pPr marL="1600200" indent="-228600" defTabSz="569913">
              <a:defRPr sz="1600">
                <a:solidFill>
                  <a:schemeClr val="tx1"/>
                </a:solidFill>
                <a:latin typeface="Times New Roman" pitchFamily="18" charset="0"/>
              </a:defRPr>
            </a:lvl4pPr>
            <a:lvl5pPr marL="2057400" indent="-228600" defTabSz="569913">
              <a:defRPr sz="1600">
                <a:solidFill>
                  <a:schemeClr val="tx1"/>
                </a:solidFill>
                <a:latin typeface="Times New Roman" pitchFamily="18" charset="0"/>
              </a:defRPr>
            </a:lvl5pPr>
            <a:lvl6pPr marL="2514600" indent="-228600" defTabSz="569913" eaLnBrk="0" fontAlgn="base" hangingPunct="0">
              <a:spcBef>
                <a:spcPct val="0"/>
              </a:spcBef>
              <a:spcAft>
                <a:spcPct val="0"/>
              </a:spcAft>
              <a:buChar char="•"/>
              <a:defRPr sz="1600">
                <a:solidFill>
                  <a:schemeClr val="tx1"/>
                </a:solidFill>
                <a:latin typeface="Times New Roman" pitchFamily="18" charset="0"/>
              </a:defRPr>
            </a:lvl6pPr>
            <a:lvl7pPr marL="2971800" indent="-228600" defTabSz="569913" eaLnBrk="0" fontAlgn="base" hangingPunct="0">
              <a:spcBef>
                <a:spcPct val="0"/>
              </a:spcBef>
              <a:spcAft>
                <a:spcPct val="0"/>
              </a:spcAft>
              <a:buChar char="•"/>
              <a:defRPr sz="1600">
                <a:solidFill>
                  <a:schemeClr val="tx1"/>
                </a:solidFill>
                <a:latin typeface="Times New Roman" pitchFamily="18" charset="0"/>
              </a:defRPr>
            </a:lvl7pPr>
            <a:lvl8pPr marL="3429000" indent="-228600" defTabSz="569913" eaLnBrk="0" fontAlgn="base" hangingPunct="0">
              <a:spcBef>
                <a:spcPct val="0"/>
              </a:spcBef>
              <a:spcAft>
                <a:spcPct val="0"/>
              </a:spcAft>
              <a:buChar char="•"/>
              <a:defRPr sz="1600">
                <a:solidFill>
                  <a:schemeClr val="tx1"/>
                </a:solidFill>
                <a:latin typeface="Times New Roman" pitchFamily="18" charset="0"/>
              </a:defRPr>
            </a:lvl8pPr>
            <a:lvl9pPr marL="3886200" indent="-228600" defTabSz="569913"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u="sng">
                <a:solidFill>
                  <a:schemeClr val="hlink"/>
                </a:solidFill>
                <a:latin typeface="Arial" pitchFamily="34" charset="0"/>
              </a:rPr>
              <a:t>Greedy Choice</a:t>
            </a:r>
            <a:r>
              <a:rPr lang="en-US" sz="1800">
                <a:solidFill>
                  <a:schemeClr val="hlink"/>
                </a:solidFill>
                <a:latin typeface="Arial" pitchFamily="34" charset="0"/>
              </a:rPr>
              <a:t>:</a:t>
            </a:r>
            <a:br>
              <a:rPr lang="en-US" sz="1800">
                <a:solidFill>
                  <a:schemeClr val="hlink"/>
                </a:solidFill>
                <a:latin typeface="Arial" pitchFamily="34" charset="0"/>
              </a:rPr>
            </a:br>
            <a:r>
              <a:rPr lang="en-US" sz="1800">
                <a:solidFill>
                  <a:schemeClr val="hlink"/>
                </a:solidFill>
                <a:latin typeface="Arial" pitchFamily="34" charset="0"/>
              </a:rPr>
              <a:t>Scan the oldest frontier node.</a:t>
            </a:r>
          </a:p>
          <a:p>
            <a:pPr algn="ctr" eaLnBrk="1" hangingPunct="1">
              <a:buFontTx/>
              <a:buNone/>
            </a:pPr>
            <a:endParaRPr lang="en-US" sz="1800">
              <a:solidFill>
                <a:schemeClr val="hlink"/>
              </a:solidFill>
              <a:latin typeface="Arial" pitchFamily="34" charset="0"/>
            </a:endParaRPr>
          </a:p>
          <a:p>
            <a:pPr lvl="1" eaLnBrk="1" hangingPunct="1">
              <a:buFontTx/>
              <a:buNone/>
            </a:pPr>
            <a:r>
              <a:rPr lang="en-US" sz="1800">
                <a:latin typeface="Arial" pitchFamily="34" charset="0"/>
              </a:rPr>
              <a:t>Q: How? </a:t>
            </a:r>
            <a:br>
              <a:rPr lang="en-US" sz="1800">
                <a:latin typeface="Arial" pitchFamily="34" charset="0"/>
              </a:rPr>
            </a:br>
            <a:r>
              <a:rPr lang="en-US" sz="1800">
                <a:latin typeface="Arial" pitchFamily="34" charset="0"/>
              </a:rPr>
              <a:t>A: Maintain </a:t>
            </a:r>
            <a:br>
              <a:rPr lang="en-US" sz="1800">
                <a:latin typeface="Arial" pitchFamily="34" charset="0"/>
              </a:rPr>
            </a:br>
            <a:r>
              <a:rPr lang="en-US" sz="1800">
                <a:latin typeface="Arial" pitchFamily="34" charset="0"/>
              </a:rPr>
              <a:t>	frontier nodes </a:t>
            </a:r>
            <a:br>
              <a:rPr lang="en-US" sz="1800">
                <a:latin typeface="Arial" pitchFamily="34" charset="0"/>
              </a:rPr>
            </a:br>
            <a:r>
              <a:rPr lang="en-US" sz="1800">
                <a:latin typeface="Arial" pitchFamily="34" charset="0"/>
              </a:rPr>
              <a:t>	in a Queue Q </a:t>
            </a:r>
            <a:br>
              <a:rPr lang="en-US" sz="1800">
                <a:latin typeface="Arial" pitchFamily="34" charset="0"/>
              </a:rPr>
            </a:br>
            <a:r>
              <a:rPr lang="en-US" sz="1800">
                <a:latin typeface="Arial" pitchFamily="34" charset="0"/>
              </a:rPr>
              <a:t>	(FIFO List).</a:t>
            </a:r>
          </a:p>
          <a:p>
            <a:pPr algn="ctr" eaLnBrk="1" hangingPunct="1">
              <a:buFontTx/>
              <a:buNone/>
            </a:pPr>
            <a:endParaRPr lang="en-US" sz="1800">
              <a:solidFill>
                <a:schemeClr val="tx2"/>
              </a:solidFill>
              <a:latin typeface="Arial" pitchFamily="34" charset="0"/>
            </a:endParaRPr>
          </a:p>
          <a:p>
            <a:pPr algn="ctr" eaLnBrk="1" hangingPunct="1">
              <a:buFontTx/>
              <a:buNone/>
            </a:pPr>
            <a:r>
              <a:rPr lang="en-US" sz="1800">
                <a:solidFill>
                  <a:srgbClr val="CC0000"/>
                </a:solidFill>
                <a:latin typeface="Arial" pitchFamily="34" charset="0"/>
              </a:rPr>
              <a:t>Iteratively</a:t>
            </a:r>
            <a:br>
              <a:rPr lang="en-US" sz="1800">
                <a:solidFill>
                  <a:srgbClr val="CC0000"/>
                </a:solidFill>
                <a:latin typeface="Arial" pitchFamily="34" charset="0"/>
              </a:rPr>
            </a:br>
            <a:r>
              <a:rPr lang="en-US" sz="1800">
                <a:solidFill>
                  <a:srgbClr val="CC0000"/>
                </a:solidFill>
                <a:latin typeface="Arial" pitchFamily="34" charset="0"/>
              </a:rPr>
              <a:t>dequeue a vertex u &amp; scan it:</a:t>
            </a:r>
          </a:p>
          <a:p>
            <a:pPr algn="ctr" eaLnBrk="1" hangingPunct="1">
              <a:buFontTx/>
              <a:buNone/>
            </a:pPr>
            <a:r>
              <a:rPr lang="en-US" sz="1800">
                <a:solidFill>
                  <a:srgbClr val="CC0000"/>
                </a:solidFill>
                <a:latin typeface="Arial" pitchFamily="34" charset="0"/>
              </a:rPr>
              <a:t>visit every unexplored vertex v adjacent to u.</a:t>
            </a:r>
            <a:endParaRPr lang="en-US" sz="1800">
              <a:solidFill>
                <a:schemeClr val="tx2"/>
              </a:solidFill>
              <a:latin typeface="Arial" pitchFamily="34" charset="0"/>
            </a:endParaRPr>
          </a:p>
        </p:txBody>
      </p:sp>
      <p:grpSp>
        <p:nvGrpSpPr>
          <p:cNvPr id="104499" name="Group 51"/>
          <p:cNvGrpSpPr>
            <a:grpSpLocks/>
          </p:cNvGrpSpPr>
          <p:nvPr/>
        </p:nvGrpSpPr>
        <p:grpSpPr bwMode="auto">
          <a:xfrm>
            <a:off x="514350" y="977900"/>
            <a:ext cx="5761038" cy="5194300"/>
            <a:chOff x="324" y="616"/>
            <a:chExt cx="3629" cy="3272"/>
          </a:xfrm>
        </p:grpSpPr>
        <p:sp>
          <p:nvSpPr>
            <p:cNvPr id="15367" name="Freeform 2"/>
            <p:cNvSpPr>
              <a:spLocks/>
            </p:cNvSpPr>
            <p:nvPr/>
          </p:nvSpPr>
          <p:spPr bwMode="auto">
            <a:xfrm>
              <a:off x="336" y="616"/>
              <a:ext cx="3610" cy="2149"/>
            </a:xfrm>
            <a:custGeom>
              <a:avLst/>
              <a:gdLst>
                <a:gd name="T0" fmla="*/ 0 w 3610"/>
                <a:gd name="T1" fmla="*/ 1352 h 2149"/>
                <a:gd name="T2" fmla="*/ 127 w 3610"/>
                <a:gd name="T3" fmla="*/ 1496 h 2149"/>
                <a:gd name="T4" fmla="*/ 240 w 3610"/>
                <a:gd name="T5" fmla="*/ 1592 h 2149"/>
                <a:gd name="T6" fmla="*/ 528 w 3610"/>
                <a:gd name="T7" fmla="*/ 1640 h 2149"/>
                <a:gd name="T8" fmla="*/ 703 w 3610"/>
                <a:gd name="T9" fmla="*/ 1834 h 2149"/>
                <a:gd name="T10" fmla="*/ 1041 w 3610"/>
                <a:gd name="T11" fmla="*/ 1887 h 2149"/>
                <a:gd name="T12" fmla="*/ 1352 w 3610"/>
                <a:gd name="T13" fmla="*/ 2118 h 2149"/>
                <a:gd name="T14" fmla="*/ 1836 w 3610"/>
                <a:gd name="T15" fmla="*/ 2072 h 2149"/>
                <a:gd name="T16" fmla="*/ 2061 w 3610"/>
                <a:gd name="T17" fmla="*/ 2092 h 2149"/>
                <a:gd name="T18" fmla="*/ 2385 w 3610"/>
                <a:gd name="T19" fmla="*/ 1913 h 2149"/>
                <a:gd name="T20" fmla="*/ 2688 w 3610"/>
                <a:gd name="T21" fmla="*/ 1880 h 2149"/>
                <a:gd name="T22" fmla="*/ 2921 w 3610"/>
                <a:gd name="T23" fmla="*/ 1582 h 2149"/>
                <a:gd name="T24" fmla="*/ 3216 w 3610"/>
                <a:gd name="T25" fmla="*/ 1496 h 2149"/>
                <a:gd name="T26" fmla="*/ 3352 w 3610"/>
                <a:gd name="T27" fmla="*/ 1264 h 2149"/>
                <a:gd name="T28" fmla="*/ 3600 w 3610"/>
                <a:gd name="T29" fmla="*/ 1112 h 2149"/>
                <a:gd name="T30" fmla="*/ 3610 w 3610"/>
                <a:gd name="T31" fmla="*/ 6 h 2149"/>
                <a:gd name="T32" fmla="*/ 2 w 3610"/>
                <a:gd name="T33" fmla="*/ 0 h 2149"/>
                <a:gd name="T34" fmla="*/ 0 w 3610"/>
                <a:gd name="T35" fmla="*/ 1352 h 21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610" h="2149">
                  <a:moveTo>
                    <a:pt x="0" y="1352"/>
                  </a:moveTo>
                  <a:lnTo>
                    <a:pt x="127" y="1496"/>
                  </a:lnTo>
                  <a:cubicBezTo>
                    <a:pt x="167" y="1536"/>
                    <a:pt x="173" y="1568"/>
                    <a:pt x="240" y="1592"/>
                  </a:cubicBezTo>
                  <a:cubicBezTo>
                    <a:pt x="307" y="1616"/>
                    <a:pt x="451" y="1600"/>
                    <a:pt x="528" y="1640"/>
                  </a:cubicBezTo>
                  <a:cubicBezTo>
                    <a:pt x="605" y="1680"/>
                    <a:pt x="618" y="1793"/>
                    <a:pt x="703" y="1834"/>
                  </a:cubicBezTo>
                  <a:cubicBezTo>
                    <a:pt x="788" y="1875"/>
                    <a:pt x="933" y="1840"/>
                    <a:pt x="1041" y="1887"/>
                  </a:cubicBezTo>
                  <a:cubicBezTo>
                    <a:pt x="1149" y="1934"/>
                    <a:pt x="1220" y="2087"/>
                    <a:pt x="1352" y="2118"/>
                  </a:cubicBezTo>
                  <a:cubicBezTo>
                    <a:pt x="1484" y="2149"/>
                    <a:pt x="1718" y="2076"/>
                    <a:pt x="1836" y="2072"/>
                  </a:cubicBezTo>
                  <a:cubicBezTo>
                    <a:pt x="1954" y="2068"/>
                    <a:pt x="1970" y="2118"/>
                    <a:pt x="2061" y="2092"/>
                  </a:cubicBezTo>
                  <a:cubicBezTo>
                    <a:pt x="2152" y="2066"/>
                    <a:pt x="2280" y="1948"/>
                    <a:pt x="2385" y="1913"/>
                  </a:cubicBezTo>
                  <a:cubicBezTo>
                    <a:pt x="2490" y="1878"/>
                    <a:pt x="2599" y="1935"/>
                    <a:pt x="2688" y="1880"/>
                  </a:cubicBezTo>
                  <a:cubicBezTo>
                    <a:pt x="2777" y="1825"/>
                    <a:pt x="2833" y="1646"/>
                    <a:pt x="2921" y="1582"/>
                  </a:cubicBezTo>
                  <a:cubicBezTo>
                    <a:pt x="3009" y="1518"/>
                    <a:pt x="3144" y="1549"/>
                    <a:pt x="3216" y="1496"/>
                  </a:cubicBezTo>
                  <a:cubicBezTo>
                    <a:pt x="3288" y="1443"/>
                    <a:pt x="3288" y="1328"/>
                    <a:pt x="3352" y="1264"/>
                  </a:cubicBezTo>
                  <a:lnTo>
                    <a:pt x="3600" y="1112"/>
                  </a:lnTo>
                  <a:lnTo>
                    <a:pt x="3610" y="6"/>
                  </a:lnTo>
                  <a:lnTo>
                    <a:pt x="2" y="0"/>
                  </a:lnTo>
                  <a:lnTo>
                    <a:pt x="0" y="1352"/>
                  </a:lnTo>
                  <a:close/>
                </a:path>
              </a:pathLst>
            </a:custGeom>
            <a:solidFill>
              <a:schemeClr val="accent6">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19050" cap="flat" cmpd="sng">
                  <a:solidFill>
                    <a:schemeClr val="tx1"/>
                  </a:solidFill>
                  <a:prstDash val="solid"/>
                  <a:round/>
                  <a:headEnd type="none" w="med" len="med"/>
                  <a:tailEnd type="none" w="med" len="med"/>
                </a14:hiddenLine>
              </a:ext>
            </a:extLst>
          </p:spPr>
          <p:txBody>
            <a:bodyPr wrap="none">
              <a:spAutoFit/>
            </a:bodyPr>
            <a:lstStyle/>
            <a:p>
              <a:endParaRPr lang="en-CA"/>
            </a:p>
          </p:txBody>
        </p:sp>
        <p:sp>
          <p:nvSpPr>
            <p:cNvPr id="15368" name="Freeform 4"/>
            <p:cNvSpPr>
              <a:spLocks/>
            </p:cNvSpPr>
            <p:nvPr/>
          </p:nvSpPr>
          <p:spPr bwMode="auto">
            <a:xfrm>
              <a:off x="324" y="1741"/>
              <a:ext cx="3629" cy="999"/>
            </a:xfrm>
            <a:custGeom>
              <a:avLst/>
              <a:gdLst>
                <a:gd name="T0" fmla="*/ 0 w 3629"/>
                <a:gd name="T1" fmla="*/ 219 h 1029"/>
                <a:gd name="T2" fmla="*/ 232 w 3629"/>
                <a:gd name="T3" fmla="*/ 457 h 1029"/>
                <a:gd name="T4" fmla="*/ 517 w 3629"/>
                <a:gd name="T5" fmla="*/ 497 h 1029"/>
                <a:gd name="T6" fmla="*/ 696 w 3629"/>
                <a:gd name="T7" fmla="*/ 695 h 1029"/>
                <a:gd name="T8" fmla="*/ 1046 w 3629"/>
                <a:gd name="T9" fmla="*/ 755 h 1029"/>
                <a:gd name="T10" fmla="*/ 1384 w 3629"/>
                <a:gd name="T11" fmla="*/ 993 h 1029"/>
                <a:gd name="T12" fmla="*/ 1836 w 3629"/>
                <a:gd name="T13" fmla="*/ 970 h 1029"/>
                <a:gd name="T14" fmla="*/ 2139 w 3629"/>
                <a:gd name="T15" fmla="*/ 954 h 1029"/>
                <a:gd name="T16" fmla="*/ 2384 w 3629"/>
                <a:gd name="T17" fmla="*/ 795 h 1029"/>
                <a:gd name="T18" fmla="*/ 2708 w 3629"/>
                <a:gd name="T19" fmla="*/ 755 h 1029"/>
                <a:gd name="T20" fmla="*/ 2927 w 3629"/>
                <a:gd name="T21" fmla="*/ 470 h 1029"/>
                <a:gd name="T22" fmla="*/ 3225 w 3629"/>
                <a:gd name="T23" fmla="*/ 364 h 1029"/>
                <a:gd name="T24" fmla="*/ 3397 w 3629"/>
                <a:gd name="T25" fmla="*/ 126 h 1029"/>
                <a:gd name="T26" fmla="*/ 3629 w 3629"/>
                <a:gd name="T27" fmla="*/ 0 h 10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connsiteX0" fmla="*/ 0 w 10000"/>
                <a:gd name="connsiteY0" fmla="*/ 2128 h 9770"/>
                <a:gd name="connsiteX1" fmla="*/ 639 w 10000"/>
                <a:gd name="connsiteY1" fmla="*/ 4441 h 9770"/>
                <a:gd name="connsiteX2" fmla="*/ 1510 w 10000"/>
                <a:gd name="connsiteY2" fmla="*/ 5191 h 9770"/>
                <a:gd name="connsiteX3" fmla="*/ 1918 w 10000"/>
                <a:gd name="connsiteY3" fmla="*/ 6754 h 9770"/>
                <a:gd name="connsiteX4" fmla="*/ 2882 w 10000"/>
                <a:gd name="connsiteY4" fmla="*/ 7337 h 9770"/>
                <a:gd name="connsiteX5" fmla="*/ 3814 w 10000"/>
                <a:gd name="connsiteY5" fmla="*/ 9650 h 9770"/>
                <a:gd name="connsiteX6" fmla="*/ 5059 w 10000"/>
                <a:gd name="connsiteY6" fmla="*/ 9427 h 9770"/>
                <a:gd name="connsiteX7" fmla="*/ 5894 w 10000"/>
                <a:gd name="connsiteY7" fmla="*/ 9271 h 9770"/>
                <a:gd name="connsiteX8" fmla="*/ 6569 w 10000"/>
                <a:gd name="connsiteY8" fmla="*/ 7726 h 9770"/>
                <a:gd name="connsiteX9" fmla="*/ 7462 w 10000"/>
                <a:gd name="connsiteY9" fmla="*/ 7337 h 9770"/>
                <a:gd name="connsiteX10" fmla="*/ 8066 w 10000"/>
                <a:gd name="connsiteY10" fmla="*/ 4568 h 9770"/>
                <a:gd name="connsiteX11" fmla="*/ 8887 w 10000"/>
                <a:gd name="connsiteY11" fmla="*/ 3537 h 9770"/>
                <a:gd name="connsiteX12" fmla="*/ 9361 w 10000"/>
                <a:gd name="connsiteY12" fmla="*/ 1224 h 9770"/>
                <a:gd name="connsiteX13" fmla="*/ 10000 w 10000"/>
                <a:gd name="connsiteY13" fmla="*/ 0 h 9770"/>
                <a:gd name="connsiteX0" fmla="*/ 0 w 10000"/>
                <a:gd name="connsiteY0" fmla="*/ 2178 h 10000"/>
                <a:gd name="connsiteX1" fmla="*/ 639 w 10000"/>
                <a:gd name="connsiteY1" fmla="*/ 4546 h 10000"/>
                <a:gd name="connsiteX2" fmla="*/ 1510 w 10000"/>
                <a:gd name="connsiteY2" fmla="*/ 5313 h 10000"/>
                <a:gd name="connsiteX3" fmla="*/ 1969 w 10000"/>
                <a:gd name="connsiteY3" fmla="*/ 7098 h 10000"/>
                <a:gd name="connsiteX4" fmla="*/ 2882 w 10000"/>
                <a:gd name="connsiteY4" fmla="*/ 7510 h 10000"/>
                <a:gd name="connsiteX5" fmla="*/ 3814 w 10000"/>
                <a:gd name="connsiteY5" fmla="*/ 9877 h 10000"/>
                <a:gd name="connsiteX6" fmla="*/ 5059 w 10000"/>
                <a:gd name="connsiteY6" fmla="*/ 9649 h 10000"/>
                <a:gd name="connsiteX7" fmla="*/ 5894 w 10000"/>
                <a:gd name="connsiteY7" fmla="*/ 9489 h 10000"/>
                <a:gd name="connsiteX8" fmla="*/ 6569 w 10000"/>
                <a:gd name="connsiteY8" fmla="*/ 7908 h 10000"/>
                <a:gd name="connsiteX9" fmla="*/ 7462 w 10000"/>
                <a:gd name="connsiteY9" fmla="*/ 7510 h 10000"/>
                <a:gd name="connsiteX10" fmla="*/ 8066 w 10000"/>
                <a:gd name="connsiteY10" fmla="*/ 4676 h 10000"/>
                <a:gd name="connsiteX11" fmla="*/ 8887 w 10000"/>
                <a:gd name="connsiteY11" fmla="*/ 3620 h 10000"/>
                <a:gd name="connsiteX12" fmla="*/ 9361 w 10000"/>
                <a:gd name="connsiteY12" fmla="*/ 1253 h 10000"/>
                <a:gd name="connsiteX13" fmla="*/ 10000 w 10000"/>
                <a:gd name="connsiteY13" fmla="*/ 0 h 10000"/>
                <a:gd name="connsiteX0" fmla="*/ 0 w 10000"/>
                <a:gd name="connsiteY0" fmla="*/ 2178 h 10222"/>
                <a:gd name="connsiteX1" fmla="*/ 639 w 10000"/>
                <a:gd name="connsiteY1" fmla="*/ 4546 h 10222"/>
                <a:gd name="connsiteX2" fmla="*/ 1510 w 10000"/>
                <a:gd name="connsiteY2" fmla="*/ 5313 h 10222"/>
                <a:gd name="connsiteX3" fmla="*/ 1969 w 10000"/>
                <a:gd name="connsiteY3" fmla="*/ 7098 h 10222"/>
                <a:gd name="connsiteX4" fmla="*/ 2882 w 10000"/>
                <a:gd name="connsiteY4" fmla="*/ 7510 h 10222"/>
                <a:gd name="connsiteX5" fmla="*/ 3746 w 10000"/>
                <a:gd name="connsiteY5" fmla="*/ 10124 h 10222"/>
                <a:gd name="connsiteX6" fmla="*/ 5059 w 10000"/>
                <a:gd name="connsiteY6" fmla="*/ 9649 h 10222"/>
                <a:gd name="connsiteX7" fmla="*/ 5894 w 10000"/>
                <a:gd name="connsiteY7" fmla="*/ 9489 h 10222"/>
                <a:gd name="connsiteX8" fmla="*/ 6569 w 10000"/>
                <a:gd name="connsiteY8" fmla="*/ 7908 h 10222"/>
                <a:gd name="connsiteX9" fmla="*/ 7462 w 10000"/>
                <a:gd name="connsiteY9" fmla="*/ 7510 h 10222"/>
                <a:gd name="connsiteX10" fmla="*/ 8066 w 10000"/>
                <a:gd name="connsiteY10" fmla="*/ 4676 h 10222"/>
                <a:gd name="connsiteX11" fmla="*/ 8887 w 10000"/>
                <a:gd name="connsiteY11" fmla="*/ 3620 h 10222"/>
                <a:gd name="connsiteX12" fmla="*/ 9361 w 10000"/>
                <a:gd name="connsiteY12" fmla="*/ 1253 h 10222"/>
                <a:gd name="connsiteX13" fmla="*/ 10000 w 10000"/>
                <a:gd name="connsiteY13" fmla="*/ 0 h 10222"/>
                <a:gd name="connsiteX0" fmla="*/ 0 w 10000"/>
                <a:gd name="connsiteY0" fmla="*/ 2178 h 10165"/>
                <a:gd name="connsiteX1" fmla="*/ 639 w 10000"/>
                <a:gd name="connsiteY1" fmla="*/ 4546 h 10165"/>
                <a:gd name="connsiteX2" fmla="*/ 1510 w 10000"/>
                <a:gd name="connsiteY2" fmla="*/ 5313 h 10165"/>
                <a:gd name="connsiteX3" fmla="*/ 1969 w 10000"/>
                <a:gd name="connsiteY3" fmla="*/ 7098 h 10165"/>
                <a:gd name="connsiteX4" fmla="*/ 2882 w 10000"/>
                <a:gd name="connsiteY4" fmla="*/ 7510 h 10165"/>
                <a:gd name="connsiteX5" fmla="*/ 3831 w 10000"/>
                <a:gd name="connsiteY5" fmla="*/ 10062 h 10165"/>
                <a:gd name="connsiteX6" fmla="*/ 5059 w 10000"/>
                <a:gd name="connsiteY6" fmla="*/ 9649 h 10165"/>
                <a:gd name="connsiteX7" fmla="*/ 5894 w 10000"/>
                <a:gd name="connsiteY7" fmla="*/ 9489 h 10165"/>
                <a:gd name="connsiteX8" fmla="*/ 6569 w 10000"/>
                <a:gd name="connsiteY8" fmla="*/ 7908 h 10165"/>
                <a:gd name="connsiteX9" fmla="*/ 7462 w 10000"/>
                <a:gd name="connsiteY9" fmla="*/ 7510 h 10165"/>
                <a:gd name="connsiteX10" fmla="*/ 8066 w 10000"/>
                <a:gd name="connsiteY10" fmla="*/ 4676 h 10165"/>
                <a:gd name="connsiteX11" fmla="*/ 8887 w 10000"/>
                <a:gd name="connsiteY11" fmla="*/ 3620 h 10165"/>
                <a:gd name="connsiteX12" fmla="*/ 9361 w 10000"/>
                <a:gd name="connsiteY12" fmla="*/ 1253 h 10165"/>
                <a:gd name="connsiteX13" fmla="*/ 10000 w 10000"/>
                <a:gd name="connsiteY13" fmla="*/ 0 h 10165"/>
                <a:gd name="connsiteX0" fmla="*/ 0 w 10000"/>
                <a:gd name="connsiteY0" fmla="*/ 2178 h 9948"/>
                <a:gd name="connsiteX1" fmla="*/ 639 w 10000"/>
                <a:gd name="connsiteY1" fmla="*/ 4546 h 9948"/>
                <a:gd name="connsiteX2" fmla="*/ 1510 w 10000"/>
                <a:gd name="connsiteY2" fmla="*/ 5313 h 9948"/>
                <a:gd name="connsiteX3" fmla="*/ 1969 w 10000"/>
                <a:gd name="connsiteY3" fmla="*/ 7098 h 9948"/>
                <a:gd name="connsiteX4" fmla="*/ 2882 w 10000"/>
                <a:gd name="connsiteY4" fmla="*/ 7510 h 9948"/>
                <a:gd name="connsiteX5" fmla="*/ 3746 w 10000"/>
                <a:gd name="connsiteY5" fmla="*/ 9815 h 9948"/>
                <a:gd name="connsiteX6" fmla="*/ 5059 w 10000"/>
                <a:gd name="connsiteY6" fmla="*/ 9649 h 9948"/>
                <a:gd name="connsiteX7" fmla="*/ 5894 w 10000"/>
                <a:gd name="connsiteY7" fmla="*/ 9489 h 9948"/>
                <a:gd name="connsiteX8" fmla="*/ 6569 w 10000"/>
                <a:gd name="connsiteY8" fmla="*/ 7908 h 9948"/>
                <a:gd name="connsiteX9" fmla="*/ 7462 w 10000"/>
                <a:gd name="connsiteY9" fmla="*/ 7510 h 9948"/>
                <a:gd name="connsiteX10" fmla="*/ 8066 w 10000"/>
                <a:gd name="connsiteY10" fmla="*/ 4676 h 9948"/>
                <a:gd name="connsiteX11" fmla="*/ 8887 w 10000"/>
                <a:gd name="connsiteY11" fmla="*/ 3620 h 9948"/>
                <a:gd name="connsiteX12" fmla="*/ 9361 w 10000"/>
                <a:gd name="connsiteY12" fmla="*/ 1253 h 9948"/>
                <a:gd name="connsiteX13" fmla="*/ 10000 w 10000"/>
                <a:gd name="connsiteY13" fmla="*/ 0 h 9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000" h="9948">
                  <a:moveTo>
                    <a:pt x="0" y="2178"/>
                  </a:moveTo>
                  <a:cubicBezTo>
                    <a:pt x="105" y="2566"/>
                    <a:pt x="387" y="4024"/>
                    <a:pt x="639" y="4546"/>
                  </a:cubicBezTo>
                  <a:cubicBezTo>
                    <a:pt x="891" y="5069"/>
                    <a:pt x="1288" y="4888"/>
                    <a:pt x="1510" y="5313"/>
                  </a:cubicBezTo>
                  <a:cubicBezTo>
                    <a:pt x="1732" y="5738"/>
                    <a:pt x="1740" y="6732"/>
                    <a:pt x="1969" y="7098"/>
                  </a:cubicBezTo>
                  <a:cubicBezTo>
                    <a:pt x="2198" y="7464"/>
                    <a:pt x="2586" y="7057"/>
                    <a:pt x="2882" y="7510"/>
                  </a:cubicBezTo>
                  <a:cubicBezTo>
                    <a:pt x="3178" y="7963"/>
                    <a:pt x="3382" y="9457"/>
                    <a:pt x="3746" y="9815"/>
                  </a:cubicBezTo>
                  <a:cubicBezTo>
                    <a:pt x="4109" y="10173"/>
                    <a:pt x="4701" y="9703"/>
                    <a:pt x="5059" y="9649"/>
                  </a:cubicBezTo>
                  <a:cubicBezTo>
                    <a:pt x="5417" y="9595"/>
                    <a:pt x="5643" y="9778"/>
                    <a:pt x="5894" y="9489"/>
                  </a:cubicBezTo>
                  <a:cubicBezTo>
                    <a:pt x="6145" y="9201"/>
                    <a:pt x="6308" y="8236"/>
                    <a:pt x="6569" y="7908"/>
                  </a:cubicBezTo>
                  <a:cubicBezTo>
                    <a:pt x="6831" y="7579"/>
                    <a:pt x="7214" y="8047"/>
                    <a:pt x="7462" y="7510"/>
                  </a:cubicBezTo>
                  <a:cubicBezTo>
                    <a:pt x="7710" y="6972"/>
                    <a:pt x="7829" y="5321"/>
                    <a:pt x="8066" y="4676"/>
                  </a:cubicBezTo>
                  <a:cubicBezTo>
                    <a:pt x="8303" y="4029"/>
                    <a:pt x="8672" y="4187"/>
                    <a:pt x="8887" y="3620"/>
                  </a:cubicBezTo>
                  <a:cubicBezTo>
                    <a:pt x="9102" y="3053"/>
                    <a:pt x="9176" y="1860"/>
                    <a:pt x="9361" y="1253"/>
                  </a:cubicBezTo>
                  <a:cubicBezTo>
                    <a:pt x="9545" y="647"/>
                    <a:pt x="9868" y="259"/>
                    <a:pt x="10000" y="0"/>
                  </a:cubicBezTo>
                </a:path>
              </a:pathLst>
            </a:custGeom>
            <a:noFill/>
            <a:ln w="38100" cap="flat" cmpd="sng">
              <a:solidFill>
                <a:schemeClr val="accent6">
                  <a:lumMod val="40000"/>
                  <a:lumOff val="6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5369" name="Rectangle 5"/>
            <p:cNvSpPr>
              <a:spLocks noChangeArrowheads="1"/>
            </p:cNvSpPr>
            <p:nvPr/>
          </p:nvSpPr>
          <p:spPr bwMode="auto">
            <a:xfrm>
              <a:off x="2112" y="2448"/>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u</a:t>
              </a:r>
            </a:p>
          </p:txBody>
        </p:sp>
        <p:sp>
          <p:nvSpPr>
            <p:cNvPr id="15370" name="Rectangle 6"/>
            <p:cNvSpPr>
              <a:spLocks noChangeArrowheads="1"/>
            </p:cNvSpPr>
            <p:nvPr/>
          </p:nvSpPr>
          <p:spPr bwMode="auto">
            <a:xfrm>
              <a:off x="1920" y="67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s</a:t>
              </a:r>
            </a:p>
          </p:txBody>
        </p:sp>
        <p:sp>
          <p:nvSpPr>
            <p:cNvPr id="15371" name="Oval 7"/>
            <p:cNvSpPr>
              <a:spLocks noChangeArrowheads="1"/>
            </p:cNvSpPr>
            <p:nvPr/>
          </p:nvSpPr>
          <p:spPr bwMode="auto">
            <a:xfrm>
              <a:off x="1968" y="864"/>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72" name="Rectangle 8"/>
            <p:cNvSpPr>
              <a:spLocks noChangeArrowheads="1"/>
            </p:cNvSpPr>
            <p:nvPr/>
          </p:nvSpPr>
          <p:spPr bwMode="auto">
            <a:xfrm>
              <a:off x="1776" y="2496"/>
              <a:ext cx="3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rgbClr val="CC0000"/>
                  </a:solidFill>
                  <a:latin typeface="Arial" pitchFamily="34" charset="0"/>
                </a:rPr>
                <a:t>d(u)</a:t>
              </a:r>
            </a:p>
          </p:txBody>
        </p:sp>
        <p:sp>
          <p:nvSpPr>
            <p:cNvPr id="15373" name="Rectangle 9"/>
            <p:cNvSpPr>
              <a:spLocks noChangeArrowheads="1"/>
            </p:cNvSpPr>
            <p:nvPr/>
          </p:nvSpPr>
          <p:spPr bwMode="auto">
            <a:xfrm>
              <a:off x="2064" y="768"/>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rgbClr val="CC0000"/>
                  </a:solidFill>
                  <a:latin typeface="Arial" pitchFamily="34" charset="0"/>
                </a:rPr>
                <a:t>d(s)=0</a:t>
              </a:r>
            </a:p>
          </p:txBody>
        </p:sp>
        <p:sp>
          <p:nvSpPr>
            <p:cNvPr id="15374" name="Text Box 10"/>
            <p:cNvSpPr txBox="1">
              <a:spLocks noChangeArrowheads="1"/>
            </p:cNvSpPr>
            <p:nvPr/>
          </p:nvSpPr>
          <p:spPr bwMode="auto">
            <a:xfrm>
              <a:off x="1263" y="1440"/>
              <a:ext cx="167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Scanned nodes (</a:t>
              </a:r>
              <a:r>
                <a:rPr lang="en-US">
                  <a:solidFill>
                    <a:schemeClr val="tx2"/>
                  </a:solidFill>
                  <a:latin typeface="Arial" pitchFamily="34" charset="0"/>
                </a:rPr>
                <a:t>BLACK</a:t>
              </a:r>
              <a:r>
                <a:rPr lang="en-US" sz="1800">
                  <a:solidFill>
                    <a:schemeClr val="tx2"/>
                  </a:solidFill>
                  <a:latin typeface="Arial" pitchFamily="34" charset="0"/>
                </a:rPr>
                <a:t>)</a:t>
              </a:r>
            </a:p>
          </p:txBody>
        </p:sp>
        <p:sp>
          <p:nvSpPr>
            <p:cNvPr id="15375" name="Text Box 11"/>
            <p:cNvSpPr txBox="1">
              <a:spLocks noChangeArrowheads="1"/>
            </p:cNvSpPr>
            <p:nvPr/>
          </p:nvSpPr>
          <p:spPr bwMode="auto">
            <a:xfrm rot="-2192202">
              <a:off x="2327" y="1968"/>
              <a:ext cx="154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Frontier nodes (</a:t>
              </a:r>
              <a:r>
                <a:rPr lang="en-US">
                  <a:solidFill>
                    <a:schemeClr val="tx2"/>
                  </a:solidFill>
                  <a:latin typeface="Arial" pitchFamily="34" charset="0"/>
                </a:rPr>
                <a:t>GRAY</a:t>
              </a:r>
              <a:r>
                <a:rPr lang="en-US" sz="1800">
                  <a:solidFill>
                    <a:schemeClr val="tx2"/>
                  </a:solidFill>
                  <a:latin typeface="Arial" pitchFamily="34" charset="0"/>
                </a:rPr>
                <a:t>)</a:t>
              </a:r>
            </a:p>
          </p:txBody>
        </p:sp>
        <p:sp>
          <p:nvSpPr>
            <p:cNvPr id="15376" name="Text Box 12"/>
            <p:cNvSpPr txBox="1">
              <a:spLocks noChangeArrowheads="1"/>
            </p:cNvSpPr>
            <p:nvPr/>
          </p:nvSpPr>
          <p:spPr bwMode="auto">
            <a:xfrm>
              <a:off x="392" y="3072"/>
              <a:ext cx="132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a:solidFill>
                    <a:schemeClr val="tx2"/>
                  </a:solidFill>
                  <a:latin typeface="Arial" pitchFamily="34" charset="0"/>
                </a:rPr>
                <a:t>Unexplored nodes </a:t>
              </a:r>
              <a:br>
                <a:rPr lang="en-US" sz="1800">
                  <a:solidFill>
                    <a:schemeClr val="tx2"/>
                  </a:solidFill>
                  <a:latin typeface="Arial" pitchFamily="34" charset="0"/>
                </a:rPr>
              </a:br>
              <a:r>
                <a:rPr lang="en-US" sz="1800">
                  <a:solidFill>
                    <a:schemeClr val="tx2"/>
                  </a:solidFill>
                  <a:latin typeface="Arial" pitchFamily="34" charset="0"/>
                </a:rPr>
                <a:t>(</a:t>
              </a:r>
              <a:r>
                <a:rPr lang="en-US">
                  <a:solidFill>
                    <a:schemeClr val="tx2"/>
                  </a:solidFill>
                  <a:latin typeface="Arial" pitchFamily="34" charset="0"/>
                </a:rPr>
                <a:t>WHITE</a:t>
              </a:r>
              <a:r>
                <a:rPr lang="en-US" sz="1800">
                  <a:solidFill>
                    <a:schemeClr val="tx2"/>
                  </a:solidFill>
                  <a:latin typeface="Arial" pitchFamily="34" charset="0"/>
                </a:rPr>
                <a:t>)</a:t>
              </a:r>
            </a:p>
          </p:txBody>
        </p:sp>
        <p:sp>
          <p:nvSpPr>
            <p:cNvPr id="15377" name="Oval 18"/>
            <p:cNvSpPr>
              <a:spLocks noChangeArrowheads="1"/>
            </p:cNvSpPr>
            <p:nvPr/>
          </p:nvSpPr>
          <p:spPr bwMode="auto">
            <a:xfrm>
              <a:off x="2112" y="3143"/>
              <a:ext cx="96" cy="96"/>
            </a:xfrm>
            <a:prstGeom prst="ellipse">
              <a:avLst/>
            </a:prstGeom>
            <a:solidFill>
              <a:srgbClr val="FFFFCC"/>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78" name="Oval 21"/>
            <p:cNvSpPr>
              <a:spLocks noChangeArrowheads="1"/>
            </p:cNvSpPr>
            <p:nvPr/>
          </p:nvSpPr>
          <p:spPr bwMode="auto">
            <a:xfrm>
              <a:off x="1824" y="3168"/>
              <a:ext cx="96" cy="96"/>
            </a:xfrm>
            <a:prstGeom prst="ellipse">
              <a:avLst/>
            </a:prstGeom>
            <a:solidFill>
              <a:srgbClr val="FFFFCC"/>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79" name="Oval 22"/>
            <p:cNvSpPr>
              <a:spLocks noChangeArrowheads="1"/>
            </p:cNvSpPr>
            <p:nvPr/>
          </p:nvSpPr>
          <p:spPr bwMode="auto">
            <a:xfrm>
              <a:off x="2448" y="3120"/>
              <a:ext cx="96" cy="96"/>
            </a:xfrm>
            <a:prstGeom prst="ellipse">
              <a:avLst/>
            </a:prstGeom>
            <a:solidFill>
              <a:srgbClr val="FFFFCC"/>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80" name="Oval 23"/>
            <p:cNvSpPr>
              <a:spLocks noChangeArrowheads="1"/>
            </p:cNvSpPr>
            <p:nvPr/>
          </p:nvSpPr>
          <p:spPr bwMode="auto">
            <a:xfrm>
              <a:off x="2976" y="3024"/>
              <a:ext cx="96" cy="96"/>
            </a:xfrm>
            <a:prstGeom prst="ellipse">
              <a:avLst/>
            </a:prstGeom>
            <a:solidFill>
              <a:srgbClr val="FFFFCC"/>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81" name="Oval 24"/>
            <p:cNvSpPr>
              <a:spLocks noChangeArrowheads="1"/>
            </p:cNvSpPr>
            <p:nvPr/>
          </p:nvSpPr>
          <p:spPr bwMode="auto">
            <a:xfrm>
              <a:off x="3456" y="2880"/>
              <a:ext cx="96" cy="96"/>
            </a:xfrm>
            <a:prstGeom prst="ellipse">
              <a:avLst/>
            </a:prstGeom>
            <a:solidFill>
              <a:srgbClr val="FFFFCC"/>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82" name="Oval 25"/>
            <p:cNvSpPr>
              <a:spLocks noChangeArrowheads="1"/>
            </p:cNvSpPr>
            <p:nvPr/>
          </p:nvSpPr>
          <p:spPr bwMode="auto">
            <a:xfrm>
              <a:off x="3120" y="3552"/>
              <a:ext cx="96" cy="96"/>
            </a:xfrm>
            <a:prstGeom prst="ellipse">
              <a:avLst/>
            </a:prstGeom>
            <a:solidFill>
              <a:srgbClr val="FFFFCC"/>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83" name="Oval 26"/>
            <p:cNvSpPr>
              <a:spLocks noChangeArrowheads="1"/>
            </p:cNvSpPr>
            <p:nvPr/>
          </p:nvSpPr>
          <p:spPr bwMode="auto">
            <a:xfrm>
              <a:off x="1440" y="3792"/>
              <a:ext cx="96" cy="96"/>
            </a:xfrm>
            <a:prstGeom prst="ellipse">
              <a:avLst/>
            </a:prstGeom>
            <a:solidFill>
              <a:srgbClr val="FFFFCC"/>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84" name="Oval 27"/>
            <p:cNvSpPr>
              <a:spLocks noChangeArrowheads="1"/>
            </p:cNvSpPr>
            <p:nvPr/>
          </p:nvSpPr>
          <p:spPr bwMode="auto">
            <a:xfrm>
              <a:off x="2112" y="2663"/>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85" name="Oval 28"/>
            <p:cNvSpPr>
              <a:spLocks noChangeArrowheads="1"/>
            </p:cNvSpPr>
            <p:nvPr/>
          </p:nvSpPr>
          <p:spPr bwMode="auto">
            <a:xfrm>
              <a:off x="2496" y="2592"/>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86" name="Oval 29"/>
            <p:cNvSpPr>
              <a:spLocks noChangeArrowheads="1"/>
            </p:cNvSpPr>
            <p:nvPr/>
          </p:nvSpPr>
          <p:spPr bwMode="auto">
            <a:xfrm>
              <a:off x="2976" y="2448"/>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87" name="Oval 30"/>
            <p:cNvSpPr>
              <a:spLocks noChangeArrowheads="1"/>
            </p:cNvSpPr>
            <p:nvPr/>
          </p:nvSpPr>
          <p:spPr bwMode="auto">
            <a:xfrm>
              <a:off x="3216" y="2160"/>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88" name="Oval 31"/>
            <p:cNvSpPr>
              <a:spLocks noChangeArrowheads="1"/>
            </p:cNvSpPr>
            <p:nvPr/>
          </p:nvSpPr>
          <p:spPr bwMode="auto">
            <a:xfrm>
              <a:off x="3504" y="2064"/>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89" name="Oval 32"/>
            <p:cNvSpPr>
              <a:spLocks noChangeArrowheads="1"/>
            </p:cNvSpPr>
            <p:nvPr/>
          </p:nvSpPr>
          <p:spPr bwMode="auto">
            <a:xfrm>
              <a:off x="1584" y="1200"/>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90" name="Oval 33"/>
            <p:cNvSpPr>
              <a:spLocks noChangeArrowheads="1"/>
            </p:cNvSpPr>
            <p:nvPr/>
          </p:nvSpPr>
          <p:spPr bwMode="auto">
            <a:xfrm>
              <a:off x="2064" y="1200"/>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91" name="Oval 34"/>
            <p:cNvSpPr>
              <a:spLocks noChangeArrowheads="1"/>
            </p:cNvSpPr>
            <p:nvPr/>
          </p:nvSpPr>
          <p:spPr bwMode="auto">
            <a:xfrm>
              <a:off x="2592" y="1248"/>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92" name="Oval 35"/>
            <p:cNvSpPr>
              <a:spLocks noChangeArrowheads="1"/>
            </p:cNvSpPr>
            <p:nvPr/>
          </p:nvSpPr>
          <p:spPr bwMode="auto">
            <a:xfrm>
              <a:off x="1344" y="1776"/>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93" name="Oval 36"/>
            <p:cNvSpPr>
              <a:spLocks noChangeArrowheads="1"/>
            </p:cNvSpPr>
            <p:nvPr/>
          </p:nvSpPr>
          <p:spPr bwMode="auto">
            <a:xfrm>
              <a:off x="2016" y="1824"/>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94" name="Oval 37"/>
            <p:cNvSpPr>
              <a:spLocks noChangeArrowheads="1"/>
            </p:cNvSpPr>
            <p:nvPr/>
          </p:nvSpPr>
          <p:spPr bwMode="auto">
            <a:xfrm>
              <a:off x="2448" y="1920"/>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95" name="Oval 38"/>
            <p:cNvSpPr>
              <a:spLocks noChangeArrowheads="1"/>
            </p:cNvSpPr>
            <p:nvPr/>
          </p:nvSpPr>
          <p:spPr bwMode="auto">
            <a:xfrm>
              <a:off x="864" y="1632"/>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96" name="Oval 39"/>
            <p:cNvSpPr>
              <a:spLocks noChangeArrowheads="1"/>
            </p:cNvSpPr>
            <p:nvPr/>
          </p:nvSpPr>
          <p:spPr bwMode="auto">
            <a:xfrm>
              <a:off x="3168" y="1488"/>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97" name="Oval 41"/>
            <p:cNvSpPr>
              <a:spLocks noChangeArrowheads="1"/>
            </p:cNvSpPr>
            <p:nvPr/>
          </p:nvSpPr>
          <p:spPr bwMode="auto">
            <a:xfrm>
              <a:off x="3648" y="1824"/>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98" name="Oval 46"/>
            <p:cNvSpPr>
              <a:spLocks noChangeArrowheads="1"/>
            </p:cNvSpPr>
            <p:nvPr/>
          </p:nvSpPr>
          <p:spPr bwMode="auto">
            <a:xfrm>
              <a:off x="528" y="2160"/>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99" name="Oval 47"/>
            <p:cNvSpPr>
              <a:spLocks noChangeArrowheads="1"/>
            </p:cNvSpPr>
            <p:nvPr/>
          </p:nvSpPr>
          <p:spPr bwMode="auto">
            <a:xfrm>
              <a:off x="1008" y="2400"/>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400" name="Oval 48"/>
            <p:cNvSpPr>
              <a:spLocks noChangeArrowheads="1"/>
            </p:cNvSpPr>
            <p:nvPr/>
          </p:nvSpPr>
          <p:spPr bwMode="auto">
            <a:xfrm>
              <a:off x="1632" y="2688"/>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401" name="Oval 49"/>
            <p:cNvSpPr>
              <a:spLocks noChangeArrowheads="1"/>
            </p:cNvSpPr>
            <p:nvPr/>
          </p:nvSpPr>
          <p:spPr bwMode="auto">
            <a:xfrm>
              <a:off x="816" y="2208"/>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402" name="Oval 50"/>
            <p:cNvSpPr>
              <a:spLocks noChangeArrowheads="1"/>
            </p:cNvSpPr>
            <p:nvPr/>
          </p:nvSpPr>
          <p:spPr bwMode="auto">
            <a:xfrm>
              <a:off x="1344" y="2448"/>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04451">
                                            <p:txEl>
                                              <p:charRg st="4294967295" end="4294967295"/>
                                            </p:txEl>
                                          </p:spTgt>
                                        </p:tgtEl>
                                        <p:attrNameLst>
                                          <p:attrName>style.visibility</p:attrName>
                                        </p:attrNameLst>
                                      </p:cBhvr>
                                      <p:to>
                                        <p:strVal val="visible"/>
                                      </p:to>
                                    </p:set>
                                    <p:anim calcmode="lin" valueType="num">
                                      <p:cBhvr>
                                        <p:cTn id="7" dur="500" fill="hold"/>
                                        <p:tgtEl>
                                          <p:spTgt spid="104451">
                                            <p:txEl>
                                              <p:charRg st="4294967295" end="4294967295"/>
                                            </p:txEl>
                                          </p:spTgt>
                                        </p:tgtEl>
                                        <p:attrNameLst>
                                          <p:attrName>ppt_w</p:attrName>
                                        </p:attrNameLst>
                                      </p:cBhvr>
                                      <p:tavLst>
                                        <p:tav tm="0">
                                          <p:val>
                                            <p:fltVal val="0"/>
                                          </p:val>
                                        </p:tav>
                                        <p:tav tm="100000">
                                          <p:val>
                                            <p:strVal val="#ppt_w"/>
                                          </p:val>
                                        </p:tav>
                                      </p:tavLst>
                                    </p:anim>
                                    <p:anim calcmode="lin" valueType="num">
                                      <p:cBhvr>
                                        <p:cTn id="8" dur="500" fill="hold"/>
                                        <p:tgtEl>
                                          <p:spTgt spid="104451">
                                            <p:txEl>
                                              <p:charRg st="4294967295" end="4294967295"/>
                                            </p:txEl>
                                          </p:spTgt>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104499"/>
                                        </p:tgtEl>
                                        <p:attrNameLst>
                                          <p:attrName>style.visibility</p:attrName>
                                        </p:attrNameLst>
                                      </p:cBhvr>
                                      <p:to>
                                        <p:strVal val="visible"/>
                                      </p:to>
                                    </p:set>
                                    <p:animEffect transition="in" filter="wipe(up)">
                                      <p:cBhvr>
                                        <p:cTn id="13" dur="500"/>
                                        <p:tgtEl>
                                          <p:spTgt spid="10449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04492">
                                            <p:txEl>
                                              <p:pRg st="0" end="0"/>
                                            </p:txEl>
                                          </p:spTgt>
                                        </p:tgtEl>
                                        <p:attrNameLst>
                                          <p:attrName>style.visibility</p:attrName>
                                        </p:attrNameLst>
                                      </p:cBhvr>
                                      <p:to>
                                        <p:strVal val="visible"/>
                                      </p:to>
                                    </p:set>
                                    <p:animEffect transition="in" filter="wipe(up)">
                                      <p:cBhvr>
                                        <p:cTn id="18" dur="500"/>
                                        <p:tgtEl>
                                          <p:spTgt spid="104492">
                                            <p:txEl>
                                              <p:pRg st="0" end="0"/>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04492">
                                            <p:txEl>
                                              <p:pRg st="2" end="2"/>
                                            </p:txEl>
                                          </p:spTgt>
                                        </p:tgtEl>
                                        <p:attrNameLst>
                                          <p:attrName>style.visibility</p:attrName>
                                        </p:attrNameLst>
                                      </p:cBhvr>
                                      <p:to>
                                        <p:strVal val="visible"/>
                                      </p:to>
                                    </p:set>
                                    <p:animEffect transition="in" filter="wipe(up)">
                                      <p:cBhvr>
                                        <p:cTn id="21" dur="500"/>
                                        <p:tgtEl>
                                          <p:spTgt spid="104492">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04492">
                                            <p:txEl>
                                              <p:pRg st="4" end="4"/>
                                            </p:txEl>
                                          </p:spTgt>
                                        </p:tgtEl>
                                        <p:attrNameLst>
                                          <p:attrName>style.visibility</p:attrName>
                                        </p:attrNameLst>
                                      </p:cBhvr>
                                      <p:to>
                                        <p:strVal val="visible"/>
                                      </p:to>
                                    </p:set>
                                    <p:animEffect transition="in" filter="wipe(up)">
                                      <p:cBhvr>
                                        <p:cTn id="26" dur="500"/>
                                        <p:tgtEl>
                                          <p:spTgt spid="104492">
                                            <p:txEl>
                                              <p:pRg st="4" end="4"/>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04492">
                                            <p:txEl>
                                              <p:pRg st="5" end="5"/>
                                            </p:txEl>
                                          </p:spTgt>
                                        </p:tgtEl>
                                        <p:attrNameLst>
                                          <p:attrName>style.visibility</p:attrName>
                                        </p:attrNameLst>
                                      </p:cBhvr>
                                      <p:to>
                                        <p:strVal val="visible"/>
                                      </p:to>
                                    </p:set>
                                    <p:animEffect transition="in" filter="wipe(up)">
                                      <p:cBhvr>
                                        <p:cTn id="31" dur="500"/>
                                        <p:tgtEl>
                                          <p:spTgt spid="104492">
                                            <p:txEl>
                                              <p:pRg st="5" end="5"/>
                                            </p:txEl>
                                          </p:spTgt>
                                        </p:tgtEl>
                                      </p:cBhvr>
                                    </p:animEffect>
                                  </p:childTnLst>
                                </p:cTn>
                              </p:par>
                            </p:childTnLst>
                          </p:cTn>
                        </p:par>
                        <p:par>
                          <p:cTn id="32" fill="hold" nodeType="afterGroup">
                            <p:stCondLst>
                              <p:cond delay="500"/>
                            </p:stCondLst>
                            <p:childTnLst>
                              <p:par>
                                <p:cTn id="33" presetID="22" presetClass="entr" presetSubtype="1" fill="hold" nodeType="afterEffect">
                                  <p:stCondLst>
                                    <p:cond delay="1000"/>
                                  </p:stCondLst>
                                  <p:childTnLst>
                                    <p:set>
                                      <p:cBhvr>
                                        <p:cTn id="34" dur="1" fill="hold">
                                          <p:stCondLst>
                                            <p:cond delay="0"/>
                                          </p:stCondLst>
                                        </p:cTn>
                                        <p:tgtEl>
                                          <p:spTgt spid="104461"/>
                                        </p:tgtEl>
                                        <p:attrNameLst>
                                          <p:attrName>style.visibility</p:attrName>
                                        </p:attrNameLst>
                                      </p:cBhvr>
                                      <p:to>
                                        <p:strVal val="visible"/>
                                      </p:to>
                                    </p:set>
                                    <p:animEffect transition="in" filter="wipe(up)">
                                      <p:cBhvr>
                                        <p:cTn id="35" dur="500"/>
                                        <p:tgtEl>
                                          <p:spTgt spid="104461"/>
                                        </p:tgtEl>
                                      </p:cBhvr>
                                    </p:animEffect>
                                  </p:childTnLst>
                                </p:cTn>
                              </p:par>
                            </p:childTnLst>
                          </p:cTn>
                        </p:par>
                        <p:par>
                          <p:cTn id="36" fill="hold" nodeType="afterGroup">
                            <p:stCondLst>
                              <p:cond delay="2000"/>
                            </p:stCondLst>
                            <p:childTnLst>
                              <p:par>
                                <p:cTn id="37" presetID="22" presetClass="entr" presetSubtype="1" fill="hold" nodeType="afterEffect">
                                  <p:stCondLst>
                                    <p:cond delay="0"/>
                                  </p:stCondLst>
                                  <p:childTnLst>
                                    <p:set>
                                      <p:cBhvr>
                                        <p:cTn id="38" dur="1" fill="hold">
                                          <p:stCondLst>
                                            <p:cond delay="0"/>
                                          </p:stCondLst>
                                        </p:cTn>
                                        <p:tgtEl>
                                          <p:spTgt spid="104491"/>
                                        </p:tgtEl>
                                        <p:attrNameLst>
                                          <p:attrName>style.visibility</p:attrName>
                                        </p:attrNameLst>
                                      </p:cBhvr>
                                      <p:to>
                                        <p:strVal val="visible"/>
                                      </p:to>
                                    </p:set>
                                    <p:animEffect transition="in" filter="wipe(up)">
                                      <p:cBhvr>
                                        <p:cTn id="39" dur="1000"/>
                                        <p:tgtEl>
                                          <p:spTgt spid="104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autoUpdateAnimBg="0"/>
      <p:bldP spid="104492"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How  BFS  works</a:t>
            </a:r>
          </a:p>
        </p:txBody>
      </p:sp>
      <p:sp>
        <p:nvSpPr>
          <p:cNvPr id="310283" name="Rectangle 11"/>
          <p:cNvSpPr>
            <a:spLocks noChangeArrowheads="1"/>
          </p:cNvSpPr>
          <p:nvPr/>
        </p:nvSpPr>
        <p:spPr bwMode="auto">
          <a:xfrm>
            <a:off x="6400800" y="5257800"/>
            <a:ext cx="2365375"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buFontTx/>
              <a:buNone/>
            </a:pPr>
            <a:r>
              <a:rPr lang="en-US" sz="1800">
                <a:solidFill>
                  <a:schemeClr val="tx2"/>
                </a:solidFill>
                <a:latin typeface="Arial" pitchFamily="34" charset="0"/>
              </a:rPr>
              <a:t>Enqueue newly discovered nodes.</a:t>
            </a:r>
            <a:br>
              <a:rPr lang="en-US" sz="1800">
                <a:solidFill>
                  <a:schemeClr val="tx2"/>
                </a:solidFill>
                <a:latin typeface="Arial" pitchFamily="34" charset="0"/>
              </a:rPr>
            </a:br>
            <a:r>
              <a:rPr lang="en-US" sz="1800">
                <a:solidFill>
                  <a:schemeClr val="tx2"/>
                </a:solidFill>
                <a:latin typeface="Arial" pitchFamily="34" charset="0"/>
              </a:rPr>
              <a:t/>
            </a:r>
            <a:br>
              <a:rPr lang="en-US" sz="1800">
                <a:solidFill>
                  <a:schemeClr val="tx2"/>
                </a:solidFill>
                <a:latin typeface="Arial" pitchFamily="34" charset="0"/>
              </a:rPr>
            </a:br>
            <a:r>
              <a:rPr lang="en-US" sz="1800">
                <a:solidFill>
                  <a:schemeClr val="tx2"/>
                </a:solidFill>
                <a:latin typeface="Arial" pitchFamily="34" charset="0"/>
              </a:rPr>
              <a:t>Frontier advances.</a:t>
            </a:r>
          </a:p>
        </p:txBody>
      </p:sp>
      <p:grpSp>
        <p:nvGrpSpPr>
          <p:cNvPr id="16388" name="Group 50"/>
          <p:cNvGrpSpPr>
            <a:grpSpLocks/>
          </p:cNvGrpSpPr>
          <p:nvPr/>
        </p:nvGrpSpPr>
        <p:grpSpPr bwMode="auto">
          <a:xfrm>
            <a:off x="514350" y="838200"/>
            <a:ext cx="8401050" cy="5365750"/>
            <a:chOff x="324" y="528"/>
            <a:chExt cx="5292" cy="3380"/>
          </a:xfrm>
        </p:grpSpPr>
        <p:sp>
          <p:nvSpPr>
            <p:cNvPr id="16389" name="Freeform 13"/>
            <p:cNvSpPr>
              <a:spLocks/>
            </p:cNvSpPr>
            <p:nvPr/>
          </p:nvSpPr>
          <p:spPr bwMode="auto">
            <a:xfrm>
              <a:off x="336" y="616"/>
              <a:ext cx="3610" cy="2624"/>
            </a:xfrm>
            <a:custGeom>
              <a:avLst/>
              <a:gdLst>
                <a:gd name="T0" fmla="*/ 0 w 3610"/>
                <a:gd name="T1" fmla="*/ 1352 h 2624"/>
                <a:gd name="T2" fmla="*/ 127 w 3610"/>
                <a:gd name="T3" fmla="*/ 1496 h 2624"/>
                <a:gd name="T4" fmla="*/ 240 w 3610"/>
                <a:gd name="T5" fmla="*/ 1592 h 2624"/>
                <a:gd name="T6" fmla="*/ 528 w 3610"/>
                <a:gd name="T7" fmla="*/ 1640 h 2624"/>
                <a:gd name="T8" fmla="*/ 703 w 3610"/>
                <a:gd name="T9" fmla="*/ 1834 h 2624"/>
                <a:gd name="T10" fmla="*/ 1041 w 3610"/>
                <a:gd name="T11" fmla="*/ 1887 h 2624"/>
                <a:gd name="T12" fmla="*/ 1349 w 3610"/>
                <a:gd name="T13" fmla="*/ 2091 h 2624"/>
                <a:gd name="T14" fmla="*/ 1411 w 3610"/>
                <a:gd name="T15" fmla="*/ 2208 h 2624"/>
                <a:gd name="T16" fmla="*/ 1411 w 3610"/>
                <a:gd name="T17" fmla="*/ 2419 h 2624"/>
                <a:gd name="T18" fmla="*/ 1553 w 3610"/>
                <a:gd name="T19" fmla="*/ 2598 h 2624"/>
                <a:gd name="T20" fmla="*/ 1826 w 3610"/>
                <a:gd name="T21" fmla="*/ 2574 h 2624"/>
                <a:gd name="T22" fmla="*/ 2011 w 3610"/>
                <a:gd name="T23" fmla="*/ 2580 h 2624"/>
                <a:gd name="T24" fmla="*/ 2141 w 3610"/>
                <a:gd name="T25" fmla="*/ 2524 h 2624"/>
                <a:gd name="T26" fmla="*/ 2172 w 3610"/>
                <a:gd name="T27" fmla="*/ 2419 h 2624"/>
                <a:gd name="T28" fmla="*/ 2154 w 3610"/>
                <a:gd name="T29" fmla="*/ 2252 h 2624"/>
                <a:gd name="T30" fmla="*/ 2123 w 3610"/>
                <a:gd name="T31" fmla="*/ 2084 h 2624"/>
                <a:gd name="T32" fmla="*/ 2191 w 3610"/>
                <a:gd name="T33" fmla="*/ 2022 h 2624"/>
                <a:gd name="T34" fmla="*/ 2385 w 3610"/>
                <a:gd name="T35" fmla="*/ 1913 h 2624"/>
                <a:gd name="T36" fmla="*/ 2688 w 3610"/>
                <a:gd name="T37" fmla="*/ 1880 h 2624"/>
                <a:gd name="T38" fmla="*/ 2921 w 3610"/>
                <a:gd name="T39" fmla="*/ 1582 h 2624"/>
                <a:gd name="T40" fmla="*/ 3216 w 3610"/>
                <a:gd name="T41" fmla="*/ 1496 h 2624"/>
                <a:gd name="T42" fmla="*/ 3352 w 3610"/>
                <a:gd name="T43" fmla="*/ 1264 h 2624"/>
                <a:gd name="T44" fmla="*/ 3600 w 3610"/>
                <a:gd name="T45" fmla="*/ 1112 h 2624"/>
                <a:gd name="T46" fmla="*/ 3610 w 3610"/>
                <a:gd name="T47" fmla="*/ 6 h 2624"/>
                <a:gd name="T48" fmla="*/ 2 w 3610"/>
                <a:gd name="T49" fmla="*/ 0 h 2624"/>
                <a:gd name="T50" fmla="*/ 0 w 3610"/>
                <a:gd name="T51" fmla="*/ 1352 h 26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10" h="2624">
                  <a:moveTo>
                    <a:pt x="0" y="1352"/>
                  </a:moveTo>
                  <a:lnTo>
                    <a:pt x="127" y="1496"/>
                  </a:lnTo>
                  <a:cubicBezTo>
                    <a:pt x="167" y="1536"/>
                    <a:pt x="173" y="1568"/>
                    <a:pt x="240" y="1592"/>
                  </a:cubicBezTo>
                  <a:cubicBezTo>
                    <a:pt x="307" y="1616"/>
                    <a:pt x="451" y="1600"/>
                    <a:pt x="528" y="1640"/>
                  </a:cubicBezTo>
                  <a:cubicBezTo>
                    <a:pt x="605" y="1680"/>
                    <a:pt x="618" y="1793"/>
                    <a:pt x="703" y="1834"/>
                  </a:cubicBezTo>
                  <a:cubicBezTo>
                    <a:pt x="788" y="1875"/>
                    <a:pt x="933" y="1844"/>
                    <a:pt x="1041" y="1887"/>
                  </a:cubicBezTo>
                  <a:cubicBezTo>
                    <a:pt x="1149" y="1930"/>
                    <a:pt x="1287" y="2038"/>
                    <a:pt x="1349" y="2091"/>
                  </a:cubicBezTo>
                  <a:cubicBezTo>
                    <a:pt x="1411" y="2144"/>
                    <a:pt x="1401" y="2153"/>
                    <a:pt x="1411" y="2208"/>
                  </a:cubicBezTo>
                  <a:cubicBezTo>
                    <a:pt x="1421" y="2263"/>
                    <a:pt x="1387" y="2354"/>
                    <a:pt x="1411" y="2419"/>
                  </a:cubicBezTo>
                  <a:cubicBezTo>
                    <a:pt x="1435" y="2484"/>
                    <a:pt x="1484" y="2572"/>
                    <a:pt x="1553" y="2598"/>
                  </a:cubicBezTo>
                  <a:cubicBezTo>
                    <a:pt x="1622" y="2624"/>
                    <a:pt x="1750" y="2577"/>
                    <a:pt x="1826" y="2574"/>
                  </a:cubicBezTo>
                  <a:cubicBezTo>
                    <a:pt x="1902" y="2571"/>
                    <a:pt x="1959" y="2588"/>
                    <a:pt x="2011" y="2580"/>
                  </a:cubicBezTo>
                  <a:cubicBezTo>
                    <a:pt x="2063" y="2572"/>
                    <a:pt x="2114" y="2551"/>
                    <a:pt x="2141" y="2524"/>
                  </a:cubicBezTo>
                  <a:cubicBezTo>
                    <a:pt x="2168" y="2497"/>
                    <a:pt x="2170" y="2464"/>
                    <a:pt x="2172" y="2419"/>
                  </a:cubicBezTo>
                  <a:cubicBezTo>
                    <a:pt x="2174" y="2374"/>
                    <a:pt x="2162" y="2308"/>
                    <a:pt x="2154" y="2252"/>
                  </a:cubicBezTo>
                  <a:cubicBezTo>
                    <a:pt x="2146" y="2196"/>
                    <a:pt x="2117" y="2122"/>
                    <a:pt x="2123" y="2084"/>
                  </a:cubicBezTo>
                  <a:cubicBezTo>
                    <a:pt x="2129" y="2046"/>
                    <a:pt x="2147" y="2051"/>
                    <a:pt x="2191" y="2022"/>
                  </a:cubicBezTo>
                  <a:cubicBezTo>
                    <a:pt x="2235" y="1993"/>
                    <a:pt x="2302" y="1937"/>
                    <a:pt x="2385" y="1913"/>
                  </a:cubicBezTo>
                  <a:cubicBezTo>
                    <a:pt x="2468" y="1889"/>
                    <a:pt x="2599" y="1935"/>
                    <a:pt x="2688" y="1880"/>
                  </a:cubicBezTo>
                  <a:cubicBezTo>
                    <a:pt x="2777" y="1825"/>
                    <a:pt x="2833" y="1646"/>
                    <a:pt x="2921" y="1582"/>
                  </a:cubicBezTo>
                  <a:cubicBezTo>
                    <a:pt x="3009" y="1518"/>
                    <a:pt x="3144" y="1549"/>
                    <a:pt x="3216" y="1496"/>
                  </a:cubicBezTo>
                  <a:cubicBezTo>
                    <a:pt x="3288" y="1443"/>
                    <a:pt x="3288" y="1328"/>
                    <a:pt x="3352" y="1264"/>
                  </a:cubicBezTo>
                  <a:lnTo>
                    <a:pt x="3600" y="1112"/>
                  </a:lnTo>
                  <a:lnTo>
                    <a:pt x="3610" y="6"/>
                  </a:lnTo>
                  <a:lnTo>
                    <a:pt x="2" y="0"/>
                  </a:lnTo>
                  <a:lnTo>
                    <a:pt x="0" y="1352"/>
                  </a:lnTo>
                  <a:close/>
                </a:path>
              </a:pathLst>
            </a:custGeom>
            <a:solidFill>
              <a:schemeClr val="accent6">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19050" cap="flat" cmpd="sng">
                  <a:solidFill>
                    <a:schemeClr val="tx1"/>
                  </a:solidFill>
                  <a:prstDash val="solid"/>
                  <a:round/>
                  <a:headEnd type="none" w="med" len="med"/>
                  <a:tailEnd type="none" w="med" len="med"/>
                </a14:hiddenLine>
              </a:ext>
            </a:extLst>
          </p:spPr>
          <p:txBody>
            <a:bodyPr wrap="none">
              <a:spAutoFit/>
            </a:bodyPr>
            <a:lstStyle/>
            <a:p>
              <a:endParaRPr lang="en-CA"/>
            </a:p>
          </p:txBody>
        </p:sp>
        <p:grpSp>
          <p:nvGrpSpPr>
            <p:cNvPr id="16390" name="Group 3"/>
            <p:cNvGrpSpPr>
              <a:grpSpLocks/>
            </p:cNvGrpSpPr>
            <p:nvPr/>
          </p:nvGrpSpPr>
          <p:grpSpPr bwMode="auto">
            <a:xfrm>
              <a:off x="1872" y="2688"/>
              <a:ext cx="576" cy="480"/>
              <a:chOff x="1872" y="2688"/>
              <a:chExt cx="576" cy="480"/>
            </a:xfrm>
          </p:grpSpPr>
          <p:sp>
            <p:nvSpPr>
              <p:cNvPr id="16430" name="Line 4"/>
              <p:cNvSpPr>
                <a:spLocks noChangeShapeType="1"/>
              </p:cNvSpPr>
              <p:nvPr/>
            </p:nvSpPr>
            <p:spPr bwMode="auto">
              <a:xfrm>
                <a:off x="2160" y="2711"/>
                <a:ext cx="0" cy="432"/>
              </a:xfrm>
              <a:prstGeom prst="line">
                <a:avLst/>
              </a:prstGeom>
              <a:noFill/>
              <a:ln w="28575">
                <a:solidFill>
                  <a:schemeClr val="tx1"/>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6431" name="Line 5"/>
              <p:cNvSpPr>
                <a:spLocks noChangeShapeType="1"/>
              </p:cNvSpPr>
              <p:nvPr/>
            </p:nvSpPr>
            <p:spPr bwMode="auto">
              <a:xfrm flipH="1">
                <a:off x="1872" y="2688"/>
                <a:ext cx="288" cy="480"/>
              </a:xfrm>
              <a:prstGeom prst="line">
                <a:avLst/>
              </a:prstGeom>
              <a:noFill/>
              <a:ln w="28575">
                <a:solidFill>
                  <a:schemeClr val="tx1"/>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16432" name="Line 6"/>
              <p:cNvSpPr>
                <a:spLocks noChangeShapeType="1"/>
              </p:cNvSpPr>
              <p:nvPr/>
            </p:nvSpPr>
            <p:spPr bwMode="auto">
              <a:xfrm>
                <a:off x="2160" y="2688"/>
                <a:ext cx="288" cy="432"/>
              </a:xfrm>
              <a:prstGeom prst="line">
                <a:avLst/>
              </a:prstGeom>
              <a:noFill/>
              <a:ln w="28575">
                <a:solidFill>
                  <a:schemeClr val="tx1"/>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grpSp>
        <p:grpSp>
          <p:nvGrpSpPr>
            <p:cNvPr id="16391" name="Group 7"/>
            <p:cNvGrpSpPr>
              <a:grpSpLocks/>
            </p:cNvGrpSpPr>
            <p:nvPr/>
          </p:nvGrpSpPr>
          <p:grpSpPr bwMode="auto">
            <a:xfrm>
              <a:off x="1872" y="3168"/>
              <a:ext cx="948" cy="740"/>
              <a:chOff x="4512" y="3072"/>
              <a:chExt cx="948" cy="740"/>
            </a:xfrm>
          </p:grpSpPr>
          <p:sp>
            <p:nvSpPr>
              <p:cNvPr id="16428" name="Rectangle 8"/>
              <p:cNvSpPr>
                <a:spLocks noChangeArrowheads="1"/>
              </p:cNvSpPr>
              <p:nvPr/>
            </p:nvSpPr>
            <p:spPr bwMode="auto">
              <a:xfrm>
                <a:off x="4512" y="3408"/>
                <a:ext cx="94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1800">
                    <a:solidFill>
                      <a:srgbClr val="CC0000"/>
                    </a:solidFill>
                    <a:latin typeface="Symbol" pitchFamily="18" charset="2"/>
                  </a:rPr>
                  <a:t>p</a:t>
                </a:r>
                <a:r>
                  <a:rPr lang="en-US" sz="1800">
                    <a:solidFill>
                      <a:srgbClr val="CC0000"/>
                    </a:solidFill>
                    <a:latin typeface="Arial" pitchFamily="34" charset="0"/>
                  </a:rPr>
                  <a:t>(v) = u   </a:t>
                </a:r>
                <a:br>
                  <a:rPr lang="en-US" sz="1800">
                    <a:solidFill>
                      <a:srgbClr val="CC0000"/>
                    </a:solidFill>
                    <a:latin typeface="Arial" pitchFamily="34" charset="0"/>
                  </a:rPr>
                </a:br>
                <a:r>
                  <a:rPr lang="en-US" sz="1800">
                    <a:solidFill>
                      <a:srgbClr val="CC0000"/>
                    </a:solidFill>
                    <a:latin typeface="Arial" pitchFamily="34" charset="0"/>
                  </a:rPr>
                  <a:t>d(v) = 1+d(u)</a:t>
                </a:r>
              </a:p>
            </p:txBody>
          </p:sp>
          <p:sp>
            <p:nvSpPr>
              <p:cNvPr id="16429" name="Rectangle 9"/>
              <p:cNvSpPr>
                <a:spLocks noChangeArrowheads="1"/>
              </p:cNvSpPr>
              <p:nvPr/>
            </p:nvSpPr>
            <p:spPr bwMode="auto">
              <a:xfrm>
                <a:off x="4704" y="307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v</a:t>
                </a:r>
              </a:p>
            </p:txBody>
          </p:sp>
        </p:grpSp>
        <p:sp>
          <p:nvSpPr>
            <p:cNvPr id="16392" name="Text Box 10"/>
            <p:cNvSpPr txBox="1">
              <a:spLocks noChangeArrowheads="1"/>
            </p:cNvSpPr>
            <p:nvPr/>
          </p:nvSpPr>
          <p:spPr bwMode="auto">
            <a:xfrm>
              <a:off x="4032" y="528"/>
              <a:ext cx="1584" cy="2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569913"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u="sng">
                  <a:solidFill>
                    <a:schemeClr val="hlink"/>
                  </a:solidFill>
                  <a:latin typeface="Arial" pitchFamily="34" charset="0"/>
                </a:rPr>
                <a:t>Greedy Choice</a:t>
              </a:r>
              <a:r>
                <a:rPr lang="en-US" sz="1800">
                  <a:solidFill>
                    <a:schemeClr val="hlink"/>
                  </a:solidFill>
                  <a:latin typeface="Arial" pitchFamily="34" charset="0"/>
                </a:rPr>
                <a:t>:</a:t>
              </a:r>
              <a:br>
                <a:rPr lang="en-US" sz="1800">
                  <a:solidFill>
                    <a:schemeClr val="hlink"/>
                  </a:solidFill>
                  <a:latin typeface="Arial" pitchFamily="34" charset="0"/>
                </a:rPr>
              </a:br>
              <a:r>
                <a:rPr lang="en-US" sz="1800">
                  <a:solidFill>
                    <a:schemeClr val="hlink"/>
                  </a:solidFill>
                  <a:latin typeface="Arial" pitchFamily="34" charset="0"/>
                </a:rPr>
                <a:t>Scan the oldest frontier node.</a:t>
              </a:r>
            </a:p>
            <a:p>
              <a:pPr algn="ctr" eaLnBrk="1" hangingPunct="1">
                <a:buFontTx/>
                <a:buNone/>
              </a:pPr>
              <a:endParaRPr lang="en-US" sz="1800">
                <a:solidFill>
                  <a:schemeClr val="hlink"/>
                </a:solidFill>
                <a:latin typeface="Arial" pitchFamily="34" charset="0"/>
              </a:endParaRPr>
            </a:p>
            <a:p>
              <a:pPr lvl="1" eaLnBrk="1" hangingPunct="1">
                <a:buFontTx/>
                <a:buNone/>
              </a:pPr>
              <a:r>
                <a:rPr lang="en-US" sz="1800">
                  <a:latin typeface="Arial" pitchFamily="34" charset="0"/>
                </a:rPr>
                <a:t>Q: How? </a:t>
              </a:r>
            </a:p>
            <a:p>
              <a:pPr lvl="1" eaLnBrk="1" hangingPunct="1">
                <a:buFontTx/>
                <a:buNone/>
              </a:pPr>
              <a:r>
                <a:rPr lang="en-US" sz="1800">
                  <a:latin typeface="Arial" pitchFamily="34" charset="0"/>
                </a:rPr>
                <a:t>A: Maintain </a:t>
              </a:r>
              <a:br>
                <a:rPr lang="en-US" sz="1800">
                  <a:latin typeface="Arial" pitchFamily="34" charset="0"/>
                </a:rPr>
              </a:br>
              <a:r>
                <a:rPr lang="en-US" sz="1800">
                  <a:latin typeface="Arial" pitchFamily="34" charset="0"/>
                </a:rPr>
                <a:t>frontier nodes </a:t>
              </a:r>
              <a:br>
                <a:rPr lang="en-US" sz="1800">
                  <a:latin typeface="Arial" pitchFamily="34" charset="0"/>
                </a:rPr>
              </a:br>
              <a:r>
                <a:rPr lang="en-US" sz="1800">
                  <a:latin typeface="Arial" pitchFamily="34" charset="0"/>
                </a:rPr>
                <a:t>in a Queue Q </a:t>
              </a:r>
              <a:br>
                <a:rPr lang="en-US" sz="1800">
                  <a:latin typeface="Arial" pitchFamily="34" charset="0"/>
                </a:rPr>
              </a:br>
              <a:r>
                <a:rPr lang="en-US" sz="1800">
                  <a:latin typeface="Arial" pitchFamily="34" charset="0"/>
                </a:rPr>
                <a:t>(FIFO List).</a:t>
              </a:r>
            </a:p>
            <a:p>
              <a:pPr algn="ctr" eaLnBrk="1" hangingPunct="1">
                <a:buFontTx/>
                <a:buNone/>
              </a:pPr>
              <a:endParaRPr lang="en-US" sz="1800">
                <a:solidFill>
                  <a:schemeClr val="tx2"/>
                </a:solidFill>
                <a:latin typeface="Arial" pitchFamily="34" charset="0"/>
              </a:endParaRPr>
            </a:p>
            <a:p>
              <a:pPr algn="ctr" eaLnBrk="1" hangingPunct="1">
                <a:buFontTx/>
                <a:buNone/>
              </a:pPr>
              <a:r>
                <a:rPr lang="en-US" sz="1800">
                  <a:solidFill>
                    <a:srgbClr val="CC0000"/>
                  </a:solidFill>
                  <a:latin typeface="Arial" pitchFamily="34" charset="0"/>
                </a:rPr>
                <a:t>Iteratively</a:t>
              </a:r>
              <a:br>
                <a:rPr lang="en-US" sz="1800">
                  <a:solidFill>
                    <a:srgbClr val="CC0000"/>
                  </a:solidFill>
                  <a:latin typeface="Arial" pitchFamily="34" charset="0"/>
                </a:rPr>
              </a:br>
              <a:r>
                <a:rPr lang="en-US" sz="1800">
                  <a:solidFill>
                    <a:srgbClr val="CC0000"/>
                  </a:solidFill>
                  <a:latin typeface="Arial" pitchFamily="34" charset="0"/>
                </a:rPr>
                <a:t>dequeue a vertex u &amp; scan it:</a:t>
              </a:r>
            </a:p>
            <a:p>
              <a:pPr algn="ctr" eaLnBrk="1" hangingPunct="1">
                <a:buFontTx/>
                <a:buNone/>
              </a:pPr>
              <a:r>
                <a:rPr lang="en-US" sz="1800">
                  <a:solidFill>
                    <a:srgbClr val="CC0000"/>
                  </a:solidFill>
                  <a:latin typeface="Arial" pitchFamily="34" charset="0"/>
                </a:rPr>
                <a:t>visit every unexplored vertex v adjacent to u.</a:t>
              </a:r>
            </a:p>
          </p:txBody>
        </p:sp>
        <p:sp>
          <p:nvSpPr>
            <p:cNvPr id="16393" name="Freeform 14"/>
            <p:cNvSpPr>
              <a:spLocks/>
            </p:cNvSpPr>
            <p:nvPr/>
          </p:nvSpPr>
          <p:spPr bwMode="auto">
            <a:xfrm>
              <a:off x="324" y="1741"/>
              <a:ext cx="3629" cy="1479"/>
            </a:xfrm>
            <a:custGeom>
              <a:avLst/>
              <a:gdLst>
                <a:gd name="T0" fmla="*/ 0 w 3629"/>
                <a:gd name="T1" fmla="*/ 219 h 1495"/>
                <a:gd name="T2" fmla="*/ 232 w 3629"/>
                <a:gd name="T3" fmla="*/ 457 h 1495"/>
                <a:gd name="T4" fmla="*/ 517 w 3629"/>
                <a:gd name="T5" fmla="*/ 497 h 1495"/>
                <a:gd name="T6" fmla="*/ 696 w 3629"/>
                <a:gd name="T7" fmla="*/ 695 h 1495"/>
                <a:gd name="T8" fmla="*/ 1046 w 3629"/>
                <a:gd name="T9" fmla="*/ 755 h 1495"/>
                <a:gd name="T10" fmla="*/ 1384 w 3629"/>
                <a:gd name="T11" fmla="*/ 993 h 1495"/>
                <a:gd name="T12" fmla="*/ 1429 w 3629"/>
                <a:gd name="T13" fmla="*/ 1300 h 1495"/>
                <a:gd name="T14" fmla="*/ 1559 w 3629"/>
                <a:gd name="T15" fmla="*/ 1467 h 1495"/>
                <a:gd name="T16" fmla="*/ 1831 w 3629"/>
                <a:gd name="T17" fmla="*/ 1467 h 1495"/>
                <a:gd name="T18" fmla="*/ 2153 w 3629"/>
                <a:gd name="T19" fmla="*/ 1430 h 1495"/>
                <a:gd name="T20" fmla="*/ 2191 w 3629"/>
                <a:gd name="T21" fmla="*/ 1189 h 1495"/>
                <a:gd name="T22" fmla="*/ 2139 w 3629"/>
                <a:gd name="T23" fmla="*/ 954 h 1495"/>
                <a:gd name="T24" fmla="*/ 2384 w 3629"/>
                <a:gd name="T25" fmla="*/ 795 h 1495"/>
                <a:gd name="T26" fmla="*/ 2708 w 3629"/>
                <a:gd name="T27" fmla="*/ 755 h 1495"/>
                <a:gd name="T28" fmla="*/ 2927 w 3629"/>
                <a:gd name="T29" fmla="*/ 470 h 1495"/>
                <a:gd name="T30" fmla="*/ 3225 w 3629"/>
                <a:gd name="T31" fmla="*/ 364 h 1495"/>
                <a:gd name="T32" fmla="*/ 3397 w 3629"/>
                <a:gd name="T33" fmla="*/ 126 h 1495"/>
                <a:gd name="T34" fmla="*/ 3629 w 3629"/>
                <a:gd name="T35" fmla="*/ 0 h 149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connsiteX0" fmla="*/ 0 w 10000"/>
                <a:gd name="connsiteY0" fmla="*/ 1465 h 9905"/>
                <a:gd name="connsiteX1" fmla="*/ 639 w 10000"/>
                <a:gd name="connsiteY1" fmla="*/ 3057 h 9905"/>
                <a:gd name="connsiteX2" fmla="*/ 1425 w 10000"/>
                <a:gd name="connsiteY2" fmla="*/ 3324 h 9905"/>
                <a:gd name="connsiteX3" fmla="*/ 2055 w 10000"/>
                <a:gd name="connsiteY3" fmla="*/ 4898 h 9905"/>
                <a:gd name="connsiteX4" fmla="*/ 2882 w 10000"/>
                <a:gd name="connsiteY4" fmla="*/ 5050 h 9905"/>
                <a:gd name="connsiteX5" fmla="*/ 3814 w 10000"/>
                <a:gd name="connsiteY5" fmla="*/ 6642 h 9905"/>
                <a:gd name="connsiteX6" fmla="*/ 3938 w 10000"/>
                <a:gd name="connsiteY6" fmla="*/ 8696 h 9905"/>
                <a:gd name="connsiteX7" fmla="*/ 4296 w 10000"/>
                <a:gd name="connsiteY7" fmla="*/ 9813 h 9905"/>
                <a:gd name="connsiteX8" fmla="*/ 5045 w 10000"/>
                <a:gd name="connsiteY8" fmla="*/ 9813 h 9905"/>
                <a:gd name="connsiteX9" fmla="*/ 5933 w 10000"/>
                <a:gd name="connsiteY9" fmla="*/ 9565 h 9905"/>
                <a:gd name="connsiteX10" fmla="*/ 6037 w 10000"/>
                <a:gd name="connsiteY10" fmla="*/ 7953 h 9905"/>
                <a:gd name="connsiteX11" fmla="*/ 5894 w 10000"/>
                <a:gd name="connsiteY11" fmla="*/ 6381 h 9905"/>
                <a:gd name="connsiteX12" fmla="*/ 6569 w 10000"/>
                <a:gd name="connsiteY12" fmla="*/ 5318 h 9905"/>
                <a:gd name="connsiteX13" fmla="*/ 7462 w 10000"/>
                <a:gd name="connsiteY13" fmla="*/ 5050 h 9905"/>
                <a:gd name="connsiteX14" fmla="*/ 8066 w 10000"/>
                <a:gd name="connsiteY14" fmla="*/ 3144 h 9905"/>
                <a:gd name="connsiteX15" fmla="*/ 8887 w 10000"/>
                <a:gd name="connsiteY15" fmla="*/ 2435 h 9905"/>
                <a:gd name="connsiteX16" fmla="*/ 9361 w 10000"/>
                <a:gd name="connsiteY16" fmla="*/ 843 h 9905"/>
                <a:gd name="connsiteX17" fmla="*/ 10000 w 10000"/>
                <a:gd name="connsiteY17" fmla="*/ 0 h 9905"/>
                <a:gd name="connsiteX0" fmla="*/ 0 w 10000"/>
                <a:gd name="connsiteY0" fmla="*/ 1479 h 10002"/>
                <a:gd name="connsiteX1" fmla="*/ 639 w 10000"/>
                <a:gd name="connsiteY1" fmla="*/ 3086 h 10002"/>
                <a:gd name="connsiteX2" fmla="*/ 1425 w 10000"/>
                <a:gd name="connsiteY2" fmla="*/ 3356 h 10002"/>
                <a:gd name="connsiteX3" fmla="*/ 2055 w 10000"/>
                <a:gd name="connsiteY3" fmla="*/ 4945 h 10002"/>
                <a:gd name="connsiteX4" fmla="*/ 2882 w 10000"/>
                <a:gd name="connsiteY4" fmla="*/ 5098 h 10002"/>
                <a:gd name="connsiteX5" fmla="*/ 3814 w 10000"/>
                <a:gd name="connsiteY5" fmla="*/ 6706 h 10002"/>
                <a:gd name="connsiteX6" fmla="*/ 3938 w 10000"/>
                <a:gd name="connsiteY6" fmla="*/ 8779 h 10002"/>
                <a:gd name="connsiteX7" fmla="*/ 4296 w 10000"/>
                <a:gd name="connsiteY7" fmla="*/ 9907 h 10002"/>
                <a:gd name="connsiteX8" fmla="*/ 5045 w 10000"/>
                <a:gd name="connsiteY8" fmla="*/ 9907 h 10002"/>
                <a:gd name="connsiteX9" fmla="*/ 5984 w 10000"/>
                <a:gd name="connsiteY9" fmla="*/ 9615 h 10002"/>
                <a:gd name="connsiteX10" fmla="*/ 6037 w 10000"/>
                <a:gd name="connsiteY10" fmla="*/ 8029 h 10002"/>
                <a:gd name="connsiteX11" fmla="*/ 5894 w 10000"/>
                <a:gd name="connsiteY11" fmla="*/ 6442 h 10002"/>
                <a:gd name="connsiteX12" fmla="*/ 6569 w 10000"/>
                <a:gd name="connsiteY12" fmla="*/ 5369 h 10002"/>
                <a:gd name="connsiteX13" fmla="*/ 7462 w 10000"/>
                <a:gd name="connsiteY13" fmla="*/ 5098 h 10002"/>
                <a:gd name="connsiteX14" fmla="*/ 8066 w 10000"/>
                <a:gd name="connsiteY14" fmla="*/ 3174 h 10002"/>
                <a:gd name="connsiteX15" fmla="*/ 8887 w 10000"/>
                <a:gd name="connsiteY15" fmla="*/ 2458 h 10002"/>
                <a:gd name="connsiteX16" fmla="*/ 9361 w 10000"/>
                <a:gd name="connsiteY16" fmla="*/ 851 h 10002"/>
                <a:gd name="connsiteX17" fmla="*/ 10000 w 10000"/>
                <a:gd name="connsiteY17" fmla="*/ 0 h 10002"/>
                <a:gd name="connsiteX0" fmla="*/ 0 w 10000"/>
                <a:gd name="connsiteY0" fmla="*/ 1479 h 10002"/>
                <a:gd name="connsiteX1" fmla="*/ 639 w 10000"/>
                <a:gd name="connsiteY1" fmla="*/ 3086 h 10002"/>
                <a:gd name="connsiteX2" fmla="*/ 1425 w 10000"/>
                <a:gd name="connsiteY2" fmla="*/ 3356 h 10002"/>
                <a:gd name="connsiteX3" fmla="*/ 2055 w 10000"/>
                <a:gd name="connsiteY3" fmla="*/ 4945 h 10002"/>
                <a:gd name="connsiteX4" fmla="*/ 2882 w 10000"/>
                <a:gd name="connsiteY4" fmla="*/ 5098 h 10002"/>
                <a:gd name="connsiteX5" fmla="*/ 3814 w 10000"/>
                <a:gd name="connsiteY5" fmla="*/ 6706 h 10002"/>
                <a:gd name="connsiteX6" fmla="*/ 3938 w 10000"/>
                <a:gd name="connsiteY6" fmla="*/ 8779 h 10002"/>
                <a:gd name="connsiteX7" fmla="*/ 4296 w 10000"/>
                <a:gd name="connsiteY7" fmla="*/ 9907 h 10002"/>
                <a:gd name="connsiteX8" fmla="*/ 5045 w 10000"/>
                <a:gd name="connsiteY8" fmla="*/ 9907 h 10002"/>
                <a:gd name="connsiteX9" fmla="*/ 5984 w 10000"/>
                <a:gd name="connsiteY9" fmla="*/ 9615 h 10002"/>
                <a:gd name="connsiteX10" fmla="*/ 6037 w 10000"/>
                <a:gd name="connsiteY10" fmla="*/ 8029 h 10002"/>
                <a:gd name="connsiteX11" fmla="*/ 5894 w 10000"/>
                <a:gd name="connsiteY11" fmla="*/ 6442 h 10002"/>
                <a:gd name="connsiteX12" fmla="*/ 6569 w 10000"/>
                <a:gd name="connsiteY12" fmla="*/ 5369 h 10002"/>
                <a:gd name="connsiteX13" fmla="*/ 7462 w 10000"/>
                <a:gd name="connsiteY13" fmla="*/ 5098 h 10002"/>
                <a:gd name="connsiteX14" fmla="*/ 8066 w 10000"/>
                <a:gd name="connsiteY14" fmla="*/ 3174 h 10002"/>
                <a:gd name="connsiteX15" fmla="*/ 8887 w 10000"/>
                <a:gd name="connsiteY15" fmla="*/ 2458 h 10002"/>
                <a:gd name="connsiteX16" fmla="*/ 9361 w 10000"/>
                <a:gd name="connsiteY16" fmla="*/ 851 h 10002"/>
                <a:gd name="connsiteX17" fmla="*/ 10000 w 10000"/>
                <a:gd name="connsiteY17" fmla="*/ 0 h 10002"/>
                <a:gd name="connsiteX0" fmla="*/ 0 w 10000"/>
                <a:gd name="connsiteY0" fmla="*/ 1479 h 10002"/>
                <a:gd name="connsiteX1" fmla="*/ 639 w 10000"/>
                <a:gd name="connsiteY1" fmla="*/ 3086 h 10002"/>
                <a:gd name="connsiteX2" fmla="*/ 1425 w 10000"/>
                <a:gd name="connsiteY2" fmla="*/ 3356 h 10002"/>
                <a:gd name="connsiteX3" fmla="*/ 2055 w 10000"/>
                <a:gd name="connsiteY3" fmla="*/ 4945 h 10002"/>
                <a:gd name="connsiteX4" fmla="*/ 2882 w 10000"/>
                <a:gd name="connsiteY4" fmla="*/ 5098 h 10002"/>
                <a:gd name="connsiteX5" fmla="*/ 3814 w 10000"/>
                <a:gd name="connsiteY5" fmla="*/ 6706 h 10002"/>
                <a:gd name="connsiteX6" fmla="*/ 3938 w 10000"/>
                <a:gd name="connsiteY6" fmla="*/ 8779 h 10002"/>
                <a:gd name="connsiteX7" fmla="*/ 4296 w 10000"/>
                <a:gd name="connsiteY7" fmla="*/ 9907 h 10002"/>
                <a:gd name="connsiteX8" fmla="*/ 5045 w 10000"/>
                <a:gd name="connsiteY8" fmla="*/ 9907 h 10002"/>
                <a:gd name="connsiteX9" fmla="*/ 5984 w 10000"/>
                <a:gd name="connsiteY9" fmla="*/ 9615 h 10002"/>
                <a:gd name="connsiteX10" fmla="*/ 6037 w 10000"/>
                <a:gd name="connsiteY10" fmla="*/ 8029 h 10002"/>
                <a:gd name="connsiteX11" fmla="*/ 5894 w 10000"/>
                <a:gd name="connsiteY11" fmla="*/ 6442 h 10002"/>
                <a:gd name="connsiteX12" fmla="*/ 6569 w 10000"/>
                <a:gd name="connsiteY12" fmla="*/ 5369 h 10002"/>
                <a:gd name="connsiteX13" fmla="*/ 7462 w 10000"/>
                <a:gd name="connsiteY13" fmla="*/ 5098 h 10002"/>
                <a:gd name="connsiteX14" fmla="*/ 8066 w 10000"/>
                <a:gd name="connsiteY14" fmla="*/ 3174 h 10002"/>
                <a:gd name="connsiteX15" fmla="*/ 8887 w 10000"/>
                <a:gd name="connsiteY15" fmla="*/ 2458 h 10002"/>
                <a:gd name="connsiteX16" fmla="*/ 9361 w 10000"/>
                <a:gd name="connsiteY16" fmla="*/ 851 h 10002"/>
                <a:gd name="connsiteX17" fmla="*/ 10000 w 10000"/>
                <a:gd name="connsiteY17" fmla="*/ 0 h 10002"/>
                <a:gd name="connsiteX0" fmla="*/ 0 w 10000"/>
                <a:gd name="connsiteY0" fmla="*/ 1479 h 10002"/>
                <a:gd name="connsiteX1" fmla="*/ 639 w 10000"/>
                <a:gd name="connsiteY1" fmla="*/ 3086 h 10002"/>
                <a:gd name="connsiteX2" fmla="*/ 1425 w 10000"/>
                <a:gd name="connsiteY2" fmla="*/ 3356 h 10002"/>
                <a:gd name="connsiteX3" fmla="*/ 2055 w 10000"/>
                <a:gd name="connsiteY3" fmla="*/ 4945 h 10002"/>
                <a:gd name="connsiteX4" fmla="*/ 2882 w 10000"/>
                <a:gd name="connsiteY4" fmla="*/ 5098 h 10002"/>
                <a:gd name="connsiteX5" fmla="*/ 3814 w 10000"/>
                <a:gd name="connsiteY5" fmla="*/ 6706 h 10002"/>
                <a:gd name="connsiteX6" fmla="*/ 3938 w 10000"/>
                <a:gd name="connsiteY6" fmla="*/ 8779 h 10002"/>
                <a:gd name="connsiteX7" fmla="*/ 4296 w 10000"/>
                <a:gd name="connsiteY7" fmla="*/ 9907 h 10002"/>
                <a:gd name="connsiteX8" fmla="*/ 5045 w 10000"/>
                <a:gd name="connsiteY8" fmla="*/ 9907 h 10002"/>
                <a:gd name="connsiteX9" fmla="*/ 5984 w 10000"/>
                <a:gd name="connsiteY9" fmla="*/ 9615 h 10002"/>
                <a:gd name="connsiteX10" fmla="*/ 6037 w 10000"/>
                <a:gd name="connsiteY10" fmla="*/ 8029 h 10002"/>
                <a:gd name="connsiteX11" fmla="*/ 5894 w 10000"/>
                <a:gd name="connsiteY11" fmla="*/ 6442 h 10002"/>
                <a:gd name="connsiteX12" fmla="*/ 6569 w 10000"/>
                <a:gd name="connsiteY12" fmla="*/ 5369 h 10002"/>
                <a:gd name="connsiteX13" fmla="*/ 7462 w 10000"/>
                <a:gd name="connsiteY13" fmla="*/ 5098 h 10002"/>
                <a:gd name="connsiteX14" fmla="*/ 8066 w 10000"/>
                <a:gd name="connsiteY14" fmla="*/ 3174 h 10002"/>
                <a:gd name="connsiteX15" fmla="*/ 8887 w 10000"/>
                <a:gd name="connsiteY15" fmla="*/ 2458 h 10002"/>
                <a:gd name="connsiteX16" fmla="*/ 9361 w 10000"/>
                <a:gd name="connsiteY16" fmla="*/ 851 h 10002"/>
                <a:gd name="connsiteX17" fmla="*/ 10000 w 10000"/>
                <a:gd name="connsiteY17" fmla="*/ 0 h 10002"/>
                <a:gd name="connsiteX0" fmla="*/ 0 w 10000"/>
                <a:gd name="connsiteY0" fmla="*/ 1479 h 10012"/>
                <a:gd name="connsiteX1" fmla="*/ 639 w 10000"/>
                <a:gd name="connsiteY1" fmla="*/ 3086 h 10012"/>
                <a:gd name="connsiteX2" fmla="*/ 1425 w 10000"/>
                <a:gd name="connsiteY2" fmla="*/ 3356 h 10012"/>
                <a:gd name="connsiteX3" fmla="*/ 2055 w 10000"/>
                <a:gd name="connsiteY3" fmla="*/ 4945 h 10012"/>
                <a:gd name="connsiteX4" fmla="*/ 2882 w 10000"/>
                <a:gd name="connsiteY4" fmla="*/ 5098 h 10012"/>
                <a:gd name="connsiteX5" fmla="*/ 3814 w 10000"/>
                <a:gd name="connsiteY5" fmla="*/ 6706 h 10012"/>
                <a:gd name="connsiteX6" fmla="*/ 3938 w 10000"/>
                <a:gd name="connsiteY6" fmla="*/ 8779 h 10012"/>
                <a:gd name="connsiteX7" fmla="*/ 4296 w 10000"/>
                <a:gd name="connsiteY7" fmla="*/ 9907 h 10012"/>
                <a:gd name="connsiteX8" fmla="*/ 5045 w 10000"/>
                <a:gd name="connsiteY8" fmla="*/ 9907 h 10012"/>
                <a:gd name="connsiteX9" fmla="*/ 6001 w 10000"/>
                <a:gd name="connsiteY9" fmla="*/ 9406 h 10012"/>
                <a:gd name="connsiteX10" fmla="*/ 6037 w 10000"/>
                <a:gd name="connsiteY10" fmla="*/ 8029 h 10012"/>
                <a:gd name="connsiteX11" fmla="*/ 5894 w 10000"/>
                <a:gd name="connsiteY11" fmla="*/ 6442 h 10012"/>
                <a:gd name="connsiteX12" fmla="*/ 6569 w 10000"/>
                <a:gd name="connsiteY12" fmla="*/ 5369 h 10012"/>
                <a:gd name="connsiteX13" fmla="*/ 7462 w 10000"/>
                <a:gd name="connsiteY13" fmla="*/ 5098 h 10012"/>
                <a:gd name="connsiteX14" fmla="*/ 8066 w 10000"/>
                <a:gd name="connsiteY14" fmla="*/ 3174 h 10012"/>
                <a:gd name="connsiteX15" fmla="*/ 8887 w 10000"/>
                <a:gd name="connsiteY15" fmla="*/ 2458 h 10012"/>
                <a:gd name="connsiteX16" fmla="*/ 9361 w 10000"/>
                <a:gd name="connsiteY16" fmla="*/ 851 h 10012"/>
                <a:gd name="connsiteX17" fmla="*/ 10000 w 10000"/>
                <a:gd name="connsiteY17" fmla="*/ 0 h 10012"/>
                <a:gd name="connsiteX0" fmla="*/ 0 w 10000"/>
                <a:gd name="connsiteY0" fmla="*/ 1479 h 10020"/>
                <a:gd name="connsiteX1" fmla="*/ 639 w 10000"/>
                <a:gd name="connsiteY1" fmla="*/ 3086 h 10020"/>
                <a:gd name="connsiteX2" fmla="*/ 1425 w 10000"/>
                <a:gd name="connsiteY2" fmla="*/ 3356 h 10020"/>
                <a:gd name="connsiteX3" fmla="*/ 2055 w 10000"/>
                <a:gd name="connsiteY3" fmla="*/ 4945 h 10020"/>
                <a:gd name="connsiteX4" fmla="*/ 2882 w 10000"/>
                <a:gd name="connsiteY4" fmla="*/ 5098 h 10020"/>
                <a:gd name="connsiteX5" fmla="*/ 3814 w 10000"/>
                <a:gd name="connsiteY5" fmla="*/ 6706 h 10020"/>
                <a:gd name="connsiteX6" fmla="*/ 3938 w 10000"/>
                <a:gd name="connsiteY6" fmla="*/ 8779 h 10020"/>
                <a:gd name="connsiteX7" fmla="*/ 4296 w 10000"/>
                <a:gd name="connsiteY7" fmla="*/ 9907 h 10020"/>
                <a:gd name="connsiteX8" fmla="*/ 5045 w 10000"/>
                <a:gd name="connsiteY8" fmla="*/ 9907 h 10020"/>
                <a:gd name="connsiteX9" fmla="*/ 5558 w 10000"/>
                <a:gd name="connsiteY9" fmla="*/ 9996 h 10020"/>
                <a:gd name="connsiteX10" fmla="*/ 6001 w 10000"/>
                <a:gd name="connsiteY10" fmla="*/ 9406 h 10020"/>
                <a:gd name="connsiteX11" fmla="*/ 6037 w 10000"/>
                <a:gd name="connsiteY11" fmla="*/ 8029 h 10020"/>
                <a:gd name="connsiteX12" fmla="*/ 5894 w 10000"/>
                <a:gd name="connsiteY12" fmla="*/ 6442 h 10020"/>
                <a:gd name="connsiteX13" fmla="*/ 6569 w 10000"/>
                <a:gd name="connsiteY13" fmla="*/ 5369 h 10020"/>
                <a:gd name="connsiteX14" fmla="*/ 7462 w 10000"/>
                <a:gd name="connsiteY14" fmla="*/ 5098 h 10020"/>
                <a:gd name="connsiteX15" fmla="*/ 8066 w 10000"/>
                <a:gd name="connsiteY15" fmla="*/ 3174 h 10020"/>
                <a:gd name="connsiteX16" fmla="*/ 8887 w 10000"/>
                <a:gd name="connsiteY16" fmla="*/ 2458 h 10020"/>
                <a:gd name="connsiteX17" fmla="*/ 9361 w 10000"/>
                <a:gd name="connsiteY17" fmla="*/ 851 h 10020"/>
                <a:gd name="connsiteX18" fmla="*/ 10000 w 10000"/>
                <a:gd name="connsiteY18" fmla="*/ 0 h 10020"/>
                <a:gd name="connsiteX0" fmla="*/ 0 w 10000"/>
                <a:gd name="connsiteY0" fmla="*/ 1479 h 9993"/>
                <a:gd name="connsiteX1" fmla="*/ 639 w 10000"/>
                <a:gd name="connsiteY1" fmla="*/ 3086 h 9993"/>
                <a:gd name="connsiteX2" fmla="*/ 1425 w 10000"/>
                <a:gd name="connsiteY2" fmla="*/ 3356 h 9993"/>
                <a:gd name="connsiteX3" fmla="*/ 2055 w 10000"/>
                <a:gd name="connsiteY3" fmla="*/ 4945 h 9993"/>
                <a:gd name="connsiteX4" fmla="*/ 2882 w 10000"/>
                <a:gd name="connsiteY4" fmla="*/ 5098 h 9993"/>
                <a:gd name="connsiteX5" fmla="*/ 3814 w 10000"/>
                <a:gd name="connsiteY5" fmla="*/ 6706 h 9993"/>
                <a:gd name="connsiteX6" fmla="*/ 3938 w 10000"/>
                <a:gd name="connsiteY6" fmla="*/ 8779 h 9993"/>
                <a:gd name="connsiteX7" fmla="*/ 4296 w 10000"/>
                <a:gd name="connsiteY7" fmla="*/ 9907 h 9993"/>
                <a:gd name="connsiteX8" fmla="*/ 5045 w 10000"/>
                <a:gd name="connsiteY8" fmla="*/ 9907 h 9993"/>
                <a:gd name="connsiteX9" fmla="*/ 5592 w 10000"/>
                <a:gd name="connsiteY9" fmla="*/ 9829 h 9993"/>
                <a:gd name="connsiteX10" fmla="*/ 6001 w 10000"/>
                <a:gd name="connsiteY10" fmla="*/ 9406 h 9993"/>
                <a:gd name="connsiteX11" fmla="*/ 6037 w 10000"/>
                <a:gd name="connsiteY11" fmla="*/ 8029 h 9993"/>
                <a:gd name="connsiteX12" fmla="*/ 5894 w 10000"/>
                <a:gd name="connsiteY12" fmla="*/ 6442 h 9993"/>
                <a:gd name="connsiteX13" fmla="*/ 6569 w 10000"/>
                <a:gd name="connsiteY13" fmla="*/ 5369 h 9993"/>
                <a:gd name="connsiteX14" fmla="*/ 7462 w 10000"/>
                <a:gd name="connsiteY14" fmla="*/ 5098 h 9993"/>
                <a:gd name="connsiteX15" fmla="*/ 8066 w 10000"/>
                <a:gd name="connsiteY15" fmla="*/ 3174 h 9993"/>
                <a:gd name="connsiteX16" fmla="*/ 8887 w 10000"/>
                <a:gd name="connsiteY16" fmla="*/ 2458 h 9993"/>
                <a:gd name="connsiteX17" fmla="*/ 9361 w 10000"/>
                <a:gd name="connsiteY17" fmla="*/ 851 h 9993"/>
                <a:gd name="connsiteX18" fmla="*/ 10000 w 10000"/>
                <a:gd name="connsiteY18" fmla="*/ 0 h 9993"/>
                <a:gd name="connsiteX0" fmla="*/ 0 w 10000"/>
                <a:gd name="connsiteY0" fmla="*/ 1480 h 10000"/>
                <a:gd name="connsiteX1" fmla="*/ 639 w 10000"/>
                <a:gd name="connsiteY1" fmla="*/ 3088 h 10000"/>
                <a:gd name="connsiteX2" fmla="*/ 1476 w 10000"/>
                <a:gd name="connsiteY2" fmla="*/ 3484 h 10000"/>
                <a:gd name="connsiteX3" fmla="*/ 2055 w 10000"/>
                <a:gd name="connsiteY3" fmla="*/ 4948 h 10000"/>
                <a:gd name="connsiteX4" fmla="*/ 2882 w 10000"/>
                <a:gd name="connsiteY4" fmla="*/ 5102 h 10000"/>
                <a:gd name="connsiteX5" fmla="*/ 3814 w 10000"/>
                <a:gd name="connsiteY5" fmla="*/ 6711 h 10000"/>
                <a:gd name="connsiteX6" fmla="*/ 3938 w 10000"/>
                <a:gd name="connsiteY6" fmla="*/ 8785 h 10000"/>
                <a:gd name="connsiteX7" fmla="*/ 4296 w 10000"/>
                <a:gd name="connsiteY7" fmla="*/ 9914 h 10000"/>
                <a:gd name="connsiteX8" fmla="*/ 5045 w 10000"/>
                <a:gd name="connsiteY8" fmla="*/ 9914 h 10000"/>
                <a:gd name="connsiteX9" fmla="*/ 5592 w 10000"/>
                <a:gd name="connsiteY9" fmla="*/ 9836 h 10000"/>
                <a:gd name="connsiteX10" fmla="*/ 6001 w 10000"/>
                <a:gd name="connsiteY10" fmla="*/ 9413 h 10000"/>
                <a:gd name="connsiteX11" fmla="*/ 6037 w 10000"/>
                <a:gd name="connsiteY11" fmla="*/ 8035 h 10000"/>
                <a:gd name="connsiteX12" fmla="*/ 5894 w 10000"/>
                <a:gd name="connsiteY12" fmla="*/ 6447 h 10000"/>
                <a:gd name="connsiteX13" fmla="*/ 6569 w 10000"/>
                <a:gd name="connsiteY13" fmla="*/ 5373 h 10000"/>
                <a:gd name="connsiteX14" fmla="*/ 7462 w 10000"/>
                <a:gd name="connsiteY14" fmla="*/ 5102 h 10000"/>
                <a:gd name="connsiteX15" fmla="*/ 8066 w 10000"/>
                <a:gd name="connsiteY15" fmla="*/ 3176 h 10000"/>
                <a:gd name="connsiteX16" fmla="*/ 8887 w 10000"/>
                <a:gd name="connsiteY16" fmla="*/ 2460 h 10000"/>
                <a:gd name="connsiteX17" fmla="*/ 9361 w 10000"/>
                <a:gd name="connsiteY17" fmla="*/ 852 h 10000"/>
                <a:gd name="connsiteX18" fmla="*/ 10000 w 10000"/>
                <a:gd name="connsiteY18"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00" h="10000">
                  <a:moveTo>
                    <a:pt x="0" y="1480"/>
                  </a:moveTo>
                  <a:cubicBezTo>
                    <a:pt x="105" y="1744"/>
                    <a:pt x="393" y="2754"/>
                    <a:pt x="639" y="3088"/>
                  </a:cubicBezTo>
                  <a:cubicBezTo>
                    <a:pt x="885" y="3422"/>
                    <a:pt x="1240" y="3174"/>
                    <a:pt x="1476" y="3484"/>
                  </a:cubicBezTo>
                  <a:cubicBezTo>
                    <a:pt x="1712" y="3795"/>
                    <a:pt x="1821" y="4678"/>
                    <a:pt x="2055" y="4948"/>
                  </a:cubicBezTo>
                  <a:cubicBezTo>
                    <a:pt x="2289" y="5218"/>
                    <a:pt x="2589" y="4808"/>
                    <a:pt x="2882" y="5102"/>
                  </a:cubicBezTo>
                  <a:cubicBezTo>
                    <a:pt x="3175" y="5396"/>
                    <a:pt x="3637" y="6095"/>
                    <a:pt x="3814" y="6711"/>
                  </a:cubicBezTo>
                  <a:cubicBezTo>
                    <a:pt x="3990" y="7326"/>
                    <a:pt x="3858" y="8251"/>
                    <a:pt x="3938" y="8785"/>
                  </a:cubicBezTo>
                  <a:cubicBezTo>
                    <a:pt x="4018" y="9319"/>
                    <a:pt x="4111" y="9724"/>
                    <a:pt x="4296" y="9914"/>
                  </a:cubicBezTo>
                  <a:cubicBezTo>
                    <a:pt x="4481" y="10103"/>
                    <a:pt x="4829" y="9927"/>
                    <a:pt x="5045" y="9914"/>
                  </a:cubicBezTo>
                  <a:cubicBezTo>
                    <a:pt x="5261" y="9901"/>
                    <a:pt x="5433" y="9919"/>
                    <a:pt x="5592" y="9836"/>
                  </a:cubicBezTo>
                  <a:cubicBezTo>
                    <a:pt x="5751" y="9753"/>
                    <a:pt x="5927" y="9713"/>
                    <a:pt x="6001" y="9413"/>
                  </a:cubicBezTo>
                  <a:cubicBezTo>
                    <a:pt x="6075" y="9112"/>
                    <a:pt x="6055" y="8529"/>
                    <a:pt x="6037" y="8035"/>
                  </a:cubicBezTo>
                  <a:cubicBezTo>
                    <a:pt x="6019" y="7540"/>
                    <a:pt x="5806" y="6893"/>
                    <a:pt x="5894" y="6447"/>
                  </a:cubicBezTo>
                  <a:cubicBezTo>
                    <a:pt x="5982" y="6001"/>
                    <a:pt x="6308" y="5595"/>
                    <a:pt x="6569" y="5373"/>
                  </a:cubicBezTo>
                  <a:cubicBezTo>
                    <a:pt x="6831" y="5150"/>
                    <a:pt x="7214" y="5467"/>
                    <a:pt x="7462" y="5102"/>
                  </a:cubicBezTo>
                  <a:cubicBezTo>
                    <a:pt x="7710" y="4737"/>
                    <a:pt x="7829" y="3616"/>
                    <a:pt x="8066" y="3176"/>
                  </a:cubicBezTo>
                  <a:cubicBezTo>
                    <a:pt x="8303" y="2737"/>
                    <a:pt x="8672" y="2845"/>
                    <a:pt x="8887" y="2460"/>
                  </a:cubicBezTo>
                  <a:cubicBezTo>
                    <a:pt x="9102" y="2075"/>
                    <a:pt x="9176" y="1264"/>
                    <a:pt x="9361" y="852"/>
                  </a:cubicBezTo>
                  <a:cubicBezTo>
                    <a:pt x="9545" y="439"/>
                    <a:pt x="9868" y="176"/>
                    <a:pt x="10000" y="0"/>
                  </a:cubicBezTo>
                </a:path>
              </a:pathLst>
            </a:custGeom>
            <a:noFill/>
            <a:ln w="38100" cap="flat" cmpd="sng">
              <a:solidFill>
                <a:schemeClr val="accent6">
                  <a:lumMod val="40000"/>
                  <a:lumOff val="6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6394" name="Rectangle 15"/>
            <p:cNvSpPr>
              <a:spLocks noChangeArrowheads="1"/>
            </p:cNvSpPr>
            <p:nvPr/>
          </p:nvSpPr>
          <p:spPr bwMode="auto">
            <a:xfrm>
              <a:off x="2112" y="2448"/>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u</a:t>
              </a:r>
            </a:p>
          </p:txBody>
        </p:sp>
        <p:sp>
          <p:nvSpPr>
            <p:cNvPr id="16395" name="Rectangle 16"/>
            <p:cNvSpPr>
              <a:spLocks noChangeArrowheads="1"/>
            </p:cNvSpPr>
            <p:nvPr/>
          </p:nvSpPr>
          <p:spPr bwMode="auto">
            <a:xfrm>
              <a:off x="1920" y="67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s</a:t>
              </a:r>
            </a:p>
          </p:txBody>
        </p:sp>
        <p:sp>
          <p:nvSpPr>
            <p:cNvPr id="16396" name="Oval 17"/>
            <p:cNvSpPr>
              <a:spLocks noChangeArrowheads="1"/>
            </p:cNvSpPr>
            <p:nvPr/>
          </p:nvSpPr>
          <p:spPr bwMode="auto">
            <a:xfrm>
              <a:off x="1968" y="864"/>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397" name="Rectangle 18"/>
            <p:cNvSpPr>
              <a:spLocks noChangeArrowheads="1"/>
            </p:cNvSpPr>
            <p:nvPr/>
          </p:nvSpPr>
          <p:spPr bwMode="auto">
            <a:xfrm>
              <a:off x="1776" y="2496"/>
              <a:ext cx="3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rgbClr val="CC0000"/>
                  </a:solidFill>
                  <a:latin typeface="Arial" pitchFamily="34" charset="0"/>
                </a:rPr>
                <a:t>d(u)</a:t>
              </a:r>
            </a:p>
          </p:txBody>
        </p:sp>
        <p:sp>
          <p:nvSpPr>
            <p:cNvPr id="16398" name="Rectangle 19"/>
            <p:cNvSpPr>
              <a:spLocks noChangeArrowheads="1"/>
            </p:cNvSpPr>
            <p:nvPr/>
          </p:nvSpPr>
          <p:spPr bwMode="auto">
            <a:xfrm>
              <a:off x="2064" y="768"/>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rgbClr val="CC0000"/>
                  </a:solidFill>
                  <a:latin typeface="Arial" pitchFamily="34" charset="0"/>
                </a:rPr>
                <a:t>d(s)=0</a:t>
              </a:r>
            </a:p>
          </p:txBody>
        </p:sp>
        <p:sp>
          <p:nvSpPr>
            <p:cNvPr id="16399" name="Text Box 20"/>
            <p:cNvSpPr txBox="1">
              <a:spLocks noChangeArrowheads="1"/>
            </p:cNvSpPr>
            <p:nvPr/>
          </p:nvSpPr>
          <p:spPr bwMode="auto">
            <a:xfrm>
              <a:off x="1263" y="1440"/>
              <a:ext cx="167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Scanned nodes (</a:t>
              </a:r>
              <a:r>
                <a:rPr lang="en-US">
                  <a:solidFill>
                    <a:schemeClr val="tx2"/>
                  </a:solidFill>
                  <a:latin typeface="Arial" pitchFamily="34" charset="0"/>
                </a:rPr>
                <a:t>BLACK</a:t>
              </a:r>
              <a:r>
                <a:rPr lang="en-US" sz="1800">
                  <a:solidFill>
                    <a:schemeClr val="tx2"/>
                  </a:solidFill>
                  <a:latin typeface="Arial" pitchFamily="34" charset="0"/>
                </a:rPr>
                <a:t>)</a:t>
              </a:r>
            </a:p>
          </p:txBody>
        </p:sp>
        <p:sp>
          <p:nvSpPr>
            <p:cNvPr id="16400" name="Text Box 21"/>
            <p:cNvSpPr txBox="1">
              <a:spLocks noChangeArrowheads="1"/>
            </p:cNvSpPr>
            <p:nvPr/>
          </p:nvSpPr>
          <p:spPr bwMode="auto">
            <a:xfrm rot="-2192202">
              <a:off x="2327" y="1968"/>
              <a:ext cx="154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Frontier nodes (</a:t>
              </a:r>
              <a:r>
                <a:rPr lang="en-US">
                  <a:solidFill>
                    <a:schemeClr val="tx2"/>
                  </a:solidFill>
                  <a:latin typeface="Arial" pitchFamily="34" charset="0"/>
                </a:rPr>
                <a:t>GRAY</a:t>
              </a:r>
              <a:r>
                <a:rPr lang="en-US" sz="1800">
                  <a:solidFill>
                    <a:schemeClr val="tx2"/>
                  </a:solidFill>
                  <a:latin typeface="Arial" pitchFamily="34" charset="0"/>
                </a:rPr>
                <a:t>)</a:t>
              </a:r>
            </a:p>
          </p:txBody>
        </p:sp>
        <p:sp>
          <p:nvSpPr>
            <p:cNvPr id="16401" name="Text Box 22"/>
            <p:cNvSpPr txBox="1">
              <a:spLocks noChangeArrowheads="1"/>
            </p:cNvSpPr>
            <p:nvPr/>
          </p:nvSpPr>
          <p:spPr bwMode="auto">
            <a:xfrm>
              <a:off x="392" y="3072"/>
              <a:ext cx="132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a:solidFill>
                    <a:schemeClr val="tx2"/>
                  </a:solidFill>
                  <a:latin typeface="Arial" pitchFamily="34" charset="0"/>
                </a:rPr>
                <a:t>Unexplored nodes </a:t>
              </a:r>
              <a:br>
                <a:rPr lang="en-US" sz="1800">
                  <a:solidFill>
                    <a:schemeClr val="tx2"/>
                  </a:solidFill>
                  <a:latin typeface="Arial" pitchFamily="34" charset="0"/>
                </a:rPr>
              </a:br>
              <a:r>
                <a:rPr lang="en-US" sz="1800">
                  <a:solidFill>
                    <a:schemeClr val="tx2"/>
                  </a:solidFill>
                  <a:latin typeface="Arial" pitchFamily="34" charset="0"/>
                </a:rPr>
                <a:t>(</a:t>
              </a:r>
              <a:r>
                <a:rPr lang="en-US">
                  <a:solidFill>
                    <a:schemeClr val="tx2"/>
                  </a:solidFill>
                  <a:latin typeface="Arial" pitchFamily="34" charset="0"/>
                </a:rPr>
                <a:t>WHITE</a:t>
              </a:r>
              <a:r>
                <a:rPr lang="en-US" sz="1800">
                  <a:solidFill>
                    <a:schemeClr val="tx2"/>
                  </a:solidFill>
                  <a:latin typeface="Arial" pitchFamily="34" charset="0"/>
                </a:rPr>
                <a:t>)</a:t>
              </a:r>
            </a:p>
          </p:txBody>
        </p:sp>
        <p:sp>
          <p:nvSpPr>
            <p:cNvPr id="16402" name="Oval 23"/>
            <p:cNvSpPr>
              <a:spLocks noChangeArrowheads="1"/>
            </p:cNvSpPr>
            <p:nvPr/>
          </p:nvSpPr>
          <p:spPr bwMode="auto">
            <a:xfrm>
              <a:off x="2112" y="3143"/>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03" name="Oval 24"/>
            <p:cNvSpPr>
              <a:spLocks noChangeArrowheads="1"/>
            </p:cNvSpPr>
            <p:nvPr/>
          </p:nvSpPr>
          <p:spPr bwMode="auto">
            <a:xfrm>
              <a:off x="1824" y="3168"/>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04" name="Oval 25"/>
            <p:cNvSpPr>
              <a:spLocks noChangeArrowheads="1"/>
            </p:cNvSpPr>
            <p:nvPr/>
          </p:nvSpPr>
          <p:spPr bwMode="auto">
            <a:xfrm>
              <a:off x="2448" y="3120"/>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05" name="Oval 26"/>
            <p:cNvSpPr>
              <a:spLocks noChangeArrowheads="1"/>
            </p:cNvSpPr>
            <p:nvPr/>
          </p:nvSpPr>
          <p:spPr bwMode="auto">
            <a:xfrm>
              <a:off x="2976" y="3024"/>
              <a:ext cx="96" cy="96"/>
            </a:xfrm>
            <a:prstGeom prst="ellipse">
              <a:avLst/>
            </a:prstGeom>
            <a:solidFill>
              <a:srgbClr val="FFFFCC"/>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06" name="Oval 27"/>
            <p:cNvSpPr>
              <a:spLocks noChangeArrowheads="1"/>
            </p:cNvSpPr>
            <p:nvPr/>
          </p:nvSpPr>
          <p:spPr bwMode="auto">
            <a:xfrm>
              <a:off x="3456" y="2880"/>
              <a:ext cx="96" cy="96"/>
            </a:xfrm>
            <a:prstGeom prst="ellipse">
              <a:avLst/>
            </a:prstGeom>
            <a:solidFill>
              <a:srgbClr val="FFFFCC"/>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07" name="Oval 28"/>
            <p:cNvSpPr>
              <a:spLocks noChangeArrowheads="1"/>
            </p:cNvSpPr>
            <p:nvPr/>
          </p:nvSpPr>
          <p:spPr bwMode="auto">
            <a:xfrm>
              <a:off x="3120" y="3552"/>
              <a:ext cx="96" cy="96"/>
            </a:xfrm>
            <a:prstGeom prst="ellipse">
              <a:avLst/>
            </a:prstGeom>
            <a:solidFill>
              <a:srgbClr val="FFFFCC"/>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08" name="Oval 29"/>
            <p:cNvSpPr>
              <a:spLocks noChangeArrowheads="1"/>
            </p:cNvSpPr>
            <p:nvPr/>
          </p:nvSpPr>
          <p:spPr bwMode="auto">
            <a:xfrm>
              <a:off x="1440" y="3792"/>
              <a:ext cx="96" cy="96"/>
            </a:xfrm>
            <a:prstGeom prst="ellipse">
              <a:avLst/>
            </a:prstGeom>
            <a:solidFill>
              <a:srgbClr val="FFFFCC"/>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09" name="Oval 30"/>
            <p:cNvSpPr>
              <a:spLocks noChangeArrowheads="1"/>
            </p:cNvSpPr>
            <p:nvPr/>
          </p:nvSpPr>
          <p:spPr bwMode="auto">
            <a:xfrm>
              <a:off x="2112" y="2663"/>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10" name="Oval 31"/>
            <p:cNvSpPr>
              <a:spLocks noChangeArrowheads="1"/>
            </p:cNvSpPr>
            <p:nvPr/>
          </p:nvSpPr>
          <p:spPr bwMode="auto">
            <a:xfrm>
              <a:off x="2496" y="2592"/>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11" name="Oval 32"/>
            <p:cNvSpPr>
              <a:spLocks noChangeArrowheads="1"/>
            </p:cNvSpPr>
            <p:nvPr/>
          </p:nvSpPr>
          <p:spPr bwMode="auto">
            <a:xfrm>
              <a:off x="2976" y="2448"/>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12" name="Oval 33"/>
            <p:cNvSpPr>
              <a:spLocks noChangeArrowheads="1"/>
            </p:cNvSpPr>
            <p:nvPr/>
          </p:nvSpPr>
          <p:spPr bwMode="auto">
            <a:xfrm>
              <a:off x="3216" y="2160"/>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13" name="Oval 34"/>
            <p:cNvSpPr>
              <a:spLocks noChangeArrowheads="1"/>
            </p:cNvSpPr>
            <p:nvPr/>
          </p:nvSpPr>
          <p:spPr bwMode="auto">
            <a:xfrm>
              <a:off x="3504" y="2064"/>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14" name="Oval 35"/>
            <p:cNvSpPr>
              <a:spLocks noChangeArrowheads="1"/>
            </p:cNvSpPr>
            <p:nvPr/>
          </p:nvSpPr>
          <p:spPr bwMode="auto">
            <a:xfrm>
              <a:off x="1584" y="1200"/>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15" name="Oval 36"/>
            <p:cNvSpPr>
              <a:spLocks noChangeArrowheads="1"/>
            </p:cNvSpPr>
            <p:nvPr/>
          </p:nvSpPr>
          <p:spPr bwMode="auto">
            <a:xfrm>
              <a:off x="2064" y="1200"/>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16" name="Oval 37"/>
            <p:cNvSpPr>
              <a:spLocks noChangeArrowheads="1"/>
            </p:cNvSpPr>
            <p:nvPr/>
          </p:nvSpPr>
          <p:spPr bwMode="auto">
            <a:xfrm>
              <a:off x="2592" y="1248"/>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17" name="Oval 38"/>
            <p:cNvSpPr>
              <a:spLocks noChangeArrowheads="1"/>
            </p:cNvSpPr>
            <p:nvPr/>
          </p:nvSpPr>
          <p:spPr bwMode="auto">
            <a:xfrm>
              <a:off x="1344" y="1776"/>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18" name="Oval 39"/>
            <p:cNvSpPr>
              <a:spLocks noChangeArrowheads="1"/>
            </p:cNvSpPr>
            <p:nvPr/>
          </p:nvSpPr>
          <p:spPr bwMode="auto">
            <a:xfrm>
              <a:off x="2016" y="1824"/>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19" name="Oval 40"/>
            <p:cNvSpPr>
              <a:spLocks noChangeArrowheads="1"/>
            </p:cNvSpPr>
            <p:nvPr/>
          </p:nvSpPr>
          <p:spPr bwMode="auto">
            <a:xfrm>
              <a:off x="2448" y="1920"/>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20" name="Oval 41"/>
            <p:cNvSpPr>
              <a:spLocks noChangeArrowheads="1"/>
            </p:cNvSpPr>
            <p:nvPr/>
          </p:nvSpPr>
          <p:spPr bwMode="auto">
            <a:xfrm>
              <a:off x="864" y="1632"/>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21" name="Oval 42"/>
            <p:cNvSpPr>
              <a:spLocks noChangeArrowheads="1"/>
            </p:cNvSpPr>
            <p:nvPr/>
          </p:nvSpPr>
          <p:spPr bwMode="auto">
            <a:xfrm>
              <a:off x="3168" y="1488"/>
              <a:ext cx="96" cy="96"/>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22" name="Oval 43"/>
            <p:cNvSpPr>
              <a:spLocks noChangeArrowheads="1"/>
            </p:cNvSpPr>
            <p:nvPr/>
          </p:nvSpPr>
          <p:spPr bwMode="auto">
            <a:xfrm>
              <a:off x="3648" y="1824"/>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23" name="Oval 44"/>
            <p:cNvSpPr>
              <a:spLocks noChangeArrowheads="1"/>
            </p:cNvSpPr>
            <p:nvPr/>
          </p:nvSpPr>
          <p:spPr bwMode="auto">
            <a:xfrm>
              <a:off x="528" y="2160"/>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24" name="Oval 45"/>
            <p:cNvSpPr>
              <a:spLocks noChangeArrowheads="1"/>
            </p:cNvSpPr>
            <p:nvPr/>
          </p:nvSpPr>
          <p:spPr bwMode="auto">
            <a:xfrm>
              <a:off x="1008" y="2400"/>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25" name="Oval 46"/>
            <p:cNvSpPr>
              <a:spLocks noChangeArrowheads="1"/>
            </p:cNvSpPr>
            <p:nvPr/>
          </p:nvSpPr>
          <p:spPr bwMode="auto">
            <a:xfrm>
              <a:off x="1632" y="2688"/>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26" name="Oval 47"/>
            <p:cNvSpPr>
              <a:spLocks noChangeArrowheads="1"/>
            </p:cNvSpPr>
            <p:nvPr/>
          </p:nvSpPr>
          <p:spPr bwMode="auto">
            <a:xfrm>
              <a:off x="816" y="2208"/>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27" name="Oval 48"/>
            <p:cNvSpPr>
              <a:spLocks noChangeArrowheads="1"/>
            </p:cNvSpPr>
            <p:nvPr/>
          </p:nvSpPr>
          <p:spPr bwMode="auto">
            <a:xfrm>
              <a:off x="1344" y="2448"/>
              <a:ext cx="96" cy="96"/>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10283"/>
                                        </p:tgtEl>
                                        <p:attrNameLst>
                                          <p:attrName>style.visibility</p:attrName>
                                        </p:attrNameLst>
                                      </p:cBhvr>
                                      <p:to>
                                        <p:strVal val="visible"/>
                                      </p:to>
                                    </p:set>
                                    <p:animEffect transition="in" filter="wipe(up)">
                                      <p:cBhvr>
                                        <p:cTn id="7" dur="500"/>
                                        <p:tgtEl>
                                          <p:spTgt spid="310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8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BFS Algorithm</a:t>
            </a:r>
          </a:p>
        </p:txBody>
      </p:sp>
      <p:sp>
        <p:nvSpPr>
          <p:cNvPr id="88067" name="Text Box 3"/>
          <p:cNvSpPr txBox="1">
            <a:spLocks noChangeArrowheads="1"/>
          </p:cNvSpPr>
          <p:nvPr/>
        </p:nvSpPr>
        <p:spPr bwMode="auto">
          <a:xfrm>
            <a:off x="152400" y="838200"/>
            <a:ext cx="8839200" cy="5680075"/>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457200" indent="-457200" defTabSz="439738">
              <a:defRPr sz="1600">
                <a:solidFill>
                  <a:schemeClr val="tx1"/>
                </a:solidFill>
                <a:latin typeface="Times New Roman" pitchFamily="18" charset="0"/>
              </a:defRPr>
            </a:lvl1pPr>
            <a:lvl2pPr marL="742950" indent="-285750" defTabSz="439738">
              <a:defRPr sz="1600">
                <a:solidFill>
                  <a:schemeClr val="tx1"/>
                </a:solidFill>
                <a:latin typeface="Times New Roman" pitchFamily="18" charset="0"/>
              </a:defRPr>
            </a:lvl2pPr>
            <a:lvl3pPr marL="1143000" indent="-228600" defTabSz="439738">
              <a:defRPr sz="1600">
                <a:solidFill>
                  <a:schemeClr val="tx1"/>
                </a:solidFill>
                <a:latin typeface="Times New Roman" pitchFamily="18" charset="0"/>
              </a:defRPr>
            </a:lvl3pPr>
            <a:lvl4pPr marL="1600200" indent="-228600" defTabSz="439738">
              <a:defRPr sz="1600">
                <a:solidFill>
                  <a:schemeClr val="tx1"/>
                </a:solidFill>
                <a:latin typeface="Times New Roman" pitchFamily="18" charset="0"/>
              </a:defRPr>
            </a:lvl4pPr>
            <a:lvl5pPr marL="2057400" indent="-228600" defTabSz="439738">
              <a:defRPr sz="1600">
                <a:solidFill>
                  <a:schemeClr val="tx1"/>
                </a:solidFill>
                <a:latin typeface="Times New Roman" pitchFamily="18" charset="0"/>
              </a:defRPr>
            </a:lvl5pPr>
            <a:lvl6pPr marL="2514600" indent="-228600" defTabSz="439738" eaLnBrk="0" fontAlgn="base" hangingPunct="0">
              <a:spcBef>
                <a:spcPct val="0"/>
              </a:spcBef>
              <a:spcAft>
                <a:spcPct val="0"/>
              </a:spcAft>
              <a:buChar char="•"/>
              <a:defRPr sz="1600">
                <a:solidFill>
                  <a:schemeClr val="tx1"/>
                </a:solidFill>
                <a:latin typeface="Times New Roman" pitchFamily="18" charset="0"/>
              </a:defRPr>
            </a:lvl6pPr>
            <a:lvl7pPr marL="2971800" indent="-228600" defTabSz="439738" eaLnBrk="0" fontAlgn="base" hangingPunct="0">
              <a:spcBef>
                <a:spcPct val="0"/>
              </a:spcBef>
              <a:spcAft>
                <a:spcPct val="0"/>
              </a:spcAft>
              <a:buChar char="•"/>
              <a:defRPr sz="1600">
                <a:solidFill>
                  <a:schemeClr val="tx1"/>
                </a:solidFill>
                <a:latin typeface="Times New Roman" pitchFamily="18" charset="0"/>
              </a:defRPr>
            </a:lvl7pPr>
            <a:lvl8pPr marL="3429000" indent="-228600" defTabSz="439738" eaLnBrk="0" fontAlgn="base" hangingPunct="0">
              <a:spcBef>
                <a:spcPct val="0"/>
              </a:spcBef>
              <a:spcAft>
                <a:spcPct val="0"/>
              </a:spcAft>
              <a:buChar char="•"/>
              <a:defRPr sz="1600">
                <a:solidFill>
                  <a:schemeClr val="tx1"/>
                </a:solidFill>
                <a:latin typeface="Times New Roman" pitchFamily="18" charset="0"/>
              </a:defRPr>
            </a:lvl8pPr>
            <a:lvl9pPr marL="3886200" indent="-228600" defTabSz="439738"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2000" b="1" dirty="0"/>
              <a:t>Algorithm</a:t>
            </a:r>
            <a:r>
              <a:rPr lang="en-US" sz="2000" dirty="0">
                <a:solidFill>
                  <a:schemeClr val="hlink"/>
                </a:solidFill>
              </a:rPr>
              <a:t>  </a:t>
            </a:r>
            <a:r>
              <a:rPr lang="en-US" sz="2000" b="1" dirty="0">
                <a:solidFill>
                  <a:schemeClr val="hlink"/>
                </a:solidFill>
              </a:rPr>
              <a:t>BFS</a:t>
            </a:r>
            <a:r>
              <a:rPr lang="en-US" sz="2000" dirty="0">
                <a:solidFill>
                  <a:schemeClr val="hlink"/>
                </a:solidFill>
              </a:rPr>
              <a:t>( </a:t>
            </a:r>
            <a:r>
              <a:rPr lang="en-US" sz="2000" dirty="0">
                <a:solidFill>
                  <a:schemeClr val="hlink"/>
                </a:solidFill>
                <a:sym typeface="Symbol" pitchFamily="18" charset="2"/>
              </a:rPr>
              <a:t>G, s </a:t>
            </a:r>
            <a:r>
              <a:rPr lang="en-US" sz="2000" dirty="0">
                <a:solidFill>
                  <a:schemeClr val="hlink"/>
                </a:solidFill>
              </a:rPr>
              <a:t>)</a:t>
            </a:r>
            <a:r>
              <a:rPr lang="en-US" sz="2000" dirty="0">
                <a:solidFill>
                  <a:schemeClr val="tx2"/>
                </a:solidFill>
              </a:rPr>
              <a:t> </a:t>
            </a:r>
          </a:p>
          <a:p>
            <a:pPr eaLnBrk="1" hangingPunct="1">
              <a:buFontTx/>
              <a:buAutoNum type="arabicPeriod"/>
            </a:pPr>
            <a:r>
              <a:rPr lang="en-US" sz="2000" dirty="0">
                <a:solidFill>
                  <a:srgbClr val="CC0000"/>
                </a:solidFill>
              </a:rPr>
              <a:t> </a:t>
            </a:r>
            <a:r>
              <a:rPr lang="en-US" sz="2000" b="1" dirty="0"/>
              <a:t>for</a:t>
            </a:r>
            <a:r>
              <a:rPr lang="en-US" sz="2000" dirty="0">
                <a:solidFill>
                  <a:schemeClr val="hlink"/>
                </a:solidFill>
              </a:rPr>
              <a:t>  each vertex </a:t>
            </a:r>
            <a:r>
              <a:rPr lang="en-US" sz="2000" dirty="0">
                <a:solidFill>
                  <a:schemeClr val="hlink"/>
                </a:solidFill>
                <a:sym typeface="Symbol" pitchFamily="18" charset="2"/>
              </a:rPr>
              <a:t>v  V(G)   </a:t>
            </a:r>
            <a:r>
              <a:rPr lang="en-US" sz="2000" b="1" dirty="0"/>
              <a:t>do 			</a:t>
            </a:r>
            <a:r>
              <a:rPr lang="en-US" sz="2000" dirty="0">
                <a:solidFill>
                  <a:srgbClr val="CC0000"/>
                </a:solidFill>
                <a:cs typeface="Arial" pitchFamily="34" charset="0"/>
              </a:rPr>
              <a:t>§ </a:t>
            </a:r>
            <a:r>
              <a:rPr lang="en-US" sz="2000" dirty="0">
                <a:solidFill>
                  <a:srgbClr val="CC0000"/>
                </a:solidFill>
              </a:rPr>
              <a:t>initialize </a:t>
            </a:r>
            <a:r>
              <a:rPr lang="en-US" sz="2000" b="1" dirty="0"/>
              <a:t/>
            </a:r>
            <a:br>
              <a:rPr lang="en-US" sz="2000" b="1" dirty="0"/>
            </a:br>
            <a:r>
              <a:rPr lang="en-US" sz="2000" dirty="0">
                <a:solidFill>
                  <a:srgbClr val="CC0000"/>
                </a:solidFill>
              </a:rPr>
              <a:t> 	</a:t>
            </a:r>
            <a:r>
              <a:rPr lang="en-US" sz="2000" dirty="0">
                <a:solidFill>
                  <a:schemeClr val="hlink"/>
                </a:solidFill>
                <a:sym typeface="Symbol" pitchFamily="18" charset="2"/>
              </a:rPr>
              <a:t></a:t>
            </a:r>
            <a:r>
              <a:rPr lang="en-US" sz="2000" dirty="0">
                <a:solidFill>
                  <a:schemeClr val="hlink"/>
                </a:solidFill>
              </a:rPr>
              <a:t>color[v], d[v], </a:t>
            </a:r>
            <a:r>
              <a:rPr lang="en-US" sz="2000" dirty="0">
                <a:solidFill>
                  <a:schemeClr val="hlink"/>
                </a:solidFill>
                <a:latin typeface="Symbol" pitchFamily="18" charset="2"/>
              </a:rPr>
              <a:t>p</a:t>
            </a:r>
            <a:r>
              <a:rPr lang="en-US" sz="2000" dirty="0">
                <a:solidFill>
                  <a:schemeClr val="hlink"/>
                </a:solidFill>
              </a:rPr>
              <a:t>[v]</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a:t>
            </a:r>
            <a:r>
              <a:rPr lang="en-US" dirty="0">
                <a:solidFill>
                  <a:schemeClr val="hlink"/>
                </a:solidFill>
              </a:rPr>
              <a:t>WHITE</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nil</a:t>
            </a:r>
            <a:r>
              <a:rPr lang="en-US" sz="2000" dirty="0">
                <a:solidFill>
                  <a:schemeClr val="hlink"/>
                </a:solidFill>
                <a:sym typeface="Symbol" pitchFamily="18" charset="2"/>
              </a:rPr>
              <a:t></a:t>
            </a:r>
            <a:r>
              <a:rPr lang="en-US" sz="2000" dirty="0">
                <a:solidFill>
                  <a:schemeClr val="tx2"/>
                </a:solidFill>
              </a:rPr>
              <a:t> </a:t>
            </a:r>
            <a:br>
              <a:rPr lang="en-US" sz="2000" dirty="0">
                <a:solidFill>
                  <a:schemeClr val="tx2"/>
                </a:solidFill>
              </a:rPr>
            </a:br>
            <a:r>
              <a:rPr lang="en-US" sz="2000" dirty="0">
                <a:solidFill>
                  <a:schemeClr val="tx2"/>
                </a:solidFill>
              </a:rPr>
              <a:t>	</a:t>
            </a:r>
            <a:endParaRPr lang="en-US" sz="2000" dirty="0">
              <a:solidFill>
                <a:srgbClr val="CC0000"/>
              </a:solidFill>
              <a:cs typeface="Arial" pitchFamily="34" charset="0"/>
            </a:endParaRPr>
          </a:p>
          <a:p>
            <a:pPr eaLnBrk="1" hangingPunct="1">
              <a:buFontTx/>
              <a:buAutoNum type="arabicPeriod"/>
            </a:pPr>
            <a:r>
              <a:rPr lang="en-US" sz="2000" dirty="0">
                <a:solidFill>
                  <a:srgbClr val="CC0000"/>
                </a:solidFill>
                <a:cs typeface="Arial" pitchFamily="34" charset="0"/>
              </a:rPr>
              <a:t> </a:t>
            </a:r>
            <a:r>
              <a:rPr lang="en-US" sz="2000" dirty="0">
                <a:solidFill>
                  <a:schemeClr val="hlink"/>
                </a:solidFill>
                <a:sym typeface="Symbol" pitchFamily="18" charset="2"/>
              </a:rPr>
              <a:t></a:t>
            </a:r>
            <a:r>
              <a:rPr lang="en-US" sz="2000" dirty="0">
                <a:solidFill>
                  <a:schemeClr val="hlink"/>
                </a:solidFill>
              </a:rPr>
              <a:t>color[s], d[s]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a:t>
            </a:r>
            <a:r>
              <a:rPr lang="en-US" dirty="0">
                <a:solidFill>
                  <a:schemeClr val="hlink"/>
                </a:solidFill>
              </a:rPr>
              <a:t>GRAY</a:t>
            </a:r>
            <a:r>
              <a:rPr lang="en-US" sz="2000" dirty="0">
                <a:solidFill>
                  <a:schemeClr val="hlink"/>
                </a:solidFill>
              </a:rPr>
              <a:t>, </a:t>
            </a:r>
            <a:r>
              <a:rPr lang="en-US" sz="2000" dirty="0">
                <a:solidFill>
                  <a:schemeClr val="hlink"/>
                </a:solidFill>
                <a:sym typeface="Symbol" pitchFamily="18" charset="2"/>
              </a:rPr>
              <a:t>0 			 	</a:t>
            </a:r>
            <a:r>
              <a:rPr lang="en-US" sz="2000" dirty="0">
                <a:solidFill>
                  <a:srgbClr val="CC0000"/>
                </a:solidFill>
                <a:cs typeface="Arial" pitchFamily="34" charset="0"/>
              </a:rPr>
              <a:t>§ </a:t>
            </a:r>
            <a:r>
              <a:rPr lang="en-US" sz="2000" dirty="0">
                <a:solidFill>
                  <a:srgbClr val="CC0000"/>
                </a:solidFill>
              </a:rPr>
              <a:t>s is the first frontier vertex </a:t>
            </a:r>
            <a:endParaRPr lang="en-US" sz="2000" dirty="0">
              <a:solidFill>
                <a:srgbClr val="CC0000"/>
              </a:solidFill>
              <a:sym typeface="Symbol" pitchFamily="18" charset="2"/>
            </a:endParaRP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Q</a:t>
            </a:r>
            <a:r>
              <a:rPr lang="en-US" sz="2000" dirty="0">
                <a:solidFill>
                  <a:schemeClr val="hlink"/>
                </a:solidFill>
              </a:rPr>
              <a:t> </a:t>
            </a:r>
            <a:r>
              <a:rPr lang="en-US" sz="2000" dirty="0">
                <a:solidFill>
                  <a:schemeClr val="hlink"/>
                </a:solidFill>
                <a:sym typeface="Symbol" pitchFamily="18" charset="2"/>
              </a:rPr>
              <a:t> ;  </a:t>
            </a:r>
            <a:r>
              <a:rPr lang="en-US" sz="2000" dirty="0" err="1">
                <a:solidFill>
                  <a:schemeClr val="hlink"/>
                </a:solidFill>
                <a:sym typeface="Symbol" pitchFamily="18" charset="2"/>
              </a:rPr>
              <a:t>Enqueue</a:t>
            </a:r>
            <a:r>
              <a:rPr lang="en-US" sz="2000" dirty="0">
                <a:solidFill>
                  <a:schemeClr val="hlink"/>
                </a:solidFill>
                <a:sym typeface="Symbol" pitchFamily="18" charset="2"/>
              </a:rPr>
              <a:t>(s, Q)</a:t>
            </a:r>
            <a:br>
              <a:rPr lang="en-US" sz="2000" dirty="0">
                <a:solidFill>
                  <a:schemeClr val="hlink"/>
                </a:solidFill>
                <a:sym typeface="Symbol" pitchFamily="18" charset="2"/>
              </a:rPr>
            </a:br>
            <a:endParaRPr lang="en-US" sz="2000" dirty="0">
              <a:solidFill>
                <a:schemeClr val="hlink"/>
              </a:solidFill>
              <a:cs typeface="Arial" pitchFamily="34" charset="0"/>
            </a:endParaRPr>
          </a:p>
          <a:p>
            <a:pPr eaLnBrk="1" hangingPunct="1">
              <a:buFontTx/>
              <a:buAutoNum type="arabicPeriod"/>
            </a:pPr>
            <a:r>
              <a:rPr lang="en-US" sz="2000" dirty="0">
                <a:solidFill>
                  <a:srgbClr val="CC0000"/>
                </a:solidFill>
                <a:cs typeface="Arial" pitchFamily="34" charset="0"/>
              </a:rPr>
              <a:t> </a:t>
            </a:r>
            <a:r>
              <a:rPr lang="en-US" sz="2000" b="1" dirty="0"/>
              <a:t>while</a:t>
            </a:r>
            <a:r>
              <a:rPr lang="en-US" sz="2000" dirty="0">
                <a:solidFill>
                  <a:schemeClr val="hlink"/>
                </a:solidFill>
              </a:rPr>
              <a:t> </a:t>
            </a:r>
            <a:r>
              <a:rPr lang="en-US" sz="2000" dirty="0">
                <a:solidFill>
                  <a:schemeClr val="hlink"/>
                </a:solidFill>
                <a:sym typeface="Symbol" pitchFamily="18" charset="2"/>
              </a:rPr>
              <a:t>Q    </a:t>
            </a:r>
            <a:r>
              <a:rPr lang="en-US" sz="2000" b="1" dirty="0"/>
              <a:t>do</a:t>
            </a:r>
            <a:r>
              <a:rPr lang="en-US" sz="2000" dirty="0">
                <a:solidFill>
                  <a:srgbClr val="CC0000"/>
                </a:solidFill>
                <a:cs typeface="Arial" pitchFamily="34" charset="0"/>
              </a:rPr>
              <a:t> 						§ </a:t>
            </a:r>
            <a:r>
              <a:rPr lang="en-US" sz="2000" dirty="0">
                <a:solidFill>
                  <a:srgbClr val="CC0000"/>
                </a:solidFill>
              </a:rPr>
              <a:t>advance frontier</a:t>
            </a:r>
            <a:endParaRPr lang="en-US" sz="2000" dirty="0">
              <a:solidFill>
                <a:srgbClr val="CC0000"/>
              </a:solidFill>
              <a:cs typeface="Arial" pitchFamily="34" charset="0"/>
            </a:endParaRPr>
          </a:p>
          <a:p>
            <a:pPr eaLnBrk="1" hangingPunct="1">
              <a:buFontTx/>
              <a:buAutoNum type="arabicPeriod"/>
            </a:pPr>
            <a:r>
              <a:rPr lang="en-US" sz="2000" dirty="0">
                <a:solidFill>
                  <a:srgbClr val="CC0000"/>
                </a:solidFill>
              </a:rPr>
              <a:t>	</a:t>
            </a:r>
            <a:r>
              <a:rPr lang="en-US" sz="2000" dirty="0">
                <a:solidFill>
                  <a:schemeClr val="hlink"/>
                </a:solidFill>
              </a:rPr>
              <a:t>u </a:t>
            </a:r>
            <a:r>
              <a:rPr lang="en-US" sz="2000" dirty="0">
                <a:solidFill>
                  <a:schemeClr val="hlink"/>
                </a:solidFill>
                <a:sym typeface="Symbol" pitchFamily="18" charset="2"/>
              </a:rPr>
              <a:t></a:t>
            </a:r>
            <a:r>
              <a:rPr lang="en-US" sz="2000" dirty="0">
                <a:solidFill>
                  <a:schemeClr val="hlink"/>
                </a:solidFill>
              </a:rPr>
              <a:t> </a:t>
            </a:r>
            <a:r>
              <a:rPr lang="en-US" sz="2000" dirty="0" err="1">
                <a:solidFill>
                  <a:schemeClr val="hlink"/>
                </a:solidFill>
                <a:sym typeface="Symbol" pitchFamily="18" charset="2"/>
              </a:rPr>
              <a:t>Dequeue</a:t>
            </a:r>
            <a:r>
              <a:rPr lang="en-US" sz="2000" dirty="0">
                <a:solidFill>
                  <a:schemeClr val="hlink"/>
                </a:solidFill>
                <a:sym typeface="Symbol" pitchFamily="18" charset="2"/>
              </a:rPr>
              <a:t>(Q)</a:t>
            </a:r>
            <a:r>
              <a:rPr lang="en-US" sz="2000" dirty="0">
                <a:solidFill>
                  <a:schemeClr val="hlink"/>
                </a:solidFill>
              </a:rPr>
              <a:t> </a:t>
            </a:r>
            <a:r>
              <a:rPr lang="en-US" sz="2000" dirty="0">
                <a:solidFill>
                  <a:schemeClr val="tx2"/>
                </a:solidFill>
              </a:rPr>
              <a:t>			 		</a:t>
            </a:r>
            <a:r>
              <a:rPr lang="en-US" sz="2000" dirty="0">
                <a:solidFill>
                  <a:srgbClr val="CC0000"/>
                </a:solidFill>
                <a:cs typeface="Arial" pitchFamily="34" charset="0"/>
              </a:rPr>
              <a:t>§ u = </a:t>
            </a:r>
            <a:r>
              <a:rPr lang="en-US" sz="2000" dirty="0">
                <a:solidFill>
                  <a:srgbClr val="CC0000"/>
                </a:solidFill>
              </a:rPr>
              <a:t>earliest visited frontier node</a:t>
            </a:r>
            <a:r>
              <a:rPr lang="en-US" sz="2000" dirty="0">
                <a:solidFill>
                  <a:schemeClr val="tx2"/>
                </a:solidFill>
              </a:rPr>
              <a:t>	</a:t>
            </a:r>
          </a:p>
          <a:p>
            <a:pPr eaLnBrk="1" hangingPunct="1">
              <a:buFontTx/>
              <a:buAutoNum type="arabicPeriod"/>
            </a:pPr>
            <a:r>
              <a:rPr lang="en-US" sz="2000" dirty="0">
                <a:solidFill>
                  <a:srgbClr val="CC0000"/>
                </a:solidFill>
              </a:rPr>
              <a:t> </a:t>
            </a:r>
            <a:r>
              <a:rPr lang="en-US" sz="2000" dirty="0">
                <a:solidFill>
                  <a:srgbClr val="CC0000"/>
                </a:solidFill>
                <a:cs typeface="Arial" pitchFamily="34" charset="0"/>
              </a:rPr>
              <a:t>    	</a:t>
            </a:r>
            <a:r>
              <a:rPr lang="en-US" sz="2000" b="1" dirty="0"/>
              <a:t>for</a:t>
            </a:r>
            <a:r>
              <a:rPr lang="en-US" sz="2000" dirty="0">
                <a:solidFill>
                  <a:schemeClr val="hlink"/>
                </a:solidFill>
              </a:rPr>
              <a:t> each vertex </a:t>
            </a:r>
            <a:r>
              <a:rPr lang="en-US" sz="2000" dirty="0">
                <a:solidFill>
                  <a:schemeClr val="hlink"/>
                </a:solidFill>
                <a:sym typeface="Symbol" pitchFamily="18" charset="2"/>
              </a:rPr>
              <a:t>v  </a:t>
            </a:r>
            <a:r>
              <a:rPr lang="en-US" sz="2000" dirty="0" err="1">
                <a:solidFill>
                  <a:schemeClr val="hlink"/>
                </a:solidFill>
                <a:sym typeface="Symbol" pitchFamily="18" charset="2"/>
              </a:rPr>
              <a:t>Adj</a:t>
            </a:r>
            <a:r>
              <a:rPr lang="en-US" sz="2000" dirty="0">
                <a:solidFill>
                  <a:schemeClr val="hlink"/>
                </a:solidFill>
                <a:sym typeface="Symbol" pitchFamily="18" charset="2"/>
              </a:rPr>
              <a:t>[u] </a:t>
            </a:r>
            <a:r>
              <a:rPr lang="en-US" sz="2000" b="1" dirty="0"/>
              <a:t>do</a:t>
            </a:r>
            <a:r>
              <a:rPr lang="en-US" sz="2000" dirty="0">
                <a:solidFill>
                  <a:srgbClr val="CC0000"/>
                </a:solidFill>
                <a:cs typeface="Arial" pitchFamily="34" charset="0"/>
              </a:rPr>
              <a:t>             	§ </a:t>
            </a:r>
            <a:r>
              <a:rPr lang="en-US" sz="2000" dirty="0">
                <a:solidFill>
                  <a:srgbClr val="CC0000"/>
                </a:solidFill>
              </a:rPr>
              <a:t>scan u: explore every edge (</a:t>
            </a:r>
            <a:r>
              <a:rPr lang="en-US" sz="2000" dirty="0" err="1">
                <a:solidFill>
                  <a:srgbClr val="CC0000"/>
                </a:solidFill>
              </a:rPr>
              <a:t>u,v</a:t>
            </a:r>
            <a:r>
              <a:rPr lang="en-US" sz="2000" dirty="0">
                <a:solidFill>
                  <a:srgbClr val="CC0000"/>
                </a:solidFill>
              </a:rPr>
              <a:t>)</a:t>
            </a:r>
          </a:p>
          <a:p>
            <a:pPr eaLnBrk="1" hangingPunct="1">
              <a:buFontTx/>
              <a:buAutoNum type="arabicPeriod"/>
            </a:pPr>
            <a:r>
              <a:rPr lang="en-US" sz="2000" dirty="0">
                <a:solidFill>
                  <a:srgbClr val="CC0000"/>
                </a:solidFill>
              </a:rPr>
              <a:t>		</a:t>
            </a:r>
            <a:r>
              <a:rPr lang="en-US" sz="2000" b="1" dirty="0">
                <a:solidFill>
                  <a:schemeClr val="tx2"/>
                </a:solidFill>
              </a:rPr>
              <a:t>if</a:t>
            </a:r>
            <a:r>
              <a:rPr lang="en-US" sz="2000" dirty="0">
                <a:solidFill>
                  <a:schemeClr val="tx2"/>
                </a:solidFill>
              </a:rPr>
              <a:t> </a:t>
            </a:r>
            <a:r>
              <a:rPr lang="en-US" sz="2000" dirty="0">
                <a:solidFill>
                  <a:schemeClr val="hlink"/>
                </a:solidFill>
              </a:rPr>
              <a:t>color[v] = </a:t>
            </a:r>
            <a:r>
              <a:rPr lang="en-US" dirty="0">
                <a:solidFill>
                  <a:schemeClr val="hlink"/>
                </a:solidFill>
              </a:rPr>
              <a:t>WHITE</a:t>
            </a:r>
            <a:r>
              <a:rPr lang="en-US" sz="2000" dirty="0">
                <a:solidFill>
                  <a:schemeClr val="hlink"/>
                </a:solidFill>
              </a:rPr>
              <a:t>  </a:t>
            </a:r>
            <a:r>
              <a:rPr lang="en-US" sz="2000" b="1" dirty="0">
                <a:solidFill>
                  <a:schemeClr val="tx2"/>
                </a:solidFill>
              </a:rPr>
              <a:t>then do 		</a:t>
            </a:r>
            <a:r>
              <a:rPr lang="en-US" sz="2000" dirty="0">
                <a:solidFill>
                  <a:srgbClr val="CC0000"/>
                </a:solidFill>
                <a:cs typeface="Arial" pitchFamily="34" charset="0"/>
              </a:rPr>
              <a:t>§ </a:t>
            </a:r>
            <a:r>
              <a:rPr lang="en-US" sz="2000" dirty="0">
                <a:solidFill>
                  <a:srgbClr val="CC0000"/>
                </a:solidFill>
              </a:rPr>
              <a:t>visit unexplored adjacent node v </a:t>
            </a:r>
            <a:endParaRPr lang="en-US" sz="2000" dirty="0">
              <a:solidFill>
                <a:schemeClr val="tx2"/>
              </a:solidFill>
            </a:endParaRP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a:t>
            </a:r>
            <a:r>
              <a:rPr lang="en-US" sz="2000" dirty="0">
                <a:solidFill>
                  <a:schemeClr val="hlink"/>
                </a:solidFill>
              </a:rPr>
              <a:t>color[v], d[v], </a:t>
            </a:r>
            <a:r>
              <a:rPr lang="en-US" sz="2000" dirty="0">
                <a:solidFill>
                  <a:schemeClr val="hlink"/>
                </a:solidFill>
                <a:latin typeface="Symbol" pitchFamily="18" charset="2"/>
              </a:rPr>
              <a:t>p</a:t>
            </a:r>
            <a:r>
              <a:rPr lang="en-US" sz="2000" dirty="0">
                <a:solidFill>
                  <a:schemeClr val="hlink"/>
                </a:solidFill>
              </a:rPr>
              <a:t>[v]</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a:t>
            </a:r>
            <a:r>
              <a:rPr lang="en-US" dirty="0">
                <a:solidFill>
                  <a:schemeClr val="hlink"/>
                </a:solidFill>
              </a:rPr>
              <a:t>GRAY</a:t>
            </a:r>
            <a:r>
              <a:rPr lang="en-US" sz="2000" dirty="0">
                <a:solidFill>
                  <a:schemeClr val="hlink"/>
                </a:solidFill>
              </a:rPr>
              <a:t>, </a:t>
            </a:r>
            <a:r>
              <a:rPr lang="en-US" sz="2000" dirty="0">
                <a:solidFill>
                  <a:schemeClr val="hlink"/>
                </a:solidFill>
                <a:sym typeface="Symbol" pitchFamily="18" charset="2"/>
              </a:rPr>
              <a:t> 1+d[u]</a:t>
            </a:r>
            <a:r>
              <a:rPr lang="en-US" sz="2000" dirty="0">
                <a:solidFill>
                  <a:schemeClr val="hlink"/>
                </a:solidFill>
              </a:rPr>
              <a:t>,  u</a:t>
            </a:r>
            <a:r>
              <a:rPr lang="en-US" sz="2000" dirty="0">
                <a:solidFill>
                  <a:schemeClr val="hlink"/>
                </a:solidFill>
                <a:sym typeface="Symbol" pitchFamily="18" charset="2"/>
              </a:rPr>
              <a:t></a:t>
            </a:r>
          </a:p>
          <a:p>
            <a:pPr eaLnBrk="1" hangingPunct="1">
              <a:buFontTx/>
              <a:buAutoNum type="arabicPeriod"/>
            </a:pPr>
            <a:r>
              <a:rPr lang="en-US" sz="2000" dirty="0">
                <a:solidFill>
                  <a:srgbClr val="CC0000"/>
                </a:solidFill>
                <a:sym typeface="Symbol" pitchFamily="18" charset="2"/>
              </a:rPr>
              <a:t> 			</a:t>
            </a:r>
            <a:r>
              <a:rPr lang="en-US" sz="2000" dirty="0" err="1">
                <a:solidFill>
                  <a:schemeClr val="hlink"/>
                </a:solidFill>
                <a:sym typeface="Symbol" pitchFamily="18" charset="2"/>
              </a:rPr>
              <a:t>Enqueue</a:t>
            </a:r>
            <a:r>
              <a:rPr lang="en-US" sz="2000" dirty="0">
                <a:solidFill>
                  <a:schemeClr val="hlink"/>
                </a:solidFill>
                <a:sym typeface="Symbol" pitchFamily="18" charset="2"/>
              </a:rPr>
              <a:t>(v, Q)</a:t>
            </a:r>
            <a:r>
              <a:rPr lang="en-US" sz="2000" dirty="0">
                <a:solidFill>
                  <a:schemeClr val="tx2"/>
                </a:solidFill>
              </a:rPr>
              <a:t> 	 			</a:t>
            </a:r>
            <a:r>
              <a:rPr lang="en-US" sz="2000" dirty="0">
                <a:solidFill>
                  <a:srgbClr val="CC0000"/>
                </a:solidFill>
                <a:cs typeface="Arial" pitchFamily="34" charset="0"/>
              </a:rPr>
              <a:t>§ v is a </a:t>
            </a:r>
            <a:r>
              <a:rPr lang="en-US" sz="2000" dirty="0">
                <a:solidFill>
                  <a:srgbClr val="CC0000"/>
                </a:solidFill>
              </a:rPr>
              <a:t>new frontier node</a:t>
            </a:r>
            <a:endParaRPr lang="en-US" sz="2000" dirty="0">
              <a:solidFill>
                <a:srgbClr val="CC0000"/>
              </a:solidFill>
              <a:cs typeface="Arial" pitchFamily="34" charset="0"/>
            </a:endParaRPr>
          </a:p>
          <a:p>
            <a:pPr eaLnBrk="1" hangingPunct="1">
              <a:buFontTx/>
              <a:buAutoNum type="arabicPeriod"/>
            </a:pPr>
            <a:r>
              <a:rPr lang="en-US" sz="2000" dirty="0">
                <a:solidFill>
                  <a:srgbClr val="CC0000"/>
                </a:solidFill>
              </a:rPr>
              <a:t> 		</a:t>
            </a:r>
            <a:r>
              <a:rPr lang="en-US" sz="2000" b="1" dirty="0"/>
              <a:t>end-if</a:t>
            </a:r>
          </a:p>
          <a:p>
            <a:pPr eaLnBrk="1" hangingPunct="1">
              <a:buFontTx/>
              <a:buAutoNum type="arabicPeriod"/>
            </a:pPr>
            <a:r>
              <a:rPr lang="en-US" sz="2000" dirty="0">
                <a:solidFill>
                  <a:srgbClr val="CC0000"/>
                </a:solidFill>
              </a:rPr>
              <a:t>	</a:t>
            </a:r>
            <a:r>
              <a:rPr lang="en-US" sz="2000" b="1" dirty="0"/>
              <a:t>end-for</a:t>
            </a:r>
          </a:p>
          <a:p>
            <a:pPr eaLnBrk="1" hangingPunct="1">
              <a:buFontTx/>
              <a:buAutoNum type="arabicPeriod"/>
            </a:pPr>
            <a:r>
              <a:rPr lang="en-US" sz="2000" dirty="0">
                <a:solidFill>
                  <a:srgbClr val="CC0000"/>
                </a:solidFill>
              </a:rPr>
              <a:t> 	</a:t>
            </a:r>
            <a:r>
              <a:rPr lang="en-US" sz="2000" dirty="0">
                <a:solidFill>
                  <a:schemeClr val="hlink"/>
                </a:solidFill>
              </a:rPr>
              <a:t>color[u] </a:t>
            </a:r>
            <a:r>
              <a:rPr lang="en-US" sz="2000" dirty="0">
                <a:solidFill>
                  <a:schemeClr val="hlink"/>
                </a:solidFill>
                <a:sym typeface="Symbol" pitchFamily="18" charset="2"/>
              </a:rPr>
              <a:t></a:t>
            </a:r>
            <a:r>
              <a:rPr lang="en-US" sz="2000" dirty="0">
                <a:solidFill>
                  <a:schemeClr val="hlink"/>
                </a:solidFill>
              </a:rPr>
              <a:t> </a:t>
            </a:r>
            <a:r>
              <a:rPr lang="en-US" dirty="0">
                <a:solidFill>
                  <a:schemeClr val="hlink"/>
                </a:solidFill>
              </a:rPr>
              <a:t>BLACK</a:t>
            </a:r>
            <a:r>
              <a:rPr lang="en-US" sz="1800" dirty="0">
                <a:solidFill>
                  <a:schemeClr val="hlink"/>
                </a:solidFill>
              </a:rPr>
              <a:t> 					</a:t>
            </a:r>
            <a:r>
              <a:rPr lang="en-US" sz="2000" dirty="0">
                <a:solidFill>
                  <a:srgbClr val="CC0000"/>
                </a:solidFill>
                <a:cs typeface="Arial" pitchFamily="34" charset="0"/>
              </a:rPr>
              <a:t>§ </a:t>
            </a:r>
            <a:r>
              <a:rPr lang="en-US" sz="2000" dirty="0">
                <a:solidFill>
                  <a:srgbClr val="CC0000"/>
                </a:solidFill>
              </a:rPr>
              <a:t>u is scanned </a:t>
            </a:r>
            <a:endParaRPr lang="en-US" sz="2000" b="1" dirty="0"/>
          </a:p>
          <a:p>
            <a:pPr eaLnBrk="1" hangingPunct="1">
              <a:buFontTx/>
              <a:buAutoNum type="arabicPeriod"/>
            </a:pPr>
            <a:r>
              <a:rPr lang="en-US" sz="2000" dirty="0">
                <a:solidFill>
                  <a:srgbClr val="CC0000"/>
                </a:solidFill>
              </a:rPr>
              <a:t> </a:t>
            </a:r>
            <a:r>
              <a:rPr lang="en-US" sz="2000" b="1" dirty="0"/>
              <a:t>end-while</a:t>
            </a:r>
          </a:p>
          <a:p>
            <a:pPr eaLnBrk="1" hangingPunct="1">
              <a:buFontTx/>
              <a:buNone/>
            </a:pPr>
            <a:r>
              <a:rPr lang="en-US" sz="2000" b="1" dirty="0"/>
              <a:t>end</a:t>
            </a:r>
            <a:r>
              <a:rPr lang="en-US" sz="2000" dirty="0">
                <a:solidFill>
                  <a:schemeClr val="hlink"/>
                </a:solidFill>
              </a:rPr>
              <a:t> </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88066"/>
                                        </p:tgtEl>
                                        <p:attrNameLst>
                                          <p:attrName>style.visibility</p:attrName>
                                        </p:attrNameLst>
                                      </p:cBhvr>
                                      <p:to>
                                        <p:strVal val="visible"/>
                                      </p:to>
                                    </p:set>
                                    <p:anim calcmode="lin" valueType="num">
                                      <p:cBhvr>
                                        <p:cTn id="7" dur="500" fill="hold"/>
                                        <p:tgtEl>
                                          <p:spTgt spid="88066"/>
                                        </p:tgtEl>
                                        <p:attrNameLst>
                                          <p:attrName>ppt_w</p:attrName>
                                        </p:attrNameLst>
                                      </p:cBhvr>
                                      <p:tavLst>
                                        <p:tav tm="0">
                                          <p:val>
                                            <p:fltVal val="0"/>
                                          </p:val>
                                        </p:tav>
                                        <p:tav tm="100000">
                                          <p:val>
                                            <p:strVal val="#ppt_w"/>
                                          </p:val>
                                        </p:tav>
                                      </p:tavLst>
                                    </p:anim>
                                    <p:anim calcmode="lin" valueType="num">
                                      <p:cBhvr>
                                        <p:cTn id="8" dur="500" fill="hold"/>
                                        <p:tgtEl>
                                          <p:spTgt spid="8806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88067">
                                            <p:bg/>
                                          </p:spTgt>
                                        </p:tgtEl>
                                        <p:attrNameLst>
                                          <p:attrName>style.visibility</p:attrName>
                                        </p:attrNameLst>
                                      </p:cBhvr>
                                      <p:to>
                                        <p:strVal val="visible"/>
                                      </p:to>
                                    </p:set>
                                    <p:animEffect transition="in" filter="wipe(left)">
                                      <p:cBhvr>
                                        <p:cTn id="13" dur="500"/>
                                        <p:tgtEl>
                                          <p:spTgt spid="88067">
                                            <p:bg/>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8067">
                                            <p:txEl>
                                              <p:pRg st="0" end="0"/>
                                            </p:txEl>
                                          </p:spTgt>
                                        </p:tgtEl>
                                        <p:attrNameLst>
                                          <p:attrName>style.visibility</p:attrName>
                                        </p:attrNameLst>
                                      </p:cBhvr>
                                      <p:to>
                                        <p:strVal val="visible"/>
                                      </p:to>
                                    </p:set>
                                    <p:animEffect transition="in" filter="wipe(left)">
                                      <p:cBhvr>
                                        <p:cTn id="18" dur="500"/>
                                        <p:tgtEl>
                                          <p:spTgt spid="88067">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8067">
                                            <p:txEl>
                                              <p:pRg st="1" end="1"/>
                                            </p:txEl>
                                          </p:spTgt>
                                        </p:tgtEl>
                                        <p:attrNameLst>
                                          <p:attrName>style.visibility</p:attrName>
                                        </p:attrNameLst>
                                      </p:cBhvr>
                                      <p:to>
                                        <p:strVal val="visible"/>
                                      </p:to>
                                    </p:set>
                                    <p:animEffect transition="in" filter="wipe(left)">
                                      <p:cBhvr>
                                        <p:cTn id="23" dur="500"/>
                                        <p:tgtEl>
                                          <p:spTgt spid="88067">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88067">
                                            <p:txEl>
                                              <p:pRg st="2" end="2"/>
                                            </p:txEl>
                                          </p:spTgt>
                                        </p:tgtEl>
                                        <p:attrNameLst>
                                          <p:attrName>style.visibility</p:attrName>
                                        </p:attrNameLst>
                                      </p:cBhvr>
                                      <p:to>
                                        <p:strVal val="visible"/>
                                      </p:to>
                                    </p:set>
                                    <p:animEffect transition="in" filter="wipe(left)">
                                      <p:cBhvr>
                                        <p:cTn id="28" dur="500"/>
                                        <p:tgtEl>
                                          <p:spTgt spid="88067">
                                            <p:txEl>
                                              <p:pRg st="2" end="2"/>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88067">
                                            <p:txEl>
                                              <p:pRg st="3" end="3"/>
                                            </p:txEl>
                                          </p:spTgt>
                                        </p:tgtEl>
                                        <p:attrNameLst>
                                          <p:attrName>style.visibility</p:attrName>
                                        </p:attrNameLst>
                                      </p:cBhvr>
                                      <p:to>
                                        <p:strVal val="visible"/>
                                      </p:to>
                                    </p:set>
                                    <p:animEffect transition="in" filter="wipe(left)">
                                      <p:cBhvr>
                                        <p:cTn id="33" dur="500"/>
                                        <p:tgtEl>
                                          <p:spTgt spid="88067">
                                            <p:txEl>
                                              <p:pRg st="3" end="3"/>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88067">
                                            <p:txEl>
                                              <p:pRg st="4" end="4"/>
                                            </p:txEl>
                                          </p:spTgt>
                                        </p:tgtEl>
                                        <p:attrNameLst>
                                          <p:attrName>style.visibility</p:attrName>
                                        </p:attrNameLst>
                                      </p:cBhvr>
                                      <p:to>
                                        <p:strVal val="visible"/>
                                      </p:to>
                                    </p:set>
                                    <p:animEffect transition="in" filter="wipe(left)">
                                      <p:cBhvr>
                                        <p:cTn id="38" dur="500"/>
                                        <p:tgtEl>
                                          <p:spTgt spid="88067">
                                            <p:txEl>
                                              <p:pRg st="4" end="4"/>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88067">
                                            <p:txEl>
                                              <p:pRg st="5" end="5"/>
                                            </p:txEl>
                                          </p:spTgt>
                                        </p:tgtEl>
                                        <p:attrNameLst>
                                          <p:attrName>style.visibility</p:attrName>
                                        </p:attrNameLst>
                                      </p:cBhvr>
                                      <p:to>
                                        <p:strVal val="visible"/>
                                      </p:to>
                                    </p:set>
                                    <p:animEffect transition="in" filter="wipe(left)">
                                      <p:cBhvr>
                                        <p:cTn id="43" dur="500"/>
                                        <p:tgtEl>
                                          <p:spTgt spid="88067">
                                            <p:txEl>
                                              <p:pRg st="5" end="5"/>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88067">
                                            <p:txEl>
                                              <p:pRg st="6" end="6"/>
                                            </p:txEl>
                                          </p:spTgt>
                                        </p:tgtEl>
                                        <p:attrNameLst>
                                          <p:attrName>style.visibility</p:attrName>
                                        </p:attrNameLst>
                                      </p:cBhvr>
                                      <p:to>
                                        <p:strVal val="visible"/>
                                      </p:to>
                                    </p:set>
                                    <p:animEffect transition="in" filter="wipe(left)">
                                      <p:cBhvr>
                                        <p:cTn id="48" dur="500"/>
                                        <p:tgtEl>
                                          <p:spTgt spid="88067">
                                            <p:txEl>
                                              <p:pRg st="6" end="6"/>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88067">
                                            <p:txEl>
                                              <p:pRg st="7" end="7"/>
                                            </p:txEl>
                                          </p:spTgt>
                                        </p:tgtEl>
                                        <p:attrNameLst>
                                          <p:attrName>style.visibility</p:attrName>
                                        </p:attrNameLst>
                                      </p:cBhvr>
                                      <p:to>
                                        <p:strVal val="visible"/>
                                      </p:to>
                                    </p:set>
                                    <p:animEffect transition="in" filter="wipe(left)">
                                      <p:cBhvr>
                                        <p:cTn id="53" dur="500"/>
                                        <p:tgtEl>
                                          <p:spTgt spid="88067">
                                            <p:txEl>
                                              <p:pRg st="7" end="7"/>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88067">
                                            <p:txEl>
                                              <p:pRg st="8" end="8"/>
                                            </p:txEl>
                                          </p:spTgt>
                                        </p:tgtEl>
                                        <p:attrNameLst>
                                          <p:attrName>style.visibility</p:attrName>
                                        </p:attrNameLst>
                                      </p:cBhvr>
                                      <p:to>
                                        <p:strVal val="visible"/>
                                      </p:to>
                                    </p:set>
                                    <p:animEffect transition="in" filter="wipe(left)">
                                      <p:cBhvr>
                                        <p:cTn id="58" dur="500"/>
                                        <p:tgtEl>
                                          <p:spTgt spid="88067">
                                            <p:txEl>
                                              <p:pRg st="8" end="8"/>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88067">
                                            <p:txEl>
                                              <p:pRg st="9" end="9"/>
                                            </p:txEl>
                                          </p:spTgt>
                                        </p:tgtEl>
                                        <p:attrNameLst>
                                          <p:attrName>style.visibility</p:attrName>
                                        </p:attrNameLst>
                                      </p:cBhvr>
                                      <p:to>
                                        <p:strVal val="visible"/>
                                      </p:to>
                                    </p:set>
                                    <p:animEffect transition="in" filter="wipe(left)">
                                      <p:cBhvr>
                                        <p:cTn id="63" dur="500"/>
                                        <p:tgtEl>
                                          <p:spTgt spid="88067">
                                            <p:txEl>
                                              <p:pRg st="9" end="9"/>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88067">
                                            <p:txEl>
                                              <p:pRg st="10" end="10"/>
                                            </p:txEl>
                                          </p:spTgt>
                                        </p:tgtEl>
                                        <p:attrNameLst>
                                          <p:attrName>style.visibility</p:attrName>
                                        </p:attrNameLst>
                                      </p:cBhvr>
                                      <p:to>
                                        <p:strVal val="visible"/>
                                      </p:to>
                                    </p:set>
                                    <p:animEffect transition="in" filter="wipe(left)">
                                      <p:cBhvr>
                                        <p:cTn id="68" dur="500"/>
                                        <p:tgtEl>
                                          <p:spTgt spid="88067">
                                            <p:txEl>
                                              <p:pRg st="10" end="10"/>
                                            </p:txEl>
                                          </p:spTgt>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88067">
                                            <p:txEl>
                                              <p:pRg st="11" end="11"/>
                                            </p:txEl>
                                          </p:spTgt>
                                        </p:tgtEl>
                                        <p:attrNameLst>
                                          <p:attrName>style.visibility</p:attrName>
                                        </p:attrNameLst>
                                      </p:cBhvr>
                                      <p:to>
                                        <p:strVal val="visible"/>
                                      </p:to>
                                    </p:set>
                                    <p:animEffect transition="in" filter="wipe(left)">
                                      <p:cBhvr>
                                        <p:cTn id="73" dur="500"/>
                                        <p:tgtEl>
                                          <p:spTgt spid="88067">
                                            <p:txEl>
                                              <p:pRg st="11" end="11"/>
                                            </p:txEl>
                                          </p:spTgt>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88067">
                                            <p:txEl>
                                              <p:pRg st="12" end="12"/>
                                            </p:txEl>
                                          </p:spTgt>
                                        </p:tgtEl>
                                        <p:attrNameLst>
                                          <p:attrName>style.visibility</p:attrName>
                                        </p:attrNameLst>
                                      </p:cBhvr>
                                      <p:to>
                                        <p:strVal val="visible"/>
                                      </p:to>
                                    </p:set>
                                    <p:animEffect transition="in" filter="wipe(left)">
                                      <p:cBhvr>
                                        <p:cTn id="78" dur="500"/>
                                        <p:tgtEl>
                                          <p:spTgt spid="88067">
                                            <p:txEl>
                                              <p:pRg st="12" end="12"/>
                                            </p:txEl>
                                          </p:spTgt>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88067">
                                            <p:txEl>
                                              <p:pRg st="13" end="13"/>
                                            </p:txEl>
                                          </p:spTgt>
                                        </p:tgtEl>
                                        <p:attrNameLst>
                                          <p:attrName>style.visibility</p:attrName>
                                        </p:attrNameLst>
                                      </p:cBhvr>
                                      <p:to>
                                        <p:strVal val="visible"/>
                                      </p:to>
                                    </p:set>
                                    <p:animEffect transition="in" filter="wipe(left)">
                                      <p:cBhvr>
                                        <p:cTn id="83" dur="500"/>
                                        <p:tgtEl>
                                          <p:spTgt spid="88067">
                                            <p:txEl>
                                              <p:pRg st="13" end="13"/>
                                            </p:txEl>
                                          </p:spTgt>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88067">
                                            <p:txEl>
                                              <p:pRg st="14" end="14"/>
                                            </p:txEl>
                                          </p:spTgt>
                                        </p:tgtEl>
                                        <p:attrNameLst>
                                          <p:attrName>style.visibility</p:attrName>
                                        </p:attrNameLst>
                                      </p:cBhvr>
                                      <p:to>
                                        <p:strVal val="visible"/>
                                      </p:to>
                                    </p:set>
                                    <p:animEffect transition="in" filter="wipe(left)">
                                      <p:cBhvr>
                                        <p:cTn id="88" dur="500"/>
                                        <p:tgtEl>
                                          <p:spTgt spid="88067">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animBg="1" autoUpdateAnimBg="0"/>
      <p:bldP spid="88067" grpId="0" build="p"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45"/>
          <p:cNvSpPr>
            <a:spLocks noChangeArrowheads="1"/>
          </p:cNvSpPr>
          <p:nvPr/>
        </p:nvSpPr>
        <p:spPr bwMode="auto">
          <a:xfrm>
            <a:off x="4953000" y="4953000"/>
            <a:ext cx="1600200" cy="685800"/>
          </a:xfrm>
          <a:prstGeom prst="rect">
            <a:avLst/>
          </a:prstGeom>
          <a:solidFill>
            <a:schemeClr val="bg1"/>
          </a:solidFill>
          <a:ln w="19050">
            <a:solidFill>
              <a:srgbClr val="96969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8435" name="Freeform 128"/>
          <p:cNvSpPr>
            <a:spLocks/>
          </p:cNvSpPr>
          <p:nvPr/>
        </p:nvSpPr>
        <p:spPr bwMode="auto">
          <a:xfrm>
            <a:off x="188913" y="1641475"/>
            <a:ext cx="725487" cy="2701925"/>
          </a:xfrm>
          <a:custGeom>
            <a:avLst/>
            <a:gdLst>
              <a:gd name="T0" fmla="*/ 725487 w 457"/>
              <a:gd name="T1" fmla="*/ 2701925 h 1702"/>
              <a:gd name="T2" fmla="*/ 20637 w 457"/>
              <a:gd name="T3" fmla="*/ 1249363 h 1702"/>
              <a:gd name="T4" fmla="*/ 600075 w 457"/>
              <a:gd name="T5" fmla="*/ 0 h 1702"/>
              <a:gd name="T6" fmla="*/ 0 60000 65536"/>
              <a:gd name="T7" fmla="*/ 0 60000 65536"/>
              <a:gd name="T8" fmla="*/ 0 60000 65536"/>
            </a:gdLst>
            <a:ahLst/>
            <a:cxnLst>
              <a:cxn ang="T6">
                <a:pos x="T0" y="T1"/>
              </a:cxn>
              <a:cxn ang="T7">
                <a:pos x="T2" y="T3"/>
              </a:cxn>
              <a:cxn ang="T8">
                <a:pos x="T4" y="T5"/>
              </a:cxn>
            </a:cxnLst>
            <a:rect l="0" t="0" r="r" b="b"/>
            <a:pathLst>
              <a:path w="457" h="1702">
                <a:moveTo>
                  <a:pt x="457" y="1702"/>
                </a:moveTo>
                <a:cubicBezTo>
                  <a:pt x="383" y="1550"/>
                  <a:pt x="26" y="1071"/>
                  <a:pt x="13" y="787"/>
                </a:cubicBezTo>
                <a:cubicBezTo>
                  <a:pt x="0" y="503"/>
                  <a:pt x="302" y="164"/>
                  <a:pt x="378" y="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49" name="Freeform 129"/>
          <p:cNvSpPr>
            <a:spLocks/>
          </p:cNvSpPr>
          <p:nvPr/>
        </p:nvSpPr>
        <p:spPr bwMode="auto">
          <a:xfrm>
            <a:off x="206375" y="1620838"/>
            <a:ext cx="693738" cy="2681287"/>
          </a:xfrm>
          <a:custGeom>
            <a:avLst/>
            <a:gdLst>
              <a:gd name="T0" fmla="*/ 693738 w 437"/>
              <a:gd name="T1" fmla="*/ 2681287 h 1689"/>
              <a:gd name="T2" fmla="*/ 14288 w 437"/>
              <a:gd name="T3" fmla="*/ 1279525 h 1689"/>
              <a:gd name="T4" fmla="*/ 603250 w 437"/>
              <a:gd name="T5" fmla="*/ 0 h 1689"/>
              <a:gd name="T6" fmla="*/ 0 60000 65536"/>
              <a:gd name="T7" fmla="*/ 0 60000 65536"/>
              <a:gd name="T8" fmla="*/ 0 60000 65536"/>
            </a:gdLst>
            <a:ahLst/>
            <a:cxnLst>
              <a:cxn ang="T6">
                <a:pos x="T0" y="T1"/>
              </a:cxn>
              <a:cxn ang="T7">
                <a:pos x="T2" y="T3"/>
              </a:cxn>
              <a:cxn ang="T8">
                <a:pos x="T4" y="T5"/>
              </a:cxn>
            </a:cxnLst>
            <a:rect l="0" t="0" r="r" b="b"/>
            <a:pathLst>
              <a:path w="437" h="1689">
                <a:moveTo>
                  <a:pt x="437" y="1689"/>
                </a:moveTo>
                <a:cubicBezTo>
                  <a:pt x="366" y="1542"/>
                  <a:pt x="18" y="1087"/>
                  <a:pt x="9" y="806"/>
                </a:cubicBezTo>
                <a:cubicBezTo>
                  <a:pt x="0" y="525"/>
                  <a:pt x="303" y="168"/>
                  <a:pt x="380" y="0"/>
                </a:cubicBezTo>
              </a:path>
            </a:pathLst>
          </a:custGeom>
          <a:noFill/>
          <a:ln w="571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7" name="Freeform 131"/>
          <p:cNvSpPr>
            <a:spLocks/>
          </p:cNvSpPr>
          <p:nvPr/>
        </p:nvSpPr>
        <p:spPr bwMode="auto">
          <a:xfrm>
            <a:off x="4114800" y="1652588"/>
            <a:ext cx="646113" cy="2692400"/>
          </a:xfrm>
          <a:custGeom>
            <a:avLst/>
            <a:gdLst>
              <a:gd name="T0" fmla="*/ 0 w 407"/>
              <a:gd name="T1" fmla="*/ 2692400 h 1696"/>
              <a:gd name="T2" fmla="*/ 636588 w 407"/>
              <a:gd name="T3" fmla="*/ 1250950 h 1696"/>
              <a:gd name="T4" fmla="*/ 57150 w 407"/>
              <a:gd name="T5" fmla="*/ 0 h 1696"/>
              <a:gd name="T6" fmla="*/ 0 60000 65536"/>
              <a:gd name="T7" fmla="*/ 0 60000 65536"/>
              <a:gd name="T8" fmla="*/ 0 60000 65536"/>
            </a:gdLst>
            <a:ahLst/>
            <a:cxnLst>
              <a:cxn ang="T6">
                <a:pos x="T0" y="T1"/>
              </a:cxn>
              <a:cxn ang="T7">
                <a:pos x="T2" y="T3"/>
              </a:cxn>
              <a:cxn ang="T8">
                <a:pos x="T4" y="T5"/>
              </a:cxn>
            </a:cxnLst>
            <a:rect l="0" t="0" r="r" b="b"/>
            <a:pathLst>
              <a:path w="407" h="1696">
                <a:moveTo>
                  <a:pt x="0" y="1696"/>
                </a:moveTo>
                <a:cubicBezTo>
                  <a:pt x="67" y="1545"/>
                  <a:pt x="395" y="1071"/>
                  <a:pt x="401" y="788"/>
                </a:cubicBezTo>
                <a:cubicBezTo>
                  <a:pt x="407" y="505"/>
                  <a:pt x="112" y="164"/>
                  <a:pt x="36" y="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50" name="Freeform 130"/>
          <p:cNvSpPr>
            <a:spLocks/>
          </p:cNvSpPr>
          <p:nvPr/>
        </p:nvSpPr>
        <p:spPr bwMode="auto">
          <a:xfrm>
            <a:off x="4151313" y="1600200"/>
            <a:ext cx="601662" cy="2679700"/>
          </a:xfrm>
          <a:custGeom>
            <a:avLst/>
            <a:gdLst>
              <a:gd name="T0" fmla="*/ 0 w 379"/>
              <a:gd name="T1" fmla="*/ 2679700 h 1688"/>
              <a:gd name="T2" fmla="*/ 600075 w 379"/>
              <a:gd name="T3" fmla="*/ 1282700 h 1688"/>
              <a:gd name="T4" fmla="*/ 11112 w 379"/>
              <a:gd name="T5" fmla="*/ 0 h 1688"/>
              <a:gd name="T6" fmla="*/ 0 60000 65536"/>
              <a:gd name="T7" fmla="*/ 0 60000 65536"/>
              <a:gd name="T8" fmla="*/ 0 60000 65536"/>
            </a:gdLst>
            <a:ahLst/>
            <a:cxnLst>
              <a:cxn ang="T6">
                <a:pos x="T0" y="T1"/>
              </a:cxn>
              <a:cxn ang="T7">
                <a:pos x="T2" y="T3"/>
              </a:cxn>
              <a:cxn ang="T8">
                <a:pos x="T4" y="T5"/>
              </a:cxn>
            </a:cxnLst>
            <a:rect l="0" t="0" r="r" b="b"/>
            <a:pathLst>
              <a:path w="379" h="1688">
                <a:moveTo>
                  <a:pt x="0" y="1688"/>
                </a:moveTo>
                <a:cubicBezTo>
                  <a:pt x="63" y="1541"/>
                  <a:pt x="377" y="1089"/>
                  <a:pt x="378" y="808"/>
                </a:cubicBezTo>
                <a:cubicBezTo>
                  <a:pt x="379" y="527"/>
                  <a:pt x="84" y="168"/>
                  <a:pt x="7" y="0"/>
                </a:cubicBezTo>
              </a:path>
            </a:pathLst>
          </a:custGeom>
          <a:noFill/>
          <a:ln w="571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nvGrpSpPr>
          <p:cNvPr id="18439" name="Group 2"/>
          <p:cNvGrpSpPr>
            <a:grpSpLocks/>
          </p:cNvGrpSpPr>
          <p:nvPr/>
        </p:nvGrpSpPr>
        <p:grpSpPr bwMode="auto">
          <a:xfrm>
            <a:off x="228600" y="685800"/>
            <a:ext cx="4462463" cy="4352925"/>
            <a:chOff x="528" y="465"/>
            <a:chExt cx="2811" cy="2742"/>
          </a:xfrm>
        </p:grpSpPr>
        <p:sp>
          <p:nvSpPr>
            <p:cNvPr id="18542" name="Rectangle 3"/>
            <p:cNvSpPr>
              <a:spLocks noChangeArrowheads="1"/>
            </p:cNvSpPr>
            <p:nvPr/>
          </p:nvSpPr>
          <p:spPr bwMode="auto">
            <a:xfrm>
              <a:off x="906" y="513"/>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a:t>
              </a:r>
            </a:p>
          </p:txBody>
        </p:sp>
        <p:sp>
          <p:nvSpPr>
            <p:cNvPr id="18543" name="Rectangle 4"/>
            <p:cNvSpPr>
              <a:spLocks noChangeArrowheads="1"/>
            </p:cNvSpPr>
            <p:nvPr/>
          </p:nvSpPr>
          <p:spPr bwMode="auto">
            <a:xfrm>
              <a:off x="1825" y="513"/>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a:t>
              </a:r>
            </a:p>
          </p:txBody>
        </p:sp>
        <p:sp>
          <p:nvSpPr>
            <p:cNvPr id="18544" name="Rectangle 5"/>
            <p:cNvSpPr>
              <a:spLocks noChangeArrowheads="1"/>
            </p:cNvSpPr>
            <p:nvPr/>
          </p:nvSpPr>
          <p:spPr bwMode="auto">
            <a:xfrm>
              <a:off x="2785" y="465"/>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a:t>
              </a:r>
            </a:p>
          </p:txBody>
        </p:sp>
        <p:sp>
          <p:nvSpPr>
            <p:cNvPr id="18545" name="Rectangle 6"/>
            <p:cNvSpPr>
              <a:spLocks noChangeArrowheads="1"/>
            </p:cNvSpPr>
            <p:nvPr/>
          </p:nvSpPr>
          <p:spPr bwMode="auto">
            <a:xfrm>
              <a:off x="528" y="1728"/>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a:t>
              </a:r>
            </a:p>
          </p:txBody>
        </p:sp>
        <p:sp>
          <p:nvSpPr>
            <p:cNvPr id="18546" name="Rectangle 7"/>
            <p:cNvSpPr>
              <a:spLocks noChangeArrowheads="1"/>
            </p:cNvSpPr>
            <p:nvPr/>
          </p:nvSpPr>
          <p:spPr bwMode="auto">
            <a:xfrm>
              <a:off x="2016" y="1488"/>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a:t>
              </a:r>
            </a:p>
          </p:txBody>
        </p:sp>
        <p:sp>
          <p:nvSpPr>
            <p:cNvPr id="18547" name="Rectangle 8"/>
            <p:cNvSpPr>
              <a:spLocks noChangeArrowheads="1"/>
            </p:cNvSpPr>
            <p:nvPr/>
          </p:nvSpPr>
          <p:spPr bwMode="auto">
            <a:xfrm>
              <a:off x="3120" y="1728"/>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a:t>
              </a:r>
            </a:p>
          </p:txBody>
        </p:sp>
        <p:sp>
          <p:nvSpPr>
            <p:cNvPr id="18548" name="Rectangle 9"/>
            <p:cNvSpPr>
              <a:spLocks noChangeArrowheads="1"/>
            </p:cNvSpPr>
            <p:nvPr/>
          </p:nvSpPr>
          <p:spPr bwMode="auto">
            <a:xfrm>
              <a:off x="864" y="2976"/>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a:t>
              </a:r>
            </a:p>
          </p:txBody>
        </p:sp>
        <p:sp>
          <p:nvSpPr>
            <p:cNvPr id="18549" name="Rectangle 10"/>
            <p:cNvSpPr>
              <a:spLocks noChangeArrowheads="1"/>
            </p:cNvSpPr>
            <p:nvPr/>
          </p:nvSpPr>
          <p:spPr bwMode="auto">
            <a:xfrm>
              <a:off x="1824" y="2928"/>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a:t>
              </a:r>
            </a:p>
          </p:txBody>
        </p:sp>
        <p:sp>
          <p:nvSpPr>
            <p:cNvPr id="18550" name="Rectangle 11"/>
            <p:cNvSpPr>
              <a:spLocks noChangeArrowheads="1"/>
            </p:cNvSpPr>
            <p:nvPr/>
          </p:nvSpPr>
          <p:spPr bwMode="auto">
            <a:xfrm>
              <a:off x="2784" y="2928"/>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a:t>
              </a:r>
            </a:p>
          </p:txBody>
        </p:sp>
        <p:sp>
          <p:nvSpPr>
            <p:cNvPr id="18551" name="Line 12"/>
            <p:cNvSpPr>
              <a:spLocks noChangeShapeType="1"/>
            </p:cNvSpPr>
            <p:nvPr/>
          </p:nvSpPr>
          <p:spPr bwMode="auto">
            <a:xfrm>
              <a:off x="1008" y="960"/>
              <a:ext cx="76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552" name="Line 13"/>
            <p:cNvSpPr>
              <a:spLocks noChangeShapeType="1"/>
            </p:cNvSpPr>
            <p:nvPr/>
          </p:nvSpPr>
          <p:spPr bwMode="auto">
            <a:xfrm>
              <a:off x="1920" y="960"/>
              <a:ext cx="81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553" name="Line 14"/>
            <p:cNvSpPr>
              <a:spLocks noChangeShapeType="1"/>
            </p:cNvSpPr>
            <p:nvPr/>
          </p:nvSpPr>
          <p:spPr bwMode="auto">
            <a:xfrm>
              <a:off x="1008" y="960"/>
              <a:ext cx="0"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554" name="Line 15"/>
            <p:cNvSpPr>
              <a:spLocks noChangeShapeType="1"/>
            </p:cNvSpPr>
            <p:nvPr/>
          </p:nvSpPr>
          <p:spPr bwMode="auto">
            <a:xfrm>
              <a:off x="1008" y="960"/>
              <a:ext cx="816"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555" name="Line 16"/>
            <p:cNvSpPr>
              <a:spLocks noChangeShapeType="1"/>
            </p:cNvSpPr>
            <p:nvPr/>
          </p:nvSpPr>
          <p:spPr bwMode="auto">
            <a:xfrm flipV="1">
              <a:off x="1920" y="1104"/>
              <a:ext cx="0"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556" name="Line 17"/>
            <p:cNvSpPr>
              <a:spLocks noChangeShapeType="1"/>
            </p:cNvSpPr>
            <p:nvPr/>
          </p:nvSpPr>
          <p:spPr bwMode="auto">
            <a:xfrm>
              <a:off x="1152" y="1872"/>
              <a:ext cx="62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557" name="Line 18"/>
            <p:cNvSpPr>
              <a:spLocks noChangeShapeType="1"/>
            </p:cNvSpPr>
            <p:nvPr/>
          </p:nvSpPr>
          <p:spPr bwMode="auto">
            <a:xfrm>
              <a:off x="1920" y="960"/>
              <a:ext cx="864"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8558" name="Line 19"/>
            <p:cNvSpPr>
              <a:spLocks noChangeShapeType="1"/>
            </p:cNvSpPr>
            <p:nvPr/>
          </p:nvSpPr>
          <p:spPr bwMode="auto">
            <a:xfrm flipH="1">
              <a:off x="2064" y="1872"/>
              <a:ext cx="67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559" name="Line 20"/>
            <p:cNvSpPr>
              <a:spLocks noChangeShapeType="1"/>
            </p:cNvSpPr>
            <p:nvPr/>
          </p:nvSpPr>
          <p:spPr bwMode="auto">
            <a:xfrm>
              <a:off x="2880" y="960"/>
              <a:ext cx="0"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8560" name="Line 21"/>
            <p:cNvSpPr>
              <a:spLocks noChangeShapeType="1"/>
            </p:cNvSpPr>
            <p:nvPr/>
          </p:nvSpPr>
          <p:spPr bwMode="auto">
            <a:xfrm flipV="1">
              <a:off x="1008" y="2016"/>
              <a:ext cx="0"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561" name="Line 22"/>
            <p:cNvSpPr>
              <a:spLocks noChangeShapeType="1"/>
            </p:cNvSpPr>
            <p:nvPr/>
          </p:nvSpPr>
          <p:spPr bwMode="auto">
            <a:xfrm flipH="1">
              <a:off x="1104" y="1872"/>
              <a:ext cx="816"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562" name="Line 23"/>
            <p:cNvSpPr>
              <a:spLocks noChangeShapeType="1"/>
            </p:cNvSpPr>
            <p:nvPr/>
          </p:nvSpPr>
          <p:spPr bwMode="auto">
            <a:xfrm>
              <a:off x="1152" y="2736"/>
              <a:ext cx="768"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8563" name="Line 24"/>
            <p:cNvSpPr>
              <a:spLocks noChangeShapeType="1"/>
            </p:cNvSpPr>
            <p:nvPr/>
          </p:nvSpPr>
          <p:spPr bwMode="auto">
            <a:xfrm flipV="1">
              <a:off x="1920" y="2016"/>
              <a:ext cx="0"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564" name="Line 25"/>
            <p:cNvSpPr>
              <a:spLocks noChangeShapeType="1"/>
            </p:cNvSpPr>
            <p:nvPr/>
          </p:nvSpPr>
          <p:spPr bwMode="auto">
            <a:xfrm flipH="1">
              <a:off x="1920" y="2736"/>
              <a:ext cx="816"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8565" name="Line 26"/>
            <p:cNvSpPr>
              <a:spLocks noChangeShapeType="1"/>
            </p:cNvSpPr>
            <p:nvPr/>
          </p:nvSpPr>
          <p:spPr bwMode="auto">
            <a:xfrm>
              <a:off x="2880" y="1824"/>
              <a:ext cx="0" cy="76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8566" name="Line 27"/>
            <p:cNvSpPr>
              <a:spLocks noChangeShapeType="1"/>
            </p:cNvSpPr>
            <p:nvPr/>
          </p:nvSpPr>
          <p:spPr bwMode="auto">
            <a:xfrm flipH="1" flipV="1">
              <a:off x="2016" y="1968"/>
              <a:ext cx="864"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567" name="Oval 28"/>
            <p:cNvSpPr>
              <a:spLocks noChangeArrowheads="1"/>
            </p:cNvSpPr>
            <p:nvPr/>
          </p:nvSpPr>
          <p:spPr bwMode="auto">
            <a:xfrm>
              <a:off x="2736" y="2592"/>
              <a:ext cx="295" cy="288"/>
            </a:xfrm>
            <a:prstGeom prst="ellipse">
              <a:avLst/>
            </a:prstGeom>
            <a:solidFill>
              <a:schemeClr val="accent3">
                <a:lumMod val="9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9</a:t>
              </a:r>
            </a:p>
          </p:txBody>
        </p:sp>
        <p:sp>
          <p:nvSpPr>
            <p:cNvPr id="18568" name="Oval 29"/>
            <p:cNvSpPr>
              <a:spLocks noChangeArrowheads="1"/>
            </p:cNvSpPr>
            <p:nvPr/>
          </p:nvSpPr>
          <p:spPr bwMode="auto">
            <a:xfrm>
              <a:off x="2736" y="1728"/>
              <a:ext cx="295" cy="288"/>
            </a:xfrm>
            <a:prstGeom prst="ellipse">
              <a:avLst/>
            </a:prstGeom>
            <a:solidFill>
              <a:schemeClr val="accent3">
                <a:lumMod val="9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6</a:t>
              </a:r>
            </a:p>
          </p:txBody>
        </p:sp>
        <p:sp>
          <p:nvSpPr>
            <p:cNvPr id="18569" name="Oval 30"/>
            <p:cNvSpPr>
              <a:spLocks noChangeArrowheads="1"/>
            </p:cNvSpPr>
            <p:nvPr/>
          </p:nvSpPr>
          <p:spPr bwMode="auto">
            <a:xfrm>
              <a:off x="2736" y="816"/>
              <a:ext cx="295" cy="288"/>
            </a:xfrm>
            <a:prstGeom prst="ellipse">
              <a:avLst/>
            </a:prstGeom>
            <a:solidFill>
              <a:schemeClr val="accent3">
                <a:lumMod val="9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3</a:t>
              </a:r>
            </a:p>
          </p:txBody>
        </p:sp>
        <p:sp>
          <p:nvSpPr>
            <p:cNvPr id="18570" name="Oval 31"/>
            <p:cNvSpPr>
              <a:spLocks noChangeArrowheads="1"/>
            </p:cNvSpPr>
            <p:nvPr/>
          </p:nvSpPr>
          <p:spPr bwMode="auto">
            <a:xfrm>
              <a:off x="1776" y="816"/>
              <a:ext cx="295" cy="288"/>
            </a:xfrm>
            <a:prstGeom prst="ellipse">
              <a:avLst/>
            </a:prstGeom>
            <a:solidFill>
              <a:schemeClr val="accent3">
                <a:lumMod val="9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2</a:t>
              </a:r>
            </a:p>
          </p:txBody>
        </p:sp>
        <p:sp>
          <p:nvSpPr>
            <p:cNvPr id="18571" name="Oval 32"/>
            <p:cNvSpPr>
              <a:spLocks noChangeArrowheads="1"/>
            </p:cNvSpPr>
            <p:nvPr/>
          </p:nvSpPr>
          <p:spPr bwMode="auto">
            <a:xfrm>
              <a:off x="857" y="816"/>
              <a:ext cx="295" cy="288"/>
            </a:xfrm>
            <a:prstGeom prst="ellipse">
              <a:avLst/>
            </a:prstGeom>
            <a:solidFill>
              <a:schemeClr val="accent3">
                <a:lumMod val="9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1</a:t>
              </a:r>
            </a:p>
          </p:txBody>
        </p:sp>
        <p:sp>
          <p:nvSpPr>
            <p:cNvPr id="18572" name="Oval 33"/>
            <p:cNvSpPr>
              <a:spLocks noChangeArrowheads="1"/>
            </p:cNvSpPr>
            <p:nvPr/>
          </p:nvSpPr>
          <p:spPr bwMode="auto">
            <a:xfrm>
              <a:off x="1776" y="1728"/>
              <a:ext cx="295" cy="288"/>
            </a:xfrm>
            <a:prstGeom prst="ellipse">
              <a:avLst/>
            </a:prstGeom>
            <a:solidFill>
              <a:schemeClr val="accent3">
                <a:lumMod val="9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5</a:t>
              </a:r>
            </a:p>
          </p:txBody>
        </p:sp>
        <p:sp>
          <p:nvSpPr>
            <p:cNvPr id="18573" name="Oval 34"/>
            <p:cNvSpPr>
              <a:spLocks noChangeArrowheads="1"/>
            </p:cNvSpPr>
            <p:nvPr/>
          </p:nvSpPr>
          <p:spPr bwMode="auto">
            <a:xfrm>
              <a:off x="857" y="1728"/>
              <a:ext cx="295" cy="288"/>
            </a:xfrm>
            <a:prstGeom prst="ellipse">
              <a:avLst/>
            </a:prstGeom>
            <a:solidFill>
              <a:schemeClr val="accent3">
                <a:lumMod val="9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4</a:t>
              </a:r>
            </a:p>
          </p:txBody>
        </p:sp>
        <p:sp>
          <p:nvSpPr>
            <p:cNvPr id="18574" name="Oval 35"/>
            <p:cNvSpPr>
              <a:spLocks noChangeArrowheads="1"/>
            </p:cNvSpPr>
            <p:nvPr/>
          </p:nvSpPr>
          <p:spPr bwMode="auto">
            <a:xfrm>
              <a:off x="857" y="2592"/>
              <a:ext cx="295" cy="288"/>
            </a:xfrm>
            <a:prstGeom prst="ellipse">
              <a:avLst/>
            </a:prstGeom>
            <a:solidFill>
              <a:schemeClr val="accent3">
                <a:lumMod val="9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7</a:t>
              </a:r>
            </a:p>
          </p:txBody>
        </p:sp>
        <p:sp>
          <p:nvSpPr>
            <p:cNvPr id="18575" name="Oval 36"/>
            <p:cNvSpPr>
              <a:spLocks noChangeArrowheads="1"/>
            </p:cNvSpPr>
            <p:nvPr/>
          </p:nvSpPr>
          <p:spPr bwMode="auto">
            <a:xfrm>
              <a:off x="1776" y="2592"/>
              <a:ext cx="295" cy="288"/>
            </a:xfrm>
            <a:prstGeom prst="ellipse">
              <a:avLst/>
            </a:prstGeom>
            <a:solidFill>
              <a:schemeClr val="accent3">
                <a:lumMod val="9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8</a:t>
              </a:r>
            </a:p>
          </p:txBody>
        </p:sp>
        <p:sp>
          <p:nvSpPr>
            <p:cNvPr id="18576" name="Rectangle 37"/>
            <p:cNvSpPr>
              <a:spLocks noChangeArrowheads="1"/>
            </p:cNvSpPr>
            <p:nvPr/>
          </p:nvSpPr>
          <p:spPr bwMode="auto">
            <a:xfrm>
              <a:off x="558" y="864"/>
              <a:ext cx="29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b="1">
                  <a:solidFill>
                    <a:schemeClr val="tx2"/>
                  </a:solidFill>
                  <a:latin typeface="Arial" pitchFamily="34" charset="0"/>
                </a:rPr>
                <a:t>s =</a:t>
              </a:r>
            </a:p>
          </p:txBody>
        </p:sp>
      </p:grpSp>
      <p:sp>
        <p:nvSpPr>
          <p:cNvPr id="107591" name="Freeform 71"/>
          <p:cNvSpPr>
            <a:spLocks/>
          </p:cNvSpPr>
          <p:nvPr/>
        </p:nvSpPr>
        <p:spPr bwMode="auto">
          <a:xfrm>
            <a:off x="2438400" y="1704975"/>
            <a:ext cx="1588" cy="962025"/>
          </a:xfrm>
          <a:custGeom>
            <a:avLst/>
            <a:gdLst>
              <a:gd name="T0" fmla="*/ 0 w 1"/>
              <a:gd name="T1" fmla="*/ 962025 h 606"/>
              <a:gd name="T2" fmla="*/ 0 w 1"/>
              <a:gd name="T3" fmla="*/ 0 h 606"/>
              <a:gd name="T4" fmla="*/ 0 60000 65536"/>
              <a:gd name="T5" fmla="*/ 0 60000 65536"/>
            </a:gdLst>
            <a:ahLst/>
            <a:cxnLst>
              <a:cxn ang="T4">
                <a:pos x="T0" y="T1"/>
              </a:cxn>
              <a:cxn ang="T5">
                <a:pos x="T2" y="T3"/>
              </a:cxn>
            </a:cxnLst>
            <a:rect l="0" t="0" r="r" b="b"/>
            <a:pathLst>
              <a:path w="1" h="606">
                <a:moveTo>
                  <a:pt x="0" y="606"/>
                </a:moveTo>
                <a:lnTo>
                  <a:pt x="0" y="0"/>
                </a:lnTo>
              </a:path>
            </a:pathLst>
          </a:custGeom>
          <a:noFill/>
          <a:ln w="571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7621" name="Freeform 101"/>
          <p:cNvSpPr>
            <a:spLocks/>
          </p:cNvSpPr>
          <p:nvPr/>
        </p:nvSpPr>
        <p:spPr bwMode="auto">
          <a:xfrm>
            <a:off x="7240588" y="1482725"/>
            <a:ext cx="1125537" cy="714375"/>
          </a:xfrm>
          <a:custGeom>
            <a:avLst/>
            <a:gdLst>
              <a:gd name="T0" fmla="*/ 0 w 709"/>
              <a:gd name="T1" fmla="*/ 0 h 450"/>
              <a:gd name="T2" fmla="*/ 1125537 w 709"/>
              <a:gd name="T3" fmla="*/ 714375 h 450"/>
              <a:gd name="T4" fmla="*/ 0 60000 65536"/>
              <a:gd name="T5" fmla="*/ 0 60000 65536"/>
            </a:gdLst>
            <a:ahLst/>
            <a:cxnLst>
              <a:cxn ang="T4">
                <a:pos x="T0" y="T1"/>
              </a:cxn>
              <a:cxn ang="T5">
                <a:pos x="T2" y="T3"/>
              </a:cxn>
            </a:cxnLst>
            <a:rect l="0" t="0" r="r" b="b"/>
            <a:pathLst>
              <a:path w="709" h="450">
                <a:moveTo>
                  <a:pt x="0" y="0"/>
                </a:moveTo>
                <a:lnTo>
                  <a:pt x="709" y="45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7619" name="Freeform 99"/>
          <p:cNvSpPr>
            <a:spLocks/>
          </p:cNvSpPr>
          <p:nvPr/>
        </p:nvSpPr>
        <p:spPr bwMode="auto">
          <a:xfrm>
            <a:off x="7094538" y="1619250"/>
            <a:ext cx="1587" cy="546100"/>
          </a:xfrm>
          <a:custGeom>
            <a:avLst/>
            <a:gdLst>
              <a:gd name="T0" fmla="*/ 0 w 1"/>
              <a:gd name="T1" fmla="*/ 0 h 344"/>
              <a:gd name="T2" fmla="*/ 0 w 1"/>
              <a:gd name="T3" fmla="*/ 546100 h 344"/>
              <a:gd name="T4" fmla="*/ 0 60000 65536"/>
              <a:gd name="T5" fmla="*/ 0 60000 65536"/>
            </a:gdLst>
            <a:ahLst/>
            <a:cxnLst>
              <a:cxn ang="T4">
                <a:pos x="T0" y="T1"/>
              </a:cxn>
              <a:cxn ang="T5">
                <a:pos x="T2" y="T3"/>
              </a:cxn>
            </a:cxnLst>
            <a:rect l="0" t="0" r="r" b="b"/>
            <a:pathLst>
              <a:path w="1" h="344">
                <a:moveTo>
                  <a:pt x="0" y="0"/>
                </a:moveTo>
                <a:lnTo>
                  <a:pt x="0" y="344"/>
                </a:lnTo>
              </a:path>
            </a:pathLst>
          </a:custGeom>
          <a:noFill/>
          <a:ln w="19050" cmpd="sng">
            <a:solidFill>
              <a:schemeClr val="tx1"/>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7617" name="Freeform 97"/>
          <p:cNvSpPr>
            <a:spLocks/>
          </p:cNvSpPr>
          <p:nvPr/>
        </p:nvSpPr>
        <p:spPr bwMode="auto">
          <a:xfrm>
            <a:off x="5791200" y="1524000"/>
            <a:ext cx="1103313" cy="757238"/>
          </a:xfrm>
          <a:custGeom>
            <a:avLst/>
            <a:gdLst>
              <a:gd name="T0" fmla="*/ 1103313 w 695"/>
              <a:gd name="T1" fmla="*/ 0 h 477"/>
              <a:gd name="T2" fmla="*/ 0 w 695"/>
              <a:gd name="T3" fmla="*/ 757238 h 477"/>
              <a:gd name="T4" fmla="*/ 0 60000 65536"/>
              <a:gd name="T5" fmla="*/ 0 60000 65536"/>
            </a:gdLst>
            <a:ahLst/>
            <a:cxnLst>
              <a:cxn ang="T4">
                <a:pos x="T0" y="T1"/>
              </a:cxn>
              <a:cxn ang="T5">
                <a:pos x="T2" y="T3"/>
              </a:cxn>
            </a:cxnLst>
            <a:rect l="0" t="0" r="r" b="b"/>
            <a:pathLst>
              <a:path w="695" h="477">
                <a:moveTo>
                  <a:pt x="695" y="0"/>
                </a:moveTo>
                <a:lnTo>
                  <a:pt x="0" y="477"/>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7633" name="Freeform 113"/>
          <p:cNvSpPr>
            <a:spLocks/>
          </p:cNvSpPr>
          <p:nvPr/>
        </p:nvSpPr>
        <p:spPr bwMode="auto">
          <a:xfrm>
            <a:off x="7335838" y="2574925"/>
            <a:ext cx="1103312" cy="757238"/>
          </a:xfrm>
          <a:custGeom>
            <a:avLst/>
            <a:gdLst>
              <a:gd name="T0" fmla="*/ 0 w 695"/>
              <a:gd name="T1" fmla="*/ 757238 h 477"/>
              <a:gd name="T2" fmla="*/ 1103312 w 695"/>
              <a:gd name="T3" fmla="*/ 0 h 477"/>
              <a:gd name="T4" fmla="*/ 0 60000 65536"/>
              <a:gd name="T5" fmla="*/ 0 60000 65536"/>
            </a:gdLst>
            <a:ahLst/>
            <a:cxnLst>
              <a:cxn ang="T4">
                <a:pos x="T0" y="T1"/>
              </a:cxn>
              <a:cxn ang="T5">
                <a:pos x="T2" y="T3"/>
              </a:cxn>
            </a:cxnLst>
            <a:rect l="0" t="0" r="r" b="b"/>
            <a:pathLst>
              <a:path w="695" h="477">
                <a:moveTo>
                  <a:pt x="0" y="477"/>
                </a:moveTo>
                <a:lnTo>
                  <a:pt x="695" y="0"/>
                </a:lnTo>
              </a:path>
            </a:pathLst>
          </a:custGeom>
          <a:noFill/>
          <a:ln w="190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36" name="Freeform 116"/>
          <p:cNvSpPr>
            <a:spLocks/>
          </p:cNvSpPr>
          <p:nvPr/>
        </p:nvSpPr>
        <p:spPr bwMode="auto">
          <a:xfrm>
            <a:off x="7315200" y="2574925"/>
            <a:ext cx="1060450" cy="768350"/>
          </a:xfrm>
          <a:custGeom>
            <a:avLst/>
            <a:gdLst>
              <a:gd name="T0" fmla="*/ 1060450 w 668"/>
              <a:gd name="T1" fmla="*/ 768350 h 484"/>
              <a:gd name="T2" fmla="*/ 0 w 668"/>
              <a:gd name="T3" fmla="*/ 0 h 484"/>
              <a:gd name="T4" fmla="*/ 0 60000 65536"/>
              <a:gd name="T5" fmla="*/ 0 60000 65536"/>
            </a:gdLst>
            <a:ahLst/>
            <a:cxnLst>
              <a:cxn ang="T4">
                <a:pos x="T0" y="T1"/>
              </a:cxn>
              <a:cxn ang="T5">
                <a:pos x="T2" y="T3"/>
              </a:cxn>
            </a:cxnLst>
            <a:rect l="0" t="0" r="r" b="b"/>
            <a:pathLst>
              <a:path w="668" h="484">
                <a:moveTo>
                  <a:pt x="668" y="484"/>
                </a:moveTo>
                <a:lnTo>
                  <a:pt x="0" y="0"/>
                </a:lnTo>
              </a:path>
            </a:pathLst>
          </a:custGeom>
          <a:noFill/>
          <a:ln w="190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40" name="Freeform 120"/>
          <p:cNvSpPr>
            <a:spLocks/>
          </p:cNvSpPr>
          <p:nvPr/>
        </p:nvSpPr>
        <p:spPr bwMode="auto">
          <a:xfrm>
            <a:off x="7262813" y="2638425"/>
            <a:ext cx="1250950" cy="1681163"/>
          </a:xfrm>
          <a:custGeom>
            <a:avLst/>
            <a:gdLst>
              <a:gd name="T0" fmla="*/ 0 w 788"/>
              <a:gd name="T1" fmla="*/ 1681163 h 1059"/>
              <a:gd name="T2" fmla="*/ 1250950 w 788"/>
              <a:gd name="T3" fmla="*/ 0 h 1059"/>
              <a:gd name="T4" fmla="*/ 0 60000 65536"/>
              <a:gd name="T5" fmla="*/ 0 60000 65536"/>
            </a:gdLst>
            <a:ahLst/>
            <a:cxnLst>
              <a:cxn ang="T4">
                <a:pos x="T0" y="T1"/>
              </a:cxn>
              <a:cxn ang="T5">
                <a:pos x="T2" y="T3"/>
              </a:cxn>
            </a:cxnLst>
            <a:rect l="0" t="0" r="r" b="b"/>
            <a:pathLst>
              <a:path w="788" h="1059">
                <a:moveTo>
                  <a:pt x="0" y="1059"/>
                </a:moveTo>
                <a:lnTo>
                  <a:pt x="788" y="0"/>
                </a:lnTo>
              </a:path>
            </a:pathLst>
          </a:custGeom>
          <a:noFill/>
          <a:ln w="190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29" name="Freeform 109"/>
          <p:cNvSpPr>
            <a:spLocks/>
          </p:cNvSpPr>
          <p:nvPr/>
        </p:nvSpPr>
        <p:spPr bwMode="auto">
          <a:xfrm>
            <a:off x="8597900" y="2522538"/>
            <a:ext cx="1588" cy="714375"/>
          </a:xfrm>
          <a:custGeom>
            <a:avLst/>
            <a:gdLst>
              <a:gd name="T0" fmla="*/ 0 w 1"/>
              <a:gd name="T1" fmla="*/ 0 h 450"/>
              <a:gd name="T2" fmla="*/ 0 w 1"/>
              <a:gd name="T3" fmla="*/ 714375 h 450"/>
              <a:gd name="T4" fmla="*/ 0 60000 65536"/>
              <a:gd name="T5" fmla="*/ 0 60000 65536"/>
            </a:gdLst>
            <a:ahLst/>
            <a:cxnLst>
              <a:cxn ang="T4">
                <a:pos x="T0" y="T1"/>
              </a:cxn>
              <a:cxn ang="T5">
                <a:pos x="T2" y="T3"/>
              </a:cxn>
            </a:cxnLst>
            <a:rect l="0" t="0" r="r" b="b"/>
            <a:pathLst>
              <a:path w="1" h="450">
                <a:moveTo>
                  <a:pt x="0" y="0"/>
                </a:moveTo>
                <a:lnTo>
                  <a:pt x="0" y="45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27" name="Freeform 107"/>
          <p:cNvSpPr>
            <a:spLocks/>
          </p:cNvSpPr>
          <p:nvPr/>
        </p:nvSpPr>
        <p:spPr bwMode="auto">
          <a:xfrm>
            <a:off x="7346950" y="2428875"/>
            <a:ext cx="976313" cy="1588"/>
          </a:xfrm>
          <a:custGeom>
            <a:avLst/>
            <a:gdLst>
              <a:gd name="T0" fmla="*/ 0 w 615"/>
              <a:gd name="T1" fmla="*/ 0 h 1"/>
              <a:gd name="T2" fmla="*/ 976313 w 615"/>
              <a:gd name="T3" fmla="*/ 0 h 1"/>
              <a:gd name="T4" fmla="*/ 0 60000 65536"/>
              <a:gd name="T5" fmla="*/ 0 60000 65536"/>
            </a:gdLst>
            <a:ahLst/>
            <a:cxnLst>
              <a:cxn ang="T4">
                <a:pos x="T0" y="T1"/>
              </a:cxn>
              <a:cxn ang="T5">
                <a:pos x="T2" y="T3"/>
              </a:cxn>
            </a:cxnLst>
            <a:rect l="0" t="0" r="r" b="b"/>
            <a:pathLst>
              <a:path w="615" h="1">
                <a:moveTo>
                  <a:pt x="0" y="0"/>
                </a:moveTo>
                <a:lnTo>
                  <a:pt x="615" y="0"/>
                </a:lnTo>
              </a:path>
            </a:pathLst>
          </a:custGeom>
          <a:noFill/>
          <a:ln w="190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28" name="Freeform 108"/>
          <p:cNvSpPr>
            <a:spLocks/>
          </p:cNvSpPr>
          <p:nvPr/>
        </p:nvSpPr>
        <p:spPr bwMode="auto">
          <a:xfrm>
            <a:off x="5864225" y="2406650"/>
            <a:ext cx="2501900" cy="552450"/>
          </a:xfrm>
          <a:custGeom>
            <a:avLst/>
            <a:gdLst>
              <a:gd name="T0" fmla="*/ 2501900 w 1576"/>
              <a:gd name="T1" fmla="*/ 95250 h 348"/>
              <a:gd name="T2" fmla="*/ 1346200 w 1576"/>
              <a:gd name="T3" fmla="*/ 536575 h 348"/>
              <a:gd name="T4" fmla="*/ 0 w 1576"/>
              <a:gd name="T5" fmla="*/ 0 h 348"/>
              <a:gd name="T6" fmla="*/ 0 60000 65536"/>
              <a:gd name="T7" fmla="*/ 0 60000 65536"/>
              <a:gd name="T8" fmla="*/ 0 60000 65536"/>
            </a:gdLst>
            <a:ahLst/>
            <a:cxnLst>
              <a:cxn ang="T6">
                <a:pos x="T0" y="T1"/>
              </a:cxn>
              <a:cxn ang="T7">
                <a:pos x="T2" y="T3"/>
              </a:cxn>
              <a:cxn ang="T8">
                <a:pos x="T4" y="T5"/>
              </a:cxn>
            </a:cxnLst>
            <a:rect l="0" t="0" r="r" b="b"/>
            <a:pathLst>
              <a:path w="1576" h="348">
                <a:moveTo>
                  <a:pt x="1576" y="60"/>
                </a:moveTo>
                <a:cubicBezTo>
                  <a:pt x="1455" y="106"/>
                  <a:pt x="1111" y="348"/>
                  <a:pt x="848" y="338"/>
                </a:cubicBezTo>
                <a:cubicBezTo>
                  <a:pt x="585" y="328"/>
                  <a:pt x="177" y="71"/>
                  <a:pt x="0" y="0"/>
                </a:cubicBezTo>
              </a:path>
            </a:pathLst>
          </a:custGeom>
          <a:noFill/>
          <a:ln w="190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7625" name="Freeform 105"/>
          <p:cNvSpPr>
            <a:spLocks/>
          </p:cNvSpPr>
          <p:nvPr/>
        </p:nvSpPr>
        <p:spPr bwMode="auto">
          <a:xfrm>
            <a:off x="5748338" y="2533650"/>
            <a:ext cx="1187450" cy="787400"/>
          </a:xfrm>
          <a:custGeom>
            <a:avLst/>
            <a:gdLst>
              <a:gd name="T0" fmla="*/ 0 w 748"/>
              <a:gd name="T1" fmla="*/ 0 h 496"/>
              <a:gd name="T2" fmla="*/ 1187450 w 748"/>
              <a:gd name="T3" fmla="*/ 787400 h 496"/>
              <a:gd name="T4" fmla="*/ 0 60000 65536"/>
              <a:gd name="T5" fmla="*/ 0 60000 65536"/>
            </a:gdLst>
            <a:ahLst/>
            <a:cxnLst>
              <a:cxn ang="T4">
                <a:pos x="T0" y="T1"/>
              </a:cxn>
              <a:cxn ang="T5">
                <a:pos x="T2" y="T3"/>
              </a:cxn>
            </a:cxnLst>
            <a:rect l="0" t="0" r="r" b="b"/>
            <a:pathLst>
              <a:path w="748" h="496">
                <a:moveTo>
                  <a:pt x="0" y="0"/>
                </a:moveTo>
                <a:lnTo>
                  <a:pt x="748" y="496"/>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24" name="Freeform 104"/>
          <p:cNvSpPr>
            <a:spLocks/>
          </p:cNvSpPr>
          <p:nvPr/>
        </p:nvSpPr>
        <p:spPr bwMode="auto">
          <a:xfrm>
            <a:off x="5602288" y="2554288"/>
            <a:ext cx="1587" cy="766762"/>
          </a:xfrm>
          <a:custGeom>
            <a:avLst/>
            <a:gdLst>
              <a:gd name="T0" fmla="*/ 0 w 1"/>
              <a:gd name="T1" fmla="*/ 0 h 483"/>
              <a:gd name="T2" fmla="*/ 0 w 1"/>
              <a:gd name="T3" fmla="*/ 766762 h 483"/>
              <a:gd name="T4" fmla="*/ 0 60000 65536"/>
              <a:gd name="T5" fmla="*/ 0 60000 65536"/>
            </a:gdLst>
            <a:ahLst/>
            <a:cxnLst>
              <a:cxn ang="T4">
                <a:pos x="T0" y="T1"/>
              </a:cxn>
              <a:cxn ang="T5">
                <a:pos x="T2" y="T3"/>
              </a:cxn>
            </a:cxnLst>
            <a:rect l="0" t="0" r="r" b="b"/>
            <a:pathLst>
              <a:path w="1" h="483">
                <a:moveTo>
                  <a:pt x="0" y="0"/>
                </a:moveTo>
                <a:lnTo>
                  <a:pt x="0" y="48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30" name="Freeform 110"/>
          <p:cNvSpPr>
            <a:spLocks/>
          </p:cNvSpPr>
          <p:nvPr/>
        </p:nvSpPr>
        <p:spPr bwMode="auto">
          <a:xfrm>
            <a:off x="5832475" y="3544888"/>
            <a:ext cx="1030288" cy="1587"/>
          </a:xfrm>
          <a:custGeom>
            <a:avLst/>
            <a:gdLst>
              <a:gd name="T0" fmla="*/ 0 w 649"/>
              <a:gd name="T1" fmla="*/ 0 h 1"/>
              <a:gd name="T2" fmla="*/ 1030288 w 649"/>
              <a:gd name="T3" fmla="*/ 0 h 1"/>
              <a:gd name="T4" fmla="*/ 0 60000 65536"/>
              <a:gd name="T5" fmla="*/ 0 60000 65536"/>
            </a:gdLst>
            <a:ahLst/>
            <a:cxnLst>
              <a:cxn ang="T4">
                <a:pos x="T0" y="T1"/>
              </a:cxn>
              <a:cxn ang="T5">
                <a:pos x="T2" y="T3"/>
              </a:cxn>
            </a:cxnLst>
            <a:rect l="0" t="0" r="r" b="b"/>
            <a:pathLst>
              <a:path w="649" h="1">
                <a:moveTo>
                  <a:pt x="0" y="0"/>
                </a:moveTo>
                <a:lnTo>
                  <a:pt x="649" y="0"/>
                </a:lnTo>
              </a:path>
            </a:pathLst>
          </a:custGeom>
          <a:noFill/>
          <a:ln w="190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35" name="Freeform 115"/>
          <p:cNvSpPr>
            <a:spLocks/>
          </p:cNvSpPr>
          <p:nvPr/>
        </p:nvSpPr>
        <p:spPr bwMode="auto">
          <a:xfrm>
            <a:off x="7121525" y="3657600"/>
            <a:ext cx="1588" cy="641350"/>
          </a:xfrm>
          <a:custGeom>
            <a:avLst/>
            <a:gdLst>
              <a:gd name="T0" fmla="*/ 0 w 1"/>
              <a:gd name="T1" fmla="*/ 0 h 404"/>
              <a:gd name="T2" fmla="*/ 0 w 1"/>
              <a:gd name="T3" fmla="*/ 641350 h 404"/>
              <a:gd name="T4" fmla="*/ 0 60000 65536"/>
              <a:gd name="T5" fmla="*/ 0 60000 65536"/>
            </a:gdLst>
            <a:ahLst/>
            <a:cxnLst>
              <a:cxn ang="T4">
                <a:pos x="T0" y="T1"/>
              </a:cxn>
              <a:cxn ang="T5">
                <a:pos x="T2" y="T3"/>
              </a:cxn>
            </a:cxnLst>
            <a:rect l="0" t="0" r="r" b="b"/>
            <a:pathLst>
              <a:path w="1" h="404">
                <a:moveTo>
                  <a:pt x="0" y="0"/>
                </a:moveTo>
                <a:lnTo>
                  <a:pt x="0" y="404"/>
                </a:lnTo>
              </a:path>
            </a:pathLst>
          </a:custGeom>
          <a:noFill/>
          <a:ln w="19050" cmpd="sng">
            <a:solidFill>
              <a:schemeClr val="tx1"/>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64" name="Oval 44"/>
          <p:cNvSpPr>
            <a:spLocks noChangeArrowheads="1"/>
          </p:cNvSpPr>
          <p:nvPr/>
        </p:nvSpPr>
        <p:spPr bwMode="auto">
          <a:xfrm>
            <a:off x="761770" y="1228725"/>
            <a:ext cx="468313" cy="476250"/>
          </a:xfrm>
          <a:prstGeom prst="ellipse">
            <a:avLst/>
          </a:prstGeom>
          <a:solidFill>
            <a:srgbClr val="B2B2B2"/>
          </a:solidFill>
          <a:ln w="381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1</a:t>
            </a:r>
          </a:p>
        </p:txBody>
      </p:sp>
      <p:sp>
        <p:nvSpPr>
          <p:cNvPr id="107565" name="Rectangle 45"/>
          <p:cNvSpPr>
            <a:spLocks noChangeArrowheads="1"/>
          </p:cNvSpPr>
          <p:nvPr/>
        </p:nvSpPr>
        <p:spPr bwMode="auto">
          <a:xfrm>
            <a:off x="838200" y="762000"/>
            <a:ext cx="31115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0</a:t>
            </a:r>
          </a:p>
        </p:txBody>
      </p:sp>
      <p:sp>
        <p:nvSpPr>
          <p:cNvPr id="107567" name="Freeform 47"/>
          <p:cNvSpPr>
            <a:spLocks/>
          </p:cNvSpPr>
          <p:nvPr/>
        </p:nvSpPr>
        <p:spPr bwMode="auto">
          <a:xfrm>
            <a:off x="1219200" y="1447800"/>
            <a:ext cx="1009650" cy="4763"/>
          </a:xfrm>
          <a:custGeom>
            <a:avLst/>
            <a:gdLst>
              <a:gd name="T0" fmla="*/ 0 w 636"/>
              <a:gd name="T1" fmla="*/ 0 h 3"/>
              <a:gd name="T2" fmla="*/ 1009650 w 636"/>
              <a:gd name="T3" fmla="*/ 4763 h 3"/>
              <a:gd name="T4" fmla="*/ 0 60000 65536"/>
              <a:gd name="T5" fmla="*/ 0 60000 65536"/>
            </a:gdLst>
            <a:ahLst/>
            <a:cxnLst>
              <a:cxn ang="T4">
                <a:pos x="T0" y="T1"/>
              </a:cxn>
              <a:cxn ang="T5">
                <a:pos x="T2" y="T3"/>
              </a:cxn>
            </a:cxnLst>
            <a:rect l="0" t="0" r="r" b="b"/>
            <a:pathLst>
              <a:path w="636" h="3">
                <a:moveTo>
                  <a:pt x="0" y="0"/>
                </a:moveTo>
                <a:lnTo>
                  <a:pt x="636" y="3"/>
                </a:lnTo>
              </a:path>
            </a:pathLst>
          </a:custGeom>
          <a:noFill/>
          <a:ln w="571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7568" name="Oval 48"/>
          <p:cNvSpPr>
            <a:spLocks noChangeArrowheads="1"/>
          </p:cNvSpPr>
          <p:nvPr/>
        </p:nvSpPr>
        <p:spPr bwMode="auto">
          <a:xfrm>
            <a:off x="2230437" y="1225422"/>
            <a:ext cx="468313" cy="476250"/>
          </a:xfrm>
          <a:prstGeom prst="ellipse">
            <a:avLst/>
          </a:prstGeom>
          <a:solidFill>
            <a:srgbClr val="B2B2B2"/>
          </a:solidFill>
          <a:ln w="381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2</a:t>
            </a:r>
          </a:p>
        </p:txBody>
      </p:sp>
      <p:sp>
        <p:nvSpPr>
          <p:cNvPr id="107569" name="Rectangle 49"/>
          <p:cNvSpPr>
            <a:spLocks noChangeArrowheads="1"/>
          </p:cNvSpPr>
          <p:nvPr/>
        </p:nvSpPr>
        <p:spPr bwMode="auto">
          <a:xfrm>
            <a:off x="2286000" y="762000"/>
            <a:ext cx="31115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1</a:t>
            </a:r>
          </a:p>
        </p:txBody>
      </p:sp>
      <p:sp>
        <p:nvSpPr>
          <p:cNvPr id="107571" name="Line 51"/>
          <p:cNvSpPr>
            <a:spLocks noChangeShapeType="1"/>
          </p:cNvSpPr>
          <p:nvPr/>
        </p:nvSpPr>
        <p:spPr bwMode="auto">
          <a:xfrm>
            <a:off x="990600" y="1676400"/>
            <a:ext cx="0" cy="99060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7572" name="Rectangle 52"/>
          <p:cNvSpPr>
            <a:spLocks noChangeArrowheads="1"/>
          </p:cNvSpPr>
          <p:nvPr/>
        </p:nvSpPr>
        <p:spPr bwMode="auto">
          <a:xfrm>
            <a:off x="304800" y="2667000"/>
            <a:ext cx="31115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1800" b="1">
                <a:solidFill>
                  <a:schemeClr val="tx2"/>
                </a:solidFill>
                <a:latin typeface="Arial" pitchFamily="34" charset="0"/>
                <a:sym typeface="Symbol" pitchFamily="18" charset="2"/>
              </a:rPr>
              <a:t>1</a:t>
            </a:r>
          </a:p>
        </p:txBody>
      </p:sp>
      <p:sp>
        <p:nvSpPr>
          <p:cNvPr id="107574" name="Oval 54"/>
          <p:cNvSpPr>
            <a:spLocks noChangeArrowheads="1"/>
          </p:cNvSpPr>
          <p:nvPr/>
        </p:nvSpPr>
        <p:spPr bwMode="auto">
          <a:xfrm>
            <a:off x="762000" y="2679700"/>
            <a:ext cx="468313" cy="476250"/>
          </a:xfrm>
          <a:prstGeom prst="ellipse">
            <a:avLst/>
          </a:prstGeom>
          <a:solidFill>
            <a:srgbClr val="B2B2B2"/>
          </a:solidFill>
          <a:ln w="381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4</a:t>
            </a:r>
          </a:p>
        </p:txBody>
      </p:sp>
      <p:sp>
        <p:nvSpPr>
          <p:cNvPr id="107575" name="Freeform 55"/>
          <p:cNvSpPr>
            <a:spLocks/>
          </p:cNvSpPr>
          <p:nvPr/>
        </p:nvSpPr>
        <p:spPr bwMode="auto">
          <a:xfrm>
            <a:off x="1143000" y="1600200"/>
            <a:ext cx="1147763" cy="1177925"/>
          </a:xfrm>
          <a:custGeom>
            <a:avLst/>
            <a:gdLst>
              <a:gd name="T0" fmla="*/ 0 w 723"/>
              <a:gd name="T1" fmla="*/ 0 h 742"/>
              <a:gd name="T2" fmla="*/ 1147763 w 723"/>
              <a:gd name="T3" fmla="*/ 1177925 h 742"/>
              <a:gd name="T4" fmla="*/ 0 60000 65536"/>
              <a:gd name="T5" fmla="*/ 0 60000 65536"/>
            </a:gdLst>
            <a:ahLst/>
            <a:cxnLst>
              <a:cxn ang="T4">
                <a:pos x="T0" y="T1"/>
              </a:cxn>
              <a:cxn ang="T5">
                <a:pos x="T2" y="T3"/>
              </a:cxn>
            </a:cxnLst>
            <a:rect l="0" t="0" r="r" b="b"/>
            <a:pathLst>
              <a:path w="723" h="742">
                <a:moveTo>
                  <a:pt x="0" y="0"/>
                </a:moveTo>
                <a:lnTo>
                  <a:pt x="723" y="742"/>
                </a:lnTo>
              </a:path>
            </a:pathLst>
          </a:custGeom>
          <a:noFill/>
          <a:ln w="571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7576" name="Oval 56"/>
          <p:cNvSpPr>
            <a:spLocks noChangeArrowheads="1"/>
          </p:cNvSpPr>
          <p:nvPr/>
        </p:nvSpPr>
        <p:spPr bwMode="auto">
          <a:xfrm>
            <a:off x="2207418" y="2681288"/>
            <a:ext cx="468313" cy="476250"/>
          </a:xfrm>
          <a:prstGeom prst="ellipse">
            <a:avLst/>
          </a:prstGeom>
          <a:solidFill>
            <a:srgbClr val="B2B2B2"/>
          </a:solidFill>
          <a:ln w="381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5</a:t>
            </a:r>
          </a:p>
        </p:txBody>
      </p:sp>
      <p:sp>
        <p:nvSpPr>
          <p:cNvPr id="107577" name="Rectangle 57"/>
          <p:cNvSpPr>
            <a:spLocks noChangeArrowheads="1"/>
          </p:cNvSpPr>
          <p:nvPr/>
        </p:nvSpPr>
        <p:spPr bwMode="auto">
          <a:xfrm>
            <a:off x="2590800" y="2286000"/>
            <a:ext cx="31115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1</a:t>
            </a:r>
          </a:p>
        </p:txBody>
      </p:sp>
      <p:sp>
        <p:nvSpPr>
          <p:cNvPr id="107581" name="Freeform 61"/>
          <p:cNvSpPr>
            <a:spLocks/>
          </p:cNvSpPr>
          <p:nvPr/>
        </p:nvSpPr>
        <p:spPr bwMode="auto">
          <a:xfrm>
            <a:off x="2667000" y="1447800"/>
            <a:ext cx="1085850" cy="4763"/>
          </a:xfrm>
          <a:custGeom>
            <a:avLst/>
            <a:gdLst>
              <a:gd name="T0" fmla="*/ 0 w 684"/>
              <a:gd name="T1" fmla="*/ 0 h 3"/>
              <a:gd name="T2" fmla="*/ 1085850 w 684"/>
              <a:gd name="T3" fmla="*/ 4763 h 3"/>
              <a:gd name="T4" fmla="*/ 0 60000 65536"/>
              <a:gd name="T5" fmla="*/ 0 60000 65536"/>
            </a:gdLst>
            <a:ahLst/>
            <a:cxnLst>
              <a:cxn ang="T4">
                <a:pos x="T0" y="T1"/>
              </a:cxn>
              <a:cxn ang="T5">
                <a:pos x="T2" y="T3"/>
              </a:cxn>
            </a:cxnLst>
            <a:rect l="0" t="0" r="r" b="b"/>
            <a:pathLst>
              <a:path w="684" h="3">
                <a:moveTo>
                  <a:pt x="0" y="0"/>
                </a:moveTo>
                <a:lnTo>
                  <a:pt x="684" y="3"/>
                </a:lnTo>
              </a:path>
            </a:pathLst>
          </a:custGeom>
          <a:noFill/>
          <a:ln w="571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82" name="Rectangle 62"/>
          <p:cNvSpPr>
            <a:spLocks noChangeArrowheads="1"/>
          </p:cNvSpPr>
          <p:nvPr/>
        </p:nvSpPr>
        <p:spPr bwMode="auto">
          <a:xfrm>
            <a:off x="3810000" y="685800"/>
            <a:ext cx="31115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2</a:t>
            </a:r>
          </a:p>
        </p:txBody>
      </p:sp>
      <p:sp>
        <p:nvSpPr>
          <p:cNvPr id="107584" name="Freeform 64"/>
          <p:cNvSpPr>
            <a:spLocks/>
          </p:cNvSpPr>
          <p:nvPr/>
        </p:nvSpPr>
        <p:spPr bwMode="auto">
          <a:xfrm>
            <a:off x="2590800" y="1600200"/>
            <a:ext cx="1235075" cy="1177925"/>
          </a:xfrm>
          <a:custGeom>
            <a:avLst/>
            <a:gdLst>
              <a:gd name="T0" fmla="*/ 0 w 778"/>
              <a:gd name="T1" fmla="*/ 0 h 742"/>
              <a:gd name="T2" fmla="*/ 1235075 w 778"/>
              <a:gd name="T3" fmla="*/ 1177925 h 742"/>
              <a:gd name="T4" fmla="*/ 0 60000 65536"/>
              <a:gd name="T5" fmla="*/ 0 60000 65536"/>
            </a:gdLst>
            <a:ahLst/>
            <a:cxnLst>
              <a:cxn ang="T4">
                <a:pos x="T0" y="T1"/>
              </a:cxn>
              <a:cxn ang="T5">
                <a:pos x="T2" y="T3"/>
              </a:cxn>
            </a:cxnLst>
            <a:rect l="0" t="0" r="r" b="b"/>
            <a:pathLst>
              <a:path w="778" h="742">
                <a:moveTo>
                  <a:pt x="0" y="0"/>
                </a:moveTo>
                <a:lnTo>
                  <a:pt x="778" y="742"/>
                </a:lnTo>
              </a:path>
            </a:pathLst>
          </a:custGeom>
          <a:noFill/>
          <a:ln w="571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85" name="Rectangle 65"/>
          <p:cNvSpPr>
            <a:spLocks noChangeArrowheads="1"/>
          </p:cNvSpPr>
          <p:nvPr/>
        </p:nvSpPr>
        <p:spPr bwMode="auto">
          <a:xfrm>
            <a:off x="4343400" y="2667000"/>
            <a:ext cx="31115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2</a:t>
            </a:r>
          </a:p>
        </p:txBody>
      </p:sp>
      <p:sp>
        <p:nvSpPr>
          <p:cNvPr id="107589" name="Freeform 69"/>
          <p:cNvSpPr>
            <a:spLocks/>
          </p:cNvSpPr>
          <p:nvPr/>
        </p:nvSpPr>
        <p:spPr bwMode="auto">
          <a:xfrm>
            <a:off x="1239838" y="2914650"/>
            <a:ext cx="966787" cy="1588"/>
          </a:xfrm>
          <a:custGeom>
            <a:avLst/>
            <a:gdLst>
              <a:gd name="T0" fmla="*/ 0 w 609"/>
              <a:gd name="T1" fmla="*/ 0 h 1"/>
              <a:gd name="T2" fmla="*/ 966787 w 609"/>
              <a:gd name="T3" fmla="*/ 0 h 1"/>
              <a:gd name="T4" fmla="*/ 0 60000 65536"/>
              <a:gd name="T5" fmla="*/ 0 60000 65536"/>
            </a:gdLst>
            <a:ahLst/>
            <a:cxnLst>
              <a:cxn ang="T4">
                <a:pos x="T0" y="T1"/>
              </a:cxn>
              <a:cxn ang="T5">
                <a:pos x="T2" y="T3"/>
              </a:cxn>
            </a:cxnLst>
            <a:rect l="0" t="0" r="r" b="b"/>
            <a:pathLst>
              <a:path w="609" h="1">
                <a:moveTo>
                  <a:pt x="0" y="0"/>
                </a:moveTo>
                <a:lnTo>
                  <a:pt x="609" y="0"/>
                </a:lnTo>
              </a:path>
            </a:pathLst>
          </a:custGeom>
          <a:noFill/>
          <a:ln w="571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92" name="Freeform 72"/>
          <p:cNvSpPr>
            <a:spLocks/>
          </p:cNvSpPr>
          <p:nvPr/>
        </p:nvSpPr>
        <p:spPr bwMode="auto">
          <a:xfrm>
            <a:off x="1146175" y="3048000"/>
            <a:ext cx="1139825" cy="1085850"/>
          </a:xfrm>
          <a:custGeom>
            <a:avLst/>
            <a:gdLst>
              <a:gd name="T0" fmla="*/ 1139825 w 718"/>
              <a:gd name="T1" fmla="*/ 0 h 684"/>
              <a:gd name="T2" fmla="*/ 0 w 718"/>
              <a:gd name="T3" fmla="*/ 1085850 h 684"/>
              <a:gd name="T4" fmla="*/ 0 60000 65536"/>
              <a:gd name="T5" fmla="*/ 0 60000 65536"/>
            </a:gdLst>
            <a:ahLst/>
            <a:cxnLst>
              <a:cxn ang="T4">
                <a:pos x="T0" y="T1"/>
              </a:cxn>
              <a:cxn ang="T5">
                <a:pos x="T2" y="T3"/>
              </a:cxn>
            </a:cxnLst>
            <a:rect l="0" t="0" r="r" b="b"/>
            <a:pathLst>
              <a:path w="718" h="684">
                <a:moveTo>
                  <a:pt x="718" y="0"/>
                </a:moveTo>
                <a:lnTo>
                  <a:pt x="0" y="684"/>
                </a:lnTo>
              </a:path>
            </a:pathLst>
          </a:custGeom>
          <a:noFill/>
          <a:ln w="571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93" name="Rectangle 73"/>
          <p:cNvSpPr>
            <a:spLocks noChangeArrowheads="1"/>
          </p:cNvSpPr>
          <p:nvPr/>
        </p:nvSpPr>
        <p:spPr bwMode="auto">
          <a:xfrm>
            <a:off x="762000" y="4648200"/>
            <a:ext cx="31115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2</a:t>
            </a:r>
          </a:p>
        </p:txBody>
      </p:sp>
      <p:sp>
        <p:nvSpPr>
          <p:cNvPr id="107596" name="Freeform 76"/>
          <p:cNvSpPr>
            <a:spLocks/>
          </p:cNvSpPr>
          <p:nvPr/>
        </p:nvSpPr>
        <p:spPr bwMode="auto">
          <a:xfrm>
            <a:off x="3962400" y="1676400"/>
            <a:ext cx="1588" cy="1017588"/>
          </a:xfrm>
          <a:custGeom>
            <a:avLst/>
            <a:gdLst>
              <a:gd name="T0" fmla="*/ 0 w 1"/>
              <a:gd name="T1" fmla="*/ 0 h 641"/>
              <a:gd name="T2" fmla="*/ 0 w 1"/>
              <a:gd name="T3" fmla="*/ 1017588 h 641"/>
              <a:gd name="T4" fmla="*/ 0 60000 65536"/>
              <a:gd name="T5" fmla="*/ 0 60000 65536"/>
            </a:gdLst>
            <a:ahLst/>
            <a:cxnLst>
              <a:cxn ang="T4">
                <a:pos x="T0" y="T1"/>
              </a:cxn>
              <a:cxn ang="T5">
                <a:pos x="T2" y="T3"/>
              </a:cxn>
            </a:cxnLst>
            <a:rect l="0" t="0" r="r" b="b"/>
            <a:pathLst>
              <a:path w="1" h="641">
                <a:moveTo>
                  <a:pt x="0" y="0"/>
                </a:moveTo>
                <a:lnTo>
                  <a:pt x="0" y="641"/>
                </a:lnTo>
              </a:path>
            </a:pathLst>
          </a:custGeom>
          <a:noFill/>
          <a:ln w="571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97" name="Oval 77"/>
          <p:cNvSpPr>
            <a:spLocks noChangeArrowheads="1"/>
          </p:cNvSpPr>
          <p:nvPr/>
        </p:nvSpPr>
        <p:spPr bwMode="auto">
          <a:xfrm>
            <a:off x="3722687" y="1244600"/>
            <a:ext cx="468313" cy="476250"/>
          </a:xfrm>
          <a:prstGeom prst="ellipse">
            <a:avLst/>
          </a:prstGeom>
          <a:solidFill>
            <a:srgbClr val="B2B2B2"/>
          </a:solidFill>
          <a:ln w="381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3</a:t>
            </a:r>
          </a:p>
        </p:txBody>
      </p:sp>
      <p:sp>
        <p:nvSpPr>
          <p:cNvPr id="107598" name="Oval 78"/>
          <p:cNvSpPr>
            <a:spLocks noChangeArrowheads="1"/>
          </p:cNvSpPr>
          <p:nvPr/>
        </p:nvSpPr>
        <p:spPr bwMode="auto">
          <a:xfrm>
            <a:off x="3722686" y="1243013"/>
            <a:ext cx="468313"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3</a:t>
            </a:r>
          </a:p>
        </p:txBody>
      </p:sp>
      <p:sp>
        <p:nvSpPr>
          <p:cNvPr id="107600" name="Freeform 80"/>
          <p:cNvSpPr>
            <a:spLocks/>
          </p:cNvSpPr>
          <p:nvPr/>
        </p:nvSpPr>
        <p:spPr bwMode="auto">
          <a:xfrm>
            <a:off x="2659063" y="2914650"/>
            <a:ext cx="1093787" cy="1588"/>
          </a:xfrm>
          <a:custGeom>
            <a:avLst/>
            <a:gdLst>
              <a:gd name="T0" fmla="*/ 1093787 w 689"/>
              <a:gd name="T1" fmla="*/ 0 h 1"/>
              <a:gd name="T2" fmla="*/ 0 w 689"/>
              <a:gd name="T3" fmla="*/ 0 h 1"/>
              <a:gd name="T4" fmla="*/ 0 60000 65536"/>
              <a:gd name="T5" fmla="*/ 0 60000 65536"/>
            </a:gdLst>
            <a:ahLst/>
            <a:cxnLst>
              <a:cxn ang="T4">
                <a:pos x="T0" y="T1"/>
              </a:cxn>
              <a:cxn ang="T5">
                <a:pos x="T2" y="T3"/>
              </a:cxn>
            </a:cxnLst>
            <a:rect l="0" t="0" r="r" b="b"/>
            <a:pathLst>
              <a:path w="689" h="1">
                <a:moveTo>
                  <a:pt x="689" y="0"/>
                </a:moveTo>
                <a:lnTo>
                  <a:pt x="0" y="0"/>
                </a:lnTo>
              </a:path>
            </a:pathLst>
          </a:custGeom>
          <a:noFill/>
          <a:ln w="571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01" name="Oval 81"/>
          <p:cNvSpPr>
            <a:spLocks noChangeArrowheads="1"/>
          </p:cNvSpPr>
          <p:nvPr/>
        </p:nvSpPr>
        <p:spPr bwMode="auto">
          <a:xfrm>
            <a:off x="3735386" y="2676525"/>
            <a:ext cx="468313" cy="476250"/>
          </a:xfrm>
          <a:prstGeom prst="ellipse">
            <a:avLst/>
          </a:prstGeom>
          <a:solidFill>
            <a:srgbClr val="B2B2B2"/>
          </a:solidFill>
          <a:ln w="381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6</a:t>
            </a:r>
          </a:p>
        </p:txBody>
      </p:sp>
      <p:sp>
        <p:nvSpPr>
          <p:cNvPr id="107602" name="Line 82"/>
          <p:cNvSpPr>
            <a:spLocks noChangeShapeType="1"/>
          </p:cNvSpPr>
          <p:nvPr/>
        </p:nvSpPr>
        <p:spPr bwMode="auto">
          <a:xfrm>
            <a:off x="3962400" y="3124200"/>
            <a:ext cx="0" cy="91440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03" name="Rectangle 83"/>
          <p:cNvSpPr>
            <a:spLocks noChangeArrowheads="1"/>
          </p:cNvSpPr>
          <p:nvPr/>
        </p:nvSpPr>
        <p:spPr bwMode="auto">
          <a:xfrm>
            <a:off x="3810000" y="4648200"/>
            <a:ext cx="31115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3</a:t>
            </a:r>
          </a:p>
        </p:txBody>
      </p:sp>
      <p:sp>
        <p:nvSpPr>
          <p:cNvPr id="107606" name="Freeform 86"/>
          <p:cNvSpPr>
            <a:spLocks/>
          </p:cNvSpPr>
          <p:nvPr/>
        </p:nvSpPr>
        <p:spPr bwMode="auto">
          <a:xfrm>
            <a:off x="987425" y="3155950"/>
            <a:ext cx="1588" cy="893763"/>
          </a:xfrm>
          <a:custGeom>
            <a:avLst/>
            <a:gdLst>
              <a:gd name="T0" fmla="*/ 0 w 1"/>
              <a:gd name="T1" fmla="*/ 893763 h 563"/>
              <a:gd name="T2" fmla="*/ 0 w 1"/>
              <a:gd name="T3" fmla="*/ 0 h 563"/>
              <a:gd name="T4" fmla="*/ 0 60000 65536"/>
              <a:gd name="T5" fmla="*/ 0 60000 65536"/>
            </a:gdLst>
            <a:ahLst/>
            <a:cxnLst>
              <a:cxn ang="T4">
                <a:pos x="T0" y="T1"/>
              </a:cxn>
              <a:cxn ang="T5">
                <a:pos x="T2" y="T3"/>
              </a:cxn>
            </a:cxnLst>
            <a:rect l="0" t="0" r="r" b="b"/>
            <a:pathLst>
              <a:path w="1" h="563">
                <a:moveTo>
                  <a:pt x="0" y="563"/>
                </a:moveTo>
                <a:lnTo>
                  <a:pt x="0" y="0"/>
                </a:lnTo>
              </a:path>
            </a:pathLst>
          </a:custGeom>
          <a:noFill/>
          <a:ln w="571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07" name="Oval 87"/>
          <p:cNvSpPr>
            <a:spLocks noChangeArrowheads="1"/>
          </p:cNvSpPr>
          <p:nvPr/>
        </p:nvSpPr>
        <p:spPr bwMode="auto">
          <a:xfrm>
            <a:off x="771525" y="2682875"/>
            <a:ext cx="468313"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4</a:t>
            </a:r>
          </a:p>
        </p:txBody>
      </p:sp>
      <p:sp>
        <p:nvSpPr>
          <p:cNvPr id="107608" name="Oval 88"/>
          <p:cNvSpPr>
            <a:spLocks noChangeArrowheads="1"/>
          </p:cNvSpPr>
          <p:nvPr/>
        </p:nvSpPr>
        <p:spPr bwMode="auto">
          <a:xfrm>
            <a:off x="762000" y="4041775"/>
            <a:ext cx="468313" cy="476250"/>
          </a:xfrm>
          <a:prstGeom prst="ellipse">
            <a:avLst/>
          </a:prstGeom>
          <a:solidFill>
            <a:srgbClr val="B2B2B2"/>
          </a:solidFill>
          <a:ln w="381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7</a:t>
            </a:r>
          </a:p>
        </p:txBody>
      </p:sp>
      <p:sp>
        <p:nvSpPr>
          <p:cNvPr id="18482" name="Line 38"/>
          <p:cNvSpPr>
            <a:spLocks noChangeShapeType="1"/>
          </p:cNvSpPr>
          <p:nvPr/>
        </p:nvSpPr>
        <p:spPr bwMode="auto">
          <a:xfrm>
            <a:off x="1371600" y="5715000"/>
            <a:ext cx="6019800"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83" name="Line 39"/>
          <p:cNvSpPr>
            <a:spLocks noChangeShapeType="1"/>
          </p:cNvSpPr>
          <p:nvPr/>
        </p:nvSpPr>
        <p:spPr bwMode="auto">
          <a:xfrm>
            <a:off x="1371600" y="6248400"/>
            <a:ext cx="6019800"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84" name="Text Box 40"/>
          <p:cNvSpPr txBox="1">
            <a:spLocks noChangeArrowheads="1"/>
          </p:cNvSpPr>
          <p:nvPr/>
        </p:nvSpPr>
        <p:spPr bwMode="auto">
          <a:xfrm>
            <a:off x="3581400" y="5257800"/>
            <a:ext cx="460375" cy="519113"/>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800" b="1">
                <a:solidFill>
                  <a:schemeClr val="hlink"/>
                </a:solidFill>
                <a:latin typeface="Arial" pitchFamily="34" charset="0"/>
              </a:rPr>
              <a:t>Q</a:t>
            </a:r>
          </a:p>
        </p:txBody>
      </p:sp>
      <p:sp>
        <p:nvSpPr>
          <p:cNvPr id="18485" name="Line 41"/>
          <p:cNvSpPr>
            <a:spLocks noChangeShapeType="1"/>
          </p:cNvSpPr>
          <p:nvPr/>
        </p:nvSpPr>
        <p:spPr bwMode="auto">
          <a:xfrm>
            <a:off x="609600" y="6019800"/>
            <a:ext cx="533400" cy="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86" name="Line 42"/>
          <p:cNvSpPr>
            <a:spLocks noChangeShapeType="1"/>
          </p:cNvSpPr>
          <p:nvPr/>
        </p:nvSpPr>
        <p:spPr bwMode="auto">
          <a:xfrm>
            <a:off x="7543800" y="5943600"/>
            <a:ext cx="533400" cy="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63" name="Rectangle 43"/>
          <p:cNvSpPr>
            <a:spLocks noChangeArrowheads="1"/>
          </p:cNvSpPr>
          <p:nvPr/>
        </p:nvSpPr>
        <p:spPr bwMode="auto">
          <a:xfrm>
            <a:off x="6705600" y="5791200"/>
            <a:ext cx="311150" cy="366713"/>
          </a:xfrm>
          <a:prstGeom prst="rect">
            <a:avLst/>
          </a:prstGeom>
          <a:solidFill>
            <a:schemeClr val="hlink"/>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bg1"/>
                </a:solidFill>
                <a:latin typeface="Arial" pitchFamily="34" charset="0"/>
                <a:sym typeface="Symbol" pitchFamily="18" charset="2"/>
              </a:rPr>
              <a:t>1</a:t>
            </a:r>
          </a:p>
        </p:txBody>
      </p:sp>
      <p:sp>
        <p:nvSpPr>
          <p:cNvPr id="107566" name="Rectangle 46"/>
          <p:cNvSpPr>
            <a:spLocks noChangeArrowheads="1"/>
          </p:cNvSpPr>
          <p:nvPr/>
        </p:nvSpPr>
        <p:spPr bwMode="auto">
          <a:xfrm>
            <a:off x="6705600" y="5791200"/>
            <a:ext cx="38100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buFontTx/>
              <a:buNone/>
            </a:pPr>
            <a:endParaRPr lang="en-US" sz="1800" b="1">
              <a:solidFill>
                <a:schemeClr val="tx2"/>
              </a:solidFill>
              <a:latin typeface="Arial" pitchFamily="34" charset="0"/>
              <a:sym typeface="Symbol" pitchFamily="18" charset="2"/>
            </a:endParaRPr>
          </a:p>
        </p:txBody>
      </p:sp>
      <p:sp>
        <p:nvSpPr>
          <p:cNvPr id="107570" name="Rectangle 50"/>
          <p:cNvSpPr>
            <a:spLocks noChangeArrowheads="1"/>
          </p:cNvSpPr>
          <p:nvPr/>
        </p:nvSpPr>
        <p:spPr bwMode="auto">
          <a:xfrm>
            <a:off x="6324600" y="5791200"/>
            <a:ext cx="311150" cy="366713"/>
          </a:xfrm>
          <a:prstGeom prst="rect">
            <a:avLst/>
          </a:prstGeom>
          <a:solidFill>
            <a:schemeClr val="hlink"/>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bg1"/>
                </a:solidFill>
                <a:latin typeface="Arial" pitchFamily="34" charset="0"/>
                <a:sym typeface="Symbol" pitchFamily="18" charset="2"/>
              </a:rPr>
              <a:t>2</a:t>
            </a:r>
          </a:p>
        </p:txBody>
      </p:sp>
      <p:sp>
        <p:nvSpPr>
          <p:cNvPr id="107573" name="Rectangle 53"/>
          <p:cNvSpPr>
            <a:spLocks noChangeArrowheads="1"/>
          </p:cNvSpPr>
          <p:nvPr/>
        </p:nvSpPr>
        <p:spPr bwMode="auto">
          <a:xfrm>
            <a:off x="5943600" y="5791200"/>
            <a:ext cx="311150" cy="366713"/>
          </a:xfrm>
          <a:prstGeom prst="rect">
            <a:avLst/>
          </a:prstGeom>
          <a:solidFill>
            <a:schemeClr val="hlink"/>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bg1"/>
                </a:solidFill>
                <a:latin typeface="Arial" pitchFamily="34" charset="0"/>
                <a:sym typeface="Symbol" pitchFamily="18" charset="2"/>
              </a:rPr>
              <a:t>4</a:t>
            </a:r>
          </a:p>
        </p:txBody>
      </p:sp>
      <p:sp>
        <p:nvSpPr>
          <p:cNvPr id="107578" name="Rectangle 58"/>
          <p:cNvSpPr>
            <a:spLocks noChangeArrowheads="1"/>
          </p:cNvSpPr>
          <p:nvPr/>
        </p:nvSpPr>
        <p:spPr bwMode="auto">
          <a:xfrm>
            <a:off x="5562600" y="5791200"/>
            <a:ext cx="311150" cy="366713"/>
          </a:xfrm>
          <a:prstGeom prst="rect">
            <a:avLst/>
          </a:prstGeom>
          <a:solidFill>
            <a:schemeClr val="hlink"/>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bg1"/>
                </a:solidFill>
                <a:latin typeface="Arial" pitchFamily="34" charset="0"/>
                <a:sym typeface="Symbol" pitchFamily="18" charset="2"/>
              </a:rPr>
              <a:t>5</a:t>
            </a:r>
          </a:p>
        </p:txBody>
      </p:sp>
      <p:sp>
        <p:nvSpPr>
          <p:cNvPr id="107580" name="Rectangle 60"/>
          <p:cNvSpPr>
            <a:spLocks noChangeArrowheads="1"/>
          </p:cNvSpPr>
          <p:nvPr/>
        </p:nvSpPr>
        <p:spPr bwMode="auto">
          <a:xfrm>
            <a:off x="6324600" y="5791200"/>
            <a:ext cx="38100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buFontTx/>
              <a:buNone/>
            </a:pPr>
            <a:endParaRPr lang="en-US" sz="1800" b="1">
              <a:solidFill>
                <a:schemeClr val="tx2"/>
              </a:solidFill>
              <a:latin typeface="Arial" pitchFamily="34" charset="0"/>
              <a:sym typeface="Symbol" pitchFamily="18" charset="2"/>
            </a:endParaRPr>
          </a:p>
        </p:txBody>
      </p:sp>
      <p:sp>
        <p:nvSpPr>
          <p:cNvPr id="107583" name="Rectangle 63"/>
          <p:cNvSpPr>
            <a:spLocks noChangeArrowheads="1"/>
          </p:cNvSpPr>
          <p:nvPr/>
        </p:nvSpPr>
        <p:spPr bwMode="auto">
          <a:xfrm>
            <a:off x="5181600" y="5791200"/>
            <a:ext cx="311150" cy="366713"/>
          </a:xfrm>
          <a:prstGeom prst="rect">
            <a:avLst/>
          </a:prstGeom>
          <a:solidFill>
            <a:schemeClr val="hlink"/>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bg1"/>
                </a:solidFill>
                <a:latin typeface="Arial" pitchFamily="34" charset="0"/>
                <a:sym typeface="Symbol" pitchFamily="18" charset="2"/>
              </a:rPr>
              <a:t>3</a:t>
            </a:r>
          </a:p>
        </p:txBody>
      </p:sp>
      <p:sp>
        <p:nvSpPr>
          <p:cNvPr id="107586" name="Rectangle 66"/>
          <p:cNvSpPr>
            <a:spLocks noChangeArrowheads="1"/>
          </p:cNvSpPr>
          <p:nvPr/>
        </p:nvSpPr>
        <p:spPr bwMode="auto">
          <a:xfrm>
            <a:off x="4800600" y="5791200"/>
            <a:ext cx="311150" cy="366713"/>
          </a:xfrm>
          <a:prstGeom prst="rect">
            <a:avLst/>
          </a:prstGeom>
          <a:solidFill>
            <a:schemeClr val="hlink"/>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bg1"/>
                </a:solidFill>
                <a:latin typeface="Arial" pitchFamily="34" charset="0"/>
                <a:sym typeface="Symbol" pitchFamily="18" charset="2"/>
              </a:rPr>
              <a:t>6</a:t>
            </a:r>
          </a:p>
        </p:txBody>
      </p:sp>
      <p:sp>
        <p:nvSpPr>
          <p:cNvPr id="107588" name="Rectangle 68"/>
          <p:cNvSpPr>
            <a:spLocks noChangeArrowheads="1"/>
          </p:cNvSpPr>
          <p:nvPr/>
        </p:nvSpPr>
        <p:spPr bwMode="auto">
          <a:xfrm>
            <a:off x="5943600" y="5791200"/>
            <a:ext cx="38100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buFontTx/>
              <a:buNone/>
            </a:pPr>
            <a:endParaRPr lang="en-US" sz="1800" b="1">
              <a:solidFill>
                <a:schemeClr val="tx2"/>
              </a:solidFill>
              <a:latin typeface="Arial" pitchFamily="34" charset="0"/>
              <a:sym typeface="Symbol" pitchFamily="18" charset="2"/>
            </a:endParaRPr>
          </a:p>
        </p:txBody>
      </p:sp>
      <p:sp>
        <p:nvSpPr>
          <p:cNvPr id="107590" name="Rectangle 70"/>
          <p:cNvSpPr>
            <a:spLocks noChangeArrowheads="1"/>
          </p:cNvSpPr>
          <p:nvPr/>
        </p:nvSpPr>
        <p:spPr bwMode="auto">
          <a:xfrm>
            <a:off x="5562600" y="5791200"/>
            <a:ext cx="38100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buFontTx/>
              <a:buNone/>
            </a:pPr>
            <a:endParaRPr lang="en-US" sz="1800" b="1">
              <a:solidFill>
                <a:schemeClr val="tx2"/>
              </a:solidFill>
              <a:latin typeface="Arial" pitchFamily="34" charset="0"/>
              <a:sym typeface="Symbol" pitchFamily="18" charset="2"/>
            </a:endParaRPr>
          </a:p>
        </p:txBody>
      </p:sp>
      <p:sp>
        <p:nvSpPr>
          <p:cNvPr id="107594" name="Rectangle 74"/>
          <p:cNvSpPr>
            <a:spLocks noChangeArrowheads="1"/>
          </p:cNvSpPr>
          <p:nvPr/>
        </p:nvSpPr>
        <p:spPr bwMode="auto">
          <a:xfrm>
            <a:off x="4419600" y="5791200"/>
            <a:ext cx="311150" cy="366713"/>
          </a:xfrm>
          <a:prstGeom prst="rect">
            <a:avLst/>
          </a:prstGeom>
          <a:solidFill>
            <a:schemeClr val="hlink"/>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bg1"/>
                </a:solidFill>
                <a:latin typeface="Arial" pitchFamily="34" charset="0"/>
                <a:sym typeface="Symbol" pitchFamily="18" charset="2"/>
              </a:rPr>
              <a:t>7</a:t>
            </a:r>
          </a:p>
        </p:txBody>
      </p:sp>
      <p:sp>
        <p:nvSpPr>
          <p:cNvPr id="107595" name="Rectangle 75"/>
          <p:cNvSpPr>
            <a:spLocks noChangeArrowheads="1"/>
          </p:cNvSpPr>
          <p:nvPr/>
        </p:nvSpPr>
        <p:spPr bwMode="auto">
          <a:xfrm>
            <a:off x="5181600" y="5791200"/>
            <a:ext cx="38100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buFontTx/>
              <a:buNone/>
            </a:pPr>
            <a:endParaRPr lang="en-US" sz="1800" b="1">
              <a:solidFill>
                <a:schemeClr val="tx2"/>
              </a:solidFill>
              <a:latin typeface="Arial" pitchFamily="34" charset="0"/>
              <a:sym typeface="Symbol" pitchFamily="18" charset="2"/>
            </a:endParaRPr>
          </a:p>
        </p:txBody>
      </p:sp>
      <p:sp>
        <p:nvSpPr>
          <p:cNvPr id="107599" name="Rectangle 79"/>
          <p:cNvSpPr>
            <a:spLocks noChangeArrowheads="1"/>
          </p:cNvSpPr>
          <p:nvPr/>
        </p:nvSpPr>
        <p:spPr bwMode="auto">
          <a:xfrm>
            <a:off x="4800600" y="5791200"/>
            <a:ext cx="38100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buFontTx/>
              <a:buNone/>
            </a:pPr>
            <a:endParaRPr lang="en-US" sz="1800" b="1">
              <a:solidFill>
                <a:schemeClr val="tx2"/>
              </a:solidFill>
              <a:latin typeface="Arial" pitchFamily="34" charset="0"/>
              <a:sym typeface="Symbol" pitchFamily="18" charset="2"/>
            </a:endParaRPr>
          </a:p>
        </p:txBody>
      </p:sp>
      <p:sp>
        <p:nvSpPr>
          <p:cNvPr id="107604" name="Rectangle 84"/>
          <p:cNvSpPr>
            <a:spLocks noChangeArrowheads="1"/>
          </p:cNvSpPr>
          <p:nvPr/>
        </p:nvSpPr>
        <p:spPr bwMode="auto">
          <a:xfrm>
            <a:off x="4038600" y="5791200"/>
            <a:ext cx="311150" cy="366713"/>
          </a:xfrm>
          <a:prstGeom prst="rect">
            <a:avLst/>
          </a:prstGeom>
          <a:solidFill>
            <a:schemeClr val="hlink"/>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bg1"/>
                </a:solidFill>
                <a:latin typeface="Arial" pitchFamily="34" charset="0"/>
                <a:sym typeface="Symbol" pitchFamily="18" charset="2"/>
              </a:rPr>
              <a:t>9</a:t>
            </a:r>
          </a:p>
        </p:txBody>
      </p:sp>
      <p:sp>
        <p:nvSpPr>
          <p:cNvPr id="107605" name="Rectangle 85"/>
          <p:cNvSpPr>
            <a:spLocks noChangeArrowheads="1"/>
          </p:cNvSpPr>
          <p:nvPr/>
        </p:nvSpPr>
        <p:spPr bwMode="auto">
          <a:xfrm>
            <a:off x="4419600" y="5791200"/>
            <a:ext cx="38100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buFontTx/>
              <a:buNone/>
            </a:pPr>
            <a:endParaRPr lang="en-US" sz="1800" b="1">
              <a:solidFill>
                <a:schemeClr val="tx2"/>
              </a:solidFill>
              <a:latin typeface="Arial" pitchFamily="34" charset="0"/>
              <a:sym typeface="Symbol" pitchFamily="18" charset="2"/>
            </a:endParaRPr>
          </a:p>
        </p:txBody>
      </p:sp>
      <p:sp>
        <p:nvSpPr>
          <p:cNvPr id="107610" name="Rectangle 90"/>
          <p:cNvSpPr>
            <a:spLocks noChangeArrowheads="1"/>
          </p:cNvSpPr>
          <p:nvPr/>
        </p:nvSpPr>
        <p:spPr bwMode="auto">
          <a:xfrm>
            <a:off x="3962400" y="5791200"/>
            <a:ext cx="457200" cy="366713"/>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buFontTx/>
              <a:buNone/>
            </a:pPr>
            <a:endParaRPr lang="en-US" sz="1800" b="1">
              <a:solidFill>
                <a:schemeClr val="tx2"/>
              </a:solidFill>
              <a:latin typeface="Arial" pitchFamily="34" charset="0"/>
              <a:sym typeface="Symbol" pitchFamily="18" charset="2"/>
            </a:endParaRPr>
          </a:p>
        </p:txBody>
      </p:sp>
      <p:sp>
        <p:nvSpPr>
          <p:cNvPr id="107611" name="Freeform 91"/>
          <p:cNvSpPr>
            <a:spLocks/>
          </p:cNvSpPr>
          <p:nvPr/>
        </p:nvSpPr>
        <p:spPr bwMode="auto">
          <a:xfrm>
            <a:off x="2586038" y="3060700"/>
            <a:ext cx="1223962" cy="1054100"/>
          </a:xfrm>
          <a:custGeom>
            <a:avLst/>
            <a:gdLst>
              <a:gd name="T0" fmla="*/ 1223962 w 771"/>
              <a:gd name="T1" fmla="*/ 1054100 h 664"/>
              <a:gd name="T2" fmla="*/ 0 w 771"/>
              <a:gd name="T3" fmla="*/ 0 h 664"/>
              <a:gd name="T4" fmla="*/ 0 60000 65536"/>
              <a:gd name="T5" fmla="*/ 0 60000 65536"/>
            </a:gdLst>
            <a:ahLst/>
            <a:cxnLst>
              <a:cxn ang="T4">
                <a:pos x="T0" y="T1"/>
              </a:cxn>
              <a:cxn ang="T5">
                <a:pos x="T2" y="T3"/>
              </a:cxn>
            </a:cxnLst>
            <a:rect l="0" t="0" r="r" b="b"/>
            <a:pathLst>
              <a:path w="771" h="664">
                <a:moveTo>
                  <a:pt x="771" y="664"/>
                </a:moveTo>
                <a:lnTo>
                  <a:pt x="0" y="0"/>
                </a:lnTo>
              </a:path>
            </a:pathLst>
          </a:custGeom>
          <a:noFill/>
          <a:ln w="571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12" name="Oval 92"/>
          <p:cNvSpPr>
            <a:spLocks noChangeArrowheads="1"/>
          </p:cNvSpPr>
          <p:nvPr/>
        </p:nvSpPr>
        <p:spPr bwMode="auto">
          <a:xfrm>
            <a:off x="3751262" y="4054475"/>
            <a:ext cx="468313" cy="476250"/>
          </a:xfrm>
          <a:prstGeom prst="ellipse">
            <a:avLst/>
          </a:prstGeom>
          <a:solidFill>
            <a:srgbClr val="B2B2B2"/>
          </a:solidFill>
          <a:ln w="381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9</a:t>
            </a:r>
          </a:p>
        </p:txBody>
      </p:sp>
      <p:sp>
        <p:nvSpPr>
          <p:cNvPr id="107613" name="Oval 93"/>
          <p:cNvSpPr>
            <a:spLocks noChangeArrowheads="1"/>
          </p:cNvSpPr>
          <p:nvPr/>
        </p:nvSpPr>
        <p:spPr bwMode="auto">
          <a:xfrm>
            <a:off x="2190750" y="2670175"/>
            <a:ext cx="468313"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5</a:t>
            </a:r>
          </a:p>
        </p:txBody>
      </p:sp>
      <p:sp>
        <p:nvSpPr>
          <p:cNvPr id="107614" name="Oval 94"/>
          <p:cNvSpPr>
            <a:spLocks noChangeArrowheads="1"/>
          </p:cNvSpPr>
          <p:nvPr/>
        </p:nvSpPr>
        <p:spPr bwMode="auto">
          <a:xfrm>
            <a:off x="3752850" y="4054475"/>
            <a:ext cx="468313"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9</a:t>
            </a:r>
          </a:p>
        </p:txBody>
      </p:sp>
      <p:sp>
        <p:nvSpPr>
          <p:cNvPr id="107615" name="Oval 95"/>
          <p:cNvSpPr>
            <a:spLocks noChangeArrowheads="1"/>
          </p:cNvSpPr>
          <p:nvPr/>
        </p:nvSpPr>
        <p:spPr bwMode="auto">
          <a:xfrm>
            <a:off x="3722687" y="2676526"/>
            <a:ext cx="468313"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6</a:t>
            </a:r>
          </a:p>
        </p:txBody>
      </p:sp>
      <p:sp>
        <p:nvSpPr>
          <p:cNvPr id="107616" name="Oval 96"/>
          <p:cNvSpPr>
            <a:spLocks noChangeArrowheads="1"/>
          </p:cNvSpPr>
          <p:nvPr/>
        </p:nvSpPr>
        <p:spPr bwMode="auto">
          <a:xfrm>
            <a:off x="6810375" y="1184275"/>
            <a:ext cx="468313"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1</a:t>
            </a:r>
          </a:p>
        </p:txBody>
      </p:sp>
      <p:sp>
        <p:nvSpPr>
          <p:cNvPr id="107618" name="Oval 98"/>
          <p:cNvSpPr>
            <a:spLocks noChangeArrowheads="1"/>
          </p:cNvSpPr>
          <p:nvPr/>
        </p:nvSpPr>
        <p:spPr bwMode="auto">
          <a:xfrm>
            <a:off x="5362575" y="2174875"/>
            <a:ext cx="468313"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2</a:t>
            </a:r>
          </a:p>
        </p:txBody>
      </p:sp>
      <p:sp>
        <p:nvSpPr>
          <p:cNvPr id="107620" name="Oval 100"/>
          <p:cNvSpPr>
            <a:spLocks noChangeArrowheads="1"/>
          </p:cNvSpPr>
          <p:nvPr/>
        </p:nvSpPr>
        <p:spPr bwMode="auto">
          <a:xfrm>
            <a:off x="6886575" y="2174875"/>
            <a:ext cx="468313"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4</a:t>
            </a:r>
          </a:p>
        </p:txBody>
      </p:sp>
      <p:sp>
        <p:nvSpPr>
          <p:cNvPr id="107622" name="Oval 102"/>
          <p:cNvSpPr>
            <a:spLocks noChangeArrowheads="1"/>
          </p:cNvSpPr>
          <p:nvPr/>
        </p:nvSpPr>
        <p:spPr bwMode="auto">
          <a:xfrm>
            <a:off x="8334375" y="2098675"/>
            <a:ext cx="468313"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5</a:t>
            </a:r>
          </a:p>
        </p:txBody>
      </p:sp>
      <p:sp>
        <p:nvSpPr>
          <p:cNvPr id="107623" name="Oval 103"/>
          <p:cNvSpPr>
            <a:spLocks noChangeArrowheads="1"/>
          </p:cNvSpPr>
          <p:nvPr/>
        </p:nvSpPr>
        <p:spPr bwMode="auto">
          <a:xfrm>
            <a:off x="6810375" y="1195388"/>
            <a:ext cx="468313" cy="457200"/>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1</a:t>
            </a:r>
          </a:p>
        </p:txBody>
      </p:sp>
      <p:sp>
        <p:nvSpPr>
          <p:cNvPr id="107626" name="Oval 106"/>
          <p:cNvSpPr>
            <a:spLocks noChangeArrowheads="1"/>
          </p:cNvSpPr>
          <p:nvPr/>
        </p:nvSpPr>
        <p:spPr bwMode="auto">
          <a:xfrm>
            <a:off x="5372100" y="2195513"/>
            <a:ext cx="468313" cy="457200"/>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2</a:t>
            </a:r>
          </a:p>
        </p:txBody>
      </p:sp>
      <p:sp>
        <p:nvSpPr>
          <p:cNvPr id="107631" name="Oval 111"/>
          <p:cNvSpPr>
            <a:spLocks noChangeArrowheads="1"/>
          </p:cNvSpPr>
          <p:nvPr/>
        </p:nvSpPr>
        <p:spPr bwMode="auto">
          <a:xfrm>
            <a:off x="5362575" y="3317875"/>
            <a:ext cx="468313"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3</a:t>
            </a:r>
          </a:p>
        </p:txBody>
      </p:sp>
      <p:sp>
        <p:nvSpPr>
          <p:cNvPr id="107632" name="Oval 112"/>
          <p:cNvSpPr>
            <a:spLocks noChangeArrowheads="1"/>
          </p:cNvSpPr>
          <p:nvPr/>
        </p:nvSpPr>
        <p:spPr bwMode="auto">
          <a:xfrm>
            <a:off x="5386028" y="3304253"/>
            <a:ext cx="468313" cy="457200"/>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3</a:t>
            </a:r>
          </a:p>
        </p:txBody>
      </p:sp>
      <p:sp>
        <p:nvSpPr>
          <p:cNvPr id="107634" name="Oval 114"/>
          <p:cNvSpPr>
            <a:spLocks noChangeArrowheads="1"/>
          </p:cNvSpPr>
          <p:nvPr/>
        </p:nvSpPr>
        <p:spPr bwMode="auto">
          <a:xfrm>
            <a:off x="6886575" y="3241675"/>
            <a:ext cx="468313"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6</a:t>
            </a:r>
          </a:p>
        </p:txBody>
      </p:sp>
      <p:sp>
        <p:nvSpPr>
          <p:cNvPr id="107637" name="Oval 117"/>
          <p:cNvSpPr>
            <a:spLocks noChangeArrowheads="1"/>
          </p:cNvSpPr>
          <p:nvPr/>
        </p:nvSpPr>
        <p:spPr bwMode="auto">
          <a:xfrm>
            <a:off x="6902245" y="2185194"/>
            <a:ext cx="468313" cy="457200"/>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4</a:t>
            </a:r>
          </a:p>
        </p:txBody>
      </p:sp>
      <p:sp>
        <p:nvSpPr>
          <p:cNvPr id="107638" name="Oval 118"/>
          <p:cNvSpPr>
            <a:spLocks noChangeArrowheads="1"/>
          </p:cNvSpPr>
          <p:nvPr/>
        </p:nvSpPr>
        <p:spPr bwMode="auto">
          <a:xfrm>
            <a:off x="8334375" y="3241675"/>
            <a:ext cx="468313"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7</a:t>
            </a:r>
          </a:p>
        </p:txBody>
      </p:sp>
      <p:sp>
        <p:nvSpPr>
          <p:cNvPr id="107639" name="Oval 119"/>
          <p:cNvSpPr>
            <a:spLocks noChangeArrowheads="1"/>
          </p:cNvSpPr>
          <p:nvPr/>
        </p:nvSpPr>
        <p:spPr bwMode="auto">
          <a:xfrm>
            <a:off x="8334374" y="3241675"/>
            <a:ext cx="468313" cy="457200"/>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7</a:t>
            </a:r>
          </a:p>
        </p:txBody>
      </p:sp>
      <p:sp>
        <p:nvSpPr>
          <p:cNvPr id="107641" name="Oval 121"/>
          <p:cNvSpPr>
            <a:spLocks noChangeArrowheads="1"/>
          </p:cNvSpPr>
          <p:nvPr/>
        </p:nvSpPr>
        <p:spPr bwMode="auto">
          <a:xfrm>
            <a:off x="6886575" y="4308475"/>
            <a:ext cx="468313"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9</a:t>
            </a:r>
          </a:p>
        </p:txBody>
      </p:sp>
      <p:sp>
        <p:nvSpPr>
          <p:cNvPr id="107642" name="Oval 122"/>
          <p:cNvSpPr>
            <a:spLocks noChangeArrowheads="1"/>
          </p:cNvSpPr>
          <p:nvPr/>
        </p:nvSpPr>
        <p:spPr bwMode="auto">
          <a:xfrm>
            <a:off x="8323263" y="2117725"/>
            <a:ext cx="468313" cy="457200"/>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5</a:t>
            </a:r>
          </a:p>
        </p:txBody>
      </p:sp>
      <p:sp>
        <p:nvSpPr>
          <p:cNvPr id="107643" name="Oval 123"/>
          <p:cNvSpPr>
            <a:spLocks noChangeArrowheads="1"/>
          </p:cNvSpPr>
          <p:nvPr/>
        </p:nvSpPr>
        <p:spPr bwMode="auto">
          <a:xfrm>
            <a:off x="6896100" y="4319588"/>
            <a:ext cx="468313" cy="457200"/>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9</a:t>
            </a:r>
          </a:p>
        </p:txBody>
      </p:sp>
      <p:sp>
        <p:nvSpPr>
          <p:cNvPr id="107644" name="Oval 124"/>
          <p:cNvSpPr>
            <a:spLocks noChangeArrowheads="1"/>
          </p:cNvSpPr>
          <p:nvPr/>
        </p:nvSpPr>
        <p:spPr bwMode="auto">
          <a:xfrm>
            <a:off x="6896100" y="3241675"/>
            <a:ext cx="468313" cy="457200"/>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6</a:t>
            </a:r>
          </a:p>
        </p:txBody>
      </p:sp>
      <p:sp>
        <p:nvSpPr>
          <p:cNvPr id="107646" name="Text Box 126"/>
          <p:cNvSpPr txBox="1">
            <a:spLocks noChangeArrowheads="1"/>
          </p:cNvSpPr>
          <p:nvPr/>
        </p:nvSpPr>
        <p:spPr bwMode="auto">
          <a:xfrm>
            <a:off x="6096000" y="381000"/>
            <a:ext cx="1384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a:solidFill>
                  <a:schemeClr val="tx2"/>
                </a:solidFill>
                <a:latin typeface="Arial" pitchFamily="34" charset="0"/>
              </a:rPr>
              <a:t>BFS Tree:</a:t>
            </a:r>
          </a:p>
        </p:txBody>
      </p:sp>
      <p:sp>
        <p:nvSpPr>
          <p:cNvPr id="107587" name="Oval 67"/>
          <p:cNvSpPr>
            <a:spLocks noChangeArrowheads="1"/>
          </p:cNvSpPr>
          <p:nvPr/>
        </p:nvSpPr>
        <p:spPr bwMode="auto">
          <a:xfrm>
            <a:off x="2225674" y="1239838"/>
            <a:ext cx="468313"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2</a:t>
            </a:r>
          </a:p>
        </p:txBody>
      </p:sp>
      <p:sp>
        <p:nvSpPr>
          <p:cNvPr id="107609" name="Oval 89"/>
          <p:cNvSpPr>
            <a:spLocks noChangeArrowheads="1"/>
          </p:cNvSpPr>
          <p:nvPr/>
        </p:nvSpPr>
        <p:spPr bwMode="auto">
          <a:xfrm>
            <a:off x="771525" y="4054475"/>
            <a:ext cx="468313"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7</a:t>
            </a:r>
          </a:p>
        </p:txBody>
      </p:sp>
      <p:sp>
        <p:nvSpPr>
          <p:cNvPr id="107579" name="Oval 59"/>
          <p:cNvSpPr>
            <a:spLocks noChangeArrowheads="1"/>
          </p:cNvSpPr>
          <p:nvPr/>
        </p:nvSpPr>
        <p:spPr bwMode="auto">
          <a:xfrm>
            <a:off x="771525" y="1225550"/>
            <a:ext cx="468313"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1</a:t>
            </a:r>
          </a:p>
        </p:txBody>
      </p:sp>
      <p:sp>
        <p:nvSpPr>
          <p:cNvPr id="107652" name="Freeform 132"/>
          <p:cNvSpPr>
            <a:spLocks/>
          </p:cNvSpPr>
          <p:nvPr/>
        </p:nvSpPr>
        <p:spPr bwMode="auto">
          <a:xfrm>
            <a:off x="5780088" y="3709988"/>
            <a:ext cx="1077912" cy="785812"/>
          </a:xfrm>
          <a:custGeom>
            <a:avLst/>
            <a:gdLst>
              <a:gd name="T0" fmla="*/ 1077912 w 679"/>
              <a:gd name="T1" fmla="*/ 785812 h 495"/>
              <a:gd name="T2" fmla="*/ 0 w 679"/>
              <a:gd name="T3" fmla="*/ 0 h 495"/>
              <a:gd name="T4" fmla="*/ 0 60000 65536"/>
              <a:gd name="T5" fmla="*/ 0 60000 65536"/>
            </a:gdLst>
            <a:ahLst/>
            <a:cxnLst>
              <a:cxn ang="T4">
                <a:pos x="T0" y="T1"/>
              </a:cxn>
              <a:cxn ang="T5">
                <a:pos x="T2" y="T3"/>
              </a:cxn>
            </a:cxnLst>
            <a:rect l="0" t="0" r="r" b="b"/>
            <a:pathLst>
              <a:path w="679" h="495">
                <a:moveTo>
                  <a:pt x="679" y="495"/>
                </a:moveTo>
                <a:lnTo>
                  <a:pt x="0" y="0"/>
                </a:lnTo>
              </a:path>
            </a:pathLst>
          </a:custGeom>
          <a:noFill/>
          <a:ln w="190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53" name="Freeform 133"/>
          <p:cNvSpPr>
            <a:spLocks/>
          </p:cNvSpPr>
          <p:nvPr/>
        </p:nvSpPr>
        <p:spPr bwMode="auto">
          <a:xfrm>
            <a:off x="7210425" y="1608138"/>
            <a:ext cx="1247775" cy="1668462"/>
          </a:xfrm>
          <a:custGeom>
            <a:avLst/>
            <a:gdLst>
              <a:gd name="T0" fmla="*/ 1247775 w 786"/>
              <a:gd name="T1" fmla="*/ 1668462 h 1051"/>
              <a:gd name="T2" fmla="*/ 0 w 786"/>
              <a:gd name="T3" fmla="*/ 0 h 1051"/>
              <a:gd name="T4" fmla="*/ 0 60000 65536"/>
              <a:gd name="T5" fmla="*/ 0 60000 65536"/>
            </a:gdLst>
            <a:ahLst/>
            <a:cxnLst>
              <a:cxn ang="T4">
                <a:pos x="T0" y="T1"/>
              </a:cxn>
              <a:cxn ang="T5">
                <a:pos x="T2" y="T3"/>
              </a:cxn>
            </a:cxnLst>
            <a:rect l="0" t="0" r="r" b="b"/>
            <a:pathLst>
              <a:path w="786" h="1051">
                <a:moveTo>
                  <a:pt x="786" y="1051"/>
                </a:moveTo>
                <a:lnTo>
                  <a:pt x="0" y="0"/>
                </a:lnTo>
              </a:path>
            </a:pathLst>
          </a:custGeom>
          <a:noFill/>
          <a:ln w="190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530" name="Rectangle 134"/>
          <p:cNvSpPr>
            <a:spLocks noChangeArrowheads="1"/>
          </p:cNvSpPr>
          <p:nvPr/>
        </p:nvSpPr>
        <p:spPr bwMode="auto">
          <a:xfrm>
            <a:off x="1447800" y="381000"/>
            <a:ext cx="156527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2000" b="1">
                <a:solidFill>
                  <a:schemeClr val="tx2"/>
                </a:solidFill>
                <a:latin typeface="Arial" pitchFamily="34" charset="0"/>
              </a:rPr>
              <a:t>Digraph  G:</a:t>
            </a:r>
          </a:p>
        </p:txBody>
      </p:sp>
      <p:sp>
        <p:nvSpPr>
          <p:cNvPr id="18531" name="Text Box 135"/>
          <p:cNvSpPr txBox="1">
            <a:spLocks noChangeArrowheads="1"/>
          </p:cNvSpPr>
          <p:nvPr/>
        </p:nvSpPr>
        <p:spPr bwMode="auto">
          <a:xfrm>
            <a:off x="5016500" y="5105400"/>
            <a:ext cx="9080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a:solidFill>
                  <a:srgbClr val="CC0000"/>
                </a:solidFill>
                <a:latin typeface="Arial" pitchFamily="34" charset="0"/>
              </a:rPr>
              <a:t>SCAN:</a:t>
            </a:r>
          </a:p>
        </p:txBody>
      </p:sp>
      <p:sp>
        <p:nvSpPr>
          <p:cNvPr id="107656" name="Text Box 136"/>
          <p:cNvSpPr txBox="1">
            <a:spLocks noChangeArrowheads="1"/>
          </p:cNvSpPr>
          <p:nvPr/>
        </p:nvSpPr>
        <p:spPr bwMode="auto">
          <a:xfrm>
            <a:off x="6019800" y="5105400"/>
            <a:ext cx="311150" cy="366713"/>
          </a:xfrm>
          <a:prstGeom prst="rect">
            <a:avLst/>
          </a:prstGeom>
          <a:solidFill>
            <a:schemeClr val="bg1"/>
          </a:solidFill>
          <a:ln>
            <a:noFill/>
          </a:ln>
          <a:effectLst/>
          <a:extLs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a:solidFill>
                  <a:srgbClr val="CC0000"/>
                </a:solidFill>
                <a:latin typeface="Arial" pitchFamily="34" charset="0"/>
              </a:rPr>
              <a:t>1</a:t>
            </a:r>
          </a:p>
        </p:txBody>
      </p:sp>
      <p:sp>
        <p:nvSpPr>
          <p:cNvPr id="107657" name="Text Box 137"/>
          <p:cNvSpPr txBox="1">
            <a:spLocks noChangeArrowheads="1"/>
          </p:cNvSpPr>
          <p:nvPr/>
        </p:nvSpPr>
        <p:spPr bwMode="auto">
          <a:xfrm>
            <a:off x="6019800" y="5105400"/>
            <a:ext cx="311150" cy="366713"/>
          </a:xfrm>
          <a:prstGeom prst="rect">
            <a:avLst/>
          </a:prstGeom>
          <a:solidFill>
            <a:schemeClr val="bg1"/>
          </a:solidFill>
          <a:ln>
            <a:noFill/>
          </a:ln>
          <a:effectLst/>
          <a:extLs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a:solidFill>
                  <a:srgbClr val="CC0000"/>
                </a:solidFill>
                <a:latin typeface="Arial" pitchFamily="34" charset="0"/>
              </a:rPr>
              <a:t>2</a:t>
            </a:r>
          </a:p>
        </p:txBody>
      </p:sp>
      <p:sp>
        <p:nvSpPr>
          <p:cNvPr id="107658" name="Text Box 138"/>
          <p:cNvSpPr txBox="1">
            <a:spLocks noChangeArrowheads="1"/>
          </p:cNvSpPr>
          <p:nvPr/>
        </p:nvSpPr>
        <p:spPr bwMode="auto">
          <a:xfrm>
            <a:off x="6019800" y="5105400"/>
            <a:ext cx="311150" cy="366713"/>
          </a:xfrm>
          <a:prstGeom prst="rect">
            <a:avLst/>
          </a:prstGeom>
          <a:solidFill>
            <a:schemeClr val="bg1"/>
          </a:solidFill>
          <a:ln>
            <a:noFill/>
          </a:ln>
          <a:effectLst/>
          <a:extLs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a:solidFill>
                  <a:srgbClr val="CC0000"/>
                </a:solidFill>
                <a:latin typeface="Arial" pitchFamily="34" charset="0"/>
              </a:rPr>
              <a:t>4</a:t>
            </a:r>
          </a:p>
        </p:txBody>
      </p:sp>
      <p:sp>
        <p:nvSpPr>
          <p:cNvPr id="107659" name="Text Box 139"/>
          <p:cNvSpPr txBox="1">
            <a:spLocks noChangeArrowheads="1"/>
          </p:cNvSpPr>
          <p:nvPr/>
        </p:nvSpPr>
        <p:spPr bwMode="auto">
          <a:xfrm>
            <a:off x="6019800" y="5105400"/>
            <a:ext cx="311150" cy="366713"/>
          </a:xfrm>
          <a:prstGeom prst="rect">
            <a:avLst/>
          </a:prstGeom>
          <a:solidFill>
            <a:schemeClr val="bg1"/>
          </a:solidFill>
          <a:ln>
            <a:noFill/>
          </a:ln>
          <a:effectLst/>
          <a:extLs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a:solidFill>
                  <a:srgbClr val="CC0000"/>
                </a:solidFill>
                <a:latin typeface="Arial" pitchFamily="34" charset="0"/>
              </a:rPr>
              <a:t>5</a:t>
            </a:r>
          </a:p>
        </p:txBody>
      </p:sp>
      <p:sp>
        <p:nvSpPr>
          <p:cNvPr id="107660" name="Text Box 140"/>
          <p:cNvSpPr txBox="1">
            <a:spLocks noChangeArrowheads="1"/>
          </p:cNvSpPr>
          <p:nvPr/>
        </p:nvSpPr>
        <p:spPr bwMode="auto">
          <a:xfrm>
            <a:off x="6019800" y="5105400"/>
            <a:ext cx="311150" cy="366713"/>
          </a:xfrm>
          <a:prstGeom prst="rect">
            <a:avLst/>
          </a:prstGeom>
          <a:solidFill>
            <a:schemeClr val="bg1"/>
          </a:solidFill>
          <a:ln>
            <a:noFill/>
          </a:ln>
          <a:effectLst/>
          <a:extLs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a:solidFill>
                  <a:srgbClr val="CC0000"/>
                </a:solidFill>
                <a:latin typeface="Arial" pitchFamily="34" charset="0"/>
              </a:rPr>
              <a:t>3</a:t>
            </a:r>
          </a:p>
        </p:txBody>
      </p:sp>
      <p:sp>
        <p:nvSpPr>
          <p:cNvPr id="107661" name="Text Box 141"/>
          <p:cNvSpPr txBox="1">
            <a:spLocks noChangeArrowheads="1"/>
          </p:cNvSpPr>
          <p:nvPr/>
        </p:nvSpPr>
        <p:spPr bwMode="auto">
          <a:xfrm>
            <a:off x="6019800" y="5105400"/>
            <a:ext cx="311150" cy="366713"/>
          </a:xfrm>
          <a:prstGeom prst="rect">
            <a:avLst/>
          </a:prstGeom>
          <a:solidFill>
            <a:schemeClr val="bg1"/>
          </a:solidFill>
          <a:ln>
            <a:noFill/>
          </a:ln>
          <a:effectLst/>
          <a:extLs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a:solidFill>
                  <a:srgbClr val="CC0000"/>
                </a:solidFill>
                <a:latin typeface="Arial" pitchFamily="34" charset="0"/>
              </a:rPr>
              <a:t>6</a:t>
            </a:r>
          </a:p>
        </p:txBody>
      </p:sp>
      <p:sp>
        <p:nvSpPr>
          <p:cNvPr id="107662" name="Text Box 142"/>
          <p:cNvSpPr txBox="1">
            <a:spLocks noChangeArrowheads="1"/>
          </p:cNvSpPr>
          <p:nvPr/>
        </p:nvSpPr>
        <p:spPr bwMode="auto">
          <a:xfrm>
            <a:off x="6019800" y="5105400"/>
            <a:ext cx="311150" cy="366713"/>
          </a:xfrm>
          <a:prstGeom prst="rect">
            <a:avLst/>
          </a:prstGeom>
          <a:solidFill>
            <a:schemeClr val="bg1"/>
          </a:solidFill>
          <a:ln>
            <a:noFill/>
          </a:ln>
          <a:effectLst/>
          <a:extLs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a:solidFill>
                  <a:srgbClr val="CC0000"/>
                </a:solidFill>
                <a:latin typeface="Arial" pitchFamily="34" charset="0"/>
              </a:rPr>
              <a:t>7</a:t>
            </a:r>
          </a:p>
        </p:txBody>
      </p:sp>
      <p:sp>
        <p:nvSpPr>
          <p:cNvPr id="107663" name="Text Box 143"/>
          <p:cNvSpPr txBox="1">
            <a:spLocks noChangeArrowheads="1"/>
          </p:cNvSpPr>
          <p:nvPr/>
        </p:nvSpPr>
        <p:spPr bwMode="auto">
          <a:xfrm>
            <a:off x="6019800" y="5105400"/>
            <a:ext cx="311150" cy="366713"/>
          </a:xfrm>
          <a:prstGeom prst="rect">
            <a:avLst/>
          </a:prstGeom>
          <a:solidFill>
            <a:schemeClr val="bg1"/>
          </a:solidFill>
          <a:ln>
            <a:noFill/>
          </a:ln>
          <a:effectLst/>
          <a:extLs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a:solidFill>
                  <a:srgbClr val="CC0000"/>
                </a:solidFill>
                <a:latin typeface="Arial" pitchFamily="34" charset="0"/>
              </a:rPr>
              <a:t>9</a:t>
            </a:r>
          </a:p>
        </p:txBody>
      </p:sp>
      <p:sp>
        <p:nvSpPr>
          <p:cNvPr id="107664" name="Text Box 144"/>
          <p:cNvSpPr txBox="1">
            <a:spLocks noChangeArrowheads="1"/>
          </p:cNvSpPr>
          <p:nvPr/>
        </p:nvSpPr>
        <p:spPr bwMode="auto">
          <a:xfrm>
            <a:off x="6019800" y="5105400"/>
            <a:ext cx="311150" cy="366713"/>
          </a:xfrm>
          <a:prstGeom prst="rect">
            <a:avLst/>
          </a:prstGeom>
          <a:solidFill>
            <a:schemeClr val="bg1"/>
          </a:solidFill>
          <a:ln>
            <a:noFill/>
          </a:ln>
          <a:effectLst/>
          <a:extLs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a:solidFill>
                  <a:srgbClr val="CC0000"/>
                </a:solidFill>
                <a:latin typeface="Arial" pitchFamily="34" charset="0"/>
              </a:rPr>
              <a:t>  </a:t>
            </a:r>
          </a:p>
        </p:txBody>
      </p:sp>
      <p:sp>
        <p:nvSpPr>
          <p:cNvPr id="107667" name="Text Box 147"/>
          <p:cNvSpPr txBox="1">
            <a:spLocks noChangeArrowheads="1"/>
          </p:cNvSpPr>
          <p:nvPr/>
        </p:nvSpPr>
        <p:spPr bwMode="auto">
          <a:xfrm>
            <a:off x="5105400" y="5029200"/>
            <a:ext cx="1371600" cy="519113"/>
          </a:xfrm>
          <a:prstGeom prst="rect">
            <a:avLst/>
          </a:prstGeom>
          <a:solidFill>
            <a:schemeClr val="bg1"/>
          </a:solidFill>
          <a:ln>
            <a:noFill/>
          </a:ln>
          <a:effectLst/>
          <a:extLs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800" b="1">
                <a:solidFill>
                  <a:srgbClr val="CC0000"/>
                </a:solidFill>
                <a:latin typeface="Arial" pitchFamily="34" charset="0"/>
              </a:rPr>
              <a:t>DONE  </a:t>
            </a:r>
          </a:p>
        </p:txBody>
      </p:sp>
      <p:sp>
        <p:nvSpPr>
          <p:cNvPr id="2" name="Slide Number Placeholder 1"/>
          <p:cNvSpPr>
            <a:spLocks noGrp="1"/>
          </p:cNvSpPr>
          <p:nvPr>
            <p:ph type="sldNum" sz="quarter" idx="12"/>
          </p:nvPr>
        </p:nvSpPr>
        <p:spPr/>
        <p:txBody>
          <a:bodyPr/>
          <a:lstStyle/>
          <a:p>
            <a:pPr>
              <a:defRPr/>
            </a:pPr>
            <a:fld id="{5019D0FD-30FE-4170-95C0-BCF9C0F390F3}" type="slidenum">
              <a:rPr lang="en-US" smtClean="0"/>
              <a:pPr>
                <a:defRPr/>
              </a:pPr>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7564"/>
                                        </p:tgtEl>
                                        <p:attrNameLst>
                                          <p:attrName>style.visibility</p:attrName>
                                        </p:attrNameLst>
                                      </p:cBhvr>
                                      <p:to>
                                        <p:strVal val="visible"/>
                                      </p:to>
                                    </p:set>
                                    <p:animEffect transition="in" filter="dissolve">
                                      <p:cBhvr>
                                        <p:cTn id="7" dur="500"/>
                                        <p:tgtEl>
                                          <p:spTgt spid="107564"/>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07565"/>
                                        </p:tgtEl>
                                        <p:attrNameLst>
                                          <p:attrName>style.visibility</p:attrName>
                                        </p:attrNameLst>
                                      </p:cBhvr>
                                      <p:to>
                                        <p:strVal val="visible"/>
                                      </p:to>
                                    </p:set>
                                    <p:animEffect transition="in" filter="dissolve">
                                      <p:cBhvr>
                                        <p:cTn id="11" dur="500"/>
                                        <p:tgtEl>
                                          <p:spTgt spid="107565"/>
                                        </p:tgtEl>
                                      </p:cBhvr>
                                    </p:animEffect>
                                  </p:childTnLst>
                                </p:cTn>
                              </p:par>
                            </p:childTnLst>
                          </p:cTn>
                        </p:par>
                        <p:par>
                          <p:cTn id="12" fill="hold" nodeType="afterGroup">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107563"/>
                                        </p:tgtEl>
                                        <p:attrNameLst>
                                          <p:attrName>style.visibility</p:attrName>
                                        </p:attrNameLst>
                                      </p:cBhvr>
                                      <p:to>
                                        <p:strVal val="visible"/>
                                      </p:to>
                                    </p:set>
                                    <p:anim calcmode="lin" valueType="num">
                                      <p:cBhvr additive="base">
                                        <p:cTn id="15" dur="500" fill="hold"/>
                                        <p:tgtEl>
                                          <p:spTgt spid="107563"/>
                                        </p:tgtEl>
                                        <p:attrNameLst>
                                          <p:attrName>ppt_x</p:attrName>
                                        </p:attrNameLst>
                                      </p:cBhvr>
                                      <p:tavLst>
                                        <p:tav tm="0">
                                          <p:val>
                                            <p:strVal val="0-#ppt_w/2"/>
                                          </p:val>
                                        </p:tav>
                                        <p:tav tm="100000">
                                          <p:val>
                                            <p:strVal val="#ppt_x"/>
                                          </p:val>
                                        </p:tav>
                                      </p:tavLst>
                                    </p:anim>
                                    <p:anim calcmode="lin" valueType="num">
                                      <p:cBhvr additive="base">
                                        <p:cTn id="16" dur="500" fill="hold"/>
                                        <p:tgtEl>
                                          <p:spTgt spid="107563"/>
                                        </p:tgtEl>
                                        <p:attrNameLst>
                                          <p:attrName>ppt_y</p:attrName>
                                        </p:attrNameLst>
                                      </p:cBhvr>
                                      <p:tavLst>
                                        <p:tav tm="0">
                                          <p:val>
                                            <p:strVal val="#ppt_y"/>
                                          </p:val>
                                        </p:tav>
                                        <p:tav tm="100000">
                                          <p:val>
                                            <p:strVal val="#ppt_y"/>
                                          </p:val>
                                        </p:tav>
                                      </p:tavLst>
                                    </p:anim>
                                  </p:childTnLst>
                                </p:cTn>
                              </p:par>
                            </p:childTnLst>
                          </p:cTn>
                        </p:par>
                        <p:par>
                          <p:cTn id="17" fill="hold" nodeType="afterGroup">
                            <p:stCondLst>
                              <p:cond delay="1500"/>
                            </p:stCondLst>
                            <p:childTnLst>
                              <p:par>
                                <p:cTn id="18" presetID="22" presetClass="entr" presetSubtype="8" fill="hold" grpId="0" nodeType="afterEffect">
                                  <p:stCondLst>
                                    <p:cond delay="1000"/>
                                  </p:stCondLst>
                                  <p:childTnLst>
                                    <p:set>
                                      <p:cBhvr>
                                        <p:cTn id="19" dur="1" fill="hold">
                                          <p:stCondLst>
                                            <p:cond delay="0"/>
                                          </p:stCondLst>
                                        </p:cTn>
                                        <p:tgtEl>
                                          <p:spTgt spid="107646"/>
                                        </p:tgtEl>
                                        <p:attrNameLst>
                                          <p:attrName>style.visibility</p:attrName>
                                        </p:attrNameLst>
                                      </p:cBhvr>
                                      <p:to>
                                        <p:strVal val="visible"/>
                                      </p:to>
                                    </p:set>
                                    <p:animEffect transition="in" filter="wipe(left)">
                                      <p:cBhvr>
                                        <p:cTn id="20" dur="500"/>
                                        <p:tgtEl>
                                          <p:spTgt spid="107646"/>
                                        </p:tgtEl>
                                      </p:cBhvr>
                                    </p:animEffect>
                                  </p:childTnLst>
                                </p:cTn>
                              </p:par>
                            </p:childTnLst>
                          </p:cTn>
                        </p:par>
                        <p:par>
                          <p:cTn id="21" fill="hold" nodeType="afterGroup">
                            <p:stCondLst>
                              <p:cond delay="3000"/>
                            </p:stCondLst>
                            <p:childTnLst>
                              <p:par>
                                <p:cTn id="22" presetID="9" presetClass="entr" presetSubtype="0" fill="hold" grpId="0" nodeType="afterEffect">
                                  <p:stCondLst>
                                    <p:cond delay="0"/>
                                  </p:stCondLst>
                                  <p:childTnLst>
                                    <p:set>
                                      <p:cBhvr>
                                        <p:cTn id="23" dur="1" fill="hold">
                                          <p:stCondLst>
                                            <p:cond delay="0"/>
                                          </p:stCondLst>
                                        </p:cTn>
                                        <p:tgtEl>
                                          <p:spTgt spid="107616"/>
                                        </p:tgtEl>
                                        <p:attrNameLst>
                                          <p:attrName>style.visibility</p:attrName>
                                        </p:attrNameLst>
                                      </p:cBhvr>
                                      <p:to>
                                        <p:strVal val="visible"/>
                                      </p:to>
                                    </p:set>
                                    <p:animEffect transition="in" filter="dissolve">
                                      <p:cBhvr>
                                        <p:cTn id="24" dur="500"/>
                                        <p:tgtEl>
                                          <p:spTgt spid="10761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07566"/>
                                        </p:tgtEl>
                                        <p:attrNameLst>
                                          <p:attrName>style.visibility</p:attrName>
                                        </p:attrNameLst>
                                      </p:cBhvr>
                                      <p:to>
                                        <p:strVal val="visible"/>
                                      </p:to>
                                    </p:set>
                                    <p:animEffect transition="in" filter="dissolve">
                                      <p:cBhvr>
                                        <p:cTn id="29" dur="500"/>
                                        <p:tgtEl>
                                          <p:spTgt spid="107566"/>
                                        </p:tgtEl>
                                      </p:cBhvr>
                                    </p:animEffect>
                                  </p:childTnLst>
                                </p:cTn>
                              </p:par>
                            </p:childTnLst>
                          </p:cTn>
                        </p:par>
                        <p:par>
                          <p:cTn id="30" fill="hold" nodeType="afterGroup">
                            <p:stCondLst>
                              <p:cond delay="500"/>
                            </p:stCondLst>
                            <p:childTnLst>
                              <p:par>
                                <p:cTn id="31" presetID="9" presetClass="entr" presetSubtype="0" fill="hold" grpId="0" nodeType="afterEffect">
                                  <p:stCondLst>
                                    <p:cond delay="0"/>
                                  </p:stCondLst>
                                  <p:childTnLst>
                                    <p:set>
                                      <p:cBhvr>
                                        <p:cTn id="32" dur="1" fill="hold">
                                          <p:stCondLst>
                                            <p:cond delay="0"/>
                                          </p:stCondLst>
                                        </p:cTn>
                                        <p:tgtEl>
                                          <p:spTgt spid="107656"/>
                                        </p:tgtEl>
                                        <p:attrNameLst>
                                          <p:attrName>style.visibility</p:attrName>
                                        </p:attrNameLst>
                                      </p:cBhvr>
                                      <p:to>
                                        <p:strVal val="visible"/>
                                      </p:to>
                                    </p:set>
                                    <p:animEffect transition="in" filter="dissolve">
                                      <p:cBhvr>
                                        <p:cTn id="33" dur="500"/>
                                        <p:tgtEl>
                                          <p:spTgt spid="10765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7567"/>
                                        </p:tgtEl>
                                        <p:attrNameLst>
                                          <p:attrName>style.visibility</p:attrName>
                                        </p:attrNameLst>
                                      </p:cBhvr>
                                      <p:to>
                                        <p:strVal val="visible"/>
                                      </p:to>
                                    </p:set>
                                    <p:animEffect transition="in" filter="wipe(left)">
                                      <p:cBhvr>
                                        <p:cTn id="38" dur="500"/>
                                        <p:tgtEl>
                                          <p:spTgt spid="107567"/>
                                        </p:tgtEl>
                                      </p:cBhvr>
                                    </p:animEffect>
                                  </p:childTnLst>
                                </p:cTn>
                              </p:par>
                            </p:childTnLst>
                          </p:cTn>
                        </p:par>
                        <p:par>
                          <p:cTn id="39" fill="hold" nodeType="afterGroup">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107568"/>
                                        </p:tgtEl>
                                        <p:attrNameLst>
                                          <p:attrName>style.visibility</p:attrName>
                                        </p:attrNameLst>
                                      </p:cBhvr>
                                      <p:to>
                                        <p:strVal val="visible"/>
                                      </p:to>
                                    </p:set>
                                    <p:animEffect transition="in" filter="dissolve">
                                      <p:cBhvr>
                                        <p:cTn id="42" dur="500"/>
                                        <p:tgtEl>
                                          <p:spTgt spid="107568"/>
                                        </p:tgtEl>
                                      </p:cBhvr>
                                    </p:animEffect>
                                  </p:childTnLst>
                                </p:cTn>
                              </p:par>
                            </p:childTnLst>
                          </p:cTn>
                        </p:par>
                        <p:par>
                          <p:cTn id="43" fill="hold" nodeType="afterGroup">
                            <p:stCondLst>
                              <p:cond delay="1000"/>
                            </p:stCondLst>
                            <p:childTnLst>
                              <p:par>
                                <p:cTn id="44" presetID="9" presetClass="entr" presetSubtype="0" fill="hold" grpId="0" nodeType="afterEffect">
                                  <p:stCondLst>
                                    <p:cond delay="0"/>
                                  </p:stCondLst>
                                  <p:childTnLst>
                                    <p:set>
                                      <p:cBhvr>
                                        <p:cTn id="45" dur="1" fill="hold">
                                          <p:stCondLst>
                                            <p:cond delay="0"/>
                                          </p:stCondLst>
                                        </p:cTn>
                                        <p:tgtEl>
                                          <p:spTgt spid="107569"/>
                                        </p:tgtEl>
                                        <p:attrNameLst>
                                          <p:attrName>style.visibility</p:attrName>
                                        </p:attrNameLst>
                                      </p:cBhvr>
                                      <p:to>
                                        <p:strVal val="visible"/>
                                      </p:to>
                                    </p:set>
                                    <p:animEffect transition="in" filter="dissolve">
                                      <p:cBhvr>
                                        <p:cTn id="46" dur="500"/>
                                        <p:tgtEl>
                                          <p:spTgt spid="107569"/>
                                        </p:tgtEl>
                                      </p:cBhvr>
                                    </p:animEffect>
                                  </p:childTnLst>
                                </p:cTn>
                              </p:par>
                            </p:childTnLst>
                          </p:cTn>
                        </p:par>
                        <p:par>
                          <p:cTn id="47" fill="hold" nodeType="afterGroup">
                            <p:stCondLst>
                              <p:cond delay="1500"/>
                            </p:stCondLst>
                            <p:childTnLst>
                              <p:par>
                                <p:cTn id="48" presetID="2" presetClass="entr" presetSubtype="8" fill="hold" grpId="0" nodeType="afterEffect">
                                  <p:stCondLst>
                                    <p:cond delay="0"/>
                                  </p:stCondLst>
                                  <p:childTnLst>
                                    <p:set>
                                      <p:cBhvr>
                                        <p:cTn id="49" dur="1" fill="hold">
                                          <p:stCondLst>
                                            <p:cond delay="0"/>
                                          </p:stCondLst>
                                        </p:cTn>
                                        <p:tgtEl>
                                          <p:spTgt spid="107570"/>
                                        </p:tgtEl>
                                        <p:attrNameLst>
                                          <p:attrName>style.visibility</p:attrName>
                                        </p:attrNameLst>
                                      </p:cBhvr>
                                      <p:to>
                                        <p:strVal val="visible"/>
                                      </p:to>
                                    </p:set>
                                    <p:anim calcmode="lin" valueType="num">
                                      <p:cBhvr additive="base">
                                        <p:cTn id="50" dur="500" fill="hold"/>
                                        <p:tgtEl>
                                          <p:spTgt spid="107570"/>
                                        </p:tgtEl>
                                        <p:attrNameLst>
                                          <p:attrName>ppt_x</p:attrName>
                                        </p:attrNameLst>
                                      </p:cBhvr>
                                      <p:tavLst>
                                        <p:tav tm="0">
                                          <p:val>
                                            <p:strVal val="0-#ppt_w/2"/>
                                          </p:val>
                                        </p:tav>
                                        <p:tav tm="100000">
                                          <p:val>
                                            <p:strVal val="#ppt_x"/>
                                          </p:val>
                                        </p:tav>
                                      </p:tavLst>
                                    </p:anim>
                                    <p:anim calcmode="lin" valueType="num">
                                      <p:cBhvr additive="base">
                                        <p:cTn id="51" dur="500" fill="hold"/>
                                        <p:tgtEl>
                                          <p:spTgt spid="107570"/>
                                        </p:tgtEl>
                                        <p:attrNameLst>
                                          <p:attrName>ppt_y</p:attrName>
                                        </p:attrNameLst>
                                      </p:cBhvr>
                                      <p:tavLst>
                                        <p:tav tm="0">
                                          <p:val>
                                            <p:strVal val="#ppt_y"/>
                                          </p:val>
                                        </p:tav>
                                        <p:tav tm="100000">
                                          <p:val>
                                            <p:strVal val="#ppt_y"/>
                                          </p:val>
                                        </p:tav>
                                      </p:tavLst>
                                    </p:anim>
                                  </p:childTnLst>
                                </p:cTn>
                              </p:par>
                            </p:childTnLst>
                          </p:cTn>
                        </p:par>
                        <p:par>
                          <p:cTn id="52" fill="hold" nodeType="afterGroup">
                            <p:stCondLst>
                              <p:cond delay="2000"/>
                            </p:stCondLst>
                            <p:childTnLst>
                              <p:par>
                                <p:cTn id="53" presetID="22" presetClass="entr" presetSubtype="1" fill="hold" grpId="0" nodeType="afterEffect">
                                  <p:stCondLst>
                                    <p:cond delay="1000"/>
                                  </p:stCondLst>
                                  <p:childTnLst>
                                    <p:set>
                                      <p:cBhvr>
                                        <p:cTn id="54" dur="1" fill="hold">
                                          <p:stCondLst>
                                            <p:cond delay="0"/>
                                          </p:stCondLst>
                                        </p:cTn>
                                        <p:tgtEl>
                                          <p:spTgt spid="107617"/>
                                        </p:tgtEl>
                                        <p:attrNameLst>
                                          <p:attrName>style.visibility</p:attrName>
                                        </p:attrNameLst>
                                      </p:cBhvr>
                                      <p:to>
                                        <p:strVal val="visible"/>
                                      </p:to>
                                    </p:set>
                                    <p:animEffect transition="in" filter="wipe(up)">
                                      <p:cBhvr>
                                        <p:cTn id="55" dur="500"/>
                                        <p:tgtEl>
                                          <p:spTgt spid="107617"/>
                                        </p:tgtEl>
                                      </p:cBhvr>
                                    </p:animEffect>
                                  </p:childTnLst>
                                </p:cTn>
                              </p:par>
                            </p:childTnLst>
                          </p:cTn>
                        </p:par>
                        <p:par>
                          <p:cTn id="56" fill="hold" nodeType="afterGroup">
                            <p:stCondLst>
                              <p:cond delay="3500"/>
                            </p:stCondLst>
                            <p:childTnLst>
                              <p:par>
                                <p:cTn id="57" presetID="9" presetClass="entr" presetSubtype="0" fill="hold" grpId="0" nodeType="afterEffect">
                                  <p:stCondLst>
                                    <p:cond delay="0"/>
                                  </p:stCondLst>
                                  <p:childTnLst>
                                    <p:set>
                                      <p:cBhvr>
                                        <p:cTn id="58" dur="1" fill="hold">
                                          <p:stCondLst>
                                            <p:cond delay="0"/>
                                          </p:stCondLst>
                                        </p:cTn>
                                        <p:tgtEl>
                                          <p:spTgt spid="107618"/>
                                        </p:tgtEl>
                                        <p:attrNameLst>
                                          <p:attrName>style.visibility</p:attrName>
                                        </p:attrNameLst>
                                      </p:cBhvr>
                                      <p:to>
                                        <p:strVal val="visible"/>
                                      </p:to>
                                    </p:set>
                                    <p:animEffect transition="in" filter="dissolve">
                                      <p:cBhvr>
                                        <p:cTn id="59" dur="500"/>
                                        <p:tgtEl>
                                          <p:spTgt spid="107618"/>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107571"/>
                                        </p:tgtEl>
                                        <p:attrNameLst>
                                          <p:attrName>style.visibility</p:attrName>
                                        </p:attrNameLst>
                                      </p:cBhvr>
                                      <p:to>
                                        <p:strVal val="visible"/>
                                      </p:to>
                                    </p:set>
                                    <p:animEffect transition="in" filter="wipe(up)">
                                      <p:cBhvr>
                                        <p:cTn id="64" dur="500"/>
                                        <p:tgtEl>
                                          <p:spTgt spid="107571"/>
                                        </p:tgtEl>
                                      </p:cBhvr>
                                    </p:animEffect>
                                  </p:childTnLst>
                                </p:cTn>
                              </p:par>
                            </p:childTnLst>
                          </p:cTn>
                        </p:par>
                        <p:par>
                          <p:cTn id="65" fill="hold" nodeType="afterGroup">
                            <p:stCondLst>
                              <p:cond delay="500"/>
                            </p:stCondLst>
                            <p:childTnLst>
                              <p:par>
                                <p:cTn id="66" presetID="9" presetClass="entr" presetSubtype="0" fill="hold" grpId="0" nodeType="afterEffect">
                                  <p:stCondLst>
                                    <p:cond delay="0"/>
                                  </p:stCondLst>
                                  <p:childTnLst>
                                    <p:set>
                                      <p:cBhvr>
                                        <p:cTn id="67" dur="1" fill="hold">
                                          <p:stCondLst>
                                            <p:cond delay="0"/>
                                          </p:stCondLst>
                                        </p:cTn>
                                        <p:tgtEl>
                                          <p:spTgt spid="107574"/>
                                        </p:tgtEl>
                                        <p:attrNameLst>
                                          <p:attrName>style.visibility</p:attrName>
                                        </p:attrNameLst>
                                      </p:cBhvr>
                                      <p:to>
                                        <p:strVal val="visible"/>
                                      </p:to>
                                    </p:set>
                                    <p:animEffect transition="in" filter="dissolve">
                                      <p:cBhvr>
                                        <p:cTn id="68" dur="500"/>
                                        <p:tgtEl>
                                          <p:spTgt spid="107574"/>
                                        </p:tgtEl>
                                      </p:cBhvr>
                                    </p:animEffect>
                                  </p:childTnLst>
                                </p:cTn>
                              </p:par>
                            </p:childTnLst>
                          </p:cTn>
                        </p:par>
                        <p:par>
                          <p:cTn id="69" fill="hold" nodeType="afterGroup">
                            <p:stCondLst>
                              <p:cond delay="1000"/>
                            </p:stCondLst>
                            <p:childTnLst>
                              <p:par>
                                <p:cTn id="70" presetID="9" presetClass="entr" presetSubtype="0" fill="hold" grpId="0" nodeType="afterEffect">
                                  <p:stCondLst>
                                    <p:cond delay="0"/>
                                  </p:stCondLst>
                                  <p:childTnLst>
                                    <p:set>
                                      <p:cBhvr>
                                        <p:cTn id="71" dur="1" fill="hold">
                                          <p:stCondLst>
                                            <p:cond delay="0"/>
                                          </p:stCondLst>
                                        </p:cTn>
                                        <p:tgtEl>
                                          <p:spTgt spid="107572"/>
                                        </p:tgtEl>
                                        <p:attrNameLst>
                                          <p:attrName>style.visibility</p:attrName>
                                        </p:attrNameLst>
                                      </p:cBhvr>
                                      <p:to>
                                        <p:strVal val="visible"/>
                                      </p:to>
                                    </p:set>
                                    <p:animEffect transition="in" filter="dissolve">
                                      <p:cBhvr>
                                        <p:cTn id="72" dur="500"/>
                                        <p:tgtEl>
                                          <p:spTgt spid="107572"/>
                                        </p:tgtEl>
                                      </p:cBhvr>
                                    </p:animEffect>
                                  </p:childTnLst>
                                </p:cTn>
                              </p:par>
                            </p:childTnLst>
                          </p:cTn>
                        </p:par>
                        <p:par>
                          <p:cTn id="73" fill="hold" nodeType="afterGroup">
                            <p:stCondLst>
                              <p:cond delay="1500"/>
                            </p:stCondLst>
                            <p:childTnLst>
                              <p:par>
                                <p:cTn id="74" presetID="2" presetClass="entr" presetSubtype="8" fill="hold" grpId="0" nodeType="afterEffect">
                                  <p:stCondLst>
                                    <p:cond delay="0"/>
                                  </p:stCondLst>
                                  <p:childTnLst>
                                    <p:set>
                                      <p:cBhvr>
                                        <p:cTn id="75" dur="1" fill="hold">
                                          <p:stCondLst>
                                            <p:cond delay="0"/>
                                          </p:stCondLst>
                                        </p:cTn>
                                        <p:tgtEl>
                                          <p:spTgt spid="107573"/>
                                        </p:tgtEl>
                                        <p:attrNameLst>
                                          <p:attrName>style.visibility</p:attrName>
                                        </p:attrNameLst>
                                      </p:cBhvr>
                                      <p:to>
                                        <p:strVal val="visible"/>
                                      </p:to>
                                    </p:set>
                                    <p:anim calcmode="lin" valueType="num">
                                      <p:cBhvr additive="base">
                                        <p:cTn id="76" dur="500" fill="hold"/>
                                        <p:tgtEl>
                                          <p:spTgt spid="107573"/>
                                        </p:tgtEl>
                                        <p:attrNameLst>
                                          <p:attrName>ppt_x</p:attrName>
                                        </p:attrNameLst>
                                      </p:cBhvr>
                                      <p:tavLst>
                                        <p:tav tm="0">
                                          <p:val>
                                            <p:strVal val="0-#ppt_w/2"/>
                                          </p:val>
                                        </p:tav>
                                        <p:tav tm="100000">
                                          <p:val>
                                            <p:strVal val="#ppt_x"/>
                                          </p:val>
                                        </p:tav>
                                      </p:tavLst>
                                    </p:anim>
                                    <p:anim calcmode="lin" valueType="num">
                                      <p:cBhvr additive="base">
                                        <p:cTn id="77" dur="500" fill="hold"/>
                                        <p:tgtEl>
                                          <p:spTgt spid="107573"/>
                                        </p:tgtEl>
                                        <p:attrNameLst>
                                          <p:attrName>ppt_y</p:attrName>
                                        </p:attrNameLst>
                                      </p:cBhvr>
                                      <p:tavLst>
                                        <p:tav tm="0">
                                          <p:val>
                                            <p:strVal val="#ppt_y"/>
                                          </p:val>
                                        </p:tav>
                                        <p:tav tm="100000">
                                          <p:val>
                                            <p:strVal val="#ppt_y"/>
                                          </p:val>
                                        </p:tav>
                                      </p:tavLst>
                                    </p:anim>
                                  </p:childTnLst>
                                </p:cTn>
                              </p:par>
                            </p:childTnLst>
                          </p:cTn>
                        </p:par>
                        <p:par>
                          <p:cTn id="78" fill="hold" nodeType="afterGroup">
                            <p:stCondLst>
                              <p:cond delay="2000"/>
                            </p:stCondLst>
                            <p:childTnLst>
                              <p:par>
                                <p:cTn id="79" presetID="22" presetClass="entr" presetSubtype="1" fill="hold" grpId="0" nodeType="afterEffect">
                                  <p:stCondLst>
                                    <p:cond delay="1000"/>
                                  </p:stCondLst>
                                  <p:childTnLst>
                                    <p:set>
                                      <p:cBhvr>
                                        <p:cTn id="80" dur="1" fill="hold">
                                          <p:stCondLst>
                                            <p:cond delay="0"/>
                                          </p:stCondLst>
                                        </p:cTn>
                                        <p:tgtEl>
                                          <p:spTgt spid="107619"/>
                                        </p:tgtEl>
                                        <p:attrNameLst>
                                          <p:attrName>style.visibility</p:attrName>
                                        </p:attrNameLst>
                                      </p:cBhvr>
                                      <p:to>
                                        <p:strVal val="visible"/>
                                      </p:to>
                                    </p:set>
                                    <p:animEffect transition="in" filter="wipe(up)">
                                      <p:cBhvr>
                                        <p:cTn id="81" dur="500"/>
                                        <p:tgtEl>
                                          <p:spTgt spid="107619"/>
                                        </p:tgtEl>
                                      </p:cBhvr>
                                    </p:animEffect>
                                  </p:childTnLst>
                                </p:cTn>
                              </p:par>
                            </p:childTnLst>
                          </p:cTn>
                        </p:par>
                        <p:par>
                          <p:cTn id="82" fill="hold" nodeType="afterGroup">
                            <p:stCondLst>
                              <p:cond delay="3500"/>
                            </p:stCondLst>
                            <p:childTnLst>
                              <p:par>
                                <p:cTn id="83" presetID="9" presetClass="entr" presetSubtype="0" fill="hold" grpId="0" nodeType="afterEffect">
                                  <p:stCondLst>
                                    <p:cond delay="0"/>
                                  </p:stCondLst>
                                  <p:childTnLst>
                                    <p:set>
                                      <p:cBhvr>
                                        <p:cTn id="84" dur="1" fill="hold">
                                          <p:stCondLst>
                                            <p:cond delay="0"/>
                                          </p:stCondLst>
                                        </p:cTn>
                                        <p:tgtEl>
                                          <p:spTgt spid="107620"/>
                                        </p:tgtEl>
                                        <p:attrNameLst>
                                          <p:attrName>style.visibility</p:attrName>
                                        </p:attrNameLst>
                                      </p:cBhvr>
                                      <p:to>
                                        <p:strVal val="visible"/>
                                      </p:to>
                                    </p:set>
                                    <p:animEffect transition="in" filter="dissolve">
                                      <p:cBhvr>
                                        <p:cTn id="85" dur="500"/>
                                        <p:tgtEl>
                                          <p:spTgt spid="107620"/>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107575"/>
                                        </p:tgtEl>
                                        <p:attrNameLst>
                                          <p:attrName>style.visibility</p:attrName>
                                        </p:attrNameLst>
                                      </p:cBhvr>
                                      <p:to>
                                        <p:strVal val="visible"/>
                                      </p:to>
                                    </p:set>
                                    <p:animEffect transition="in" filter="wipe(up)">
                                      <p:cBhvr>
                                        <p:cTn id="90" dur="500"/>
                                        <p:tgtEl>
                                          <p:spTgt spid="107575"/>
                                        </p:tgtEl>
                                      </p:cBhvr>
                                    </p:animEffect>
                                  </p:childTnLst>
                                </p:cTn>
                              </p:par>
                            </p:childTnLst>
                          </p:cTn>
                        </p:par>
                        <p:par>
                          <p:cTn id="91" fill="hold" nodeType="afterGroup">
                            <p:stCondLst>
                              <p:cond delay="500"/>
                            </p:stCondLst>
                            <p:childTnLst>
                              <p:par>
                                <p:cTn id="92" presetID="9" presetClass="entr" presetSubtype="0" fill="hold" grpId="0" nodeType="afterEffect">
                                  <p:stCondLst>
                                    <p:cond delay="0"/>
                                  </p:stCondLst>
                                  <p:childTnLst>
                                    <p:set>
                                      <p:cBhvr>
                                        <p:cTn id="93" dur="1" fill="hold">
                                          <p:stCondLst>
                                            <p:cond delay="0"/>
                                          </p:stCondLst>
                                        </p:cTn>
                                        <p:tgtEl>
                                          <p:spTgt spid="107576"/>
                                        </p:tgtEl>
                                        <p:attrNameLst>
                                          <p:attrName>style.visibility</p:attrName>
                                        </p:attrNameLst>
                                      </p:cBhvr>
                                      <p:to>
                                        <p:strVal val="visible"/>
                                      </p:to>
                                    </p:set>
                                    <p:animEffect transition="in" filter="dissolve">
                                      <p:cBhvr>
                                        <p:cTn id="94" dur="500"/>
                                        <p:tgtEl>
                                          <p:spTgt spid="107576"/>
                                        </p:tgtEl>
                                      </p:cBhvr>
                                    </p:animEffect>
                                  </p:childTnLst>
                                </p:cTn>
                              </p:par>
                            </p:childTnLst>
                          </p:cTn>
                        </p:par>
                        <p:par>
                          <p:cTn id="95" fill="hold" nodeType="afterGroup">
                            <p:stCondLst>
                              <p:cond delay="1000"/>
                            </p:stCondLst>
                            <p:childTnLst>
                              <p:par>
                                <p:cTn id="96" presetID="9" presetClass="entr" presetSubtype="0" fill="hold" grpId="0" nodeType="afterEffect">
                                  <p:stCondLst>
                                    <p:cond delay="0"/>
                                  </p:stCondLst>
                                  <p:childTnLst>
                                    <p:set>
                                      <p:cBhvr>
                                        <p:cTn id="97" dur="1" fill="hold">
                                          <p:stCondLst>
                                            <p:cond delay="0"/>
                                          </p:stCondLst>
                                        </p:cTn>
                                        <p:tgtEl>
                                          <p:spTgt spid="107577"/>
                                        </p:tgtEl>
                                        <p:attrNameLst>
                                          <p:attrName>style.visibility</p:attrName>
                                        </p:attrNameLst>
                                      </p:cBhvr>
                                      <p:to>
                                        <p:strVal val="visible"/>
                                      </p:to>
                                    </p:set>
                                    <p:animEffect transition="in" filter="dissolve">
                                      <p:cBhvr>
                                        <p:cTn id="98" dur="500"/>
                                        <p:tgtEl>
                                          <p:spTgt spid="107577"/>
                                        </p:tgtEl>
                                      </p:cBhvr>
                                    </p:animEffect>
                                  </p:childTnLst>
                                </p:cTn>
                              </p:par>
                            </p:childTnLst>
                          </p:cTn>
                        </p:par>
                        <p:par>
                          <p:cTn id="99" fill="hold" nodeType="afterGroup">
                            <p:stCondLst>
                              <p:cond delay="1500"/>
                            </p:stCondLst>
                            <p:childTnLst>
                              <p:par>
                                <p:cTn id="100" presetID="2" presetClass="entr" presetSubtype="8" fill="hold" grpId="0" nodeType="afterEffect">
                                  <p:stCondLst>
                                    <p:cond delay="0"/>
                                  </p:stCondLst>
                                  <p:childTnLst>
                                    <p:set>
                                      <p:cBhvr>
                                        <p:cTn id="101" dur="1" fill="hold">
                                          <p:stCondLst>
                                            <p:cond delay="0"/>
                                          </p:stCondLst>
                                        </p:cTn>
                                        <p:tgtEl>
                                          <p:spTgt spid="107578"/>
                                        </p:tgtEl>
                                        <p:attrNameLst>
                                          <p:attrName>style.visibility</p:attrName>
                                        </p:attrNameLst>
                                      </p:cBhvr>
                                      <p:to>
                                        <p:strVal val="visible"/>
                                      </p:to>
                                    </p:set>
                                    <p:anim calcmode="lin" valueType="num">
                                      <p:cBhvr additive="base">
                                        <p:cTn id="102" dur="500" fill="hold"/>
                                        <p:tgtEl>
                                          <p:spTgt spid="107578"/>
                                        </p:tgtEl>
                                        <p:attrNameLst>
                                          <p:attrName>ppt_x</p:attrName>
                                        </p:attrNameLst>
                                      </p:cBhvr>
                                      <p:tavLst>
                                        <p:tav tm="0">
                                          <p:val>
                                            <p:strVal val="0-#ppt_w/2"/>
                                          </p:val>
                                        </p:tav>
                                        <p:tav tm="100000">
                                          <p:val>
                                            <p:strVal val="#ppt_x"/>
                                          </p:val>
                                        </p:tav>
                                      </p:tavLst>
                                    </p:anim>
                                    <p:anim calcmode="lin" valueType="num">
                                      <p:cBhvr additive="base">
                                        <p:cTn id="103" dur="500" fill="hold"/>
                                        <p:tgtEl>
                                          <p:spTgt spid="107578"/>
                                        </p:tgtEl>
                                        <p:attrNameLst>
                                          <p:attrName>ppt_y</p:attrName>
                                        </p:attrNameLst>
                                      </p:cBhvr>
                                      <p:tavLst>
                                        <p:tav tm="0">
                                          <p:val>
                                            <p:strVal val="#ppt_y"/>
                                          </p:val>
                                        </p:tav>
                                        <p:tav tm="100000">
                                          <p:val>
                                            <p:strVal val="#ppt_y"/>
                                          </p:val>
                                        </p:tav>
                                      </p:tavLst>
                                    </p:anim>
                                  </p:childTnLst>
                                </p:cTn>
                              </p:par>
                            </p:childTnLst>
                          </p:cTn>
                        </p:par>
                        <p:par>
                          <p:cTn id="104" fill="hold" nodeType="afterGroup">
                            <p:stCondLst>
                              <p:cond delay="2000"/>
                            </p:stCondLst>
                            <p:childTnLst>
                              <p:par>
                                <p:cTn id="105" presetID="22" presetClass="entr" presetSubtype="1" fill="hold" grpId="0" nodeType="afterEffect">
                                  <p:stCondLst>
                                    <p:cond delay="1000"/>
                                  </p:stCondLst>
                                  <p:childTnLst>
                                    <p:set>
                                      <p:cBhvr>
                                        <p:cTn id="106" dur="1" fill="hold">
                                          <p:stCondLst>
                                            <p:cond delay="0"/>
                                          </p:stCondLst>
                                        </p:cTn>
                                        <p:tgtEl>
                                          <p:spTgt spid="107621"/>
                                        </p:tgtEl>
                                        <p:attrNameLst>
                                          <p:attrName>style.visibility</p:attrName>
                                        </p:attrNameLst>
                                      </p:cBhvr>
                                      <p:to>
                                        <p:strVal val="visible"/>
                                      </p:to>
                                    </p:set>
                                    <p:animEffect transition="in" filter="wipe(up)">
                                      <p:cBhvr>
                                        <p:cTn id="107" dur="500"/>
                                        <p:tgtEl>
                                          <p:spTgt spid="107621"/>
                                        </p:tgtEl>
                                      </p:cBhvr>
                                    </p:animEffect>
                                  </p:childTnLst>
                                </p:cTn>
                              </p:par>
                            </p:childTnLst>
                          </p:cTn>
                        </p:par>
                        <p:par>
                          <p:cTn id="108" fill="hold" nodeType="afterGroup">
                            <p:stCondLst>
                              <p:cond delay="3500"/>
                            </p:stCondLst>
                            <p:childTnLst>
                              <p:par>
                                <p:cTn id="109" presetID="9" presetClass="entr" presetSubtype="0" fill="hold" grpId="0" nodeType="afterEffect">
                                  <p:stCondLst>
                                    <p:cond delay="0"/>
                                  </p:stCondLst>
                                  <p:childTnLst>
                                    <p:set>
                                      <p:cBhvr>
                                        <p:cTn id="110" dur="1" fill="hold">
                                          <p:stCondLst>
                                            <p:cond delay="0"/>
                                          </p:stCondLst>
                                        </p:cTn>
                                        <p:tgtEl>
                                          <p:spTgt spid="107622"/>
                                        </p:tgtEl>
                                        <p:attrNameLst>
                                          <p:attrName>style.visibility</p:attrName>
                                        </p:attrNameLst>
                                      </p:cBhvr>
                                      <p:to>
                                        <p:strVal val="visible"/>
                                      </p:to>
                                    </p:set>
                                    <p:animEffect transition="in" filter="dissolve">
                                      <p:cBhvr>
                                        <p:cTn id="111" dur="500"/>
                                        <p:tgtEl>
                                          <p:spTgt spid="107622"/>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9" presetClass="entr" presetSubtype="0" fill="hold" grpId="0" nodeType="clickEffect">
                                  <p:stCondLst>
                                    <p:cond delay="0"/>
                                  </p:stCondLst>
                                  <p:childTnLst>
                                    <p:set>
                                      <p:cBhvr>
                                        <p:cTn id="115" dur="1" fill="hold">
                                          <p:stCondLst>
                                            <p:cond delay="0"/>
                                          </p:stCondLst>
                                        </p:cTn>
                                        <p:tgtEl>
                                          <p:spTgt spid="107579"/>
                                        </p:tgtEl>
                                        <p:attrNameLst>
                                          <p:attrName>style.visibility</p:attrName>
                                        </p:attrNameLst>
                                      </p:cBhvr>
                                      <p:to>
                                        <p:strVal val="visible"/>
                                      </p:to>
                                    </p:set>
                                    <p:animEffect transition="in" filter="dissolve">
                                      <p:cBhvr>
                                        <p:cTn id="116" dur="500"/>
                                        <p:tgtEl>
                                          <p:spTgt spid="107579"/>
                                        </p:tgtEl>
                                      </p:cBhvr>
                                    </p:animEffect>
                                  </p:childTnLst>
                                </p:cTn>
                              </p:par>
                            </p:childTnLst>
                          </p:cTn>
                        </p:par>
                        <p:par>
                          <p:cTn id="117" fill="hold" nodeType="afterGroup">
                            <p:stCondLst>
                              <p:cond delay="500"/>
                            </p:stCondLst>
                            <p:childTnLst>
                              <p:par>
                                <p:cTn id="118" presetID="9" presetClass="entr" presetSubtype="0" fill="hold" grpId="0" nodeType="afterEffect">
                                  <p:stCondLst>
                                    <p:cond delay="0"/>
                                  </p:stCondLst>
                                  <p:childTnLst>
                                    <p:set>
                                      <p:cBhvr>
                                        <p:cTn id="119" dur="1" fill="hold">
                                          <p:stCondLst>
                                            <p:cond delay="0"/>
                                          </p:stCondLst>
                                        </p:cTn>
                                        <p:tgtEl>
                                          <p:spTgt spid="107623"/>
                                        </p:tgtEl>
                                        <p:attrNameLst>
                                          <p:attrName>style.visibility</p:attrName>
                                        </p:attrNameLst>
                                      </p:cBhvr>
                                      <p:to>
                                        <p:strVal val="visible"/>
                                      </p:to>
                                    </p:set>
                                    <p:animEffect transition="in" filter="dissolve">
                                      <p:cBhvr>
                                        <p:cTn id="120" dur="500"/>
                                        <p:tgtEl>
                                          <p:spTgt spid="107623"/>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9" presetClass="entr" presetSubtype="0" fill="hold" grpId="0" nodeType="clickEffect">
                                  <p:stCondLst>
                                    <p:cond delay="0"/>
                                  </p:stCondLst>
                                  <p:childTnLst>
                                    <p:set>
                                      <p:cBhvr>
                                        <p:cTn id="124" dur="1" fill="hold">
                                          <p:stCondLst>
                                            <p:cond delay="0"/>
                                          </p:stCondLst>
                                        </p:cTn>
                                        <p:tgtEl>
                                          <p:spTgt spid="107580"/>
                                        </p:tgtEl>
                                        <p:attrNameLst>
                                          <p:attrName>style.visibility</p:attrName>
                                        </p:attrNameLst>
                                      </p:cBhvr>
                                      <p:to>
                                        <p:strVal val="visible"/>
                                      </p:to>
                                    </p:set>
                                    <p:animEffect transition="in" filter="dissolve">
                                      <p:cBhvr>
                                        <p:cTn id="125" dur="500"/>
                                        <p:tgtEl>
                                          <p:spTgt spid="107580"/>
                                        </p:tgtEl>
                                      </p:cBhvr>
                                    </p:animEffect>
                                  </p:childTnLst>
                                </p:cTn>
                              </p:par>
                            </p:childTnLst>
                          </p:cTn>
                        </p:par>
                        <p:par>
                          <p:cTn id="126" fill="hold" nodeType="afterGroup">
                            <p:stCondLst>
                              <p:cond delay="500"/>
                            </p:stCondLst>
                            <p:childTnLst>
                              <p:par>
                                <p:cTn id="127" presetID="9" presetClass="entr" presetSubtype="0" fill="hold" grpId="0" nodeType="afterEffect">
                                  <p:stCondLst>
                                    <p:cond delay="0"/>
                                  </p:stCondLst>
                                  <p:childTnLst>
                                    <p:set>
                                      <p:cBhvr>
                                        <p:cTn id="128" dur="1" fill="hold">
                                          <p:stCondLst>
                                            <p:cond delay="0"/>
                                          </p:stCondLst>
                                        </p:cTn>
                                        <p:tgtEl>
                                          <p:spTgt spid="107657"/>
                                        </p:tgtEl>
                                        <p:attrNameLst>
                                          <p:attrName>style.visibility</p:attrName>
                                        </p:attrNameLst>
                                      </p:cBhvr>
                                      <p:to>
                                        <p:strVal val="visible"/>
                                      </p:to>
                                    </p:set>
                                    <p:animEffect transition="in" filter="dissolve">
                                      <p:cBhvr>
                                        <p:cTn id="129" dur="500"/>
                                        <p:tgtEl>
                                          <p:spTgt spid="107657"/>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107581"/>
                                        </p:tgtEl>
                                        <p:attrNameLst>
                                          <p:attrName>style.visibility</p:attrName>
                                        </p:attrNameLst>
                                      </p:cBhvr>
                                      <p:to>
                                        <p:strVal val="visible"/>
                                      </p:to>
                                    </p:set>
                                    <p:animEffect transition="in" filter="wipe(left)">
                                      <p:cBhvr>
                                        <p:cTn id="134" dur="500"/>
                                        <p:tgtEl>
                                          <p:spTgt spid="107581"/>
                                        </p:tgtEl>
                                      </p:cBhvr>
                                    </p:animEffect>
                                  </p:childTnLst>
                                </p:cTn>
                              </p:par>
                            </p:childTnLst>
                          </p:cTn>
                        </p:par>
                        <p:par>
                          <p:cTn id="135" fill="hold" nodeType="afterGroup">
                            <p:stCondLst>
                              <p:cond delay="500"/>
                            </p:stCondLst>
                            <p:childTnLst>
                              <p:par>
                                <p:cTn id="136" presetID="9" presetClass="entr" presetSubtype="0" fill="hold" grpId="0" nodeType="afterEffect">
                                  <p:stCondLst>
                                    <p:cond delay="0"/>
                                  </p:stCondLst>
                                  <p:childTnLst>
                                    <p:set>
                                      <p:cBhvr>
                                        <p:cTn id="137" dur="1" fill="hold">
                                          <p:stCondLst>
                                            <p:cond delay="0"/>
                                          </p:stCondLst>
                                        </p:cTn>
                                        <p:tgtEl>
                                          <p:spTgt spid="107597"/>
                                        </p:tgtEl>
                                        <p:attrNameLst>
                                          <p:attrName>style.visibility</p:attrName>
                                        </p:attrNameLst>
                                      </p:cBhvr>
                                      <p:to>
                                        <p:strVal val="visible"/>
                                      </p:to>
                                    </p:set>
                                    <p:animEffect transition="in" filter="dissolve">
                                      <p:cBhvr>
                                        <p:cTn id="138" dur="500"/>
                                        <p:tgtEl>
                                          <p:spTgt spid="107597"/>
                                        </p:tgtEl>
                                      </p:cBhvr>
                                    </p:animEffect>
                                  </p:childTnLst>
                                </p:cTn>
                              </p:par>
                            </p:childTnLst>
                          </p:cTn>
                        </p:par>
                        <p:par>
                          <p:cTn id="139" fill="hold" nodeType="afterGroup">
                            <p:stCondLst>
                              <p:cond delay="1000"/>
                            </p:stCondLst>
                            <p:childTnLst>
                              <p:par>
                                <p:cTn id="140" presetID="9" presetClass="entr" presetSubtype="0" fill="hold" grpId="0" nodeType="afterEffect">
                                  <p:stCondLst>
                                    <p:cond delay="0"/>
                                  </p:stCondLst>
                                  <p:childTnLst>
                                    <p:set>
                                      <p:cBhvr>
                                        <p:cTn id="141" dur="1" fill="hold">
                                          <p:stCondLst>
                                            <p:cond delay="0"/>
                                          </p:stCondLst>
                                        </p:cTn>
                                        <p:tgtEl>
                                          <p:spTgt spid="107582"/>
                                        </p:tgtEl>
                                        <p:attrNameLst>
                                          <p:attrName>style.visibility</p:attrName>
                                        </p:attrNameLst>
                                      </p:cBhvr>
                                      <p:to>
                                        <p:strVal val="visible"/>
                                      </p:to>
                                    </p:set>
                                    <p:animEffect transition="in" filter="dissolve">
                                      <p:cBhvr>
                                        <p:cTn id="142" dur="500"/>
                                        <p:tgtEl>
                                          <p:spTgt spid="107582"/>
                                        </p:tgtEl>
                                      </p:cBhvr>
                                    </p:animEffect>
                                  </p:childTnLst>
                                </p:cTn>
                              </p:par>
                            </p:childTnLst>
                          </p:cTn>
                        </p:par>
                        <p:par>
                          <p:cTn id="143" fill="hold" nodeType="afterGroup">
                            <p:stCondLst>
                              <p:cond delay="1500"/>
                            </p:stCondLst>
                            <p:childTnLst>
                              <p:par>
                                <p:cTn id="144" presetID="2" presetClass="entr" presetSubtype="8" fill="hold" grpId="0" nodeType="afterEffect">
                                  <p:stCondLst>
                                    <p:cond delay="0"/>
                                  </p:stCondLst>
                                  <p:childTnLst>
                                    <p:set>
                                      <p:cBhvr>
                                        <p:cTn id="145" dur="1" fill="hold">
                                          <p:stCondLst>
                                            <p:cond delay="0"/>
                                          </p:stCondLst>
                                        </p:cTn>
                                        <p:tgtEl>
                                          <p:spTgt spid="107583"/>
                                        </p:tgtEl>
                                        <p:attrNameLst>
                                          <p:attrName>style.visibility</p:attrName>
                                        </p:attrNameLst>
                                      </p:cBhvr>
                                      <p:to>
                                        <p:strVal val="visible"/>
                                      </p:to>
                                    </p:set>
                                    <p:anim calcmode="lin" valueType="num">
                                      <p:cBhvr additive="base">
                                        <p:cTn id="146" dur="500" fill="hold"/>
                                        <p:tgtEl>
                                          <p:spTgt spid="107583"/>
                                        </p:tgtEl>
                                        <p:attrNameLst>
                                          <p:attrName>ppt_x</p:attrName>
                                        </p:attrNameLst>
                                      </p:cBhvr>
                                      <p:tavLst>
                                        <p:tav tm="0">
                                          <p:val>
                                            <p:strVal val="0-#ppt_w/2"/>
                                          </p:val>
                                        </p:tav>
                                        <p:tav tm="100000">
                                          <p:val>
                                            <p:strVal val="#ppt_x"/>
                                          </p:val>
                                        </p:tav>
                                      </p:tavLst>
                                    </p:anim>
                                    <p:anim calcmode="lin" valueType="num">
                                      <p:cBhvr additive="base">
                                        <p:cTn id="147" dur="500" fill="hold"/>
                                        <p:tgtEl>
                                          <p:spTgt spid="107583"/>
                                        </p:tgtEl>
                                        <p:attrNameLst>
                                          <p:attrName>ppt_y</p:attrName>
                                        </p:attrNameLst>
                                      </p:cBhvr>
                                      <p:tavLst>
                                        <p:tav tm="0">
                                          <p:val>
                                            <p:strVal val="#ppt_y"/>
                                          </p:val>
                                        </p:tav>
                                        <p:tav tm="100000">
                                          <p:val>
                                            <p:strVal val="#ppt_y"/>
                                          </p:val>
                                        </p:tav>
                                      </p:tavLst>
                                    </p:anim>
                                  </p:childTnLst>
                                </p:cTn>
                              </p:par>
                            </p:childTnLst>
                          </p:cTn>
                        </p:par>
                        <p:par>
                          <p:cTn id="148" fill="hold" nodeType="afterGroup">
                            <p:stCondLst>
                              <p:cond delay="2000"/>
                            </p:stCondLst>
                            <p:childTnLst>
                              <p:par>
                                <p:cTn id="149" presetID="22" presetClass="entr" presetSubtype="1" fill="hold" grpId="0" nodeType="afterEffect">
                                  <p:stCondLst>
                                    <p:cond delay="1000"/>
                                  </p:stCondLst>
                                  <p:childTnLst>
                                    <p:set>
                                      <p:cBhvr>
                                        <p:cTn id="150" dur="1" fill="hold">
                                          <p:stCondLst>
                                            <p:cond delay="0"/>
                                          </p:stCondLst>
                                        </p:cTn>
                                        <p:tgtEl>
                                          <p:spTgt spid="107624"/>
                                        </p:tgtEl>
                                        <p:attrNameLst>
                                          <p:attrName>style.visibility</p:attrName>
                                        </p:attrNameLst>
                                      </p:cBhvr>
                                      <p:to>
                                        <p:strVal val="visible"/>
                                      </p:to>
                                    </p:set>
                                    <p:animEffect transition="in" filter="wipe(up)">
                                      <p:cBhvr>
                                        <p:cTn id="151" dur="500"/>
                                        <p:tgtEl>
                                          <p:spTgt spid="107624"/>
                                        </p:tgtEl>
                                      </p:cBhvr>
                                    </p:animEffect>
                                  </p:childTnLst>
                                </p:cTn>
                              </p:par>
                            </p:childTnLst>
                          </p:cTn>
                        </p:par>
                        <p:par>
                          <p:cTn id="152" fill="hold" nodeType="afterGroup">
                            <p:stCondLst>
                              <p:cond delay="3500"/>
                            </p:stCondLst>
                            <p:childTnLst>
                              <p:par>
                                <p:cTn id="153" presetID="9" presetClass="entr" presetSubtype="0" fill="hold" grpId="0" nodeType="afterEffect">
                                  <p:stCondLst>
                                    <p:cond delay="0"/>
                                  </p:stCondLst>
                                  <p:childTnLst>
                                    <p:set>
                                      <p:cBhvr>
                                        <p:cTn id="154" dur="1" fill="hold">
                                          <p:stCondLst>
                                            <p:cond delay="0"/>
                                          </p:stCondLst>
                                        </p:cTn>
                                        <p:tgtEl>
                                          <p:spTgt spid="107631"/>
                                        </p:tgtEl>
                                        <p:attrNameLst>
                                          <p:attrName>style.visibility</p:attrName>
                                        </p:attrNameLst>
                                      </p:cBhvr>
                                      <p:to>
                                        <p:strVal val="visible"/>
                                      </p:to>
                                    </p:set>
                                    <p:animEffect transition="in" filter="dissolve">
                                      <p:cBhvr>
                                        <p:cTn id="155" dur="500"/>
                                        <p:tgtEl>
                                          <p:spTgt spid="107631"/>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2" presetClass="entr" presetSubtype="1" fill="hold" grpId="0" nodeType="clickEffect">
                                  <p:stCondLst>
                                    <p:cond delay="0"/>
                                  </p:stCondLst>
                                  <p:childTnLst>
                                    <p:set>
                                      <p:cBhvr>
                                        <p:cTn id="159" dur="1" fill="hold">
                                          <p:stCondLst>
                                            <p:cond delay="0"/>
                                          </p:stCondLst>
                                        </p:cTn>
                                        <p:tgtEl>
                                          <p:spTgt spid="107584"/>
                                        </p:tgtEl>
                                        <p:attrNameLst>
                                          <p:attrName>style.visibility</p:attrName>
                                        </p:attrNameLst>
                                      </p:cBhvr>
                                      <p:to>
                                        <p:strVal val="visible"/>
                                      </p:to>
                                    </p:set>
                                    <p:animEffect transition="in" filter="wipe(up)">
                                      <p:cBhvr>
                                        <p:cTn id="160" dur="500"/>
                                        <p:tgtEl>
                                          <p:spTgt spid="107584"/>
                                        </p:tgtEl>
                                      </p:cBhvr>
                                    </p:animEffect>
                                  </p:childTnLst>
                                </p:cTn>
                              </p:par>
                            </p:childTnLst>
                          </p:cTn>
                        </p:par>
                        <p:par>
                          <p:cTn id="161" fill="hold" nodeType="afterGroup">
                            <p:stCondLst>
                              <p:cond delay="500"/>
                            </p:stCondLst>
                            <p:childTnLst>
                              <p:par>
                                <p:cTn id="162" presetID="9" presetClass="entr" presetSubtype="0" fill="hold" grpId="0" nodeType="afterEffect">
                                  <p:stCondLst>
                                    <p:cond delay="0"/>
                                  </p:stCondLst>
                                  <p:childTnLst>
                                    <p:set>
                                      <p:cBhvr>
                                        <p:cTn id="163" dur="1" fill="hold">
                                          <p:stCondLst>
                                            <p:cond delay="0"/>
                                          </p:stCondLst>
                                        </p:cTn>
                                        <p:tgtEl>
                                          <p:spTgt spid="107601"/>
                                        </p:tgtEl>
                                        <p:attrNameLst>
                                          <p:attrName>style.visibility</p:attrName>
                                        </p:attrNameLst>
                                      </p:cBhvr>
                                      <p:to>
                                        <p:strVal val="visible"/>
                                      </p:to>
                                    </p:set>
                                    <p:animEffect transition="in" filter="dissolve">
                                      <p:cBhvr>
                                        <p:cTn id="164" dur="500"/>
                                        <p:tgtEl>
                                          <p:spTgt spid="107601"/>
                                        </p:tgtEl>
                                      </p:cBhvr>
                                    </p:animEffect>
                                  </p:childTnLst>
                                </p:cTn>
                              </p:par>
                            </p:childTnLst>
                          </p:cTn>
                        </p:par>
                        <p:par>
                          <p:cTn id="165" fill="hold" nodeType="afterGroup">
                            <p:stCondLst>
                              <p:cond delay="1000"/>
                            </p:stCondLst>
                            <p:childTnLst>
                              <p:par>
                                <p:cTn id="166" presetID="9" presetClass="entr" presetSubtype="0" fill="hold" grpId="0" nodeType="afterEffect">
                                  <p:stCondLst>
                                    <p:cond delay="0"/>
                                  </p:stCondLst>
                                  <p:childTnLst>
                                    <p:set>
                                      <p:cBhvr>
                                        <p:cTn id="167" dur="1" fill="hold">
                                          <p:stCondLst>
                                            <p:cond delay="0"/>
                                          </p:stCondLst>
                                        </p:cTn>
                                        <p:tgtEl>
                                          <p:spTgt spid="107585"/>
                                        </p:tgtEl>
                                        <p:attrNameLst>
                                          <p:attrName>style.visibility</p:attrName>
                                        </p:attrNameLst>
                                      </p:cBhvr>
                                      <p:to>
                                        <p:strVal val="visible"/>
                                      </p:to>
                                    </p:set>
                                    <p:animEffect transition="in" filter="dissolve">
                                      <p:cBhvr>
                                        <p:cTn id="168" dur="500"/>
                                        <p:tgtEl>
                                          <p:spTgt spid="107585"/>
                                        </p:tgtEl>
                                      </p:cBhvr>
                                    </p:animEffect>
                                  </p:childTnLst>
                                </p:cTn>
                              </p:par>
                            </p:childTnLst>
                          </p:cTn>
                        </p:par>
                        <p:par>
                          <p:cTn id="169" fill="hold" nodeType="afterGroup">
                            <p:stCondLst>
                              <p:cond delay="1500"/>
                            </p:stCondLst>
                            <p:childTnLst>
                              <p:par>
                                <p:cTn id="170" presetID="2" presetClass="entr" presetSubtype="8" fill="hold" grpId="0" nodeType="afterEffect">
                                  <p:stCondLst>
                                    <p:cond delay="0"/>
                                  </p:stCondLst>
                                  <p:childTnLst>
                                    <p:set>
                                      <p:cBhvr>
                                        <p:cTn id="171" dur="1" fill="hold">
                                          <p:stCondLst>
                                            <p:cond delay="0"/>
                                          </p:stCondLst>
                                        </p:cTn>
                                        <p:tgtEl>
                                          <p:spTgt spid="107586"/>
                                        </p:tgtEl>
                                        <p:attrNameLst>
                                          <p:attrName>style.visibility</p:attrName>
                                        </p:attrNameLst>
                                      </p:cBhvr>
                                      <p:to>
                                        <p:strVal val="visible"/>
                                      </p:to>
                                    </p:set>
                                    <p:anim calcmode="lin" valueType="num">
                                      <p:cBhvr additive="base">
                                        <p:cTn id="172" dur="500" fill="hold"/>
                                        <p:tgtEl>
                                          <p:spTgt spid="107586"/>
                                        </p:tgtEl>
                                        <p:attrNameLst>
                                          <p:attrName>ppt_x</p:attrName>
                                        </p:attrNameLst>
                                      </p:cBhvr>
                                      <p:tavLst>
                                        <p:tav tm="0">
                                          <p:val>
                                            <p:strVal val="0-#ppt_w/2"/>
                                          </p:val>
                                        </p:tav>
                                        <p:tav tm="100000">
                                          <p:val>
                                            <p:strVal val="#ppt_x"/>
                                          </p:val>
                                        </p:tav>
                                      </p:tavLst>
                                    </p:anim>
                                    <p:anim calcmode="lin" valueType="num">
                                      <p:cBhvr additive="base">
                                        <p:cTn id="173" dur="500" fill="hold"/>
                                        <p:tgtEl>
                                          <p:spTgt spid="107586"/>
                                        </p:tgtEl>
                                        <p:attrNameLst>
                                          <p:attrName>ppt_y</p:attrName>
                                        </p:attrNameLst>
                                      </p:cBhvr>
                                      <p:tavLst>
                                        <p:tav tm="0">
                                          <p:val>
                                            <p:strVal val="#ppt_y"/>
                                          </p:val>
                                        </p:tav>
                                        <p:tav tm="100000">
                                          <p:val>
                                            <p:strVal val="#ppt_y"/>
                                          </p:val>
                                        </p:tav>
                                      </p:tavLst>
                                    </p:anim>
                                  </p:childTnLst>
                                </p:cTn>
                              </p:par>
                            </p:childTnLst>
                          </p:cTn>
                        </p:par>
                        <p:par>
                          <p:cTn id="174" fill="hold" nodeType="afterGroup">
                            <p:stCondLst>
                              <p:cond delay="2000"/>
                            </p:stCondLst>
                            <p:childTnLst>
                              <p:par>
                                <p:cTn id="175" presetID="22" presetClass="entr" presetSubtype="1" fill="hold" grpId="0" nodeType="afterEffect">
                                  <p:stCondLst>
                                    <p:cond delay="1000"/>
                                  </p:stCondLst>
                                  <p:childTnLst>
                                    <p:set>
                                      <p:cBhvr>
                                        <p:cTn id="176" dur="1" fill="hold">
                                          <p:stCondLst>
                                            <p:cond delay="0"/>
                                          </p:stCondLst>
                                        </p:cTn>
                                        <p:tgtEl>
                                          <p:spTgt spid="107625"/>
                                        </p:tgtEl>
                                        <p:attrNameLst>
                                          <p:attrName>style.visibility</p:attrName>
                                        </p:attrNameLst>
                                      </p:cBhvr>
                                      <p:to>
                                        <p:strVal val="visible"/>
                                      </p:to>
                                    </p:set>
                                    <p:animEffect transition="in" filter="wipe(up)">
                                      <p:cBhvr>
                                        <p:cTn id="177" dur="500"/>
                                        <p:tgtEl>
                                          <p:spTgt spid="107625"/>
                                        </p:tgtEl>
                                      </p:cBhvr>
                                    </p:animEffect>
                                  </p:childTnLst>
                                </p:cTn>
                              </p:par>
                            </p:childTnLst>
                          </p:cTn>
                        </p:par>
                        <p:par>
                          <p:cTn id="178" fill="hold" nodeType="afterGroup">
                            <p:stCondLst>
                              <p:cond delay="3500"/>
                            </p:stCondLst>
                            <p:childTnLst>
                              <p:par>
                                <p:cTn id="179" presetID="9" presetClass="entr" presetSubtype="0" fill="hold" grpId="0" nodeType="afterEffect">
                                  <p:stCondLst>
                                    <p:cond delay="0"/>
                                  </p:stCondLst>
                                  <p:childTnLst>
                                    <p:set>
                                      <p:cBhvr>
                                        <p:cTn id="180" dur="1" fill="hold">
                                          <p:stCondLst>
                                            <p:cond delay="0"/>
                                          </p:stCondLst>
                                        </p:cTn>
                                        <p:tgtEl>
                                          <p:spTgt spid="107634"/>
                                        </p:tgtEl>
                                        <p:attrNameLst>
                                          <p:attrName>style.visibility</p:attrName>
                                        </p:attrNameLst>
                                      </p:cBhvr>
                                      <p:to>
                                        <p:strVal val="visible"/>
                                      </p:to>
                                    </p:set>
                                    <p:animEffect transition="in" filter="dissolve">
                                      <p:cBhvr>
                                        <p:cTn id="181" dur="500"/>
                                        <p:tgtEl>
                                          <p:spTgt spid="107634"/>
                                        </p:tgtEl>
                                      </p:cBhvr>
                                    </p:animEffec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9" presetClass="entr" presetSubtype="0" fill="hold" grpId="0" nodeType="clickEffect">
                                  <p:stCondLst>
                                    <p:cond delay="0"/>
                                  </p:stCondLst>
                                  <p:childTnLst>
                                    <p:set>
                                      <p:cBhvr>
                                        <p:cTn id="185" dur="1" fill="hold">
                                          <p:stCondLst>
                                            <p:cond delay="0"/>
                                          </p:stCondLst>
                                        </p:cTn>
                                        <p:tgtEl>
                                          <p:spTgt spid="107587"/>
                                        </p:tgtEl>
                                        <p:attrNameLst>
                                          <p:attrName>style.visibility</p:attrName>
                                        </p:attrNameLst>
                                      </p:cBhvr>
                                      <p:to>
                                        <p:strVal val="visible"/>
                                      </p:to>
                                    </p:set>
                                    <p:animEffect transition="in" filter="dissolve">
                                      <p:cBhvr>
                                        <p:cTn id="186" dur="500"/>
                                        <p:tgtEl>
                                          <p:spTgt spid="107587"/>
                                        </p:tgtEl>
                                      </p:cBhvr>
                                    </p:animEffect>
                                  </p:childTnLst>
                                </p:cTn>
                              </p:par>
                            </p:childTnLst>
                          </p:cTn>
                        </p:par>
                        <p:par>
                          <p:cTn id="187" fill="hold" nodeType="afterGroup">
                            <p:stCondLst>
                              <p:cond delay="500"/>
                            </p:stCondLst>
                            <p:childTnLst>
                              <p:par>
                                <p:cTn id="188" presetID="9" presetClass="entr" presetSubtype="0" fill="hold" grpId="0" nodeType="afterEffect">
                                  <p:stCondLst>
                                    <p:cond delay="0"/>
                                  </p:stCondLst>
                                  <p:childTnLst>
                                    <p:set>
                                      <p:cBhvr>
                                        <p:cTn id="189" dur="1" fill="hold">
                                          <p:stCondLst>
                                            <p:cond delay="0"/>
                                          </p:stCondLst>
                                        </p:cTn>
                                        <p:tgtEl>
                                          <p:spTgt spid="107626"/>
                                        </p:tgtEl>
                                        <p:attrNameLst>
                                          <p:attrName>style.visibility</p:attrName>
                                        </p:attrNameLst>
                                      </p:cBhvr>
                                      <p:to>
                                        <p:strVal val="visible"/>
                                      </p:to>
                                    </p:set>
                                    <p:animEffect transition="in" filter="dissolve">
                                      <p:cBhvr>
                                        <p:cTn id="190" dur="500"/>
                                        <p:tgtEl>
                                          <p:spTgt spid="107626"/>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9" presetClass="entr" presetSubtype="0" fill="hold" grpId="0" nodeType="clickEffect">
                                  <p:stCondLst>
                                    <p:cond delay="0"/>
                                  </p:stCondLst>
                                  <p:childTnLst>
                                    <p:set>
                                      <p:cBhvr>
                                        <p:cTn id="194" dur="1" fill="hold">
                                          <p:stCondLst>
                                            <p:cond delay="0"/>
                                          </p:stCondLst>
                                        </p:cTn>
                                        <p:tgtEl>
                                          <p:spTgt spid="107588"/>
                                        </p:tgtEl>
                                        <p:attrNameLst>
                                          <p:attrName>style.visibility</p:attrName>
                                        </p:attrNameLst>
                                      </p:cBhvr>
                                      <p:to>
                                        <p:strVal val="visible"/>
                                      </p:to>
                                    </p:set>
                                    <p:animEffect transition="in" filter="dissolve">
                                      <p:cBhvr>
                                        <p:cTn id="195" dur="500"/>
                                        <p:tgtEl>
                                          <p:spTgt spid="107588"/>
                                        </p:tgtEl>
                                      </p:cBhvr>
                                    </p:animEffect>
                                  </p:childTnLst>
                                </p:cTn>
                              </p:par>
                            </p:childTnLst>
                          </p:cTn>
                        </p:par>
                        <p:par>
                          <p:cTn id="196" fill="hold" nodeType="afterGroup">
                            <p:stCondLst>
                              <p:cond delay="500"/>
                            </p:stCondLst>
                            <p:childTnLst>
                              <p:par>
                                <p:cTn id="197" presetID="9" presetClass="entr" presetSubtype="0" fill="hold" grpId="0" nodeType="afterEffect">
                                  <p:stCondLst>
                                    <p:cond delay="0"/>
                                  </p:stCondLst>
                                  <p:childTnLst>
                                    <p:set>
                                      <p:cBhvr>
                                        <p:cTn id="198" dur="1" fill="hold">
                                          <p:stCondLst>
                                            <p:cond delay="0"/>
                                          </p:stCondLst>
                                        </p:cTn>
                                        <p:tgtEl>
                                          <p:spTgt spid="107658"/>
                                        </p:tgtEl>
                                        <p:attrNameLst>
                                          <p:attrName>style.visibility</p:attrName>
                                        </p:attrNameLst>
                                      </p:cBhvr>
                                      <p:to>
                                        <p:strVal val="visible"/>
                                      </p:to>
                                    </p:set>
                                    <p:animEffect transition="in" filter="dissolve">
                                      <p:cBhvr>
                                        <p:cTn id="199" dur="500"/>
                                        <p:tgtEl>
                                          <p:spTgt spid="107658"/>
                                        </p:tgtEl>
                                      </p:cBhvr>
                                    </p:animEffect>
                                  </p:childTnLst>
                                </p:cTn>
                              </p:par>
                            </p:childTnLst>
                          </p:cTn>
                        </p:par>
                      </p:childTnLst>
                    </p:cTn>
                  </p:par>
                  <p:par>
                    <p:cTn id="200" fill="hold" nodeType="clickPar">
                      <p:stCondLst>
                        <p:cond delay="indefinite"/>
                      </p:stCondLst>
                      <p:childTnLst>
                        <p:par>
                          <p:cTn id="201" fill="hold" nodeType="withGroup">
                            <p:stCondLst>
                              <p:cond delay="0"/>
                            </p:stCondLst>
                            <p:childTnLst>
                              <p:par>
                                <p:cTn id="202" presetID="22" presetClass="entr" presetSubtype="8" fill="hold" grpId="0" nodeType="clickEffect">
                                  <p:stCondLst>
                                    <p:cond delay="0"/>
                                  </p:stCondLst>
                                  <p:childTnLst>
                                    <p:set>
                                      <p:cBhvr>
                                        <p:cTn id="203" dur="1" fill="hold">
                                          <p:stCondLst>
                                            <p:cond delay="0"/>
                                          </p:stCondLst>
                                        </p:cTn>
                                        <p:tgtEl>
                                          <p:spTgt spid="107589"/>
                                        </p:tgtEl>
                                        <p:attrNameLst>
                                          <p:attrName>style.visibility</p:attrName>
                                        </p:attrNameLst>
                                      </p:cBhvr>
                                      <p:to>
                                        <p:strVal val="visible"/>
                                      </p:to>
                                    </p:set>
                                    <p:animEffect transition="in" filter="wipe(left)">
                                      <p:cBhvr>
                                        <p:cTn id="204" dur="500"/>
                                        <p:tgtEl>
                                          <p:spTgt spid="107589"/>
                                        </p:tgtEl>
                                      </p:cBhvr>
                                    </p:animEffect>
                                  </p:childTnLst>
                                </p:cTn>
                              </p:par>
                            </p:childTnLst>
                          </p:cTn>
                        </p:par>
                        <p:par>
                          <p:cTn id="205" fill="hold" nodeType="afterGroup">
                            <p:stCondLst>
                              <p:cond delay="500"/>
                            </p:stCondLst>
                            <p:childTnLst>
                              <p:par>
                                <p:cTn id="206" presetID="22" presetClass="entr" presetSubtype="8" fill="hold" grpId="0" nodeType="afterEffect">
                                  <p:stCondLst>
                                    <p:cond delay="1000"/>
                                  </p:stCondLst>
                                  <p:childTnLst>
                                    <p:set>
                                      <p:cBhvr>
                                        <p:cTn id="207" dur="1" fill="hold">
                                          <p:stCondLst>
                                            <p:cond delay="0"/>
                                          </p:stCondLst>
                                        </p:cTn>
                                        <p:tgtEl>
                                          <p:spTgt spid="107627"/>
                                        </p:tgtEl>
                                        <p:attrNameLst>
                                          <p:attrName>style.visibility</p:attrName>
                                        </p:attrNameLst>
                                      </p:cBhvr>
                                      <p:to>
                                        <p:strVal val="visible"/>
                                      </p:to>
                                    </p:set>
                                    <p:animEffect transition="in" filter="wipe(left)">
                                      <p:cBhvr>
                                        <p:cTn id="208" dur="500"/>
                                        <p:tgtEl>
                                          <p:spTgt spid="107627"/>
                                        </p:tgtEl>
                                      </p:cBhvr>
                                    </p:animEffect>
                                  </p:childTnLst>
                                </p:cTn>
                              </p:par>
                            </p:childTnLst>
                          </p:cTn>
                        </p:par>
                      </p:childTnLst>
                    </p:cTn>
                  </p:par>
                  <p:par>
                    <p:cTn id="209" fill="hold" nodeType="clickPar">
                      <p:stCondLst>
                        <p:cond delay="indefinite"/>
                      </p:stCondLst>
                      <p:childTnLst>
                        <p:par>
                          <p:cTn id="210" fill="hold" nodeType="withGroup">
                            <p:stCondLst>
                              <p:cond delay="0"/>
                            </p:stCondLst>
                            <p:childTnLst>
                              <p:par>
                                <p:cTn id="211" presetID="9" presetClass="entr" presetSubtype="0" fill="hold" grpId="0" nodeType="clickEffect">
                                  <p:stCondLst>
                                    <p:cond delay="0"/>
                                  </p:stCondLst>
                                  <p:childTnLst>
                                    <p:set>
                                      <p:cBhvr>
                                        <p:cTn id="212" dur="1" fill="hold">
                                          <p:stCondLst>
                                            <p:cond delay="0"/>
                                          </p:stCondLst>
                                        </p:cTn>
                                        <p:tgtEl>
                                          <p:spTgt spid="107607"/>
                                        </p:tgtEl>
                                        <p:attrNameLst>
                                          <p:attrName>style.visibility</p:attrName>
                                        </p:attrNameLst>
                                      </p:cBhvr>
                                      <p:to>
                                        <p:strVal val="visible"/>
                                      </p:to>
                                    </p:set>
                                    <p:animEffect transition="in" filter="dissolve">
                                      <p:cBhvr>
                                        <p:cTn id="213" dur="500"/>
                                        <p:tgtEl>
                                          <p:spTgt spid="107607"/>
                                        </p:tgtEl>
                                      </p:cBhvr>
                                    </p:animEffect>
                                  </p:childTnLst>
                                </p:cTn>
                              </p:par>
                            </p:childTnLst>
                          </p:cTn>
                        </p:par>
                        <p:par>
                          <p:cTn id="214" fill="hold" nodeType="afterGroup">
                            <p:stCondLst>
                              <p:cond delay="500"/>
                            </p:stCondLst>
                            <p:childTnLst>
                              <p:par>
                                <p:cTn id="215" presetID="9" presetClass="entr" presetSubtype="0" fill="hold" grpId="0" nodeType="afterEffect">
                                  <p:stCondLst>
                                    <p:cond delay="0"/>
                                  </p:stCondLst>
                                  <p:childTnLst>
                                    <p:set>
                                      <p:cBhvr>
                                        <p:cTn id="216" dur="1" fill="hold">
                                          <p:stCondLst>
                                            <p:cond delay="0"/>
                                          </p:stCondLst>
                                        </p:cTn>
                                        <p:tgtEl>
                                          <p:spTgt spid="107637"/>
                                        </p:tgtEl>
                                        <p:attrNameLst>
                                          <p:attrName>style.visibility</p:attrName>
                                        </p:attrNameLst>
                                      </p:cBhvr>
                                      <p:to>
                                        <p:strVal val="visible"/>
                                      </p:to>
                                    </p:set>
                                    <p:animEffect transition="in" filter="dissolve">
                                      <p:cBhvr>
                                        <p:cTn id="217" dur="500"/>
                                        <p:tgtEl>
                                          <p:spTgt spid="107637"/>
                                        </p:tgtEl>
                                      </p:cBhvr>
                                    </p:animEffect>
                                  </p:childTnLst>
                                </p:cTn>
                              </p:par>
                            </p:childTnLst>
                          </p:cTn>
                        </p:par>
                      </p:childTnLst>
                    </p:cTn>
                  </p:par>
                  <p:par>
                    <p:cTn id="218" fill="hold" nodeType="clickPar">
                      <p:stCondLst>
                        <p:cond delay="indefinite"/>
                      </p:stCondLst>
                      <p:childTnLst>
                        <p:par>
                          <p:cTn id="219" fill="hold" nodeType="withGroup">
                            <p:stCondLst>
                              <p:cond delay="0"/>
                            </p:stCondLst>
                            <p:childTnLst>
                              <p:par>
                                <p:cTn id="220" presetID="9" presetClass="entr" presetSubtype="0" fill="hold" grpId="0" nodeType="clickEffect">
                                  <p:stCondLst>
                                    <p:cond delay="0"/>
                                  </p:stCondLst>
                                  <p:childTnLst>
                                    <p:set>
                                      <p:cBhvr>
                                        <p:cTn id="221" dur="1" fill="hold">
                                          <p:stCondLst>
                                            <p:cond delay="0"/>
                                          </p:stCondLst>
                                        </p:cTn>
                                        <p:tgtEl>
                                          <p:spTgt spid="107590"/>
                                        </p:tgtEl>
                                        <p:attrNameLst>
                                          <p:attrName>style.visibility</p:attrName>
                                        </p:attrNameLst>
                                      </p:cBhvr>
                                      <p:to>
                                        <p:strVal val="visible"/>
                                      </p:to>
                                    </p:set>
                                    <p:animEffect transition="in" filter="dissolve">
                                      <p:cBhvr>
                                        <p:cTn id="222" dur="500"/>
                                        <p:tgtEl>
                                          <p:spTgt spid="107590"/>
                                        </p:tgtEl>
                                      </p:cBhvr>
                                    </p:animEffect>
                                  </p:childTnLst>
                                </p:cTn>
                              </p:par>
                            </p:childTnLst>
                          </p:cTn>
                        </p:par>
                        <p:par>
                          <p:cTn id="223" fill="hold" nodeType="afterGroup">
                            <p:stCondLst>
                              <p:cond delay="500"/>
                            </p:stCondLst>
                            <p:childTnLst>
                              <p:par>
                                <p:cTn id="224" presetID="9" presetClass="entr" presetSubtype="0" fill="hold" grpId="0" nodeType="afterEffect">
                                  <p:stCondLst>
                                    <p:cond delay="0"/>
                                  </p:stCondLst>
                                  <p:childTnLst>
                                    <p:set>
                                      <p:cBhvr>
                                        <p:cTn id="225" dur="1" fill="hold">
                                          <p:stCondLst>
                                            <p:cond delay="0"/>
                                          </p:stCondLst>
                                        </p:cTn>
                                        <p:tgtEl>
                                          <p:spTgt spid="107659"/>
                                        </p:tgtEl>
                                        <p:attrNameLst>
                                          <p:attrName>style.visibility</p:attrName>
                                        </p:attrNameLst>
                                      </p:cBhvr>
                                      <p:to>
                                        <p:strVal val="visible"/>
                                      </p:to>
                                    </p:set>
                                    <p:animEffect transition="in" filter="dissolve">
                                      <p:cBhvr>
                                        <p:cTn id="226" dur="500"/>
                                        <p:tgtEl>
                                          <p:spTgt spid="107659"/>
                                        </p:tgtEl>
                                      </p:cBhvr>
                                    </p:animEffect>
                                  </p:childTnLst>
                                </p:cTn>
                              </p:par>
                            </p:childTnLst>
                          </p:cTn>
                        </p:par>
                      </p:childTnLst>
                    </p:cTn>
                  </p:par>
                  <p:par>
                    <p:cTn id="227" fill="hold" nodeType="clickPar">
                      <p:stCondLst>
                        <p:cond delay="indefinite"/>
                      </p:stCondLst>
                      <p:childTnLst>
                        <p:par>
                          <p:cTn id="228" fill="hold" nodeType="withGroup">
                            <p:stCondLst>
                              <p:cond delay="0"/>
                            </p:stCondLst>
                            <p:childTnLst>
                              <p:par>
                                <p:cTn id="229" presetID="22" presetClass="entr" presetSubtype="4" fill="hold" grpId="0" nodeType="clickEffect">
                                  <p:stCondLst>
                                    <p:cond delay="0"/>
                                  </p:stCondLst>
                                  <p:childTnLst>
                                    <p:set>
                                      <p:cBhvr>
                                        <p:cTn id="230" dur="1" fill="hold">
                                          <p:stCondLst>
                                            <p:cond delay="0"/>
                                          </p:stCondLst>
                                        </p:cTn>
                                        <p:tgtEl>
                                          <p:spTgt spid="107591"/>
                                        </p:tgtEl>
                                        <p:attrNameLst>
                                          <p:attrName>style.visibility</p:attrName>
                                        </p:attrNameLst>
                                      </p:cBhvr>
                                      <p:to>
                                        <p:strVal val="visible"/>
                                      </p:to>
                                    </p:set>
                                    <p:animEffect transition="in" filter="wipe(down)">
                                      <p:cBhvr>
                                        <p:cTn id="231" dur="500"/>
                                        <p:tgtEl>
                                          <p:spTgt spid="107591"/>
                                        </p:tgtEl>
                                      </p:cBhvr>
                                    </p:animEffect>
                                  </p:childTnLst>
                                </p:cTn>
                              </p:par>
                            </p:childTnLst>
                          </p:cTn>
                        </p:par>
                        <p:par>
                          <p:cTn id="232" fill="hold" nodeType="afterGroup">
                            <p:stCondLst>
                              <p:cond delay="500"/>
                            </p:stCondLst>
                            <p:childTnLst>
                              <p:par>
                                <p:cTn id="233" presetID="22" presetClass="entr" presetSubtype="2" fill="hold" grpId="0" nodeType="afterEffect">
                                  <p:stCondLst>
                                    <p:cond delay="1000"/>
                                  </p:stCondLst>
                                  <p:childTnLst>
                                    <p:set>
                                      <p:cBhvr>
                                        <p:cTn id="234" dur="1" fill="hold">
                                          <p:stCondLst>
                                            <p:cond delay="0"/>
                                          </p:stCondLst>
                                        </p:cTn>
                                        <p:tgtEl>
                                          <p:spTgt spid="107628"/>
                                        </p:tgtEl>
                                        <p:attrNameLst>
                                          <p:attrName>style.visibility</p:attrName>
                                        </p:attrNameLst>
                                      </p:cBhvr>
                                      <p:to>
                                        <p:strVal val="visible"/>
                                      </p:to>
                                    </p:set>
                                    <p:animEffect transition="in" filter="wipe(right)">
                                      <p:cBhvr>
                                        <p:cTn id="235" dur="500"/>
                                        <p:tgtEl>
                                          <p:spTgt spid="107628"/>
                                        </p:tgtEl>
                                      </p:cBhvr>
                                    </p:animEffect>
                                  </p:childTnLst>
                                </p:cTn>
                              </p:par>
                            </p:childTnLst>
                          </p:cTn>
                        </p:par>
                      </p:childTnLst>
                    </p:cTn>
                  </p:par>
                  <p:par>
                    <p:cTn id="236" fill="hold" nodeType="clickPar">
                      <p:stCondLst>
                        <p:cond delay="indefinite"/>
                      </p:stCondLst>
                      <p:childTnLst>
                        <p:par>
                          <p:cTn id="237" fill="hold" nodeType="withGroup">
                            <p:stCondLst>
                              <p:cond delay="0"/>
                            </p:stCondLst>
                            <p:childTnLst>
                              <p:par>
                                <p:cTn id="238" presetID="22" presetClass="entr" presetSubtype="1" fill="hold" grpId="0" nodeType="clickEffect">
                                  <p:stCondLst>
                                    <p:cond delay="0"/>
                                  </p:stCondLst>
                                  <p:childTnLst>
                                    <p:set>
                                      <p:cBhvr>
                                        <p:cTn id="239" dur="1" fill="hold">
                                          <p:stCondLst>
                                            <p:cond delay="0"/>
                                          </p:stCondLst>
                                        </p:cTn>
                                        <p:tgtEl>
                                          <p:spTgt spid="107592"/>
                                        </p:tgtEl>
                                        <p:attrNameLst>
                                          <p:attrName>style.visibility</p:attrName>
                                        </p:attrNameLst>
                                      </p:cBhvr>
                                      <p:to>
                                        <p:strVal val="visible"/>
                                      </p:to>
                                    </p:set>
                                    <p:animEffect transition="in" filter="wipe(up)">
                                      <p:cBhvr>
                                        <p:cTn id="240" dur="500"/>
                                        <p:tgtEl>
                                          <p:spTgt spid="107592"/>
                                        </p:tgtEl>
                                      </p:cBhvr>
                                    </p:animEffect>
                                  </p:childTnLst>
                                </p:cTn>
                              </p:par>
                            </p:childTnLst>
                          </p:cTn>
                        </p:par>
                        <p:par>
                          <p:cTn id="241" fill="hold" nodeType="afterGroup">
                            <p:stCondLst>
                              <p:cond delay="500"/>
                            </p:stCondLst>
                            <p:childTnLst>
                              <p:par>
                                <p:cTn id="242" presetID="9" presetClass="entr" presetSubtype="0" fill="hold" grpId="0" nodeType="afterEffect">
                                  <p:stCondLst>
                                    <p:cond delay="0"/>
                                  </p:stCondLst>
                                  <p:childTnLst>
                                    <p:set>
                                      <p:cBhvr>
                                        <p:cTn id="243" dur="1" fill="hold">
                                          <p:stCondLst>
                                            <p:cond delay="0"/>
                                          </p:stCondLst>
                                        </p:cTn>
                                        <p:tgtEl>
                                          <p:spTgt spid="107608"/>
                                        </p:tgtEl>
                                        <p:attrNameLst>
                                          <p:attrName>style.visibility</p:attrName>
                                        </p:attrNameLst>
                                      </p:cBhvr>
                                      <p:to>
                                        <p:strVal val="visible"/>
                                      </p:to>
                                    </p:set>
                                    <p:animEffect transition="in" filter="dissolve">
                                      <p:cBhvr>
                                        <p:cTn id="244" dur="500"/>
                                        <p:tgtEl>
                                          <p:spTgt spid="107608"/>
                                        </p:tgtEl>
                                      </p:cBhvr>
                                    </p:animEffect>
                                  </p:childTnLst>
                                </p:cTn>
                              </p:par>
                            </p:childTnLst>
                          </p:cTn>
                        </p:par>
                        <p:par>
                          <p:cTn id="245" fill="hold" nodeType="afterGroup">
                            <p:stCondLst>
                              <p:cond delay="1000"/>
                            </p:stCondLst>
                            <p:childTnLst>
                              <p:par>
                                <p:cTn id="246" presetID="9" presetClass="entr" presetSubtype="0" fill="hold" grpId="0" nodeType="afterEffect">
                                  <p:stCondLst>
                                    <p:cond delay="0"/>
                                  </p:stCondLst>
                                  <p:childTnLst>
                                    <p:set>
                                      <p:cBhvr>
                                        <p:cTn id="247" dur="1" fill="hold">
                                          <p:stCondLst>
                                            <p:cond delay="0"/>
                                          </p:stCondLst>
                                        </p:cTn>
                                        <p:tgtEl>
                                          <p:spTgt spid="107593"/>
                                        </p:tgtEl>
                                        <p:attrNameLst>
                                          <p:attrName>style.visibility</p:attrName>
                                        </p:attrNameLst>
                                      </p:cBhvr>
                                      <p:to>
                                        <p:strVal val="visible"/>
                                      </p:to>
                                    </p:set>
                                    <p:animEffect transition="in" filter="dissolve">
                                      <p:cBhvr>
                                        <p:cTn id="248" dur="500"/>
                                        <p:tgtEl>
                                          <p:spTgt spid="107593"/>
                                        </p:tgtEl>
                                      </p:cBhvr>
                                    </p:animEffect>
                                  </p:childTnLst>
                                </p:cTn>
                              </p:par>
                            </p:childTnLst>
                          </p:cTn>
                        </p:par>
                        <p:par>
                          <p:cTn id="249" fill="hold" nodeType="afterGroup">
                            <p:stCondLst>
                              <p:cond delay="1500"/>
                            </p:stCondLst>
                            <p:childTnLst>
                              <p:par>
                                <p:cTn id="250" presetID="2" presetClass="entr" presetSubtype="8" fill="hold" grpId="0" nodeType="afterEffect">
                                  <p:stCondLst>
                                    <p:cond delay="0"/>
                                  </p:stCondLst>
                                  <p:childTnLst>
                                    <p:set>
                                      <p:cBhvr>
                                        <p:cTn id="251" dur="1" fill="hold">
                                          <p:stCondLst>
                                            <p:cond delay="0"/>
                                          </p:stCondLst>
                                        </p:cTn>
                                        <p:tgtEl>
                                          <p:spTgt spid="107594"/>
                                        </p:tgtEl>
                                        <p:attrNameLst>
                                          <p:attrName>style.visibility</p:attrName>
                                        </p:attrNameLst>
                                      </p:cBhvr>
                                      <p:to>
                                        <p:strVal val="visible"/>
                                      </p:to>
                                    </p:set>
                                    <p:anim calcmode="lin" valueType="num">
                                      <p:cBhvr additive="base">
                                        <p:cTn id="252" dur="500" fill="hold"/>
                                        <p:tgtEl>
                                          <p:spTgt spid="107594"/>
                                        </p:tgtEl>
                                        <p:attrNameLst>
                                          <p:attrName>ppt_x</p:attrName>
                                        </p:attrNameLst>
                                      </p:cBhvr>
                                      <p:tavLst>
                                        <p:tav tm="0">
                                          <p:val>
                                            <p:strVal val="0-#ppt_w/2"/>
                                          </p:val>
                                        </p:tav>
                                        <p:tav tm="100000">
                                          <p:val>
                                            <p:strVal val="#ppt_x"/>
                                          </p:val>
                                        </p:tav>
                                      </p:tavLst>
                                    </p:anim>
                                    <p:anim calcmode="lin" valueType="num">
                                      <p:cBhvr additive="base">
                                        <p:cTn id="253" dur="500" fill="hold"/>
                                        <p:tgtEl>
                                          <p:spTgt spid="107594"/>
                                        </p:tgtEl>
                                        <p:attrNameLst>
                                          <p:attrName>ppt_y</p:attrName>
                                        </p:attrNameLst>
                                      </p:cBhvr>
                                      <p:tavLst>
                                        <p:tav tm="0">
                                          <p:val>
                                            <p:strVal val="#ppt_y"/>
                                          </p:val>
                                        </p:tav>
                                        <p:tav tm="100000">
                                          <p:val>
                                            <p:strVal val="#ppt_y"/>
                                          </p:val>
                                        </p:tav>
                                      </p:tavLst>
                                    </p:anim>
                                  </p:childTnLst>
                                </p:cTn>
                              </p:par>
                            </p:childTnLst>
                          </p:cTn>
                        </p:par>
                        <p:par>
                          <p:cTn id="254" fill="hold" nodeType="afterGroup">
                            <p:stCondLst>
                              <p:cond delay="2000"/>
                            </p:stCondLst>
                            <p:childTnLst>
                              <p:par>
                                <p:cTn id="255" presetID="22" presetClass="entr" presetSubtype="1" fill="hold" grpId="0" nodeType="afterEffect">
                                  <p:stCondLst>
                                    <p:cond delay="1000"/>
                                  </p:stCondLst>
                                  <p:childTnLst>
                                    <p:set>
                                      <p:cBhvr>
                                        <p:cTn id="256" dur="1" fill="hold">
                                          <p:stCondLst>
                                            <p:cond delay="0"/>
                                          </p:stCondLst>
                                        </p:cTn>
                                        <p:tgtEl>
                                          <p:spTgt spid="107629"/>
                                        </p:tgtEl>
                                        <p:attrNameLst>
                                          <p:attrName>style.visibility</p:attrName>
                                        </p:attrNameLst>
                                      </p:cBhvr>
                                      <p:to>
                                        <p:strVal val="visible"/>
                                      </p:to>
                                    </p:set>
                                    <p:animEffect transition="in" filter="wipe(up)">
                                      <p:cBhvr>
                                        <p:cTn id="257" dur="500"/>
                                        <p:tgtEl>
                                          <p:spTgt spid="107629"/>
                                        </p:tgtEl>
                                      </p:cBhvr>
                                    </p:animEffect>
                                  </p:childTnLst>
                                </p:cTn>
                              </p:par>
                            </p:childTnLst>
                          </p:cTn>
                        </p:par>
                        <p:par>
                          <p:cTn id="258" fill="hold" nodeType="afterGroup">
                            <p:stCondLst>
                              <p:cond delay="3500"/>
                            </p:stCondLst>
                            <p:childTnLst>
                              <p:par>
                                <p:cTn id="259" presetID="9" presetClass="entr" presetSubtype="0" fill="hold" grpId="0" nodeType="afterEffect">
                                  <p:stCondLst>
                                    <p:cond delay="0"/>
                                  </p:stCondLst>
                                  <p:childTnLst>
                                    <p:set>
                                      <p:cBhvr>
                                        <p:cTn id="260" dur="1" fill="hold">
                                          <p:stCondLst>
                                            <p:cond delay="0"/>
                                          </p:stCondLst>
                                        </p:cTn>
                                        <p:tgtEl>
                                          <p:spTgt spid="107638"/>
                                        </p:tgtEl>
                                        <p:attrNameLst>
                                          <p:attrName>style.visibility</p:attrName>
                                        </p:attrNameLst>
                                      </p:cBhvr>
                                      <p:to>
                                        <p:strVal val="visible"/>
                                      </p:to>
                                    </p:set>
                                    <p:animEffect transition="in" filter="dissolve">
                                      <p:cBhvr>
                                        <p:cTn id="261" dur="500"/>
                                        <p:tgtEl>
                                          <p:spTgt spid="107638"/>
                                        </p:tgtEl>
                                      </p:cBhvr>
                                    </p:animEffect>
                                  </p:childTnLst>
                                </p:cTn>
                              </p:par>
                            </p:childTnLst>
                          </p:cTn>
                        </p:par>
                      </p:childTnLst>
                    </p:cTn>
                  </p:par>
                  <p:par>
                    <p:cTn id="262" fill="hold" nodeType="clickPar">
                      <p:stCondLst>
                        <p:cond delay="indefinite"/>
                      </p:stCondLst>
                      <p:childTnLst>
                        <p:par>
                          <p:cTn id="263" fill="hold" nodeType="withGroup">
                            <p:stCondLst>
                              <p:cond delay="0"/>
                            </p:stCondLst>
                            <p:childTnLst>
                              <p:par>
                                <p:cTn id="264" presetID="9" presetClass="entr" presetSubtype="0" fill="hold" grpId="0" nodeType="clickEffect">
                                  <p:stCondLst>
                                    <p:cond delay="0"/>
                                  </p:stCondLst>
                                  <p:childTnLst>
                                    <p:set>
                                      <p:cBhvr>
                                        <p:cTn id="265" dur="1" fill="hold">
                                          <p:stCondLst>
                                            <p:cond delay="0"/>
                                          </p:stCondLst>
                                        </p:cTn>
                                        <p:tgtEl>
                                          <p:spTgt spid="107613"/>
                                        </p:tgtEl>
                                        <p:attrNameLst>
                                          <p:attrName>style.visibility</p:attrName>
                                        </p:attrNameLst>
                                      </p:cBhvr>
                                      <p:to>
                                        <p:strVal val="visible"/>
                                      </p:to>
                                    </p:set>
                                    <p:animEffect transition="in" filter="dissolve">
                                      <p:cBhvr>
                                        <p:cTn id="266" dur="500"/>
                                        <p:tgtEl>
                                          <p:spTgt spid="107613"/>
                                        </p:tgtEl>
                                      </p:cBhvr>
                                    </p:animEffect>
                                  </p:childTnLst>
                                </p:cTn>
                              </p:par>
                            </p:childTnLst>
                          </p:cTn>
                        </p:par>
                        <p:par>
                          <p:cTn id="267" fill="hold" nodeType="afterGroup">
                            <p:stCondLst>
                              <p:cond delay="500"/>
                            </p:stCondLst>
                            <p:childTnLst>
                              <p:par>
                                <p:cTn id="268" presetID="9" presetClass="entr" presetSubtype="0" fill="hold" grpId="0" nodeType="afterEffect">
                                  <p:stCondLst>
                                    <p:cond delay="0"/>
                                  </p:stCondLst>
                                  <p:childTnLst>
                                    <p:set>
                                      <p:cBhvr>
                                        <p:cTn id="269" dur="1" fill="hold">
                                          <p:stCondLst>
                                            <p:cond delay="0"/>
                                          </p:stCondLst>
                                        </p:cTn>
                                        <p:tgtEl>
                                          <p:spTgt spid="107642"/>
                                        </p:tgtEl>
                                        <p:attrNameLst>
                                          <p:attrName>style.visibility</p:attrName>
                                        </p:attrNameLst>
                                      </p:cBhvr>
                                      <p:to>
                                        <p:strVal val="visible"/>
                                      </p:to>
                                    </p:set>
                                    <p:animEffect transition="in" filter="dissolve">
                                      <p:cBhvr>
                                        <p:cTn id="270" dur="500"/>
                                        <p:tgtEl>
                                          <p:spTgt spid="107642"/>
                                        </p:tgtEl>
                                      </p:cBhvr>
                                    </p:animEffect>
                                  </p:childTnLst>
                                </p:cTn>
                              </p:par>
                            </p:childTnLst>
                          </p:cTn>
                        </p:par>
                      </p:childTnLst>
                    </p:cTn>
                  </p:par>
                  <p:par>
                    <p:cTn id="271" fill="hold" nodeType="clickPar">
                      <p:stCondLst>
                        <p:cond delay="indefinite"/>
                      </p:stCondLst>
                      <p:childTnLst>
                        <p:par>
                          <p:cTn id="272" fill="hold" nodeType="withGroup">
                            <p:stCondLst>
                              <p:cond delay="0"/>
                            </p:stCondLst>
                            <p:childTnLst>
                              <p:par>
                                <p:cTn id="273" presetID="9" presetClass="entr" presetSubtype="0" fill="hold" grpId="0" nodeType="clickEffect">
                                  <p:stCondLst>
                                    <p:cond delay="0"/>
                                  </p:stCondLst>
                                  <p:childTnLst>
                                    <p:set>
                                      <p:cBhvr>
                                        <p:cTn id="274" dur="1" fill="hold">
                                          <p:stCondLst>
                                            <p:cond delay="0"/>
                                          </p:stCondLst>
                                        </p:cTn>
                                        <p:tgtEl>
                                          <p:spTgt spid="107595"/>
                                        </p:tgtEl>
                                        <p:attrNameLst>
                                          <p:attrName>style.visibility</p:attrName>
                                        </p:attrNameLst>
                                      </p:cBhvr>
                                      <p:to>
                                        <p:strVal val="visible"/>
                                      </p:to>
                                    </p:set>
                                    <p:animEffect transition="in" filter="dissolve">
                                      <p:cBhvr>
                                        <p:cTn id="275" dur="500"/>
                                        <p:tgtEl>
                                          <p:spTgt spid="107595"/>
                                        </p:tgtEl>
                                      </p:cBhvr>
                                    </p:animEffect>
                                  </p:childTnLst>
                                </p:cTn>
                              </p:par>
                            </p:childTnLst>
                          </p:cTn>
                        </p:par>
                        <p:par>
                          <p:cTn id="276" fill="hold" nodeType="afterGroup">
                            <p:stCondLst>
                              <p:cond delay="500"/>
                            </p:stCondLst>
                            <p:childTnLst>
                              <p:par>
                                <p:cTn id="277" presetID="9" presetClass="entr" presetSubtype="0" fill="hold" grpId="0" nodeType="afterEffect">
                                  <p:stCondLst>
                                    <p:cond delay="0"/>
                                  </p:stCondLst>
                                  <p:childTnLst>
                                    <p:set>
                                      <p:cBhvr>
                                        <p:cTn id="278" dur="1" fill="hold">
                                          <p:stCondLst>
                                            <p:cond delay="0"/>
                                          </p:stCondLst>
                                        </p:cTn>
                                        <p:tgtEl>
                                          <p:spTgt spid="107660"/>
                                        </p:tgtEl>
                                        <p:attrNameLst>
                                          <p:attrName>style.visibility</p:attrName>
                                        </p:attrNameLst>
                                      </p:cBhvr>
                                      <p:to>
                                        <p:strVal val="visible"/>
                                      </p:to>
                                    </p:set>
                                    <p:animEffect transition="in" filter="dissolve">
                                      <p:cBhvr>
                                        <p:cTn id="279" dur="500"/>
                                        <p:tgtEl>
                                          <p:spTgt spid="107660"/>
                                        </p:tgtEl>
                                      </p:cBhvr>
                                    </p:animEffect>
                                  </p:childTnLst>
                                </p:cTn>
                              </p:par>
                            </p:childTnLst>
                          </p:cTn>
                        </p:par>
                      </p:childTnLst>
                    </p:cTn>
                  </p:par>
                  <p:par>
                    <p:cTn id="280" fill="hold" nodeType="clickPar">
                      <p:stCondLst>
                        <p:cond delay="indefinite"/>
                      </p:stCondLst>
                      <p:childTnLst>
                        <p:par>
                          <p:cTn id="281" fill="hold" nodeType="withGroup">
                            <p:stCondLst>
                              <p:cond delay="0"/>
                            </p:stCondLst>
                            <p:childTnLst>
                              <p:par>
                                <p:cTn id="282" presetID="22" presetClass="entr" presetSubtype="1" fill="hold" grpId="0" nodeType="clickEffect">
                                  <p:stCondLst>
                                    <p:cond delay="0"/>
                                  </p:stCondLst>
                                  <p:childTnLst>
                                    <p:set>
                                      <p:cBhvr>
                                        <p:cTn id="283" dur="1" fill="hold">
                                          <p:stCondLst>
                                            <p:cond delay="0"/>
                                          </p:stCondLst>
                                        </p:cTn>
                                        <p:tgtEl>
                                          <p:spTgt spid="107596"/>
                                        </p:tgtEl>
                                        <p:attrNameLst>
                                          <p:attrName>style.visibility</p:attrName>
                                        </p:attrNameLst>
                                      </p:cBhvr>
                                      <p:to>
                                        <p:strVal val="visible"/>
                                      </p:to>
                                    </p:set>
                                    <p:animEffect transition="in" filter="wipe(up)">
                                      <p:cBhvr>
                                        <p:cTn id="284" dur="500"/>
                                        <p:tgtEl>
                                          <p:spTgt spid="107596"/>
                                        </p:tgtEl>
                                      </p:cBhvr>
                                    </p:animEffect>
                                  </p:childTnLst>
                                </p:cTn>
                              </p:par>
                            </p:childTnLst>
                          </p:cTn>
                        </p:par>
                        <p:par>
                          <p:cTn id="285" fill="hold" nodeType="afterGroup">
                            <p:stCondLst>
                              <p:cond delay="500"/>
                            </p:stCondLst>
                            <p:childTnLst>
                              <p:par>
                                <p:cTn id="286" presetID="22" presetClass="entr" presetSubtype="8" fill="hold" grpId="0" nodeType="afterEffect">
                                  <p:stCondLst>
                                    <p:cond delay="1000"/>
                                  </p:stCondLst>
                                  <p:childTnLst>
                                    <p:set>
                                      <p:cBhvr>
                                        <p:cTn id="287" dur="1" fill="hold">
                                          <p:stCondLst>
                                            <p:cond delay="0"/>
                                          </p:stCondLst>
                                        </p:cTn>
                                        <p:tgtEl>
                                          <p:spTgt spid="107630"/>
                                        </p:tgtEl>
                                        <p:attrNameLst>
                                          <p:attrName>style.visibility</p:attrName>
                                        </p:attrNameLst>
                                      </p:cBhvr>
                                      <p:to>
                                        <p:strVal val="visible"/>
                                      </p:to>
                                    </p:set>
                                    <p:animEffect transition="in" filter="wipe(left)">
                                      <p:cBhvr>
                                        <p:cTn id="288" dur="500"/>
                                        <p:tgtEl>
                                          <p:spTgt spid="107630"/>
                                        </p:tgtEl>
                                      </p:cBhvr>
                                    </p:animEffect>
                                  </p:childTnLst>
                                </p:cTn>
                              </p:par>
                            </p:childTnLst>
                          </p:cTn>
                        </p:par>
                      </p:childTnLst>
                    </p:cTn>
                  </p:par>
                  <p:par>
                    <p:cTn id="289" fill="hold" nodeType="clickPar">
                      <p:stCondLst>
                        <p:cond delay="indefinite"/>
                      </p:stCondLst>
                      <p:childTnLst>
                        <p:par>
                          <p:cTn id="290" fill="hold" nodeType="withGroup">
                            <p:stCondLst>
                              <p:cond delay="0"/>
                            </p:stCondLst>
                            <p:childTnLst>
                              <p:par>
                                <p:cTn id="291" presetID="9" presetClass="entr" presetSubtype="0" fill="hold" grpId="0" nodeType="clickEffect">
                                  <p:stCondLst>
                                    <p:cond delay="0"/>
                                  </p:stCondLst>
                                  <p:childTnLst>
                                    <p:set>
                                      <p:cBhvr>
                                        <p:cTn id="292" dur="1" fill="hold">
                                          <p:stCondLst>
                                            <p:cond delay="0"/>
                                          </p:stCondLst>
                                        </p:cTn>
                                        <p:tgtEl>
                                          <p:spTgt spid="107598"/>
                                        </p:tgtEl>
                                        <p:attrNameLst>
                                          <p:attrName>style.visibility</p:attrName>
                                        </p:attrNameLst>
                                      </p:cBhvr>
                                      <p:to>
                                        <p:strVal val="visible"/>
                                      </p:to>
                                    </p:set>
                                    <p:animEffect transition="in" filter="dissolve">
                                      <p:cBhvr>
                                        <p:cTn id="293" dur="500"/>
                                        <p:tgtEl>
                                          <p:spTgt spid="107598"/>
                                        </p:tgtEl>
                                      </p:cBhvr>
                                    </p:animEffect>
                                  </p:childTnLst>
                                </p:cTn>
                              </p:par>
                            </p:childTnLst>
                          </p:cTn>
                        </p:par>
                        <p:par>
                          <p:cTn id="294" fill="hold" nodeType="afterGroup">
                            <p:stCondLst>
                              <p:cond delay="500"/>
                            </p:stCondLst>
                            <p:childTnLst>
                              <p:par>
                                <p:cTn id="295" presetID="9" presetClass="entr" presetSubtype="0" fill="hold" grpId="0" nodeType="afterEffect">
                                  <p:stCondLst>
                                    <p:cond delay="0"/>
                                  </p:stCondLst>
                                  <p:childTnLst>
                                    <p:set>
                                      <p:cBhvr>
                                        <p:cTn id="296" dur="1" fill="hold">
                                          <p:stCondLst>
                                            <p:cond delay="0"/>
                                          </p:stCondLst>
                                        </p:cTn>
                                        <p:tgtEl>
                                          <p:spTgt spid="107632"/>
                                        </p:tgtEl>
                                        <p:attrNameLst>
                                          <p:attrName>style.visibility</p:attrName>
                                        </p:attrNameLst>
                                      </p:cBhvr>
                                      <p:to>
                                        <p:strVal val="visible"/>
                                      </p:to>
                                    </p:set>
                                    <p:animEffect transition="in" filter="dissolve">
                                      <p:cBhvr>
                                        <p:cTn id="297" dur="500"/>
                                        <p:tgtEl>
                                          <p:spTgt spid="107632"/>
                                        </p:tgtEl>
                                      </p:cBhvr>
                                    </p:animEffect>
                                  </p:childTnLst>
                                </p:cTn>
                              </p:par>
                            </p:childTnLst>
                          </p:cTn>
                        </p:par>
                      </p:childTnLst>
                    </p:cTn>
                  </p:par>
                  <p:par>
                    <p:cTn id="298" fill="hold" nodeType="clickPar">
                      <p:stCondLst>
                        <p:cond delay="indefinite"/>
                      </p:stCondLst>
                      <p:childTnLst>
                        <p:par>
                          <p:cTn id="299" fill="hold" nodeType="withGroup">
                            <p:stCondLst>
                              <p:cond delay="0"/>
                            </p:stCondLst>
                            <p:childTnLst>
                              <p:par>
                                <p:cTn id="300" presetID="9" presetClass="entr" presetSubtype="0" fill="hold" grpId="0" nodeType="clickEffect">
                                  <p:stCondLst>
                                    <p:cond delay="0"/>
                                  </p:stCondLst>
                                  <p:childTnLst>
                                    <p:set>
                                      <p:cBhvr>
                                        <p:cTn id="301" dur="1" fill="hold">
                                          <p:stCondLst>
                                            <p:cond delay="0"/>
                                          </p:stCondLst>
                                        </p:cTn>
                                        <p:tgtEl>
                                          <p:spTgt spid="107599"/>
                                        </p:tgtEl>
                                        <p:attrNameLst>
                                          <p:attrName>style.visibility</p:attrName>
                                        </p:attrNameLst>
                                      </p:cBhvr>
                                      <p:to>
                                        <p:strVal val="visible"/>
                                      </p:to>
                                    </p:set>
                                    <p:animEffect transition="in" filter="dissolve">
                                      <p:cBhvr>
                                        <p:cTn id="302" dur="500"/>
                                        <p:tgtEl>
                                          <p:spTgt spid="107599"/>
                                        </p:tgtEl>
                                      </p:cBhvr>
                                    </p:animEffect>
                                  </p:childTnLst>
                                </p:cTn>
                              </p:par>
                            </p:childTnLst>
                          </p:cTn>
                        </p:par>
                        <p:par>
                          <p:cTn id="303" fill="hold" nodeType="afterGroup">
                            <p:stCondLst>
                              <p:cond delay="500"/>
                            </p:stCondLst>
                            <p:childTnLst>
                              <p:par>
                                <p:cTn id="304" presetID="9" presetClass="entr" presetSubtype="0" fill="hold" grpId="0" nodeType="afterEffect">
                                  <p:stCondLst>
                                    <p:cond delay="0"/>
                                  </p:stCondLst>
                                  <p:childTnLst>
                                    <p:set>
                                      <p:cBhvr>
                                        <p:cTn id="305" dur="1" fill="hold">
                                          <p:stCondLst>
                                            <p:cond delay="0"/>
                                          </p:stCondLst>
                                        </p:cTn>
                                        <p:tgtEl>
                                          <p:spTgt spid="107661"/>
                                        </p:tgtEl>
                                        <p:attrNameLst>
                                          <p:attrName>style.visibility</p:attrName>
                                        </p:attrNameLst>
                                      </p:cBhvr>
                                      <p:to>
                                        <p:strVal val="visible"/>
                                      </p:to>
                                    </p:set>
                                    <p:animEffect transition="in" filter="dissolve">
                                      <p:cBhvr>
                                        <p:cTn id="306" dur="500"/>
                                        <p:tgtEl>
                                          <p:spTgt spid="107661"/>
                                        </p:tgtEl>
                                      </p:cBhvr>
                                    </p:animEffect>
                                  </p:childTnLst>
                                </p:cTn>
                              </p:par>
                            </p:childTnLst>
                          </p:cTn>
                        </p:par>
                      </p:childTnLst>
                    </p:cTn>
                  </p:par>
                  <p:par>
                    <p:cTn id="307" fill="hold" nodeType="clickPar">
                      <p:stCondLst>
                        <p:cond delay="indefinite"/>
                      </p:stCondLst>
                      <p:childTnLst>
                        <p:par>
                          <p:cTn id="308" fill="hold" nodeType="withGroup">
                            <p:stCondLst>
                              <p:cond delay="0"/>
                            </p:stCondLst>
                            <p:childTnLst>
                              <p:par>
                                <p:cTn id="309" presetID="22" presetClass="entr" presetSubtype="2" fill="hold" grpId="0" nodeType="clickEffect">
                                  <p:stCondLst>
                                    <p:cond delay="0"/>
                                  </p:stCondLst>
                                  <p:childTnLst>
                                    <p:set>
                                      <p:cBhvr>
                                        <p:cTn id="310" dur="1" fill="hold">
                                          <p:stCondLst>
                                            <p:cond delay="0"/>
                                          </p:stCondLst>
                                        </p:cTn>
                                        <p:tgtEl>
                                          <p:spTgt spid="107600"/>
                                        </p:tgtEl>
                                        <p:attrNameLst>
                                          <p:attrName>style.visibility</p:attrName>
                                        </p:attrNameLst>
                                      </p:cBhvr>
                                      <p:to>
                                        <p:strVal val="visible"/>
                                      </p:to>
                                    </p:set>
                                    <p:animEffect transition="in" filter="wipe(right)">
                                      <p:cBhvr>
                                        <p:cTn id="311" dur="500"/>
                                        <p:tgtEl>
                                          <p:spTgt spid="107600"/>
                                        </p:tgtEl>
                                      </p:cBhvr>
                                    </p:animEffect>
                                  </p:childTnLst>
                                </p:cTn>
                              </p:par>
                            </p:childTnLst>
                          </p:cTn>
                        </p:par>
                        <p:par>
                          <p:cTn id="312" fill="hold" nodeType="afterGroup">
                            <p:stCondLst>
                              <p:cond delay="500"/>
                            </p:stCondLst>
                            <p:childTnLst>
                              <p:par>
                                <p:cTn id="313" presetID="22" presetClass="entr" presetSubtype="8" fill="hold" grpId="0" nodeType="afterEffect">
                                  <p:stCondLst>
                                    <p:cond delay="1000"/>
                                  </p:stCondLst>
                                  <p:childTnLst>
                                    <p:set>
                                      <p:cBhvr>
                                        <p:cTn id="314" dur="1" fill="hold">
                                          <p:stCondLst>
                                            <p:cond delay="0"/>
                                          </p:stCondLst>
                                        </p:cTn>
                                        <p:tgtEl>
                                          <p:spTgt spid="107633"/>
                                        </p:tgtEl>
                                        <p:attrNameLst>
                                          <p:attrName>style.visibility</p:attrName>
                                        </p:attrNameLst>
                                      </p:cBhvr>
                                      <p:to>
                                        <p:strVal val="visible"/>
                                      </p:to>
                                    </p:set>
                                    <p:animEffect transition="in" filter="wipe(left)">
                                      <p:cBhvr>
                                        <p:cTn id="315" dur="500"/>
                                        <p:tgtEl>
                                          <p:spTgt spid="107633"/>
                                        </p:tgtEl>
                                      </p:cBhvr>
                                    </p:animEffect>
                                  </p:childTnLst>
                                </p:cTn>
                              </p:par>
                            </p:childTnLst>
                          </p:cTn>
                        </p:par>
                      </p:childTnLst>
                    </p:cTn>
                  </p:par>
                  <p:par>
                    <p:cTn id="316" fill="hold" nodeType="clickPar">
                      <p:stCondLst>
                        <p:cond delay="indefinite"/>
                      </p:stCondLst>
                      <p:childTnLst>
                        <p:par>
                          <p:cTn id="317" fill="hold" nodeType="withGroup">
                            <p:stCondLst>
                              <p:cond delay="0"/>
                            </p:stCondLst>
                            <p:childTnLst>
                              <p:par>
                                <p:cTn id="318" presetID="22" presetClass="entr" presetSubtype="1" fill="hold" grpId="0" nodeType="clickEffect">
                                  <p:stCondLst>
                                    <p:cond delay="0"/>
                                  </p:stCondLst>
                                  <p:childTnLst>
                                    <p:set>
                                      <p:cBhvr>
                                        <p:cTn id="319" dur="1" fill="hold">
                                          <p:stCondLst>
                                            <p:cond delay="0"/>
                                          </p:stCondLst>
                                        </p:cTn>
                                        <p:tgtEl>
                                          <p:spTgt spid="107602"/>
                                        </p:tgtEl>
                                        <p:attrNameLst>
                                          <p:attrName>style.visibility</p:attrName>
                                        </p:attrNameLst>
                                      </p:cBhvr>
                                      <p:to>
                                        <p:strVal val="visible"/>
                                      </p:to>
                                    </p:set>
                                    <p:animEffect transition="in" filter="wipe(up)">
                                      <p:cBhvr>
                                        <p:cTn id="320" dur="500"/>
                                        <p:tgtEl>
                                          <p:spTgt spid="107602"/>
                                        </p:tgtEl>
                                      </p:cBhvr>
                                    </p:animEffect>
                                  </p:childTnLst>
                                </p:cTn>
                              </p:par>
                            </p:childTnLst>
                          </p:cTn>
                        </p:par>
                        <p:par>
                          <p:cTn id="321" fill="hold" nodeType="afterGroup">
                            <p:stCondLst>
                              <p:cond delay="500"/>
                            </p:stCondLst>
                            <p:childTnLst>
                              <p:par>
                                <p:cTn id="322" presetID="9" presetClass="entr" presetSubtype="0" fill="hold" grpId="0" nodeType="afterEffect">
                                  <p:stCondLst>
                                    <p:cond delay="0"/>
                                  </p:stCondLst>
                                  <p:childTnLst>
                                    <p:set>
                                      <p:cBhvr>
                                        <p:cTn id="323" dur="1" fill="hold">
                                          <p:stCondLst>
                                            <p:cond delay="0"/>
                                          </p:stCondLst>
                                        </p:cTn>
                                        <p:tgtEl>
                                          <p:spTgt spid="107612"/>
                                        </p:tgtEl>
                                        <p:attrNameLst>
                                          <p:attrName>style.visibility</p:attrName>
                                        </p:attrNameLst>
                                      </p:cBhvr>
                                      <p:to>
                                        <p:strVal val="visible"/>
                                      </p:to>
                                    </p:set>
                                    <p:animEffect transition="in" filter="dissolve">
                                      <p:cBhvr>
                                        <p:cTn id="324" dur="500"/>
                                        <p:tgtEl>
                                          <p:spTgt spid="107612"/>
                                        </p:tgtEl>
                                      </p:cBhvr>
                                    </p:animEffect>
                                  </p:childTnLst>
                                </p:cTn>
                              </p:par>
                            </p:childTnLst>
                          </p:cTn>
                        </p:par>
                        <p:par>
                          <p:cTn id="325" fill="hold" nodeType="afterGroup">
                            <p:stCondLst>
                              <p:cond delay="1000"/>
                            </p:stCondLst>
                            <p:childTnLst>
                              <p:par>
                                <p:cTn id="326" presetID="9" presetClass="entr" presetSubtype="0" fill="hold" grpId="0" nodeType="afterEffect">
                                  <p:stCondLst>
                                    <p:cond delay="0"/>
                                  </p:stCondLst>
                                  <p:childTnLst>
                                    <p:set>
                                      <p:cBhvr>
                                        <p:cTn id="327" dur="1" fill="hold">
                                          <p:stCondLst>
                                            <p:cond delay="0"/>
                                          </p:stCondLst>
                                        </p:cTn>
                                        <p:tgtEl>
                                          <p:spTgt spid="107603"/>
                                        </p:tgtEl>
                                        <p:attrNameLst>
                                          <p:attrName>style.visibility</p:attrName>
                                        </p:attrNameLst>
                                      </p:cBhvr>
                                      <p:to>
                                        <p:strVal val="visible"/>
                                      </p:to>
                                    </p:set>
                                    <p:animEffect transition="in" filter="dissolve">
                                      <p:cBhvr>
                                        <p:cTn id="328" dur="500"/>
                                        <p:tgtEl>
                                          <p:spTgt spid="107603"/>
                                        </p:tgtEl>
                                      </p:cBhvr>
                                    </p:animEffect>
                                  </p:childTnLst>
                                </p:cTn>
                              </p:par>
                            </p:childTnLst>
                          </p:cTn>
                        </p:par>
                        <p:par>
                          <p:cTn id="329" fill="hold" nodeType="afterGroup">
                            <p:stCondLst>
                              <p:cond delay="1500"/>
                            </p:stCondLst>
                            <p:childTnLst>
                              <p:par>
                                <p:cTn id="330" presetID="2" presetClass="entr" presetSubtype="8" fill="hold" grpId="0" nodeType="afterEffect">
                                  <p:stCondLst>
                                    <p:cond delay="0"/>
                                  </p:stCondLst>
                                  <p:childTnLst>
                                    <p:set>
                                      <p:cBhvr>
                                        <p:cTn id="331" dur="1" fill="hold">
                                          <p:stCondLst>
                                            <p:cond delay="0"/>
                                          </p:stCondLst>
                                        </p:cTn>
                                        <p:tgtEl>
                                          <p:spTgt spid="107604"/>
                                        </p:tgtEl>
                                        <p:attrNameLst>
                                          <p:attrName>style.visibility</p:attrName>
                                        </p:attrNameLst>
                                      </p:cBhvr>
                                      <p:to>
                                        <p:strVal val="visible"/>
                                      </p:to>
                                    </p:set>
                                    <p:anim calcmode="lin" valueType="num">
                                      <p:cBhvr additive="base">
                                        <p:cTn id="332" dur="500" fill="hold"/>
                                        <p:tgtEl>
                                          <p:spTgt spid="107604"/>
                                        </p:tgtEl>
                                        <p:attrNameLst>
                                          <p:attrName>ppt_x</p:attrName>
                                        </p:attrNameLst>
                                      </p:cBhvr>
                                      <p:tavLst>
                                        <p:tav tm="0">
                                          <p:val>
                                            <p:strVal val="0-#ppt_w/2"/>
                                          </p:val>
                                        </p:tav>
                                        <p:tav tm="100000">
                                          <p:val>
                                            <p:strVal val="#ppt_x"/>
                                          </p:val>
                                        </p:tav>
                                      </p:tavLst>
                                    </p:anim>
                                    <p:anim calcmode="lin" valueType="num">
                                      <p:cBhvr additive="base">
                                        <p:cTn id="333" dur="500" fill="hold"/>
                                        <p:tgtEl>
                                          <p:spTgt spid="107604"/>
                                        </p:tgtEl>
                                        <p:attrNameLst>
                                          <p:attrName>ppt_y</p:attrName>
                                        </p:attrNameLst>
                                      </p:cBhvr>
                                      <p:tavLst>
                                        <p:tav tm="0">
                                          <p:val>
                                            <p:strVal val="#ppt_y"/>
                                          </p:val>
                                        </p:tav>
                                        <p:tav tm="100000">
                                          <p:val>
                                            <p:strVal val="#ppt_y"/>
                                          </p:val>
                                        </p:tav>
                                      </p:tavLst>
                                    </p:anim>
                                  </p:childTnLst>
                                </p:cTn>
                              </p:par>
                            </p:childTnLst>
                          </p:cTn>
                        </p:par>
                        <p:par>
                          <p:cTn id="334" fill="hold" nodeType="afterGroup">
                            <p:stCondLst>
                              <p:cond delay="2000"/>
                            </p:stCondLst>
                            <p:childTnLst>
                              <p:par>
                                <p:cTn id="335" presetID="22" presetClass="entr" presetSubtype="1" fill="hold" grpId="0" nodeType="afterEffect">
                                  <p:stCondLst>
                                    <p:cond delay="1000"/>
                                  </p:stCondLst>
                                  <p:childTnLst>
                                    <p:set>
                                      <p:cBhvr>
                                        <p:cTn id="336" dur="1" fill="hold">
                                          <p:stCondLst>
                                            <p:cond delay="0"/>
                                          </p:stCondLst>
                                        </p:cTn>
                                        <p:tgtEl>
                                          <p:spTgt spid="107635"/>
                                        </p:tgtEl>
                                        <p:attrNameLst>
                                          <p:attrName>style.visibility</p:attrName>
                                        </p:attrNameLst>
                                      </p:cBhvr>
                                      <p:to>
                                        <p:strVal val="visible"/>
                                      </p:to>
                                    </p:set>
                                    <p:animEffect transition="in" filter="wipe(up)">
                                      <p:cBhvr>
                                        <p:cTn id="337" dur="500"/>
                                        <p:tgtEl>
                                          <p:spTgt spid="107635"/>
                                        </p:tgtEl>
                                      </p:cBhvr>
                                    </p:animEffect>
                                  </p:childTnLst>
                                </p:cTn>
                              </p:par>
                            </p:childTnLst>
                          </p:cTn>
                        </p:par>
                        <p:par>
                          <p:cTn id="338" fill="hold" nodeType="afterGroup">
                            <p:stCondLst>
                              <p:cond delay="3500"/>
                            </p:stCondLst>
                            <p:childTnLst>
                              <p:par>
                                <p:cTn id="339" presetID="9" presetClass="entr" presetSubtype="0" fill="hold" grpId="0" nodeType="afterEffect">
                                  <p:stCondLst>
                                    <p:cond delay="0"/>
                                  </p:stCondLst>
                                  <p:childTnLst>
                                    <p:set>
                                      <p:cBhvr>
                                        <p:cTn id="340" dur="1" fill="hold">
                                          <p:stCondLst>
                                            <p:cond delay="0"/>
                                          </p:stCondLst>
                                        </p:cTn>
                                        <p:tgtEl>
                                          <p:spTgt spid="107641"/>
                                        </p:tgtEl>
                                        <p:attrNameLst>
                                          <p:attrName>style.visibility</p:attrName>
                                        </p:attrNameLst>
                                      </p:cBhvr>
                                      <p:to>
                                        <p:strVal val="visible"/>
                                      </p:to>
                                    </p:set>
                                    <p:animEffect transition="in" filter="dissolve">
                                      <p:cBhvr>
                                        <p:cTn id="341" dur="500"/>
                                        <p:tgtEl>
                                          <p:spTgt spid="107641"/>
                                        </p:tgtEl>
                                      </p:cBhvr>
                                    </p:animEffect>
                                  </p:childTnLst>
                                </p:cTn>
                              </p:par>
                            </p:childTnLst>
                          </p:cTn>
                        </p:par>
                      </p:childTnLst>
                    </p:cTn>
                  </p:par>
                  <p:par>
                    <p:cTn id="342" fill="hold" nodeType="clickPar">
                      <p:stCondLst>
                        <p:cond delay="indefinite"/>
                      </p:stCondLst>
                      <p:childTnLst>
                        <p:par>
                          <p:cTn id="343" fill="hold" nodeType="withGroup">
                            <p:stCondLst>
                              <p:cond delay="0"/>
                            </p:stCondLst>
                            <p:childTnLst>
                              <p:par>
                                <p:cTn id="344" presetID="9" presetClass="entr" presetSubtype="0" fill="hold" grpId="0" nodeType="clickEffect">
                                  <p:stCondLst>
                                    <p:cond delay="0"/>
                                  </p:stCondLst>
                                  <p:childTnLst>
                                    <p:set>
                                      <p:cBhvr>
                                        <p:cTn id="345" dur="1" fill="hold">
                                          <p:stCondLst>
                                            <p:cond delay="0"/>
                                          </p:stCondLst>
                                        </p:cTn>
                                        <p:tgtEl>
                                          <p:spTgt spid="107615"/>
                                        </p:tgtEl>
                                        <p:attrNameLst>
                                          <p:attrName>style.visibility</p:attrName>
                                        </p:attrNameLst>
                                      </p:cBhvr>
                                      <p:to>
                                        <p:strVal val="visible"/>
                                      </p:to>
                                    </p:set>
                                    <p:animEffect transition="in" filter="dissolve">
                                      <p:cBhvr>
                                        <p:cTn id="346" dur="500"/>
                                        <p:tgtEl>
                                          <p:spTgt spid="107615"/>
                                        </p:tgtEl>
                                      </p:cBhvr>
                                    </p:animEffect>
                                  </p:childTnLst>
                                </p:cTn>
                              </p:par>
                            </p:childTnLst>
                          </p:cTn>
                        </p:par>
                        <p:par>
                          <p:cTn id="347" fill="hold" nodeType="afterGroup">
                            <p:stCondLst>
                              <p:cond delay="500"/>
                            </p:stCondLst>
                            <p:childTnLst>
                              <p:par>
                                <p:cTn id="348" presetID="9" presetClass="entr" presetSubtype="0" fill="hold" grpId="0" nodeType="afterEffect">
                                  <p:stCondLst>
                                    <p:cond delay="0"/>
                                  </p:stCondLst>
                                  <p:childTnLst>
                                    <p:set>
                                      <p:cBhvr>
                                        <p:cTn id="349" dur="1" fill="hold">
                                          <p:stCondLst>
                                            <p:cond delay="0"/>
                                          </p:stCondLst>
                                        </p:cTn>
                                        <p:tgtEl>
                                          <p:spTgt spid="107644"/>
                                        </p:tgtEl>
                                        <p:attrNameLst>
                                          <p:attrName>style.visibility</p:attrName>
                                        </p:attrNameLst>
                                      </p:cBhvr>
                                      <p:to>
                                        <p:strVal val="visible"/>
                                      </p:to>
                                    </p:set>
                                    <p:animEffect transition="in" filter="dissolve">
                                      <p:cBhvr>
                                        <p:cTn id="350" dur="500"/>
                                        <p:tgtEl>
                                          <p:spTgt spid="107644"/>
                                        </p:tgtEl>
                                      </p:cBhvr>
                                    </p:animEffect>
                                  </p:childTnLst>
                                </p:cTn>
                              </p:par>
                            </p:childTnLst>
                          </p:cTn>
                        </p:par>
                      </p:childTnLst>
                    </p:cTn>
                  </p:par>
                  <p:par>
                    <p:cTn id="351" fill="hold" nodeType="clickPar">
                      <p:stCondLst>
                        <p:cond delay="indefinite"/>
                      </p:stCondLst>
                      <p:childTnLst>
                        <p:par>
                          <p:cTn id="352" fill="hold" nodeType="withGroup">
                            <p:stCondLst>
                              <p:cond delay="0"/>
                            </p:stCondLst>
                            <p:childTnLst>
                              <p:par>
                                <p:cTn id="353" presetID="9" presetClass="entr" presetSubtype="0" fill="hold" grpId="0" nodeType="clickEffect">
                                  <p:stCondLst>
                                    <p:cond delay="0"/>
                                  </p:stCondLst>
                                  <p:childTnLst>
                                    <p:set>
                                      <p:cBhvr>
                                        <p:cTn id="354" dur="1" fill="hold">
                                          <p:stCondLst>
                                            <p:cond delay="0"/>
                                          </p:stCondLst>
                                        </p:cTn>
                                        <p:tgtEl>
                                          <p:spTgt spid="107605"/>
                                        </p:tgtEl>
                                        <p:attrNameLst>
                                          <p:attrName>style.visibility</p:attrName>
                                        </p:attrNameLst>
                                      </p:cBhvr>
                                      <p:to>
                                        <p:strVal val="visible"/>
                                      </p:to>
                                    </p:set>
                                    <p:animEffect transition="in" filter="dissolve">
                                      <p:cBhvr>
                                        <p:cTn id="355" dur="500"/>
                                        <p:tgtEl>
                                          <p:spTgt spid="107605"/>
                                        </p:tgtEl>
                                      </p:cBhvr>
                                    </p:animEffect>
                                  </p:childTnLst>
                                </p:cTn>
                              </p:par>
                            </p:childTnLst>
                          </p:cTn>
                        </p:par>
                        <p:par>
                          <p:cTn id="356" fill="hold" nodeType="afterGroup">
                            <p:stCondLst>
                              <p:cond delay="500"/>
                            </p:stCondLst>
                            <p:childTnLst>
                              <p:par>
                                <p:cTn id="357" presetID="9" presetClass="entr" presetSubtype="0" fill="hold" grpId="0" nodeType="afterEffect">
                                  <p:stCondLst>
                                    <p:cond delay="0"/>
                                  </p:stCondLst>
                                  <p:childTnLst>
                                    <p:set>
                                      <p:cBhvr>
                                        <p:cTn id="358" dur="1" fill="hold">
                                          <p:stCondLst>
                                            <p:cond delay="0"/>
                                          </p:stCondLst>
                                        </p:cTn>
                                        <p:tgtEl>
                                          <p:spTgt spid="107662"/>
                                        </p:tgtEl>
                                        <p:attrNameLst>
                                          <p:attrName>style.visibility</p:attrName>
                                        </p:attrNameLst>
                                      </p:cBhvr>
                                      <p:to>
                                        <p:strVal val="visible"/>
                                      </p:to>
                                    </p:set>
                                    <p:animEffect transition="in" filter="dissolve">
                                      <p:cBhvr>
                                        <p:cTn id="359" dur="500"/>
                                        <p:tgtEl>
                                          <p:spTgt spid="107662"/>
                                        </p:tgtEl>
                                      </p:cBhvr>
                                    </p:animEffect>
                                  </p:childTnLst>
                                </p:cTn>
                              </p:par>
                            </p:childTnLst>
                          </p:cTn>
                        </p:par>
                      </p:childTnLst>
                    </p:cTn>
                  </p:par>
                  <p:par>
                    <p:cTn id="360" fill="hold" nodeType="clickPar">
                      <p:stCondLst>
                        <p:cond delay="indefinite"/>
                      </p:stCondLst>
                      <p:childTnLst>
                        <p:par>
                          <p:cTn id="361" fill="hold" nodeType="withGroup">
                            <p:stCondLst>
                              <p:cond delay="0"/>
                            </p:stCondLst>
                            <p:childTnLst>
                              <p:par>
                                <p:cTn id="362" presetID="22" presetClass="entr" presetSubtype="4" fill="hold" grpId="0" nodeType="clickEffect">
                                  <p:stCondLst>
                                    <p:cond delay="0"/>
                                  </p:stCondLst>
                                  <p:childTnLst>
                                    <p:set>
                                      <p:cBhvr>
                                        <p:cTn id="363" dur="1" fill="hold">
                                          <p:stCondLst>
                                            <p:cond delay="0"/>
                                          </p:stCondLst>
                                        </p:cTn>
                                        <p:tgtEl>
                                          <p:spTgt spid="107649"/>
                                        </p:tgtEl>
                                        <p:attrNameLst>
                                          <p:attrName>style.visibility</p:attrName>
                                        </p:attrNameLst>
                                      </p:cBhvr>
                                      <p:to>
                                        <p:strVal val="visible"/>
                                      </p:to>
                                    </p:set>
                                    <p:animEffect transition="in" filter="wipe(down)">
                                      <p:cBhvr>
                                        <p:cTn id="364" dur="500"/>
                                        <p:tgtEl>
                                          <p:spTgt spid="107649"/>
                                        </p:tgtEl>
                                      </p:cBhvr>
                                    </p:animEffect>
                                  </p:childTnLst>
                                </p:cTn>
                              </p:par>
                            </p:childTnLst>
                          </p:cTn>
                        </p:par>
                        <p:par>
                          <p:cTn id="365" fill="hold" nodeType="afterGroup">
                            <p:stCondLst>
                              <p:cond delay="500"/>
                            </p:stCondLst>
                            <p:childTnLst>
                              <p:par>
                                <p:cTn id="366" presetID="22" presetClass="entr" presetSubtype="4" fill="hold" grpId="0" nodeType="afterEffect">
                                  <p:stCondLst>
                                    <p:cond delay="1000"/>
                                  </p:stCondLst>
                                  <p:childTnLst>
                                    <p:set>
                                      <p:cBhvr>
                                        <p:cTn id="367" dur="1" fill="hold">
                                          <p:stCondLst>
                                            <p:cond delay="0"/>
                                          </p:stCondLst>
                                        </p:cTn>
                                        <p:tgtEl>
                                          <p:spTgt spid="107653"/>
                                        </p:tgtEl>
                                        <p:attrNameLst>
                                          <p:attrName>style.visibility</p:attrName>
                                        </p:attrNameLst>
                                      </p:cBhvr>
                                      <p:to>
                                        <p:strVal val="visible"/>
                                      </p:to>
                                    </p:set>
                                    <p:animEffect transition="in" filter="wipe(down)">
                                      <p:cBhvr>
                                        <p:cTn id="368" dur="500"/>
                                        <p:tgtEl>
                                          <p:spTgt spid="107653"/>
                                        </p:tgtEl>
                                      </p:cBhvr>
                                    </p:animEffect>
                                  </p:childTnLst>
                                </p:cTn>
                              </p:par>
                            </p:childTnLst>
                          </p:cTn>
                        </p:par>
                      </p:childTnLst>
                    </p:cTn>
                  </p:par>
                  <p:par>
                    <p:cTn id="369" fill="hold" nodeType="clickPar">
                      <p:stCondLst>
                        <p:cond delay="indefinite"/>
                      </p:stCondLst>
                      <p:childTnLst>
                        <p:par>
                          <p:cTn id="370" fill="hold" nodeType="withGroup">
                            <p:stCondLst>
                              <p:cond delay="0"/>
                            </p:stCondLst>
                            <p:childTnLst>
                              <p:par>
                                <p:cTn id="371" presetID="22" presetClass="entr" presetSubtype="4" fill="hold" grpId="0" nodeType="clickEffect">
                                  <p:stCondLst>
                                    <p:cond delay="0"/>
                                  </p:stCondLst>
                                  <p:childTnLst>
                                    <p:set>
                                      <p:cBhvr>
                                        <p:cTn id="372" dur="1" fill="hold">
                                          <p:stCondLst>
                                            <p:cond delay="0"/>
                                          </p:stCondLst>
                                        </p:cTn>
                                        <p:tgtEl>
                                          <p:spTgt spid="107606"/>
                                        </p:tgtEl>
                                        <p:attrNameLst>
                                          <p:attrName>style.visibility</p:attrName>
                                        </p:attrNameLst>
                                      </p:cBhvr>
                                      <p:to>
                                        <p:strVal val="visible"/>
                                      </p:to>
                                    </p:set>
                                    <p:animEffect transition="in" filter="wipe(down)">
                                      <p:cBhvr>
                                        <p:cTn id="373" dur="500"/>
                                        <p:tgtEl>
                                          <p:spTgt spid="107606"/>
                                        </p:tgtEl>
                                      </p:cBhvr>
                                    </p:animEffect>
                                  </p:childTnLst>
                                </p:cTn>
                              </p:par>
                            </p:childTnLst>
                          </p:cTn>
                        </p:par>
                        <p:par>
                          <p:cTn id="374" fill="hold" nodeType="afterGroup">
                            <p:stCondLst>
                              <p:cond delay="500"/>
                            </p:stCondLst>
                            <p:childTnLst>
                              <p:par>
                                <p:cTn id="375" presetID="22" presetClass="entr" presetSubtype="2" fill="hold" grpId="0" nodeType="afterEffect">
                                  <p:stCondLst>
                                    <p:cond delay="1000"/>
                                  </p:stCondLst>
                                  <p:childTnLst>
                                    <p:set>
                                      <p:cBhvr>
                                        <p:cTn id="376" dur="1" fill="hold">
                                          <p:stCondLst>
                                            <p:cond delay="0"/>
                                          </p:stCondLst>
                                        </p:cTn>
                                        <p:tgtEl>
                                          <p:spTgt spid="107636"/>
                                        </p:tgtEl>
                                        <p:attrNameLst>
                                          <p:attrName>style.visibility</p:attrName>
                                        </p:attrNameLst>
                                      </p:cBhvr>
                                      <p:to>
                                        <p:strVal val="visible"/>
                                      </p:to>
                                    </p:set>
                                    <p:animEffect transition="in" filter="wipe(right)">
                                      <p:cBhvr>
                                        <p:cTn id="377" dur="500"/>
                                        <p:tgtEl>
                                          <p:spTgt spid="107636"/>
                                        </p:tgtEl>
                                      </p:cBhvr>
                                    </p:animEffect>
                                  </p:childTnLst>
                                </p:cTn>
                              </p:par>
                            </p:childTnLst>
                          </p:cTn>
                        </p:par>
                      </p:childTnLst>
                    </p:cTn>
                  </p:par>
                  <p:par>
                    <p:cTn id="378" fill="hold" nodeType="clickPar">
                      <p:stCondLst>
                        <p:cond delay="indefinite"/>
                      </p:stCondLst>
                      <p:childTnLst>
                        <p:par>
                          <p:cTn id="379" fill="hold" nodeType="withGroup">
                            <p:stCondLst>
                              <p:cond delay="0"/>
                            </p:stCondLst>
                            <p:childTnLst>
                              <p:par>
                                <p:cTn id="380" presetID="9" presetClass="entr" presetSubtype="0" fill="hold" grpId="0" nodeType="clickEffect">
                                  <p:stCondLst>
                                    <p:cond delay="0"/>
                                  </p:stCondLst>
                                  <p:childTnLst>
                                    <p:set>
                                      <p:cBhvr>
                                        <p:cTn id="381" dur="1" fill="hold">
                                          <p:stCondLst>
                                            <p:cond delay="0"/>
                                          </p:stCondLst>
                                        </p:cTn>
                                        <p:tgtEl>
                                          <p:spTgt spid="107609"/>
                                        </p:tgtEl>
                                        <p:attrNameLst>
                                          <p:attrName>style.visibility</p:attrName>
                                        </p:attrNameLst>
                                      </p:cBhvr>
                                      <p:to>
                                        <p:strVal val="visible"/>
                                      </p:to>
                                    </p:set>
                                    <p:animEffect transition="in" filter="dissolve">
                                      <p:cBhvr>
                                        <p:cTn id="382" dur="500"/>
                                        <p:tgtEl>
                                          <p:spTgt spid="107609"/>
                                        </p:tgtEl>
                                      </p:cBhvr>
                                    </p:animEffect>
                                  </p:childTnLst>
                                </p:cTn>
                              </p:par>
                            </p:childTnLst>
                          </p:cTn>
                        </p:par>
                        <p:par>
                          <p:cTn id="383" fill="hold" nodeType="afterGroup">
                            <p:stCondLst>
                              <p:cond delay="500"/>
                            </p:stCondLst>
                            <p:childTnLst>
                              <p:par>
                                <p:cTn id="384" presetID="9" presetClass="entr" presetSubtype="0" fill="hold" grpId="0" nodeType="afterEffect">
                                  <p:stCondLst>
                                    <p:cond delay="0"/>
                                  </p:stCondLst>
                                  <p:childTnLst>
                                    <p:set>
                                      <p:cBhvr>
                                        <p:cTn id="385" dur="1" fill="hold">
                                          <p:stCondLst>
                                            <p:cond delay="0"/>
                                          </p:stCondLst>
                                        </p:cTn>
                                        <p:tgtEl>
                                          <p:spTgt spid="107639"/>
                                        </p:tgtEl>
                                        <p:attrNameLst>
                                          <p:attrName>style.visibility</p:attrName>
                                        </p:attrNameLst>
                                      </p:cBhvr>
                                      <p:to>
                                        <p:strVal val="visible"/>
                                      </p:to>
                                    </p:set>
                                    <p:animEffect transition="in" filter="dissolve">
                                      <p:cBhvr>
                                        <p:cTn id="386" dur="500"/>
                                        <p:tgtEl>
                                          <p:spTgt spid="107639"/>
                                        </p:tgtEl>
                                      </p:cBhvr>
                                    </p:animEffect>
                                  </p:childTnLst>
                                </p:cTn>
                              </p:par>
                            </p:childTnLst>
                          </p:cTn>
                        </p:par>
                      </p:childTnLst>
                    </p:cTn>
                  </p:par>
                  <p:par>
                    <p:cTn id="387" fill="hold" nodeType="clickPar">
                      <p:stCondLst>
                        <p:cond delay="indefinite"/>
                      </p:stCondLst>
                      <p:childTnLst>
                        <p:par>
                          <p:cTn id="388" fill="hold" nodeType="withGroup">
                            <p:stCondLst>
                              <p:cond delay="0"/>
                            </p:stCondLst>
                            <p:childTnLst>
                              <p:par>
                                <p:cTn id="389" presetID="9" presetClass="entr" presetSubtype="0" fill="hold" grpId="0" nodeType="clickEffect">
                                  <p:stCondLst>
                                    <p:cond delay="0"/>
                                  </p:stCondLst>
                                  <p:childTnLst>
                                    <p:set>
                                      <p:cBhvr>
                                        <p:cTn id="390" dur="1" fill="hold">
                                          <p:stCondLst>
                                            <p:cond delay="0"/>
                                          </p:stCondLst>
                                        </p:cTn>
                                        <p:tgtEl>
                                          <p:spTgt spid="107610"/>
                                        </p:tgtEl>
                                        <p:attrNameLst>
                                          <p:attrName>style.visibility</p:attrName>
                                        </p:attrNameLst>
                                      </p:cBhvr>
                                      <p:to>
                                        <p:strVal val="visible"/>
                                      </p:to>
                                    </p:set>
                                    <p:animEffect transition="in" filter="dissolve">
                                      <p:cBhvr>
                                        <p:cTn id="391" dur="500"/>
                                        <p:tgtEl>
                                          <p:spTgt spid="107610"/>
                                        </p:tgtEl>
                                      </p:cBhvr>
                                    </p:animEffect>
                                  </p:childTnLst>
                                </p:cTn>
                              </p:par>
                            </p:childTnLst>
                          </p:cTn>
                        </p:par>
                        <p:par>
                          <p:cTn id="392" fill="hold" nodeType="afterGroup">
                            <p:stCondLst>
                              <p:cond delay="500"/>
                            </p:stCondLst>
                            <p:childTnLst>
                              <p:par>
                                <p:cTn id="393" presetID="9" presetClass="entr" presetSubtype="0" fill="hold" grpId="0" nodeType="afterEffect">
                                  <p:stCondLst>
                                    <p:cond delay="0"/>
                                  </p:stCondLst>
                                  <p:childTnLst>
                                    <p:set>
                                      <p:cBhvr>
                                        <p:cTn id="394" dur="1" fill="hold">
                                          <p:stCondLst>
                                            <p:cond delay="0"/>
                                          </p:stCondLst>
                                        </p:cTn>
                                        <p:tgtEl>
                                          <p:spTgt spid="107663"/>
                                        </p:tgtEl>
                                        <p:attrNameLst>
                                          <p:attrName>style.visibility</p:attrName>
                                        </p:attrNameLst>
                                      </p:cBhvr>
                                      <p:to>
                                        <p:strVal val="visible"/>
                                      </p:to>
                                    </p:set>
                                    <p:animEffect transition="in" filter="dissolve">
                                      <p:cBhvr>
                                        <p:cTn id="395" dur="500"/>
                                        <p:tgtEl>
                                          <p:spTgt spid="107663"/>
                                        </p:tgtEl>
                                      </p:cBhvr>
                                    </p:animEffect>
                                  </p:childTnLst>
                                </p:cTn>
                              </p:par>
                            </p:childTnLst>
                          </p:cTn>
                        </p:par>
                      </p:childTnLst>
                    </p:cTn>
                  </p:par>
                  <p:par>
                    <p:cTn id="396" fill="hold" nodeType="clickPar">
                      <p:stCondLst>
                        <p:cond delay="indefinite"/>
                      </p:stCondLst>
                      <p:childTnLst>
                        <p:par>
                          <p:cTn id="397" fill="hold" nodeType="withGroup">
                            <p:stCondLst>
                              <p:cond delay="0"/>
                            </p:stCondLst>
                            <p:childTnLst>
                              <p:par>
                                <p:cTn id="398" presetID="22" presetClass="entr" presetSubtype="4" fill="hold" grpId="0" nodeType="clickEffect">
                                  <p:stCondLst>
                                    <p:cond delay="0"/>
                                  </p:stCondLst>
                                  <p:childTnLst>
                                    <p:set>
                                      <p:cBhvr>
                                        <p:cTn id="399" dur="1" fill="hold">
                                          <p:stCondLst>
                                            <p:cond delay="0"/>
                                          </p:stCondLst>
                                        </p:cTn>
                                        <p:tgtEl>
                                          <p:spTgt spid="107650"/>
                                        </p:tgtEl>
                                        <p:attrNameLst>
                                          <p:attrName>style.visibility</p:attrName>
                                        </p:attrNameLst>
                                      </p:cBhvr>
                                      <p:to>
                                        <p:strVal val="visible"/>
                                      </p:to>
                                    </p:set>
                                    <p:animEffect transition="in" filter="wipe(down)">
                                      <p:cBhvr>
                                        <p:cTn id="400" dur="500"/>
                                        <p:tgtEl>
                                          <p:spTgt spid="107650"/>
                                        </p:tgtEl>
                                      </p:cBhvr>
                                    </p:animEffect>
                                  </p:childTnLst>
                                </p:cTn>
                              </p:par>
                            </p:childTnLst>
                          </p:cTn>
                        </p:par>
                        <p:par>
                          <p:cTn id="401" fill="hold" nodeType="afterGroup">
                            <p:stCondLst>
                              <p:cond delay="500"/>
                            </p:stCondLst>
                            <p:childTnLst>
                              <p:par>
                                <p:cTn id="402" presetID="22" presetClass="entr" presetSubtype="2" fill="hold" grpId="0" nodeType="afterEffect">
                                  <p:stCondLst>
                                    <p:cond delay="1000"/>
                                  </p:stCondLst>
                                  <p:childTnLst>
                                    <p:set>
                                      <p:cBhvr>
                                        <p:cTn id="403" dur="1" fill="hold">
                                          <p:stCondLst>
                                            <p:cond delay="0"/>
                                          </p:stCondLst>
                                        </p:cTn>
                                        <p:tgtEl>
                                          <p:spTgt spid="107652"/>
                                        </p:tgtEl>
                                        <p:attrNameLst>
                                          <p:attrName>style.visibility</p:attrName>
                                        </p:attrNameLst>
                                      </p:cBhvr>
                                      <p:to>
                                        <p:strVal val="visible"/>
                                      </p:to>
                                    </p:set>
                                    <p:animEffect transition="in" filter="wipe(right)">
                                      <p:cBhvr>
                                        <p:cTn id="404" dur="500"/>
                                        <p:tgtEl>
                                          <p:spTgt spid="107652"/>
                                        </p:tgtEl>
                                      </p:cBhvr>
                                    </p:animEffect>
                                  </p:childTnLst>
                                </p:cTn>
                              </p:par>
                            </p:childTnLst>
                          </p:cTn>
                        </p:par>
                      </p:childTnLst>
                    </p:cTn>
                  </p:par>
                  <p:par>
                    <p:cTn id="405" fill="hold" nodeType="clickPar">
                      <p:stCondLst>
                        <p:cond delay="indefinite"/>
                      </p:stCondLst>
                      <p:childTnLst>
                        <p:par>
                          <p:cTn id="406" fill="hold" nodeType="withGroup">
                            <p:stCondLst>
                              <p:cond delay="0"/>
                            </p:stCondLst>
                            <p:childTnLst>
                              <p:par>
                                <p:cTn id="407" presetID="22" presetClass="entr" presetSubtype="4" fill="hold" grpId="0" nodeType="clickEffect">
                                  <p:stCondLst>
                                    <p:cond delay="0"/>
                                  </p:stCondLst>
                                  <p:childTnLst>
                                    <p:set>
                                      <p:cBhvr>
                                        <p:cTn id="408" dur="1" fill="hold">
                                          <p:stCondLst>
                                            <p:cond delay="0"/>
                                          </p:stCondLst>
                                        </p:cTn>
                                        <p:tgtEl>
                                          <p:spTgt spid="107611"/>
                                        </p:tgtEl>
                                        <p:attrNameLst>
                                          <p:attrName>style.visibility</p:attrName>
                                        </p:attrNameLst>
                                      </p:cBhvr>
                                      <p:to>
                                        <p:strVal val="visible"/>
                                      </p:to>
                                    </p:set>
                                    <p:animEffect transition="in" filter="wipe(down)">
                                      <p:cBhvr>
                                        <p:cTn id="409" dur="500"/>
                                        <p:tgtEl>
                                          <p:spTgt spid="107611"/>
                                        </p:tgtEl>
                                      </p:cBhvr>
                                    </p:animEffect>
                                  </p:childTnLst>
                                </p:cTn>
                              </p:par>
                            </p:childTnLst>
                          </p:cTn>
                        </p:par>
                        <p:par>
                          <p:cTn id="410" fill="hold" nodeType="afterGroup">
                            <p:stCondLst>
                              <p:cond delay="500"/>
                            </p:stCondLst>
                            <p:childTnLst>
                              <p:par>
                                <p:cTn id="411" presetID="22" presetClass="entr" presetSubtype="4" fill="hold" grpId="0" nodeType="afterEffect">
                                  <p:stCondLst>
                                    <p:cond delay="1000"/>
                                  </p:stCondLst>
                                  <p:childTnLst>
                                    <p:set>
                                      <p:cBhvr>
                                        <p:cTn id="412" dur="1" fill="hold">
                                          <p:stCondLst>
                                            <p:cond delay="0"/>
                                          </p:stCondLst>
                                        </p:cTn>
                                        <p:tgtEl>
                                          <p:spTgt spid="107640"/>
                                        </p:tgtEl>
                                        <p:attrNameLst>
                                          <p:attrName>style.visibility</p:attrName>
                                        </p:attrNameLst>
                                      </p:cBhvr>
                                      <p:to>
                                        <p:strVal val="visible"/>
                                      </p:to>
                                    </p:set>
                                    <p:animEffect transition="in" filter="wipe(down)">
                                      <p:cBhvr>
                                        <p:cTn id="413" dur="500"/>
                                        <p:tgtEl>
                                          <p:spTgt spid="107640"/>
                                        </p:tgtEl>
                                      </p:cBhvr>
                                    </p:animEffect>
                                  </p:childTnLst>
                                </p:cTn>
                              </p:par>
                            </p:childTnLst>
                          </p:cTn>
                        </p:par>
                      </p:childTnLst>
                    </p:cTn>
                  </p:par>
                  <p:par>
                    <p:cTn id="414" fill="hold" nodeType="clickPar">
                      <p:stCondLst>
                        <p:cond delay="indefinite"/>
                      </p:stCondLst>
                      <p:childTnLst>
                        <p:par>
                          <p:cTn id="415" fill="hold" nodeType="withGroup">
                            <p:stCondLst>
                              <p:cond delay="0"/>
                            </p:stCondLst>
                            <p:childTnLst>
                              <p:par>
                                <p:cTn id="416" presetID="9" presetClass="entr" presetSubtype="0" fill="hold" grpId="0" nodeType="clickEffect">
                                  <p:stCondLst>
                                    <p:cond delay="0"/>
                                  </p:stCondLst>
                                  <p:childTnLst>
                                    <p:set>
                                      <p:cBhvr>
                                        <p:cTn id="417" dur="1" fill="hold">
                                          <p:stCondLst>
                                            <p:cond delay="0"/>
                                          </p:stCondLst>
                                        </p:cTn>
                                        <p:tgtEl>
                                          <p:spTgt spid="107614"/>
                                        </p:tgtEl>
                                        <p:attrNameLst>
                                          <p:attrName>style.visibility</p:attrName>
                                        </p:attrNameLst>
                                      </p:cBhvr>
                                      <p:to>
                                        <p:strVal val="visible"/>
                                      </p:to>
                                    </p:set>
                                    <p:animEffect transition="in" filter="dissolve">
                                      <p:cBhvr>
                                        <p:cTn id="418" dur="500"/>
                                        <p:tgtEl>
                                          <p:spTgt spid="107614"/>
                                        </p:tgtEl>
                                      </p:cBhvr>
                                    </p:animEffect>
                                  </p:childTnLst>
                                </p:cTn>
                              </p:par>
                            </p:childTnLst>
                          </p:cTn>
                        </p:par>
                        <p:par>
                          <p:cTn id="419" fill="hold" nodeType="afterGroup">
                            <p:stCondLst>
                              <p:cond delay="500"/>
                            </p:stCondLst>
                            <p:childTnLst>
                              <p:par>
                                <p:cTn id="420" presetID="9" presetClass="entr" presetSubtype="0" fill="hold" grpId="0" nodeType="afterEffect">
                                  <p:stCondLst>
                                    <p:cond delay="0"/>
                                  </p:stCondLst>
                                  <p:childTnLst>
                                    <p:set>
                                      <p:cBhvr>
                                        <p:cTn id="421" dur="1" fill="hold">
                                          <p:stCondLst>
                                            <p:cond delay="0"/>
                                          </p:stCondLst>
                                        </p:cTn>
                                        <p:tgtEl>
                                          <p:spTgt spid="107643"/>
                                        </p:tgtEl>
                                        <p:attrNameLst>
                                          <p:attrName>style.visibility</p:attrName>
                                        </p:attrNameLst>
                                      </p:cBhvr>
                                      <p:to>
                                        <p:strVal val="visible"/>
                                      </p:to>
                                    </p:set>
                                    <p:animEffect transition="in" filter="dissolve">
                                      <p:cBhvr>
                                        <p:cTn id="422" dur="500"/>
                                        <p:tgtEl>
                                          <p:spTgt spid="107643"/>
                                        </p:tgtEl>
                                      </p:cBhvr>
                                    </p:animEffect>
                                  </p:childTnLst>
                                </p:cTn>
                              </p:par>
                            </p:childTnLst>
                          </p:cTn>
                        </p:par>
                        <p:par>
                          <p:cTn id="423" fill="hold" nodeType="afterGroup">
                            <p:stCondLst>
                              <p:cond delay="1000"/>
                            </p:stCondLst>
                            <p:childTnLst>
                              <p:par>
                                <p:cTn id="424" presetID="9" presetClass="entr" presetSubtype="0" fill="hold" grpId="0" nodeType="afterEffect">
                                  <p:stCondLst>
                                    <p:cond delay="0"/>
                                  </p:stCondLst>
                                  <p:childTnLst>
                                    <p:set>
                                      <p:cBhvr>
                                        <p:cTn id="425" dur="1" fill="hold">
                                          <p:stCondLst>
                                            <p:cond delay="0"/>
                                          </p:stCondLst>
                                        </p:cTn>
                                        <p:tgtEl>
                                          <p:spTgt spid="107664"/>
                                        </p:tgtEl>
                                        <p:attrNameLst>
                                          <p:attrName>style.visibility</p:attrName>
                                        </p:attrNameLst>
                                      </p:cBhvr>
                                      <p:to>
                                        <p:strVal val="visible"/>
                                      </p:to>
                                    </p:set>
                                    <p:animEffect transition="in" filter="dissolve">
                                      <p:cBhvr>
                                        <p:cTn id="426" dur="500"/>
                                        <p:tgtEl>
                                          <p:spTgt spid="107664"/>
                                        </p:tgtEl>
                                      </p:cBhvr>
                                    </p:animEffect>
                                  </p:childTnLst>
                                </p:cTn>
                              </p:par>
                            </p:childTnLst>
                          </p:cTn>
                        </p:par>
                        <p:par>
                          <p:cTn id="427" fill="hold" nodeType="afterGroup">
                            <p:stCondLst>
                              <p:cond delay="1500"/>
                            </p:stCondLst>
                            <p:childTnLst>
                              <p:par>
                                <p:cTn id="428" presetID="22" presetClass="entr" presetSubtype="8" fill="hold" grpId="0" nodeType="afterEffect">
                                  <p:stCondLst>
                                    <p:cond delay="1000"/>
                                  </p:stCondLst>
                                  <p:childTnLst>
                                    <p:set>
                                      <p:cBhvr>
                                        <p:cTn id="429" dur="1" fill="hold">
                                          <p:stCondLst>
                                            <p:cond delay="0"/>
                                          </p:stCondLst>
                                        </p:cTn>
                                        <p:tgtEl>
                                          <p:spTgt spid="107667"/>
                                        </p:tgtEl>
                                        <p:attrNameLst>
                                          <p:attrName>style.visibility</p:attrName>
                                        </p:attrNameLst>
                                      </p:cBhvr>
                                      <p:to>
                                        <p:strVal val="visible"/>
                                      </p:to>
                                    </p:set>
                                    <p:animEffect transition="in" filter="wipe(left)">
                                      <p:cBhvr>
                                        <p:cTn id="430" dur="500"/>
                                        <p:tgtEl>
                                          <p:spTgt spid="107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649" grpId="0" animBg="1"/>
      <p:bldP spid="107650" grpId="0" animBg="1"/>
      <p:bldP spid="107591" grpId="0" animBg="1"/>
      <p:bldP spid="107621" grpId="0" animBg="1"/>
      <p:bldP spid="107619" grpId="0" animBg="1"/>
      <p:bldP spid="107617" grpId="0" animBg="1"/>
      <p:bldP spid="107633" grpId="0" animBg="1"/>
      <p:bldP spid="107636" grpId="0" animBg="1"/>
      <p:bldP spid="107640" grpId="0" animBg="1"/>
      <p:bldP spid="107629" grpId="0" animBg="1"/>
      <p:bldP spid="107627" grpId="0" animBg="1"/>
      <p:bldP spid="107628" grpId="0" animBg="1"/>
      <p:bldP spid="107625" grpId="0" animBg="1"/>
      <p:bldP spid="107624" grpId="0" animBg="1"/>
      <p:bldP spid="107630" grpId="0" animBg="1"/>
      <p:bldP spid="107635" grpId="0" animBg="1"/>
      <p:bldP spid="107564" grpId="0" animBg="1" autoUpdateAnimBg="0"/>
      <p:bldP spid="107565" grpId="0" animBg="1" autoUpdateAnimBg="0"/>
      <p:bldP spid="107567" grpId="0" animBg="1"/>
      <p:bldP spid="107568" grpId="0" animBg="1" autoUpdateAnimBg="0"/>
      <p:bldP spid="107569" grpId="0" animBg="1" autoUpdateAnimBg="0"/>
      <p:bldP spid="107571" grpId="0" animBg="1"/>
      <p:bldP spid="107572" grpId="0" animBg="1" autoUpdateAnimBg="0"/>
      <p:bldP spid="107574" grpId="0" animBg="1" autoUpdateAnimBg="0"/>
      <p:bldP spid="107575" grpId="0" animBg="1"/>
      <p:bldP spid="107576" grpId="0" animBg="1" autoUpdateAnimBg="0"/>
      <p:bldP spid="107577" grpId="0" animBg="1" autoUpdateAnimBg="0"/>
      <p:bldP spid="107581" grpId="0" animBg="1"/>
      <p:bldP spid="107582" grpId="0" animBg="1" autoUpdateAnimBg="0"/>
      <p:bldP spid="107584" grpId="0" animBg="1"/>
      <p:bldP spid="107585" grpId="0" animBg="1" autoUpdateAnimBg="0"/>
      <p:bldP spid="107589" grpId="0" animBg="1"/>
      <p:bldP spid="107592" grpId="0" animBg="1"/>
      <p:bldP spid="107593" grpId="0" animBg="1" autoUpdateAnimBg="0"/>
      <p:bldP spid="107596" grpId="0" animBg="1"/>
      <p:bldP spid="107597" grpId="0" animBg="1" autoUpdateAnimBg="0"/>
      <p:bldP spid="107598" grpId="0" animBg="1" autoUpdateAnimBg="0"/>
      <p:bldP spid="107600" grpId="0" animBg="1"/>
      <p:bldP spid="107601" grpId="0" animBg="1" autoUpdateAnimBg="0"/>
      <p:bldP spid="107602" grpId="0" animBg="1"/>
      <p:bldP spid="107603" grpId="0" animBg="1" autoUpdateAnimBg="0"/>
      <p:bldP spid="107606" grpId="0" animBg="1"/>
      <p:bldP spid="107607" grpId="0" animBg="1" autoUpdateAnimBg="0"/>
      <p:bldP spid="107608" grpId="0" animBg="1" autoUpdateAnimBg="0"/>
      <p:bldP spid="107563" grpId="0" animBg="1" autoUpdateAnimBg="0"/>
      <p:bldP spid="107566" grpId="0" animBg="1" autoUpdateAnimBg="0"/>
      <p:bldP spid="107570" grpId="0" animBg="1" autoUpdateAnimBg="0"/>
      <p:bldP spid="107573" grpId="0" animBg="1" autoUpdateAnimBg="0"/>
      <p:bldP spid="107578" grpId="0" animBg="1" autoUpdateAnimBg="0"/>
      <p:bldP spid="107580" grpId="0" animBg="1" autoUpdateAnimBg="0"/>
      <p:bldP spid="107583" grpId="0" animBg="1" autoUpdateAnimBg="0"/>
      <p:bldP spid="107586" grpId="0" animBg="1" autoUpdateAnimBg="0"/>
      <p:bldP spid="107588" grpId="0" animBg="1" autoUpdateAnimBg="0"/>
      <p:bldP spid="107590" grpId="0" animBg="1" autoUpdateAnimBg="0"/>
      <p:bldP spid="107594" grpId="0" animBg="1" autoUpdateAnimBg="0"/>
      <p:bldP spid="107595" grpId="0" animBg="1" autoUpdateAnimBg="0"/>
      <p:bldP spid="107599" grpId="0" animBg="1" autoUpdateAnimBg="0"/>
      <p:bldP spid="107604" grpId="0" animBg="1" autoUpdateAnimBg="0"/>
      <p:bldP spid="107605" grpId="0" animBg="1" autoUpdateAnimBg="0"/>
      <p:bldP spid="107610" grpId="0" animBg="1" autoUpdateAnimBg="0"/>
      <p:bldP spid="107611" grpId="0" animBg="1"/>
      <p:bldP spid="107612" grpId="0" animBg="1" autoUpdateAnimBg="0"/>
      <p:bldP spid="107613" grpId="0" animBg="1" autoUpdateAnimBg="0"/>
      <p:bldP spid="107614" grpId="0" animBg="1" autoUpdateAnimBg="0"/>
      <p:bldP spid="107615" grpId="0" animBg="1" autoUpdateAnimBg="0"/>
      <p:bldP spid="107616" grpId="0" animBg="1" autoUpdateAnimBg="0"/>
      <p:bldP spid="107618" grpId="0" animBg="1" autoUpdateAnimBg="0"/>
      <p:bldP spid="107620" grpId="0" animBg="1" autoUpdateAnimBg="0"/>
      <p:bldP spid="107622" grpId="0" animBg="1" autoUpdateAnimBg="0"/>
      <p:bldP spid="107623" grpId="0" animBg="1" autoUpdateAnimBg="0"/>
      <p:bldP spid="107626" grpId="0" animBg="1" autoUpdateAnimBg="0"/>
      <p:bldP spid="107631" grpId="0" animBg="1" autoUpdateAnimBg="0"/>
      <p:bldP spid="107632" grpId="0" animBg="1" autoUpdateAnimBg="0"/>
      <p:bldP spid="107634" grpId="0" animBg="1" autoUpdateAnimBg="0"/>
      <p:bldP spid="107637" grpId="0" animBg="1" autoUpdateAnimBg="0"/>
      <p:bldP spid="107638" grpId="0" animBg="1" autoUpdateAnimBg="0"/>
      <p:bldP spid="107639" grpId="0" animBg="1" autoUpdateAnimBg="0"/>
      <p:bldP spid="107641" grpId="0" animBg="1" autoUpdateAnimBg="0"/>
      <p:bldP spid="107642" grpId="0" animBg="1" autoUpdateAnimBg="0"/>
      <p:bldP spid="107643" grpId="0" animBg="1" autoUpdateAnimBg="0"/>
      <p:bldP spid="107644" grpId="0" animBg="1" autoUpdateAnimBg="0"/>
      <p:bldP spid="107646" grpId="0" autoUpdateAnimBg="0"/>
      <p:bldP spid="107587" grpId="0" animBg="1" autoUpdateAnimBg="0"/>
      <p:bldP spid="107609" grpId="0" animBg="1" autoUpdateAnimBg="0"/>
      <p:bldP spid="107579" grpId="0" animBg="1" autoUpdateAnimBg="0"/>
      <p:bldP spid="107652" grpId="0" animBg="1"/>
      <p:bldP spid="107653" grpId="0" animBg="1"/>
      <p:bldP spid="107656" grpId="0" animBg="1" autoUpdateAnimBg="0"/>
      <p:bldP spid="107657" grpId="0" animBg="1" autoUpdateAnimBg="0"/>
      <p:bldP spid="107658" grpId="0" animBg="1" autoUpdateAnimBg="0"/>
      <p:bldP spid="107659" grpId="0" animBg="1" autoUpdateAnimBg="0"/>
      <p:bldP spid="107660" grpId="0" animBg="1" autoUpdateAnimBg="0"/>
      <p:bldP spid="107661" grpId="0" animBg="1" autoUpdateAnimBg="0"/>
      <p:bldP spid="107662" grpId="0" animBg="1" autoUpdateAnimBg="0"/>
      <p:bldP spid="107663" grpId="0" animBg="1" autoUpdateAnimBg="0"/>
      <p:bldP spid="107664" grpId="0" animBg="1" autoUpdateAnimBg="0"/>
      <p:bldP spid="107667"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reeform 150"/>
          <p:cNvSpPr>
            <a:spLocks/>
          </p:cNvSpPr>
          <p:nvPr/>
        </p:nvSpPr>
        <p:spPr bwMode="auto">
          <a:xfrm>
            <a:off x="5570538" y="3089275"/>
            <a:ext cx="2890837" cy="431800"/>
          </a:xfrm>
          <a:custGeom>
            <a:avLst/>
            <a:gdLst>
              <a:gd name="T0" fmla="*/ 2890837 w 1821"/>
              <a:gd name="T1" fmla="*/ 0 h 272"/>
              <a:gd name="T2" fmla="*/ 1555750 w 1821"/>
              <a:gd name="T3" fmla="*/ 431800 h 272"/>
              <a:gd name="T4" fmla="*/ 0 w 1821"/>
              <a:gd name="T5" fmla="*/ 0 h 272"/>
              <a:gd name="T6" fmla="*/ 0 60000 65536"/>
              <a:gd name="T7" fmla="*/ 0 60000 65536"/>
              <a:gd name="T8" fmla="*/ 0 60000 65536"/>
            </a:gdLst>
            <a:ahLst/>
            <a:cxnLst>
              <a:cxn ang="T6">
                <a:pos x="T0" y="T1"/>
              </a:cxn>
              <a:cxn ang="T7">
                <a:pos x="T2" y="T3"/>
              </a:cxn>
              <a:cxn ang="T8">
                <a:pos x="T4" y="T5"/>
              </a:cxn>
            </a:cxnLst>
            <a:rect l="0" t="0" r="r" b="b"/>
            <a:pathLst>
              <a:path w="1821" h="272">
                <a:moveTo>
                  <a:pt x="1821" y="0"/>
                </a:moveTo>
                <a:cubicBezTo>
                  <a:pt x="1681" y="45"/>
                  <a:pt x="1283" y="272"/>
                  <a:pt x="980" y="272"/>
                </a:cubicBezTo>
                <a:cubicBezTo>
                  <a:pt x="677" y="272"/>
                  <a:pt x="204" y="57"/>
                  <a:pt x="0" y="0"/>
                </a:cubicBezTo>
              </a:path>
            </a:pathLst>
          </a:custGeom>
          <a:noFill/>
          <a:ln w="19050" cap="flat" cmpd="sng">
            <a:solidFill>
              <a:srgbClr val="969696"/>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59" name="Freeform 47"/>
          <p:cNvSpPr>
            <a:spLocks/>
          </p:cNvSpPr>
          <p:nvPr/>
        </p:nvSpPr>
        <p:spPr bwMode="auto">
          <a:xfrm>
            <a:off x="7467600" y="2081213"/>
            <a:ext cx="898525" cy="885825"/>
          </a:xfrm>
          <a:custGeom>
            <a:avLst/>
            <a:gdLst>
              <a:gd name="T0" fmla="*/ 0 w 566"/>
              <a:gd name="T1" fmla="*/ 885825 h 558"/>
              <a:gd name="T2" fmla="*/ 898525 w 566"/>
              <a:gd name="T3" fmla="*/ 0 h 558"/>
              <a:gd name="T4" fmla="*/ 0 60000 65536"/>
              <a:gd name="T5" fmla="*/ 0 60000 65536"/>
            </a:gdLst>
            <a:ahLst/>
            <a:cxnLst>
              <a:cxn ang="T4">
                <a:pos x="T0" y="T1"/>
              </a:cxn>
              <a:cxn ang="T5">
                <a:pos x="T2" y="T3"/>
              </a:cxn>
            </a:cxnLst>
            <a:rect l="0" t="0" r="r" b="b"/>
            <a:pathLst>
              <a:path w="566" h="558">
                <a:moveTo>
                  <a:pt x="0" y="558"/>
                </a:moveTo>
                <a:lnTo>
                  <a:pt x="566" y="0"/>
                </a:lnTo>
              </a:path>
            </a:pathLst>
          </a:custGeom>
          <a:solidFill>
            <a:schemeClr val="bg1"/>
          </a:solidFill>
          <a:ln w="19050" cap="flat" cmpd="sng">
            <a:solidFill>
              <a:srgbClr val="96969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60" name="Freeform 131"/>
          <p:cNvSpPr>
            <a:spLocks/>
          </p:cNvSpPr>
          <p:nvPr/>
        </p:nvSpPr>
        <p:spPr bwMode="auto">
          <a:xfrm>
            <a:off x="5562600" y="3048000"/>
            <a:ext cx="922338" cy="1588"/>
          </a:xfrm>
          <a:custGeom>
            <a:avLst/>
            <a:gdLst>
              <a:gd name="T0" fmla="*/ 922338 w 581"/>
              <a:gd name="T1" fmla="*/ 0 h 1"/>
              <a:gd name="T2" fmla="*/ 0 w 581"/>
              <a:gd name="T3" fmla="*/ 0 h 1"/>
              <a:gd name="T4" fmla="*/ 0 60000 65536"/>
              <a:gd name="T5" fmla="*/ 0 60000 65536"/>
            </a:gdLst>
            <a:ahLst/>
            <a:cxnLst>
              <a:cxn ang="T4">
                <a:pos x="T0" y="T1"/>
              </a:cxn>
              <a:cxn ang="T5">
                <a:pos x="T2" y="T3"/>
              </a:cxn>
            </a:cxnLst>
            <a:rect l="0" t="0" r="r" b="b"/>
            <a:pathLst>
              <a:path w="581" h="1">
                <a:moveTo>
                  <a:pt x="581" y="0"/>
                </a:moveTo>
                <a:lnTo>
                  <a:pt x="0" y="0"/>
                </a:lnTo>
              </a:path>
            </a:pathLst>
          </a:custGeom>
          <a:solidFill>
            <a:schemeClr val="bg1"/>
          </a:solidFill>
          <a:ln w="19050" cap="flat" cmpd="sng">
            <a:solidFill>
              <a:srgbClr val="96969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61" name="Freeform 132"/>
          <p:cNvSpPr>
            <a:spLocks/>
          </p:cNvSpPr>
          <p:nvPr/>
        </p:nvSpPr>
        <p:spPr bwMode="auto">
          <a:xfrm>
            <a:off x="6477000" y="2974975"/>
            <a:ext cx="2005013" cy="379413"/>
          </a:xfrm>
          <a:custGeom>
            <a:avLst/>
            <a:gdLst>
              <a:gd name="T0" fmla="*/ 2005013 w 1263"/>
              <a:gd name="T1" fmla="*/ 0 h 239"/>
              <a:gd name="T2" fmla="*/ 974725 w 1263"/>
              <a:gd name="T3" fmla="*/ 366713 h 239"/>
              <a:gd name="T4" fmla="*/ 0 w 1263"/>
              <a:gd name="T5" fmla="*/ 73025 h 239"/>
              <a:gd name="T6" fmla="*/ 0 60000 65536"/>
              <a:gd name="T7" fmla="*/ 0 60000 65536"/>
              <a:gd name="T8" fmla="*/ 0 60000 65536"/>
            </a:gdLst>
            <a:ahLst/>
            <a:cxnLst>
              <a:cxn ang="T6">
                <a:pos x="T0" y="T1"/>
              </a:cxn>
              <a:cxn ang="T7">
                <a:pos x="T2" y="T3"/>
              </a:cxn>
              <a:cxn ang="T8">
                <a:pos x="T4" y="T5"/>
              </a:cxn>
            </a:cxnLst>
            <a:rect l="0" t="0" r="r" b="b"/>
            <a:pathLst>
              <a:path w="1263" h="239">
                <a:moveTo>
                  <a:pt x="1263" y="0"/>
                </a:moveTo>
                <a:cubicBezTo>
                  <a:pt x="1155" y="38"/>
                  <a:pt x="824" y="223"/>
                  <a:pt x="614" y="231"/>
                </a:cubicBezTo>
                <a:cubicBezTo>
                  <a:pt x="404" y="239"/>
                  <a:pt x="128" y="85"/>
                  <a:pt x="0" y="46"/>
                </a:cubicBezTo>
              </a:path>
            </a:pathLst>
          </a:custGeom>
          <a:noFill/>
          <a:ln w="19050" cap="flat" cmpd="sng">
            <a:solidFill>
              <a:srgbClr val="969696"/>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62" name="Freeform 149"/>
          <p:cNvSpPr>
            <a:spLocks/>
          </p:cNvSpPr>
          <p:nvPr/>
        </p:nvSpPr>
        <p:spPr bwMode="auto">
          <a:xfrm>
            <a:off x="6400800" y="1981200"/>
            <a:ext cx="2005013" cy="474663"/>
          </a:xfrm>
          <a:custGeom>
            <a:avLst/>
            <a:gdLst>
              <a:gd name="T0" fmla="*/ 2005013 w 1263"/>
              <a:gd name="T1" fmla="*/ 0 h 299"/>
              <a:gd name="T2" fmla="*/ 963613 w 1263"/>
              <a:gd name="T3" fmla="*/ 461963 h 299"/>
              <a:gd name="T4" fmla="*/ 0 w 1263"/>
              <a:gd name="T5" fmla="*/ 73025 h 299"/>
              <a:gd name="T6" fmla="*/ 0 60000 65536"/>
              <a:gd name="T7" fmla="*/ 0 60000 65536"/>
              <a:gd name="T8" fmla="*/ 0 60000 65536"/>
            </a:gdLst>
            <a:ahLst/>
            <a:cxnLst>
              <a:cxn ang="T6">
                <a:pos x="T0" y="T1"/>
              </a:cxn>
              <a:cxn ang="T7">
                <a:pos x="T2" y="T3"/>
              </a:cxn>
              <a:cxn ang="T8">
                <a:pos x="T4" y="T5"/>
              </a:cxn>
            </a:cxnLst>
            <a:rect l="0" t="0" r="r" b="b"/>
            <a:pathLst>
              <a:path w="1263" h="299">
                <a:moveTo>
                  <a:pt x="1263" y="0"/>
                </a:moveTo>
                <a:cubicBezTo>
                  <a:pt x="1154" y="49"/>
                  <a:pt x="818" y="283"/>
                  <a:pt x="607" y="291"/>
                </a:cubicBezTo>
                <a:cubicBezTo>
                  <a:pt x="396" y="299"/>
                  <a:pt x="126" y="97"/>
                  <a:pt x="0" y="46"/>
                </a:cubicBezTo>
              </a:path>
            </a:pathLst>
          </a:custGeom>
          <a:noFill/>
          <a:ln w="19050" cap="flat" cmpd="sng">
            <a:solidFill>
              <a:srgbClr val="969696"/>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63" name="Line 147"/>
          <p:cNvSpPr>
            <a:spLocks noChangeShapeType="1"/>
          </p:cNvSpPr>
          <p:nvPr/>
        </p:nvSpPr>
        <p:spPr bwMode="auto">
          <a:xfrm>
            <a:off x="7391400" y="2057400"/>
            <a:ext cx="0" cy="9144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9464" name="Line 148"/>
          <p:cNvSpPr>
            <a:spLocks noChangeShapeType="1"/>
          </p:cNvSpPr>
          <p:nvPr/>
        </p:nvSpPr>
        <p:spPr bwMode="auto">
          <a:xfrm>
            <a:off x="7391400" y="2057400"/>
            <a:ext cx="1066800" cy="9144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9465" name="Line 145"/>
          <p:cNvSpPr>
            <a:spLocks noChangeShapeType="1"/>
          </p:cNvSpPr>
          <p:nvPr/>
        </p:nvSpPr>
        <p:spPr bwMode="auto">
          <a:xfrm>
            <a:off x="5562600" y="2057400"/>
            <a:ext cx="914400" cy="9906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9466" name="Line 144"/>
          <p:cNvSpPr>
            <a:spLocks noChangeShapeType="1"/>
          </p:cNvSpPr>
          <p:nvPr/>
        </p:nvSpPr>
        <p:spPr bwMode="auto">
          <a:xfrm flipH="1">
            <a:off x="6477000" y="1143000"/>
            <a:ext cx="381000" cy="8382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9467" name="Freeform 3"/>
          <p:cNvSpPr>
            <a:spLocks/>
          </p:cNvSpPr>
          <p:nvPr/>
        </p:nvSpPr>
        <p:spPr bwMode="auto">
          <a:xfrm>
            <a:off x="203200" y="1576388"/>
            <a:ext cx="711200" cy="2767012"/>
          </a:xfrm>
          <a:custGeom>
            <a:avLst/>
            <a:gdLst>
              <a:gd name="T0" fmla="*/ 711200 w 448"/>
              <a:gd name="T1" fmla="*/ 2767012 h 1743"/>
              <a:gd name="T2" fmla="*/ 6350 w 448"/>
              <a:gd name="T3" fmla="*/ 1314450 h 1743"/>
              <a:gd name="T4" fmla="*/ 669925 w 448"/>
              <a:gd name="T5" fmla="*/ 0 h 1743"/>
              <a:gd name="T6" fmla="*/ 0 60000 65536"/>
              <a:gd name="T7" fmla="*/ 0 60000 65536"/>
              <a:gd name="T8" fmla="*/ 0 60000 65536"/>
            </a:gdLst>
            <a:ahLst/>
            <a:cxnLst>
              <a:cxn ang="T6">
                <a:pos x="T0" y="T1"/>
              </a:cxn>
              <a:cxn ang="T7">
                <a:pos x="T2" y="T3"/>
              </a:cxn>
              <a:cxn ang="T8">
                <a:pos x="T4" y="T5"/>
              </a:cxn>
            </a:cxnLst>
            <a:rect l="0" t="0" r="r" b="b"/>
            <a:pathLst>
              <a:path w="448" h="1743">
                <a:moveTo>
                  <a:pt x="448" y="1743"/>
                </a:moveTo>
                <a:cubicBezTo>
                  <a:pt x="374" y="1591"/>
                  <a:pt x="8" y="1118"/>
                  <a:pt x="4" y="828"/>
                </a:cubicBezTo>
                <a:cubicBezTo>
                  <a:pt x="0" y="538"/>
                  <a:pt x="335" y="173"/>
                  <a:pt x="422" y="0"/>
                </a:cubicBezTo>
              </a:path>
            </a:pathLst>
          </a:custGeom>
          <a:noFill/>
          <a:ln w="571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68" name="Freeform 5"/>
          <p:cNvSpPr>
            <a:spLocks/>
          </p:cNvSpPr>
          <p:nvPr/>
        </p:nvSpPr>
        <p:spPr bwMode="auto">
          <a:xfrm>
            <a:off x="4098925" y="1565275"/>
            <a:ext cx="655638" cy="2779713"/>
          </a:xfrm>
          <a:custGeom>
            <a:avLst/>
            <a:gdLst>
              <a:gd name="T0" fmla="*/ 15875 w 413"/>
              <a:gd name="T1" fmla="*/ 2779713 h 1751"/>
              <a:gd name="T2" fmla="*/ 652463 w 413"/>
              <a:gd name="T3" fmla="*/ 1338263 h 1751"/>
              <a:gd name="T4" fmla="*/ 0 w 413"/>
              <a:gd name="T5" fmla="*/ 0 h 1751"/>
              <a:gd name="T6" fmla="*/ 0 60000 65536"/>
              <a:gd name="T7" fmla="*/ 0 60000 65536"/>
              <a:gd name="T8" fmla="*/ 0 60000 65536"/>
            </a:gdLst>
            <a:ahLst/>
            <a:cxnLst>
              <a:cxn ang="T6">
                <a:pos x="T0" y="T1"/>
              </a:cxn>
              <a:cxn ang="T7">
                <a:pos x="T2" y="T3"/>
              </a:cxn>
              <a:cxn ang="T8">
                <a:pos x="T4" y="T5"/>
              </a:cxn>
            </a:cxnLst>
            <a:rect l="0" t="0" r="r" b="b"/>
            <a:pathLst>
              <a:path w="413" h="1751">
                <a:moveTo>
                  <a:pt x="10" y="1751"/>
                </a:moveTo>
                <a:cubicBezTo>
                  <a:pt x="77" y="1600"/>
                  <a:pt x="413" y="1135"/>
                  <a:pt x="411" y="843"/>
                </a:cubicBezTo>
                <a:cubicBezTo>
                  <a:pt x="409" y="551"/>
                  <a:pt x="86" y="176"/>
                  <a:pt x="0" y="0"/>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69" name="Rectangle 8"/>
          <p:cNvSpPr>
            <a:spLocks noChangeArrowheads="1"/>
          </p:cNvSpPr>
          <p:nvPr/>
        </p:nvSpPr>
        <p:spPr bwMode="auto">
          <a:xfrm>
            <a:off x="779463" y="84137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0</a:t>
            </a:r>
          </a:p>
        </p:txBody>
      </p:sp>
      <p:sp>
        <p:nvSpPr>
          <p:cNvPr id="19470" name="Rectangle 9"/>
          <p:cNvSpPr>
            <a:spLocks noChangeArrowheads="1"/>
          </p:cNvSpPr>
          <p:nvPr/>
        </p:nvSpPr>
        <p:spPr bwMode="auto">
          <a:xfrm>
            <a:off x="2303463" y="84137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1</a:t>
            </a:r>
          </a:p>
        </p:txBody>
      </p:sp>
      <p:sp>
        <p:nvSpPr>
          <p:cNvPr id="19471" name="Rectangle 10"/>
          <p:cNvSpPr>
            <a:spLocks noChangeArrowheads="1"/>
          </p:cNvSpPr>
          <p:nvPr/>
        </p:nvSpPr>
        <p:spPr bwMode="auto">
          <a:xfrm>
            <a:off x="3827463" y="84137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2</a:t>
            </a:r>
          </a:p>
        </p:txBody>
      </p:sp>
      <p:sp>
        <p:nvSpPr>
          <p:cNvPr id="19472" name="Rectangle 11"/>
          <p:cNvSpPr>
            <a:spLocks noChangeArrowheads="1"/>
          </p:cNvSpPr>
          <p:nvPr/>
        </p:nvSpPr>
        <p:spPr bwMode="auto">
          <a:xfrm>
            <a:off x="398463" y="267017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1</a:t>
            </a:r>
          </a:p>
        </p:txBody>
      </p:sp>
      <p:sp>
        <p:nvSpPr>
          <p:cNvPr id="19473" name="Rectangle 12"/>
          <p:cNvSpPr>
            <a:spLocks noChangeArrowheads="1"/>
          </p:cNvSpPr>
          <p:nvPr/>
        </p:nvSpPr>
        <p:spPr bwMode="auto">
          <a:xfrm>
            <a:off x="2608263" y="236537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1</a:t>
            </a:r>
          </a:p>
        </p:txBody>
      </p:sp>
      <p:sp>
        <p:nvSpPr>
          <p:cNvPr id="19474" name="Rectangle 13"/>
          <p:cNvSpPr>
            <a:spLocks noChangeArrowheads="1"/>
          </p:cNvSpPr>
          <p:nvPr/>
        </p:nvSpPr>
        <p:spPr bwMode="auto">
          <a:xfrm>
            <a:off x="4208463" y="267017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2</a:t>
            </a:r>
          </a:p>
        </p:txBody>
      </p:sp>
      <p:sp>
        <p:nvSpPr>
          <p:cNvPr id="19475" name="Rectangle 14"/>
          <p:cNvSpPr>
            <a:spLocks noChangeArrowheads="1"/>
          </p:cNvSpPr>
          <p:nvPr/>
        </p:nvSpPr>
        <p:spPr bwMode="auto">
          <a:xfrm>
            <a:off x="779463" y="449897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1</a:t>
            </a:r>
          </a:p>
        </p:txBody>
      </p:sp>
      <p:sp>
        <p:nvSpPr>
          <p:cNvPr id="19476" name="Rectangle 15"/>
          <p:cNvSpPr>
            <a:spLocks noChangeArrowheads="1"/>
          </p:cNvSpPr>
          <p:nvPr/>
        </p:nvSpPr>
        <p:spPr bwMode="auto">
          <a:xfrm>
            <a:off x="2303463" y="449897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2</a:t>
            </a:r>
          </a:p>
        </p:txBody>
      </p:sp>
      <p:sp>
        <p:nvSpPr>
          <p:cNvPr id="19477" name="Rectangle 16"/>
          <p:cNvSpPr>
            <a:spLocks noChangeArrowheads="1"/>
          </p:cNvSpPr>
          <p:nvPr/>
        </p:nvSpPr>
        <p:spPr bwMode="auto">
          <a:xfrm>
            <a:off x="3827463" y="449897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b="1">
                <a:solidFill>
                  <a:schemeClr val="tx2"/>
                </a:solidFill>
                <a:latin typeface="Arial" pitchFamily="34" charset="0"/>
                <a:sym typeface="Symbol" pitchFamily="18" charset="2"/>
              </a:rPr>
              <a:t>2</a:t>
            </a:r>
          </a:p>
        </p:txBody>
      </p:sp>
      <p:sp>
        <p:nvSpPr>
          <p:cNvPr id="19478" name="Line 17"/>
          <p:cNvSpPr>
            <a:spLocks noChangeShapeType="1"/>
          </p:cNvSpPr>
          <p:nvPr/>
        </p:nvSpPr>
        <p:spPr bwMode="auto">
          <a:xfrm>
            <a:off x="990600" y="1471613"/>
            <a:ext cx="12192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79" name="Line 18"/>
          <p:cNvSpPr>
            <a:spLocks noChangeShapeType="1"/>
          </p:cNvSpPr>
          <p:nvPr/>
        </p:nvSpPr>
        <p:spPr bwMode="auto">
          <a:xfrm>
            <a:off x="2438400" y="1471613"/>
            <a:ext cx="1295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80" name="Line 19"/>
          <p:cNvSpPr>
            <a:spLocks noChangeShapeType="1"/>
          </p:cNvSpPr>
          <p:nvPr/>
        </p:nvSpPr>
        <p:spPr bwMode="auto">
          <a:xfrm>
            <a:off x="990600" y="1471613"/>
            <a:ext cx="0" cy="12192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81" name="Line 20"/>
          <p:cNvSpPr>
            <a:spLocks noChangeShapeType="1"/>
          </p:cNvSpPr>
          <p:nvPr/>
        </p:nvSpPr>
        <p:spPr bwMode="auto">
          <a:xfrm>
            <a:off x="990600" y="1471613"/>
            <a:ext cx="1295400" cy="12954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82" name="Line 21"/>
          <p:cNvSpPr>
            <a:spLocks noChangeShapeType="1"/>
          </p:cNvSpPr>
          <p:nvPr/>
        </p:nvSpPr>
        <p:spPr bwMode="auto">
          <a:xfrm flipV="1">
            <a:off x="2438400" y="1700213"/>
            <a:ext cx="0" cy="990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83" name="Line 22"/>
          <p:cNvSpPr>
            <a:spLocks noChangeShapeType="1"/>
          </p:cNvSpPr>
          <p:nvPr/>
        </p:nvSpPr>
        <p:spPr bwMode="auto">
          <a:xfrm>
            <a:off x="1219200" y="2919413"/>
            <a:ext cx="9906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84" name="Line 23"/>
          <p:cNvSpPr>
            <a:spLocks noChangeShapeType="1"/>
          </p:cNvSpPr>
          <p:nvPr/>
        </p:nvSpPr>
        <p:spPr bwMode="auto">
          <a:xfrm>
            <a:off x="2438400" y="1471613"/>
            <a:ext cx="1371600" cy="12954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9485" name="Line 24"/>
          <p:cNvSpPr>
            <a:spLocks noChangeShapeType="1"/>
          </p:cNvSpPr>
          <p:nvPr/>
        </p:nvSpPr>
        <p:spPr bwMode="auto">
          <a:xfrm flipH="1">
            <a:off x="2667000" y="2919413"/>
            <a:ext cx="10668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86" name="Line 25"/>
          <p:cNvSpPr>
            <a:spLocks noChangeShapeType="1"/>
          </p:cNvSpPr>
          <p:nvPr/>
        </p:nvSpPr>
        <p:spPr bwMode="auto">
          <a:xfrm>
            <a:off x="3962400" y="1471613"/>
            <a:ext cx="0" cy="1219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9487" name="Line 26"/>
          <p:cNvSpPr>
            <a:spLocks noChangeShapeType="1"/>
          </p:cNvSpPr>
          <p:nvPr/>
        </p:nvSpPr>
        <p:spPr bwMode="auto">
          <a:xfrm flipV="1">
            <a:off x="990600" y="3148013"/>
            <a:ext cx="0" cy="1066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88" name="Line 27"/>
          <p:cNvSpPr>
            <a:spLocks noChangeShapeType="1"/>
          </p:cNvSpPr>
          <p:nvPr/>
        </p:nvSpPr>
        <p:spPr bwMode="auto">
          <a:xfrm flipH="1">
            <a:off x="1143000" y="2919413"/>
            <a:ext cx="1295400" cy="1219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89" name="Line 28"/>
          <p:cNvSpPr>
            <a:spLocks noChangeShapeType="1"/>
          </p:cNvSpPr>
          <p:nvPr/>
        </p:nvSpPr>
        <p:spPr bwMode="auto">
          <a:xfrm>
            <a:off x="1219200" y="4291013"/>
            <a:ext cx="1219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9490" name="Line 29"/>
          <p:cNvSpPr>
            <a:spLocks noChangeShapeType="1"/>
          </p:cNvSpPr>
          <p:nvPr/>
        </p:nvSpPr>
        <p:spPr bwMode="auto">
          <a:xfrm flipV="1">
            <a:off x="2438400" y="3148013"/>
            <a:ext cx="0" cy="10668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91" name="Line 30"/>
          <p:cNvSpPr>
            <a:spLocks noChangeShapeType="1"/>
          </p:cNvSpPr>
          <p:nvPr/>
        </p:nvSpPr>
        <p:spPr bwMode="auto">
          <a:xfrm flipH="1">
            <a:off x="2438400" y="4291013"/>
            <a:ext cx="12954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9492" name="Line 31"/>
          <p:cNvSpPr>
            <a:spLocks noChangeShapeType="1"/>
          </p:cNvSpPr>
          <p:nvPr/>
        </p:nvSpPr>
        <p:spPr bwMode="auto">
          <a:xfrm>
            <a:off x="3962400" y="2843213"/>
            <a:ext cx="0" cy="1219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9493" name="Line 32"/>
          <p:cNvSpPr>
            <a:spLocks noChangeShapeType="1"/>
          </p:cNvSpPr>
          <p:nvPr/>
        </p:nvSpPr>
        <p:spPr bwMode="auto">
          <a:xfrm flipH="1" flipV="1">
            <a:off x="2590800" y="3071813"/>
            <a:ext cx="1371600" cy="11430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494" name="Oval 33"/>
          <p:cNvSpPr>
            <a:spLocks noChangeArrowheads="1"/>
          </p:cNvSpPr>
          <p:nvPr/>
        </p:nvSpPr>
        <p:spPr bwMode="auto">
          <a:xfrm>
            <a:off x="3733800" y="4062413"/>
            <a:ext cx="468313"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9</a:t>
            </a:r>
          </a:p>
        </p:txBody>
      </p:sp>
      <p:sp>
        <p:nvSpPr>
          <p:cNvPr id="19495" name="Oval 34"/>
          <p:cNvSpPr>
            <a:spLocks noChangeArrowheads="1"/>
          </p:cNvSpPr>
          <p:nvPr/>
        </p:nvSpPr>
        <p:spPr bwMode="auto">
          <a:xfrm>
            <a:off x="3733800" y="2690813"/>
            <a:ext cx="468313"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6</a:t>
            </a:r>
          </a:p>
        </p:txBody>
      </p:sp>
      <p:sp>
        <p:nvSpPr>
          <p:cNvPr id="19496" name="Oval 35"/>
          <p:cNvSpPr>
            <a:spLocks noChangeArrowheads="1"/>
          </p:cNvSpPr>
          <p:nvPr/>
        </p:nvSpPr>
        <p:spPr bwMode="auto">
          <a:xfrm>
            <a:off x="3733800" y="1243013"/>
            <a:ext cx="468313"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3</a:t>
            </a:r>
          </a:p>
        </p:txBody>
      </p:sp>
      <p:sp>
        <p:nvSpPr>
          <p:cNvPr id="19497" name="Oval 36"/>
          <p:cNvSpPr>
            <a:spLocks noChangeArrowheads="1"/>
          </p:cNvSpPr>
          <p:nvPr/>
        </p:nvSpPr>
        <p:spPr bwMode="auto">
          <a:xfrm>
            <a:off x="2209800" y="1243013"/>
            <a:ext cx="468313"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2</a:t>
            </a:r>
          </a:p>
        </p:txBody>
      </p:sp>
      <p:sp>
        <p:nvSpPr>
          <p:cNvPr id="19498" name="Oval 37"/>
          <p:cNvSpPr>
            <a:spLocks noChangeArrowheads="1"/>
          </p:cNvSpPr>
          <p:nvPr/>
        </p:nvSpPr>
        <p:spPr bwMode="auto">
          <a:xfrm>
            <a:off x="750888" y="1243013"/>
            <a:ext cx="468312"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1</a:t>
            </a:r>
          </a:p>
        </p:txBody>
      </p:sp>
      <p:sp>
        <p:nvSpPr>
          <p:cNvPr id="19499" name="Oval 38"/>
          <p:cNvSpPr>
            <a:spLocks noChangeArrowheads="1"/>
          </p:cNvSpPr>
          <p:nvPr/>
        </p:nvSpPr>
        <p:spPr bwMode="auto">
          <a:xfrm>
            <a:off x="2209800" y="2690813"/>
            <a:ext cx="468313"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5</a:t>
            </a:r>
          </a:p>
        </p:txBody>
      </p:sp>
      <p:sp>
        <p:nvSpPr>
          <p:cNvPr id="19500" name="Oval 39"/>
          <p:cNvSpPr>
            <a:spLocks noChangeArrowheads="1"/>
          </p:cNvSpPr>
          <p:nvPr/>
        </p:nvSpPr>
        <p:spPr bwMode="auto">
          <a:xfrm>
            <a:off x="750888" y="2690813"/>
            <a:ext cx="468312"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4</a:t>
            </a:r>
          </a:p>
        </p:txBody>
      </p:sp>
      <p:sp>
        <p:nvSpPr>
          <p:cNvPr id="19501" name="Oval 40"/>
          <p:cNvSpPr>
            <a:spLocks noChangeArrowheads="1"/>
          </p:cNvSpPr>
          <p:nvPr/>
        </p:nvSpPr>
        <p:spPr bwMode="auto">
          <a:xfrm>
            <a:off x="750888" y="4062413"/>
            <a:ext cx="468312"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7</a:t>
            </a:r>
          </a:p>
        </p:txBody>
      </p:sp>
      <p:sp>
        <p:nvSpPr>
          <p:cNvPr id="19502" name="Oval 41"/>
          <p:cNvSpPr>
            <a:spLocks noChangeArrowheads="1"/>
          </p:cNvSpPr>
          <p:nvPr/>
        </p:nvSpPr>
        <p:spPr bwMode="auto">
          <a:xfrm>
            <a:off x="2209800" y="4062413"/>
            <a:ext cx="468313"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8</a:t>
            </a:r>
          </a:p>
        </p:txBody>
      </p:sp>
      <p:sp>
        <p:nvSpPr>
          <p:cNvPr id="19503" name="Rectangle 42"/>
          <p:cNvSpPr>
            <a:spLocks noChangeArrowheads="1"/>
          </p:cNvSpPr>
          <p:nvPr/>
        </p:nvSpPr>
        <p:spPr bwMode="auto">
          <a:xfrm>
            <a:off x="276225" y="1319213"/>
            <a:ext cx="4730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b="1">
                <a:solidFill>
                  <a:schemeClr val="tx2"/>
                </a:solidFill>
                <a:latin typeface="Arial" pitchFamily="34" charset="0"/>
              </a:rPr>
              <a:t>s =</a:t>
            </a:r>
          </a:p>
        </p:txBody>
      </p:sp>
      <p:sp>
        <p:nvSpPr>
          <p:cNvPr id="19504" name="Freeform 44"/>
          <p:cNvSpPr>
            <a:spLocks/>
          </p:cNvSpPr>
          <p:nvPr/>
        </p:nvSpPr>
        <p:spPr bwMode="auto">
          <a:xfrm>
            <a:off x="6858000" y="1143000"/>
            <a:ext cx="533400" cy="914400"/>
          </a:xfrm>
          <a:custGeom>
            <a:avLst/>
            <a:gdLst>
              <a:gd name="T0" fmla="*/ 0 w 709"/>
              <a:gd name="T1" fmla="*/ 0 h 450"/>
              <a:gd name="T2" fmla="*/ 533400 w 709"/>
              <a:gd name="T3" fmla="*/ 914400 h 450"/>
              <a:gd name="T4" fmla="*/ 0 60000 65536"/>
              <a:gd name="T5" fmla="*/ 0 60000 65536"/>
            </a:gdLst>
            <a:ahLst/>
            <a:cxnLst>
              <a:cxn ang="T4">
                <a:pos x="T0" y="T1"/>
              </a:cxn>
              <a:cxn ang="T5">
                <a:pos x="T2" y="T3"/>
              </a:cxn>
            </a:cxnLst>
            <a:rect l="0" t="0" r="r" b="b"/>
            <a:pathLst>
              <a:path w="709" h="450">
                <a:moveTo>
                  <a:pt x="0" y="0"/>
                </a:moveTo>
                <a:lnTo>
                  <a:pt x="709" y="450"/>
                </a:lnTo>
              </a:path>
            </a:pathLst>
          </a:custGeom>
          <a:solidFill>
            <a:schemeClr val="bg1"/>
          </a:solidFill>
          <a:ln w="571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9505" name="Freeform 46"/>
          <p:cNvSpPr>
            <a:spLocks/>
          </p:cNvSpPr>
          <p:nvPr/>
        </p:nvSpPr>
        <p:spPr bwMode="auto">
          <a:xfrm>
            <a:off x="5562600" y="1143000"/>
            <a:ext cx="1255713" cy="914400"/>
          </a:xfrm>
          <a:custGeom>
            <a:avLst/>
            <a:gdLst>
              <a:gd name="T0" fmla="*/ 1255713 w 695"/>
              <a:gd name="T1" fmla="*/ 0 h 477"/>
              <a:gd name="T2" fmla="*/ 0 w 695"/>
              <a:gd name="T3" fmla="*/ 914400 h 477"/>
              <a:gd name="T4" fmla="*/ 0 60000 65536"/>
              <a:gd name="T5" fmla="*/ 0 60000 65536"/>
            </a:gdLst>
            <a:ahLst/>
            <a:cxnLst>
              <a:cxn ang="T4">
                <a:pos x="T0" y="T1"/>
              </a:cxn>
              <a:cxn ang="T5">
                <a:pos x="T2" y="T3"/>
              </a:cxn>
            </a:cxnLst>
            <a:rect l="0" t="0" r="r" b="b"/>
            <a:pathLst>
              <a:path w="695" h="477">
                <a:moveTo>
                  <a:pt x="695" y="0"/>
                </a:moveTo>
                <a:lnTo>
                  <a:pt x="0" y="477"/>
                </a:lnTo>
              </a:path>
            </a:pathLst>
          </a:custGeom>
          <a:solidFill>
            <a:schemeClr val="bg1"/>
          </a:solidFill>
          <a:ln w="571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9506" name="Freeform 48"/>
          <p:cNvSpPr>
            <a:spLocks/>
          </p:cNvSpPr>
          <p:nvPr/>
        </p:nvSpPr>
        <p:spPr bwMode="auto">
          <a:xfrm>
            <a:off x="6477000" y="2122488"/>
            <a:ext cx="911225" cy="925512"/>
          </a:xfrm>
          <a:custGeom>
            <a:avLst/>
            <a:gdLst>
              <a:gd name="T0" fmla="*/ 911225 w 574"/>
              <a:gd name="T1" fmla="*/ 0 h 583"/>
              <a:gd name="T2" fmla="*/ 0 w 574"/>
              <a:gd name="T3" fmla="*/ 925512 h 583"/>
              <a:gd name="T4" fmla="*/ 0 60000 65536"/>
              <a:gd name="T5" fmla="*/ 0 60000 65536"/>
            </a:gdLst>
            <a:ahLst/>
            <a:cxnLst>
              <a:cxn ang="T4">
                <a:pos x="T0" y="T1"/>
              </a:cxn>
              <a:cxn ang="T5">
                <a:pos x="T2" y="T3"/>
              </a:cxn>
            </a:cxnLst>
            <a:rect l="0" t="0" r="r" b="b"/>
            <a:pathLst>
              <a:path w="574" h="583">
                <a:moveTo>
                  <a:pt x="574" y="0"/>
                </a:moveTo>
                <a:lnTo>
                  <a:pt x="0" y="583"/>
                </a:lnTo>
              </a:path>
            </a:pathLst>
          </a:custGeom>
          <a:solidFill>
            <a:schemeClr val="bg1"/>
          </a:solidFill>
          <a:ln w="19050" cap="flat" cmpd="sng">
            <a:solidFill>
              <a:srgbClr val="96969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507" name="Freeform 49"/>
          <p:cNvSpPr>
            <a:spLocks/>
          </p:cNvSpPr>
          <p:nvPr/>
        </p:nvSpPr>
        <p:spPr bwMode="auto">
          <a:xfrm>
            <a:off x="7431088" y="2971800"/>
            <a:ext cx="1058862" cy="12700"/>
          </a:xfrm>
          <a:custGeom>
            <a:avLst/>
            <a:gdLst>
              <a:gd name="T0" fmla="*/ 0 w 667"/>
              <a:gd name="T1" fmla="*/ 12700 h 8"/>
              <a:gd name="T2" fmla="*/ 1058862 w 667"/>
              <a:gd name="T3" fmla="*/ 0 h 8"/>
              <a:gd name="T4" fmla="*/ 0 60000 65536"/>
              <a:gd name="T5" fmla="*/ 0 60000 65536"/>
            </a:gdLst>
            <a:ahLst/>
            <a:cxnLst>
              <a:cxn ang="T4">
                <a:pos x="T0" y="T1"/>
              </a:cxn>
              <a:cxn ang="T5">
                <a:pos x="T2" y="T3"/>
              </a:cxn>
            </a:cxnLst>
            <a:rect l="0" t="0" r="r" b="b"/>
            <a:pathLst>
              <a:path w="667" h="8">
                <a:moveTo>
                  <a:pt x="0" y="8"/>
                </a:moveTo>
                <a:lnTo>
                  <a:pt x="667" y="0"/>
                </a:lnTo>
              </a:path>
            </a:pathLst>
          </a:custGeom>
          <a:solidFill>
            <a:schemeClr val="bg1"/>
          </a:solidFill>
          <a:ln w="19050" cap="flat" cmpd="sng">
            <a:solidFill>
              <a:srgbClr val="96969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508" name="Freeform 51"/>
          <p:cNvSpPr>
            <a:spLocks/>
          </p:cNvSpPr>
          <p:nvPr/>
        </p:nvSpPr>
        <p:spPr bwMode="auto">
          <a:xfrm>
            <a:off x="7467600" y="2057400"/>
            <a:ext cx="976313" cy="1588"/>
          </a:xfrm>
          <a:custGeom>
            <a:avLst/>
            <a:gdLst>
              <a:gd name="T0" fmla="*/ 0 w 615"/>
              <a:gd name="T1" fmla="*/ 0 h 1"/>
              <a:gd name="T2" fmla="*/ 976313 w 615"/>
              <a:gd name="T3" fmla="*/ 0 h 1"/>
              <a:gd name="T4" fmla="*/ 0 60000 65536"/>
              <a:gd name="T5" fmla="*/ 0 60000 65536"/>
            </a:gdLst>
            <a:ahLst/>
            <a:cxnLst>
              <a:cxn ang="T4">
                <a:pos x="T0" y="T1"/>
              </a:cxn>
              <a:cxn ang="T5">
                <a:pos x="T2" y="T3"/>
              </a:cxn>
            </a:cxnLst>
            <a:rect l="0" t="0" r="r" b="b"/>
            <a:pathLst>
              <a:path w="615" h="1">
                <a:moveTo>
                  <a:pt x="0" y="0"/>
                </a:moveTo>
                <a:lnTo>
                  <a:pt x="615" y="0"/>
                </a:lnTo>
              </a:path>
            </a:pathLst>
          </a:custGeom>
          <a:solidFill>
            <a:schemeClr val="bg1"/>
          </a:solidFill>
          <a:ln w="19050" cap="flat" cmpd="sng">
            <a:solidFill>
              <a:srgbClr val="96969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509" name="Freeform 52"/>
          <p:cNvSpPr>
            <a:spLocks/>
          </p:cNvSpPr>
          <p:nvPr/>
        </p:nvSpPr>
        <p:spPr bwMode="auto">
          <a:xfrm>
            <a:off x="5562600" y="2057400"/>
            <a:ext cx="1868488" cy="434975"/>
          </a:xfrm>
          <a:custGeom>
            <a:avLst/>
            <a:gdLst>
              <a:gd name="T0" fmla="*/ 1868488 w 1177"/>
              <a:gd name="T1" fmla="*/ 12700 h 274"/>
              <a:gd name="T2" fmla="*/ 942975 w 1177"/>
              <a:gd name="T3" fmla="*/ 433388 h 274"/>
              <a:gd name="T4" fmla="*/ 0 w 1177"/>
              <a:gd name="T5" fmla="*/ 0 h 274"/>
              <a:gd name="T6" fmla="*/ 0 60000 65536"/>
              <a:gd name="T7" fmla="*/ 0 60000 65536"/>
              <a:gd name="T8" fmla="*/ 0 60000 65536"/>
            </a:gdLst>
            <a:ahLst/>
            <a:cxnLst>
              <a:cxn ang="T6">
                <a:pos x="T0" y="T1"/>
              </a:cxn>
              <a:cxn ang="T7">
                <a:pos x="T2" y="T3"/>
              </a:cxn>
              <a:cxn ang="T8">
                <a:pos x="T4" y="T5"/>
              </a:cxn>
            </a:cxnLst>
            <a:rect l="0" t="0" r="r" b="b"/>
            <a:pathLst>
              <a:path w="1177" h="274">
                <a:moveTo>
                  <a:pt x="1177" y="8"/>
                </a:moveTo>
                <a:cubicBezTo>
                  <a:pt x="1080" y="52"/>
                  <a:pt x="790" y="274"/>
                  <a:pt x="594" y="273"/>
                </a:cubicBezTo>
                <a:cubicBezTo>
                  <a:pt x="398" y="272"/>
                  <a:pt x="124" y="57"/>
                  <a:pt x="0" y="0"/>
                </a:cubicBezTo>
              </a:path>
            </a:pathLst>
          </a:custGeom>
          <a:noFill/>
          <a:ln w="19050" cap="flat" cmpd="sng">
            <a:solidFill>
              <a:srgbClr val="969696"/>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9510" name="Freeform 53"/>
          <p:cNvSpPr>
            <a:spLocks/>
          </p:cNvSpPr>
          <p:nvPr/>
        </p:nvSpPr>
        <p:spPr bwMode="auto">
          <a:xfrm>
            <a:off x="6934200" y="1143000"/>
            <a:ext cx="1447800" cy="914400"/>
          </a:xfrm>
          <a:custGeom>
            <a:avLst/>
            <a:gdLst>
              <a:gd name="T0" fmla="*/ 0 w 748"/>
              <a:gd name="T1" fmla="*/ 0 h 496"/>
              <a:gd name="T2" fmla="*/ 1447800 w 748"/>
              <a:gd name="T3" fmla="*/ 914400 h 496"/>
              <a:gd name="T4" fmla="*/ 0 60000 65536"/>
              <a:gd name="T5" fmla="*/ 0 60000 65536"/>
            </a:gdLst>
            <a:ahLst/>
            <a:cxnLst>
              <a:cxn ang="T4">
                <a:pos x="T0" y="T1"/>
              </a:cxn>
              <a:cxn ang="T5">
                <a:pos x="T2" y="T3"/>
              </a:cxn>
            </a:cxnLst>
            <a:rect l="0" t="0" r="r" b="b"/>
            <a:pathLst>
              <a:path w="748" h="496">
                <a:moveTo>
                  <a:pt x="0" y="0"/>
                </a:moveTo>
                <a:lnTo>
                  <a:pt x="748" y="496"/>
                </a:lnTo>
              </a:path>
            </a:pathLst>
          </a:custGeom>
          <a:solidFill>
            <a:schemeClr val="bg1"/>
          </a:solidFill>
          <a:ln w="571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9511" name="Freeform 54"/>
          <p:cNvSpPr>
            <a:spLocks/>
          </p:cNvSpPr>
          <p:nvPr/>
        </p:nvSpPr>
        <p:spPr bwMode="auto">
          <a:xfrm>
            <a:off x="5562600" y="2133600"/>
            <a:ext cx="1588" cy="766763"/>
          </a:xfrm>
          <a:custGeom>
            <a:avLst/>
            <a:gdLst>
              <a:gd name="T0" fmla="*/ 0 w 1"/>
              <a:gd name="T1" fmla="*/ 0 h 483"/>
              <a:gd name="T2" fmla="*/ 0 w 1"/>
              <a:gd name="T3" fmla="*/ 766763 h 483"/>
              <a:gd name="T4" fmla="*/ 0 60000 65536"/>
              <a:gd name="T5" fmla="*/ 0 60000 65536"/>
            </a:gdLst>
            <a:ahLst/>
            <a:cxnLst>
              <a:cxn ang="T4">
                <a:pos x="T0" y="T1"/>
              </a:cxn>
              <a:cxn ang="T5">
                <a:pos x="T2" y="T3"/>
              </a:cxn>
            </a:cxnLst>
            <a:rect l="0" t="0" r="r" b="b"/>
            <a:pathLst>
              <a:path w="1" h="483">
                <a:moveTo>
                  <a:pt x="0" y="0"/>
                </a:moveTo>
                <a:lnTo>
                  <a:pt x="0" y="483"/>
                </a:lnTo>
              </a:path>
            </a:pathLst>
          </a:custGeom>
          <a:solidFill>
            <a:schemeClr val="bg1"/>
          </a:solidFill>
          <a:ln w="571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512" name="Freeform 55"/>
          <p:cNvSpPr>
            <a:spLocks/>
          </p:cNvSpPr>
          <p:nvPr/>
        </p:nvSpPr>
        <p:spPr bwMode="auto">
          <a:xfrm>
            <a:off x="6477000" y="2057400"/>
            <a:ext cx="1030288" cy="1588"/>
          </a:xfrm>
          <a:custGeom>
            <a:avLst/>
            <a:gdLst>
              <a:gd name="T0" fmla="*/ 0 w 649"/>
              <a:gd name="T1" fmla="*/ 0 h 1"/>
              <a:gd name="T2" fmla="*/ 1030288 w 649"/>
              <a:gd name="T3" fmla="*/ 0 h 1"/>
              <a:gd name="T4" fmla="*/ 0 60000 65536"/>
              <a:gd name="T5" fmla="*/ 0 60000 65536"/>
            </a:gdLst>
            <a:ahLst/>
            <a:cxnLst>
              <a:cxn ang="T4">
                <a:pos x="T0" y="T1"/>
              </a:cxn>
              <a:cxn ang="T5">
                <a:pos x="T2" y="T3"/>
              </a:cxn>
            </a:cxnLst>
            <a:rect l="0" t="0" r="r" b="b"/>
            <a:pathLst>
              <a:path w="649" h="1">
                <a:moveTo>
                  <a:pt x="0" y="0"/>
                </a:moveTo>
                <a:lnTo>
                  <a:pt x="649" y="0"/>
                </a:lnTo>
              </a:path>
            </a:pathLst>
          </a:custGeom>
          <a:solidFill>
            <a:schemeClr val="bg1"/>
          </a:solidFill>
          <a:ln w="19050" cap="flat" cmpd="sng">
            <a:solidFill>
              <a:srgbClr val="96969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513" name="Oval 111"/>
          <p:cNvSpPr>
            <a:spLocks noChangeArrowheads="1"/>
          </p:cNvSpPr>
          <p:nvPr/>
        </p:nvSpPr>
        <p:spPr bwMode="auto">
          <a:xfrm>
            <a:off x="6629400" y="914400"/>
            <a:ext cx="468313"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1</a:t>
            </a:r>
          </a:p>
        </p:txBody>
      </p:sp>
      <p:sp>
        <p:nvSpPr>
          <p:cNvPr id="19514" name="Oval 112"/>
          <p:cNvSpPr>
            <a:spLocks noChangeArrowheads="1"/>
          </p:cNvSpPr>
          <p:nvPr/>
        </p:nvSpPr>
        <p:spPr bwMode="auto">
          <a:xfrm>
            <a:off x="5334000" y="1828800"/>
            <a:ext cx="468313"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2</a:t>
            </a:r>
          </a:p>
        </p:txBody>
      </p:sp>
      <p:sp>
        <p:nvSpPr>
          <p:cNvPr id="19515" name="Oval 113"/>
          <p:cNvSpPr>
            <a:spLocks noChangeArrowheads="1"/>
          </p:cNvSpPr>
          <p:nvPr/>
        </p:nvSpPr>
        <p:spPr bwMode="auto">
          <a:xfrm>
            <a:off x="6248400" y="1828800"/>
            <a:ext cx="468313"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4</a:t>
            </a:r>
          </a:p>
        </p:txBody>
      </p:sp>
      <p:sp>
        <p:nvSpPr>
          <p:cNvPr id="19516" name="Oval 114"/>
          <p:cNvSpPr>
            <a:spLocks noChangeArrowheads="1"/>
          </p:cNvSpPr>
          <p:nvPr/>
        </p:nvSpPr>
        <p:spPr bwMode="auto">
          <a:xfrm>
            <a:off x="7162800" y="1828800"/>
            <a:ext cx="468313"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5</a:t>
            </a:r>
          </a:p>
        </p:txBody>
      </p:sp>
      <p:sp>
        <p:nvSpPr>
          <p:cNvPr id="19517" name="Oval 117"/>
          <p:cNvSpPr>
            <a:spLocks noChangeArrowheads="1"/>
          </p:cNvSpPr>
          <p:nvPr/>
        </p:nvSpPr>
        <p:spPr bwMode="auto">
          <a:xfrm>
            <a:off x="5334000" y="2819400"/>
            <a:ext cx="468313"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3</a:t>
            </a:r>
          </a:p>
        </p:txBody>
      </p:sp>
      <p:sp>
        <p:nvSpPr>
          <p:cNvPr id="19518" name="Oval 119"/>
          <p:cNvSpPr>
            <a:spLocks noChangeArrowheads="1"/>
          </p:cNvSpPr>
          <p:nvPr/>
        </p:nvSpPr>
        <p:spPr bwMode="auto">
          <a:xfrm>
            <a:off x="6248400" y="2819400"/>
            <a:ext cx="468313"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6</a:t>
            </a:r>
          </a:p>
        </p:txBody>
      </p:sp>
      <p:sp>
        <p:nvSpPr>
          <p:cNvPr id="19519" name="Oval 121"/>
          <p:cNvSpPr>
            <a:spLocks noChangeArrowheads="1"/>
          </p:cNvSpPr>
          <p:nvPr/>
        </p:nvSpPr>
        <p:spPr bwMode="auto">
          <a:xfrm>
            <a:off x="8153400" y="1828800"/>
            <a:ext cx="468313"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7</a:t>
            </a:r>
          </a:p>
        </p:txBody>
      </p:sp>
      <p:sp>
        <p:nvSpPr>
          <p:cNvPr id="19520" name="Oval 123"/>
          <p:cNvSpPr>
            <a:spLocks noChangeArrowheads="1"/>
          </p:cNvSpPr>
          <p:nvPr/>
        </p:nvSpPr>
        <p:spPr bwMode="auto">
          <a:xfrm>
            <a:off x="8229600" y="2743200"/>
            <a:ext cx="468313"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9</a:t>
            </a:r>
          </a:p>
        </p:txBody>
      </p:sp>
      <p:sp>
        <p:nvSpPr>
          <p:cNvPr id="19521" name="Text Box 127"/>
          <p:cNvSpPr txBox="1">
            <a:spLocks noChangeArrowheads="1"/>
          </p:cNvSpPr>
          <p:nvPr/>
        </p:nvSpPr>
        <p:spPr bwMode="auto">
          <a:xfrm>
            <a:off x="6096000" y="381000"/>
            <a:ext cx="1384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a:solidFill>
                  <a:schemeClr val="tx2"/>
                </a:solidFill>
                <a:latin typeface="Arial" pitchFamily="34" charset="0"/>
              </a:rPr>
              <a:t>BFS Tree:</a:t>
            </a:r>
          </a:p>
        </p:txBody>
      </p:sp>
      <p:sp>
        <p:nvSpPr>
          <p:cNvPr id="19522" name="Rectangle 133"/>
          <p:cNvSpPr>
            <a:spLocks noChangeArrowheads="1"/>
          </p:cNvSpPr>
          <p:nvPr/>
        </p:nvSpPr>
        <p:spPr bwMode="auto">
          <a:xfrm>
            <a:off x="914400" y="381000"/>
            <a:ext cx="26384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2000" b="1">
                <a:solidFill>
                  <a:schemeClr val="tx2"/>
                </a:solidFill>
                <a:latin typeface="Arial" pitchFamily="34" charset="0"/>
              </a:rPr>
              <a:t>Undirected graph G:</a:t>
            </a:r>
          </a:p>
        </p:txBody>
      </p:sp>
      <p:sp>
        <p:nvSpPr>
          <p:cNvPr id="19523" name="Oval 146"/>
          <p:cNvSpPr>
            <a:spLocks noChangeArrowheads="1"/>
          </p:cNvSpPr>
          <p:nvPr/>
        </p:nvSpPr>
        <p:spPr bwMode="auto">
          <a:xfrm>
            <a:off x="7162800" y="2743200"/>
            <a:ext cx="468313" cy="457200"/>
          </a:xfrm>
          <a:prstGeom prst="ellipse">
            <a:avLst/>
          </a:prstGeom>
          <a:solidFill>
            <a:schemeClr val="accent3">
              <a:lumMod val="9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8</a:t>
            </a:r>
          </a:p>
        </p:txBody>
      </p:sp>
      <p:sp>
        <p:nvSpPr>
          <p:cNvPr id="2" name="Slide Number Placeholder 1"/>
          <p:cNvSpPr>
            <a:spLocks noGrp="1"/>
          </p:cNvSpPr>
          <p:nvPr>
            <p:ph type="sldNum" sz="quarter" idx="12"/>
          </p:nvPr>
        </p:nvSpPr>
        <p:spPr/>
        <p:txBody>
          <a:bodyPr/>
          <a:lstStyle/>
          <a:p>
            <a:pPr>
              <a:defRPr/>
            </a:pPr>
            <a:fld id="{5019D0FD-30FE-4170-95C0-BCF9C0F390F3}" type="slidenum">
              <a:rPr lang="en-US" smtClean="0"/>
              <a:pPr>
                <a:defRPr/>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BFS  Running Time</a:t>
            </a:r>
          </a:p>
        </p:txBody>
      </p:sp>
      <p:sp>
        <p:nvSpPr>
          <p:cNvPr id="109571" name="Text Box 3"/>
          <p:cNvSpPr txBox="1">
            <a:spLocks noChangeArrowheads="1"/>
          </p:cNvSpPr>
          <p:nvPr/>
        </p:nvSpPr>
        <p:spPr bwMode="auto">
          <a:xfrm>
            <a:off x="4267200" y="762000"/>
            <a:ext cx="4724400" cy="4486275"/>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376238" indent="-376238" defTabSz="252413">
              <a:defRPr sz="1600">
                <a:solidFill>
                  <a:schemeClr val="tx1"/>
                </a:solidFill>
                <a:latin typeface="Times New Roman" pitchFamily="18" charset="0"/>
              </a:defRPr>
            </a:lvl1pPr>
            <a:lvl2pPr marL="742950" indent="-285750" defTabSz="252413">
              <a:defRPr sz="1600">
                <a:solidFill>
                  <a:schemeClr val="tx1"/>
                </a:solidFill>
                <a:latin typeface="Times New Roman" pitchFamily="18" charset="0"/>
              </a:defRPr>
            </a:lvl2pPr>
            <a:lvl3pPr marL="1143000" indent="-228600" defTabSz="252413">
              <a:defRPr sz="1600">
                <a:solidFill>
                  <a:schemeClr val="tx1"/>
                </a:solidFill>
                <a:latin typeface="Times New Roman" pitchFamily="18" charset="0"/>
              </a:defRPr>
            </a:lvl3pPr>
            <a:lvl4pPr marL="1600200" indent="-228600" defTabSz="252413">
              <a:defRPr sz="1600">
                <a:solidFill>
                  <a:schemeClr val="tx1"/>
                </a:solidFill>
                <a:latin typeface="Times New Roman" pitchFamily="18" charset="0"/>
              </a:defRPr>
            </a:lvl4pPr>
            <a:lvl5pPr marL="2057400" indent="-228600" defTabSz="252413">
              <a:defRPr sz="1600">
                <a:solidFill>
                  <a:schemeClr val="tx1"/>
                </a:solidFill>
                <a:latin typeface="Times New Roman" pitchFamily="18" charset="0"/>
              </a:defRPr>
            </a:lvl5pPr>
            <a:lvl6pPr marL="2514600" indent="-228600" defTabSz="252413" eaLnBrk="0" fontAlgn="base" hangingPunct="0">
              <a:spcBef>
                <a:spcPct val="0"/>
              </a:spcBef>
              <a:spcAft>
                <a:spcPct val="0"/>
              </a:spcAft>
              <a:buChar char="•"/>
              <a:defRPr sz="1600">
                <a:solidFill>
                  <a:schemeClr val="tx1"/>
                </a:solidFill>
                <a:latin typeface="Times New Roman" pitchFamily="18" charset="0"/>
              </a:defRPr>
            </a:lvl6pPr>
            <a:lvl7pPr marL="2971800" indent="-228600" defTabSz="252413" eaLnBrk="0" fontAlgn="base" hangingPunct="0">
              <a:spcBef>
                <a:spcPct val="0"/>
              </a:spcBef>
              <a:spcAft>
                <a:spcPct val="0"/>
              </a:spcAft>
              <a:buChar char="•"/>
              <a:defRPr sz="1600">
                <a:solidFill>
                  <a:schemeClr val="tx1"/>
                </a:solidFill>
                <a:latin typeface="Times New Roman" pitchFamily="18" charset="0"/>
              </a:defRPr>
            </a:lvl7pPr>
            <a:lvl8pPr marL="3429000" indent="-228600" defTabSz="252413" eaLnBrk="0" fontAlgn="base" hangingPunct="0">
              <a:spcBef>
                <a:spcPct val="0"/>
              </a:spcBef>
              <a:spcAft>
                <a:spcPct val="0"/>
              </a:spcAft>
              <a:buChar char="•"/>
              <a:defRPr sz="1600">
                <a:solidFill>
                  <a:schemeClr val="tx1"/>
                </a:solidFill>
                <a:latin typeface="Times New Roman" pitchFamily="18" charset="0"/>
              </a:defRPr>
            </a:lvl8pPr>
            <a:lvl9pPr marL="3886200" indent="-228600" defTabSz="252413"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0000"/>
              </a:lnSpc>
              <a:buFontTx/>
              <a:buNone/>
            </a:pPr>
            <a:r>
              <a:rPr lang="en-US" b="1" dirty="0"/>
              <a:t>Algorithm</a:t>
            </a:r>
            <a:r>
              <a:rPr lang="en-US" dirty="0">
                <a:solidFill>
                  <a:schemeClr val="hlink"/>
                </a:solidFill>
              </a:rPr>
              <a:t>  </a:t>
            </a:r>
            <a:r>
              <a:rPr lang="en-US" b="1" dirty="0">
                <a:solidFill>
                  <a:schemeClr val="hlink"/>
                </a:solidFill>
              </a:rPr>
              <a:t>BFS</a:t>
            </a:r>
            <a:r>
              <a:rPr lang="en-US" dirty="0">
                <a:solidFill>
                  <a:schemeClr val="hlink"/>
                </a:solidFill>
              </a:rPr>
              <a:t>( </a:t>
            </a:r>
            <a:r>
              <a:rPr lang="en-US" dirty="0">
                <a:solidFill>
                  <a:schemeClr val="hlink"/>
                </a:solidFill>
                <a:sym typeface="Symbol" pitchFamily="18" charset="2"/>
              </a:rPr>
              <a:t>G, s </a:t>
            </a:r>
            <a:r>
              <a:rPr lang="en-US" dirty="0">
                <a:solidFill>
                  <a:schemeClr val="hlink"/>
                </a:solidFill>
              </a:rPr>
              <a:t>)</a:t>
            </a:r>
            <a:r>
              <a:rPr lang="en-US" dirty="0">
                <a:solidFill>
                  <a:schemeClr val="tx2"/>
                </a:solidFill>
              </a:rPr>
              <a:t> </a:t>
            </a:r>
          </a:p>
          <a:p>
            <a:pPr eaLnBrk="1" hangingPunct="1">
              <a:lnSpc>
                <a:spcPct val="110000"/>
              </a:lnSpc>
              <a:buFontTx/>
              <a:buAutoNum type="arabicPeriod"/>
            </a:pPr>
            <a:r>
              <a:rPr lang="en-US" dirty="0">
                <a:solidFill>
                  <a:srgbClr val="CC0000"/>
                </a:solidFill>
              </a:rPr>
              <a:t> </a:t>
            </a:r>
            <a:r>
              <a:rPr lang="en-US" b="1" dirty="0"/>
              <a:t>for</a:t>
            </a:r>
            <a:r>
              <a:rPr lang="en-US" dirty="0">
                <a:solidFill>
                  <a:schemeClr val="hlink"/>
                </a:solidFill>
              </a:rPr>
              <a:t>  each vertex </a:t>
            </a:r>
            <a:r>
              <a:rPr lang="en-US" dirty="0">
                <a:solidFill>
                  <a:schemeClr val="hlink"/>
                </a:solidFill>
                <a:sym typeface="Symbol" pitchFamily="18" charset="2"/>
              </a:rPr>
              <a:t>v  V(G)   </a:t>
            </a:r>
            <a:r>
              <a:rPr lang="en-US" b="1" dirty="0"/>
              <a:t>do </a:t>
            </a:r>
          </a:p>
          <a:p>
            <a:pPr eaLnBrk="1" hangingPunct="1">
              <a:lnSpc>
                <a:spcPct val="110000"/>
              </a:lnSpc>
              <a:buFontTx/>
              <a:buAutoNum type="arabicPeriod"/>
            </a:pPr>
            <a:r>
              <a:rPr lang="en-US" dirty="0">
                <a:solidFill>
                  <a:srgbClr val="CC0000"/>
                </a:solidFill>
              </a:rPr>
              <a:t> 	    </a:t>
            </a:r>
            <a:r>
              <a:rPr lang="en-US" dirty="0">
                <a:solidFill>
                  <a:schemeClr val="hlink"/>
                </a:solidFill>
                <a:sym typeface="Symbol" pitchFamily="18" charset="2"/>
              </a:rPr>
              <a:t></a:t>
            </a:r>
            <a:r>
              <a:rPr lang="en-US" dirty="0">
                <a:solidFill>
                  <a:schemeClr val="hlink"/>
                </a:solidFill>
              </a:rPr>
              <a:t>color[v], d[v], </a:t>
            </a:r>
            <a:r>
              <a:rPr lang="en-US" dirty="0">
                <a:solidFill>
                  <a:schemeClr val="hlink"/>
                </a:solidFill>
                <a:latin typeface="Symbol" pitchFamily="18" charset="2"/>
              </a:rPr>
              <a:t>p</a:t>
            </a:r>
            <a:r>
              <a:rPr lang="en-US" dirty="0">
                <a:solidFill>
                  <a:schemeClr val="hlink"/>
                </a:solidFill>
              </a:rPr>
              <a:t>[v]</a:t>
            </a:r>
            <a:r>
              <a:rPr lang="en-US" dirty="0">
                <a:solidFill>
                  <a:schemeClr val="hlink"/>
                </a:solidFill>
                <a:sym typeface="Symbol" pitchFamily="18" charset="2"/>
              </a:rPr>
              <a:t></a:t>
            </a:r>
            <a:r>
              <a:rPr lang="en-US" dirty="0">
                <a:solidFill>
                  <a:schemeClr val="hlink"/>
                </a:solidFill>
              </a:rPr>
              <a:t> </a:t>
            </a:r>
            <a:r>
              <a:rPr lang="en-US" dirty="0">
                <a:solidFill>
                  <a:schemeClr val="hlink"/>
                </a:solidFill>
                <a:sym typeface="Symbol" pitchFamily="18" charset="2"/>
              </a:rPr>
              <a:t></a:t>
            </a:r>
            <a:r>
              <a:rPr lang="en-US" dirty="0">
                <a:solidFill>
                  <a:schemeClr val="hlink"/>
                </a:solidFill>
              </a:rPr>
              <a:t> </a:t>
            </a:r>
            <a:r>
              <a:rPr lang="en-US" dirty="0">
                <a:solidFill>
                  <a:schemeClr val="hlink"/>
                </a:solidFill>
                <a:sym typeface="Symbol" pitchFamily="18" charset="2"/>
              </a:rPr>
              <a:t></a:t>
            </a:r>
            <a:r>
              <a:rPr lang="en-US" sz="1400" dirty="0">
                <a:solidFill>
                  <a:schemeClr val="hlink"/>
                </a:solidFill>
              </a:rPr>
              <a:t>WHITE</a:t>
            </a:r>
            <a:r>
              <a:rPr lang="en-US" dirty="0">
                <a:solidFill>
                  <a:schemeClr val="hlink"/>
                </a:solidFill>
              </a:rPr>
              <a:t>, </a:t>
            </a:r>
            <a:r>
              <a:rPr lang="en-US" dirty="0">
                <a:solidFill>
                  <a:schemeClr val="hlink"/>
                </a:solidFill>
                <a:sym typeface="Symbol" pitchFamily="18" charset="2"/>
              </a:rPr>
              <a:t></a:t>
            </a:r>
            <a:r>
              <a:rPr lang="en-US" dirty="0">
                <a:solidFill>
                  <a:schemeClr val="hlink"/>
                </a:solidFill>
              </a:rPr>
              <a:t>, nil</a:t>
            </a:r>
            <a:r>
              <a:rPr lang="en-US" dirty="0">
                <a:solidFill>
                  <a:schemeClr val="hlink"/>
                </a:solidFill>
                <a:sym typeface="Symbol" pitchFamily="18" charset="2"/>
              </a:rPr>
              <a:t></a:t>
            </a:r>
            <a:r>
              <a:rPr lang="en-US" dirty="0">
                <a:solidFill>
                  <a:schemeClr val="tx2"/>
                </a:solidFill>
              </a:rPr>
              <a:t> 	</a:t>
            </a:r>
            <a:endParaRPr lang="en-US" dirty="0">
              <a:solidFill>
                <a:srgbClr val="CC0000"/>
              </a:solidFill>
              <a:cs typeface="Arial" pitchFamily="34" charset="0"/>
            </a:endParaRPr>
          </a:p>
          <a:p>
            <a:pPr eaLnBrk="1" hangingPunct="1">
              <a:lnSpc>
                <a:spcPct val="110000"/>
              </a:lnSpc>
              <a:buFontTx/>
              <a:buAutoNum type="arabicPeriod"/>
            </a:pPr>
            <a:r>
              <a:rPr lang="en-US" dirty="0">
                <a:solidFill>
                  <a:srgbClr val="CC0000"/>
                </a:solidFill>
                <a:cs typeface="Arial" pitchFamily="34" charset="0"/>
              </a:rPr>
              <a:t> </a:t>
            </a:r>
            <a:r>
              <a:rPr lang="en-US" dirty="0">
                <a:solidFill>
                  <a:schemeClr val="hlink"/>
                </a:solidFill>
                <a:sym typeface="Symbol" pitchFamily="18" charset="2"/>
              </a:rPr>
              <a:t></a:t>
            </a:r>
            <a:r>
              <a:rPr lang="en-US" dirty="0">
                <a:solidFill>
                  <a:schemeClr val="hlink"/>
                </a:solidFill>
              </a:rPr>
              <a:t>color[s], d[s] </a:t>
            </a:r>
            <a:r>
              <a:rPr lang="en-US" dirty="0">
                <a:solidFill>
                  <a:schemeClr val="hlink"/>
                </a:solidFill>
                <a:sym typeface="Symbol" pitchFamily="18" charset="2"/>
              </a:rPr>
              <a:t></a:t>
            </a:r>
            <a:r>
              <a:rPr lang="en-US" dirty="0">
                <a:solidFill>
                  <a:schemeClr val="hlink"/>
                </a:solidFill>
              </a:rPr>
              <a:t> </a:t>
            </a:r>
            <a:r>
              <a:rPr lang="en-US" dirty="0">
                <a:solidFill>
                  <a:schemeClr val="hlink"/>
                </a:solidFill>
                <a:sym typeface="Symbol" pitchFamily="18" charset="2"/>
              </a:rPr>
              <a:t></a:t>
            </a:r>
            <a:r>
              <a:rPr lang="en-US" dirty="0">
                <a:solidFill>
                  <a:schemeClr val="hlink"/>
                </a:solidFill>
              </a:rPr>
              <a:t> </a:t>
            </a:r>
            <a:r>
              <a:rPr lang="en-US" dirty="0">
                <a:solidFill>
                  <a:schemeClr val="hlink"/>
                </a:solidFill>
                <a:sym typeface="Symbol" pitchFamily="18" charset="2"/>
              </a:rPr>
              <a:t></a:t>
            </a:r>
            <a:r>
              <a:rPr lang="en-US" sz="1400" dirty="0">
                <a:solidFill>
                  <a:schemeClr val="hlink"/>
                </a:solidFill>
              </a:rPr>
              <a:t>GRAY</a:t>
            </a:r>
            <a:r>
              <a:rPr lang="en-US" dirty="0">
                <a:solidFill>
                  <a:schemeClr val="hlink"/>
                </a:solidFill>
              </a:rPr>
              <a:t>, </a:t>
            </a:r>
            <a:r>
              <a:rPr lang="en-US" dirty="0">
                <a:solidFill>
                  <a:schemeClr val="hlink"/>
                </a:solidFill>
                <a:sym typeface="Symbol" pitchFamily="18" charset="2"/>
              </a:rPr>
              <a:t>0 </a:t>
            </a:r>
            <a:endParaRPr lang="en-US" dirty="0">
              <a:solidFill>
                <a:srgbClr val="CC0000"/>
              </a:solidFill>
              <a:sym typeface="Symbol" pitchFamily="18" charset="2"/>
            </a:endParaRPr>
          </a:p>
          <a:p>
            <a:pPr eaLnBrk="1" hangingPunct="1">
              <a:lnSpc>
                <a:spcPct val="110000"/>
              </a:lnSpc>
              <a:buFontTx/>
              <a:buAutoNum type="arabicPeriod"/>
            </a:pPr>
            <a:r>
              <a:rPr lang="en-US" dirty="0">
                <a:solidFill>
                  <a:srgbClr val="CC0000"/>
                </a:solidFill>
              </a:rPr>
              <a:t> </a:t>
            </a:r>
            <a:r>
              <a:rPr lang="en-US" dirty="0">
                <a:solidFill>
                  <a:schemeClr val="hlink"/>
                </a:solidFill>
                <a:sym typeface="Symbol" pitchFamily="18" charset="2"/>
              </a:rPr>
              <a:t>Q</a:t>
            </a:r>
            <a:r>
              <a:rPr lang="en-US" dirty="0">
                <a:solidFill>
                  <a:schemeClr val="hlink"/>
                </a:solidFill>
              </a:rPr>
              <a:t> </a:t>
            </a:r>
            <a:r>
              <a:rPr lang="en-US" dirty="0">
                <a:solidFill>
                  <a:schemeClr val="hlink"/>
                </a:solidFill>
                <a:sym typeface="Symbol" pitchFamily="18" charset="2"/>
              </a:rPr>
              <a:t> ;  </a:t>
            </a:r>
            <a:r>
              <a:rPr lang="en-US" dirty="0" err="1">
                <a:solidFill>
                  <a:schemeClr val="hlink"/>
                </a:solidFill>
                <a:sym typeface="Symbol" pitchFamily="18" charset="2"/>
              </a:rPr>
              <a:t>Enqueue</a:t>
            </a:r>
            <a:r>
              <a:rPr lang="en-US" dirty="0">
                <a:solidFill>
                  <a:schemeClr val="hlink"/>
                </a:solidFill>
                <a:sym typeface="Symbol" pitchFamily="18" charset="2"/>
              </a:rPr>
              <a:t>(s, Q)</a:t>
            </a:r>
            <a:endParaRPr lang="en-US" dirty="0">
              <a:solidFill>
                <a:schemeClr val="hlink"/>
              </a:solidFill>
              <a:cs typeface="Arial" pitchFamily="34" charset="0"/>
            </a:endParaRPr>
          </a:p>
          <a:p>
            <a:pPr eaLnBrk="1" hangingPunct="1">
              <a:lnSpc>
                <a:spcPct val="110000"/>
              </a:lnSpc>
              <a:buFontTx/>
              <a:buAutoNum type="arabicPeriod"/>
            </a:pPr>
            <a:r>
              <a:rPr lang="en-US" dirty="0">
                <a:solidFill>
                  <a:srgbClr val="CC0000"/>
                </a:solidFill>
                <a:cs typeface="Arial" pitchFamily="34" charset="0"/>
              </a:rPr>
              <a:t> </a:t>
            </a:r>
            <a:r>
              <a:rPr lang="en-US" b="1" dirty="0"/>
              <a:t>while</a:t>
            </a:r>
            <a:r>
              <a:rPr lang="en-US" dirty="0">
                <a:solidFill>
                  <a:schemeClr val="hlink"/>
                </a:solidFill>
              </a:rPr>
              <a:t> </a:t>
            </a:r>
            <a:r>
              <a:rPr lang="en-US" dirty="0">
                <a:solidFill>
                  <a:schemeClr val="hlink"/>
                </a:solidFill>
                <a:sym typeface="Symbol" pitchFamily="18" charset="2"/>
              </a:rPr>
              <a:t>Q    </a:t>
            </a:r>
            <a:r>
              <a:rPr lang="en-US" b="1" dirty="0"/>
              <a:t>do</a:t>
            </a:r>
            <a:r>
              <a:rPr lang="en-US" dirty="0">
                <a:solidFill>
                  <a:srgbClr val="CC0000"/>
                </a:solidFill>
                <a:cs typeface="Arial" pitchFamily="34" charset="0"/>
              </a:rPr>
              <a:t> </a:t>
            </a:r>
          </a:p>
          <a:p>
            <a:pPr eaLnBrk="1" hangingPunct="1">
              <a:lnSpc>
                <a:spcPct val="110000"/>
              </a:lnSpc>
              <a:buFontTx/>
              <a:buAutoNum type="arabicPeriod"/>
            </a:pPr>
            <a:r>
              <a:rPr lang="en-US" dirty="0">
                <a:solidFill>
                  <a:srgbClr val="CC0000"/>
                </a:solidFill>
              </a:rPr>
              <a:t>	   </a:t>
            </a:r>
            <a:r>
              <a:rPr lang="en-US" dirty="0">
                <a:solidFill>
                  <a:schemeClr val="hlink"/>
                </a:solidFill>
              </a:rPr>
              <a:t>u </a:t>
            </a:r>
            <a:r>
              <a:rPr lang="en-US" dirty="0">
                <a:solidFill>
                  <a:schemeClr val="hlink"/>
                </a:solidFill>
                <a:sym typeface="Symbol" pitchFamily="18" charset="2"/>
              </a:rPr>
              <a:t></a:t>
            </a:r>
            <a:r>
              <a:rPr lang="en-US" dirty="0">
                <a:solidFill>
                  <a:schemeClr val="hlink"/>
                </a:solidFill>
              </a:rPr>
              <a:t> </a:t>
            </a:r>
            <a:r>
              <a:rPr lang="en-US" dirty="0" err="1">
                <a:solidFill>
                  <a:schemeClr val="hlink"/>
                </a:solidFill>
                <a:sym typeface="Symbol" pitchFamily="18" charset="2"/>
              </a:rPr>
              <a:t>Dequeue</a:t>
            </a:r>
            <a:r>
              <a:rPr lang="en-US" dirty="0">
                <a:solidFill>
                  <a:schemeClr val="hlink"/>
                </a:solidFill>
                <a:sym typeface="Symbol" pitchFamily="18" charset="2"/>
              </a:rPr>
              <a:t>(Q)</a:t>
            </a:r>
            <a:r>
              <a:rPr lang="en-US" dirty="0">
                <a:solidFill>
                  <a:schemeClr val="hlink"/>
                </a:solidFill>
              </a:rPr>
              <a:t> </a:t>
            </a:r>
            <a:r>
              <a:rPr lang="en-US" dirty="0">
                <a:solidFill>
                  <a:schemeClr val="tx2"/>
                </a:solidFill>
              </a:rPr>
              <a:t>	</a:t>
            </a:r>
          </a:p>
          <a:p>
            <a:pPr eaLnBrk="1" hangingPunct="1">
              <a:lnSpc>
                <a:spcPct val="110000"/>
              </a:lnSpc>
              <a:buFontTx/>
              <a:buAutoNum type="arabicPeriod"/>
            </a:pPr>
            <a:r>
              <a:rPr lang="en-US" dirty="0">
                <a:solidFill>
                  <a:srgbClr val="CC0000"/>
                </a:solidFill>
              </a:rPr>
              <a:t> </a:t>
            </a:r>
            <a:r>
              <a:rPr lang="en-US" dirty="0">
                <a:solidFill>
                  <a:srgbClr val="CC0000"/>
                </a:solidFill>
                <a:cs typeface="Arial" pitchFamily="34" charset="0"/>
              </a:rPr>
              <a:t>    </a:t>
            </a:r>
            <a:r>
              <a:rPr lang="en-US" b="1" dirty="0"/>
              <a:t>for</a:t>
            </a:r>
            <a:r>
              <a:rPr lang="en-US" dirty="0">
                <a:solidFill>
                  <a:schemeClr val="hlink"/>
                </a:solidFill>
              </a:rPr>
              <a:t> each vertex </a:t>
            </a:r>
            <a:r>
              <a:rPr lang="en-US" dirty="0">
                <a:solidFill>
                  <a:schemeClr val="hlink"/>
                </a:solidFill>
                <a:sym typeface="Symbol" pitchFamily="18" charset="2"/>
              </a:rPr>
              <a:t>v  </a:t>
            </a:r>
            <a:r>
              <a:rPr lang="en-US" dirty="0" err="1">
                <a:solidFill>
                  <a:schemeClr val="hlink"/>
                </a:solidFill>
                <a:sym typeface="Symbol" pitchFamily="18" charset="2"/>
              </a:rPr>
              <a:t>Adj</a:t>
            </a:r>
            <a:r>
              <a:rPr lang="en-US" dirty="0">
                <a:solidFill>
                  <a:schemeClr val="hlink"/>
                </a:solidFill>
                <a:sym typeface="Symbol" pitchFamily="18" charset="2"/>
              </a:rPr>
              <a:t>[u] </a:t>
            </a:r>
            <a:r>
              <a:rPr lang="en-US" b="1" dirty="0"/>
              <a:t>do</a:t>
            </a:r>
            <a:r>
              <a:rPr lang="en-US" dirty="0">
                <a:solidFill>
                  <a:srgbClr val="CC0000"/>
                </a:solidFill>
                <a:cs typeface="Arial" pitchFamily="34" charset="0"/>
              </a:rPr>
              <a:t> </a:t>
            </a:r>
            <a:endParaRPr lang="en-US" dirty="0">
              <a:solidFill>
                <a:srgbClr val="CC0000"/>
              </a:solidFill>
            </a:endParaRPr>
          </a:p>
          <a:p>
            <a:pPr eaLnBrk="1" hangingPunct="1">
              <a:lnSpc>
                <a:spcPct val="110000"/>
              </a:lnSpc>
              <a:buFontTx/>
              <a:buAutoNum type="arabicPeriod"/>
            </a:pPr>
            <a:r>
              <a:rPr lang="en-US" dirty="0">
                <a:solidFill>
                  <a:srgbClr val="CC0000"/>
                </a:solidFill>
              </a:rPr>
              <a:t>		 </a:t>
            </a:r>
            <a:r>
              <a:rPr lang="en-US" b="1" dirty="0">
                <a:solidFill>
                  <a:schemeClr val="tx2"/>
                </a:solidFill>
              </a:rPr>
              <a:t>if</a:t>
            </a:r>
            <a:r>
              <a:rPr lang="en-US" dirty="0">
                <a:solidFill>
                  <a:schemeClr val="tx2"/>
                </a:solidFill>
              </a:rPr>
              <a:t> </a:t>
            </a:r>
            <a:r>
              <a:rPr lang="en-US" dirty="0">
                <a:solidFill>
                  <a:schemeClr val="hlink"/>
                </a:solidFill>
              </a:rPr>
              <a:t>color[v] = </a:t>
            </a:r>
            <a:r>
              <a:rPr lang="en-US" sz="1400" dirty="0">
                <a:solidFill>
                  <a:schemeClr val="hlink"/>
                </a:solidFill>
              </a:rPr>
              <a:t>WHITE</a:t>
            </a:r>
            <a:r>
              <a:rPr lang="en-US" dirty="0">
                <a:solidFill>
                  <a:schemeClr val="hlink"/>
                </a:solidFill>
              </a:rPr>
              <a:t>  </a:t>
            </a:r>
            <a:r>
              <a:rPr lang="en-US" b="1" dirty="0">
                <a:solidFill>
                  <a:schemeClr val="tx2"/>
                </a:solidFill>
              </a:rPr>
              <a:t>then do </a:t>
            </a:r>
            <a:endParaRPr lang="en-US" dirty="0">
              <a:solidFill>
                <a:schemeClr val="tx2"/>
              </a:solidFill>
            </a:endParaRPr>
          </a:p>
          <a:p>
            <a:pPr eaLnBrk="1" hangingPunct="1">
              <a:lnSpc>
                <a:spcPct val="110000"/>
              </a:lnSpc>
              <a:buFontTx/>
              <a:buAutoNum type="arabicPeriod"/>
            </a:pPr>
            <a:r>
              <a:rPr lang="en-US" dirty="0">
                <a:solidFill>
                  <a:srgbClr val="CC0000"/>
                </a:solidFill>
              </a:rPr>
              <a:t> 			</a:t>
            </a:r>
            <a:r>
              <a:rPr lang="en-US" dirty="0">
                <a:solidFill>
                  <a:schemeClr val="hlink"/>
                </a:solidFill>
                <a:sym typeface="Symbol" pitchFamily="18" charset="2"/>
              </a:rPr>
              <a:t></a:t>
            </a:r>
            <a:r>
              <a:rPr lang="en-US" dirty="0">
                <a:solidFill>
                  <a:schemeClr val="hlink"/>
                </a:solidFill>
              </a:rPr>
              <a:t>color[v], d[v], </a:t>
            </a:r>
            <a:r>
              <a:rPr lang="en-US" dirty="0">
                <a:solidFill>
                  <a:schemeClr val="hlink"/>
                </a:solidFill>
                <a:latin typeface="Symbol" pitchFamily="18" charset="2"/>
              </a:rPr>
              <a:t>p</a:t>
            </a:r>
            <a:r>
              <a:rPr lang="en-US" dirty="0">
                <a:solidFill>
                  <a:schemeClr val="hlink"/>
                </a:solidFill>
              </a:rPr>
              <a:t>[v]</a:t>
            </a:r>
            <a:r>
              <a:rPr lang="en-US" dirty="0">
                <a:solidFill>
                  <a:schemeClr val="hlink"/>
                </a:solidFill>
                <a:sym typeface="Symbol" pitchFamily="18" charset="2"/>
              </a:rPr>
              <a:t></a:t>
            </a:r>
            <a:r>
              <a:rPr lang="en-US" dirty="0">
                <a:solidFill>
                  <a:schemeClr val="hlink"/>
                </a:solidFill>
              </a:rPr>
              <a:t> </a:t>
            </a:r>
            <a:r>
              <a:rPr lang="en-US" dirty="0">
                <a:solidFill>
                  <a:schemeClr val="hlink"/>
                </a:solidFill>
                <a:sym typeface="Symbol" pitchFamily="18" charset="2"/>
              </a:rPr>
              <a:t></a:t>
            </a:r>
            <a:r>
              <a:rPr lang="en-US" dirty="0">
                <a:solidFill>
                  <a:schemeClr val="hlink"/>
                </a:solidFill>
              </a:rPr>
              <a:t> </a:t>
            </a:r>
            <a:r>
              <a:rPr lang="en-US" dirty="0">
                <a:solidFill>
                  <a:schemeClr val="hlink"/>
                </a:solidFill>
                <a:sym typeface="Symbol" pitchFamily="18" charset="2"/>
              </a:rPr>
              <a:t></a:t>
            </a:r>
            <a:r>
              <a:rPr lang="en-US" sz="1400" dirty="0">
                <a:solidFill>
                  <a:schemeClr val="hlink"/>
                </a:solidFill>
              </a:rPr>
              <a:t>GRAY</a:t>
            </a:r>
            <a:r>
              <a:rPr lang="en-US" dirty="0">
                <a:solidFill>
                  <a:schemeClr val="hlink"/>
                </a:solidFill>
              </a:rPr>
              <a:t>, </a:t>
            </a:r>
            <a:r>
              <a:rPr lang="en-US" dirty="0">
                <a:solidFill>
                  <a:schemeClr val="hlink"/>
                </a:solidFill>
                <a:sym typeface="Symbol" pitchFamily="18" charset="2"/>
              </a:rPr>
              <a:t>1+d[u]</a:t>
            </a:r>
            <a:r>
              <a:rPr lang="en-US" dirty="0">
                <a:solidFill>
                  <a:schemeClr val="hlink"/>
                </a:solidFill>
              </a:rPr>
              <a:t>, u</a:t>
            </a:r>
            <a:r>
              <a:rPr lang="en-US" dirty="0">
                <a:solidFill>
                  <a:schemeClr val="hlink"/>
                </a:solidFill>
                <a:sym typeface="Symbol" pitchFamily="18" charset="2"/>
              </a:rPr>
              <a:t></a:t>
            </a:r>
          </a:p>
          <a:p>
            <a:pPr eaLnBrk="1" hangingPunct="1">
              <a:lnSpc>
                <a:spcPct val="110000"/>
              </a:lnSpc>
              <a:buFontTx/>
              <a:buAutoNum type="arabicPeriod"/>
            </a:pPr>
            <a:r>
              <a:rPr lang="en-US" dirty="0">
                <a:solidFill>
                  <a:srgbClr val="CC0000"/>
                </a:solidFill>
                <a:sym typeface="Symbol" pitchFamily="18" charset="2"/>
              </a:rPr>
              <a:t> 			</a:t>
            </a:r>
            <a:r>
              <a:rPr lang="en-US" dirty="0" err="1">
                <a:solidFill>
                  <a:schemeClr val="hlink"/>
                </a:solidFill>
                <a:sym typeface="Symbol" pitchFamily="18" charset="2"/>
              </a:rPr>
              <a:t>Enqueue</a:t>
            </a:r>
            <a:r>
              <a:rPr lang="en-US" dirty="0">
                <a:solidFill>
                  <a:schemeClr val="hlink"/>
                </a:solidFill>
                <a:sym typeface="Symbol" pitchFamily="18" charset="2"/>
              </a:rPr>
              <a:t>(v, Q)</a:t>
            </a:r>
            <a:r>
              <a:rPr lang="en-US" dirty="0">
                <a:solidFill>
                  <a:schemeClr val="tx2"/>
                </a:solidFill>
              </a:rPr>
              <a:t> 	</a:t>
            </a:r>
            <a:endParaRPr lang="en-US" dirty="0">
              <a:solidFill>
                <a:srgbClr val="CC0000"/>
              </a:solidFill>
              <a:cs typeface="Arial" pitchFamily="34" charset="0"/>
            </a:endParaRPr>
          </a:p>
          <a:p>
            <a:pPr eaLnBrk="1" hangingPunct="1">
              <a:lnSpc>
                <a:spcPct val="110000"/>
              </a:lnSpc>
              <a:buFontTx/>
              <a:buAutoNum type="arabicPeriod"/>
            </a:pPr>
            <a:r>
              <a:rPr lang="en-US" dirty="0">
                <a:solidFill>
                  <a:srgbClr val="CC0000"/>
                </a:solidFill>
              </a:rPr>
              <a:t> 		 </a:t>
            </a:r>
            <a:r>
              <a:rPr lang="en-US" b="1" dirty="0"/>
              <a:t>end-if</a:t>
            </a:r>
          </a:p>
          <a:p>
            <a:pPr eaLnBrk="1" hangingPunct="1">
              <a:lnSpc>
                <a:spcPct val="110000"/>
              </a:lnSpc>
              <a:buFontTx/>
              <a:buAutoNum type="arabicPeriod"/>
            </a:pPr>
            <a:r>
              <a:rPr lang="en-US" dirty="0">
                <a:solidFill>
                  <a:srgbClr val="CC0000"/>
                </a:solidFill>
              </a:rPr>
              <a:t>	   </a:t>
            </a:r>
            <a:r>
              <a:rPr lang="en-US" b="1" dirty="0"/>
              <a:t>end-for</a:t>
            </a:r>
          </a:p>
          <a:p>
            <a:pPr eaLnBrk="1" hangingPunct="1">
              <a:lnSpc>
                <a:spcPct val="110000"/>
              </a:lnSpc>
              <a:buFontTx/>
              <a:buAutoNum type="arabicPeriod"/>
            </a:pPr>
            <a:r>
              <a:rPr lang="en-US" dirty="0">
                <a:solidFill>
                  <a:srgbClr val="CC0000"/>
                </a:solidFill>
              </a:rPr>
              <a:t> 	   </a:t>
            </a:r>
            <a:r>
              <a:rPr lang="en-US" dirty="0">
                <a:solidFill>
                  <a:schemeClr val="hlink"/>
                </a:solidFill>
              </a:rPr>
              <a:t>color[u] </a:t>
            </a:r>
            <a:r>
              <a:rPr lang="en-US" dirty="0">
                <a:solidFill>
                  <a:schemeClr val="hlink"/>
                </a:solidFill>
                <a:sym typeface="Symbol" pitchFamily="18" charset="2"/>
              </a:rPr>
              <a:t></a:t>
            </a:r>
            <a:r>
              <a:rPr lang="en-US" dirty="0">
                <a:solidFill>
                  <a:schemeClr val="hlink"/>
                </a:solidFill>
              </a:rPr>
              <a:t> </a:t>
            </a:r>
            <a:r>
              <a:rPr lang="en-US" sz="1400" dirty="0">
                <a:solidFill>
                  <a:schemeClr val="hlink"/>
                </a:solidFill>
              </a:rPr>
              <a:t>BLACK 	</a:t>
            </a:r>
            <a:endParaRPr lang="en-US" b="1" dirty="0"/>
          </a:p>
          <a:p>
            <a:pPr eaLnBrk="1" hangingPunct="1">
              <a:lnSpc>
                <a:spcPct val="110000"/>
              </a:lnSpc>
              <a:buFontTx/>
              <a:buAutoNum type="arabicPeriod"/>
            </a:pPr>
            <a:r>
              <a:rPr lang="en-US" dirty="0">
                <a:solidFill>
                  <a:srgbClr val="CC0000"/>
                </a:solidFill>
              </a:rPr>
              <a:t> </a:t>
            </a:r>
            <a:r>
              <a:rPr lang="en-US" b="1" dirty="0"/>
              <a:t>end-while</a:t>
            </a:r>
          </a:p>
          <a:p>
            <a:pPr eaLnBrk="1" hangingPunct="1">
              <a:lnSpc>
                <a:spcPct val="110000"/>
              </a:lnSpc>
              <a:buFontTx/>
              <a:buNone/>
            </a:pPr>
            <a:r>
              <a:rPr lang="en-US" b="1" dirty="0"/>
              <a:t>end</a:t>
            </a:r>
            <a:r>
              <a:rPr lang="en-US" dirty="0">
                <a:solidFill>
                  <a:schemeClr val="hlink"/>
                </a:solidFill>
              </a:rPr>
              <a:t> </a:t>
            </a:r>
          </a:p>
        </p:txBody>
      </p:sp>
      <p:grpSp>
        <p:nvGrpSpPr>
          <p:cNvPr id="109577" name="Group 9"/>
          <p:cNvGrpSpPr>
            <a:grpSpLocks/>
          </p:cNvGrpSpPr>
          <p:nvPr/>
        </p:nvGrpSpPr>
        <p:grpSpPr bwMode="auto">
          <a:xfrm>
            <a:off x="381000" y="838200"/>
            <a:ext cx="3186113" cy="342900"/>
            <a:chOff x="198" y="1039"/>
            <a:chExt cx="2007" cy="216"/>
          </a:xfrm>
        </p:grpSpPr>
        <p:sp>
          <p:nvSpPr>
            <p:cNvPr id="20487" name="AutoShape 6"/>
            <p:cNvSpPr>
              <a:spLocks noChangeArrowheads="1"/>
            </p:cNvSpPr>
            <p:nvPr/>
          </p:nvSpPr>
          <p:spPr bwMode="auto">
            <a:xfrm>
              <a:off x="1726" y="1056"/>
              <a:ext cx="479" cy="199"/>
            </a:xfrm>
            <a:prstGeom prst="roundRect">
              <a:avLst>
                <a:gd name="adj" fmla="val 16667"/>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eaLnBrk="1" hangingPunct="1">
                <a:buFontTx/>
                <a:buNone/>
              </a:pPr>
              <a:r>
                <a:rPr lang="en-US" sz="1200" b="1" dirty="0">
                  <a:solidFill>
                    <a:schemeClr val="bg1"/>
                  </a:solidFill>
                  <a:latin typeface="Arial" pitchFamily="34" charset="0"/>
                </a:rPr>
                <a:t>BLACK</a:t>
              </a:r>
            </a:p>
          </p:txBody>
        </p:sp>
        <p:sp>
          <p:nvSpPr>
            <p:cNvPr id="20488" name="Line 7"/>
            <p:cNvSpPr>
              <a:spLocks noChangeShapeType="1"/>
            </p:cNvSpPr>
            <p:nvPr/>
          </p:nvSpPr>
          <p:spPr bwMode="auto">
            <a:xfrm>
              <a:off x="480" y="1152"/>
              <a:ext cx="432" cy="0"/>
            </a:xfrm>
            <a:prstGeom prst="line">
              <a:avLst/>
            </a:prstGeom>
            <a:noFill/>
            <a:ln w="28575">
              <a:solidFill>
                <a:schemeClr val="tx1"/>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20489" name="Line 8"/>
            <p:cNvSpPr>
              <a:spLocks noChangeShapeType="1"/>
            </p:cNvSpPr>
            <p:nvPr/>
          </p:nvSpPr>
          <p:spPr bwMode="auto">
            <a:xfrm>
              <a:off x="1248" y="1152"/>
              <a:ext cx="480" cy="0"/>
            </a:xfrm>
            <a:prstGeom prst="line">
              <a:avLst/>
            </a:prstGeom>
            <a:noFill/>
            <a:ln w="28575">
              <a:solidFill>
                <a:schemeClr val="tx1"/>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20490" name="AutoShape 4"/>
            <p:cNvSpPr>
              <a:spLocks noChangeArrowheads="1"/>
            </p:cNvSpPr>
            <p:nvPr/>
          </p:nvSpPr>
          <p:spPr bwMode="auto">
            <a:xfrm>
              <a:off x="198" y="1039"/>
              <a:ext cx="452" cy="199"/>
            </a:xfrm>
            <a:prstGeom prst="roundRect">
              <a:avLst>
                <a:gd name="adj" fmla="val 16667"/>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eaLnBrk="1" hangingPunct="1">
                <a:buFontTx/>
                <a:buNone/>
              </a:pPr>
              <a:r>
                <a:rPr lang="en-US" sz="1200" b="1" dirty="0">
                  <a:solidFill>
                    <a:schemeClr val="tx2"/>
                  </a:solidFill>
                  <a:latin typeface="Arial" pitchFamily="34" charset="0"/>
                </a:rPr>
                <a:t>WHITE</a:t>
              </a:r>
            </a:p>
          </p:txBody>
        </p:sp>
        <p:sp>
          <p:nvSpPr>
            <p:cNvPr id="20491" name="AutoShape 5"/>
            <p:cNvSpPr>
              <a:spLocks noChangeArrowheads="1"/>
            </p:cNvSpPr>
            <p:nvPr/>
          </p:nvSpPr>
          <p:spPr bwMode="auto">
            <a:xfrm>
              <a:off x="911" y="1056"/>
              <a:ext cx="419" cy="199"/>
            </a:xfrm>
            <a:prstGeom prst="roundRect">
              <a:avLst>
                <a:gd name="adj" fmla="val 16667"/>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eaLnBrk="1" hangingPunct="1">
                <a:buFontTx/>
                <a:buNone/>
              </a:pPr>
              <a:r>
                <a:rPr lang="en-US" sz="1200" b="1" dirty="0">
                  <a:solidFill>
                    <a:schemeClr val="tx2"/>
                  </a:solidFill>
                  <a:latin typeface="Arial" pitchFamily="34" charset="0"/>
                </a:rPr>
                <a:t>GRAY</a:t>
              </a:r>
            </a:p>
          </p:txBody>
        </p:sp>
      </p:grpSp>
      <p:sp>
        <p:nvSpPr>
          <p:cNvPr id="109578" name="Text Box 10"/>
          <p:cNvSpPr txBox="1">
            <a:spLocks noChangeArrowheads="1"/>
          </p:cNvSpPr>
          <p:nvPr/>
        </p:nvSpPr>
        <p:spPr bwMode="auto">
          <a:xfrm>
            <a:off x="0" y="1295400"/>
            <a:ext cx="4195763" cy="4211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188913" indent="-188913">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r>
              <a:rPr lang="en-US" sz="1800">
                <a:solidFill>
                  <a:schemeClr val="tx2"/>
                </a:solidFill>
                <a:latin typeface="Arial" pitchFamily="34" charset="0"/>
              </a:rPr>
              <a:t>The only way that a node becomes </a:t>
            </a:r>
            <a:br>
              <a:rPr lang="en-US" sz="1800">
                <a:solidFill>
                  <a:schemeClr val="tx2"/>
                </a:solidFill>
                <a:latin typeface="Arial" pitchFamily="34" charset="0"/>
              </a:rPr>
            </a:br>
            <a:r>
              <a:rPr lang="en-US" sz="1800">
                <a:solidFill>
                  <a:schemeClr val="tx2"/>
                </a:solidFill>
                <a:latin typeface="Arial" pitchFamily="34" charset="0"/>
              </a:rPr>
              <a:t>gray &amp; hence enters Q is when it was</a:t>
            </a:r>
            <a:br>
              <a:rPr lang="en-US" sz="1800">
                <a:solidFill>
                  <a:schemeClr val="tx2"/>
                </a:solidFill>
                <a:latin typeface="Arial" pitchFamily="34" charset="0"/>
              </a:rPr>
            </a:br>
            <a:r>
              <a:rPr lang="en-US" sz="1800">
                <a:solidFill>
                  <a:schemeClr val="tx2"/>
                </a:solidFill>
                <a:latin typeface="Arial" pitchFamily="34" charset="0"/>
              </a:rPr>
              <a:t>white (lines 2-3-4, 8-9-10).</a:t>
            </a:r>
            <a:br>
              <a:rPr lang="en-US" sz="1800">
                <a:solidFill>
                  <a:schemeClr val="tx2"/>
                </a:solidFill>
                <a:latin typeface="Arial" pitchFamily="34" charset="0"/>
              </a:rPr>
            </a:br>
            <a:endParaRPr lang="en-US" sz="1800">
              <a:solidFill>
                <a:schemeClr val="tx2"/>
              </a:solidFill>
              <a:latin typeface="Arial" pitchFamily="34" charset="0"/>
            </a:endParaRPr>
          </a:p>
          <a:p>
            <a:pPr eaLnBrk="1" hangingPunct="1"/>
            <a:r>
              <a:rPr lang="en-US" sz="1800">
                <a:solidFill>
                  <a:schemeClr val="tx2"/>
                </a:solidFill>
                <a:latin typeface="Arial" pitchFamily="34" charset="0"/>
              </a:rPr>
              <a:t>So, each node enters Q at most once</a:t>
            </a:r>
            <a:br>
              <a:rPr lang="en-US" sz="1800">
                <a:solidFill>
                  <a:schemeClr val="tx2"/>
                </a:solidFill>
                <a:latin typeface="Arial" pitchFamily="34" charset="0"/>
              </a:rPr>
            </a:br>
            <a:r>
              <a:rPr lang="en-US" sz="1800">
                <a:solidFill>
                  <a:schemeClr val="tx2"/>
                </a:solidFill>
                <a:latin typeface="Arial" pitchFamily="34" charset="0"/>
              </a:rPr>
              <a:t>(&amp; only if it was reachable from s).</a:t>
            </a:r>
            <a:br>
              <a:rPr lang="en-US" sz="1800">
                <a:solidFill>
                  <a:schemeClr val="tx2"/>
                </a:solidFill>
                <a:latin typeface="Arial" pitchFamily="34" charset="0"/>
              </a:rPr>
            </a:br>
            <a:endParaRPr lang="en-US" sz="1800">
              <a:solidFill>
                <a:schemeClr val="tx2"/>
              </a:solidFill>
              <a:latin typeface="Arial" pitchFamily="34" charset="0"/>
            </a:endParaRPr>
          </a:p>
          <a:p>
            <a:pPr eaLnBrk="1" hangingPunct="1"/>
            <a:r>
              <a:rPr lang="en-US" sz="1800">
                <a:solidFill>
                  <a:schemeClr val="tx2"/>
                </a:solidFill>
                <a:latin typeface="Arial" pitchFamily="34" charset="0"/>
              </a:rPr>
              <a:t>Thus, a node u is removed from Q</a:t>
            </a:r>
            <a:br>
              <a:rPr lang="en-US" sz="1800">
                <a:solidFill>
                  <a:schemeClr val="tx2"/>
                </a:solidFill>
                <a:latin typeface="Arial" pitchFamily="34" charset="0"/>
              </a:rPr>
            </a:br>
            <a:r>
              <a:rPr lang="en-US" sz="1800">
                <a:solidFill>
                  <a:schemeClr val="tx2"/>
                </a:solidFill>
                <a:latin typeface="Arial" pitchFamily="34" charset="0"/>
              </a:rPr>
              <a:t>at most once (line 6). </a:t>
            </a:r>
            <a:br>
              <a:rPr lang="en-US" sz="1800">
                <a:solidFill>
                  <a:schemeClr val="tx2"/>
                </a:solidFill>
                <a:latin typeface="Arial" pitchFamily="34" charset="0"/>
              </a:rPr>
            </a:br>
            <a:endParaRPr lang="en-US" sz="1800">
              <a:solidFill>
                <a:schemeClr val="tx2"/>
              </a:solidFill>
              <a:latin typeface="Arial" pitchFamily="34" charset="0"/>
            </a:endParaRPr>
          </a:p>
          <a:p>
            <a:pPr eaLnBrk="1" hangingPunct="1"/>
            <a:r>
              <a:rPr lang="en-US" sz="1800">
                <a:solidFill>
                  <a:schemeClr val="tx2"/>
                </a:solidFill>
                <a:latin typeface="Arial" pitchFamily="34" charset="0"/>
              </a:rPr>
              <a:t>So, a node u is scanned at most once</a:t>
            </a:r>
            <a:br>
              <a:rPr lang="en-US" sz="1800">
                <a:solidFill>
                  <a:schemeClr val="tx2"/>
                </a:solidFill>
                <a:latin typeface="Arial" pitchFamily="34" charset="0"/>
              </a:rPr>
            </a:br>
            <a:r>
              <a:rPr lang="en-US" sz="1800">
                <a:solidFill>
                  <a:schemeClr val="tx2"/>
                </a:solidFill>
                <a:latin typeface="Arial" pitchFamily="34" charset="0"/>
              </a:rPr>
              <a:t>&amp; becomes black (lines 7-13). </a:t>
            </a:r>
            <a:br>
              <a:rPr lang="en-US" sz="1800">
                <a:solidFill>
                  <a:schemeClr val="tx2"/>
                </a:solidFill>
                <a:latin typeface="Arial" pitchFamily="34" charset="0"/>
              </a:rPr>
            </a:br>
            <a:r>
              <a:rPr lang="en-US" sz="1800">
                <a:solidFill>
                  <a:schemeClr val="tx2"/>
                </a:solidFill>
                <a:latin typeface="Arial" pitchFamily="34" charset="0"/>
              </a:rPr>
              <a:t>This takes O(1+|Adj[u]|) time. </a:t>
            </a:r>
            <a:br>
              <a:rPr lang="en-US" sz="1800">
                <a:solidFill>
                  <a:schemeClr val="tx2"/>
                </a:solidFill>
                <a:latin typeface="Arial" pitchFamily="34" charset="0"/>
              </a:rPr>
            </a:br>
            <a:endParaRPr lang="en-US" sz="1800">
              <a:solidFill>
                <a:schemeClr val="tx2"/>
              </a:solidFill>
              <a:latin typeface="Arial" pitchFamily="34" charset="0"/>
            </a:endParaRPr>
          </a:p>
          <a:p>
            <a:pPr eaLnBrk="1" hangingPunct="1"/>
            <a:r>
              <a:rPr lang="en-US" sz="1800">
                <a:solidFill>
                  <a:schemeClr val="tx2"/>
                </a:solidFill>
                <a:latin typeface="Arial" pitchFamily="34" charset="0"/>
              </a:rPr>
              <a:t>Therefore, the total time is:</a:t>
            </a:r>
          </a:p>
        </p:txBody>
      </p:sp>
      <p:graphicFrame>
        <p:nvGraphicFramePr>
          <p:cNvPr id="109579" name="Object 11"/>
          <p:cNvGraphicFramePr>
            <a:graphicFrameLocks noChangeAspect="1"/>
          </p:cNvGraphicFramePr>
          <p:nvPr/>
        </p:nvGraphicFramePr>
        <p:xfrm>
          <a:off x="533400" y="5486400"/>
          <a:ext cx="8139113" cy="836613"/>
        </p:xfrm>
        <a:graphic>
          <a:graphicData uri="http://schemas.openxmlformats.org/presentationml/2006/ole">
            <mc:AlternateContent xmlns:mc="http://schemas.openxmlformats.org/markup-compatibility/2006">
              <mc:Choice xmlns:v="urn:schemas-microsoft-com:vml" Requires="v">
                <p:oleObj spid="_x0000_s20603" name="Equation" r:id="rId3" imgW="4699000" imgH="482600" progId="Equation.3">
                  <p:embed/>
                </p:oleObj>
              </mc:Choice>
              <mc:Fallback>
                <p:oleObj name="Equation" r:id="rId3" imgW="4699000" imgH="4826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5486400"/>
                        <a:ext cx="8139113" cy="836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09570"/>
                                        </p:tgtEl>
                                        <p:attrNameLst>
                                          <p:attrName>style.visibility</p:attrName>
                                        </p:attrNameLst>
                                      </p:cBhvr>
                                      <p:to>
                                        <p:strVal val="visible"/>
                                      </p:to>
                                    </p:set>
                                    <p:anim calcmode="lin" valueType="num">
                                      <p:cBhvr>
                                        <p:cTn id="7" dur="500" fill="hold"/>
                                        <p:tgtEl>
                                          <p:spTgt spid="109570"/>
                                        </p:tgtEl>
                                        <p:attrNameLst>
                                          <p:attrName>ppt_w</p:attrName>
                                        </p:attrNameLst>
                                      </p:cBhvr>
                                      <p:tavLst>
                                        <p:tav tm="0">
                                          <p:val>
                                            <p:fltVal val="0"/>
                                          </p:val>
                                        </p:tav>
                                        <p:tav tm="100000">
                                          <p:val>
                                            <p:strVal val="#ppt_w"/>
                                          </p:val>
                                        </p:tav>
                                      </p:tavLst>
                                    </p:anim>
                                    <p:anim calcmode="lin" valueType="num">
                                      <p:cBhvr>
                                        <p:cTn id="8" dur="500" fill="hold"/>
                                        <p:tgtEl>
                                          <p:spTgt spid="109570"/>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09571"/>
                                        </p:tgtEl>
                                        <p:attrNameLst>
                                          <p:attrName>style.visibility</p:attrName>
                                        </p:attrNameLst>
                                      </p:cBhvr>
                                      <p:to>
                                        <p:strVal val="visible"/>
                                      </p:to>
                                    </p:set>
                                    <p:animEffect transition="in" filter="wipe(up)">
                                      <p:cBhvr>
                                        <p:cTn id="12" dur="500"/>
                                        <p:tgtEl>
                                          <p:spTgt spid="1095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9577"/>
                                        </p:tgtEl>
                                        <p:attrNameLst>
                                          <p:attrName>style.visibility</p:attrName>
                                        </p:attrNameLst>
                                      </p:cBhvr>
                                      <p:to>
                                        <p:strVal val="visible"/>
                                      </p:to>
                                    </p:set>
                                    <p:animEffect transition="in" filter="wipe(left)">
                                      <p:cBhvr>
                                        <p:cTn id="17" dur="500"/>
                                        <p:tgtEl>
                                          <p:spTgt spid="1095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9578">
                                            <p:txEl>
                                              <p:pRg st="0" end="0"/>
                                            </p:txEl>
                                          </p:spTgt>
                                        </p:tgtEl>
                                        <p:attrNameLst>
                                          <p:attrName>style.visibility</p:attrName>
                                        </p:attrNameLst>
                                      </p:cBhvr>
                                      <p:to>
                                        <p:strVal val="visible"/>
                                      </p:to>
                                    </p:set>
                                    <p:animEffect transition="in" filter="wipe(up)">
                                      <p:cBhvr>
                                        <p:cTn id="22" dur="500"/>
                                        <p:tgtEl>
                                          <p:spTgt spid="109578">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9578">
                                            <p:txEl>
                                              <p:pRg st="1" end="1"/>
                                            </p:txEl>
                                          </p:spTgt>
                                        </p:tgtEl>
                                        <p:attrNameLst>
                                          <p:attrName>style.visibility</p:attrName>
                                        </p:attrNameLst>
                                      </p:cBhvr>
                                      <p:to>
                                        <p:strVal val="visible"/>
                                      </p:to>
                                    </p:set>
                                    <p:animEffect transition="in" filter="wipe(up)">
                                      <p:cBhvr>
                                        <p:cTn id="27" dur="500"/>
                                        <p:tgtEl>
                                          <p:spTgt spid="109578">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09578">
                                            <p:txEl>
                                              <p:pRg st="2" end="2"/>
                                            </p:txEl>
                                          </p:spTgt>
                                        </p:tgtEl>
                                        <p:attrNameLst>
                                          <p:attrName>style.visibility</p:attrName>
                                        </p:attrNameLst>
                                      </p:cBhvr>
                                      <p:to>
                                        <p:strVal val="visible"/>
                                      </p:to>
                                    </p:set>
                                    <p:animEffect transition="in" filter="wipe(up)">
                                      <p:cBhvr>
                                        <p:cTn id="32" dur="500"/>
                                        <p:tgtEl>
                                          <p:spTgt spid="109578">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09578">
                                            <p:txEl>
                                              <p:pRg st="3" end="3"/>
                                            </p:txEl>
                                          </p:spTgt>
                                        </p:tgtEl>
                                        <p:attrNameLst>
                                          <p:attrName>style.visibility</p:attrName>
                                        </p:attrNameLst>
                                      </p:cBhvr>
                                      <p:to>
                                        <p:strVal val="visible"/>
                                      </p:to>
                                    </p:set>
                                    <p:animEffect transition="in" filter="wipe(up)">
                                      <p:cBhvr>
                                        <p:cTn id="37" dur="500"/>
                                        <p:tgtEl>
                                          <p:spTgt spid="109578">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09578">
                                            <p:txEl>
                                              <p:pRg st="4" end="4"/>
                                            </p:txEl>
                                          </p:spTgt>
                                        </p:tgtEl>
                                        <p:attrNameLst>
                                          <p:attrName>style.visibility</p:attrName>
                                        </p:attrNameLst>
                                      </p:cBhvr>
                                      <p:to>
                                        <p:strVal val="visible"/>
                                      </p:to>
                                    </p:set>
                                    <p:animEffect transition="in" filter="wipe(up)">
                                      <p:cBhvr>
                                        <p:cTn id="42" dur="500"/>
                                        <p:tgtEl>
                                          <p:spTgt spid="109578">
                                            <p:txEl>
                                              <p:pRg st="4" end="4"/>
                                            </p:txEl>
                                          </p:spTgt>
                                        </p:tgtEl>
                                      </p:cBhvr>
                                    </p:animEffect>
                                  </p:childTnLst>
                                </p:cTn>
                              </p:par>
                            </p:childTnLst>
                          </p:cTn>
                        </p:par>
                        <p:par>
                          <p:cTn id="43" fill="hold" nodeType="afterGroup">
                            <p:stCondLst>
                              <p:cond delay="500"/>
                            </p:stCondLst>
                            <p:childTnLst>
                              <p:par>
                                <p:cTn id="44" presetID="22" presetClass="entr" presetSubtype="8" fill="hold" nodeType="afterEffect">
                                  <p:stCondLst>
                                    <p:cond delay="1000"/>
                                  </p:stCondLst>
                                  <p:childTnLst>
                                    <p:set>
                                      <p:cBhvr>
                                        <p:cTn id="45" dur="1" fill="hold">
                                          <p:stCondLst>
                                            <p:cond delay="0"/>
                                          </p:stCondLst>
                                        </p:cTn>
                                        <p:tgtEl>
                                          <p:spTgt spid="109579"/>
                                        </p:tgtEl>
                                        <p:attrNameLst>
                                          <p:attrName>style.visibility</p:attrName>
                                        </p:attrNameLst>
                                      </p:cBhvr>
                                      <p:to>
                                        <p:strVal val="visible"/>
                                      </p:to>
                                    </p:set>
                                    <p:animEffect transition="in" filter="wipe(left)">
                                      <p:cBhvr>
                                        <p:cTn id="46" dur="500"/>
                                        <p:tgtEl>
                                          <p:spTgt spid="109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animBg="1" autoUpdateAnimBg="0"/>
      <p:bldP spid="109571" grpId="0" animBg="1" autoUpdateAnimBg="0"/>
      <p:bldP spid="109578"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More BFS Properties</a:t>
            </a:r>
            <a:endParaRPr lang="en-US" sz="2800" smtClean="0">
              <a:solidFill>
                <a:srgbClr val="CC0000"/>
              </a:solidFill>
              <a:latin typeface="Arial Rounded MT Bold" pitchFamily="34" charset="0"/>
            </a:endParaRPr>
          </a:p>
        </p:txBody>
      </p:sp>
      <p:sp>
        <p:nvSpPr>
          <p:cNvPr id="110604" name="Text Box 12" descr="Recycled paper"/>
          <p:cNvSpPr txBox="1">
            <a:spLocks noChangeArrowheads="1"/>
          </p:cNvSpPr>
          <p:nvPr/>
        </p:nvSpPr>
        <p:spPr bwMode="auto">
          <a:xfrm>
            <a:off x="152400" y="3200400"/>
            <a:ext cx="8839200" cy="3268663"/>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lvl1pPr marL="457200" indent="-457200" defTabSz="1084263">
              <a:defRPr sz="1600">
                <a:solidFill>
                  <a:schemeClr val="tx1"/>
                </a:solidFill>
                <a:latin typeface="Times New Roman" pitchFamily="18" charset="0"/>
              </a:defRPr>
            </a:lvl1pPr>
            <a:lvl2pPr marL="742950" indent="-285750" defTabSz="1084263">
              <a:defRPr sz="1600">
                <a:solidFill>
                  <a:schemeClr val="tx1"/>
                </a:solidFill>
                <a:latin typeface="Times New Roman" pitchFamily="18" charset="0"/>
              </a:defRPr>
            </a:lvl2pPr>
            <a:lvl3pPr marL="1143000" indent="-228600" defTabSz="1084263">
              <a:defRPr sz="1600">
                <a:solidFill>
                  <a:schemeClr val="tx1"/>
                </a:solidFill>
                <a:latin typeface="Times New Roman" pitchFamily="18" charset="0"/>
              </a:defRPr>
            </a:lvl3pPr>
            <a:lvl4pPr marL="1600200" indent="-228600" defTabSz="1084263">
              <a:defRPr sz="1600">
                <a:solidFill>
                  <a:schemeClr val="tx1"/>
                </a:solidFill>
                <a:latin typeface="Times New Roman" pitchFamily="18" charset="0"/>
              </a:defRPr>
            </a:lvl4pPr>
            <a:lvl5pPr marL="2057400" indent="-228600" defTabSz="1084263">
              <a:defRPr sz="1600">
                <a:solidFill>
                  <a:schemeClr val="tx1"/>
                </a:solidFill>
                <a:latin typeface="Times New Roman" pitchFamily="18" charset="0"/>
              </a:defRPr>
            </a:lvl5pPr>
            <a:lvl6pPr marL="2514600" indent="-228600" defTabSz="1084263" eaLnBrk="0" fontAlgn="base" hangingPunct="0">
              <a:spcBef>
                <a:spcPct val="0"/>
              </a:spcBef>
              <a:spcAft>
                <a:spcPct val="0"/>
              </a:spcAft>
              <a:buChar char="•"/>
              <a:defRPr sz="1600">
                <a:solidFill>
                  <a:schemeClr val="tx1"/>
                </a:solidFill>
                <a:latin typeface="Times New Roman" pitchFamily="18" charset="0"/>
              </a:defRPr>
            </a:lvl6pPr>
            <a:lvl7pPr marL="2971800" indent="-228600" defTabSz="1084263" eaLnBrk="0" fontAlgn="base" hangingPunct="0">
              <a:spcBef>
                <a:spcPct val="0"/>
              </a:spcBef>
              <a:spcAft>
                <a:spcPct val="0"/>
              </a:spcAft>
              <a:buChar char="•"/>
              <a:defRPr sz="1600">
                <a:solidFill>
                  <a:schemeClr val="tx1"/>
                </a:solidFill>
                <a:latin typeface="Times New Roman" pitchFamily="18" charset="0"/>
              </a:defRPr>
            </a:lvl7pPr>
            <a:lvl8pPr marL="3429000" indent="-228600" defTabSz="1084263" eaLnBrk="0" fontAlgn="base" hangingPunct="0">
              <a:spcBef>
                <a:spcPct val="0"/>
              </a:spcBef>
              <a:spcAft>
                <a:spcPct val="0"/>
              </a:spcAft>
              <a:buChar char="•"/>
              <a:defRPr sz="1600">
                <a:solidFill>
                  <a:schemeClr val="tx1"/>
                </a:solidFill>
                <a:latin typeface="Times New Roman" pitchFamily="18" charset="0"/>
              </a:defRPr>
            </a:lvl8pPr>
            <a:lvl9pPr marL="3886200" indent="-228600" defTabSz="1084263"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85000"/>
              </a:lnSpc>
              <a:buFontTx/>
              <a:buNone/>
            </a:pPr>
            <a:r>
              <a:rPr lang="en-US" sz="2400" b="1" dirty="0">
                <a:solidFill>
                  <a:srgbClr val="CC0000"/>
                </a:solidFill>
              </a:rPr>
              <a:t>FACT 3:</a:t>
            </a:r>
            <a:r>
              <a:rPr lang="en-US" sz="2000" b="1" dirty="0">
                <a:solidFill>
                  <a:srgbClr val="CC0000"/>
                </a:solidFill>
              </a:rPr>
              <a:t>   BFS Edge Types:</a:t>
            </a:r>
            <a:br>
              <a:rPr lang="en-US" sz="2000" b="1" dirty="0">
                <a:solidFill>
                  <a:srgbClr val="CC0000"/>
                </a:solidFill>
              </a:rPr>
            </a:br>
            <a:r>
              <a:rPr lang="en-US" sz="2000" dirty="0">
                <a:solidFill>
                  <a:schemeClr val="hlink"/>
                </a:solidFill>
              </a:rPr>
              <a:t>Each traversed edge</a:t>
            </a:r>
            <a:r>
              <a:rPr lang="en-US" sz="2000" b="1" dirty="0">
                <a:solidFill>
                  <a:srgbClr val="CC0000"/>
                </a:solidFill>
              </a:rPr>
              <a:t> (</a:t>
            </a:r>
            <a:r>
              <a:rPr lang="en-US" sz="2000" b="1" dirty="0" err="1">
                <a:solidFill>
                  <a:srgbClr val="CC0000"/>
                </a:solidFill>
              </a:rPr>
              <a:t>u,v</a:t>
            </a:r>
            <a:r>
              <a:rPr lang="en-US" sz="2000" b="1" dirty="0">
                <a:solidFill>
                  <a:srgbClr val="CC0000"/>
                </a:solidFill>
              </a:rPr>
              <a:t>)</a:t>
            </a:r>
            <a:r>
              <a:rPr lang="en-US" sz="2000" dirty="0">
                <a:solidFill>
                  <a:schemeClr val="hlink"/>
                </a:solidFill>
                <a:sym typeface="Symbol" pitchFamily="18" charset="2"/>
              </a:rPr>
              <a:t></a:t>
            </a:r>
            <a:r>
              <a:rPr lang="en-US" sz="2000" dirty="0">
                <a:solidFill>
                  <a:schemeClr val="hlink"/>
                </a:solidFill>
              </a:rPr>
              <a:t>E(G) could be a </a:t>
            </a:r>
            <a:r>
              <a:rPr lang="en-US" sz="2000" dirty="0">
                <a:solidFill>
                  <a:srgbClr val="CC0000"/>
                </a:solidFill>
              </a:rPr>
              <a:t>tree-edge</a:t>
            </a:r>
            <a:r>
              <a:rPr lang="en-US" sz="2000" dirty="0">
                <a:solidFill>
                  <a:schemeClr val="hlink"/>
                </a:solidFill>
              </a:rPr>
              <a:t> or a </a:t>
            </a:r>
            <a:r>
              <a:rPr lang="en-US" sz="2000" dirty="0">
                <a:solidFill>
                  <a:srgbClr val="CC0000"/>
                </a:solidFill>
              </a:rPr>
              <a:t>non-tree edge</a:t>
            </a:r>
            <a:r>
              <a:rPr lang="en-US" sz="2000" dirty="0">
                <a:solidFill>
                  <a:schemeClr val="hlink"/>
                </a:solidFill>
              </a:rPr>
              <a:t> </a:t>
            </a:r>
            <a:br>
              <a:rPr lang="en-US" sz="2000" dirty="0">
                <a:solidFill>
                  <a:schemeClr val="hlink"/>
                </a:solidFill>
              </a:rPr>
            </a:br>
            <a:r>
              <a:rPr lang="en-US" sz="2000" dirty="0">
                <a:solidFill>
                  <a:schemeClr val="hlink"/>
                </a:solidFill>
              </a:rPr>
              <a:t>with respect to the BFS.     There are 3 possible types of non-tree edges:</a:t>
            </a:r>
            <a:br>
              <a:rPr lang="en-US" sz="2000" dirty="0">
                <a:solidFill>
                  <a:schemeClr val="hlink"/>
                </a:solidFill>
              </a:rPr>
            </a:br>
            <a:endParaRPr lang="en-US" sz="2000" dirty="0">
              <a:solidFill>
                <a:schemeClr val="hlink"/>
              </a:solidFill>
            </a:endParaRPr>
          </a:p>
          <a:p>
            <a:pPr eaLnBrk="1" hangingPunct="1">
              <a:lnSpc>
                <a:spcPct val="85000"/>
              </a:lnSpc>
              <a:buFontTx/>
              <a:buAutoNum type="arabicPeriod"/>
            </a:pPr>
            <a:r>
              <a:rPr lang="en-US" sz="2000" b="1" dirty="0">
                <a:solidFill>
                  <a:srgbClr val="CC0000"/>
                </a:solidFill>
              </a:rPr>
              <a:t>BFS tree-edge:</a:t>
            </a:r>
            <a:r>
              <a:rPr lang="en-US" sz="2000" dirty="0">
                <a:solidFill>
                  <a:schemeClr val="hlink"/>
                </a:solidFill>
              </a:rPr>
              <a:t>  u = </a:t>
            </a:r>
            <a:r>
              <a:rPr lang="en-US" sz="2000" dirty="0">
                <a:solidFill>
                  <a:schemeClr val="hlink"/>
                </a:solidFill>
                <a:latin typeface="Symbol" pitchFamily="18" charset="2"/>
              </a:rPr>
              <a:t>p</a:t>
            </a:r>
            <a:r>
              <a:rPr lang="en-US" sz="2000" dirty="0">
                <a:solidFill>
                  <a:schemeClr val="hlink"/>
                </a:solidFill>
              </a:rPr>
              <a:t>[v]</a:t>
            </a:r>
            <a:br>
              <a:rPr lang="en-US" sz="2000" dirty="0">
                <a:solidFill>
                  <a:schemeClr val="hlink"/>
                </a:solidFill>
              </a:rPr>
            </a:br>
            <a:endParaRPr lang="en-US" sz="2000" dirty="0">
              <a:solidFill>
                <a:schemeClr val="hlink"/>
              </a:solidFill>
            </a:endParaRPr>
          </a:p>
          <a:p>
            <a:pPr eaLnBrk="1" hangingPunct="1">
              <a:lnSpc>
                <a:spcPct val="85000"/>
              </a:lnSpc>
              <a:buFontTx/>
              <a:buAutoNum type="arabicPeriod"/>
            </a:pPr>
            <a:r>
              <a:rPr lang="en-US" sz="2000" b="1" dirty="0">
                <a:solidFill>
                  <a:srgbClr val="CC0000"/>
                </a:solidFill>
              </a:rPr>
              <a:t>Back-edge:</a:t>
            </a:r>
            <a:r>
              <a:rPr lang="en-US" sz="2000" dirty="0">
                <a:solidFill>
                  <a:schemeClr val="hlink"/>
                </a:solidFill>
              </a:rPr>
              <a:t> 	v is a BFS ancestor of u (possibly u itself)</a:t>
            </a:r>
            <a:br>
              <a:rPr lang="en-US" sz="2000" dirty="0">
                <a:solidFill>
                  <a:schemeClr val="hlink"/>
                </a:solidFill>
              </a:rPr>
            </a:br>
            <a:endParaRPr lang="en-US" sz="2000" dirty="0">
              <a:solidFill>
                <a:schemeClr val="hlink"/>
              </a:solidFill>
            </a:endParaRPr>
          </a:p>
          <a:p>
            <a:pPr eaLnBrk="1" hangingPunct="1">
              <a:lnSpc>
                <a:spcPct val="85000"/>
              </a:lnSpc>
              <a:buFontTx/>
              <a:buAutoNum type="arabicPeriod"/>
            </a:pPr>
            <a:r>
              <a:rPr lang="en-US" sz="2000" b="1" dirty="0">
                <a:solidFill>
                  <a:srgbClr val="CC0000"/>
                </a:solidFill>
              </a:rPr>
              <a:t>Forward-edge:</a:t>
            </a:r>
            <a:r>
              <a:rPr lang="en-US" sz="2000" dirty="0">
                <a:solidFill>
                  <a:schemeClr val="hlink"/>
                </a:solidFill>
              </a:rPr>
              <a:t>  v is a BFS proper descendant of u (not a tree edge).</a:t>
            </a:r>
            <a:br>
              <a:rPr lang="en-US" sz="2000" dirty="0">
                <a:solidFill>
                  <a:schemeClr val="hlink"/>
                </a:solidFill>
              </a:rPr>
            </a:br>
            <a:r>
              <a:rPr lang="en-US" sz="2000" dirty="0">
                <a:solidFill>
                  <a:schemeClr val="hlink"/>
                </a:solidFill>
              </a:rPr>
              <a:t>		 </a:t>
            </a:r>
            <a:r>
              <a:rPr lang="en-US" sz="2000" dirty="0">
                <a:solidFill>
                  <a:srgbClr val="CC0000"/>
                </a:solidFill>
              </a:rPr>
              <a:t>This case will never happen by FACT 2!</a:t>
            </a:r>
            <a:r>
              <a:rPr lang="en-US" sz="2000" dirty="0">
                <a:solidFill>
                  <a:schemeClr val="hlink"/>
                </a:solidFill>
              </a:rPr>
              <a:t/>
            </a:r>
            <a:br>
              <a:rPr lang="en-US" sz="2000" dirty="0">
                <a:solidFill>
                  <a:schemeClr val="hlink"/>
                </a:solidFill>
              </a:rPr>
            </a:br>
            <a:endParaRPr lang="en-US" sz="2000" dirty="0">
              <a:solidFill>
                <a:schemeClr val="hlink"/>
              </a:solidFill>
            </a:endParaRPr>
          </a:p>
          <a:p>
            <a:pPr eaLnBrk="1" hangingPunct="1">
              <a:lnSpc>
                <a:spcPct val="85000"/>
              </a:lnSpc>
              <a:buFontTx/>
              <a:buAutoNum type="arabicPeriod"/>
            </a:pPr>
            <a:r>
              <a:rPr lang="en-US" sz="2000" b="1" dirty="0">
                <a:solidFill>
                  <a:srgbClr val="CC0000"/>
                </a:solidFill>
              </a:rPr>
              <a:t>Cross-edge:</a:t>
            </a:r>
            <a:r>
              <a:rPr lang="en-US" sz="2000" dirty="0">
                <a:solidFill>
                  <a:schemeClr val="hlink"/>
                </a:solidFill>
              </a:rPr>
              <a:t> 	u &amp; v are not ancestor-descendant of each other </a:t>
            </a:r>
            <a:r>
              <a:rPr lang="en-US" sz="2000" dirty="0" err="1">
                <a:solidFill>
                  <a:schemeClr val="hlink"/>
                </a:solidFill>
              </a:rPr>
              <a:t>wrt</a:t>
            </a:r>
            <a:r>
              <a:rPr lang="en-US" sz="2000" dirty="0">
                <a:solidFill>
                  <a:schemeClr val="hlink"/>
                </a:solidFill>
              </a:rPr>
              <a:t> BFS tree. </a:t>
            </a:r>
          </a:p>
        </p:txBody>
      </p:sp>
      <p:sp>
        <p:nvSpPr>
          <p:cNvPr id="110606" name="Rectangle 14" descr="Recycled paper"/>
          <p:cNvSpPr>
            <a:spLocks noChangeArrowheads="1"/>
          </p:cNvSpPr>
          <p:nvPr/>
        </p:nvSpPr>
        <p:spPr bwMode="auto">
          <a:xfrm>
            <a:off x="152400" y="838200"/>
            <a:ext cx="8839200" cy="12382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eaLnBrk="1" hangingPunct="1">
              <a:spcBef>
                <a:spcPct val="50000"/>
              </a:spcBef>
              <a:buFontTx/>
              <a:buNone/>
            </a:pPr>
            <a:r>
              <a:rPr lang="en-US" sz="2400" b="1" dirty="0">
                <a:solidFill>
                  <a:srgbClr val="CC0000"/>
                </a:solidFill>
              </a:rPr>
              <a:t>FACT 2:</a:t>
            </a:r>
            <a:r>
              <a:rPr lang="en-US" sz="2000" b="1" dirty="0">
                <a:solidFill>
                  <a:srgbClr val="CC0000"/>
                </a:solidFill>
              </a:rPr>
              <a:t> </a:t>
            </a:r>
          </a:p>
          <a:p>
            <a:pPr eaLnBrk="1" hangingPunct="1">
              <a:spcBef>
                <a:spcPct val="50000"/>
              </a:spcBef>
              <a:buFontTx/>
              <a:buNone/>
            </a:pPr>
            <a:r>
              <a:rPr lang="en-US" sz="2000" dirty="0">
                <a:solidFill>
                  <a:schemeClr val="hlink"/>
                </a:solidFill>
              </a:rPr>
              <a:t>For each edge</a:t>
            </a:r>
            <a:r>
              <a:rPr lang="en-US" sz="2000" b="1" dirty="0">
                <a:solidFill>
                  <a:srgbClr val="CC0000"/>
                </a:solidFill>
              </a:rPr>
              <a:t> (</a:t>
            </a:r>
            <a:r>
              <a:rPr lang="en-US" sz="2000" b="1" dirty="0" err="1">
                <a:solidFill>
                  <a:srgbClr val="CC0000"/>
                </a:solidFill>
              </a:rPr>
              <a:t>u,v</a:t>
            </a:r>
            <a:r>
              <a:rPr lang="en-US" sz="2000" b="1" dirty="0">
                <a:solidFill>
                  <a:srgbClr val="CC0000"/>
                </a:solidFill>
              </a:rPr>
              <a:t>)</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E(G)  we have       </a:t>
            </a:r>
            <a:r>
              <a:rPr lang="en-US" sz="2000" dirty="0">
                <a:solidFill>
                  <a:srgbClr val="CC0000"/>
                </a:solidFill>
              </a:rPr>
              <a:t>d[v] </a:t>
            </a:r>
            <a:r>
              <a:rPr lang="en-US" sz="2000" dirty="0">
                <a:solidFill>
                  <a:srgbClr val="CC0000"/>
                </a:solidFill>
                <a:sym typeface="Symbol" pitchFamily="18" charset="2"/>
              </a:rPr>
              <a:t> 1 + d[u].</a:t>
            </a:r>
            <a:r>
              <a:rPr lang="en-US" sz="1800" dirty="0">
                <a:solidFill>
                  <a:schemeClr val="hlink"/>
                </a:solidFill>
                <a:sym typeface="Symbol" pitchFamily="18" charset="2"/>
              </a:rPr>
              <a:t/>
            </a:r>
            <a:br>
              <a:rPr lang="en-US" sz="1800" dirty="0">
                <a:solidFill>
                  <a:schemeClr val="hlink"/>
                </a:solidFill>
                <a:sym typeface="Symbol" pitchFamily="18" charset="2"/>
              </a:rPr>
            </a:br>
            <a:r>
              <a:rPr lang="en-US" sz="2000" dirty="0">
                <a:solidFill>
                  <a:schemeClr val="hlink"/>
                </a:solidFill>
                <a:sym typeface="Symbol" pitchFamily="18" charset="2"/>
              </a:rPr>
              <a:t>Furthermore, if G is undirected, then       </a:t>
            </a:r>
            <a:r>
              <a:rPr lang="en-US" sz="2000" b="1" dirty="0">
                <a:solidFill>
                  <a:srgbClr val="CC0000"/>
                </a:solidFill>
                <a:sym typeface="Symbol" pitchFamily="18" charset="2"/>
              </a:rPr>
              <a:t>| </a:t>
            </a:r>
            <a:r>
              <a:rPr lang="en-US" sz="2000" dirty="0">
                <a:solidFill>
                  <a:srgbClr val="CC0000"/>
                </a:solidFill>
                <a:sym typeface="Symbol" pitchFamily="18" charset="2"/>
              </a:rPr>
              <a:t>d[u] – d[v] </a:t>
            </a:r>
            <a:r>
              <a:rPr lang="en-US" sz="2000" b="1" dirty="0">
                <a:solidFill>
                  <a:srgbClr val="CC0000"/>
                </a:solidFill>
                <a:sym typeface="Symbol" pitchFamily="18" charset="2"/>
              </a:rPr>
              <a:t>|</a:t>
            </a:r>
            <a:r>
              <a:rPr lang="en-US" sz="2000" dirty="0">
                <a:solidFill>
                  <a:srgbClr val="CC0000"/>
                </a:solidFill>
                <a:sym typeface="Symbol" pitchFamily="18" charset="2"/>
              </a:rPr>
              <a:t> </a:t>
            </a:r>
            <a:r>
              <a:rPr lang="en-US" sz="2000" dirty="0">
                <a:solidFill>
                  <a:srgbClr val="CC0000"/>
                </a:solidFill>
              </a:rPr>
              <a:t> </a:t>
            </a:r>
            <a:r>
              <a:rPr lang="en-US" sz="2000" dirty="0">
                <a:solidFill>
                  <a:srgbClr val="CC0000"/>
                </a:solidFill>
                <a:sym typeface="Symbol" pitchFamily="18" charset="2"/>
              </a:rPr>
              <a:t>  1.</a:t>
            </a:r>
          </a:p>
        </p:txBody>
      </p:sp>
      <p:sp>
        <p:nvSpPr>
          <p:cNvPr id="110607" name="Text Box 15"/>
          <p:cNvSpPr txBox="1">
            <a:spLocks noChangeArrowheads="1"/>
          </p:cNvSpPr>
          <p:nvPr/>
        </p:nvSpPr>
        <p:spPr bwMode="auto">
          <a:xfrm>
            <a:off x="228600" y="2133600"/>
            <a:ext cx="8686800" cy="9159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3588">
              <a:defRPr sz="1600">
                <a:solidFill>
                  <a:schemeClr val="tx1"/>
                </a:solidFill>
                <a:latin typeface="Times New Roman" pitchFamily="18" charset="0"/>
              </a:defRPr>
            </a:lvl1pPr>
            <a:lvl2pPr marL="742950" indent="-285750" defTabSz="763588">
              <a:defRPr sz="1600">
                <a:solidFill>
                  <a:schemeClr val="tx1"/>
                </a:solidFill>
                <a:latin typeface="Times New Roman" pitchFamily="18" charset="0"/>
              </a:defRPr>
            </a:lvl2pPr>
            <a:lvl3pPr marL="1143000" indent="-228600" defTabSz="763588">
              <a:defRPr sz="1600">
                <a:solidFill>
                  <a:schemeClr val="tx1"/>
                </a:solidFill>
                <a:latin typeface="Times New Roman" pitchFamily="18" charset="0"/>
              </a:defRPr>
            </a:lvl3pPr>
            <a:lvl4pPr marL="1600200" indent="-228600" defTabSz="763588">
              <a:defRPr sz="1600">
                <a:solidFill>
                  <a:schemeClr val="tx1"/>
                </a:solidFill>
                <a:latin typeface="Times New Roman" pitchFamily="18" charset="0"/>
              </a:defRPr>
            </a:lvl4pPr>
            <a:lvl5pPr marL="2057400" indent="-228600" defTabSz="763588">
              <a:defRPr sz="1600">
                <a:solidFill>
                  <a:schemeClr val="tx1"/>
                </a:solidFill>
                <a:latin typeface="Times New Roman" pitchFamily="18" charset="0"/>
              </a:defRPr>
            </a:lvl5pPr>
            <a:lvl6pPr marL="2514600" indent="-228600" defTabSz="763588" eaLnBrk="0" fontAlgn="base" hangingPunct="0">
              <a:spcBef>
                <a:spcPct val="0"/>
              </a:spcBef>
              <a:spcAft>
                <a:spcPct val="0"/>
              </a:spcAft>
              <a:buChar char="•"/>
              <a:defRPr sz="1600">
                <a:solidFill>
                  <a:schemeClr val="tx1"/>
                </a:solidFill>
                <a:latin typeface="Times New Roman" pitchFamily="18" charset="0"/>
              </a:defRPr>
            </a:lvl6pPr>
            <a:lvl7pPr marL="2971800" indent="-228600" defTabSz="763588" eaLnBrk="0" fontAlgn="base" hangingPunct="0">
              <a:spcBef>
                <a:spcPct val="0"/>
              </a:spcBef>
              <a:spcAft>
                <a:spcPct val="0"/>
              </a:spcAft>
              <a:buChar char="•"/>
              <a:defRPr sz="1600">
                <a:solidFill>
                  <a:schemeClr val="tx1"/>
                </a:solidFill>
                <a:latin typeface="Times New Roman" pitchFamily="18" charset="0"/>
              </a:defRPr>
            </a:lvl7pPr>
            <a:lvl8pPr marL="3429000" indent="-228600" defTabSz="763588" eaLnBrk="0" fontAlgn="base" hangingPunct="0">
              <a:spcBef>
                <a:spcPct val="0"/>
              </a:spcBef>
              <a:spcAft>
                <a:spcPct val="0"/>
              </a:spcAft>
              <a:buChar char="•"/>
              <a:defRPr sz="1600">
                <a:solidFill>
                  <a:schemeClr val="tx1"/>
                </a:solidFill>
                <a:latin typeface="Times New Roman" pitchFamily="18" charset="0"/>
              </a:defRPr>
            </a:lvl8pPr>
            <a:lvl9pPr marL="3886200" indent="-228600" defTabSz="763588"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b="1">
                <a:solidFill>
                  <a:schemeClr val="tx2"/>
                </a:solidFill>
                <a:latin typeface="Arial" pitchFamily="34" charset="0"/>
              </a:rPr>
              <a:t>Proof sketch:</a:t>
            </a:r>
            <a:r>
              <a:rPr lang="en-US" sz="1800">
                <a:solidFill>
                  <a:schemeClr val="tx2"/>
                </a:solidFill>
                <a:latin typeface="Arial" pitchFamily="34" charset="0"/>
              </a:rPr>
              <a:t> By the time u becomes black (is scanned), v must have been visited 		(if not earlier). …</a:t>
            </a:r>
            <a:br>
              <a:rPr lang="en-US" sz="1800">
                <a:solidFill>
                  <a:schemeClr val="tx2"/>
                </a:solidFill>
                <a:latin typeface="Arial" pitchFamily="34" charset="0"/>
              </a:rPr>
            </a:br>
            <a:r>
              <a:rPr lang="en-US" sz="1800">
                <a:solidFill>
                  <a:schemeClr val="tx2"/>
                </a:solidFill>
                <a:latin typeface="Arial" pitchFamily="34" charset="0"/>
              </a:rPr>
              <a:t>		If G is undirected, then (u,v) = (v,u).</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10594"/>
                                        </p:tgtEl>
                                        <p:attrNameLst>
                                          <p:attrName>style.visibility</p:attrName>
                                        </p:attrNameLst>
                                      </p:cBhvr>
                                      <p:to>
                                        <p:strVal val="visible"/>
                                      </p:to>
                                    </p:set>
                                    <p:anim calcmode="lin" valueType="num">
                                      <p:cBhvr>
                                        <p:cTn id="7" dur="500" fill="hold"/>
                                        <p:tgtEl>
                                          <p:spTgt spid="110594"/>
                                        </p:tgtEl>
                                        <p:attrNameLst>
                                          <p:attrName>ppt_w</p:attrName>
                                        </p:attrNameLst>
                                      </p:cBhvr>
                                      <p:tavLst>
                                        <p:tav tm="0">
                                          <p:val>
                                            <p:fltVal val="0"/>
                                          </p:val>
                                        </p:tav>
                                        <p:tav tm="100000">
                                          <p:val>
                                            <p:strVal val="#ppt_w"/>
                                          </p:val>
                                        </p:tav>
                                      </p:tavLst>
                                    </p:anim>
                                    <p:anim calcmode="lin" valueType="num">
                                      <p:cBhvr>
                                        <p:cTn id="8" dur="500" fill="hold"/>
                                        <p:tgtEl>
                                          <p:spTgt spid="11059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10606"/>
                                        </p:tgtEl>
                                        <p:attrNameLst>
                                          <p:attrName>style.visibility</p:attrName>
                                        </p:attrNameLst>
                                      </p:cBhvr>
                                      <p:to>
                                        <p:strVal val="visible"/>
                                      </p:to>
                                    </p:set>
                                    <p:animEffect transition="in" filter="wipe(up)">
                                      <p:cBhvr>
                                        <p:cTn id="13" dur="500"/>
                                        <p:tgtEl>
                                          <p:spTgt spid="11060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0607"/>
                                        </p:tgtEl>
                                        <p:attrNameLst>
                                          <p:attrName>style.visibility</p:attrName>
                                        </p:attrNameLst>
                                      </p:cBhvr>
                                      <p:to>
                                        <p:strVal val="visible"/>
                                      </p:to>
                                    </p:set>
                                    <p:animEffect transition="in" filter="wipe(left)">
                                      <p:cBhvr>
                                        <p:cTn id="18" dur="500"/>
                                        <p:tgtEl>
                                          <p:spTgt spid="11060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10604">
                                            <p:bg/>
                                          </p:spTgt>
                                        </p:tgtEl>
                                        <p:attrNameLst>
                                          <p:attrName>style.visibility</p:attrName>
                                        </p:attrNameLst>
                                      </p:cBhvr>
                                      <p:to>
                                        <p:strVal val="visible"/>
                                      </p:to>
                                    </p:set>
                                    <p:animEffect transition="in" filter="wipe(up)">
                                      <p:cBhvr>
                                        <p:cTn id="23" dur="500"/>
                                        <p:tgtEl>
                                          <p:spTgt spid="110604">
                                            <p:bg/>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10604">
                                            <p:txEl>
                                              <p:pRg st="0" end="0"/>
                                            </p:txEl>
                                          </p:spTgt>
                                        </p:tgtEl>
                                        <p:attrNameLst>
                                          <p:attrName>style.visibility</p:attrName>
                                        </p:attrNameLst>
                                      </p:cBhvr>
                                      <p:to>
                                        <p:strVal val="visible"/>
                                      </p:to>
                                    </p:set>
                                    <p:animEffect transition="in" filter="wipe(up)">
                                      <p:cBhvr>
                                        <p:cTn id="28" dur="500"/>
                                        <p:tgtEl>
                                          <p:spTgt spid="110604">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10604">
                                            <p:txEl>
                                              <p:pRg st="1" end="1"/>
                                            </p:txEl>
                                          </p:spTgt>
                                        </p:tgtEl>
                                        <p:attrNameLst>
                                          <p:attrName>style.visibility</p:attrName>
                                        </p:attrNameLst>
                                      </p:cBhvr>
                                      <p:to>
                                        <p:strVal val="visible"/>
                                      </p:to>
                                    </p:set>
                                    <p:animEffect transition="in" filter="wipe(up)">
                                      <p:cBhvr>
                                        <p:cTn id="33" dur="500"/>
                                        <p:tgtEl>
                                          <p:spTgt spid="110604">
                                            <p:txEl>
                                              <p:pRg st="1" end="1"/>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10604">
                                            <p:txEl>
                                              <p:pRg st="2" end="2"/>
                                            </p:txEl>
                                          </p:spTgt>
                                        </p:tgtEl>
                                        <p:attrNameLst>
                                          <p:attrName>style.visibility</p:attrName>
                                        </p:attrNameLst>
                                      </p:cBhvr>
                                      <p:to>
                                        <p:strVal val="visible"/>
                                      </p:to>
                                    </p:set>
                                    <p:animEffect transition="in" filter="wipe(up)">
                                      <p:cBhvr>
                                        <p:cTn id="38" dur="500"/>
                                        <p:tgtEl>
                                          <p:spTgt spid="110604">
                                            <p:txEl>
                                              <p:pRg st="2" end="2"/>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110604">
                                            <p:txEl>
                                              <p:pRg st="3" end="3"/>
                                            </p:txEl>
                                          </p:spTgt>
                                        </p:tgtEl>
                                        <p:attrNameLst>
                                          <p:attrName>style.visibility</p:attrName>
                                        </p:attrNameLst>
                                      </p:cBhvr>
                                      <p:to>
                                        <p:strVal val="visible"/>
                                      </p:to>
                                    </p:set>
                                    <p:animEffect transition="in" filter="wipe(up)">
                                      <p:cBhvr>
                                        <p:cTn id="43" dur="500"/>
                                        <p:tgtEl>
                                          <p:spTgt spid="110604">
                                            <p:txEl>
                                              <p:pRg st="3" end="3"/>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110604">
                                            <p:txEl>
                                              <p:pRg st="4" end="4"/>
                                            </p:txEl>
                                          </p:spTgt>
                                        </p:tgtEl>
                                        <p:attrNameLst>
                                          <p:attrName>style.visibility</p:attrName>
                                        </p:attrNameLst>
                                      </p:cBhvr>
                                      <p:to>
                                        <p:strVal val="visible"/>
                                      </p:to>
                                    </p:set>
                                    <p:animEffect transition="in" filter="wipe(up)">
                                      <p:cBhvr>
                                        <p:cTn id="48" dur="500"/>
                                        <p:tgtEl>
                                          <p:spTgt spid="11060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animBg="1" autoUpdateAnimBg="0"/>
      <p:bldP spid="110604" grpId="0" build="p" animBg="1" autoUpdateAnimBg="0"/>
      <p:bldP spid="110606" grpId="0" animBg="1" autoUpdateAnimBg="0"/>
      <p:bldP spid="110607"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BFS Tree = </a:t>
            </a:r>
            <a:r>
              <a:rPr lang="en-US" sz="2800" dirty="0" smtClean="0">
                <a:solidFill>
                  <a:srgbClr val="CC0000"/>
                </a:solidFill>
                <a:latin typeface="Arial Rounded MT Bold" pitchFamily="34" charset="0"/>
              </a:rPr>
              <a:t>Shortest Path Tree rooted at source</a:t>
            </a:r>
          </a:p>
        </p:txBody>
      </p:sp>
      <p:sp>
        <p:nvSpPr>
          <p:cNvPr id="111619" name="Text Box 3" descr="Recycled paper"/>
          <p:cNvSpPr txBox="1">
            <a:spLocks noChangeArrowheads="1"/>
          </p:cNvSpPr>
          <p:nvPr/>
        </p:nvSpPr>
        <p:spPr bwMode="auto">
          <a:xfrm>
            <a:off x="152400" y="762000"/>
            <a:ext cx="8839200" cy="3186113"/>
          </a:xfrm>
          <a:prstGeom prst="rect">
            <a:avLst/>
          </a:prstGeom>
          <a:blipFill dpi="0" rotWithShape="0">
            <a:blip r:embed="rId3"/>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lvl1pPr defTabSz="376238">
              <a:defRPr sz="1600">
                <a:solidFill>
                  <a:schemeClr val="tx1"/>
                </a:solidFill>
                <a:latin typeface="Times New Roman" pitchFamily="18" charset="0"/>
              </a:defRPr>
            </a:lvl1pPr>
            <a:lvl2pPr marL="742950" indent="-285750" defTabSz="376238">
              <a:defRPr sz="1600">
                <a:solidFill>
                  <a:schemeClr val="tx1"/>
                </a:solidFill>
                <a:latin typeface="Times New Roman" pitchFamily="18" charset="0"/>
              </a:defRPr>
            </a:lvl2pPr>
            <a:lvl3pPr marL="1143000" indent="-228600" defTabSz="376238">
              <a:defRPr sz="1600">
                <a:solidFill>
                  <a:schemeClr val="tx1"/>
                </a:solidFill>
                <a:latin typeface="Times New Roman" pitchFamily="18" charset="0"/>
              </a:defRPr>
            </a:lvl3pPr>
            <a:lvl4pPr marL="1600200" indent="-228600" defTabSz="376238">
              <a:defRPr sz="1600">
                <a:solidFill>
                  <a:schemeClr val="tx1"/>
                </a:solidFill>
                <a:latin typeface="Times New Roman" pitchFamily="18" charset="0"/>
              </a:defRPr>
            </a:lvl4pPr>
            <a:lvl5pPr marL="2057400" indent="-228600" defTabSz="376238">
              <a:defRPr sz="1600">
                <a:solidFill>
                  <a:schemeClr val="tx1"/>
                </a:solidFill>
                <a:latin typeface="Times New Roman" pitchFamily="18" charset="0"/>
              </a:defRPr>
            </a:lvl5pPr>
            <a:lvl6pPr marL="2514600" indent="-228600" defTabSz="376238" eaLnBrk="0" fontAlgn="base" hangingPunct="0">
              <a:spcBef>
                <a:spcPct val="0"/>
              </a:spcBef>
              <a:spcAft>
                <a:spcPct val="0"/>
              </a:spcAft>
              <a:buChar char="•"/>
              <a:defRPr sz="1600">
                <a:solidFill>
                  <a:schemeClr val="tx1"/>
                </a:solidFill>
                <a:latin typeface="Times New Roman" pitchFamily="18" charset="0"/>
              </a:defRPr>
            </a:lvl6pPr>
            <a:lvl7pPr marL="2971800" indent="-228600" defTabSz="376238" eaLnBrk="0" fontAlgn="base" hangingPunct="0">
              <a:spcBef>
                <a:spcPct val="0"/>
              </a:spcBef>
              <a:spcAft>
                <a:spcPct val="0"/>
              </a:spcAft>
              <a:buChar char="•"/>
              <a:defRPr sz="1600">
                <a:solidFill>
                  <a:schemeClr val="tx1"/>
                </a:solidFill>
                <a:latin typeface="Times New Roman" pitchFamily="18" charset="0"/>
              </a:defRPr>
            </a:lvl7pPr>
            <a:lvl8pPr marL="3429000" indent="-228600" defTabSz="376238" eaLnBrk="0" fontAlgn="base" hangingPunct="0">
              <a:spcBef>
                <a:spcPct val="0"/>
              </a:spcBef>
              <a:spcAft>
                <a:spcPct val="0"/>
              </a:spcAft>
              <a:buChar char="•"/>
              <a:defRPr sz="1600">
                <a:solidFill>
                  <a:schemeClr val="tx1"/>
                </a:solidFill>
                <a:latin typeface="Times New Roman" pitchFamily="18" charset="0"/>
              </a:defRPr>
            </a:lvl8pPr>
            <a:lvl9pPr marL="3886200" indent="-228600" defTabSz="376238"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90000"/>
              </a:lnSpc>
              <a:buFontTx/>
              <a:buNone/>
            </a:pPr>
            <a:r>
              <a:rPr lang="en-US" sz="2400" b="1" dirty="0">
                <a:solidFill>
                  <a:srgbClr val="CC0000"/>
                </a:solidFill>
              </a:rPr>
              <a:t>FACT 4:</a:t>
            </a:r>
            <a:r>
              <a:rPr lang="en-US" sz="2000" b="1" dirty="0">
                <a:solidFill>
                  <a:srgbClr val="CC0000"/>
                </a:solidFill>
              </a:rPr>
              <a:t> </a:t>
            </a:r>
            <a:r>
              <a:rPr lang="en-US" sz="2000" dirty="0">
                <a:solidFill>
                  <a:schemeClr val="hlink"/>
                </a:solidFill>
              </a:rPr>
              <a:t>  For each node v in the BFS tree, </a:t>
            </a:r>
            <a:br>
              <a:rPr lang="en-US" sz="2000" dirty="0">
                <a:solidFill>
                  <a:schemeClr val="hlink"/>
                </a:solidFill>
              </a:rPr>
            </a:br>
            <a:r>
              <a:rPr lang="en-US" sz="2000" dirty="0">
                <a:solidFill>
                  <a:schemeClr val="hlink"/>
                </a:solidFill>
              </a:rPr>
              <a:t>	the tree path from root s to v is the </a:t>
            </a:r>
            <a:r>
              <a:rPr lang="en-US" sz="2000" dirty="0">
                <a:solidFill>
                  <a:srgbClr val="CC0000"/>
                </a:solidFill>
              </a:rPr>
              <a:t>un-weighted</a:t>
            </a:r>
            <a:r>
              <a:rPr lang="en-US" sz="2000" dirty="0">
                <a:solidFill>
                  <a:schemeClr val="hlink"/>
                </a:solidFill>
              </a:rPr>
              <a:t> shortest path from s to v in G.  </a:t>
            </a:r>
            <a:br>
              <a:rPr lang="en-US" sz="2000" dirty="0">
                <a:solidFill>
                  <a:schemeClr val="hlink"/>
                </a:solidFill>
              </a:rPr>
            </a:br>
            <a:r>
              <a:rPr lang="en-US" sz="2000" dirty="0">
                <a:solidFill>
                  <a:schemeClr val="hlink"/>
                </a:solidFill>
              </a:rPr>
              <a:t>	(Nodes that are not in the BFS tree are not reachable from s.)  </a:t>
            </a:r>
            <a:br>
              <a:rPr lang="en-US" sz="2000" dirty="0">
                <a:solidFill>
                  <a:schemeClr val="hlink"/>
                </a:solidFill>
              </a:rPr>
            </a:br>
            <a:r>
              <a:rPr lang="en-US" sz="2000" dirty="0">
                <a:solidFill>
                  <a:schemeClr val="hlink"/>
                </a:solidFill>
              </a:rPr>
              <a:t>	More specifically, we have:</a:t>
            </a:r>
            <a:br>
              <a:rPr lang="en-US" sz="2000" dirty="0">
                <a:solidFill>
                  <a:schemeClr val="hlink"/>
                </a:solidFill>
              </a:rPr>
            </a:br>
            <a:r>
              <a:rPr lang="en-US" sz="2000" dirty="0">
                <a:solidFill>
                  <a:schemeClr val="hlink"/>
                </a:solidFill>
              </a:rPr>
              <a:t/>
            </a:r>
            <a:br>
              <a:rPr lang="en-US" sz="2000" dirty="0">
                <a:solidFill>
                  <a:schemeClr val="hlink"/>
                </a:solidFill>
              </a:rPr>
            </a:br>
            <a:r>
              <a:rPr lang="en-US" sz="2000" dirty="0">
                <a:solidFill>
                  <a:schemeClr val="hlink"/>
                </a:solidFill>
              </a:rPr>
              <a:t>	</a:t>
            </a:r>
            <a:r>
              <a:rPr lang="en-US" sz="2000" dirty="0">
                <a:solidFill>
                  <a:srgbClr val="CC0000"/>
                </a:solidFill>
                <a:latin typeface="Symbol" pitchFamily="18" charset="2"/>
              </a:rPr>
              <a:t>p</a:t>
            </a:r>
            <a:r>
              <a:rPr lang="en-US" sz="2000" dirty="0">
                <a:solidFill>
                  <a:srgbClr val="CC0000"/>
                </a:solidFill>
              </a:rPr>
              <a:t>[v] =</a:t>
            </a:r>
            <a:r>
              <a:rPr lang="en-US" sz="2000" dirty="0">
                <a:solidFill>
                  <a:schemeClr val="hlink"/>
                </a:solidFill>
              </a:rPr>
              <a:t>  parent of v in the BFS tree </a:t>
            </a:r>
            <a:br>
              <a:rPr lang="en-US" sz="2000" dirty="0">
                <a:solidFill>
                  <a:schemeClr val="hlink"/>
                </a:solidFill>
              </a:rPr>
            </a:br>
            <a:r>
              <a:rPr lang="en-US" sz="2000" dirty="0">
                <a:solidFill>
                  <a:schemeClr val="hlink"/>
                </a:solidFill>
              </a:rPr>
              <a:t>              =  predecessor of v on its shortest path from s</a:t>
            </a:r>
            <a:br>
              <a:rPr lang="en-US" sz="2000" dirty="0">
                <a:solidFill>
                  <a:schemeClr val="hlink"/>
                </a:solidFill>
              </a:rPr>
            </a:br>
            <a:r>
              <a:rPr lang="en-US" sz="2000" dirty="0">
                <a:solidFill>
                  <a:schemeClr val="hlink"/>
                </a:solidFill>
              </a:rPr>
              <a:t>	            (nil, if v is not reachable from s),   </a:t>
            </a:r>
            <a:br>
              <a:rPr lang="en-US" sz="2000" dirty="0">
                <a:solidFill>
                  <a:schemeClr val="hlink"/>
                </a:solidFill>
              </a:rPr>
            </a:br>
            <a:r>
              <a:rPr lang="en-US" sz="2000" dirty="0">
                <a:solidFill>
                  <a:schemeClr val="hlink"/>
                </a:solidFill>
              </a:rPr>
              <a:t/>
            </a:r>
            <a:br>
              <a:rPr lang="en-US" sz="2000" dirty="0">
                <a:solidFill>
                  <a:schemeClr val="hlink"/>
                </a:solidFill>
              </a:rPr>
            </a:br>
            <a:r>
              <a:rPr lang="en-US" sz="2000" dirty="0">
                <a:solidFill>
                  <a:schemeClr val="hlink"/>
                </a:solidFill>
              </a:rPr>
              <a:t>	</a:t>
            </a:r>
            <a:r>
              <a:rPr lang="en-US" sz="2000" dirty="0">
                <a:solidFill>
                  <a:srgbClr val="CC0000"/>
                </a:solidFill>
              </a:rPr>
              <a:t>d[v] =</a:t>
            </a:r>
            <a:r>
              <a:rPr lang="en-US" sz="2000" dirty="0">
                <a:solidFill>
                  <a:schemeClr val="hlink"/>
                </a:solidFill>
              </a:rPr>
              <a:t>  length of shortest path from s to v in G  </a:t>
            </a:r>
            <a:br>
              <a:rPr lang="en-US" sz="2000" dirty="0">
                <a:solidFill>
                  <a:schemeClr val="hlink"/>
                </a:solidFill>
              </a:rPr>
            </a:br>
            <a:r>
              <a:rPr lang="en-US" sz="2000" dirty="0">
                <a:solidFill>
                  <a:schemeClr val="hlink"/>
                </a:solidFill>
              </a:rPr>
              <a:t>	            (</a:t>
            </a:r>
            <a:r>
              <a:rPr lang="en-US" sz="2000" dirty="0">
                <a:solidFill>
                  <a:schemeClr val="hlink"/>
                </a:solidFill>
                <a:sym typeface="Symbol" pitchFamily="18" charset="2"/>
              </a:rPr>
              <a:t> </a:t>
            </a:r>
            <a:r>
              <a:rPr lang="en-US" sz="2000" dirty="0">
                <a:solidFill>
                  <a:schemeClr val="hlink"/>
                </a:solidFill>
              </a:rPr>
              <a:t>if v is not reachable from s).</a:t>
            </a:r>
          </a:p>
        </p:txBody>
      </p:sp>
      <p:grpSp>
        <p:nvGrpSpPr>
          <p:cNvPr id="111629" name="Group 13"/>
          <p:cNvGrpSpPr>
            <a:grpSpLocks/>
          </p:cNvGrpSpPr>
          <p:nvPr/>
        </p:nvGrpSpPr>
        <p:grpSpPr bwMode="auto">
          <a:xfrm>
            <a:off x="152400" y="3962400"/>
            <a:ext cx="8839200" cy="747713"/>
            <a:chOff x="96" y="2496"/>
            <a:chExt cx="5568" cy="471"/>
          </a:xfrm>
        </p:grpSpPr>
        <p:sp>
          <p:nvSpPr>
            <p:cNvPr id="22538" name="Text Box 4"/>
            <p:cNvSpPr txBox="1">
              <a:spLocks noChangeArrowheads="1"/>
            </p:cNvSpPr>
            <p:nvPr/>
          </p:nvSpPr>
          <p:spPr bwMode="auto">
            <a:xfrm>
              <a:off x="96" y="2592"/>
              <a:ext cx="3552"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3588">
                <a:defRPr sz="1600">
                  <a:solidFill>
                    <a:schemeClr val="tx1"/>
                  </a:solidFill>
                  <a:latin typeface="Times New Roman" pitchFamily="18" charset="0"/>
                </a:defRPr>
              </a:lvl1pPr>
              <a:lvl2pPr marL="742950" indent="-285750" defTabSz="763588">
                <a:defRPr sz="1600">
                  <a:solidFill>
                    <a:schemeClr val="tx1"/>
                  </a:solidFill>
                  <a:latin typeface="Times New Roman" pitchFamily="18" charset="0"/>
                </a:defRPr>
              </a:lvl2pPr>
              <a:lvl3pPr marL="1143000" indent="-228600" defTabSz="763588">
                <a:defRPr sz="1600">
                  <a:solidFill>
                    <a:schemeClr val="tx1"/>
                  </a:solidFill>
                  <a:latin typeface="Times New Roman" pitchFamily="18" charset="0"/>
                </a:defRPr>
              </a:lvl3pPr>
              <a:lvl4pPr marL="1600200" indent="-228600" defTabSz="763588">
                <a:defRPr sz="1600">
                  <a:solidFill>
                    <a:schemeClr val="tx1"/>
                  </a:solidFill>
                  <a:latin typeface="Times New Roman" pitchFamily="18" charset="0"/>
                </a:defRPr>
              </a:lvl4pPr>
              <a:lvl5pPr marL="2057400" indent="-228600" defTabSz="763588">
                <a:defRPr sz="1600">
                  <a:solidFill>
                    <a:schemeClr val="tx1"/>
                  </a:solidFill>
                  <a:latin typeface="Times New Roman" pitchFamily="18" charset="0"/>
                </a:defRPr>
              </a:lvl5pPr>
              <a:lvl6pPr marL="2514600" indent="-228600" defTabSz="763588" eaLnBrk="0" fontAlgn="base" hangingPunct="0">
                <a:spcBef>
                  <a:spcPct val="0"/>
                </a:spcBef>
                <a:spcAft>
                  <a:spcPct val="0"/>
                </a:spcAft>
                <a:buChar char="•"/>
                <a:defRPr sz="1600">
                  <a:solidFill>
                    <a:schemeClr val="tx1"/>
                  </a:solidFill>
                  <a:latin typeface="Times New Roman" pitchFamily="18" charset="0"/>
                </a:defRPr>
              </a:lvl6pPr>
              <a:lvl7pPr marL="2971800" indent="-228600" defTabSz="763588" eaLnBrk="0" fontAlgn="base" hangingPunct="0">
                <a:spcBef>
                  <a:spcPct val="0"/>
                </a:spcBef>
                <a:spcAft>
                  <a:spcPct val="0"/>
                </a:spcAft>
                <a:buChar char="•"/>
                <a:defRPr sz="1600">
                  <a:solidFill>
                    <a:schemeClr val="tx1"/>
                  </a:solidFill>
                  <a:latin typeface="Times New Roman" pitchFamily="18" charset="0"/>
                </a:defRPr>
              </a:lvl7pPr>
              <a:lvl8pPr marL="3429000" indent="-228600" defTabSz="763588" eaLnBrk="0" fontAlgn="base" hangingPunct="0">
                <a:spcBef>
                  <a:spcPct val="0"/>
                </a:spcBef>
                <a:spcAft>
                  <a:spcPct val="0"/>
                </a:spcAft>
                <a:buChar char="•"/>
                <a:defRPr sz="1600">
                  <a:solidFill>
                    <a:schemeClr val="tx1"/>
                  </a:solidFill>
                  <a:latin typeface="Times New Roman" pitchFamily="18" charset="0"/>
                </a:defRPr>
              </a:lvl8pPr>
              <a:lvl9pPr marL="3886200" indent="-228600" defTabSz="763588"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2000" b="1">
                  <a:solidFill>
                    <a:schemeClr val="tx2"/>
                  </a:solidFill>
                </a:rPr>
                <a:t>Proof:</a:t>
              </a:r>
              <a:r>
                <a:rPr lang="en-US" sz="2000">
                  <a:solidFill>
                    <a:schemeClr val="tx2"/>
                  </a:solidFill>
                </a:rPr>
                <a:t>  Let v be a node reachable from s in G. Then,</a:t>
              </a:r>
            </a:p>
          </p:txBody>
        </p:sp>
        <p:graphicFrame>
          <p:nvGraphicFramePr>
            <p:cNvPr id="22539" name="Object 5"/>
            <p:cNvGraphicFramePr>
              <a:graphicFrameLocks noChangeAspect="1"/>
            </p:cNvGraphicFramePr>
            <p:nvPr/>
          </p:nvGraphicFramePr>
          <p:xfrm>
            <a:off x="3552" y="2496"/>
            <a:ext cx="2112" cy="471"/>
          </p:xfrm>
          <a:graphic>
            <a:graphicData uri="http://schemas.openxmlformats.org/presentationml/2006/ole">
              <mc:AlternateContent xmlns:mc="http://schemas.openxmlformats.org/markup-compatibility/2006">
                <mc:Choice xmlns:v="urn:schemas-microsoft-com:vml" Requires="v">
                  <p:oleObj spid="_x0000_s22760" name="Equation" r:id="rId4" imgW="2044700" imgH="457200" progId="Equation.3">
                    <p:embed/>
                  </p:oleObj>
                </mc:Choice>
                <mc:Fallback>
                  <p:oleObj name="Equation" r:id="rId4" imgW="2044700" imgH="4572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2" y="2496"/>
                          <a:ext cx="2112" cy="4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1624" name="Text Box 8"/>
          <p:cNvSpPr txBox="1">
            <a:spLocks noChangeArrowheads="1"/>
          </p:cNvSpPr>
          <p:nvPr/>
        </p:nvSpPr>
        <p:spPr bwMode="auto">
          <a:xfrm>
            <a:off x="5943600" y="2133600"/>
            <a:ext cx="2971800" cy="1717675"/>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457200" indent="-457200" defTabSz="439738">
              <a:defRPr sz="1600">
                <a:solidFill>
                  <a:schemeClr val="tx1"/>
                </a:solidFill>
                <a:latin typeface="Times New Roman" pitchFamily="18" charset="0"/>
              </a:defRPr>
            </a:lvl1pPr>
            <a:lvl2pPr marL="742950" indent="-285750" defTabSz="439738">
              <a:defRPr sz="1600">
                <a:solidFill>
                  <a:schemeClr val="tx1"/>
                </a:solidFill>
                <a:latin typeface="Times New Roman" pitchFamily="18" charset="0"/>
              </a:defRPr>
            </a:lvl2pPr>
            <a:lvl3pPr marL="1143000" indent="-228600" defTabSz="439738">
              <a:defRPr sz="1600">
                <a:solidFill>
                  <a:schemeClr val="tx1"/>
                </a:solidFill>
                <a:latin typeface="Times New Roman" pitchFamily="18" charset="0"/>
              </a:defRPr>
            </a:lvl3pPr>
            <a:lvl4pPr marL="1600200" indent="-228600" defTabSz="439738">
              <a:defRPr sz="1600">
                <a:solidFill>
                  <a:schemeClr val="tx1"/>
                </a:solidFill>
                <a:latin typeface="Times New Roman" pitchFamily="18" charset="0"/>
              </a:defRPr>
            </a:lvl4pPr>
            <a:lvl5pPr marL="2057400" indent="-228600" defTabSz="439738">
              <a:defRPr sz="1600">
                <a:solidFill>
                  <a:schemeClr val="tx1"/>
                </a:solidFill>
                <a:latin typeface="Times New Roman" pitchFamily="18" charset="0"/>
              </a:defRPr>
            </a:lvl5pPr>
            <a:lvl6pPr marL="2514600" indent="-228600" defTabSz="439738" eaLnBrk="0" fontAlgn="base" hangingPunct="0">
              <a:spcBef>
                <a:spcPct val="0"/>
              </a:spcBef>
              <a:spcAft>
                <a:spcPct val="0"/>
              </a:spcAft>
              <a:buChar char="•"/>
              <a:defRPr sz="1600">
                <a:solidFill>
                  <a:schemeClr val="tx1"/>
                </a:solidFill>
                <a:latin typeface="Times New Roman" pitchFamily="18" charset="0"/>
              </a:defRPr>
            </a:lvl6pPr>
            <a:lvl7pPr marL="2971800" indent="-228600" defTabSz="439738" eaLnBrk="0" fontAlgn="base" hangingPunct="0">
              <a:spcBef>
                <a:spcPct val="0"/>
              </a:spcBef>
              <a:spcAft>
                <a:spcPct val="0"/>
              </a:spcAft>
              <a:buChar char="•"/>
              <a:defRPr sz="1600">
                <a:solidFill>
                  <a:schemeClr val="tx1"/>
                </a:solidFill>
                <a:latin typeface="Times New Roman" pitchFamily="18" charset="0"/>
              </a:defRPr>
            </a:lvl7pPr>
            <a:lvl8pPr marL="3429000" indent="-228600" defTabSz="439738" eaLnBrk="0" fontAlgn="base" hangingPunct="0">
              <a:spcBef>
                <a:spcPct val="0"/>
              </a:spcBef>
              <a:spcAft>
                <a:spcPct val="0"/>
              </a:spcAft>
              <a:buChar char="•"/>
              <a:defRPr sz="1600">
                <a:solidFill>
                  <a:schemeClr val="tx1"/>
                </a:solidFill>
                <a:latin typeface="Times New Roman" pitchFamily="18" charset="0"/>
              </a:defRPr>
            </a:lvl8pPr>
            <a:lvl9pPr marL="3886200" indent="-228600" defTabSz="439738"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2000" b="1" dirty="0"/>
              <a:t>Algorithm</a:t>
            </a:r>
            <a:r>
              <a:rPr lang="en-US" sz="2000" dirty="0">
                <a:solidFill>
                  <a:schemeClr val="hlink"/>
                </a:solidFill>
              </a:rPr>
              <a:t>  </a:t>
            </a:r>
            <a:r>
              <a:rPr lang="en-US" sz="2000" b="1" dirty="0" err="1">
                <a:solidFill>
                  <a:schemeClr val="hlink"/>
                </a:solidFill>
              </a:rPr>
              <a:t>PrintPath</a:t>
            </a:r>
            <a:r>
              <a:rPr lang="en-US" sz="2000" dirty="0">
                <a:solidFill>
                  <a:schemeClr val="hlink"/>
                </a:solidFill>
              </a:rPr>
              <a:t>(</a:t>
            </a:r>
            <a:r>
              <a:rPr lang="en-US" sz="2000" dirty="0">
                <a:solidFill>
                  <a:schemeClr val="hlink"/>
                </a:solidFill>
                <a:sym typeface="Symbol" pitchFamily="18" charset="2"/>
              </a:rPr>
              <a:t>v</a:t>
            </a:r>
            <a:r>
              <a:rPr lang="en-US" sz="2000" dirty="0">
                <a:solidFill>
                  <a:schemeClr val="hlink"/>
                </a:solidFill>
              </a:rPr>
              <a:t>)</a:t>
            </a:r>
            <a:r>
              <a:rPr lang="en-US" sz="2000" dirty="0">
                <a:solidFill>
                  <a:schemeClr val="tx2"/>
                </a:solidFill>
              </a:rPr>
              <a:t> </a:t>
            </a:r>
          </a:p>
          <a:p>
            <a:pPr eaLnBrk="1" hangingPunct="1">
              <a:buFontTx/>
              <a:buNone/>
            </a:pPr>
            <a:r>
              <a:rPr lang="en-US" sz="2000" dirty="0">
                <a:solidFill>
                  <a:srgbClr val="CC0000"/>
                </a:solidFill>
              </a:rPr>
              <a:t>	</a:t>
            </a:r>
            <a:r>
              <a:rPr lang="en-US" sz="2000" b="1" dirty="0">
                <a:solidFill>
                  <a:schemeClr val="tx2"/>
                </a:solidFill>
              </a:rPr>
              <a:t>if</a:t>
            </a:r>
            <a:r>
              <a:rPr lang="en-US" sz="2000" dirty="0">
                <a:solidFill>
                  <a:schemeClr val="tx2"/>
                </a:solidFill>
              </a:rPr>
              <a:t> </a:t>
            </a:r>
            <a:r>
              <a:rPr lang="en-US" sz="2000" dirty="0">
                <a:solidFill>
                  <a:schemeClr val="hlink"/>
                </a:solidFill>
              </a:rPr>
              <a:t>v = </a:t>
            </a:r>
            <a:r>
              <a:rPr lang="en-US" sz="1800" dirty="0">
                <a:solidFill>
                  <a:schemeClr val="hlink"/>
                </a:solidFill>
              </a:rPr>
              <a:t>nil</a:t>
            </a:r>
            <a:r>
              <a:rPr lang="en-US" sz="2000" dirty="0">
                <a:solidFill>
                  <a:schemeClr val="hlink"/>
                </a:solidFill>
              </a:rPr>
              <a:t>  </a:t>
            </a:r>
            <a:r>
              <a:rPr lang="en-US" sz="2000" b="1" dirty="0">
                <a:solidFill>
                  <a:schemeClr val="tx2"/>
                </a:solidFill>
              </a:rPr>
              <a:t>then return </a:t>
            </a:r>
            <a:endParaRPr lang="en-US" sz="2000" dirty="0">
              <a:solidFill>
                <a:schemeClr val="tx2"/>
              </a:solidFill>
            </a:endParaRPr>
          </a:p>
          <a:p>
            <a:pPr eaLnBrk="1" hangingPunct="1">
              <a:buFontTx/>
              <a:buNone/>
            </a:pPr>
            <a:r>
              <a:rPr lang="en-US" sz="2000" dirty="0">
                <a:solidFill>
                  <a:srgbClr val="CC0000"/>
                </a:solidFill>
              </a:rPr>
              <a:t> 	</a:t>
            </a:r>
            <a:r>
              <a:rPr lang="en-US" sz="2000" b="1" dirty="0" err="1">
                <a:solidFill>
                  <a:schemeClr val="hlink"/>
                </a:solidFill>
              </a:rPr>
              <a:t>PrintPath</a:t>
            </a:r>
            <a:r>
              <a:rPr lang="en-US" sz="2000" dirty="0">
                <a:solidFill>
                  <a:schemeClr val="hlink"/>
                </a:solidFill>
              </a:rPr>
              <a:t>(</a:t>
            </a:r>
            <a:r>
              <a:rPr lang="en-US" sz="2000" dirty="0">
                <a:solidFill>
                  <a:schemeClr val="hlink"/>
                </a:solidFill>
                <a:latin typeface="Symbol" pitchFamily="18" charset="2"/>
              </a:rPr>
              <a:t>p</a:t>
            </a:r>
            <a:r>
              <a:rPr lang="en-US" sz="2000" dirty="0">
                <a:solidFill>
                  <a:schemeClr val="hlink"/>
                </a:solidFill>
              </a:rPr>
              <a:t>[v]</a:t>
            </a:r>
            <a:r>
              <a:rPr lang="en-US" sz="2000" dirty="0">
                <a:solidFill>
                  <a:schemeClr val="hlink"/>
                </a:solidFill>
                <a:sym typeface="Symbol" pitchFamily="18" charset="2"/>
              </a:rPr>
              <a:t>)</a:t>
            </a:r>
            <a:r>
              <a:rPr lang="en-US" sz="2000" dirty="0">
                <a:solidFill>
                  <a:schemeClr val="hlink"/>
                </a:solidFill>
              </a:rPr>
              <a:t> </a:t>
            </a:r>
            <a:br>
              <a:rPr lang="en-US" sz="2000" dirty="0">
                <a:solidFill>
                  <a:schemeClr val="hlink"/>
                </a:solidFill>
              </a:rPr>
            </a:br>
            <a:r>
              <a:rPr lang="en-US" sz="2000" dirty="0">
                <a:solidFill>
                  <a:schemeClr val="hlink"/>
                </a:solidFill>
              </a:rPr>
              <a:t>print v</a:t>
            </a:r>
            <a:endParaRPr lang="en-US" sz="2000" b="1" dirty="0"/>
          </a:p>
          <a:p>
            <a:pPr eaLnBrk="1" hangingPunct="1">
              <a:buFontTx/>
              <a:buNone/>
            </a:pPr>
            <a:r>
              <a:rPr lang="en-US" sz="2000" b="1" dirty="0"/>
              <a:t>end</a:t>
            </a:r>
            <a:r>
              <a:rPr lang="en-US" sz="2000" dirty="0">
                <a:solidFill>
                  <a:schemeClr val="hlink"/>
                </a:solidFill>
              </a:rPr>
              <a:t> </a:t>
            </a:r>
          </a:p>
        </p:txBody>
      </p:sp>
      <p:sp>
        <p:nvSpPr>
          <p:cNvPr id="111625" name="Rectangle 9"/>
          <p:cNvSpPr>
            <a:spLocks noChangeArrowheads="1"/>
          </p:cNvSpPr>
          <p:nvPr/>
        </p:nvSpPr>
        <p:spPr bwMode="auto">
          <a:xfrm>
            <a:off x="914400" y="5943600"/>
            <a:ext cx="6176963"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000">
                <a:solidFill>
                  <a:schemeClr val="tx2"/>
                </a:solidFill>
              </a:rPr>
              <a:t>because, by Fact 2:  </a:t>
            </a:r>
            <a:r>
              <a:rPr lang="en-US" sz="2000">
                <a:solidFill>
                  <a:schemeClr val="tx2"/>
                </a:solidFill>
                <a:sym typeface="Symbol" pitchFamily="18" charset="2"/>
              </a:rPr>
              <a:t></a:t>
            </a:r>
            <a:r>
              <a:rPr lang="en-US" sz="2000">
                <a:solidFill>
                  <a:schemeClr val="tx2"/>
                </a:solidFill>
              </a:rPr>
              <a:t>(u,v)</a:t>
            </a:r>
            <a:r>
              <a:rPr lang="en-US" sz="2000">
                <a:solidFill>
                  <a:schemeClr val="tx2"/>
                </a:solidFill>
                <a:sym typeface="Symbol" pitchFamily="18" charset="2"/>
              </a:rPr>
              <a:t></a:t>
            </a:r>
            <a:r>
              <a:rPr lang="en-US" sz="2000">
                <a:solidFill>
                  <a:schemeClr val="tx2"/>
                </a:solidFill>
              </a:rPr>
              <a:t>E(G), we have  d</a:t>
            </a:r>
            <a:r>
              <a:rPr lang="en-US" sz="2000"/>
              <a:t>[v] </a:t>
            </a:r>
            <a:r>
              <a:rPr lang="en-US" sz="2400">
                <a:sym typeface="Symbol" pitchFamily="18" charset="2"/>
              </a:rPr>
              <a:t></a:t>
            </a:r>
            <a:r>
              <a:rPr lang="en-US" sz="2000"/>
              <a:t> 1</a:t>
            </a:r>
            <a:r>
              <a:rPr lang="en-US" sz="2000">
                <a:solidFill>
                  <a:schemeClr val="tx2"/>
                </a:solidFill>
              </a:rPr>
              <a:t>+d[u].</a:t>
            </a:r>
          </a:p>
          <a:p>
            <a:pPr eaLnBrk="1" hangingPunct="1">
              <a:buFontTx/>
              <a:buNone/>
            </a:pPr>
            <a:r>
              <a:rPr lang="en-US" sz="2000">
                <a:solidFill>
                  <a:srgbClr val="CC0000"/>
                </a:solidFill>
              </a:rPr>
              <a:t>(The state of nodes not reachable from s is obvious.)</a:t>
            </a:r>
          </a:p>
        </p:txBody>
      </p:sp>
      <p:grpSp>
        <p:nvGrpSpPr>
          <p:cNvPr id="111627" name="Group 11"/>
          <p:cNvGrpSpPr>
            <a:grpSpLocks/>
          </p:cNvGrpSpPr>
          <p:nvPr/>
        </p:nvGrpSpPr>
        <p:grpSpPr bwMode="auto">
          <a:xfrm>
            <a:off x="914400" y="4724400"/>
            <a:ext cx="5624513" cy="1223963"/>
            <a:chOff x="411" y="2961"/>
            <a:chExt cx="3543" cy="771"/>
          </a:xfrm>
        </p:grpSpPr>
        <p:graphicFrame>
          <p:nvGraphicFramePr>
            <p:cNvPr id="22536" name="Object 6"/>
            <p:cNvGraphicFramePr>
              <a:graphicFrameLocks noChangeAspect="1"/>
            </p:cNvGraphicFramePr>
            <p:nvPr/>
          </p:nvGraphicFramePr>
          <p:xfrm>
            <a:off x="624" y="3264"/>
            <a:ext cx="3330" cy="468"/>
          </p:xfrm>
          <a:graphic>
            <a:graphicData uri="http://schemas.openxmlformats.org/presentationml/2006/ole">
              <mc:AlternateContent xmlns:mc="http://schemas.openxmlformats.org/markup-compatibility/2006">
                <mc:Choice xmlns:v="urn:schemas-microsoft-com:vml" Requires="v">
                  <p:oleObj spid="_x0000_s22761" name="Equation" r:id="rId6" imgW="3251200" imgH="457200" progId="Equation.3">
                    <p:embed/>
                  </p:oleObj>
                </mc:Choice>
                <mc:Fallback>
                  <p:oleObj name="Equation" r:id="rId6" imgW="3251200" imgH="4572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 y="3264"/>
                          <a:ext cx="3330"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37" name="Rectangle 10"/>
            <p:cNvSpPr>
              <a:spLocks noChangeArrowheads="1"/>
            </p:cNvSpPr>
            <p:nvPr/>
          </p:nvSpPr>
          <p:spPr bwMode="auto">
            <a:xfrm>
              <a:off x="411" y="2961"/>
              <a:ext cx="350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2000">
                  <a:solidFill>
                    <a:schemeClr val="tx2"/>
                  </a:solidFill>
                </a:rPr>
                <a:t>But that is the solution to the shortest path equations:</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11618"/>
                                        </p:tgtEl>
                                        <p:attrNameLst>
                                          <p:attrName>style.visibility</p:attrName>
                                        </p:attrNameLst>
                                      </p:cBhvr>
                                      <p:to>
                                        <p:strVal val="visible"/>
                                      </p:to>
                                    </p:set>
                                    <p:anim calcmode="lin" valueType="num">
                                      <p:cBhvr>
                                        <p:cTn id="7" dur="500" fill="hold"/>
                                        <p:tgtEl>
                                          <p:spTgt spid="111618"/>
                                        </p:tgtEl>
                                        <p:attrNameLst>
                                          <p:attrName>ppt_w</p:attrName>
                                        </p:attrNameLst>
                                      </p:cBhvr>
                                      <p:tavLst>
                                        <p:tav tm="0">
                                          <p:val>
                                            <p:fltVal val="0"/>
                                          </p:val>
                                        </p:tav>
                                        <p:tav tm="100000">
                                          <p:val>
                                            <p:strVal val="#ppt_w"/>
                                          </p:val>
                                        </p:tav>
                                      </p:tavLst>
                                    </p:anim>
                                    <p:anim calcmode="lin" valueType="num">
                                      <p:cBhvr>
                                        <p:cTn id="8" dur="500" fill="hold"/>
                                        <p:tgtEl>
                                          <p:spTgt spid="11161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11619"/>
                                        </p:tgtEl>
                                        <p:attrNameLst>
                                          <p:attrName>style.visibility</p:attrName>
                                        </p:attrNameLst>
                                      </p:cBhvr>
                                      <p:to>
                                        <p:strVal val="visible"/>
                                      </p:to>
                                    </p:set>
                                    <p:animEffect transition="in" filter="wipe(up)">
                                      <p:cBhvr>
                                        <p:cTn id="13" dur="500"/>
                                        <p:tgtEl>
                                          <p:spTgt spid="11161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111629"/>
                                        </p:tgtEl>
                                        <p:attrNameLst>
                                          <p:attrName>style.visibility</p:attrName>
                                        </p:attrNameLst>
                                      </p:cBhvr>
                                      <p:to>
                                        <p:strVal val="visible"/>
                                      </p:to>
                                    </p:set>
                                    <p:animEffect transition="in" filter="wipe(left)">
                                      <p:cBhvr>
                                        <p:cTn id="18" dur="500"/>
                                        <p:tgtEl>
                                          <p:spTgt spid="11162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111627"/>
                                        </p:tgtEl>
                                        <p:attrNameLst>
                                          <p:attrName>style.visibility</p:attrName>
                                        </p:attrNameLst>
                                      </p:cBhvr>
                                      <p:to>
                                        <p:strVal val="visible"/>
                                      </p:to>
                                    </p:set>
                                    <p:animEffect transition="in" filter="wipe(up)">
                                      <p:cBhvr>
                                        <p:cTn id="23" dur="500"/>
                                        <p:tgtEl>
                                          <p:spTgt spid="11162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11625">
                                            <p:txEl>
                                              <p:pRg st="0" end="0"/>
                                            </p:txEl>
                                          </p:spTgt>
                                        </p:tgtEl>
                                        <p:attrNameLst>
                                          <p:attrName>style.visibility</p:attrName>
                                        </p:attrNameLst>
                                      </p:cBhvr>
                                      <p:to>
                                        <p:strVal val="visible"/>
                                      </p:to>
                                    </p:set>
                                    <p:animEffect transition="in" filter="wipe(left)">
                                      <p:cBhvr>
                                        <p:cTn id="28" dur="500"/>
                                        <p:tgtEl>
                                          <p:spTgt spid="111625">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11625">
                                            <p:txEl>
                                              <p:pRg st="1" end="1"/>
                                            </p:txEl>
                                          </p:spTgt>
                                        </p:tgtEl>
                                        <p:attrNameLst>
                                          <p:attrName>style.visibility</p:attrName>
                                        </p:attrNameLst>
                                      </p:cBhvr>
                                      <p:to>
                                        <p:strVal val="visible"/>
                                      </p:to>
                                    </p:set>
                                    <p:animEffect transition="in" filter="wipe(left)">
                                      <p:cBhvr>
                                        <p:cTn id="33" dur="500"/>
                                        <p:tgtEl>
                                          <p:spTgt spid="111625">
                                            <p:txEl>
                                              <p:pRg st="1" end="1"/>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11624"/>
                                        </p:tgtEl>
                                        <p:attrNameLst>
                                          <p:attrName>style.visibility</p:attrName>
                                        </p:attrNameLst>
                                      </p:cBhvr>
                                      <p:to>
                                        <p:strVal val="visible"/>
                                      </p:to>
                                    </p:set>
                                    <p:animEffect transition="in" filter="wipe(up)">
                                      <p:cBhvr>
                                        <p:cTn id="38" dur="500"/>
                                        <p:tgtEl>
                                          <p:spTgt spid="111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animBg="1" autoUpdateAnimBg="0"/>
      <p:bldP spid="111619" grpId="0" animBg="1" autoUpdateAnimBg="0"/>
      <p:bldP spid="111624" grpId="0" animBg="1" autoUpdateAnimBg="0"/>
      <p:bldP spid="111625"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Graph Coloring</a:t>
            </a:r>
            <a:endParaRPr lang="en-US" sz="2800" smtClean="0">
              <a:solidFill>
                <a:srgbClr val="CC0000"/>
              </a:solidFill>
              <a:latin typeface="Arial Rounded MT Bold" pitchFamily="34" charset="0"/>
            </a:endParaRPr>
          </a:p>
        </p:txBody>
      </p:sp>
      <p:sp>
        <p:nvSpPr>
          <p:cNvPr id="113667" name="Text Box 3"/>
          <p:cNvSpPr txBox="1">
            <a:spLocks noChangeArrowheads="1"/>
          </p:cNvSpPr>
          <p:nvPr/>
        </p:nvSpPr>
        <p:spPr bwMode="auto">
          <a:xfrm>
            <a:off x="228600" y="838200"/>
            <a:ext cx="8397875" cy="2014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376238">
              <a:defRPr sz="1600">
                <a:solidFill>
                  <a:schemeClr val="tx1"/>
                </a:solidFill>
                <a:latin typeface="Times New Roman" pitchFamily="18" charset="0"/>
              </a:defRPr>
            </a:lvl1pPr>
            <a:lvl2pPr marL="742950" indent="-285750" defTabSz="376238">
              <a:defRPr sz="1600">
                <a:solidFill>
                  <a:schemeClr val="tx1"/>
                </a:solidFill>
                <a:latin typeface="Times New Roman" pitchFamily="18" charset="0"/>
              </a:defRPr>
            </a:lvl2pPr>
            <a:lvl3pPr marL="1143000" indent="-228600" defTabSz="376238">
              <a:defRPr sz="1600">
                <a:solidFill>
                  <a:schemeClr val="tx1"/>
                </a:solidFill>
                <a:latin typeface="Times New Roman" pitchFamily="18" charset="0"/>
              </a:defRPr>
            </a:lvl3pPr>
            <a:lvl4pPr marL="1600200" indent="-228600" defTabSz="376238">
              <a:defRPr sz="1600">
                <a:solidFill>
                  <a:schemeClr val="tx1"/>
                </a:solidFill>
                <a:latin typeface="Times New Roman" pitchFamily="18" charset="0"/>
              </a:defRPr>
            </a:lvl4pPr>
            <a:lvl5pPr marL="2057400" indent="-228600" defTabSz="376238">
              <a:defRPr sz="1600">
                <a:solidFill>
                  <a:schemeClr val="tx1"/>
                </a:solidFill>
                <a:latin typeface="Times New Roman" pitchFamily="18" charset="0"/>
              </a:defRPr>
            </a:lvl5pPr>
            <a:lvl6pPr marL="2514600" indent="-228600" defTabSz="376238" eaLnBrk="0" fontAlgn="base" hangingPunct="0">
              <a:spcBef>
                <a:spcPct val="0"/>
              </a:spcBef>
              <a:spcAft>
                <a:spcPct val="0"/>
              </a:spcAft>
              <a:buChar char="•"/>
              <a:defRPr sz="1600">
                <a:solidFill>
                  <a:schemeClr val="tx1"/>
                </a:solidFill>
                <a:latin typeface="Times New Roman" pitchFamily="18" charset="0"/>
              </a:defRPr>
            </a:lvl6pPr>
            <a:lvl7pPr marL="2971800" indent="-228600" defTabSz="376238" eaLnBrk="0" fontAlgn="base" hangingPunct="0">
              <a:spcBef>
                <a:spcPct val="0"/>
              </a:spcBef>
              <a:spcAft>
                <a:spcPct val="0"/>
              </a:spcAft>
              <a:buChar char="•"/>
              <a:defRPr sz="1600">
                <a:solidFill>
                  <a:schemeClr val="tx1"/>
                </a:solidFill>
                <a:latin typeface="Times New Roman" pitchFamily="18" charset="0"/>
              </a:defRPr>
            </a:lvl7pPr>
            <a:lvl8pPr marL="3429000" indent="-228600" defTabSz="376238" eaLnBrk="0" fontAlgn="base" hangingPunct="0">
              <a:spcBef>
                <a:spcPct val="0"/>
              </a:spcBef>
              <a:spcAft>
                <a:spcPct val="0"/>
              </a:spcAft>
              <a:buChar char="•"/>
              <a:defRPr sz="1600">
                <a:solidFill>
                  <a:schemeClr val="tx1"/>
                </a:solidFill>
                <a:latin typeface="Times New Roman" pitchFamily="18" charset="0"/>
              </a:defRPr>
            </a:lvl8pPr>
            <a:lvl9pPr marL="3886200" indent="-228600" defTabSz="376238"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dirty="0">
                <a:solidFill>
                  <a:schemeClr val="hlink"/>
                </a:solidFill>
                <a:latin typeface="Arial" pitchFamily="34" charset="0"/>
              </a:rPr>
              <a:t>G = an undirected graph.</a:t>
            </a:r>
          </a:p>
          <a:p>
            <a:pPr eaLnBrk="1" hangingPunct="1">
              <a:buFontTx/>
              <a:buNone/>
            </a:pPr>
            <a:endParaRPr lang="en-US" sz="1800" dirty="0">
              <a:solidFill>
                <a:schemeClr val="hlink"/>
              </a:solidFill>
              <a:latin typeface="Arial" pitchFamily="34" charset="0"/>
            </a:endParaRPr>
          </a:p>
          <a:p>
            <a:pPr eaLnBrk="1" hangingPunct="1">
              <a:buFontTx/>
              <a:buNone/>
            </a:pPr>
            <a:r>
              <a:rPr lang="en-US" sz="1800" b="1" dirty="0">
                <a:solidFill>
                  <a:srgbClr val="CC0000"/>
                </a:solidFill>
                <a:latin typeface="Arial" pitchFamily="34" charset="0"/>
              </a:rPr>
              <a:t>Graph Coloring:</a:t>
            </a:r>
            <a:br>
              <a:rPr lang="en-US" sz="1800" b="1" dirty="0">
                <a:solidFill>
                  <a:srgbClr val="CC0000"/>
                </a:solidFill>
                <a:latin typeface="Arial" pitchFamily="34" charset="0"/>
              </a:rPr>
            </a:br>
            <a:r>
              <a:rPr lang="en-US" sz="1800" dirty="0">
                <a:solidFill>
                  <a:schemeClr val="hlink"/>
                </a:solidFill>
                <a:latin typeface="Arial" pitchFamily="34" charset="0"/>
              </a:rPr>
              <a:t>Let k be a positive integer.</a:t>
            </a:r>
            <a:br>
              <a:rPr lang="en-US" sz="1800" dirty="0">
                <a:solidFill>
                  <a:schemeClr val="hlink"/>
                </a:solidFill>
                <a:latin typeface="Arial" pitchFamily="34" charset="0"/>
              </a:rPr>
            </a:br>
            <a:r>
              <a:rPr lang="en-US" sz="1800" dirty="0">
                <a:solidFill>
                  <a:schemeClr val="hlink"/>
                </a:solidFill>
                <a:latin typeface="Arial" pitchFamily="34" charset="0"/>
              </a:rPr>
              <a:t>G is k-colorable if each node of G can be colored by one of at most k colors such that for each edge (</a:t>
            </a:r>
            <a:r>
              <a:rPr lang="en-US" sz="1800" dirty="0" err="1">
                <a:solidFill>
                  <a:schemeClr val="hlink"/>
                </a:solidFill>
                <a:latin typeface="Arial" pitchFamily="34" charset="0"/>
              </a:rPr>
              <a:t>u,v</a:t>
            </a:r>
            <a:r>
              <a:rPr lang="en-US" sz="1800" dirty="0">
                <a:solidFill>
                  <a:schemeClr val="hlink"/>
                </a:solidFill>
                <a:latin typeface="Arial" pitchFamily="34" charset="0"/>
              </a:rPr>
              <a:t>) </a:t>
            </a:r>
            <a:r>
              <a:rPr lang="en-US" sz="1800" dirty="0">
                <a:solidFill>
                  <a:schemeClr val="hlink"/>
                </a:solidFill>
                <a:latin typeface="Arial" pitchFamily="34" charset="0"/>
                <a:sym typeface="Symbol" pitchFamily="18" charset="2"/>
              </a:rPr>
              <a:t></a:t>
            </a:r>
            <a:r>
              <a:rPr lang="en-US" sz="1800" dirty="0">
                <a:solidFill>
                  <a:schemeClr val="hlink"/>
                </a:solidFill>
                <a:latin typeface="Arial" pitchFamily="34" charset="0"/>
              </a:rPr>
              <a:t>E(G), color(u) </a:t>
            </a:r>
            <a:r>
              <a:rPr lang="en-US" sz="1800" dirty="0">
                <a:solidFill>
                  <a:schemeClr val="hlink"/>
                </a:solidFill>
                <a:latin typeface="Arial" pitchFamily="34" charset="0"/>
                <a:sym typeface="Symbol" pitchFamily="18" charset="2"/>
              </a:rPr>
              <a:t> </a:t>
            </a:r>
            <a:r>
              <a:rPr lang="en-US" sz="1800" dirty="0">
                <a:solidFill>
                  <a:schemeClr val="hlink"/>
                </a:solidFill>
                <a:latin typeface="Arial" pitchFamily="34" charset="0"/>
              </a:rPr>
              <a:t>color(v).</a:t>
            </a:r>
            <a:br>
              <a:rPr lang="en-US" sz="1800" dirty="0">
                <a:solidFill>
                  <a:schemeClr val="hlink"/>
                </a:solidFill>
                <a:latin typeface="Arial" pitchFamily="34" charset="0"/>
              </a:rPr>
            </a:br>
            <a:r>
              <a:rPr lang="en-US" sz="1800" dirty="0">
                <a:solidFill>
                  <a:schemeClr val="hlink"/>
                </a:solidFill>
                <a:latin typeface="Arial" pitchFamily="34" charset="0"/>
              </a:rPr>
              <a:t>(This problem has long history and many applications.)</a:t>
            </a:r>
          </a:p>
        </p:txBody>
      </p:sp>
      <p:grpSp>
        <p:nvGrpSpPr>
          <p:cNvPr id="2" name="Group 1"/>
          <p:cNvGrpSpPr/>
          <p:nvPr/>
        </p:nvGrpSpPr>
        <p:grpSpPr>
          <a:xfrm>
            <a:off x="1295400" y="2514600"/>
            <a:ext cx="7086600" cy="2514600"/>
            <a:chOff x="1295400" y="2514600"/>
            <a:chExt cx="7086600" cy="2514600"/>
          </a:xfrm>
        </p:grpSpPr>
        <p:sp>
          <p:nvSpPr>
            <p:cNvPr id="23558" name="Freeform 6"/>
            <p:cNvSpPr>
              <a:spLocks/>
            </p:cNvSpPr>
            <p:nvPr/>
          </p:nvSpPr>
          <p:spPr bwMode="auto">
            <a:xfrm>
              <a:off x="5535613" y="2640013"/>
              <a:ext cx="2757488" cy="2297113"/>
            </a:xfrm>
            <a:custGeom>
              <a:avLst/>
              <a:gdLst>
                <a:gd name="T0" fmla="*/ 847 w 1737"/>
                <a:gd name="T1" fmla="*/ 0 h 1485"/>
                <a:gd name="T2" fmla="*/ 1737 w 1737"/>
                <a:gd name="T3" fmla="*/ 518 h 1485"/>
                <a:gd name="T4" fmla="*/ 1412 w 1737"/>
                <a:gd name="T5" fmla="*/ 1484 h 1485"/>
                <a:gd name="T6" fmla="*/ 305 w 1737"/>
                <a:gd name="T7" fmla="*/ 1485 h 1485"/>
                <a:gd name="T8" fmla="*/ 0 w 1737"/>
                <a:gd name="T9" fmla="*/ 576 h 1485"/>
                <a:gd name="T10" fmla="*/ 847 w 1737"/>
                <a:gd name="T11" fmla="*/ 0 h 1485"/>
                <a:gd name="T12" fmla="*/ 0 60000 65536"/>
                <a:gd name="T13" fmla="*/ 0 60000 65536"/>
                <a:gd name="T14" fmla="*/ 0 60000 65536"/>
                <a:gd name="T15" fmla="*/ 0 60000 65536"/>
                <a:gd name="T16" fmla="*/ 0 60000 65536"/>
                <a:gd name="T17" fmla="*/ 0 60000 65536"/>
                <a:gd name="connsiteX0" fmla="*/ 4698 w 9822"/>
                <a:gd name="connsiteY0" fmla="*/ 0 h 10000"/>
                <a:gd name="connsiteX1" fmla="*/ 9822 w 9822"/>
                <a:gd name="connsiteY1" fmla="*/ 3488 h 10000"/>
                <a:gd name="connsiteX2" fmla="*/ 7951 w 9822"/>
                <a:gd name="connsiteY2" fmla="*/ 9993 h 10000"/>
                <a:gd name="connsiteX3" fmla="*/ 1578 w 9822"/>
                <a:gd name="connsiteY3" fmla="*/ 10000 h 10000"/>
                <a:gd name="connsiteX4" fmla="*/ 0 w 9822"/>
                <a:gd name="connsiteY4" fmla="*/ 4046 h 10000"/>
                <a:gd name="connsiteX5" fmla="*/ 4698 w 9822"/>
                <a:gd name="connsiteY5" fmla="*/ 0 h 10000"/>
                <a:gd name="connsiteX0" fmla="*/ 4783 w 10000"/>
                <a:gd name="connsiteY0" fmla="*/ 0 h 9791"/>
                <a:gd name="connsiteX1" fmla="*/ 10000 w 10000"/>
                <a:gd name="connsiteY1" fmla="*/ 3279 h 9791"/>
                <a:gd name="connsiteX2" fmla="*/ 8095 w 10000"/>
                <a:gd name="connsiteY2" fmla="*/ 9784 h 9791"/>
                <a:gd name="connsiteX3" fmla="*/ 1607 w 10000"/>
                <a:gd name="connsiteY3" fmla="*/ 9791 h 9791"/>
                <a:gd name="connsiteX4" fmla="*/ 0 w 10000"/>
                <a:gd name="connsiteY4" fmla="*/ 3837 h 9791"/>
                <a:gd name="connsiteX5" fmla="*/ 4783 w 10000"/>
                <a:gd name="connsiteY5" fmla="*/ 0 h 9791"/>
                <a:gd name="connsiteX0" fmla="*/ 4783 w 10182"/>
                <a:gd name="connsiteY0" fmla="*/ 0 h 10000"/>
                <a:gd name="connsiteX1" fmla="*/ 10182 w 10182"/>
                <a:gd name="connsiteY1" fmla="*/ 3349 h 10000"/>
                <a:gd name="connsiteX2" fmla="*/ 8095 w 10182"/>
                <a:gd name="connsiteY2" fmla="*/ 9993 h 10000"/>
                <a:gd name="connsiteX3" fmla="*/ 1607 w 10182"/>
                <a:gd name="connsiteY3" fmla="*/ 10000 h 10000"/>
                <a:gd name="connsiteX4" fmla="*/ 0 w 10182"/>
                <a:gd name="connsiteY4" fmla="*/ 3919 h 10000"/>
                <a:gd name="connsiteX5" fmla="*/ 4783 w 10182"/>
                <a:gd name="connsiteY5" fmla="*/ 0 h 10000"/>
                <a:gd name="connsiteX0" fmla="*/ 4783 w 10182"/>
                <a:gd name="connsiteY0" fmla="*/ 0 h 10000"/>
                <a:gd name="connsiteX1" fmla="*/ 10182 w 10182"/>
                <a:gd name="connsiteY1" fmla="*/ 3349 h 10000"/>
                <a:gd name="connsiteX2" fmla="*/ 8204 w 10182"/>
                <a:gd name="connsiteY2" fmla="*/ 9950 h 10000"/>
                <a:gd name="connsiteX3" fmla="*/ 1607 w 10182"/>
                <a:gd name="connsiteY3" fmla="*/ 10000 h 10000"/>
                <a:gd name="connsiteX4" fmla="*/ 0 w 10182"/>
                <a:gd name="connsiteY4" fmla="*/ 3919 h 10000"/>
                <a:gd name="connsiteX5" fmla="*/ 4783 w 10182"/>
                <a:gd name="connsiteY5" fmla="*/ 0 h 10000"/>
                <a:gd name="connsiteX0" fmla="*/ 4783 w 10182"/>
                <a:gd name="connsiteY0" fmla="*/ 0 h 9950"/>
                <a:gd name="connsiteX1" fmla="*/ 10182 w 10182"/>
                <a:gd name="connsiteY1" fmla="*/ 3349 h 9950"/>
                <a:gd name="connsiteX2" fmla="*/ 8204 w 10182"/>
                <a:gd name="connsiteY2" fmla="*/ 9950 h 9950"/>
                <a:gd name="connsiteX3" fmla="*/ 1607 w 10182"/>
                <a:gd name="connsiteY3" fmla="*/ 9830 h 9950"/>
                <a:gd name="connsiteX4" fmla="*/ 0 w 10182"/>
                <a:gd name="connsiteY4" fmla="*/ 3919 h 9950"/>
                <a:gd name="connsiteX5" fmla="*/ 4783 w 10182"/>
                <a:gd name="connsiteY5" fmla="*/ 0 h 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2" h="9950">
                  <a:moveTo>
                    <a:pt x="4783" y="0"/>
                  </a:moveTo>
                  <a:lnTo>
                    <a:pt x="10182" y="3349"/>
                  </a:lnTo>
                  <a:lnTo>
                    <a:pt x="8204" y="9950"/>
                  </a:lnTo>
                  <a:lnTo>
                    <a:pt x="1607" y="9830"/>
                  </a:lnTo>
                  <a:lnTo>
                    <a:pt x="0" y="3919"/>
                  </a:lnTo>
                  <a:lnTo>
                    <a:pt x="4783" y="0"/>
                  </a:lnTo>
                  <a:close/>
                </a:path>
              </a:pathLst>
            </a:custGeom>
            <a:noFill/>
            <a:ln w="28575" cap="flat" cmpd="sng">
              <a:solidFill>
                <a:schemeClr val="tx1"/>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chemeClr val="accent1"/>
                  </a:solidFill>
                </a14:hiddenFill>
              </a:ext>
            </a:extLst>
          </p:spPr>
          <p:txBody>
            <a:bodyPr wrap="none">
              <a:spAutoFit/>
            </a:bodyPr>
            <a:lstStyle/>
            <a:p>
              <a:endParaRPr lang="en-CA"/>
            </a:p>
          </p:txBody>
        </p:sp>
        <p:sp>
          <p:nvSpPr>
            <p:cNvPr id="23559" name="Freeform 7"/>
            <p:cNvSpPr>
              <a:spLocks/>
            </p:cNvSpPr>
            <p:nvPr/>
          </p:nvSpPr>
          <p:spPr bwMode="auto">
            <a:xfrm>
              <a:off x="5554663" y="3548063"/>
              <a:ext cx="425450" cy="88900"/>
            </a:xfrm>
            <a:custGeom>
              <a:avLst/>
              <a:gdLst>
                <a:gd name="T0" fmla="*/ 0 w 318"/>
                <a:gd name="T1" fmla="*/ 0 h 50"/>
                <a:gd name="T2" fmla="*/ 318 w 318"/>
                <a:gd name="T3" fmla="*/ 50 h 50"/>
                <a:gd name="T4" fmla="*/ 0 60000 65536"/>
                <a:gd name="T5" fmla="*/ 0 60000 65536"/>
                <a:gd name="connsiteX0" fmla="*/ 0 w 8442"/>
                <a:gd name="connsiteY0" fmla="*/ 0 h 3806"/>
                <a:gd name="connsiteX1" fmla="*/ 8442 w 8442"/>
                <a:gd name="connsiteY1" fmla="*/ 3806 h 3806"/>
                <a:gd name="connsiteX0" fmla="*/ 0 w 10000"/>
                <a:gd name="connsiteY0" fmla="*/ 0 h 29558"/>
                <a:gd name="connsiteX1" fmla="*/ 10000 w 10000"/>
                <a:gd name="connsiteY1" fmla="*/ 29558 h 29558"/>
              </a:gdLst>
              <a:ahLst/>
              <a:cxnLst>
                <a:cxn ang="0">
                  <a:pos x="connsiteX0" y="connsiteY0"/>
                </a:cxn>
                <a:cxn ang="0">
                  <a:pos x="connsiteX1" y="connsiteY1"/>
                </a:cxn>
              </a:cxnLst>
              <a:rect l="l" t="t" r="r" b="b"/>
              <a:pathLst>
                <a:path w="10000" h="29558">
                  <a:moveTo>
                    <a:pt x="0" y="0"/>
                  </a:moveTo>
                  <a:cubicBezTo>
                    <a:pt x="3948" y="8757"/>
                    <a:pt x="6052" y="20801"/>
                    <a:pt x="10000" y="29558"/>
                  </a:cubicBezTo>
                </a:path>
              </a:pathLst>
            </a:custGeom>
            <a:noFill/>
            <a:ln w="28575" cap="flat" cmpd="sng">
              <a:solidFill>
                <a:schemeClr val="tx1"/>
              </a:solidFill>
              <a:prstDash val="solid"/>
              <a:round/>
              <a:headEnd type="oval" w="med" len="med"/>
              <a:tailEnd type="oval"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spAutoFit/>
            </a:bodyPr>
            <a:lstStyle/>
            <a:p>
              <a:endParaRPr lang="en-CA"/>
            </a:p>
          </p:txBody>
        </p:sp>
        <p:sp>
          <p:nvSpPr>
            <p:cNvPr id="23560" name="Freeform 8"/>
            <p:cNvSpPr>
              <a:spLocks/>
            </p:cNvSpPr>
            <p:nvPr/>
          </p:nvSpPr>
          <p:spPr bwMode="auto">
            <a:xfrm>
              <a:off x="6821488" y="2574925"/>
              <a:ext cx="1588" cy="500063"/>
            </a:xfrm>
            <a:custGeom>
              <a:avLst/>
              <a:gdLst>
                <a:gd name="T0" fmla="*/ 1 w 1"/>
                <a:gd name="T1" fmla="*/ 315 h 315"/>
                <a:gd name="T2" fmla="*/ 0 w 1"/>
                <a:gd name="T3" fmla="*/ 0 h 315"/>
                <a:gd name="T4" fmla="*/ 0 60000 65536"/>
                <a:gd name="T5" fmla="*/ 0 60000 65536"/>
              </a:gdLst>
              <a:ahLst/>
              <a:cxnLst>
                <a:cxn ang="T4">
                  <a:pos x="T0" y="T1"/>
                </a:cxn>
                <a:cxn ang="T5">
                  <a:pos x="T2" y="T3"/>
                </a:cxn>
              </a:cxnLst>
              <a:rect l="0" t="0" r="r" b="b"/>
              <a:pathLst>
                <a:path w="1" h="315">
                  <a:moveTo>
                    <a:pt x="1" y="315"/>
                  </a:moveTo>
                  <a:lnTo>
                    <a:pt x="0" y="0"/>
                  </a:lnTo>
                </a:path>
              </a:pathLst>
            </a:custGeom>
            <a:noFill/>
            <a:ln w="28575" cap="flat" cmpd="sng">
              <a:solidFill>
                <a:schemeClr val="tx1"/>
              </a:solidFill>
              <a:prstDash val="solid"/>
              <a:round/>
              <a:headEnd type="oval" w="med" len="med"/>
              <a:tailEnd type="oval"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spAutoFit/>
            </a:bodyPr>
            <a:lstStyle/>
            <a:p>
              <a:endParaRPr lang="en-CA"/>
            </a:p>
          </p:txBody>
        </p:sp>
        <p:sp>
          <p:nvSpPr>
            <p:cNvPr id="23561" name="Freeform 9"/>
            <p:cNvSpPr>
              <a:spLocks/>
            </p:cNvSpPr>
            <p:nvPr/>
          </p:nvSpPr>
          <p:spPr bwMode="auto">
            <a:xfrm>
              <a:off x="7745413" y="3394075"/>
              <a:ext cx="484188" cy="188913"/>
            </a:xfrm>
            <a:custGeom>
              <a:avLst/>
              <a:gdLst>
                <a:gd name="T0" fmla="*/ 0 w 305"/>
                <a:gd name="T1" fmla="*/ 119 h 119"/>
                <a:gd name="T2" fmla="*/ 305 w 305"/>
                <a:gd name="T3" fmla="*/ 0 h 119"/>
                <a:gd name="T4" fmla="*/ 0 60000 65536"/>
                <a:gd name="T5" fmla="*/ 0 60000 65536"/>
              </a:gdLst>
              <a:ahLst/>
              <a:cxnLst>
                <a:cxn ang="T4">
                  <a:pos x="T0" y="T1"/>
                </a:cxn>
                <a:cxn ang="T5">
                  <a:pos x="T2" y="T3"/>
                </a:cxn>
              </a:cxnLst>
              <a:rect l="0" t="0" r="r" b="b"/>
              <a:pathLst>
                <a:path w="305" h="119">
                  <a:moveTo>
                    <a:pt x="0" y="119"/>
                  </a:moveTo>
                  <a:lnTo>
                    <a:pt x="305" y="0"/>
                  </a:lnTo>
                </a:path>
              </a:pathLst>
            </a:custGeom>
            <a:noFill/>
            <a:ln w="28575" cap="flat" cmpd="sng">
              <a:solidFill>
                <a:schemeClr val="tx1"/>
              </a:solidFill>
              <a:prstDash val="solid"/>
              <a:round/>
              <a:headEnd type="oval" w="med" len="med"/>
              <a:tailEnd type="oval"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spAutoFit/>
            </a:bodyPr>
            <a:lstStyle/>
            <a:p>
              <a:endParaRPr lang="en-CA"/>
            </a:p>
          </p:txBody>
        </p:sp>
        <p:sp>
          <p:nvSpPr>
            <p:cNvPr id="23562" name="Freeform 10"/>
            <p:cNvSpPr>
              <a:spLocks/>
            </p:cNvSpPr>
            <p:nvPr/>
          </p:nvSpPr>
          <p:spPr bwMode="auto">
            <a:xfrm>
              <a:off x="7410450" y="4549775"/>
              <a:ext cx="314325" cy="368300"/>
            </a:xfrm>
            <a:custGeom>
              <a:avLst/>
              <a:gdLst>
                <a:gd name="T0" fmla="*/ 0 w 198"/>
                <a:gd name="T1" fmla="*/ 0 h 232"/>
                <a:gd name="T2" fmla="*/ 198 w 198"/>
                <a:gd name="T3" fmla="*/ 232 h 232"/>
                <a:gd name="T4" fmla="*/ 0 60000 65536"/>
                <a:gd name="T5" fmla="*/ 0 60000 65536"/>
              </a:gdLst>
              <a:ahLst/>
              <a:cxnLst>
                <a:cxn ang="T4">
                  <a:pos x="T0" y="T1"/>
                </a:cxn>
                <a:cxn ang="T5">
                  <a:pos x="T2" y="T3"/>
                </a:cxn>
              </a:cxnLst>
              <a:rect l="0" t="0" r="r" b="b"/>
              <a:pathLst>
                <a:path w="198" h="232">
                  <a:moveTo>
                    <a:pt x="0" y="0"/>
                  </a:moveTo>
                  <a:lnTo>
                    <a:pt x="198" y="232"/>
                  </a:lnTo>
                </a:path>
              </a:pathLst>
            </a:custGeom>
            <a:noFill/>
            <a:ln w="28575" cap="flat" cmpd="sng">
              <a:solidFill>
                <a:schemeClr val="tx1"/>
              </a:solidFill>
              <a:prstDash val="solid"/>
              <a:round/>
              <a:headEnd type="oval" w="med" len="med"/>
              <a:tailEnd type="oval"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spAutoFit/>
            </a:bodyPr>
            <a:lstStyle/>
            <a:p>
              <a:endParaRPr lang="en-CA"/>
            </a:p>
          </p:txBody>
        </p:sp>
        <p:sp>
          <p:nvSpPr>
            <p:cNvPr id="23563" name="Freeform 11"/>
            <p:cNvSpPr>
              <a:spLocks/>
            </p:cNvSpPr>
            <p:nvPr/>
          </p:nvSpPr>
          <p:spPr bwMode="auto">
            <a:xfrm>
              <a:off x="5970588" y="4568825"/>
              <a:ext cx="312738" cy="349250"/>
            </a:xfrm>
            <a:custGeom>
              <a:avLst/>
              <a:gdLst>
                <a:gd name="T0" fmla="*/ 185 w 185"/>
                <a:gd name="T1" fmla="*/ 0 h 245"/>
                <a:gd name="T2" fmla="*/ 0 w 185"/>
                <a:gd name="T3" fmla="*/ 245 h 245"/>
                <a:gd name="T4" fmla="*/ 0 60000 65536"/>
                <a:gd name="T5" fmla="*/ 0 60000 65536"/>
                <a:gd name="connsiteX0" fmla="*/ 10670 w 10670"/>
                <a:gd name="connsiteY0" fmla="*/ 0 h 8989"/>
                <a:gd name="connsiteX1" fmla="*/ 0 w 10670"/>
                <a:gd name="connsiteY1" fmla="*/ 8989 h 8989"/>
              </a:gdLst>
              <a:ahLst/>
              <a:cxnLst>
                <a:cxn ang="0">
                  <a:pos x="connsiteX0" y="connsiteY0"/>
                </a:cxn>
                <a:cxn ang="0">
                  <a:pos x="connsiteX1" y="connsiteY1"/>
                </a:cxn>
              </a:cxnLst>
              <a:rect l="l" t="t" r="r" b="b"/>
              <a:pathLst>
                <a:path w="10670" h="8989">
                  <a:moveTo>
                    <a:pt x="10670" y="0"/>
                  </a:moveTo>
                  <a:cubicBezTo>
                    <a:pt x="7337" y="3333"/>
                    <a:pt x="3333" y="5656"/>
                    <a:pt x="0" y="8989"/>
                  </a:cubicBezTo>
                </a:path>
              </a:pathLst>
            </a:custGeom>
            <a:noFill/>
            <a:ln w="28575" cap="flat" cmpd="sng">
              <a:solidFill>
                <a:schemeClr val="tx1"/>
              </a:solidFill>
              <a:prstDash val="solid"/>
              <a:round/>
              <a:headEnd type="oval" w="med" len="med"/>
              <a:tailEnd type="oval"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spAutoFit/>
            </a:bodyPr>
            <a:lstStyle/>
            <a:p>
              <a:endParaRPr lang="en-CA"/>
            </a:p>
          </p:txBody>
        </p:sp>
        <p:sp>
          <p:nvSpPr>
            <p:cNvPr id="23564" name="Freeform 13"/>
            <p:cNvSpPr>
              <a:spLocks/>
            </p:cNvSpPr>
            <p:nvPr/>
          </p:nvSpPr>
          <p:spPr bwMode="auto">
            <a:xfrm>
              <a:off x="5997575" y="3109913"/>
              <a:ext cx="1754188" cy="1430338"/>
            </a:xfrm>
            <a:custGeom>
              <a:avLst/>
              <a:gdLst>
                <a:gd name="T0" fmla="*/ 0 w 1093"/>
                <a:gd name="T1" fmla="*/ 309 h 913"/>
                <a:gd name="T2" fmla="*/ 1093 w 1093"/>
                <a:gd name="T3" fmla="*/ 309 h 913"/>
                <a:gd name="T4" fmla="*/ 166 w 1093"/>
                <a:gd name="T5" fmla="*/ 907 h 913"/>
                <a:gd name="T6" fmla="*/ 518 w 1093"/>
                <a:gd name="T7" fmla="*/ 0 h 913"/>
                <a:gd name="T8" fmla="*/ 894 w 1093"/>
                <a:gd name="T9" fmla="*/ 913 h 913"/>
                <a:gd name="T10" fmla="*/ 7 w 1093"/>
                <a:gd name="T11" fmla="*/ 312 h 913"/>
                <a:gd name="T12" fmla="*/ 0 w 1093"/>
                <a:gd name="T13" fmla="*/ 309 h 913"/>
                <a:gd name="T14" fmla="*/ 0 60000 65536"/>
                <a:gd name="T15" fmla="*/ 0 60000 65536"/>
                <a:gd name="T16" fmla="*/ 0 60000 65536"/>
                <a:gd name="T17" fmla="*/ 0 60000 65536"/>
                <a:gd name="T18" fmla="*/ 0 60000 65536"/>
                <a:gd name="T19" fmla="*/ 0 60000 65536"/>
                <a:gd name="T20" fmla="*/ 0 60000 65536"/>
                <a:gd name="connsiteX0" fmla="*/ 276 w 10276"/>
                <a:gd name="connsiteY0" fmla="*/ 3384 h 10000"/>
                <a:gd name="connsiteX1" fmla="*/ 10276 w 10276"/>
                <a:gd name="connsiteY1" fmla="*/ 3384 h 10000"/>
                <a:gd name="connsiteX2" fmla="*/ 1795 w 10276"/>
                <a:gd name="connsiteY2" fmla="*/ 9934 h 10000"/>
                <a:gd name="connsiteX3" fmla="*/ 5015 w 10276"/>
                <a:gd name="connsiteY3" fmla="*/ 0 h 10000"/>
                <a:gd name="connsiteX4" fmla="*/ 8455 w 10276"/>
                <a:gd name="connsiteY4" fmla="*/ 10000 h 10000"/>
                <a:gd name="connsiteX5" fmla="*/ 0 w 10276"/>
                <a:gd name="connsiteY5" fmla="*/ 3621 h 10000"/>
                <a:gd name="connsiteX6" fmla="*/ 276 w 10276"/>
                <a:gd name="connsiteY6" fmla="*/ 3384 h 10000"/>
                <a:gd name="connsiteX0" fmla="*/ 0 w 10397"/>
                <a:gd name="connsiteY0" fmla="*/ 3723 h 10000"/>
                <a:gd name="connsiteX1" fmla="*/ 10397 w 10397"/>
                <a:gd name="connsiteY1" fmla="*/ 3384 h 10000"/>
                <a:gd name="connsiteX2" fmla="*/ 1916 w 10397"/>
                <a:gd name="connsiteY2" fmla="*/ 9934 h 10000"/>
                <a:gd name="connsiteX3" fmla="*/ 5136 w 10397"/>
                <a:gd name="connsiteY3" fmla="*/ 0 h 10000"/>
                <a:gd name="connsiteX4" fmla="*/ 8576 w 10397"/>
                <a:gd name="connsiteY4" fmla="*/ 10000 h 10000"/>
                <a:gd name="connsiteX5" fmla="*/ 121 w 10397"/>
                <a:gd name="connsiteY5" fmla="*/ 3621 h 10000"/>
                <a:gd name="connsiteX6" fmla="*/ 0 w 10397"/>
                <a:gd name="connsiteY6" fmla="*/ 3723 h 10000"/>
                <a:gd name="connsiteX0" fmla="*/ 0 w 10397"/>
                <a:gd name="connsiteY0" fmla="*/ 3655 h 9932"/>
                <a:gd name="connsiteX1" fmla="*/ 10397 w 10397"/>
                <a:gd name="connsiteY1" fmla="*/ 3316 h 9932"/>
                <a:gd name="connsiteX2" fmla="*/ 1916 w 10397"/>
                <a:gd name="connsiteY2" fmla="*/ 9866 h 9932"/>
                <a:gd name="connsiteX3" fmla="*/ 4796 w 10397"/>
                <a:gd name="connsiteY3" fmla="*/ 0 h 9932"/>
                <a:gd name="connsiteX4" fmla="*/ 8576 w 10397"/>
                <a:gd name="connsiteY4" fmla="*/ 9932 h 9932"/>
                <a:gd name="connsiteX5" fmla="*/ 121 w 10397"/>
                <a:gd name="connsiteY5" fmla="*/ 3553 h 9932"/>
                <a:gd name="connsiteX6" fmla="*/ 0 w 10397"/>
                <a:gd name="connsiteY6" fmla="*/ 3655 h 9932"/>
                <a:gd name="connsiteX0" fmla="*/ 0 w 9727"/>
                <a:gd name="connsiteY0" fmla="*/ 3680 h 10000"/>
                <a:gd name="connsiteX1" fmla="*/ 9727 w 9727"/>
                <a:gd name="connsiteY1" fmla="*/ 3612 h 10000"/>
                <a:gd name="connsiteX2" fmla="*/ 1843 w 9727"/>
                <a:gd name="connsiteY2" fmla="*/ 9934 h 10000"/>
                <a:gd name="connsiteX3" fmla="*/ 4613 w 9727"/>
                <a:gd name="connsiteY3" fmla="*/ 0 h 10000"/>
                <a:gd name="connsiteX4" fmla="*/ 8249 w 9727"/>
                <a:gd name="connsiteY4" fmla="*/ 10000 h 10000"/>
                <a:gd name="connsiteX5" fmla="*/ 116 w 9727"/>
                <a:gd name="connsiteY5" fmla="*/ 3577 h 10000"/>
                <a:gd name="connsiteX6" fmla="*/ 0 w 9727"/>
                <a:gd name="connsiteY6" fmla="*/ 3680 h 10000"/>
                <a:gd name="connsiteX0" fmla="*/ 0 w 10000"/>
                <a:gd name="connsiteY0" fmla="*/ 3680 h 10000"/>
                <a:gd name="connsiteX1" fmla="*/ 10000 w 10000"/>
                <a:gd name="connsiteY1" fmla="*/ 3612 h 10000"/>
                <a:gd name="connsiteX2" fmla="*/ 1671 w 10000"/>
                <a:gd name="connsiteY2" fmla="*/ 9934 h 10000"/>
                <a:gd name="connsiteX3" fmla="*/ 4742 w 10000"/>
                <a:gd name="connsiteY3" fmla="*/ 0 h 10000"/>
                <a:gd name="connsiteX4" fmla="*/ 8481 w 10000"/>
                <a:gd name="connsiteY4" fmla="*/ 10000 h 10000"/>
                <a:gd name="connsiteX5" fmla="*/ 119 w 10000"/>
                <a:gd name="connsiteY5" fmla="*/ 3577 h 10000"/>
                <a:gd name="connsiteX6" fmla="*/ 0 w 10000"/>
                <a:gd name="connsiteY6" fmla="*/ 3680 h 10000"/>
                <a:gd name="connsiteX0" fmla="*/ 0 w 10000"/>
                <a:gd name="connsiteY0" fmla="*/ 3680 h 9934"/>
                <a:gd name="connsiteX1" fmla="*/ 10000 w 10000"/>
                <a:gd name="connsiteY1" fmla="*/ 3612 h 9934"/>
                <a:gd name="connsiteX2" fmla="*/ 1671 w 10000"/>
                <a:gd name="connsiteY2" fmla="*/ 9934 h 9934"/>
                <a:gd name="connsiteX3" fmla="*/ 4742 w 10000"/>
                <a:gd name="connsiteY3" fmla="*/ 0 h 9934"/>
                <a:gd name="connsiteX4" fmla="*/ 8257 w 10000"/>
                <a:gd name="connsiteY4" fmla="*/ 9863 h 9934"/>
                <a:gd name="connsiteX5" fmla="*/ 119 w 10000"/>
                <a:gd name="connsiteY5" fmla="*/ 3577 h 9934"/>
                <a:gd name="connsiteX6" fmla="*/ 0 w 10000"/>
                <a:gd name="connsiteY6" fmla="*/ 3680 h 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9934">
                  <a:moveTo>
                    <a:pt x="0" y="3680"/>
                  </a:moveTo>
                  <a:lnTo>
                    <a:pt x="10000" y="3612"/>
                  </a:lnTo>
                  <a:lnTo>
                    <a:pt x="1671" y="9934"/>
                  </a:lnTo>
                  <a:lnTo>
                    <a:pt x="4742" y="0"/>
                  </a:lnTo>
                  <a:lnTo>
                    <a:pt x="8257" y="9863"/>
                  </a:lnTo>
                  <a:lnTo>
                    <a:pt x="119" y="3577"/>
                  </a:lnTo>
                  <a:cubicBezTo>
                    <a:pt x="79" y="3611"/>
                    <a:pt x="40" y="3646"/>
                    <a:pt x="0" y="3680"/>
                  </a:cubicBezTo>
                  <a:close/>
                </a:path>
              </a:pathLst>
            </a:custGeom>
            <a:noFill/>
            <a:ln w="28575" cap="flat" cmpd="sng">
              <a:solidFill>
                <a:schemeClr val="tx1"/>
              </a:solidFill>
              <a:prstDash val="solid"/>
              <a:round/>
              <a:headEnd type="none" w="med" len="med"/>
              <a:tailEnd type="none" w="med" len="med"/>
            </a:ln>
            <a:effectLst>
              <a:outerShdw blurRad="44450" dist="27940" dir="5400000" algn="ctr">
                <a:srgbClr val="000000">
                  <a:alpha val="32000"/>
                </a:srgbClr>
              </a:outerShdw>
            </a:effectLst>
            <a:extLst/>
          </p:spPr>
          <p:txBody>
            <a:bodyPr>
              <a:spAutoFit/>
            </a:bodyPr>
            <a:lstStyle/>
            <a:p>
              <a:endParaRPr lang="en-CA"/>
            </a:p>
          </p:txBody>
        </p:sp>
        <p:sp>
          <p:nvSpPr>
            <p:cNvPr id="23565" name="Oval 15"/>
            <p:cNvSpPr>
              <a:spLocks noChangeArrowheads="1"/>
            </p:cNvSpPr>
            <p:nvPr/>
          </p:nvSpPr>
          <p:spPr bwMode="auto">
            <a:xfrm>
              <a:off x="8153400" y="3276600"/>
              <a:ext cx="228600" cy="228600"/>
            </a:xfrm>
            <a:prstGeom prst="ellipse">
              <a:avLst/>
            </a:prstGeom>
            <a:solidFill>
              <a:schemeClr val="hlink"/>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endParaRPr lang="en-CA"/>
            </a:p>
          </p:txBody>
        </p:sp>
        <p:sp>
          <p:nvSpPr>
            <p:cNvPr id="23566" name="Oval 16"/>
            <p:cNvSpPr>
              <a:spLocks noChangeArrowheads="1"/>
            </p:cNvSpPr>
            <p:nvPr/>
          </p:nvSpPr>
          <p:spPr bwMode="auto">
            <a:xfrm>
              <a:off x="7620000" y="4800600"/>
              <a:ext cx="228600" cy="228600"/>
            </a:xfrm>
            <a:prstGeom prst="ellipse">
              <a:avLst/>
            </a:prstGeom>
            <a:solidFill>
              <a:srgbClr val="00CC66"/>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endParaRPr lang="en-CA"/>
            </a:p>
          </p:txBody>
        </p:sp>
        <p:sp>
          <p:nvSpPr>
            <p:cNvPr id="23567" name="Oval 18"/>
            <p:cNvSpPr>
              <a:spLocks noChangeArrowheads="1"/>
            </p:cNvSpPr>
            <p:nvPr/>
          </p:nvSpPr>
          <p:spPr bwMode="auto">
            <a:xfrm>
              <a:off x="6705600" y="2514600"/>
              <a:ext cx="228600" cy="228600"/>
            </a:xfrm>
            <a:prstGeom prst="ellipse">
              <a:avLst/>
            </a:prstGeom>
            <a:solidFill>
              <a:srgbClr val="CC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endParaRPr lang="en-CA"/>
            </a:p>
          </p:txBody>
        </p:sp>
        <p:sp>
          <p:nvSpPr>
            <p:cNvPr id="23568" name="Oval 19"/>
            <p:cNvSpPr>
              <a:spLocks noChangeArrowheads="1"/>
            </p:cNvSpPr>
            <p:nvPr/>
          </p:nvSpPr>
          <p:spPr bwMode="auto">
            <a:xfrm>
              <a:off x="7315200" y="4419600"/>
              <a:ext cx="228600" cy="228600"/>
            </a:xfrm>
            <a:prstGeom prst="ellipse">
              <a:avLst/>
            </a:prstGeom>
            <a:solidFill>
              <a:srgbClr val="CC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endParaRPr lang="en-CA"/>
            </a:p>
          </p:txBody>
        </p:sp>
        <p:sp>
          <p:nvSpPr>
            <p:cNvPr id="23569" name="Oval 20"/>
            <p:cNvSpPr>
              <a:spLocks noChangeArrowheads="1"/>
            </p:cNvSpPr>
            <p:nvPr/>
          </p:nvSpPr>
          <p:spPr bwMode="auto">
            <a:xfrm>
              <a:off x="5867400" y="4800600"/>
              <a:ext cx="228600" cy="228600"/>
            </a:xfrm>
            <a:prstGeom prst="ellipse">
              <a:avLst/>
            </a:prstGeom>
            <a:solidFill>
              <a:schemeClr val="hlink"/>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endParaRPr lang="en-CA"/>
            </a:p>
          </p:txBody>
        </p:sp>
        <p:sp>
          <p:nvSpPr>
            <p:cNvPr id="23570" name="Oval 21"/>
            <p:cNvSpPr>
              <a:spLocks noChangeArrowheads="1"/>
            </p:cNvSpPr>
            <p:nvPr/>
          </p:nvSpPr>
          <p:spPr bwMode="auto">
            <a:xfrm>
              <a:off x="7620000" y="3505200"/>
              <a:ext cx="228600" cy="228600"/>
            </a:xfrm>
            <a:prstGeom prst="ellipse">
              <a:avLst/>
            </a:prstGeom>
            <a:solidFill>
              <a:srgbClr val="00CC66"/>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endParaRPr lang="en-CA"/>
            </a:p>
          </p:txBody>
        </p:sp>
        <p:sp>
          <p:nvSpPr>
            <p:cNvPr id="23571" name="Oval 22"/>
            <p:cNvSpPr>
              <a:spLocks noChangeArrowheads="1"/>
            </p:cNvSpPr>
            <p:nvPr/>
          </p:nvSpPr>
          <p:spPr bwMode="auto">
            <a:xfrm>
              <a:off x="6172200" y="4419600"/>
              <a:ext cx="228600" cy="228600"/>
            </a:xfrm>
            <a:prstGeom prst="ellipse">
              <a:avLst/>
            </a:prstGeom>
            <a:solidFill>
              <a:srgbClr val="CC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endParaRPr lang="en-CA"/>
            </a:p>
          </p:txBody>
        </p:sp>
        <p:sp>
          <p:nvSpPr>
            <p:cNvPr id="23572" name="Oval 23"/>
            <p:cNvSpPr>
              <a:spLocks noChangeArrowheads="1"/>
            </p:cNvSpPr>
            <p:nvPr/>
          </p:nvSpPr>
          <p:spPr bwMode="auto">
            <a:xfrm>
              <a:off x="6705600" y="2971800"/>
              <a:ext cx="228600" cy="228600"/>
            </a:xfrm>
            <a:prstGeom prst="ellipse">
              <a:avLst/>
            </a:prstGeom>
            <a:solidFill>
              <a:schemeClr val="hlink"/>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endParaRPr lang="en-CA"/>
            </a:p>
          </p:txBody>
        </p:sp>
        <p:sp>
          <p:nvSpPr>
            <p:cNvPr id="23573" name="Oval 24"/>
            <p:cNvSpPr>
              <a:spLocks noChangeArrowheads="1"/>
            </p:cNvSpPr>
            <p:nvPr/>
          </p:nvSpPr>
          <p:spPr bwMode="auto">
            <a:xfrm>
              <a:off x="5410200" y="3429000"/>
              <a:ext cx="228600" cy="228600"/>
            </a:xfrm>
            <a:prstGeom prst="ellipse">
              <a:avLst/>
            </a:prstGeom>
            <a:solidFill>
              <a:srgbClr val="00CC66"/>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endParaRPr lang="en-CA"/>
            </a:p>
          </p:txBody>
        </p:sp>
        <p:sp>
          <p:nvSpPr>
            <p:cNvPr id="23574" name="Oval 26"/>
            <p:cNvSpPr>
              <a:spLocks noChangeArrowheads="1"/>
            </p:cNvSpPr>
            <p:nvPr/>
          </p:nvSpPr>
          <p:spPr bwMode="auto">
            <a:xfrm>
              <a:off x="5867400" y="3505200"/>
              <a:ext cx="228600" cy="228600"/>
            </a:xfrm>
            <a:prstGeom prst="ellipse">
              <a:avLst/>
            </a:prstGeom>
            <a:solidFill>
              <a:schemeClr val="hlink"/>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endParaRPr lang="en-CA"/>
            </a:p>
          </p:txBody>
        </p:sp>
        <p:sp>
          <p:nvSpPr>
            <p:cNvPr id="23575" name="Text Box 29"/>
            <p:cNvSpPr txBox="1">
              <a:spLocks noChangeArrowheads="1"/>
            </p:cNvSpPr>
            <p:nvPr/>
          </p:nvSpPr>
          <p:spPr bwMode="auto">
            <a:xfrm>
              <a:off x="1295400" y="3505200"/>
              <a:ext cx="37274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dirty="0">
                  <a:solidFill>
                    <a:schemeClr val="tx2"/>
                  </a:solidFill>
                  <a:latin typeface="Arial" pitchFamily="34" charset="0"/>
                </a:rPr>
                <a:t>A 3-coloring of the Peterson graph:</a:t>
              </a:r>
              <a:br>
                <a:rPr lang="en-US" sz="1800" dirty="0">
                  <a:solidFill>
                    <a:schemeClr val="tx2"/>
                  </a:solidFill>
                  <a:latin typeface="Arial" pitchFamily="34" charset="0"/>
                </a:rPr>
              </a:br>
              <a:r>
                <a:rPr lang="en-US" sz="1800" dirty="0">
                  <a:solidFill>
                    <a:schemeClr val="tx2"/>
                  </a:solidFill>
                  <a:latin typeface="Arial" pitchFamily="34" charset="0"/>
                </a:rPr>
                <a:t>(It is not 2-colorable.)</a:t>
              </a:r>
            </a:p>
          </p:txBody>
        </p:sp>
      </p:grpSp>
      <p:sp>
        <p:nvSpPr>
          <p:cNvPr id="113695" name="Rectangle 31"/>
          <p:cNvSpPr>
            <a:spLocks noChangeArrowheads="1"/>
          </p:cNvSpPr>
          <p:nvPr/>
        </p:nvSpPr>
        <p:spPr bwMode="auto">
          <a:xfrm>
            <a:off x="228600" y="4800600"/>
            <a:ext cx="5518150" cy="173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1800" dirty="0">
                <a:solidFill>
                  <a:srgbClr val="CC0000"/>
                </a:solidFill>
                <a:latin typeface="Arial" pitchFamily="34" charset="0"/>
              </a:rPr>
              <a:t>1-colorable</a:t>
            </a:r>
            <a:r>
              <a:rPr lang="en-US" sz="1800" dirty="0">
                <a:solidFill>
                  <a:schemeClr val="hlink"/>
                </a:solidFill>
                <a:latin typeface="Arial" pitchFamily="34" charset="0"/>
              </a:rPr>
              <a:t>  </a:t>
            </a:r>
            <a:r>
              <a:rPr lang="en-US" sz="1800" dirty="0">
                <a:solidFill>
                  <a:schemeClr val="hlink"/>
                </a:solidFill>
                <a:latin typeface="Arial" pitchFamily="34" charset="0"/>
                <a:sym typeface="Symbol" pitchFamily="18" charset="2"/>
              </a:rPr>
              <a:t></a:t>
            </a:r>
            <a:r>
              <a:rPr lang="en-US" sz="1800" dirty="0">
                <a:solidFill>
                  <a:schemeClr val="hlink"/>
                </a:solidFill>
                <a:latin typeface="Arial" pitchFamily="34" charset="0"/>
              </a:rPr>
              <a:t>  E(G) = </a:t>
            </a:r>
            <a:r>
              <a:rPr lang="en-US" sz="1800" dirty="0">
                <a:solidFill>
                  <a:schemeClr val="hlink"/>
                </a:solidFill>
                <a:latin typeface="Arial" pitchFamily="34" charset="0"/>
                <a:sym typeface="Symbol" pitchFamily="18" charset="2"/>
              </a:rPr>
              <a:t></a:t>
            </a:r>
            <a:r>
              <a:rPr lang="en-US" sz="1800" dirty="0">
                <a:solidFill>
                  <a:schemeClr val="hlink"/>
                </a:solidFill>
                <a:latin typeface="Arial" pitchFamily="34" charset="0"/>
              </a:rPr>
              <a:t> </a:t>
            </a:r>
          </a:p>
          <a:p>
            <a:pPr eaLnBrk="1" hangingPunct="1">
              <a:buFontTx/>
              <a:buNone/>
            </a:pPr>
            <a:r>
              <a:rPr lang="en-US" sz="1800" dirty="0">
                <a:solidFill>
                  <a:srgbClr val="CC0000"/>
                </a:solidFill>
                <a:latin typeface="Arial" pitchFamily="34" charset="0"/>
              </a:rPr>
              <a:t>2-colorable:</a:t>
            </a:r>
            <a:r>
              <a:rPr lang="en-US" sz="1800" dirty="0">
                <a:solidFill>
                  <a:schemeClr val="hlink"/>
                </a:solidFill>
                <a:latin typeface="Arial" pitchFamily="34" charset="0"/>
              </a:rPr>
              <a:t> also easy to detect (see next slides)</a:t>
            </a:r>
          </a:p>
          <a:p>
            <a:pPr eaLnBrk="1" hangingPunct="1">
              <a:buFontTx/>
              <a:buNone/>
            </a:pPr>
            <a:r>
              <a:rPr lang="en-US" sz="1800" dirty="0">
                <a:solidFill>
                  <a:srgbClr val="CC0000"/>
                </a:solidFill>
                <a:latin typeface="Arial" pitchFamily="34" charset="0"/>
              </a:rPr>
              <a:t>3-colorable:</a:t>
            </a:r>
            <a:r>
              <a:rPr lang="en-US" sz="1800" dirty="0">
                <a:solidFill>
                  <a:schemeClr val="hlink"/>
                </a:solidFill>
                <a:latin typeface="Arial" pitchFamily="34" charset="0"/>
              </a:rPr>
              <a:t> is hard to detect (see NP-completeness)</a:t>
            </a:r>
            <a:br>
              <a:rPr lang="en-US" sz="1800" dirty="0">
                <a:solidFill>
                  <a:schemeClr val="hlink"/>
                </a:solidFill>
                <a:latin typeface="Arial" pitchFamily="34" charset="0"/>
              </a:rPr>
            </a:br>
            <a:r>
              <a:rPr lang="en-US" sz="1800" dirty="0">
                <a:solidFill>
                  <a:schemeClr val="hlink"/>
                </a:solidFill>
                <a:latin typeface="Arial" pitchFamily="34" charset="0"/>
              </a:rPr>
              <a:t>	</a:t>
            </a:r>
          </a:p>
          <a:p>
            <a:pPr eaLnBrk="1" hangingPunct="1">
              <a:buFontTx/>
              <a:buNone/>
            </a:pPr>
            <a:r>
              <a:rPr lang="en-US" sz="1800" dirty="0" err="1">
                <a:solidFill>
                  <a:srgbClr val="CC0000"/>
                </a:solidFill>
                <a:latin typeface="Arial" pitchFamily="34" charset="0"/>
              </a:rPr>
              <a:t>K</a:t>
            </a:r>
            <a:r>
              <a:rPr lang="en-US" sz="1800" baseline="-25000" dirty="0" err="1">
                <a:solidFill>
                  <a:srgbClr val="CC0000"/>
                </a:solidFill>
                <a:latin typeface="Arial" pitchFamily="34" charset="0"/>
              </a:rPr>
              <a:t>n</a:t>
            </a:r>
            <a:r>
              <a:rPr lang="en-US" sz="1800" dirty="0">
                <a:solidFill>
                  <a:schemeClr val="hlink"/>
                </a:solidFill>
                <a:latin typeface="Arial" pitchFamily="34" charset="0"/>
              </a:rPr>
              <a:t> needs n colors.</a:t>
            </a:r>
          </a:p>
          <a:p>
            <a:pPr eaLnBrk="1" hangingPunct="1">
              <a:buFontTx/>
              <a:buNone/>
            </a:pPr>
            <a:r>
              <a:rPr lang="en-US" sz="1800" dirty="0">
                <a:solidFill>
                  <a:schemeClr val="hlink"/>
                </a:solidFill>
                <a:latin typeface="Arial" pitchFamily="34" charset="0"/>
              </a:rPr>
              <a:t>All </a:t>
            </a:r>
            <a:r>
              <a:rPr lang="en-US" sz="1800" dirty="0">
                <a:solidFill>
                  <a:srgbClr val="CC0000"/>
                </a:solidFill>
                <a:latin typeface="Arial" pitchFamily="34" charset="0"/>
              </a:rPr>
              <a:t>planar</a:t>
            </a:r>
            <a:r>
              <a:rPr lang="en-US" sz="1800" dirty="0">
                <a:solidFill>
                  <a:schemeClr val="hlink"/>
                </a:solidFill>
                <a:latin typeface="Arial" pitchFamily="34" charset="0"/>
              </a:rPr>
              <a:t> graphs are </a:t>
            </a:r>
            <a:r>
              <a:rPr lang="en-US" sz="1800" dirty="0">
                <a:solidFill>
                  <a:srgbClr val="CC0000"/>
                </a:solidFill>
                <a:latin typeface="Arial" pitchFamily="34" charset="0"/>
              </a:rPr>
              <a:t>4-colorable</a:t>
            </a:r>
            <a:r>
              <a:rPr lang="en-US" sz="1800" dirty="0">
                <a:solidFill>
                  <a:schemeClr val="hlink"/>
                </a:solidFill>
                <a:latin typeface="Arial" pitchFamily="34" charset="0"/>
              </a:rPr>
              <a:t>.</a:t>
            </a:r>
          </a:p>
        </p:txBody>
      </p:sp>
      <p:sp>
        <p:nvSpPr>
          <p:cNvPr id="3" name="Slide Number Placeholder 2"/>
          <p:cNvSpPr>
            <a:spLocks noGrp="1"/>
          </p:cNvSpPr>
          <p:nvPr>
            <p:ph type="sldNum" sz="quarter" idx="12"/>
          </p:nvPr>
        </p:nvSpPr>
        <p:spPr/>
        <p:txBody>
          <a:bodyPr/>
          <a:lstStyle/>
          <a:p>
            <a:pPr>
              <a:defRPr/>
            </a:pPr>
            <a:fld id="{2EA72CB5-5472-4B1F-9EF4-151FAEB37976}" type="slidenum">
              <a:rPr lang="en-US" smtClean="0"/>
              <a:pPr>
                <a:defRPr/>
              </a:pPr>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13666"/>
                                        </p:tgtEl>
                                        <p:attrNameLst>
                                          <p:attrName>style.visibility</p:attrName>
                                        </p:attrNameLst>
                                      </p:cBhvr>
                                      <p:to>
                                        <p:strVal val="visible"/>
                                      </p:to>
                                    </p:set>
                                    <p:anim calcmode="lin" valueType="num">
                                      <p:cBhvr>
                                        <p:cTn id="7" dur="500" fill="hold"/>
                                        <p:tgtEl>
                                          <p:spTgt spid="113666"/>
                                        </p:tgtEl>
                                        <p:attrNameLst>
                                          <p:attrName>ppt_w</p:attrName>
                                        </p:attrNameLst>
                                      </p:cBhvr>
                                      <p:tavLst>
                                        <p:tav tm="0">
                                          <p:val>
                                            <p:fltVal val="0"/>
                                          </p:val>
                                        </p:tav>
                                        <p:tav tm="100000">
                                          <p:val>
                                            <p:strVal val="#ppt_w"/>
                                          </p:val>
                                        </p:tav>
                                      </p:tavLst>
                                    </p:anim>
                                    <p:anim calcmode="lin" valueType="num">
                                      <p:cBhvr>
                                        <p:cTn id="8" dur="500" fill="hold"/>
                                        <p:tgtEl>
                                          <p:spTgt spid="113666"/>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13667"/>
                                        </p:tgtEl>
                                        <p:attrNameLst>
                                          <p:attrName>style.visibility</p:attrName>
                                        </p:attrNameLst>
                                      </p:cBhvr>
                                      <p:to>
                                        <p:strVal val="visible"/>
                                      </p:to>
                                    </p:set>
                                    <p:animEffect transition="in" filter="wipe(up)">
                                      <p:cBhvr>
                                        <p:cTn id="13" dur="500"/>
                                        <p:tgtEl>
                                          <p:spTgt spid="11366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3695">
                                            <p:txEl>
                                              <p:pRg st="0" end="0"/>
                                            </p:txEl>
                                          </p:spTgt>
                                        </p:tgtEl>
                                        <p:attrNameLst>
                                          <p:attrName>style.visibility</p:attrName>
                                        </p:attrNameLst>
                                      </p:cBhvr>
                                      <p:to>
                                        <p:strVal val="visible"/>
                                      </p:to>
                                    </p:set>
                                    <p:animEffect transition="in" filter="wipe(left)">
                                      <p:cBhvr>
                                        <p:cTn id="23" dur="500"/>
                                        <p:tgtEl>
                                          <p:spTgt spid="113695">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13695">
                                            <p:txEl>
                                              <p:pRg st="1" end="1"/>
                                            </p:txEl>
                                          </p:spTgt>
                                        </p:tgtEl>
                                        <p:attrNameLst>
                                          <p:attrName>style.visibility</p:attrName>
                                        </p:attrNameLst>
                                      </p:cBhvr>
                                      <p:to>
                                        <p:strVal val="visible"/>
                                      </p:to>
                                    </p:set>
                                    <p:animEffect transition="in" filter="wipe(left)">
                                      <p:cBhvr>
                                        <p:cTn id="28" dur="500"/>
                                        <p:tgtEl>
                                          <p:spTgt spid="113695">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13695">
                                            <p:txEl>
                                              <p:pRg st="2" end="2"/>
                                            </p:txEl>
                                          </p:spTgt>
                                        </p:tgtEl>
                                        <p:attrNameLst>
                                          <p:attrName>style.visibility</p:attrName>
                                        </p:attrNameLst>
                                      </p:cBhvr>
                                      <p:to>
                                        <p:strVal val="visible"/>
                                      </p:to>
                                    </p:set>
                                    <p:animEffect transition="in" filter="wipe(left)">
                                      <p:cBhvr>
                                        <p:cTn id="33" dur="500"/>
                                        <p:tgtEl>
                                          <p:spTgt spid="113695">
                                            <p:txEl>
                                              <p:pRg st="2" end="2"/>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13695">
                                            <p:txEl>
                                              <p:pRg st="3" end="3"/>
                                            </p:txEl>
                                          </p:spTgt>
                                        </p:tgtEl>
                                        <p:attrNameLst>
                                          <p:attrName>style.visibility</p:attrName>
                                        </p:attrNameLst>
                                      </p:cBhvr>
                                      <p:to>
                                        <p:strVal val="visible"/>
                                      </p:to>
                                    </p:set>
                                    <p:animEffect transition="in" filter="wipe(left)">
                                      <p:cBhvr>
                                        <p:cTn id="38" dur="500"/>
                                        <p:tgtEl>
                                          <p:spTgt spid="113695">
                                            <p:txEl>
                                              <p:pRg st="3" end="3"/>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3695">
                                            <p:txEl>
                                              <p:pRg st="4" end="4"/>
                                            </p:txEl>
                                          </p:spTgt>
                                        </p:tgtEl>
                                        <p:attrNameLst>
                                          <p:attrName>style.visibility</p:attrName>
                                        </p:attrNameLst>
                                      </p:cBhvr>
                                      <p:to>
                                        <p:strVal val="visible"/>
                                      </p:to>
                                    </p:set>
                                    <p:animEffect transition="in" filter="wipe(left)">
                                      <p:cBhvr>
                                        <p:cTn id="43" dur="500"/>
                                        <p:tgtEl>
                                          <p:spTgt spid="1136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animBg="1" autoUpdateAnimBg="0"/>
      <p:bldP spid="113667" grpId="0" autoUpdateAnimBg="0"/>
      <p:bldP spid="113695"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Bipartite Graphs</a:t>
            </a:r>
            <a:endParaRPr lang="en-US" sz="2800" smtClean="0">
              <a:solidFill>
                <a:srgbClr val="CC0000"/>
              </a:solidFill>
              <a:latin typeface="Arial Rounded MT Bold" pitchFamily="34" charset="0"/>
            </a:endParaRPr>
          </a:p>
        </p:txBody>
      </p:sp>
      <p:sp>
        <p:nvSpPr>
          <p:cNvPr id="112648" name="Text Box 8"/>
          <p:cNvSpPr txBox="1">
            <a:spLocks noChangeArrowheads="1"/>
          </p:cNvSpPr>
          <p:nvPr/>
        </p:nvSpPr>
        <p:spPr bwMode="auto">
          <a:xfrm>
            <a:off x="212725" y="950913"/>
            <a:ext cx="8397875" cy="14652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a:solidFill>
                  <a:schemeClr val="hlink"/>
                </a:solidFill>
                <a:latin typeface="Arial" pitchFamily="34" charset="0"/>
              </a:rPr>
              <a:t>G = an undirected graph.</a:t>
            </a:r>
          </a:p>
          <a:p>
            <a:pPr eaLnBrk="1" hangingPunct="1">
              <a:buFontTx/>
              <a:buNone/>
            </a:pPr>
            <a:endParaRPr lang="en-US" sz="1800">
              <a:solidFill>
                <a:schemeClr val="hlink"/>
              </a:solidFill>
              <a:latin typeface="Arial" pitchFamily="34" charset="0"/>
            </a:endParaRPr>
          </a:p>
          <a:p>
            <a:pPr eaLnBrk="1" hangingPunct="1">
              <a:buFontTx/>
              <a:buNone/>
            </a:pPr>
            <a:r>
              <a:rPr lang="en-US" sz="1800" b="1">
                <a:solidFill>
                  <a:srgbClr val="CC0000"/>
                </a:solidFill>
                <a:latin typeface="Arial" pitchFamily="34" charset="0"/>
              </a:rPr>
              <a:t>Bipartiteness:</a:t>
            </a:r>
          </a:p>
          <a:p>
            <a:pPr eaLnBrk="1" hangingPunct="1">
              <a:buFontTx/>
              <a:buNone/>
            </a:pPr>
            <a:r>
              <a:rPr lang="en-US" sz="1800">
                <a:solidFill>
                  <a:schemeClr val="hlink"/>
                </a:solidFill>
                <a:latin typeface="Arial" pitchFamily="34" charset="0"/>
              </a:rPr>
              <a:t>G is bipartite if V(G) can be partitioned into two disjoint subsets X and Y such</a:t>
            </a:r>
          </a:p>
          <a:p>
            <a:pPr eaLnBrk="1" hangingPunct="1">
              <a:buFontTx/>
              <a:buNone/>
            </a:pPr>
            <a:r>
              <a:rPr lang="en-US" sz="1800">
                <a:solidFill>
                  <a:schemeClr val="hlink"/>
                </a:solidFill>
                <a:latin typeface="Arial" pitchFamily="34" charset="0"/>
              </a:rPr>
              <a:t>that for each edge (u,v)</a:t>
            </a:r>
            <a:r>
              <a:rPr lang="en-US" sz="1800">
                <a:solidFill>
                  <a:schemeClr val="hlink"/>
                </a:solidFill>
                <a:latin typeface="Arial" pitchFamily="34" charset="0"/>
                <a:sym typeface="Symbol" pitchFamily="18" charset="2"/>
              </a:rPr>
              <a:t></a:t>
            </a:r>
            <a:r>
              <a:rPr lang="en-US" sz="1800">
                <a:solidFill>
                  <a:schemeClr val="hlink"/>
                </a:solidFill>
                <a:latin typeface="Arial" pitchFamily="34" charset="0"/>
              </a:rPr>
              <a:t>E(G), either u</a:t>
            </a:r>
            <a:r>
              <a:rPr lang="en-US" sz="1800">
                <a:solidFill>
                  <a:schemeClr val="hlink"/>
                </a:solidFill>
                <a:latin typeface="Arial" pitchFamily="34" charset="0"/>
                <a:sym typeface="Symbol" pitchFamily="18" charset="2"/>
              </a:rPr>
              <a:t></a:t>
            </a:r>
            <a:r>
              <a:rPr lang="en-US" sz="1800">
                <a:solidFill>
                  <a:schemeClr val="hlink"/>
                </a:solidFill>
                <a:latin typeface="Arial" pitchFamily="34" charset="0"/>
              </a:rPr>
              <a:t>X &amp; v</a:t>
            </a:r>
            <a:r>
              <a:rPr lang="en-US" sz="1800">
                <a:solidFill>
                  <a:schemeClr val="hlink"/>
                </a:solidFill>
                <a:latin typeface="Arial" pitchFamily="34" charset="0"/>
                <a:sym typeface="Symbol" pitchFamily="18" charset="2"/>
              </a:rPr>
              <a:t></a:t>
            </a:r>
            <a:r>
              <a:rPr lang="en-US" sz="1800">
                <a:solidFill>
                  <a:schemeClr val="hlink"/>
                </a:solidFill>
                <a:latin typeface="Arial" pitchFamily="34" charset="0"/>
              </a:rPr>
              <a:t>Y,   or v</a:t>
            </a:r>
            <a:r>
              <a:rPr lang="en-US" sz="1800">
                <a:solidFill>
                  <a:schemeClr val="hlink"/>
                </a:solidFill>
                <a:latin typeface="Arial" pitchFamily="34" charset="0"/>
                <a:sym typeface="Symbol" pitchFamily="18" charset="2"/>
              </a:rPr>
              <a:t></a:t>
            </a:r>
            <a:r>
              <a:rPr lang="en-US" sz="1800">
                <a:solidFill>
                  <a:schemeClr val="hlink"/>
                </a:solidFill>
                <a:latin typeface="Arial" pitchFamily="34" charset="0"/>
              </a:rPr>
              <a:t>X &amp; u</a:t>
            </a:r>
            <a:r>
              <a:rPr lang="en-US" sz="1800">
                <a:solidFill>
                  <a:schemeClr val="hlink"/>
                </a:solidFill>
                <a:latin typeface="Arial" pitchFamily="34" charset="0"/>
                <a:sym typeface="Symbol" pitchFamily="18" charset="2"/>
              </a:rPr>
              <a:t></a:t>
            </a:r>
            <a:r>
              <a:rPr lang="en-US" sz="1800">
                <a:solidFill>
                  <a:schemeClr val="hlink"/>
                </a:solidFill>
                <a:latin typeface="Arial" pitchFamily="34" charset="0"/>
              </a:rPr>
              <a:t>Y.</a:t>
            </a:r>
          </a:p>
        </p:txBody>
      </p:sp>
      <p:grpSp>
        <p:nvGrpSpPr>
          <p:cNvPr id="112668" name="Group 28"/>
          <p:cNvGrpSpPr>
            <a:grpSpLocks/>
          </p:cNvGrpSpPr>
          <p:nvPr/>
        </p:nvGrpSpPr>
        <p:grpSpPr bwMode="auto">
          <a:xfrm>
            <a:off x="3200400" y="2667000"/>
            <a:ext cx="1555750" cy="3505200"/>
            <a:chOff x="2016" y="1680"/>
            <a:chExt cx="980" cy="2208"/>
          </a:xfrm>
        </p:grpSpPr>
        <p:sp>
          <p:nvSpPr>
            <p:cNvPr id="24584" name="Line 16"/>
            <p:cNvSpPr>
              <a:spLocks noChangeShapeType="1"/>
            </p:cNvSpPr>
            <p:nvPr/>
          </p:nvSpPr>
          <p:spPr bwMode="auto">
            <a:xfrm flipH="1" flipV="1">
              <a:off x="2148" y="2143"/>
              <a:ext cx="780" cy="20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CA"/>
            </a:p>
          </p:txBody>
        </p:sp>
        <p:sp>
          <p:nvSpPr>
            <p:cNvPr id="24585" name="Line 17"/>
            <p:cNvSpPr>
              <a:spLocks noChangeShapeType="1"/>
            </p:cNvSpPr>
            <p:nvPr/>
          </p:nvSpPr>
          <p:spPr bwMode="auto">
            <a:xfrm flipH="1">
              <a:off x="2112" y="2304"/>
              <a:ext cx="816" cy="3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4586" name="Line 18"/>
            <p:cNvSpPr>
              <a:spLocks noChangeShapeType="1"/>
            </p:cNvSpPr>
            <p:nvPr/>
          </p:nvSpPr>
          <p:spPr bwMode="auto">
            <a:xfrm flipH="1">
              <a:off x="2160" y="2352"/>
              <a:ext cx="744" cy="14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CA"/>
            </a:p>
          </p:txBody>
        </p:sp>
        <p:sp>
          <p:nvSpPr>
            <p:cNvPr id="24587" name="Line 19"/>
            <p:cNvSpPr>
              <a:spLocks noChangeShapeType="1"/>
            </p:cNvSpPr>
            <p:nvPr/>
          </p:nvSpPr>
          <p:spPr bwMode="auto">
            <a:xfrm>
              <a:off x="2160" y="2688"/>
              <a:ext cx="72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4588" name="Line 20"/>
            <p:cNvSpPr>
              <a:spLocks noChangeShapeType="1"/>
            </p:cNvSpPr>
            <p:nvPr/>
          </p:nvSpPr>
          <p:spPr bwMode="auto">
            <a:xfrm flipH="1" flipV="1">
              <a:off x="2148" y="2143"/>
              <a:ext cx="732" cy="785"/>
            </a:xfrm>
            <a:custGeom>
              <a:avLst/>
              <a:gdLst>
                <a:gd name="connsiteX0" fmla="*/ 0 w 1143000"/>
                <a:gd name="connsiteY0" fmla="*/ 0 h 1295400"/>
                <a:gd name="connsiteX1" fmla="*/ 1143000 w 1143000"/>
                <a:gd name="connsiteY1" fmla="*/ 1295400 h 1295400"/>
                <a:gd name="connsiteX0" fmla="*/ 0 w 1162664"/>
                <a:gd name="connsiteY0" fmla="*/ 0 h 1246239"/>
                <a:gd name="connsiteX1" fmla="*/ 1162664 w 1162664"/>
                <a:gd name="connsiteY1" fmla="*/ 1246239 h 1246239"/>
              </a:gdLst>
              <a:ahLst/>
              <a:cxnLst>
                <a:cxn ang="0">
                  <a:pos x="connsiteX0" y="connsiteY0"/>
                </a:cxn>
                <a:cxn ang="0">
                  <a:pos x="connsiteX1" y="connsiteY1"/>
                </a:cxn>
              </a:cxnLst>
              <a:rect l="l" t="t" r="r" b="b"/>
              <a:pathLst>
                <a:path w="1162664" h="1246239">
                  <a:moveTo>
                    <a:pt x="0" y="0"/>
                  </a:moveTo>
                  <a:cubicBezTo>
                    <a:pt x="381000" y="431800"/>
                    <a:pt x="781664" y="814439"/>
                    <a:pt x="1162664" y="1246239"/>
                  </a:cubicBezTo>
                </a:path>
              </a:pathLst>
            </a:cu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4589" name="Line 21"/>
            <p:cNvSpPr>
              <a:spLocks noChangeShapeType="1"/>
            </p:cNvSpPr>
            <p:nvPr/>
          </p:nvSpPr>
          <p:spPr bwMode="auto">
            <a:xfrm flipH="1">
              <a:off x="2160" y="2952"/>
              <a:ext cx="744" cy="26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CA"/>
            </a:p>
          </p:txBody>
        </p:sp>
        <p:sp>
          <p:nvSpPr>
            <p:cNvPr id="24590" name="Line 22"/>
            <p:cNvSpPr>
              <a:spLocks noChangeShapeType="1"/>
            </p:cNvSpPr>
            <p:nvPr/>
          </p:nvSpPr>
          <p:spPr bwMode="auto">
            <a:xfrm>
              <a:off x="2160" y="3216"/>
              <a:ext cx="72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4591" name="Line 23"/>
            <p:cNvSpPr>
              <a:spLocks noChangeShapeType="1"/>
            </p:cNvSpPr>
            <p:nvPr/>
          </p:nvSpPr>
          <p:spPr bwMode="auto">
            <a:xfrm flipH="1">
              <a:off x="2160" y="3480"/>
              <a:ext cx="744" cy="3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CA"/>
            </a:p>
          </p:txBody>
        </p:sp>
        <p:sp>
          <p:nvSpPr>
            <p:cNvPr id="24592" name="Line 24"/>
            <p:cNvSpPr>
              <a:spLocks noChangeShapeType="1"/>
            </p:cNvSpPr>
            <p:nvPr/>
          </p:nvSpPr>
          <p:spPr bwMode="auto">
            <a:xfrm flipV="1">
              <a:off x="2160" y="2952"/>
              <a:ext cx="744" cy="8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CA"/>
            </a:p>
          </p:txBody>
        </p:sp>
        <p:sp>
          <p:nvSpPr>
            <p:cNvPr id="24593" name="Line 25"/>
            <p:cNvSpPr>
              <a:spLocks noChangeShapeType="1"/>
            </p:cNvSpPr>
            <p:nvPr/>
          </p:nvSpPr>
          <p:spPr bwMode="auto">
            <a:xfrm flipH="1" flipV="1">
              <a:off x="2160" y="2688"/>
              <a:ext cx="720" cy="7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4594" name="Oval 9"/>
            <p:cNvSpPr>
              <a:spLocks noChangeArrowheads="1"/>
            </p:cNvSpPr>
            <p:nvPr/>
          </p:nvSpPr>
          <p:spPr bwMode="auto">
            <a:xfrm>
              <a:off x="2064" y="2064"/>
              <a:ext cx="144" cy="144"/>
            </a:xfrm>
            <a:prstGeom prst="ellipse">
              <a:avLst/>
            </a:prstGeom>
            <a:solidFill>
              <a:srgbClr val="FF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24595" name="Oval 10"/>
            <p:cNvSpPr>
              <a:spLocks noChangeArrowheads="1"/>
            </p:cNvSpPr>
            <p:nvPr/>
          </p:nvSpPr>
          <p:spPr bwMode="auto">
            <a:xfrm>
              <a:off x="2064" y="2592"/>
              <a:ext cx="144" cy="144"/>
            </a:xfrm>
            <a:prstGeom prst="ellipse">
              <a:avLst/>
            </a:prstGeom>
            <a:solidFill>
              <a:srgbClr val="FF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24596" name="Oval 11"/>
            <p:cNvSpPr>
              <a:spLocks noChangeArrowheads="1"/>
            </p:cNvSpPr>
            <p:nvPr/>
          </p:nvSpPr>
          <p:spPr bwMode="auto">
            <a:xfrm>
              <a:off x="2064" y="3168"/>
              <a:ext cx="144" cy="144"/>
            </a:xfrm>
            <a:prstGeom prst="ellipse">
              <a:avLst/>
            </a:prstGeom>
            <a:solidFill>
              <a:srgbClr val="FF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24597" name="Oval 12"/>
            <p:cNvSpPr>
              <a:spLocks noChangeArrowheads="1"/>
            </p:cNvSpPr>
            <p:nvPr/>
          </p:nvSpPr>
          <p:spPr bwMode="auto">
            <a:xfrm>
              <a:off x="2064" y="3744"/>
              <a:ext cx="144" cy="144"/>
            </a:xfrm>
            <a:prstGeom prst="ellipse">
              <a:avLst/>
            </a:prstGeom>
            <a:solidFill>
              <a:srgbClr val="FF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24598" name="Text Box 26"/>
            <p:cNvSpPr txBox="1">
              <a:spLocks noChangeArrowheads="1"/>
            </p:cNvSpPr>
            <p:nvPr/>
          </p:nvSpPr>
          <p:spPr bwMode="auto">
            <a:xfrm>
              <a:off x="2016" y="1680"/>
              <a:ext cx="21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X</a:t>
              </a:r>
            </a:p>
          </p:txBody>
        </p:sp>
        <p:sp>
          <p:nvSpPr>
            <p:cNvPr id="24599" name="Text Box 27"/>
            <p:cNvSpPr txBox="1">
              <a:spLocks noChangeArrowheads="1"/>
            </p:cNvSpPr>
            <p:nvPr/>
          </p:nvSpPr>
          <p:spPr bwMode="auto">
            <a:xfrm>
              <a:off x="2784" y="1680"/>
              <a:ext cx="21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Y</a:t>
              </a:r>
            </a:p>
          </p:txBody>
        </p:sp>
        <p:sp>
          <p:nvSpPr>
            <p:cNvPr id="24581" name="Oval 13"/>
            <p:cNvSpPr>
              <a:spLocks noChangeArrowheads="1"/>
            </p:cNvSpPr>
            <p:nvPr/>
          </p:nvSpPr>
          <p:spPr bwMode="auto">
            <a:xfrm>
              <a:off x="2832" y="2256"/>
              <a:ext cx="144" cy="144"/>
            </a:xfrm>
            <a:prstGeom prst="ellipse">
              <a:avLst/>
            </a:prstGeom>
            <a:solidFill>
              <a:schemeClr val="accent6"/>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24583" name="Oval 15"/>
            <p:cNvSpPr>
              <a:spLocks noChangeArrowheads="1"/>
            </p:cNvSpPr>
            <p:nvPr/>
          </p:nvSpPr>
          <p:spPr bwMode="auto">
            <a:xfrm>
              <a:off x="2832" y="3408"/>
              <a:ext cx="144" cy="144"/>
            </a:xfrm>
            <a:prstGeom prst="ellipse">
              <a:avLst/>
            </a:prstGeom>
            <a:solidFill>
              <a:schemeClr val="accent6"/>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24582" name="Oval 14"/>
            <p:cNvSpPr>
              <a:spLocks noChangeArrowheads="1"/>
            </p:cNvSpPr>
            <p:nvPr/>
          </p:nvSpPr>
          <p:spPr bwMode="auto">
            <a:xfrm>
              <a:off x="2832" y="2880"/>
              <a:ext cx="144" cy="144"/>
            </a:xfrm>
            <a:prstGeom prst="ellipse">
              <a:avLst/>
            </a:prstGeom>
            <a:solidFill>
              <a:schemeClr val="accent6"/>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23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12648"/>
                                        </p:tgtEl>
                                        <p:attrNameLst>
                                          <p:attrName>style.visibility</p:attrName>
                                        </p:attrNameLst>
                                      </p:cBhvr>
                                      <p:to>
                                        <p:strVal val="visible"/>
                                      </p:to>
                                    </p:set>
                                    <p:animEffect transition="in" filter="wipe(up)">
                                      <p:cBhvr>
                                        <p:cTn id="7" dur="500"/>
                                        <p:tgtEl>
                                          <p:spTgt spid="112648"/>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12668"/>
                                        </p:tgtEl>
                                        <p:attrNameLst>
                                          <p:attrName>style.visibility</p:attrName>
                                        </p:attrNameLst>
                                      </p:cBhvr>
                                      <p:to>
                                        <p:strVal val="visible"/>
                                      </p:to>
                                    </p:set>
                                    <p:animEffect transition="in" filter="wipe(up)">
                                      <p:cBhvr>
                                        <p:cTn id="11" dur="500"/>
                                        <p:tgtEl>
                                          <p:spTgt spid="112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8"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12" name="Text Box 24" descr="Recycled paper"/>
          <p:cNvSpPr txBox="1">
            <a:spLocks noChangeArrowheads="1"/>
          </p:cNvSpPr>
          <p:nvPr/>
        </p:nvSpPr>
        <p:spPr bwMode="auto">
          <a:xfrm>
            <a:off x="152400" y="152400"/>
            <a:ext cx="8839200" cy="2192338"/>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lvl1pPr marL="457200" indent="-457200" defTabSz="1084263">
              <a:defRPr sz="1600">
                <a:solidFill>
                  <a:schemeClr val="tx1"/>
                </a:solidFill>
                <a:latin typeface="Times New Roman" pitchFamily="18" charset="0"/>
              </a:defRPr>
            </a:lvl1pPr>
            <a:lvl2pPr marL="914400" indent="-457200" defTabSz="1084263">
              <a:defRPr sz="1600">
                <a:solidFill>
                  <a:schemeClr val="tx1"/>
                </a:solidFill>
                <a:latin typeface="Times New Roman" pitchFamily="18" charset="0"/>
              </a:defRPr>
            </a:lvl2pPr>
            <a:lvl3pPr marL="1143000" indent="-228600" defTabSz="1084263">
              <a:defRPr sz="1600">
                <a:solidFill>
                  <a:schemeClr val="tx1"/>
                </a:solidFill>
                <a:latin typeface="Times New Roman" pitchFamily="18" charset="0"/>
              </a:defRPr>
            </a:lvl3pPr>
            <a:lvl4pPr marL="1600200" indent="-228600" defTabSz="1084263">
              <a:defRPr sz="1600">
                <a:solidFill>
                  <a:schemeClr val="tx1"/>
                </a:solidFill>
                <a:latin typeface="Times New Roman" pitchFamily="18" charset="0"/>
              </a:defRPr>
            </a:lvl4pPr>
            <a:lvl5pPr marL="2057400" indent="-228600" defTabSz="1084263">
              <a:defRPr sz="1600">
                <a:solidFill>
                  <a:schemeClr val="tx1"/>
                </a:solidFill>
                <a:latin typeface="Times New Roman" pitchFamily="18" charset="0"/>
              </a:defRPr>
            </a:lvl5pPr>
            <a:lvl6pPr marL="2514600" indent="-228600" defTabSz="1084263" eaLnBrk="0" fontAlgn="base" hangingPunct="0">
              <a:spcBef>
                <a:spcPct val="0"/>
              </a:spcBef>
              <a:spcAft>
                <a:spcPct val="0"/>
              </a:spcAft>
              <a:buChar char="•"/>
              <a:defRPr sz="1600">
                <a:solidFill>
                  <a:schemeClr val="tx1"/>
                </a:solidFill>
                <a:latin typeface="Times New Roman" pitchFamily="18" charset="0"/>
              </a:defRPr>
            </a:lvl6pPr>
            <a:lvl7pPr marL="2971800" indent="-228600" defTabSz="1084263" eaLnBrk="0" fontAlgn="base" hangingPunct="0">
              <a:spcBef>
                <a:spcPct val="0"/>
              </a:spcBef>
              <a:spcAft>
                <a:spcPct val="0"/>
              </a:spcAft>
              <a:buChar char="•"/>
              <a:defRPr sz="1600">
                <a:solidFill>
                  <a:schemeClr val="tx1"/>
                </a:solidFill>
                <a:latin typeface="Times New Roman" pitchFamily="18" charset="0"/>
              </a:defRPr>
            </a:lvl7pPr>
            <a:lvl8pPr marL="3429000" indent="-228600" defTabSz="1084263" eaLnBrk="0" fontAlgn="base" hangingPunct="0">
              <a:spcBef>
                <a:spcPct val="0"/>
              </a:spcBef>
              <a:spcAft>
                <a:spcPct val="0"/>
              </a:spcAft>
              <a:buChar char="•"/>
              <a:defRPr sz="1600">
                <a:solidFill>
                  <a:schemeClr val="tx1"/>
                </a:solidFill>
                <a:latin typeface="Times New Roman" pitchFamily="18" charset="0"/>
              </a:defRPr>
            </a:lvl8pPr>
            <a:lvl9pPr marL="3886200" indent="-228600" defTabSz="1084263"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95000"/>
              </a:lnSpc>
              <a:buFontTx/>
              <a:buNone/>
            </a:pPr>
            <a:r>
              <a:rPr lang="en-US" sz="2400" b="1" dirty="0">
                <a:solidFill>
                  <a:srgbClr val="CC0000"/>
                </a:solidFill>
              </a:rPr>
              <a:t>FACT 5:</a:t>
            </a:r>
            <a:r>
              <a:rPr lang="en-US" sz="1800" b="1" dirty="0">
                <a:solidFill>
                  <a:srgbClr val="CC0000"/>
                </a:solidFill>
              </a:rPr>
              <a:t>   </a:t>
            </a:r>
            <a:r>
              <a:rPr lang="en-US" sz="2000" dirty="0">
                <a:solidFill>
                  <a:schemeClr val="hlink"/>
                </a:solidFill>
              </a:rPr>
              <a:t>Let G be an undirected graph. The following statements are equivalent: </a:t>
            </a:r>
            <a:br>
              <a:rPr lang="en-US" sz="2000" dirty="0">
                <a:solidFill>
                  <a:schemeClr val="hlink"/>
                </a:solidFill>
              </a:rPr>
            </a:br>
            <a:r>
              <a:rPr lang="en-US" sz="2000" dirty="0">
                <a:solidFill>
                  <a:schemeClr val="hlink"/>
                </a:solidFill>
              </a:rPr>
              <a:t> </a:t>
            </a:r>
          </a:p>
          <a:p>
            <a:pPr lvl="1" eaLnBrk="1" hangingPunct="1">
              <a:lnSpc>
                <a:spcPct val="95000"/>
              </a:lnSpc>
              <a:buFontTx/>
              <a:buAutoNum type="arabicPeriod"/>
            </a:pPr>
            <a:r>
              <a:rPr lang="en-US" sz="2000" dirty="0">
                <a:solidFill>
                  <a:schemeClr val="hlink"/>
                </a:solidFill>
              </a:rPr>
              <a:t>G is bipartite, </a:t>
            </a:r>
          </a:p>
          <a:p>
            <a:pPr lvl="1" eaLnBrk="1" hangingPunct="1">
              <a:lnSpc>
                <a:spcPct val="95000"/>
              </a:lnSpc>
              <a:buFontTx/>
              <a:buAutoNum type="arabicPeriod"/>
            </a:pPr>
            <a:r>
              <a:rPr lang="en-US" sz="2000" dirty="0">
                <a:solidFill>
                  <a:schemeClr val="hlink"/>
                </a:solidFill>
              </a:rPr>
              <a:t>G is 2-colorable,</a:t>
            </a:r>
          </a:p>
          <a:p>
            <a:pPr lvl="1" eaLnBrk="1" hangingPunct="1">
              <a:lnSpc>
                <a:spcPct val="95000"/>
              </a:lnSpc>
              <a:buFontTx/>
              <a:buAutoNum type="arabicPeriod"/>
            </a:pPr>
            <a:r>
              <a:rPr lang="en-US" sz="2000" dirty="0">
                <a:solidFill>
                  <a:schemeClr val="hlink"/>
                </a:solidFill>
              </a:rPr>
              <a:t>G has no odd-length cycle,</a:t>
            </a:r>
          </a:p>
          <a:p>
            <a:pPr lvl="1" eaLnBrk="1" hangingPunct="1">
              <a:lnSpc>
                <a:spcPct val="95000"/>
              </a:lnSpc>
              <a:buFontTx/>
              <a:buAutoNum type="arabicPeriod"/>
            </a:pPr>
            <a:r>
              <a:rPr lang="en-US" sz="2000" dirty="0">
                <a:solidFill>
                  <a:schemeClr val="hlink"/>
                </a:solidFill>
              </a:rPr>
              <a:t>In BFS of G, for every edge (</a:t>
            </a:r>
            <a:r>
              <a:rPr lang="en-US" sz="2000" dirty="0" err="1">
                <a:solidFill>
                  <a:schemeClr val="hlink"/>
                </a:solidFill>
              </a:rPr>
              <a:t>u,v</a:t>
            </a:r>
            <a:r>
              <a:rPr lang="en-US" sz="2000" dirty="0">
                <a:solidFill>
                  <a:schemeClr val="hlink"/>
                </a:solidFill>
              </a:rPr>
              <a:t>)</a:t>
            </a:r>
            <a:r>
              <a:rPr lang="en-US" sz="2000" dirty="0">
                <a:solidFill>
                  <a:schemeClr val="hlink"/>
                </a:solidFill>
                <a:sym typeface="Symbol" pitchFamily="18" charset="2"/>
              </a:rPr>
              <a:t></a:t>
            </a:r>
            <a:r>
              <a:rPr lang="en-US" sz="2000" dirty="0">
                <a:solidFill>
                  <a:schemeClr val="hlink"/>
                </a:solidFill>
              </a:rPr>
              <a:t>E(G), we have  </a:t>
            </a:r>
            <a:r>
              <a:rPr lang="en-US" sz="2000" b="1" dirty="0">
                <a:solidFill>
                  <a:schemeClr val="hlink"/>
                </a:solidFill>
              </a:rPr>
              <a:t>|</a:t>
            </a:r>
            <a:r>
              <a:rPr lang="en-US" sz="2000" dirty="0">
                <a:solidFill>
                  <a:schemeClr val="hlink"/>
                </a:solidFill>
              </a:rPr>
              <a:t> d[u] – d[v]</a:t>
            </a:r>
            <a:r>
              <a:rPr lang="en-US" sz="2000" b="1" dirty="0">
                <a:solidFill>
                  <a:schemeClr val="hlink"/>
                </a:solidFill>
              </a:rPr>
              <a:t> |</a:t>
            </a:r>
            <a:r>
              <a:rPr lang="en-US" sz="2000" dirty="0">
                <a:solidFill>
                  <a:schemeClr val="hlink"/>
                </a:solidFill>
              </a:rPr>
              <a:t> = 1.</a:t>
            </a:r>
            <a:r>
              <a:rPr lang="en-US" sz="1800" dirty="0">
                <a:solidFill>
                  <a:schemeClr val="hlink"/>
                </a:solidFill>
              </a:rPr>
              <a:t> </a:t>
            </a:r>
          </a:p>
          <a:p>
            <a:pPr eaLnBrk="1" hangingPunct="1">
              <a:lnSpc>
                <a:spcPct val="95000"/>
              </a:lnSpc>
              <a:buFontTx/>
              <a:buNone/>
            </a:pPr>
            <a:r>
              <a:rPr lang="en-US" sz="2000" dirty="0">
                <a:solidFill>
                  <a:srgbClr val="CC0000"/>
                </a:solidFill>
              </a:rPr>
              <a:t>These can be tested in O(V+E) time (constructive proof).</a:t>
            </a:r>
          </a:p>
        </p:txBody>
      </p:sp>
      <p:sp>
        <p:nvSpPr>
          <p:cNvPr id="114713" name="Rectangle 25"/>
          <p:cNvSpPr>
            <a:spLocks noChangeArrowheads="1"/>
          </p:cNvSpPr>
          <p:nvPr/>
        </p:nvSpPr>
        <p:spPr bwMode="auto">
          <a:xfrm>
            <a:off x="152400" y="2362200"/>
            <a:ext cx="8839200" cy="347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1235075" eaLnBrk="1" hangingPunct="1">
              <a:lnSpc>
                <a:spcPct val="95000"/>
              </a:lnSpc>
              <a:buFontTx/>
              <a:buNone/>
            </a:pPr>
            <a:r>
              <a:rPr lang="en-US" sz="1800" b="1">
                <a:solidFill>
                  <a:schemeClr val="tx2"/>
                </a:solidFill>
              </a:rPr>
              <a:t>Proof:</a:t>
            </a:r>
            <a:r>
              <a:rPr lang="en-US" sz="1800">
                <a:solidFill>
                  <a:schemeClr val="tx2"/>
                </a:solidFill>
              </a:rPr>
              <a:t>  </a:t>
            </a:r>
            <a:br>
              <a:rPr lang="en-US" sz="1800">
                <a:solidFill>
                  <a:schemeClr val="tx2"/>
                </a:solidFill>
              </a:rPr>
            </a:br>
            <a:r>
              <a:rPr lang="en-US" sz="1800">
                <a:solidFill>
                  <a:schemeClr val="tx2"/>
                </a:solidFill>
              </a:rPr>
              <a:t>[(1) </a:t>
            </a:r>
            <a:r>
              <a:rPr lang="en-US" sz="1800">
                <a:solidFill>
                  <a:schemeClr val="tx2"/>
                </a:solidFill>
                <a:sym typeface="Symbol" pitchFamily="18" charset="2"/>
              </a:rPr>
              <a:t> </a:t>
            </a:r>
            <a:r>
              <a:rPr lang="en-US" sz="1800">
                <a:solidFill>
                  <a:schemeClr val="tx2"/>
                </a:solidFill>
              </a:rPr>
              <a:t>(2)]:  Let (X,Y) be a bipartition of V(G). Color nodes in X with color 1, and nodes in 	Y with color 2.</a:t>
            </a:r>
          </a:p>
          <a:p>
            <a:pPr defTabSz="1235075" eaLnBrk="1" hangingPunct="1">
              <a:lnSpc>
                <a:spcPct val="95000"/>
              </a:lnSpc>
              <a:buFontTx/>
              <a:buNone/>
            </a:pPr>
            <a:endParaRPr lang="en-US" sz="1800">
              <a:solidFill>
                <a:schemeClr val="tx2"/>
              </a:solidFill>
            </a:endParaRPr>
          </a:p>
          <a:p>
            <a:pPr defTabSz="1235075" eaLnBrk="1" hangingPunct="1">
              <a:lnSpc>
                <a:spcPct val="95000"/>
              </a:lnSpc>
              <a:buFontTx/>
              <a:buNone/>
            </a:pPr>
            <a:r>
              <a:rPr lang="en-US" sz="1800">
                <a:solidFill>
                  <a:schemeClr val="tx2"/>
                </a:solidFill>
              </a:rPr>
              <a:t>[(2) </a:t>
            </a:r>
            <a:r>
              <a:rPr lang="en-US" sz="1800">
                <a:solidFill>
                  <a:schemeClr val="tx2"/>
                </a:solidFill>
                <a:sym typeface="Symbol" pitchFamily="18" charset="2"/>
              </a:rPr>
              <a:t> </a:t>
            </a:r>
            <a:r>
              <a:rPr lang="en-US" sz="1800">
                <a:solidFill>
                  <a:schemeClr val="tx2"/>
                </a:solidFill>
              </a:rPr>
              <a:t>(3)]:   If G is 2-colorable, then vertices of any cycle have alternate colors. </a:t>
            </a:r>
            <a:br>
              <a:rPr lang="en-US" sz="1800">
                <a:solidFill>
                  <a:schemeClr val="tx2"/>
                </a:solidFill>
              </a:rPr>
            </a:br>
            <a:r>
              <a:rPr lang="en-US" sz="1800">
                <a:solidFill>
                  <a:schemeClr val="tx2"/>
                </a:solidFill>
              </a:rPr>
              <a:t>	Hence, the cycle has even length.</a:t>
            </a:r>
          </a:p>
          <a:p>
            <a:pPr defTabSz="1235075" eaLnBrk="1" hangingPunct="1">
              <a:lnSpc>
                <a:spcPct val="95000"/>
              </a:lnSpc>
              <a:buFontTx/>
              <a:buNone/>
            </a:pPr>
            <a:endParaRPr lang="en-US" sz="1800">
              <a:solidFill>
                <a:schemeClr val="tx2"/>
              </a:solidFill>
            </a:endParaRPr>
          </a:p>
          <a:p>
            <a:pPr defTabSz="1235075" eaLnBrk="1" hangingPunct="1">
              <a:lnSpc>
                <a:spcPct val="95000"/>
              </a:lnSpc>
              <a:buFontTx/>
              <a:buNone/>
            </a:pPr>
            <a:r>
              <a:rPr lang="en-US" sz="1800">
                <a:solidFill>
                  <a:schemeClr val="tx2"/>
                </a:solidFill>
              </a:rPr>
              <a:t>[(3) </a:t>
            </a:r>
            <a:r>
              <a:rPr lang="en-US" sz="1800">
                <a:solidFill>
                  <a:schemeClr val="tx2"/>
                </a:solidFill>
                <a:sym typeface="Symbol" pitchFamily="18" charset="2"/>
              </a:rPr>
              <a:t> </a:t>
            </a:r>
            <a:r>
              <a:rPr lang="en-US" sz="1800">
                <a:solidFill>
                  <a:schemeClr val="tx2"/>
                </a:solidFill>
              </a:rPr>
              <a:t>(4)]:  By Fact 2 we know </a:t>
            </a:r>
            <a:r>
              <a:rPr lang="en-US" sz="1800"/>
              <a:t>that  for each edge (u,v),  </a:t>
            </a:r>
            <a:r>
              <a:rPr lang="en-US" sz="1800">
                <a:sym typeface="Symbol" pitchFamily="18" charset="2"/>
              </a:rPr>
              <a:t>|d[u] – d[v]| </a:t>
            </a:r>
            <a:r>
              <a:rPr lang="en-US" sz="1800"/>
              <a:t> </a:t>
            </a:r>
            <a:r>
              <a:rPr lang="en-US" sz="1800">
                <a:sym typeface="Symbol" pitchFamily="18" charset="2"/>
              </a:rPr>
              <a:t>  1.</a:t>
            </a:r>
            <a:br>
              <a:rPr lang="en-US" sz="1800">
                <a:sym typeface="Symbol" pitchFamily="18" charset="2"/>
              </a:rPr>
            </a:br>
            <a:r>
              <a:rPr lang="en-US" sz="1800">
                <a:sym typeface="Symbol" pitchFamily="18" charset="2"/>
              </a:rPr>
              <a:t>	If d[u] = d[v] (i.e., they are at the same BFS tree level), then </a:t>
            </a:r>
            <a:br>
              <a:rPr lang="en-US" sz="1800">
                <a:sym typeface="Symbol" pitchFamily="18" charset="2"/>
              </a:rPr>
            </a:br>
            <a:r>
              <a:rPr lang="en-US" sz="1800">
                <a:sym typeface="Symbol" pitchFamily="18" charset="2"/>
              </a:rPr>
              <a:t>	edge (u,v) plus the tree paths from each of u and v to their </a:t>
            </a:r>
            <a:br>
              <a:rPr lang="en-US" sz="1800">
                <a:sym typeface="Symbol" pitchFamily="18" charset="2"/>
              </a:rPr>
            </a:br>
            <a:r>
              <a:rPr lang="en-US" sz="1800">
                <a:sym typeface="Symbol" pitchFamily="18" charset="2"/>
              </a:rPr>
              <a:t>	lowest common ancestor form an odd-length cycle. </a:t>
            </a:r>
            <a:br>
              <a:rPr lang="en-US" sz="1800">
                <a:sym typeface="Symbol" pitchFamily="18" charset="2"/>
              </a:rPr>
            </a:br>
            <a:r>
              <a:rPr lang="en-US" sz="1800">
                <a:sym typeface="Symbol" pitchFamily="18" charset="2"/>
              </a:rPr>
              <a:t>	A contradiction.  </a:t>
            </a:r>
            <a:endParaRPr lang="en-US" sz="1800"/>
          </a:p>
          <a:p>
            <a:pPr defTabSz="1235075" eaLnBrk="1" hangingPunct="1">
              <a:lnSpc>
                <a:spcPct val="95000"/>
              </a:lnSpc>
              <a:buFontTx/>
              <a:buNone/>
            </a:pPr>
            <a:endParaRPr lang="en-US" sz="1800">
              <a:solidFill>
                <a:schemeClr val="tx2"/>
              </a:solidFill>
            </a:endParaRPr>
          </a:p>
        </p:txBody>
      </p:sp>
      <p:grpSp>
        <p:nvGrpSpPr>
          <p:cNvPr id="114715" name="Group 27"/>
          <p:cNvGrpSpPr>
            <a:grpSpLocks/>
          </p:cNvGrpSpPr>
          <p:nvPr/>
        </p:nvGrpSpPr>
        <p:grpSpPr bwMode="auto">
          <a:xfrm>
            <a:off x="7315200" y="4038600"/>
            <a:ext cx="1295400" cy="1479550"/>
            <a:chOff x="1824" y="1248"/>
            <a:chExt cx="816" cy="932"/>
          </a:xfrm>
        </p:grpSpPr>
        <p:sp>
          <p:nvSpPr>
            <p:cNvPr id="25606" name="AutoShape 28"/>
            <p:cNvSpPr>
              <a:spLocks noChangeArrowheads="1"/>
            </p:cNvSpPr>
            <p:nvPr/>
          </p:nvSpPr>
          <p:spPr bwMode="auto">
            <a:xfrm>
              <a:off x="1824" y="1248"/>
              <a:ext cx="816" cy="912"/>
            </a:xfrm>
            <a:prstGeom prst="triangle">
              <a:avLst>
                <a:gd name="adj" fmla="val 50000"/>
              </a:avLst>
            </a:prstGeom>
            <a:solidFill>
              <a:schemeClr val="bg1"/>
            </a:solidFill>
            <a:ln w="190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25607" name="Freeform 29"/>
            <p:cNvSpPr>
              <a:spLocks/>
            </p:cNvSpPr>
            <p:nvPr/>
          </p:nvSpPr>
          <p:spPr bwMode="auto">
            <a:xfrm>
              <a:off x="2015" y="1584"/>
              <a:ext cx="193" cy="430"/>
            </a:xfrm>
            <a:custGeom>
              <a:avLst/>
              <a:gdLst>
                <a:gd name="T0" fmla="*/ 193 w 193"/>
                <a:gd name="T1" fmla="*/ 0 h 430"/>
                <a:gd name="T2" fmla="*/ 123 w 193"/>
                <a:gd name="T3" fmla="*/ 51 h 430"/>
                <a:gd name="T4" fmla="*/ 163 w 193"/>
                <a:gd name="T5" fmla="*/ 131 h 430"/>
                <a:gd name="T6" fmla="*/ 90 w 193"/>
                <a:gd name="T7" fmla="*/ 151 h 430"/>
                <a:gd name="T8" fmla="*/ 117 w 193"/>
                <a:gd name="T9" fmla="*/ 230 h 430"/>
                <a:gd name="T10" fmla="*/ 51 w 193"/>
                <a:gd name="T11" fmla="*/ 230 h 430"/>
                <a:gd name="T12" fmla="*/ 77 w 193"/>
                <a:gd name="T13" fmla="*/ 310 h 430"/>
                <a:gd name="T14" fmla="*/ 4 w 193"/>
                <a:gd name="T15" fmla="*/ 316 h 430"/>
                <a:gd name="T16" fmla="*/ 51 w 193"/>
                <a:gd name="T17" fmla="*/ 382 h 430"/>
                <a:gd name="T18" fmla="*/ 1 w 193"/>
                <a:gd name="T19" fmla="*/ 430 h 4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 h="430">
                  <a:moveTo>
                    <a:pt x="193" y="0"/>
                  </a:moveTo>
                  <a:cubicBezTo>
                    <a:pt x="181" y="9"/>
                    <a:pt x="128" y="29"/>
                    <a:pt x="123" y="51"/>
                  </a:cubicBezTo>
                  <a:cubicBezTo>
                    <a:pt x="118" y="73"/>
                    <a:pt x="168" y="114"/>
                    <a:pt x="163" y="131"/>
                  </a:cubicBezTo>
                  <a:cubicBezTo>
                    <a:pt x="158" y="148"/>
                    <a:pt x="98" y="135"/>
                    <a:pt x="90" y="151"/>
                  </a:cubicBezTo>
                  <a:cubicBezTo>
                    <a:pt x="82" y="167"/>
                    <a:pt x="123" y="217"/>
                    <a:pt x="117" y="230"/>
                  </a:cubicBezTo>
                  <a:cubicBezTo>
                    <a:pt x="111" y="243"/>
                    <a:pt x="58" y="217"/>
                    <a:pt x="51" y="230"/>
                  </a:cubicBezTo>
                  <a:cubicBezTo>
                    <a:pt x="44" y="243"/>
                    <a:pt x="85" y="296"/>
                    <a:pt x="77" y="310"/>
                  </a:cubicBezTo>
                  <a:cubicBezTo>
                    <a:pt x="69" y="324"/>
                    <a:pt x="8" y="304"/>
                    <a:pt x="4" y="316"/>
                  </a:cubicBezTo>
                  <a:cubicBezTo>
                    <a:pt x="0" y="328"/>
                    <a:pt x="51" y="363"/>
                    <a:pt x="51" y="382"/>
                  </a:cubicBezTo>
                  <a:cubicBezTo>
                    <a:pt x="51" y="401"/>
                    <a:pt x="12" y="420"/>
                    <a:pt x="1" y="430"/>
                  </a:cubicBezTo>
                </a:path>
              </a:pathLst>
            </a:custGeom>
            <a:noFill/>
            <a:ln w="12700" cap="flat" cmpd="sng">
              <a:solidFill>
                <a:schemeClr val="tx1"/>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25608" name="Freeform 30"/>
            <p:cNvSpPr>
              <a:spLocks/>
            </p:cNvSpPr>
            <p:nvPr/>
          </p:nvSpPr>
          <p:spPr bwMode="auto">
            <a:xfrm>
              <a:off x="2208" y="1584"/>
              <a:ext cx="223" cy="432"/>
            </a:xfrm>
            <a:custGeom>
              <a:avLst/>
              <a:gdLst>
                <a:gd name="T0" fmla="*/ 0 w 223"/>
                <a:gd name="T1" fmla="*/ 0 h 432"/>
                <a:gd name="T2" fmla="*/ 70 w 223"/>
                <a:gd name="T3" fmla="*/ 58 h 432"/>
                <a:gd name="T4" fmla="*/ 43 w 223"/>
                <a:gd name="T5" fmla="*/ 131 h 432"/>
                <a:gd name="T6" fmla="*/ 109 w 223"/>
                <a:gd name="T7" fmla="*/ 164 h 432"/>
                <a:gd name="T8" fmla="*/ 89 w 223"/>
                <a:gd name="T9" fmla="*/ 237 h 432"/>
                <a:gd name="T10" fmla="*/ 162 w 223"/>
                <a:gd name="T11" fmla="*/ 270 h 432"/>
                <a:gd name="T12" fmla="*/ 142 w 223"/>
                <a:gd name="T13" fmla="*/ 329 h 432"/>
                <a:gd name="T14" fmla="*/ 215 w 223"/>
                <a:gd name="T15" fmla="*/ 356 h 432"/>
                <a:gd name="T16" fmla="*/ 192 w 223"/>
                <a:gd name="T17" fmla="*/ 432 h 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3" h="432">
                  <a:moveTo>
                    <a:pt x="0" y="0"/>
                  </a:moveTo>
                  <a:cubicBezTo>
                    <a:pt x="12" y="10"/>
                    <a:pt x="63" y="36"/>
                    <a:pt x="70" y="58"/>
                  </a:cubicBezTo>
                  <a:cubicBezTo>
                    <a:pt x="77" y="80"/>
                    <a:pt x="37" y="114"/>
                    <a:pt x="43" y="131"/>
                  </a:cubicBezTo>
                  <a:cubicBezTo>
                    <a:pt x="49" y="148"/>
                    <a:pt x="101" y="146"/>
                    <a:pt x="109" y="164"/>
                  </a:cubicBezTo>
                  <a:cubicBezTo>
                    <a:pt x="117" y="182"/>
                    <a:pt x="80" y="219"/>
                    <a:pt x="89" y="237"/>
                  </a:cubicBezTo>
                  <a:cubicBezTo>
                    <a:pt x="98" y="255"/>
                    <a:pt x="153" y="255"/>
                    <a:pt x="162" y="270"/>
                  </a:cubicBezTo>
                  <a:cubicBezTo>
                    <a:pt x="171" y="285"/>
                    <a:pt x="133" y="315"/>
                    <a:pt x="142" y="329"/>
                  </a:cubicBezTo>
                  <a:cubicBezTo>
                    <a:pt x="151" y="343"/>
                    <a:pt x="207" y="339"/>
                    <a:pt x="215" y="356"/>
                  </a:cubicBezTo>
                  <a:cubicBezTo>
                    <a:pt x="223" y="373"/>
                    <a:pt x="197" y="416"/>
                    <a:pt x="192" y="432"/>
                  </a:cubicBezTo>
                </a:path>
              </a:pathLst>
            </a:custGeom>
            <a:noFill/>
            <a:ln w="12700" cap="flat" cmpd="sng">
              <a:solidFill>
                <a:schemeClr val="tx1"/>
              </a:solidFill>
              <a:prstDash val="solid"/>
              <a:round/>
              <a:headEnd type="none"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25609" name="Freeform 31"/>
            <p:cNvSpPr>
              <a:spLocks/>
            </p:cNvSpPr>
            <p:nvPr/>
          </p:nvSpPr>
          <p:spPr bwMode="auto">
            <a:xfrm>
              <a:off x="2016" y="2016"/>
              <a:ext cx="384" cy="50"/>
            </a:xfrm>
            <a:custGeom>
              <a:avLst/>
              <a:gdLst>
                <a:gd name="T0" fmla="*/ 0 w 384"/>
                <a:gd name="T1" fmla="*/ 0 h 50"/>
                <a:gd name="T2" fmla="*/ 182 w 384"/>
                <a:gd name="T3" fmla="*/ 50 h 50"/>
                <a:gd name="T4" fmla="*/ 384 w 384"/>
                <a:gd name="T5" fmla="*/ 1 h 50"/>
                <a:gd name="T6" fmla="*/ 0 60000 65536"/>
                <a:gd name="T7" fmla="*/ 0 60000 65536"/>
                <a:gd name="T8" fmla="*/ 0 60000 65536"/>
              </a:gdLst>
              <a:ahLst/>
              <a:cxnLst>
                <a:cxn ang="T6">
                  <a:pos x="T0" y="T1"/>
                </a:cxn>
                <a:cxn ang="T7">
                  <a:pos x="T2" y="T3"/>
                </a:cxn>
                <a:cxn ang="T8">
                  <a:pos x="T4" y="T5"/>
                </a:cxn>
              </a:cxnLst>
              <a:rect l="0" t="0" r="r" b="b"/>
              <a:pathLst>
                <a:path w="384" h="50">
                  <a:moveTo>
                    <a:pt x="0" y="0"/>
                  </a:moveTo>
                  <a:lnTo>
                    <a:pt x="182" y="50"/>
                  </a:lnTo>
                  <a:cubicBezTo>
                    <a:pt x="246" y="50"/>
                    <a:pt x="342" y="11"/>
                    <a:pt x="384" y="1"/>
                  </a:cubicBezTo>
                </a:path>
              </a:pathLst>
            </a:custGeom>
            <a:noFill/>
            <a:ln w="12700" cap="flat"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25610" name="Text Box 32"/>
            <p:cNvSpPr txBox="1">
              <a:spLocks noChangeArrowheads="1"/>
            </p:cNvSpPr>
            <p:nvPr/>
          </p:nvSpPr>
          <p:spPr bwMode="auto">
            <a:xfrm>
              <a:off x="1872" y="1968"/>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u</a:t>
              </a:r>
            </a:p>
          </p:txBody>
        </p:sp>
        <p:sp>
          <p:nvSpPr>
            <p:cNvPr id="25611" name="Text Box 33"/>
            <p:cNvSpPr txBox="1">
              <a:spLocks noChangeArrowheads="1"/>
            </p:cNvSpPr>
            <p:nvPr/>
          </p:nvSpPr>
          <p:spPr bwMode="auto">
            <a:xfrm>
              <a:off x="2400" y="1920"/>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v</a:t>
              </a:r>
            </a:p>
          </p:txBody>
        </p:sp>
      </p:grpSp>
      <p:sp>
        <p:nvSpPr>
          <p:cNvPr id="114722" name="Rectangle 34"/>
          <p:cNvSpPr>
            <a:spLocks noChangeArrowheads="1"/>
          </p:cNvSpPr>
          <p:nvPr/>
        </p:nvSpPr>
        <p:spPr bwMode="auto">
          <a:xfrm>
            <a:off x="152400" y="5715000"/>
            <a:ext cx="8610600" cy="87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1235075" eaLnBrk="1" hangingPunct="1">
              <a:lnSpc>
                <a:spcPct val="95000"/>
              </a:lnSpc>
              <a:spcBef>
                <a:spcPct val="50000"/>
              </a:spcBef>
              <a:buFontTx/>
              <a:buNone/>
            </a:pPr>
            <a:r>
              <a:rPr lang="en-US" sz="1800">
                <a:solidFill>
                  <a:schemeClr val="tx2"/>
                </a:solidFill>
              </a:rPr>
              <a:t>[(4) </a:t>
            </a:r>
            <a:r>
              <a:rPr lang="en-US" sz="1800">
                <a:solidFill>
                  <a:schemeClr val="tx2"/>
                </a:solidFill>
                <a:sym typeface="Symbol" pitchFamily="18" charset="2"/>
              </a:rPr>
              <a:t> </a:t>
            </a:r>
            <a:r>
              <a:rPr lang="en-US" sz="1800">
                <a:solidFill>
                  <a:schemeClr val="tx2"/>
                </a:solidFill>
              </a:rPr>
              <a:t>(1)]:  Do BFS of each connected component of G:  Set</a:t>
            </a:r>
            <a:br>
              <a:rPr lang="en-US" sz="1800">
                <a:solidFill>
                  <a:schemeClr val="tx2"/>
                </a:solidFill>
              </a:rPr>
            </a:br>
            <a:r>
              <a:rPr lang="en-US" sz="1800">
                <a:solidFill>
                  <a:schemeClr val="tx2"/>
                </a:solidFill>
              </a:rPr>
              <a:t>	V</a:t>
            </a:r>
            <a:r>
              <a:rPr lang="en-US" sz="1800" baseline="-25000">
                <a:solidFill>
                  <a:schemeClr val="tx2"/>
                </a:solidFill>
              </a:rPr>
              <a:t>1</a:t>
            </a:r>
            <a:r>
              <a:rPr lang="en-US" sz="1800">
                <a:solidFill>
                  <a:schemeClr val="tx2"/>
                </a:solidFill>
              </a:rPr>
              <a:t> = { u </a:t>
            </a:r>
            <a:r>
              <a:rPr lang="en-US" sz="1800">
                <a:solidFill>
                  <a:schemeClr val="tx2"/>
                </a:solidFill>
                <a:sym typeface="Symbol" pitchFamily="18" charset="2"/>
              </a:rPr>
              <a:t></a:t>
            </a:r>
            <a:r>
              <a:rPr lang="en-US" sz="1800">
                <a:solidFill>
                  <a:schemeClr val="tx2"/>
                </a:solidFill>
              </a:rPr>
              <a:t>V(G) |   d[u] is even },  V</a:t>
            </a:r>
            <a:r>
              <a:rPr lang="en-US" sz="1800" baseline="-25000">
                <a:solidFill>
                  <a:schemeClr val="tx2"/>
                </a:solidFill>
              </a:rPr>
              <a:t>2</a:t>
            </a:r>
            <a:r>
              <a:rPr lang="en-US" sz="1800">
                <a:solidFill>
                  <a:schemeClr val="tx2"/>
                </a:solidFill>
              </a:rPr>
              <a:t> = { u </a:t>
            </a:r>
            <a:r>
              <a:rPr lang="en-US" sz="1800">
                <a:solidFill>
                  <a:schemeClr val="tx2"/>
                </a:solidFill>
                <a:sym typeface="Symbol" pitchFamily="18" charset="2"/>
              </a:rPr>
              <a:t></a:t>
            </a:r>
            <a:r>
              <a:rPr lang="en-US" sz="1800">
                <a:solidFill>
                  <a:schemeClr val="tx2"/>
                </a:solidFill>
              </a:rPr>
              <a:t>V(G) |   d[u] is odd }.</a:t>
            </a:r>
            <a:br>
              <a:rPr lang="en-US" sz="1800">
                <a:solidFill>
                  <a:schemeClr val="tx2"/>
                </a:solidFill>
              </a:rPr>
            </a:br>
            <a:r>
              <a:rPr lang="en-US" sz="1800">
                <a:solidFill>
                  <a:schemeClr val="tx2"/>
                </a:solidFill>
              </a:rPr>
              <a:t>	(V</a:t>
            </a:r>
            <a:r>
              <a:rPr lang="en-US" sz="1800" baseline="-25000">
                <a:solidFill>
                  <a:schemeClr val="tx2"/>
                </a:solidFill>
              </a:rPr>
              <a:t>1</a:t>
            </a:r>
            <a:r>
              <a:rPr lang="en-US" sz="1800">
                <a:solidFill>
                  <a:schemeClr val="tx2"/>
                </a:solidFill>
              </a:rPr>
              <a:t> , V</a:t>
            </a:r>
            <a:r>
              <a:rPr lang="en-US" sz="1800" baseline="-25000">
                <a:solidFill>
                  <a:schemeClr val="tx2"/>
                </a:solidFill>
              </a:rPr>
              <a:t>2</a:t>
            </a:r>
            <a:r>
              <a:rPr lang="en-US" sz="1800">
                <a:solidFill>
                  <a:schemeClr val="tx2"/>
                </a:solidFill>
              </a:rPr>
              <a:t> )  is a valid bipartition of G. </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14712"/>
                                        </p:tgtEl>
                                        <p:attrNameLst>
                                          <p:attrName>style.visibility</p:attrName>
                                        </p:attrNameLst>
                                      </p:cBhvr>
                                      <p:to>
                                        <p:strVal val="visible"/>
                                      </p:to>
                                    </p:set>
                                    <p:animEffect transition="in" filter="wipe(up)">
                                      <p:cBhvr>
                                        <p:cTn id="7" dur="500"/>
                                        <p:tgtEl>
                                          <p:spTgt spid="1147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4713">
                                            <p:txEl>
                                              <p:pRg st="0" end="0"/>
                                            </p:txEl>
                                          </p:spTgt>
                                        </p:tgtEl>
                                        <p:attrNameLst>
                                          <p:attrName>style.visibility</p:attrName>
                                        </p:attrNameLst>
                                      </p:cBhvr>
                                      <p:to>
                                        <p:strVal val="visible"/>
                                      </p:to>
                                    </p:set>
                                    <p:animEffect transition="in" filter="wipe(left)">
                                      <p:cBhvr>
                                        <p:cTn id="12" dur="500"/>
                                        <p:tgtEl>
                                          <p:spTgt spid="11471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4713">
                                            <p:txEl>
                                              <p:pRg st="2" end="2"/>
                                            </p:txEl>
                                          </p:spTgt>
                                        </p:tgtEl>
                                        <p:attrNameLst>
                                          <p:attrName>style.visibility</p:attrName>
                                        </p:attrNameLst>
                                      </p:cBhvr>
                                      <p:to>
                                        <p:strVal val="visible"/>
                                      </p:to>
                                    </p:set>
                                    <p:animEffect transition="in" filter="wipe(left)">
                                      <p:cBhvr>
                                        <p:cTn id="17" dur="500"/>
                                        <p:tgtEl>
                                          <p:spTgt spid="11471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4713">
                                            <p:txEl>
                                              <p:pRg st="4" end="4"/>
                                            </p:txEl>
                                          </p:spTgt>
                                        </p:tgtEl>
                                        <p:attrNameLst>
                                          <p:attrName>style.visibility</p:attrName>
                                        </p:attrNameLst>
                                      </p:cBhvr>
                                      <p:to>
                                        <p:strVal val="visible"/>
                                      </p:to>
                                    </p:set>
                                    <p:animEffect transition="in" filter="wipe(left)">
                                      <p:cBhvr>
                                        <p:cTn id="22" dur="500"/>
                                        <p:tgtEl>
                                          <p:spTgt spid="114713">
                                            <p:txEl>
                                              <p:pRg st="4" end="4"/>
                                            </p:txEl>
                                          </p:spTgt>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114715"/>
                                        </p:tgtEl>
                                        <p:attrNameLst>
                                          <p:attrName>style.visibility</p:attrName>
                                        </p:attrNameLst>
                                      </p:cBhvr>
                                      <p:to>
                                        <p:strVal val="visible"/>
                                      </p:to>
                                    </p:set>
                                    <p:animEffect transition="in" filter="wipe(left)">
                                      <p:cBhvr>
                                        <p:cTn id="26" dur="500"/>
                                        <p:tgtEl>
                                          <p:spTgt spid="11471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4722">
                                            <p:txEl>
                                              <p:pRg st="0" end="0"/>
                                            </p:txEl>
                                          </p:spTgt>
                                        </p:tgtEl>
                                        <p:attrNameLst>
                                          <p:attrName>style.visibility</p:attrName>
                                        </p:attrNameLst>
                                      </p:cBhvr>
                                      <p:to>
                                        <p:strVal val="visible"/>
                                      </p:to>
                                    </p:set>
                                    <p:animEffect transition="in" filter="wipe(left)">
                                      <p:cBhvr>
                                        <p:cTn id="31" dur="500"/>
                                        <p:tgtEl>
                                          <p:spTgt spid="1147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12" grpId="0" animBg="1" autoUpdateAnimBg="0"/>
      <p:bldP spid="114713" grpId="0" build="p" autoUpdateAnimBg="0"/>
      <p:bldP spid="114722"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p:cNvSpPr>
            <a:spLocks noGrp="1" noChangeArrowheads="1"/>
          </p:cNvSpPr>
          <p:nvPr>
            <p:ph type="ctrTitle"/>
          </p:nvPr>
        </p:nvSpPr>
        <p:spPr>
          <a:xfrm>
            <a:off x="685800" y="2286000"/>
            <a:ext cx="7772400" cy="1371600"/>
          </a:xfrm>
          <a:solidFill>
            <a:srgbClr val="FFCCCC"/>
          </a:solidFill>
          <a:ln w="762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lstStyle/>
          <a:p>
            <a:pPr eaLnBrk="1" hangingPunct="1"/>
            <a:r>
              <a:rPr lang="en-US" sz="4800" smtClean="0">
                <a:solidFill>
                  <a:schemeClr val="accent2"/>
                </a:solidFill>
                <a:latin typeface="Arial Rounded MT Bold" pitchFamily="34" charset="0"/>
              </a:rPr>
              <a:t>DEPTH  FIRST  SEARCH</a:t>
            </a:r>
          </a:p>
        </p:txBody>
      </p:sp>
      <p:sp>
        <p:nvSpPr>
          <p:cNvPr id="2" name="Slide Number Placeholder 1"/>
          <p:cNvSpPr>
            <a:spLocks noGrp="1"/>
          </p:cNvSpPr>
          <p:nvPr>
            <p:ph type="sldNum" sz="quarter" idx="12"/>
          </p:nvPr>
        </p:nvSpPr>
        <p:spPr/>
        <p:txBody>
          <a:bodyPr/>
          <a:lstStyle/>
          <a:p>
            <a:pPr>
              <a:defRPr/>
            </a:pPr>
            <a:fld id="{90683EDB-7658-49F0-B96C-482436AB937A}" type="slidenum">
              <a:rPr lang="en-US" smtClean="0"/>
              <a:pPr>
                <a:defRPr/>
              </a:pPr>
              <a:t>25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81922"/>
                                        </p:tgtEl>
                                        <p:attrNameLst>
                                          <p:attrName>style.visibility</p:attrName>
                                        </p:attrNameLst>
                                      </p:cBhvr>
                                      <p:to>
                                        <p:strVal val="visible"/>
                                      </p:to>
                                    </p:set>
                                    <p:anim calcmode="lin" valueType="num">
                                      <p:cBhvr>
                                        <p:cTn id="7" dur="500" fill="hold"/>
                                        <p:tgtEl>
                                          <p:spTgt spid="81922"/>
                                        </p:tgtEl>
                                        <p:attrNameLst>
                                          <p:attrName>ppt_w</p:attrName>
                                        </p:attrNameLst>
                                      </p:cBhvr>
                                      <p:tavLst>
                                        <p:tav tm="0">
                                          <p:val>
                                            <p:fltVal val="0"/>
                                          </p:val>
                                        </p:tav>
                                        <p:tav tm="100000">
                                          <p:val>
                                            <p:strVal val="#ppt_w"/>
                                          </p:val>
                                        </p:tav>
                                      </p:tavLst>
                                    </p:anim>
                                    <p:anim calcmode="lin" valueType="num">
                                      <p:cBhvr>
                                        <p:cTn id="8" dur="500" fill="hold"/>
                                        <p:tgtEl>
                                          <p:spTgt spid="8192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DFS  Properties</a:t>
            </a:r>
          </a:p>
        </p:txBody>
      </p:sp>
      <p:sp>
        <p:nvSpPr>
          <p:cNvPr id="116739" name="Text Box 3"/>
          <p:cNvSpPr txBox="1">
            <a:spLocks noChangeArrowheads="1"/>
          </p:cNvSpPr>
          <p:nvPr/>
        </p:nvSpPr>
        <p:spPr bwMode="auto">
          <a:xfrm>
            <a:off x="228600" y="838200"/>
            <a:ext cx="8763000" cy="531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8913" indent="-188913" defTabSz="858838">
              <a:defRPr sz="1600">
                <a:solidFill>
                  <a:schemeClr val="tx1"/>
                </a:solidFill>
                <a:latin typeface="Times New Roman" pitchFamily="18" charset="0"/>
              </a:defRPr>
            </a:lvl1pPr>
            <a:lvl2pPr marL="742950" indent="-285750" defTabSz="858838">
              <a:defRPr sz="1600">
                <a:solidFill>
                  <a:schemeClr val="tx1"/>
                </a:solidFill>
                <a:latin typeface="Times New Roman" pitchFamily="18" charset="0"/>
              </a:defRPr>
            </a:lvl2pPr>
            <a:lvl3pPr marL="1143000" indent="-228600" defTabSz="858838">
              <a:defRPr sz="1600">
                <a:solidFill>
                  <a:schemeClr val="tx1"/>
                </a:solidFill>
                <a:latin typeface="Times New Roman" pitchFamily="18" charset="0"/>
              </a:defRPr>
            </a:lvl3pPr>
            <a:lvl4pPr marL="1600200" indent="-228600" defTabSz="858838">
              <a:defRPr sz="1600">
                <a:solidFill>
                  <a:schemeClr val="tx1"/>
                </a:solidFill>
                <a:latin typeface="Times New Roman" pitchFamily="18" charset="0"/>
              </a:defRPr>
            </a:lvl4pPr>
            <a:lvl5pPr marL="2057400" indent="-228600" defTabSz="858838">
              <a:defRPr sz="1600">
                <a:solidFill>
                  <a:schemeClr val="tx1"/>
                </a:solidFill>
                <a:latin typeface="Times New Roman" pitchFamily="18" charset="0"/>
              </a:defRPr>
            </a:lvl5pPr>
            <a:lvl6pPr marL="2514600" indent="-228600" defTabSz="858838" eaLnBrk="0" fontAlgn="base" hangingPunct="0">
              <a:spcBef>
                <a:spcPct val="0"/>
              </a:spcBef>
              <a:spcAft>
                <a:spcPct val="0"/>
              </a:spcAft>
              <a:buChar char="•"/>
              <a:defRPr sz="1600">
                <a:solidFill>
                  <a:schemeClr val="tx1"/>
                </a:solidFill>
                <a:latin typeface="Times New Roman" pitchFamily="18" charset="0"/>
              </a:defRPr>
            </a:lvl6pPr>
            <a:lvl7pPr marL="2971800" indent="-228600" defTabSz="858838" eaLnBrk="0" fontAlgn="base" hangingPunct="0">
              <a:spcBef>
                <a:spcPct val="0"/>
              </a:spcBef>
              <a:spcAft>
                <a:spcPct val="0"/>
              </a:spcAft>
              <a:buChar char="•"/>
              <a:defRPr sz="1600">
                <a:solidFill>
                  <a:schemeClr val="tx1"/>
                </a:solidFill>
                <a:latin typeface="Times New Roman" pitchFamily="18" charset="0"/>
              </a:defRPr>
            </a:lvl7pPr>
            <a:lvl8pPr marL="3429000" indent="-228600" defTabSz="858838" eaLnBrk="0" fontAlgn="base" hangingPunct="0">
              <a:spcBef>
                <a:spcPct val="0"/>
              </a:spcBef>
              <a:spcAft>
                <a:spcPct val="0"/>
              </a:spcAft>
              <a:buChar char="•"/>
              <a:defRPr sz="1600">
                <a:solidFill>
                  <a:schemeClr val="tx1"/>
                </a:solidFill>
                <a:latin typeface="Times New Roman" pitchFamily="18" charset="0"/>
              </a:defRPr>
            </a:lvl8pPr>
            <a:lvl9pPr marL="3886200" indent="-228600" defTabSz="858838"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 typeface="Wingdings" pitchFamily="2" charset="2"/>
              <a:buChar char="§"/>
            </a:pPr>
            <a:r>
              <a:rPr lang="en-US" sz="1800">
                <a:solidFill>
                  <a:schemeClr val="tx2"/>
                </a:solidFill>
                <a:latin typeface="Arial" pitchFamily="34" charset="0"/>
              </a:rPr>
              <a:t>Another simple linear-time graph search algorithm with many applications.</a:t>
            </a:r>
          </a:p>
          <a:p>
            <a:pPr eaLnBrk="1" hangingPunct="1">
              <a:buFont typeface="Wingdings" pitchFamily="2" charset="2"/>
              <a:buChar char="§"/>
            </a:pPr>
            <a:r>
              <a:rPr lang="en-US" sz="1800">
                <a:solidFill>
                  <a:schemeClr val="tx2"/>
                </a:solidFill>
                <a:latin typeface="Arial" pitchFamily="34" charset="0"/>
              </a:rPr>
              <a:t>Generalizes the pre-order and post-order traversals on trees. </a:t>
            </a:r>
          </a:p>
          <a:p>
            <a:pPr eaLnBrk="1" hangingPunct="1">
              <a:buFont typeface="Wingdings" pitchFamily="2" charset="2"/>
              <a:buChar char="§"/>
            </a:pPr>
            <a:r>
              <a:rPr lang="en-US" sz="1800">
                <a:solidFill>
                  <a:srgbClr val="CC0000"/>
                </a:solidFill>
                <a:latin typeface="Arial" pitchFamily="34" charset="0"/>
              </a:rPr>
              <a:t>G</a:t>
            </a:r>
            <a:r>
              <a:rPr lang="en-US" sz="1800">
                <a:solidFill>
                  <a:schemeClr val="tx2"/>
                </a:solidFill>
                <a:latin typeface="Arial" pitchFamily="34" charset="0"/>
              </a:rPr>
              <a:t> </a:t>
            </a:r>
            <a:r>
              <a:rPr lang="en-US" sz="1800">
                <a:solidFill>
                  <a:srgbClr val="CC0000"/>
                </a:solidFill>
                <a:latin typeface="Arial" pitchFamily="34" charset="0"/>
              </a:rPr>
              <a:t>= (V,E)</a:t>
            </a:r>
            <a:r>
              <a:rPr lang="en-US" sz="1800">
                <a:solidFill>
                  <a:schemeClr val="tx2"/>
                </a:solidFill>
                <a:latin typeface="Arial" pitchFamily="34" charset="0"/>
              </a:rPr>
              <a:t> a given directed or undirected graph.</a:t>
            </a:r>
            <a:br>
              <a:rPr lang="en-US" sz="1800">
                <a:solidFill>
                  <a:schemeClr val="tx2"/>
                </a:solidFill>
                <a:latin typeface="Arial" pitchFamily="34" charset="0"/>
              </a:rPr>
            </a:br>
            <a:endParaRPr lang="en-US" sz="1800">
              <a:solidFill>
                <a:schemeClr val="tx2"/>
              </a:solidFill>
              <a:latin typeface="Arial" pitchFamily="34" charset="0"/>
            </a:endParaRPr>
          </a:p>
          <a:p>
            <a:pPr eaLnBrk="1" hangingPunct="1">
              <a:buFont typeface="Wingdings" pitchFamily="2" charset="2"/>
              <a:buChar char="§"/>
            </a:pPr>
            <a:r>
              <a:rPr lang="en-US" sz="1800">
                <a:solidFill>
                  <a:schemeClr val="tx2"/>
                </a:solidFill>
                <a:latin typeface="Arial" pitchFamily="34" charset="0"/>
              </a:rPr>
              <a:t>DFS creates a forest of node-disjoint trees with non-tree edges between nodes.</a:t>
            </a:r>
            <a:br>
              <a:rPr lang="en-US" sz="1800">
                <a:solidFill>
                  <a:schemeClr val="tx2"/>
                </a:solidFill>
                <a:latin typeface="Arial" pitchFamily="34" charset="0"/>
              </a:rPr>
            </a:br>
            <a:r>
              <a:rPr lang="en-US" sz="1800">
                <a:solidFill>
                  <a:schemeClr val="tx2"/>
                </a:solidFill>
                <a:latin typeface="Arial" pitchFamily="34" charset="0"/>
              </a:rPr>
              <a:t>Pick an unvisited node as the root of the next DFS tree and advance the search.</a:t>
            </a:r>
            <a:br>
              <a:rPr lang="en-US" sz="1800">
                <a:solidFill>
                  <a:schemeClr val="tx2"/>
                </a:solidFill>
                <a:latin typeface="Arial" pitchFamily="34" charset="0"/>
              </a:rPr>
            </a:br>
            <a:endParaRPr lang="en-US" sz="1800">
              <a:solidFill>
                <a:schemeClr val="tx2"/>
              </a:solidFill>
              <a:latin typeface="Arial" pitchFamily="34" charset="0"/>
            </a:endParaRPr>
          </a:p>
          <a:p>
            <a:pPr eaLnBrk="1" hangingPunct="1">
              <a:buFont typeface="Wingdings" pitchFamily="2" charset="2"/>
              <a:buChar char="§"/>
            </a:pPr>
            <a:r>
              <a:rPr lang="en-US" sz="1800">
                <a:solidFill>
                  <a:srgbClr val="CC0000"/>
                </a:solidFill>
                <a:latin typeface="Arial" pitchFamily="34" charset="0"/>
              </a:rPr>
              <a:t>Greedy Choice:</a:t>
            </a:r>
            <a:r>
              <a:rPr lang="en-US" sz="1800">
                <a:solidFill>
                  <a:schemeClr val="tx2"/>
                </a:solidFill>
                <a:latin typeface="Arial" pitchFamily="34" charset="0"/>
              </a:rPr>
              <a:t> </a:t>
            </a:r>
            <a:br>
              <a:rPr lang="en-US" sz="1800">
                <a:solidFill>
                  <a:schemeClr val="tx2"/>
                </a:solidFill>
                <a:latin typeface="Arial" pitchFamily="34" charset="0"/>
              </a:rPr>
            </a:br>
            <a:r>
              <a:rPr lang="en-US" sz="1800">
                <a:solidFill>
                  <a:schemeClr val="tx2"/>
                </a:solidFill>
                <a:latin typeface="Arial" pitchFamily="34" charset="0"/>
              </a:rPr>
              <a:t>within the same DFS tree, advance the search from the most recent visited node.</a:t>
            </a:r>
            <a:br>
              <a:rPr lang="en-US" sz="1800">
                <a:solidFill>
                  <a:schemeClr val="tx2"/>
                </a:solidFill>
                <a:latin typeface="Arial" pitchFamily="34" charset="0"/>
              </a:rPr>
            </a:br>
            <a:endParaRPr lang="en-US" sz="1800">
              <a:solidFill>
                <a:schemeClr val="tx2"/>
              </a:solidFill>
              <a:latin typeface="Arial" pitchFamily="34" charset="0"/>
            </a:endParaRPr>
          </a:p>
          <a:p>
            <a:pPr eaLnBrk="1" hangingPunct="1">
              <a:buFont typeface="Wingdings" pitchFamily="2" charset="2"/>
              <a:buChar char="§"/>
            </a:pPr>
            <a:r>
              <a:rPr lang="en-US" sz="1800">
                <a:solidFill>
                  <a:srgbClr val="CC0000"/>
                </a:solidFill>
                <a:latin typeface="Arial" pitchFamily="34" charset="0"/>
              </a:rPr>
              <a:t>Recursive DFSvisit(u):</a:t>
            </a:r>
            <a:r>
              <a:rPr lang="en-US" sz="1800">
                <a:solidFill>
                  <a:schemeClr val="tx2"/>
                </a:solidFill>
                <a:latin typeface="Arial" pitchFamily="34" charset="0"/>
              </a:rPr>
              <a:t> </a:t>
            </a:r>
            <a:br>
              <a:rPr lang="en-US" sz="1800">
                <a:solidFill>
                  <a:schemeClr val="tx2"/>
                </a:solidFill>
                <a:latin typeface="Arial" pitchFamily="34" charset="0"/>
              </a:rPr>
            </a:br>
            <a:r>
              <a:rPr lang="en-US" sz="1800">
                <a:solidFill>
                  <a:schemeClr val="tx2"/>
                </a:solidFill>
                <a:latin typeface="Arial" pitchFamily="34" charset="0"/>
              </a:rPr>
              <a:t>explores nodes in the sub-tree rooted at u </a:t>
            </a:r>
            <a:br>
              <a:rPr lang="en-US" sz="1800">
                <a:solidFill>
                  <a:schemeClr val="tx2"/>
                </a:solidFill>
                <a:latin typeface="Arial" pitchFamily="34" charset="0"/>
              </a:rPr>
            </a:br>
            <a:r>
              <a:rPr lang="en-US" sz="1800">
                <a:solidFill>
                  <a:schemeClr val="tx2"/>
                </a:solidFill>
                <a:latin typeface="Arial" pitchFamily="34" charset="0"/>
              </a:rPr>
              <a:t>(the nodes reachable from u that are still unexplored at the time u gets visited).</a:t>
            </a:r>
            <a:br>
              <a:rPr lang="en-US" sz="1800">
                <a:solidFill>
                  <a:schemeClr val="tx2"/>
                </a:solidFill>
                <a:latin typeface="Arial" pitchFamily="34" charset="0"/>
              </a:rPr>
            </a:br>
            <a:endParaRPr lang="en-US" sz="1800">
              <a:solidFill>
                <a:schemeClr val="tx2"/>
              </a:solidFill>
              <a:latin typeface="Arial" pitchFamily="34" charset="0"/>
            </a:endParaRPr>
          </a:p>
          <a:p>
            <a:pPr eaLnBrk="1" hangingPunct="1">
              <a:buFont typeface="Wingdings" pitchFamily="2" charset="2"/>
              <a:buChar char="§"/>
            </a:pPr>
            <a:r>
              <a:rPr lang="en-US" sz="1800">
                <a:solidFill>
                  <a:schemeClr val="tx2"/>
                </a:solidFill>
                <a:latin typeface="Arial" pitchFamily="34" charset="0"/>
                <a:sym typeface="Symbol" pitchFamily="18" charset="2"/>
              </a:rPr>
              <a:t>DFS(u) recursive call is active    u is an ancestor of the most recent visited node.</a:t>
            </a:r>
            <a:br>
              <a:rPr lang="en-US" sz="1800">
                <a:solidFill>
                  <a:schemeClr val="tx2"/>
                </a:solidFill>
                <a:latin typeface="Arial" pitchFamily="34" charset="0"/>
                <a:sym typeface="Symbol" pitchFamily="18" charset="2"/>
              </a:rPr>
            </a:br>
            <a:r>
              <a:rPr lang="en-US" sz="1800">
                <a:solidFill>
                  <a:schemeClr val="tx2"/>
                </a:solidFill>
                <a:latin typeface="Arial" pitchFamily="34" charset="0"/>
                <a:sym typeface="Symbol" pitchFamily="18" charset="2"/>
              </a:rPr>
              <a:t> </a:t>
            </a:r>
          </a:p>
          <a:p>
            <a:pPr eaLnBrk="1" hangingPunct="1">
              <a:buFont typeface="Wingdings" pitchFamily="2" charset="2"/>
              <a:buChar char="§"/>
            </a:pPr>
            <a:r>
              <a:rPr lang="en-US" sz="1800">
                <a:solidFill>
                  <a:srgbClr val="CC0000"/>
                </a:solidFill>
                <a:latin typeface="Arial" pitchFamily="34" charset="0"/>
                <a:sym typeface="Symbol" pitchFamily="18" charset="2"/>
              </a:rPr>
              <a:t>[ d[u], f[u] ]  = DFS time stamp for node u:</a:t>
            </a:r>
            <a:r>
              <a:rPr lang="en-US" sz="1800">
                <a:solidFill>
                  <a:schemeClr val="tx2"/>
                </a:solidFill>
                <a:latin typeface="Arial" pitchFamily="34" charset="0"/>
                <a:sym typeface="Symbol" pitchFamily="18" charset="2"/>
              </a:rPr>
              <a:t> </a:t>
            </a:r>
            <a:br>
              <a:rPr lang="en-US" sz="1800">
                <a:solidFill>
                  <a:schemeClr val="tx2"/>
                </a:solidFill>
                <a:latin typeface="Arial" pitchFamily="34" charset="0"/>
                <a:sym typeface="Symbol" pitchFamily="18" charset="2"/>
              </a:rPr>
            </a:br>
            <a:r>
              <a:rPr lang="en-US" sz="1800">
                <a:solidFill>
                  <a:schemeClr val="tx2"/>
                </a:solidFill>
                <a:latin typeface="Arial" pitchFamily="34" charset="0"/>
                <a:sym typeface="Symbol" pitchFamily="18" charset="2"/>
              </a:rPr>
              <a:t>	  d[u] = start time of DFSvisit(u),</a:t>
            </a:r>
            <a:br>
              <a:rPr lang="en-US" sz="1800">
                <a:solidFill>
                  <a:schemeClr val="tx2"/>
                </a:solidFill>
                <a:latin typeface="Arial" pitchFamily="34" charset="0"/>
                <a:sym typeface="Symbol" pitchFamily="18" charset="2"/>
              </a:rPr>
            </a:br>
            <a:r>
              <a:rPr lang="en-US" sz="1800">
                <a:solidFill>
                  <a:schemeClr val="tx2"/>
                </a:solidFill>
                <a:latin typeface="Arial" pitchFamily="34" charset="0"/>
                <a:sym typeface="Symbol" pitchFamily="18" charset="2"/>
              </a:rPr>
              <a:t>	  f[u]  = finishing time of DFSvisit(u).</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26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16738"/>
                                        </p:tgtEl>
                                        <p:attrNameLst>
                                          <p:attrName>style.visibility</p:attrName>
                                        </p:attrNameLst>
                                      </p:cBhvr>
                                      <p:to>
                                        <p:strVal val="visible"/>
                                      </p:to>
                                    </p:set>
                                    <p:anim calcmode="lin" valueType="num">
                                      <p:cBhvr>
                                        <p:cTn id="7" dur="500" fill="hold"/>
                                        <p:tgtEl>
                                          <p:spTgt spid="116738"/>
                                        </p:tgtEl>
                                        <p:attrNameLst>
                                          <p:attrName>ppt_w</p:attrName>
                                        </p:attrNameLst>
                                      </p:cBhvr>
                                      <p:tavLst>
                                        <p:tav tm="0">
                                          <p:val>
                                            <p:fltVal val="0"/>
                                          </p:val>
                                        </p:tav>
                                        <p:tav tm="100000">
                                          <p:val>
                                            <p:strVal val="#ppt_w"/>
                                          </p:val>
                                        </p:tav>
                                      </p:tavLst>
                                    </p:anim>
                                    <p:anim calcmode="lin" valueType="num">
                                      <p:cBhvr>
                                        <p:cTn id="8" dur="500" fill="hold"/>
                                        <p:tgtEl>
                                          <p:spTgt spid="11673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16739">
                                            <p:txEl>
                                              <p:pRg st="0" end="0"/>
                                            </p:txEl>
                                          </p:spTgt>
                                        </p:tgtEl>
                                        <p:attrNameLst>
                                          <p:attrName>style.visibility</p:attrName>
                                        </p:attrNameLst>
                                      </p:cBhvr>
                                      <p:to>
                                        <p:strVal val="visible"/>
                                      </p:to>
                                    </p:set>
                                    <p:animEffect transition="in" filter="wipe(up)">
                                      <p:cBhvr>
                                        <p:cTn id="13" dur="500"/>
                                        <p:tgtEl>
                                          <p:spTgt spid="116739">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16739">
                                            <p:txEl>
                                              <p:pRg st="1" end="1"/>
                                            </p:txEl>
                                          </p:spTgt>
                                        </p:tgtEl>
                                        <p:attrNameLst>
                                          <p:attrName>style.visibility</p:attrName>
                                        </p:attrNameLst>
                                      </p:cBhvr>
                                      <p:to>
                                        <p:strVal val="visible"/>
                                      </p:to>
                                    </p:set>
                                    <p:animEffect transition="in" filter="wipe(up)">
                                      <p:cBhvr>
                                        <p:cTn id="18" dur="500"/>
                                        <p:tgtEl>
                                          <p:spTgt spid="116739">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16739">
                                            <p:txEl>
                                              <p:pRg st="2" end="2"/>
                                            </p:txEl>
                                          </p:spTgt>
                                        </p:tgtEl>
                                        <p:attrNameLst>
                                          <p:attrName>style.visibility</p:attrName>
                                        </p:attrNameLst>
                                      </p:cBhvr>
                                      <p:to>
                                        <p:strVal val="visible"/>
                                      </p:to>
                                    </p:set>
                                    <p:animEffect transition="in" filter="wipe(up)">
                                      <p:cBhvr>
                                        <p:cTn id="23" dur="500"/>
                                        <p:tgtEl>
                                          <p:spTgt spid="116739">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16739">
                                            <p:txEl>
                                              <p:pRg st="3" end="3"/>
                                            </p:txEl>
                                          </p:spTgt>
                                        </p:tgtEl>
                                        <p:attrNameLst>
                                          <p:attrName>style.visibility</p:attrName>
                                        </p:attrNameLst>
                                      </p:cBhvr>
                                      <p:to>
                                        <p:strVal val="visible"/>
                                      </p:to>
                                    </p:set>
                                    <p:animEffect transition="in" filter="wipe(up)">
                                      <p:cBhvr>
                                        <p:cTn id="28" dur="500"/>
                                        <p:tgtEl>
                                          <p:spTgt spid="116739">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16739">
                                            <p:txEl>
                                              <p:pRg st="4" end="4"/>
                                            </p:txEl>
                                          </p:spTgt>
                                        </p:tgtEl>
                                        <p:attrNameLst>
                                          <p:attrName>style.visibility</p:attrName>
                                        </p:attrNameLst>
                                      </p:cBhvr>
                                      <p:to>
                                        <p:strVal val="visible"/>
                                      </p:to>
                                    </p:set>
                                    <p:animEffect transition="in" filter="wipe(up)">
                                      <p:cBhvr>
                                        <p:cTn id="33" dur="500"/>
                                        <p:tgtEl>
                                          <p:spTgt spid="116739">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16739">
                                            <p:txEl>
                                              <p:pRg st="5" end="5"/>
                                            </p:txEl>
                                          </p:spTgt>
                                        </p:tgtEl>
                                        <p:attrNameLst>
                                          <p:attrName>style.visibility</p:attrName>
                                        </p:attrNameLst>
                                      </p:cBhvr>
                                      <p:to>
                                        <p:strVal val="visible"/>
                                      </p:to>
                                    </p:set>
                                    <p:animEffect transition="in" filter="wipe(up)">
                                      <p:cBhvr>
                                        <p:cTn id="38" dur="500"/>
                                        <p:tgtEl>
                                          <p:spTgt spid="116739">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116739">
                                            <p:txEl>
                                              <p:pRg st="6" end="6"/>
                                            </p:txEl>
                                          </p:spTgt>
                                        </p:tgtEl>
                                        <p:attrNameLst>
                                          <p:attrName>style.visibility</p:attrName>
                                        </p:attrNameLst>
                                      </p:cBhvr>
                                      <p:to>
                                        <p:strVal val="visible"/>
                                      </p:to>
                                    </p:set>
                                    <p:animEffect transition="in" filter="wipe(up)">
                                      <p:cBhvr>
                                        <p:cTn id="43" dur="500"/>
                                        <p:tgtEl>
                                          <p:spTgt spid="116739">
                                            <p:txEl>
                                              <p:pRg st="6" end="6"/>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116739">
                                            <p:txEl>
                                              <p:pRg st="7" end="7"/>
                                            </p:txEl>
                                          </p:spTgt>
                                        </p:tgtEl>
                                        <p:attrNameLst>
                                          <p:attrName>style.visibility</p:attrName>
                                        </p:attrNameLst>
                                      </p:cBhvr>
                                      <p:to>
                                        <p:strVal val="visible"/>
                                      </p:to>
                                    </p:set>
                                    <p:animEffect transition="in" filter="wipe(up)">
                                      <p:cBhvr>
                                        <p:cTn id="48" dur="500"/>
                                        <p:tgtEl>
                                          <p:spTgt spid="1167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8" grpId="0" animBg="1" autoUpdateAnimBg="0"/>
      <p:bldP spid="116739"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DFS Algorithm</a:t>
            </a:r>
          </a:p>
        </p:txBody>
      </p:sp>
      <p:sp>
        <p:nvSpPr>
          <p:cNvPr id="118787" name="Text Box 3"/>
          <p:cNvSpPr txBox="1">
            <a:spLocks noChangeArrowheads="1"/>
          </p:cNvSpPr>
          <p:nvPr/>
        </p:nvSpPr>
        <p:spPr bwMode="auto">
          <a:xfrm>
            <a:off x="152400" y="838200"/>
            <a:ext cx="8839200" cy="5683250"/>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457200" indent="-457200" defTabSz="439738">
              <a:defRPr sz="1600">
                <a:solidFill>
                  <a:schemeClr val="tx1"/>
                </a:solidFill>
                <a:latin typeface="Times New Roman" pitchFamily="18" charset="0"/>
              </a:defRPr>
            </a:lvl1pPr>
            <a:lvl2pPr marL="742950" indent="-285750" defTabSz="439738">
              <a:defRPr sz="1600">
                <a:solidFill>
                  <a:schemeClr val="tx1"/>
                </a:solidFill>
                <a:latin typeface="Times New Roman" pitchFamily="18" charset="0"/>
              </a:defRPr>
            </a:lvl2pPr>
            <a:lvl3pPr marL="1143000" indent="-228600" defTabSz="439738">
              <a:defRPr sz="1600">
                <a:solidFill>
                  <a:schemeClr val="tx1"/>
                </a:solidFill>
                <a:latin typeface="Times New Roman" pitchFamily="18" charset="0"/>
              </a:defRPr>
            </a:lvl3pPr>
            <a:lvl4pPr marL="1600200" indent="-228600" defTabSz="439738">
              <a:defRPr sz="1600">
                <a:solidFill>
                  <a:schemeClr val="tx1"/>
                </a:solidFill>
                <a:latin typeface="Times New Roman" pitchFamily="18" charset="0"/>
              </a:defRPr>
            </a:lvl4pPr>
            <a:lvl5pPr marL="2057400" indent="-228600" defTabSz="439738">
              <a:defRPr sz="1600">
                <a:solidFill>
                  <a:schemeClr val="tx1"/>
                </a:solidFill>
                <a:latin typeface="Times New Roman" pitchFamily="18" charset="0"/>
              </a:defRPr>
            </a:lvl5pPr>
            <a:lvl6pPr marL="2514600" indent="-228600" defTabSz="439738" eaLnBrk="0" fontAlgn="base" hangingPunct="0">
              <a:spcBef>
                <a:spcPct val="0"/>
              </a:spcBef>
              <a:spcAft>
                <a:spcPct val="0"/>
              </a:spcAft>
              <a:buChar char="•"/>
              <a:defRPr sz="1600">
                <a:solidFill>
                  <a:schemeClr val="tx1"/>
                </a:solidFill>
                <a:latin typeface="Times New Roman" pitchFamily="18" charset="0"/>
              </a:defRPr>
            </a:lvl6pPr>
            <a:lvl7pPr marL="2971800" indent="-228600" defTabSz="439738" eaLnBrk="0" fontAlgn="base" hangingPunct="0">
              <a:spcBef>
                <a:spcPct val="0"/>
              </a:spcBef>
              <a:spcAft>
                <a:spcPct val="0"/>
              </a:spcAft>
              <a:buChar char="•"/>
              <a:defRPr sz="1600">
                <a:solidFill>
                  <a:schemeClr val="tx1"/>
                </a:solidFill>
                <a:latin typeface="Times New Roman" pitchFamily="18" charset="0"/>
              </a:defRPr>
            </a:lvl7pPr>
            <a:lvl8pPr marL="3429000" indent="-228600" defTabSz="439738" eaLnBrk="0" fontAlgn="base" hangingPunct="0">
              <a:spcBef>
                <a:spcPct val="0"/>
              </a:spcBef>
              <a:spcAft>
                <a:spcPct val="0"/>
              </a:spcAft>
              <a:buChar char="•"/>
              <a:defRPr sz="1600">
                <a:solidFill>
                  <a:schemeClr val="tx1"/>
                </a:solidFill>
                <a:latin typeface="Times New Roman" pitchFamily="18" charset="0"/>
              </a:defRPr>
            </a:lvl8pPr>
            <a:lvl9pPr marL="3886200" indent="-228600" defTabSz="439738"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95000"/>
              </a:lnSpc>
              <a:buFontTx/>
              <a:buNone/>
            </a:pPr>
            <a:r>
              <a:rPr lang="en-US" sz="2000" b="1" dirty="0"/>
              <a:t>Algorithm</a:t>
            </a:r>
            <a:r>
              <a:rPr lang="en-US" sz="2000" dirty="0">
                <a:solidFill>
                  <a:schemeClr val="hlink"/>
                </a:solidFill>
              </a:rPr>
              <a:t>  </a:t>
            </a:r>
            <a:r>
              <a:rPr lang="en-US" sz="2000" b="1" dirty="0">
                <a:solidFill>
                  <a:schemeClr val="hlink"/>
                </a:solidFill>
              </a:rPr>
              <a:t>DFS</a:t>
            </a:r>
            <a:r>
              <a:rPr lang="en-US" sz="2000" dirty="0">
                <a:solidFill>
                  <a:schemeClr val="hlink"/>
                </a:solidFill>
              </a:rPr>
              <a:t>(</a:t>
            </a:r>
            <a:r>
              <a:rPr lang="en-US" sz="2000" dirty="0">
                <a:solidFill>
                  <a:schemeClr val="hlink"/>
                </a:solidFill>
                <a:sym typeface="Symbol" pitchFamily="18" charset="2"/>
              </a:rPr>
              <a:t>G</a:t>
            </a:r>
            <a:r>
              <a:rPr lang="en-US" sz="2000" dirty="0">
                <a:solidFill>
                  <a:schemeClr val="hlink"/>
                </a:solidFill>
              </a:rPr>
              <a:t>)</a:t>
            </a:r>
            <a:r>
              <a:rPr lang="en-US" sz="2000" dirty="0">
                <a:solidFill>
                  <a:schemeClr val="tx2"/>
                </a:solidFill>
              </a:rPr>
              <a:t> </a:t>
            </a:r>
          </a:p>
          <a:p>
            <a:pPr eaLnBrk="1" hangingPunct="1">
              <a:lnSpc>
                <a:spcPct val="95000"/>
              </a:lnSpc>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time</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0</a:t>
            </a:r>
            <a:endParaRPr lang="en-US" sz="2000" dirty="0">
              <a:solidFill>
                <a:srgbClr val="CC0000"/>
              </a:solidFill>
            </a:endParaRPr>
          </a:p>
          <a:p>
            <a:pPr eaLnBrk="1" hangingPunct="1">
              <a:lnSpc>
                <a:spcPct val="95000"/>
              </a:lnSpc>
              <a:buFontTx/>
              <a:buAutoNum type="arabicPeriod"/>
            </a:pPr>
            <a:r>
              <a:rPr lang="en-US" sz="2000" dirty="0">
                <a:solidFill>
                  <a:srgbClr val="CC0000"/>
                </a:solidFill>
              </a:rPr>
              <a:t> </a:t>
            </a:r>
            <a:r>
              <a:rPr lang="en-US" sz="2000" b="1" dirty="0"/>
              <a:t>for</a:t>
            </a:r>
            <a:r>
              <a:rPr lang="en-US" sz="2000" dirty="0">
                <a:solidFill>
                  <a:schemeClr val="hlink"/>
                </a:solidFill>
              </a:rPr>
              <a:t>  each vertex </a:t>
            </a:r>
            <a:r>
              <a:rPr lang="en-US" sz="2000" dirty="0">
                <a:solidFill>
                  <a:schemeClr val="hlink"/>
                </a:solidFill>
                <a:sym typeface="Symbol" pitchFamily="18" charset="2"/>
              </a:rPr>
              <a:t>u  V(G)  </a:t>
            </a:r>
            <a:r>
              <a:rPr lang="en-US" sz="2000" b="1" dirty="0"/>
              <a:t>do   </a:t>
            </a:r>
            <a:r>
              <a:rPr lang="en-US" sz="2000" dirty="0">
                <a:solidFill>
                  <a:schemeClr val="hlink"/>
                </a:solidFill>
                <a:sym typeface="Symbol" pitchFamily="18" charset="2"/>
              </a:rPr>
              <a:t></a:t>
            </a:r>
            <a:r>
              <a:rPr lang="en-US" sz="2000" dirty="0">
                <a:solidFill>
                  <a:schemeClr val="hlink"/>
                </a:solidFill>
              </a:rPr>
              <a:t>color[u], </a:t>
            </a:r>
            <a:r>
              <a:rPr lang="en-US" sz="2000" dirty="0">
                <a:solidFill>
                  <a:schemeClr val="hlink"/>
                </a:solidFill>
                <a:latin typeface="Symbol" pitchFamily="18" charset="2"/>
              </a:rPr>
              <a:t>p</a:t>
            </a:r>
            <a:r>
              <a:rPr lang="en-US" sz="2000" dirty="0">
                <a:solidFill>
                  <a:schemeClr val="hlink"/>
                </a:solidFill>
              </a:rPr>
              <a:t>[u]</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a:t>
            </a:r>
            <a:r>
              <a:rPr lang="en-US" dirty="0">
                <a:solidFill>
                  <a:schemeClr val="hlink"/>
                </a:solidFill>
              </a:rPr>
              <a:t>WHITE</a:t>
            </a:r>
            <a:r>
              <a:rPr lang="en-US" sz="2000" dirty="0">
                <a:solidFill>
                  <a:schemeClr val="hlink"/>
                </a:solidFill>
              </a:rPr>
              <a:t>, nil</a:t>
            </a:r>
            <a:r>
              <a:rPr lang="en-US" sz="2000" dirty="0">
                <a:solidFill>
                  <a:schemeClr val="hlink"/>
                </a:solidFill>
                <a:sym typeface="Symbol" pitchFamily="18" charset="2"/>
              </a:rPr>
              <a:t></a:t>
            </a:r>
            <a:r>
              <a:rPr lang="en-US" sz="2000" dirty="0">
                <a:solidFill>
                  <a:schemeClr val="tx2"/>
                </a:solidFill>
              </a:rPr>
              <a:t> </a:t>
            </a:r>
          </a:p>
          <a:p>
            <a:pPr eaLnBrk="1" hangingPunct="1">
              <a:lnSpc>
                <a:spcPct val="95000"/>
              </a:lnSpc>
              <a:buFontTx/>
              <a:buAutoNum type="arabicPeriod"/>
            </a:pPr>
            <a:r>
              <a:rPr lang="en-US" sz="2000" dirty="0">
                <a:solidFill>
                  <a:srgbClr val="CC0000"/>
                </a:solidFill>
              </a:rPr>
              <a:t> </a:t>
            </a:r>
            <a:r>
              <a:rPr lang="en-US" sz="2000" b="1" dirty="0"/>
              <a:t>for</a:t>
            </a:r>
            <a:r>
              <a:rPr lang="en-US" sz="2000" dirty="0">
                <a:solidFill>
                  <a:schemeClr val="hlink"/>
                </a:solidFill>
              </a:rPr>
              <a:t>  each vertex </a:t>
            </a:r>
            <a:r>
              <a:rPr lang="en-US" sz="2000" dirty="0">
                <a:solidFill>
                  <a:schemeClr val="hlink"/>
                </a:solidFill>
                <a:sym typeface="Symbol" pitchFamily="18" charset="2"/>
              </a:rPr>
              <a:t>u  V(G)  </a:t>
            </a:r>
            <a:r>
              <a:rPr lang="en-US" sz="2000" b="1" dirty="0"/>
              <a:t>do   </a:t>
            </a:r>
            <a:br>
              <a:rPr lang="en-US" sz="2000" b="1" dirty="0"/>
            </a:br>
            <a:r>
              <a:rPr lang="en-US" sz="2000" dirty="0">
                <a:solidFill>
                  <a:srgbClr val="CC0000"/>
                </a:solidFill>
              </a:rPr>
              <a:t> 	</a:t>
            </a:r>
            <a:r>
              <a:rPr lang="en-US" sz="2000" b="1" dirty="0">
                <a:solidFill>
                  <a:schemeClr val="tx2"/>
                </a:solidFill>
              </a:rPr>
              <a:t>if</a:t>
            </a:r>
            <a:r>
              <a:rPr lang="en-US" sz="2000" dirty="0">
                <a:solidFill>
                  <a:schemeClr val="tx2"/>
                </a:solidFill>
              </a:rPr>
              <a:t> </a:t>
            </a:r>
            <a:r>
              <a:rPr lang="en-US" sz="2000" dirty="0">
                <a:solidFill>
                  <a:schemeClr val="hlink"/>
                </a:solidFill>
              </a:rPr>
              <a:t>color[u] = </a:t>
            </a:r>
            <a:r>
              <a:rPr lang="en-US" dirty="0">
                <a:solidFill>
                  <a:schemeClr val="hlink"/>
                </a:solidFill>
              </a:rPr>
              <a:t>WHITE</a:t>
            </a:r>
            <a:r>
              <a:rPr lang="en-US" sz="2000" dirty="0">
                <a:solidFill>
                  <a:schemeClr val="hlink"/>
                </a:solidFill>
              </a:rPr>
              <a:t>  </a:t>
            </a:r>
            <a:r>
              <a:rPr lang="en-US" sz="2000" b="1" dirty="0">
                <a:solidFill>
                  <a:schemeClr val="tx2"/>
                </a:solidFill>
              </a:rPr>
              <a:t>then  </a:t>
            </a:r>
            <a:r>
              <a:rPr lang="en-US" sz="2000" b="1" dirty="0" err="1">
                <a:solidFill>
                  <a:schemeClr val="hlink"/>
                </a:solidFill>
                <a:sym typeface="Symbol" pitchFamily="18" charset="2"/>
              </a:rPr>
              <a:t>DFSvisit</a:t>
            </a:r>
            <a:r>
              <a:rPr lang="en-US" sz="2000" dirty="0">
                <a:solidFill>
                  <a:schemeClr val="hlink"/>
                </a:solidFill>
                <a:sym typeface="Symbol" pitchFamily="18" charset="2"/>
              </a:rPr>
              <a:t>(u) 	</a:t>
            </a:r>
            <a:r>
              <a:rPr lang="en-US" sz="2000" dirty="0">
                <a:solidFill>
                  <a:srgbClr val="CC0000"/>
                </a:solidFill>
                <a:cs typeface="Arial" pitchFamily="34" charset="0"/>
              </a:rPr>
              <a:t>§ u is root of next DFS tree</a:t>
            </a:r>
            <a:endParaRPr lang="en-US" sz="2000" dirty="0">
              <a:solidFill>
                <a:schemeClr val="hlink"/>
              </a:solidFill>
              <a:sym typeface="Symbol" pitchFamily="18" charset="2"/>
            </a:endParaRPr>
          </a:p>
          <a:p>
            <a:pPr eaLnBrk="1" hangingPunct="1">
              <a:lnSpc>
                <a:spcPct val="95000"/>
              </a:lnSpc>
              <a:buFontTx/>
              <a:buNone/>
            </a:pPr>
            <a:r>
              <a:rPr lang="en-US" sz="2000" b="1" dirty="0"/>
              <a:t>end</a:t>
            </a:r>
            <a:br>
              <a:rPr lang="en-US" sz="2000" b="1" dirty="0"/>
            </a:br>
            <a:endParaRPr lang="en-US" sz="2000" dirty="0">
              <a:solidFill>
                <a:schemeClr val="hlink"/>
              </a:solidFill>
              <a:sym typeface="Symbol" pitchFamily="18" charset="2"/>
            </a:endParaRPr>
          </a:p>
          <a:p>
            <a:pPr eaLnBrk="1" hangingPunct="1">
              <a:lnSpc>
                <a:spcPct val="95000"/>
              </a:lnSpc>
              <a:buFontTx/>
              <a:buNone/>
            </a:pPr>
            <a:r>
              <a:rPr lang="en-US" sz="2000" b="1" dirty="0"/>
              <a:t>Procedure  </a:t>
            </a:r>
            <a:r>
              <a:rPr lang="en-US" sz="2000" b="1" dirty="0" err="1">
                <a:solidFill>
                  <a:schemeClr val="hlink"/>
                </a:solidFill>
                <a:sym typeface="Symbol" pitchFamily="18" charset="2"/>
              </a:rPr>
              <a:t>DFSvisit</a:t>
            </a:r>
            <a:r>
              <a:rPr lang="en-US" sz="2000" dirty="0">
                <a:solidFill>
                  <a:schemeClr val="hlink"/>
                </a:solidFill>
                <a:sym typeface="Symbol" pitchFamily="18" charset="2"/>
              </a:rPr>
              <a:t>(u)</a:t>
            </a:r>
            <a:endParaRPr lang="en-US" sz="2000" dirty="0">
              <a:solidFill>
                <a:srgbClr val="CC0000"/>
              </a:solidFill>
              <a:cs typeface="Arial" pitchFamily="34" charset="0"/>
            </a:endParaRPr>
          </a:p>
          <a:p>
            <a:pPr eaLnBrk="1" hangingPunct="1">
              <a:lnSpc>
                <a:spcPct val="95000"/>
              </a:lnSpc>
              <a:buFontTx/>
              <a:buAutoNum type="arabicPeriod" startAt="4"/>
            </a:pPr>
            <a:r>
              <a:rPr lang="en-US" sz="2000" dirty="0">
                <a:solidFill>
                  <a:srgbClr val="CC0000"/>
                </a:solidFill>
                <a:sym typeface="Symbol" pitchFamily="18" charset="2"/>
              </a:rPr>
              <a:t> </a:t>
            </a:r>
            <a:r>
              <a:rPr lang="en-US" sz="2000" dirty="0">
                <a:solidFill>
                  <a:schemeClr val="hlink"/>
                </a:solidFill>
              </a:rPr>
              <a:t>d[u] </a:t>
            </a:r>
            <a:r>
              <a:rPr lang="en-US" sz="2000" dirty="0">
                <a:solidFill>
                  <a:schemeClr val="hlink"/>
                </a:solidFill>
                <a:sym typeface="Symbol" pitchFamily="18" charset="2"/>
              </a:rPr>
              <a:t> time</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time + 1</a:t>
            </a:r>
            <a:r>
              <a:rPr lang="en-US" sz="2000" dirty="0">
                <a:solidFill>
                  <a:srgbClr val="CC0000"/>
                </a:solidFill>
                <a:cs typeface="Arial" pitchFamily="34" charset="0"/>
              </a:rPr>
              <a:t> 				§ </a:t>
            </a:r>
            <a:r>
              <a:rPr lang="en-US" sz="2000" dirty="0" err="1">
                <a:solidFill>
                  <a:srgbClr val="CC0000"/>
                </a:solidFill>
                <a:cs typeface="Arial" pitchFamily="34" charset="0"/>
              </a:rPr>
              <a:t>DFSvisit</a:t>
            </a:r>
            <a:r>
              <a:rPr lang="en-US" sz="2000" dirty="0">
                <a:solidFill>
                  <a:srgbClr val="CC0000"/>
                </a:solidFill>
                <a:cs typeface="Arial" pitchFamily="34" charset="0"/>
              </a:rPr>
              <a:t>(</a:t>
            </a:r>
            <a:r>
              <a:rPr lang="en-US" sz="2000" dirty="0">
                <a:solidFill>
                  <a:srgbClr val="CC0000"/>
                </a:solidFill>
              </a:rPr>
              <a:t>u) discovery time </a:t>
            </a:r>
            <a:endParaRPr lang="en-US" sz="2000" dirty="0">
              <a:solidFill>
                <a:srgbClr val="CC0000"/>
              </a:solidFill>
              <a:cs typeface="Arial" pitchFamily="34" charset="0"/>
            </a:endParaRPr>
          </a:p>
          <a:p>
            <a:pPr eaLnBrk="1" hangingPunct="1">
              <a:lnSpc>
                <a:spcPct val="95000"/>
              </a:lnSpc>
              <a:buFontTx/>
              <a:buAutoNum type="arabicPeriod" startAt="4"/>
            </a:pPr>
            <a:r>
              <a:rPr lang="en-US" sz="2000" dirty="0">
                <a:solidFill>
                  <a:srgbClr val="CC0000"/>
                </a:solidFill>
                <a:sym typeface="Symbol" pitchFamily="18" charset="2"/>
              </a:rPr>
              <a:t> </a:t>
            </a:r>
            <a:r>
              <a:rPr lang="en-US" sz="2000" dirty="0">
                <a:solidFill>
                  <a:schemeClr val="hlink"/>
                </a:solidFill>
              </a:rPr>
              <a:t>color[u] </a:t>
            </a:r>
            <a:r>
              <a:rPr lang="en-US" sz="2000" dirty="0">
                <a:solidFill>
                  <a:schemeClr val="hlink"/>
                </a:solidFill>
                <a:sym typeface="Symbol" pitchFamily="18" charset="2"/>
              </a:rPr>
              <a:t></a:t>
            </a:r>
            <a:r>
              <a:rPr lang="en-US" sz="2000" dirty="0">
                <a:solidFill>
                  <a:schemeClr val="hlink"/>
                </a:solidFill>
              </a:rPr>
              <a:t> </a:t>
            </a:r>
            <a:r>
              <a:rPr lang="en-US" dirty="0">
                <a:solidFill>
                  <a:schemeClr val="hlink"/>
                </a:solidFill>
              </a:rPr>
              <a:t>GRAY</a:t>
            </a:r>
            <a:r>
              <a:rPr lang="en-US" sz="2000" dirty="0">
                <a:solidFill>
                  <a:schemeClr val="hlink"/>
                </a:solidFill>
                <a:sym typeface="Symbol" pitchFamily="18" charset="2"/>
              </a:rPr>
              <a:t> 	</a:t>
            </a:r>
            <a:r>
              <a:rPr lang="en-US" sz="2000" dirty="0">
                <a:solidFill>
                  <a:schemeClr val="tx2"/>
                </a:solidFill>
              </a:rPr>
              <a:t>	 			</a:t>
            </a:r>
            <a:r>
              <a:rPr lang="en-US" sz="2000" dirty="0">
                <a:solidFill>
                  <a:srgbClr val="CC0000"/>
                </a:solidFill>
                <a:cs typeface="Arial" pitchFamily="34" charset="0"/>
              </a:rPr>
              <a:t>§ </a:t>
            </a:r>
            <a:r>
              <a:rPr lang="en-US" sz="2000" dirty="0">
                <a:solidFill>
                  <a:srgbClr val="CC0000"/>
                </a:solidFill>
              </a:rPr>
              <a:t>u is visited </a:t>
            </a:r>
            <a:endParaRPr lang="en-US" sz="2000" dirty="0">
              <a:solidFill>
                <a:schemeClr val="tx2"/>
              </a:solidFill>
            </a:endParaRPr>
          </a:p>
          <a:p>
            <a:pPr eaLnBrk="1" hangingPunct="1">
              <a:lnSpc>
                <a:spcPct val="95000"/>
              </a:lnSpc>
              <a:buFontTx/>
              <a:buAutoNum type="arabicPeriod" startAt="4"/>
            </a:pPr>
            <a:r>
              <a:rPr lang="en-US" sz="2000" dirty="0">
                <a:solidFill>
                  <a:srgbClr val="CC0000"/>
                </a:solidFill>
              </a:rPr>
              <a:t> </a:t>
            </a:r>
            <a:r>
              <a:rPr lang="en-US" sz="2000" b="1" dirty="0"/>
              <a:t>for</a:t>
            </a:r>
            <a:r>
              <a:rPr lang="en-US" sz="2000" dirty="0">
                <a:solidFill>
                  <a:schemeClr val="hlink"/>
                </a:solidFill>
              </a:rPr>
              <a:t> each vertex </a:t>
            </a:r>
            <a:r>
              <a:rPr lang="en-US" sz="2000" dirty="0">
                <a:solidFill>
                  <a:schemeClr val="hlink"/>
                </a:solidFill>
                <a:sym typeface="Symbol" pitchFamily="18" charset="2"/>
              </a:rPr>
              <a:t>v  </a:t>
            </a:r>
            <a:r>
              <a:rPr lang="en-US" sz="2000" dirty="0" err="1">
                <a:solidFill>
                  <a:schemeClr val="hlink"/>
                </a:solidFill>
                <a:sym typeface="Symbol" pitchFamily="18" charset="2"/>
              </a:rPr>
              <a:t>Adj</a:t>
            </a:r>
            <a:r>
              <a:rPr lang="en-US" sz="2000" dirty="0">
                <a:solidFill>
                  <a:schemeClr val="hlink"/>
                </a:solidFill>
                <a:sym typeface="Symbol" pitchFamily="18" charset="2"/>
              </a:rPr>
              <a:t>[u] </a:t>
            </a:r>
            <a:r>
              <a:rPr lang="en-US" sz="2000" b="1" dirty="0"/>
              <a:t>do</a:t>
            </a:r>
            <a:r>
              <a:rPr lang="en-US" sz="2000" dirty="0">
                <a:solidFill>
                  <a:srgbClr val="CC0000"/>
                </a:solidFill>
                <a:cs typeface="Arial" pitchFamily="34" charset="0"/>
              </a:rPr>
              <a:t>             § </a:t>
            </a:r>
            <a:r>
              <a:rPr lang="en-US" sz="2000" dirty="0">
                <a:solidFill>
                  <a:srgbClr val="CC0000"/>
                </a:solidFill>
              </a:rPr>
              <a:t>explore edge (</a:t>
            </a:r>
            <a:r>
              <a:rPr lang="en-US" sz="2000" dirty="0" err="1">
                <a:solidFill>
                  <a:srgbClr val="CC0000"/>
                </a:solidFill>
              </a:rPr>
              <a:t>u,v</a:t>
            </a:r>
            <a:r>
              <a:rPr lang="en-US" sz="2000" dirty="0">
                <a:solidFill>
                  <a:srgbClr val="CC0000"/>
                </a:solidFill>
              </a:rPr>
              <a:t>)</a:t>
            </a:r>
          </a:p>
          <a:p>
            <a:pPr eaLnBrk="1" hangingPunct="1">
              <a:lnSpc>
                <a:spcPct val="95000"/>
              </a:lnSpc>
              <a:buFontTx/>
              <a:buAutoNum type="arabicPeriod" startAt="4"/>
            </a:pPr>
            <a:r>
              <a:rPr lang="en-US" sz="2000" dirty="0">
                <a:solidFill>
                  <a:srgbClr val="CC0000"/>
                </a:solidFill>
              </a:rPr>
              <a:t>	</a:t>
            </a:r>
            <a:r>
              <a:rPr lang="en-US" sz="2000" b="1" dirty="0">
                <a:solidFill>
                  <a:schemeClr val="tx2"/>
                </a:solidFill>
              </a:rPr>
              <a:t>if</a:t>
            </a:r>
            <a:r>
              <a:rPr lang="en-US" sz="2000" dirty="0">
                <a:solidFill>
                  <a:schemeClr val="tx2"/>
                </a:solidFill>
              </a:rPr>
              <a:t> </a:t>
            </a:r>
            <a:r>
              <a:rPr lang="en-US" sz="2000" dirty="0">
                <a:solidFill>
                  <a:schemeClr val="hlink"/>
                </a:solidFill>
              </a:rPr>
              <a:t>color[v] = </a:t>
            </a:r>
            <a:r>
              <a:rPr lang="en-US" dirty="0">
                <a:solidFill>
                  <a:schemeClr val="hlink"/>
                </a:solidFill>
              </a:rPr>
              <a:t>WHITE</a:t>
            </a:r>
            <a:r>
              <a:rPr lang="en-US" sz="2000" dirty="0">
                <a:solidFill>
                  <a:schemeClr val="hlink"/>
                </a:solidFill>
              </a:rPr>
              <a:t>  </a:t>
            </a:r>
            <a:r>
              <a:rPr lang="en-US" sz="2000" b="1" dirty="0">
                <a:solidFill>
                  <a:schemeClr val="tx2"/>
                </a:solidFill>
              </a:rPr>
              <a:t>then do 		</a:t>
            </a:r>
            <a:r>
              <a:rPr lang="en-US" sz="2000" dirty="0">
                <a:solidFill>
                  <a:srgbClr val="CC0000"/>
                </a:solidFill>
                <a:cs typeface="Arial" pitchFamily="34" charset="0"/>
              </a:rPr>
              <a:t>§ </a:t>
            </a:r>
            <a:r>
              <a:rPr lang="en-US" sz="2000" dirty="0">
                <a:solidFill>
                  <a:srgbClr val="CC0000"/>
                </a:solidFill>
              </a:rPr>
              <a:t>visit unexplored adjacent node v </a:t>
            </a:r>
            <a:endParaRPr lang="en-US" sz="2000" dirty="0">
              <a:solidFill>
                <a:schemeClr val="tx2"/>
              </a:solidFill>
            </a:endParaRPr>
          </a:p>
          <a:p>
            <a:pPr eaLnBrk="1" hangingPunct="1">
              <a:lnSpc>
                <a:spcPct val="95000"/>
              </a:lnSpc>
              <a:buFontTx/>
              <a:buAutoNum type="arabicPeriod" startAt="4"/>
            </a:pPr>
            <a:r>
              <a:rPr lang="en-US" sz="2000" dirty="0">
                <a:solidFill>
                  <a:srgbClr val="CC0000"/>
                </a:solidFill>
              </a:rPr>
              <a:t> 		</a:t>
            </a:r>
            <a:r>
              <a:rPr lang="en-US" sz="2000" dirty="0">
                <a:solidFill>
                  <a:schemeClr val="hlink"/>
                </a:solidFill>
                <a:latin typeface="Symbol" pitchFamily="18" charset="2"/>
              </a:rPr>
              <a:t>p</a:t>
            </a:r>
            <a:r>
              <a:rPr lang="en-US" sz="2000" dirty="0">
                <a:solidFill>
                  <a:schemeClr val="hlink"/>
                </a:solidFill>
              </a:rPr>
              <a:t>[v] </a:t>
            </a:r>
            <a:r>
              <a:rPr lang="en-US" sz="2000" dirty="0">
                <a:solidFill>
                  <a:schemeClr val="hlink"/>
                </a:solidFill>
                <a:sym typeface="Symbol" pitchFamily="18" charset="2"/>
              </a:rPr>
              <a:t></a:t>
            </a:r>
            <a:r>
              <a:rPr lang="en-US" sz="2000" dirty="0">
                <a:solidFill>
                  <a:schemeClr val="hlink"/>
                </a:solidFill>
              </a:rPr>
              <a:t> u 					</a:t>
            </a:r>
            <a:r>
              <a:rPr lang="en-US" sz="2000" dirty="0">
                <a:solidFill>
                  <a:srgbClr val="CC0000"/>
                </a:solidFill>
                <a:cs typeface="Arial" pitchFamily="34" charset="0"/>
              </a:rPr>
              <a:t>§ </a:t>
            </a:r>
            <a:r>
              <a:rPr lang="en-US" sz="2000" dirty="0">
                <a:solidFill>
                  <a:srgbClr val="CC0000"/>
                </a:solidFill>
              </a:rPr>
              <a:t>(</a:t>
            </a:r>
            <a:r>
              <a:rPr lang="en-US" sz="2000" dirty="0" err="1">
                <a:solidFill>
                  <a:srgbClr val="CC0000"/>
                </a:solidFill>
              </a:rPr>
              <a:t>u,v</a:t>
            </a:r>
            <a:r>
              <a:rPr lang="en-US" sz="2000" dirty="0">
                <a:solidFill>
                  <a:srgbClr val="CC0000"/>
                </a:solidFill>
              </a:rPr>
              <a:t>) is a DFS tree-edge </a:t>
            </a:r>
            <a:endParaRPr lang="en-US" sz="2000" dirty="0">
              <a:solidFill>
                <a:schemeClr val="hlink"/>
              </a:solidFill>
              <a:sym typeface="Symbol" pitchFamily="18" charset="2"/>
            </a:endParaRPr>
          </a:p>
          <a:p>
            <a:pPr eaLnBrk="1" hangingPunct="1">
              <a:lnSpc>
                <a:spcPct val="95000"/>
              </a:lnSpc>
              <a:buFontTx/>
              <a:buAutoNum type="arabicPeriod" startAt="4"/>
            </a:pPr>
            <a:r>
              <a:rPr lang="en-US" sz="2000" dirty="0">
                <a:solidFill>
                  <a:srgbClr val="CC0000"/>
                </a:solidFill>
                <a:sym typeface="Symbol" pitchFamily="18" charset="2"/>
              </a:rPr>
              <a:t> 		</a:t>
            </a:r>
            <a:r>
              <a:rPr lang="en-US" sz="2000" b="1" dirty="0" err="1">
                <a:solidFill>
                  <a:schemeClr val="hlink"/>
                </a:solidFill>
                <a:sym typeface="Symbol" pitchFamily="18" charset="2"/>
              </a:rPr>
              <a:t>DFSvisit</a:t>
            </a:r>
            <a:r>
              <a:rPr lang="en-US" sz="2000" dirty="0">
                <a:solidFill>
                  <a:schemeClr val="hlink"/>
                </a:solidFill>
                <a:sym typeface="Symbol" pitchFamily="18" charset="2"/>
              </a:rPr>
              <a:t>(v)</a:t>
            </a:r>
            <a:r>
              <a:rPr lang="en-US" sz="2000" dirty="0">
                <a:solidFill>
                  <a:schemeClr val="tx2"/>
                </a:solidFill>
              </a:rPr>
              <a:t> 	 				</a:t>
            </a:r>
            <a:r>
              <a:rPr lang="en-US" sz="2000" dirty="0">
                <a:solidFill>
                  <a:srgbClr val="CC0000"/>
                </a:solidFill>
                <a:cs typeface="Arial" pitchFamily="34" charset="0"/>
              </a:rPr>
              <a:t>§ v is most recent visited node</a:t>
            </a:r>
          </a:p>
          <a:p>
            <a:pPr eaLnBrk="1" hangingPunct="1">
              <a:lnSpc>
                <a:spcPct val="95000"/>
              </a:lnSpc>
              <a:buFontTx/>
              <a:buAutoNum type="arabicPeriod" startAt="4"/>
            </a:pPr>
            <a:r>
              <a:rPr lang="en-US" sz="2000" dirty="0">
                <a:solidFill>
                  <a:srgbClr val="CC0000"/>
                </a:solidFill>
              </a:rPr>
              <a:t> 	</a:t>
            </a:r>
            <a:r>
              <a:rPr lang="en-US" sz="2000" b="1" dirty="0"/>
              <a:t>end-if</a:t>
            </a:r>
          </a:p>
          <a:p>
            <a:pPr eaLnBrk="1" hangingPunct="1">
              <a:lnSpc>
                <a:spcPct val="95000"/>
              </a:lnSpc>
              <a:buFontTx/>
              <a:buAutoNum type="arabicPeriod" startAt="4"/>
            </a:pPr>
            <a:r>
              <a:rPr lang="en-US" sz="2000" dirty="0">
                <a:solidFill>
                  <a:srgbClr val="CC0000"/>
                </a:solidFill>
              </a:rPr>
              <a:t> </a:t>
            </a:r>
            <a:r>
              <a:rPr lang="en-US" sz="2000" b="1" dirty="0"/>
              <a:t>end-for</a:t>
            </a:r>
          </a:p>
          <a:p>
            <a:pPr eaLnBrk="1" hangingPunct="1">
              <a:lnSpc>
                <a:spcPct val="95000"/>
              </a:lnSpc>
              <a:buFontTx/>
              <a:buAutoNum type="arabicPeriod" startAt="4"/>
            </a:pPr>
            <a:r>
              <a:rPr lang="en-US" sz="2000" dirty="0">
                <a:solidFill>
                  <a:srgbClr val="CC0000"/>
                </a:solidFill>
              </a:rPr>
              <a:t> </a:t>
            </a:r>
            <a:r>
              <a:rPr lang="en-US" sz="2000" dirty="0">
                <a:solidFill>
                  <a:schemeClr val="hlink"/>
                </a:solidFill>
              </a:rPr>
              <a:t>color[u] </a:t>
            </a:r>
            <a:r>
              <a:rPr lang="en-US" sz="2000" dirty="0">
                <a:solidFill>
                  <a:schemeClr val="hlink"/>
                </a:solidFill>
                <a:sym typeface="Symbol" pitchFamily="18" charset="2"/>
              </a:rPr>
              <a:t></a:t>
            </a:r>
            <a:r>
              <a:rPr lang="en-US" sz="2000" dirty="0">
                <a:solidFill>
                  <a:schemeClr val="hlink"/>
                </a:solidFill>
              </a:rPr>
              <a:t> </a:t>
            </a:r>
            <a:r>
              <a:rPr lang="en-US" dirty="0">
                <a:solidFill>
                  <a:schemeClr val="hlink"/>
                </a:solidFill>
              </a:rPr>
              <a:t>BLACK</a:t>
            </a:r>
            <a:r>
              <a:rPr lang="en-US" sz="1800" dirty="0">
                <a:solidFill>
                  <a:schemeClr val="hlink"/>
                </a:solidFill>
              </a:rPr>
              <a:t> 					</a:t>
            </a:r>
            <a:r>
              <a:rPr lang="en-US" sz="2000" dirty="0">
                <a:solidFill>
                  <a:srgbClr val="CC0000"/>
                </a:solidFill>
                <a:cs typeface="Arial" pitchFamily="34" charset="0"/>
              </a:rPr>
              <a:t>§ </a:t>
            </a:r>
            <a:r>
              <a:rPr lang="en-US" sz="2000" dirty="0">
                <a:solidFill>
                  <a:srgbClr val="CC0000"/>
                </a:solidFill>
              </a:rPr>
              <a:t>u is scanned</a:t>
            </a:r>
          </a:p>
          <a:p>
            <a:pPr eaLnBrk="1" hangingPunct="1">
              <a:lnSpc>
                <a:spcPct val="95000"/>
              </a:lnSpc>
              <a:buFontTx/>
              <a:buAutoNum type="arabicPeriod" startAt="4"/>
            </a:pPr>
            <a:r>
              <a:rPr lang="en-US" sz="2000" dirty="0">
                <a:solidFill>
                  <a:srgbClr val="CC0000"/>
                </a:solidFill>
              </a:rPr>
              <a:t> </a:t>
            </a:r>
            <a:r>
              <a:rPr lang="en-US" sz="2000" dirty="0">
                <a:solidFill>
                  <a:schemeClr val="hlink"/>
                </a:solidFill>
              </a:rPr>
              <a:t>f[u] </a:t>
            </a:r>
            <a:r>
              <a:rPr lang="en-US" sz="2000" dirty="0">
                <a:solidFill>
                  <a:schemeClr val="hlink"/>
                </a:solidFill>
                <a:sym typeface="Symbol" pitchFamily="18" charset="2"/>
              </a:rPr>
              <a:t> time</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time + 1</a:t>
            </a:r>
            <a:r>
              <a:rPr lang="en-US" sz="2000" dirty="0">
                <a:solidFill>
                  <a:srgbClr val="CC0000"/>
                </a:solidFill>
                <a:cs typeface="Arial" pitchFamily="34" charset="0"/>
              </a:rPr>
              <a:t> 				§ </a:t>
            </a:r>
            <a:r>
              <a:rPr lang="en-US" sz="2000" dirty="0" err="1">
                <a:solidFill>
                  <a:srgbClr val="CC0000"/>
                </a:solidFill>
                <a:cs typeface="Arial" pitchFamily="34" charset="0"/>
              </a:rPr>
              <a:t>DFSvisit</a:t>
            </a:r>
            <a:r>
              <a:rPr lang="en-US" sz="2000" dirty="0">
                <a:solidFill>
                  <a:srgbClr val="CC0000"/>
                </a:solidFill>
                <a:cs typeface="Arial" pitchFamily="34" charset="0"/>
              </a:rPr>
              <a:t>(</a:t>
            </a:r>
            <a:r>
              <a:rPr lang="en-US" sz="2000" dirty="0">
                <a:solidFill>
                  <a:srgbClr val="CC0000"/>
                </a:solidFill>
              </a:rPr>
              <a:t>u) finishing time </a:t>
            </a:r>
            <a:endParaRPr lang="en-US" sz="2000" b="1" dirty="0"/>
          </a:p>
          <a:p>
            <a:pPr eaLnBrk="1" hangingPunct="1">
              <a:lnSpc>
                <a:spcPct val="95000"/>
              </a:lnSpc>
              <a:buFontTx/>
              <a:buNone/>
            </a:pPr>
            <a:r>
              <a:rPr lang="en-US" sz="2000" b="1" dirty="0"/>
              <a:t>end</a:t>
            </a:r>
            <a:r>
              <a:rPr lang="en-US" sz="2000" dirty="0">
                <a:solidFill>
                  <a:schemeClr val="hlink"/>
                </a:solidFill>
              </a:rPr>
              <a:t> </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27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18786"/>
                                        </p:tgtEl>
                                        <p:attrNameLst>
                                          <p:attrName>style.visibility</p:attrName>
                                        </p:attrNameLst>
                                      </p:cBhvr>
                                      <p:to>
                                        <p:strVal val="visible"/>
                                      </p:to>
                                    </p:set>
                                    <p:anim calcmode="lin" valueType="num">
                                      <p:cBhvr>
                                        <p:cTn id="7" dur="500" fill="hold"/>
                                        <p:tgtEl>
                                          <p:spTgt spid="118786"/>
                                        </p:tgtEl>
                                        <p:attrNameLst>
                                          <p:attrName>ppt_w</p:attrName>
                                        </p:attrNameLst>
                                      </p:cBhvr>
                                      <p:tavLst>
                                        <p:tav tm="0">
                                          <p:val>
                                            <p:fltVal val="0"/>
                                          </p:val>
                                        </p:tav>
                                        <p:tav tm="100000">
                                          <p:val>
                                            <p:strVal val="#ppt_w"/>
                                          </p:val>
                                        </p:tav>
                                      </p:tavLst>
                                    </p:anim>
                                    <p:anim calcmode="lin" valueType="num">
                                      <p:cBhvr>
                                        <p:cTn id="8" dur="500" fill="hold"/>
                                        <p:tgtEl>
                                          <p:spTgt spid="11878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8787">
                                            <p:bg/>
                                          </p:spTgt>
                                        </p:tgtEl>
                                        <p:attrNameLst>
                                          <p:attrName>style.visibility</p:attrName>
                                        </p:attrNameLst>
                                      </p:cBhvr>
                                      <p:to>
                                        <p:strVal val="visible"/>
                                      </p:to>
                                    </p:set>
                                    <p:animEffect transition="in" filter="wipe(left)">
                                      <p:cBhvr>
                                        <p:cTn id="13" dur="500"/>
                                        <p:tgtEl>
                                          <p:spTgt spid="118787">
                                            <p:bg/>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8787">
                                            <p:txEl>
                                              <p:pRg st="0" end="0"/>
                                            </p:txEl>
                                          </p:spTgt>
                                        </p:tgtEl>
                                        <p:attrNameLst>
                                          <p:attrName>style.visibility</p:attrName>
                                        </p:attrNameLst>
                                      </p:cBhvr>
                                      <p:to>
                                        <p:strVal val="visible"/>
                                      </p:to>
                                    </p:set>
                                    <p:animEffect transition="in" filter="wipe(left)">
                                      <p:cBhvr>
                                        <p:cTn id="18" dur="500"/>
                                        <p:tgtEl>
                                          <p:spTgt spid="118787">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8787">
                                            <p:txEl>
                                              <p:pRg st="1" end="1"/>
                                            </p:txEl>
                                          </p:spTgt>
                                        </p:tgtEl>
                                        <p:attrNameLst>
                                          <p:attrName>style.visibility</p:attrName>
                                        </p:attrNameLst>
                                      </p:cBhvr>
                                      <p:to>
                                        <p:strVal val="visible"/>
                                      </p:to>
                                    </p:set>
                                    <p:animEffect transition="in" filter="wipe(left)">
                                      <p:cBhvr>
                                        <p:cTn id="23" dur="500"/>
                                        <p:tgtEl>
                                          <p:spTgt spid="118787">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18787">
                                            <p:txEl>
                                              <p:pRg st="2" end="2"/>
                                            </p:txEl>
                                          </p:spTgt>
                                        </p:tgtEl>
                                        <p:attrNameLst>
                                          <p:attrName>style.visibility</p:attrName>
                                        </p:attrNameLst>
                                      </p:cBhvr>
                                      <p:to>
                                        <p:strVal val="visible"/>
                                      </p:to>
                                    </p:set>
                                    <p:animEffect transition="in" filter="wipe(left)">
                                      <p:cBhvr>
                                        <p:cTn id="28" dur="500"/>
                                        <p:tgtEl>
                                          <p:spTgt spid="118787">
                                            <p:txEl>
                                              <p:pRg st="2" end="2"/>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18787">
                                            <p:txEl>
                                              <p:pRg st="3" end="3"/>
                                            </p:txEl>
                                          </p:spTgt>
                                        </p:tgtEl>
                                        <p:attrNameLst>
                                          <p:attrName>style.visibility</p:attrName>
                                        </p:attrNameLst>
                                      </p:cBhvr>
                                      <p:to>
                                        <p:strVal val="visible"/>
                                      </p:to>
                                    </p:set>
                                    <p:animEffect transition="in" filter="wipe(left)">
                                      <p:cBhvr>
                                        <p:cTn id="33" dur="500"/>
                                        <p:tgtEl>
                                          <p:spTgt spid="118787">
                                            <p:txEl>
                                              <p:pRg st="3" end="3"/>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18787">
                                            <p:txEl>
                                              <p:pRg st="4" end="4"/>
                                            </p:txEl>
                                          </p:spTgt>
                                        </p:tgtEl>
                                        <p:attrNameLst>
                                          <p:attrName>style.visibility</p:attrName>
                                        </p:attrNameLst>
                                      </p:cBhvr>
                                      <p:to>
                                        <p:strVal val="visible"/>
                                      </p:to>
                                    </p:set>
                                    <p:animEffect transition="in" filter="wipe(left)">
                                      <p:cBhvr>
                                        <p:cTn id="38" dur="500"/>
                                        <p:tgtEl>
                                          <p:spTgt spid="118787">
                                            <p:txEl>
                                              <p:pRg st="4" end="4"/>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8787">
                                            <p:txEl>
                                              <p:pRg st="5" end="5"/>
                                            </p:txEl>
                                          </p:spTgt>
                                        </p:tgtEl>
                                        <p:attrNameLst>
                                          <p:attrName>style.visibility</p:attrName>
                                        </p:attrNameLst>
                                      </p:cBhvr>
                                      <p:to>
                                        <p:strVal val="visible"/>
                                      </p:to>
                                    </p:set>
                                    <p:animEffect transition="in" filter="wipe(left)">
                                      <p:cBhvr>
                                        <p:cTn id="43" dur="500"/>
                                        <p:tgtEl>
                                          <p:spTgt spid="118787">
                                            <p:txEl>
                                              <p:pRg st="5" end="5"/>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18787">
                                            <p:txEl>
                                              <p:pRg st="6" end="6"/>
                                            </p:txEl>
                                          </p:spTgt>
                                        </p:tgtEl>
                                        <p:attrNameLst>
                                          <p:attrName>style.visibility</p:attrName>
                                        </p:attrNameLst>
                                      </p:cBhvr>
                                      <p:to>
                                        <p:strVal val="visible"/>
                                      </p:to>
                                    </p:set>
                                    <p:animEffect transition="in" filter="wipe(left)">
                                      <p:cBhvr>
                                        <p:cTn id="48" dur="500"/>
                                        <p:tgtEl>
                                          <p:spTgt spid="118787">
                                            <p:txEl>
                                              <p:pRg st="6" end="6"/>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18787">
                                            <p:txEl>
                                              <p:pRg st="7" end="7"/>
                                            </p:txEl>
                                          </p:spTgt>
                                        </p:tgtEl>
                                        <p:attrNameLst>
                                          <p:attrName>style.visibility</p:attrName>
                                        </p:attrNameLst>
                                      </p:cBhvr>
                                      <p:to>
                                        <p:strVal val="visible"/>
                                      </p:to>
                                    </p:set>
                                    <p:animEffect transition="in" filter="wipe(left)">
                                      <p:cBhvr>
                                        <p:cTn id="53" dur="500"/>
                                        <p:tgtEl>
                                          <p:spTgt spid="118787">
                                            <p:txEl>
                                              <p:pRg st="7" end="7"/>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18787">
                                            <p:txEl>
                                              <p:pRg st="8" end="8"/>
                                            </p:txEl>
                                          </p:spTgt>
                                        </p:tgtEl>
                                        <p:attrNameLst>
                                          <p:attrName>style.visibility</p:attrName>
                                        </p:attrNameLst>
                                      </p:cBhvr>
                                      <p:to>
                                        <p:strVal val="visible"/>
                                      </p:to>
                                    </p:set>
                                    <p:animEffect transition="in" filter="wipe(left)">
                                      <p:cBhvr>
                                        <p:cTn id="58" dur="500"/>
                                        <p:tgtEl>
                                          <p:spTgt spid="118787">
                                            <p:txEl>
                                              <p:pRg st="8" end="8"/>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18787">
                                            <p:txEl>
                                              <p:pRg st="9" end="9"/>
                                            </p:txEl>
                                          </p:spTgt>
                                        </p:tgtEl>
                                        <p:attrNameLst>
                                          <p:attrName>style.visibility</p:attrName>
                                        </p:attrNameLst>
                                      </p:cBhvr>
                                      <p:to>
                                        <p:strVal val="visible"/>
                                      </p:to>
                                    </p:set>
                                    <p:animEffect transition="in" filter="wipe(left)">
                                      <p:cBhvr>
                                        <p:cTn id="63" dur="500"/>
                                        <p:tgtEl>
                                          <p:spTgt spid="118787">
                                            <p:txEl>
                                              <p:pRg st="9" end="9"/>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18787">
                                            <p:txEl>
                                              <p:pRg st="10" end="10"/>
                                            </p:txEl>
                                          </p:spTgt>
                                        </p:tgtEl>
                                        <p:attrNameLst>
                                          <p:attrName>style.visibility</p:attrName>
                                        </p:attrNameLst>
                                      </p:cBhvr>
                                      <p:to>
                                        <p:strVal val="visible"/>
                                      </p:to>
                                    </p:set>
                                    <p:animEffect transition="in" filter="wipe(left)">
                                      <p:cBhvr>
                                        <p:cTn id="68" dur="500"/>
                                        <p:tgtEl>
                                          <p:spTgt spid="118787">
                                            <p:txEl>
                                              <p:pRg st="10" end="10"/>
                                            </p:txEl>
                                          </p:spTgt>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18787">
                                            <p:txEl>
                                              <p:pRg st="11" end="11"/>
                                            </p:txEl>
                                          </p:spTgt>
                                        </p:tgtEl>
                                        <p:attrNameLst>
                                          <p:attrName>style.visibility</p:attrName>
                                        </p:attrNameLst>
                                      </p:cBhvr>
                                      <p:to>
                                        <p:strVal val="visible"/>
                                      </p:to>
                                    </p:set>
                                    <p:animEffect transition="in" filter="wipe(left)">
                                      <p:cBhvr>
                                        <p:cTn id="73" dur="500"/>
                                        <p:tgtEl>
                                          <p:spTgt spid="118787">
                                            <p:txEl>
                                              <p:pRg st="11" end="11"/>
                                            </p:txEl>
                                          </p:spTgt>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18787">
                                            <p:txEl>
                                              <p:pRg st="12" end="12"/>
                                            </p:txEl>
                                          </p:spTgt>
                                        </p:tgtEl>
                                        <p:attrNameLst>
                                          <p:attrName>style.visibility</p:attrName>
                                        </p:attrNameLst>
                                      </p:cBhvr>
                                      <p:to>
                                        <p:strVal val="visible"/>
                                      </p:to>
                                    </p:set>
                                    <p:animEffect transition="in" filter="wipe(left)">
                                      <p:cBhvr>
                                        <p:cTn id="78" dur="500"/>
                                        <p:tgtEl>
                                          <p:spTgt spid="118787">
                                            <p:txEl>
                                              <p:pRg st="12" end="12"/>
                                            </p:txEl>
                                          </p:spTgt>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18787">
                                            <p:txEl>
                                              <p:pRg st="13" end="13"/>
                                            </p:txEl>
                                          </p:spTgt>
                                        </p:tgtEl>
                                        <p:attrNameLst>
                                          <p:attrName>style.visibility</p:attrName>
                                        </p:attrNameLst>
                                      </p:cBhvr>
                                      <p:to>
                                        <p:strVal val="visible"/>
                                      </p:to>
                                    </p:set>
                                    <p:animEffect transition="in" filter="wipe(left)">
                                      <p:cBhvr>
                                        <p:cTn id="83" dur="500"/>
                                        <p:tgtEl>
                                          <p:spTgt spid="118787">
                                            <p:txEl>
                                              <p:pRg st="13" end="13"/>
                                            </p:txEl>
                                          </p:spTgt>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18787">
                                            <p:txEl>
                                              <p:pRg st="14" end="14"/>
                                            </p:txEl>
                                          </p:spTgt>
                                        </p:tgtEl>
                                        <p:attrNameLst>
                                          <p:attrName>style.visibility</p:attrName>
                                        </p:attrNameLst>
                                      </p:cBhvr>
                                      <p:to>
                                        <p:strVal val="visible"/>
                                      </p:to>
                                    </p:set>
                                    <p:animEffect transition="in" filter="wipe(left)">
                                      <p:cBhvr>
                                        <p:cTn id="88" dur="500"/>
                                        <p:tgtEl>
                                          <p:spTgt spid="118787">
                                            <p:txEl>
                                              <p:pRg st="14" end="14"/>
                                            </p:txEl>
                                          </p:spTgt>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18787">
                                            <p:txEl>
                                              <p:pRg st="15" end="15"/>
                                            </p:txEl>
                                          </p:spTgt>
                                        </p:tgtEl>
                                        <p:attrNameLst>
                                          <p:attrName>style.visibility</p:attrName>
                                        </p:attrNameLst>
                                      </p:cBhvr>
                                      <p:to>
                                        <p:strVal val="visible"/>
                                      </p:to>
                                    </p:set>
                                    <p:animEffect transition="in" filter="wipe(left)">
                                      <p:cBhvr>
                                        <p:cTn id="93" dur="500"/>
                                        <p:tgtEl>
                                          <p:spTgt spid="118787">
                                            <p:txEl>
                                              <p:pRg st="15" end="15"/>
                                            </p:txEl>
                                          </p:spTgt>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18787">
                                            <p:txEl>
                                              <p:pRg st="16" end="16"/>
                                            </p:txEl>
                                          </p:spTgt>
                                        </p:tgtEl>
                                        <p:attrNameLst>
                                          <p:attrName>style.visibility</p:attrName>
                                        </p:attrNameLst>
                                      </p:cBhvr>
                                      <p:to>
                                        <p:strVal val="visible"/>
                                      </p:to>
                                    </p:set>
                                    <p:animEffect transition="in" filter="wipe(left)">
                                      <p:cBhvr>
                                        <p:cTn id="98" dur="500"/>
                                        <p:tgtEl>
                                          <p:spTgt spid="118787">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animBg="1" autoUpdateAnimBg="0"/>
      <p:bldP spid="118787" grpId="0" build="p"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118"/>
          <p:cNvGrpSpPr>
            <a:grpSpLocks/>
          </p:cNvGrpSpPr>
          <p:nvPr/>
        </p:nvGrpSpPr>
        <p:grpSpPr bwMode="auto">
          <a:xfrm>
            <a:off x="1808163" y="354013"/>
            <a:ext cx="4745037" cy="1479550"/>
            <a:chOff x="659" y="226"/>
            <a:chExt cx="2989" cy="932"/>
          </a:xfrm>
        </p:grpSpPr>
        <p:sp>
          <p:nvSpPr>
            <p:cNvPr id="29780" name="Oval 3"/>
            <p:cNvSpPr>
              <a:spLocks noChangeArrowheads="1"/>
            </p:cNvSpPr>
            <p:nvPr/>
          </p:nvSpPr>
          <p:spPr bwMode="auto">
            <a:xfrm>
              <a:off x="816" y="226"/>
              <a:ext cx="28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a</a:t>
              </a:r>
            </a:p>
          </p:txBody>
        </p:sp>
        <p:sp>
          <p:nvSpPr>
            <p:cNvPr id="29781" name="Oval 4"/>
            <p:cNvSpPr>
              <a:spLocks noChangeArrowheads="1"/>
            </p:cNvSpPr>
            <p:nvPr/>
          </p:nvSpPr>
          <p:spPr bwMode="auto">
            <a:xfrm>
              <a:off x="1584" y="240"/>
              <a:ext cx="28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b</a:t>
              </a:r>
            </a:p>
          </p:txBody>
        </p:sp>
        <p:sp>
          <p:nvSpPr>
            <p:cNvPr id="29782" name="Oval 5"/>
            <p:cNvSpPr>
              <a:spLocks noChangeArrowheads="1"/>
            </p:cNvSpPr>
            <p:nvPr/>
          </p:nvSpPr>
          <p:spPr bwMode="auto">
            <a:xfrm>
              <a:off x="2448" y="240"/>
              <a:ext cx="28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c</a:t>
              </a:r>
            </a:p>
          </p:txBody>
        </p:sp>
        <p:sp>
          <p:nvSpPr>
            <p:cNvPr id="29783" name="Oval 6"/>
            <p:cNvSpPr>
              <a:spLocks noChangeArrowheads="1"/>
            </p:cNvSpPr>
            <p:nvPr/>
          </p:nvSpPr>
          <p:spPr bwMode="auto">
            <a:xfrm>
              <a:off x="3360" y="240"/>
              <a:ext cx="28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d</a:t>
              </a:r>
            </a:p>
          </p:txBody>
        </p:sp>
        <p:sp>
          <p:nvSpPr>
            <p:cNvPr id="29784" name="Oval 7"/>
            <p:cNvSpPr>
              <a:spLocks noChangeArrowheads="1"/>
            </p:cNvSpPr>
            <p:nvPr/>
          </p:nvSpPr>
          <p:spPr bwMode="auto">
            <a:xfrm>
              <a:off x="816" y="802"/>
              <a:ext cx="28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e</a:t>
              </a:r>
            </a:p>
          </p:txBody>
        </p:sp>
        <p:sp>
          <p:nvSpPr>
            <p:cNvPr id="29785" name="Oval 8"/>
            <p:cNvSpPr>
              <a:spLocks noChangeArrowheads="1"/>
            </p:cNvSpPr>
            <p:nvPr/>
          </p:nvSpPr>
          <p:spPr bwMode="auto">
            <a:xfrm>
              <a:off x="1584" y="816"/>
              <a:ext cx="28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f</a:t>
              </a:r>
            </a:p>
          </p:txBody>
        </p:sp>
        <p:sp>
          <p:nvSpPr>
            <p:cNvPr id="29786" name="Oval 9"/>
            <p:cNvSpPr>
              <a:spLocks noChangeArrowheads="1"/>
            </p:cNvSpPr>
            <p:nvPr/>
          </p:nvSpPr>
          <p:spPr bwMode="auto">
            <a:xfrm>
              <a:off x="2448" y="816"/>
              <a:ext cx="28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g</a:t>
              </a:r>
            </a:p>
          </p:txBody>
        </p:sp>
        <p:sp>
          <p:nvSpPr>
            <p:cNvPr id="29787" name="Oval 10"/>
            <p:cNvSpPr>
              <a:spLocks noChangeArrowheads="1"/>
            </p:cNvSpPr>
            <p:nvPr/>
          </p:nvSpPr>
          <p:spPr bwMode="auto">
            <a:xfrm>
              <a:off x="3360" y="816"/>
              <a:ext cx="28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h</a:t>
              </a:r>
            </a:p>
          </p:txBody>
        </p:sp>
        <p:sp>
          <p:nvSpPr>
            <p:cNvPr id="29788" name="Line 11"/>
            <p:cNvSpPr>
              <a:spLocks noChangeShapeType="1"/>
            </p:cNvSpPr>
            <p:nvPr/>
          </p:nvSpPr>
          <p:spPr bwMode="auto">
            <a:xfrm>
              <a:off x="1104" y="384"/>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9789" name="Line 12"/>
            <p:cNvSpPr>
              <a:spLocks noChangeShapeType="1"/>
            </p:cNvSpPr>
            <p:nvPr/>
          </p:nvSpPr>
          <p:spPr bwMode="auto">
            <a:xfrm>
              <a:off x="1872" y="384"/>
              <a:ext cx="57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9790" name="Line 13"/>
            <p:cNvSpPr>
              <a:spLocks noChangeShapeType="1"/>
            </p:cNvSpPr>
            <p:nvPr/>
          </p:nvSpPr>
          <p:spPr bwMode="auto">
            <a:xfrm flipH="1">
              <a:off x="2736" y="384"/>
              <a:ext cx="62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9791" name="Line 14"/>
            <p:cNvSpPr>
              <a:spLocks noChangeShapeType="1"/>
            </p:cNvSpPr>
            <p:nvPr/>
          </p:nvSpPr>
          <p:spPr bwMode="auto">
            <a:xfrm flipH="1">
              <a:off x="2736" y="960"/>
              <a:ext cx="62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9792" name="Line 15"/>
            <p:cNvSpPr>
              <a:spLocks noChangeShapeType="1"/>
            </p:cNvSpPr>
            <p:nvPr/>
          </p:nvSpPr>
          <p:spPr bwMode="auto">
            <a:xfrm flipH="1">
              <a:off x="1872" y="960"/>
              <a:ext cx="57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9793" name="Line 16"/>
            <p:cNvSpPr>
              <a:spLocks noChangeShapeType="1"/>
            </p:cNvSpPr>
            <p:nvPr/>
          </p:nvSpPr>
          <p:spPr bwMode="auto">
            <a:xfrm flipH="1">
              <a:off x="1104" y="960"/>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9794" name="Freeform 17"/>
            <p:cNvSpPr>
              <a:spLocks/>
            </p:cNvSpPr>
            <p:nvPr/>
          </p:nvSpPr>
          <p:spPr bwMode="auto">
            <a:xfrm>
              <a:off x="960" y="516"/>
              <a:ext cx="1" cy="300"/>
            </a:xfrm>
            <a:custGeom>
              <a:avLst/>
              <a:gdLst>
                <a:gd name="T0" fmla="*/ 0 w 1"/>
                <a:gd name="T1" fmla="*/ 300 h 300"/>
                <a:gd name="T2" fmla="*/ 0 w 1"/>
                <a:gd name="T3" fmla="*/ 0 h 300"/>
                <a:gd name="T4" fmla="*/ 0 60000 65536"/>
                <a:gd name="T5" fmla="*/ 0 60000 65536"/>
              </a:gdLst>
              <a:ahLst/>
              <a:cxnLst>
                <a:cxn ang="T4">
                  <a:pos x="T0" y="T1"/>
                </a:cxn>
                <a:cxn ang="T5">
                  <a:pos x="T2" y="T3"/>
                </a:cxn>
              </a:cxnLst>
              <a:rect l="0" t="0" r="r" b="b"/>
              <a:pathLst>
                <a:path w="1" h="300">
                  <a:moveTo>
                    <a:pt x="0" y="300"/>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29795" name="Line 18"/>
            <p:cNvSpPr>
              <a:spLocks noChangeShapeType="1"/>
            </p:cNvSpPr>
            <p:nvPr/>
          </p:nvSpPr>
          <p:spPr bwMode="auto">
            <a:xfrm>
              <a:off x="1728" y="528"/>
              <a:ext cx="0"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9796" name="Line 19"/>
            <p:cNvSpPr>
              <a:spLocks noChangeShapeType="1"/>
            </p:cNvSpPr>
            <p:nvPr/>
          </p:nvSpPr>
          <p:spPr bwMode="auto">
            <a:xfrm flipV="1">
              <a:off x="2592" y="528"/>
              <a:ext cx="0"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9797" name="Freeform 20"/>
            <p:cNvSpPr>
              <a:spLocks/>
            </p:cNvSpPr>
            <p:nvPr/>
          </p:nvSpPr>
          <p:spPr bwMode="auto">
            <a:xfrm>
              <a:off x="3463" y="523"/>
              <a:ext cx="1" cy="291"/>
            </a:xfrm>
            <a:custGeom>
              <a:avLst/>
              <a:gdLst>
                <a:gd name="T0" fmla="*/ 0 w 1"/>
                <a:gd name="T1" fmla="*/ 0 h 291"/>
                <a:gd name="T2" fmla="*/ 0 w 1"/>
                <a:gd name="T3" fmla="*/ 291 h 291"/>
                <a:gd name="T4" fmla="*/ 0 60000 65536"/>
                <a:gd name="T5" fmla="*/ 0 60000 65536"/>
              </a:gdLst>
              <a:ahLst/>
              <a:cxnLst>
                <a:cxn ang="T4">
                  <a:pos x="T0" y="T1"/>
                </a:cxn>
                <a:cxn ang="T5">
                  <a:pos x="T2" y="T3"/>
                </a:cxn>
              </a:cxnLst>
              <a:rect l="0" t="0" r="r" b="b"/>
              <a:pathLst>
                <a:path w="1" h="291">
                  <a:moveTo>
                    <a:pt x="0" y="0"/>
                  </a:moveTo>
                  <a:lnTo>
                    <a:pt x="0" y="29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9798" name="Line 21"/>
            <p:cNvSpPr>
              <a:spLocks noChangeShapeType="1"/>
            </p:cNvSpPr>
            <p:nvPr/>
          </p:nvSpPr>
          <p:spPr bwMode="auto">
            <a:xfrm>
              <a:off x="1056" y="480"/>
              <a:ext cx="576" cy="38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9799" name="Line 22"/>
            <p:cNvSpPr>
              <a:spLocks noChangeShapeType="1"/>
            </p:cNvSpPr>
            <p:nvPr/>
          </p:nvSpPr>
          <p:spPr bwMode="auto">
            <a:xfrm>
              <a:off x="1824" y="480"/>
              <a:ext cx="672" cy="38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9800" name="Line 23"/>
            <p:cNvSpPr>
              <a:spLocks noChangeShapeType="1"/>
            </p:cNvSpPr>
            <p:nvPr/>
          </p:nvSpPr>
          <p:spPr bwMode="auto">
            <a:xfrm flipH="1">
              <a:off x="2688" y="480"/>
              <a:ext cx="720" cy="38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9801" name="Freeform 24"/>
            <p:cNvSpPr>
              <a:spLocks/>
            </p:cNvSpPr>
            <p:nvPr/>
          </p:nvSpPr>
          <p:spPr bwMode="auto">
            <a:xfrm>
              <a:off x="3575" y="503"/>
              <a:ext cx="1" cy="318"/>
            </a:xfrm>
            <a:custGeom>
              <a:avLst/>
              <a:gdLst>
                <a:gd name="T0" fmla="*/ 0 w 1"/>
                <a:gd name="T1" fmla="*/ 318 h 318"/>
                <a:gd name="T2" fmla="*/ 0 w 1"/>
                <a:gd name="T3" fmla="*/ 0 h 318"/>
                <a:gd name="T4" fmla="*/ 0 60000 65536"/>
                <a:gd name="T5" fmla="*/ 0 60000 65536"/>
              </a:gdLst>
              <a:ahLst/>
              <a:cxnLst>
                <a:cxn ang="T4">
                  <a:pos x="T0" y="T1"/>
                </a:cxn>
                <a:cxn ang="T5">
                  <a:pos x="T2" y="T3"/>
                </a:cxn>
              </a:cxnLst>
              <a:rect l="0" t="0" r="r" b="b"/>
              <a:pathLst>
                <a:path w="1" h="318">
                  <a:moveTo>
                    <a:pt x="0" y="31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9802" name="Freeform 25"/>
            <p:cNvSpPr>
              <a:spLocks/>
            </p:cNvSpPr>
            <p:nvPr/>
          </p:nvSpPr>
          <p:spPr bwMode="auto">
            <a:xfrm>
              <a:off x="659" y="993"/>
              <a:ext cx="202" cy="165"/>
            </a:xfrm>
            <a:custGeom>
              <a:avLst/>
              <a:gdLst>
                <a:gd name="T0" fmla="*/ 202 w 202"/>
                <a:gd name="T1" fmla="*/ 80 h 165"/>
                <a:gd name="T2" fmla="*/ 116 w 202"/>
                <a:gd name="T3" fmla="*/ 159 h 165"/>
                <a:gd name="T4" fmla="*/ 16 w 202"/>
                <a:gd name="T5" fmla="*/ 119 h 165"/>
                <a:gd name="T6" fmla="*/ 23 w 202"/>
                <a:gd name="T7" fmla="*/ 46 h 165"/>
                <a:gd name="T8" fmla="*/ 155 w 202"/>
                <a:gd name="T9" fmla="*/ 0 h 16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65">
                  <a:moveTo>
                    <a:pt x="202" y="80"/>
                  </a:moveTo>
                  <a:cubicBezTo>
                    <a:pt x="188" y="93"/>
                    <a:pt x="147" y="153"/>
                    <a:pt x="116" y="159"/>
                  </a:cubicBezTo>
                  <a:cubicBezTo>
                    <a:pt x="85" y="165"/>
                    <a:pt x="31" y="138"/>
                    <a:pt x="16" y="119"/>
                  </a:cubicBezTo>
                  <a:cubicBezTo>
                    <a:pt x="1" y="100"/>
                    <a:pt x="0" y="66"/>
                    <a:pt x="23" y="46"/>
                  </a:cubicBezTo>
                  <a:cubicBezTo>
                    <a:pt x="46" y="26"/>
                    <a:pt x="128" y="10"/>
                    <a:pt x="155" y="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sp>
        <p:nvSpPr>
          <p:cNvPr id="120923" name="Line 91"/>
          <p:cNvSpPr>
            <a:spLocks noChangeShapeType="1"/>
          </p:cNvSpPr>
          <p:nvPr/>
        </p:nvSpPr>
        <p:spPr bwMode="auto">
          <a:xfrm>
            <a:off x="3657601" y="741364"/>
            <a:ext cx="1066800" cy="641349"/>
          </a:xfrm>
          <a:custGeom>
            <a:avLst/>
            <a:gdLst>
              <a:gd name="connsiteX0" fmla="*/ 0 w 1066800"/>
              <a:gd name="connsiteY0" fmla="*/ 0 h 609600"/>
              <a:gd name="connsiteX1" fmla="*/ 1066800 w 1066800"/>
              <a:gd name="connsiteY1" fmla="*/ 609600 h 609600"/>
              <a:gd name="connsiteX0" fmla="*/ 0 w 1076632"/>
              <a:gd name="connsiteY0" fmla="*/ 0 h 629265"/>
              <a:gd name="connsiteX1" fmla="*/ 1076632 w 1076632"/>
              <a:gd name="connsiteY1" fmla="*/ 629265 h 629265"/>
            </a:gdLst>
            <a:ahLst/>
            <a:cxnLst>
              <a:cxn ang="0">
                <a:pos x="connsiteX0" y="connsiteY0"/>
              </a:cxn>
              <a:cxn ang="0">
                <a:pos x="connsiteX1" y="connsiteY1"/>
              </a:cxn>
            </a:cxnLst>
            <a:rect l="l" t="t" r="r" b="b"/>
            <a:pathLst>
              <a:path w="1076632" h="629265">
                <a:moveTo>
                  <a:pt x="0" y="0"/>
                </a:moveTo>
                <a:cubicBezTo>
                  <a:pt x="355600" y="203200"/>
                  <a:pt x="721032" y="426065"/>
                  <a:pt x="1076632" y="629265"/>
                </a:cubicBezTo>
              </a:path>
            </a:pathLst>
          </a:cu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CA"/>
          </a:p>
        </p:txBody>
      </p:sp>
      <p:sp>
        <p:nvSpPr>
          <p:cNvPr id="120903" name="Freeform 71"/>
          <p:cNvSpPr>
            <a:spLocks/>
          </p:cNvSpPr>
          <p:nvPr/>
        </p:nvSpPr>
        <p:spPr bwMode="auto">
          <a:xfrm>
            <a:off x="1815793" y="1554478"/>
            <a:ext cx="313046" cy="275654"/>
          </a:xfrm>
          <a:custGeom>
            <a:avLst/>
            <a:gdLst>
              <a:gd name="T0" fmla="*/ 322263 w 203"/>
              <a:gd name="T1" fmla="*/ 158750 h 185"/>
              <a:gd name="T2" fmla="*/ 185738 w 203"/>
              <a:gd name="T3" fmla="*/ 284162 h 185"/>
              <a:gd name="T4" fmla="*/ 26988 w 203"/>
              <a:gd name="T5" fmla="*/ 220662 h 185"/>
              <a:gd name="T6" fmla="*/ 38100 w 203"/>
              <a:gd name="T7" fmla="*/ 104775 h 185"/>
              <a:gd name="T8" fmla="*/ 254000 w 203"/>
              <a:gd name="T9" fmla="*/ 0 h 185"/>
              <a:gd name="T10" fmla="*/ 0 60000 65536"/>
              <a:gd name="T11" fmla="*/ 0 60000 65536"/>
              <a:gd name="T12" fmla="*/ 0 60000 65536"/>
              <a:gd name="T13" fmla="*/ 0 60000 65536"/>
              <a:gd name="T14" fmla="*/ 0 60000 65536"/>
              <a:gd name="connsiteX0" fmla="*/ 9714 w 9714"/>
              <a:gd name="connsiteY0" fmla="*/ 5070 h 9386"/>
              <a:gd name="connsiteX1" fmla="*/ 5478 w 9714"/>
              <a:gd name="connsiteY1" fmla="*/ 9341 h 9386"/>
              <a:gd name="connsiteX2" fmla="*/ 551 w 9714"/>
              <a:gd name="connsiteY2" fmla="*/ 7179 h 9386"/>
              <a:gd name="connsiteX3" fmla="*/ 896 w 9714"/>
              <a:gd name="connsiteY3" fmla="*/ 3233 h 9386"/>
              <a:gd name="connsiteX4" fmla="*/ 8206 w 9714"/>
              <a:gd name="connsiteY4" fmla="*/ 0 h 9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14" h="9386">
                <a:moveTo>
                  <a:pt x="9714" y="5070"/>
                </a:moveTo>
                <a:cubicBezTo>
                  <a:pt x="9024" y="5773"/>
                  <a:pt x="7005" y="9016"/>
                  <a:pt x="5478" y="9341"/>
                </a:cubicBezTo>
                <a:cubicBezTo>
                  <a:pt x="3950" y="9665"/>
                  <a:pt x="1290" y="8206"/>
                  <a:pt x="551" y="7179"/>
                </a:cubicBezTo>
                <a:cubicBezTo>
                  <a:pt x="-187" y="6151"/>
                  <a:pt x="-286" y="4476"/>
                  <a:pt x="896" y="3233"/>
                </a:cubicBezTo>
                <a:cubicBezTo>
                  <a:pt x="2079" y="1989"/>
                  <a:pt x="6826" y="757"/>
                  <a:pt x="8206" y="0"/>
                </a:cubicBezTo>
              </a:path>
            </a:pathLst>
          </a:custGeom>
          <a:noFill/>
          <a:ln w="571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B2B2B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48" name="Freeform 116"/>
          <p:cNvSpPr>
            <a:spLocks/>
          </p:cNvSpPr>
          <p:nvPr/>
        </p:nvSpPr>
        <p:spPr bwMode="auto">
          <a:xfrm>
            <a:off x="7307263" y="2924175"/>
            <a:ext cx="173037" cy="746125"/>
          </a:xfrm>
          <a:custGeom>
            <a:avLst/>
            <a:gdLst>
              <a:gd name="T0" fmla="*/ 31750 w 109"/>
              <a:gd name="T1" fmla="*/ 746125 h 470"/>
              <a:gd name="T2" fmla="*/ 168275 w 109"/>
              <a:gd name="T3" fmla="*/ 409575 h 470"/>
              <a:gd name="T4" fmla="*/ 0 w 109"/>
              <a:gd name="T5" fmla="*/ 0 h 470"/>
              <a:gd name="T6" fmla="*/ 0 60000 65536"/>
              <a:gd name="T7" fmla="*/ 0 60000 65536"/>
              <a:gd name="T8" fmla="*/ 0 60000 65536"/>
            </a:gdLst>
            <a:ahLst/>
            <a:cxnLst>
              <a:cxn ang="T6">
                <a:pos x="T0" y="T1"/>
              </a:cxn>
              <a:cxn ang="T7">
                <a:pos x="T2" y="T3"/>
              </a:cxn>
              <a:cxn ang="T8">
                <a:pos x="T4" y="T5"/>
              </a:cxn>
            </a:cxnLst>
            <a:rect l="0" t="0" r="r" b="b"/>
            <a:pathLst>
              <a:path w="109" h="470">
                <a:moveTo>
                  <a:pt x="20" y="470"/>
                </a:moveTo>
                <a:cubicBezTo>
                  <a:pt x="34" y="435"/>
                  <a:pt x="109" y="336"/>
                  <a:pt x="106" y="258"/>
                </a:cubicBezTo>
                <a:cubicBezTo>
                  <a:pt x="103" y="180"/>
                  <a:pt x="22" y="54"/>
                  <a:pt x="0" y="0"/>
                </a:cubicBezTo>
              </a:path>
            </a:pathLst>
          </a:custGeom>
          <a:noFill/>
          <a:ln w="28575"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B2B2B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47" name="Freeform 115"/>
          <p:cNvSpPr>
            <a:spLocks/>
          </p:cNvSpPr>
          <p:nvPr/>
        </p:nvSpPr>
        <p:spPr bwMode="auto">
          <a:xfrm>
            <a:off x="5141913" y="2924175"/>
            <a:ext cx="1860550" cy="1881188"/>
          </a:xfrm>
          <a:custGeom>
            <a:avLst/>
            <a:gdLst>
              <a:gd name="T0" fmla="*/ 1860550 w 1172"/>
              <a:gd name="T1" fmla="*/ 0 h 1185"/>
              <a:gd name="T2" fmla="*/ 0 w 1172"/>
              <a:gd name="T3" fmla="*/ 1881188 h 1185"/>
              <a:gd name="T4" fmla="*/ 0 60000 65536"/>
              <a:gd name="T5" fmla="*/ 0 60000 65536"/>
            </a:gdLst>
            <a:ahLst/>
            <a:cxnLst>
              <a:cxn ang="T4">
                <a:pos x="T0" y="T1"/>
              </a:cxn>
              <a:cxn ang="T5">
                <a:pos x="T2" y="T3"/>
              </a:cxn>
            </a:cxnLst>
            <a:rect l="0" t="0" r="r" b="b"/>
            <a:pathLst>
              <a:path w="1172" h="1185">
                <a:moveTo>
                  <a:pt x="1172" y="0"/>
                </a:moveTo>
                <a:lnTo>
                  <a:pt x="0" y="1185"/>
                </a:lnTo>
              </a:path>
            </a:pathLst>
          </a:custGeom>
          <a:solidFill>
            <a:srgbClr val="B2B2B2"/>
          </a:solidFill>
          <a:ln w="28575">
            <a:solidFill>
              <a:srgbClr val="B2B2B2"/>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38" name="Freeform 106"/>
          <p:cNvSpPr>
            <a:spLocks/>
          </p:cNvSpPr>
          <p:nvPr/>
        </p:nvSpPr>
        <p:spPr bwMode="auto">
          <a:xfrm>
            <a:off x="5268913" y="3922713"/>
            <a:ext cx="1765300" cy="966787"/>
          </a:xfrm>
          <a:custGeom>
            <a:avLst/>
            <a:gdLst>
              <a:gd name="T0" fmla="*/ 1765300 w 1112"/>
              <a:gd name="T1" fmla="*/ 0 h 609"/>
              <a:gd name="T2" fmla="*/ 0 w 1112"/>
              <a:gd name="T3" fmla="*/ 966787 h 609"/>
              <a:gd name="T4" fmla="*/ 0 60000 65536"/>
              <a:gd name="T5" fmla="*/ 0 60000 65536"/>
            </a:gdLst>
            <a:ahLst/>
            <a:cxnLst>
              <a:cxn ang="T4">
                <a:pos x="T0" y="T1"/>
              </a:cxn>
              <a:cxn ang="T5">
                <a:pos x="T2" y="T3"/>
              </a:cxn>
            </a:cxnLst>
            <a:rect l="0" t="0" r="r" b="b"/>
            <a:pathLst>
              <a:path w="1112" h="609">
                <a:moveTo>
                  <a:pt x="1112" y="0"/>
                </a:moveTo>
                <a:lnTo>
                  <a:pt x="0" y="609"/>
                </a:lnTo>
              </a:path>
            </a:pathLst>
          </a:custGeom>
          <a:solidFill>
            <a:srgbClr val="B2B2B2"/>
          </a:solidFill>
          <a:ln w="28575">
            <a:solidFill>
              <a:srgbClr val="B2B2B2"/>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49" name="Freeform 117"/>
          <p:cNvSpPr>
            <a:spLocks/>
          </p:cNvSpPr>
          <p:nvPr/>
        </p:nvSpPr>
        <p:spPr bwMode="auto">
          <a:xfrm>
            <a:off x="3721100" y="5880100"/>
            <a:ext cx="279400" cy="266700"/>
          </a:xfrm>
          <a:custGeom>
            <a:avLst/>
            <a:gdLst>
              <a:gd name="T0" fmla="*/ 15875 w 176"/>
              <a:gd name="T1" fmla="*/ 231775 h 168"/>
              <a:gd name="T2" fmla="*/ 184150 w 176"/>
              <a:gd name="T3" fmla="*/ 242888 h 168"/>
              <a:gd name="T4" fmla="*/ 279400 w 176"/>
              <a:gd name="T5" fmla="*/ 85725 h 168"/>
              <a:gd name="T6" fmla="*/ 184150 w 176"/>
              <a:gd name="T7" fmla="*/ 1588 h 168"/>
              <a:gd name="T8" fmla="*/ 0 w 176"/>
              <a:gd name="T9" fmla="*/ 90488 h 1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6" h="168">
                <a:moveTo>
                  <a:pt x="10" y="146"/>
                </a:moveTo>
                <a:cubicBezTo>
                  <a:pt x="28" y="147"/>
                  <a:pt x="88" y="168"/>
                  <a:pt x="116" y="153"/>
                </a:cubicBezTo>
                <a:cubicBezTo>
                  <a:pt x="144" y="138"/>
                  <a:pt x="176" y="79"/>
                  <a:pt x="176" y="54"/>
                </a:cubicBezTo>
                <a:cubicBezTo>
                  <a:pt x="176" y="29"/>
                  <a:pt x="145" y="0"/>
                  <a:pt x="116" y="1"/>
                </a:cubicBezTo>
                <a:cubicBezTo>
                  <a:pt x="87" y="2"/>
                  <a:pt x="24" y="45"/>
                  <a:pt x="0" y="57"/>
                </a:cubicBezTo>
              </a:path>
            </a:pathLst>
          </a:custGeom>
          <a:noFill/>
          <a:ln w="28575"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B2B2B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43" name="Freeform 111"/>
          <p:cNvSpPr>
            <a:spLocks/>
          </p:cNvSpPr>
          <p:nvPr/>
        </p:nvSpPr>
        <p:spPr bwMode="auto">
          <a:xfrm>
            <a:off x="2168525" y="5173663"/>
            <a:ext cx="2743200" cy="274637"/>
          </a:xfrm>
          <a:custGeom>
            <a:avLst/>
            <a:gdLst>
              <a:gd name="T0" fmla="*/ 2743200 w 1728"/>
              <a:gd name="T1" fmla="*/ 9525 h 173"/>
              <a:gd name="T2" fmla="*/ 1323975 w 1728"/>
              <a:gd name="T3" fmla="*/ 273050 h 173"/>
              <a:gd name="T4" fmla="*/ 0 w 1728"/>
              <a:gd name="T5" fmla="*/ 0 h 173"/>
              <a:gd name="T6" fmla="*/ 0 60000 65536"/>
              <a:gd name="T7" fmla="*/ 0 60000 65536"/>
              <a:gd name="T8" fmla="*/ 0 60000 65536"/>
            </a:gdLst>
            <a:ahLst/>
            <a:cxnLst>
              <a:cxn ang="T6">
                <a:pos x="T0" y="T1"/>
              </a:cxn>
              <a:cxn ang="T7">
                <a:pos x="T2" y="T3"/>
              </a:cxn>
              <a:cxn ang="T8">
                <a:pos x="T4" y="T5"/>
              </a:cxn>
            </a:cxnLst>
            <a:rect l="0" t="0" r="r" b="b"/>
            <a:pathLst>
              <a:path w="1728" h="173">
                <a:moveTo>
                  <a:pt x="1728" y="6"/>
                </a:moveTo>
                <a:cubicBezTo>
                  <a:pt x="1579" y="34"/>
                  <a:pt x="1122" y="173"/>
                  <a:pt x="834" y="172"/>
                </a:cubicBezTo>
                <a:cubicBezTo>
                  <a:pt x="546" y="171"/>
                  <a:pt x="174" y="36"/>
                  <a:pt x="0" y="0"/>
                </a:cubicBezTo>
              </a:path>
            </a:pathLst>
          </a:custGeom>
          <a:noFill/>
          <a:ln w="28575">
            <a:solidFill>
              <a:srgbClr val="B2B2B2"/>
            </a:solidFill>
            <a:round/>
            <a:headEnd/>
            <a:tailEnd type="triangle" w="med" len="med"/>
          </a:ln>
          <a:effectLst/>
          <a:extLst>
            <a:ext uri="{909E8E84-426E-40DD-AFC4-6F175D3DCCD1}">
              <a14:hiddenFill xmlns:a14="http://schemas.microsoft.com/office/drawing/2010/main">
                <a:solidFill>
                  <a:srgbClr val="B2B2B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39" name="Freeform 107"/>
          <p:cNvSpPr>
            <a:spLocks/>
          </p:cNvSpPr>
          <p:nvPr/>
        </p:nvSpPr>
        <p:spPr bwMode="auto">
          <a:xfrm>
            <a:off x="3744913" y="5068888"/>
            <a:ext cx="1123950" cy="1587"/>
          </a:xfrm>
          <a:custGeom>
            <a:avLst/>
            <a:gdLst>
              <a:gd name="T0" fmla="*/ 1123950 w 708"/>
              <a:gd name="T1" fmla="*/ 0 h 1"/>
              <a:gd name="T2" fmla="*/ 0 w 708"/>
              <a:gd name="T3" fmla="*/ 0 h 1"/>
              <a:gd name="T4" fmla="*/ 0 60000 65536"/>
              <a:gd name="T5" fmla="*/ 0 60000 65536"/>
            </a:gdLst>
            <a:ahLst/>
            <a:cxnLst>
              <a:cxn ang="T4">
                <a:pos x="T0" y="T1"/>
              </a:cxn>
              <a:cxn ang="T5">
                <a:pos x="T2" y="T3"/>
              </a:cxn>
            </a:cxnLst>
            <a:rect l="0" t="0" r="r" b="b"/>
            <a:pathLst>
              <a:path w="708" h="1">
                <a:moveTo>
                  <a:pt x="708" y="0"/>
                </a:moveTo>
                <a:lnTo>
                  <a:pt x="0" y="0"/>
                </a:lnTo>
              </a:path>
            </a:pathLst>
          </a:custGeom>
          <a:solidFill>
            <a:srgbClr val="B2B2B2"/>
          </a:solidFill>
          <a:ln w="28575">
            <a:solidFill>
              <a:srgbClr val="B2B2B2"/>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37" name="Freeform 105"/>
          <p:cNvSpPr>
            <a:spLocks/>
          </p:cNvSpPr>
          <p:nvPr/>
        </p:nvSpPr>
        <p:spPr bwMode="auto">
          <a:xfrm>
            <a:off x="2209800" y="2819400"/>
            <a:ext cx="4730750" cy="2154238"/>
          </a:xfrm>
          <a:custGeom>
            <a:avLst/>
            <a:gdLst>
              <a:gd name="T0" fmla="*/ 4730750 w 2980"/>
              <a:gd name="T1" fmla="*/ 0 h 1357"/>
              <a:gd name="T2" fmla="*/ 1892300 w 2980"/>
              <a:gd name="T3" fmla="*/ 1376363 h 1357"/>
              <a:gd name="T4" fmla="*/ 0 w 2980"/>
              <a:gd name="T5" fmla="*/ 2154238 h 1357"/>
              <a:gd name="T6" fmla="*/ 0 60000 65536"/>
              <a:gd name="T7" fmla="*/ 0 60000 65536"/>
              <a:gd name="T8" fmla="*/ 0 60000 65536"/>
            </a:gdLst>
            <a:ahLst/>
            <a:cxnLst>
              <a:cxn ang="T6">
                <a:pos x="T0" y="T1"/>
              </a:cxn>
              <a:cxn ang="T7">
                <a:pos x="T2" y="T3"/>
              </a:cxn>
              <a:cxn ang="T8">
                <a:pos x="T4" y="T5"/>
              </a:cxn>
            </a:cxnLst>
            <a:rect l="0" t="0" r="r" b="b"/>
            <a:pathLst>
              <a:path w="2980" h="1357">
                <a:moveTo>
                  <a:pt x="2980" y="0"/>
                </a:moveTo>
                <a:cubicBezTo>
                  <a:pt x="2682" y="144"/>
                  <a:pt x="1689" y="641"/>
                  <a:pt x="1192" y="867"/>
                </a:cubicBezTo>
                <a:cubicBezTo>
                  <a:pt x="695" y="1093"/>
                  <a:pt x="248" y="1255"/>
                  <a:pt x="0" y="1357"/>
                </a:cubicBezTo>
              </a:path>
            </a:pathLst>
          </a:custGeom>
          <a:noFill/>
          <a:ln w="28575">
            <a:solidFill>
              <a:srgbClr val="B2B2B2"/>
            </a:solidFill>
            <a:round/>
            <a:headEnd/>
            <a:tailEnd type="triangle" w="med" len="med"/>
          </a:ln>
          <a:effectLst/>
          <a:extLst>
            <a:ext uri="{909E8E84-426E-40DD-AFC4-6F175D3DCCD1}">
              <a14:hiddenFill xmlns:a14="http://schemas.microsoft.com/office/drawing/2010/main">
                <a:solidFill>
                  <a:srgbClr val="B2B2B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41" name="Freeform 109"/>
          <p:cNvSpPr>
            <a:spLocks/>
          </p:cNvSpPr>
          <p:nvPr/>
        </p:nvSpPr>
        <p:spPr bwMode="auto">
          <a:xfrm>
            <a:off x="868936" y="2881313"/>
            <a:ext cx="2382264" cy="3186112"/>
          </a:xfrm>
          <a:custGeom>
            <a:avLst/>
            <a:gdLst>
              <a:gd name="T0" fmla="*/ 2495550 w 1572"/>
              <a:gd name="T1" fmla="*/ 3186112 h 2007"/>
              <a:gd name="T2" fmla="*/ 411163 w 1572"/>
              <a:gd name="T3" fmla="*/ 2625725 h 2007"/>
              <a:gd name="T4" fmla="*/ 347663 w 1572"/>
              <a:gd name="T5" fmla="*/ 1196975 h 2007"/>
              <a:gd name="T6" fmla="*/ 2495550 w 1572"/>
              <a:gd name="T7" fmla="*/ 0 h 2007"/>
              <a:gd name="T8" fmla="*/ 0 60000 65536"/>
              <a:gd name="T9" fmla="*/ 0 60000 65536"/>
              <a:gd name="T10" fmla="*/ 0 60000 65536"/>
              <a:gd name="T11" fmla="*/ 0 60000 65536"/>
              <a:gd name="connsiteX0" fmla="*/ 9547 w 9547"/>
              <a:gd name="connsiteY0" fmla="*/ 10000 h 10000"/>
              <a:gd name="connsiteX1" fmla="*/ 1195 w 9547"/>
              <a:gd name="connsiteY1" fmla="*/ 8241 h 10000"/>
              <a:gd name="connsiteX2" fmla="*/ 940 w 9547"/>
              <a:gd name="connsiteY2" fmla="*/ 3757 h 10000"/>
              <a:gd name="connsiteX3" fmla="*/ 9547 w 9547"/>
              <a:gd name="connsiteY3" fmla="*/ 0 h 10000"/>
              <a:gd name="connsiteX0" fmla="*/ 9999 w 9999"/>
              <a:gd name="connsiteY0" fmla="*/ 10000 h 10000"/>
              <a:gd name="connsiteX1" fmla="*/ 1251 w 9999"/>
              <a:gd name="connsiteY1" fmla="*/ 8241 h 10000"/>
              <a:gd name="connsiteX2" fmla="*/ 984 w 9999"/>
              <a:gd name="connsiteY2" fmla="*/ 3757 h 10000"/>
              <a:gd name="connsiteX3" fmla="*/ 9999 w 9999"/>
              <a:gd name="connsiteY3" fmla="*/ 0 h 10000"/>
            </a:gdLst>
            <a:ahLst/>
            <a:cxnLst>
              <a:cxn ang="0">
                <a:pos x="connsiteX0" y="connsiteY0"/>
              </a:cxn>
              <a:cxn ang="0">
                <a:pos x="connsiteX1" y="connsiteY1"/>
              </a:cxn>
              <a:cxn ang="0">
                <a:pos x="connsiteX2" y="connsiteY2"/>
              </a:cxn>
              <a:cxn ang="0">
                <a:pos x="connsiteX3" y="connsiteY3"/>
              </a:cxn>
            </a:cxnLst>
            <a:rect l="l" t="t" r="r" b="b"/>
            <a:pathLst>
              <a:path w="9999" h="10000">
                <a:moveTo>
                  <a:pt x="9999" y="10000"/>
                </a:moveTo>
                <a:cubicBezTo>
                  <a:pt x="8499" y="9922"/>
                  <a:pt x="2750" y="9283"/>
                  <a:pt x="1251" y="8241"/>
                </a:cubicBezTo>
                <a:cubicBezTo>
                  <a:pt x="-249" y="7200"/>
                  <a:pt x="-475" y="5132"/>
                  <a:pt x="984" y="3757"/>
                </a:cubicBezTo>
                <a:cubicBezTo>
                  <a:pt x="2443" y="2382"/>
                  <a:pt x="7914" y="566"/>
                  <a:pt x="9999" y="0"/>
                </a:cubicBezTo>
              </a:path>
            </a:pathLst>
          </a:custGeom>
          <a:noFill/>
          <a:ln w="28575"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B2B2B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20945" name="Freeform 113"/>
          <p:cNvSpPr>
            <a:spLocks/>
          </p:cNvSpPr>
          <p:nvPr/>
        </p:nvSpPr>
        <p:spPr bwMode="auto">
          <a:xfrm>
            <a:off x="3553906" y="2908784"/>
            <a:ext cx="804293" cy="1969604"/>
          </a:xfrm>
          <a:custGeom>
            <a:avLst/>
            <a:gdLst>
              <a:gd name="T0" fmla="*/ 0 w 317"/>
              <a:gd name="T1" fmla="*/ 0 h 1185"/>
              <a:gd name="T2" fmla="*/ 503237 w 317"/>
              <a:gd name="T3" fmla="*/ 914400 h 1185"/>
              <a:gd name="T4" fmla="*/ 0 w 317"/>
              <a:gd name="T5" fmla="*/ 1881188 h 1185"/>
              <a:gd name="T6" fmla="*/ 0 60000 65536"/>
              <a:gd name="T7" fmla="*/ 0 60000 65536"/>
              <a:gd name="T8" fmla="*/ 0 60000 65536"/>
              <a:gd name="connsiteX0" fmla="*/ 0 w 11954"/>
              <a:gd name="connsiteY0" fmla="*/ 0 h 10000"/>
              <a:gd name="connsiteX1" fmla="*/ 11954 w 11954"/>
              <a:gd name="connsiteY1" fmla="*/ 5593 h 10000"/>
              <a:gd name="connsiteX2" fmla="*/ 0 w 11954"/>
              <a:gd name="connsiteY2" fmla="*/ 10000 h 10000"/>
              <a:gd name="connsiteX0" fmla="*/ 0 w 7656"/>
              <a:gd name="connsiteY0" fmla="*/ 0 h 10000"/>
              <a:gd name="connsiteX1" fmla="*/ 7656 w 7656"/>
              <a:gd name="connsiteY1" fmla="*/ 3189 h 10000"/>
              <a:gd name="connsiteX2" fmla="*/ 0 w 7656"/>
              <a:gd name="connsiteY2" fmla="*/ 10000 h 10000"/>
              <a:gd name="connsiteX0" fmla="*/ 0 w 10371"/>
              <a:gd name="connsiteY0" fmla="*/ 0 h 10000"/>
              <a:gd name="connsiteX1" fmla="*/ 10000 w 10371"/>
              <a:gd name="connsiteY1" fmla="*/ 3189 h 10000"/>
              <a:gd name="connsiteX2" fmla="*/ 7540 w 10371"/>
              <a:gd name="connsiteY2" fmla="*/ 8371 h 10000"/>
              <a:gd name="connsiteX3" fmla="*/ 0 w 10371"/>
              <a:gd name="connsiteY3" fmla="*/ 10000 h 10000"/>
              <a:gd name="connsiteX0" fmla="*/ 0 w 10679"/>
              <a:gd name="connsiteY0" fmla="*/ 0 h 10000"/>
              <a:gd name="connsiteX1" fmla="*/ 10000 w 10679"/>
              <a:gd name="connsiteY1" fmla="*/ 3189 h 10000"/>
              <a:gd name="connsiteX2" fmla="*/ 9071 w 10679"/>
              <a:gd name="connsiteY2" fmla="*/ 8371 h 10000"/>
              <a:gd name="connsiteX3" fmla="*/ 0 w 10679"/>
              <a:gd name="connsiteY3" fmla="*/ 10000 h 10000"/>
              <a:gd name="connsiteX0" fmla="*/ 0 w 9741"/>
              <a:gd name="connsiteY0" fmla="*/ 0 h 10000"/>
              <a:gd name="connsiteX1" fmla="*/ 7703 w 9741"/>
              <a:gd name="connsiteY1" fmla="*/ 2353 h 10000"/>
              <a:gd name="connsiteX2" fmla="*/ 9071 w 9741"/>
              <a:gd name="connsiteY2" fmla="*/ 8371 h 10000"/>
              <a:gd name="connsiteX3" fmla="*/ 0 w 9741"/>
              <a:gd name="connsiteY3" fmla="*/ 10000 h 10000"/>
              <a:gd name="connsiteX0" fmla="*/ 0 w 10793"/>
              <a:gd name="connsiteY0" fmla="*/ 0 h 10000"/>
              <a:gd name="connsiteX1" fmla="*/ 10004 w 10793"/>
              <a:gd name="connsiteY1" fmla="*/ 2248 h 10000"/>
              <a:gd name="connsiteX2" fmla="*/ 9312 w 10793"/>
              <a:gd name="connsiteY2" fmla="*/ 8371 h 10000"/>
              <a:gd name="connsiteX3" fmla="*/ 0 w 10793"/>
              <a:gd name="connsiteY3" fmla="*/ 10000 h 10000"/>
              <a:gd name="connsiteX0" fmla="*/ 0 w 9312"/>
              <a:gd name="connsiteY0" fmla="*/ 0 h 10000"/>
              <a:gd name="connsiteX1" fmla="*/ 9312 w 9312"/>
              <a:gd name="connsiteY1" fmla="*/ 8371 h 10000"/>
              <a:gd name="connsiteX2" fmla="*/ 0 w 9312"/>
              <a:gd name="connsiteY2" fmla="*/ 10000 h 10000"/>
              <a:gd name="connsiteX0" fmla="*/ 0 w 19003"/>
              <a:gd name="connsiteY0" fmla="*/ 0 h 10000"/>
              <a:gd name="connsiteX1" fmla="*/ 19003 w 19003"/>
              <a:gd name="connsiteY1" fmla="*/ 5287 h 10000"/>
              <a:gd name="connsiteX2" fmla="*/ 0 w 19003"/>
              <a:gd name="connsiteY2" fmla="*/ 10000 h 10000"/>
              <a:gd name="connsiteX0" fmla="*/ 0 w 22379"/>
              <a:gd name="connsiteY0" fmla="*/ 0 h 10470"/>
              <a:gd name="connsiteX1" fmla="*/ 22379 w 22379"/>
              <a:gd name="connsiteY1" fmla="*/ 5757 h 10470"/>
              <a:gd name="connsiteX2" fmla="*/ 3376 w 22379"/>
              <a:gd name="connsiteY2" fmla="*/ 10470 h 10470"/>
              <a:gd name="connsiteX0" fmla="*/ 0 w 22379"/>
              <a:gd name="connsiteY0" fmla="*/ 0 h 10470"/>
              <a:gd name="connsiteX1" fmla="*/ 22379 w 22379"/>
              <a:gd name="connsiteY1" fmla="*/ 5757 h 10470"/>
              <a:gd name="connsiteX2" fmla="*/ 3376 w 22379"/>
              <a:gd name="connsiteY2" fmla="*/ 10470 h 10470"/>
              <a:gd name="connsiteX0" fmla="*/ 0 w 23786"/>
              <a:gd name="connsiteY0" fmla="*/ 0 h 10470"/>
              <a:gd name="connsiteX1" fmla="*/ 23786 w 23786"/>
              <a:gd name="connsiteY1" fmla="*/ 6436 h 10470"/>
              <a:gd name="connsiteX2" fmla="*/ 3376 w 23786"/>
              <a:gd name="connsiteY2" fmla="*/ 10470 h 10470"/>
              <a:gd name="connsiteX0" fmla="*/ 0 w 23842"/>
              <a:gd name="connsiteY0" fmla="*/ 0 h 10470"/>
              <a:gd name="connsiteX1" fmla="*/ 23786 w 23842"/>
              <a:gd name="connsiteY1" fmla="*/ 6436 h 10470"/>
              <a:gd name="connsiteX2" fmla="*/ 3376 w 23842"/>
              <a:gd name="connsiteY2" fmla="*/ 10470 h 10470"/>
              <a:gd name="connsiteX0" fmla="*/ 0 w 23844"/>
              <a:gd name="connsiteY0" fmla="*/ 0 h 10470"/>
              <a:gd name="connsiteX1" fmla="*/ 23786 w 23844"/>
              <a:gd name="connsiteY1" fmla="*/ 6436 h 10470"/>
              <a:gd name="connsiteX2" fmla="*/ 4220 w 23844"/>
              <a:gd name="connsiteY2" fmla="*/ 10470 h 10470"/>
              <a:gd name="connsiteX0" fmla="*/ 0 w 23854"/>
              <a:gd name="connsiteY0" fmla="*/ 0 h 10470"/>
              <a:gd name="connsiteX1" fmla="*/ 23786 w 23854"/>
              <a:gd name="connsiteY1" fmla="*/ 6436 h 10470"/>
              <a:gd name="connsiteX2" fmla="*/ 4220 w 23854"/>
              <a:gd name="connsiteY2" fmla="*/ 10470 h 10470"/>
              <a:gd name="connsiteX0" fmla="*/ 0 w 23014"/>
              <a:gd name="connsiteY0" fmla="*/ 0 h 10470"/>
              <a:gd name="connsiteX1" fmla="*/ 22942 w 23014"/>
              <a:gd name="connsiteY1" fmla="*/ 5286 h 10470"/>
              <a:gd name="connsiteX2" fmla="*/ 4220 w 23014"/>
              <a:gd name="connsiteY2" fmla="*/ 10470 h 10470"/>
            </a:gdLst>
            <a:ahLst/>
            <a:cxnLst>
              <a:cxn ang="0">
                <a:pos x="connsiteX0" y="connsiteY0"/>
              </a:cxn>
              <a:cxn ang="0">
                <a:pos x="connsiteX1" y="connsiteY1"/>
              </a:cxn>
              <a:cxn ang="0">
                <a:pos x="connsiteX2" y="connsiteY2"/>
              </a:cxn>
            </a:cxnLst>
            <a:rect l="l" t="t" r="r" b="b"/>
            <a:pathLst>
              <a:path w="23014" h="10470">
                <a:moveTo>
                  <a:pt x="0" y="0"/>
                </a:moveTo>
                <a:cubicBezTo>
                  <a:pt x="11367" y="1326"/>
                  <a:pt x="22942" y="3619"/>
                  <a:pt x="22942" y="5286"/>
                </a:cubicBezTo>
                <a:cubicBezTo>
                  <a:pt x="24200" y="6735"/>
                  <a:pt x="8653" y="10225"/>
                  <a:pt x="4220" y="10470"/>
                </a:cubicBezTo>
              </a:path>
            </a:pathLst>
          </a:custGeom>
          <a:noFill/>
          <a:ln w="28575">
            <a:solidFill>
              <a:srgbClr val="B2B2B2"/>
            </a:solidFill>
            <a:round/>
            <a:headEnd/>
            <a:tailEnd type="triangle" w="med" len="med"/>
          </a:ln>
          <a:effectLst/>
          <a:extLst>
            <a:ext uri="{909E8E84-426E-40DD-AFC4-6F175D3DCCD1}">
              <a14:hiddenFill xmlns:a14="http://schemas.microsoft.com/office/drawing/2010/main">
                <a:solidFill>
                  <a:srgbClr val="B2B2B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883" name="Oval 51"/>
          <p:cNvSpPr>
            <a:spLocks noChangeArrowheads="1"/>
          </p:cNvSpPr>
          <p:nvPr/>
        </p:nvSpPr>
        <p:spPr bwMode="auto">
          <a:xfrm>
            <a:off x="4644820" y="371475"/>
            <a:ext cx="457200" cy="466725"/>
          </a:xfrm>
          <a:prstGeom prst="ellipse">
            <a:avLst/>
          </a:prstGeom>
          <a:solidFill>
            <a:srgbClr val="B2B2B2"/>
          </a:solidFill>
          <a:ln w="28575">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c</a:t>
            </a:r>
          </a:p>
        </p:txBody>
      </p:sp>
      <p:sp>
        <p:nvSpPr>
          <p:cNvPr id="120884" name="Oval 52"/>
          <p:cNvSpPr>
            <a:spLocks noChangeArrowheads="1"/>
          </p:cNvSpPr>
          <p:nvPr/>
        </p:nvSpPr>
        <p:spPr bwMode="auto">
          <a:xfrm>
            <a:off x="6110748" y="358878"/>
            <a:ext cx="457200" cy="466725"/>
          </a:xfrm>
          <a:prstGeom prst="ellipse">
            <a:avLst/>
          </a:prstGeom>
          <a:solidFill>
            <a:srgbClr val="B2B2B2"/>
          </a:solidFill>
          <a:ln w="28575">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d</a:t>
            </a:r>
          </a:p>
        </p:txBody>
      </p:sp>
      <p:sp>
        <p:nvSpPr>
          <p:cNvPr id="120886" name="Oval 54"/>
          <p:cNvSpPr>
            <a:spLocks noChangeArrowheads="1"/>
          </p:cNvSpPr>
          <p:nvPr/>
        </p:nvSpPr>
        <p:spPr bwMode="auto">
          <a:xfrm>
            <a:off x="3281311" y="1290637"/>
            <a:ext cx="457200" cy="466725"/>
          </a:xfrm>
          <a:prstGeom prst="ellipse">
            <a:avLst/>
          </a:prstGeom>
          <a:solidFill>
            <a:srgbClr val="B2B2B2"/>
          </a:solidFill>
          <a:ln w="28575">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f</a:t>
            </a:r>
          </a:p>
        </p:txBody>
      </p:sp>
      <p:sp>
        <p:nvSpPr>
          <p:cNvPr id="120891" name="Line 59"/>
          <p:cNvSpPr>
            <a:spLocks noChangeShapeType="1"/>
          </p:cNvSpPr>
          <p:nvPr/>
        </p:nvSpPr>
        <p:spPr bwMode="auto">
          <a:xfrm flipH="1">
            <a:off x="5105400" y="609600"/>
            <a:ext cx="990600" cy="0"/>
          </a:xfrm>
          <a:prstGeom prst="line">
            <a:avLst/>
          </a:prstGeom>
          <a:noFill/>
          <a:ln w="571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892" name="Line 60"/>
          <p:cNvSpPr>
            <a:spLocks noChangeShapeType="1"/>
          </p:cNvSpPr>
          <p:nvPr/>
        </p:nvSpPr>
        <p:spPr bwMode="auto">
          <a:xfrm flipH="1">
            <a:off x="5105400" y="1524000"/>
            <a:ext cx="990600" cy="0"/>
          </a:xfrm>
          <a:prstGeom prst="line">
            <a:avLst/>
          </a:prstGeom>
          <a:noFill/>
          <a:ln w="571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893" name="Line 61"/>
          <p:cNvSpPr>
            <a:spLocks noChangeShapeType="1"/>
          </p:cNvSpPr>
          <p:nvPr/>
        </p:nvSpPr>
        <p:spPr bwMode="auto">
          <a:xfrm flipH="1">
            <a:off x="3733800" y="1524000"/>
            <a:ext cx="914400" cy="0"/>
          </a:xfrm>
          <a:prstGeom prst="line">
            <a:avLst/>
          </a:prstGeom>
          <a:noFill/>
          <a:ln w="571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895" name="Freeform 63"/>
          <p:cNvSpPr>
            <a:spLocks/>
          </p:cNvSpPr>
          <p:nvPr/>
        </p:nvSpPr>
        <p:spPr bwMode="auto">
          <a:xfrm>
            <a:off x="2281238" y="788988"/>
            <a:ext cx="1587" cy="525462"/>
          </a:xfrm>
          <a:custGeom>
            <a:avLst/>
            <a:gdLst>
              <a:gd name="T0" fmla="*/ 0 w 1"/>
              <a:gd name="T1" fmla="*/ 525462 h 331"/>
              <a:gd name="T2" fmla="*/ 0 w 1"/>
              <a:gd name="T3" fmla="*/ 0 h 331"/>
              <a:gd name="T4" fmla="*/ 0 60000 65536"/>
              <a:gd name="T5" fmla="*/ 0 60000 65536"/>
            </a:gdLst>
            <a:ahLst/>
            <a:cxnLst>
              <a:cxn ang="T4">
                <a:pos x="T0" y="T1"/>
              </a:cxn>
              <a:cxn ang="T5">
                <a:pos x="T2" y="T3"/>
              </a:cxn>
            </a:cxnLst>
            <a:rect l="0" t="0" r="r" b="b"/>
            <a:pathLst>
              <a:path w="1" h="331">
                <a:moveTo>
                  <a:pt x="0" y="331"/>
                </a:moveTo>
                <a:lnTo>
                  <a:pt x="0" y="0"/>
                </a:lnTo>
              </a:path>
            </a:pathLst>
          </a:custGeom>
          <a:solidFill>
            <a:srgbClr val="B2B2B2"/>
          </a:solidFill>
          <a:ln w="57150" cap="flat" cmpd="sng">
            <a:solidFill>
              <a:srgbClr val="B2B2B2"/>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20897" name="Line 65"/>
          <p:cNvSpPr>
            <a:spLocks noChangeShapeType="1"/>
          </p:cNvSpPr>
          <p:nvPr/>
        </p:nvSpPr>
        <p:spPr bwMode="auto">
          <a:xfrm flipV="1">
            <a:off x="4876800" y="838200"/>
            <a:ext cx="0" cy="457200"/>
          </a:xfrm>
          <a:prstGeom prst="line">
            <a:avLst/>
          </a:prstGeom>
          <a:noFill/>
          <a:ln w="571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899" name="Freeform 67"/>
          <p:cNvSpPr>
            <a:spLocks/>
          </p:cNvSpPr>
          <p:nvPr/>
        </p:nvSpPr>
        <p:spPr bwMode="auto">
          <a:xfrm>
            <a:off x="2443163" y="741363"/>
            <a:ext cx="936625" cy="641350"/>
          </a:xfrm>
          <a:custGeom>
            <a:avLst/>
            <a:gdLst>
              <a:gd name="T0" fmla="*/ 0 w 590"/>
              <a:gd name="T1" fmla="*/ 0 h 404"/>
              <a:gd name="T2" fmla="*/ 936625 w 590"/>
              <a:gd name="T3" fmla="*/ 641350 h 404"/>
              <a:gd name="T4" fmla="*/ 0 60000 65536"/>
              <a:gd name="T5" fmla="*/ 0 60000 65536"/>
            </a:gdLst>
            <a:ahLst/>
            <a:cxnLst>
              <a:cxn ang="T4">
                <a:pos x="T0" y="T1"/>
              </a:cxn>
              <a:cxn ang="T5">
                <a:pos x="T2" y="T3"/>
              </a:cxn>
            </a:cxnLst>
            <a:rect l="0" t="0" r="r" b="b"/>
            <a:pathLst>
              <a:path w="590" h="404">
                <a:moveTo>
                  <a:pt x="0" y="0"/>
                </a:moveTo>
                <a:lnTo>
                  <a:pt x="590" y="404"/>
                </a:lnTo>
              </a:path>
            </a:pathLst>
          </a:custGeom>
          <a:solidFill>
            <a:srgbClr val="B2B2B2"/>
          </a:solidFill>
          <a:ln w="57150" cmpd="sng">
            <a:solidFill>
              <a:srgbClr val="B2B2B2"/>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01" name="Freeform 69"/>
          <p:cNvSpPr>
            <a:spLocks/>
          </p:cNvSpPr>
          <p:nvPr/>
        </p:nvSpPr>
        <p:spPr bwMode="auto">
          <a:xfrm>
            <a:off x="4981575" y="752475"/>
            <a:ext cx="1182688" cy="623888"/>
          </a:xfrm>
          <a:custGeom>
            <a:avLst/>
            <a:gdLst>
              <a:gd name="T0" fmla="*/ 1182688 w 745"/>
              <a:gd name="T1" fmla="*/ 0 h 393"/>
              <a:gd name="T2" fmla="*/ 0 w 745"/>
              <a:gd name="T3" fmla="*/ 623888 h 393"/>
              <a:gd name="T4" fmla="*/ 0 60000 65536"/>
              <a:gd name="T5" fmla="*/ 0 60000 65536"/>
            </a:gdLst>
            <a:ahLst/>
            <a:cxnLst>
              <a:cxn ang="T4">
                <a:pos x="T0" y="T1"/>
              </a:cxn>
              <a:cxn ang="T5">
                <a:pos x="T2" y="T3"/>
              </a:cxn>
            </a:cxnLst>
            <a:rect l="0" t="0" r="r" b="b"/>
            <a:pathLst>
              <a:path w="745" h="393">
                <a:moveTo>
                  <a:pt x="745" y="0"/>
                </a:moveTo>
                <a:lnTo>
                  <a:pt x="0" y="393"/>
                </a:lnTo>
              </a:path>
            </a:pathLst>
          </a:custGeom>
          <a:solidFill>
            <a:srgbClr val="B2B2B2"/>
          </a:solidFill>
          <a:ln w="57150" cmpd="sng">
            <a:solidFill>
              <a:srgbClr val="B2B2B2"/>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02" name="Freeform 70"/>
          <p:cNvSpPr>
            <a:spLocks/>
          </p:cNvSpPr>
          <p:nvPr/>
        </p:nvSpPr>
        <p:spPr bwMode="auto">
          <a:xfrm>
            <a:off x="6432550" y="788988"/>
            <a:ext cx="1588" cy="566737"/>
          </a:xfrm>
          <a:custGeom>
            <a:avLst/>
            <a:gdLst>
              <a:gd name="T0" fmla="*/ 0 w 1"/>
              <a:gd name="T1" fmla="*/ 566737 h 357"/>
              <a:gd name="T2" fmla="*/ 0 w 1"/>
              <a:gd name="T3" fmla="*/ 0 h 357"/>
              <a:gd name="T4" fmla="*/ 0 60000 65536"/>
              <a:gd name="T5" fmla="*/ 0 60000 65536"/>
            </a:gdLst>
            <a:ahLst/>
            <a:cxnLst>
              <a:cxn ang="T4">
                <a:pos x="T0" y="T1"/>
              </a:cxn>
              <a:cxn ang="T5">
                <a:pos x="T2" y="T3"/>
              </a:cxn>
            </a:cxnLst>
            <a:rect l="0" t="0" r="r" b="b"/>
            <a:pathLst>
              <a:path w="1" h="357">
                <a:moveTo>
                  <a:pt x="0" y="357"/>
                </a:moveTo>
                <a:lnTo>
                  <a:pt x="0" y="0"/>
                </a:lnTo>
              </a:path>
            </a:pathLst>
          </a:custGeom>
          <a:solidFill>
            <a:srgbClr val="B2B2B2"/>
          </a:solidFill>
          <a:ln w="57150" cap="flat" cmpd="sng">
            <a:solidFill>
              <a:srgbClr val="B2B2B2"/>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12" name="Line 80"/>
          <p:cNvSpPr>
            <a:spLocks noChangeShapeType="1"/>
          </p:cNvSpPr>
          <p:nvPr/>
        </p:nvSpPr>
        <p:spPr bwMode="auto">
          <a:xfrm>
            <a:off x="2443164" y="601663"/>
            <a:ext cx="853612" cy="22225"/>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CA"/>
          </a:p>
        </p:txBody>
      </p:sp>
      <p:sp>
        <p:nvSpPr>
          <p:cNvPr id="120913" name="Line 81"/>
          <p:cNvSpPr>
            <a:spLocks noChangeShapeType="1"/>
          </p:cNvSpPr>
          <p:nvPr/>
        </p:nvSpPr>
        <p:spPr bwMode="auto">
          <a:xfrm flipV="1">
            <a:off x="3721100" y="623887"/>
            <a:ext cx="951681" cy="5223"/>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CA"/>
          </a:p>
        </p:txBody>
      </p:sp>
      <p:sp>
        <p:nvSpPr>
          <p:cNvPr id="120917" name="Line 85"/>
          <p:cNvSpPr>
            <a:spLocks noChangeShapeType="1"/>
          </p:cNvSpPr>
          <p:nvPr/>
        </p:nvSpPr>
        <p:spPr bwMode="auto">
          <a:xfrm flipH="1" flipV="1">
            <a:off x="2511425" y="1531938"/>
            <a:ext cx="765175" cy="635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CA"/>
          </a:p>
        </p:txBody>
      </p:sp>
      <p:sp>
        <p:nvSpPr>
          <p:cNvPr id="120919" name="Line 87"/>
          <p:cNvSpPr>
            <a:spLocks noChangeShapeType="1"/>
          </p:cNvSpPr>
          <p:nvPr/>
        </p:nvSpPr>
        <p:spPr bwMode="auto">
          <a:xfrm>
            <a:off x="3505200" y="852488"/>
            <a:ext cx="0" cy="45720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21" name="Freeform 89"/>
          <p:cNvSpPr>
            <a:spLocks/>
          </p:cNvSpPr>
          <p:nvPr/>
        </p:nvSpPr>
        <p:spPr bwMode="auto">
          <a:xfrm>
            <a:off x="6259513" y="844550"/>
            <a:ext cx="1587" cy="461963"/>
          </a:xfrm>
          <a:custGeom>
            <a:avLst/>
            <a:gdLst>
              <a:gd name="T0" fmla="*/ 0 w 1"/>
              <a:gd name="T1" fmla="*/ 0 h 291"/>
              <a:gd name="T2" fmla="*/ 0 w 1"/>
              <a:gd name="T3" fmla="*/ 461963 h 291"/>
              <a:gd name="T4" fmla="*/ 0 60000 65536"/>
              <a:gd name="T5" fmla="*/ 0 60000 65536"/>
            </a:gdLst>
            <a:ahLst/>
            <a:cxnLst>
              <a:cxn ang="T4">
                <a:pos x="T0" y="T1"/>
              </a:cxn>
              <a:cxn ang="T5">
                <a:pos x="T2" y="T3"/>
              </a:cxn>
            </a:cxnLst>
            <a:rect l="0" t="0" r="r" b="b"/>
            <a:pathLst>
              <a:path w="1" h="291">
                <a:moveTo>
                  <a:pt x="0" y="0"/>
                </a:moveTo>
                <a:lnTo>
                  <a:pt x="0" y="291"/>
                </a:lnTo>
              </a:path>
            </a:pathLst>
          </a:custGeom>
          <a:solidFill>
            <a:schemeClr val="tx1"/>
          </a:solidFill>
          <a:ln w="57150" cap="flat" cmpd="sng">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27" name="Oval 95"/>
          <p:cNvSpPr>
            <a:spLocks noChangeArrowheads="1"/>
          </p:cNvSpPr>
          <p:nvPr/>
        </p:nvSpPr>
        <p:spPr bwMode="auto">
          <a:xfrm>
            <a:off x="3263900" y="2603500"/>
            <a:ext cx="457200"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a</a:t>
            </a:r>
          </a:p>
        </p:txBody>
      </p:sp>
      <p:sp>
        <p:nvSpPr>
          <p:cNvPr id="120928" name="Oval 96"/>
          <p:cNvSpPr>
            <a:spLocks noChangeArrowheads="1"/>
          </p:cNvSpPr>
          <p:nvPr/>
        </p:nvSpPr>
        <p:spPr bwMode="auto">
          <a:xfrm>
            <a:off x="3263900" y="3746500"/>
            <a:ext cx="457200"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b</a:t>
            </a:r>
          </a:p>
        </p:txBody>
      </p:sp>
      <p:sp>
        <p:nvSpPr>
          <p:cNvPr id="120929" name="Oval 97"/>
          <p:cNvSpPr>
            <a:spLocks noChangeArrowheads="1"/>
          </p:cNvSpPr>
          <p:nvPr/>
        </p:nvSpPr>
        <p:spPr bwMode="auto">
          <a:xfrm>
            <a:off x="1739900" y="4813300"/>
            <a:ext cx="457200"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c</a:t>
            </a:r>
          </a:p>
        </p:txBody>
      </p:sp>
      <p:sp>
        <p:nvSpPr>
          <p:cNvPr id="120930" name="Oval 98"/>
          <p:cNvSpPr>
            <a:spLocks noChangeArrowheads="1"/>
          </p:cNvSpPr>
          <p:nvPr/>
        </p:nvSpPr>
        <p:spPr bwMode="auto">
          <a:xfrm>
            <a:off x="6921500" y="2527300"/>
            <a:ext cx="457200"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d</a:t>
            </a:r>
          </a:p>
        </p:txBody>
      </p:sp>
      <p:sp>
        <p:nvSpPr>
          <p:cNvPr id="120931" name="Oval 99"/>
          <p:cNvSpPr>
            <a:spLocks noChangeArrowheads="1"/>
          </p:cNvSpPr>
          <p:nvPr/>
        </p:nvSpPr>
        <p:spPr bwMode="auto">
          <a:xfrm>
            <a:off x="3263900" y="5803900"/>
            <a:ext cx="457200"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e</a:t>
            </a:r>
          </a:p>
        </p:txBody>
      </p:sp>
      <p:sp>
        <p:nvSpPr>
          <p:cNvPr id="120932" name="Oval 100"/>
          <p:cNvSpPr>
            <a:spLocks noChangeArrowheads="1"/>
          </p:cNvSpPr>
          <p:nvPr/>
        </p:nvSpPr>
        <p:spPr bwMode="auto">
          <a:xfrm>
            <a:off x="3263900" y="4813300"/>
            <a:ext cx="457200"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f</a:t>
            </a:r>
          </a:p>
        </p:txBody>
      </p:sp>
      <p:sp>
        <p:nvSpPr>
          <p:cNvPr id="120933" name="Oval 101"/>
          <p:cNvSpPr>
            <a:spLocks noChangeArrowheads="1"/>
          </p:cNvSpPr>
          <p:nvPr/>
        </p:nvSpPr>
        <p:spPr bwMode="auto">
          <a:xfrm>
            <a:off x="4864100" y="4813300"/>
            <a:ext cx="457200"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g</a:t>
            </a:r>
          </a:p>
        </p:txBody>
      </p:sp>
      <p:sp>
        <p:nvSpPr>
          <p:cNvPr id="120934" name="Oval 102"/>
          <p:cNvSpPr>
            <a:spLocks noChangeArrowheads="1"/>
          </p:cNvSpPr>
          <p:nvPr/>
        </p:nvSpPr>
        <p:spPr bwMode="auto">
          <a:xfrm>
            <a:off x="6921500" y="3594100"/>
            <a:ext cx="457200" cy="457200"/>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h</a:t>
            </a:r>
          </a:p>
        </p:txBody>
      </p:sp>
      <p:sp>
        <p:nvSpPr>
          <p:cNvPr id="120935" name="Freeform 103"/>
          <p:cNvSpPr>
            <a:spLocks/>
          </p:cNvSpPr>
          <p:nvPr/>
        </p:nvSpPr>
        <p:spPr bwMode="auto">
          <a:xfrm>
            <a:off x="3481388" y="3049588"/>
            <a:ext cx="1587" cy="693737"/>
          </a:xfrm>
          <a:custGeom>
            <a:avLst/>
            <a:gdLst>
              <a:gd name="T0" fmla="*/ 0 w 1"/>
              <a:gd name="T1" fmla="*/ 0 h 437"/>
              <a:gd name="T2" fmla="*/ 0 w 1"/>
              <a:gd name="T3" fmla="*/ 693737 h 437"/>
              <a:gd name="T4" fmla="*/ 0 60000 65536"/>
              <a:gd name="T5" fmla="*/ 0 60000 65536"/>
            </a:gdLst>
            <a:ahLst/>
            <a:cxnLst>
              <a:cxn ang="T4">
                <a:pos x="T0" y="T1"/>
              </a:cxn>
              <a:cxn ang="T5">
                <a:pos x="T2" y="T3"/>
              </a:cxn>
            </a:cxnLst>
            <a:rect l="0" t="0" r="r" b="b"/>
            <a:pathLst>
              <a:path w="1" h="437">
                <a:moveTo>
                  <a:pt x="0" y="0"/>
                </a:moveTo>
                <a:lnTo>
                  <a:pt x="0" y="437"/>
                </a:lnTo>
              </a:path>
            </a:pathLst>
          </a:custGeom>
          <a:solidFill>
            <a:srgbClr val="B2B2B2"/>
          </a:solidFill>
          <a:ln w="28575">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36" name="Freeform 104"/>
          <p:cNvSpPr>
            <a:spLocks/>
          </p:cNvSpPr>
          <p:nvPr/>
        </p:nvSpPr>
        <p:spPr bwMode="auto">
          <a:xfrm>
            <a:off x="2125663" y="4122738"/>
            <a:ext cx="1187450" cy="746125"/>
          </a:xfrm>
          <a:custGeom>
            <a:avLst/>
            <a:gdLst>
              <a:gd name="T0" fmla="*/ 1187450 w 748"/>
              <a:gd name="T1" fmla="*/ 0 h 470"/>
              <a:gd name="T2" fmla="*/ 0 w 748"/>
              <a:gd name="T3" fmla="*/ 746125 h 470"/>
              <a:gd name="T4" fmla="*/ 0 60000 65536"/>
              <a:gd name="T5" fmla="*/ 0 60000 65536"/>
            </a:gdLst>
            <a:ahLst/>
            <a:cxnLst>
              <a:cxn ang="T4">
                <a:pos x="T0" y="T1"/>
              </a:cxn>
              <a:cxn ang="T5">
                <a:pos x="T2" y="T3"/>
              </a:cxn>
            </a:cxnLst>
            <a:rect l="0" t="0" r="r" b="b"/>
            <a:pathLst>
              <a:path w="748" h="470">
                <a:moveTo>
                  <a:pt x="748" y="0"/>
                </a:moveTo>
                <a:lnTo>
                  <a:pt x="0" y="470"/>
                </a:lnTo>
              </a:path>
            </a:pathLst>
          </a:custGeom>
          <a:solidFill>
            <a:srgbClr val="B2B2B2"/>
          </a:solidFill>
          <a:ln w="28575">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40" name="Freeform 108"/>
          <p:cNvSpPr>
            <a:spLocks/>
          </p:cNvSpPr>
          <p:nvPr/>
        </p:nvSpPr>
        <p:spPr bwMode="auto">
          <a:xfrm>
            <a:off x="3481388" y="5267325"/>
            <a:ext cx="1587" cy="515938"/>
          </a:xfrm>
          <a:custGeom>
            <a:avLst/>
            <a:gdLst>
              <a:gd name="T0" fmla="*/ 0 w 1"/>
              <a:gd name="T1" fmla="*/ 0 h 325"/>
              <a:gd name="T2" fmla="*/ 0 w 1"/>
              <a:gd name="T3" fmla="*/ 515938 h 325"/>
              <a:gd name="T4" fmla="*/ 0 60000 65536"/>
              <a:gd name="T5" fmla="*/ 0 60000 65536"/>
            </a:gdLst>
            <a:ahLst/>
            <a:cxnLst>
              <a:cxn ang="T4">
                <a:pos x="T0" y="T1"/>
              </a:cxn>
              <a:cxn ang="T5">
                <a:pos x="T2" y="T3"/>
              </a:cxn>
            </a:cxnLst>
            <a:rect l="0" t="0" r="r" b="b"/>
            <a:pathLst>
              <a:path w="1" h="325">
                <a:moveTo>
                  <a:pt x="0" y="0"/>
                </a:moveTo>
                <a:lnTo>
                  <a:pt x="0" y="325"/>
                </a:lnTo>
              </a:path>
            </a:pathLst>
          </a:custGeom>
          <a:solidFill>
            <a:srgbClr val="B2B2B2"/>
          </a:solidFill>
          <a:ln w="28575">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42" name="Freeform 110"/>
          <p:cNvSpPr>
            <a:spLocks/>
          </p:cNvSpPr>
          <p:nvPr/>
        </p:nvSpPr>
        <p:spPr bwMode="auto">
          <a:xfrm>
            <a:off x="3481388" y="4206875"/>
            <a:ext cx="1587" cy="609600"/>
          </a:xfrm>
          <a:custGeom>
            <a:avLst/>
            <a:gdLst>
              <a:gd name="T0" fmla="*/ 0 w 1"/>
              <a:gd name="T1" fmla="*/ 0 h 384"/>
              <a:gd name="T2" fmla="*/ 0 w 1"/>
              <a:gd name="T3" fmla="*/ 609600 h 384"/>
              <a:gd name="T4" fmla="*/ 0 60000 65536"/>
              <a:gd name="T5" fmla="*/ 0 60000 65536"/>
            </a:gdLst>
            <a:ahLst/>
            <a:cxnLst>
              <a:cxn ang="T4">
                <a:pos x="T0" y="T1"/>
              </a:cxn>
              <a:cxn ang="T5">
                <a:pos x="T2" y="T3"/>
              </a:cxn>
            </a:cxnLst>
            <a:rect l="0" t="0" r="r" b="b"/>
            <a:pathLst>
              <a:path w="1" h="384">
                <a:moveTo>
                  <a:pt x="0" y="0"/>
                </a:moveTo>
                <a:lnTo>
                  <a:pt x="0" y="384"/>
                </a:lnTo>
              </a:path>
            </a:pathLst>
          </a:custGeom>
          <a:solidFill>
            <a:srgbClr val="B2B2B2"/>
          </a:solidFill>
          <a:ln w="28575">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44" name="Freeform 112"/>
          <p:cNvSpPr>
            <a:spLocks/>
          </p:cNvSpPr>
          <p:nvPr/>
        </p:nvSpPr>
        <p:spPr bwMode="auto">
          <a:xfrm>
            <a:off x="7150100" y="2984500"/>
            <a:ext cx="1588" cy="598488"/>
          </a:xfrm>
          <a:custGeom>
            <a:avLst/>
            <a:gdLst>
              <a:gd name="T0" fmla="*/ 0 w 1"/>
              <a:gd name="T1" fmla="*/ 0 h 377"/>
              <a:gd name="T2" fmla="*/ 0 w 1"/>
              <a:gd name="T3" fmla="*/ 598488 h 377"/>
              <a:gd name="T4" fmla="*/ 0 60000 65536"/>
              <a:gd name="T5" fmla="*/ 0 60000 65536"/>
            </a:gdLst>
            <a:ahLst/>
            <a:cxnLst>
              <a:cxn ang="T4">
                <a:pos x="T0" y="T1"/>
              </a:cxn>
              <a:cxn ang="T5">
                <a:pos x="T2" y="T3"/>
              </a:cxn>
            </a:cxnLst>
            <a:rect l="0" t="0" r="r" b="b"/>
            <a:pathLst>
              <a:path w="1" h="377">
                <a:moveTo>
                  <a:pt x="0" y="0"/>
                </a:moveTo>
                <a:lnTo>
                  <a:pt x="0" y="377"/>
                </a:lnTo>
              </a:path>
            </a:pathLst>
          </a:custGeom>
          <a:solidFill>
            <a:srgbClr val="B2B2B2"/>
          </a:solidFill>
          <a:ln w="28575" cap="flat" cmpd="sng">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46" name="Freeform 114"/>
          <p:cNvSpPr>
            <a:spLocks/>
          </p:cNvSpPr>
          <p:nvPr/>
        </p:nvSpPr>
        <p:spPr bwMode="auto">
          <a:xfrm>
            <a:off x="3671888" y="4111625"/>
            <a:ext cx="1239837" cy="809625"/>
          </a:xfrm>
          <a:custGeom>
            <a:avLst/>
            <a:gdLst>
              <a:gd name="T0" fmla="*/ 0 w 781"/>
              <a:gd name="T1" fmla="*/ 0 h 510"/>
              <a:gd name="T2" fmla="*/ 1239837 w 781"/>
              <a:gd name="T3" fmla="*/ 809625 h 510"/>
              <a:gd name="T4" fmla="*/ 0 60000 65536"/>
              <a:gd name="T5" fmla="*/ 0 60000 65536"/>
            </a:gdLst>
            <a:ahLst/>
            <a:cxnLst>
              <a:cxn ang="T4">
                <a:pos x="T0" y="T1"/>
              </a:cxn>
              <a:cxn ang="T5">
                <a:pos x="T2" y="T3"/>
              </a:cxn>
            </a:cxnLst>
            <a:rect l="0" t="0" r="r" b="b"/>
            <a:pathLst>
              <a:path w="781" h="510">
                <a:moveTo>
                  <a:pt x="0" y="0"/>
                </a:moveTo>
                <a:lnTo>
                  <a:pt x="781" y="510"/>
                </a:lnTo>
              </a:path>
            </a:pathLst>
          </a:custGeom>
          <a:solidFill>
            <a:srgbClr val="B2B2B2"/>
          </a:solidFill>
          <a:ln w="28575">
            <a:solidFill>
              <a:schemeClr val="tx1"/>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909" name="Oval 77"/>
          <p:cNvSpPr>
            <a:spLocks noChangeArrowheads="1"/>
          </p:cNvSpPr>
          <p:nvPr/>
        </p:nvSpPr>
        <p:spPr bwMode="auto">
          <a:xfrm>
            <a:off x="3296776" y="1276349"/>
            <a:ext cx="457200"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f</a:t>
            </a:r>
          </a:p>
        </p:txBody>
      </p:sp>
      <p:sp>
        <p:nvSpPr>
          <p:cNvPr id="120906" name="Oval 74"/>
          <p:cNvSpPr>
            <a:spLocks noChangeArrowheads="1"/>
          </p:cNvSpPr>
          <p:nvPr/>
        </p:nvSpPr>
        <p:spPr bwMode="auto">
          <a:xfrm>
            <a:off x="4649686" y="378848"/>
            <a:ext cx="457200"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c</a:t>
            </a:r>
          </a:p>
        </p:txBody>
      </p:sp>
      <p:sp>
        <p:nvSpPr>
          <p:cNvPr id="120907" name="Oval 75"/>
          <p:cNvSpPr>
            <a:spLocks noChangeArrowheads="1"/>
          </p:cNvSpPr>
          <p:nvPr/>
        </p:nvSpPr>
        <p:spPr bwMode="auto">
          <a:xfrm>
            <a:off x="6096000" y="330303"/>
            <a:ext cx="457200"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d</a:t>
            </a:r>
          </a:p>
        </p:txBody>
      </p:sp>
      <p:sp>
        <p:nvSpPr>
          <p:cNvPr id="120951" name="Oval 119"/>
          <p:cNvSpPr>
            <a:spLocks noChangeArrowheads="1"/>
          </p:cNvSpPr>
          <p:nvPr/>
        </p:nvSpPr>
        <p:spPr bwMode="auto">
          <a:xfrm>
            <a:off x="1739900" y="4794250"/>
            <a:ext cx="457200" cy="495300"/>
          </a:xfrm>
          <a:prstGeom prst="ellipse">
            <a:avLst/>
          </a:prstGeom>
          <a:solidFill>
            <a:schemeClr val="tx1"/>
          </a:solidFill>
          <a:ln w="571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c</a:t>
            </a:r>
          </a:p>
        </p:txBody>
      </p:sp>
      <p:sp>
        <p:nvSpPr>
          <p:cNvPr id="120952" name="Oval 120"/>
          <p:cNvSpPr>
            <a:spLocks noChangeArrowheads="1"/>
          </p:cNvSpPr>
          <p:nvPr/>
        </p:nvSpPr>
        <p:spPr bwMode="auto">
          <a:xfrm>
            <a:off x="3277419" y="5784056"/>
            <a:ext cx="457200" cy="495300"/>
          </a:xfrm>
          <a:prstGeom prst="ellipse">
            <a:avLst/>
          </a:prstGeom>
          <a:solidFill>
            <a:schemeClr val="tx1"/>
          </a:solidFill>
          <a:ln w="571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e</a:t>
            </a:r>
          </a:p>
        </p:txBody>
      </p:sp>
      <p:sp>
        <p:nvSpPr>
          <p:cNvPr id="120953" name="Oval 121"/>
          <p:cNvSpPr>
            <a:spLocks noChangeArrowheads="1"/>
          </p:cNvSpPr>
          <p:nvPr/>
        </p:nvSpPr>
        <p:spPr bwMode="auto">
          <a:xfrm>
            <a:off x="3276600" y="4794250"/>
            <a:ext cx="457200" cy="495300"/>
          </a:xfrm>
          <a:prstGeom prst="ellipse">
            <a:avLst/>
          </a:prstGeom>
          <a:solidFill>
            <a:schemeClr val="tx1"/>
          </a:solidFill>
          <a:ln w="571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f</a:t>
            </a:r>
          </a:p>
        </p:txBody>
      </p:sp>
      <p:sp>
        <p:nvSpPr>
          <p:cNvPr id="120954" name="Oval 122"/>
          <p:cNvSpPr>
            <a:spLocks noChangeArrowheads="1"/>
          </p:cNvSpPr>
          <p:nvPr/>
        </p:nvSpPr>
        <p:spPr bwMode="auto">
          <a:xfrm>
            <a:off x="4868863" y="4794250"/>
            <a:ext cx="457200" cy="495300"/>
          </a:xfrm>
          <a:prstGeom prst="ellipse">
            <a:avLst/>
          </a:prstGeom>
          <a:solidFill>
            <a:schemeClr val="tx1"/>
          </a:solidFill>
          <a:ln w="571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g</a:t>
            </a:r>
          </a:p>
        </p:txBody>
      </p:sp>
      <p:sp>
        <p:nvSpPr>
          <p:cNvPr id="120955" name="Oval 123"/>
          <p:cNvSpPr>
            <a:spLocks noChangeArrowheads="1"/>
          </p:cNvSpPr>
          <p:nvPr/>
        </p:nvSpPr>
        <p:spPr bwMode="auto">
          <a:xfrm>
            <a:off x="3263900" y="3737359"/>
            <a:ext cx="457200" cy="495300"/>
          </a:xfrm>
          <a:prstGeom prst="ellipse">
            <a:avLst/>
          </a:prstGeom>
          <a:solidFill>
            <a:schemeClr val="tx1"/>
          </a:solidFill>
          <a:ln w="571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b</a:t>
            </a:r>
          </a:p>
        </p:txBody>
      </p:sp>
      <p:sp>
        <p:nvSpPr>
          <p:cNvPr id="120956" name="Oval 124"/>
          <p:cNvSpPr>
            <a:spLocks noChangeArrowheads="1"/>
          </p:cNvSpPr>
          <p:nvPr/>
        </p:nvSpPr>
        <p:spPr bwMode="auto">
          <a:xfrm>
            <a:off x="3263900" y="2590800"/>
            <a:ext cx="457200" cy="495300"/>
          </a:xfrm>
          <a:prstGeom prst="ellipse">
            <a:avLst/>
          </a:prstGeom>
          <a:solidFill>
            <a:schemeClr val="tx1"/>
          </a:solidFill>
          <a:ln w="571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a</a:t>
            </a:r>
          </a:p>
        </p:txBody>
      </p:sp>
      <p:sp>
        <p:nvSpPr>
          <p:cNvPr id="120957" name="Oval 125"/>
          <p:cNvSpPr>
            <a:spLocks noChangeArrowheads="1"/>
          </p:cNvSpPr>
          <p:nvPr/>
        </p:nvSpPr>
        <p:spPr bwMode="auto">
          <a:xfrm>
            <a:off x="6940550" y="3582988"/>
            <a:ext cx="457200" cy="495300"/>
          </a:xfrm>
          <a:prstGeom prst="ellipse">
            <a:avLst/>
          </a:prstGeom>
          <a:solidFill>
            <a:schemeClr val="tx1"/>
          </a:solidFill>
          <a:ln w="571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h</a:t>
            </a:r>
          </a:p>
        </p:txBody>
      </p:sp>
      <p:sp>
        <p:nvSpPr>
          <p:cNvPr id="120958" name="Oval 126"/>
          <p:cNvSpPr>
            <a:spLocks noChangeArrowheads="1"/>
          </p:cNvSpPr>
          <p:nvPr/>
        </p:nvSpPr>
        <p:spPr bwMode="auto">
          <a:xfrm>
            <a:off x="6915816" y="2514600"/>
            <a:ext cx="457200" cy="495300"/>
          </a:xfrm>
          <a:prstGeom prst="ellipse">
            <a:avLst/>
          </a:prstGeom>
          <a:solidFill>
            <a:schemeClr val="tx1"/>
          </a:solidFill>
          <a:ln w="571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d</a:t>
            </a:r>
          </a:p>
        </p:txBody>
      </p:sp>
      <p:sp>
        <p:nvSpPr>
          <p:cNvPr id="120959" name="Text Box 127"/>
          <p:cNvSpPr txBox="1">
            <a:spLocks noChangeArrowheads="1"/>
          </p:cNvSpPr>
          <p:nvPr/>
        </p:nvSpPr>
        <p:spPr bwMode="auto">
          <a:xfrm>
            <a:off x="3733800" y="2590800"/>
            <a:ext cx="755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dirty="0">
                <a:solidFill>
                  <a:schemeClr val="tx2"/>
                </a:solidFill>
                <a:latin typeface="Arial" pitchFamily="34" charset="0"/>
              </a:rPr>
              <a:t>[1,    ]</a:t>
            </a:r>
          </a:p>
        </p:txBody>
      </p:sp>
      <p:sp>
        <p:nvSpPr>
          <p:cNvPr id="120960" name="Text Box 128"/>
          <p:cNvSpPr txBox="1">
            <a:spLocks noChangeArrowheads="1"/>
          </p:cNvSpPr>
          <p:nvPr/>
        </p:nvSpPr>
        <p:spPr bwMode="auto">
          <a:xfrm>
            <a:off x="2438400" y="3733800"/>
            <a:ext cx="755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a:solidFill>
                  <a:schemeClr val="tx2"/>
                </a:solidFill>
                <a:latin typeface="Arial" pitchFamily="34" charset="0"/>
              </a:rPr>
              <a:t>[2,    ]</a:t>
            </a:r>
          </a:p>
        </p:txBody>
      </p:sp>
      <p:sp>
        <p:nvSpPr>
          <p:cNvPr id="120961" name="Text Box 129"/>
          <p:cNvSpPr txBox="1">
            <a:spLocks noChangeArrowheads="1"/>
          </p:cNvSpPr>
          <p:nvPr/>
        </p:nvSpPr>
        <p:spPr bwMode="auto">
          <a:xfrm>
            <a:off x="990600" y="4876800"/>
            <a:ext cx="755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a:solidFill>
                  <a:schemeClr val="tx2"/>
                </a:solidFill>
                <a:latin typeface="Arial" pitchFamily="34" charset="0"/>
              </a:rPr>
              <a:t>[3,    ]</a:t>
            </a:r>
          </a:p>
        </p:txBody>
      </p:sp>
      <p:sp>
        <p:nvSpPr>
          <p:cNvPr id="120962" name="Text Box 130"/>
          <p:cNvSpPr txBox="1">
            <a:spLocks noChangeArrowheads="1"/>
          </p:cNvSpPr>
          <p:nvPr/>
        </p:nvSpPr>
        <p:spPr bwMode="auto">
          <a:xfrm>
            <a:off x="2514600" y="4876800"/>
            <a:ext cx="755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a:solidFill>
                  <a:schemeClr val="tx2"/>
                </a:solidFill>
                <a:latin typeface="Arial" pitchFamily="34" charset="0"/>
              </a:rPr>
              <a:t>[5,    ]</a:t>
            </a:r>
          </a:p>
        </p:txBody>
      </p:sp>
      <p:sp>
        <p:nvSpPr>
          <p:cNvPr id="120963" name="Text Box 131"/>
          <p:cNvSpPr txBox="1">
            <a:spLocks noChangeArrowheads="1"/>
          </p:cNvSpPr>
          <p:nvPr/>
        </p:nvSpPr>
        <p:spPr bwMode="auto">
          <a:xfrm>
            <a:off x="2438400" y="6096000"/>
            <a:ext cx="755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a:solidFill>
                  <a:schemeClr val="tx2"/>
                </a:solidFill>
                <a:latin typeface="Arial" pitchFamily="34" charset="0"/>
              </a:rPr>
              <a:t>[6,    ]</a:t>
            </a:r>
          </a:p>
        </p:txBody>
      </p:sp>
      <p:sp>
        <p:nvSpPr>
          <p:cNvPr id="120964" name="Text Box 132"/>
          <p:cNvSpPr txBox="1">
            <a:spLocks noChangeArrowheads="1"/>
          </p:cNvSpPr>
          <p:nvPr/>
        </p:nvSpPr>
        <p:spPr bwMode="auto">
          <a:xfrm>
            <a:off x="4800600" y="5334000"/>
            <a:ext cx="755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a:solidFill>
                  <a:schemeClr val="tx2"/>
                </a:solidFill>
                <a:latin typeface="Arial" pitchFamily="34" charset="0"/>
              </a:rPr>
              <a:t>[9,    ]</a:t>
            </a:r>
          </a:p>
        </p:txBody>
      </p:sp>
      <p:sp>
        <p:nvSpPr>
          <p:cNvPr id="120965" name="Text Box 133"/>
          <p:cNvSpPr txBox="1">
            <a:spLocks noChangeArrowheads="1"/>
          </p:cNvSpPr>
          <p:nvPr/>
        </p:nvSpPr>
        <p:spPr bwMode="auto">
          <a:xfrm>
            <a:off x="7467600" y="2514600"/>
            <a:ext cx="882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a:solidFill>
                  <a:schemeClr val="tx2"/>
                </a:solidFill>
                <a:latin typeface="Arial" pitchFamily="34" charset="0"/>
              </a:rPr>
              <a:t>[13,    ]</a:t>
            </a:r>
          </a:p>
        </p:txBody>
      </p:sp>
      <p:sp>
        <p:nvSpPr>
          <p:cNvPr id="120966" name="Text Box 134"/>
          <p:cNvSpPr txBox="1">
            <a:spLocks noChangeArrowheads="1"/>
          </p:cNvSpPr>
          <p:nvPr/>
        </p:nvSpPr>
        <p:spPr bwMode="auto">
          <a:xfrm>
            <a:off x="7467600" y="3657600"/>
            <a:ext cx="882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a:solidFill>
                  <a:schemeClr val="tx2"/>
                </a:solidFill>
                <a:latin typeface="Arial" pitchFamily="34" charset="0"/>
              </a:rPr>
              <a:t>[14,    ]</a:t>
            </a:r>
          </a:p>
        </p:txBody>
      </p:sp>
      <p:sp>
        <p:nvSpPr>
          <p:cNvPr id="120967" name="Rectangle 135"/>
          <p:cNvSpPr>
            <a:spLocks noChangeArrowheads="1"/>
          </p:cNvSpPr>
          <p:nvPr/>
        </p:nvSpPr>
        <p:spPr bwMode="auto">
          <a:xfrm>
            <a:off x="1295400" y="48768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4</a:t>
            </a:r>
          </a:p>
        </p:txBody>
      </p:sp>
      <p:sp>
        <p:nvSpPr>
          <p:cNvPr id="120968" name="Rectangle 136"/>
          <p:cNvSpPr>
            <a:spLocks noChangeArrowheads="1"/>
          </p:cNvSpPr>
          <p:nvPr/>
        </p:nvSpPr>
        <p:spPr bwMode="auto">
          <a:xfrm>
            <a:off x="2743200" y="60960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7</a:t>
            </a:r>
          </a:p>
        </p:txBody>
      </p:sp>
      <p:sp>
        <p:nvSpPr>
          <p:cNvPr id="120969" name="Rectangle 137"/>
          <p:cNvSpPr>
            <a:spLocks noChangeArrowheads="1"/>
          </p:cNvSpPr>
          <p:nvPr/>
        </p:nvSpPr>
        <p:spPr bwMode="auto">
          <a:xfrm>
            <a:off x="2819400" y="48768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8</a:t>
            </a:r>
          </a:p>
        </p:txBody>
      </p:sp>
      <p:sp>
        <p:nvSpPr>
          <p:cNvPr id="120970" name="Rectangle 138"/>
          <p:cNvSpPr>
            <a:spLocks noChangeArrowheads="1"/>
          </p:cNvSpPr>
          <p:nvPr/>
        </p:nvSpPr>
        <p:spPr bwMode="auto">
          <a:xfrm>
            <a:off x="5029200" y="5334000"/>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10</a:t>
            </a:r>
          </a:p>
        </p:txBody>
      </p:sp>
      <p:sp>
        <p:nvSpPr>
          <p:cNvPr id="120971" name="Rectangle 139"/>
          <p:cNvSpPr>
            <a:spLocks noChangeArrowheads="1"/>
          </p:cNvSpPr>
          <p:nvPr/>
        </p:nvSpPr>
        <p:spPr bwMode="auto">
          <a:xfrm>
            <a:off x="2667000" y="3733800"/>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11</a:t>
            </a:r>
          </a:p>
        </p:txBody>
      </p:sp>
      <p:sp>
        <p:nvSpPr>
          <p:cNvPr id="120972" name="Rectangle 140"/>
          <p:cNvSpPr>
            <a:spLocks noChangeArrowheads="1"/>
          </p:cNvSpPr>
          <p:nvPr/>
        </p:nvSpPr>
        <p:spPr bwMode="auto">
          <a:xfrm>
            <a:off x="3962400" y="2590800"/>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12</a:t>
            </a:r>
          </a:p>
        </p:txBody>
      </p:sp>
      <p:sp>
        <p:nvSpPr>
          <p:cNvPr id="120973" name="Rectangle 141"/>
          <p:cNvSpPr>
            <a:spLocks noChangeArrowheads="1"/>
          </p:cNvSpPr>
          <p:nvPr/>
        </p:nvSpPr>
        <p:spPr bwMode="auto">
          <a:xfrm>
            <a:off x="7848600" y="3657600"/>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15</a:t>
            </a:r>
          </a:p>
        </p:txBody>
      </p:sp>
      <p:sp>
        <p:nvSpPr>
          <p:cNvPr id="120974" name="Rectangle 142"/>
          <p:cNvSpPr>
            <a:spLocks noChangeArrowheads="1"/>
          </p:cNvSpPr>
          <p:nvPr/>
        </p:nvSpPr>
        <p:spPr bwMode="auto">
          <a:xfrm>
            <a:off x="7848600" y="2514600"/>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latin typeface="Arial" pitchFamily="34" charset="0"/>
              </a:rPr>
              <a:t>16</a:t>
            </a:r>
          </a:p>
        </p:txBody>
      </p:sp>
      <p:sp>
        <p:nvSpPr>
          <p:cNvPr id="29777" name="Text Box 143"/>
          <p:cNvSpPr txBox="1">
            <a:spLocks noChangeArrowheads="1"/>
          </p:cNvSpPr>
          <p:nvPr/>
        </p:nvSpPr>
        <p:spPr bwMode="auto">
          <a:xfrm>
            <a:off x="685800" y="762000"/>
            <a:ext cx="522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400" b="1">
                <a:solidFill>
                  <a:schemeClr val="tx2"/>
                </a:solidFill>
                <a:latin typeface="Arial" pitchFamily="34" charset="0"/>
              </a:rPr>
              <a:t>G:</a:t>
            </a:r>
          </a:p>
        </p:txBody>
      </p:sp>
      <p:sp>
        <p:nvSpPr>
          <p:cNvPr id="120976" name="Text Box 144"/>
          <p:cNvSpPr txBox="1">
            <a:spLocks noChangeArrowheads="1"/>
          </p:cNvSpPr>
          <p:nvPr/>
        </p:nvSpPr>
        <p:spPr bwMode="auto">
          <a:xfrm>
            <a:off x="304800" y="2667000"/>
            <a:ext cx="1335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400" b="1">
                <a:solidFill>
                  <a:schemeClr val="tx2"/>
                </a:solidFill>
                <a:latin typeface="Arial" pitchFamily="34" charset="0"/>
              </a:rPr>
              <a:t>DFS(G):</a:t>
            </a:r>
          </a:p>
        </p:txBody>
      </p:sp>
      <p:sp>
        <p:nvSpPr>
          <p:cNvPr id="120977" name="Text Box 145" descr="Bouquet"/>
          <p:cNvSpPr txBox="1">
            <a:spLocks noChangeArrowheads="1"/>
          </p:cNvSpPr>
          <p:nvPr/>
        </p:nvSpPr>
        <p:spPr bwMode="auto">
          <a:xfrm>
            <a:off x="5867400" y="5767388"/>
            <a:ext cx="2616200" cy="698500"/>
          </a:xfrm>
          <a:prstGeom prst="rect">
            <a:avLst/>
          </a:prstGeom>
          <a:blipFill dpi="0" rotWithShape="0">
            <a:blip r:embed="rId2"/>
            <a:srcRect/>
            <a:tile tx="0" ty="0" sx="100000" sy="100000" flip="none" algn="tl"/>
          </a:blipFill>
          <a:ln w="57150">
            <a:solidFill>
              <a:schemeClr val="bg2"/>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dirty="0">
                <a:solidFill>
                  <a:schemeClr val="tx2"/>
                </a:solidFill>
              </a:rPr>
              <a:t>Tree drawing convention</a:t>
            </a:r>
          </a:p>
          <a:p>
            <a:pPr eaLnBrk="1" hangingPunct="1">
              <a:buFontTx/>
              <a:buNone/>
            </a:pPr>
            <a:r>
              <a:rPr lang="en-US" sz="1800" dirty="0">
                <a:solidFill>
                  <a:schemeClr val="tx2"/>
                </a:solidFill>
              </a:rPr>
              <a:t>Downward &amp; left-to-right</a:t>
            </a:r>
          </a:p>
        </p:txBody>
      </p:sp>
      <p:sp>
        <p:nvSpPr>
          <p:cNvPr id="120885" name="Oval 53"/>
          <p:cNvSpPr>
            <a:spLocks noChangeArrowheads="1"/>
          </p:cNvSpPr>
          <p:nvPr/>
        </p:nvSpPr>
        <p:spPr bwMode="auto">
          <a:xfrm>
            <a:off x="2060068" y="1251669"/>
            <a:ext cx="457200" cy="466725"/>
          </a:xfrm>
          <a:prstGeom prst="ellipse">
            <a:avLst/>
          </a:prstGeom>
          <a:solidFill>
            <a:srgbClr val="B2B2B2"/>
          </a:solidFill>
          <a:ln w="28575">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e</a:t>
            </a:r>
          </a:p>
        </p:txBody>
      </p:sp>
      <p:sp>
        <p:nvSpPr>
          <p:cNvPr id="120908" name="Oval 76"/>
          <p:cNvSpPr>
            <a:spLocks noChangeArrowheads="1"/>
          </p:cNvSpPr>
          <p:nvPr/>
        </p:nvSpPr>
        <p:spPr bwMode="auto">
          <a:xfrm>
            <a:off x="2060068" y="1240503"/>
            <a:ext cx="457200"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e</a:t>
            </a:r>
          </a:p>
        </p:txBody>
      </p:sp>
      <p:sp>
        <p:nvSpPr>
          <p:cNvPr id="120881" name="Oval 49"/>
          <p:cNvSpPr>
            <a:spLocks noChangeArrowheads="1"/>
          </p:cNvSpPr>
          <p:nvPr/>
        </p:nvSpPr>
        <p:spPr bwMode="auto">
          <a:xfrm>
            <a:off x="2060068" y="354013"/>
            <a:ext cx="457200" cy="466725"/>
          </a:xfrm>
          <a:prstGeom prst="ellipse">
            <a:avLst/>
          </a:prstGeom>
          <a:solidFill>
            <a:srgbClr val="B2B2B2"/>
          </a:solidFill>
          <a:ln w="28575">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a</a:t>
            </a:r>
          </a:p>
        </p:txBody>
      </p:sp>
      <p:sp>
        <p:nvSpPr>
          <p:cNvPr id="120904" name="Oval 72"/>
          <p:cNvSpPr>
            <a:spLocks noChangeArrowheads="1"/>
          </p:cNvSpPr>
          <p:nvPr/>
        </p:nvSpPr>
        <p:spPr bwMode="auto">
          <a:xfrm>
            <a:off x="2060068" y="351965"/>
            <a:ext cx="457200"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a</a:t>
            </a:r>
          </a:p>
        </p:txBody>
      </p:sp>
      <p:sp>
        <p:nvSpPr>
          <p:cNvPr id="120882" name="Oval 50"/>
          <p:cNvSpPr>
            <a:spLocks noChangeArrowheads="1"/>
          </p:cNvSpPr>
          <p:nvPr/>
        </p:nvSpPr>
        <p:spPr bwMode="auto">
          <a:xfrm>
            <a:off x="3275372" y="366713"/>
            <a:ext cx="457200" cy="466725"/>
          </a:xfrm>
          <a:prstGeom prst="ellipse">
            <a:avLst/>
          </a:prstGeom>
          <a:solidFill>
            <a:srgbClr val="B2B2B2"/>
          </a:solidFill>
          <a:ln w="28575">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b</a:t>
            </a:r>
          </a:p>
        </p:txBody>
      </p:sp>
      <p:sp>
        <p:nvSpPr>
          <p:cNvPr id="120905" name="Oval 73"/>
          <p:cNvSpPr>
            <a:spLocks noChangeArrowheads="1"/>
          </p:cNvSpPr>
          <p:nvPr/>
        </p:nvSpPr>
        <p:spPr bwMode="auto">
          <a:xfrm>
            <a:off x="3275372" y="366713"/>
            <a:ext cx="457200"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b</a:t>
            </a:r>
          </a:p>
        </p:txBody>
      </p:sp>
      <p:sp>
        <p:nvSpPr>
          <p:cNvPr id="120887" name="Oval 55"/>
          <p:cNvSpPr>
            <a:spLocks noChangeArrowheads="1"/>
          </p:cNvSpPr>
          <p:nvPr/>
        </p:nvSpPr>
        <p:spPr bwMode="auto">
          <a:xfrm>
            <a:off x="4635500" y="1287464"/>
            <a:ext cx="457200" cy="466725"/>
          </a:xfrm>
          <a:prstGeom prst="ellipse">
            <a:avLst/>
          </a:prstGeom>
          <a:solidFill>
            <a:srgbClr val="B2B2B2"/>
          </a:solidFill>
          <a:ln w="28575">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g</a:t>
            </a:r>
          </a:p>
        </p:txBody>
      </p:sp>
      <p:sp>
        <p:nvSpPr>
          <p:cNvPr id="120910" name="Oval 78"/>
          <p:cNvSpPr>
            <a:spLocks noChangeArrowheads="1"/>
          </p:cNvSpPr>
          <p:nvPr/>
        </p:nvSpPr>
        <p:spPr bwMode="auto">
          <a:xfrm>
            <a:off x="4649686" y="1298576"/>
            <a:ext cx="457200"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g</a:t>
            </a:r>
          </a:p>
        </p:txBody>
      </p:sp>
      <p:sp>
        <p:nvSpPr>
          <p:cNvPr id="120888" name="Oval 56"/>
          <p:cNvSpPr>
            <a:spLocks noChangeArrowheads="1"/>
          </p:cNvSpPr>
          <p:nvPr/>
        </p:nvSpPr>
        <p:spPr bwMode="auto">
          <a:xfrm>
            <a:off x="6110748" y="1298576"/>
            <a:ext cx="457200" cy="466725"/>
          </a:xfrm>
          <a:prstGeom prst="ellipse">
            <a:avLst/>
          </a:prstGeom>
          <a:solidFill>
            <a:srgbClr val="B2B2B2"/>
          </a:solidFill>
          <a:ln w="28575">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h</a:t>
            </a:r>
          </a:p>
        </p:txBody>
      </p:sp>
      <p:sp>
        <p:nvSpPr>
          <p:cNvPr id="120911" name="Oval 79"/>
          <p:cNvSpPr>
            <a:spLocks noChangeArrowheads="1"/>
          </p:cNvSpPr>
          <p:nvPr/>
        </p:nvSpPr>
        <p:spPr bwMode="auto">
          <a:xfrm>
            <a:off x="6110748" y="1310148"/>
            <a:ext cx="457200" cy="495300"/>
          </a:xfrm>
          <a:prstGeom prst="ellipse">
            <a:avLst/>
          </a:prstGeom>
          <a:solidFill>
            <a:schemeClr val="tx1"/>
          </a:solidFill>
          <a:ln w="571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h</a:t>
            </a:r>
          </a:p>
        </p:txBody>
      </p:sp>
      <p:sp>
        <p:nvSpPr>
          <p:cNvPr id="2" name="Slide Number Placeholder 1"/>
          <p:cNvSpPr>
            <a:spLocks noGrp="1"/>
          </p:cNvSpPr>
          <p:nvPr>
            <p:ph type="sldNum" sz="quarter" idx="12"/>
          </p:nvPr>
        </p:nvSpPr>
        <p:spPr/>
        <p:txBody>
          <a:bodyPr/>
          <a:lstStyle/>
          <a:p>
            <a:pPr>
              <a:defRPr/>
            </a:pPr>
            <a:fld id="{5019D0FD-30FE-4170-95C0-BCF9C0F390F3}" type="slidenum">
              <a:rPr lang="en-US" smtClean="0"/>
              <a:pPr>
                <a:defRPr/>
              </a:pPr>
              <a:t>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0881"/>
                                        </p:tgtEl>
                                        <p:attrNameLst>
                                          <p:attrName>style.visibility</p:attrName>
                                        </p:attrNameLst>
                                      </p:cBhvr>
                                      <p:to>
                                        <p:strVal val="visible"/>
                                      </p:to>
                                    </p:set>
                                    <p:animEffect transition="in" filter="dissolve">
                                      <p:cBhvr>
                                        <p:cTn id="7" dur="500"/>
                                        <p:tgtEl>
                                          <p:spTgt spid="120881"/>
                                        </p:tgtEl>
                                      </p:cBhvr>
                                    </p:animEffect>
                                  </p:childTnLst>
                                </p:cTn>
                              </p:par>
                            </p:childTnLst>
                          </p:cTn>
                        </p:par>
                        <p:par>
                          <p:cTn id="8" fill="hold" nodeType="afterGroup">
                            <p:stCondLst>
                              <p:cond delay="500"/>
                            </p:stCondLst>
                            <p:childTnLst>
                              <p:par>
                                <p:cTn id="9" presetID="22" presetClass="entr" presetSubtype="8" fill="hold" grpId="0" nodeType="afterEffect">
                                  <p:stCondLst>
                                    <p:cond delay="1000"/>
                                  </p:stCondLst>
                                  <p:childTnLst>
                                    <p:set>
                                      <p:cBhvr>
                                        <p:cTn id="10" dur="1" fill="hold">
                                          <p:stCondLst>
                                            <p:cond delay="0"/>
                                          </p:stCondLst>
                                        </p:cTn>
                                        <p:tgtEl>
                                          <p:spTgt spid="120976"/>
                                        </p:tgtEl>
                                        <p:attrNameLst>
                                          <p:attrName>style.visibility</p:attrName>
                                        </p:attrNameLst>
                                      </p:cBhvr>
                                      <p:to>
                                        <p:strVal val="visible"/>
                                      </p:to>
                                    </p:set>
                                    <p:animEffect transition="in" filter="wipe(left)">
                                      <p:cBhvr>
                                        <p:cTn id="11" dur="500"/>
                                        <p:tgtEl>
                                          <p:spTgt spid="120976"/>
                                        </p:tgtEl>
                                      </p:cBhvr>
                                    </p:animEffect>
                                  </p:childTnLst>
                                </p:cTn>
                              </p:par>
                            </p:childTnLst>
                          </p:cTn>
                        </p:par>
                        <p:par>
                          <p:cTn id="12" fill="hold" nodeType="afterGroup">
                            <p:stCondLst>
                              <p:cond delay="2000"/>
                            </p:stCondLst>
                            <p:childTnLst>
                              <p:par>
                                <p:cTn id="13" presetID="9" presetClass="entr" presetSubtype="0" fill="hold" grpId="0" nodeType="afterEffect">
                                  <p:stCondLst>
                                    <p:cond delay="0"/>
                                  </p:stCondLst>
                                  <p:childTnLst>
                                    <p:set>
                                      <p:cBhvr>
                                        <p:cTn id="14" dur="1" fill="hold">
                                          <p:stCondLst>
                                            <p:cond delay="0"/>
                                          </p:stCondLst>
                                        </p:cTn>
                                        <p:tgtEl>
                                          <p:spTgt spid="120927"/>
                                        </p:tgtEl>
                                        <p:attrNameLst>
                                          <p:attrName>style.visibility</p:attrName>
                                        </p:attrNameLst>
                                      </p:cBhvr>
                                      <p:to>
                                        <p:strVal val="visible"/>
                                      </p:to>
                                    </p:set>
                                    <p:animEffect transition="in" filter="dissolve">
                                      <p:cBhvr>
                                        <p:cTn id="15" dur="500"/>
                                        <p:tgtEl>
                                          <p:spTgt spid="120927"/>
                                        </p:tgtEl>
                                      </p:cBhvr>
                                    </p:animEffect>
                                  </p:childTnLst>
                                </p:cTn>
                              </p:par>
                            </p:childTnLst>
                          </p:cTn>
                        </p:par>
                        <p:par>
                          <p:cTn id="16" fill="hold" nodeType="afterGroup">
                            <p:stCondLst>
                              <p:cond delay="2500"/>
                            </p:stCondLst>
                            <p:childTnLst>
                              <p:par>
                                <p:cTn id="17" presetID="22" presetClass="entr" presetSubtype="8" fill="hold" grpId="0" nodeType="afterEffect">
                                  <p:stCondLst>
                                    <p:cond delay="0"/>
                                  </p:stCondLst>
                                  <p:childTnLst>
                                    <p:set>
                                      <p:cBhvr>
                                        <p:cTn id="18" dur="1" fill="hold">
                                          <p:stCondLst>
                                            <p:cond delay="0"/>
                                          </p:stCondLst>
                                        </p:cTn>
                                        <p:tgtEl>
                                          <p:spTgt spid="120959"/>
                                        </p:tgtEl>
                                        <p:attrNameLst>
                                          <p:attrName>style.visibility</p:attrName>
                                        </p:attrNameLst>
                                      </p:cBhvr>
                                      <p:to>
                                        <p:strVal val="visible"/>
                                      </p:to>
                                    </p:set>
                                    <p:animEffect transition="in" filter="wipe(left)">
                                      <p:cBhvr>
                                        <p:cTn id="19" dur="500"/>
                                        <p:tgtEl>
                                          <p:spTgt spid="12095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20912"/>
                                        </p:tgtEl>
                                        <p:attrNameLst>
                                          <p:attrName>style.visibility</p:attrName>
                                        </p:attrNameLst>
                                      </p:cBhvr>
                                      <p:to>
                                        <p:strVal val="visible"/>
                                      </p:to>
                                    </p:set>
                                    <p:animEffect transition="in" filter="wipe(left)">
                                      <p:cBhvr>
                                        <p:cTn id="24" dur="500"/>
                                        <p:tgtEl>
                                          <p:spTgt spid="120912"/>
                                        </p:tgtEl>
                                      </p:cBhvr>
                                    </p:animEffect>
                                  </p:childTnLst>
                                </p:cTn>
                              </p:par>
                            </p:childTnLst>
                          </p:cTn>
                        </p:par>
                        <p:par>
                          <p:cTn id="25" fill="hold" nodeType="afterGroup">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120882"/>
                                        </p:tgtEl>
                                        <p:attrNameLst>
                                          <p:attrName>style.visibility</p:attrName>
                                        </p:attrNameLst>
                                      </p:cBhvr>
                                      <p:to>
                                        <p:strVal val="visible"/>
                                      </p:to>
                                    </p:set>
                                    <p:animEffect transition="in" filter="dissolve">
                                      <p:cBhvr>
                                        <p:cTn id="28" dur="500"/>
                                        <p:tgtEl>
                                          <p:spTgt spid="120882"/>
                                        </p:tgtEl>
                                      </p:cBhvr>
                                    </p:animEffect>
                                  </p:childTnLst>
                                </p:cTn>
                              </p:par>
                            </p:childTnLst>
                          </p:cTn>
                        </p:par>
                        <p:par>
                          <p:cTn id="29" fill="hold" nodeType="afterGroup">
                            <p:stCondLst>
                              <p:cond delay="1000"/>
                            </p:stCondLst>
                            <p:childTnLst>
                              <p:par>
                                <p:cTn id="30" presetID="22" presetClass="entr" presetSubtype="1" fill="hold" grpId="0" nodeType="afterEffect">
                                  <p:stCondLst>
                                    <p:cond delay="1000"/>
                                  </p:stCondLst>
                                  <p:childTnLst>
                                    <p:set>
                                      <p:cBhvr>
                                        <p:cTn id="31" dur="1" fill="hold">
                                          <p:stCondLst>
                                            <p:cond delay="0"/>
                                          </p:stCondLst>
                                        </p:cTn>
                                        <p:tgtEl>
                                          <p:spTgt spid="120935"/>
                                        </p:tgtEl>
                                        <p:attrNameLst>
                                          <p:attrName>style.visibility</p:attrName>
                                        </p:attrNameLst>
                                      </p:cBhvr>
                                      <p:to>
                                        <p:strVal val="visible"/>
                                      </p:to>
                                    </p:set>
                                    <p:animEffect transition="in" filter="wipe(up)">
                                      <p:cBhvr>
                                        <p:cTn id="32" dur="500"/>
                                        <p:tgtEl>
                                          <p:spTgt spid="120935"/>
                                        </p:tgtEl>
                                      </p:cBhvr>
                                    </p:animEffect>
                                  </p:childTnLst>
                                </p:cTn>
                              </p:par>
                            </p:childTnLst>
                          </p:cTn>
                        </p:par>
                        <p:par>
                          <p:cTn id="33" fill="hold" nodeType="afterGroup">
                            <p:stCondLst>
                              <p:cond delay="2500"/>
                            </p:stCondLst>
                            <p:childTnLst>
                              <p:par>
                                <p:cTn id="34" presetID="9" presetClass="entr" presetSubtype="0" fill="hold" grpId="0" nodeType="afterEffect">
                                  <p:stCondLst>
                                    <p:cond delay="0"/>
                                  </p:stCondLst>
                                  <p:childTnLst>
                                    <p:set>
                                      <p:cBhvr>
                                        <p:cTn id="35" dur="1" fill="hold">
                                          <p:stCondLst>
                                            <p:cond delay="0"/>
                                          </p:stCondLst>
                                        </p:cTn>
                                        <p:tgtEl>
                                          <p:spTgt spid="120928"/>
                                        </p:tgtEl>
                                        <p:attrNameLst>
                                          <p:attrName>style.visibility</p:attrName>
                                        </p:attrNameLst>
                                      </p:cBhvr>
                                      <p:to>
                                        <p:strVal val="visible"/>
                                      </p:to>
                                    </p:set>
                                    <p:animEffect transition="in" filter="dissolve">
                                      <p:cBhvr>
                                        <p:cTn id="36" dur="500"/>
                                        <p:tgtEl>
                                          <p:spTgt spid="120928"/>
                                        </p:tgtEl>
                                      </p:cBhvr>
                                    </p:animEffect>
                                  </p:childTnLst>
                                </p:cTn>
                              </p:par>
                            </p:childTnLst>
                          </p:cTn>
                        </p:par>
                        <p:par>
                          <p:cTn id="37" fill="hold" nodeType="afterGroup">
                            <p:stCondLst>
                              <p:cond delay="3000"/>
                            </p:stCondLst>
                            <p:childTnLst>
                              <p:par>
                                <p:cTn id="38" presetID="22" presetClass="entr" presetSubtype="8" fill="hold" grpId="0" nodeType="afterEffect">
                                  <p:stCondLst>
                                    <p:cond delay="0"/>
                                  </p:stCondLst>
                                  <p:childTnLst>
                                    <p:set>
                                      <p:cBhvr>
                                        <p:cTn id="39" dur="1" fill="hold">
                                          <p:stCondLst>
                                            <p:cond delay="0"/>
                                          </p:stCondLst>
                                        </p:cTn>
                                        <p:tgtEl>
                                          <p:spTgt spid="120960"/>
                                        </p:tgtEl>
                                        <p:attrNameLst>
                                          <p:attrName>style.visibility</p:attrName>
                                        </p:attrNameLst>
                                      </p:cBhvr>
                                      <p:to>
                                        <p:strVal val="visible"/>
                                      </p:to>
                                    </p:set>
                                    <p:animEffect transition="in" filter="wipe(left)">
                                      <p:cBhvr>
                                        <p:cTn id="40" dur="500"/>
                                        <p:tgtEl>
                                          <p:spTgt spid="12096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20913"/>
                                        </p:tgtEl>
                                        <p:attrNameLst>
                                          <p:attrName>style.visibility</p:attrName>
                                        </p:attrNameLst>
                                      </p:cBhvr>
                                      <p:to>
                                        <p:strVal val="visible"/>
                                      </p:to>
                                    </p:set>
                                    <p:animEffect transition="in" filter="wipe(left)">
                                      <p:cBhvr>
                                        <p:cTn id="45" dur="500"/>
                                        <p:tgtEl>
                                          <p:spTgt spid="120913"/>
                                        </p:tgtEl>
                                      </p:cBhvr>
                                    </p:animEffect>
                                  </p:childTnLst>
                                </p:cTn>
                              </p:par>
                            </p:childTnLst>
                          </p:cTn>
                        </p:par>
                        <p:par>
                          <p:cTn id="46" fill="hold" nodeType="afterGroup">
                            <p:stCondLst>
                              <p:cond delay="500"/>
                            </p:stCondLst>
                            <p:childTnLst>
                              <p:par>
                                <p:cTn id="47" presetID="9" presetClass="entr" presetSubtype="0" fill="hold" grpId="0" nodeType="afterEffect">
                                  <p:stCondLst>
                                    <p:cond delay="0"/>
                                  </p:stCondLst>
                                  <p:childTnLst>
                                    <p:set>
                                      <p:cBhvr>
                                        <p:cTn id="48" dur="1" fill="hold">
                                          <p:stCondLst>
                                            <p:cond delay="0"/>
                                          </p:stCondLst>
                                        </p:cTn>
                                        <p:tgtEl>
                                          <p:spTgt spid="120883"/>
                                        </p:tgtEl>
                                        <p:attrNameLst>
                                          <p:attrName>style.visibility</p:attrName>
                                        </p:attrNameLst>
                                      </p:cBhvr>
                                      <p:to>
                                        <p:strVal val="visible"/>
                                      </p:to>
                                    </p:set>
                                    <p:animEffect transition="in" filter="dissolve">
                                      <p:cBhvr>
                                        <p:cTn id="49" dur="500"/>
                                        <p:tgtEl>
                                          <p:spTgt spid="120883"/>
                                        </p:tgtEl>
                                      </p:cBhvr>
                                    </p:animEffect>
                                  </p:childTnLst>
                                </p:cTn>
                              </p:par>
                            </p:childTnLst>
                          </p:cTn>
                        </p:par>
                        <p:par>
                          <p:cTn id="50" fill="hold" nodeType="afterGroup">
                            <p:stCondLst>
                              <p:cond delay="1000"/>
                            </p:stCondLst>
                            <p:childTnLst>
                              <p:par>
                                <p:cTn id="51" presetID="22" presetClass="entr" presetSubtype="1" fill="hold" grpId="0" nodeType="afterEffect">
                                  <p:stCondLst>
                                    <p:cond delay="1000"/>
                                  </p:stCondLst>
                                  <p:childTnLst>
                                    <p:set>
                                      <p:cBhvr>
                                        <p:cTn id="52" dur="1" fill="hold">
                                          <p:stCondLst>
                                            <p:cond delay="0"/>
                                          </p:stCondLst>
                                        </p:cTn>
                                        <p:tgtEl>
                                          <p:spTgt spid="120936"/>
                                        </p:tgtEl>
                                        <p:attrNameLst>
                                          <p:attrName>style.visibility</p:attrName>
                                        </p:attrNameLst>
                                      </p:cBhvr>
                                      <p:to>
                                        <p:strVal val="visible"/>
                                      </p:to>
                                    </p:set>
                                    <p:animEffect transition="in" filter="wipe(up)">
                                      <p:cBhvr>
                                        <p:cTn id="53" dur="500"/>
                                        <p:tgtEl>
                                          <p:spTgt spid="120936"/>
                                        </p:tgtEl>
                                      </p:cBhvr>
                                    </p:animEffect>
                                  </p:childTnLst>
                                </p:cTn>
                              </p:par>
                            </p:childTnLst>
                          </p:cTn>
                        </p:par>
                        <p:par>
                          <p:cTn id="54" fill="hold" nodeType="afterGroup">
                            <p:stCondLst>
                              <p:cond delay="2500"/>
                            </p:stCondLst>
                            <p:childTnLst>
                              <p:par>
                                <p:cTn id="55" presetID="9" presetClass="entr" presetSubtype="0" fill="hold" grpId="0" nodeType="afterEffect">
                                  <p:stCondLst>
                                    <p:cond delay="0"/>
                                  </p:stCondLst>
                                  <p:childTnLst>
                                    <p:set>
                                      <p:cBhvr>
                                        <p:cTn id="56" dur="1" fill="hold">
                                          <p:stCondLst>
                                            <p:cond delay="0"/>
                                          </p:stCondLst>
                                        </p:cTn>
                                        <p:tgtEl>
                                          <p:spTgt spid="120929"/>
                                        </p:tgtEl>
                                        <p:attrNameLst>
                                          <p:attrName>style.visibility</p:attrName>
                                        </p:attrNameLst>
                                      </p:cBhvr>
                                      <p:to>
                                        <p:strVal val="visible"/>
                                      </p:to>
                                    </p:set>
                                    <p:animEffect transition="in" filter="dissolve">
                                      <p:cBhvr>
                                        <p:cTn id="57" dur="500"/>
                                        <p:tgtEl>
                                          <p:spTgt spid="120929"/>
                                        </p:tgtEl>
                                      </p:cBhvr>
                                    </p:animEffect>
                                  </p:childTnLst>
                                </p:cTn>
                              </p:par>
                            </p:childTnLst>
                          </p:cTn>
                        </p:par>
                        <p:par>
                          <p:cTn id="58" fill="hold" nodeType="afterGroup">
                            <p:stCondLst>
                              <p:cond delay="3000"/>
                            </p:stCondLst>
                            <p:childTnLst>
                              <p:par>
                                <p:cTn id="59" presetID="22" presetClass="entr" presetSubtype="8" fill="hold" grpId="0" nodeType="afterEffect">
                                  <p:stCondLst>
                                    <p:cond delay="0"/>
                                  </p:stCondLst>
                                  <p:childTnLst>
                                    <p:set>
                                      <p:cBhvr>
                                        <p:cTn id="60" dur="1" fill="hold">
                                          <p:stCondLst>
                                            <p:cond delay="0"/>
                                          </p:stCondLst>
                                        </p:cTn>
                                        <p:tgtEl>
                                          <p:spTgt spid="120961"/>
                                        </p:tgtEl>
                                        <p:attrNameLst>
                                          <p:attrName>style.visibility</p:attrName>
                                        </p:attrNameLst>
                                      </p:cBhvr>
                                      <p:to>
                                        <p:strVal val="visible"/>
                                      </p:to>
                                    </p:set>
                                    <p:animEffect transition="in" filter="wipe(left)">
                                      <p:cBhvr>
                                        <p:cTn id="61" dur="500"/>
                                        <p:tgtEl>
                                          <p:spTgt spid="12096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120906"/>
                                        </p:tgtEl>
                                        <p:attrNameLst>
                                          <p:attrName>style.visibility</p:attrName>
                                        </p:attrNameLst>
                                      </p:cBhvr>
                                      <p:to>
                                        <p:strVal val="visible"/>
                                      </p:to>
                                    </p:set>
                                    <p:animEffect transition="in" filter="dissolve">
                                      <p:cBhvr>
                                        <p:cTn id="66" dur="500"/>
                                        <p:tgtEl>
                                          <p:spTgt spid="120906"/>
                                        </p:tgtEl>
                                      </p:cBhvr>
                                    </p:animEffect>
                                  </p:childTnLst>
                                </p:cTn>
                              </p:par>
                            </p:childTnLst>
                          </p:cTn>
                        </p:par>
                        <p:par>
                          <p:cTn id="67" fill="hold" nodeType="afterGroup">
                            <p:stCondLst>
                              <p:cond delay="500"/>
                            </p:stCondLst>
                            <p:childTnLst>
                              <p:par>
                                <p:cTn id="68" presetID="9" presetClass="entr" presetSubtype="0" fill="hold" grpId="0" nodeType="afterEffect">
                                  <p:stCondLst>
                                    <p:cond delay="1000"/>
                                  </p:stCondLst>
                                  <p:childTnLst>
                                    <p:set>
                                      <p:cBhvr>
                                        <p:cTn id="69" dur="1" fill="hold">
                                          <p:stCondLst>
                                            <p:cond delay="0"/>
                                          </p:stCondLst>
                                        </p:cTn>
                                        <p:tgtEl>
                                          <p:spTgt spid="120951"/>
                                        </p:tgtEl>
                                        <p:attrNameLst>
                                          <p:attrName>style.visibility</p:attrName>
                                        </p:attrNameLst>
                                      </p:cBhvr>
                                      <p:to>
                                        <p:strVal val="visible"/>
                                      </p:to>
                                    </p:set>
                                    <p:animEffect transition="in" filter="dissolve">
                                      <p:cBhvr>
                                        <p:cTn id="70" dur="500"/>
                                        <p:tgtEl>
                                          <p:spTgt spid="120951"/>
                                        </p:tgtEl>
                                      </p:cBhvr>
                                    </p:animEffect>
                                  </p:childTnLst>
                                </p:cTn>
                              </p:par>
                            </p:childTnLst>
                          </p:cTn>
                        </p:par>
                        <p:par>
                          <p:cTn id="71" fill="hold" nodeType="afterGroup">
                            <p:stCondLst>
                              <p:cond delay="2000"/>
                            </p:stCondLst>
                            <p:childTnLst>
                              <p:par>
                                <p:cTn id="72" presetID="9" presetClass="entr" presetSubtype="0" fill="hold" grpId="0" nodeType="afterEffect">
                                  <p:stCondLst>
                                    <p:cond delay="1000"/>
                                  </p:stCondLst>
                                  <p:childTnLst>
                                    <p:set>
                                      <p:cBhvr>
                                        <p:cTn id="73" dur="1" fill="hold">
                                          <p:stCondLst>
                                            <p:cond delay="0"/>
                                          </p:stCondLst>
                                        </p:cTn>
                                        <p:tgtEl>
                                          <p:spTgt spid="120967"/>
                                        </p:tgtEl>
                                        <p:attrNameLst>
                                          <p:attrName>style.visibility</p:attrName>
                                        </p:attrNameLst>
                                      </p:cBhvr>
                                      <p:to>
                                        <p:strVal val="visible"/>
                                      </p:to>
                                    </p:set>
                                    <p:animEffect transition="in" filter="dissolve">
                                      <p:cBhvr>
                                        <p:cTn id="74" dur="500"/>
                                        <p:tgtEl>
                                          <p:spTgt spid="120967"/>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grpId="0" nodeType="clickEffect">
                                  <p:stCondLst>
                                    <p:cond delay="0"/>
                                  </p:stCondLst>
                                  <p:childTnLst>
                                    <p:set>
                                      <p:cBhvr>
                                        <p:cTn id="78" dur="1" fill="hold">
                                          <p:stCondLst>
                                            <p:cond delay="0"/>
                                          </p:stCondLst>
                                        </p:cTn>
                                        <p:tgtEl>
                                          <p:spTgt spid="120919"/>
                                        </p:tgtEl>
                                        <p:attrNameLst>
                                          <p:attrName>style.visibility</p:attrName>
                                        </p:attrNameLst>
                                      </p:cBhvr>
                                      <p:to>
                                        <p:strVal val="visible"/>
                                      </p:to>
                                    </p:set>
                                    <p:animEffect transition="in" filter="wipe(up)">
                                      <p:cBhvr>
                                        <p:cTn id="79" dur="500"/>
                                        <p:tgtEl>
                                          <p:spTgt spid="120919"/>
                                        </p:tgtEl>
                                      </p:cBhvr>
                                    </p:animEffect>
                                  </p:childTnLst>
                                </p:cTn>
                              </p:par>
                            </p:childTnLst>
                          </p:cTn>
                        </p:par>
                        <p:par>
                          <p:cTn id="80" fill="hold" nodeType="afterGroup">
                            <p:stCondLst>
                              <p:cond delay="500"/>
                            </p:stCondLst>
                            <p:childTnLst>
                              <p:par>
                                <p:cTn id="81" presetID="9" presetClass="entr" presetSubtype="0" fill="hold" grpId="0" nodeType="afterEffect">
                                  <p:stCondLst>
                                    <p:cond delay="0"/>
                                  </p:stCondLst>
                                  <p:childTnLst>
                                    <p:set>
                                      <p:cBhvr>
                                        <p:cTn id="82" dur="1" fill="hold">
                                          <p:stCondLst>
                                            <p:cond delay="0"/>
                                          </p:stCondLst>
                                        </p:cTn>
                                        <p:tgtEl>
                                          <p:spTgt spid="120886"/>
                                        </p:tgtEl>
                                        <p:attrNameLst>
                                          <p:attrName>style.visibility</p:attrName>
                                        </p:attrNameLst>
                                      </p:cBhvr>
                                      <p:to>
                                        <p:strVal val="visible"/>
                                      </p:to>
                                    </p:set>
                                    <p:animEffect transition="in" filter="dissolve">
                                      <p:cBhvr>
                                        <p:cTn id="83" dur="500"/>
                                        <p:tgtEl>
                                          <p:spTgt spid="120886"/>
                                        </p:tgtEl>
                                      </p:cBhvr>
                                    </p:animEffect>
                                  </p:childTnLst>
                                </p:cTn>
                              </p:par>
                            </p:childTnLst>
                          </p:cTn>
                        </p:par>
                        <p:par>
                          <p:cTn id="84" fill="hold" nodeType="afterGroup">
                            <p:stCondLst>
                              <p:cond delay="1000"/>
                            </p:stCondLst>
                            <p:childTnLst>
                              <p:par>
                                <p:cTn id="85" presetID="22" presetClass="entr" presetSubtype="1" fill="hold" grpId="0" nodeType="afterEffect">
                                  <p:stCondLst>
                                    <p:cond delay="1000"/>
                                  </p:stCondLst>
                                  <p:childTnLst>
                                    <p:set>
                                      <p:cBhvr>
                                        <p:cTn id="86" dur="1" fill="hold">
                                          <p:stCondLst>
                                            <p:cond delay="0"/>
                                          </p:stCondLst>
                                        </p:cTn>
                                        <p:tgtEl>
                                          <p:spTgt spid="120942"/>
                                        </p:tgtEl>
                                        <p:attrNameLst>
                                          <p:attrName>style.visibility</p:attrName>
                                        </p:attrNameLst>
                                      </p:cBhvr>
                                      <p:to>
                                        <p:strVal val="visible"/>
                                      </p:to>
                                    </p:set>
                                    <p:animEffect transition="in" filter="wipe(up)">
                                      <p:cBhvr>
                                        <p:cTn id="87" dur="500"/>
                                        <p:tgtEl>
                                          <p:spTgt spid="120942"/>
                                        </p:tgtEl>
                                      </p:cBhvr>
                                    </p:animEffect>
                                  </p:childTnLst>
                                </p:cTn>
                              </p:par>
                            </p:childTnLst>
                          </p:cTn>
                        </p:par>
                        <p:par>
                          <p:cTn id="88" fill="hold" nodeType="afterGroup">
                            <p:stCondLst>
                              <p:cond delay="2500"/>
                            </p:stCondLst>
                            <p:childTnLst>
                              <p:par>
                                <p:cTn id="89" presetID="9" presetClass="entr" presetSubtype="0" fill="hold" grpId="0" nodeType="afterEffect">
                                  <p:stCondLst>
                                    <p:cond delay="0"/>
                                  </p:stCondLst>
                                  <p:childTnLst>
                                    <p:set>
                                      <p:cBhvr>
                                        <p:cTn id="90" dur="1" fill="hold">
                                          <p:stCondLst>
                                            <p:cond delay="0"/>
                                          </p:stCondLst>
                                        </p:cTn>
                                        <p:tgtEl>
                                          <p:spTgt spid="120932"/>
                                        </p:tgtEl>
                                        <p:attrNameLst>
                                          <p:attrName>style.visibility</p:attrName>
                                        </p:attrNameLst>
                                      </p:cBhvr>
                                      <p:to>
                                        <p:strVal val="visible"/>
                                      </p:to>
                                    </p:set>
                                    <p:animEffect transition="in" filter="dissolve">
                                      <p:cBhvr>
                                        <p:cTn id="91" dur="500"/>
                                        <p:tgtEl>
                                          <p:spTgt spid="120932"/>
                                        </p:tgtEl>
                                      </p:cBhvr>
                                    </p:animEffect>
                                  </p:childTnLst>
                                </p:cTn>
                              </p:par>
                            </p:childTnLst>
                          </p:cTn>
                        </p:par>
                        <p:par>
                          <p:cTn id="92" fill="hold" nodeType="afterGroup">
                            <p:stCondLst>
                              <p:cond delay="3000"/>
                            </p:stCondLst>
                            <p:childTnLst>
                              <p:par>
                                <p:cTn id="93" presetID="22" presetClass="entr" presetSubtype="8" fill="hold" grpId="0" nodeType="afterEffect">
                                  <p:stCondLst>
                                    <p:cond delay="0"/>
                                  </p:stCondLst>
                                  <p:childTnLst>
                                    <p:set>
                                      <p:cBhvr>
                                        <p:cTn id="94" dur="1" fill="hold">
                                          <p:stCondLst>
                                            <p:cond delay="0"/>
                                          </p:stCondLst>
                                        </p:cTn>
                                        <p:tgtEl>
                                          <p:spTgt spid="120962"/>
                                        </p:tgtEl>
                                        <p:attrNameLst>
                                          <p:attrName>style.visibility</p:attrName>
                                        </p:attrNameLst>
                                      </p:cBhvr>
                                      <p:to>
                                        <p:strVal val="visible"/>
                                      </p:to>
                                    </p:set>
                                    <p:animEffect transition="in" filter="wipe(left)">
                                      <p:cBhvr>
                                        <p:cTn id="95" dur="500"/>
                                        <p:tgtEl>
                                          <p:spTgt spid="120962"/>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2" fill="hold" grpId="0" nodeType="clickEffect">
                                  <p:stCondLst>
                                    <p:cond delay="0"/>
                                  </p:stCondLst>
                                  <p:childTnLst>
                                    <p:set>
                                      <p:cBhvr>
                                        <p:cTn id="99" dur="1" fill="hold">
                                          <p:stCondLst>
                                            <p:cond delay="0"/>
                                          </p:stCondLst>
                                        </p:cTn>
                                        <p:tgtEl>
                                          <p:spTgt spid="120917"/>
                                        </p:tgtEl>
                                        <p:attrNameLst>
                                          <p:attrName>style.visibility</p:attrName>
                                        </p:attrNameLst>
                                      </p:cBhvr>
                                      <p:to>
                                        <p:strVal val="visible"/>
                                      </p:to>
                                    </p:set>
                                    <p:animEffect transition="in" filter="wipe(right)">
                                      <p:cBhvr>
                                        <p:cTn id="100" dur="500"/>
                                        <p:tgtEl>
                                          <p:spTgt spid="120917"/>
                                        </p:tgtEl>
                                      </p:cBhvr>
                                    </p:animEffect>
                                  </p:childTnLst>
                                </p:cTn>
                              </p:par>
                            </p:childTnLst>
                          </p:cTn>
                        </p:par>
                        <p:par>
                          <p:cTn id="101" fill="hold" nodeType="afterGroup">
                            <p:stCondLst>
                              <p:cond delay="500"/>
                            </p:stCondLst>
                            <p:childTnLst>
                              <p:par>
                                <p:cTn id="102" presetID="9" presetClass="entr" presetSubtype="0" fill="hold" grpId="0" nodeType="afterEffect">
                                  <p:stCondLst>
                                    <p:cond delay="0"/>
                                  </p:stCondLst>
                                  <p:childTnLst>
                                    <p:set>
                                      <p:cBhvr>
                                        <p:cTn id="103" dur="1" fill="hold">
                                          <p:stCondLst>
                                            <p:cond delay="0"/>
                                          </p:stCondLst>
                                        </p:cTn>
                                        <p:tgtEl>
                                          <p:spTgt spid="120885"/>
                                        </p:tgtEl>
                                        <p:attrNameLst>
                                          <p:attrName>style.visibility</p:attrName>
                                        </p:attrNameLst>
                                      </p:cBhvr>
                                      <p:to>
                                        <p:strVal val="visible"/>
                                      </p:to>
                                    </p:set>
                                    <p:animEffect transition="in" filter="dissolve">
                                      <p:cBhvr>
                                        <p:cTn id="104" dur="500"/>
                                        <p:tgtEl>
                                          <p:spTgt spid="120885"/>
                                        </p:tgtEl>
                                      </p:cBhvr>
                                    </p:animEffect>
                                  </p:childTnLst>
                                </p:cTn>
                              </p:par>
                            </p:childTnLst>
                          </p:cTn>
                        </p:par>
                        <p:par>
                          <p:cTn id="105" fill="hold" nodeType="afterGroup">
                            <p:stCondLst>
                              <p:cond delay="1000"/>
                            </p:stCondLst>
                            <p:childTnLst>
                              <p:par>
                                <p:cTn id="106" presetID="22" presetClass="entr" presetSubtype="1" fill="hold" grpId="0" nodeType="afterEffect">
                                  <p:stCondLst>
                                    <p:cond delay="1000"/>
                                  </p:stCondLst>
                                  <p:childTnLst>
                                    <p:set>
                                      <p:cBhvr>
                                        <p:cTn id="107" dur="1" fill="hold">
                                          <p:stCondLst>
                                            <p:cond delay="0"/>
                                          </p:stCondLst>
                                        </p:cTn>
                                        <p:tgtEl>
                                          <p:spTgt spid="120940"/>
                                        </p:tgtEl>
                                        <p:attrNameLst>
                                          <p:attrName>style.visibility</p:attrName>
                                        </p:attrNameLst>
                                      </p:cBhvr>
                                      <p:to>
                                        <p:strVal val="visible"/>
                                      </p:to>
                                    </p:set>
                                    <p:animEffect transition="in" filter="wipe(up)">
                                      <p:cBhvr>
                                        <p:cTn id="108" dur="500"/>
                                        <p:tgtEl>
                                          <p:spTgt spid="120940"/>
                                        </p:tgtEl>
                                      </p:cBhvr>
                                    </p:animEffect>
                                  </p:childTnLst>
                                </p:cTn>
                              </p:par>
                            </p:childTnLst>
                          </p:cTn>
                        </p:par>
                        <p:par>
                          <p:cTn id="109" fill="hold" nodeType="afterGroup">
                            <p:stCondLst>
                              <p:cond delay="2500"/>
                            </p:stCondLst>
                            <p:childTnLst>
                              <p:par>
                                <p:cTn id="110" presetID="9" presetClass="entr" presetSubtype="0" fill="hold" grpId="0" nodeType="afterEffect">
                                  <p:stCondLst>
                                    <p:cond delay="0"/>
                                  </p:stCondLst>
                                  <p:childTnLst>
                                    <p:set>
                                      <p:cBhvr>
                                        <p:cTn id="111" dur="1" fill="hold">
                                          <p:stCondLst>
                                            <p:cond delay="0"/>
                                          </p:stCondLst>
                                        </p:cTn>
                                        <p:tgtEl>
                                          <p:spTgt spid="120931"/>
                                        </p:tgtEl>
                                        <p:attrNameLst>
                                          <p:attrName>style.visibility</p:attrName>
                                        </p:attrNameLst>
                                      </p:cBhvr>
                                      <p:to>
                                        <p:strVal val="visible"/>
                                      </p:to>
                                    </p:set>
                                    <p:animEffect transition="in" filter="dissolve">
                                      <p:cBhvr>
                                        <p:cTn id="112" dur="500"/>
                                        <p:tgtEl>
                                          <p:spTgt spid="120931"/>
                                        </p:tgtEl>
                                      </p:cBhvr>
                                    </p:animEffect>
                                  </p:childTnLst>
                                </p:cTn>
                              </p:par>
                            </p:childTnLst>
                          </p:cTn>
                        </p:par>
                        <p:par>
                          <p:cTn id="113" fill="hold" nodeType="afterGroup">
                            <p:stCondLst>
                              <p:cond delay="3000"/>
                            </p:stCondLst>
                            <p:childTnLst>
                              <p:par>
                                <p:cTn id="114" presetID="22" presetClass="entr" presetSubtype="8" fill="hold" grpId="0" nodeType="afterEffect">
                                  <p:stCondLst>
                                    <p:cond delay="0"/>
                                  </p:stCondLst>
                                  <p:childTnLst>
                                    <p:set>
                                      <p:cBhvr>
                                        <p:cTn id="115" dur="1" fill="hold">
                                          <p:stCondLst>
                                            <p:cond delay="0"/>
                                          </p:stCondLst>
                                        </p:cTn>
                                        <p:tgtEl>
                                          <p:spTgt spid="120963"/>
                                        </p:tgtEl>
                                        <p:attrNameLst>
                                          <p:attrName>style.visibility</p:attrName>
                                        </p:attrNameLst>
                                      </p:cBhvr>
                                      <p:to>
                                        <p:strVal val="visible"/>
                                      </p:to>
                                    </p:set>
                                    <p:animEffect transition="in" filter="wipe(left)">
                                      <p:cBhvr>
                                        <p:cTn id="116" dur="500"/>
                                        <p:tgtEl>
                                          <p:spTgt spid="120963"/>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4" fill="hold" grpId="0" nodeType="clickEffect">
                                  <p:stCondLst>
                                    <p:cond delay="0"/>
                                  </p:stCondLst>
                                  <p:childTnLst>
                                    <p:set>
                                      <p:cBhvr>
                                        <p:cTn id="120" dur="1" fill="hold">
                                          <p:stCondLst>
                                            <p:cond delay="0"/>
                                          </p:stCondLst>
                                        </p:cTn>
                                        <p:tgtEl>
                                          <p:spTgt spid="120895"/>
                                        </p:tgtEl>
                                        <p:attrNameLst>
                                          <p:attrName>style.visibility</p:attrName>
                                        </p:attrNameLst>
                                      </p:cBhvr>
                                      <p:to>
                                        <p:strVal val="visible"/>
                                      </p:to>
                                    </p:set>
                                    <p:animEffect transition="in" filter="wipe(down)">
                                      <p:cBhvr>
                                        <p:cTn id="121" dur="500"/>
                                        <p:tgtEl>
                                          <p:spTgt spid="120895"/>
                                        </p:tgtEl>
                                      </p:cBhvr>
                                    </p:animEffect>
                                  </p:childTnLst>
                                </p:cTn>
                              </p:par>
                            </p:childTnLst>
                          </p:cTn>
                        </p:par>
                        <p:par>
                          <p:cTn id="122" fill="hold" nodeType="afterGroup">
                            <p:stCondLst>
                              <p:cond delay="500"/>
                            </p:stCondLst>
                            <p:childTnLst>
                              <p:par>
                                <p:cTn id="123" presetID="22" presetClass="entr" presetSubtype="4" fill="hold" grpId="0" nodeType="afterEffect">
                                  <p:stCondLst>
                                    <p:cond delay="1000"/>
                                  </p:stCondLst>
                                  <p:childTnLst>
                                    <p:set>
                                      <p:cBhvr>
                                        <p:cTn id="124" dur="1" fill="hold">
                                          <p:stCondLst>
                                            <p:cond delay="0"/>
                                          </p:stCondLst>
                                        </p:cTn>
                                        <p:tgtEl>
                                          <p:spTgt spid="120941"/>
                                        </p:tgtEl>
                                        <p:attrNameLst>
                                          <p:attrName>style.visibility</p:attrName>
                                        </p:attrNameLst>
                                      </p:cBhvr>
                                      <p:to>
                                        <p:strVal val="visible"/>
                                      </p:to>
                                    </p:set>
                                    <p:animEffect transition="in" filter="wipe(down)">
                                      <p:cBhvr>
                                        <p:cTn id="125" dur="500"/>
                                        <p:tgtEl>
                                          <p:spTgt spid="120941"/>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4" fill="hold" grpId="0" nodeType="clickEffect">
                                  <p:stCondLst>
                                    <p:cond delay="0"/>
                                  </p:stCondLst>
                                  <p:childTnLst>
                                    <p:set>
                                      <p:cBhvr>
                                        <p:cTn id="129" dur="1" fill="hold">
                                          <p:stCondLst>
                                            <p:cond delay="0"/>
                                          </p:stCondLst>
                                        </p:cTn>
                                        <p:tgtEl>
                                          <p:spTgt spid="120903"/>
                                        </p:tgtEl>
                                        <p:attrNameLst>
                                          <p:attrName>style.visibility</p:attrName>
                                        </p:attrNameLst>
                                      </p:cBhvr>
                                      <p:to>
                                        <p:strVal val="visible"/>
                                      </p:to>
                                    </p:set>
                                    <p:animEffect transition="in" filter="wipe(down)">
                                      <p:cBhvr>
                                        <p:cTn id="130" dur="500"/>
                                        <p:tgtEl>
                                          <p:spTgt spid="120903"/>
                                        </p:tgtEl>
                                      </p:cBhvr>
                                    </p:animEffect>
                                  </p:childTnLst>
                                </p:cTn>
                              </p:par>
                            </p:childTnLst>
                          </p:cTn>
                        </p:par>
                        <p:par>
                          <p:cTn id="131" fill="hold" nodeType="afterGroup">
                            <p:stCondLst>
                              <p:cond delay="500"/>
                            </p:stCondLst>
                            <p:childTnLst>
                              <p:par>
                                <p:cTn id="132" presetID="22" presetClass="entr" presetSubtype="4" fill="hold" grpId="0" nodeType="afterEffect">
                                  <p:stCondLst>
                                    <p:cond delay="1000"/>
                                  </p:stCondLst>
                                  <p:childTnLst>
                                    <p:set>
                                      <p:cBhvr>
                                        <p:cTn id="133" dur="1" fill="hold">
                                          <p:stCondLst>
                                            <p:cond delay="0"/>
                                          </p:stCondLst>
                                        </p:cTn>
                                        <p:tgtEl>
                                          <p:spTgt spid="120949"/>
                                        </p:tgtEl>
                                        <p:attrNameLst>
                                          <p:attrName>style.visibility</p:attrName>
                                        </p:attrNameLst>
                                      </p:cBhvr>
                                      <p:to>
                                        <p:strVal val="visible"/>
                                      </p:to>
                                    </p:set>
                                    <p:animEffect transition="in" filter="wipe(down)">
                                      <p:cBhvr>
                                        <p:cTn id="134" dur="500"/>
                                        <p:tgtEl>
                                          <p:spTgt spid="120949"/>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9" presetClass="entr" presetSubtype="0" fill="hold" grpId="0" nodeType="clickEffect">
                                  <p:stCondLst>
                                    <p:cond delay="0"/>
                                  </p:stCondLst>
                                  <p:childTnLst>
                                    <p:set>
                                      <p:cBhvr>
                                        <p:cTn id="138" dur="1" fill="hold">
                                          <p:stCondLst>
                                            <p:cond delay="0"/>
                                          </p:stCondLst>
                                        </p:cTn>
                                        <p:tgtEl>
                                          <p:spTgt spid="120908"/>
                                        </p:tgtEl>
                                        <p:attrNameLst>
                                          <p:attrName>style.visibility</p:attrName>
                                        </p:attrNameLst>
                                      </p:cBhvr>
                                      <p:to>
                                        <p:strVal val="visible"/>
                                      </p:to>
                                    </p:set>
                                    <p:animEffect transition="in" filter="dissolve">
                                      <p:cBhvr>
                                        <p:cTn id="139" dur="500"/>
                                        <p:tgtEl>
                                          <p:spTgt spid="120908"/>
                                        </p:tgtEl>
                                      </p:cBhvr>
                                    </p:animEffect>
                                  </p:childTnLst>
                                </p:cTn>
                              </p:par>
                            </p:childTnLst>
                          </p:cTn>
                        </p:par>
                        <p:par>
                          <p:cTn id="140" fill="hold" nodeType="afterGroup">
                            <p:stCondLst>
                              <p:cond delay="500"/>
                            </p:stCondLst>
                            <p:childTnLst>
                              <p:par>
                                <p:cTn id="141" presetID="9" presetClass="entr" presetSubtype="0" fill="hold" grpId="0" nodeType="afterEffect">
                                  <p:stCondLst>
                                    <p:cond delay="1000"/>
                                  </p:stCondLst>
                                  <p:childTnLst>
                                    <p:set>
                                      <p:cBhvr>
                                        <p:cTn id="142" dur="1" fill="hold">
                                          <p:stCondLst>
                                            <p:cond delay="0"/>
                                          </p:stCondLst>
                                        </p:cTn>
                                        <p:tgtEl>
                                          <p:spTgt spid="120952"/>
                                        </p:tgtEl>
                                        <p:attrNameLst>
                                          <p:attrName>style.visibility</p:attrName>
                                        </p:attrNameLst>
                                      </p:cBhvr>
                                      <p:to>
                                        <p:strVal val="visible"/>
                                      </p:to>
                                    </p:set>
                                    <p:animEffect transition="in" filter="dissolve">
                                      <p:cBhvr>
                                        <p:cTn id="143" dur="500"/>
                                        <p:tgtEl>
                                          <p:spTgt spid="120952"/>
                                        </p:tgtEl>
                                      </p:cBhvr>
                                    </p:animEffect>
                                  </p:childTnLst>
                                </p:cTn>
                              </p:par>
                            </p:childTnLst>
                          </p:cTn>
                        </p:par>
                        <p:par>
                          <p:cTn id="144" fill="hold" nodeType="afterGroup">
                            <p:stCondLst>
                              <p:cond delay="2000"/>
                            </p:stCondLst>
                            <p:childTnLst>
                              <p:par>
                                <p:cTn id="145" presetID="9" presetClass="entr" presetSubtype="0" fill="hold" grpId="0" nodeType="afterEffect">
                                  <p:stCondLst>
                                    <p:cond delay="1000"/>
                                  </p:stCondLst>
                                  <p:childTnLst>
                                    <p:set>
                                      <p:cBhvr>
                                        <p:cTn id="146" dur="1" fill="hold">
                                          <p:stCondLst>
                                            <p:cond delay="0"/>
                                          </p:stCondLst>
                                        </p:cTn>
                                        <p:tgtEl>
                                          <p:spTgt spid="120968"/>
                                        </p:tgtEl>
                                        <p:attrNameLst>
                                          <p:attrName>style.visibility</p:attrName>
                                        </p:attrNameLst>
                                      </p:cBhvr>
                                      <p:to>
                                        <p:strVal val="visible"/>
                                      </p:to>
                                    </p:set>
                                    <p:animEffect transition="in" filter="dissolve">
                                      <p:cBhvr>
                                        <p:cTn id="147" dur="500"/>
                                        <p:tgtEl>
                                          <p:spTgt spid="120968"/>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9" presetClass="entr" presetSubtype="0" fill="hold" grpId="0" nodeType="clickEffect">
                                  <p:stCondLst>
                                    <p:cond delay="0"/>
                                  </p:stCondLst>
                                  <p:childTnLst>
                                    <p:set>
                                      <p:cBhvr>
                                        <p:cTn id="151" dur="1" fill="hold">
                                          <p:stCondLst>
                                            <p:cond delay="0"/>
                                          </p:stCondLst>
                                        </p:cTn>
                                        <p:tgtEl>
                                          <p:spTgt spid="120909"/>
                                        </p:tgtEl>
                                        <p:attrNameLst>
                                          <p:attrName>style.visibility</p:attrName>
                                        </p:attrNameLst>
                                      </p:cBhvr>
                                      <p:to>
                                        <p:strVal val="visible"/>
                                      </p:to>
                                    </p:set>
                                    <p:animEffect transition="in" filter="dissolve">
                                      <p:cBhvr>
                                        <p:cTn id="152" dur="500"/>
                                        <p:tgtEl>
                                          <p:spTgt spid="120909"/>
                                        </p:tgtEl>
                                      </p:cBhvr>
                                    </p:animEffect>
                                  </p:childTnLst>
                                </p:cTn>
                              </p:par>
                            </p:childTnLst>
                          </p:cTn>
                        </p:par>
                        <p:par>
                          <p:cTn id="153" fill="hold" nodeType="afterGroup">
                            <p:stCondLst>
                              <p:cond delay="500"/>
                            </p:stCondLst>
                            <p:childTnLst>
                              <p:par>
                                <p:cTn id="154" presetID="9" presetClass="entr" presetSubtype="0" fill="hold" grpId="0" nodeType="afterEffect">
                                  <p:stCondLst>
                                    <p:cond delay="1000"/>
                                  </p:stCondLst>
                                  <p:childTnLst>
                                    <p:set>
                                      <p:cBhvr>
                                        <p:cTn id="155" dur="1" fill="hold">
                                          <p:stCondLst>
                                            <p:cond delay="0"/>
                                          </p:stCondLst>
                                        </p:cTn>
                                        <p:tgtEl>
                                          <p:spTgt spid="120953"/>
                                        </p:tgtEl>
                                        <p:attrNameLst>
                                          <p:attrName>style.visibility</p:attrName>
                                        </p:attrNameLst>
                                      </p:cBhvr>
                                      <p:to>
                                        <p:strVal val="visible"/>
                                      </p:to>
                                    </p:set>
                                    <p:animEffect transition="in" filter="dissolve">
                                      <p:cBhvr>
                                        <p:cTn id="156" dur="500"/>
                                        <p:tgtEl>
                                          <p:spTgt spid="120953"/>
                                        </p:tgtEl>
                                      </p:cBhvr>
                                    </p:animEffect>
                                  </p:childTnLst>
                                </p:cTn>
                              </p:par>
                            </p:childTnLst>
                          </p:cTn>
                        </p:par>
                        <p:par>
                          <p:cTn id="157" fill="hold" nodeType="afterGroup">
                            <p:stCondLst>
                              <p:cond delay="2000"/>
                            </p:stCondLst>
                            <p:childTnLst>
                              <p:par>
                                <p:cTn id="158" presetID="9" presetClass="entr" presetSubtype="0" fill="hold" grpId="0" nodeType="afterEffect">
                                  <p:stCondLst>
                                    <p:cond delay="1000"/>
                                  </p:stCondLst>
                                  <p:childTnLst>
                                    <p:set>
                                      <p:cBhvr>
                                        <p:cTn id="159" dur="1" fill="hold">
                                          <p:stCondLst>
                                            <p:cond delay="0"/>
                                          </p:stCondLst>
                                        </p:cTn>
                                        <p:tgtEl>
                                          <p:spTgt spid="120969"/>
                                        </p:tgtEl>
                                        <p:attrNameLst>
                                          <p:attrName>style.visibility</p:attrName>
                                        </p:attrNameLst>
                                      </p:cBhvr>
                                      <p:to>
                                        <p:strVal val="visible"/>
                                      </p:to>
                                    </p:set>
                                    <p:animEffect transition="in" filter="dissolve">
                                      <p:cBhvr>
                                        <p:cTn id="160" dur="500"/>
                                        <p:tgtEl>
                                          <p:spTgt spid="120969"/>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2" presetClass="entr" presetSubtype="1" fill="hold" grpId="0" nodeType="clickEffect">
                                  <p:stCondLst>
                                    <p:cond delay="0"/>
                                  </p:stCondLst>
                                  <p:childTnLst>
                                    <p:set>
                                      <p:cBhvr>
                                        <p:cTn id="164" dur="1" fill="hold">
                                          <p:stCondLst>
                                            <p:cond delay="0"/>
                                          </p:stCondLst>
                                        </p:cTn>
                                        <p:tgtEl>
                                          <p:spTgt spid="120923"/>
                                        </p:tgtEl>
                                        <p:attrNameLst>
                                          <p:attrName>style.visibility</p:attrName>
                                        </p:attrNameLst>
                                      </p:cBhvr>
                                      <p:to>
                                        <p:strVal val="visible"/>
                                      </p:to>
                                    </p:set>
                                    <p:animEffect transition="in" filter="wipe(up)">
                                      <p:cBhvr>
                                        <p:cTn id="165" dur="500"/>
                                        <p:tgtEl>
                                          <p:spTgt spid="120923"/>
                                        </p:tgtEl>
                                      </p:cBhvr>
                                    </p:animEffect>
                                  </p:childTnLst>
                                </p:cTn>
                              </p:par>
                            </p:childTnLst>
                          </p:cTn>
                        </p:par>
                        <p:par>
                          <p:cTn id="166" fill="hold" nodeType="afterGroup">
                            <p:stCondLst>
                              <p:cond delay="500"/>
                            </p:stCondLst>
                            <p:childTnLst>
                              <p:par>
                                <p:cTn id="167" presetID="9" presetClass="entr" presetSubtype="0" fill="hold" grpId="0" nodeType="afterEffect">
                                  <p:stCondLst>
                                    <p:cond delay="0"/>
                                  </p:stCondLst>
                                  <p:childTnLst>
                                    <p:set>
                                      <p:cBhvr>
                                        <p:cTn id="168" dur="1" fill="hold">
                                          <p:stCondLst>
                                            <p:cond delay="0"/>
                                          </p:stCondLst>
                                        </p:cTn>
                                        <p:tgtEl>
                                          <p:spTgt spid="120887"/>
                                        </p:tgtEl>
                                        <p:attrNameLst>
                                          <p:attrName>style.visibility</p:attrName>
                                        </p:attrNameLst>
                                      </p:cBhvr>
                                      <p:to>
                                        <p:strVal val="visible"/>
                                      </p:to>
                                    </p:set>
                                    <p:animEffect transition="in" filter="dissolve">
                                      <p:cBhvr>
                                        <p:cTn id="169" dur="500"/>
                                        <p:tgtEl>
                                          <p:spTgt spid="120887"/>
                                        </p:tgtEl>
                                      </p:cBhvr>
                                    </p:animEffect>
                                  </p:childTnLst>
                                </p:cTn>
                              </p:par>
                            </p:childTnLst>
                          </p:cTn>
                        </p:par>
                        <p:par>
                          <p:cTn id="170" fill="hold" nodeType="afterGroup">
                            <p:stCondLst>
                              <p:cond delay="1000"/>
                            </p:stCondLst>
                            <p:childTnLst>
                              <p:par>
                                <p:cTn id="171" presetID="22" presetClass="entr" presetSubtype="1" fill="hold" grpId="0" nodeType="afterEffect">
                                  <p:stCondLst>
                                    <p:cond delay="1000"/>
                                  </p:stCondLst>
                                  <p:childTnLst>
                                    <p:set>
                                      <p:cBhvr>
                                        <p:cTn id="172" dur="1" fill="hold">
                                          <p:stCondLst>
                                            <p:cond delay="0"/>
                                          </p:stCondLst>
                                        </p:cTn>
                                        <p:tgtEl>
                                          <p:spTgt spid="120946"/>
                                        </p:tgtEl>
                                        <p:attrNameLst>
                                          <p:attrName>style.visibility</p:attrName>
                                        </p:attrNameLst>
                                      </p:cBhvr>
                                      <p:to>
                                        <p:strVal val="visible"/>
                                      </p:to>
                                    </p:set>
                                    <p:animEffect transition="in" filter="wipe(up)">
                                      <p:cBhvr>
                                        <p:cTn id="173" dur="500"/>
                                        <p:tgtEl>
                                          <p:spTgt spid="120946"/>
                                        </p:tgtEl>
                                      </p:cBhvr>
                                    </p:animEffect>
                                  </p:childTnLst>
                                </p:cTn>
                              </p:par>
                            </p:childTnLst>
                          </p:cTn>
                        </p:par>
                        <p:par>
                          <p:cTn id="174" fill="hold" nodeType="afterGroup">
                            <p:stCondLst>
                              <p:cond delay="2500"/>
                            </p:stCondLst>
                            <p:childTnLst>
                              <p:par>
                                <p:cTn id="175" presetID="9" presetClass="entr" presetSubtype="0" fill="hold" grpId="0" nodeType="afterEffect">
                                  <p:stCondLst>
                                    <p:cond delay="0"/>
                                  </p:stCondLst>
                                  <p:childTnLst>
                                    <p:set>
                                      <p:cBhvr>
                                        <p:cTn id="176" dur="1" fill="hold">
                                          <p:stCondLst>
                                            <p:cond delay="0"/>
                                          </p:stCondLst>
                                        </p:cTn>
                                        <p:tgtEl>
                                          <p:spTgt spid="120933"/>
                                        </p:tgtEl>
                                        <p:attrNameLst>
                                          <p:attrName>style.visibility</p:attrName>
                                        </p:attrNameLst>
                                      </p:cBhvr>
                                      <p:to>
                                        <p:strVal val="visible"/>
                                      </p:to>
                                    </p:set>
                                    <p:animEffect transition="in" filter="dissolve">
                                      <p:cBhvr>
                                        <p:cTn id="177" dur="500"/>
                                        <p:tgtEl>
                                          <p:spTgt spid="120933"/>
                                        </p:tgtEl>
                                      </p:cBhvr>
                                    </p:animEffect>
                                  </p:childTnLst>
                                </p:cTn>
                              </p:par>
                            </p:childTnLst>
                          </p:cTn>
                        </p:par>
                        <p:par>
                          <p:cTn id="178" fill="hold" nodeType="afterGroup">
                            <p:stCondLst>
                              <p:cond delay="3000"/>
                            </p:stCondLst>
                            <p:childTnLst>
                              <p:par>
                                <p:cTn id="179" presetID="22" presetClass="entr" presetSubtype="8" fill="hold" grpId="0" nodeType="afterEffect">
                                  <p:stCondLst>
                                    <p:cond delay="0"/>
                                  </p:stCondLst>
                                  <p:childTnLst>
                                    <p:set>
                                      <p:cBhvr>
                                        <p:cTn id="180" dur="1" fill="hold">
                                          <p:stCondLst>
                                            <p:cond delay="0"/>
                                          </p:stCondLst>
                                        </p:cTn>
                                        <p:tgtEl>
                                          <p:spTgt spid="120964"/>
                                        </p:tgtEl>
                                        <p:attrNameLst>
                                          <p:attrName>style.visibility</p:attrName>
                                        </p:attrNameLst>
                                      </p:cBhvr>
                                      <p:to>
                                        <p:strVal val="visible"/>
                                      </p:to>
                                    </p:set>
                                    <p:animEffect transition="in" filter="wipe(left)">
                                      <p:cBhvr>
                                        <p:cTn id="181" dur="500"/>
                                        <p:tgtEl>
                                          <p:spTgt spid="120964"/>
                                        </p:tgtEl>
                                      </p:cBhvr>
                                    </p:animEffec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22" presetClass="entr" presetSubtype="4" fill="hold" grpId="0" nodeType="clickEffect">
                                  <p:stCondLst>
                                    <p:cond delay="0"/>
                                  </p:stCondLst>
                                  <p:childTnLst>
                                    <p:set>
                                      <p:cBhvr>
                                        <p:cTn id="185" dur="1" fill="hold">
                                          <p:stCondLst>
                                            <p:cond delay="0"/>
                                          </p:stCondLst>
                                        </p:cTn>
                                        <p:tgtEl>
                                          <p:spTgt spid="120897"/>
                                        </p:tgtEl>
                                        <p:attrNameLst>
                                          <p:attrName>style.visibility</p:attrName>
                                        </p:attrNameLst>
                                      </p:cBhvr>
                                      <p:to>
                                        <p:strVal val="visible"/>
                                      </p:to>
                                    </p:set>
                                    <p:animEffect transition="in" filter="wipe(down)">
                                      <p:cBhvr>
                                        <p:cTn id="186" dur="500"/>
                                        <p:tgtEl>
                                          <p:spTgt spid="120897"/>
                                        </p:tgtEl>
                                      </p:cBhvr>
                                    </p:animEffect>
                                  </p:childTnLst>
                                </p:cTn>
                              </p:par>
                            </p:childTnLst>
                          </p:cTn>
                        </p:par>
                        <p:par>
                          <p:cTn id="187" fill="hold" nodeType="afterGroup">
                            <p:stCondLst>
                              <p:cond delay="500"/>
                            </p:stCondLst>
                            <p:childTnLst>
                              <p:par>
                                <p:cTn id="188" presetID="22" presetClass="entr" presetSubtype="2" fill="hold" grpId="0" nodeType="afterEffect">
                                  <p:stCondLst>
                                    <p:cond delay="1000"/>
                                  </p:stCondLst>
                                  <p:childTnLst>
                                    <p:set>
                                      <p:cBhvr>
                                        <p:cTn id="189" dur="1" fill="hold">
                                          <p:stCondLst>
                                            <p:cond delay="0"/>
                                          </p:stCondLst>
                                        </p:cTn>
                                        <p:tgtEl>
                                          <p:spTgt spid="120943"/>
                                        </p:tgtEl>
                                        <p:attrNameLst>
                                          <p:attrName>style.visibility</p:attrName>
                                        </p:attrNameLst>
                                      </p:cBhvr>
                                      <p:to>
                                        <p:strVal val="visible"/>
                                      </p:to>
                                    </p:set>
                                    <p:animEffect transition="in" filter="wipe(right)">
                                      <p:cBhvr>
                                        <p:cTn id="190" dur="500"/>
                                        <p:tgtEl>
                                          <p:spTgt spid="120943"/>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22" presetClass="entr" presetSubtype="2" fill="hold" grpId="0" nodeType="clickEffect">
                                  <p:stCondLst>
                                    <p:cond delay="0"/>
                                  </p:stCondLst>
                                  <p:childTnLst>
                                    <p:set>
                                      <p:cBhvr>
                                        <p:cTn id="194" dur="1" fill="hold">
                                          <p:stCondLst>
                                            <p:cond delay="0"/>
                                          </p:stCondLst>
                                        </p:cTn>
                                        <p:tgtEl>
                                          <p:spTgt spid="120893"/>
                                        </p:tgtEl>
                                        <p:attrNameLst>
                                          <p:attrName>style.visibility</p:attrName>
                                        </p:attrNameLst>
                                      </p:cBhvr>
                                      <p:to>
                                        <p:strVal val="visible"/>
                                      </p:to>
                                    </p:set>
                                    <p:animEffect transition="in" filter="wipe(right)">
                                      <p:cBhvr>
                                        <p:cTn id="195" dur="500"/>
                                        <p:tgtEl>
                                          <p:spTgt spid="120893"/>
                                        </p:tgtEl>
                                      </p:cBhvr>
                                    </p:animEffect>
                                  </p:childTnLst>
                                </p:cTn>
                              </p:par>
                            </p:childTnLst>
                          </p:cTn>
                        </p:par>
                        <p:par>
                          <p:cTn id="196" fill="hold" nodeType="afterGroup">
                            <p:stCondLst>
                              <p:cond delay="500"/>
                            </p:stCondLst>
                            <p:childTnLst>
                              <p:par>
                                <p:cTn id="197" presetID="22" presetClass="entr" presetSubtype="2" fill="hold" grpId="0" nodeType="afterEffect">
                                  <p:stCondLst>
                                    <p:cond delay="1000"/>
                                  </p:stCondLst>
                                  <p:childTnLst>
                                    <p:set>
                                      <p:cBhvr>
                                        <p:cTn id="198" dur="1" fill="hold">
                                          <p:stCondLst>
                                            <p:cond delay="0"/>
                                          </p:stCondLst>
                                        </p:cTn>
                                        <p:tgtEl>
                                          <p:spTgt spid="120939"/>
                                        </p:tgtEl>
                                        <p:attrNameLst>
                                          <p:attrName>style.visibility</p:attrName>
                                        </p:attrNameLst>
                                      </p:cBhvr>
                                      <p:to>
                                        <p:strVal val="visible"/>
                                      </p:to>
                                    </p:set>
                                    <p:animEffect transition="in" filter="wipe(right)">
                                      <p:cBhvr>
                                        <p:cTn id="199" dur="500"/>
                                        <p:tgtEl>
                                          <p:spTgt spid="120939"/>
                                        </p:tgtEl>
                                      </p:cBhvr>
                                    </p:animEffect>
                                  </p:childTnLst>
                                </p:cTn>
                              </p:par>
                            </p:childTnLst>
                          </p:cTn>
                        </p:par>
                      </p:childTnLst>
                    </p:cTn>
                  </p:par>
                  <p:par>
                    <p:cTn id="200" fill="hold" nodeType="clickPar">
                      <p:stCondLst>
                        <p:cond delay="indefinite"/>
                      </p:stCondLst>
                      <p:childTnLst>
                        <p:par>
                          <p:cTn id="201" fill="hold" nodeType="withGroup">
                            <p:stCondLst>
                              <p:cond delay="0"/>
                            </p:stCondLst>
                            <p:childTnLst>
                              <p:par>
                                <p:cTn id="202" presetID="9" presetClass="entr" presetSubtype="0" fill="hold" grpId="0" nodeType="clickEffect">
                                  <p:stCondLst>
                                    <p:cond delay="0"/>
                                  </p:stCondLst>
                                  <p:childTnLst>
                                    <p:set>
                                      <p:cBhvr>
                                        <p:cTn id="203" dur="1" fill="hold">
                                          <p:stCondLst>
                                            <p:cond delay="0"/>
                                          </p:stCondLst>
                                        </p:cTn>
                                        <p:tgtEl>
                                          <p:spTgt spid="120910"/>
                                        </p:tgtEl>
                                        <p:attrNameLst>
                                          <p:attrName>style.visibility</p:attrName>
                                        </p:attrNameLst>
                                      </p:cBhvr>
                                      <p:to>
                                        <p:strVal val="visible"/>
                                      </p:to>
                                    </p:set>
                                    <p:animEffect transition="in" filter="dissolve">
                                      <p:cBhvr>
                                        <p:cTn id="204" dur="500"/>
                                        <p:tgtEl>
                                          <p:spTgt spid="120910"/>
                                        </p:tgtEl>
                                      </p:cBhvr>
                                    </p:animEffect>
                                  </p:childTnLst>
                                </p:cTn>
                              </p:par>
                            </p:childTnLst>
                          </p:cTn>
                        </p:par>
                        <p:par>
                          <p:cTn id="205" fill="hold" nodeType="afterGroup">
                            <p:stCondLst>
                              <p:cond delay="500"/>
                            </p:stCondLst>
                            <p:childTnLst>
                              <p:par>
                                <p:cTn id="206" presetID="9" presetClass="entr" presetSubtype="0" fill="hold" grpId="0" nodeType="afterEffect">
                                  <p:stCondLst>
                                    <p:cond delay="1000"/>
                                  </p:stCondLst>
                                  <p:childTnLst>
                                    <p:set>
                                      <p:cBhvr>
                                        <p:cTn id="207" dur="1" fill="hold">
                                          <p:stCondLst>
                                            <p:cond delay="0"/>
                                          </p:stCondLst>
                                        </p:cTn>
                                        <p:tgtEl>
                                          <p:spTgt spid="120954"/>
                                        </p:tgtEl>
                                        <p:attrNameLst>
                                          <p:attrName>style.visibility</p:attrName>
                                        </p:attrNameLst>
                                      </p:cBhvr>
                                      <p:to>
                                        <p:strVal val="visible"/>
                                      </p:to>
                                    </p:set>
                                    <p:animEffect transition="in" filter="dissolve">
                                      <p:cBhvr>
                                        <p:cTn id="208" dur="500"/>
                                        <p:tgtEl>
                                          <p:spTgt spid="120954"/>
                                        </p:tgtEl>
                                      </p:cBhvr>
                                    </p:animEffect>
                                  </p:childTnLst>
                                </p:cTn>
                              </p:par>
                            </p:childTnLst>
                          </p:cTn>
                        </p:par>
                        <p:par>
                          <p:cTn id="209" fill="hold" nodeType="afterGroup">
                            <p:stCondLst>
                              <p:cond delay="2000"/>
                            </p:stCondLst>
                            <p:childTnLst>
                              <p:par>
                                <p:cTn id="210" presetID="9" presetClass="entr" presetSubtype="0" fill="hold" grpId="0" nodeType="afterEffect">
                                  <p:stCondLst>
                                    <p:cond delay="1000"/>
                                  </p:stCondLst>
                                  <p:childTnLst>
                                    <p:set>
                                      <p:cBhvr>
                                        <p:cTn id="211" dur="1" fill="hold">
                                          <p:stCondLst>
                                            <p:cond delay="0"/>
                                          </p:stCondLst>
                                        </p:cTn>
                                        <p:tgtEl>
                                          <p:spTgt spid="120970"/>
                                        </p:tgtEl>
                                        <p:attrNameLst>
                                          <p:attrName>style.visibility</p:attrName>
                                        </p:attrNameLst>
                                      </p:cBhvr>
                                      <p:to>
                                        <p:strVal val="visible"/>
                                      </p:to>
                                    </p:set>
                                    <p:animEffect transition="in" filter="dissolve">
                                      <p:cBhvr>
                                        <p:cTn id="212" dur="500"/>
                                        <p:tgtEl>
                                          <p:spTgt spid="120970"/>
                                        </p:tgtEl>
                                      </p:cBhvr>
                                    </p:animEffect>
                                  </p:childTnLst>
                                </p:cTn>
                              </p:par>
                            </p:childTnLst>
                          </p:cTn>
                        </p:par>
                      </p:childTnLst>
                    </p:cTn>
                  </p:par>
                  <p:par>
                    <p:cTn id="213" fill="hold" nodeType="clickPar">
                      <p:stCondLst>
                        <p:cond delay="indefinite"/>
                      </p:stCondLst>
                      <p:childTnLst>
                        <p:par>
                          <p:cTn id="214" fill="hold" nodeType="withGroup">
                            <p:stCondLst>
                              <p:cond delay="0"/>
                            </p:stCondLst>
                            <p:childTnLst>
                              <p:par>
                                <p:cTn id="215" presetID="9" presetClass="entr" presetSubtype="0" fill="hold" grpId="0" nodeType="clickEffect">
                                  <p:stCondLst>
                                    <p:cond delay="0"/>
                                  </p:stCondLst>
                                  <p:childTnLst>
                                    <p:set>
                                      <p:cBhvr>
                                        <p:cTn id="216" dur="1" fill="hold">
                                          <p:stCondLst>
                                            <p:cond delay="0"/>
                                          </p:stCondLst>
                                        </p:cTn>
                                        <p:tgtEl>
                                          <p:spTgt spid="120905"/>
                                        </p:tgtEl>
                                        <p:attrNameLst>
                                          <p:attrName>style.visibility</p:attrName>
                                        </p:attrNameLst>
                                      </p:cBhvr>
                                      <p:to>
                                        <p:strVal val="visible"/>
                                      </p:to>
                                    </p:set>
                                    <p:animEffect transition="in" filter="dissolve">
                                      <p:cBhvr>
                                        <p:cTn id="217" dur="500"/>
                                        <p:tgtEl>
                                          <p:spTgt spid="120905"/>
                                        </p:tgtEl>
                                      </p:cBhvr>
                                    </p:animEffect>
                                  </p:childTnLst>
                                </p:cTn>
                              </p:par>
                            </p:childTnLst>
                          </p:cTn>
                        </p:par>
                        <p:par>
                          <p:cTn id="218" fill="hold" nodeType="afterGroup">
                            <p:stCondLst>
                              <p:cond delay="500"/>
                            </p:stCondLst>
                            <p:childTnLst>
                              <p:par>
                                <p:cTn id="219" presetID="9" presetClass="entr" presetSubtype="0" fill="hold" grpId="0" nodeType="afterEffect">
                                  <p:stCondLst>
                                    <p:cond delay="1000"/>
                                  </p:stCondLst>
                                  <p:childTnLst>
                                    <p:set>
                                      <p:cBhvr>
                                        <p:cTn id="220" dur="1" fill="hold">
                                          <p:stCondLst>
                                            <p:cond delay="0"/>
                                          </p:stCondLst>
                                        </p:cTn>
                                        <p:tgtEl>
                                          <p:spTgt spid="120955"/>
                                        </p:tgtEl>
                                        <p:attrNameLst>
                                          <p:attrName>style.visibility</p:attrName>
                                        </p:attrNameLst>
                                      </p:cBhvr>
                                      <p:to>
                                        <p:strVal val="visible"/>
                                      </p:to>
                                    </p:set>
                                    <p:animEffect transition="in" filter="dissolve">
                                      <p:cBhvr>
                                        <p:cTn id="221" dur="500"/>
                                        <p:tgtEl>
                                          <p:spTgt spid="120955"/>
                                        </p:tgtEl>
                                      </p:cBhvr>
                                    </p:animEffect>
                                  </p:childTnLst>
                                </p:cTn>
                              </p:par>
                            </p:childTnLst>
                          </p:cTn>
                        </p:par>
                        <p:par>
                          <p:cTn id="222" fill="hold" nodeType="afterGroup">
                            <p:stCondLst>
                              <p:cond delay="2000"/>
                            </p:stCondLst>
                            <p:childTnLst>
                              <p:par>
                                <p:cTn id="223" presetID="9" presetClass="entr" presetSubtype="0" fill="hold" grpId="0" nodeType="afterEffect">
                                  <p:stCondLst>
                                    <p:cond delay="1000"/>
                                  </p:stCondLst>
                                  <p:childTnLst>
                                    <p:set>
                                      <p:cBhvr>
                                        <p:cTn id="224" dur="1" fill="hold">
                                          <p:stCondLst>
                                            <p:cond delay="0"/>
                                          </p:stCondLst>
                                        </p:cTn>
                                        <p:tgtEl>
                                          <p:spTgt spid="120971"/>
                                        </p:tgtEl>
                                        <p:attrNameLst>
                                          <p:attrName>style.visibility</p:attrName>
                                        </p:attrNameLst>
                                      </p:cBhvr>
                                      <p:to>
                                        <p:strVal val="visible"/>
                                      </p:to>
                                    </p:set>
                                    <p:animEffect transition="in" filter="dissolve">
                                      <p:cBhvr>
                                        <p:cTn id="225" dur="500"/>
                                        <p:tgtEl>
                                          <p:spTgt spid="120971"/>
                                        </p:tgtEl>
                                      </p:cBhvr>
                                    </p:animEffect>
                                  </p:childTnLst>
                                </p:cTn>
                              </p:par>
                            </p:childTnLst>
                          </p:cTn>
                        </p:par>
                      </p:childTnLst>
                    </p:cTn>
                  </p:par>
                  <p:par>
                    <p:cTn id="226" fill="hold" nodeType="clickPar">
                      <p:stCondLst>
                        <p:cond delay="indefinite"/>
                      </p:stCondLst>
                      <p:childTnLst>
                        <p:par>
                          <p:cTn id="227" fill="hold" nodeType="withGroup">
                            <p:stCondLst>
                              <p:cond delay="0"/>
                            </p:stCondLst>
                            <p:childTnLst>
                              <p:par>
                                <p:cTn id="228" presetID="22" presetClass="entr" presetSubtype="1" fill="hold" grpId="0" nodeType="clickEffect">
                                  <p:stCondLst>
                                    <p:cond delay="0"/>
                                  </p:stCondLst>
                                  <p:childTnLst>
                                    <p:set>
                                      <p:cBhvr>
                                        <p:cTn id="229" dur="1" fill="hold">
                                          <p:stCondLst>
                                            <p:cond delay="0"/>
                                          </p:stCondLst>
                                        </p:cTn>
                                        <p:tgtEl>
                                          <p:spTgt spid="120899"/>
                                        </p:tgtEl>
                                        <p:attrNameLst>
                                          <p:attrName>style.visibility</p:attrName>
                                        </p:attrNameLst>
                                      </p:cBhvr>
                                      <p:to>
                                        <p:strVal val="visible"/>
                                      </p:to>
                                    </p:set>
                                    <p:animEffect transition="in" filter="wipe(up)">
                                      <p:cBhvr>
                                        <p:cTn id="230" dur="500"/>
                                        <p:tgtEl>
                                          <p:spTgt spid="120899"/>
                                        </p:tgtEl>
                                      </p:cBhvr>
                                    </p:animEffect>
                                  </p:childTnLst>
                                </p:cTn>
                              </p:par>
                            </p:childTnLst>
                          </p:cTn>
                        </p:par>
                        <p:par>
                          <p:cTn id="231" fill="hold" nodeType="afterGroup">
                            <p:stCondLst>
                              <p:cond delay="500"/>
                            </p:stCondLst>
                            <p:childTnLst>
                              <p:par>
                                <p:cTn id="232" presetID="22" presetClass="entr" presetSubtype="1" fill="hold" grpId="0" nodeType="afterEffect">
                                  <p:stCondLst>
                                    <p:cond delay="1000"/>
                                  </p:stCondLst>
                                  <p:childTnLst>
                                    <p:set>
                                      <p:cBhvr>
                                        <p:cTn id="233" dur="1" fill="hold">
                                          <p:stCondLst>
                                            <p:cond delay="0"/>
                                          </p:stCondLst>
                                        </p:cTn>
                                        <p:tgtEl>
                                          <p:spTgt spid="120945"/>
                                        </p:tgtEl>
                                        <p:attrNameLst>
                                          <p:attrName>style.visibility</p:attrName>
                                        </p:attrNameLst>
                                      </p:cBhvr>
                                      <p:to>
                                        <p:strVal val="visible"/>
                                      </p:to>
                                    </p:set>
                                    <p:animEffect transition="in" filter="wipe(up)">
                                      <p:cBhvr>
                                        <p:cTn id="234" dur="500"/>
                                        <p:tgtEl>
                                          <p:spTgt spid="120945"/>
                                        </p:tgtEl>
                                      </p:cBhvr>
                                    </p:animEffect>
                                  </p:childTnLst>
                                </p:cTn>
                              </p:par>
                            </p:childTnLst>
                          </p:cTn>
                        </p:par>
                      </p:childTnLst>
                    </p:cTn>
                  </p:par>
                  <p:par>
                    <p:cTn id="235" fill="hold" nodeType="clickPar">
                      <p:stCondLst>
                        <p:cond delay="indefinite"/>
                      </p:stCondLst>
                      <p:childTnLst>
                        <p:par>
                          <p:cTn id="236" fill="hold" nodeType="withGroup">
                            <p:stCondLst>
                              <p:cond delay="0"/>
                            </p:stCondLst>
                            <p:childTnLst>
                              <p:par>
                                <p:cTn id="237" presetID="9" presetClass="entr" presetSubtype="0" fill="hold" grpId="0" nodeType="clickEffect">
                                  <p:stCondLst>
                                    <p:cond delay="0"/>
                                  </p:stCondLst>
                                  <p:childTnLst>
                                    <p:set>
                                      <p:cBhvr>
                                        <p:cTn id="238" dur="1" fill="hold">
                                          <p:stCondLst>
                                            <p:cond delay="0"/>
                                          </p:stCondLst>
                                        </p:cTn>
                                        <p:tgtEl>
                                          <p:spTgt spid="120904"/>
                                        </p:tgtEl>
                                        <p:attrNameLst>
                                          <p:attrName>style.visibility</p:attrName>
                                        </p:attrNameLst>
                                      </p:cBhvr>
                                      <p:to>
                                        <p:strVal val="visible"/>
                                      </p:to>
                                    </p:set>
                                    <p:animEffect transition="in" filter="dissolve">
                                      <p:cBhvr>
                                        <p:cTn id="239" dur="500"/>
                                        <p:tgtEl>
                                          <p:spTgt spid="120904"/>
                                        </p:tgtEl>
                                      </p:cBhvr>
                                    </p:animEffect>
                                  </p:childTnLst>
                                </p:cTn>
                              </p:par>
                            </p:childTnLst>
                          </p:cTn>
                        </p:par>
                        <p:par>
                          <p:cTn id="240" fill="hold" nodeType="afterGroup">
                            <p:stCondLst>
                              <p:cond delay="500"/>
                            </p:stCondLst>
                            <p:childTnLst>
                              <p:par>
                                <p:cTn id="241" presetID="9" presetClass="entr" presetSubtype="0" fill="hold" grpId="0" nodeType="afterEffect">
                                  <p:stCondLst>
                                    <p:cond delay="1000"/>
                                  </p:stCondLst>
                                  <p:childTnLst>
                                    <p:set>
                                      <p:cBhvr>
                                        <p:cTn id="242" dur="1" fill="hold">
                                          <p:stCondLst>
                                            <p:cond delay="0"/>
                                          </p:stCondLst>
                                        </p:cTn>
                                        <p:tgtEl>
                                          <p:spTgt spid="120956"/>
                                        </p:tgtEl>
                                        <p:attrNameLst>
                                          <p:attrName>style.visibility</p:attrName>
                                        </p:attrNameLst>
                                      </p:cBhvr>
                                      <p:to>
                                        <p:strVal val="visible"/>
                                      </p:to>
                                    </p:set>
                                    <p:animEffect transition="in" filter="dissolve">
                                      <p:cBhvr>
                                        <p:cTn id="243" dur="500"/>
                                        <p:tgtEl>
                                          <p:spTgt spid="120956"/>
                                        </p:tgtEl>
                                      </p:cBhvr>
                                    </p:animEffect>
                                  </p:childTnLst>
                                </p:cTn>
                              </p:par>
                            </p:childTnLst>
                          </p:cTn>
                        </p:par>
                        <p:par>
                          <p:cTn id="244" fill="hold" nodeType="afterGroup">
                            <p:stCondLst>
                              <p:cond delay="2000"/>
                            </p:stCondLst>
                            <p:childTnLst>
                              <p:par>
                                <p:cTn id="245" presetID="9" presetClass="entr" presetSubtype="0" fill="hold" grpId="0" nodeType="afterEffect">
                                  <p:stCondLst>
                                    <p:cond delay="1000"/>
                                  </p:stCondLst>
                                  <p:childTnLst>
                                    <p:set>
                                      <p:cBhvr>
                                        <p:cTn id="246" dur="1" fill="hold">
                                          <p:stCondLst>
                                            <p:cond delay="0"/>
                                          </p:stCondLst>
                                        </p:cTn>
                                        <p:tgtEl>
                                          <p:spTgt spid="120972"/>
                                        </p:tgtEl>
                                        <p:attrNameLst>
                                          <p:attrName>style.visibility</p:attrName>
                                        </p:attrNameLst>
                                      </p:cBhvr>
                                      <p:to>
                                        <p:strVal val="visible"/>
                                      </p:to>
                                    </p:set>
                                    <p:animEffect transition="in" filter="dissolve">
                                      <p:cBhvr>
                                        <p:cTn id="247" dur="500"/>
                                        <p:tgtEl>
                                          <p:spTgt spid="120972"/>
                                        </p:tgtEl>
                                      </p:cBhvr>
                                    </p:animEffect>
                                  </p:childTnLst>
                                </p:cTn>
                              </p:par>
                            </p:childTnLst>
                          </p:cTn>
                        </p:par>
                      </p:childTnLst>
                    </p:cTn>
                  </p:par>
                  <p:par>
                    <p:cTn id="248" fill="hold" nodeType="clickPar">
                      <p:stCondLst>
                        <p:cond delay="indefinite"/>
                      </p:stCondLst>
                      <p:childTnLst>
                        <p:par>
                          <p:cTn id="249" fill="hold" nodeType="withGroup">
                            <p:stCondLst>
                              <p:cond delay="0"/>
                            </p:stCondLst>
                            <p:childTnLst>
                              <p:par>
                                <p:cTn id="250" presetID="9" presetClass="entr" presetSubtype="0" fill="hold" grpId="0" nodeType="clickEffect">
                                  <p:stCondLst>
                                    <p:cond delay="0"/>
                                  </p:stCondLst>
                                  <p:childTnLst>
                                    <p:set>
                                      <p:cBhvr>
                                        <p:cTn id="251" dur="1" fill="hold">
                                          <p:stCondLst>
                                            <p:cond delay="0"/>
                                          </p:stCondLst>
                                        </p:cTn>
                                        <p:tgtEl>
                                          <p:spTgt spid="120884"/>
                                        </p:tgtEl>
                                        <p:attrNameLst>
                                          <p:attrName>style.visibility</p:attrName>
                                        </p:attrNameLst>
                                      </p:cBhvr>
                                      <p:to>
                                        <p:strVal val="visible"/>
                                      </p:to>
                                    </p:set>
                                    <p:animEffect transition="in" filter="dissolve">
                                      <p:cBhvr>
                                        <p:cTn id="252" dur="500"/>
                                        <p:tgtEl>
                                          <p:spTgt spid="120884"/>
                                        </p:tgtEl>
                                      </p:cBhvr>
                                    </p:animEffect>
                                  </p:childTnLst>
                                </p:cTn>
                              </p:par>
                            </p:childTnLst>
                          </p:cTn>
                        </p:par>
                        <p:par>
                          <p:cTn id="253" fill="hold" nodeType="afterGroup">
                            <p:stCondLst>
                              <p:cond delay="500"/>
                            </p:stCondLst>
                            <p:childTnLst>
                              <p:par>
                                <p:cTn id="254" presetID="9" presetClass="entr" presetSubtype="0" fill="hold" grpId="0" nodeType="afterEffect">
                                  <p:stCondLst>
                                    <p:cond delay="1000"/>
                                  </p:stCondLst>
                                  <p:childTnLst>
                                    <p:set>
                                      <p:cBhvr>
                                        <p:cTn id="255" dur="1" fill="hold">
                                          <p:stCondLst>
                                            <p:cond delay="0"/>
                                          </p:stCondLst>
                                        </p:cTn>
                                        <p:tgtEl>
                                          <p:spTgt spid="120930"/>
                                        </p:tgtEl>
                                        <p:attrNameLst>
                                          <p:attrName>style.visibility</p:attrName>
                                        </p:attrNameLst>
                                      </p:cBhvr>
                                      <p:to>
                                        <p:strVal val="visible"/>
                                      </p:to>
                                    </p:set>
                                    <p:animEffect transition="in" filter="dissolve">
                                      <p:cBhvr>
                                        <p:cTn id="256" dur="500"/>
                                        <p:tgtEl>
                                          <p:spTgt spid="120930"/>
                                        </p:tgtEl>
                                      </p:cBhvr>
                                    </p:animEffect>
                                  </p:childTnLst>
                                </p:cTn>
                              </p:par>
                            </p:childTnLst>
                          </p:cTn>
                        </p:par>
                        <p:par>
                          <p:cTn id="257" fill="hold" nodeType="afterGroup">
                            <p:stCondLst>
                              <p:cond delay="2000"/>
                            </p:stCondLst>
                            <p:childTnLst>
                              <p:par>
                                <p:cTn id="258" presetID="22" presetClass="entr" presetSubtype="8" fill="hold" grpId="0" nodeType="afterEffect">
                                  <p:stCondLst>
                                    <p:cond delay="0"/>
                                  </p:stCondLst>
                                  <p:childTnLst>
                                    <p:set>
                                      <p:cBhvr>
                                        <p:cTn id="259" dur="1" fill="hold">
                                          <p:stCondLst>
                                            <p:cond delay="0"/>
                                          </p:stCondLst>
                                        </p:cTn>
                                        <p:tgtEl>
                                          <p:spTgt spid="120965"/>
                                        </p:tgtEl>
                                        <p:attrNameLst>
                                          <p:attrName>style.visibility</p:attrName>
                                        </p:attrNameLst>
                                      </p:cBhvr>
                                      <p:to>
                                        <p:strVal val="visible"/>
                                      </p:to>
                                    </p:set>
                                    <p:animEffect transition="in" filter="wipe(left)">
                                      <p:cBhvr>
                                        <p:cTn id="260" dur="500"/>
                                        <p:tgtEl>
                                          <p:spTgt spid="120965"/>
                                        </p:tgtEl>
                                      </p:cBhvr>
                                    </p:animEffect>
                                  </p:childTnLst>
                                </p:cTn>
                              </p:par>
                            </p:childTnLst>
                          </p:cTn>
                        </p:par>
                      </p:childTnLst>
                    </p:cTn>
                  </p:par>
                  <p:par>
                    <p:cTn id="261" fill="hold" nodeType="clickPar">
                      <p:stCondLst>
                        <p:cond delay="indefinite"/>
                      </p:stCondLst>
                      <p:childTnLst>
                        <p:par>
                          <p:cTn id="262" fill="hold" nodeType="withGroup">
                            <p:stCondLst>
                              <p:cond delay="0"/>
                            </p:stCondLst>
                            <p:childTnLst>
                              <p:par>
                                <p:cTn id="263" presetID="22" presetClass="entr" presetSubtype="2" fill="hold" grpId="0" nodeType="clickEffect">
                                  <p:stCondLst>
                                    <p:cond delay="0"/>
                                  </p:stCondLst>
                                  <p:childTnLst>
                                    <p:set>
                                      <p:cBhvr>
                                        <p:cTn id="264" dur="1" fill="hold">
                                          <p:stCondLst>
                                            <p:cond delay="0"/>
                                          </p:stCondLst>
                                        </p:cTn>
                                        <p:tgtEl>
                                          <p:spTgt spid="120891"/>
                                        </p:tgtEl>
                                        <p:attrNameLst>
                                          <p:attrName>style.visibility</p:attrName>
                                        </p:attrNameLst>
                                      </p:cBhvr>
                                      <p:to>
                                        <p:strVal val="visible"/>
                                      </p:to>
                                    </p:set>
                                    <p:animEffect transition="in" filter="wipe(right)">
                                      <p:cBhvr>
                                        <p:cTn id="265" dur="500"/>
                                        <p:tgtEl>
                                          <p:spTgt spid="120891"/>
                                        </p:tgtEl>
                                      </p:cBhvr>
                                    </p:animEffect>
                                  </p:childTnLst>
                                </p:cTn>
                              </p:par>
                            </p:childTnLst>
                          </p:cTn>
                        </p:par>
                        <p:par>
                          <p:cTn id="266" fill="hold" nodeType="afterGroup">
                            <p:stCondLst>
                              <p:cond delay="500"/>
                            </p:stCondLst>
                            <p:childTnLst>
                              <p:par>
                                <p:cTn id="267" presetID="22" presetClass="entr" presetSubtype="2" fill="hold" grpId="0" nodeType="afterEffect">
                                  <p:stCondLst>
                                    <p:cond delay="1000"/>
                                  </p:stCondLst>
                                  <p:childTnLst>
                                    <p:set>
                                      <p:cBhvr>
                                        <p:cTn id="268" dur="1" fill="hold">
                                          <p:stCondLst>
                                            <p:cond delay="0"/>
                                          </p:stCondLst>
                                        </p:cTn>
                                        <p:tgtEl>
                                          <p:spTgt spid="120937"/>
                                        </p:tgtEl>
                                        <p:attrNameLst>
                                          <p:attrName>style.visibility</p:attrName>
                                        </p:attrNameLst>
                                      </p:cBhvr>
                                      <p:to>
                                        <p:strVal val="visible"/>
                                      </p:to>
                                    </p:set>
                                    <p:animEffect transition="in" filter="wipe(right)">
                                      <p:cBhvr>
                                        <p:cTn id="269" dur="500"/>
                                        <p:tgtEl>
                                          <p:spTgt spid="120937"/>
                                        </p:tgtEl>
                                      </p:cBhvr>
                                    </p:animEffect>
                                  </p:childTnLst>
                                </p:cTn>
                              </p:par>
                            </p:childTnLst>
                          </p:cTn>
                        </p:par>
                      </p:childTnLst>
                    </p:cTn>
                  </p:par>
                  <p:par>
                    <p:cTn id="270" fill="hold" nodeType="clickPar">
                      <p:stCondLst>
                        <p:cond delay="indefinite"/>
                      </p:stCondLst>
                      <p:childTnLst>
                        <p:par>
                          <p:cTn id="271" fill="hold" nodeType="withGroup">
                            <p:stCondLst>
                              <p:cond delay="0"/>
                            </p:stCondLst>
                            <p:childTnLst>
                              <p:par>
                                <p:cTn id="272" presetID="22" presetClass="entr" presetSubtype="1" fill="hold" grpId="0" nodeType="clickEffect">
                                  <p:stCondLst>
                                    <p:cond delay="0"/>
                                  </p:stCondLst>
                                  <p:childTnLst>
                                    <p:set>
                                      <p:cBhvr>
                                        <p:cTn id="273" dur="1" fill="hold">
                                          <p:stCondLst>
                                            <p:cond delay="0"/>
                                          </p:stCondLst>
                                        </p:cTn>
                                        <p:tgtEl>
                                          <p:spTgt spid="120901"/>
                                        </p:tgtEl>
                                        <p:attrNameLst>
                                          <p:attrName>style.visibility</p:attrName>
                                        </p:attrNameLst>
                                      </p:cBhvr>
                                      <p:to>
                                        <p:strVal val="visible"/>
                                      </p:to>
                                    </p:set>
                                    <p:animEffect transition="in" filter="wipe(up)">
                                      <p:cBhvr>
                                        <p:cTn id="274" dur="500"/>
                                        <p:tgtEl>
                                          <p:spTgt spid="120901"/>
                                        </p:tgtEl>
                                      </p:cBhvr>
                                    </p:animEffect>
                                  </p:childTnLst>
                                </p:cTn>
                              </p:par>
                            </p:childTnLst>
                          </p:cTn>
                        </p:par>
                        <p:par>
                          <p:cTn id="275" fill="hold" nodeType="afterGroup">
                            <p:stCondLst>
                              <p:cond delay="500"/>
                            </p:stCondLst>
                            <p:childTnLst>
                              <p:par>
                                <p:cTn id="276" presetID="22" presetClass="entr" presetSubtype="2" fill="hold" grpId="0" nodeType="afterEffect">
                                  <p:stCondLst>
                                    <p:cond delay="1000"/>
                                  </p:stCondLst>
                                  <p:childTnLst>
                                    <p:set>
                                      <p:cBhvr>
                                        <p:cTn id="277" dur="1" fill="hold">
                                          <p:stCondLst>
                                            <p:cond delay="0"/>
                                          </p:stCondLst>
                                        </p:cTn>
                                        <p:tgtEl>
                                          <p:spTgt spid="120947"/>
                                        </p:tgtEl>
                                        <p:attrNameLst>
                                          <p:attrName>style.visibility</p:attrName>
                                        </p:attrNameLst>
                                      </p:cBhvr>
                                      <p:to>
                                        <p:strVal val="visible"/>
                                      </p:to>
                                    </p:set>
                                    <p:animEffect transition="in" filter="wipe(right)">
                                      <p:cBhvr>
                                        <p:cTn id="278" dur="500"/>
                                        <p:tgtEl>
                                          <p:spTgt spid="120947"/>
                                        </p:tgtEl>
                                      </p:cBhvr>
                                    </p:animEffect>
                                  </p:childTnLst>
                                </p:cTn>
                              </p:par>
                            </p:childTnLst>
                          </p:cTn>
                        </p:par>
                      </p:childTnLst>
                    </p:cTn>
                  </p:par>
                  <p:par>
                    <p:cTn id="279" fill="hold" nodeType="clickPar">
                      <p:stCondLst>
                        <p:cond delay="indefinite"/>
                      </p:stCondLst>
                      <p:childTnLst>
                        <p:par>
                          <p:cTn id="280" fill="hold" nodeType="withGroup">
                            <p:stCondLst>
                              <p:cond delay="0"/>
                            </p:stCondLst>
                            <p:childTnLst>
                              <p:par>
                                <p:cTn id="281" presetID="22" presetClass="entr" presetSubtype="1" fill="hold" grpId="0" nodeType="clickEffect">
                                  <p:stCondLst>
                                    <p:cond delay="0"/>
                                  </p:stCondLst>
                                  <p:childTnLst>
                                    <p:set>
                                      <p:cBhvr>
                                        <p:cTn id="282" dur="1" fill="hold">
                                          <p:stCondLst>
                                            <p:cond delay="0"/>
                                          </p:stCondLst>
                                        </p:cTn>
                                        <p:tgtEl>
                                          <p:spTgt spid="120921"/>
                                        </p:tgtEl>
                                        <p:attrNameLst>
                                          <p:attrName>style.visibility</p:attrName>
                                        </p:attrNameLst>
                                      </p:cBhvr>
                                      <p:to>
                                        <p:strVal val="visible"/>
                                      </p:to>
                                    </p:set>
                                    <p:animEffect transition="in" filter="wipe(up)">
                                      <p:cBhvr>
                                        <p:cTn id="283" dur="500"/>
                                        <p:tgtEl>
                                          <p:spTgt spid="120921"/>
                                        </p:tgtEl>
                                      </p:cBhvr>
                                    </p:animEffect>
                                  </p:childTnLst>
                                </p:cTn>
                              </p:par>
                            </p:childTnLst>
                          </p:cTn>
                        </p:par>
                        <p:par>
                          <p:cTn id="284" fill="hold" nodeType="afterGroup">
                            <p:stCondLst>
                              <p:cond delay="500"/>
                            </p:stCondLst>
                            <p:childTnLst>
                              <p:par>
                                <p:cTn id="285" presetID="9" presetClass="entr" presetSubtype="0" fill="hold" grpId="0" nodeType="afterEffect">
                                  <p:stCondLst>
                                    <p:cond delay="0"/>
                                  </p:stCondLst>
                                  <p:childTnLst>
                                    <p:set>
                                      <p:cBhvr>
                                        <p:cTn id="286" dur="1" fill="hold">
                                          <p:stCondLst>
                                            <p:cond delay="0"/>
                                          </p:stCondLst>
                                        </p:cTn>
                                        <p:tgtEl>
                                          <p:spTgt spid="120888"/>
                                        </p:tgtEl>
                                        <p:attrNameLst>
                                          <p:attrName>style.visibility</p:attrName>
                                        </p:attrNameLst>
                                      </p:cBhvr>
                                      <p:to>
                                        <p:strVal val="visible"/>
                                      </p:to>
                                    </p:set>
                                    <p:animEffect transition="in" filter="dissolve">
                                      <p:cBhvr>
                                        <p:cTn id="287" dur="500"/>
                                        <p:tgtEl>
                                          <p:spTgt spid="120888"/>
                                        </p:tgtEl>
                                      </p:cBhvr>
                                    </p:animEffect>
                                  </p:childTnLst>
                                </p:cTn>
                              </p:par>
                            </p:childTnLst>
                          </p:cTn>
                        </p:par>
                        <p:par>
                          <p:cTn id="288" fill="hold" nodeType="afterGroup">
                            <p:stCondLst>
                              <p:cond delay="1000"/>
                            </p:stCondLst>
                            <p:childTnLst>
                              <p:par>
                                <p:cTn id="289" presetID="22" presetClass="entr" presetSubtype="1" fill="hold" grpId="0" nodeType="afterEffect">
                                  <p:stCondLst>
                                    <p:cond delay="1000"/>
                                  </p:stCondLst>
                                  <p:childTnLst>
                                    <p:set>
                                      <p:cBhvr>
                                        <p:cTn id="290" dur="1" fill="hold">
                                          <p:stCondLst>
                                            <p:cond delay="0"/>
                                          </p:stCondLst>
                                        </p:cTn>
                                        <p:tgtEl>
                                          <p:spTgt spid="120944"/>
                                        </p:tgtEl>
                                        <p:attrNameLst>
                                          <p:attrName>style.visibility</p:attrName>
                                        </p:attrNameLst>
                                      </p:cBhvr>
                                      <p:to>
                                        <p:strVal val="visible"/>
                                      </p:to>
                                    </p:set>
                                    <p:animEffect transition="in" filter="wipe(up)">
                                      <p:cBhvr>
                                        <p:cTn id="291" dur="500"/>
                                        <p:tgtEl>
                                          <p:spTgt spid="120944"/>
                                        </p:tgtEl>
                                      </p:cBhvr>
                                    </p:animEffect>
                                  </p:childTnLst>
                                </p:cTn>
                              </p:par>
                            </p:childTnLst>
                          </p:cTn>
                        </p:par>
                        <p:par>
                          <p:cTn id="292" fill="hold" nodeType="afterGroup">
                            <p:stCondLst>
                              <p:cond delay="2500"/>
                            </p:stCondLst>
                            <p:childTnLst>
                              <p:par>
                                <p:cTn id="293" presetID="9" presetClass="entr" presetSubtype="0" fill="hold" grpId="0" nodeType="afterEffect">
                                  <p:stCondLst>
                                    <p:cond delay="0"/>
                                  </p:stCondLst>
                                  <p:childTnLst>
                                    <p:set>
                                      <p:cBhvr>
                                        <p:cTn id="294" dur="1" fill="hold">
                                          <p:stCondLst>
                                            <p:cond delay="0"/>
                                          </p:stCondLst>
                                        </p:cTn>
                                        <p:tgtEl>
                                          <p:spTgt spid="120934"/>
                                        </p:tgtEl>
                                        <p:attrNameLst>
                                          <p:attrName>style.visibility</p:attrName>
                                        </p:attrNameLst>
                                      </p:cBhvr>
                                      <p:to>
                                        <p:strVal val="visible"/>
                                      </p:to>
                                    </p:set>
                                    <p:animEffect transition="in" filter="dissolve">
                                      <p:cBhvr>
                                        <p:cTn id="295" dur="500"/>
                                        <p:tgtEl>
                                          <p:spTgt spid="120934"/>
                                        </p:tgtEl>
                                      </p:cBhvr>
                                    </p:animEffect>
                                  </p:childTnLst>
                                </p:cTn>
                              </p:par>
                            </p:childTnLst>
                          </p:cTn>
                        </p:par>
                        <p:par>
                          <p:cTn id="296" fill="hold" nodeType="afterGroup">
                            <p:stCondLst>
                              <p:cond delay="3000"/>
                            </p:stCondLst>
                            <p:childTnLst>
                              <p:par>
                                <p:cTn id="297" presetID="22" presetClass="entr" presetSubtype="8" fill="hold" grpId="0" nodeType="afterEffect">
                                  <p:stCondLst>
                                    <p:cond delay="0"/>
                                  </p:stCondLst>
                                  <p:childTnLst>
                                    <p:set>
                                      <p:cBhvr>
                                        <p:cTn id="298" dur="1" fill="hold">
                                          <p:stCondLst>
                                            <p:cond delay="0"/>
                                          </p:stCondLst>
                                        </p:cTn>
                                        <p:tgtEl>
                                          <p:spTgt spid="120966"/>
                                        </p:tgtEl>
                                        <p:attrNameLst>
                                          <p:attrName>style.visibility</p:attrName>
                                        </p:attrNameLst>
                                      </p:cBhvr>
                                      <p:to>
                                        <p:strVal val="visible"/>
                                      </p:to>
                                    </p:set>
                                    <p:animEffect transition="in" filter="wipe(left)">
                                      <p:cBhvr>
                                        <p:cTn id="299" dur="500"/>
                                        <p:tgtEl>
                                          <p:spTgt spid="120966"/>
                                        </p:tgtEl>
                                      </p:cBhvr>
                                    </p:animEffect>
                                  </p:childTnLst>
                                </p:cTn>
                              </p:par>
                            </p:childTnLst>
                          </p:cTn>
                        </p:par>
                      </p:childTnLst>
                    </p:cTn>
                  </p:par>
                  <p:par>
                    <p:cTn id="300" fill="hold" nodeType="clickPar">
                      <p:stCondLst>
                        <p:cond delay="indefinite"/>
                      </p:stCondLst>
                      <p:childTnLst>
                        <p:par>
                          <p:cTn id="301" fill="hold" nodeType="withGroup">
                            <p:stCondLst>
                              <p:cond delay="0"/>
                            </p:stCondLst>
                            <p:childTnLst>
                              <p:par>
                                <p:cTn id="302" presetID="22" presetClass="entr" presetSubtype="4" fill="hold" grpId="0" nodeType="clickEffect">
                                  <p:stCondLst>
                                    <p:cond delay="0"/>
                                  </p:stCondLst>
                                  <p:childTnLst>
                                    <p:set>
                                      <p:cBhvr>
                                        <p:cTn id="303" dur="1" fill="hold">
                                          <p:stCondLst>
                                            <p:cond delay="0"/>
                                          </p:stCondLst>
                                        </p:cTn>
                                        <p:tgtEl>
                                          <p:spTgt spid="120902"/>
                                        </p:tgtEl>
                                        <p:attrNameLst>
                                          <p:attrName>style.visibility</p:attrName>
                                        </p:attrNameLst>
                                      </p:cBhvr>
                                      <p:to>
                                        <p:strVal val="visible"/>
                                      </p:to>
                                    </p:set>
                                    <p:animEffect transition="in" filter="wipe(down)">
                                      <p:cBhvr>
                                        <p:cTn id="304" dur="500"/>
                                        <p:tgtEl>
                                          <p:spTgt spid="120902"/>
                                        </p:tgtEl>
                                      </p:cBhvr>
                                    </p:animEffect>
                                  </p:childTnLst>
                                </p:cTn>
                              </p:par>
                            </p:childTnLst>
                          </p:cTn>
                        </p:par>
                        <p:par>
                          <p:cTn id="305" fill="hold" nodeType="afterGroup">
                            <p:stCondLst>
                              <p:cond delay="500"/>
                            </p:stCondLst>
                            <p:childTnLst>
                              <p:par>
                                <p:cTn id="306" presetID="22" presetClass="entr" presetSubtype="4" fill="hold" grpId="0" nodeType="afterEffect">
                                  <p:stCondLst>
                                    <p:cond delay="1000"/>
                                  </p:stCondLst>
                                  <p:childTnLst>
                                    <p:set>
                                      <p:cBhvr>
                                        <p:cTn id="307" dur="1" fill="hold">
                                          <p:stCondLst>
                                            <p:cond delay="0"/>
                                          </p:stCondLst>
                                        </p:cTn>
                                        <p:tgtEl>
                                          <p:spTgt spid="120948"/>
                                        </p:tgtEl>
                                        <p:attrNameLst>
                                          <p:attrName>style.visibility</p:attrName>
                                        </p:attrNameLst>
                                      </p:cBhvr>
                                      <p:to>
                                        <p:strVal val="visible"/>
                                      </p:to>
                                    </p:set>
                                    <p:animEffect transition="in" filter="wipe(down)">
                                      <p:cBhvr>
                                        <p:cTn id="308" dur="500"/>
                                        <p:tgtEl>
                                          <p:spTgt spid="120948"/>
                                        </p:tgtEl>
                                      </p:cBhvr>
                                    </p:animEffect>
                                  </p:childTnLst>
                                </p:cTn>
                              </p:par>
                            </p:childTnLst>
                          </p:cTn>
                        </p:par>
                      </p:childTnLst>
                    </p:cTn>
                  </p:par>
                  <p:par>
                    <p:cTn id="309" fill="hold" nodeType="clickPar">
                      <p:stCondLst>
                        <p:cond delay="indefinite"/>
                      </p:stCondLst>
                      <p:childTnLst>
                        <p:par>
                          <p:cTn id="310" fill="hold" nodeType="withGroup">
                            <p:stCondLst>
                              <p:cond delay="0"/>
                            </p:stCondLst>
                            <p:childTnLst>
                              <p:par>
                                <p:cTn id="311" presetID="22" presetClass="entr" presetSubtype="2" fill="hold" grpId="0" nodeType="clickEffect">
                                  <p:stCondLst>
                                    <p:cond delay="0"/>
                                  </p:stCondLst>
                                  <p:childTnLst>
                                    <p:set>
                                      <p:cBhvr>
                                        <p:cTn id="312" dur="1" fill="hold">
                                          <p:stCondLst>
                                            <p:cond delay="0"/>
                                          </p:stCondLst>
                                        </p:cTn>
                                        <p:tgtEl>
                                          <p:spTgt spid="120892"/>
                                        </p:tgtEl>
                                        <p:attrNameLst>
                                          <p:attrName>style.visibility</p:attrName>
                                        </p:attrNameLst>
                                      </p:cBhvr>
                                      <p:to>
                                        <p:strVal val="visible"/>
                                      </p:to>
                                    </p:set>
                                    <p:animEffect transition="in" filter="wipe(right)">
                                      <p:cBhvr>
                                        <p:cTn id="313" dur="500"/>
                                        <p:tgtEl>
                                          <p:spTgt spid="120892"/>
                                        </p:tgtEl>
                                      </p:cBhvr>
                                    </p:animEffect>
                                  </p:childTnLst>
                                </p:cTn>
                              </p:par>
                            </p:childTnLst>
                          </p:cTn>
                        </p:par>
                        <p:par>
                          <p:cTn id="314" fill="hold" nodeType="afterGroup">
                            <p:stCondLst>
                              <p:cond delay="500"/>
                            </p:stCondLst>
                            <p:childTnLst>
                              <p:par>
                                <p:cTn id="315" presetID="22" presetClass="entr" presetSubtype="2" fill="hold" grpId="0" nodeType="afterEffect">
                                  <p:stCondLst>
                                    <p:cond delay="1000"/>
                                  </p:stCondLst>
                                  <p:childTnLst>
                                    <p:set>
                                      <p:cBhvr>
                                        <p:cTn id="316" dur="1" fill="hold">
                                          <p:stCondLst>
                                            <p:cond delay="0"/>
                                          </p:stCondLst>
                                        </p:cTn>
                                        <p:tgtEl>
                                          <p:spTgt spid="120938"/>
                                        </p:tgtEl>
                                        <p:attrNameLst>
                                          <p:attrName>style.visibility</p:attrName>
                                        </p:attrNameLst>
                                      </p:cBhvr>
                                      <p:to>
                                        <p:strVal val="visible"/>
                                      </p:to>
                                    </p:set>
                                    <p:animEffect transition="in" filter="wipe(right)">
                                      <p:cBhvr>
                                        <p:cTn id="317" dur="500"/>
                                        <p:tgtEl>
                                          <p:spTgt spid="120938"/>
                                        </p:tgtEl>
                                      </p:cBhvr>
                                    </p:animEffect>
                                  </p:childTnLst>
                                </p:cTn>
                              </p:par>
                            </p:childTnLst>
                          </p:cTn>
                        </p:par>
                      </p:childTnLst>
                    </p:cTn>
                  </p:par>
                  <p:par>
                    <p:cTn id="318" fill="hold" nodeType="clickPar">
                      <p:stCondLst>
                        <p:cond delay="indefinite"/>
                      </p:stCondLst>
                      <p:childTnLst>
                        <p:par>
                          <p:cTn id="319" fill="hold" nodeType="withGroup">
                            <p:stCondLst>
                              <p:cond delay="0"/>
                            </p:stCondLst>
                            <p:childTnLst>
                              <p:par>
                                <p:cTn id="320" presetID="9" presetClass="entr" presetSubtype="0" fill="hold" grpId="0" nodeType="clickEffect">
                                  <p:stCondLst>
                                    <p:cond delay="0"/>
                                  </p:stCondLst>
                                  <p:childTnLst>
                                    <p:set>
                                      <p:cBhvr>
                                        <p:cTn id="321" dur="1" fill="hold">
                                          <p:stCondLst>
                                            <p:cond delay="0"/>
                                          </p:stCondLst>
                                        </p:cTn>
                                        <p:tgtEl>
                                          <p:spTgt spid="120911"/>
                                        </p:tgtEl>
                                        <p:attrNameLst>
                                          <p:attrName>style.visibility</p:attrName>
                                        </p:attrNameLst>
                                      </p:cBhvr>
                                      <p:to>
                                        <p:strVal val="visible"/>
                                      </p:to>
                                    </p:set>
                                    <p:animEffect transition="in" filter="dissolve">
                                      <p:cBhvr>
                                        <p:cTn id="322" dur="500"/>
                                        <p:tgtEl>
                                          <p:spTgt spid="120911"/>
                                        </p:tgtEl>
                                      </p:cBhvr>
                                    </p:animEffect>
                                  </p:childTnLst>
                                </p:cTn>
                              </p:par>
                            </p:childTnLst>
                          </p:cTn>
                        </p:par>
                        <p:par>
                          <p:cTn id="323" fill="hold" nodeType="afterGroup">
                            <p:stCondLst>
                              <p:cond delay="500"/>
                            </p:stCondLst>
                            <p:childTnLst>
                              <p:par>
                                <p:cTn id="324" presetID="9" presetClass="entr" presetSubtype="0" fill="hold" grpId="0" nodeType="afterEffect">
                                  <p:stCondLst>
                                    <p:cond delay="1000"/>
                                  </p:stCondLst>
                                  <p:childTnLst>
                                    <p:set>
                                      <p:cBhvr>
                                        <p:cTn id="325" dur="1" fill="hold">
                                          <p:stCondLst>
                                            <p:cond delay="0"/>
                                          </p:stCondLst>
                                        </p:cTn>
                                        <p:tgtEl>
                                          <p:spTgt spid="120957"/>
                                        </p:tgtEl>
                                        <p:attrNameLst>
                                          <p:attrName>style.visibility</p:attrName>
                                        </p:attrNameLst>
                                      </p:cBhvr>
                                      <p:to>
                                        <p:strVal val="visible"/>
                                      </p:to>
                                    </p:set>
                                    <p:animEffect transition="in" filter="dissolve">
                                      <p:cBhvr>
                                        <p:cTn id="326" dur="500"/>
                                        <p:tgtEl>
                                          <p:spTgt spid="120957"/>
                                        </p:tgtEl>
                                      </p:cBhvr>
                                    </p:animEffect>
                                  </p:childTnLst>
                                </p:cTn>
                              </p:par>
                            </p:childTnLst>
                          </p:cTn>
                        </p:par>
                        <p:par>
                          <p:cTn id="327" fill="hold" nodeType="afterGroup">
                            <p:stCondLst>
                              <p:cond delay="2000"/>
                            </p:stCondLst>
                            <p:childTnLst>
                              <p:par>
                                <p:cTn id="328" presetID="9" presetClass="entr" presetSubtype="0" fill="hold" grpId="0" nodeType="afterEffect">
                                  <p:stCondLst>
                                    <p:cond delay="1000"/>
                                  </p:stCondLst>
                                  <p:childTnLst>
                                    <p:set>
                                      <p:cBhvr>
                                        <p:cTn id="329" dur="1" fill="hold">
                                          <p:stCondLst>
                                            <p:cond delay="0"/>
                                          </p:stCondLst>
                                        </p:cTn>
                                        <p:tgtEl>
                                          <p:spTgt spid="120973"/>
                                        </p:tgtEl>
                                        <p:attrNameLst>
                                          <p:attrName>style.visibility</p:attrName>
                                        </p:attrNameLst>
                                      </p:cBhvr>
                                      <p:to>
                                        <p:strVal val="visible"/>
                                      </p:to>
                                    </p:set>
                                    <p:animEffect transition="in" filter="dissolve">
                                      <p:cBhvr>
                                        <p:cTn id="330" dur="500"/>
                                        <p:tgtEl>
                                          <p:spTgt spid="120973"/>
                                        </p:tgtEl>
                                      </p:cBhvr>
                                    </p:animEffect>
                                  </p:childTnLst>
                                </p:cTn>
                              </p:par>
                            </p:childTnLst>
                          </p:cTn>
                        </p:par>
                      </p:childTnLst>
                    </p:cTn>
                  </p:par>
                  <p:par>
                    <p:cTn id="331" fill="hold" nodeType="clickPar">
                      <p:stCondLst>
                        <p:cond delay="indefinite"/>
                      </p:stCondLst>
                      <p:childTnLst>
                        <p:par>
                          <p:cTn id="332" fill="hold" nodeType="withGroup">
                            <p:stCondLst>
                              <p:cond delay="0"/>
                            </p:stCondLst>
                            <p:childTnLst>
                              <p:par>
                                <p:cTn id="333" presetID="9" presetClass="entr" presetSubtype="0" fill="hold" grpId="0" nodeType="clickEffect">
                                  <p:stCondLst>
                                    <p:cond delay="0"/>
                                  </p:stCondLst>
                                  <p:childTnLst>
                                    <p:set>
                                      <p:cBhvr>
                                        <p:cTn id="334" dur="1" fill="hold">
                                          <p:stCondLst>
                                            <p:cond delay="0"/>
                                          </p:stCondLst>
                                        </p:cTn>
                                        <p:tgtEl>
                                          <p:spTgt spid="120907"/>
                                        </p:tgtEl>
                                        <p:attrNameLst>
                                          <p:attrName>style.visibility</p:attrName>
                                        </p:attrNameLst>
                                      </p:cBhvr>
                                      <p:to>
                                        <p:strVal val="visible"/>
                                      </p:to>
                                    </p:set>
                                    <p:animEffect transition="in" filter="dissolve">
                                      <p:cBhvr>
                                        <p:cTn id="335" dur="500"/>
                                        <p:tgtEl>
                                          <p:spTgt spid="120907"/>
                                        </p:tgtEl>
                                      </p:cBhvr>
                                    </p:animEffect>
                                  </p:childTnLst>
                                </p:cTn>
                              </p:par>
                            </p:childTnLst>
                          </p:cTn>
                        </p:par>
                        <p:par>
                          <p:cTn id="336" fill="hold" nodeType="afterGroup">
                            <p:stCondLst>
                              <p:cond delay="500"/>
                            </p:stCondLst>
                            <p:childTnLst>
                              <p:par>
                                <p:cTn id="337" presetID="9" presetClass="entr" presetSubtype="0" fill="hold" grpId="0" nodeType="afterEffect">
                                  <p:stCondLst>
                                    <p:cond delay="1000"/>
                                  </p:stCondLst>
                                  <p:childTnLst>
                                    <p:set>
                                      <p:cBhvr>
                                        <p:cTn id="338" dur="1" fill="hold">
                                          <p:stCondLst>
                                            <p:cond delay="0"/>
                                          </p:stCondLst>
                                        </p:cTn>
                                        <p:tgtEl>
                                          <p:spTgt spid="120958"/>
                                        </p:tgtEl>
                                        <p:attrNameLst>
                                          <p:attrName>style.visibility</p:attrName>
                                        </p:attrNameLst>
                                      </p:cBhvr>
                                      <p:to>
                                        <p:strVal val="visible"/>
                                      </p:to>
                                    </p:set>
                                    <p:animEffect transition="in" filter="dissolve">
                                      <p:cBhvr>
                                        <p:cTn id="339" dur="500"/>
                                        <p:tgtEl>
                                          <p:spTgt spid="120958"/>
                                        </p:tgtEl>
                                      </p:cBhvr>
                                    </p:animEffect>
                                  </p:childTnLst>
                                </p:cTn>
                              </p:par>
                            </p:childTnLst>
                          </p:cTn>
                        </p:par>
                        <p:par>
                          <p:cTn id="340" fill="hold" nodeType="afterGroup">
                            <p:stCondLst>
                              <p:cond delay="2000"/>
                            </p:stCondLst>
                            <p:childTnLst>
                              <p:par>
                                <p:cTn id="341" presetID="9" presetClass="entr" presetSubtype="0" fill="hold" grpId="0" nodeType="afterEffect">
                                  <p:stCondLst>
                                    <p:cond delay="1000"/>
                                  </p:stCondLst>
                                  <p:childTnLst>
                                    <p:set>
                                      <p:cBhvr>
                                        <p:cTn id="342" dur="1" fill="hold">
                                          <p:stCondLst>
                                            <p:cond delay="0"/>
                                          </p:stCondLst>
                                        </p:cTn>
                                        <p:tgtEl>
                                          <p:spTgt spid="120974"/>
                                        </p:tgtEl>
                                        <p:attrNameLst>
                                          <p:attrName>style.visibility</p:attrName>
                                        </p:attrNameLst>
                                      </p:cBhvr>
                                      <p:to>
                                        <p:strVal val="visible"/>
                                      </p:to>
                                    </p:set>
                                    <p:animEffect transition="in" filter="dissolve">
                                      <p:cBhvr>
                                        <p:cTn id="343" dur="500"/>
                                        <p:tgtEl>
                                          <p:spTgt spid="120974"/>
                                        </p:tgtEl>
                                      </p:cBhvr>
                                    </p:animEffect>
                                  </p:childTnLst>
                                </p:cTn>
                              </p:par>
                            </p:childTnLst>
                          </p:cTn>
                        </p:par>
                      </p:childTnLst>
                    </p:cTn>
                  </p:par>
                  <p:par>
                    <p:cTn id="344" fill="hold" nodeType="clickPar">
                      <p:stCondLst>
                        <p:cond delay="indefinite"/>
                      </p:stCondLst>
                      <p:childTnLst>
                        <p:par>
                          <p:cTn id="345" fill="hold" nodeType="withGroup">
                            <p:stCondLst>
                              <p:cond delay="0"/>
                            </p:stCondLst>
                            <p:childTnLst>
                              <p:par>
                                <p:cTn id="346" presetID="2" presetClass="entr" presetSubtype="2" fill="hold" grpId="0" nodeType="clickEffect">
                                  <p:stCondLst>
                                    <p:cond delay="0"/>
                                  </p:stCondLst>
                                  <p:childTnLst>
                                    <p:set>
                                      <p:cBhvr>
                                        <p:cTn id="347" dur="1" fill="hold">
                                          <p:stCondLst>
                                            <p:cond delay="0"/>
                                          </p:stCondLst>
                                        </p:cTn>
                                        <p:tgtEl>
                                          <p:spTgt spid="120977"/>
                                        </p:tgtEl>
                                        <p:attrNameLst>
                                          <p:attrName>style.visibility</p:attrName>
                                        </p:attrNameLst>
                                      </p:cBhvr>
                                      <p:to>
                                        <p:strVal val="visible"/>
                                      </p:to>
                                    </p:set>
                                    <p:anim calcmode="lin" valueType="num">
                                      <p:cBhvr additive="base">
                                        <p:cTn id="348" dur="500" fill="hold"/>
                                        <p:tgtEl>
                                          <p:spTgt spid="120977"/>
                                        </p:tgtEl>
                                        <p:attrNameLst>
                                          <p:attrName>ppt_x</p:attrName>
                                        </p:attrNameLst>
                                      </p:cBhvr>
                                      <p:tavLst>
                                        <p:tav tm="0">
                                          <p:val>
                                            <p:strVal val="1+#ppt_w/2"/>
                                          </p:val>
                                        </p:tav>
                                        <p:tav tm="100000">
                                          <p:val>
                                            <p:strVal val="#ppt_x"/>
                                          </p:val>
                                        </p:tav>
                                      </p:tavLst>
                                    </p:anim>
                                    <p:anim calcmode="lin" valueType="num">
                                      <p:cBhvr additive="base">
                                        <p:cTn id="349" dur="500" fill="hold"/>
                                        <p:tgtEl>
                                          <p:spTgt spid="1209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923" grpId="0" animBg="1"/>
      <p:bldP spid="120903" grpId="0" animBg="1"/>
      <p:bldP spid="120948" grpId="0" animBg="1"/>
      <p:bldP spid="120947" grpId="0" animBg="1"/>
      <p:bldP spid="120938" grpId="0" animBg="1"/>
      <p:bldP spid="120949" grpId="0" animBg="1"/>
      <p:bldP spid="120943" grpId="0" animBg="1"/>
      <p:bldP spid="120939" grpId="0" animBg="1"/>
      <p:bldP spid="120937" grpId="0" animBg="1"/>
      <p:bldP spid="120941" grpId="0" animBg="1"/>
      <p:bldP spid="120945" grpId="0" animBg="1"/>
      <p:bldP spid="120883" grpId="0" animBg="1" autoUpdateAnimBg="0"/>
      <p:bldP spid="120884" grpId="0" animBg="1" autoUpdateAnimBg="0"/>
      <p:bldP spid="120886" grpId="0" animBg="1" autoUpdateAnimBg="0"/>
      <p:bldP spid="120891" grpId="0" animBg="1"/>
      <p:bldP spid="120892" grpId="0" animBg="1"/>
      <p:bldP spid="120893" grpId="0" animBg="1"/>
      <p:bldP spid="120895" grpId="0" animBg="1"/>
      <p:bldP spid="120897" grpId="0" animBg="1"/>
      <p:bldP spid="120899" grpId="0" animBg="1"/>
      <p:bldP spid="120901" grpId="0" animBg="1"/>
      <p:bldP spid="120902" grpId="0" animBg="1"/>
      <p:bldP spid="120912" grpId="0" animBg="1"/>
      <p:bldP spid="120913" grpId="0" animBg="1"/>
      <p:bldP spid="120917" grpId="0" animBg="1"/>
      <p:bldP spid="120919" grpId="0" animBg="1"/>
      <p:bldP spid="120921" grpId="0" animBg="1"/>
      <p:bldP spid="120927" grpId="0" animBg="1" autoUpdateAnimBg="0"/>
      <p:bldP spid="120928" grpId="0" animBg="1" autoUpdateAnimBg="0"/>
      <p:bldP spid="120929" grpId="0" animBg="1" autoUpdateAnimBg="0"/>
      <p:bldP spid="120930" grpId="0" animBg="1" autoUpdateAnimBg="0"/>
      <p:bldP spid="120931" grpId="0" animBg="1" autoUpdateAnimBg="0"/>
      <p:bldP spid="120932" grpId="0" animBg="1" autoUpdateAnimBg="0"/>
      <p:bldP spid="120933" grpId="0" animBg="1" autoUpdateAnimBg="0"/>
      <p:bldP spid="120934" grpId="0" animBg="1" autoUpdateAnimBg="0"/>
      <p:bldP spid="120935" grpId="0" animBg="1"/>
      <p:bldP spid="120936" grpId="0" animBg="1"/>
      <p:bldP spid="120940" grpId="0" animBg="1"/>
      <p:bldP spid="120942" grpId="0" animBg="1"/>
      <p:bldP spid="120944" grpId="0" animBg="1"/>
      <p:bldP spid="120946" grpId="0" animBg="1"/>
      <p:bldP spid="120909" grpId="0" animBg="1" autoUpdateAnimBg="0"/>
      <p:bldP spid="120906" grpId="0" animBg="1" autoUpdateAnimBg="0"/>
      <p:bldP spid="120907" grpId="0" animBg="1" autoUpdateAnimBg="0"/>
      <p:bldP spid="120951" grpId="0" animBg="1" autoUpdateAnimBg="0"/>
      <p:bldP spid="120952" grpId="0" animBg="1" autoUpdateAnimBg="0"/>
      <p:bldP spid="120953" grpId="0" animBg="1" autoUpdateAnimBg="0"/>
      <p:bldP spid="120954" grpId="0" animBg="1" autoUpdateAnimBg="0"/>
      <p:bldP spid="120955" grpId="0" animBg="1" autoUpdateAnimBg="0"/>
      <p:bldP spid="120956" grpId="0" animBg="1" autoUpdateAnimBg="0"/>
      <p:bldP spid="120957" grpId="0" animBg="1" autoUpdateAnimBg="0"/>
      <p:bldP spid="120958" grpId="0" animBg="1" autoUpdateAnimBg="0"/>
      <p:bldP spid="120959" grpId="0" autoUpdateAnimBg="0"/>
      <p:bldP spid="120960" grpId="0" autoUpdateAnimBg="0"/>
      <p:bldP spid="120961" grpId="0" autoUpdateAnimBg="0"/>
      <p:bldP spid="120962" grpId="0" autoUpdateAnimBg="0"/>
      <p:bldP spid="120963" grpId="0" autoUpdateAnimBg="0"/>
      <p:bldP spid="120964" grpId="0" autoUpdateAnimBg="0"/>
      <p:bldP spid="120965" grpId="0" autoUpdateAnimBg="0"/>
      <p:bldP spid="120966" grpId="0" autoUpdateAnimBg="0"/>
      <p:bldP spid="120967" grpId="0" autoUpdateAnimBg="0"/>
      <p:bldP spid="120968" grpId="0" autoUpdateAnimBg="0"/>
      <p:bldP spid="120969" grpId="0" autoUpdateAnimBg="0"/>
      <p:bldP spid="120970" grpId="0" autoUpdateAnimBg="0"/>
      <p:bldP spid="120971" grpId="0" autoUpdateAnimBg="0"/>
      <p:bldP spid="120972" grpId="0" autoUpdateAnimBg="0"/>
      <p:bldP spid="120973" grpId="0" autoUpdateAnimBg="0"/>
      <p:bldP spid="120974" grpId="0" autoUpdateAnimBg="0"/>
      <p:bldP spid="120976" grpId="0" autoUpdateAnimBg="0"/>
      <p:bldP spid="120977" grpId="0" animBg="1" autoUpdateAnimBg="0"/>
      <p:bldP spid="120885" grpId="0" animBg="1" autoUpdateAnimBg="0"/>
      <p:bldP spid="120908" grpId="0" animBg="1" autoUpdateAnimBg="0"/>
      <p:bldP spid="120881" grpId="0" animBg="1" autoUpdateAnimBg="0"/>
      <p:bldP spid="120904" grpId="0" animBg="1" autoUpdateAnimBg="0"/>
      <p:bldP spid="120882" grpId="0" animBg="1" autoUpdateAnimBg="0"/>
      <p:bldP spid="120905" grpId="0" animBg="1" autoUpdateAnimBg="0"/>
      <p:bldP spid="120887" grpId="0" animBg="1" autoUpdateAnimBg="0"/>
      <p:bldP spid="120910" grpId="0" animBg="1" autoUpdateAnimBg="0"/>
      <p:bldP spid="120888" grpId="0" animBg="1" autoUpdateAnimBg="0"/>
      <p:bldP spid="120911"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Line 133"/>
          <p:cNvSpPr>
            <a:spLocks noChangeShapeType="1"/>
          </p:cNvSpPr>
          <p:nvPr/>
        </p:nvSpPr>
        <p:spPr bwMode="auto">
          <a:xfrm>
            <a:off x="5638800" y="609600"/>
            <a:ext cx="0" cy="8382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25" name="Oval 6"/>
          <p:cNvSpPr>
            <a:spLocks noChangeArrowheads="1"/>
          </p:cNvSpPr>
          <p:nvPr/>
        </p:nvSpPr>
        <p:spPr bwMode="auto">
          <a:xfrm>
            <a:off x="5410200" y="3810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d</a:t>
            </a:r>
          </a:p>
        </p:txBody>
      </p:sp>
      <p:sp>
        <p:nvSpPr>
          <p:cNvPr id="30726" name="Oval 8"/>
          <p:cNvSpPr>
            <a:spLocks noChangeArrowheads="1"/>
          </p:cNvSpPr>
          <p:nvPr/>
        </p:nvSpPr>
        <p:spPr bwMode="auto">
          <a:xfrm>
            <a:off x="2590800" y="12954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h</a:t>
            </a:r>
          </a:p>
        </p:txBody>
      </p:sp>
      <p:sp>
        <p:nvSpPr>
          <p:cNvPr id="30727" name="Oval 9"/>
          <p:cNvSpPr>
            <a:spLocks noChangeArrowheads="1"/>
          </p:cNvSpPr>
          <p:nvPr/>
        </p:nvSpPr>
        <p:spPr bwMode="auto">
          <a:xfrm>
            <a:off x="3962400" y="12954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i</a:t>
            </a:r>
          </a:p>
        </p:txBody>
      </p:sp>
      <p:sp>
        <p:nvSpPr>
          <p:cNvPr id="30728" name="Line 11"/>
          <p:cNvSpPr>
            <a:spLocks noChangeShapeType="1"/>
          </p:cNvSpPr>
          <p:nvPr/>
        </p:nvSpPr>
        <p:spPr bwMode="auto">
          <a:xfrm>
            <a:off x="1828800" y="609600"/>
            <a:ext cx="7620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29" name="Line 12"/>
          <p:cNvSpPr>
            <a:spLocks noChangeShapeType="1"/>
          </p:cNvSpPr>
          <p:nvPr/>
        </p:nvSpPr>
        <p:spPr bwMode="auto">
          <a:xfrm>
            <a:off x="3048000" y="609600"/>
            <a:ext cx="914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30" name="Line 13"/>
          <p:cNvSpPr>
            <a:spLocks noChangeShapeType="1"/>
          </p:cNvSpPr>
          <p:nvPr/>
        </p:nvSpPr>
        <p:spPr bwMode="auto">
          <a:xfrm flipH="1">
            <a:off x="4419600" y="609600"/>
            <a:ext cx="9906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31" name="Line 16"/>
          <p:cNvSpPr>
            <a:spLocks noChangeShapeType="1"/>
          </p:cNvSpPr>
          <p:nvPr/>
        </p:nvSpPr>
        <p:spPr bwMode="auto">
          <a:xfrm flipH="1">
            <a:off x="1828800" y="1524000"/>
            <a:ext cx="7620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32" name="Freeform 17"/>
          <p:cNvSpPr>
            <a:spLocks/>
          </p:cNvSpPr>
          <p:nvPr/>
        </p:nvSpPr>
        <p:spPr bwMode="auto">
          <a:xfrm>
            <a:off x="1600200" y="819150"/>
            <a:ext cx="1588" cy="476250"/>
          </a:xfrm>
          <a:custGeom>
            <a:avLst/>
            <a:gdLst>
              <a:gd name="T0" fmla="*/ 0 w 1"/>
              <a:gd name="T1" fmla="*/ 476250 h 300"/>
              <a:gd name="T2" fmla="*/ 0 w 1"/>
              <a:gd name="T3" fmla="*/ 0 h 300"/>
              <a:gd name="T4" fmla="*/ 0 60000 65536"/>
              <a:gd name="T5" fmla="*/ 0 60000 65536"/>
            </a:gdLst>
            <a:ahLst/>
            <a:cxnLst>
              <a:cxn ang="T4">
                <a:pos x="T0" y="T1"/>
              </a:cxn>
              <a:cxn ang="T5">
                <a:pos x="T2" y="T3"/>
              </a:cxn>
            </a:cxnLst>
            <a:rect l="0" t="0" r="r" b="b"/>
            <a:pathLst>
              <a:path w="1" h="300">
                <a:moveTo>
                  <a:pt x="0" y="300"/>
                </a:moveTo>
                <a:lnTo>
                  <a:pt x="0"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30733" name="Line 18"/>
          <p:cNvSpPr>
            <a:spLocks noChangeShapeType="1"/>
          </p:cNvSpPr>
          <p:nvPr/>
        </p:nvSpPr>
        <p:spPr bwMode="auto">
          <a:xfrm>
            <a:off x="2819400" y="838200"/>
            <a:ext cx="0" cy="457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34" name="Line 19"/>
          <p:cNvSpPr>
            <a:spLocks noChangeShapeType="1"/>
          </p:cNvSpPr>
          <p:nvPr/>
        </p:nvSpPr>
        <p:spPr bwMode="auto">
          <a:xfrm flipV="1">
            <a:off x="4191000" y="838200"/>
            <a:ext cx="0" cy="457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35" name="Line 21"/>
          <p:cNvSpPr>
            <a:spLocks noChangeShapeType="1"/>
          </p:cNvSpPr>
          <p:nvPr/>
        </p:nvSpPr>
        <p:spPr bwMode="auto">
          <a:xfrm flipV="1">
            <a:off x="1752600" y="766763"/>
            <a:ext cx="914400" cy="6096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30736" name="Line 22"/>
          <p:cNvSpPr>
            <a:spLocks noChangeShapeType="1"/>
          </p:cNvSpPr>
          <p:nvPr/>
        </p:nvSpPr>
        <p:spPr bwMode="auto">
          <a:xfrm>
            <a:off x="2971800" y="762000"/>
            <a:ext cx="1066800" cy="609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37" name="Line 23"/>
          <p:cNvSpPr>
            <a:spLocks noChangeShapeType="1"/>
          </p:cNvSpPr>
          <p:nvPr/>
        </p:nvSpPr>
        <p:spPr bwMode="auto">
          <a:xfrm flipH="1" flipV="1">
            <a:off x="4343400" y="766763"/>
            <a:ext cx="1143000" cy="609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30738" name="Text Box 104"/>
          <p:cNvSpPr txBox="1">
            <a:spLocks noChangeArrowheads="1"/>
          </p:cNvSpPr>
          <p:nvPr/>
        </p:nvSpPr>
        <p:spPr bwMode="auto">
          <a:xfrm>
            <a:off x="685800" y="762000"/>
            <a:ext cx="522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400" b="1">
                <a:solidFill>
                  <a:schemeClr val="tx2"/>
                </a:solidFill>
                <a:latin typeface="Arial" pitchFamily="34" charset="0"/>
              </a:rPr>
              <a:t>G:</a:t>
            </a:r>
          </a:p>
        </p:txBody>
      </p:sp>
      <p:sp>
        <p:nvSpPr>
          <p:cNvPr id="30739" name="Text Box 105"/>
          <p:cNvSpPr txBox="1">
            <a:spLocks noChangeArrowheads="1"/>
          </p:cNvSpPr>
          <p:nvPr/>
        </p:nvSpPr>
        <p:spPr bwMode="auto">
          <a:xfrm>
            <a:off x="304800" y="2667000"/>
            <a:ext cx="1335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400" b="1">
                <a:solidFill>
                  <a:schemeClr val="tx2"/>
                </a:solidFill>
                <a:latin typeface="Arial" pitchFamily="34" charset="0"/>
              </a:rPr>
              <a:t>DFS(G):</a:t>
            </a:r>
          </a:p>
        </p:txBody>
      </p:sp>
      <p:sp>
        <p:nvSpPr>
          <p:cNvPr id="30740" name="Oval 106"/>
          <p:cNvSpPr>
            <a:spLocks noChangeArrowheads="1"/>
          </p:cNvSpPr>
          <p:nvPr/>
        </p:nvSpPr>
        <p:spPr bwMode="auto">
          <a:xfrm>
            <a:off x="6248400" y="385763"/>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e</a:t>
            </a:r>
          </a:p>
        </p:txBody>
      </p:sp>
      <p:sp>
        <p:nvSpPr>
          <p:cNvPr id="30741" name="Oval 108"/>
          <p:cNvSpPr>
            <a:spLocks noChangeArrowheads="1"/>
          </p:cNvSpPr>
          <p:nvPr/>
        </p:nvSpPr>
        <p:spPr bwMode="auto">
          <a:xfrm>
            <a:off x="6248400" y="1300163"/>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k</a:t>
            </a:r>
          </a:p>
        </p:txBody>
      </p:sp>
      <p:sp>
        <p:nvSpPr>
          <p:cNvPr id="30742" name="Line 110"/>
          <p:cNvSpPr>
            <a:spLocks noChangeShapeType="1"/>
          </p:cNvSpPr>
          <p:nvPr/>
        </p:nvSpPr>
        <p:spPr bwMode="auto">
          <a:xfrm flipH="1">
            <a:off x="6705600" y="614363"/>
            <a:ext cx="9906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43" name="Line 111"/>
          <p:cNvSpPr>
            <a:spLocks noChangeShapeType="1"/>
          </p:cNvSpPr>
          <p:nvPr/>
        </p:nvSpPr>
        <p:spPr bwMode="auto">
          <a:xfrm flipV="1">
            <a:off x="6477000" y="842963"/>
            <a:ext cx="0" cy="457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44" name="Freeform 114"/>
          <p:cNvSpPr>
            <a:spLocks/>
          </p:cNvSpPr>
          <p:nvPr/>
        </p:nvSpPr>
        <p:spPr bwMode="auto">
          <a:xfrm>
            <a:off x="6673850" y="757238"/>
            <a:ext cx="1082675" cy="650875"/>
          </a:xfrm>
          <a:custGeom>
            <a:avLst/>
            <a:gdLst>
              <a:gd name="T0" fmla="*/ 0 w 682"/>
              <a:gd name="T1" fmla="*/ 650875 h 410"/>
              <a:gd name="T2" fmla="*/ 1082675 w 682"/>
              <a:gd name="T3" fmla="*/ 0 h 410"/>
              <a:gd name="T4" fmla="*/ 0 60000 65536"/>
              <a:gd name="T5" fmla="*/ 0 60000 65536"/>
            </a:gdLst>
            <a:ahLst/>
            <a:cxnLst>
              <a:cxn ang="T4">
                <a:pos x="T0" y="T1"/>
              </a:cxn>
              <a:cxn ang="T5">
                <a:pos x="T2" y="T3"/>
              </a:cxn>
            </a:cxnLst>
            <a:rect l="0" t="0" r="r" b="b"/>
            <a:pathLst>
              <a:path w="682" h="410">
                <a:moveTo>
                  <a:pt x="0" y="410"/>
                </a:moveTo>
                <a:lnTo>
                  <a:pt x="682" y="0"/>
                </a:lnTo>
              </a:path>
            </a:pathLst>
          </a:custGeom>
          <a:noFill/>
          <a:ln w="571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30745" name="Line 118"/>
          <p:cNvSpPr>
            <a:spLocks noChangeShapeType="1"/>
          </p:cNvSpPr>
          <p:nvPr/>
        </p:nvSpPr>
        <p:spPr bwMode="auto">
          <a:xfrm>
            <a:off x="3733800" y="2819400"/>
            <a:ext cx="0" cy="990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46" name="Line 119"/>
          <p:cNvSpPr>
            <a:spLocks noChangeShapeType="1"/>
          </p:cNvSpPr>
          <p:nvPr/>
        </p:nvSpPr>
        <p:spPr bwMode="auto">
          <a:xfrm flipH="1">
            <a:off x="2362200" y="3810000"/>
            <a:ext cx="1371600" cy="838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47" name="Line 120"/>
          <p:cNvSpPr>
            <a:spLocks noChangeShapeType="1"/>
          </p:cNvSpPr>
          <p:nvPr/>
        </p:nvSpPr>
        <p:spPr bwMode="auto">
          <a:xfrm flipH="1">
            <a:off x="1447800" y="4648200"/>
            <a:ext cx="914400" cy="762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48" name="Line 121"/>
          <p:cNvSpPr>
            <a:spLocks noChangeShapeType="1"/>
          </p:cNvSpPr>
          <p:nvPr/>
        </p:nvSpPr>
        <p:spPr bwMode="auto">
          <a:xfrm>
            <a:off x="1447800" y="5410200"/>
            <a:ext cx="0" cy="838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49" name="Line 122"/>
          <p:cNvSpPr>
            <a:spLocks noChangeShapeType="1"/>
          </p:cNvSpPr>
          <p:nvPr/>
        </p:nvSpPr>
        <p:spPr bwMode="auto">
          <a:xfrm>
            <a:off x="2362200" y="4648200"/>
            <a:ext cx="990600" cy="762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50" name="Line 123"/>
          <p:cNvSpPr>
            <a:spLocks noChangeShapeType="1"/>
          </p:cNvSpPr>
          <p:nvPr/>
        </p:nvSpPr>
        <p:spPr bwMode="auto">
          <a:xfrm>
            <a:off x="3733800" y="3810000"/>
            <a:ext cx="1295400" cy="685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51" name="Line 124"/>
          <p:cNvSpPr>
            <a:spLocks noChangeShapeType="1"/>
          </p:cNvSpPr>
          <p:nvPr/>
        </p:nvSpPr>
        <p:spPr bwMode="auto">
          <a:xfrm>
            <a:off x="5029200" y="4495800"/>
            <a:ext cx="0" cy="838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52" name="Line 125"/>
          <p:cNvSpPr>
            <a:spLocks noChangeShapeType="1"/>
          </p:cNvSpPr>
          <p:nvPr/>
        </p:nvSpPr>
        <p:spPr bwMode="auto">
          <a:xfrm>
            <a:off x="7162800" y="2743200"/>
            <a:ext cx="0" cy="1066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53" name="Line 126"/>
          <p:cNvSpPr>
            <a:spLocks noChangeShapeType="1"/>
          </p:cNvSpPr>
          <p:nvPr/>
        </p:nvSpPr>
        <p:spPr bwMode="auto">
          <a:xfrm>
            <a:off x="7162800" y="3810000"/>
            <a:ext cx="0" cy="990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54" name="Freeform 127"/>
          <p:cNvSpPr>
            <a:spLocks/>
          </p:cNvSpPr>
          <p:nvPr/>
        </p:nvSpPr>
        <p:spPr bwMode="auto">
          <a:xfrm>
            <a:off x="3733800" y="3810000"/>
            <a:ext cx="1295400" cy="1524000"/>
          </a:xfrm>
          <a:custGeom>
            <a:avLst/>
            <a:gdLst>
              <a:gd name="T0" fmla="*/ 0 w 816"/>
              <a:gd name="T1" fmla="*/ 0 h 960"/>
              <a:gd name="T2" fmla="*/ 533400 w 816"/>
              <a:gd name="T3" fmla="*/ 919163 h 960"/>
              <a:gd name="T4" fmla="*/ 1295400 w 816"/>
              <a:gd name="T5" fmla="*/ 1524000 h 960"/>
              <a:gd name="T6" fmla="*/ 0 60000 65536"/>
              <a:gd name="T7" fmla="*/ 0 60000 65536"/>
              <a:gd name="T8" fmla="*/ 0 60000 65536"/>
            </a:gdLst>
            <a:ahLst/>
            <a:cxnLst>
              <a:cxn ang="T6">
                <a:pos x="T0" y="T1"/>
              </a:cxn>
              <a:cxn ang="T7">
                <a:pos x="T2" y="T3"/>
              </a:cxn>
              <a:cxn ang="T8">
                <a:pos x="T4" y="T5"/>
              </a:cxn>
            </a:cxnLst>
            <a:rect l="0" t="0" r="r" b="b"/>
            <a:pathLst>
              <a:path w="816" h="960">
                <a:moveTo>
                  <a:pt x="0" y="0"/>
                </a:moveTo>
                <a:cubicBezTo>
                  <a:pt x="56" y="96"/>
                  <a:pt x="200" y="419"/>
                  <a:pt x="336" y="579"/>
                </a:cubicBezTo>
                <a:cubicBezTo>
                  <a:pt x="472" y="739"/>
                  <a:pt x="716" y="881"/>
                  <a:pt x="816" y="960"/>
                </a:cubicBezTo>
              </a:path>
            </a:pathLst>
          </a:custGeom>
          <a:noFill/>
          <a:ln w="28575" cap="flat" cmpd="sng">
            <a:solidFill>
              <a:srgbClr val="B2B2B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55" name="Freeform 128"/>
          <p:cNvSpPr>
            <a:spLocks/>
          </p:cNvSpPr>
          <p:nvPr/>
        </p:nvSpPr>
        <p:spPr bwMode="auto">
          <a:xfrm>
            <a:off x="3733800" y="2819400"/>
            <a:ext cx="1295400" cy="1676400"/>
          </a:xfrm>
          <a:custGeom>
            <a:avLst/>
            <a:gdLst>
              <a:gd name="T0" fmla="*/ 0 w 816"/>
              <a:gd name="T1" fmla="*/ 0 h 1056"/>
              <a:gd name="T2" fmla="*/ 933450 w 816"/>
              <a:gd name="T3" fmla="*/ 690563 h 1056"/>
              <a:gd name="T4" fmla="*/ 1295400 w 816"/>
              <a:gd name="T5" fmla="*/ 1676400 h 1056"/>
              <a:gd name="T6" fmla="*/ 0 60000 65536"/>
              <a:gd name="T7" fmla="*/ 0 60000 65536"/>
              <a:gd name="T8" fmla="*/ 0 60000 65536"/>
            </a:gdLst>
            <a:ahLst/>
            <a:cxnLst>
              <a:cxn ang="T6">
                <a:pos x="T0" y="T1"/>
              </a:cxn>
              <a:cxn ang="T7">
                <a:pos x="T2" y="T3"/>
              </a:cxn>
              <a:cxn ang="T8">
                <a:pos x="T4" y="T5"/>
              </a:cxn>
            </a:cxnLst>
            <a:rect l="0" t="0" r="r" b="b"/>
            <a:pathLst>
              <a:path w="816" h="1056">
                <a:moveTo>
                  <a:pt x="0" y="0"/>
                </a:moveTo>
                <a:cubicBezTo>
                  <a:pt x="98" y="72"/>
                  <a:pt x="452" y="259"/>
                  <a:pt x="588" y="435"/>
                </a:cubicBezTo>
                <a:cubicBezTo>
                  <a:pt x="724" y="611"/>
                  <a:pt x="769" y="927"/>
                  <a:pt x="816" y="1056"/>
                </a:cubicBezTo>
              </a:path>
            </a:pathLst>
          </a:custGeom>
          <a:noFill/>
          <a:ln w="28575" cap="flat" cmpd="sng">
            <a:solidFill>
              <a:srgbClr val="B2B2B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56" name="Freeform 129"/>
          <p:cNvSpPr>
            <a:spLocks/>
          </p:cNvSpPr>
          <p:nvPr/>
        </p:nvSpPr>
        <p:spPr bwMode="auto">
          <a:xfrm>
            <a:off x="1447800" y="4648200"/>
            <a:ext cx="914400" cy="1600200"/>
          </a:xfrm>
          <a:custGeom>
            <a:avLst/>
            <a:gdLst>
              <a:gd name="T0" fmla="*/ 914400 w 576"/>
              <a:gd name="T1" fmla="*/ 0 h 1008"/>
              <a:gd name="T2" fmla="*/ 633413 w 576"/>
              <a:gd name="T3" fmla="*/ 1027113 h 1008"/>
              <a:gd name="T4" fmla="*/ 0 w 576"/>
              <a:gd name="T5" fmla="*/ 1600200 h 1008"/>
              <a:gd name="T6" fmla="*/ 0 60000 65536"/>
              <a:gd name="T7" fmla="*/ 0 60000 65536"/>
              <a:gd name="T8" fmla="*/ 0 60000 65536"/>
            </a:gdLst>
            <a:ahLst/>
            <a:cxnLst>
              <a:cxn ang="T6">
                <a:pos x="T0" y="T1"/>
              </a:cxn>
              <a:cxn ang="T7">
                <a:pos x="T2" y="T3"/>
              </a:cxn>
              <a:cxn ang="T8">
                <a:pos x="T4" y="T5"/>
              </a:cxn>
            </a:cxnLst>
            <a:rect l="0" t="0" r="r" b="b"/>
            <a:pathLst>
              <a:path w="576" h="1008">
                <a:moveTo>
                  <a:pt x="576" y="0"/>
                </a:moveTo>
                <a:cubicBezTo>
                  <a:pt x="547" y="108"/>
                  <a:pt x="495" y="479"/>
                  <a:pt x="399" y="647"/>
                </a:cubicBezTo>
                <a:cubicBezTo>
                  <a:pt x="303" y="815"/>
                  <a:pt x="83" y="933"/>
                  <a:pt x="0" y="1008"/>
                </a:cubicBezTo>
              </a:path>
            </a:pathLst>
          </a:custGeom>
          <a:noFill/>
          <a:ln w="28575" cap="flat" cmpd="sng">
            <a:solidFill>
              <a:srgbClr val="B2B2B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57" name="Freeform 130"/>
          <p:cNvSpPr>
            <a:spLocks/>
          </p:cNvSpPr>
          <p:nvPr/>
        </p:nvSpPr>
        <p:spPr bwMode="auto">
          <a:xfrm>
            <a:off x="3352800" y="3810000"/>
            <a:ext cx="420688" cy="1524000"/>
          </a:xfrm>
          <a:custGeom>
            <a:avLst/>
            <a:gdLst>
              <a:gd name="T0" fmla="*/ 381000 w 265"/>
              <a:gd name="T1" fmla="*/ 0 h 960"/>
              <a:gd name="T2" fmla="*/ 357188 w 265"/>
              <a:gd name="T3" fmla="*/ 919163 h 960"/>
              <a:gd name="T4" fmla="*/ 0 w 265"/>
              <a:gd name="T5" fmla="*/ 1524000 h 960"/>
              <a:gd name="T6" fmla="*/ 0 60000 65536"/>
              <a:gd name="T7" fmla="*/ 0 60000 65536"/>
              <a:gd name="T8" fmla="*/ 0 60000 65536"/>
            </a:gdLst>
            <a:ahLst/>
            <a:cxnLst>
              <a:cxn ang="T6">
                <a:pos x="T0" y="T1"/>
              </a:cxn>
              <a:cxn ang="T7">
                <a:pos x="T2" y="T3"/>
              </a:cxn>
              <a:cxn ang="T8">
                <a:pos x="T4" y="T5"/>
              </a:cxn>
            </a:cxnLst>
            <a:rect l="0" t="0" r="r" b="b"/>
            <a:pathLst>
              <a:path w="265" h="960">
                <a:moveTo>
                  <a:pt x="240" y="0"/>
                </a:moveTo>
                <a:cubicBezTo>
                  <a:pt x="238" y="96"/>
                  <a:pt x="265" y="419"/>
                  <a:pt x="225" y="579"/>
                </a:cubicBezTo>
                <a:cubicBezTo>
                  <a:pt x="185" y="739"/>
                  <a:pt x="47" y="881"/>
                  <a:pt x="0" y="960"/>
                </a:cubicBezTo>
              </a:path>
            </a:pathLst>
          </a:custGeom>
          <a:noFill/>
          <a:ln w="28575" cap="flat" cmpd="sng">
            <a:solidFill>
              <a:srgbClr val="B2B2B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58" name="Freeform 131"/>
          <p:cNvSpPr>
            <a:spLocks/>
          </p:cNvSpPr>
          <p:nvPr/>
        </p:nvSpPr>
        <p:spPr bwMode="auto">
          <a:xfrm>
            <a:off x="6723063" y="2743200"/>
            <a:ext cx="452437" cy="2052638"/>
          </a:xfrm>
          <a:custGeom>
            <a:avLst/>
            <a:gdLst>
              <a:gd name="T0" fmla="*/ 439737 w 285"/>
              <a:gd name="T1" fmla="*/ 0 h 1293"/>
              <a:gd name="T2" fmla="*/ 1587 w 285"/>
              <a:gd name="T3" fmla="*/ 1063625 h 1293"/>
              <a:gd name="T4" fmla="*/ 452437 w 285"/>
              <a:gd name="T5" fmla="*/ 2052638 h 1293"/>
              <a:gd name="T6" fmla="*/ 0 60000 65536"/>
              <a:gd name="T7" fmla="*/ 0 60000 65536"/>
              <a:gd name="T8" fmla="*/ 0 60000 65536"/>
            </a:gdLst>
            <a:ahLst/>
            <a:cxnLst>
              <a:cxn ang="T6">
                <a:pos x="T0" y="T1"/>
              </a:cxn>
              <a:cxn ang="T7">
                <a:pos x="T2" y="T3"/>
              </a:cxn>
              <a:cxn ang="T8">
                <a:pos x="T4" y="T5"/>
              </a:cxn>
            </a:cxnLst>
            <a:rect l="0" t="0" r="r" b="b"/>
            <a:pathLst>
              <a:path w="285" h="1293">
                <a:moveTo>
                  <a:pt x="277" y="0"/>
                </a:moveTo>
                <a:cubicBezTo>
                  <a:pt x="231" y="111"/>
                  <a:pt x="0" y="455"/>
                  <a:pt x="1" y="670"/>
                </a:cubicBezTo>
                <a:cubicBezTo>
                  <a:pt x="2" y="885"/>
                  <a:pt x="226" y="1163"/>
                  <a:pt x="285" y="1293"/>
                </a:cubicBezTo>
              </a:path>
            </a:pathLst>
          </a:custGeom>
          <a:noFill/>
          <a:ln w="28575" cap="flat" cmpd="sng">
            <a:solidFill>
              <a:srgbClr val="B2B2B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0759" name="Oval 62"/>
          <p:cNvSpPr>
            <a:spLocks noChangeArrowheads="1"/>
          </p:cNvSpPr>
          <p:nvPr/>
        </p:nvSpPr>
        <p:spPr bwMode="auto">
          <a:xfrm>
            <a:off x="6934200" y="25146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e</a:t>
            </a:r>
          </a:p>
        </p:txBody>
      </p:sp>
      <p:sp>
        <p:nvSpPr>
          <p:cNvPr id="30760" name="Oval 63"/>
          <p:cNvSpPr>
            <a:spLocks noChangeArrowheads="1"/>
          </p:cNvSpPr>
          <p:nvPr/>
        </p:nvSpPr>
        <p:spPr bwMode="auto">
          <a:xfrm>
            <a:off x="6934200" y="35814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f</a:t>
            </a:r>
          </a:p>
        </p:txBody>
      </p:sp>
      <p:sp>
        <p:nvSpPr>
          <p:cNvPr id="30761" name="Oval 117"/>
          <p:cNvSpPr>
            <a:spLocks noChangeArrowheads="1"/>
          </p:cNvSpPr>
          <p:nvPr/>
        </p:nvSpPr>
        <p:spPr bwMode="auto">
          <a:xfrm>
            <a:off x="6934200" y="45720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k</a:t>
            </a:r>
          </a:p>
        </p:txBody>
      </p:sp>
      <p:sp>
        <p:nvSpPr>
          <p:cNvPr id="30762" name="Oval 58"/>
          <p:cNvSpPr>
            <a:spLocks noChangeArrowheads="1"/>
          </p:cNvSpPr>
          <p:nvPr/>
        </p:nvSpPr>
        <p:spPr bwMode="auto">
          <a:xfrm>
            <a:off x="3505200" y="25908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a</a:t>
            </a:r>
          </a:p>
        </p:txBody>
      </p:sp>
      <p:sp>
        <p:nvSpPr>
          <p:cNvPr id="30763" name="Oval 59"/>
          <p:cNvSpPr>
            <a:spLocks noChangeArrowheads="1"/>
          </p:cNvSpPr>
          <p:nvPr/>
        </p:nvSpPr>
        <p:spPr bwMode="auto">
          <a:xfrm>
            <a:off x="3505200" y="35814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b</a:t>
            </a:r>
          </a:p>
        </p:txBody>
      </p:sp>
      <p:sp>
        <p:nvSpPr>
          <p:cNvPr id="30764" name="Oval 64"/>
          <p:cNvSpPr>
            <a:spLocks noChangeArrowheads="1"/>
          </p:cNvSpPr>
          <p:nvPr/>
        </p:nvSpPr>
        <p:spPr bwMode="auto">
          <a:xfrm>
            <a:off x="4800600" y="42672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g</a:t>
            </a:r>
          </a:p>
        </p:txBody>
      </p:sp>
      <p:sp>
        <p:nvSpPr>
          <p:cNvPr id="30765" name="Oval 65"/>
          <p:cNvSpPr>
            <a:spLocks noChangeArrowheads="1"/>
          </p:cNvSpPr>
          <p:nvPr/>
        </p:nvSpPr>
        <p:spPr bwMode="auto">
          <a:xfrm>
            <a:off x="4800600" y="51054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h</a:t>
            </a:r>
          </a:p>
        </p:txBody>
      </p:sp>
      <p:sp>
        <p:nvSpPr>
          <p:cNvPr id="30766" name="Oval 60"/>
          <p:cNvSpPr>
            <a:spLocks noChangeArrowheads="1"/>
          </p:cNvSpPr>
          <p:nvPr/>
        </p:nvSpPr>
        <p:spPr bwMode="auto">
          <a:xfrm>
            <a:off x="2133600" y="44196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c</a:t>
            </a:r>
          </a:p>
        </p:txBody>
      </p:sp>
      <p:sp>
        <p:nvSpPr>
          <p:cNvPr id="30767" name="Oval 61"/>
          <p:cNvSpPr>
            <a:spLocks noChangeArrowheads="1"/>
          </p:cNvSpPr>
          <p:nvPr/>
        </p:nvSpPr>
        <p:spPr bwMode="auto">
          <a:xfrm>
            <a:off x="1219200" y="51816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d</a:t>
            </a:r>
          </a:p>
        </p:txBody>
      </p:sp>
      <p:sp>
        <p:nvSpPr>
          <p:cNvPr id="30768" name="Oval 116"/>
          <p:cNvSpPr>
            <a:spLocks noChangeArrowheads="1"/>
          </p:cNvSpPr>
          <p:nvPr/>
        </p:nvSpPr>
        <p:spPr bwMode="auto">
          <a:xfrm>
            <a:off x="1219200" y="60198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j</a:t>
            </a:r>
          </a:p>
        </p:txBody>
      </p:sp>
      <p:sp>
        <p:nvSpPr>
          <p:cNvPr id="30769" name="Oval 115"/>
          <p:cNvSpPr>
            <a:spLocks noChangeArrowheads="1"/>
          </p:cNvSpPr>
          <p:nvPr/>
        </p:nvSpPr>
        <p:spPr bwMode="auto">
          <a:xfrm>
            <a:off x="3124200" y="51816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i</a:t>
            </a:r>
          </a:p>
        </p:txBody>
      </p:sp>
      <p:sp>
        <p:nvSpPr>
          <p:cNvPr id="30770" name="Oval 7"/>
          <p:cNvSpPr>
            <a:spLocks noChangeArrowheads="1"/>
          </p:cNvSpPr>
          <p:nvPr/>
        </p:nvSpPr>
        <p:spPr bwMode="auto">
          <a:xfrm>
            <a:off x="1371600" y="1273175"/>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g</a:t>
            </a:r>
          </a:p>
        </p:txBody>
      </p:sp>
      <p:sp>
        <p:nvSpPr>
          <p:cNvPr id="30771" name="Oval 107"/>
          <p:cNvSpPr>
            <a:spLocks noChangeArrowheads="1"/>
          </p:cNvSpPr>
          <p:nvPr/>
        </p:nvSpPr>
        <p:spPr bwMode="auto">
          <a:xfrm>
            <a:off x="7696200" y="385763"/>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f</a:t>
            </a:r>
          </a:p>
        </p:txBody>
      </p:sp>
      <p:sp>
        <p:nvSpPr>
          <p:cNvPr id="30772" name="Oval 10"/>
          <p:cNvSpPr>
            <a:spLocks noChangeArrowheads="1"/>
          </p:cNvSpPr>
          <p:nvPr/>
        </p:nvSpPr>
        <p:spPr bwMode="auto">
          <a:xfrm>
            <a:off x="5410200" y="12954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j</a:t>
            </a:r>
          </a:p>
        </p:txBody>
      </p:sp>
      <p:sp>
        <p:nvSpPr>
          <p:cNvPr id="30774" name="Text Box 134"/>
          <p:cNvSpPr txBox="1">
            <a:spLocks noChangeArrowheads="1"/>
          </p:cNvSpPr>
          <p:nvPr/>
        </p:nvSpPr>
        <p:spPr bwMode="auto">
          <a:xfrm>
            <a:off x="2743200" y="2590800"/>
            <a:ext cx="755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[1,16]</a:t>
            </a:r>
          </a:p>
        </p:txBody>
      </p:sp>
      <p:sp>
        <p:nvSpPr>
          <p:cNvPr id="30775" name="Text Box 135"/>
          <p:cNvSpPr txBox="1">
            <a:spLocks noChangeArrowheads="1"/>
          </p:cNvSpPr>
          <p:nvPr/>
        </p:nvSpPr>
        <p:spPr bwMode="auto">
          <a:xfrm>
            <a:off x="2743200" y="3429000"/>
            <a:ext cx="755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[2,15]</a:t>
            </a:r>
          </a:p>
        </p:txBody>
      </p:sp>
      <p:sp>
        <p:nvSpPr>
          <p:cNvPr id="30776" name="Text Box 136"/>
          <p:cNvSpPr txBox="1">
            <a:spLocks noChangeArrowheads="1"/>
          </p:cNvSpPr>
          <p:nvPr/>
        </p:nvSpPr>
        <p:spPr bwMode="auto">
          <a:xfrm>
            <a:off x="1828800" y="4038600"/>
            <a:ext cx="755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[3,10]</a:t>
            </a:r>
          </a:p>
        </p:txBody>
      </p:sp>
      <p:sp>
        <p:nvSpPr>
          <p:cNvPr id="30777" name="Text Box 137"/>
          <p:cNvSpPr txBox="1">
            <a:spLocks noChangeArrowheads="1"/>
          </p:cNvSpPr>
          <p:nvPr/>
        </p:nvSpPr>
        <p:spPr bwMode="auto">
          <a:xfrm>
            <a:off x="609600" y="5181600"/>
            <a:ext cx="628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[4,7]</a:t>
            </a:r>
          </a:p>
        </p:txBody>
      </p:sp>
      <p:sp>
        <p:nvSpPr>
          <p:cNvPr id="30778" name="Text Box 138"/>
          <p:cNvSpPr txBox="1">
            <a:spLocks noChangeArrowheads="1"/>
          </p:cNvSpPr>
          <p:nvPr/>
        </p:nvSpPr>
        <p:spPr bwMode="auto">
          <a:xfrm>
            <a:off x="609600" y="6019800"/>
            <a:ext cx="628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[5,6]</a:t>
            </a:r>
          </a:p>
        </p:txBody>
      </p:sp>
      <p:sp>
        <p:nvSpPr>
          <p:cNvPr id="30779" name="Text Box 139"/>
          <p:cNvSpPr txBox="1">
            <a:spLocks noChangeArrowheads="1"/>
          </p:cNvSpPr>
          <p:nvPr/>
        </p:nvSpPr>
        <p:spPr bwMode="auto">
          <a:xfrm>
            <a:off x="3035300" y="5638800"/>
            <a:ext cx="628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[8,9]</a:t>
            </a:r>
          </a:p>
        </p:txBody>
      </p:sp>
      <p:sp>
        <p:nvSpPr>
          <p:cNvPr id="30780" name="Text Box 140"/>
          <p:cNvSpPr txBox="1">
            <a:spLocks noChangeArrowheads="1"/>
          </p:cNvSpPr>
          <p:nvPr/>
        </p:nvSpPr>
        <p:spPr bwMode="auto">
          <a:xfrm>
            <a:off x="5194300" y="4267200"/>
            <a:ext cx="882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[11,14]</a:t>
            </a:r>
          </a:p>
        </p:txBody>
      </p:sp>
      <p:sp>
        <p:nvSpPr>
          <p:cNvPr id="30781" name="Text Box 141"/>
          <p:cNvSpPr txBox="1">
            <a:spLocks noChangeArrowheads="1"/>
          </p:cNvSpPr>
          <p:nvPr/>
        </p:nvSpPr>
        <p:spPr bwMode="auto">
          <a:xfrm>
            <a:off x="5194300" y="5105400"/>
            <a:ext cx="882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[12,13]</a:t>
            </a:r>
          </a:p>
        </p:txBody>
      </p:sp>
      <p:sp>
        <p:nvSpPr>
          <p:cNvPr id="30782" name="Text Box 142"/>
          <p:cNvSpPr txBox="1">
            <a:spLocks noChangeArrowheads="1"/>
          </p:cNvSpPr>
          <p:nvPr/>
        </p:nvSpPr>
        <p:spPr bwMode="auto">
          <a:xfrm>
            <a:off x="7391400" y="2514600"/>
            <a:ext cx="882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[17,22]</a:t>
            </a:r>
          </a:p>
        </p:txBody>
      </p:sp>
      <p:sp>
        <p:nvSpPr>
          <p:cNvPr id="30783" name="Text Box 143"/>
          <p:cNvSpPr txBox="1">
            <a:spLocks noChangeArrowheads="1"/>
          </p:cNvSpPr>
          <p:nvPr/>
        </p:nvSpPr>
        <p:spPr bwMode="auto">
          <a:xfrm>
            <a:off x="7391400" y="3581400"/>
            <a:ext cx="882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[18,21]</a:t>
            </a:r>
          </a:p>
        </p:txBody>
      </p:sp>
      <p:sp>
        <p:nvSpPr>
          <p:cNvPr id="30784" name="Text Box 144"/>
          <p:cNvSpPr txBox="1">
            <a:spLocks noChangeArrowheads="1"/>
          </p:cNvSpPr>
          <p:nvPr/>
        </p:nvSpPr>
        <p:spPr bwMode="auto">
          <a:xfrm>
            <a:off x="7391400" y="4572000"/>
            <a:ext cx="882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[19,20]</a:t>
            </a:r>
          </a:p>
        </p:txBody>
      </p:sp>
      <p:sp>
        <p:nvSpPr>
          <p:cNvPr id="122001" name="Text Box 145" descr="Recycled paper"/>
          <p:cNvSpPr txBox="1">
            <a:spLocks noChangeArrowheads="1"/>
          </p:cNvSpPr>
          <p:nvPr/>
        </p:nvSpPr>
        <p:spPr bwMode="auto">
          <a:xfrm>
            <a:off x="3810000" y="5791200"/>
            <a:ext cx="5124450" cy="973138"/>
          </a:xfrm>
          <a:prstGeom prst="rect">
            <a:avLst/>
          </a:prstGeom>
          <a:blipFill dpi="0" rotWithShape="0">
            <a:blip r:embed="rId2"/>
            <a:srcRect/>
            <a:tile tx="0" ty="0" sx="100000" sy="100000" flip="none" algn="tl"/>
          </a:blipFill>
          <a:ln w="57150">
            <a:solidFill>
              <a:srgbClr val="C00000"/>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dirty="0">
                <a:solidFill>
                  <a:schemeClr val="hlink"/>
                </a:solidFill>
              </a:rPr>
              <a:t>Each edge is traversed twice (once in each direction).</a:t>
            </a:r>
            <a:br>
              <a:rPr lang="en-US" sz="1800" dirty="0">
                <a:solidFill>
                  <a:schemeClr val="hlink"/>
                </a:solidFill>
              </a:rPr>
            </a:br>
            <a:r>
              <a:rPr lang="en-US" sz="1800" dirty="0">
                <a:solidFill>
                  <a:schemeClr val="hlink"/>
                </a:solidFill>
              </a:rPr>
              <a:t>The first traversal of each edge is:</a:t>
            </a:r>
            <a:br>
              <a:rPr lang="en-US" sz="1800" dirty="0">
                <a:solidFill>
                  <a:schemeClr val="hlink"/>
                </a:solidFill>
              </a:rPr>
            </a:br>
            <a:r>
              <a:rPr lang="en-US" sz="1800" dirty="0">
                <a:solidFill>
                  <a:schemeClr val="hlink"/>
                </a:solidFill>
              </a:rPr>
              <a:t>downward if it’s a tree-edge;  upward otherwise.</a:t>
            </a:r>
          </a:p>
        </p:txBody>
      </p:sp>
      <p:sp>
        <p:nvSpPr>
          <p:cNvPr id="30724" name="Oval 5"/>
          <p:cNvSpPr>
            <a:spLocks noChangeArrowheads="1"/>
          </p:cNvSpPr>
          <p:nvPr/>
        </p:nvSpPr>
        <p:spPr bwMode="auto">
          <a:xfrm>
            <a:off x="3962400" y="3810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c</a:t>
            </a:r>
          </a:p>
        </p:txBody>
      </p:sp>
      <p:sp>
        <p:nvSpPr>
          <p:cNvPr id="30723" name="Oval 3"/>
          <p:cNvSpPr>
            <a:spLocks noChangeArrowheads="1"/>
          </p:cNvSpPr>
          <p:nvPr/>
        </p:nvSpPr>
        <p:spPr bwMode="auto">
          <a:xfrm>
            <a:off x="1371600" y="358775"/>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a</a:t>
            </a:r>
          </a:p>
        </p:txBody>
      </p:sp>
      <p:sp>
        <p:nvSpPr>
          <p:cNvPr id="30773" name="Oval 4"/>
          <p:cNvSpPr>
            <a:spLocks noChangeArrowheads="1"/>
          </p:cNvSpPr>
          <p:nvPr/>
        </p:nvSpPr>
        <p:spPr bwMode="auto">
          <a:xfrm>
            <a:off x="2590800" y="381000"/>
            <a:ext cx="457200" cy="457200"/>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b</a:t>
            </a:r>
          </a:p>
        </p:txBody>
      </p:sp>
      <p:sp>
        <p:nvSpPr>
          <p:cNvPr id="2" name="Slide Number Placeholder 1"/>
          <p:cNvSpPr>
            <a:spLocks noGrp="1"/>
          </p:cNvSpPr>
          <p:nvPr>
            <p:ph type="sldNum" sz="quarter" idx="12"/>
          </p:nvPr>
        </p:nvSpPr>
        <p:spPr/>
        <p:txBody>
          <a:bodyPr/>
          <a:lstStyle/>
          <a:p>
            <a:pPr>
              <a:defRPr/>
            </a:pPr>
            <a:fld id="{5019D0FD-30FE-4170-95C0-BCF9C0F390F3}" type="slidenum">
              <a:rPr lang="en-US" smtClean="0"/>
              <a:pPr>
                <a:defRPr/>
              </a:pPr>
              <a:t>29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2001"/>
                                        </p:tgtEl>
                                        <p:attrNameLst>
                                          <p:attrName>style.visibility</p:attrName>
                                        </p:attrNameLst>
                                      </p:cBhvr>
                                      <p:to>
                                        <p:strVal val="visible"/>
                                      </p:to>
                                    </p:set>
                                    <p:anim calcmode="lin" valueType="num">
                                      <p:cBhvr additive="base">
                                        <p:cTn id="7" dur="500" fill="hold"/>
                                        <p:tgtEl>
                                          <p:spTgt spid="122001"/>
                                        </p:tgtEl>
                                        <p:attrNameLst>
                                          <p:attrName>ppt_x</p:attrName>
                                        </p:attrNameLst>
                                      </p:cBhvr>
                                      <p:tavLst>
                                        <p:tav tm="0">
                                          <p:val>
                                            <p:strVal val="1+#ppt_w/2"/>
                                          </p:val>
                                        </p:tav>
                                        <p:tav tm="100000">
                                          <p:val>
                                            <p:strVal val="#ppt_x"/>
                                          </p:val>
                                        </p:tav>
                                      </p:tavLst>
                                    </p:anim>
                                    <p:anim calcmode="lin" valueType="num">
                                      <p:cBhvr additive="base">
                                        <p:cTn id="8" dur="500" fill="hold"/>
                                        <p:tgtEl>
                                          <p:spTgt spid="1220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001"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DFS  Running Time</a:t>
            </a:r>
          </a:p>
        </p:txBody>
      </p:sp>
      <p:sp>
        <p:nvSpPr>
          <p:cNvPr id="119818" name="Text Box 10"/>
          <p:cNvSpPr txBox="1">
            <a:spLocks noChangeArrowheads="1"/>
          </p:cNvSpPr>
          <p:nvPr/>
        </p:nvSpPr>
        <p:spPr bwMode="auto">
          <a:xfrm>
            <a:off x="381000" y="4038600"/>
            <a:ext cx="6656388" cy="9159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188913" indent="-188913">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r>
              <a:rPr lang="en-US" sz="1800">
                <a:solidFill>
                  <a:schemeClr val="tx2"/>
                </a:solidFill>
                <a:latin typeface="Arial" pitchFamily="34" charset="0"/>
              </a:rPr>
              <a:t>DFSvisit(u) is called exactly once for each node u.</a:t>
            </a:r>
          </a:p>
          <a:p>
            <a:pPr eaLnBrk="1" hangingPunct="1"/>
            <a:r>
              <a:rPr lang="en-US" sz="1800">
                <a:solidFill>
                  <a:schemeClr val="tx2"/>
                </a:solidFill>
                <a:latin typeface="Arial" pitchFamily="34" charset="0"/>
              </a:rPr>
              <a:t>Excluding recursive calls, DFSvisit(u) takes O(1+|Adj[u]|) time.</a:t>
            </a:r>
          </a:p>
          <a:p>
            <a:pPr eaLnBrk="1" hangingPunct="1"/>
            <a:r>
              <a:rPr lang="en-US" sz="1800">
                <a:solidFill>
                  <a:schemeClr val="tx2"/>
                </a:solidFill>
                <a:latin typeface="Arial" pitchFamily="34" charset="0"/>
              </a:rPr>
              <a:t>Therefore, the total time is:</a:t>
            </a:r>
          </a:p>
        </p:txBody>
      </p:sp>
      <p:graphicFrame>
        <p:nvGraphicFramePr>
          <p:cNvPr id="119819" name="Object 11"/>
          <p:cNvGraphicFramePr>
            <a:graphicFrameLocks noChangeAspect="1"/>
          </p:cNvGraphicFramePr>
          <p:nvPr/>
        </p:nvGraphicFramePr>
        <p:xfrm>
          <a:off x="457200" y="5029200"/>
          <a:ext cx="8139113" cy="836613"/>
        </p:xfrm>
        <a:graphic>
          <a:graphicData uri="http://schemas.openxmlformats.org/presentationml/2006/ole">
            <mc:AlternateContent xmlns:mc="http://schemas.openxmlformats.org/markup-compatibility/2006">
              <mc:Choice xmlns:v="urn:schemas-microsoft-com:vml" Requires="v">
                <p:oleObj spid="_x0000_s31869" name="Equation" r:id="rId3" imgW="4699000" imgH="482600" progId="Equation.3">
                  <p:embed/>
                </p:oleObj>
              </mc:Choice>
              <mc:Fallback>
                <p:oleObj name="Equation" r:id="rId3" imgW="4699000" imgH="4826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5029200"/>
                        <a:ext cx="8139113" cy="836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9823" name="Group 15"/>
          <p:cNvGrpSpPr>
            <a:grpSpLocks/>
          </p:cNvGrpSpPr>
          <p:nvPr/>
        </p:nvGrpSpPr>
        <p:grpSpPr bwMode="auto">
          <a:xfrm>
            <a:off x="152400" y="762000"/>
            <a:ext cx="8839200" cy="3054350"/>
            <a:chOff x="96" y="480"/>
            <a:chExt cx="5568" cy="1924"/>
          </a:xfrm>
        </p:grpSpPr>
        <p:grpSp>
          <p:nvGrpSpPr>
            <p:cNvPr id="31750" name="Group 4"/>
            <p:cNvGrpSpPr>
              <a:grpSpLocks/>
            </p:cNvGrpSpPr>
            <p:nvPr/>
          </p:nvGrpSpPr>
          <p:grpSpPr bwMode="auto">
            <a:xfrm>
              <a:off x="960" y="1824"/>
              <a:ext cx="2007" cy="216"/>
              <a:chOff x="198" y="1039"/>
              <a:chExt cx="2007" cy="216"/>
            </a:xfrm>
          </p:grpSpPr>
          <p:sp>
            <p:nvSpPr>
              <p:cNvPr id="31753" name="AutoShape 5"/>
              <p:cNvSpPr>
                <a:spLocks noChangeArrowheads="1"/>
              </p:cNvSpPr>
              <p:nvPr/>
            </p:nvSpPr>
            <p:spPr bwMode="auto">
              <a:xfrm>
                <a:off x="1726" y="1056"/>
                <a:ext cx="479" cy="199"/>
              </a:xfrm>
              <a:prstGeom prst="roundRect">
                <a:avLst>
                  <a:gd name="adj" fmla="val 16667"/>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eaLnBrk="1" hangingPunct="1">
                  <a:buFontTx/>
                  <a:buNone/>
                </a:pPr>
                <a:r>
                  <a:rPr lang="en-US" sz="1200" b="1">
                    <a:solidFill>
                      <a:schemeClr val="bg1"/>
                    </a:solidFill>
                    <a:latin typeface="Arial" pitchFamily="34" charset="0"/>
                  </a:rPr>
                  <a:t>BLACK</a:t>
                </a:r>
              </a:p>
            </p:txBody>
          </p:sp>
          <p:sp>
            <p:nvSpPr>
              <p:cNvPr id="31754" name="Line 6"/>
              <p:cNvSpPr>
                <a:spLocks noChangeShapeType="1"/>
              </p:cNvSpPr>
              <p:nvPr/>
            </p:nvSpPr>
            <p:spPr bwMode="auto">
              <a:xfrm>
                <a:off x="480" y="1152"/>
                <a:ext cx="432" cy="0"/>
              </a:xfrm>
              <a:prstGeom prst="line">
                <a:avLst/>
              </a:prstGeom>
              <a:noFill/>
              <a:ln w="28575">
                <a:solidFill>
                  <a:schemeClr val="tx1"/>
                </a:solidFill>
                <a:round/>
                <a:headEnd/>
                <a:tailEnd type="triangl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spAutoFit/>
              </a:bodyPr>
              <a:lstStyle/>
              <a:p>
                <a:endParaRPr lang="en-CA"/>
              </a:p>
            </p:txBody>
          </p:sp>
          <p:sp>
            <p:nvSpPr>
              <p:cNvPr id="31755" name="Line 7"/>
              <p:cNvSpPr>
                <a:spLocks noChangeShapeType="1"/>
              </p:cNvSpPr>
              <p:nvPr/>
            </p:nvSpPr>
            <p:spPr bwMode="auto">
              <a:xfrm>
                <a:off x="1248" y="1152"/>
                <a:ext cx="48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1756" name="AutoShape 8"/>
              <p:cNvSpPr>
                <a:spLocks noChangeArrowheads="1"/>
              </p:cNvSpPr>
              <p:nvPr/>
            </p:nvSpPr>
            <p:spPr bwMode="auto">
              <a:xfrm>
                <a:off x="198" y="1039"/>
                <a:ext cx="452" cy="199"/>
              </a:xfrm>
              <a:prstGeom prst="roundRect">
                <a:avLst>
                  <a:gd name="adj" fmla="val 16667"/>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eaLnBrk="1" hangingPunct="1">
                  <a:buFontTx/>
                  <a:buNone/>
                </a:pPr>
                <a:r>
                  <a:rPr lang="en-US" sz="1200" b="1" dirty="0">
                    <a:solidFill>
                      <a:schemeClr val="tx2"/>
                    </a:solidFill>
                    <a:latin typeface="Arial" pitchFamily="34" charset="0"/>
                  </a:rPr>
                  <a:t>WHITE</a:t>
                </a:r>
              </a:p>
            </p:txBody>
          </p:sp>
          <p:sp>
            <p:nvSpPr>
              <p:cNvPr id="31757" name="AutoShape 9"/>
              <p:cNvSpPr>
                <a:spLocks noChangeArrowheads="1"/>
              </p:cNvSpPr>
              <p:nvPr/>
            </p:nvSpPr>
            <p:spPr bwMode="auto">
              <a:xfrm>
                <a:off x="911" y="1056"/>
                <a:ext cx="419" cy="199"/>
              </a:xfrm>
              <a:prstGeom prst="roundRect">
                <a:avLst>
                  <a:gd name="adj" fmla="val 16667"/>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eaLnBrk="1" hangingPunct="1">
                  <a:buFontTx/>
                  <a:buNone/>
                </a:pPr>
                <a:r>
                  <a:rPr lang="en-US" sz="1200" b="1" dirty="0">
                    <a:solidFill>
                      <a:schemeClr val="tx2"/>
                    </a:solidFill>
                    <a:latin typeface="Arial" pitchFamily="34" charset="0"/>
                  </a:rPr>
                  <a:t>GRAY</a:t>
                </a:r>
              </a:p>
            </p:txBody>
          </p:sp>
        </p:grpSp>
        <p:sp>
          <p:nvSpPr>
            <p:cNvPr id="31751" name="Text Box 12"/>
            <p:cNvSpPr txBox="1">
              <a:spLocks noChangeArrowheads="1"/>
            </p:cNvSpPr>
            <p:nvPr/>
          </p:nvSpPr>
          <p:spPr bwMode="auto">
            <a:xfrm>
              <a:off x="96" y="480"/>
              <a:ext cx="3456" cy="1046"/>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282575" indent="-282575" defTabSz="439738">
                <a:defRPr sz="1600">
                  <a:solidFill>
                    <a:schemeClr val="tx1"/>
                  </a:solidFill>
                  <a:latin typeface="Times New Roman" pitchFamily="18" charset="0"/>
                </a:defRPr>
              </a:lvl1pPr>
              <a:lvl2pPr marL="742950" indent="-285750" defTabSz="439738">
                <a:defRPr sz="1600">
                  <a:solidFill>
                    <a:schemeClr val="tx1"/>
                  </a:solidFill>
                  <a:latin typeface="Times New Roman" pitchFamily="18" charset="0"/>
                </a:defRPr>
              </a:lvl2pPr>
              <a:lvl3pPr marL="1143000" indent="-228600" defTabSz="439738">
                <a:defRPr sz="1600">
                  <a:solidFill>
                    <a:schemeClr val="tx1"/>
                  </a:solidFill>
                  <a:latin typeface="Times New Roman" pitchFamily="18" charset="0"/>
                </a:defRPr>
              </a:lvl3pPr>
              <a:lvl4pPr marL="1600200" indent="-228600" defTabSz="439738">
                <a:defRPr sz="1600">
                  <a:solidFill>
                    <a:schemeClr val="tx1"/>
                  </a:solidFill>
                  <a:latin typeface="Times New Roman" pitchFamily="18" charset="0"/>
                </a:defRPr>
              </a:lvl4pPr>
              <a:lvl5pPr marL="2057400" indent="-228600" defTabSz="439738">
                <a:defRPr sz="1600">
                  <a:solidFill>
                    <a:schemeClr val="tx1"/>
                  </a:solidFill>
                  <a:latin typeface="Times New Roman" pitchFamily="18" charset="0"/>
                </a:defRPr>
              </a:lvl5pPr>
              <a:lvl6pPr marL="2514600" indent="-228600" defTabSz="439738" eaLnBrk="0" fontAlgn="base" hangingPunct="0">
                <a:spcBef>
                  <a:spcPct val="0"/>
                </a:spcBef>
                <a:spcAft>
                  <a:spcPct val="0"/>
                </a:spcAft>
                <a:buChar char="•"/>
                <a:defRPr sz="1600">
                  <a:solidFill>
                    <a:schemeClr val="tx1"/>
                  </a:solidFill>
                  <a:latin typeface="Times New Roman" pitchFamily="18" charset="0"/>
                </a:defRPr>
              </a:lvl6pPr>
              <a:lvl7pPr marL="2971800" indent="-228600" defTabSz="439738" eaLnBrk="0" fontAlgn="base" hangingPunct="0">
                <a:spcBef>
                  <a:spcPct val="0"/>
                </a:spcBef>
                <a:spcAft>
                  <a:spcPct val="0"/>
                </a:spcAft>
                <a:buChar char="•"/>
                <a:defRPr sz="1600">
                  <a:solidFill>
                    <a:schemeClr val="tx1"/>
                  </a:solidFill>
                  <a:latin typeface="Times New Roman" pitchFamily="18" charset="0"/>
                </a:defRPr>
              </a:lvl7pPr>
              <a:lvl8pPr marL="3429000" indent="-228600" defTabSz="439738" eaLnBrk="0" fontAlgn="base" hangingPunct="0">
                <a:spcBef>
                  <a:spcPct val="0"/>
                </a:spcBef>
                <a:spcAft>
                  <a:spcPct val="0"/>
                </a:spcAft>
                <a:buChar char="•"/>
                <a:defRPr sz="1600">
                  <a:solidFill>
                    <a:schemeClr val="tx1"/>
                  </a:solidFill>
                  <a:latin typeface="Times New Roman" pitchFamily="18" charset="0"/>
                </a:defRPr>
              </a:lvl8pPr>
              <a:lvl9pPr marL="3886200" indent="-228600" defTabSz="439738"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b="1" dirty="0"/>
                <a:t>Algorithm</a:t>
              </a:r>
              <a:r>
                <a:rPr lang="en-US" dirty="0">
                  <a:solidFill>
                    <a:schemeClr val="hlink"/>
                  </a:solidFill>
                </a:rPr>
                <a:t>  </a:t>
              </a:r>
              <a:r>
                <a:rPr lang="en-US" b="1" dirty="0">
                  <a:solidFill>
                    <a:schemeClr val="hlink"/>
                  </a:solidFill>
                </a:rPr>
                <a:t>DFS</a:t>
              </a:r>
              <a:r>
                <a:rPr lang="en-US" dirty="0">
                  <a:solidFill>
                    <a:schemeClr val="hlink"/>
                  </a:solidFill>
                </a:rPr>
                <a:t>(</a:t>
              </a:r>
              <a:r>
                <a:rPr lang="en-US" dirty="0">
                  <a:solidFill>
                    <a:schemeClr val="hlink"/>
                  </a:solidFill>
                  <a:sym typeface="Symbol" pitchFamily="18" charset="2"/>
                </a:rPr>
                <a:t>G</a:t>
              </a:r>
              <a:r>
                <a:rPr lang="en-US" dirty="0">
                  <a:solidFill>
                    <a:schemeClr val="hlink"/>
                  </a:solidFill>
                </a:rPr>
                <a:t>)</a:t>
              </a:r>
              <a:r>
                <a:rPr lang="en-US" dirty="0">
                  <a:solidFill>
                    <a:schemeClr val="tx2"/>
                  </a:solidFill>
                </a:rPr>
                <a:t> </a:t>
              </a:r>
            </a:p>
            <a:p>
              <a:pPr eaLnBrk="1" hangingPunct="1">
                <a:buFontTx/>
                <a:buAutoNum type="arabicPeriod"/>
              </a:pPr>
              <a:r>
                <a:rPr lang="en-US" dirty="0">
                  <a:solidFill>
                    <a:srgbClr val="CC0000"/>
                  </a:solidFill>
                  <a:sym typeface="Symbol" pitchFamily="18" charset="2"/>
                </a:rPr>
                <a:t> </a:t>
              </a:r>
              <a:r>
                <a:rPr lang="en-US" dirty="0">
                  <a:solidFill>
                    <a:schemeClr val="hlink"/>
                  </a:solidFill>
                  <a:sym typeface="Symbol" pitchFamily="18" charset="2"/>
                </a:rPr>
                <a:t>time</a:t>
              </a:r>
              <a:r>
                <a:rPr lang="en-US" dirty="0">
                  <a:solidFill>
                    <a:schemeClr val="hlink"/>
                  </a:solidFill>
                </a:rPr>
                <a:t> </a:t>
              </a:r>
              <a:r>
                <a:rPr lang="en-US" dirty="0">
                  <a:solidFill>
                    <a:schemeClr val="hlink"/>
                  </a:solidFill>
                  <a:sym typeface="Symbol" pitchFamily="18" charset="2"/>
                </a:rPr>
                <a:t></a:t>
              </a:r>
              <a:r>
                <a:rPr lang="en-US" dirty="0">
                  <a:solidFill>
                    <a:schemeClr val="hlink"/>
                  </a:solidFill>
                </a:rPr>
                <a:t> </a:t>
              </a:r>
              <a:r>
                <a:rPr lang="en-US" dirty="0">
                  <a:solidFill>
                    <a:schemeClr val="hlink"/>
                  </a:solidFill>
                  <a:sym typeface="Symbol" pitchFamily="18" charset="2"/>
                </a:rPr>
                <a:t>0</a:t>
              </a:r>
              <a:endParaRPr lang="en-US" dirty="0">
                <a:solidFill>
                  <a:srgbClr val="CC0000"/>
                </a:solidFill>
              </a:endParaRPr>
            </a:p>
            <a:p>
              <a:pPr eaLnBrk="1" hangingPunct="1">
                <a:buFontTx/>
                <a:buAutoNum type="arabicPeriod"/>
              </a:pPr>
              <a:r>
                <a:rPr lang="en-US" dirty="0">
                  <a:solidFill>
                    <a:srgbClr val="CC0000"/>
                  </a:solidFill>
                </a:rPr>
                <a:t> </a:t>
              </a:r>
              <a:r>
                <a:rPr lang="en-US" b="1" dirty="0"/>
                <a:t>for</a:t>
              </a:r>
              <a:r>
                <a:rPr lang="en-US" dirty="0">
                  <a:solidFill>
                    <a:schemeClr val="hlink"/>
                  </a:solidFill>
                </a:rPr>
                <a:t>  each vertex </a:t>
              </a:r>
              <a:r>
                <a:rPr lang="en-US" dirty="0" err="1">
                  <a:solidFill>
                    <a:schemeClr val="hlink"/>
                  </a:solidFill>
                  <a:sym typeface="Symbol" pitchFamily="18" charset="2"/>
                </a:rPr>
                <a:t>uV</a:t>
              </a:r>
              <a:r>
                <a:rPr lang="en-US" dirty="0">
                  <a:solidFill>
                    <a:schemeClr val="hlink"/>
                  </a:solidFill>
                  <a:sym typeface="Symbol" pitchFamily="18" charset="2"/>
                </a:rPr>
                <a:t>(G) </a:t>
              </a:r>
              <a:r>
                <a:rPr lang="en-US" b="1" dirty="0"/>
                <a:t>do  </a:t>
              </a:r>
              <a:r>
                <a:rPr lang="en-US" dirty="0">
                  <a:solidFill>
                    <a:schemeClr val="hlink"/>
                  </a:solidFill>
                  <a:sym typeface="Symbol" pitchFamily="18" charset="2"/>
                </a:rPr>
                <a:t></a:t>
              </a:r>
              <a:r>
                <a:rPr lang="en-US" dirty="0">
                  <a:solidFill>
                    <a:schemeClr val="hlink"/>
                  </a:solidFill>
                </a:rPr>
                <a:t>color[u], </a:t>
              </a:r>
              <a:r>
                <a:rPr lang="en-US" dirty="0">
                  <a:solidFill>
                    <a:schemeClr val="hlink"/>
                  </a:solidFill>
                  <a:latin typeface="Symbol" pitchFamily="18" charset="2"/>
                </a:rPr>
                <a:t>p</a:t>
              </a:r>
              <a:r>
                <a:rPr lang="en-US" dirty="0">
                  <a:solidFill>
                    <a:schemeClr val="hlink"/>
                  </a:solidFill>
                </a:rPr>
                <a:t>[u]</a:t>
              </a:r>
              <a:r>
                <a:rPr lang="en-US" dirty="0">
                  <a:solidFill>
                    <a:schemeClr val="hlink"/>
                  </a:solidFill>
                  <a:sym typeface="Symbol" pitchFamily="18" charset="2"/>
                </a:rPr>
                <a:t></a:t>
              </a:r>
              <a:r>
                <a:rPr lang="en-US" dirty="0">
                  <a:solidFill>
                    <a:schemeClr val="hlink"/>
                  </a:solidFill>
                </a:rPr>
                <a:t> </a:t>
              </a:r>
              <a:r>
                <a:rPr lang="en-US" dirty="0">
                  <a:solidFill>
                    <a:schemeClr val="hlink"/>
                  </a:solidFill>
                  <a:sym typeface="Symbol" pitchFamily="18" charset="2"/>
                </a:rPr>
                <a:t></a:t>
              </a:r>
              <a:r>
                <a:rPr lang="en-US" dirty="0">
                  <a:solidFill>
                    <a:schemeClr val="hlink"/>
                  </a:solidFill>
                </a:rPr>
                <a:t> </a:t>
              </a:r>
              <a:r>
                <a:rPr lang="en-US" dirty="0">
                  <a:solidFill>
                    <a:schemeClr val="hlink"/>
                  </a:solidFill>
                  <a:sym typeface="Symbol" pitchFamily="18" charset="2"/>
                </a:rPr>
                <a:t></a:t>
              </a:r>
              <a:r>
                <a:rPr lang="en-US" sz="1200" dirty="0">
                  <a:solidFill>
                    <a:schemeClr val="hlink"/>
                  </a:solidFill>
                </a:rPr>
                <a:t>WHITE</a:t>
              </a:r>
              <a:r>
                <a:rPr lang="en-US" dirty="0">
                  <a:solidFill>
                    <a:schemeClr val="hlink"/>
                  </a:solidFill>
                </a:rPr>
                <a:t>, nil</a:t>
              </a:r>
              <a:r>
                <a:rPr lang="en-US" dirty="0">
                  <a:solidFill>
                    <a:schemeClr val="hlink"/>
                  </a:solidFill>
                  <a:sym typeface="Symbol" pitchFamily="18" charset="2"/>
                </a:rPr>
                <a:t></a:t>
              </a:r>
              <a:endParaRPr lang="en-US" dirty="0">
                <a:solidFill>
                  <a:schemeClr val="tx2"/>
                </a:solidFill>
              </a:endParaRPr>
            </a:p>
            <a:p>
              <a:pPr eaLnBrk="1" hangingPunct="1">
                <a:buFontTx/>
                <a:buAutoNum type="arabicPeriod"/>
              </a:pPr>
              <a:r>
                <a:rPr lang="en-US" dirty="0">
                  <a:solidFill>
                    <a:srgbClr val="CC0000"/>
                  </a:solidFill>
                </a:rPr>
                <a:t> </a:t>
              </a:r>
              <a:r>
                <a:rPr lang="en-US" b="1" dirty="0"/>
                <a:t>for</a:t>
              </a:r>
              <a:r>
                <a:rPr lang="en-US" dirty="0">
                  <a:solidFill>
                    <a:schemeClr val="hlink"/>
                  </a:solidFill>
                </a:rPr>
                <a:t>  each vertex </a:t>
              </a:r>
              <a:r>
                <a:rPr lang="en-US" dirty="0" err="1">
                  <a:solidFill>
                    <a:schemeClr val="hlink"/>
                  </a:solidFill>
                  <a:sym typeface="Symbol" pitchFamily="18" charset="2"/>
                </a:rPr>
                <a:t>uV</a:t>
              </a:r>
              <a:r>
                <a:rPr lang="en-US" dirty="0">
                  <a:solidFill>
                    <a:schemeClr val="hlink"/>
                  </a:solidFill>
                  <a:sym typeface="Symbol" pitchFamily="18" charset="2"/>
                </a:rPr>
                <a:t>(G) </a:t>
              </a:r>
              <a:r>
                <a:rPr lang="en-US" b="1" dirty="0"/>
                <a:t>do   </a:t>
              </a:r>
              <a:br>
                <a:rPr lang="en-US" b="1" dirty="0"/>
              </a:br>
              <a:r>
                <a:rPr lang="en-US" dirty="0">
                  <a:solidFill>
                    <a:srgbClr val="CC0000"/>
                  </a:solidFill>
                </a:rPr>
                <a:t>     </a:t>
              </a:r>
              <a:r>
                <a:rPr lang="en-US" b="1" dirty="0">
                  <a:solidFill>
                    <a:schemeClr val="tx2"/>
                  </a:solidFill>
                </a:rPr>
                <a:t>if</a:t>
              </a:r>
              <a:r>
                <a:rPr lang="en-US" dirty="0">
                  <a:solidFill>
                    <a:schemeClr val="tx2"/>
                  </a:solidFill>
                </a:rPr>
                <a:t> </a:t>
              </a:r>
              <a:r>
                <a:rPr lang="en-US" dirty="0">
                  <a:solidFill>
                    <a:schemeClr val="hlink"/>
                  </a:solidFill>
                </a:rPr>
                <a:t>color[u] = </a:t>
              </a:r>
              <a:r>
                <a:rPr lang="en-US" sz="1200" dirty="0">
                  <a:solidFill>
                    <a:schemeClr val="hlink"/>
                  </a:solidFill>
                </a:rPr>
                <a:t>WHITE</a:t>
              </a:r>
              <a:r>
                <a:rPr lang="en-US" dirty="0">
                  <a:solidFill>
                    <a:schemeClr val="hlink"/>
                  </a:solidFill>
                </a:rPr>
                <a:t>  </a:t>
              </a:r>
              <a:r>
                <a:rPr lang="en-US" b="1" dirty="0">
                  <a:solidFill>
                    <a:schemeClr val="tx2"/>
                  </a:solidFill>
                </a:rPr>
                <a:t>then  </a:t>
              </a:r>
              <a:r>
                <a:rPr lang="en-US" b="1" dirty="0" err="1">
                  <a:solidFill>
                    <a:schemeClr val="hlink"/>
                  </a:solidFill>
                  <a:sym typeface="Symbol" pitchFamily="18" charset="2"/>
                </a:rPr>
                <a:t>DFSvisit</a:t>
              </a:r>
              <a:r>
                <a:rPr lang="en-US" dirty="0">
                  <a:solidFill>
                    <a:schemeClr val="hlink"/>
                  </a:solidFill>
                  <a:sym typeface="Symbol" pitchFamily="18" charset="2"/>
                </a:rPr>
                <a:t>(u) </a:t>
              </a:r>
            </a:p>
            <a:p>
              <a:pPr eaLnBrk="1" hangingPunct="1">
                <a:buFontTx/>
                <a:buNone/>
              </a:pPr>
              <a:r>
                <a:rPr lang="en-US" b="1" dirty="0"/>
                <a:t>end</a:t>
              </a:r>
              <a:endParaRPr lang="en-US" dirty="0">
                <a:solidFill>
                  <a:schemeClr val="hlink"/>
                </a:solidFill>
                <a:sym typeface="Symbol" pitchFamily="18" charset="2"/>
              </a:endParaRPr>
            </a:p>
          </p:txBody>
        </p:sp>
        <p:sp>
          <p:nvSpPr>
            <p:cNvPr id="31752" name="Rectangle 13"/>
            <p:cNvSpPr>
              <a:spLocks noChangeArrowheads="1"/>
            </p:cNvSpPr>
            <p:nvPr/>
          </p:nvSpPr>
          <p:spPr bwMode="auto">
            <a:xfrm>
              <a:off x="3744" y="480"/>
              <a:ext cx="1920" cy="1924"/>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eaLnBrk="1" hangingPunct="1">
                <a:spcBef>
                  <a:spcPct val="50000"/>
                </a:spcBef>
                <a:buFontTx/>
                <a:buNone/>
              </a:pPr>
              <a:r>
                <a:rPr lang="en-US" b="1" dirty="0">
                  <a:sym typeface="Symbol" pitchFamily="18" charset="2"/>
                </a:rPr>
                <a:t>Procedure</a:t>
              </a:r>
              <a:r>
                <a:rPr lang="en-US" b="1" dirty="0">
                  <a:solidFill>
                    <a:schemeClr val="hlink"/>
                  </a:solidFill>
                  <a:sym typeface="Symbol" pitchFamily="18" charset="2"/>
                </a:rPr>
                <a:t>  </a:t>
              </a:r>
              <a:r>
                <a:rPr lang="en-US" b="1" dirty="0" err="1">
                  <a:solidFill>
                    <a:schemeClr val="hlink"/>
                  </a:solidFill>
                  <a:sym typeface="Symbol" pitchFamily="18" charset="2"/>
                </a:rPr>
                <a:t>DFSvisit</a:t>
              </a:r>
              <a:r>
                <a:rPr lang="en-US" dirty="0">
                  <a:solidFill>
                    <a:schemeClr val="hlink"/>
                  </a:solidFill>
                  <a:sym typeface="Symbol" pitchFamily="18" charset="2"/>
                </a:rPr>
                <a:t>(u)</a:t>
              </a:r>
              <a:r>
                <a:rPr lang="en-US" dirty="0">
                  <a:solidFill>
                    <a:srgbClr val="CC0000"/>
                  </a:solidFill>
                  <a:cs typeface="Arial" pitchFamily="34" charset="0"/>
                </a:rPr>
                <a:t/>
              </a:r>
              <a:br>
                <a:rPr lang="en-US" dirty="0">
                  <a:solidFill>
                    <a:srgbClr val="CC0000"/>
                  </a:solidFill>
                  <a:cs typeface="Arial" pitchFamily="34" charset="0"/>
                </a:rPr>
              </a:br>
              <a:r>
                <a:rPr lang="en-US" dirty="0">
                  <a:solidFill>
                    <a:srgbClr val="CC0000"/>
                  </a:solidFill>
                </a:rPr>
                <a:t>4.</a:t>
              </a:r>
              <a:r>
                <a:rPr lang="en-US" dirty="0">
                  <a:solidFill>
                    <a:schemeClr val="hlink"/>
                  </a:solidFill>
                </a:rPr>
                <a:t>   d[u] </a:t>
              </a:r>
              <a:r>
                <a:rPr lang="en-US" dirty="0">
                  <a:solidFill>
                    <a:schemeClr val="hlink"/>
                  </a:solidFill>
                  <a:sym typeface="Symbol" pitchFamily="18" charset="2"/>
                </a:rPr>
                <a:t> time</a:t>
              </a:r>
              <a:r>
                <a:rPr lang="en-US" dirty="0">
                  <a:solidFill>
                    <a:schemeClr val="hlink"/>
                  </a:solidFill>
                </a:rPr>
                <a:t> </a:t>
              </a:r>
              <a:r>
                <a:rPr lang="en-US" dirty="0">
                  <a:solidFill>
                    <a:schemeClr val="hlink"/>
                  </a:solidFill>
                  <a:sym typeface="Symbol" pitchFamily="18" charset="2"/>
                </a:rPr>
                <a:t></a:t>
              </a:r>
              <a:r>
                <a:rPr lang="en-US" dirty="0">
                  <a:solidFill>
                    <a:schemeClr val="hlink"/>
                  </a:solidFill>
                </a:rPr>
                <a:t> </a:t>
              </a:r>
              <a:r>
                <a:rPr lang="en-US" dirty="0">
                  <a:solidFill>
                    <a:schemeClr val="hlink"/>
                  </a:solidFill>
                  <a:sym typeface="Symbol" pitchFamily="18" charset="2"/>
                </a:rPr>
                <a:t>time + 1</a:t>
              </a:r>
              <a:r>
                <a:rPr lang="en-US" dirty="0">
                  <a:solidFill>
                    <a:srgbClr val="CC0000"/>
                  </a:solidFill>
                  <a:cs typeface="Arial" pitchFamily="34" charset="0"/>
                </a:rPr>
                <a:t> </a:t>
              </a:r>
              <a:br>
                <a:rPr lang="en-US" dirty="0">
                  <a:solidFill>
                    <a:srgbClr val="CC0000"/>
                  </a:solidFill>
                  <a:cs typeface="Arial" pitchFamily="34" charset="0"/>
                </a:rPr>
              </a:br>
              <a:r>
                <a:rPr lang="en-US" dirty="0">
                  <a:solidFill>
                    <a:srgbClr val="CC0000"/>
                  </a:solidFill>
                  <a:cs typeface="Arial" pitchFamily="34" charset="0"/>
                </a:rPr>
                <a:t>5.   </a:t>
              </a:r>
              <a:r>
                <a:rPr lang="en-US" dirty="0">
                  <a:solidFill>
                    <a:schemeClr val="hlink"/>
                  </a:solidFill>
                </a:rPr>
                <a:t>color[u] </a:t>
              </a:r>
              <a:r>
                <a:rPr lang="en-US" dirty="0">
                  <a:solidFill>
                    <a:schemeClr val="hlink"/>
                  </a:solidFill>
                  <a:sym typeface="Symbol" pitchFamily="18" charset="2"/>
                </a:rPr>
                <a:t></a:t>
              </a:r>
              <a:r>
                <a:rPr lang="en-US" dirty="0">
                  <a:solidFill>
                    <a:schemeClr val="hlink"/>
                  </a:solidFill>
                </a:rPr>
                <a:t> </a:t>
              </a:r>
              <a:r>
                <a:rPr lang="en-US" sz="1200" dirty="0">
                  <a:solidFill>
                    <a:schemeClr val="hlink"/>
                  </a:solidFill>
                </a:rPr>
                <a:t>GRAY</a:t>
              </a:r>
              <a:r>
                <a:rPr lang="en-US" dirty="0">
                  <a:solidFill>
                    <a:schemeClr val="hlink"/>
                  </a:solidFill>
                  <a:sym typeface="Symbol" pitchFamily="18" charset="2"/>
                </a:rPr>
                <a:t> </a:t>
              </a:r>
              <a:r>
                <a:rPr lang="en-US" dirty="0">
                  <a:solidFill>
                    <a:schemeClr val="tx2"/>
                  </a:solidFill>
                </a:rPr>
                <a:t/>
              </a:r>
              <a:br>
                <a:rPr lang="en-US" dirty="0">
                  <a:solidFill>
                    <a:schemeClr val="tx2"/>
                  </a:solidFill>
                </a:rPr>
              </a:br>
              <a:r>
                <a:rPr lang="en-US" dirty="0">
                  <a:solidFill>
                    <a:srgbClr val="CC0000"/>
                  </a:solidFill>
                </a:rPr>
                <a:t>6.</a:t>
              </a:r>
              <a:r>
                <a:rPr lang="en-US" dirty="0">
                  <a:solidFill>
                    <a:schemeClr val="tx2"/>
                  </a:solidFill>
                </a:rPr>
                <a:t>   </a:t>
              </a:r>
              <a:r>
                <a:rPr lang="en-US" b="1" dirty="0"/>
                <a:t>for</a:t>
              </a:r>
              <a:r>
                <a:rPr lang="en-US" dirty="0">
                  <a:solidFill>
                    <a:schemeClr val="hlink"/>
                  </a:solidFill>
                </a:rPr>
                <a:t> each vertex </a:t>
              </a:r>
              <a:r>
                <a:rPr lang="en-US" dirty="0" err="1">
                  <a:solidFill>
                    <a:schemeClr val="hlink"/>
                  </a:solidFill>
                  <a:sym typeface="Symbol" pitchFamily="18" charset="2"/>
                </a:rPr>
                <a:t>vAdj</a:t>
              </a:r>
              <a:r>
                <a:rPr lang="en-US" dirty="0">
                  <a:solidFill>
                    <a:schemeClr val="hlink"/>
                  </a:solidFill>
                  <a:sym typeface="Symbol" pitchFamily="18" charset="2"/>
                </a:rPr>
                <a:t>[u] </a:t>
              </a:r>
              <a:r>
                <a:rPr lang="en-US" b="1" dirty="0"/>
                <a:t>do</a:t>
              </a:r>
              <a:r>
                <a:rPr lang="en-US" dirty="0">
                  <a:solidFill>
                    <a:srgbClr val="CC0000"/>
                  </a:solidFill>
                </a:rPr>
                <a:t/>
              </a:r>
              <a:br>
                <a:rPr lang="en-US" dirty="0">
                  <a:solidFill>
                    <a:srgbClr val="CC0000"/>
                  </a:solidFill>
                </a:rPr>
              </a:br>
              <a:r>
                <a:rPr lang="en-US" dirty="0">
                  <a:solidFill>
                    <a:srgbClr val="CC0000"/>
                  </a:solidFill>
                </a:rPr>
                <a:t>7.       </a:t>
              </a:r>
              <a:r>
                <a:rPr lang="en-US" b="1" dirty="0">
                  <a:solidFill>
                    <a:schemeClr val="tx2"/>
                  </a:solidFill>
                </a:rPr>
                <a:t>if</a:t>
              </a:r>
              <a:r>
                <a:rPr lang="en-US" dirty="0">
                  <a:solidFill>
                    <a:schemeClr val="tx2"/>
                  </a:solidFill>
                </a:rPr>
                <a:t> </a:t>
              </a:r>
              <a:r>
                <a:rPr lang="en-US" dirty="0">
                  <a:solidFill>
                    <a:schemeClr val="hlink"/>
                  </a:solidFill>
                </a:rPr>
                <a:t>color[v] = </a:t>
              </a:r>
              <a:r>
                <a:rPr lang="en-US" sz="1200" dirty="0">
                  <a:solidFill>
                    <a:schemeClr val="hlink"/>
                  </a:solidFill>
                </a:rPr>
                <a:t>WHITE</a:t>
              </a:r>
              <a:r>
                <a:rPr lang="en-US" dirty="0">
                  <a:solidFill>
                    <a:schemeClr val="hlink"/>
                  </a:solidFill>
                </a:rPr>
                <a:t>  </a:t>
              </a:r>
              <a:r>
                <a:rPr lang="en-US" b="1" dirty="0">
                  <a:solidFill>
                    <a:schemeClr val="tx2"/>
                  </a:solidFill>
                </a:rPr>
                <a:t>then do</a:t>
              </a:r>
              <a:br>
                <a:rPr lang="en-US" b="1" dirty="0">
                  <a:solidFill>
                    <a:schemeClr val="tx2"/>
                  </a:solidFill>
                </a:rPr>
              </a:br>
              <a:r>
                <a:rPr lang="en-US" dirty="0">
                  <a:solidFill>
                    <a:srgbClr val="CC0000"/>
                  </a:solidFill>
                </a:rPr>
                <a:t>8.            </a:t>
              </a:r>
              <a:r>
                <a:rPr lang="en-US" dirty="0">
                  <a:solidFill>
                    <a:schemeClr val="hlink"/>
                  </a:solidFill>
                  <a:latin typeface="Symbol" pitchFamily="18" charset="2"/>
                </a:rPr>
                <a:t>p</a:t>
              </a:r>
              <a:r>
                <a:rPr lang="en-US" dirty="0">
                  <a:solidFill>
                    <a:schemeClr val="hlink"/>
                  </a:solidFill>
                </a:rPr>
                <a:t>[v] </a:t>
              </a:r>
              <a:r>
                <a:rPr lang="en-US" dirty="0">
                  <a:solidFill>
                    <a:schemeClr val="hlink"/>
                  </a:solidFill>
                  <a:sym typeface="Symbol" pitchFamily="18" charset="2"/>
                </a:rPr>
                <a:t></a:t>
              </a:r>
              <a:r>
                <a:rPr lang="en-US" dirty="0">
                  <a:solidFill>
                    <a:schemeClr val="hlink"/>
                  </a:solidFill>
                </a:rPr>
                <a:t> u </a:t>
              </a:r>
              <a:br>
                <a:rPr lang="en-US" dirty="0">
                  <a:solidFill>
                    <a:schemeClr val="hlink"/>
                  </a:solidFill>
                </a:rPr>
              </a:br>
              <a:r>
                <a:rPr lang="en-US" dirty="0">
                  <a:solidFill>
                    <a:srgbClr val="CC0000"/>
                  </a:solidFill>
                </a:rPr>
                <a:t>9.</a:t>
              </a:r>
              <a:r>
                <a:rPr lang="en-US" dirty="0">
                  <a:solidFill>
                    <a:schemeClr val="hlink"/>
                  </a:solidFill>
                </a:rPr>
                <a:t>          </a:t>
              </a:r>
              <a:r>
                <a:rPr lang="en-US" b="1" dirty="0" err="1">
                  <a:solidFill>
                    <a:schemeClr val="hlink"/>
                  </a:solidFill>
                  <a:sym typeface="Symbol" pitchFamily="18" charset="2"/>
                </a:rPr>
                <a:t>DFSvisit</a:t>
              </a:r>
              <a:r>
                <a:rPr lang="en-US" dirty="0">
                  <a:solidFill>
                    <a:schemeClr val="hlink"/>
                  </a:solidFill>
                  <a:sym typeface="Symbol" pitchFamily="18" charset="2"/>
                </a:rPr>
                <a:t>(v)</a:t>
              </a:r>
              <a:r>
                <a:rPr lang="en-US" dirty="0">
                  <a:solidFill>
                    <a:schemeClr val="tx2"/>
                  </a:solidFill>
                </a:rPr>
                <a:t/>
              </a:r>
              <a:br>
                <a:rPr lang="en-US" dirty="0">
                  <a:solidFill>
                    <a:schemeClr val="tx2"/>
                  </a:solidFill>
                </a:rPr>
              </a:br>
              <a:r>
                <a:rPr lang="en-US" dirty="0">
                  <a:solidFill>
                    <a:srgbClr val="CC0000"/>
                  </a:solidFill>
                </a:rPr>
                <a:t>10.</a:t>
              </a:r>
              <a:r>
                <a:rPr lang="en-US" dirty="0">
                  <a:solidFill>
                    <a:schemeClr val="tx2"/>
                  </a:solidFill>
                </a:rPr>
                <a:t>  </a:t>
              </a:r>
              <a:r>
                <a:rPr lang="en-US" dirty="0">
                  <a:solidFill>
                    <a:srgbClr val="CC0000"/>
                  </a:solidFill>
                </a:rPr>
                <a:t>   </a:t>
              </a:r>
              <a:r>
                <a:rPr lang="en-US" b="1" dirty="0"/>
                <a:t>end-if</a:t>
              </a:r>
              <a:br>
                <a:rPr lang="en-US" b="1" dirty="0"/>
              </a:br>
              <a:r>
                <a:rPr lang="en-US" dirty="0">
                  <a:solidFill>
                    <a:srgbClr val="CC0000"/>
                  </a:solidFill>
                </a:rPr>
                <a:t>11.</a:t>
              </a:r>
              <a:r>
                <a:rPr lang="en-US" b="1" dirty="0"/>
                <a:t>  end-for</a:t>
              </a:r>
              <a:br>
                <a:rPr lang="en-US" b="1" dirty="0"/>
              </a:br>
              <a:r>
                <a:rPr lang="en-US" dirty="0">
                  <a:solidFill>
                    <a:srgbClr val="CC0000"/>
                  </a:solidFill>
                </a:rPr>
                <a:t>12.</a:t>
              </a:r>
              <a:r>
                <a:rPr lang="en-US" b="1" dirty="0"/>
                <a:t>  </a:t>
              </a:r>
              <a:r>
                <a:rPr lang="en-US" dirty="0">
                  <a:solidFill>
                    <a:schemeClr val="hlink"/>
                  </a:solidFill>
                </a:rPr>
                <a:t>color[u] </a:t>
              </a:r>
              <a:r>
                <a:rPr lang="en-US" dirty="0">
                  <a:solidFill>
                    <a:schemeClr val="hlink"/>
                  </a:solidFill>
                  <a:sym typeface="Symbol" pitchFamily="18" charset="2"/>
                </a:rPr>
                <a:t></a:t>
              </a:r>
              <a:r>
                <a:rPr lang="en-US" dirty="0">
                  <a:solidFill>
                    <a:schemeClr val="hlink"/>
                  </a:solidFill>
                </a:rPr>
                <a:t> </a:t>
              </a:r>
              <a:r>
                <a:rPr lang="en-US" sz="1200" dirty="0">
                  <a:solidFill>
                    <a:schemeClr val="hlink"/>
                  </a:solidFill>
                </a:rPr>
                <a:t>BLACK</a:t>
              </a:r>
              <a:r>
                <a:rPr lang="en-US" sz="1400" dirty="0">
                  <a:solidFill>
                    <a:schemeClr val="hlink"/>
                  </a:solidFill>
                </a:rPr>
                <a:t> </a:t>
              </a:r>
              <a:br>
                <a:rPr lang="en-US" sz="1400" dirty="0">
                  <a:solidFill>
                    <a:schemeClr val="hlink"/>
                  </a:solidFill>
                </a:rPr>
              </a:br>
              <a:r>
                <a:rPr lang="en-US" dirty="0">
                  <a:solidFill>
                    <a:srgbClr val="CC0000"/>
                  </a:solidFill>
                </a:rPr>
                <a:t>13.</a:t>
              </a:r>
              <a:r>
                <a:rPr lang="en-US" sz="1400" dirty="0">
                  <a:solidFill>
                    <a:schemeClr val="hlink"/>
                  </a:solidFill>
                </a:rPr>
                <a:t>  </a:t>
              </a:r>
              <a:r>
                <a:rPr lang="en-US" dirty="0">
                  <a:solidFill>
                    <a:schemeClr val="hlink"/>
                  </a:solidFill>
                </a:rPr>
                <a:t>f[u] </a:t>
              </a:r>
              <a:r>
                <a:rPr lang="en-US" dirty="0">
                  <a:solidFill>
                    <a:schemeClr val="hlink"/>
                  </a:solidFill>
                  <a:sym typeface="Symbol" pitchFamily="18" charset="2"/>
                </a:rPr>
                <a:t> time</a:t>
              </a:r>
              <a:r>
                <a:rPr lang="en-US" dirty="0">
                  <a:solidFill>
                    <a:schemeClr val="hlink"/>
                  </a:solidFill>
                </a:rPr>
                <a:t> </a:t>
              </a:r>
              <a:r>
                <a:rPr lang="en-US" dirty="0">
                  <a:solidFill>
                    <a:schemeClr val="hlink"/>
                  </a:solidFill>
                  <a:sym typeface="Symbol" pitchFamily="18" charset="2"/>
                </a:rPr>
                <a:t></a:t>
              </a:r>
              <a:r>
                <a:rPr lang="en-US" dirty="0">
                  <a:solidFill>
                    <a:schemeClr val="hlink"/>
                  </a:solidFill>
                </a:rPr>
                <a:t> </a:t>
              </a:r>
              <a:r>
                <a:rPr lang="en-US" dirty="0">
                  <a:solidFill>
                    <a:schemeClr val="hlink"/>
                  </a:solidFill>
                  <a:sym typeface="Symbol" pitchFamily="18" charset="2"/>
                </a:rPr>
                <a:t>time + 1</a:t>
              </a:r>
              <a:r>
                <a:rPr lang="en-US" dirty="0">
                  <a:solidFill>
                    <a:srgbClr val="CC0000"/>
                  </a:solidFill>
                  <a:cs typeface="Arial" pitchFamily="34" charset="0"/>
                </a:rPr>
                <a:t> </a:t>
              </a:r>
              <a:br>
                <a:rPr lang="en-US" dirty="0">
                  <a:solidFill>
                    <a:srgbClr val="CC0000"/>
                  </a:solidFill>
                  <a:cs typeface="Arial" pitchFamily="34" charset="0"/>
                </a:rPr>
              </a:br>
              <a:r>
                <a:rPr lang="en-US" b="1" dirty="0"/>
                <a:t>end</a:t>
              </a:r>
              <a:r>
                <a:rPr lang="en-US" dirty="0">
                  <a:solidFill>
                    <a:schemeClr val="hlink"/>
                  </a:solidFill>
                </a:rPr>
                <a:t> </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19810"/>
                                        </p:tgtEl>
                                        <p:attrNameLst>
                                          <p:attrName>style.visibility</p:attrName>
                                        </p:attrNameLst>
                                      </p:cBhvr>
                                      <p:to>
                                        <p:strVal val="visible"/>
                                      </p:to>
                                    </p:set>
                                    <p:anim calcmode="lin" valueType="num">
                                      <p:cBhvr>
                                        <p:cTn id="7" dur="500" fill="hold"/>
                                        <p:tgtEl>
                                          <p:spTgt spid="119810"/>
                                        </p:tgtEl>
                                        <p:attrNameLst>
                                          <p:attrName>ppt_w</p:attrName>
                                        </p:attrNameLst>
                                      </p:cBhvr>
                                      <p:tavLst>
                                        <p:tav tm="0">
                                          <p:val>
                                            <p:fltVal val="0"/>
                                          </p:val>
                                        </p:tav>
                                        <p:tav tm="100000">
                                          <p:val>
                                            <p:strVal val="#ppt_w"/>
                                          </p:val>
                                        </p:tav>
                                      </p:tavLst>
                                    </p:anim>
                                    <p:anim calcmode="lin" valueType="num">
                                      <p:cBhvr>
                                        <p:cTn id="8" dur="500" fill="hold"/>
                                        <p:tgtEl>
                                          <p:spTgt spid="11981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119823"/>
                                        </p:tgtEl>
                                        <p:attrNameLst>
                                          <p:attrName>style.visibility</p:attrName>
                                        </p:attrNameLst>
                                      </p:cBhvr>
                                      <p:to>
                                        <p:strVal val="visible"/>
                                      </p:to>
                                    </p:set>
                                    <p:animEffect transition="in" filter="wipe(up)">
                                      <p:cBhvr>
                                        <p:cTn id="13" dur="500"/>
                                        <p:tgtEl>
                                          <p:spTgt spid="11982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9818">
                                            <p:txEl>
                                              <p:pRg st="0" end="0"/>
                                            </p:txEl>
                                          </p:spTgt>
                                        </p:tgtEl>
                                        <p:attrNameLst>
                                          <p:attrName>style.visibility</p:attrName>
                                        </p:attrNameLst>
                                      </p:cBhvr>
                                      <p:to>
                                        <p:strVal val="visible"/>
                                      </p:to>
                                    </p:set>
                                    <p:animEffect transition="in" filter="wipe(left)">
                                      <p:cBhvr>
                                        <p:cTn id="18" dur="500"/>
                                        <p:tgtEl>
                                          <p:spTgt spid="119818">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9818">
                                            <p:txEl>
                                              <p:pRg st="1" end="1"/>
                                            </p:txEl>
                                          </p:spTgt>
                                        </p:tgtEl>
                                        <p:attrNameLst>
                                          <p:attrName>style.visibility</p:attrName>
                                        </p:attrNameLst>
                                      </p:cBhvr>
                                      <p:to>
                                        <p:strVal val="visible"/>
                                      </p:to>
                                    </p:set>
                                    <p:animEffect transition="in" filter="wipe(left)">
                                      <p:cBhvr>
                                        <p:cTn id="23" dur="500"/>
                                        <p:tgtEl>
                                          <p:spTgt spid="119818">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19818">
                                            <p:txEl>
                                              <p:pRg st="2" end="2"/>
                                            </p:txEl>
                                          </p:spTgt>
                                        </p:tgtEl>
                                        <p:attrNameLst>
                                          <p:attrName>style.visibility</p:attrName>
                                        </p:attrNameLst>
                                      </p:cBhvr>
                                      <p:to>
                                        <p:strVal val="visible"/>
                                      </p:to>
                                    </p:set>
                                    <p:animEffect transition="in" filter="wipe(left)">
                                      <p:cBhvr>
                                        <p:cTn id="28" dur="500"/>
                                        <p:tgtEl>
                                          <p:spTgt spid="119818">
                                            <p:txEl>
                                              <p:pRg st="2" end="2"/>
                                            </p:txEl>
                                          </p:spTgt>
                                        </p:tgtEl>
                                      </p:cBhvr>
                                    </p:animEffect>
                                  </p:childTnLst>
                                </p:cTn>
                              </p:par>
                            </p:childTnLst>
                          </p:cTn>
                        </p:par>
                        <p:par>
                          <p:cTn id="29" fill="hold" nodeType="afterGroup">
                            <p:stCondLst>
                              <p:cond delay="500"/>
                            </p:stCondLst>
                            <p:childTnLst>
                              <p:par>
                                <p:cTn id="30" presetID="22" presetClass="entr" presetSubtype="8" fill="hold" nodeType="afterEffect">
                                  <p:stCondLst>
                                    <p:cond delay="1000"/>
                                  </p:stCondLst>
                                  <p:childTnLst>
                                    <p:set>
                                      <p:cBhvr>
                                        <p:cTn id="31" dur="1" fill="hold">
                                          <p:stCondLst>
                                            <p:cond delay="0"/>
                                          </p:stCondLst>
                                        </p:cTn>
                                        <p:tgtEl>
                                          <p:spTgt spid="119819"/>
                                        </p:tgtEl>
                                        <p:attrNameLst>
                                          <p:attrName>style.visibility</p:attrName>
                                        </p:attrNameLst>
                                      </p:cBhvr>
                                      <p:to>
                                        <p:strVal val="visible"/>
                                      </p:to>
                                    </p:set>
                                    <p:animEffect transition="in" filter="wipe(left)">
                                      <p:cBhvr>
                                        <p:cTn id="32" dur="500"/>
                                        <p:tgtEl>
                                          <p:spTgt spid="119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animBg="1" autoUpdateAnimBg="0"/>
      <p:bldP spid="119818"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The Parenthesis Theorem  (PT)</a:t>
            </a:r>
          </a:p>
        </p:txBody>
      </p:sp>
      <p:sp>
        <p:nvSpPr>
          <p:cNvPr id="105476" name="Rectangle 4" descr="Recycled paper"/>
          <p:cNvSpPr>
            <a:spLocks noChangeArrowheads="1"/>
          </p:cNvSpPr>
          <p:nvPr/>
        </p:nvSpPr>
        <p:spPr bwMode="auto">
          <a:xfrm>
            <a:off x="152400" y="838200"/>
            <a:ext cx="8839200" cy="27622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spcBef>
                <a:spcPct val="50000"/>
              </a:spcBef>
              <a:buFontTx/>
              <a:buNone/>
            </a:pPr>
            <a:r>
              <a:rPr lang="en-US" sz="2400" b="1" dirty="0">
                <a:solidFill>
                  <a:srgbClr val="CC0000"/>
                </a:solidFill>
              </a:rPr>
              <a:t>The Parenthesis Theorem (PT):</a:t>
            </a:r>
          </a:p>
          <a:p>
            <a:pPr marL="457200" indent="-457200" eaLnBrk="1" hangingPunct="1">
              <a:spcBef>
                <a:spcPct val="50000"/>
              </a:spcBef>
              <a:buFontTx/>
              <a:buAutoNum type="arabicPeriod"/>
            </a:pPr>
            <a:r>
              <a:rPr lang="en-US" sz="2000" dirty="0">
                <a:solidFill>
                  <a:schemeClr val="hlink"/>
                </a:solidFill>
              </a:rPr>
              <a:t>For all nodes u:  d[u] &lt; f[u].             </a:t>
            </a:r>
            <a:br>
              <a:rPr lang="en-US" sz="2000" dirty="0">
                <a:solidFill>
                  <a:schemeClr val="hlink"/>
                </a:solidFill>
              </a:rPr>
            </a:br>
            <a:r>
              <a:rPr lang="en-US" sz="2000" dirty="0">
                <a:solidFill>
                  <a:srgbClr val="CC0000"/>
                </a:solidFill>
              </a:rPr>
              <a:t>[d[u], f[u]] is activation time interval of </a:t>
            </a:r>
            <a:r>
              <a:rPr lang="en-US" sz="2000" dirty="0" err="1">
                <a:solidFill>
                  <a:srgbClr val="CC0000"/>
                </a:solidFill>
              </a:rPr>
              <a:t>DFSvisit</a:t>
            </a:r>
            <a:r>
              <a:rPr lang="en-US" sz="2000" dirty="0">
                <a:solidFill>
                  <a:srgbClr val="CC0000"/>
                </a:solidFill>
              </a:rPr>
              <a:t>(u).</a:t>
            </a:r>
          </a:p>
          <a:p>
            <a:pPr marL="457200" indent="-457200" eaLnBrk="1" hangingPunct="1">
              <a:spcBef>
                <a:spcPct val="50000"/>
              </a:spcBef>
              <a:buFontTx/>
              <a:buAutoNum type="arabicPeriod"/>
            </a:pPr>
            <a:r>
              <a:rPr lang="en-US" sz="2000" dirty="0">
                <a:solidFill>
                  <a:schemeClr val="hlink"/>
                </a:solidFill>
              </a:rPr>
              <a:t>For every pair of nodes u &amp; v, their time intervals [d[u],f[u]] and [d[v],f[v]] are either disjoint or one encloses the other  </a:t>
            </a:r>
            <a:r>
              <a:rPr lang="en-US" sz="2000" dirty="0">
                <a:solidFill>
                  <a:srgbClr val="CC0000"/>
                </a:solidFill>
              </a:rPr>
              <a:t>(no partial overlap).</a:t>
            </a:r>
            <a:r>
              <a:rPr lang="en-US" sz="2000" dirty="0">
                <a:solidFill>
                  <a:schemeClr val="hlink"/>
                </a:solidFill>
              </a:rPr>
              <a:t> </a:t>
            </a:r>
          </a:p>
          <a:p>
            <a:pPr marL="457200" indent="-457200" eaLnBrk="1" hangingPunct="1">
              <a:spcBef>
                <a:spcPct val="50000"/>
              </a:spcBef>
              <a:buFontTx/>
              <a:buAutoNum type="arabicPeriod"/>
            </a:pPr>
            <a:r>
              <a:rPr lang="en-US" sz="2000" dirty="0">
                <a:solidFill>
                  <a:schemeClr val="hlink"/>
                </a:solidFill>
              </a:rPr>
              <a:t>u is a DFS ancestor of v   </a:t>
            </a:r>
            <a:r>
              <a:rPr lang="en-US" sz="2000" dirty="0">
                <a:solidFill>
                  <a:srgbClr val="CC0000"/>
                </a:solidFill>
              </a:rPr>
              <a:t>if and only if</a:t>
            </a:r>
            <a:r>
              <a:rPr lang="en-US" sz="2000" dirty="0">
                <a:solidFill>
                  <a:schemeClr val="hlink"/>
                </a:solidFill>
              </a:rPr>
              <a:t> </a:t>
            </a:r>
            <a:br>
              <a:rPr lang="en-US" sz="2000" dirty="0">
                <a:solidFill>
                  <a:schemeClr val="hlink"/>
                </a:solidFill>
              </a:rPr>
            </a:br>
            <a:r>
              <a:rPr lang="en-US" sz="2000" dirty="0">
                <a:solidFill>
                  <a:schemeClr val="hlink"/>
                </a:solidFill>
              </a:rPr>
              <a:t>[d[u],f[u]] encloses [d[v],f[v]], that is, d[u] </a:t>
            </a:r>
            <a:r>
              <a:rPr lang="en-US" sz="2000" dirty="0">
                <a:solidFill>
                  <a:schemeClr val="hlink"/>
                </a:solidFill>
                <a:sym typeface="Symbol" pitchFamily="18" charset="2"/>
              </a:rPr>
              <a:t></a:t>
            </a:r>
            <a:r>
              <a:rPr lang="en-US" sz="2000" dirty="0">
                <a:solidFill>
                  <a:schemeClr val="hlink"/>
                </a:solidFill>
              </a:rPr>
              <a:t> d[v] &lt; f[v] </a:t>
            </a:r>
            <a:r>
              <a:rPr lang="en-US" sz="2000" dirty="0">
                <a:solidFill>
                  <a:schemeClr val="hlink"/>
                </a:solidFill>
                <a:sym typeface="Symbol" pitchFamily="18" charset="2"/>
              </a:rPr>
              <a:t></a:t>
            </a:r>
            <a:r>
              <a:rPr lang="en-US" sz="2000" dirty="0">
                <a:solidFill>
                  <a:schemeClr val="hlink"/>
                </a:solidFill>
              </a:rPr>
              <a:t> f[u].</a:t>
            </a:r>
          </a:p>
        </p:txBody>
      </p:sp>
      <p:sp>
        <p:nvSpPr>
          <p:cNvPr id="105477" name="Rectangle 5"/>
          <p:cNvSpPr>
            <a:spLocks noChangeArrowheads="1"/>
          </p:cNvSpPr>
          <p:nvPr/>
        </p:nvSpPr>
        <p:spPr bwMode="auto">
          <a:xfrm>
            <a:off x="152400" y="3733800"/>
            <a:ext cx="6875463"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000" b="1"/>
              <a:t>Proof:</a:t>
            </a:r>
            <a:r>
              <a:rPr lang="en-US" sz="2000"/>
              <a:t> </a:t>
            </a:r>
            <a:br>
              <a:rPr lang="en-US" sz="2000"/>
            </a:br>
            <a:r>
              <a:rPr lang="en-US" sz="2000"/>
              <a:t>Consider DFS sub-trees T</a:t>
            </a:r>
            <a:r>
              <a:rPr lang="en-US" sz="2000" baseline="-25000"/>
              <a:t>u</a:t>
            </a:r>
            <a:r>
              <a:rPr lang="en-US" sz="2000"/>
              <a:t> and T</a:t>
            </a:r>
            <a:r>
              <a:rPr lang="en-US" sz="2000" baseline="-25000"/>
              <a:t>v</a:t>
            </a:r>
            <a:r>
              <a:rPr lang="en-US" sz="2000"/>
              <a:t> rooted at u &amp; v, respectively.</a:t>
            </a:r>
            <a:br>
              <a:rPr lang="en-US" sz="2000"/>
            </a:br>
            <a:r>
              <a:rPr lang="en-US" sz="2000"/>
              <a:t>T</a:t>
            </a:r>
            <a:r>
              <a:rPr lang="en-US" sz="2000" baseline="-25000"/>
              <a:t>u</a:t>
            </a:r>
            <a:r>
              <a:rPr lang="en-US" sz="2000"/>
              <a:t> and T</a:t>
            </a:r>
            <a:r>
              <a:rPr lang="en-US" sz="2000" baseline="-25000"/>
              <a:t>v</a:t>
            </a:r>
            <a:r>
              <a:rPr lang="en-US" sz="2000"/>
              <a:t> are either completely disjoint, or one includes the other.</a:t>
            </a:r>
            <a:br>
              <a:rPr lang="en-US" sz="2000"/>
            </a:br>
            <a:r>
              <a:rPr lang="en-US" sz="2000"/>
              <a:t>Their DFSvisit activation time intervals will behave accordingly.</a:t>
            </a:r>
            <a:br>
              <a:rPr lang="en-US" sz="2000"/>
            </a:br>
            <a:endParaRPr lang="en-US" sz="2000"/>
          </a:p>
          <a:p>
            <a:pPr eaLnBrk="1" hangingPunct="1">
              <a:buFontTx/>
              <a:buNone/>
            </a:pPr>
            <a:r>
              <a:rPr lang="en-US" sz="2000">
                <a:solidFill>
                  <a:srgbClr val="CC0000"/>
                </a:solidFill>
              </a:rPr>
              <a:t>In the illustrative figure to the right,</a:t>
            </a:r>
            <a:br>
              <a:rPr lang="en-US" sz="2000">
                <a:solidFill>
                  <a:srgbClr val="CC0000"/>
                </a:solidFill>
              </a:rPr>
            </a:br>
            <a:r>
              <a:rPr lang="en-US" sz="2000">
                <a:solidFill>
                  <a:srgbClr val="CC0000"/>
                </a:solidFill>
              </a:rPr>
              <a:t>[d[u],f[u]] encloses [d[v],f[v]], </a:t>
            </a:r>
            <a:br>
              <a:rPr lang="en-US" sz="2000">
                <a:solidFill>
                  <a:srgbClr val="CC0000"/>
                </a:solidFill>
              </a:rPr>
            </a:br>
            <a:r>
              <a:rPr lang="en-US" sz="2000">
                <a:solidFill>
                  <a:srgbClr val="CC0000"/>
                </a:solidFill>
              </a:rPr>
              <a:t>but is disjoint from [d[w],f[w]].</a:t>
            </a:r>
            <a:r>
              <a:rPr lang="en-US" sz="2000"/>
              <a:t> </a:t>
            </a:r>
          </a:p>
        </p:txBody>
      </p:sp>
      <p:grpSp>
        <p:nvGrpSpPr>
          <p:cNvPr id="105492" name="Group 20"/>
          <p:cNvGrpSpPr>
            <a:grpSpLocks/>
          </p:cNvGrpSpPr>
          <p:nvPr/>
        </p:nvGrpSpPr>
        <p:grpSpPr bwMode="auto">
          <a:xfrm>
            <a:off x="6248400" y="3733800"/>
            <a:ext cx="2762250" cy="2895600"/>
            <a:chOff x="3840" y="2304"/>
            <a:chExt cx="1740" cy="1824"/>
          </a:xfrm>
        </p:grpSpPr>
        <p:sp>
          <p:nvSpPr>
            <p:cNvPr id="32774" name="AutoShape 10"/>
            <p:cNvSpPr>
              <a:spLocks noChangeArrowheads="1"/>
            </p:cNvSpPr>
            <p:nvPr/>
          </p:nvSpPr>
          <p:spPr bwMode="auto">
            <a:xfrm>
              <a:off x="3840" y="2496"/>
              <a:ext cx="1728" cy="1632"/>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32775" name="Oval 11"/>
            <p:cNvSpPr>
              <a:spLocks noChangeArrowheads="1"/>
            </p:cNvSpPr>
            <p:nvPr/>
          </p:nvSpPr>
          <p:spPr bwMode="auto">
            <a:xfrm>
              <a:off x="4656" y="2448"/>
              <a:ext cx="96" cy="96"/>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2776" name="Text Box 12"/>
            <p:cNvSpPr txBox="1">
              <a:spLocks noChangeArrowheads="1"/>
            </p:cNvSpPr>
            <p:nvPr/>
          </p:nvSpPr>
          <p:spPr bwMode="auto">
            <a:xfrm>
              <a:off x="4464" y="2304"/>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u</a:t>
              </a:r>
            </a:p>
          </p:txBody>
        </p:sp>
        <p:grpSp>
          <p:nvGrpSpPr>
            <p:cNvPr id="32777" name="Group 16"/>
            <p:cNvGrpSpPr>
              <a:grpSpLocks/>
            </p:cNvGrpSpPr>
            <p:nvPr/>
          </p:nvGrpSpPr>
          <p:grpSpPr bwMode="auto">
            <a:xfrm>
              <a:off x="4560" y="3168"/>
              <a:ext cx="480" cy="720"/>
              <a:chOff x="3552" y="2640"/>
              <a:chExt cx="480" cy="720"/>
            </a:xfrm>
          </p:grpSpPr>
          <p:sp>
            <p:nvSpPr>
              <p:cNvPr id="32782" name="AutoShape 6"/>
              <p:cNvSpPr>
                <a:spLocks noChangeArrowheads="1"/>
              </p:cNvSpPr>
              <p:nvPr/>
            </p:nvSpPr>
            <p:spPr bwMode="auto">
              <a:xfrm>
                <a:off x="3552" y="2832"/>
                <a:ext cx="480" cy="528"/>
              </a:xfrm>
              <a:prstGeom prst="triangle">
                <a:avLst>
                  <a:gd name="adj" fmla="val 50000"/>
                </a:avLst>
              </a:prstGeom>
              <a:solidFill>
                <a:srgbClr val="CC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2783" name="Oval 7"/>
              <p:cNvSpPr>
                <a:spLocks noChangeArrowheads="1"/>
              </p:cNvSpPr>
              <p:nvPr/>
            </p:nvSpPr>
            <p:spPr bwMode="auto">
              <a:xfrm>
                <a:off x="3744" y="2784"/>
                <a:ext cx="96" cy="96"/>
              </a:xfrm>
              <a:prstGeom prst="ellipse">
                <a:avLst/>
              </a:prstGeom>
              <a:solidFill>
                <a:srgbClr val="CCFF99"/>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2784" name="Text Box 13"/>
              <p:cNvSpPr txBox="1">
                <a:spLocks noChangeArrowheads="1"/>
              </p:cNvSpPr>
              <p:nvPr/>
            </p:nvSpPr>
            <p:spPr bwMode="auto">
              <a:xfrm>
                <a:off x="3556" y="264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v</a:t>
                </a:r>
              </a:p>
            </p:txBody>
          </p:sp>
        </p:grpSp>
        <p:grpSp>
          <p:nvGrpSpPr>
            <p:cNvPr id="32778" name="Group 15"/>
            <p:cNvGrpSpPr>
              <a:grpSpLocks/>
            </p:cNvGrpSpPr>
            <p:nvPr/>
          </p:nvGrpSpPr>
          <p:grpSpPr bwMode="auto">
            <a:xfrm>
              <a:off x="5088" y="2352"/>
              <a:ext cx="492" cy="720"/>
              <a:chOff x="4836" y="2592"/>
              <a:chExt cx="492" cy="720"/>
            </a:xfrm>
          </p:grpSpPr>
          <p:sp>
            <p:nvSpPr>
              <p:cNvPr id="32779" name="AutoShape 8"/>
              <p:cNvSpPr>
                <a:spLocks noChangeArrowheads="1"/>
              </p:cNvSpPr>
              <p:nvPr/>
            </p:nvSpPr>
            <p:spPr bwMode="auto">
              <a:xfrm>
                <a:off x="4848" y="2784"/>
                <a:ext cx="480" cy="528"/>
              </a:xfrm>
              <a:prstGeom prst="triangle">
                <a:avLst>
                  <a:gd name="adj" fmla="val 50000"/>
                </a:avLst>
              </a:prstGeom>
              <a:solidFill>
                <a:srgbClr val="FF99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2780" name="Oval 9"/>
              <p:cNvSpPr>
                <a:spLocks noChangeArrowheads="1"/>
              </p:cNvSpPr>
              <p:nvPr/>
            </p:nvSpPr>
            <p:spPr bwMode="auto">
              <a:xfrm>
                <a:off x="5040" y="2736"/>
                <a:ext cx="96" cy="96"/>
              </a:xfrm>
              <a:prstGeom prst="ellipse">
                <a:avLst/>
              </a:prstGeom>
              <a:solidFill>
                <a:srgbClr val="FF99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2781" name="Text Box 14"/>
              <p:cNvSpPr txBox="1">
                <a:spLocks noChangeArrowheads="1"/>
              </p:cNvSpPr>
              <p:nvPr/>
            </p:nvSpPr>
            <p:spPr bwMode="auto">
              <a:xfrm>
                <a:off x="4836" y="259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w</a:t>
                </a:r>
              </a:p>
            </p:txBody>
          </p:sp>
        </p:gr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31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05474"/>
                                        </p:tgtEl>
                                        <p:attrNameLst>
                                          <p:attrName>style.visibility</p:attrName>
                                        </p:attrNameLst>
                                      </p:cBhvr>
                                      <p:to>
                                        <p:strVal val="visible"/>
                                      </p:to>
                                    </p:set>
                                    <p:anim calcmode="lin" valueType="num">
                                      <p:cBhvr>
                                        <p:cTn id="7" dur="500" fill="hold"/>
                                        <p:tgtEl>
                                          <p:spTgt spid="105474"/>
                                        </p:tgtEl>
                                        <p:attrNameLst>
                                          <p:attrName>ppt_w</p:attrName>
                                        </p:attrNameLst>
                                      </p:cBhvr>
                                      <p:tavLst>
                                        <p:tav tm="0">
                                          <p:val>
                                            <p:fltVal val="0"/>
                                          </p:val>
                                        </p:tav>
                                        <p:tav tm="100000">
                                          <p:val>
                                            <p:strVal val="#ppt_w"/>
                                          </p:val>
                                        </p:tav>
                                      </p:tavLst>
                                    </p:anim>
                                    <p:anim calcmode="lin" valueType="num">
                                      <p:cBhvr>
                                        <p:cTn id="8" dur="500" fill="hold"/>
                                        <p:tgtEl>
                                          <p:spTgt spid="105474"/>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05476"/>
                                        </p:tgtEl>
                                        <p:attrNameLst>
                                          <p:attrName>style.visibility</p:attrName>
                                        </p:attrNameLst>
                                      </p:cBhvr>
                                      <p:to>
                                        <p:strVal val="visible"/>
                                      </p:to>
                                    </p:set>
                                    <p:animEffect transition="in" filter="wipe(up)">
                                      <p:cBhvr>
                                        <p:cTn id="12" dur="500"/>
                                        <p:tgtEl>
                                          <p:spTgt spid="1054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5477"/>
                                        </p:tgtEl>
                                        <p:attrNameLst>
                                          <p:attrName>style.visibility</p:attrName>
                                        </p:attrNameLst>
                                      </p:cBhvr>
                                      <p:to>
                                        <p:strVal val="visible"/>
                                      </p:to>
                                    </p:set>
                                    <p:animEffect transition="in" filter="wipe(up)">
                                      <p:cBhvr>
                                        <p:cTn id="17" dur="500"/>
                                        <p:tgtEl>
                                          <p:spTgt spid="105477"/>
                                        </p:tgtEl>
                                      </p:cBhvr>
                                    </p:animEffect>
                                  </p:childTnLst>
                                </p:cTn>
                              </p:par>
                            </p:childTnLst>
                          </p:cTn>
                        </p:par>
                        <p:par>
                          <p:cTn id="18" fill="hold" nodeType="afterGroup">
                            <p:stCondLst>
                              <p:cond delay="500"/>
                            </p:stCondLst>
                            <p:childTnLst>
                              <p:par>
                                <p:cTn id="19" presetID="22" presetClass="entr" presetSubtype="1" fill="hold" nodeType="afterEffect">
                                  <p:stCondLst>
                                    <p:cond delay="0"/>
                                  </p:stCondLst>
                                  <p:childTnLst>
                                    <p:set>
                                      <p:cBhvr>
                                        <p:cTn id="20" dur="1" fill="hold">
                                          <p:stCondLst>
                                            <p:cond delay="0"/>
                                          </p:stCondLst>
                                        </p:cTn>
                                        <p:tgtEl>
                                          <p:spTgt spid="105492"/>
                                        </p:tgtEl>
                                        <p:attrNameLst>
                                          <p:attrName>style.visibility</p:attrName>
                                        </p:attrNameLst>
                                      </p:cBhvr>
                                      <p:to>
                                        <p:strVal val="visible"/>
                                      </p:to>
                                    </p:set>
                                    <p:animEffect transition="in" filter="wipe(up)">
                                      <p:cBhvr>
                                        <p:cTn id="21" dur="500"/>
                                        <p:tgtEl>
                                          <p:spTgt spid="105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animBg="1" autoUpdateAnimBg="0"/>
      <p:bldP spid="105476" grpId="0" animBg="1" autoUpdateAnimBg="0"/>
      <p:bldP spid="105477"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The White-Path Theorem  (WPT)</a:t>
            </a:r>
          </a:p>
        </p:txBody>
      </p:sp>
      <p:sp>
        <p:nvSpPr>
          <p:cNvPr id="122883" name="Rectangle 3" descr="Recycled paper"/>
          <p:cNvSpPr>
            <a:spLocks noChangeArrowheads="1"/>
          </p:cNvSpPr>
          <p:nvPr/>
        </p:nvSpPr>
        <p:spPr bwMode="auto">
          <a:xfrm>
            <a:off x="152400" y="860937"/>
            <a:ext cx="8839200" cy="12382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eaLnBrk="1" hangingPunct="1">
              <a:spcBef>
                <a:spcPct val="50000"/>
              </a:spcBef>
              <a:buFontTx/>
              <a:buNone/>
            </a:pPr>
            <a:r>
              <a:rPr lang="en-US" sz="2400" b="1" dirty="0">
                <a:solidFill>
                  <a:srgbClr val="CC0000"/>
                </a:solidFill>
              </a:rPr>
              <a:t>The White-Path Theorem (WPT):</a:t>
            </a:r>
          </a:p>
          <a:p>
            <a:pPr eaLnBrk="1" hangingPunct="1">
              <a:spcBef>
                <a:spcPct val="50000"/>
              </a:spcBef>
              <a:buFontTx/>
              <a:buNone/>
            </a:pPr>
            <a:r>
              <a:rPr lang="en-US" sz="2000" dirty="0">
                <a:solidFill>
                  <a:schemeClr val="hlink"/>
                </a:solidFill>
              </a:rPr>
              <a:t>Node u is a DFS ancestor of node v   </a:t>
            </a:r>
            <a:r>
              <a:rPr lang="en-US" sz="2000" dirty="0">
                <a:solidFill>
                  <a:srgbClr val="CC0000"/>
                </a:solidFill>
              </a:rPr>
              <a:t>if and only if</a:t>
            </a:r>
            <a:r>
              <a:rPr lang="en-US" sz="2000" dirty="0">
                <a:solidFill>
                  <a:schemeClr val="hlink"/>
                </a:solidFill>
              </a:rPr>
              <a:t>  </a:t>
            </a:r>
            <a:br>
              <a:rPr lang="en-US" sz="2000" dirty="0">
                <a:solidFill>
                  <a:schemeClr val="hlink"/>
                </a:solidFill>
              </a:rPr>
            </a:br>
            <a:r>
              <a:rPr lang="en-US" sz="2000" dirty="0">
                <a:solidFill>
                  <a:schemeClr val="hlink"/>
                </a:solidFill>
              </a:rPr>
              <a:t>when u is discovered, there is a path of all white nodes from u to v.</a:t>
            </a:r>
          </a:p>
        </p:txBody>
      </p:sp>
      <p:sp>
        <p:nvSpPr>
          <p:cNvPr id="122885" name="Rectangle 5"/>
          <p:cNvSpPr>
            <a:spLocks noChangeArrowheads="1"/>
          </p:cNvSpPr>
          <p:nvPr/>
        </p:nvSpPr>
        <p:spPr bwMode="auto">
          <a:xfrm>
            <a:off x="152400" y="2133600"/>
            <a:ext cx="89916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buFontTx/>
              <a:buNone/>
            </a:pPr>
            <a:r>
              <a:rPr lang="en-US" sz="1800" b="1"/>
              <a:t>Proof [of </a:t>
            </a:r>
            <a:r>
              <a:rPr lang="en-US" sz="1800" b="1">
                <a:sym typeface="Symbol" pitchFamily="18" charset="2"/>
              </a:rPr>
              <a:t>]</a:t>
            </a:r>
            <a:r>
              <a:rPr lang="en-US" sz="1800" b="1"/>
              <a:t>:</a:t>
            </a:r>
            <a:r>
              <a:rPr lang="en-US" sz="1800"/>
              <a:t> </a:t>
            </a:r>
            <a:br>
              <a:rPr lang="en-US" sz="1800"/>
            </a:br>
            <a:r>
              <a:rPr lang="en-US" sz="1800"/>
              <a:t>The nodes on the DFS tree path from u to v are all white at the activation time of DFSvisit(u).</a:t>
            </a:r>
            <a:br>
              <a:rPr lang="en-US" sz="1800"/>
            </a:br>
            <a:endParaRPr lang="en-US" sz="1800" b="1"/>
          </a:p>
          <a:p>
            <a:pPr eaLnBrk="1" hangingPunct="1">
              <a:buFontTx/>
              <a:buNone/>
            </a:pPr>
            <a:r>
              <a:rPr lang="en-US" sz="1800" b="1"/>
              <a:t>Proof [of </a:t>
            </a:r>
            <a:r>
              <a:rPr lang="en-US" sz="1800" b="1">
                <a:sym typeface="Symbol" pitchFamily="18" charset="2"/>
              </a:rPr>
              <a:t>]</a:t>
            </a:r>
            <a:r>
              <a:rPr lang="en-US" sz="1800" b="1"/>
              <a:t>:</a:t>
            </a:r>
            <a:br>
              <a:rPr lang="en-US" sz="1800" b="1"/>
            </a:br>
            <a:r>
              <a:rPr lang="en-US" sz="1800"/>
              <a:t>P  = an all white-node path from u to v   when DFSvisit(u) is called. </a:t>
            </a:r>
          </a:p>
          <a:p>
            <a:pPr eaLnBrk="1" hangingPunct="1">
              <a:buFontTx/>
              <a:buNone/>
            </a:pPr>
            <a:r>
              <a:rPr lang="en-US" sz="1800" b="1">
                <a:solidFill>
                  <a:srgbClr val="CC0000"/>
                </a:solidFill>
              </a:rPr>
              <a:t>Claim:</a:t>
            </a:r>
            <a:r>
              <a:rPr lang="en-US" sz="1800"/>
              <a:t> v will be visited before DFSvisit(u) is finished, </a:t>
            </a:r>
            <a:r>
              <a:rPr lang="en-US" sz="1800">
                <a:solidFill>
                  <a:srgbClr val="CC0000"/>
                </a:solidFill>
              </a:rPr>
              <a:t>i.e., v will become a descendant of u.</a:t>
            </a:r>
          </a:p>
          <a:p>
            <a:pPr eaLnBrk="1" hangingPunct="1">
              <a:buFontTx/>
              <a:buNone/>
            </a:pPr>
            <a:r>
              <a:rPr lang="en-US" sz="1800" b="1">
                <a:solidFill>
                  <a:srgbClr val="CC0000"/>
                </a:solidFill>
              </a:rPr>
              <a:t>Proof of Claim:</a:t>
            </a:r>
            <a:r>
              <a:rPr lang="en-US" sz="1800"/>
              <a:t> by induction on length of P:</a:t>
            </a:r>
          </a:p>
          <a:p>
            <a:pPr eaLnBrk="1" hangingPunct="1">
              <a:buFontTx/>
              <a:buNone/>
            </a:pPr>
            <a:r>
              <a:rPr lang="en-US" sz="1800" b="1">
                <a:solidFill>
                  <a:srgbClr val="CC0000"/>
                </a:solidFill>
              </a:rPr>
              <a:t>Basis ( |P| = 0):</a:t>
            </a:r>
            <a:r>
              <a:rPr lang="en-US" sz="1800"/>
              <a:t> Obvious; u=v.</a:t>
            </a:r>
          </a:p>
          <a:p>
            <a:pPr eaLnBrk="1" hangingPunct="1">
              <a:buFontTx/>
              <a:buNone/>
            </a:pPr>
            <a:r>
              <a:rPr lang="en-US" sz="1800" b="1">
                <a:solidFill>
                  <a:srgbClr val="CC0000"/>
                </a:solidFill>
              </a:rPr>
              <a:t>Ind. Step (|P| &gt; 0):</a:t>
            </a:r>
            <a:r>
              <a:rPr lang="en-US" sz="1800"/>
              <a:t> Let w be successor of u on P. </a:t>
            </a:r>
          </a:p>
          <a:p>
            <a:pPr eaLnBrk="1" hangingPunct="1">
              <a:buFontTx/>
              <a:buNone/>
            </a:pPr>
            <a:r>
              <a:rPr lang="en-US" sz="1800"/>
              <a:t>During DFSvisit(u), when w</a:t>
            </a:r>
            <a:r>
              <a:rPr lang="en-US" sz="1800">
                <a:sym typeface="Symbol" pitchFamily="18" charset="2"/>
              </a:rPr>
              <a:t></a:t>
            </a:r>
            <a:r>
              <a:rPr lang="en-US" sz="1800"/>
              <a:t>Adj[u] is considered, if w is still white, it will get visited &amp;</a:t>
            </a:r>
            <a:br>
              <a:rPr lang="en-US" sz="1800"/>
            </a:br>
            <a:r>
              <a:rPr lang="en-US" sz="1800"/>
              <a:t>becomes a descendant of u.</a:t>
            </a:r>
          </a:p>
          <a:p>
            <a:pPr eaLnBrk="1" hangingPunct="1">
              <a:buFontTx/>
              <a:buNone/>
            </a:pPr>
            <a:r>
              <a:rPr lang="en-US" sz="1800"/>
              <a:t>So, some node on P, other that u, becomes a descendant of u.</a:t>
            </a:r>
          </a:p>
          <a:p>
            <a:pPr eaLnBrk="1" hangingPunct="1">
              <a:buFontTx/>
              <a:buNone/>
            </a:pPr>
            <a:r>
              <a:rPr lang="en-US" sz="1800"/>
              <a:t>Consider the last node x of P that becomes a descendant of u.</a:t>
            </a:r>
          </a:p>
          <a:p>
            <a:pPr eaLnBrk="1" hangingPunct="1">
              <a:buFontTx/>
              <a:buNone/>
            </a:pPr>
            <a:r>
              <a:rPr lang="en-US" sz="1800"/>
              <a:t>The</a:t>
            </a:r>
            <a:r>
              <a:rPr lang="en-US" sz="1800">
                <a:sym typeface="Symbol" pitchFamily="18" charset="2"/>
              </a:rPr>
              <a:t> sub-path P’ of P from x to v is strictly shorter than P and is all white when x is discovered.</a:t>
            </a:r>
          </a:p>
          <a:p>
            <a:pPr eaLnBrk="1" hangingPunct="1">
              <a:buFontTx/>
              <a:buNone/>
            </a:pPr>
            <a:r>
              <a:rPr lang="en-US" sz="1800">
                <a:sym typeface="Symbol" pitchFamily="18" charset="2"/>
              </a:rPr>
              <a:t>So, by the induction hypothesis, v becomes a descendant of x, which is a descendant of u.</a:t>
            </a:r>
          </a:p>
          <a:p>
            <a:pPr eaLnBrk="1" hangingPunct="1">
              <a:buFontTx/>
              <a:buNone/>
            </a:pPr>
            <a:r>
              <a:rPr lang="en-US" sz="1800">
                <a:solidFill>
                  <a:srgbClr val="CC0000"/>
                </a:solidFill>
                <a:sym typeface="Symbol" pitchFamily="18" charset="2"/>
              </a:rPr>
              <a:t>[Note: P is not necessarily the DFS tree path from u to v!  Where is that in the proof?]</a:t>
            </a:r>
            <a:r>
              <a:rPr lang="en-US" sz="1800">
                <a:solidFill>
                  <a:srgbClr val="CC0000"/>
                </a:solidFill>
              </a:rPr>
              <a:t> </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32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2883"/>
                                        </p:tgtEl>
                                        <p:attrNameLst>
                                          <p:attrName>style.visibility</p:attrName>
                                        </p:attrNameLst>
                                      </p:cBhvr>
                                      <p:to>
                                        <p:strVal val="visible"/>
                                      </p:to>
                                    </p:set>
                                    <p:animEffect transition="in" filter="wipe(up)">
                                      <p:cBhvr>
                                        <p:cTn id="7" dur="500"/>
                                        <p:tgtEl>
                                          <p:spTgt spid="1228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2885">
                                            <p:txEl>
                                              <p:pRg st="0" end="0"/>
                                            </p:txEl>
                                          </p:spTgt>
                                        </p:tgtEl>
                                        <p:attrNameLst>
                                          <p:attrName>style.visibility</p:attrName>
                                        </p:attrNameLst>
                                      </p:cBhvr>
                                      <p:to>
                                        <p:strVal val="visible"/>
                                      </p:to>
                                    </p:set>
                                    <p:animEffect transition="in" filter="wipe(up)">
                                      <p:cBhvr>
                                        <p:cTn id="12" dur="500"/>
                                        <p:tgtEl>
                                          <p:spTgt spid="12288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2885">
                                            <p:txEl>
                                              <p:pRg st="1" end="1"/>
                                            </p:txEl>
                                          </p:spTgt>
                                        </p:tgtEl>
                                        <p:attrNameLst>
                                          <p:attrName>style.visibility</p:attrName>
                                        </p:attrNameLst>
                                      </p:cBhvr>
                                      <p:to>
                                        <p:strVal val="visible"/>
                                      </p:to>
                                    </p:set>
                                    <p:animEffect transition="in" filter="wipe(up)">
                                      <p:cBhvr>
                                        <p:cTn id="17" dur="500"/>
                                        <p:tgtEl>
                                          <p:spTgt spid="12288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22885">
                                            <p:txEl>
                                              <p:pRg st="2" end="2"/>
                                            </p:txEl>
                                          </p:spTgt>
                                        </p:tgtEl>
                                        <p:attrNameLst>
                                          <p:attrName>style.visibility</p:attrName>
                                        </p:attrNameLst>
                                      </p:cBhvr>
                                      <p:to>
                                        <p:strVal val="visible"/>
                                      </p:to>
                                    </p:set>
                                    <p:animEffect transition="in" filter="wipe(up)">
                                      <p:cBhvr>
                                        <p:cTn id="22" dur="500"/>
                                        <p:tgtEl>
                                          <p:spTgt spid="12288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22885">
                                            <p:txEl>
                                              <p:pRg st="3" end="3"/>
                                            </p:txEl>
                                          </p:spTgt>
                                        </p:tgtEl>
                                        <p:attrNameLst>
                                          <p:attrName>style.visibility</p:attrName>
                                        </p:attrNameLst>
                                      </p:cBhvr>
                                      <p:to>
                                        <p:strVal val="visible"/>
                                      </p:to>
                                    </p:set>
                                    <p:animEffect transition="in" filter="wipe(up)">
                                      <p:cBhvr>
                                        <p:cTn id="27" dur="500"/>
                                        <p:tgtEl>
                                          <p:spTgt spid="122885">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22885">
                                            <p:txEl>
                                              <p:pRg st="4" end="4"/>
                                            </p:txEl>
                                          </p:spTgt>
                                        </p:tgtEl>
                                        <p:attrNameLst>
                                          <p:attrName>style.visibility</p:attrName>
                                        </p:attrNameLst>
                                      </p:cBhvr>
                                      <p:to>
                                        <p:strVal val="visible"/>
                                      </p:to>
                                    </p:set>
                                    <p:animEffect transition="in" filter="wipe(up)">
                                      <p:cBhvr>
                                        <p:cTn id="32" dur="500"/>
                                        <p:tgtEl>
                                          <p:spTgt spid="122885">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22885">
                                            <p:txEl>
                                              <p:pRg st="5" end="5"/>
                                            </p:txEl>
                                          </p:spTgt>
                                        </p:tgtEl>
                                        <p:attrNameLst>
                                          <p:attrName>style.visibility</p:attrName>
                                        </p:attrNameLst>
                                      </p:cBhvr>
                                      <p:to>
                                        <p:strVal val="visible"/>
                                      </p:to>
                                    </p:set>
                                    <p:animEffect transition="in" filter="wipe(up)">
                                      <p:cBhvr>
                                        <p:cTn id="37" dur="500"/>
                                        <p:tgtEl>
                                          <p:spTgt spid="122885">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22885">
                                            <p:txEl>
                                              <p:pRg st="6" end="6"/>
                                            </p:txEl>
                                          </p:spTgt>
                                        </p:tgtEl>
                                        <p:attrNameLst>
                                          <p:attrName>style.visibility</p:attrName>
                                        </p:attrNameLst>
                                      </p:cBhvr>
                                      <p:to>
                                        <p:strVal val="visible"/>
                                      </p:to>
                                    </p:set>
                                    <p:animEffect transition="in" filter="wipe(up)">
                                      <p:cBhvr>
                                        <p:cTn id="42" dur="500"/>
                                        <p:tgtEl>
                                          <p:spTgt spid="122885">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22885">
                                            <p:txEl>
                                              <p:pRg st="7" end="7"/>
                                            </p:txEl>
                                          </p:spTgt>
                                        </p:tgtEl>
                                        <p:attrNameLst>
                                          <p:attrName>style.visibility</p:attrName>
                                        </p:attrNameLst>
                                      </p:cBhvr>
                                      <p:to>
                                        <p:strVal val="visible"/>
                                      </p:to>
                                    </p:set>
                                    <p:animEffect transition="in" filter="wipe(up)">
                                      <p:cBhvr>
                                        <p:cTn id="47" dur="500"/>
                                        <p:tgtEl>
                                          <p:spTgt spid="122885">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22885">
                                            <p:txEl>
                                              <p:pRg st="8" end="8"/>
                                            </p:txEl>
                                          </p:spTgt>
                                        </p:tgtEl>
                                        <p:attrNameLst>
                                          <p:attrName>style.visibility</p:attrName>
                                        </p:attrNameLst>
                                      </p:cBhvr>
                                      <p:to>
                                        <p:strVal val="visible"/>
                                      </p:to>
                                    </p:set>
                                    <p:animEffect transition="in" filter="wipe(up)">
                                      <p:cBhvr>
                                        <p:cTn id="52" dur="500"/>
                                        <p:tgtEl>
                                          <p:spTgt spid="122885">
                                            <p:txEl>
                                              <p:pRg st="8" end="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22885">
                                            <p:txEl>
                                              <p:pRg st="9" end="9"/>
                                            </p:txEl>
                                          </p:spTgt>
                                        </p:tgtEl>
                                        <p:attrNameLst>
                                          <p:attrName>style.visibility</p:attrName>
                                        </p:attrNameLst>
                                      </p:cBhvr>
                                      <p:to>
                                        <p:strVal val="visible"/>
                                      </p:to>
                                    </p:set>
                                    <p:animEffect transition="in" filter="wipe(up)">
                                      <p:cBhvr>
                                        <p:cTn id="57" dur="500"/>
                                        <p:tgtEl>
                                          <p:spTgt spid="122885">
                                            <p:txEl>
                                              <p:pRg st="9" end="9"/>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122885">
                                            <p:txEl>
                                              <p:pRg st="10" end="10"/>
                                            </p:txEl>
                                          </p:spTgt>
                                        </p:tgtEl>
                                        <p:attrNameLst>
                                          <p:attrName>style.visibility</p:attrName>
                                        </p:attrNameLst>
                                      </p:cBhvr>
                                      <p:to>
                                        <p:strVal val="visible"/>
                                      </p:to>
                                    </p:set>
                                    <p:animEffect transition="in" filter="wipe(up)">
                                      <p:cBhvr>
                                        <p:cTn id="62" dur="500"/>
                                        <p:tgtEl>
                                          <p:spTgt spid="122885">
                                            <p:txEl>
                                              <p:pRg st="10" end="1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122885">
                                            <p:txEl>
                                              <p:pRg st="11" end="11"/>
                                            </p:txEl>
                                          </p:spTgt>
                                        </p:tgtEl>
                                        <p:attrNameLst>
                                          <p:attrName>style.visibility</p:attrName>
                                        </p:attrNameLst>
                                      </p:cBhvr>
                                      <p:to>
                                        <p:strVal val="visible"/>
                                      </p:to>
                                    </p:set>
                                    <p:animEffect transition="in" filter="wipe(up)">
                                      <p:cBhvr>
                                        <p:cTn id="67" dur="500"/>
                                        <p:tgtEl>
                                          <p:spTgt spid="12288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animBg="1" autoUpdateAnimBg="0"/>
      <p:bldP spid="122885"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DFS Edge Classification of Digraphs</a:t>
            </a:r>
          </a:p>
        </p:txBody>
      </p:sp>
      <p:sp>
        <p:nvSpPr>
          <p:cNvPr id="123907" name="Rectangle 3"/>
          <p:cNvSpPr>
            <a:spLocks noChangeArrowheads="1"/>
          </p:cNvSpPr>
          <p:nvPr/>
        </p:nvSpPr>
        <p:spPr bwMode="auto">
          <a:xfrm>
            <a:off x="152400" y="685800"/>
            <a:ext cx="88392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buFontTx/>
              <a:buNone/>
            </a:pPr>
            <a:r>
              <a:rPr lang="en-US" sz="2400" u="sng">
                <a:solidFill>
                  <a:srgbClr val="CC0000"/>
                </a:solidFill>
              </a:rPr>
              <a:t>At the time</a:t>
            </a:r>
            <a:r>
              <a:rPr lang="en-US" sz="2400">
                <a:solidFill>
                  <a:schemeClr val="hlink"/>
                </a:solidFill>
              </a:rPr>
              <a:t> edge  u</a:t>
            </a:r>
            <a:r>
              <a:rPr lang="en-US" sz="2400">
                <a:solidFill>
                  <a:schemeClr val="hlink"/>
                </a:solidFill>
                <a:sym typeface="Symbol" pitchFamily="18" charset="2"/>
              </a:rPr>
              <a:t></a:t>
            </a:r>
            <a:r>
              <a:rPr lang="en-US" sz="2400">
                <a:solidFill>
                  <a:schemeClr val="hlink"/>
                </a:solidFill>
              </a:rPr>
              <a:t>v  is traversed, </a:t>
            </a:r>
            <a:r>
              <a:rPr lang="en-US" sz="2000">
                <a:solidFill>
                  <a:schemeClr val="hlink"/>
                </a:solidFill>
              </a:rPr>
              <a:t>we have the following possibilities:</a:t>
            </a:r>
          </a:p>
        </p:txBody>
      </p:sp>
      <p:grpSp>
        <p:nvGrpSpPr>
          <p:cNvPr id="123966" name="Group 62"/>
          <p:cNvGrpSpPr>
            <a:grpSpLocks/>
          </p:cNvGrpSpPr>
          <p:nvPr/>
        </p:nvGrpSpPr>
        <p:grpSpPr bwMode="auto">
          <a:xfrm>
            <a:off x="1143000" y="1804988"/>
            <a:ext cx="2111375" cy="1619250"/>
            <a:chOff x="240" y="1185"/>
            <a:chExt cx="1330" cy="1020"/>
          </a:xfrm>
        </p:grpSpPr>
        <p:grpSp>
          <p:nvGrpSpPr>
            <p:cNvPr id="34863" name="Group 25"/>
            <p:cNvGrpSpPr>
              <a:grpSpLocks/>
            </p:cNvGrpSpPr>
            <p:nvPr/>
          </p:nvGrpSpPr>
          <p:grpSpPr bwMode="auto">
            <a:xfrm>
              <a:off x="240" y="1200"/>
              <a:ext cx="768" cy="1005"/>
              <a:chOff x="336" y="1491"/>
              <a:chExt cx="768" cy="1005"/>
            </a:xfrm>
          </p:grpSpPr>
          <p:sp>
            <p:nvSpPr>
              <p:cNvPr id="34865" name="AutoShape 8"/>
              <p:cNvSpPr>
                <a:spLocks noChangeArrowheads="1"/>
              </p:cNvSpPr>
              <p:nvPr/>
            </p:nvSpPr>
            <p:spPr bwMode="auto">
              <a:xfrm>
                <a:off x="336" y="1584"/>
                <a:ext cx="768" cy="912"/>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4866" name="Line 7"/>
              <p:cNvSpPr>
                <a:spLocks noChangeShapeType="1"/>
              </p:cNvSpPr>
              <p:nvPr/>
            </p:nvSpPr>
            <p:spPr bwMode="auto">
              <a:xfrm>
                <a:off x="720" y="1632"/>
                <a:ext cx="0"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4867" name="Oval 5"/>
              <p:cNvSpPr>
                <a:spLocks noChangeArrowheads="1"/>
              </p:cNvSpPr>
              <p:nvPr/>
            </p:nvSpPr>
            <p:spPr bwMode="auto">
              <a:xfrm>
                <a:off x="636" y="1491"/>
                <a:ext cx="21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u</a:t>
                </a:r>
              </a:p>
            </p:txBody>
          </p:sp>
          <p:sp>
            <p:nvSpPr>
              <p:cNvPr id="34868" name="AutoShape 9" descr="Stationery"/>
              <p:cNvSpPr>
                <a:spLocks noChangeArrowheads="1"/>
              </p:cNvSpPr>
              <p:nvPr/>
            </p:nvSpPr>
            <p:spPr bwMode="auto">
              <a:xfrm>
                <a:off x="528" y="1968"/>
                <a:ext cx="384" cy="480"/>
              </a:xfrm>
              <a:prstGeom prst="triangle">
                <a:avLst>
                  <a:gd name="adj" fmla="val 50000"/>
                </a:avLst>
              </a:prstGeom>
              <a:blipFill dpi="0" rotWithShape="0">
                <a:blip r:embed="rId2"/>
                <a:srcRect/>
                <a:tile tx="0" ty="0" sx="100000" sy="100000" flip="none" algn="tl"/>
              </a:bli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4869" name="Oval 6"/>
              <p:cNvSpPr>
                <a:spLocks noChangeArrowheads="1"/>
              </p:cNvSpPr>
              <p:nvPr/>
            </p:nvSpPr>
            <p:spPr bwMode="auto">
              <a:xfrm>
                <a:off x="629" y="1872"/>
                <a:ext cx="20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v</a:t>
                </a:r>
              </a:p>
            </p:txBody>
          </p:sp>
        </p:grpSp>
        <p:sp>
          <p:nvSpPr>
            <p:cNvPr id="34864" name="Rectangle 26"/>
            <p:cNvSpPr>
              <a:spLocks noChangeArrowheads="1"/>
            </p:cNvSpPr>
            <p:nvPr/>
          </p:nvSpPr>
          <p:spPr bwMode="auto">
            <a:xfrm>
              <a:off x="816" y="1185"/>
              <a:ext cx="7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000" u="sng"/>
                <a:t>tree-edge</a:t>
              </a:r>
              <a:r>
                <a:rPr lang="en-US" sz="2000"/>
                <a:t>:</a:t>
              </a:r>
              <a:endParaRPr lang="en-US" sz="1800"/>
            </a:p>
          </p:txBody>
        </p:sp>
      </p:grpSp>
      <p:grpSp>
        <p:nvGrpSpPr>
          <p:cNvPr id="123967" name="Group 63"/>
          <p:cNvGrpSpPr>
            <a:grpSpLocks/>
          </p:cNvGrpSpPr>
          <p:nvPr/>
        </p:nvGrpSpPr>
        <p:grpSpPr bwMode="auto">
          <a:xfrm>
            <a:off x="4953000" y="1652588"/>
            <a:ext cx="2820988" cy="2157412"/>
            <a:chOff x="3120" y="1137"/>
            <a:chExt cx="1777" cy="1359"/>
          </a:xfrm>
        </p:grpSpPr>
        <p:grpSp>
          <p:nvGrpSpPr>
            <p:cNvPr id="34855" name="Group 43"/>
            <p:cNvGrpSpPr>
              <a:grpSpLocks/>
            </p:cNvGrpSpPr>
            <p:nvPr/>
          </p:nvGrpSpPr>
          <p:grpSpPr bwMode="auto">
            <a:xfrm>
              <a:off x="3120" y="1155"/>
              <a:ext cx="1584" cy="1341"/>
              <a:chOff x="3120" y="1155"/>
              <a:chExt cx="1584" cy="1341"/>
            </a:xfrm>
          </p:grpSpPr>
          <p:sp>
            <p:nvSpPr>
              <p:cNvPr id="34857" name="AutoShape 10"/>
              <p:cNvSpPr>
                <a:spLocks noChangeArrowheads="1"/>
              </p:cNvSpPr>
              <p:nvPr/>
            </p:nvSpPr>
            <p:spPr bwMode="auto">
              <a:xfrm>
                <a:off x="3120" y="1296"/>
                <a:ext cx="1584" cy="1200"/>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34858" name="Freeform 11"/>
              <p:cNvSpPr>
                <a:spLocks/>
              </p:cNvSpPr>
              <p:nvPr/>
            </p:nvSpPr>
            <p:spPr bwMode="auto">
              <a:xfrm>
                <a:off x="3911" y="1303"/>
                <a:ext cx="78" cy="569"/>
              </a:xfrm>
              <a:custGeom>
                <a:avLst/>
                <a:gdLst>
                  <a:gd name="T0" fmla="*/ 0 w 78"/>
                  <a:gd name="T1" fmla="*/ 0 h 569"/>
                  <a:gd name="T2" fmla="*/ 33 w 78"/>
                  <a:gd name="T3" fmla="*/ 139 h 569"/>
                  <a:gd name="T4" fmla="*/ 13 w 78"/>
                  <a:gd name="T5" fmla="*/ 205 h 569"/>
                  <a:gd name="T6" fmla="*/ 66 w 78"/>
                  <a:gd name="T7" fmla="*/ 271 h 569"/>
                  <a:gd name="T8" fmla="*/ 20 w 78"/>
                  <a:gd name="T9" fmla="*/ 337 h 569"/>
                  <a:gd name="T10" fmla="*/ 73 w 78"/>
                  <a:gd name="T11" fmla="*/ 397 h 569"/>
                  <a:gd name="T12" fmla="*/ 53 w 78"/>
                  <a:gd name="T13" fmla="*/ 443 h 569"/>
                  <a:gd name="T14" fmla="*/ 73 w 78"/>
                  <a:gd name="T15" fmla="*/ 569 h 56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8" h="569">
                    <a:moveTo>
                      <a:pt x="0" y="0"/>
                    </a:moveTo>
                    <a:cubicBezTo>
                      <a:pt x="5" y="24"/>
                      <a:pt x="31" y="105"/>
                      <a:pt x="33" y="139"/>
                    </a:cubicBezTo>
                    <a:cubicBezTo>
                      <a:pt x="35" y="173"/>
                      <a:pt x="7" y="183"/>
                      <a:pt x="13" y="205"/>
                    </a:cubicBezTo>
                    <a:cubicBezTo>
                      <a:pt x="19" y="227"/>
                      <a:pt x="65" y="249"/>
                      <a:pt x="66" y="271"/>
                    </a:cubicBezTo>
                    <a:cubicBezTo>
                      <a:pt x="67" y="293"/>
                      <a:pt x="19" y="316"/>
                      <a:pt x="20" y="337"/>
                    </a:cubicBezTo>
                    <a:cubicBezTo>
                      <a:pt x="21" y="358"/>
                      <a:pt x="68" y="379"/>
                      <a:pt x="73" y="397"/>
                    </a:cubicBezTo>
                    <a:cubicBezTo>
                      <a:pt x="78" y="415"/>
                      <a:pt x="53" y="414"/>
                      <a:pt x="53" y="443"/>
                    </a:cubicBezTo>
                    <a:cubicBezTo>
                      <a:pt x="53" y="472"/>
                      <a:pt x="69" y="543"/>
                      <a:pt x="73" y="569"/>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4859" name="Oval 12"/>
              <p:cNvSpPr>
                <a:spLocks noChangeArrowheads="1"/>
              </p:cNvSpPr>
              <p:nvPr/>
            </p:nvSpPr>
            <p:spPr bwMode="auto">
              <a:xfrm>
                <a:off x="3809" y="1155"/>
                <a:ext cx="20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v</a:t>
                </a:r>
              </a:p>
            </p:txBody>
          </p:sp>
          <p:sp>
            <p:nvSpPr>
              <p:cNvPr id="34860" name="AutoShape 13" descr="Stationery"/>
              <p:cNvSpPr>
                <a:spLocks noChangeArrowheads="1"/>
              </p:cNvSpPr>
              <p:nvPr/>
            </p:nvSpPr>
            <p:spPr bwMode="auto">
              <a:xfrm>
                <a:off x="3792" y="1968"/>
                <a:ext cx="384" cy="480"/>
              </a:xfrm>
              <a:prstGeom prst="triangle">
                <a:avLst>
                  <a:gd name="adj" fmla="val 50000"/>
                </a:avLst>
              </a:prstGeom>
              <a:blipFill dpi="0" rotWithShape="0">
                <a:blip r:embed="rId2"/>
                <a:srcRect/>
                <a:tile tx="0" ty="0" sx="100000" sy="100000" flip="none" algn="tl"/>
              </a:bli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4861" name="Oval 14"/>
              <p:cNvSpPr>
                <a:spLocks noChangeArrowheads="1"/>
              </p:cNvSpPr>
              <p:nvPr/>
            </p:nvSpPr>
            <p:spPr bwMode="auto">
              <a:xfrm>
                <a:off x="3888" y="1872"/>
                <a:ext cx="21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u</a:t>
                </a:r>
              </a:p>
            </p:txBody>
          </p:sp>
          <p:sp>
            <p:nvSpPr>
              <p:cNvPr id="34862" name="Freeform 27"/>
              <p:cNvSpPr>
                <a:spLocks/>
              </p:cNvSpPr>
              <p:nvPr/>
            </p:nvSpPr>
            <p:spPr bwMode="auto">
              <a:xfrm>
                <a:off x="3772" y="1392"/>
                <a:ext cx="119" cy="566"/>
              </a:xfrm>
              <a:custGeom>
                <a:avLst/>
                <a:gdLst>
                  <a:gd name="T0" fmla="*/ 119 w 119"/>
                  <a:gd name="T1" fmla="*/ 566 h 566"/>
                  <a:gd name="T2" fmla="*/ 0 w 119"/>
                  <a:gd name="T3" fmla="*/ 314 h 566"/>
                  <a:gd name="T4" fmla="*/ 116 w 119"/>
                  <a:gd name="T5" fmla="*/ 0 h 566"/>
                  <a:gd name="T6" fmla="*/ 0 60000 65536"/>
                  <a:gd name="T7" fmla="*/ 0 60000 65536"/>
                  <a:gd name="T8" fmla="*/ 0 60000 65536"/>
                </a:gdLst>
                <a:ahLst/>
                <a:cxnLst>
                  <a:cxn ang="T6">
                    <a:pos x="T0" y="T1"/>
                  </a:cxn>
                  <a:cxn ang="T7">
                    <a:pos x="T2" y="T3"/>
                  </a:cxn>
                  <a:cxn ang="T8">
                    <a:pos x="T4" y="T5"/>
                  </a:cxn>
                </a:cxnLst>
                <a:rect l="0" t="0" r="r" b="b"/>
                <a:pathLst>
                  <a:path w="119" h="566">
                    <a:moveTo>
                      <a:pt x="119" y="566"/>
                    </a:moveTo>
                    <a:cubicBezTo>
                      <a:pt x="99" y="524"/>
                      <a:pt x="0" y="408"/>
                      <a:pt x="0" y="314"/>
                    </a:cubicBezTo>
                    <a:cubicBezTo>
                      <a:pt x="0" y="220"/>
                      <a:pt x="92" y="65"/>
                      <a:pt x="116" y="0"/>
                    </a:cubicBezTo>
                  </a:path>
                </a:pathLst>
              </a:custGeom>
              <a:noFill/>
              <a:ln w="190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sp>
          <p:nvSpPr>
            <p:cNvPr id="34856" name="Rectangle 28"/>
            <p:cNvSpPr>
              <a:spLocks noChangeArrowheads="1"/>
            </p:cNvSpPr>
            <p:nvPr/>
          </p:nvSpPr>
          <p:spPr bwMode="auto">
            <a:xfrm>
              <a:off x="4080" y="1137"/>
              <a:ext cx="8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000" u="sng"/>
                <a:t>back-edge</a:t>
              </a:r>
              <a:r>
                <a:rPr lang="en-US" sz="2000"/>
                <a:t>:</a:t>
              </a:r>
              <a:endParaRPr lang="en-US" sz="1800"/>
            </a:p>
          </p:txBody>
        </p:sp>
      </p:grpSp>
      <p:grpSp>
        <p:nvGrpSpPr>
          <p:cNvPr id="123968" name="Group 64"/>
          <p:cNvGrpSpPr>
            <a:grpSpLocks/>
          </p:cNvGrpSpPr>
          <p:nvPr/>
        </p:nvGrpSpPr>
        <p:grpSpPr bwMode="auto">
          <a:xfrm>
            <a:off x="152400" y="4090988"/>
            <a:ext cx="3144838" cy="2157412"/>
            <a:chOff x="96" y="2577"/>
            <a:chExt cx="1981" cy="1359"/>
          </a:xfrm>
        </p:grpSpPr>
        <p:grpSp>
          <p:nvGrpSpPr>
            <p:cNvPr id="34847" name="Group 42"/>
            <p:cNvGrpSpPr>
              <a:grpSpLocks/>
            </p:cNvGrpSpPr>
            <p:nvPr/>
          </p:nvGrpSpPr>
          <p:grpSpPr bwMode="auto">
            <a:xfrm>
              <a:off x="96" y="2595"/>
              <a:ext cx="1584" cy="1341"/>
              <a:chOff x="96" y="2595"/>
              <a:chExt cx="1584" cy="1341"/>
            </a:xfrm>
          </p:grpSpPr>
          <p:sp>
            <p:nvSpPr>
              <p:cNvPr id="34849" name="AutoShape 29"/>
              <p:cNvSpPr>
                <a:spLocks noChangeArrowheads="1"/>
              </p:cNvSpPr>
              <p:nvPr/>
            </p:nvSpPr>
            <p:spPr bwMode="auto">
              <a:xfrm>
                <a:off x="96" y="2736"/>
                <a:ext cx="1584" cy="1200"/>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34850" name="Freeform 30"/>
              <p:cNvSpPr>
                <a:spLocks/>
              </p:cNvSpPr>
              <p:nvPr/>
            </p:nvSpPr>
            <p:spPr bwMode="auto">
              <a:xfrm>
                <a:off x="887" y="2743"/>
                <a:ext cx="78" cy="569"/>
              </a:xfrm>
              <a:custGeom>
                <a:avLst/>
                <a:gdLst>
                  <a:gd name="T0" fmla="*/ 0 w 78"/>
                  <a:gd name="T1" fmla="*/ 0 h 569"/>
                  <a:gd name="T2" fmla="*/ 33 w 78"/>
                  <a:gd name="T3" fmla="*/ 139 h 569"/>
                  <a:gd name="T4" fmla="*/ 13 w 78"/>
                  <a:gd name="T5" fmla="*/ 205 h 569"/>
                  <a:gd name="T6" fmla="*/ 66 w 78"/>
                  <a:gd name="T7" fmla="*/ 271 h 569"/>
                  <a:gd name="T8" fmla="*/ 20 w 78"/>
                  <a:gd name="T9" fmla="*/ 337 h 569"/>
                  <a:gd name="T10" fmla="*/ 73 w 78"/>
                  <a:gd name="T11" fmla="*/ 397 h 569"/>
                  <a:gd name="T12" fmla="*/ 53 w 78"/>
                  <a:gd name="T13" fmla="*/ 443 h 569"/>
                  <a:gd name="T14" fmla="*/ 73 w 78"/>
                  <a:gd name="T15" fmla="*/ 569 h 56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8" h="569">
                    <a:moveTo>
                      <a:pt x="0" y="0"/>
                    </a:moveTo>
                    <a:cubicBezTo>
                      <a:pt x="5" y="24"/>
                      <a:pt x="31" y="105"/>
                      <a:pt x="33" y="139"/>
                    </a:cubicBezTo>
                    <a:cubicBezTo>
                      <a:pt x="35" y="173"/>
                      <a:pt x="7" y="183"/>
                      <a:pt x="13" y="205"/>
                    </a:cubicBezTo>
                    <a:cubicBezTo>
                      <a:pt x="19" y="227"/>
                      <a:pt x="65" y="249"/>
                      <a:pt x="66" y="271"/>
                    </a:cubicBezTo>
                    <a:cubicBezTo>
                      <a:pt x="67" y="293"/>
                      <a:pt x="19" y="316"/>
                      <a:pt x="20" y="337"/>
                    </a:cubicBezTo>
                    <a:cubicBezTo>
                      <a:pt x="21" y="358"/>
                      <a:pt x="68" y="379"/>
                      <a:pt x="73" y="397"/>
                    </a:cubicBezTo>
                    <a:cubicBezTo>
                      <a:pt x="78" y="415"/>
                      <a:pt x="53" y="414"/>
                      <a:pt x="53" y="443"/>
                    </a:cubicBezTo>
                    <a:cubicBezTo>
                      <a:pt x="53" y="472"/>
                      <a:pt x="69" y="543"/>
                      <a:pt x="73" y="569"/>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4851" name="Oval 31"/>
              <p:cNvSpPr>
                <a:spLocks noChangeArrowheads="1"/>
              </p:cNvSpPr>
              <p:nvPr/>
            </p:nvSpPr>
            <p:spPr bwMode="auto">
              <a:xfrm>
                <a:off x="780" y="2595"/>
                <a:ext cx="21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u</a:t>
                </a:r>
              </a:p>
            </p:txBody>
          </p:sp>
          <p:sp>
            <p:nvSpPr>
              <p:cNvPr id="34852" name="AutoShape 32" descr="Stationery"/>
              <p:cNvSpPr>
                <a:spLocks noChangeArrowheads="1"/>
              </p:cNvSpPr>
              <p:nvPr/>
            </p:nvSpPr>
            <p:spPr bwMode="auto">
              <a:xfrm>
                <a:off x="768" y="3408"/>
                <a:ext cx="384" cy="480"/>
              </a:xfrm>
              <a:prstGeom prst="triangle">
                <a:avLst>
                  <a:gd name="adj" fmla="val 50000"/>
                </a:avLst>
              </a:prstGeom>
              <a:blipFill dpi="0" rotWithShape="0">
                <a:blip r:embed="rId2"/>
                <a:srcRect/>
                <a:tile tx="0" ty="0" sx="100000" sy="100000" flip="none" algn="tl"/>
              </a:bli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4853" name="Oval 33"/>
              <p:cNvSpPr>
                <a:spLocks noChangeArrowheads="1"/>
              </p:cNvSpPr>
              <p:nvPr/>
            </p:nvSpPr>
            <p:spPr bwMode="auto">
              <a:xfrm>
                <a:off x="869" y="3312"/>
                <a:ext cx="20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v</a:t>
                </a:r>
              </a:p>
            </p:txBody>
          </p:sp>
          <p:sp>
            <p:nvSpPr>
              <p:cNvPr id="34854" name="Freeform 34"/>
              <p:cNvSpPr>
                <a:spLocks/>
              </p:cNvSpPr>
              <p:nvPr/>
            </p:nvSpPr>
            <p:spPr bwMode="auto">
              <a:xfrm>
                <a:off x="748" y="2832"/>
                <a:ext cx="119" cy="566"/>
              </a:xfrm>
              <a:custGeom>
                <a:avLst/>
                <a:gdLst>
                  <a:gd name="T0" fmla="*/ 119 w 119"/>
                  <a:gd name="T1" fmla="*/ 566 h 566"/>
                  <a:gd name="T2" fmla="*/ 0 w 119"/>
                  <a:gd name="T3" fmla="*/ 314 h 566"/>
                  <a:gd name="T4" fmla="*/ 116 w 119"/>
                  <a:gd name="T5" fmla="*/ 0 h 566"/>
                  <a:gd name="T6" fmla="*/ 0 60000 65536"/>
                  <a:gd name="T7" fmla="*/ 0 60000 65536"/>
                  <a:gd name="T8" fmla="*/ 0 60000 65536"/>
                </a:gdLst>
                <a:ahLst/>
                <a:cxnLst>
                  <a:cxn ang="T6">
                    <a:pos x="T0" y="T1"/>
                  </a:cxn>
                  <a:cxn ang="T7">
                    <a:pos x="T2" y="T3"/>
                  </a:cxn>
                  <a:cxn ang="T8">
                    <a:pos x="T4" y="T5"/>
                  </a:cxn>
                </a:cxnLst>
                <a:rect l="0" t="0" r="r" b="b"/>
                <a:pathLst>
                  <a:path w="119" h="566">
                    <a:moveTo>
                      <a:pt x="119" y="566"/>
                    </a:moveTo>
                    <a:cubicBezTo>
                      <a:pt x="99" y="524"/>
                      <a:pt x="0" y="408"/>
                      <a:pt x="0" y="314"/>
                    </a:cubicBezTo>
                    <a:cubicBezTo>
                      <a:pt x="0" y="220"/>
                      <a:pt x="92" y="65"/>
                      <a:pt x="116" y="0"/>
                    </a:cubicBezTo>
                  </a:path>
                </a:pathLst>
              </a:custGeom>
              <a:noFill/>
              <a:ln w="19050" cap="flat" cmpd="sng">
                <a:solidFill>
                  <a:srgbClr val="969696"/>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sp>
          <p:nvSpPr>
            <p:cNvPr id="34848" name="Rectangle 35"/>
            <p:cNvSpPr>
              <a:spLocks noChangeArrowheads="1"/>
            </p:cNvSpPr>
            <p:nvPr/>
          </p:nvSpPr>
          <p:spPr bwMode="auto">
            <a:xfrm>
              <a:off x="1056" y="2577"/>
              <a:ext cx="102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000" u="sng"/>
                <a:t>forward-edge</a:t>
              </a:r>
              <a:r>
                <a:rPr lang="en-US" sz="2000"/>
                <a:t>:</a:t>
              </a:r>
              <a:endParaRPr lang="en-US" sz="1800"/>
            </a:p>
          </p:txBody>
        </p:sp>
      </p:grpSp>
      <p:grpSp>
        <p:nvGrpSpPr>
          <p:cNvPr id="123974" name="Group 70"/>
          <p:cNvGrpSpPr>
            <a:grpSpLocks/>
          </p:cNvGrpSpPr>
          <p:nvPr/>
        </p:nvGrpSpPr>
        <p:grpSpPr bwMode="auto">
          <a:xfrm>
            <a:off x="4038600" y="4664075"/>
            <a:ext cx="1981200" cy="1382713"/>
            <a:chOff x="2544" y="2938"/>
            <a:chExt cx="1248" cy="871"/>
          </a:xfrm>
        </p:grpSpPr>
        <p:sp>
          <p:nvSpPr>
            <p:cNvPr id="34841" name="Line 69"/>
            <p:cNvSpPr>
              <a:spLocks noChangeShapeType="1"/>
            </p:cNvSpPr>
            <p:nvPr/>
          </p:nvSpPr>
          <p:spPr bwMode="auto">
            <a:xfrm flipH="1">
              <a:off x="2928" y="3072"/>
              <a:ext cx="576" cy="0"/>
            </a:xfrm>
            <a:prstGeom prst="line">
              <a:avLst/>
            </a:prstGeom>
            <a:noFill/>
            <a:ln w="19050">
              <a:solidFill>
                <a:srgbClr val="96969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4842" name="AutoShape 15"/>
            <p:cNvSpPr>
              <a:spLocks noChangeArrowheads="1"/>
            </p:cNvSpPr>
            <p:nvPr/>
          </p:nvSpPr>
          <p:spPr bwMode="auto">
            <a:xfrm>
              <a:off x="2544" y="3032"/>
              <a:ext cx="549" cy="545"/>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34843" name="AutoShape 36"/>
            <p:cNvSpPr>
              <a:spLocks noChangeArrowheads="1"/>
            </p:cNvSpPr>
            <p:nvPr/>
          </p:nvSpPr>
          <p:spPr bwMode="auto">
            <a:xfrm>
              <a:off x="3243" y="3032"/>
              <a:ext cx="549" cy="545"/>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34844" name="Oval 37"/>
            <p:cNvSpPr>
              <a:spLocks noChangeArrowheads="1"/>
            </p:cNvSpPr>
            <p:nvPr/>
          </p:nvSpPr>
          <p:spPr bwMode="auto">
            <a:xfrm>
              <a:off x="3409" y="2938"/>
              <a:ext cx="21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u</a:t>
              </a:r>
            </a:p>
          </p:txBody>
        </p:sp>
        <p:sp>
          <p:nvSpPr>
            <p:cNvPr id="34845" name="Oval 17"/>
            <p:cNvSpPr>
              <a:spLocks noChangeArrowheads="1"/>
            </p:cNvSpPr>
            <p:nvPr/>
          </p:nvSpPr>
          <p:spPr bwMode="auto">
            <a:xfrm>
              <a:off x="2715" y="2938"/>
              <a:ext cx="20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v</a:t>
              </a:r>
            </a:p>
          </p:txBody>
        </p:sp>
        <p:sp>
          <p:nvSpPr>
            <p:cNvPr id="34846" name="Rectangle 40"/>
            <p:cNvSpPr>
              <a:spLocks noChangeArrowheads="1"/>
            </p:cNvSpPr>
            <p:nvPr/>
          </p:nvSpPr>
          <p:spPr bwMode="auto">
            <a:xfrm>
              <a:off x="2842" y="3559"/>
              <a:ext cx="8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000" u="sng"/>
                <a:t>cross-edge</a:t>
              </a:r>
              <a:r>
                <a:rPr lang="en-US" sz="2000"/>
                <a:t>:</a:t>
              </a:r>
              <a:endParaRPr lang="en-US" sz="1800"/>
            </a:p>
          </p:txBody>
        </p:sp>
      </p:grpSp>
      <p:sp>
        <p:nvSpPr>
          <p:cNvPr id="123957" name="Rectangle 53"/>
          <p:cNvSpPr>
            <a:spLocks noChangeArrowheads="1"/>
          </p:cNvSpPr>
          <p:nvPr/>
        </p:nvSpPr>
        <p:spPr bwMode="auto">
          <a:xfrm>
            <a:off x="1963738" y="2109788"/>
            <a:ext cx="20066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2000"/>
              <a:t>color[v] = </a:t>
            </a:r>
            <a:r>
              <a:rPr lang="en-US" sz="1800"/>
              <a:t>WHITE</a:t>
            </a:r>
          </a:p>
        </p:txBody>
      </p:sp>
      <p:sp>
        <p:nvSpPr>
          <p:cNvPr id="123958" name="Rectangle 54"/>
          <p:cNvSpPr>
            <a:spLocks noChangeArrowheads="1"/>
          </p:cNvSpPr>
          <p:nvPr/>
        </p:nvSpPr>
        <p:spPr bwMode="auto">
          <a:xfrm>
            <a:off x="6386513" y="1957388"/>
            <a:ext cx="19177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2000"/>
              <a:t>color[v] = </a:t>
            </a:r>
            <a:r>
              <a:rPr lang="en-US" sz="1800"/>
              <a:t>GRAY</a:t>
            </a:r>
          </a:p>
        </p:txBody>
      </p:sp>
      <p:sp>
        <p:nvSpPr>
          <p:cNvPr id="123959" name="Rectangle 55"/>
          <p:cNvSpPr>
            <a:spLocks noChangeArrowheads="1"/>
          </p:cNvSpPr>
          <p:nvPr/>
        </p:nvSpPr>
        <p:spPr bwMode="auto">
          <a:xfrm>
            <a:off x="1655763" y="4432300"/>
            <a:ext cx="2044700" cy="817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5000"/>
              </a:lnSpc>
              <a:buFontTx/>
              <a:buNone/>
            </a:pPr>
            <a:r>
              <a:rPr lang="en-US" sz="2000"/>
              <a:t>color[v] = </a:t>
            </a:r>
            <a:r>
              <a:rPr lang="en-US" sz="1800"/>
              <a:t>BLACK</a:t>
            </a:r>
            <a:br>
              <a:rPr lang="en-US" sz="1800"/>
            </a:br>
            <a:r>
              <a:rPr lang="en-US" sz="1800"/>
              <a:t>&amp;</a:t>
            </a:r>
            <a:br>
              <a:rPr lang="en-US" sz="1800"/>
            </a:br>
            <a:r>
              <a:rPr lang="en-US" sz="1800"/>
              <a:t>d[u] &lt; d[v]</a:t>
            </a:r>
          </a:p>
        </p:txBody>
      </p:sp>
      <p:sp>
        <p:nvSpPr>
          <p:cNvPr id="123960" name="Rectangle 56"/>
          <p:cNvSpPr>
            <a:spLocks noChangeArrowheads="1"/>
          </p:cNvSpPr>
          <p:nvPr/>
        </p:nvSpPr>
        <p:spPr bwMode="auto">
          <a:xfrm>
            <a:off x="4170363" y="6000750"/>
            <a:ext cx="2044700"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buFontTx/>
              <a:buNone/>
            </a:pPr>
            <a:r>
              <a:rPr lang="en-US" sz="2000"/>
              <a:t>color[v] = </a:t>
            </a:r>
            <a:r>
              <a:rPr lang="en-US" sz="1800"/>
              <a:t>BLACK</a:t>
            </a:r>
            <a:br>
              <a:rPr lang="en-US" sz="1800"/>
            </a:br>
            <a:r>
              <a:rPr lang="en-US" sz="1800"/>
              <a:t> &amp;</a:t>
            </a:r>
            <a:br>
              <a:rPr lang="en-US" sz="1800"/>
            </a:br>
            <a:r>
              <a:rPr lang="en-US" sz="1800"/>
              <a:t>d[v] &lt; d[u]</a:t>
            </a:r>
          </a:p>
        </p:txBody>
      </p:sp>
      <p:grpSp>
        <p:nvGrpSpPr>
          <p:cNvPr id="123970" name="Group 66"/>
          <p:cNvGrpSpPr>
            <a:grpSpLocks/>
          </p:cNvGrpSpPr>
          <p:nvPr/>
        </p:nvGrpSpPr>
        <p:grpSpPr bwMode="auto">
          <a:xfrm>
            <a:off x="6858000" y="4740275"/>
            <a:ext cx="1905000" cy="1439863"/>
            <a:chOff x="4320" y="2880"/>
            <a:chExt cx="1200" cy="907"/>
          </a:xfrm>
        </p:grpSpPr>
        <p:grpSp>
          <p:nvGrpSpPr>
            <p:cNvPr id="34834" name="Group 52"/>
            <p:cNvGrpSpPr>
              <a:grpSpLocks/>
            </p:cNvGrpSpPr>
            <p:nvPr/>
          </p:nvGrpSpPr>
          <p:grpSpPr bwMode="auto">
            <a:xfrm>
              <a:off x="4320" y="2880"/>
              <a:ext cx="1200" cy="669"/>
              <a:chOff x="4368" y="2832"/>
              <a:chExt cx="1200" cy="669"/>
            </a:xfrm>
          </p:grpSpPr>
          <p:sp>
            <p:nvSpPr>
              <p:cNvPr id="34836" name="AutoShape 47"/>
              <p:cNvSpPr>
                <a:spLocks noChangeArrowheads="1"/>
              </p:cNvSpPr>
              <p:nvPr/>
            </p:nvSpPr>
            <p:spPr bwMode="auto">
              <a:xfrm>
                <a:off x="4368" y="2925"/>
                <a:ext cx="528" cy="576"/>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34837" name="AutoShape 48"/>
              <p:cNvSpPr>
                <a:spLocks noChangeArrowheads="1"/>
              </p:cNvSpPr>
              <p:nvPr/>
            </p:nvSpPr>
            <p:spPr bwMode="auto">
              <a:xfrm>
                <a:off x="5040" y="2925"/>
                <a:ext cx="528" cy="576"/>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34838" name="Freeform 49"/>
              <p:cNvSpPr>
                <a:spLocks/>
              </p:cNvSpPr>
              <p:nvPr/>
            </p:nvSpPr>
            <p:spPr bwMode="auto">
              <a:xfrm>
                <a:off x="4674" y="2946"/>
                <a:ext cx="517" cy="1"/>
              </a:xfrm>
              <a:custGeom>
                <a:avLst/>
                <a:gdLst>
                  <a:gd name="T0" fmla="*/ 517 w 517"/>
                  <a:gd name="T1" fmla="*/ 0 h 1"/>
                  <a:gd name="T2" fmla="*/ 0 w 517"/>
                  <a:gd name="T3" fmla="*/ 0 h 1"/>
                  <a:gd name="T4" fmla="*/ 0 60000 65536"/>
                  <a:gd name="T5" fmla="*/ 0 60000 65536"/>
                </a:gdLst>
                <a:ahLst/>
                <a:cxnLst>
                  <a:cxn ang="T4">
                    <a:pos x="T0" y="T1"/>
                  </a:cxn>
                  <a:cxn ang="T5">
                    <a:pos x="T2" y="T3"/>
                  </a:cxn>
                </a:cxnLst>
                <a:rect l="0" t="0" r="r" b="b"/>
                <a:pathLst>
                  <a:path w="517" h="1">
                    <a:moveTo>
                      <a:pt x="517" y="0"/>
                    </a:moveTo>
                    <a:lnTo>
                      <a:pt x="0" y="0"/>
                    </a:lnTo>
                  </a:path>
                </a:pathLst>
              </a:custGeom>
              <a:noFill/>
              <a:ln w="19050" cap="flat" cmpd="sng">
                <a:solidFill>
                  <a:srgbClr val="969696"/>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4839" name="Oval 50"/>
              <p:cNvSpPr>
                <a:spLocks noChangeArrowheads="1"/>
              </p:cNvSpPr>
              <p:nvPr/>
            </p:nvSpPr>
            <p:spPr bwMode="auto">
              <a:xfrm>
                <a:off x="5201" y="2832"/>
                <a:ext cx="20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v</a:t>
                </a:r>
              </a:p>
            </p:txBody>
          </p:sp>
          <p:sp>
            <p:nvSpPr>
              <p:cNvPr id="34840" name="Oval 51"/>
              <p:cNvSpPr>
                <a:spLocks noChangeArrowheads="1"/>
              </p:cNvSpPr>
              <p:nvPr/>
            </p:nvSpPr>
            <p:spPr bwMode="auto">
              <a:xfrm>
                <a:off x="4524" y="2832"/>
                <a:ext cx="21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u</a:t>
                </a:r>
              </a:p>
            </p:txBody>
          </p:sp>
        </p:grpSp>
        <p:sp>
          <p:nvSpPr>
            <p:cNvPr id="34835" name="Rectangle 57"/>
            <p:cNvSpPr>
              <a:spLocks noChangeArrowheads="1"/>
            </p:cNvSpPr>
            <p:nvPr/>
          </p:nvSpPr>
          <p:spPr bwMode="auto">
            <a:xfrm>
              <a:off x="4512" y="3537"/>
              <a:ext cx="8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000" u="sng"/>
                <a:t>cross-edge</a:t>
              </a:r>
              <a:r>
                <a:rPr lang="en-US" sz="2000"/>
                <a:t>:</a:t>
              </a:r>
              <a:endParaRPr lang="en-US" sz="1800"/>
            </a:p>
          </p:txBody>
        </p:sp>
      </p:grpSp>
      <p:sp>
        <p:nvSpPr>
          <p:cNvPr id="123962" name="Rectangle 58"/>
          <p:cNvSpPr>
            <a:spLocks noChangeArrowheads="1"/>
          </p:cNvSpPr>
          <p:nvPr/>
        </p:nvSpPr>
        <p:spPr bwMode="auto">
          <a:xfrm>
            <a:off x="6678613" y="6088063"/>
            <a:ext cx="2297112"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2000">
                <a:solidFill>
                  <a:srgbClr val="CC0000"/>
                </a:solidFill>
              </a:rPr>
              <a:t>color[v] = </a:t>
            </a:r>
            <a:r>
              <a:rPr lang="en-US" sz="1800">
                <a:solidFill>
                  <a:srgbClr val="CC0000"/>
                </a:solidFill>
              </a:rPr>
              <a:t>WHITE</a:t>
            </a:r>
            <a:r>
              <a:rPr lang="en-US" sz="2000">
                <a:solidFill>
                  <a:srgbClr val="CC0000"/>
                </a:solidFill>
              </a:rPr>
              <a:t/>
            </a:r>
            <a:br>
              <a:rPr lang="en-US" sz="2000">
                <a:solidFill>
                  <a:srgbClr val="CC0000"/>
                </a:solidFill>
              </a:rPr>
            </a:br>
            <a:r>
              <a:rPr lang="en-US" sz="2000">
                <a:solidFill>
                  <a:srgbClr val="CC0000"/>
                </a:solidFill>
              </a:rPr>
              <a:t>Impossible by WPT!</a:t>
            </a:r>
            <a:endParaRPr lang="en-US" sz="1800">
              <a:solidFill>
                <a:srgbClr val="CC0000"/>
              </a:solidFill>
            </a:endParaRPr>
          </a:p>
        </p:txBody>
      </p:sp>
      <p:grpSp>
        <p:nvGrpSpPr>
          <p:cNvPr id="123965" name="Group 61"/>
          <p:cNvGrpSpPr>
            <a:grpSpLocks/>
          </p:cNvGrpSpPr>
          <p:nvPr/>
        </p:nvGrpSpPr>
        <p:grpSpPr bwMode="auto">
          <a:xfrm>
            <a:off x="7467600" y="4664075"/>
            <a:ext cx="609600" cy="533400"/>
            <a:chOff x="2064" y="1632"/>
            <a:chExt cx="816" cy="768"/>
          </a:xfrm>
          <a:scene3d>
            <a:camera prst="orthographicFront">
              <a:rot lat="0" lon="0" rev="0"/>
            </a:camera>
            <a:lightRig rig="balanced" dir="t">
              <a:rot lat="0" lon="0" rev="8700000"/>
            </a:lightRig>
          </a:scene3d>
        </p:grpSpPr>
        <p:sp>
          <p:nvSpPr>
            <p:cNvPr id="34832" name="Line 59"/>
            <p:cNvSpPr>
              <a:spLocks noChangeShapeType="1"/>
            </p:cNvSpPr>
            <p:nvPr/>
          </p:nvSpPr>
          <p:spPr bwMode="auto">
            <a:xfrm flipH="1">
              <a:off x="2064" y="1632"/>
              <a:ext cx="816" cy="768"/>
            </a:xfrm>
            <a:prstGeom prst="line">
              <a:avLst/>
            </a:prstGeom>
            <a:noFill/>
            <a:ln w="57150">
              <a:solidFill>
                <a:srgbClr val="C00000"/>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34833" name="Line 60"/>
            <p:cNvSpPr>
              <a:spLocks noChangeShapeType="1"/>
            </p:cNvSpPr>
            <p:nvPr/>
          </p:nvSpPr>
          <p:spPr bwMode="auto">
            <a:xfrm>
              <a:off x="2064" y="1680"/>
              <a:ext cx="816" cy="720"/>
            </a:xfrm>
            <a:prstGeom prst="line">
              <a:avLst/>
            </a:prstGeom>
            <a:noFill/>
            <a:ln w="57150">
              <a:solidFill>
                <a:srgbClr val="C00000"/>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a:spAutoFit/>
            </a:bodyPr>
            <a:lstStyle/>
            <a:p>
              <a:endParaRPr lang="en-CA"/>
            </a:p>
          </p:txBody>
        </p:sp>
      </p:grpSp>
      <p:sp>
        <p:nvSpPr>
          <p:cNvPr id="123971" name="Text Box 67" descr="Bouquet"/>
          <p:cNvSpPr txBox="1">
            <a:spLocks noChangeArrowheads="1"/>
          </p:cNvSpPr>
          <p:nvPr/>
        </p:nvSpPr>
        <p:spPr bwMode="auto">
          <a:xfrm>
            <a:off x="4876800" y="3962400"/>
            <a:ext cx="2578100" cy="660400"/>
          </a:xfrm>
          <a:prstGeom prst="rect">
            <a:avLst/>
          </a:prstGeom>
          <a:blipFill dpi="0" rotWithShape="0">
            <a:blip r:embed="rId3"/>
            <a:srcRect/>
            <a:tile tx="0" ty="0" sx="100000" sy="100000" flip="none" algn="tl"/>
          </a:blipFill>
          <a:ln w="3175">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1800" dirty="0">
                <a:solidFill>
                  <a:schemeClr val="tx2"/>
                </a:solidFill>
              </a:rPr>
              <a:t>Tree drawing convention</a:t>
            </a:r>
          </a:p>
          <a:p>
            <a:pPr eaLnBrk="1" hangingPunct="1">
              <a:buFontTx/>
              <a:buNone/>
            </a:pPr>
            <a:r>
              <a:rPr lang="en-US" sz="1800" dirty="0">
                <a:solidFill>
                  <a:schemeClr val="tx2"/>
                </a:solidFill>
              </a:rPr>
              <a:t>Downward &amp; left-to-right</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33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3907"/>
                                        </p:tgtEl>
                                        <p:attrNameLst>
                                          <p:attrName>style.visibility</p:attrName>
                                        </p:attrNameLst>
                                      </p:cBhvr>
                                      <p:to>
                                        <p:strVal val="visible"/>
                                      </p:to>
                                    </p:set>
                                    <p:animEffect transition="in" filter="wipe(up)">
                                      <p:cBhvr>
                                        <p:cTn id="7" dur="500"/>
                                        <p:tgtEl>
                                          <p:spTgt spid="1239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23966"/>
                                        </p:tgtEl>
                                        <p:attrNameLst>
                                          <p:attrName>style.visibility</p:attrName>
                                        </p:attrNameLst>
                                      </p:cBhvr>
                                      <p:to>
                                        <p:strVal val="visible"/>
                                      </p:to>
                                    </p:set>
                                    <p:animEffect transition="in" filter="wipe(up)">
                                      <p:cBhvr>
                                        <p:cTn id="12" dur="500"/>
                                        <p:tgtEl>
                                          <p:spTgt spid="123966"/>
                                        </p:tgtEl>
                                      </p:cBhvr>
                                    </p:animEffect>
                                  </p:childTnLst>
                                </p:cTn>
                              </p:par>
                            </p:childTnLst>
                          </p:cTn>
                        </p:par>
                        <p:par>
                          <p:cTn id="13" fill="hold" nodeType="afterGroup">
                            <p:stCondLst>
                              <p:cond delay="500"/>
                            </p:stCondLst>
                            <p:childTnLst>
                              <p:par>
                                <p:cTn id="14" presetID="22" presetClass="entr" presetSubtype="1" fill="hold" nodeType="afterEffect">
                                  <p:stCondLst>
                                    <p:cond delay="1000"/>
                                  </p:stCondLst>
                                  <p:childTnLst>
                                    <p:set>
                                      <p:cBhvr>
                                        <p:cTn id="15" dur="1" fill="hold">
                                          <p:stCondLst>
                                            <p:cond delay="0"/>
                                          </p:stCondLst>
                                        </p:cTn>
                                        <p:tgtEl>
                                          <p:spTgt spid="123967"/>
                                        </p:tgtEl>
                                        <p:attrNameLst>
                                          <p:attrName>style.visibility</p:attrName>
                                        </p:attrNameLst>
                                      </p:cBhvr>
                                      <p:to>
                                        <p:strVal val="visible"/>
                                      </p:to>
                                    </p:set>
                                    <p:animEffect transition="in" filter="wipe(up)">
                                      <p:cBhvr>
                                        <p:cTn id="16" dur="500"/>
                                        <p:tgtEl>
                                          <p:spTgt spid="123967"/>
                                        </p:tgtEl>
                                      </p:cBhvr>
                                    </p:animEffect>
                                  </p:childTnLst>
                                </p:cTn>
                              </p:par>
                            </p:childTnLst>
                          </p:cTn>
                        </p:par>
                        <p:par>
                          <p:cTn id="17" fill="hold" nodeType="afterGroup">
                            <p:stCondLst>
                              <p:cond delay="2000"/>
                            </p:stCondLst>
                            <p:childTnLst>
                              <p:par>
                                <p:cTn id="18" presetID="22" presetClass="entr" presetSubtype="1" fill="hold" nodeType="afterEffect">
                                  <p:stCondLst>
                                    <p:cond delay="1000"/>
                                  </p:stCondLst>
                                  <p:childTnLst>
                                    <p:set>
                                      <p:cBhvr>
                                        <p:cTn id="19" dur="1" fill="hold">
                                          <p:stCondLst>
                                            <p:cond delay="0"/>
                                          </p:stCondLst>
                                        </p:cTn>
                                        <p:tgtEl>
                                          <p:spTgt spid="123968"/>
                                        </p:tgtEl>
                                        <p:attrNameLst>
                                          <p:attrName>style.visibility</p:attrName>
                                        </p:attrNameLst>
                                      </p:cBhvr>
                                      <p:to>
                                        <p:strVal val="visible"/>
                                      </p:to>
                                    </p:set>
                                    <p:animEffect transition="in" filter="wipe(up)">
                                      <p:cBhvr>
                                        <p:cTn id="20" dur="500"/>
                                        <p:tgtEl>
                                          <p:spTgt spid="123968"/>
                                        </p:tgtEl>
                                      </p:cBhvr>
                                    </p:animEffect>
                                  </p:childTnLst>
                                </p:cTn>
                              </p:par>
                            </p:childTnLst>
                          </p:cTn>
                        </p:par>
                        <p:par>
                          <p:cTn id="21" fill="hold" nodeType="afterGroup">
                            <p:stCondLst>
                              <p:cond delay="3500"/>
                            </p:stCondLst>
                            <p:childTnLst>
                              <p:par>
                                <p:cTn id="22" presetID="22" presetClass="entr" presetSubtype="1" fill="hold" nodeType="afterEffect">
                                  <p:stCondLst>
                                    <p:cond delay="1000"/>
                                  </p:stCondLst>
                                  <p:childTnLst>
                                    <p:set>
                                      <p:cBhvr>
                                        <p:cTn id="23" dur="1" fill="hold">
                                          <p:stCondLst>
                                            <p:cond delay="0"/>
                                          </p:stCondLst>
                                        </p:cTn>
                                        <p:tgtEl>
                                          <p:spTgt spid="123974"/>
                                        </p:tgtEl>
                                        <p:attrNameLst>
                                          <p:attrName>style.visibility</p:attrName>
                                        </p:attrNameLst>
                                      </p:cBhvr>
                                      <p:to>
                                        <p:strVal val="visible"/>
                                      </p:to>
                                    </p:set>
                                    <p:animEffect transition="in" filter="wipe(up)">
                                      <p:cBhvr>
                                        <p:cTn id="24" dur="500"/>
                                        <p:tgtEl>
                                          <p:spTgt spid="123974"/>
                                        </p:tgtEl>
                                      </p:cBhvr>
                                    </p:animEffect>
                                  </p:childTnLst>
                                </p:cTn>
                              </p:par>
                            </p:childTnLst>
                          </p:cTn>
                        </p:par>
                        <p:par>
                          <p:cTn id="25" fill="hold" nodeType="afterGroup">
                            <p:stCondLst>
                              <p:cond delay="5000"/>
                            </p:stCondLst>
                            <p:childTnLst>
                              <p:par>
                                <p:cTn id="26" presetID="22" presetClass="entr" presetSubtype="1" fill="hold" nodeType="afterEffect">
                                  <p:stCondLst>
                                    <p:cond delay="1000"/>
                                  </p:stCondLst>
                                  <p:childTnLst>
                                    <p:set>
                                      <p:cBhvr>
                                        <p:cTn id="27" dur="1" fill="hold">
                                          <p:stCondLst>
                                            <p:cond delay="0"/>
                                          </p:stCondLst>
                                        </p:cTn>
                                        <p:tgtEl>
                                          <p:spTgt spid="123970"/>
                                        </p:tgtEl>
                                        <p:attrNameLst>
                                          <p:attrName>style.visibility</p:attrName>
                                        </p:attrNameLst>
                                      </p:cBhvr>
                                      <p:to>
                                        <p:strVal val="visible"/>
                                      </p:to>
                                    </p:set>
                                    <p:animEffect transition="in" filter="wipe(up)">
                                      <p:cBhvr>
                                        <p:cTn id="28" dur="500"/>
                                        <p:tgtEl>
                                          <p:spTgt spid="123970"/>
                                        </p:tgtEl>
                                      </p:cBhvr>
                                    </p:animEffect>
                                  </p:childTnLst>
                                </p:cTn>
                              </p:par>
                            </p:childTnLst>
                          </p:cTn>
                        </p:par>
                        <p:par>
                          <p:cTn id="29" fill="hold" nodeType="afterGroup">
                            <p:stCondLst>
                              <p:cond delay="6500"/>
                            </p:stCondLst>
                            <p:childTnLst>
                              <p:par>
                                <p:cTn id="30" presetID="2" presetClass="entr" presetSubtype="2" fill="hold" grpId="0" nodeType="afterEffect">
                                  <p:stCondLst>
                                    <p:cond delay="1000"/>
                                  </p:stCondLst>
                                  <p:childTnLst>
                                    <p:set>
                                      <p:cBhvr>
                                        <p:cTn id="31" dur="1" fill="hold">
                                          <p:stCondLst>
                                            <p:cond delay="0"/>
                                          </p:stCondLst>
                                        </p:cTn>
                                        <p:tgtEl>
                                          <p:spTgt spid="123971"/>
                                        </p:tgtEl>
                                        <p:attrNameLst>
                                          <p:attrName>style.visibility</p:attrName>
                                        </p:attrNameLst>
                                      </p:cBhvr>
                                      <p:to>
                                        <p:strVal val="visible"/>
                                      </p:to>
                                    </p:set>
                                    <p:anim calcmode="lin" valueType="num">
                                      <p:cBhvr additive="base">
                                        <p:cTn id="32" dur="500" fill="hold"/>
                                        <p:tgtEl>
                                          <p:spTgt spid="123971"/>
                                        </p:tgtEl>
                                        <p:attrNameLst>
                                          <p:attrName>ppt_x</p:attrName>
                                        </p:attrNameLst>
                                      </p:cBhvr>
                                      <p:tavLst>
                                        <p:tav tm="0">
                                          <p:val>
                                            <p:strVal val="1+#ppt_w/2"/>
                                          </p:val>
                                        </p:tav>
                                        <p:tav tm="100000">
                                          <p:val>
                                            <p:strVal val="#ppt_x"/>
                                          </p:val>
                                        </p:tav>
                                      </p:tavLst>
                                    </p:anim>
                                    <p:anim calcmode="lin" valueType="num">
                                      <p:cBhvr additive="base">
                                        <p:cTn id="33" dur="500" fill="hold"/>
                                        <p:tgtEl>
                                          <p:spTgt spid="123971"/>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3957"/>
                                        </p:tgtEl>
                                        <p:attrNameLst>
                                          <p:attrName>style.visibility</p:attrName>
                                        </p:attrNameLst>
                                      </p:cBhvr>
                                      <p:to>
                                        <p:strVal val="visible"/>
                                      </p:to>
                                    </p:set>
                                    <p:animEffect transition="in" filter="wipe(left)">
                                      <p:cBhvr>
                                        <p:cTn id="38" dur="500"/>
                                        <p:tgtEl>
                                          <p:spTgt spid="12395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23958"/>
                                        </p:tgtEl>
                                        <p:attrNameLst>
                                          <p:attrName>style.visibility</p:attrName>
                                        </p:attrNameLst>
                                      </p:cBhvr>
                                      <p:to>
                                        <p:strVal val="visible"/>
                                      </p:to>
                                    </p:set>
                                    <p:animEffect transition="in" filter="wipe(left)">
                                      <p:cBhvr>
                                        <p:cTn id="43" dur="500"/>
                                        <p:tgtEl>
                                          <p:spTgt spid="12395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123959"/>
                                        </p:tgtEl>
                                        <p:attrNameLst>
                                          <p:attrName>style.visibility</p:attrName>
                                        </p:attrNameLst>
                                      </p:cBhvr>
                                      <p:to>
                                        <p:strVal val="visible"/>
                                      </p:to>
                                    </p:set>
                                    <p:animEffect transition="in" filter="wipe(up)">
                                      <p:cBhvr>
                                        <p:cTn id="48" dur="500"/>
                                        <p:tgtEl>
                                          <p:spTgt spid="12395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123960"/>
                                        </p:tgtEl>
                                        <p:attrNameLst>
                                          <p:attrName>style.visibility</p:attrName>
                                        </p:attrNameLst>
                                      </p:cBhvr>
                                      <p:to>
                                        <p:strVal val="visible"/>
                                      </p:to>
                                    </p:set>
                                    <p:animEffect transition="in" filter="wipe(up)">
                                      <p:cBhvr>
                                        <p:cTn id="53" dur="500"/>
                                        <p:tgtEl>
                                          <p:spTgt spid="12396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123962"/>
                                        </p:tgtEl>
                                        <p:attrNameLst>
                                          <p:attrName>style.visibility</p:attrName>
                                        </p:attrNameLst>
                                      </p:cBhvr>
                                      <p:to>
                                        <p:strVal val="visible"/>
                                      </p:to>
                                    </p:set>
                                    <p:animEffect transition="in" filter="wipe(up)">
                                      <p:cBhvr>
                                        <p:cTn id="58" dur="500"/>
                                        <p:tgtEl>
                                          <p:spTgt spid="123962"/>
                                        </p:tgtEl>
                                      </p:cBhvr>
                                    </p:animEffect>
                                  </p:childTnLst>
                                </p:cTn>
                              </p:par>
                            </p:childTnLst>
                          </p:cTn>
                        </p:par>
                        <p:par>
                          <p:cTn id="59" fill="hold" nodeType="afterGroup">
                            <p:stCondLst>
                              <p:cond delay="500"/>
                            </p:stCondLst>
                            <p:childTnLst>
                              <p:par>
                                <p:cTn id="60" presetID="9" presetClass="entr" presetSubtype="0" fill="hold" nodeType="afterEffect">
                                  <p:stCondLst>
                                    <p:cond delay="1000"/>
                                  </p:stCondLst>
                                  <p:childTnLst>
                                    <p:set>
                                      <p:cBhvr>
                                        <p:cTn id="61" dur="1" fill="hold">
                                          <p:stCondLst>
                                            <p:cond delay="0"/>
                                          </p:stCondLst>
                                        </p:cTn>
                                        <p:tgtEl>
                                          <p:spTgt spid="123965"/>
                                        </p:tgtEl>
                                        <p:attrNameLst>
                                          <p:attrName>style.visibility</p:attrName>
                                        </p:attrNameLst>
                                      </p:cBhvr>
                                      <p:to>
                                        <p:strVal val="visible"/>
                                      </p:to>
                                    </p:set>
                                    <p:animEffect transition="in" filter="dissolve">
                                      <p:cBhvr>
                                        <p:cTn id="62" dur="500"/>
                                        <p:tgtEl>
                                          <p:spTgt spid="123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autoUpdateAnimBg="0"/>
      <p:bldP spid="123957" grpId="0" autoUpdateAnimBg="0"/>
      <p:bldP spid="123958" grpId="0" autoUpdateAnimBg="0"/>
      <p:bldP spid="123959" grpId="0" autoUpdateAnimBg="0"/>
      <p:bldP spid="123960" grpId="0" autoUpdateAnimBg="0"/>
      <p:bldP spid="123962" grpId="0" autoUpdateAnimBg="0"/>
      <p:bldP spid="123971"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DFS Finishing Times</a:t>
            </a:r>
          </a:p>
        </p:txBody>
      </p:sp>
      <p:sp>
        <p:nvSpPr>
          <p:cNvPr id="124931" name="Rectangle 3"/>
          <p:cNvSpPr>
            <a:spLocks noChangeArrowheads="1"/>
          </p:cNvSpPr>
          <p:nvPr/>
        </p:nvSpPr>
        <p:spPr bwMode="auto">
          <a:xfrm>
            <a:off x="685800" y="685800"/>
            <a:ext cx="79248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buFontTx/>
              <a:buNone/>
            </a:pPr>
            <a:r>
              <a:rPr lang="en-US" sz="2400" b="1">
                <a:solidFill>
                  <a:schemeClr val="hlink"/>
                </a:solidFill>
              </a:rPr>
              <a:t>DiGraph: state of</a:t>
            </a:r>
            <a:r>
              <a:rPr lang="en-US" sz="2400" b="1">
                <a:solidFill>
                  <a:srgbClr val="CC0000"/>
                </a:solidFill>
              </a:rPr>
              <a:t>    edge  u</a:t>
            </a:r>
            <a:r>
              <a:rPr lang="en-US" sz="2400" b="1">
                <a:solidFill>
                  <a:srgbClr val="CC0000"/>
                </a:solidFill>
                <a:sym typeface="Symbol" pitchFamily="18" charset="2"/>
              </a:rPr>
              <a:t></a:t>
            </a:r>
            <a:r>
              <a:rPr lang="en-US" sz="2400" b="1">
                <a:solidFill>
                  <a:srgbClr val="CC0000"/>
                </a:solidFill>
              </a:rPr>
              <a:t>v    </a:t>
            </a:r>
            <a:r>
              <a:rPr lang="en-US" sz="2400" b="1">
                <a:solidFill>
                  <a:schemeClr val="hlink"/>
                </a:solidFill>
              </a:rPr>
              <a:t>at the </a:t>
            </a:r>
            <a:r>
              <a:rPr lang="en-US" sz="2400" b="1" u="sng">
                <a:solidFill>
                  <a:schemeClr val="hlink"/>
                </a:solidFill>
              </a:rPr>
              <a:t>completion</a:t>
            </a:r>
            <a:r>
              <a:rPr lang="en-US" sz="2400" b="1">
                <a:solidFill>
                  <a:schemeClr val="hlink"/>
                </a:solidFill>
              </a:rPr>
              <a:t> of DFS:</a:t>
            </a:r>
          </a:p>
        </p:txBody>
      </p:sp>
      <p:grpSp>
        <p:nvGrpSpPr>
          <p:cNvPr id="124984" name="Group 56"/>
          <p:cNvGrpSpPr>
            <a:grpSpLocks/>
          </p:cNvGrpSpPr>
          <p:nvPr/>
        </p:nvGrpSpPr>
        <p:grpSpPr bwMode="auto">
          <a:xfrm>
            <a:off x="2286000" y="4038600"/>
            <a:ext cx="2514600" cy="2506663"/>
            <a:chOff x="1920" y="2544"/>
            <a:chExt cx="1584" cy="1579"/>
          </a:xfrm>
        </p:grpSpPr>
        <p:grpSp>
          <p:nvGrpSpPr>
            <p:cNvPr id="35870" name="Group 13"/>
            <p:cNvGrpSpPr>
              <a:grpSpLocks/>
            </p:cNvGrpSpPr>
            <p:nvPr/>
          </p:nvGrpSpPr>
          <p:grpSpPr bwMode="auto">
            <a:xfrm>
              <a:off x="1920" y="2544"/>
              <a:ext cx="1584" cy="1341"/>
              <a:chOff x="3120" y="1155"/>
              <a:chExt cx="1584" cy="1341"/>
            </a:xfrm>
          </p:grpSpPr>
          <p:sp>
            <p:nvSpPr>
              <p:cNvPr id="35872" name="AutoShape 14"/>
              <p:cNvSpPr>
                <a:spLocks noChangeArrowheads="1"/>
              </p:cNvSpPr>
              <p:nvPr/>
            </p:nvSpPr>
            <p:spPr bwMode="auto">
              <a:xfrm>
                <a:off x="3120" y="1296"/>
                <a:ext cx="1584" cy="1200"/>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35873" name="Freeform 15"/>
              <p:cNvSpPr>
                <a:spLocks/>
              </p:cNvSpPr>
              <p:nvPr/>
            </p:nvSpPr>
            <p:spPr bwMode="auto">
              <a:xfrm>
                <a:off x="3911" y="1303"/>
                <a:ext cx="78" cy="569"/>
              </a:xfrm>
              <a:custGeom>
                <a:avLst/>
                <a:gdLst>
                  <a:gd name="T0" fmla="*/ 0 w 78"/>
                  <a:gd name="T1" fmla="*/ 0 h 569"/>
                  <a:gd name="T2" fmla="*/ 33 w 78"/>
                  <a:gd name="T3" fmla="*/ 139 h 569"/>
                  <a:gd name="T4" fmla="*/ 13 w 78"/>
                  <a:gd name="T5" fmla="*/ 205 h 569"/>
                  <a:gd name="T6" fmla="*/ 66 w 78"/>
                  <a:gd name="T7" fmla="*/ 271 h 569"/>
                  <a:gd name="T8" fmla="*/ 20 w 78"/>
                  <a:gd name="T9" fmla="*/ 337 h 569"/>
                  <a:gd name="T10" fmla="*/ 73 w 78"/>
                  <a:gd name="T11" fmla="*/ 397 h 569"/>
                  <a:gd name="T12" fmla="*/ 53 w 78"/>
                  <a:gd name="T13" fmla="*/ 443 h 569"/>
                  <a:gd name="T14" fmla="*/ 73 w 78"/>
                  <a:gd name="T15" fmla="*/ 569 h 56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8" h="569">
                    <a:moveTo>
                      <a:pt x="0" y="0"/>
                    </a:moveTo>
                    <a:cubicBezTo>
                      <a:pt x="5" y="24"/>
                      <a:pt x="31" y="105"/>
                      <a:pt x="33" y="139"/>
                    </a:cubicBezTo>
                    <a:cubicBezTo>
                      <a:pt x="35" y="173"/>
                      <a:pt x="7" y="183"/>
                      <a:pt x="13" y="205"/>
                    </a:cubicBezTo>
                    <a:cubicBezTo>
                      <a:pt x="19" y="227"/>
                      <a:pt x="65" y="249"/>
                      <a:pt x="66" y="271"/>
                    </a:cubicBezTo>
                    <a:cubicBezTo>
                      <a:pt x="67" y="293"/>
                      <a:pt x="19" y="316"/>
                      <a:pt x="20" y="337"/>
                    </a:cubicBezTo>
                    <a:cubicBezTo>
                      <a:pt x="21" y="358"/>
                      <a:pt x="68" y="379"/>
                      <a:pt x="73" y="397"/>
                    </a:cubicBezTo>
                    <a:cubicBezTo>
                      <a:pt x="78" y="415"/>
                      <a:pt x="53" y="414"/>
                      <a:pt x="53" y="443"/>
                    </a:cubicBezTo>
                    <a:cubicBezTo>
                      <a:pt x="53" y="472"/>
                      <a:pt x="69" y="543"/>
                      <a:pt x="73" y="569"/>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5874" name="Oval 16"/>
              <p:cNvSpPr>
                <a:spLocks noChangeArrowheads="1"/>
              </p:cNvSpPr>
              <p:nvPr/>
            </p:nvSpPr>
            <p:spPr bwMode="auto">
              <a:xfrm>
                <a:off x="3809" y="1155"/>
                <a:ext cx="20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v</a:t>
                </a:r>
              </a:p>
            </p:txBody>
          </p:sp>
          <p:sp>
            <p:nvSpPr>
              <p:cNvPr id="35875" name="AutoShape 17" descr="Stationery"/>
              <p:cNvSpPr>
                <a:spLocks noChangeArrowheads="1"/>
              </p:cNvSpPr>
              <p:nvPr/>
            </p:nvSpPr>
            <p:spPr bwMode="auto">
              <a:xfrm>
                <a:off x="3792" y="1968"/>
                <a:ext cx="384" cy="480"/>
              </a:xfrm>
              <a:prstGeom prst="triangle">
                <a:avLst>
                  <a:gd name="adj" fmla="val 50000"/>
                </a:avLst>
              </a:prstGeom>
              <a:blipFill dpi="0" rotWithShape="0">
                <a:blip r:embed="rId2"/>
                <a:srcRect/>
                <a:tile tx="0" ty="0" sx="100000" sy="100000" flip="none" algn="tl"/>
              </a:bli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5876" name="Oval 18"/>
              <p:cNvSpPr>
                <a:spLocks noChangeArrowheads="1"/>
              </p:cNvSpPr>
              <p:nvPr/>
            </p:nvSpPr>
            <p:spPr bwMode="auto">
              <a:xfrm>
                <a:off x="3888" y="1872"/>
                <a:ext cx="21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u</a:t>
                </a:r>
              </a:p>
            </p:txBody>
          </p:sp>
          <p:sp>
            <p:nvSpPr>
              <p:cNvPr id="35877" name="Freeform 19"/>
              <p:cNvSpPr>
                <a:spLocks/>
              </p:cNvSpPr>
              <p:nvPr/>
            </p:nvSpPr>
            <p:spPr bwMode="auto">
              <a:xfrm>
                <a:off x="3772" y="1392"/>
                <a:ext cx="119" cy="566"/>
              </a:xfrm>
              <a:custGeom>
                <a:avLst/>
                <a:gdLst>
                  <a:gd name="T0" fmla="*/ 119 w 119"/>
                  <a:gd name="T1" fmla="*/ 566 h 566"/>
                  <a:gd name="T2" fmla="*/ 0 w 119"/>
                  <a:gd name="T3" fmla="*/ 314 h 566"/>
                  <a:gd name="T4" fmla="*/ 116 w 119"/>
                  <a:gd name="T5" fmla="*/ 0 h 566"/>
                  <a:gd name="T6" fmla="*/ 0 60000 65536"/>
                  <a:gd name="T7" fmla="*/ 0 60000 65536"/>
                  <a:gd name="T8" fmla="*/ 0 60000 65536"/>
                </a:gdLst>
                <a:ahLst/>
                <a:cxnLst>
                  <a:cxn ang="T6">
                    <a:pos x="T0" y="T1"/>
                  </a:cxn>
                  <a:cxn ang="T7">
                    <a:pos x="T2" y="T3"/>
                  </a:cxn>
                  <a:cxn ang="T8">
                    <a:pos x="T4" y="T5"/>
                  </a:cxn>
                </a:cxnLst>
                <a:rect l="0" t="0" r="r" b="b"/>
                <a:pathLst>
                  <a:path w="119" h="566">
                    <a:moveTo>
                      <a:pt x="119" y="566"/>
                    </a:moveTo>
                    <a:cubicBezTo>
                      <a:pt x="99" y="524"/>
                      <a:pt x="0" y="408"/>
                      <a:pt x="0" y="314"/>
                    </a:cubicBezTo>
                    <a:cubicBezTo>
                      <a:pt x="0" y="220"/>
                      <a:pt x="92" y="65"/>
                      <a:pt x="116" y="0"/>
                    </a:cubicBezTo>
                  </a:path>
                </a:pathLst>
              </a:custGeom>
              <a:noFill/>
              <a:ln w="190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sp>
          <p:nvSpPr>
            <p:cNvPr id="35871" name="Rectangle 20"/>
            <p:cNvSpPr>
              <a:spLocks noChangeArrowheads="1"/>
            </p:cNvSpPr>
            <p:nvPr/>
          </p:nvSpPr>
          <p:spPr bwMode="auto">
            <a:xfrm>
              <a:off x="2352" y="3873"/>
              <a:ext cx="77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000" u="sng"/>
                <a:t>back-edge</a:t>
              </a:r>
              <a:endParaRPr lang="en-US" sz="1800"/>
            </a:p>
          </p:txBody>
        </p:sp>
      </p:grpSp>
      <p:grpSp>
        <p:nvGrpSpPr>
          <p:cNvPr id="124983" name="Group 55"/>
          <p:cNvGrpSpPr>
            <a:grpSpLocks/>
          </p:cNvGrpSpPr>
          <p:nvPr/>
        </p:nvGrpSpPr>
        <p:grpSpPr bwMode="auto">
          <a:xfrm>
            <a:off x="2743200" y="1219200"/>
            <a:ext cx="6248400" cy="2506663"/>
            <a:chOff x="1728" y="768"/>
            <a:chExt cx="3936" cy="1579"/>
          </a:xfrm>
        </p:grpSpPr>
        <p:grpSp>
          <p:nvGrpSpPr>
            <p:cNvPr id="35848" name="Group 5"/>
            <p:cNvGrpSpPr>
              <a:grpSpLocks/>
            </p:cNvGrpSpPr>
            <p:nvPr/>
          </p:nvGrpSpPr>
          <p:grpSpPr bwMode="auto">
            <a:xfrm>
              <a:off x="1728" y="1104"/>
              <a:ext cx="768" cy="1005"/>
              <a:chOff x="336" y="1491"/>
              <a:chExt cx="768" cy="1005"/>
            </a:xfrm>
          </p:grpSpPr>
          <p:sp>
            <p:nvSpPr>
              <p:cNvPr id="35865" name="AutoShape 6"/>
              <p:cNvSpPr>
                <a:spLocks noChangeArrowheads="1"/>
              </p:cNvSpPr>
              <p:nvPr/>
            </p:nvSpPr>
            <p:spPr bwMode="auto">
              <a:xfrm>
                <a:off x="336" y="1584"/>
                <a:ext cx="768" cy="912"/>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5866" name="Line 7"/>
              <p:cNvSpPr>
                <a:spLocks noChangeShapeType="1"/>
              </p:cNvSpPr>
              <p:nvPr/>
            </p:nvSpPr>
            <p:spPr bwMode="auto">
              <a:xfrm>
                <a:off x="720" y="1632"/>
                <a:ext cx="0"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5867" name="Oval 8"/>
              <p:cNvSpPr>
                <a:spLocks noChangeArrowheads="1"/>
              </p:cNvSpPr>
              <p:nvPr/>
            </p:nvSpPr>
            <p:spPr bwMode="auto">
              <a:xfrm>
                <a:off x="636" y="1491"/>
                <a:ext cx="21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u</a:t>
                </a:r>
              </a:p>
            </p:txBody>
          </p:sp>
          <p:sp>
            <p:nvSpPr>
              <p:cNvPr id="35868" name="AutoShape 9" descr="Stationery"/>
              <p:cNvSpPr>
                <a:spLocks noChangeArrowheads="1"/>
              </p:cNvSpPr>
              <p:nvPr/>
            </p:nvSpPr>
            <p:spPr bwMode="auto">
              <a:xfrm>
                <a:off x="528" y="1968"/>
                <a:ext cx="384" cy="480"/>
              </a:xfrm>
              <a:prstGeom prst="triangle">
                <a:avLst>
                  <a:gd name="adj" fmla="val 50000"/>
                </a:avLst>
              </a:prstGeom>
              <a:blipFill dpi="0" rotWithShape="0">
                <a:blip r:embed="rId2"/>
                <a:srcRect/>
                <a:tile tx="0" ty="0" sx="100000" sy="100000" flip="none" algn="tl"/>
              </a:bli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5869" name="Oval 10"/>
              <p:cNvSpPr>
                <a:spLocks noChangeArrowheads="1"/>
              </p:cNvSpPr>
              <p:nvPr/>
            </p:nvSpPr>
            <p:spPr bwMode="auto">
              <a:xfrm>
                <a:off x="629" y="1872"/>
                <a:ext cx="20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v</a:t>
                </a:r>
              </a:p>
            </p:txBody>
          </p:sp>
        </p:grpSp>
        <p:sp>
          <p:nvSpPr>
            <p:cNvPr id="35849" name="Rectangle 11"/>
            <p:cNvSpPr>
              <a:spLocks noChangeArrowheads="1"/>
            </p:cNvSpPr>
            <p:nvPr/>
          </p:nvSpPr>
          <p:spPr bwMode="auto">
            <a:xfrm>
              <a:off x="1776" y="2097"/>
              <a:ext cx="71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000" u="sng"/>
                <a:t>tree-edge</a:t>
              </a:r>
              <a:endParaRPr lang="en-US" sz="1800"/>
            </a:p>
          </p:txBody>
        </p:sp>
        <p:grpSp>
          <p:nvGrpSpPr>
            <p:cNvPr id="35850" name="Group 22"/>
            <p:cNvGrpSpPr>
              <a:grpSpLocks/>
            </p:cNvGrpSpPr>
            <p:nvPr/>
          </p:nvGrpSpPr>
          <p:grpSpPr bwMode="auto">
            <a:xfrm>
              <a:off x="2688" y="768"/>
              <a:ext cx="1584" cy="1341"/>
              <a:chOff x="96" y="2595"/>
              <a:chExt cx="1584" cy="1341"/>
            </a:xfrm>
          </p:grpSpPr>
          <p:sp>
            <p:nvSpPr>
              <p:cNvPr id="35859" name="AutoShape 23"/>
              <p:cNvSpPr>
                <a:spLocks noChangeArrowheads="1"/>
              </p:cNvSpPr>
              <p:nvPr/>
            </p:nvSpPr>
            <p:spPr bwMode="auto">
              <a:xfrm>
                <a:off x="96" y="2736"/>
                <a:ext cx="1584" cy="1200"/>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35860" name="Freeform 24"/>
              <p:cNvSpPr>
                <a:spLocks/>
              </p:cNvSpPr>
              <p:nvPr/>
            </p:nvSpPr>
            <p:spPr bwMode="auto">
              <a:xfrm>
                <a:off x="887" y="2743"/>
                <a:ext cx="78" cy="569"/>
              </a:xfrm>
              <a:custGeom>
                <a:avLst/>
                <a:gdLst>
                  <a:gd name="T0" fmla="*/ 0 w 78"/>
                  <a:gd name="T1" fmla="*/ 0 h 569"/>
                  <a:gd name="T2" fmla="*/ 33 w 78"/>
                  <a:gd name="T3" fmla="*/ 139 h 569"/>
                  <a:gd name="T4" fmla="*/ 13 w 78"/>
                  <a:gd name="T5" fmla="*/ 205 h 569"/>
                  <a:gd name="T6" fmla="*/ 66 w 78"/>
                  <a:gd name="T7" fmla="*/ 271 h 569"/>
                  <a:gd name="T8" fmla="*/ 20 w 78"/>
                  <a:gd name="T9" fmla="*/ 337 h 569"/>
                  <a:gd name="T10" fmla="*/ 73 w 78"/>
                  <a:gd name="T11" fmla="*/ 397 h 569"/>
                  <a:gd name="T12" fmla="*/ 53 w 78"/>
                  <a:gd name="T13" fmla="*/ 443 h 569"/>
                  <a:gd name="T14" fmla="*/ 73 w 78"/>
                  <a:gd name="T15" fmla="*/ 569 h 56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8" h="569">
                    <a:moveTo>
                      <a:pt x="0" y="0"/>
                    </a:moveTo>
                    <a:cubicBezTo>
                      <a:pt x="5" y="24"/>
                      <a:pt x="31" y="105"/>
                      <a:pt x="33" y="139"/>
                    </a:cubicBezTo>
                    <a:cubicBezTo>
                      <a:pt x="35" y="173"/>
                      <a:pt x="7" y="183"/>
                      <a:pt x="13" y="205"/>
                    </a:cubicBezTo>
                    <a:cubicBezTo>
                      <a:pt x="19" y="227"/>
                      <a:pt x="65" y="249"/>
                      <a:pt x="66" y="271"/>
                    </a:cubicBezTo>
                    <a:cubicBezTo>
                      <a:pt x="67" y="293"/>
                      <a:pt x="19" y="316"/>
                      <a:pt x="20" y="337"/>
                    </a:cubicBezTo>
                    <a:cubicBezTo>
                      <a:pt x="21" y="358"/>
                      <a:pt x="68" y="379"/>
                      <a:pt x="73" y="397"/>
                    </a:cubicBezTo>
                    <a:cubicBezTo>
                      <a:pt x="78" y="415"/>
                      <a:pt x="53" y="414"/>
                      <a:pt x="53" y="443"/>
                    </a:cubicBezTo>
                    <a:cubicBezTo>
                      <a:pt x="53" y="472"/>
                      <a:pt x="69" y="543"/>
                      <a:pt x="73" y="569"/>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5861" name="Oval 25"/>
              <p:cNvSpPr>
                <a:spLocks noChangeArrowheads="1"/>
              </p:cNvSpPr>
              <p:nvPr/>
            </p:nvSpPr>
            <p:spPr bwMode="auto">
              <a:xfrm>
                <a:off x="780" y="2595"/>
                <a:ext cx="21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u</a:t>
                </a:r>
              </a:p>
            </p:txBody>
          </p:sp>
          <p:sp>
            <p:nvSpPr>
              <p:cNvPr id="35862" name="AutoShape 26" descr="Stationery"/>
              <p:cNvSpPr>
                <a:spLocks noChangeArrowheads="1"/>
              </p:cNvSpPr>
              <p:nvPr/>
            </p:nvSpPr>
            <p:spPr bwMode="auto">
              <a:xfrm>
                <a:off x="768" y="3408"/>
                <a:ext cx="384" cy="480"/>
              </a:xfrm>
              <a:prstGeom prst="triangle">
                <a:avLst>
                  <a:gd name="adj" fmla="val 50000"/>
                </a:avLst>
              </a:prstGeom>
              <a:blipFill dpi="0" rotWithShape="0">
                <a:blip r:embed="rId2"/>
                <a:srcRect/>
                <a:tile tx="0" ty="0" sx="100000" sy="100000" flip="none" algn="tl"/>
              </a:bli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5863" name="Oval 27"/>
              <p:cNvSpPr>
                <a:spLocks noChangeArrowheads="1"/>
              </p:cNvSpPr>
              <p:nvPr/>
            </p:nvSpPr>
            <p:spPr bwMode="auto">
              <a:xfrm>
                <a:off x="869" y="3312"/>
                <a:ext cx="20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v</a:t>
                </a:r>
              </a:p>
            </p:txBody>
          </p:sp>
          <p:sp>
            <p:nvSpPr>
              <p:cNvPr id="35864" name="Freeform 28"/>
              <p:cNvSpPr>
                <a:spLocks/>
              </p:cNvSpPr>
              <p:nvPr/>
            </p:nvSpPr>
            <p:spPr bwMode="auto">
              <a:xfrm>
                <a:off x="748" y="2832"/>
                <a:ext cx="119" cy="566"/>
              </a:xfrm>
              <a:custGeom>
                <a:avLst/>
                <a:gdLst>
                  <a:gd name="T0" fmla="*/ 119 w 119"/>
                  <a:gd name="T1" fmla="*/ 566 h 566"/>
                  <a:gd name="T2" fmla="*/ 0 w 119"/>
                  <a:gd name="T3" fmla="*/ 314 h 566"/>
                  <a:gd name="T4" fmla="*/ 116 w 119"/>
                  <a:gd name="T5" fmla="*/ 0 h 566"/>
                  <a:gd name="T6" fmla="*/ 0 60000 65536"/>
                  <a:gd name="T7" fmla="*/ 0 60000 65536"/>
                  <a:gd name="T8" fmla="*/ 0 60000 65536"/>
                </a:gdLst>
                <a:ahLst/>
                <a:cxnLst>
                  <a:cxn ang="T6">
                    <a:pos x="T0" y="T1"/>
                  </a:cxn>
                  <a:cxn ang="T7">
                    <a:pos x="T2" y="T3"/>
                  </a:cxn>
                  <a:cxn ang="T8">
                    <a:pos x="T4" y="T5"/>
                  </a:cxn>
                </a:cxnLst>
                <a:rect l="0" t="0" r="r" b="b"/>
                <a:pathLst>
                  <a:path w="119" h="566">
                    <a:moveTo>
                      <a:pt x="119" y="566"/>
                    </a:moveTo>
                    <a:cubicBezTo>
                      <a:pt x="99" y="524"/>
                      <a:pt x="0" y="408"/>
                      <a:pt x="0" y="314"/>
                    </a:cubicBezTo>
                    <a:cubicBezTo>
                      <a:pt x="0" y="220"/>
                      <a:pt x="92" y="65"/>
                      <a:pt x="116" y="0"/>
                    </a:cubicBezTo>
                  </a:path>
                </a:pathLst>
              </a:custGeom>
              <a:noFill/>
              <a:ln w="19050" cap="flat" cmpd="sng">
                <a:solidFill>
                  <a:srgbClr val="969696"/>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sp>
          <p:nvSpPr>
            <p:cNvPr id="35851" name="Rectangle 29"/>
            <p:cNvSpPr>
              <a:spLocks noChangeArrowheads="1"/>
            </p:cNvSpPr>
            <p:nvPr/>
          </p:nvSpPr>
          <p:spPr bwMode="auto">
            <a:xfrm>
              <a:off x="3120" y="2097"/>
              <a:ext cx="97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000" u="sng"/>
                <a:t>forward-edge</a:t>
              </a:r>
              <a:endParaRPr lang="en-US" sz="1800"/>
            </a:p>
          </p:txBody>
        </p:sp>
        <p:grpSp>
          <p:nvGrpSpPr>
            <p:cNvPr id="35852" name="Group 31"/>
            <p:cNvGrpSpPr>
              <a:grpSpLocks/>
            </p:cNvGrpSpPr>
            <p:nvPr/>
          </p:nvGrpSpPr>
          <p:grpSpPr bwMode="auto">
            <a:xfrm>
              <a:off x="4464" y="1440"/>
              <a:ext cx="1200" cy="669"/>
              <a:chOff x="2928" y="2883"/>
              <a:chExt cx="1200" cy="669"/>
            </a:xfrm>
          </p:grpSpPr>
          <p:sp>
            <p:nvSpPr>
              <p:cNvPr id="35854" name="AutoShape 32"/>
              <p:cNvSpPr>
                <a:spLocks noChangeArrowheads="1"/>
              </p:cNvSpPr>
              <p:nvPr/>
            </p:nvSpPr>
            <p:spPr bwMode="auto">
              <a:xfrm>
                <a:off x="2928" y="2976"/>
                <a:ext cx="528" cy="576"/>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35855" name="AutoShape 33"/>
              <p:cNvSpPr>
                <a:spLocks noChangeArrowheads="1"/>
              </p:cNvSpPr>
              <p:nvPr/>
            </p:nvSpPr>
            <p:spPr bwMode="auto">
              <a:xfrm>
                <a:off x="3600" y="2976"/>
                <a:ext cx="528" cy="576"/>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35856" name="Freeform 34"/>
              <p:cNvSpPr>
                <a:spLocks/>
              </p:cNvSpPr>
              <p:nvPr/>
            </p:nvSpPr>
            <p:spPr bwMode="auto">
              <a:xfrm>
                <a:off x="3297" y="2999"/>
                <a:ext cx="543" cy="7"/>
              </a:xfrm>
              <a:custGeom>
                <a:avLst/>
                <a:gdLst>
                  <a:gd name="T0" fmla="*/ 543 w 543"/>
                  <a:gd name="T1" fmla="*/ 0 h 7"/>
                  <a:gd name="T2" fmla="*/ 0 w 543"/>
                  <a:gd name="T3" fmla="*/ 7 h 7"/>
                  <a:gd name="T4" fmla="*/ 0 60000 65536"/>
                  <a:gd name="T5" fmla="*/ 0 60000 65536"/>
                </a:gdLst>
                <a:ahLst/>
                <a:cxnLst>
                  <a:cxn ang="T4">
                    <a:pos x="T0" y="T1"/>
                  </a:cxn>
                  <a:cxn ang="T5">
                    <a:pos x="T2" y="T3"/>
                  </a:cxn>
                </a:cxnLst>
                <a:rect l="0" t="0" r="r" b="b"/>
                <a:pathLst>
                  <a:path w="543" h="7">
                    <a:moveTo>
                      <a:pt x="543" y="0"/>
                    </a:moveTo>
                    <a:lnTo>
                      <a:pt x="0" y="7"/>
                    </a:lnTo>
                  </a:path>
                </a:pathLst>
              </a:custGeom>
              <a:noFill/>
              <a:ln w="190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5857" name="Oval 35"/>
              <p:cNvSpPr>
                <a:spLocks noChangeArrowheads="1"/>
              </p:cNvSpPr>
              <p:nvPr/>
            </p:nvSpPr>
            <p:spPr bwMode="auto">
              <a:xfrm>
                <a:off x="3756" y="2883"/>
                <a:ext cx="21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u</a:t>
                </a:r>
              </a:p>
            </p:txBody>
          </p:sp>
          <p:sp>
            <p:nvSpPr>
              <p:cNvPr id="35858" name="Oval 36"/>
              <p:cNvSpPr>
                <a:spLocks noChangeArrowheads="1"/>
              </p:cNvSpPr>
              <p:nvPr/>
            </p:nvSpPr>
            <p:spPr bwMode="auto">
              <a:xfrm>
                <a:off x="3089" y="2883"/>
                <a:ext cx="20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v</a:t>
                </a:r>
              </a:p>
            </p:txBody>
          </p:sp>
        </p:grpSp>
        <p:sp>
          <p:nvSpPr>
            <p:cNvPr id="35853" name="Rectangle 37"/>
            <p:cNvSpPr>
              <a:spLocks noChangeArrowheads="1"/>
            </p:cNvSpPr>
            <p:nvPr/>
          </p:nvSpPr>
          <p:spPr bwMode="auto">
            <a:xfrm>
              <a:off x="4704" y="2097"/>
              <a:ext cx="7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000" u="sng"/>
                <a:t>cross-edge</a:t>
              </a:r>
              <a:endParaRPr lang="en-US" sz="1800"/>
            </a:p>
          </p:txBody>
        </p:sp>
      </p:grpSp>
      <p:sp>
        <p:nvSpPr>
          <p:cNvPr id="124967" name="Rectangle 39"/>
          <p:cNvSpPr>
            <a:spLocks noChangeArrowheads="1"/>
          </p:cNvSpPr>
          <p:nvPr/>
        </p:nvSpPr>
        <p:spPr bwMode="auto">
          <a:xfrm>
            <a:off x="533400" y="4876800"/>
            <a:ext cx="15382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2400" b="1">
                <a:solidFill>
                  <a:srgbClr val="CC0000"/>
                </a:solidFill>
              </a:rPr>
              <a:t>f[u] </a:t>
            </a:r>
            <a:r>
              <a:rPr lang="en-US" sz="2400" b="1">
                <a:solidFill>
                  <a:srgbClr val="CC0000"/>
                </a:solidFill>
                <a:sym typeface="Symbol" pitchFamily="18" charset="2"/>
              </a:rPr>
              <a:t></a:t>
            </a:r>
            <a:r>
              <a:rPr lang="en-US" sz="2400" b="1">
                <a:solidFill>
                  <a:srgbClr val="CC0000"/>
                </a:solidFill>
              </a:rPr>
              <a:t> f[v]:</a:t>
            </a:r>
            <a:endParaRPr lang="en-US" sz="2000" b="1">
              <a:solidFill>
                <a:srgbClr val="CC0000"/>
              </a:solidFill>
            </a:endParaRPr>
          </a:p>
        </p:txBody>
      </p:sp>
      <p:sp>
        <p:nvSpPr>
          <p:cNvPr id="124969" name="Rectangle 41"/>
          <p:cNvSpPr>
            <a:spLocks noChangeArrowheads="1"/>
          </p:cNvSpPr>
          <p:nvPr/>
        </p:nvSpPr>
        <p:spPr bwMode="auto">
          <a:xfrm>
            <a:off x="533400" y="2286000"/>
            <a:ext cx="15430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2400" b="1">
                <a:solidFill>
                  <a:srgbClr val="CC0000"/>
                </a:solidFill>
              </a:rPr>
              <a:t>f[u] &gt; f[v]:</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34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1000"/>
                                  </p:stCondLst>
                                  <p:childTnLst>
                                    <p:set>
                                      <p:cBhvr>
                                        <p:cTn id="6" dur="1" fill="hold">
                                          <p:stCondLst>
                                            <p:cond delay="0"/>
                                          </p:stCondLst>
                                        </p:cTn>
                                        <p:tgtEl>
                                          <p:spTgt spid="124931"/>
                                        </p:tgtEl>
                                        <p:attrNameLst>
                                          <p:attrName>style.visibility</p:attrName>
                                        </p:attrNameLst>
                                      </p:cBhvr>
                                      <p:to>
                                        <p:strVal val="visible"/>
                                      </p:to>
                                    </p:set>
                                    <p:animEffect transition="in" filter="wipe(up)">
                                      <p:cBhvr>
                                        <p:cTn id="7" dur="500"/>
                                        <p:tgtEl>
                                          <p:spTgt spid="124931"/>
                                        </p:tgtEl>
                                      </p:cBhvr>
                                    </p:animEffect>
                                  </p:childTnLst>
                                </p:cTn>
                              </p:par>
                            </p:childTnLst>
                          </p:cTn>
                        </p:par>
                        <p:par>
                          <p:cTn id="8" fill="hold" nodeType="afterGroup">
                            <p:stCondLst>
                              <p:cond delay="1500"/>
                            </p:stCondLst>
                            <p:childTnLst>
                              <p:par>
                                <p:cTn id="9" presetID="22" presetClass="entr" presetSubtype="1" fill="hold" nodeType="afterEffect">
                                  <p:stCondLst>
                                    <p:cond delay="2000"/>
                                  </p:stCondLst>
                                  <p:childTnLst>
                                    <p:set>
                                      <p:cBhvr>
                                        <p:cTn id="10" dur="1" fill="hold">
                                          <p:stCondLst>
                                            <p:cond delay="0"/>
                                          </p:stCondLst>
                                        </p:cTn>
                                        <p:tgtEl>
                                          <p:spTgt spid="124983"/>
                                        </p:tgtEl>
                                        <p:attrNameLst>
                                          <p:attrName>style.visibility</p:attrName>
                                        </p:attrNameLst>
                                      </p:cBhvr>
                                      <p:to>
                                        <p:strVal val="visible"/>
                                      </p:to>
                                    </p:set>
                                    <p:animEffect transition="in" filter="wipe(up)">
                                      <p:cBhvr>
                                        <p:cTn id="11" dur="500"/>
                                        <p:tgtEl>
                                          <p:spTgt spid="124983"/>
                                        </p:tgtEl>
                                      </p:cBhvr>
                                    </p:animEffect>
                                  </p:childTnLst>
                                </p:cTn>
                              </p:par>
                            </p:childTnLst>
                          </p:cTn>
                        </p:par>
                        <p:par>
                          <p:cTn id="12" fill="hold" nodeType="afterGroup">
                            <p:stCondLst>
                              <p:cond delay="4000"/>
                            </p:stCondLst>
                            <p:childTnLst>
                              <p:par>
                                <p:cTn id="13" presetID="22" presetClass="entr" presetSubtype="1" fill="hold" nodeType="afterEffect">
                                  <p:stCondLst>
                                    <p:cond delay="0"/>
                                  </p:stCondLst>
                                  <p:childTnLst>
                                    <p:set>
                                      <p:cBhvr>
                                        <p:cTn id="14" dur="1" fill="hold">
                                          <p:stCondLst>
                                            <p:cond delay="0"/>
                                          </p:stCondLst>
                                        </p:cTn>
                                        <p:tgtEl>
                                          <p:spTgt spid="124984"/>
                                        </p:tgtEl>
                                        <p:attrNameLst>
                                          <p:attrName>style.visibility</p:attrName>
                                        </p:attrNameLst>
                                      </p:cBhvr>
                                      <p:to>
                                        <p:strVal val="visible"/>
                                      </p:to>
                                    </p:set>
                                    <p:animEffect transition="in" filter="wipe(up)">
                                      <p:cBhvr>
                                        <p:cTn id="15" dur="500"/>
                                        <p:tgtEl>
                                          <p:spTgt spid="12498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24969"/>
                                        </p:tgtEl>
                                        <p:attrNameLst>
                                          <p:attrName>style.visibility</p:attrName>
                                        </p:attrNameLst>
                                      </p:cBhvr>
                                      <p:to>
                                        <p:strVal val="visible"/>
                                      </p:to>
                                    </p:set>
                                    <p:animEffect transition="in" filter="wipe(left)">
                                      <p:cBhvr>
                                        <p:cTn id="20" dur="500"/>
                                        <p:tgtEl>
                                          <p:spTgt spid="12496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24967"/>
                                        </p:tgtEl>
                                        <p:attrNameLst>
                                          <p:attrName>style.visibility</p:attrName>
                                        </p:attrNameLst>
                                      </p:cBhvr>
                                      <p:to>
                                        <p:strVal val="visible"/>
                                      </p:to>
                                    </p:set>
                                    <p:animEffect transition="in" filter="wipe(left)">
                                      <p:cBhvr>
                                        <p:cTn id="25" dur="500"/>
                                        <p:tgtEl>
                                          <p:spTgt spid="124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autoUpdateAnimBg="0"/>
      <p:bldP spid="124967" grpId="0" autoUpdateAnimBg="0"/>
      <p:bldP spid="124969"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DFS Edge Classification of Undirected Graphs</a:t>
            </a:r>
          </a:p>
        </p:txBody>
      </p:sp>
      <p:grpSp>
        <p:nvGrpSpPr>
          <p:cNvPr id="127018" name="Group 42"/>
          <p:cNvGrpSpPr>
            <a:grpSpLocks/>
          </p:cNvGrpSpPr>
          <p:nvPr/>
        </p:nvGrpSpPr>
        <p:grpSpPr bwMode="auto">
          <a:xfrm>
            <a:off x="762000" y="838200"/>
            <a:ext cx="7924800" cy="3806825"/>
            <a:chOff x="480" y="528"/>
            <a:chExt cx="4992" cy="2398"/>
          </a:xfrm>
        </p:grpSpPr>
        <p:sp>
          <p:nvSpPr>
            <p:cNvPr id="36871" name="Rectangle 3"/>
            <p:cNvSpPr>
              <a:spLocks noChangeArrowheads="1"/>
            </p:cNvSpPr>
            <p:nvPr/>
          </p:nvSpPr>
          <p:spPr bwMode="auto">
            <a:xfrm>
              <a:off x="480" y="528"/>
              <a:ext cx="4992" cy="7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buFontTx/>
                <a:buNone/>
              </a:pPr>
              <a:r>
                <a:rPr lang="en-US" sz="2400" b="1">
                  <a:solidFill>
                    <a:srgbClr val="CC0000"/>
                  </a:solidFill>
                </a:rPr>
                <a:t>Undirected Graph:</a:t>
              </a:r>
              <a:r>
                <a:rPr lang="en-US" sz="2400" b="1">
                  <a:solidFill>
                    <a:schemeClr val="hlink"/>
                  </a:solidFill>
                </a:rPr>
                <a:t>   </a:t>
              </a:r>
              <a:r>
                <a:rPr lang="en-US" sz="2400">
                  <a:solidFill>
                    <a:schemeClr val="hlink"/>
                  </a:solidFill>
                </a:rPr>
                <a:t>only 2 types of edges:</a:t>
              </a:r>
              <a:br>
                <a:rPr lang="en-US" sz="2400">
                  <a:solidFill>
                    <a:schemeClr val="hlink"/>
                  </a:solidFill>
                </a:rPr>
              </a:br>
              <a:r>
                <a:rPr lang="en-US" sz="2400">
                  <a:solidFill>
                    <a:schemeClr val="hlink"/>
                  </a:solidFill>
                </a:rPr>
                <a:t>			tree-edges &amp; </a:t>
              </a:r>
              <a:br>
                <a:rPr lang="en-US" sz="2400">
                  <a:solidFill>
                    <a:schemeClr val="hlink"/>
                  </a:solidFill>
                </a:rPr>
              </a:br>
              <a:r>
                <a:rPr lang="en-US" sz="2400">
                  <a:solidFill>
                    <a:schemeClr val="hlink"/>
                  </a:solidFill>
                </a:rPr>
                <a:t>			back-edges.</a:t>
              </a:r>
            </a:p>
          </p:txBody>
        </p:sp>
        <p:sp>
          <p:nvSpPr>
            <p:cNvPr id="36872" name="AutoShape 6"/>
            <p:cNvSpPr>
              <a:spLocks noChangeArrowheads="1"/>
            </p:cNvSpPr>
            <p:nvPr/>
          </p:nvSpPr>
          <p:spPr bwMode="auto">
            <a:xfrm>
              <a:off x="3216" y="1488"/>
              <a:ext cx="1584" cy="1200"/>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36873" name="Freeform 7"/>
            <p:cNvSpPr>
              <a:spLocks/>
            </p:cNvSpPr>
            <p:nvPr/>
          </p:nvSpPr>
          <p:spPr bwMode="auto">
            <a:xfrm>
              <a:off x="4007" y="1495"/>
              <a:ext cx="78" cy="569"/>
            </a:xfrm>
            <a:custGeom>
              <a:avLst/>
              <a:gdLst>
                <a:gd name="T0" fmla="*/ 0 w 78"/>
                <a:gd name="T1" fmla="*/ 0 h 569"/>
                <a:gd name="T2" fmla="*/ 33 w 78"/>
                <a:gd name="T3" fmla="*/ 139 h 569"/>
                <a:gd name="T4" fmla="*/ 13 w 78"/>
                <a:gd name="T5" fmla="*/ 205 h 569"/>
                <a:gd name="T6" fmla="*/ 66 w 78"/>
                <a:gd name="T7" fmla="*/ 271 h 569"/>
                <a:gd name="T8" fmla="*/ 20 w 78"/>
                <a:gd name="T9" fmla="*/ 337 h 569"/>
                <a:gd name="T10" fmla="*/ 73 w 78"/>
                <a:gd name="T11" fmla="*/ 397 h 569"/>
                <a:gd name="T12" fmla="*/ 53 w 78"/>
                <a:gd name="T13" fmla="*/ 443 h 569"/>
                <a:gd name="T14" fmla="*/ 73 w 78"/>
                <a:gd name="T15" fmla="*/ 569 h 56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8" h="569">
                  <a:moveTo>
                    <a:pt x="0" y="0"/>
                  </a:moveTo>
                  <a:cubicBezTo>
                    <a:pt x="5" y="24"/>
                    <a:pt x="31" y="105"/>
                    <a:pt x="33" y="139"/>
                  </a:cubicBezTo>
                  <a:cubicBezTo>
                    <a:pt x="35" y="173"/>
                    <a:pt x="7" y="183"/>
                    <a:pt x="13" y="205"/>
                  </a:cubicBezTo>
                  <a:cubicBezTo>
                    <a:pt x="19" y="227"/>
                    <a:pt x="65" y="249"/>
                    <a:pt x="66" y="271"/>
                  </a:cubicBezTo>
                  <a:cubicBezTo>
                    <a:pt x="67" y="293"/>
                    <a:pt x="19" y="316"/>
                    <a:pt x="20" y="337"/>
                  </a:cubicBezTo>
                  <a:cubicBezTo>
                    <a:pt x="21" y="358"/>
                    <a:pt x="68" y="379"/>
                    <a:pt x="73" y="397"/>
                  </a:cubicBezTo>
                  <a:cubicBezTo>
                    <a:pt x="78" y="415"/>
                    <a:pt x="53" y="414"/>
                    <a:pt x="53" y="443"/>
                  </a:cubicBezTo>
                  <a:cubicBezTo>
                    <a:pt x="53" y="472"/>
                    <a:pt x="69" y="543"/>
                    <a:pt x="73" y="569"/>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6874" name="Oval 8"/>
            <p:cNvSpPr>
              <a:spLocks noChangeArrowheads="1"/>
            </p:cNvSpPr>
            <p:nvPr/>
          </p:nvSpPr>
          <p:spPr bwMode="auto">
            <a:xfrm>
              <a:off x="3905" y="1347"/>
              <a:ext cx="20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v</a:t>
              </a:r>
            </a:p>
          </p:txBody>
        </p:sp>
        <p:sp>
          <p:nvSpPr>
            <p:cNvPr id="36875" name="AutoShape 9" descr="Stationery"/>
            <p:cNvSpPr>
              <a:spLocks noChangeArrowheads="1"/>
            </p:cNvSpPr>
            <p:nvPr/>
          </p:nvSpPr>
          <p:spPr bwMode="auto">
            <a:xfrm>
              <a:off x="3888" y="2160"/>
              <a:ext cx="384" cy="480"/>
            </a:xfrm>
            <a:prstGeom prst="triangle">
              <a:avLst>
                <a:gd name="adj" fmla="val 50000"/>
              </a:avLst>
            </a:prstGeom>
            <a:blipFill dpi="0" rotWithShape="0">
              <a:blip r:embed="rId2"/>
              <a:srcRect/>
              <a:tile tx="0" ty="0" sx="100000" sy="100000" flip="none" algn="tl"/>
            </a:bli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6876" name="Oval 10"/>
            <p:cNvSpPr>
              <a:spLocks noChangeArrowheads="1"/>
            </p:cNvSpPr>
            <p:nvPr/>
          </p:nvSpPr>
          <p:spPr bwMode="auto">
            <a:xfrm>
              <a:off x="3984" y="2064"/>
              <a:ext cx="21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u</a:t>
              </a:r>
            </a:p>
          </p:txBody>
        </p:sp>
        <p:sp>
          <p:nvSpPr>
            <p:cNvPr id="36877" name="Freeform 11"/>
            <p:cNvSpPr>
              <a:spLocks/>
            </p:cNvSpPr>
            <p:nvPr/>
          </p:nvSpPr>
          <p:spPr bwMode="auto">
            <a:xfrm>
              <a:off x="3868" y="1584"/>
              <a:ext cx="119" cy="566"/>
            </a:xfrm>
            <a:custGeom>
              <a:avLst/>
              <a:gdLst>
                <a:gd name="T0" fmla="*/ 119 w 119"/>
                <a:gd name="T1" fmla="*/ 566 h 566"/>
                <a:gd name="T2" fmla="*/ 0 w 119"/>
                <a:gd name="T3" fmla="*/ 314 h 566"/>
                <a:gd name="T4" fmla="*/ 116 w 119"/>
                <a:gd name="T5" fmla="*/ 0 h 566"/>
                <a:gd name="T6" fmla="*/ 0 60000 65536"/>
                <a:gd name="T7" fmla="*/ 0 60000 65536"/>
                <a:gd name="T8" fmla="*/ 0 60000 65536"/>
              </a:gdLst>
              <a:ahLst/>
              <a:cxnLst>
                <a:cxn ang="T6">
                  <a:pos x="T0" y="T1"/>
                </a:cxn>
                <a:cxn ang="T7">
                  <a:pos x="T2" y="T3"/>
                </a:cxn>
                <a:cxn ang="T8">
                  <a:pos x="T4" y="T5"/>
                </a:cxn>
              </a:cxnLst>
              <a:rect l="0" t="0" r="r" b="b"/>
              <a:pathLst>
                <a:path w="119" h="566">
                  <a:moveTo>
                    <a:pt x="119" y="566"/>
                  </a:moveTo>
                  <a:cubicBezTo>
                    <a:pt x="99" y="524"/>
                    <a:pt x="0" y="408"/>
                    <a:pt x="0" y="314"/>
                  </a:cubicBezTo>
                  <a:cubicBezTo>
                    <a:pt x="0" y="220"/>
                    <a:pt x="92" y="65"/>
                    <a:pt x="116" y="0"/>
                  </a:cubicBezTo>
                </a:path>
              </a:pathLst>
            </a:custGeom>
            <a:noFill/>
            <a:ln w="19050" cap="flat" cmpd="sng">
              <a:solidFill>
                <a:srgbClr val="96969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6878" name="Rectangle 12"/>
            <p:cNvSpPr>
              <a:spLocks noChangeArrowheads="1"/>
            </p:cNvSpPr>
            <p:nvPr/>
          </p:nvSpPr>
          <p:spPr bwMode="auto">
            <a:xfrm>
              <a:off x="3648" y="2676"/>
              <a:ext cx="77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000" u="sng"/>
                <a:t>back-edge</a:t>
              </a:r>
              <a:endParaRPr lang="en-US" sz="1800"/>
            </a:p>
          </p:txBody>
        </p:sp>
        <p:sp>
          <p:nvSpPr>
            <p:cNvPr id="36879" name="AutoShape 15"/>
            <p:cNvSpPr>
              <a:spLocks noChangeArrowheads="1"/>
            </p:cNvSpPr>
            <p:nvPr/>
          </p:nvSpPr>
          <p:spPr bwMode="auto">
            <a:xfrm>
              <a:off x="1440" y="1632"/>
              <a:ext cx="768" cy="912"/>
            </a:xfrm>
            <a:prstGeom prst="triangle">
              <a:avLst>
                <a:gd name="adj" fmla="val 5000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6880" name="Line 16"/>
            <p:cNvSpPr>
              <a:spLocks noChangeShapeType="1"/>
            </p:cNvSpPr>
            <p:nvPr/>
          </p:nvSpPr>
          <p:spPr bwMode="auto">
            <a:xfrm>
              <a:off x="1824" y="1680"/>
              <a:ext cx="0"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6881" name="Oval 17"/>
            <p:cNvSpPr>
              <a:spLocks noChangeArrowheads="1"/>
            </p:cNvSpPr>
            <p:nvPr/>
          </p:nvSpPr>
          <p:spPr bwMode="auto">
            <a:xfrm>
              <a:off x="1740" y="1539"/>
              <a:ext cx="21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u</a:t>
              </a:r>
            </a:p>
          </p:txBody>
        </p:sp>
        <p:sp>
          <p:nvSpPr>
            <p:cNvPr id="36882" name="AutoShape 18" descr="Stationery"/>
            <p:cNvSpPr>
              <a:spLocks noChangeArrowheads="1"/>
            </p:cNvSpPr>
            <p:nvPr/>
          </p:nvSpPr>
          <p:spPr bwMode="auto">
            <a:xfrm>
              <a:off x="1632" y="2016"/>
              <a:ext cx="384" cy="480"/>
            </a:xfrm>
            <a:prstGeom prst="triangle">
              <a:avLst>
                <a:gd name="adj" fmla="val 50000"/>
              </a:avLst>
            </a:prstGeom>
            <a:blipFill dpi="0" rotWithShape="0">
              <a:blip r:embed="rId2"/>
              <a:srcRect/>
              <a:tile tx="0" ty="0" sx="100000" sy="100000" flip="none" algn="tl"/>
            </a:blip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36883" name="Oval 19"/>
            <p:cNvSpPr>
              <a:spLocks noChangeArrowheads="1"/>
            </p:cNvSpPr>
            <p:nvPr/>
          </p:nvSpPr>
          <p:spPr bwMode="auto">
            <a:xfrm>
              <a:off x="1733" y="1920"/>
              <a:ext cx="203" cy="233"/>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200" b="1">
                  <a:latin typeface="Arial" pitchFamily="34" charset="0"/>
                </a:rPr>
                <a:t>v</a:t>
              </a:r>
            </a:p>
          </p:txBody>
        </p:sp>
        <p:sp>
          <p:nvSpPr>
            <p:cNvPr id="36884" name="Rectangle 20"/>
            <p:cNvSpPr>
              <a:spLocks noChangeArrowheads="1"/>
            </p:cNvSpPr>
            <p:nvPr/>
          </p:nvSpPr>
          <p:spPr bwMode="auto">
            <a:xfrm>
              <a:off x="1488" y="2532"/>
              <a:ext cx="71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000" u="sng"/>
                <a:t>tree-edge</a:t>
              </a:r>
              <a:endParaRPr lang="en-US" sz="1800"/>
            </a:p>
          </p:txBody>
        </p:sp>
      </p:grpSp>
      <p:sp>
        <p:nvSpPr>
          <p:cNvPr id="127014" name="Rectangle 38"/>
          <p:cNvSpPr>
            <a:spLocks noChangeArrowheads="1"/>
          </p:cNvSpPr>
          <p:nvPr/>
        </p:nvSpPr>
        <p:spPr bwMode="auto">
          <a:xfrm>
            <a:off x="685800" y="4800600"/>
            <a:ext cx="8486775" cy="191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400">
                <a:solidFill>
                  <a:srgbClr val="CC0000"/>
                </a:solidFill>
              </a:rPr>
              <a:t>Cross edge:</a:t>
            </a:r>
            <a:r>
              <a:rPr lang="en-US" sz="2400">
                <a:solidFill>
                  <a:schemeClr val="hlink"/>
                </a:solidFill>
              </a:rPr>
              <a:t> impossible by the White Path Theorem.</a:t>
            </a:r>
          </a:p>
          <a:p>
            <a:pPr eaLnBrk="1" hangingPunct="1">
              <a:buFontTx/>
              <a:buNone/>
            </a:pPr>
            <a:r>
              <a:rPr lang="en-US" sz="2400">
                <a:solidFill>
                  <a:schemeClr val="hlink"/>
                </a:solidFill>
              </a:rPr>
              <a:t/>
            </a:r>
            <a:br>
              <a:rPr lang="en-US" sz="2400">
                <a:solidFill>
                  <a:schemeClr val="hlink"/>
                </a:solidFill>
              </a:rPr>
            </a:br>
            <a:r>
              <a:rPr lang="en-US" sz="2400">
                <a:solidFill>
                  <a:schemeClr val="hlink"/>
                </a:solidFill>
              </a:rPr>
              <a:t>So each edge is between an ancestor-descendant pair.</a:t>
            </a:r>
            <a:br>
              <a:rPr lang="en-US" sz="2400">
                <a:solidFill>
                  <a:schemeClr val="hlink"/>
                </a:solidFill>
              </a:rPr>
            </a:br>
            <a:r>
              <a:rPr lang="en-US" sz="2400">
                <a:solidFill>
                  <a:schemeClr val="hlink"/>
                </a:solidFill>
              </a:rPr>
              <a:t>Such non-tree edges are called back-edges by convention</a:t>
            </a:r>
            <a:br>
              <a:rPr lang="en-US" sz="2400">
                <a:solidFill>
                  <a:schemeClr val="hlink"/>
                </a:solidFill>
              </a:rPr>
            </a:br>
            <a:r>
              <a:rPr lang="en-US" sz="2400">
                <a:solidFill>
                  <a:schemeClr val="hlink"/>
                </a:solidFill>
              </a:rPr>
              <a:t>(the first time they are traversed from descendant towards ancestor).</a:t>
            </a:r>
          </a:p>
        </p:txBody>
      </p:sp>
      <p:sp>
        <p:nvSpPr>
          <p:cNvPr id="127016" name="Rectangle 40"/>
          <p:cNvSpPr>
            <a:spLocks noChangeArrowheads="1"/>
          </p:cNvSpPr>
          <p:nvPr/>
        </p:nvSpPr>
        <p:spPr bwMode="auto">
          <a:xfrm>
            <a:off x="6934200" y="2438400"/>
            <a:ext cx="14366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2400" b="1">
                <a:solidFill>
                  <a:srgbClr val="CC0000"/>
                </a:solidFill>
              </a:rPr>
              <a:t>f[u] </a:t>
            </a:r>
            <a:r>
              <a:rPr lang="en-US" sz="2400" b="1">
                <a:solidFill>
                  <a:srgbClr val="CC0000"/>
                </a:solidFill>
                <a:sym typeface="Symbol" pitchFamily="18" charset="2"/>
              </a:rPr>
              <a:t></a:t>
            </a:r>
            <a:r>
              <a:rPr lang="en-US" sz="2400" b="1">
                <a:solidFill>
                  <a:srgbClr val="CC0000"/>
                </a:solidFill>
              </a:rPr>
              <a:t> f[v]</a:t>
            </a:r>
            <a:endParaRPr lang="en-US" sz="2000" b="1">
              <a:solidFill>
                <a:srgbClr val="CC0000"/>
              </a:solidFill>
            </a:endParaRPr>
          </a:p>
        </p:txBody>
      </p:sp>
      <p:sp>
        <p:nvSpPr>
          <p:cNvPr id="127017" name="Rectangle 41"/>
          <p:cNvSpPr>
            <a:spLocks noChangeArrowheads="1"/>
          </p:cNvSpPr>
          <p:nvPr/>
        </p:nvSpPr>
        <p:spPr bwMode="auto">
          <a:xfrm>
            <a:off x="762000" y="2514600"/>
            <a:ext cx="14414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2400" b="1">
                <a:solidFill>
                  <a:srgbClr val="CC0000"/>
                </a:solidFill>
              </a:rPr>
              <a:t>f[u] </a:t>
            </a:r>
            <a:r>
              <a:rPr lang="en-US" sz="2400" b="1">
                <a:solidFill>
                  <a:srgbClr val="CC0000"/>
                </a:solidFill>
                <a:sym typeface="Symbol" pitchFamily="18" charset="2"/>
              </a:rPr>
              <a:t>&gt;</a:t>
            </a:r>
            <a:r>
              <a:rPr lang="en-US" sz="2400" b="1">
                <a:solidFill>
                  <a:srgbClr val="CC0000"/>
                </a:solidFill>
              </a:rPr>
              <a:t> f[v]</a:t>
            </a:r>
            <a:endParaRPr lang="en-US" sz="2000" b="1">
              <a:solidFill>
                <a:srgbClr val="CC0000"/>
              </a:solidFill>
            </a:endParaRP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35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1000"/>
                                  </p:stCondLst>
                                  <p:childTnLst>
                                    <p:set>
                                      <p:cBhvr>
                                        <p:cTn id="6" dur="1" fill="hold">
                                          <p:stCondLst>
                                            <p:cond delay="0"/>
                                          </p:stCondLst>
                                        </p:cTn>
                                        <p:tgtEl>
                                          <p:spTgt spid="127018"/>
                                        </p:tgtEl>
                                        <p:attrNameLst>
                                          <p:attrName>style.visibility</p:attrName>
                                        </p:attrNameLst>
                                      </p:cBhvr>
                                      <p:to>
                                        <p:strVal val="visible"/>
                                      </p:to>
                                    </p:set>
                                    <p:animEffect transition="in" filter="wipe(up)">
                                      <p:cBhvr>
                                        <p:cTn id="7" dur="500"/>
                                        <p:tgtEl>
                                          <p:spTgt spid="1270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7014">
                                            <p:txEl>
                                              <p:pRg st="0" end="0"/>
                                            </p:txEl>
                                          </p:spTgt>
                                        </p:tgtEl>
                                        <p:attrNameLst>
                                          <p:attrName>style.visibility</p:attrName>
                                        </p:attrNameLst>
                                      </p:cBhvr>
                                      <p:to>
                                        <p:strVal val="visible"/>
                                      </p:to>
                                    </p:set>
                                    <p:animEffect transition="in" filter="wipe(up)">
                                      <p:cBhvr>
                                        <p:cTn id="12" dur="500"/>
                                        <p:tgtEl>
                                          <p:spTgt spid="12701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7014">
                                            <p:txEl>
                                              <p:pRg st="1" end="1"/>
                                            </p:txEl>
                                          </p:spTgt>
                                        </p:tgtEl>
                                        <p:attrNameLst>
                                          <p:attrName>style.visibility</p:attrName>
                                        </p:attrNameLst>
                                      </p:cBhvr>
                                      <p:to>
                                        <p:strVal val="visible"/>
                                      </p:to>
                                    </p:set>
                                    <p:animEffect transition="in" filter="wipe(up)">
                                      <p:cBhvr>
                                        <p:cTn id="17" dur="500"/>
                                        <p:tgtEl>
                                          <p:spTgt spid="127014">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7017"/>
                                        </p:tgtEl>
                                        <p:attrNameLst>
                                          <p:attrName>style.visibility</p:attrName>
                                        </p:attrNameLst>
                                      </p:cBhvr>
                                      <p:to>
                                        <p:strVal val="visible"/>
                                      </p:to>
                                    </p:set>
                                    <p:animEffect transition="in" filter="wipe(left)">
                                      <p:cBhvr>
                                        <p:cTn id="22" dur="500"/>
                                        <p:tgtEl>
                                          <p:spTgt spid="127017"/>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27016"/>
                                        </p:tgtEl>
                                        <p:attrNameLst>
                                          <p:attrName>style.visibility</p:attrName>
                                        </p:attrNameLst>
                                      </p:cBhvr>
                                      <p:to>
                                        <p:strVal val="visible"/>
                                      </p:to>
                                    </p:set>
                                    <p:animEffect transition="in" filter="wipe(left)">
                                      <p:cBhvr>
                                        <p:cTn id="26" dur="500"/>
                                        <p:tgtEl>
                                          <p:spTgt spid="127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014" grpId="0" build="p" autoUpdateAnimBg="0"/>
      <p:bldP spid="127016" grpId="0" autoUpdateAnimBg="0"/>
      <p:bldP spid="127017"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The Cycle Theorem</a:t>
            </a:r>
          </a:p>
        </p:txBody>
      </p:sp>
      <p:sp>
        <p:nvSpPr>
          <p:cNvPr id="128019" name="Rectangle 19" descr="Recycled paper"/>
          <p:cNvSpPr>
            <a:spLocks noChangeArrowheads="1"/>
          </p:cNvSpPr>
          <p:nvPr/>
        </p:nvSpPr>
        <p:spPr bwMode="auto">
          <a:xfrm>
            <a:off x="152400" y="838200"/>
            <a:ext cx="8839200" cy="1042988"/>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lnSpc>
                <a:spcPct val="90000"/>
              </a:lnSpc>
              <a:spcBef>
                <a:spcPct val="50000"/>
              </a:spcBef>
              <a:buFontTx/>
              <a:buNone/>
            </a:pPr>
            <a:r>
              <a:rPr lang="en-US" sz="2400" b="1" dirty="0">
                <a:solidFill>
                  <a:srgbClr val="CC0000"/>
                </a:solidFill>
              </a:rPr>
              <a:t>The Cycle Theorem:        </a:t>
            </a:r>
            <a:r>
              <a:rPr lang="en-US" sz="2000" dirty="0" smtClean="0">
                <a:solidFill>
                  <a:schemeClr val="accent2"/>
                </a:solidFill>
              </a:rPr>
              <a:t>[</a:t>
            </a:r>
            <a:r>
              <a:rPr lang="en-US" sz="2000" dirty="0" smtClean="0">
                <a:solidFill>
                  <a:schemeClr val="hlink"/>
                </a:solidFill>
              </a:rPr>
              <a:t>G </a:t>
            </a:r>
            <a:r>
              <a:rPr lang="en-US" sz="2000" dirty="0">
                <a:solidFill>
                  <a:schemeClr val="hlink"/>
                </a:solidFill>
              </a:rPr>
              <a:t>= a directed or undirected </a:t>
            </a:r>
            <a:r>
              <a:rPr lang="en-US" sz="2000" dirty="0" smtClean="0">
                <a:solidFill>
                  <a:schemeClr val="hlink"/>
                </a:solidFill>
              </a:rPr>
              <a:t>graph]    </a:t>
            </a:r>
            <a:r>
              <a:rPr lang="en-US" sz="2000" dirty="0">
                <a:solidFill>
                  <a:schemeClr val="hlink"/>
                </a:solidFill>
              </a:rPr>
              <a:t/>
            </a:r>
            <a:br>
              <a:rPr lang="en-US" sz="2000" dirty="0">
                <a:solidFill>
                  <a:schemeClr val="hlink"/>
                </a:solidFill>
              </a:rPr>
            </a:br>
            <a:r>
              <a:rPr lang="en-US" sz="2000" dirty="0">
                <a:solidFill>
                  <a:schemeClr val="hlink"/>
                </a:solidFill>
              </a:rPr>
              <a:t>			</a:t>
            </a:r>
            <a:br>
              <a:rPr lang="en-US" sz="2000" dirty="0">
                <a:solidFill>
                  <a:schemeClr val="hlink"/>
                </a:solidFill>
              </a:rPr>
            </a:br>
            <a:r>
              <a:rPr lang="en-US" sz="2400" dirty="0">
                <a:solidFill>
                  <a:schemeClr val="hlink"/>
                </a:solidFill>
              </a:rPr>
              <a:t>G has a cycle </a:t>
            </a:r>
            <a:r>
              <a:rPr lang="en-US" sz="2400" dirty="0">
                <a:solidFill>
                  <a:schemeClr val="hlink"/>
                </a:solidFill>
                <a:sym typeface="Symbol" pitchFamily="18" charset="2"/>
              </a:rPr>
              <a:t>  </a:t>
            </a:r>
            <a:r>
              <a:rPr lang="en-US" sz="2400" dirty="0">
                <a:solidFill>
                  <a:srgbClr val="CC0000"/>
                </a:solidFill>
                <a:sym typeface="Symbol" pitchFamily="18" charset="2"/>
              </a:rPr>
              <a:t>if and only if</a:t>
            </a:r>
            <a:r>
              <a:rPr lang="en-US" sz="2400" dirty="0">
                <a:solidFill>
                  <a:schemeClr val="hlink"/>
                </a:solidFill>
                <a:sym typeface="Symbol" pitchFamily="18" charset="2"/>
              </a:rPr>
              <a:t> </a:t>
            </a:r>
            <a:r>
              <a:rPr lang="en-US" sz="2400" dirty="0">
                <a:solidFill>
                  <a:schemeClr val="hlink"/>
                </a:solidFill>
              </a:rPr>
              <a:t>  DFS(G)  has a back-edge.</a:t>
            </a:r>
          </a:p>
        </p:txBody>
      </p:sp>
      <p:sp>
        <p:nvSpPr>
          <p:cNvPr id="128020" name="Rectangle 20"/>
          <p:cNvSpPr>
            <a:spLocks noChangeArrowheads="1"/>
          </p:cNvSpPr>
          <p:nvPr/>
        </p:nvSpPr>
        <p:spPr bwMode="auto">
          <a:xfrm>
            <a:off x="152400" y="2057400"/>
            <a:ext cx="8839200" cy="3749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buFontTx/>
              <a:buNone/>
            </a:pPr>
            <a:r>
              <a:rPr lang="en-US" sz="2000" b="1"/>
              <a:t>Proof [of </a:t>
            </a:r>
            <a:r>
              <a:rPr lang="en-US" sz="2000" b="1">
                <a:sym typeface="Symbol" pitchFamily="18" charset="2"/>
              </a:rPr>
              <a:t>]</a:t>
            </a:r>
            <a:r>
              <a:rPr lang="en-US" sz="2000" b="1"/>
              <a:t>:</a:t>
            </a:r>
            <a:br>
              <a:rPr lang="en-US" sz="2000" b="1"/>
            </a:br>
            <a:r>
              <a:rPr lang="en-US" sz="2000"/>
              <a:t>A back-edge from u to v followed by the DFS tree path from v to u forms a cycle.</a:t>
            </a:r>
            <a:br>
              <a:rPr lang="en-US" sz="2000"/>
            </a:br>
            <a:endParaRPr lang="en-US" sz="2000"/>
          </a:p>
          <a:p>
            <a:pPr eaLnBrk="1" hangingPunct="1">
              <a:buFontTx/>
              <a:buNone/>
            </a:pPr>
            <a:r>
              <a:rPr lang="en-US" sz="2000" b="1"/>
              <a:t>Proof [of </a:t>
            </a:r>
            <a:r>
              <a:rPr lang="en-US" sz="2000" b="1">
                <a:sym typeface="Symbol" pitchFamily="18" charset="2"/>
              </a:rPr>
              <a:t>]</a:t>
            </a:r>
            <a:r>
              <a:rPr lang="en-US" sz="2000" b="1"/>
              <a:t>:</a:t>
            </a:r>
            <a:r>
              <a:rPr lang="en-US" sz="2000"/>
              <a:t> </a:t>
            </a:r>
            <a:br>
              <a:rPr lang="en-US" sz="2000"/>
            </a:br>
            <a:r>
              <a:rPr lang="en-US" sz="2000"/>
              <a:t>Suppose there is a cycle C in G.</a:t>
            </a:r>
          </a:p>
          <a:p>
            <a:pPr eaLnBrk="1" hangingPunct="1">
              <a:buFontTx/>
              <a:buNone/>
            </a:pPr>
            <a:r>
              <a:rPr lang="en-US" sz="2000"/>
              <a:t>Among the nodes on C, let u be the one with minimum f[u].</a:t>
            </a:r>
          </a:p>
          <a:p>
            <a:pPr eaLnBrk="1" hangingPunct="1">
              <a:buFontTx/>
              <a:buNone/>
            </a:pPr>
            <a:r>
              <a:rPr lang="en-US" sz="2000"/>
              <a:t>Let v be the successor of u on C.</a:t>
            </a:r>
          </a:p>
          <a:p>
            <a:pPr eaLnBrk="1" hangingPunct="1">
              <a:buFontTx/>
              <a:buNone/>
            </a:pPr>
            <a:r>
              <a:rPr lang="en-US" sz="2000"/>
              <a:t>Then f[u] </a:t>
            </a:r>
            <a:r>
              <a:rPr lang="en-US" sz="2000">
                <a:sym typeface="Symbol" pitchFamily="18" charset="2"/>
              </a:rPr>
              <a:t> </a:t>
            </a:r>
            <a:r>
              <a:rPr lang="en-US" sz="2000"/>
              <a:t>f[v]  by the choice of u. </a:t>
            </a:r>
          </a:p>
          <a:p>
            <a:pPr eaLnBrk="1" hangingPunct="1">
              <a:buFontTx/>
              <a:buNone/>
            </a:pPr>
            <a:r>
              <a:rPr lang="en-US" sz="2000"/>
              <a:t>So, edge (u,v) is a back-edge.  </a:t>
            </a:r>
            <a:br>
              <a:rPr lang="en-US" sz="2000"/>
            </a:br>
            <a:endParaRPr lang="en-US" sz="2000"/>
          </a:p>
          <a:p>
            <a:pPr eaLnBrk="1" hangingPunct="1">
              <a:buFontTx/>
              <a:buNone/>
            </a:pPr>
            <a:r>
              <a:rPr lang="en-US" sz="2000">
                <a:solidFill>
                  <a:srgbClr val="CC0000"/>
                </a:solidFill>
              </a:rPr>
              <a:t>For undirected graphs there is a simpler argument: </a:t>
            </a:r>
            <a:br>
              <a:rPr lang="en-US" sz="2000">
                <a:solidFill>
                  <a:srgbClr val="CC0000"/>
                </a:solidFill>
              </a:rPr>
            </a:br>
            <a:r>
              <a:rPr lang="en-US" sz="2000">
                <a:solidFill>
                  <a:srgbClr val="CC0000"/>
                </a:solidFill>
              </a:rPr>
              <a:t>without back-edges, we are left with a forest of trees.  Trees are acyclic.</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36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1000"/>
                                  </p:stCondLst>
                                  <p:childTnLst>
                                    <p:set>
                                      <p:cBhvr>
                                        <p:cTn id="6" dur="1" fill="hold">
                                          <p:stCondLst>
                                            <p:cond delay="0"/>
                                          </p:stCondLst>
                                        </p:cTn>
                                        <p:tgtEl>
                                          <p:spTgt spid="128019"/>
                                        </p:tgtEl>
                                        <p:attrNameLst>
                                          <p:attrName>style.visibility</p:attrName>
                                        </p:attrNameLst>
                                      </p:cBhvr>
                                      <p:to>
                                        <p:strVal val="visible"/>
                                      </p:to>
                                    </p:set>
                                    <p:animEffect transition="in" filter="wipe(up)">
                                      <p:cBhvr>
                                        <p:cTn id="7" dur="500"/>
                                        <p:tgtEl>
                                          <p:spTgt spid="1280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8020">
                                            <p:txEl>
                                              <p:pRg st="0" end="0"/>
                                            </p:txEl>
                                          </p:spTgt>
                                        </p:tgtEl>
                                        <p:attrNameLst>
                                          <p:attrName>style.visibility</p:attrName>
                                        </p:attrNameLst>
                                      </p:cBhvr>
                                      <p:to>
                                        <p:strVal val="visible"/>
                                      </p:to>
                                    </p:set>
                                    <p:animEffect transition="in" filter="wipe(up)">
                                      <p:cBhvr>
                                        <p:cTn id="12" dur="500"/>
                                        <p:tgtEl>
                                          <p:spTgt spid="12802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8020">
                                            <p:txEl>
                                              <p:pRg st="1" end="1"/>
                                            </p:txEl>
                                          </p:spTgt>
                                        </p:tgtEl>
                                        <p:attrNameLst>
                                          <p:attrName>style.visibility</p:attrName>
                                        </p:attrNameLst>
                                      </p:cBhvr>
                                      <p:to>
                                        <p:strVal val="visible"/>
                                      </p:to>
                                    </p:set>
                                    <p:animEffect transition="in" filter="wipe(up)">
                                      <p:cBhvr>
                                        <p:cTn id="17" dur="500"/>
                                        <p:tgtEl>
                                          <p:spTgt spid="128020">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28020">
                                            <p:txEl>
                                              <p:pRg st="2" end="2"/>
                                            </p:txEl>
                                          </p:spTgt>
                                        </p:tgtEl>
                                        <p:attrNameLst>
                                          <p:attrName>style.visibility</p:attrName>
                                        </p:attrNameLst>
                                      </p:cBhvr>
                                      <p:to>
                                        <p:strVal val="visible"/>
                                      </p:to>
                                    </p:set>
                                    <p:animEffect transition="in" filter="wipe(up)">
                                      <p:cBhvr>
                                        <p:cTn id="22" dur="500"/>
                                        <p:tgtEl>
                                          <p:spTgt spid="128020">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28020">
                                            <p:txEl>
                                              <p:pRg st="3" end="3"/>
                                            </p:txEl>
                                          </p:spTgt>
                                        </p:tgtEl>
                                        <p:attrNameLst>
                                          <p:attrName>style.visibility</p:attrName>
                                        </p:attrNameLst>
                                      </p:cBhvr>
                                      <p:to>
                                        <p:strVal val="visible"/>
                                      </p:to>
                                    </p:set>
                                    <p:animEffect transition="in" filter="wipe(up)">
                                      <p:cBhvr>
                                        <p:cTn id="27" dur="500"/>
                                        <p:tgtEl>
                                          <p:spTgt spid="128020">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28020">
                                            <p:txEl>
                                              <p:pRg st="4" end="4"/>
                                            </p:txEl>
                                          </p:spTgt>
                                        </p:tgtEl>
                                        <p:attrNameLst>
                                          <p:attrName>style.visibility</p:attrName>
                                        </p:attrNameLst>
                                      </p:cBhvr>
                                      <p:to>
                                        <p:strVal val="visible"/>
                                      </p:to>
                                    </p:set>
                                    <p:animEffect transition="in" filter="wipe(up)">
                                      <p:cBhvr>
                                        <p:cTn id="32" dur="500"/>
                                        <p:tgtEl>
                                          <p:spTgt spid="128020">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28020">
                                            <p:txEl>
                                              <p:pRg st="5" end="5"/>
                                            </p:txEl>
                                          </p:spTgt>
                                        </p:tgtEl>
                                        <p:attrNameLst>
                                          <p:attrName>style.visibility</p:attrName>
                                        </p:attrNameLst>
                                      </p:cBhvr>
                                      <p:to>
                                        <p:strVal val="visible"/>
                                      </p:to>
                                    </p:set>
                                    <p:animEffect transition="in" filter="wipe(up)">
                                      <p:cBhvr>
                                        <p:cTn id="37" dur="500"/>
                                        <p:tgtEl>
                                          <p:spTgt spid="128020">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28020">
                                            <p:txEl>
                                              <p:pRg st="6" end="6"/>
                                            </p:txEl>
                                          </p:spTgt>
                                        </p:tgtEl>
                                        <p:attrNameLst>
                                          <p:attrName>style.visibility</p:attrName>
                                        </p:attrNameLst>
                                      </p:cBhvr>
                                      <p:to>
                                        <p:strVal val="visible"/>
                                      </p:to>
                                    </p:set>
                                    <p:animEffect transition="in" filter="wipe(up)">
                                      <p:cBhvr>
                                        <p:cTn id="42" dur="500"/>
                                        <p:tgtEl>
                                          <p:spTgt spid="12802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19" grpId="0" animBg="1" autoUpdateAnimBg="0"/>
      <p:bldP spid="128020"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2"/>
          <p:cNvSpPr>
            <a:spLocks noGrp="1" noChangeArrowheads="1"/>
          </p:cNvSpPr>
          <p:nvPr>
            <p:ph type="ctrTitle"/>
          </p:nvPr>
        </p:nvSpPr>
        <p:spPr>
          <a:xfrm>
            <a:off x="685800" y="2286000"/>
            <a:ext cx="7772400" cy="1371600"/>
          </a:xfrm>
          <a:solidFill>
            <a:srgbClr val="FFCCCC"/>
          </a:solidFill>
          <a:ln w="762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lstStyle/>
          <a:p>
            <a:pPr eaLnBrk="1" hangingPunct="1"/>
            <a:r>
              <a:rPr lang="en-US" sz="5400" dirty="0" smtClean="0">
                <a:solidFill>
                  <a:schemeClr val="accent2"/>
                </a:solidFill>
                <a:latin typeface="Arial Rounded MT Bold" pitchFamily="34" charset="0"/>
              </a:rPr>
              <a:t>TOPOLOGICAL  SORT</a:t>
            </a:r>
          </a:p>
        </p:txBody>
      </p:sp>
      <p:sp>
        <p:nvSpPr>
          <p:cNvPr id="82947" name="Text Box 3"/>
          <p:cNvSpPr txBox="1">
            <a:spLocks noChangeArrowheads="1"/>
          </p:cNvSpPr>
          <p:nvPr/>
        </p:nvSpPr>
        <p:spPr bwMode="auto">
          <a:xfrm>
            <a:off x="1447800" y="4572000"/>
            <a:ext cx="6003567" cy="481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r" eaLnBrk="1" hangingPunct="1">
              <a:lnSpc>
                <a:spcPct val="115000"/>
              </a:lnSpc>
              <a:spcBef>
                <a:spcPct val="50000"/>
              </a:spcBef>
              <a:buFont typeface="Wingdings" pitchFamily="2" charset="2"/>
              <a:buNone/>
            </a:pPr>
            <a:r>
              <a:rPr lang="en-US" sz="2400" b="1" i="1" dirty="0">
                <a:solidFill>
                  <a:schemeClr val="hlink"/>
                </a:solidFill>
              </a:rPr>
              <a:t>Linearly </a:t>
            </a:r>
            <a:r>
              <a:rPr lang="en-US" sz="2400" b="1" i="1" dirty="0" smtClean="0">
                <a:solidFill>
                  <a:schemeClr val="hlink"/>
                </a:solidFill>
              </a:rPr>
              <a:t> Order</a:t>
            </a:r>
            <a:r>
              <a:rPr lang="en-US" sz="2400" b="1" i="1" dirty="0" smtClean="0"/>
              <a:t>     </a:t>
            </a:r>
            <a:r>
              <a:rPr lang="en-US" sz="2400" b="1" i="1" dirty="0"/>
              <a:t>a      </a:t>
            </a:r>
            <a:r>
              <a:rPr lang="en-US" sz="2400" b="1" i="1" dirty="0">
                <a:solidFill>
                  <a:srgbClr val="CC0000"/>
                </a:solidFill>
              </a:rPr>
              <a:t>Partially </a:t>
            </a:r>
            <a:r>
              <a:rPr lang="en-US" sz="2400" b="1" i="1" dirty="0" smtClean="0">
                <a:solidFill>
                  <a:srgbClr val="CC0000"/>
                </a:solidFill>
              </a:rPr>
              <a:t> Ordered  Set</a:t>
            </a:r>
            <a:endParaRPr lang="en-US" sz="2400" b="1" dirty="0">
              <a:solidFill>
                <a:srgbClr val="CC0000"/>
              </a:solidFill>
            </a:endParaRPr>
          </a:p>
        </p:txBody>
      </p:sp>
      <p:sp>
        <p:nvSpPr>
          <p:cNvPr id="2" name="Slide Number Placeholder 1"/>
          <p:cNvSpPr>
            <a:spLocks noGrp="1"/>
          </p:cNvSpPr>
          <p:nvPr>
            <p:ph type="sldNum" sz="quarter" idx="12"/>
          </p:nvPr>
        </p:nvSpPr>
        <p:spPr/>
        <p:txBody>
          <a:bodyPr/>
          <a:lstStyle/>
          <a:p>
            <a:pPr>
              <a:defRPr/>
            </a:pPr>
            <a:fld id="{90683EDB-7658-49F0-B96C-482436AB937A}" type="slidenum">
              <a:rPr lang="en-US" smtClean="0"/>
              <a:pPr>
                <a:defRPr/>
              </a:pPr>
              <a:t>37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82946"/>
                                        </p:tgtEl>
                                        <p:attrNameLst>
                                          <p:attrName>style.visibility</p:attrName>
                                        </p:attrNameLst>
                                      </p:cBhvr>
                                      <p:to>
                                        <p:strVal val="visible"/>
                                      </p:to>
                                    </p:set>
                                    <p:anim calcmode="lin" valueType="num">
                                      <p:cBhvr>
                                        <p:cTn id="7" dur="500" fill="hold"/>
                                        <p:tgtEl>
                                          <p:spTgt spid="82946"/>
                                        </p:tgtEl>
                                        <p:attrNameLst>
                                          <p:attrName>ppt_w</p:attrName>
                                        </p:attrNameLst>
                                      </p:cBhvr>
                                      <p:tavLst>
                                        <p:tav tm="0">
                                          <p:val>
                                            <p:fltVal val="0"/>
                                          </p:val>
                                        </p:tav>
                                        <p:tav tm="100000">
                                          <p:val>
                                            <p:strVal val="#ppt_w"/>
                                          </p:val>
                                        </p:tav>
                                      </p:tavLst>
                                    </p:anim>
                                    <p:anim calcmode="lin" valueType="num">
                                      <p:cBhvr>
                                        <p:cTn id="8" dur="500" fill="hold"/>
                                        <p:tgtEl>
                                          <p:spTgt spid="82946"/>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82947"/>
                                        </p:tgtEl>
                                        <p:attrNameLst>
                                          <p:attrName>style.visibility</p:attrName>
                                        </p:attrNameLst>
                                      </p:cBhvr>
                                      <p:to>
                                        <p:strVal val="visible"/>
                                      </p:to>
                                    </p:set>
                                    <p:animEffect transition="in" filter="wipe(left)">
                                      <p:cBhvr>
                                        <p:cTn id="12" dur="500"/>
                                        <p:tgtEl>
                                          <p:spTgt spid="82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animBg="1" autoUpdateAnimBg="0"/>
      <p:bldP spid="82947"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Directed Acyclic Graph (DAG)</a:t>
            </a:r>
          </a:p>
        </p:txBody>
      </p:sp>
      <p:sp>
        <p:nvSpPr>
          <p:cNvPr id="90116" name="Text Box 4"/>
          <p:cNvSpPr txBox="1">
            <a:spLocks noChangeArrowheads="1"/>
          </p:cNvSpPr>
          <p:nvPr/>
        </p:nvSpPr>
        <p:spPr bwMode="auto">
          <a:xfrm>
            <a:off x="990600" y="2209800"/>
            <a:ext cx="6858000" cy="283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19075" indent="-219075">
              <a:defRPr sz="1600">
                <a:solidFill>
                  <a:schemeClr val="tx1"/>
                </a:solidFill>
                <a:latin typeface="Times New Roman" pitchFamily="18" charset="0"/>
              </a:defRPr>
            </a:lvl1pPr>
            <a:lvl2pPr marL="763588" indent="-306388">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 typeface="Wingdings" pitchFamily="2" charset="2"/>
              <a:buChar char="§"/>
            </a:pPr>
            <a:r>
              <a:rPr lang="en-US" sz="1800">
                <a:solidFill>
                  <a:schemeClr val="tx2"/>
                </a:solidFill>
                <a:latin typeface="Arial" pitchFamily="34" charset="0"/>
              </a:rPr>
              <a:t>DAG = digraph with no directed cycles.</a:t>
            </a:r>
          </a:p>
          <a:p>
            <a:pPr eaLnBrk="1" hangingPunct="1">
              <a:buFont typeface="Wingdings" pitchFamily="2" charset="2"/>
              <a:buChar char="§"/>
            </a:pPr>
            <a:r>
              <a:rPr lang="en-US" sz="1800">
                <a:solidFill>
                  <a:schemeClr val="tx2"/>
                </a:solidFill>
                <a:latin typeface="Arial" pitchFamily="34" charset="0"/>
              </a:rPr>
              <a:t>Modeling applications:</a:t>
            </a:r>
          </a:p>
          <a:p>
            <a:pPr lvl="1" eaLnBrk="1" hangingPunct="1">
              <a:buFont typeface="Wingdings" pitchFamily="2" charset="2"/>
              <a:buChar char="Ø"/>
            </a:pPr>
            <a:r>
              <a:rPr lang="en-US" sz="1800">
                <a:solidFill>
                  <a:schemeClr val="tx2"/>
                </a:solidFill>
                <a:latin typeface="Arial" pitchFamily="34" charset="0"/>
              </a:rPr>
              <a:t>generalization of layered digraphs</a:t>
            </a:r>
          </a:p>
          <a:p>
            <a:pPr lvl="1" eaLnBrk="1" hangingPunct="1">
              <a:buFont typeface="Wingdings" pitchFamily="2" charset="2"/>
              <a:buChar char="Ø"/>
            </a:pPr>
            <a:r>
              <a:rPr lang="en-US" sz="1800">
                <a:solidFill>
                  <a:schemeClr val="tx2"/>
                </a:solidFill>
                <a:latin typeface="Arial" pitchFamily="34" charset="0"/>
              </a:rPr>
              <a:t>reachability paths in a DAG form a </a:t>
            </a:r>
            <a:r>
              <a:rPr lang="en-US" sz="1800">
                <a:solidFill>
                  <a:srgbClr val="CC0000"/>
                </a:solidFill>
                <a:latin typeface="Arial" pitchFamily="34" charset="0"/>
              </a:rPr>
              <a:t>partial order</a:t>
            </a:r>
            <a:r>
              <a:rPr lang="en-US" sz="1800">
                <a:solidFill>
                  <a:schemeClr val="tx2"/>
                </a:solidFill>
                <a:latin typeface="Arial" pitchFamily="34" charset="0"/>
              </a:rPr>
              <a:t> on nodes </a:t>
            </a:r>
            <a:br>
              <a:rPr lang="en-US" sz="1800">
                <a:solidFill>
                  <a:schemeClr val="tx2"/>
                </a:solidFill>
                <a:latin typeface="Arial" pitchFamily="34" charset="0"/>
              </a:rPr>
            </a:br>
            <a:r>
              <a:rPr lang="en-US" sz="1800">
                <a:solidFill>
                  <a:schemeClr val="tx2"/>
                </a:solidFill>
                <a:latin typeface="Arial" pitchFamily="34" charset="0"/>
              </a:rPr>
              <a:t>(reflexive, anti-symmetric, transitive)</a:t>
            </a:r>
          </a:p>
          <a:p>
            <a:pPr lvl="1" eaLnBrk="1" hangingPunct="1">
              <a:buFont typeface="Wingdings" pitchFamily="2" charset="2"/>
              <a:buChar char="Ø"/>
            </a:pPr>
            <a:r>
              <a:rPr lang="en-US" sz="1800">
                <a:solidFill>
                  <a:schemeClr val="tx2"/>
                </a:solidFill>
                <a:latin typeface="Arial" pitchFamily="34" charset="0"/>
              </a:rPr>
              <a:t>tasks with precedence constraints</a:t>
            </a:r>
          </a:p>
          <a:p>
            <a:pPr lvl="1" eaLnBrk="1" hangingPunct="1">
              <a:buFont typeface="Wingdings" pitchFamily="2" charset="2"/>
              <a:buChar char="Ø"/>
            </a:pPr>
            <a:r>
              <a:rPr lang="en-US" sz="1800">
                <a:solidFill>
                  <a:schemeClr val="tx2"/>
                </a:solidFill>
                <a:latin typeface="Arial" pitchFamily="34" charset="0"/>
              </a:rPr>
              <a:t>job sequencing</a:t>
            </a:r>
          </a:p>
          <a:p>
            <a:pPr eaLnBrk="1" hangingPunct="1">
              <a:buFont typeface="Wingdings" pitchFamily="2" charset="2"/>
              <a:buChar char="§"/>
            </a:pPr>
            <a:r>
              <a:rPr lang="en-US" sz="1800">
                <a:solidFill>
                  <a:srgbClr val="CC0000"/>
                </a:solidFill>
                <a:latin typeface="Arial" pitchFamily="34" charset="0"/>
              </a:rPr>
              <a:t>Topological ordering of a DAG G:</a:t>
            </a:r>
            <a:r>
              <a:rPr lang="en-US" sz="1800">
                <a:solidFill>
                  <a:schemeClr val="tx2"/>
                </a:solidFill>
                <a:latin typeface="Arial" pitchFamily="34" charset="0"/>
              </a:rPr>
              <a:t>   </a:t>
            </a:r>
            <a:br>
              <a:rPr lang="en-US" sz="1800">
                <a:solidFill>
                  <a:schemeClr val="tx2"/>
                </a:solidFill>
                <a:latin typeface="Arial" pitchFamily="34" charset="0"/>
              </a:rPr>
            </a:br>
            <a:r>
              <a:rPr lang="en-US" sz="1800">
                <a:solidFill>
                  <a:schemeClr val="tx2"/>
                </a:solidFill>
                <a:latin typeface="Arial" pitchFamily="34" charset="0"/>
              </a:rPr>
              <a:t>	A linear ordering of V(G) such that </a:t>
            </a:r>
            <a:br>
              <a:rPr lang="en-US" sz="1800">
                <a:solidFill>
                  <a:schemeClr val="tx2"/>
                </a:solidFill>
                <a:latin typeface="Arial" pitchFamily="34" charset="0"/>
              </a:rPr>
            </a:br>
            <a:r>
              <a:rPr lang="en-US" sz="1800">
                <a:solidFill>
                  <a:schemeClr val="tx2"/>
                </a:solidFill>
                <a:latin typeface="Arial" pitchFamily="34" charset="0"/>
              </a:rPr>
              <a:t>	</a:t>
            </a:r>
            <a:r>
              <a:rPr lang="en-US" sz="1800">
                <a:solidFill>
                  <a:schemeClr val="tx2"/>
                </a:solidFill>
                <a:latin typeface="Arial" pitchFamily="34" charset="0"/>
                <a:sym typeface="Symbol" pitchFamily="18" charset="2"/>
              </a:rPr>
              <a:t></a:t>
            </a:r>
            <a:r>
              <a:rPr lang="en-US" sz="1800">
                <a:solidFill>
                  <a:schemeClr val="tx2"/>
                </a:solidFill>
                <a:latin typeface="Arial" pitchFamily="34" charset="0"/>
              </a:rPr>
              <a:t>(u,v)</a:t>
            </a:r>
            <a:r>
              <a:rPr lang="en-US" sz="1800">
                <a:solidFill>
                  <a:schemeClr val="tx2"/>
                </a:solidFill>
                <a:latin typeface="Arial" pitchFamily="34" charset="0"/>
                <a:sym typeface="Symbol" pitchFamily="18" charset="2"/>
              </a:rPr>
              <a:t>E(</a:t>
            </a:r>
            <a:r>
              <a:rPr lang="en-US" sz="1800">
                <a:solidFill>
                  <a:schemeClr val="tx2"/>
                </a:solidFill>
                <a:latin typeface="Arial" pitchFamily="34" charset="0"/>
              </a:rPr>
              <a:t>G), u appears before v in the linear order.</a:t>
            </a:r>
          </a:p>
        </p:txBody>
      </p:sp>
      <p:grpSp>
        <p:nvGrpSpPr>
          <p:cNvPr id="90213" name="Group 101"/>
          <p:cNvGrpSpPr>
            <a:grpSpLocks/>
          </p:cNvGrpSpPr>
          <p:nvPr/>
        </p:nvGrpSpPr>
        <p:grpSpPr bwMode="auto">
          <a:xfrm>
            <a:off x="457200" y="5203306"/>
            <a:ext cx="8305800" cy="1303684"/>
            <a:chOff x="281" y="3232"/>
            <a:chExt cx="5232" cy="961"/>
          </a:xfrm>
        </p:grpSpPr>
        <p:sp>
          <p:nvSpPr>
            <p:cNvPr id="39965" name="Line 86"/>
            <p:cNvSpPr>
              <a:spLocks noChangeShapeType="1"/>
            </p:cNvSpPr>
            <p:nvPr/>
          </p:nvSpPr>
          <p:spPr bwMode="auto">
            <a:xfrm>
              <a:off x="473" y="3614"/>
              <a:ext cx="52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66" name="Freeform 87"/>
            <p:cNvSpPr>
              <a:spLocks/>
            </p:cNvSpPr>
            <p:nvPr/>
          </p:nvSpPr>
          <p:spPr bwMode="auto">
            <a:xfrm>
              <a:off x="432" y="3232"/>
              <a:ext cx="4180" cy="384"/>
            </a:xfrm>
            <a:custGeom>
              <a:avLst/>
              <a:gdLst>
                <a:gd name="T0" fmla="*/ 0 w 4217"/>
                <a:gd name="T1" fmla="*/ 400 h 400"/>
                <a:gd name="T2" fmla="*/ 801 w 4217"/>
                <a:gd name="T3" fmla="*/ 82 h 400"/>
                <a:gd name="T4" fmla="*/ 3515 w 4217"/>
                <a:gd name="T5" fmla="*/ 29 h 400"/>
                <a:gd name="T6" fmla="*/ 4217 w 4217"/>
                <a:gd name="T7" fmla="*/ 254 h 400"/>
                <a:gd name="T8" fmla="*/ 0 60000 65536"/>
                <a:gd name="T9" fmla="*/ 0 60000 65536"/>
                <a:gd name="T10" fmla="*/ 0 60000 65536"/>
                <a:gd name="T11" fmla="*/ 0 60000 65536"/>
                <a:gd name="connsiteX0" fmla="*/ 0 w 9912"/>
                <a:gd name="connsiteY0" fmla="*/ 9602 h 9602"/>
                <a:gd name="connsiteX1" fmla="*/ 1899 w 9912"/>
                <a:gd name="connsiteY1" fmla="*/ 1652 h 9602"/>
                <a:gd name="connsiteX2" fmla="*/ 8335 w 9912"/>
                <a:gd name="connsiteY2" fmla="*/ 327 h 9602"/>
                <a:gd name="connsiteX3" fmla="*/ 9912 w 9912"/>
                <a:gd name="connsiteY3" fmla="*/ 5227 h 9602"/>
                <a:gd name="connsiteX0" fmla="*/ 0 w 10000"/>
                <a:gd name="connsiteY0" fmla="*/ 10000 h 10000"/>
                <a:gd name="connsiteX1" fmla="*/ 1916 w 10000"/>
                <a:gd name="connsiteY1" fmla="*/ 1720 h 10000"/>
                <a:gd name="connsiteX2" fmla="*/ 8409 w 10000"/>
                <a:gd name="connsiteY2" fmla="*/ 341 h 10000"/>
                <a:gd name="connsiteX3" fmla="*/ 10000 w 10000"/>
                <a:gd name="connsiteY3" fmla="*/ 5444 h 10000"/>
              </a:gdLst>
              <a:ahLst/>
              <a:cxnLst>
                <a:cxn ang="0">
                  <a:pos x="connsiteX0" y="connsiteY0"/>
                </a:cxn>
                <a:cxn ang="0">
                  <a:pos x="connsiteX1" y="connsiteY1"/>
                </a:cxn>
                <a:cxn ang="0">
                  <a:pos x="connsiteX2" y="connsiteY2"/>
                </a:cxn>
                <a:cxn ang="0">
                  <a:pos x="connsiteX3" y="connsiteY3"/>
                </a:cxn>
              </a:cxnLst>
              <a:rect l="l" t="t" r="r" b="b"/>
              <a:pathLst>
                <a:path w="10000" h="10000">
                  <a:moveTo>
                    <a:pt x="0" y="10000"/>
                  </a:moveTo>
                  <a:cubicBezTo>
                    <a:pt x="318" y="8620"/>
                    <a:pt x="515" y="3335"/>
                    <a:pt x="1916" y="1720"/>
                  </a:cubicBezTo>
                  <a:cubicBezTo>
                    <a:pt x="3318" y="106"/>
                    <a:pt x="7048" y="-414"/>
                    <a:pt x="8409" y="341"/>
                  </a:cubicBezTo>
                  <a:cubicBezTo>
                    <a:pt x="9771" y="1096"/>
                    <a:pt x="9681" y="3465"/>
                    <a:pt x="10000" y="5444"/>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67" name="Freeform 88"/>
            <p:cNvSpPr>
              <a:spLocks/>
            </p:cNvSpPr>
            <p:nvPr/>
          </p:nvSpPr>
          <p:spPr bwMode="auto">
            <a:xfrm>
              <a:off x="438" y="3629"/>
              <a:ext cx="4855" cy="564"/>
            </a:xfrm>
            <a:custGeom>
              <a:avLst/>
              <a:gdLst>
                <a:gd name="T0" fmla="*/ 0 w 4886"/>
                <a:gd name="T1" fmla="*/ 0 h 577"/>
                <a:gd name="T2" fmla="*/ 556 w 4886"/>
                <a:gd name="T3" fmla="*/ 331 h 577"/>
                <a:gd name="T4" fmla="*/ 2278 w 4886"/>
                <a:gd name="T5" fmla="*/ 563 h 577"/>
                <a:gd name="T6" fmla="*/ 4284 w 4886"/>
                <a:gd name="T7" fmla="*/ 417 h 577"/>
                <a:gd name="T8" fmla="*/ 4886 w 4886"/>
                <a:gd name="T9" fmla="*/ 132 h 577"/>
                <a:gd name="T10" fmla="*/ 0 60000 65536"/>
                <a:gd name="T11" fmla="*/ 0 60000 65536"/>
                <a:gd name="T12" fmla="*/ 0 60000 65536"/>
                <a:gd name="T13" fmla="*/ 0 60000 65536"/>
                <a:gd name="T14" fmla="*/ 0 60000 65536"/>
                <a:gd name="connsiteX0" fmla="*/ 0 w 9937"/>
                <a:gd name="connsiteY0" fmla="*/ 0 h 9782"/>
                <a:gd name="connsiteX1" fmla="*/ 1138 w 9937"/>
                <a:gd name="connsiteY1" fmla="*/ 5737 h 9782"/>
                <a:gd name="connsiteX2" fmla="*/ 4662 w 9937"/>
                <a:gd name="connsiteY2" fmla="*/ 9757 h 9782"/>
                <a:gd name="connsiteX3" fmla="*/ 8768 w 9937"/>
                <a:gd name="connsiteY3" fmla="*/ 7227 h 9782"/>
                <a:gd name="connsiteX4" fmla="*/ 9937 w 9937"/>
                <a:gd name="connsiteY4" fmla="*/ 2916 h 9782"/>
                <a:gd name="connsiteX0" fmla="*/ 0 w 10000"/>
                <a:gd name="connsiteY0" fmla="*/ 0 h 10000"/>
                <a:gd name="connsiteX1" fmla="*/ 1145 w 10000"/>
                <a:gd name="connsiteY1" fmla="*/ 5865 h 10000"/>
                <a:gd name="connsiteX2" fmla="*/ 4692 w 10000"/>
                <a:gd name="connsiteY2" fmla="*/ 9974 h 10000"/>
                <a:gd name="connsiteX3" fmla="*/ 8824 w 10000"/>
                <a:gd name="connsiteY3" fmla="*/ 7388 h 10000"/>
                <a:gd name="connsiteX4" fmla="*/ 10000 w 10000"/>
                <a:gd name="connsiteY4" fmla="*/ 298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cubicBezTo>
                    <a:pt x="191" y="974"/>
                    <a:pt x="362" y="4199"/>
                    <a:pt x="1145" y="5865"/>
                  </a:cubicBezTo>
                  <a:cubicBezTo>
                    <a:pt x="1928" y="7530"/>
                    <a:pt x="3412" y="9727"/>
                    <a:pt x="4692" y="9974"/>
                  </a:cubicBezTo>
                  <a:cubicBezTo>
                    <a:pt x="5971" y="10223"/>
                    <a:pt x="7928" y="8664"/>
                    <a:pt x="8824" y="7388"/>
                  </a:cubicBezTo>
                  <a:cubicBezTo>
                    <a:pt x="9719" y="6112"/>
                    <a:pt x="9755" y="4412"/>
                    <a:pt x="10000" y="2981"/>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68" name="Freeform 89"/>
            <p:cNvSpPr>
              <a:spLocks/>
            </p:cNvSpPr>
            <p:nvPr/>
          </p:nvSpPr>
          <p:spPr bwMode="auto">
            <a:xfrm>
              <a:off x="1147" y="3622"/>
              <a:ext cx="2807" cy="393"/>
            </a:xfrm>
            <a:custGeom>
              <a:avLst/>
              <a:gdLst>
                <a:gd name="T0" fmla="*/ 0 w 2807"/>
                <a:gd name="T1" fmla="*/ 0 h 393"/>
                <a:gd name="T2" fmla="*/ 814 w 2807"/>
                <a:gd name="T3" fmla="*/ 292 h 393"/>
                <a:gd name="T4" fmla="*/ 2165 w 2807"/>
                <a:gd name="T5" fmla="*/ 371 h 393"/>
                <a:gd name="T6" fmla="*/ 2807 w 2807"/>
                <a:gd name="T7" fmla="*/ 159 h 3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7" h="393">
                  <a:moveTo>
                    <a:pt x="0" y="0"/>
                  </a:moveTo>
                  <a:cubicBezTo>
                    <a:pt x="136" y="49"/>
                    <a:pt x="453" y="230"/>
                    <a:pt x="814" y="292"/>
                  </a:cubicBezTo>
                  <a:cubicBezTo>
                    <a:pt x="1175" y="354"/>
                    <a:pt x="1833" y="393"/>
                    <a:pt x="2165" y="371"/>
                  </a:cubicBezTo>
                  <a:cubicBezTo>
                    <a:pt x="2497" y="349"/>
                    <a:pt x="2673" y="203"/>
                    <a:pt x="2807" y="159"/>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69" name="Freeform 90"/>
            <p:cNvSpPr>
              <a:spLocks/>
            </p:cNvSpPr>
            <p:nvPr/>
          </p:nvSpPr>
          <p:spPr bwMode="auto">
            <a:xfrm>
              <a:off x="1153" y="3345"/>
              <a:ext cx="2095" cy="264"/>
            </a:xfrm>
            <a:custGeom>
              <a:avLst/>
              <a:gdLst>
                <a:gd name="T0" fmla="*/ 0 w 2126"/>
                <a:gd name="T1" fmla="*/ 272 h 272"/>
                <a:gd name="T2" fmla="*/ 503 w 2126"/>
                <a:gd name="T3" fmla="*/ 54 h 272"/>
                <a:gd name="T4" fmla="*/ 1834 w 2126"/>
                <a:gd name="T5" fmla="*/ 14 h 272"/>
                <a:gd name="T6" fmla="*/ 2126 w 2126"/>
                <a:gd name="T7" fmla="*/ 140 h 272"/>
                <a:gd name="T8" fmla="*/ 0 60000 65536"/>
                <a:gd name="T9" fmla="*/ 0 60000 65536"/>
                <a:gd name="T10" fmla="*/ 0 60000 65536"/>
                <a:gd name="T11" fmla="*/ 0 60000 65536"/>
                <a:gd name="connsiteX0" fmla="*/ 0 w 9854"/>
                <a:gd name="connsiteY0" fmla="*/ 9697 h 9697"/>
                <a:gd name="connsiteX1" fmla="*/ 2366 w 9854"/>
                <a:gd name="connsiteY1" fmla="*/ 1682 h 9697"/>
                <a:gd name="connsiteX2" fmla="*/ 8627 w 9854"/>
                <a:gd name="connsiteY2" fmla="*/ 212 h 9697"/>
                <a:gd name="connsiteX3" fmla="*/ 9854 w 9854"/>
                <a:gd name="connsiteY3" fmla="*/ 3778 h 9697"/>
              </a:gdLst>
              <a:ahLst/>
              <a:cxnLst>
                <a:cxn ang="0">
                  <a:pos x="connsiteX0" y="connsiteY0"/>
                </a:cxn>
                <a:cxn ang="0">
                  <a:pos x="connsiteX1" y="connsiteY1"/>
                </a:cxn>
                <a:cxn ang="0">
                  <a:pos x="connsiteX2" y="connsiteY2"/>
                </a:cxn>
                <a:cxn ang="0">
                  <a:pos x="connsiteX3" y="connsiteY3"/>
                </a:cxn>
              </a:cxnLst>
              <a:rect l="l" t="t" r="r" b="b"/>
              <a:pathLst>
                <a:path w="9854" h="9697">
                  <a:moveTo>
                    <a:pt x="0" y="9697"/>
                  </a:moveTo>
                  <a:cubicBezTo>
                    <a:pt x="395" y="8373"/>
                    <a:pt x="927" y="3263"/>
                    <a:pt x="2366" y="1682"/>
                  </a:cubicBezTo>
                  <a:cubicBezTo>
                    <a:pt x="3805" y="101"/>
                    <a:pt x="7357" y="-303"/>
                    <a:pt x="8627" y="212"/>
                  </a:cubicBezTo>
                  <a:cubicBezTo>
                    <a:pt x="9897" y="726"/>
                    <a:pt x="9567" y="2822"/>
                    <a:pt x="9854" y="3778"/>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70" name="Freeform 91"/>
            <p:cNvSpPr>
              <a:spLocks/>
            </p:cNvSpPr>
            <p:nvPr/>
          </p:nvSpPr>
          <p:spPr bwMode="auto">
            <a:xfrm>
              <a:off x="1153" y="3655"/>
              <a:ext cx="3443" cy="426"/>
            </a:xfrm>
            <a:custGeom>
              <a:avLst/>
              <a:gdLst>
                <a:gd name="T0" fmla="*/ 0 w 3443"/>
                <a:gd name="T1" fmla="*/ 0 h 426"/>
                <a:gd name="T2" fmla="*/ 874 w 3443"/>
                <a:gd name="T3" fmla="*/ 371 h 426"/>
                <a:gd name="T4" fmla="*/ 2894 w 3443"/>
                <a:gd name="T5" fmla="*/ 331 h 426"/>
                <a:gd name="T6" fmla="*/ 3443 w 3443"/>
                <a:gd name="T7" fmla="*/ 73 h 4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43" h="426">
                  <a:moveTo>
                    <a:pt x="0" y="0"/>
                  </a:moveTo>
                  <a:cubicBezTo>
                    <a:pt x="146" y="62"/>
                    <a:pt x="392" y="316"/>
                    <a:pt x="874" y="371"/>
                  </a:cubicBezTo>
                  <a:cubicBezTo>
                    <a:pt x="1356" y="426"/>
                    <a:pt x="2466" y="381"/>
                    <a:pt x="2894" y="331"/>
                  </a:cubicBezTo>
                  <a:cubicBezTo>
                    <a:pt x="3322" y="281"/>
                    <a:pt x="3329" y="127"/>
                    <a:pt x="3443" y="73"/>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71" name="Freeform 92"/>
            <p:cNvSpPr>
              <a:spLocks/>
            </p:cNvSpPr>
            <p:nvPr/>
          </p:nvSpPr>
          <p:spPr bwMode="auto">
            <a:xfrm>
              <a:off x="1862" y="3655"/>
              <a:ext cx="2039" cy="279"/>
            </a:xfrm>
            <a:custGeom>
              <a:avLst/>
              <a:gdLst>
                <a:gd name="T0" fmla="*/ 0 w 2039"/>
                <a:gd name="T1" fmla="*/ 0 h 279"/>
                <a:gd name="T2" fmla="*/ 556 w 2039"/>
                <a:gd name="T3" fmla="*/ 239 h 279"/>
                <a:gd name="T4" fmla="*/ 1516 w 2039"/>
                <a:gd name="T5" fmla="*/ 239 h 279"/>
                <a:gd name="T6" fmla="*/ 2039 w 2039"/>
                <a:gd name="T7" fmla="*/ 40 h 2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39" h="279">
                  <a:moveTo>
                    <a:pt x="0" y="0"/>
                  </a:moveTo>
                  <a:cubicBezTo>
                    <a:pt x="93" y="40"/>
                    <a:pt x="303" y="199"/>
                    <a:pt x="556" y="239"/>
                  </a:cubicBezTo>
                  <a:cubicBezTo>
                    <a:pt x="809" y="279"/>
                    <a:pt x="1269" y="272"/>
                    <a:pt x="1516" y="239"/>
                  </a:cubicBezTo>
                  <a:cubicBezTo>
                    <a:pt x="1763" y="206"/>
                    <a:pt x="1930" y="81"/>
                    <a:pt x="2039" y="4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72" name="Freeform 93"/>
            <p:cNvSpPr>
              <a:spLocks/>
            </p:cNvSpPr>
            <p:nvPr/>
          </p:nvSpPr>
          <p:spPr bwMode="auto">
            <a:xfrm>
              <a:off x="1868" y="3655"/>
              <a:ext cx="1338" cy="191"/>
            </a:xfrm>
            <a:custGeom>
              <a:avLst/>
              <a:gdLst>
                <a:gd name="T0" fmla="*/ 0 w 1338"/>
                <a:gd name="T1" fmla="*/ 0 h 191"/>
                <a:gd name="T2" fmla="*/ 828 w 1338"/>
                <a:gd name="T3" fmla="*/ 179 h 191"/>
                <a:gd name="T4" fmla="*/ 1338 w 1338"/>
                <a:gd name="T5" fmla="*/ 73 h 191"/>
                <a:gd name="T6" fmla="*/ 0 60000 65536"/>
                <a:gd name="T7" fmla="*/ 0 60000 65536"/>
                <a:gd name="T8" fmla="*/ 0 60000 65536"/>
              </a:gdLst>
              <a:ahLst/>
              <a:cxnLst>
                <a:cxn ang="T6">
                  <a:pos x="T0" y="T1"/>
                </a:cxn>
                <a:cxn ang="T7">
                  <a:pos x="T2" y="T3"/>
                </a:cxn>
                <a:cxn ang="T8">
                  <a:pos x="T4" y="T5"/>
                </a:cxn>
              </a:cxnLst>
              <a:rect l="0" t="0" r="r" b="b"/>
              <a:pathLst>
                <a:path w="1338" h="191">
                  <a:moveTo>
                    <a:pt x="0" y="0"/>
                  </a:moveTo>
                  <a:cubicBezTo>
                    <a:pt x="138" y="30"/>
                    <a:pt x="605" y="167"/>
                    <a:pt x="828" y="179"/>
                  </a:cubicBezTo>
                  <a:cubicBezTo>
                    <a:pt x="1051" y="191"/>
                    <a:pt x="1232" y="95"/>
                    <a:pt x="1338" y="73"/>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73" name="Line 94"/>
            <p:cNvSpPr>
              <a:spLocks noChangeShapeType="1"/>
            </p:cNvSpPr>
            <p:nvPr/>
          </p:nvSpPr>
          <p:spPr bwMode="auto">
            <a:xfrm>
              <a:off x="1913" y="3614"/>
              <a:ext cx="57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74" name="Line 95"/>
            <p:cNvSpPr>
              <a:spLocks noChangeShapeType="1"/>
            </p:cNvSpPr>
            <p:nvPr/>
          </p:nvSpPr>
          <p:spPr bwMode="auto">
            <a:xfrm>
              <a:off x="2681" y="3614"/>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75" name="Line 96"/>
            <p:cNvSpPr>
              <a:spLocks noChangeShapeType="1"/>
            </p:cNvSpPr>
            <p:nvPr/>
          </p:nvSpPr>
          <p:spPr bwMode="auto">
            <a:xfrm>
              <a:off x="3353" y="3614"/>
              <a:ext cx="52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76" name="Freeform 97"/>
            <p:cNvSpPr>
              <a:spLocks/>
            </p:cNvSpPr>
            <p:nvPr/>
          </p:nvSpPr>
          <p:spPr bwMode="auto">
            <a:xfrm>
              <a:off x="3305" y="3392"/>
              <a:ext cx="1265" cy="204"/>
            </a:xfrm>
            <a:custGeom>
              <a:avLst/>
              <a:gdLst>
                <a:gd name="T0" fmla="*/ 0 w 1265"/>
                <a:gd name="T1" fmla="*/ 204 h 204"/>
                <a:gd name="T2" fmla="*/ 331 w 1265"/>
                <a:gd name="T3" fmla="*/ 32 h 204"/>
                <a:gd name="T4" fmla="*/ 927 w 1265"/>
                <a:gd name="T5" fmla="*/ 18 h 204"/>
                <a:gd name="T6" fmla="*/ 1265 w 1265"/>
                <a:gd name="T7" fmla="*/ 138 h 2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65" h="204">
                  <a:moveTo>
                    <a:pt x="0" y="204"/>
                  </a:moveTo>
                  <a:cubicBezTo>
                    <a:pt x="55" y="175"/>
                    <a:pt x="177" y="63"/>
                    <a:pt x="331" y="32"/>
                  </a:cubicBezTo>
                  <a:cubicBezTo>
                    <a:pt x="485" y="1"/>
                    <a:pt x="771" y="0"/>
                    <a:pt x="927" y="18"/>
                  </a:cubicBezTo>
                  <a:cubicBezTo>
                    <a:pt x="1083" y="36"/>
                    <a:pt x="1195" y="113"/>
                    <a:pt x="1265" y="138"/>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77" name="Line 98"/>
            <p:cNvSpPr>
              <a:spLocks noChangeShapeType="1"/>
            </p:cNvSpPr>
            <p:nvPr/>
          </p:nvSpPr>
          <p:spPr bwMode="auto">
            <a:xfrm>
              <a:off x="4745" y="3614"/>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78" name="Oval 61"/>
            <p:cNvSpPr>
              <a:spLocks noChangeArrowheads="1"/>
            </p:cNvSpPr>
            <p:nvPr/>
          </p:nvSpPr>
          <p:spPr bwMode="auto">
            <a:xfrm>
              <a:off x="281" y="3447"/>
              <a:ext cx="288" cy="337"/>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a</a:t>
              </a:r>
            </a:p>
          </p:txBody>
        </p:sp>
        <p:sp>
          <p:nvSpPr>
            <p:cNvPr id="39979" name="Oval 62"/>
            <p:cNvSpPr>
              <a:spLocks noChangeArrowheads="1"/>
            </p:cNvSpPr>
            <p:nvPr/>
          </p:nvSpPr>
          <p:spPr bwMode="auto">
            <a:xfrm>
              <a:off x="1001" y="3447"/>
              <a:ext cx="288" cy="337"/>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b</a:t>
              </a:r>
            </a:p>
          </p:txBody>
        </p:sp>
        <p:sp>
          <p:nvSpPr>
            <p:cNvPr id="39980" name="Oval 64"/>
            <p:cNvSpPr>
              <a:spLocks noChangeArrowheads="1"/>
            </p:cNvSpPr>
            <p:nvPr/>
          </p:nvSpPr>
          <p:spPr bwMode="auto">
            <a:xfrm>
              <a:off x="1721" y="3447"/>
              <a:ext cx="288" cy="337"/>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d</a:t>
              </a:r>
            </a:p>
          </p:txBody>
        </p:sp>
        <p:sp>
          <p:nvSpPr>
            <p:cNvPr id="39981" name="Oval 68"/>
            <p:cNvSpPr>
              <a:spLocks noChangeArrowheads="1"/>
            </p:cNvSpPr>
            <p:nvPr/>
          </p:nvSpPr>
          <p:spPr bwMode="auto">
            <a:xfrm>
              <a:off x="2489" y="3447"/>
              <a:ext cx="288" cy="337"/>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h</a:t>
              </a:r>
            </a:p>
          </p:txBody>
        </p:sp>
        <p:sp>
          <p:nvSpPr>
            <p:cNvPr id="39982" name="Oval 67"/>
            <p:cNvSpPr>
              <a:spLocks noChangeArrowheads="1"/>
            </p:cNvSpPr>
            <p:nvPr/>
          </p:nvSpPr>
          <p:spPr bwMode="auto">
            <a:xfrm>
              <a:off x="3161" y="3447"/>
              <a:ext cx="288" cy="337"/>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g</a:t>
              </a:r>
            </a:p>
          </p:txBody>
        </p:sp>
        <p:sp>
          <p:nvSpPr>
            <p:cNvPr id="39983" name="Oval 63"/>
            <p:cNvSpPr>
              <a:spLocks noChangeArrowheads="1"/>
            </p:cNvSpPr>
            <p:nvPr/>
          </p:nvSpPr>
          <p:spPr bwMode="auto">
            <a:xfrm>
              <a:off x="3881" y="3447"/>
              <a:ext cx="288" cy="337"/>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c</a:t>
              </a:r>
            </a:p>
          </p:txBody>
        </p:sp>
        <p:sp>
          <p:nvSpPr>
            <p:cNvPr id="39984" name="Oval 66"/>
            <p:cNvSpPr>
              <a:spLocks noChangeArrowheads="1"/>
            </p:cNvSpPr>
            <p:nvPr/>
          </p:nvSpPr>
          <p:spPr bwMode="auto">
            <a:xfrm>
              <a:off x="4553" y="3447"/>
              <a:ext cx="288" cy="337"/>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f</a:t>
              </a:r>
            </a:p>
          </p:txBody>
        </p:sp>
        <p:sp>
          <p:nvSpPr>
            <p:cNvPr id="39985" name="Oval 65"/>
            <p:cNvSpPr>
              <a:spLocks noChangeArrowheads="1"/>
            </p:cNvSpPr>
            <p:nvPr/>
          </p:nvSpPr>
          <p:spPr bwMode="auto">
            <a:xfrm>
              <a:off x="5225" y="3447"/>
              <a:ext cx="288" cy="337"/>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e</a:t>
              </a:r>
            </a:p>
          </p:txBody>
        </p:sp>
      </p:grpSp>
      <p:grpSp>
        <p:nvGrpSpPr>
          <p:cNvPr id="90214" name="Group 102"/>
          <p:cNvGrpSpPr>
            <a:grpSpLocks/>
          </p:cNvGrpSpPr>
          <p:nvPr/>
        </p:nvGrpSpPr>
        <p:grpSpPr bwMode="auto">
          <a:xfrm>
            <a:off x="638175" y="762000"/>
            <a:ext cx="5991225" cy="1393825"/>
            <a:chOff x="402" y="480"/>
            <a:chExt cx="3774" cy="878"/>
          </a:xfrm>
        </p:grpSpPr>
        <p:grpSp>
          <p:nvGrpSpPr>
            <p:cNvPr id="39942" name="Group 82"/>
            <p:cNvGrpSpPr>
              <a:grpSpLocks/>
            </p:cNvGrpSpPr>
            <p:nvPr/>
          </p:nvGrpSpPr>
          <p:grpSpPr bwMode="auto">
            <a:xfrm>
              <a:off x="1344" y="480"/>
              <a:ext cx="2832" cy="878"/>
              <a:chOff x="1344" y="480"/>
              <a:chExt cx="2832" cy="878"/>
            </a:xfrm>
          </p:grpSpPr>
          <p:sp>
            <p:nvSpPr>
              <p:cNvPr id="39944" name="Oval 6"/>
              <p:cNvSpPr>
                <a:spLocks noChangeArrowheads="1"/>
              </p:cNvSpPr>
              <p:nvPr/>
            </p:nvSpPr>
            <p:spPr bwMode="auto">
              <a:xfrm>
                <a:off x="1344" y="480"/>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a</a:t>
                </a:r>
              </a:p>
            </p:txBody>
          </p:sp>
          <p:sp>
            <p:nvSpPr>
              <p:cNvPr id="39946" name="Oval 8"/>
              <p:cNvSpPr>
                <a:spLocks noChangeArrowheads="1"/>
              </p:cNvSpPr>
              <p:nvPr/>
            </p:nvSpPr>
            <p:spPr bwMode="auto">
              <a:xfrm>
                <a:off x="2976" y="494"/>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c</a:t>
                </a:r>
              </a:p>
            </p:txBody>
          </p:sp>
          <p:sp>
            <p:nvSpPr>
              <p:cNvPr id="39947" name="Oval 9"/>
              <p:cNvSpPr>
                <a:spLocks noChangeArrowheads="1"/>
              </p:cNvSpPr>
              <p:nvPr/>
            </p:nvSpPr>
            <p:spPr bwMode="auto">
              <a:xfrm>
                <a:off x="3888" y="494"/>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d</a:t>
                </a:r>
              </a:p>
            </p:txBody>
          </p:sp>
          <p:sp>
            <p:nvSpPr>
              <p:cNvPr id="39948" name="Oval 10"/>
              <p:cNvSpPr>
                <a:spLocks noChangeArrowheads="1"/>
              </p:cNvSpPr>
              <p:nvPr/>
            </p:nvSpPr>
            <p:spPr bwMode="auto">
              <a:xfrm>
                <a:off x="1344" y="1056"/>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e</a:t>
                </a:r>
              </a:p>
            </p:txBody>
          </p:sp>
          <p:sp>
            <p:nvSpPr>
              <p:cNvPr id="39949" name="Oval 11"/>
              <p:cNvSpPr>
                <a:spLocks noChangeArrowheads="1"/>
              </p:cNvSpPr>
              <p:nvPr/>
            </p:nvSpPr>
            <p:spPr bwMode="auto">
              <a:xfrm>
                <a:off x="2112" y="1070"/>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f</a:t>
                </a:r>
              </a:p>
            </p:txBody>
          </p:sp>
          <p:sp>
            <p:nvSpPr>
              <p:cNvPr id="39950" name="Oval 12"/>
              <p:cNvSpPr>
                <a:spLocks noChangeArrowheads="1"/>
              </p:cNvSpPr>
              <p:nvPr/>
            </p:nvSpPr>
            <p:spPr bwMode="auto">
              <a:xfrm>
                <a:off x="2976" y="1070"/>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g</a:t>
                </a:r>
              </a:p>
            </p:txBody>
          </p:sp>
          <p:sp>
            <p:nvSpPr>
              <p:cNvPr id="39951" name="Oval 13"/>
              <p:cNvSpPr>
                <a:spLocks noChangeArrowheads="1"/>
              </p:cNvSpPr>
              <p:nvPr/>
            </p:nvSpPr>
            <p:spPr bwMode="auto">
              <a:xfrm>
                <a:off x="3888" y="1070"/>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h</a:t>
                </a:r>
              </a:p>
            </p:txBody>
          </p:sp>
          <p:sp>
            <p:nvSpPr>
              <p:cNvPr id="39952" name="Line 14"/>
              <p:cNvSpPr>
                <a:spLocks noChangeShapeType="1"/>
              </p:cNvSpPr>
              <p:nvPr/>
            </p:nvSpPr>
            <p:spPr bwMode="auto">
              <a:xfrm>
                <a:off x="1632" y="638"/>
                <a:ext cx="48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53" name="Line 15"/>
              <p:cNvSpPr>
                <a:spLocks noChangeShapeType="1"/>
              </p:cNvSpPr>
              <p:nvPr/>
            </p:nvSpPr>
            <p:spPr bwMode="auto">
              <a:xfrm>
                <a:off x="2400" y="638"/>
                <a:ext cx="5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54" name="Line 16"/>
              <p:cNvSpPr>
                <a:spLocks noChangeShapeType="1"/>
              </p:cNvSpPr>
              <p:nvPr/>
            </p:nvSpPr>
            <p:spPr bwMode="auto">
              <a:xfrm flipH="1">
                <a:off x="3264" y="638"/>
                <a:ext cx="62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55" name="Line 17"/>
              <p:cNvSpPr>
                <a:spLocks noChangeShapeType="1"/>
              </p:cNvSpPr>
              <p:nvPr/>
            </p:nvSpPr>
            <p:spPr bwMode="auto">
              <a:xfrm flipH="1">
                <a:off x="3264" y="1214"/>
                <a:ext cx="62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56" name="Line 18"/>
              <p:cNvSpPr>
                <a:spLocks noChangeShapeType="1"/>
              </p:cNvSpPr>
              <p:nvPr/>
            </p:nvSpPr>
            <p:spPr bwMode="auto">
              <a:xfrm flipH="1">
                <a:off x="2400" y="1214"/>
                <a:ext cx="5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57" name="Line 19"/>
              <p:cNvSpPr>
                <a:spLocks noChangeShapeType="1"/>
              </p:cNvSpPr>
              <p:nvPr/>
            </p:nvSpPr>
            <p:spPr bwMode="auto">
              <a:xfrm flipH="1">
                <a:off x="1632" y="1214"/>
                <a:ext cx="48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58" name="Freeform 20"/>
              <p:cNvSpPr>
                <a:spLocks/>
              </p:cNvSpPr>
              <p:nvPr/>
            </p:nvSpPr>
            <p:spPr bwMode="auto">
              <a:xfrm>
                <a:off x="1488" y="770"/>
                <a:ext cx="1" cy="300"/>
              </a:xfrm>
              <a:custGeom>
                <a:avLst/>
                <a:gdLst>
                  <a:gd name="T0" fmla="*/ 0 w 1"/>
                  <a:gd name="T1" fmla="*/ 300 h 300"/>
                  <a:gd name="T2" fmla="*/ 0 w 1"/>
                  <a:gd name="T3" fmla="*/ 0 h 300"/>
                  <a:gd name="T4" fmla="*/ 0 60000 65536"/>
                  <a:gd name="T5" fmla="*/ 0 60000 65536"/>
                </a:gdLst>
                <a:ahLst/>
                <a:cxnLst>
                  <a:cxn ang="T4">
                    <a:pos x="T0" y="T1"/>
                  </a:cxn>
                  <a:cxn ang="T5">
                    <a:pos x="T2" y="T3"/>
                  </a:cxn>
                </a:cxnLst>
                <a:rect l="0" t="0" r="r" b="b"/>
                <a:pathLst>
                  <a:path w="1" h="300">
                    <a:moveTo>
                      <a:pt x="0" y="300"/>
                    </a:moveTo>
                    <a:lnTo>
                      <a:pt x="0" y="0"/>
                    </a:lnTo>
                  </a:path>
                </a:pathLst>
              </a:custGeom>
              <a:noFill/>
              <a:ln w="28575"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39959" name="Line 21"/>
              <p:cNvSpPr>
                <a:spLocks noChangeShapeType="1"/>
              </p:cNvSpPr>
              <p:nvPr/>
            </p:nvSpPr>
            <p:spPr bwMode="auto">
              <a:xfrm>
                <a:off x="2256" y="782"/>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60" name="Line 22"/>
              <p:cNvSpPr>
                <a:spLocks noChangeShapeType="1"/>
              </p:cNvSpPr>
              <p:nvPr/>
            </p:nvSpPr>
            <p:spPr bwMode="auto">
              <a:xfrm flipV="1">
                <a:off x="3120" y="782"/>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61" name="Freeform 23"/>
              <p:cNvSpPr>
                <a:spLocks/>
              </p:cNvSpPr>
              <p:nvPr/>
            </p:nvSpPr>
            <p:spPr bwMode="auto">
              <a:xfrm>
                <a:off x="3991" y="777"/>
                <a:ext cx="1" cy="291"/>
              </a:xfrm>
              <a:custGeom>
                <a:avLst/>
                <a:gdLst>
                  <a:gd name="T0" fmla="*/ 0 w 1"/>
                  <a:gd name="T1" fmla="*/ 0 h 291"/>
                  <a:gd name="T2" fmla="*/ 0 w 1"/>
                  <a:gd name="T3" fmla="*/ 291 h 291"/>
                  <a:gd name="T4" fmla="*/ 0 60000 65536"/>
                  <a:gd name="T5" fmla="*/ 0 60000 65536"/>
                </a:gdLst>
                <a:ahLst/>
                <a:cxnLst>
                  <a:cxn ang="T4">
                    <a:pos x="T0" y="T1"/>
                  </a:cxn>
                  <a:cxn ang="T5">
                    <a:pos x="T2" y="T3"/>
                  </a:cxn>
                </a:cxnLst>
                <a:rect l="0" t="0" r="r" b="b"/>
                <a:pathLst>
                  <a:path w="1" h="291">
                    <a:moveTo>
                      <a:pt x="0" y="0"/>
                    </a:moveTo>
                    <a:lnTo>
                      <a:pt x="0" y="291"/>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62" name="Line 24"/>
              <p:cNvSpPr>
                <a:spLocks noChangeShapeType="1"/>
              </p:cNvSpPr>
              <p:nvPr/>
            </p:nvSpPr>
            <p:spPr bwMode="auto">
              <a:xfrm>
                <a:off x="1584" y="734"/>
                <a:ext cx="576" cy="3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63" name="Line 25"/>
              <p:cNvSpPr>
                <a:spLocks noChangeShapeType="1"/>
              </p:cNvSpPr>
              <p:nvPr/>
            </p:nvSpPr>
            <p:spPr bwMode="auto">
              <a:xfrm>
                <a:off x="2352" y="734"/>
                <a:ext cx="672" cy="3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64" name="Line 26"/>
              <p:cNvSpPr>
                <a:spLocks noChangeShapeType="1"/>
              </p:cNvSpPr>
              <p:nvPr/>
            </p:nvSpPr>
            <p:spPr bwMode="auto">
              <a:xfrm flipH="1">
                <a:off x="3216" y="734"/>
                <a:ext cx="720" cy="3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39945" name="Oval 7"/>
              <p:cNvSpPr>
                <a:spLocks noChangeArrowheads="1"/>
              </p:cNvSpPr>
              <p:nvPr/>
            </p:nvSpPr>
            <p:spPr bwMode="auto">
              <a:xfrm>
                <a:off x="2112" y="494"/>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b</a:t>
                </a:r>
              </a:p>
            </p:txBody>
          </p:sp>
        </p:grpSp>
        <p:sp>
          <p:nvSpPr>
            <p:cNvPr id="39943" name="Text Box 99"/>
            <p:cNvSpPr txBox="1">
              <a:spLocks noChangeArrowheads="1"/>
            </p:cNvSpPr>
            <p:nvPr/>
          </p:nvSpPr>
          <p:spPr bwMode="auto">
            <a:xfrm>
              <a:off x="402" y="743"/>
              <a:ext cx="63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dirty="0">
                  <a:solidFill>
                    <a:schemeClr val="tx2"/>
                  </a:solidFill>
                  <a:latin typeface="Arial" pitchFamily="34" charset="0"/>
                </a:rPr>
                <a:t>DAG G:</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38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90114"/>
                                        </p:tgtEl>
                                        <p:attrNameLst>
                                          <p:attrName>style.visibility</p:attrName>
                                        </p:attrNameLst>
                                      </p:cBhvr>
                                      <p:to>
                                        <p:strVal val="visible"/>
                                      </p:to>
                                    </p:set>
                                    <p:anim calcmode="lin" valueType="num">
                                      <p:cBhvr>
                                        <p:cTn id="7" dur="500" fill="hold"/>
                                        <p:tgtEl>
                                          <p:spTgt spid="90114"/>
                                        </p:tgtEl>
                                        <p:attrNameLst>
                                          <p:attrName>ppt_w</p:attrName>
                                        </p:attrNameLst>
                                      </p:cBhvr>
                                      <p:tavLst>
                                        <p:tav tm="0">
                                          <p:val>
                                            <p:fltVal val="0"/>
                                          </p:val>
                                        </p:tav>
                                        <p:tav tm="100000">
                                          <p:val>
                                            <p:strVal val="#ppt_w"/>
                                          </p:val>
                                        </p:tav>
                                      </p:tavLst>
                                    </p:anim>
                                    <p:anim calcmode="lin" valueType="num">
                                      <p:cBhvr>
                                        <p:cTn id="8" dur="500" fill="hold"/>
                                        <p:tgtEl>
                                          <p:spTgt spid="9011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90214"/>
                                        </p:tgtEl>
                                        <p:attrNameLst>
                                          <p:attrName>style.visibility</p:attrName>
                                        </p:attrNameLst>
                                      </p:cBhvr>
                                      <p:to>
                                        <p:strVal val="visible"/>
                                      </p:to>
                                    </p:set>
                                    <p:animEffect transition="in" filter="wipe(left)">
                                      <p:cBhvr>
                                        <p:cTn id="13" dur="500"/>
                                        <p:tgtEl>
                                          <p:spTgt spid="9021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90116">
                                            <p:txEl>
                                              <p:pRg st="0" end="0"/>
                                            </p:txEl>
                                          </p:spTgt>
                                        </p:tgtEl>
                                        <p:attrNameLst>
                                          <p:attrName>style.visibility</p:attrName>
                                        </p:attrNameLst>
                                      </p:cBhvr>
                                      <p:to>
                                        <p:strVal val="visible"/>
                                      </p:to>
                                    </p:set>
                                    <p:animEffect transition="in" filter="wipe(up)">
                                      <p:cBhvr>
                                        <p:cTn id="18" dur="500"/>
                                        <p:tgtEl>
                                          <p:spTgt spid="90116">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90116">
                                            <p:txEl>
                                              <p:pRg st="1" end="1"/>
                                            </p:txEl>
                                          </p:spTgt>
                                        </p:tgtEl>
                                        <p:attrNameLst>
                                          <p:attrName>style.visibility</p:attrName>
                                        </p:attrNameLst>
                                      </p:cBhvr>
                                      <p:to>
                                        <p:strVal val="visible"/>
                                      </p:to>
                                    </p:set>
                                    <p:animEffect transition="in" filter="wipe(up)">
                                      <p:cBhvr>
                                        <p:cTn id="23" dur="500"/>
                                        <p:tgtEl>
                                          <p:spTgt spid="90116">
                                            <p:txEl>
                                              <p:pRg st="1" end="1"/>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90116">
                                            <p:txEl>
                                              <p:pRg st="2" end="2"/>
                                            </p:txEl>
                                          </p:spTgt>
                                        </p:tgtEl>
                                        <p:attrNameLst>
                                          <p:attrName>style.visibility</p:attrName>
                                        </p:attrNameLst>
                                      </p:cBhvr>
                                      <p:to>
                                        <p:strVal val="visible"/>
                                      </p:to>
                                    </p:set>
                                    <p:animEffect transition="in" filter="wipe(up)">
                                      <p:cBhvr>
                                        <p:cTn id="26" dur="500"/>
                                        <p:tgtEl>
                                          <p:spTgt spid="90116">
                                            <p:txEl>
                                              <p:pRg st="2" end="2"/>
                                            </p:txEl>
                                          </p:spTgt>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90116">
                                            <p:txEl>
                                              <p:pRg st="3" end="3"/>
                                            </p:txEl>
                                          </p:spTgt>
                                        </p:tgtEl>
                                        <p:attrNameLst>
                                          <p:attrName>style.visibility</p:attrName>
                                        </p:attrNameLst>
                                      </p:cBhvr>
                                      <p:to>
                                        <p:strVal val="visible"/>
                                      </p:to>
                                    </p:set>
                                    <p:animEffect transition="in" filter="wipe(up)">
                                      <p:cBhvr>
                                        <p:cTn id="29" dur="500"/>
                                        <p:tgtEl>
                                          <p:spTgt spid="90116">
                                            <p:txEl>
                                              <p:pRg st="3" end="3"/>
                                            </p:txEl>
                                          </p:spTgt>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90116">
                                            <p:txEl>
                                              <p:pRg st="4" end="4"/>
                                            </p:txEl>
                                          </p:spTgt>
                                        </p:tgtEl>
                                        <p:attrNameLst>
                                          <p:attrName>style.visibility</p:attrName>
                                        </p:attrNameLst>
                                      </p:cBhvr>
                                      <p:to>
                                        <p:strVal val="visible"/>
                                      </p:to>
                                    </p:set>
                                    <p:animEffect transition="in" filter="wipe(up)">
                                      <p:cBhvr>
                                        <p:cTn id="32" dur="500"/>
                                        <p:tgtEl>
                                          <p:spTgt spid="90116">
                                            <p:txEl>
                                              <p:pRg st="4" end="4"/>
                                            </p:txEl>
                                          </p:spTgt>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90116">
                                            <p:txEl>
                                              <p:pRg st="5" end="5"/>
                                            </p:txEl>
                                          </p:spTgt>
                                        </p:tgtEl>
                                        <p:attrNameLst>
                                          <p:attrName>style.visibility</p:attrName>
                                        </p:attrNameLst>
                                      </p:cBhvr>
                                      <p:to>
                                        <p:strVal val="visible"/>
                                      </p:to>
                                    </p:set>
                                    <p:animEffect transition="in" filter="wipe(up)">
                                      <p:cBhvr>
                                        <p:cTn id="35" dur="500"/>
                                        <p:tgtEl>
                                          <p:spTgt spid="90116">
                                            <p:txEl>
                                              <p:pRg st="5" end="5"/>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90116">
                                            <p:txEl>
                                              <p:pRg st="6" end="6"/>
                                            </p:txEl>
                                          </p:spTgt>
                                        </p:tgtEl>
                                        <p:attrNameLst>
                                          <p:attrName>style.visibility</p:attrName>
                                        </p:attrNameLst>
                                      </p:cBhvr>
                                      <p:to>
                                        <p:strVal val="visible"/>
                                      </p:to>
                                    </p:set>
                                    <p:animEffect transition="in" filter="wipe(up)">
                                      <p:cBhvr>
                                        <p:cTn id="40" dur="500"/>
                                        <p:tgtEl>
                                          <p:spTgt spid="90116">
                                            <p:txEl>
                                              <p:pRg st="6" end="6"/>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90213"/>
                                        </p:tgtEl>
                                        <p:attrNameLst>
                                          <p:attrName>style.visibility</p:attrName>
                                        </p:attrNameLst>
                                      </p:cBhvr>
                                      <p:to>
                                        <p:strVal val="visible"/>
                                      </p:to>
                                    </p:set>
                                    <p:animEffect transition="in" filter="wipe(left)">
                                      <p:cBhvr>
                                        <p:cTn id="45" dur="500"/>
                                        <p:tgtEl>
                                          <p:spTgt spid="90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animBg="1" autoUpdateAnimBg="0"/>
      <p:bldP spid="90116"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400" b="1" dirty="0" smtClean="0">
                <a:solidFill>
                  <a:schemeClr val="hlink"/>
                </a:solidFill>
                <a:latin typeface="Arial" pitchFamily="34" charset="0"/>
              </a:rPr>
              <a:t>Topological Sort Algorithm 1</a:t>
            </a:r>
          </a:p>
        </p:txBody>
      </p:sp>
      <p:sp>
        <p:nvSpPr>
          <p:cNvPr id="131075" name="Text Box 3"/>
          <p:cNvSpPr txBox="1">
            <a:spLocks noChangeArrowheads="1"/>
          </p:cNvSpPr>
          <p:nvPr/>
        </p:nvSpPr>
        <p:spPr bwMode="auto">
          <a:xfrm>
            <a:off x="228600" y="1676400"/>
            <a:ext cx="8763000" cy="1465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 typeface="Wingdings" pitchFamily="2" charset="2"/>
              <a:buNone/>
            </a:pPr>
            <a:r>
              <a:rPr lang="en-US" sz="1800" b="1">
                <a:solidFill>
                  <a:schemeClr val="tx2"/>
                </a:solidFill>
                <a:latin typeface="Arial" pitchFamily="34" charset="0"/>
              </a:rPr>
              <a:t>Proof:</a:t>
            </a:r>
            <a:r>
              <a:rPr lang="en-US" sz="1800">
                <a:solidFill>
                  <a:schemeClr val="tx2"/>
                </a:solidFill>
                <a:latin typeface="Arial" pitchFamily="34" charset="0"/>
              </a:rPr>
              <a:t>    </a:t>
            </a:r>
            <a:br>
              <a:rPr lang="en-US" sz="1800">
                <a:solidFill>
                  <a:schemeClr val="tx2"/>
                </a:solidFill>
                <a:latin typeface="Arial" pitchFamily="34" charset="0"/>
              </a:rPr>
            </a:br>
            <a:r>
              <a:rPr lang="en-US" sz="1800">
                <a:solidFill>
                  <a:schemeClr val="tx2"/>
                </a:solidFill>
                <a:latin typeface="Arial" pitchFamily="34" charset="0"/>
              </a:rPr>
              <a:t>G has no cycles  </a:t>
            </a:r>
            <a:r>
              <a:rPr lang="en-US" sz="1800">
                <a:solidFill>
                  <a:schemeClr val="tx2"/>
                </a:solidFill>
                <a:latin typeface="Arial" pitchFamily="34" charset="0"/>
                <a:sym typeface="Symbol" pitchFamily="18" charset="2"/>
              </a:rPr>
              <a:t></a:t>
            </a:r>
            <a:r>
              <a:rPr lang="en-US" sz="1800">
                <a:solidFill>
                  <a:schemeClr val="tx2"/>
                </a:solidFill>
                <a:latin typeface="Arial" pitchFamily="34" charset="0"/>
              </a:rPr>
              <a:t>  all paths in G have finite length </a:t>
            </a:r>
            <a:r>
              <a:rPr lang="en-US" sz="1800">
                <a:solidFill>
                  <a:srgbClr val="CC0000"/>
                </a:solidFill>
                <a:latin typeface="Arial" pitchFamily="34" charset="0"/>
              </a:rPr>
              <a:t>(no node can repeat on a path).</a:t>
            </a:r>
            <a:r>
              <a:rPr lang="en-US" sz="1800">
                <a:solidFill>
                  <a:schemeClr val="tx2"/>
                </a:solidFill>
                <a:latin typeface="Arial" pitchFamily="34" charset="0"/>
              </a:rPr>
              <a:t> </a:t>
            </a:r>
          </a:p>
          <a:p>
            <a:pPr eaLnBrk="1" hangingPunct="1">
              <a:buFont typeface="Wingdings" pitchFamily="2" charset="2"/>
              <a:buNone/>
            </a:pPr>
            <a:r>
              <a:rPr lang="en-US" sz="1800">
                <a:solidFill>
                  <a:schemeClr val="tx2"/>
                </a:solidFill>
                <a:latin typeface="Arial" pitchFamily="34" charset="0"/>
              </a:rPr>
              <a:t>Let P be a longest path in G.</a:t>
            </a:r>
          </a:p>
          <a:p>
            <a:pPr eaLnBrk="1" hangingPunct="1">
              <a:buFont typeface="Wingdings" pitchFamily="2" charset="2"/>
              <a:buNone/>
            </a:pPr>
            <a:r>
              <a:rPr lang="en-US" sz="1800">
                <a:solidFill>
                  <a:schemeClr val="tx2"/>
                </a:solidFill>
                <a:latin typeface="Arial" pitchFamily="34" charset="0"/>
              </a:rPr>
              <a:t>Suppose P starts at node u and ends in node v.</a:t>
            </a:r>
          </a:p>
          <a:p>
            <a:pPr eaLnBrk="1" hangingPunct="1">
              <a:buFont typeface="Wingdings" pitchFamily="2" charset="2"/>
              <a:buNone/>
            </a:pPr>
            <a:r>
              <a:rPr lang="en-US" sz="1800">
                <a:solidFill>
                  <a:schemeClr val="tx2"/>
                </a:solidFill>
                <a:latin typeface="Arial" pitchFamily="34" charset="0"/>
              </a:rPr>
              <a:t>indeg(u) = outdeg(v) = 0  </a:t>
            </a:r>
            <a:r>
              <a:rPr lang="en-US" sz="1800">
                <a:solidFill>
                  <a:srgbClr val="CC0000"/>
                </a:solidFill>
                <a:latin typeface="Arial" pitchFamily="34" charset="0"/>
              </a:rPr>
              <a:t>(otherwise, we can extend P to a longer path).</a:t>
            </a:r>
          </a:p>
        </p:txBody>
      </p:sp>
      <p:sp>
        <p:nvSpPr>
          <p:cNvPr id="131122" name="Rectangle 50" descr="Recycled paper"/>
          <p:cNvSpPr>
            <a:spLocks noChangeArrowheads="1"/>
          </p:cNvSpPr>
          <p:nvPr/>
        </p:nvSpPr>
        <p:spPr bwMode="auto">
          <a:xfrm>
            <a:off x="152400" y="838200"/>
            <a:ext cx="8839200" cy="7810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eaLnBrk="1" hangingPunct="1">
              <a:spcBef>
                <a:spcPct val="50000"/>
              </a:spcBef>
              <a:buFontTx/>
              <a:buNone/>
            </a:pPr>
            <a:r>
              <a:rPr lang="en-US" sz="2400" b="1" dirty="0">
                <a:solidFill>
                  <a:srgbClr val="CC0000"/>
                </a:solidFill>
              </a:rPr>
              <a:t>FACT 1:</a:t>
            </a:r>
            <a:br>
              <a:rPr lang="en-US" sz="2400" b="1" dirty="0">
                <a:solidFill>
                  <a:srgbClr val="CC0000"/>
                </a:solidFill>
              </a:rPr>
            </a:br>
            <a:r>
              <a:rPr lang="en-US" sz="2000" dirty="0">
                <a:solidFill>
                  <a:schemeClr val="hlink"/>
                </a:solidFill>
              </a:rPr>
              <a:t>A DAG G has at least one vertex with in-degree 0 </a:t>
            </a:r>
            <a:r>
              <a:rPr lang="en-US" sz="2000" dirty="0">
                <a:solidFill>
                  <a:srgbClr val="CC0000"/>
                </a:solidFill>
              </a:rPr>
              <a:t>(&amp; one vertex with out-degree 0).</a:t>
            </a:r>
          </a:p>
        </p:txBody>
      </p:sp>
      <p:sp>
        <p:nvSpPr>
          <p:cNvPr id="131128" name="Text Box 56" descr="Stationery"/>
          <p:cNvSpPr txBox="1">
            <a:spLocks noChangeArrowheads="1"/>
          </p:cNvSpPr>
          <p:nvPr/>
        </p:nvSpPr>
        <p:spPr bwMode="auto">
          <a:xfrm>
            <a:off x="304800" y="4851400"/>
            <a:ext cx="8610600" cy="1854200"/>
          </a:xfrm>
          <a:prstGeom prst="rect">
            <a:avLst/>
          </a:prstGeom>
          <a:blipFill dpi="0" rotWithShape="0">
            <a:blip r:embed="rId3"/>
            <a:srcRect/>
            <a:tile tx="0" ty="0" sx="100000" sy="100000" flip="none" algn="tl"/>
          </a:blip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lvl1pPr marL="282575" indent="-282575" defTabSz="576263">
              <a:defRPr sz="1600">
                <a:solidFill>
                  <a:schemeClr val="tx1"/>
                </a:solidFill>
                <a:latin typeface="Times New Roman" pitchFamily="18" charset="0"/>
              </a:defRPr>
            </a:lvl1pPr>
            <a:lvl2pPr marL="669925" indent="-196850" defTabSz="576263">
              <a:defRPr sz="1600">
                <a:solidFill>
                  <a:schemeClr val="tx1"/>
                </a:solidFill>
                <a:latin typeface="Times New Roman" pitchFamily="18" charset="0"/>
              </a:defRPr>
            </a:lvl2pPr>
            <a:lvl3pPr marL="1143000" indent="-228600" defTabSz="576263">
              <a:defRPr sz="1600">
                <a:solidFill>
                  <a:schemeClr val="tx1"/>
                </a:solidFill>
                <a:latin typeface="Times New Roman" pitchFamily="18" charset="0"/>
              </a:defRPr>
            </a:lvl3pPr>
            <a:lvl4pPr marL="1600200" indent="-228600" defTabSz="576263">
              <a:defRPr sz="1600">
                <a:solidFill>
                  <a:schemeClr val="tx1"/>
                </a:solidFill>
                <a:latin typeface="Times New Roman" pitchFamily="18" charset="0"/>
              </a:defRPr>
            </a:lvl4pPr>
            <a:lvl5pPr marL="2057400" indent="-228600" defTabSz="576263">
              <a:defRPr sz="1600">
                <a:solidFill>
                  <a:schemeClr val="tx1"/>
                </a:solidFill>
                <a:latin typeface="Times New Roman" pitchFamily="18" charset="0"/>
              </a:defRPr>
            </a:lvl5pPr>
            <a:lvl6pPr marL="2514600" indent="-228600" defTabSz="576263" eaLnBrk="0" fontAlgn="base" hangingPunct="0">
              <a:spcBef>
                <a:spcPct val="0"/>
              </a:spcBef>
              <a:spcAft>
                <a:spcPct val="0"/>
              </a:spcAft>
              <a:buChar char="•"/>
              <a:defRPr sz="1600">
                <a:solidFill>
                  <a:schemeClr val="tx1"/>
                </a:solidFill>
                <a:latin typeface="Times New Roman" pitchFamily="18" charset="0"/>
              </a:defRPr>
            </a:lvl6pPr>
            <a:lvl7pPr marL="2971800" indent="-228600" defTabSz="576263" eaLnBrk="0" fontAlgn="base" hangingPunct="0">
              <a:spcBef>
                <a:spcPct val="0"/>
              </a:spcBef>
              <a:spcAft>
                <a:spcPct val="0"/>
              </a:spcAft>
              <a:buChar char="•"/>
              <a:defRPr sz="1600">
                <a:solidFill>
                  <a:schemeClr val="tx1"/>
                </a:solidFill>
                <a:latin typeface="Times New Roman" pitchFamily="18" charset="0"/>
              </a:defRPr>
            </a:lvl7pPr>
            <a:lvl8pPr marL="3429000" indent="-228600" defTabSz="576263" eaLnBrk="0" fontAlgn="base" hangingPunct="0">
              <a:spcBef>
                <a:spcPct val="0"/>
              </a:spcBef>
              <a:spcAft>
                <a:spcPct val="0"/>
              </a:spcAft>
              <a:buChar char="•"/>
              <a:defRPr sz="1600">
                <a:solidFill>
                  <a:schemeClr val="tx1"/>
                </a:solidFill>
                <a:latin typeface="Times New Roman" pitchFamily="18" charset="0"/>
              </a:defRPr>
            </a:lvl8pPr>
            <a:lvl9pPr marL="3886200" indent="-228600" defTabSz="576263"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95000"/>
              </a:lnSpc>
              <a:buFontTx/>
              <a:buNone/>
            </a:pPr>
            <a:r>
              <a:rPr lang="en-US" sz="2000" b="1" dirty="0">
                <a:solidFill>
                  <a:srgbClr val="CC0000"/>
                </a:solidFill>
                <a:latin typeface="Arial" pitchFamily="34" charset="0"/>
              </a:rPr>
              <a:t>TOPOLOGICAL SORT ALGORITHM 1:</a:t>
            </a:r>
            <a:r>
              <a:rPr lang="en-US" sz="2000" dirty="0">
                <a:solidFill>
                  <a:schemeClr val="tx2"/>
                </a:solidFill>
                <a:latin typeface="Arial" pitchFamily="34" charset="0"/>
              </a:rPr>
              <a:t> </a:t>
            </a:r>
          </a:p>
          <a:p>
            <a:pPr lvl="1" eaLnBrk="1" hangingPunct="1">
              <a:lnSpc>
                <a:spcPct val="95000"/>
              </a:lnSpc>
            </a:pPr>
            <a:r>
              <a:rPr lang="en-US" sz="2000" dirty="0">
                <a:solidFill>
                  <a:schemeClr val="tx2"/>
                </a:solidFill>
                <a:latin typeface="Arial" pitchFamily="34" charset="0"/>
              </a:rPr>
              <a:t>Find a node u with in-degree 0.</a:t>
            </a:r>
          </a:p>
          <a:p>
            <a:pPr lvl="1" eaLnBrk="1" hangingPunct="1">
              <a:lnSpc>
                <a:spcPct val="95000"/>
              </a:lnSpc>
            </a:pPr>
            <a:r>
              <a:rPr lang="en-US" sz="2000" dirty="0">
                <a:solidFill>
                  <a:schemeClr val="tx2"/>
                </a:solidFill>
                <a:latin typeface="Arial" pitchFamily="34" charset="0"/>
              </a:rPr>
              <a:t>Remove u and all its out-edges from G. </a:t>
            </a:r>
            <a:r>
              <a:rPr lang="en-US" sz="2000" dirty="0">
                <a:solidFill>
                  <a:srgbClr val="CC0000"/>
                </a:solidFill>
                <a:latin typeface="Arial" pitchFamily="34" charset="0"/>
              </a:rPr>
              <a:t>A smaller DAG remains.</a:t>
            </a:r>
          </a:p>
          <a:p>
            <a:pPr lvl="1" eaLnBrk="1" hangingPunct="1">
              <a:lnSpc>
                <a:spcPct val="95000"/>
              </a:lnSpc>
            </a:pPr>
            <a:r>
              <a:rPr lang="en-US" sz="2000" dirty="0">
                <a:solidFill>
                  <a:schemeClr val="tx2"/>
                </a:solidFill>
                <a:latin typeface="Arial" pitchFamily="34" charset="0"/>
              </a:rPr>
              <a:t>Add u to the end of the linear order.</a:t>
            </a:r>
          </a:p>
          <a:p>
            <a:pPr lvl="1" eaLnBrk="1" hangingPunct="1">
              <a:lnSpc>
                <a:spcPct val="95000"/>
              </a:lnSpc>
            </a:pPr>
            <a:r>
              <a:rPr lang="en-US" sz="2000" dirty="0">
                <a:solidFill>
                  <a:schemeClr val="tx2"/>
                </a:solidFill>
                <a:latin typeface="Arial" pitchFamily="34" charset="0"/>
              </a:rPr>
              <a:t>Iterate this process until there is no more node remaining in G.</a:t>
            </a:r>
          </a:p>
          <a:p>
            <a:pPr eaLnBrk="1" hangingPunct="1">
              <a:lnSpc>
                <a:spcPct val="95000"/>
              </a:lnSpc>
              <a:buFontTx/>
              <a:buNone/>
            </a:pPr>
            <a:r>
              <a:rPr lang="en-US" sz="2000" b="1" dirty="0">
                <a:solidFill>
                  <a:srgbClr val="CC0000"/>
                </a:solidFill>
                <a:latin typeface="Arial" pitchFamily="34" charset="0"/>
              </a:rPr>
              <a:t>EXERCISE:</a:t>
            </a:r>
            <a:r>
              <a:rPr lang="en-US" sz="2000" dirty="0">
                <a:solidFill>
                  <a:schemeClr val="tx2"/>
                </a:solidFill>
                <a:latin typeface="Arial" pitchFamily="34" charset="0"/>
              </a:rPr>
              <a:t>  Give an O(V+E)-time implementation of this algorithm.</a:t>
            </a:r>
          </a:p>
        </p:txBody>
      </p:sp>
      <p:grpSp>
        <p:nvGrpSpPr>
          <p:cNvPr id="4" name="Group 3"/>
          <p:cNvGrpSpPr/>
          <p:nvPr/>
        </p:nvGrpSpPr>
        <p:grpSpPr>
          <a:xfrm>
            <a:off x="457200" y="3180556"/>
            <a:ext cx="8255000" cy="1393825"/>
            <a:chOff x="457200" y="3180556"/>
            <a:chExt cx="8255000" cy="1393825"/>
          </a:xfrm>
        </p:grpSpPr>
        <p:sp>
          <p:nvSpPr>
            <p:cNvPr id="40968" name="Text Box 49"/>
            <p:cNvSpPr txBox="1">
              <a:spLocks noChangeArrowheads="1"/>
            </p:cNvSpPr>
            <p:nvPr/>
          </p:nvSpPr>
          <p:spPr bwMode="auto">
            <a:xfrm>
              <a:off x="457200" y="3694113"/>
              <a:ext cx="17716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dirty="0">
                  <a:solidFill>
                    <a:schemeClr val="tx2"/>
                  </a:solidFill>
                  <a:latin typeface="Arial" pitchFamily="34" charset="0"/>
                </a:rPr>
                <a:t>Example DAG:</a:t>
              </a:r>
            </a:p>
          </p:txBody>
        </p:sp>
        <p:sp>
          <p:nvSpPr>
            <p:cNvPr id="40969" name="Rectangle 57"/>
            <p:cNvSpPr>
              <a:spLocks noChangeArrowheads="1"/>
            </p:cNvSpPr>
            <p:nvPr/>
          </p:nvSpPr>
          <p:spPr bwMode="auto">
            <a:xfrm>
              <a:off x="7162800" y="3505200"/>
              <a:ext cx="1549400" cy="91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1800">
                  <a:solidFill>
                    <a:srgbClr val="CC0000"/>
                  </a:solidFill>
                  <a:latin typeface="Arial" pitchFamily="34" charset="0"/>
                </a:rPr>
                <a:t>indeg(a)   = 0</a:t>
              </a:r>
            </a:p>
            <a:p>
              <a:pPr eaLnBrk="1" hangingPunct="1">
                <a:buFontTx/>
                <a:buNone/>
              </a:pPr>
              <a:r>
                <a:rPr lang="en-US" sz="1800">
                  <a:solidFill>
                    <a:srgbClr val="CC0000"/>
                  </a:solidFill>
                  <a:latin typeface="Arial" pitchFamily="34" charset="0"/>
                </a:rPr>
                <a:t>indeg(d)   = 0</a:t>
              </a:r>
            </a:p>
            <a:p>
              <a:pPr eaLnBrk="1" hangingPunct="1">
                <a:buFontTx/>
                <a:buNone/>
              </a:pPr>
              <a:r>
                <a:rPr lang="en-US" sz="1800">
                  <a:solidFill>
                    <a:srgbClr val="CC0000"/>
                  </a:solidFill>
                  <a:latin typeface="Arial" pitchFamily="34" charset="0"/>
                </a:rPr>
                <a:t>outdeg(e) = 0</a:t>
              </a:r>
            </a:p>
          </p:txBody>
        </p:sp>
        <p:grpSp>
          <p:nvGrpSpPr>
            <p:cNvPr id="32" name="Group 82"/>
            <p:cNvGrpSpPr>
              <a:grpSpLocks/>
            </p:cNvGrpSpPr>
            <p:nvPr/>
          </p:nvGrpSpPr>
          <p:grpSpPr bwMode="auto">
            <a:xfrm>
              <a:off x="2514600" y="3180556"/>
              <a:ext cx="4495800" cy="1393825"/>
              <a:chOff x="1344" y="480"/>
              <a:chExt cx="2832" cy="878"/>
            </a:xfrm>
          </p:grpSpPr>
          <p:sp>
            <p:nvSpPr>
              <p:cNvPr id="34" name="Oval 6"/>
              <p:cNvSpPr>
                <a:spLocks noChangeArrowheads="1"/>
              </p:cNvSpPr>
              <p:nvPr/>
            </p:nvSpPr>
            <p:spPr bwMode="auto">
              <a:xfrm>
                <a:off x="1344" y="480"/>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a</a:t>
                </a:r>
              </a:p>
            </p:txBody>
          </p:sp>
          <p:sp>
            <p:nvSpPr>
              <p:cNvPr id="35" name="Oval 8"/>
              <p:cNvSpPr>
                <a:spLocks noChangeArrowheads="1"/>
              </p:cNvSpPr>
              <p:nvPr/>
            </p:nvSpPr>
            <p:spPr bwMode="auto">
              <a:xfrm>
                <a:off x="2976" y="494"/>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c</a:t>
                </a:r>
              </a:p>
            </p:txBody>
          </p:sp>
          <p:sp>
            <p:nvSpPr>
              <p:cNvPr id="36" name="Oval 9"/>
              <p:cNvSpPr>
                <a:spLocks noChangeArrowheads="1"/>
              </p:cNvSpPr>
              <p:nvPr/>
            </p:nvSpPr>
            <p:spPr bwMode="auto">
              <a:xfrm>
                <a:off x="3888" y="494"/>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d</a:t>
                </a:r>
              </a:p>
            </p:txBody>
          </p:sp>
          <p:sp>
            <p:nvSpPr>
              <p:cNvPr id="37" name="Oval 10"/>
              <p:cNvSpPr>
                <a:spLocks noChangeArrowheads="1"/>
              </p:cNvSpPr>
              <p:nvPr/>
            </p:nvSpPr>
            <p:spPr bwMode="auto">
              <a:xfrm>
                <a:off x="1344" y="1056"/>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e</a:t>
                </a:r>
              </a:p>
            </p:txBody>
          </p:sp>
          <p:sp>
            <p:nvSpPr>
              <p:cNvPr id="38" name="Oval 11"/>
              <p:cNvSpPr>
                <a:spLocks noChangeArrowheads="1"/>
              </p:cNvSpPr>
              <p:nvPr/>
            </p:nvSpPr>
            <p:spPr bwMode="auto">
              <a:xfrm>
                <a:off x="2112" y="1070"/>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f</a:t>
                </a:r>
              </a:p>
            </p:txBody>
          </p:sp>
          <p:sp>
            <p:nvSpPr>
              <p:cNvPr id="39" name="Oval 12"/>
              <p:cNvSpPr>
                <a:spLocks noChangeArrowheads="1"/>
              </p:cNvSpPr>
              <p:nvPr/>
            </p:nvSpPr>
            <p:spPr bwMode="auto">
              <a:xfrm>
                <a:off x="2976" y="1070"/>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g</a:t>
                </a:r>
              </a:p>
            </p:txBody>
          </p:sp>
          <p:sp>
            <p:nvSpPr>
              <p:cNvPr id="40" name="Oval 13"/>
              <p:cNvSpPr>
                <a:spLocks noChangeArrowheads="1"/>
              </p:cNvSpPr>
              <p:nvPr/>
            </p:nvSpPr>
            <p:spPr bwMode="auto">
              <a:xfrm>
                <a:off x="3888" y="1070"/>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h</a:t>
                </a:r>
              </a:p>
            </p:txBody>
          </p:sp>
          <p:sp>
            <p:nvSpPr>
              <p:cNvPr id="41" name="Line 14"/>
              <p:cNvSpPr>
                <a:spLocks noChangeShapeType="1"/>
              </p:cNvSpPr>
              <p:nvPr/>
            </p:nvSpPr>
            <p:spPr bwMode="auto">
              <a:xfrm>
                <a:off x="1632" y="638"/>
                <a:ext cx="48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2" name="Line 15"/>
              <p:cNvSpPr>
                <a:spLocks noChangeShapeType="1"/>
              </p:cNvSpPr>
              <p:nvPr/>
            </p:nvSpPr>
            <p:spPr bwMode="auto">
              <a:xfrm>
                <a:off x="2400" y="638"/>
                <a:ext cx="5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 name="Line 16"/>
              <p:cNvSpPr>
                <a:spLocks noChangeShapeType="1"/>
              </p:cNvSpPr>
              <p:nvPr/>
            </p:nvSpPr>
            <p:spPr bwMode="auto">
              <a:xfrm flipH="1">
                <a:off x="3264" y="638"/>
                <a:ext cx="62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4" name="Line 17"/>
              <p:cNvSpPr>
                <a:spLocks noChangeShapeType="1"/>
              </p:cNvSpPr>
              <p:nvPr/>
            </p:nvSpPr>
            <p:spPr bwMode="auto">
              <a:xfrm flipH="1">
                <a:off x="3264" y="1214"/>
                <a:ext cx="62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5" name="Line 18"/>
              <p:cNvSpPr>
                <a:spLocks noChangeShapeType="1"/>
              </p:cNvSpPr>
              <p:nvPr/>
            </p:nvSpPr>
            <p:spPr bwMode="auto">
              <a:xfrm flipH="1">
                <a:off x="2400" y="1214"/>
                <a:ext cx="5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 name="Line 19"/>
              <p:cNvSpPr>
                <a:spLocks noChangeShapeType="1"/>
              </p:cNvSpPr>
              <p:nvPr/>
            </p:nvSpPr>
            <p:spPr bwMode="auto">
              <a:xfrm flipH="1">
                <a:off x="1632" y="1214"/>
                <a:ext cx="48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7" name="Freeform 20"/>
              <p:cNvSpPr>
                <a:spLocks/>
              </p:cNvSpPr>
              <p:nvPr/>
            </p:nvSpPr>
            <p:spPr bwMode="auto">
              <a:xfrm>
                <a:off x="1488" y="770"/>
                <a:ext cx="1" cy="300"/>
              </a:xfrm>
              <a:custGeom>
                <a:avLst/>
                <a:gdLst>
                  <a:gd name="T0" fmla="*/ 0 w 1"/>
                  <a:gd name="T1" fmla="*/ 300 h 300"/>
                  <a:gd name="T2" fmla="*/ 0 w 1"/>
                  <a:gd name="T3" fmla="*/ 0 h 300"/>
                  <a:gd name="T4" fmla="*/ 0 60000 65536"/>
                  <a:gd name="T5" fmla="*/ 0 60000 65536"/>
                </a:gdLst>
                <a:ahLst/>
                <a:cxnLst>
                  <a:cxn ang="T4">
                    <a:pos x="T0" y="T1"/>
                  </a:cxn>
                  <a:cxn ang="T5">
                    <a:pos x="T2" y="T3"/>
                  </a:cxn>
                </a:cxnLst>
                <a:rect l="0" t="0" r="r" b="b"/>
                <a:pathLst>
                  <a:path w="1" h="300">
                    <a:moveTo>
                      <a:pt x="0" y="300"/>
                    </a:moveTo>
                    <a:lnTo>
                      <a:pt x="0" y="0"/>
                    </a:lnTo>
                  </a:path>
                </a:pathLst>
              </a:custGeom>
              <a:noFill/>
              <a:ln w="28575"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48" name="Line 21"/>
              <p:cNvSpPr>
                <a:spLocks noChangeShapeType="1"/>
              </p:cNvSpPr>
              <p:nvPr/>
            </p:nvSpPr>
            <p:spPr bwMode="auto">
              <a:xfrm>
                <a:off x="2256" y="782"/>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9" name="Line 22"/>
              <p:cNvSpPr>
                <a:spLocks noChangeShapeType="1"/>
              </p:cNvSpPr>
              <p:nvPr/>
            </p:nvSpPr>
            <p:spPr bwMode="auto">
              <a:xfrm flipV="1">
                <a:off x="3120" y="782"/>
                <a:ext cx="0" cy="2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 name="Freeform 23"/>
              <p:cNvSpPr>
                <a:spLocks/>
              </p:cNvSpPr>
              <p:nvPr/>
            </p:nvSpPr>
            <p:spPr bwMode="auto">
              <a:xfrm>
                <a:off x="3991" y="777"/>
                <a:ext cx="1" cy="291"/>
              </a:xfrm>
              <a:custGeom>
                <a:avLst/>
                <a:gdLst>
                  <a:gd name="T0" fmla="*/ 0 w 1"/>
                  <a:gd name="T1" fmla="*/ 0 h 291"/>
                  <a:gd name="T2" fmla="*/ 0 w 1"/>
                  <a:gd name="T3" fmla="*/ 291 h 291"/>
                  <a:gd name="T4" fmla="*/ 0 60000 65536"/>
                  <a:gd name="T5" fmla="*/ 0 60000 65536"/>
                </a:gdLst>
                <a:ahLst/>
                <a:cxnLst>
                  <a:cxn ang="T4">
                    <a:pos x="T0" y="T1"/>
                  </a:cxn>
                  <a:cxn ang="T5">
                    <a:pos x="T2" y="T3"/>
                  </a:cxn>
                </a:cxnLst>
                <a:rect l="0" t="0" r="r" b="b"/>
                <a:pathLst>
                  <a:path w="1" h="291">
                    <a:moveTo>
                      <a:pt x="0" y="0"/>
                    </a:moveTo>
                    <a:lnTo>
                      <a:pt x="0" y="291"/>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1" name="Line 24"/>
              <p:cNvSpPr>
                <a:spLocks noChangeShapeType="1"/>
              </p:cNvSpPr>
              <p:nvPr/>
            </p:nvSpPr>
            <p:spPr bwMode="auto">
              <a:xfrm>
                <a:off x="1584" y="734"/>
                <a:ext cx="576" cy="3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2" name="Line 25"/>
              <p:cNvSpPr>
                <a:spLocks noChangeShapeType="1"/>
              </p:cNvSpPr>
              <p:nvPr/>
            </p:nvSpPr>
            <p:spPr bwMode="auto">
              <a:xfrm>
                <a:off x="2352" y="734"/>
                <a:ext cx="672" cy="3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3" name="Line 26"/>
              <p:cNvSpPr>
                <a:spLocks noChangeShapeType="1"/>
              </p:cNvSpPr>
              <p:nvPr/>
            </p:nvSpPr>
            <p:spPr bwMode="auto">
              <a:xfrm flipH="1">
                <a:off x="3216" y="734"/>
                <a:ext cx="720" cy="38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4" name="Oval 7"/>
              <p:cNvSpPr>
                <a:spLocks noChangeArrowheads="1"/>
              </p:cNvSpPr>
              <p:nvPr/>
            </p:nvSpPr>
            <p:spPr bwMode="auto">
              <a:xfrm>
                <a:off x="2112" y="494"/>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b</a:t>
                </a:r>
              </a:p>
            </p:txBody>
          </p:sp>
        </p:gr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39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31074"/>
                                        </p:tgtEl>
                                        <p:attrNameLst>
                                          <p:attrName>style.visibility</p:attrName>
                                        </p:attrNameLst>
                                      </p:cBhvr>
                                      <p:to>
                                        <p:strVal val="visible"/>
                                      </p:to>
                                    </p:set>
                                    <p:anim calcmode="lin" valueType="num">
                                      <p:cBhvr>
                                        <p:cTn id="7" dur="500" fill="hold"/>
                                        <p:tgtEl>
                                          <p:spTgt spid="131074"/>
                                        </p:tgtEl>
                                        <p:attrNameLst>
                                          <p:attrName>ppt_w</p:attrName>
                                        </p:attrNameLst>
                                      </p:cBhvr>
                                      <p:tavLst>
                                        <p:tav tm="0">
                                          <p:val>
                                            <p:fltVal val="0"/>
                                          </p:val>
                                        </p:tav>
                                        <p:tav tm="100000">
                                          <p:val>
                                            <p:strVal val="#ppt_w"/>
                                          </p:val>
                                        </p:tav>
                                      </p:tavLst>
                                    </p:anim>
                                    <p:anim calcmode="lin" valueType="num">
                                      <p:cBhvr>
                                        <p:cTn id="8" dur="500" fill="hold"/>
                                        <p:tgtEl>
                                          <p:spTgt spid="131074"/>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31122"/>
                                        </p:tgtEl>
                                        <p:attrNameLst>
                                          <p:attrName>style.visibility</p:attrName>
                                        </p:attrNameLst>
                                      </p:cBhvr>
                                      <p:to>
                                        <p:strVal val="visible"/>
                                      </p:to>
                                    </p:set>
                                    <p:animEffect transition="in" filter="wipe(up)">
                                      <p:cBhvr>
                                        <p:cTn id="12" dur="500"/>
                                        <p:tgtEl>
                                          <p:spTgt spid="1311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31075">
                                            <p:txEl>
                                              <p:pRg st="0" end="0"/>
                                            </p:txEl>
                                          </p:spTgt>
                                        </p:tgtEl>
                                        <p:attrNameLst>
                                          <p:attrName>style.visibility</p:attrName>
                                        </p:attrNameLst>
                                      </p:cBhvr>
                                      <p:to>
                                        <p:strVal val="visible"/>
                                      </p:to>
                                    </p:set>
                                    <p:animEffect transition="in" filter="wipe(up)">
                                      <p:cBhvr>
                                        <p:cTn id="17" dur="500"/>
                                        <p:tgtEl>
                                          <p:spTgt spid="13107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31075">
                                            <p:txEl>
                                              <p:pRg st="1" end="1"/>
                                            </p:txEl>
                                          </p:spTgt>
                                        </p:tgtEl>
                                        <p:attrNameLst>
                                          <p:attrName>style.visibility</p:attrName>
                                        </p:attrNameLst>
                                      </p:cBhvr>
                                      <p:to>
                                        <p:strVal val="visible"/>
                                      </p:to>
                                    </p:set>
                                    <p:animEffect transition="in" filter="wipe(up)">
                                      <p:cBhvr>
                                        <p:cTn id="22" dur="500"/>
                                        <p:tgtEl>
                                          <p:spTgt spid="131075">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31075">
                                            <p:txEl>
                                              <p:pRg st="2" end="2"/>
                                            </p:txEl>
                                          </p:spTgt>
                                        </p:tgtEl>
                                        <p:attrNameLst>
                                          <p:attrName>style.visibility</p:attrName>
                                        </p:attrNameLst>
                                      </p:cBhvr>
                                      <p:to>
                                        <p:strVal val="visible"/>
                                      </p:to>
                                    </p:set>
                                    <p:animEffect transition="in" filter="wipe(up)">
                                      <p:cBhvr>
                                        <p:cTn id="27" dur="500"/>
                                        <p:tgtEl>
                                          <p:spTgt spid="131075">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31075">
                                            <p:txEl>
                                              <p:pRg st="3" end="3"/>
                                            </p:txEl>
                                          </p:spTgt>
                                        </p:tgtEl>
                                        <p:attrNameLst>
                                          <p:attrName>style.visibility</p:attrName>
                                        </p:attrNameLst>
                                      </p:cBhvr>
                                      <p:to>
                                        <p:strVal val="visible"/>
                                      </p:to>
                                    </p:set>
                                    <p:animEffect transition="in" filter="wipe(up)">
                                      <p:cBhvr>
                                        <p:cTn id="32" dur="500"/>
                                        <p:tgtEl>
                                          <p:spTgt spid="131075">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1128">
                                            <p:bg/>
                                          </p:spTgt>
                                        </p:tgtEl>
                                        <p:attrNameLst>
                                          <p:attrName>style.visibility</p:attrName>
                                        </p:attrNameLst>
                                      </p:cBhvr>
                                      <p:to>
                                        <p:strVal val="visible"/>
                                      </p:to>
                                    </p:set>
                                    <p:animEffect transition="in" filter="wipe(left)">
                                      <p:cBhvr>
                                        <p:cTn id="42" dur="500"/>
                                        <p:tgtEl>
                                          <p:spTgt spid="131128">
                                            <p:bg/>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1128">
                                            <p:txEl>
                                              <p:pRg st="0" end="0"/>
                                            </p:txEl>
                                          </p:spTgt>
                                        </p:tgtEl>
                                        <p:attrNameLst>
                                          <p:attrName>style.visibility</p:attrName>
                                        </p:attrNameLst>
                                      </p:cBhvr>
                                      <p:to>
                                        <p:strVal val="visible"/>
                                      </p:to>
                                    </p:set>
                                    <p:animEffect transition="in" filter="wipe(left)">
                                      <p:cBhvr>
                                        <p:cTn id="47" dur="500"/>
                                        <p:tgtEl>
                                          <p:spTgt spid="131128">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1128">
                                            <p:txEl>
                                              <p:pRg st="1" end="1"/>
                                            </p:txEl>
                                          </p:spTgt>
                                        </p:tgtEl>
                                        <p:attrNameLst>
                                          <p:attrName>style.visibility</p:attrName>
                                        </p:attrNameLst>
                                      </p:cBhvr>
                                      <p:to>
                                        <p:strVal val="visible"/>
                                      </p:to>
                                    </p:set>
                                    <p:animEffect transition="in" filter="wipe(left)">
                                      <p:cBhvr>
                                        <p:cTn id="52" dur="500"/>
                                        <p:tgtEl>
                                          <p:spTgt spid="131128">
                                            <p:txEl>
                                              <p:pRg st="1" end="1"/>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1128">
                                            <p:txEl>
                                              <p:pRg st="2" end="2"/>
                                            </p:txEl>
                                          </p:spTgt>
                                        </p:tgtEl>
                                        <p:attrNameLst>
                                          <p:attrName>style.visibility</p:attrName>
                                        </p:attrNameLst>
                                      </p:cBhvr>
                                      <p:to>
                                        <p:strVal val="visible"/>
                                      </p:to>
                                    </p:set>
                                    <p:animEffect transition="in" filter="wipe(left)">
                                      <p:cBhvr>
                                        <p:cTn id="57" dur="500"/>
                                        <p:tgtEl>
                                          <p:spTgt spid="131128">
                                            <p:txEl>
                                              <p:pRg st="2" end="2"/>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1128">
                                            <p:txEl>
                                              <p:pRg st="3" end="3"/>
                                            </p:txEl>
                                          </p:spTgt>
                                        </p:tgtEl>
                                        <p:attrNameLst>
                                          <p:attrName>style.visibility</p:attrName>
                                        </p:attrNameLst>
                                      </p:cBhvr>
                                      <p:to>
                                        <p:strVal val="visible"/>
                                      </p:to>
                                    </p:set>
                                    <p:animEffect transition="in" filter="wipe(left)">
                                      <p:cBhvr>
                                        <p:cTn id="62" dur="500"/>
                                        <p:tgtEl>
                                          <p:spTgt spid="131128">
                                            <p:txEl>
                                              <p:pRg st="3" end="3"/>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31128">
                                            <p:txEl>
                                              <p:pRg st="4" end="4"/>
                                            </p:txEl>
                                          </p:spTgt>
                                        </p:tgtEl>
                                        <p:attrNameLst>
                                          <p:attrName>style.visibility</p:attrName>
                                        </p:attrNameLst>
                                      </p:cBhvr>
                                      <p:to>
                                        <p:strVal val="visible"/>
                                      </p:to>
                                    </p:set>
                                    <p:animEffect transition="in" filter="wipe(left)">
                                      <p:cBhvr>
                                        <p:cTn id="67" dur="500"/>
                                        <p:tgtEl>
                                          <p:spTgt spid="131128">
                                            <p:txEl>
                                              <p:pRg st="4" end="4"/>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31128">
                                            <p:txEl>
                                              <p:pRg st="5" end="5"/>
                                            </p:txEl>
                                          </p:spTgt>
                                        </p:tgtEl>
                                        <p:attrNameLst>
                                          <p:attrName>style.visibility</p:attrName>
                                        </p:attrNameLst>
                                      </p:cBhvr>
                                      <p:to>
                                        <p:strVal val="visible"/>
                                      </p:to>
                                    </p:set>
                                    <p:animEffect transition="in" filter="wipe(left)">
                                      <p:cBhvr>
                                        <p:cTn id="72" dur="500"/>
                                        <p:tgtEl>
                                          <p:spTgt spid="13112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animBg="1" autoUpdateAnimBg="0"/>
      <p:bldP spid="131075" grpId="0" uiExpand="1" build="p" autoUpdateAnimBg="0"/>
      <p:bldP spid="131122" grpId="0" animBg="1" autoUpdateAnimBg="0"/>
      <p:bldP spid="131128" grpId="0" build="p" bldLvl="2"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400" b="1" smtClean="0">
                <a:solidFill>
                  <a:schemeClr val="hlink"/>
                </a:solidFill>
                <a:latin typeface="Arial" pitchFamily="34" charset="0"/>
              </a:rPr>
              <a:t>Topological Sort Algorithm 2</a:t>
            </a:r>
          </a:p>
        </p:txBody>
      </p:sp>
      <p:sp>
        <p:nvSpPr>
          <p:cNvPr id="132124" name="Rectangle 28" descr="Recycled paper"/>
          <p:cNvSpPr>
            <a:spLocks noChangeArrowheads="1"/>
          </p:cNvSpPr>
          <p:nvPr/>
        </p:nvSpPr>
        <p:spPr bwMode="auto">
          <a:xfrm>
            <a:off x="152400" y="838200"/>
            <a:ext cx="8839200" cy="841375"/>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eaLnBrk="1" hangingPunct="1">
              <a:spcBef>
                <a:spcPct val="50000"/>
              </a:spcBef>
              <a:buFontTx/>
              <a:buNone/>
            </a:pPr>
            <a:r>
              <a:rPr lang="en-US" sz="2400" b="1" dirty="0">
                <a:solidFill>
                  <a:srgbClr val="CC0000"/>
                </a:solidFill>
              </a:rPr>
              <a:t>FACT 2:   </a:t>
            </a:r>
            <a:r>
              <a:rPr lang="en-US" sz="2400" dirty="0">
                <a:solidFill>
                  <a:schemeClr val="hlink"/>
                </a:solidFill>
              </a:rPr>
              <a:t>Reverse DFS Post-Order, i.e., reverse DFS finishing time is a topological order on a DAG.</a:t>
            </a:r>
            <a:endParaRPr lang="en-US" sz="2400" dirty="0">
              <a:solidFill>
                <a:srgbClr val="CC0000"/>
              </a:solidFill>
            </a:endParaRPr>
          </a:p>
        </p:txBody>
      </p:sp>
      <p:sp>
        <p:nvSpPr>
          <p:cNvPr id="132127" name="Rectangle 31"/>
          <p:cNvSpPr>
            <a:spLocks noChangeArrowheads="1"/>
          </p:cNvSpPr>
          <p:nvPr/>
        </p:nvSpPr>
        <p:spPr bwMode="auto">
          <a:xfrm>
            <a:off x="152400" y="1806575"/>
            <a:ext cx="5727700" cy="344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000" b="1">
                <a:solidFill>
                  <a:schemeClr val="tx2"/>
                </a:solidFill>
                <a:latin typeface="Arial" pitchFamily="34" charset="0"/>
              </a:rPr>
              <a:t>Proof:</a:t>
            </a:r>
            <a:r>
              <a:rPr lang="en-US" sz="2000">
                <a:solidFill>
                  <a:schemeClr val="tx2"/>
                </a:solidFill>
                <a:latin typeface="Arial" pitchFamily="34" charset="0"/>
              </a:rPr>
              <a:t>    </a:t>
            </a:r>
            <a:br>
              <a:rPr lang="en-US" sz="2000">
                <a:solidFill>
                  <a:schemeClr val="tx2"/>
                </a:solidFill>
                <a:latin typeface="Arial" pitchFamily="34" charset="0"/>
              </a:rPr>
            </a:br>
            <a:r>
              <a:rPr lang="en-US" sz="2000">
                <a:solidFill>
                  <a:schemeClr val="tx2"/>
                </a:solidFill>
                <a:latin typeface="Arial" pitchFamily="34" charset="0"/>
              </a:rPr>
              <a:t>For any edge u</a:t>
            </a:r>
            <a:r>
              <a:rPr lang="en-US" sz="2000">
                <a:solidFill>
                  <a:schemeClr val="tx2"/>
                </a:solidFill>
                <a:latin typeface="Arial" pitchFamily="34" charset="0"/>
                <a:sym typeface="Symbol" pitchFamily="18" charset="2"/>
              </a:rPr>
              <a:t></a:t>
            </a:r>
            <a:r>
              <a:rPr lang="en-US" sz="2000">
                <a:solidFill>
                  <a:schemeClr val="tx2"/>
                </a:solidFill>
                <a:latin typeface="Arial" pitchFamily="34" charset="0"/>
              </a:rPr>
              <a:t>v  in digraph G:	</a:t>
            </a:r>
            <a:br>
              <a:rPr lang="en-US" sz="2000">
                <a:solidFill>
                  <a:schemeClr val="tx2"/>
                </a:solidFill>
                <a:latin typeface="Arial" pitchFamily="34" charset="0"/>
              </a:rPr>
            </a:br>
            <a:r>
              <a:rPr lang="en-US" sz="2000">
                <a:solidFill>
                  <a:schemeClr val="tx2"/>
                </a:solidFill>
                <a:latin typeface="Arial" pitchFamily="34" charset="0"/>
              </a:rPr>
              <a:t>	f[u] </a:t>
            </a:r>
            <a:r>
              <a:rPr lang="en-US" sz="2000">
                <a:solidFill>
                  <a:schemeClr val="tx2"/>
                </a:solidFill>
                <a:latin typeface="Arial" pitchFamily="34" charset="0"/>
                <a:sym typeface="Symbol" pitchFamily="18" charset="2"/>
              </a:rPr>
              <a:t> f[v]    </a:t>
            </a:r>
            <a:r>
              <a:rPr lang="en-US" sz="2000">
                <a:solidFill>
                  <a:schemeClr val="tx2"/>
                </a:solidFill>
                <a:latin typeface="Arial" pitchFamily="34" charset="0"/>
              </a:rPr>
              <a:t>u</a:t>
            </a:r>
            <a:r>
              <a:rPr lang="en-US" sz="2000">
                <a:solidFill>
                  <a:schemeClr val="tx2"/>
                </a:solidFill>
                <a:latin typeface="Arial" pitchFamily="34" charset="0"/>
                <a:sym typeface="Symbol" pitchFamily="18" charset="2"/>
              </a:rPr>
              <a:t></a:t>
            </a:r>
            <a:r>
              <a:rPr lang="en-US" sz="2000">
                <a:solidFill>
                  <a:schemeClr val="tx2"/>
                </a:solidFill>
                <a:latin typeface="Arial" pitchFamily="34" charset="0"/>
              </a:rPr>
              <a:t>v is a back edge. </a:t>
            </a:r>
            <a:br>
              <a:rPr lang="en-US" sz="2000">
                <a:solidFill>
                  <a:schemeClr val="tx2"/>
                </a:solidFill>
                <a:latin typeface="Arial" pitchFamily="34" charset="0"/>
              </a:rPr>
            </a:br>
            <a:r>
              <a:rPr lang="en-US" sz="2000">
                <a:solidFill>
                  <a:schemeClr val="tx2"/>
                </a:solidFill>
                <a:latin typeface="Arial" pitchFamily="34" charset="0"/>
              </a:rPr>
              <a:t>	</a:t>
            </a:r>
          </a:p>
          <a:p>
            <a:pPr eaLnBrk="1" hangingPunct="1">
              <a:buFontTx/>
              <a:buNone/>
            </a:pPr>
            <a:r>
              <a:rPr lang="en-US" sz="2000">
                <a:solidFill>
                  <a:schemeClr val="tx2"/>
                </a:solidFill>
                <a:latin typeface="Arial" pitchFamily="34" charset="0"/>
              </a:rPr>
              <a:t>DAG G has no cycles, hence no back-edges.</a:t>
            </a:r>
          </a:p>
          <a:p>
            <a:pPr eaLnBrk="1" hangingPunct="1">
              <a:buFontTx/>
              <a:buNone/>
            </a:pPr>
            <a:endParaRPr lang="en-US" sz="2000">
              <a:solidFill>
                <a:schemeClr val="tx2"/>
              </a:solidFill>
              <a:latin typeface="Arial" pitchFamily="34" charset="0"/>
            </a:endParaRPr>
          </a:p>
          <a:p>
            <a:pPr eaLnBrk="1" hangingPunct="1">
              <a:buFontTx/>
              <a:buNone/>
            </a:pPr>
            <a:r>
              <a:rPr lang="en-US" sz="2000">
                <a:solidFill>
                  <a:schemeClr val="tx2"/>
                </a:solidFill>
                <a:latin typeface="Arial" pitchFamily="34" charset="0"/>
              </a:rPr>
              <a:t>So, for every edge u</a:t>
            </a:r>
            <a:r>
              <a:rPr lang="en-US" sz="2000">
                <a:solidFill>
                  <a:schemeClr val="tx2"/>
                </a:solidFill>
                <a:latin typeface="Arial" pitchFamily="34" charset="0"/>
                <a:sym typeface="Symbol" pitchFamily="18" charset="2"/>
              </a:rPr>
              <a:t></a:t>
            </a:r>
            <a:r>
              <a:rPr lang="en-US" sz="2000">
                <a:solidFill>
                  <a:schemeClr val="tx2"/>
                </a:solidFill>
                <a:latin typeface="Arial" pitchFamily="34" charset="0"/>
              </a:rPr>
              <a:t>v  in DAG G: f[u] </a:t>
            </a:r>
            <a:r>
              <a:rPr lang="en-US" sz="2000">
                <a:solidFill>
                  <a:schemeClr val="tx2"/>
                </a:solidFill>
                <a:latin typeface="Arial" pitchFamily="34" charset="0"/>
                <a:sym typeface="Symbol" pitchFamily="18" charset="2"/>
              </a:rPr>
              <a:t>&gt; f[v]. </a:t>
            </a:r>
            <a:r>
              <a:rPr lang="en-US" sz="2000">
                <a:solidFill>
                  <a:schemeClr val="tx2"/>
                </a:solidFill>
                <a:latin typeface="Arial" pitchFamily="34" charset="0"/>
              </a:rPr>
              <a:t/>
            </a:r>
            <a:br>
              <a:rPr lang="en-US" sz="2000">
                <a:solidFill>
                  <a:schemeClr val="tx2"/>
                </a:solidFill>
                <a:latin typeface="Arial" pitchFamily="34" charset="0"/>
              </a:rPr>
            </a:br>
            <a:r>
              <a:rPr lang="en-US" sz="2000">
                <a:solidFill>
                  <a:schemeClr val="tx2"/>
                </a:solidFill>
                <a:latin typeface="Arial" pitchFamily="34" charset="0"/>
              </a:rPr>
              <a:t>	</a:t>
            </a:r>
          </a:p>
          <a:p>
            <a:pPr eaLnBrk="1" hangingPunct="1">
              <a:buFontTx/>
              <a:buNone/>
            </a:pPr>
            <a:r>
              <a:rPr lang="en-US" sz="2000">
                <a:solidFill>
                  <a:schemeClr val="tx2"/>
                </a:solidFill>
                <a:latin typeface="Arial" pitchFamily="34" charset="0"/>
              </a:rPr>
              <a:t>Linearly order nodes in decreasing order of f[.].</a:t>
            </a:r>
            <a:br>
              <a:rPr lang="en-US" sz="2000">
                <a:solidFill>
                  <a:schemeClr val="tx2"/>
                </a:solidFill>
                <a:latin typeface="Arial" pitchFamily="34" charset="0"/>
              </a:rPr>
            </a:br>
            <a:endParaRPr lang="en-US" sz="2000">
              <a:solidFill>
                <a:schemeClr val="tx2"/>
              </a:solidFill>
              <a:latin typeface="Arial" pitchFamily="34" charset="0"/>
            </a:endParaRPr>
          </a:p>
          <a:p>
            <a:pPr eaLnBrk="1" hangingPunct="1">
              <a:buFontTx/>
              <a:buNone/>
            </a:pPr>
            <a:r>
              <a:rPr lang="en-US" sz="2000">
                <a:solidFill>
                  <a:srgbClr val="CC0000"/>
                </a:solidFill>
                <a:latin typeface="Arial" pitchFamily="34" charset="0"/>
              </a:rPr>
              <a:t>See implementation &amp; example on the next page.</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40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32098"/>
                                        </p:tgtEl>
                                        <p:attrNameLst>
                                          <p:attrName>style.visibility</p:attrName>
                                        </p:attrNameLst>
                                      </p:cBhvr>
                                      <p:to>
                                        <p:strVal val="visible"/>
                                      </p:to>
                                    </p:set>
                                    <p:anim calcmode="lin" valueType="num">
                                      <p:cBhvr>
                                        <p:cTn id="7" dur="500" fill="hold"/>
                                        <p:tgtEl>
                                          <p:spTgt spid="132098"/>
                                        </p:tgtEl>
                                        <p:attrNameLst>
                                          <p:attrName>ppt_w</p:attrName>
                                        </p:attrNameLst>
                                      </p:cBhvr>
                                      <p:tavLst>
                                        <p:tav tm="0">
                                          <p:val>
                                            <p:fltVal val="0"/>
                                          </p:val>
                                        </p:tav>
                                        <p:tav tm="100000">
                                          <p:val>
                                            <p:strVal val="#ppt_w"/>
                                          </p:val>
                                        </p:tav>
                                      </p:tavLst>
                                    </p:anim>
                                    <p:anim calcmode="lin" valueType="num">
                                      <p:cBhvr>
                                        <p:cTn id="8" dur="500" fill="hold"/>
                                        <p:tgtEl>
                                          <p:spTgt spid="132098"/>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32124"/>
                                        </p:tgtEl>
                                        <p:attrNameLst>
                                          <p:attrName>style.visibility</p:attrName>
                                        </p:attrNameLst>
                                      </p:cBhvr>
                                      <p:to>
                                        <p:strVal val="visible"/>
                                      </p:to>
                                    </p:set>
                                    <p:animEffect transition="in" filter="wipe(up)">
                                      <p:cBhvr>
                                        <p:cTn id="12" dur="500"/>
                                        <p:tgtEl>
                                          <p:spTgt spid="1321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32127">
                                            <p:txEl>
                                              <p:pRg st="0" end="0"/>
                                            </p:txEl>
                                          </p:spTgt>
                                        </p:tgtEl>
                                        <p:attrNameLst>
                                          <p:attrName>style.visibility</p:attrName>
                                        </p:attrNameLst>
                                      </p:cBhvr>
                                      <p:to>
                                        <p:strVal val="visible"/>
                                      </p:to>
                                    </p:set>
                                    <p:animEffect transition="in" filter="wipe(up)">
                                      <p:cBhvr>
                                        <p:cTn id="17" dur="500"/>
                                        <p:tgtEl>
                                          <p:spTgt spid="13212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32127">
                                            <p:txEl>
                                              <p:pRg st="1" end="1"/>
                                            </p:txEl>
                                          </p:spTgt>
                                        </p:tgtEl>
                                        <p:attrNameLst>
                                          <p:attrName>style.visibility</p:attrName>
                                        </p:attrNameLst>
                                      </p:cBhvr>
                                      <p:to>
                                        <p:strVal val="visible"/>
                                      </p:to>
                                    </p:set>
                                    <p:animEffect transition="in" filter="wipe(up)">
                                      <p:cBhvr>
                                        <p:cTn id="22" dur="500"/>
                                        <p:tgtEl>
                                          <p:spTgt spid="132127">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32127">
                                            <p:txEl>
                                              <p:pRg st="3" end="3"/>
                                            </p:txEl>
                                          </p:spTgt>
                                        </p:tgtEl>
                                        <p:attrNameLst>
                                          <p:attrName>style.visibility</p:attrName>
                                        </p:attrNameLst>
                                      </p:cBhvr>
                                      <p:to>
                                        <p:strVal val="visible"/>
                                      </p:to>
                                    </p:set>
                                    <p:animEffect transition="in" filter="wipe(up)">
                                      <p:cBhvr>
                                        <p:cTn id="27" dur="500"/>
                                        <p:tgtEl>
                                          <p:spTgt spid="132127">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32127">
                                            <p:txEl>
                                              <p:pRg st="4" end="4"/>
                                            </p:txEl>
                                          </p:spTgt>
                                        </p:tgtEl>
                                        <p:attrNameLst>
                                          <p:attrName>style.visibility</p:attrName>
                                        </p:attrNameLst>
                                      </p:cBhvr>
                                      <p:to>
                                        <p:strVal val="visible"/>
                                      </p:to>
                                    </p:set>
                                    <p:animEffect transition="in" filter="wipe(up)">
                                      <p:cBhvr>
                                        <p:cTn id="32" dur="500"/>
                                        <p:tgtEl>
                                          <p:spTgt spid="132127">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32127">
                                            <p:txEl>
                                              <p:pRg st="5" end="5"/>
                                            </p:txEl>
                                          </p:spTgt>
                                        </p:tgtEl>
                                        <p:attrNameLst>
                                          <p:attrName>style.visibility</p:attrName>
                                        </p:attrNameLst>
                                      </p:cBhvr>
                                      <p:to>
                                        <p:strVal val="visible"/>
                                      </p:to>
                                    </p:set>
                                    <p:animEffect transition="in" filter="wipe(up)">
                                      <p:cBhvr>
                                        <p:cTn id="37" dur="500"/>
                                        <p:tgtEl>
                                          <p:spTgt spid="1321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animBg="1" autoUpdateAnimBg="0"/>
      <p:bldP spid="132124" grpId="0" animBg="1" autoUpdateAnimBg="0"/>
      <p:bldP spid="132127"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400" b="1" dirty="0" smtClean="0">
                <a:solidFill>
                  <a:schemeClr val="hlink"/>
                </a:solidFill>
                <a:latin typeface="Arial" pitchFamily="34" charset="0"/>
              </a:rPr>
              <a:t>Topological Sort Algorithm 2</a:t>
            </a:r>
          </a:p>
        </p:txBody>
      </p:sp>
      <p:sp>
        <p:nvSpPr>
          <p:cNvPr id="133140" name="Text Box 20" descr="Stationery"/>
          <p:cNvSpPr txBox="1">
            <a:spLocks noChangeArrowheads="1"/>
          </p:cNvSpPr>
          <p:nvPr/>
        </p:nvSpPr>
        <p:spPr bwMode="auto">
          <a:xfrm>
            <a:off x="152400" y="762000"/>
            <a:ext cx="8839200" cy="1276350"/>
          </a:xfrm>
          <a:prstGeom prst="rect">
            <a:avLst/>
          </a:prstGeom>
          <a:blipFill dpi="0" rotWithShape="0">
            <a:blip r:embed="rId2"/>
            <a:srcRect/>
            <a:tile tx="0" ty="0" sx="100000" sy="100000" flip="none" algn="tl"/>
          </a:blip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lvl1pPr defTabSz="576263">
              <a:defRPr sz="1600">
                <a:solidFill>
                  <a:schemeClr val="tx1"/>
                </a:solidFill>
                <a:latin typeface="Times New Roman" pitchFamily="18" charset="0"/>
              </a:defRPr>
            </a:lvl1pPr>
            <a:lvl2pPr marL="742950" indent="-285750" defTabSz="576263">
              <a:defRPr sz="1600">
                <a:solidFill>
                  <a:schemeClr val="tx1"/>
                </a:solidFill>
                <a:latin typeface="Times New Roman" pitchFamily="18" charset="0"/>
              </a:defRPr>
            </a:lvl2pPr>
            <a:lvl3pPr marL="1143000" indent="-228600" defTabSz="576263">
              <a:defRPr sz="1600">
                <a:solidFill>
                  <a:schemeClr val="tx1"/>
                </a:solidFill>
                <a:latin typeface="Times New Roman" pitchFamily="18" charset="0"/>
              </a:defRPr>
            </a:lvl3pPr>
            <a:lvl4pPr marL="1600200" indent="-228600" defTabSz="576263">
              <a:defRPr sz="1600">
                <a:solidFill>
                  <a:schemeClr val="tx1"/>
                </a:solidFill>
                <a:latin typeface="Times New Roman" pitchFamily="18" charset="0"/>
              </a:defRPr>
            </a:lvl4pPr>
            <a:lvl5pPr marL="2057400" indent="-228600" defTabSz="576263">
              <a:defRPr sz="1600">
                <a:solidFill>
                  <a:schemeClr val="tx1"/>
                </a:solidFill>
                <a:latin typeface="Times New Roman" pitchFamily="18" charset="0"/>
              </a:defRPr>
            </a:lvl5pPr>
            <a:lvl6pPr marL="2514600" indent="-228600" defTabSz="576263" eaLnBrk="0" fontAlgn="base" hangingPunct="0">
              <a:spcBef>
                <a:spcPct val="0"/>
              </a:spcBef>
              <a:spcAft>
                <a:spcPct val="0"/>
              </a:spcAft>
              <a:buChar char="•"/>
              <a:defRPr sz="1600">
                <a:solidFill>
                  <a:schemeClr val="tx1"/>
                </a:solidFill>
                <a:latin typeface="Times New Roman" pitchFamily="18" charset="0"/>
              </a:defRPr>
            </a:lvl6pPr>
            <a:lvl7pPr marL="2971800" indent="-228600" defTabSz="576263" eaLnBrk="0" fontAlgn="base" hangingPunct="0">
              <a:spcBef>
                <a:spcPct val="0"/>
              </a:spcBef>
              <a:spcAft>
                <a:spcPct val="0"/>
              </a:spcAft>
              <a:buChar char="•"/>
              <a:defRPr sz="1600">
                <a:solidFill>
                  <a:schemeClr val="tx1"/>
                </a:solidFill>
                <a:latin typeface="Times New Roman" pitchFamily="18" charset="0"/>
              </a:defRPr>
            </a:lvl7pPr>
            <a:lvl8pPr marL="3429000" indent="-228600" defTabSz="576263" eaLnBrk="0" fontAlgn="base" hangingPunct="0">
              <a:spcBef>
                <a:spcPct val="0"/>
              </a:spcBef>
              <a:spcAft>
                <a:spcPct val="0"/>
              </a:spcAft>
              <a:buChar char="•"/>
              <a:defRPr sz="1600">
                <a:solidFill>
                  <a:schemeClr val="tx1"/>
                </a:solidFill>
                <a:latin typeface="Times New Roman" pitchFamily="18" charset="0"/>
              </a:defRPr>
            </a:lvl8pPr>
            <a:lvl9pPr marL="3886200" indent="-228600" defTabSz="576263"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95000"/>
              </a:lnSpc>
              <a:buFontTx/>
              <a:buNone/>
            </a:pPr>
            <a:r>
              <a:rPr lang="en-US" sz="2000" dirty="0">
                <a:solidFill>
                  <a:schemeClr val="tx2"/>
                </a:solidFill>
                <a:latin typeface="Arial" pitchFamily="34" charset="0"/>
              </a:rPr>
              <a:t>In O(V + E) time do a DFS of G with the following modification:</a:t>
            </a:r>
            <a:br>
              <a:rPr lang="en-US" sz="2000" dirty="0">
                <a:solidFill>
                  <a:schemeClr val="tx2"/>
                </a:solidFill>
                <a:latin typeface="Arial" pitchFamily="34" charset="0"/>
              </a:rPr>
            </a:br>
            <a:r>
              <a:rPr lang="en-US" sz="2000" dirty="0">
                <a:solidFill>
                  <a:schemeClr val="tx2"/>
                </a:solidFill>
                <a:latin typeface="Arial" pitchFamily="34" charset="0"/>
              </a:rPr>
              <a:t>Push nodes into an initially empty stack S when they become black</a:t>
            </a:r>
            <a:br>
              <a:rPr lang="en-US" sz="2000" dirty="0">
                <a:solidFill>
                  <a:schemeClr val="tx2"/>
                </a:solidFill>
                <a:latin typeface="Arial" pitchFamily="34" charset="0"/>
              </a:rPr>
            </a:br>
            <a:r>
              <a:rPr lang="en-US" sz="2000" dirty="0">
                <a:solidFill>
                  <a:schemeClr val="tx2"/>
                </a:solidFill>
                <a:latin typeface="Arial" pitchFamily="34" charset="0"/>
              </a:rPr>
              <a:t>	(i.e., an added line at the end of </a:t>
            </a:r>
            <a:r>
              <a:rPr lang="en-US" sz="2000" dirty="0" err="1">
                <a:solidFill>
                  <a:schemeClr val="tx2"/>
                </a:solidFill>
                <a:latin typeface="Arial" pitchFamily="34" charset="0"/>
              </a:rPr>
              <a:t>DFSvisit</a:t>
            </a:r>
            <a:r>
              <a:rPr lang="en-US" sz="2000" dirty="0">
                <a:solidFill>
                  <a:schemeClr val="tx2"/>
                </a:solidFill>
                <a:latin typeface="Arial" pitchFamily="34" charset="0"/>
              </a:rPr>
              <a:t>).</a:t>
            </a:r>
            <a:br>
              <a:rPr lang="en-US" sz="2000" dirty="0">
                <a:solidFill>
                  <a:schemeClr val="tx2"/>
                </a:solidFill>
                <a:latin typeface="Arial" pitchFamily="34" charset="0"/>
              </a:rPr>
            </a:br>
            <a:r>
              <a:rPr lang="en-US" sz="2000" dirty="0">
                <a:solidFill>
                  <a:schemeClr val="tx2"/>
                </a:solidFill>
                <a:latin typeface="Arial" pitchFamily="34" charset="0"/>
              </a:rPr>
              <a:t>At the end of DFS(G): </a:t>
            </a:r>
            <a:r>
              <a:rPr lang="en-US" sz="1800" dirty="0">
                <a:solidFill>
                  <a:schemeClr val="tx2"/>
                </a:solidFill>
                <a:latin typeface="Arial" pitchFamily="34" charset="0"/>
              </a:rPr>
              <a:t>repeatedly</a:t>
            </a:r>
            <a:r>
              <a:rPr lang="en-US" sz="2000" dirty="0">
                <a:solidFill>
                  <a:schemeClr val="tx2"/>
                </a:solidFill>
                <a:latin typeface="Arial" pitchFamily="34" charset="0"/>
              </a:rPr>
              <a:t> pop(S); nodes </a:t>
            </a:r>
            <a:r>
              <a:rPr lang="en-US" sz="1800" dirty="0">
                <a:solidFill>
                  <a:schemeClr val="tx2"/>
                </a:solidFill>
                <a:latin typeface="Arial" pitchFamily="34" charset="0"/>
              </a:rPr>
              <a:t>come out</a:t>
            </a:r>
            <a:r>
              <a:rPr lang="en-US" sz="2000" dirty="0">
                <a:solidFill>
                  <a:schemeClr val="tx2"/>
                </a:solidFill>
                <a:latin typeface="Arial" pitchFamily="34" charset="0"/>
              </a:rPr>
              <a:t> in topological order.</a:t>
            </a:r>
          </a:p>
        </p:txBody>
      </p:sp>
      <p:grpSp>
        <p:nvGrpSpPr>
          <p:cNvPr id="133177" name="Group 57"/>
          <p:cNvGrpSpPr>
            <a:grpSpLocks/>
          </p:cNvGrpSpPr>
          <p:nvPr/>
        </p:nvGrpSpPr>
        <p:grpSpPr bwMode="auto">
          <a:xfrm>
            <a:off x="381000" y="2209800"/>
            <a:ext cx="3048000" cy="1827213"/>
            <a:chOff x="174" y="1536"/>
            <a:chExt cx="1920" cy="1151"/>
          </a:xfrm>
        </p:grpSpPr>
        <p:sp>
          <p:nvSpPr>
            <p:cNvPr id="43051" name="Oval 3"/>
            <p:cNvSpPr>
              <a:spLocks noChangeArrowheads="1"/>
            </p:cNvSpPr>
            <p:nvPr/>
          </p:nvSpPr>
          <p:spPr bwMode="auto">
            <a:xfrm>
              <a:off x="174" y="1809"/>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e</a:t>
              </a:r>
            </a:p>
          </p:txBody>
        </p:sp>
        <p:sp>
          <p:nvSpPr>
            <p:cNvPr id="43052" name="Oval 4"/>
            <p:cNvSpPr>
              <a:spLocks noChangeArrowheads="1"/>
            </p:cNvSpPr>
            <p:nvPr/>
          </p:nvSpPr>
          <p:spPr bwMode="auto">
            <a:xfrm>
              <a:off x="942" y="1823"/>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a</a:t>
              </a:r>
            </a:p>
          </p:txBody>
        </p:sp>
        <p:sp>
          <p:nvSpPr>
            <p:cNvPr id="43053" name="Oval 5"/>
            <p:cNvSpPr>
              <a:spLocks noChangeArrowheads="1"/>
            </p:cNvSpPr>
            <p:nvPr/>
          </p:nvSpPr>
          <p:spPr bwMode="auto">
            <a:xfrm>
              <a:off x="1806" y="1823"/>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b</a:t>
              </a:r>
            </a:p>
          </p:txBody>
        </p:sp>
        <p:sp>
          <p:nvSpPr>
            <p:cNvPr id="43054" name="Oval 6"/>
            <p:cNvSpPr>
              <a:spLocks noChangeArrowheads="1"/>
            </p:cNvSpPr>
            <p:nvPr/>
          </p:nvSpPr>
          <p:spPr bwMode="auto">
            <a:xfrm>
              <a:off x="174" y="2385"/>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f</a:t>
              </a:r>
            </a:p>
          </p:txBody>
        </p:sp>
        <p:sp>
          <p:nvSpPr>
            <p:cNvPr id="43055" name="Oval 7"/>
            <p:cNvSpPr>
              <a:spLocks noChangeArrowheads="1"/>
            </p:cNvSpPr>
            <p:nvPr/>
          </p:nvSpPr>
          <p:spPr bwMode="auto">
            <a:xfrm>
              <a:off x="942" y="2399"/>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c</a:t>
              </a:r>
            </a:p>
          </p:txBody>
        </p:sp>
        <p:sp>
          <p:nvSpPr>
            <p:cNvPr id="43056" name="Oval 8"/>
            <p:cNvSpPr>
              <a:spLocks noChangeArrowheads="1"/>
            </p:cNvSpPr>
            <p:nvPr/>
          </p:nvSpPr>
          <p:spPr bwMode="auto">
            <a:xfrm>
              <a:off x="1806" y="2399"/>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d</a:t>
              </a:r>
            </a:p>
          </p:txBody>
        </p:sp>
        <p:sp>
          <p:nvSpPr>
            <p:cNvPr id="43057" name="Line 9"/>
            <p:cNvSpPr>
              <a:spLocks noChangeShapeType="1"/>
            </p:cNvSpPr>
            <p:nvPr/>
          </p:nvSpPr>
          <p:spPr bwMode="auto">
            <a:xfrm>
              <a:off x="462" y="1967"/>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58" name="Line 10"/>
            <p:cNvSpPr>
              <a:spLocks noChangeShapeType="1"/>
            </p:cNvSpPr>
            <p:nvPr/>
          </p:nvSpPr>
          <p:spPr bwMode="auto">
            <a:xfrm>
              <a:off x="1230" y="1967"/>
              <a:ext cx="57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59" name="Line 11"/>
            <p:cNvSpPr>
              <a:spLocks noChangeShapeType="1"/>
            </p:cNvSpPr>
            <p:nvPr/>
          </p:nvSpPr>
          <p:spPr bwMode="auto">
            <a:xfrm flipH="1">
              <a:off x="1230" y="2543"/>
              <a:ext cx="57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60" name="Line 12"/>
            <p:cNvSpPr>
              <a:spLocks noChangeShapeType="1"/>
            </p:cNvSpPr>
            <p:nvPr/>
          </p:nvSpPr>
          <p:spPr bwMode="auto">
            <a:xfrm flipH="1">
              <a:off x="462" y="2543"/>
              <a:ext cx="480"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61" name="Freeform 13"/>
            <p:cNvSpPr>
              <a:spLocks/>
            </p:cNvSpPr>
            <p:nvPr/>
          </p:nvSpPr>
          <p:spPr bwMode="auto">
            <a:xfrm>
              <a:off x="318" y="2099"/>
              <a:ext cx="1" cy="300"/>
            </a:xfrm>
            <a:custGeom>
              <a:avLst/>
              <a:gdLst>
                <a:gd name="T0" fmla="*/ 0 w 1"/>
                <a:gd name="T1" fmla="*/ 300 h 300"/>
                <a:gd name="T2" fmla="*/ 0 w 1"/>
                <a:gd name="T3" fmla="*/ 0 h 300"/>
                <a:gd name="T4" fmla="*/ 0 60000 65536"/>
                <a:gd name="T5" fmla="*/ 0 60000 65536"/>
              </a:gdLst>
              <a:ahLst/>
              <a:cxnLst>
                <a:cxn ang="T4">
                  <a:pos x="T0" y="T1"/>
                </a:cxn>
                <a:cxn ang="T5">
                  <a:pos x="T2" y="T3"/>
                </a:cxn>
              </a:cxnLst>
              <a:rect l="0" t="0" r="r" b="b"/>
              <a:pathLst>
                <a:path w="1" h="300">
                  <a:moveTo>
                    <a:pt x="0" y="300"/>
                  </a:moveTo>
                  <a:lnTo>
                    <a:pt x="0" y="0"/>
                  </a:lnTo>
                </a:path>
              </a:pathLst>
            </a:custGeom>
            <a:noFill/>
            <a:ln w="1905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43062" name="Line 14"/>
            <p:cNvSpPr>
              <a:spLocks noChangeShapeType="1"/>
            </p:cNvSpPr>
            <p:nvPr/>
          </p:nvSpPr>
          <p:spPr bwMode="auto">
            <a:xfrm>
              <a:off x="1086" y="2111"/>
              <a:ext cx="0"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63" name="Line 15"/>
            <p:cNvSpPr>
              <a:spLocks noChangeShapeType="1"/>
            </p:cNvSpPr>
            <p:nvPr/>
          </p:nvSpPr>
          <p:spPr bwMode="auto">
            <a:xfrm flipV="1">
              <a:off x="1950" y="2111"/>
              <a:ext cx="0" cy="288"/>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64" name="Freeform 16"/>
            <p:cNvSpPr>
              <a:spLocks/>
            </p:cNvSpPr>
            <p:nvPr/>
          </p:nvSpPr>
          <p:spPr bwMode="auto">
            <a:xfrm>
              <a:off x="432" y="2064"/>
              <a:ext cx="550" cy="369"/>
            </a:xfrm>
            <a:custGeom>
              <a:avLst/>
              <a:gdLst>
                <a:gd name="T0" fmla="*/ 0 w 550"/>
                <a:gd name="T1" fmla="*/ 369 h 369"/>
                <a:gd name="T2" fmla="*/ 550 w 550"/>
                <a:gd name="T3" fmla="*/ 0 h 369"/>
                <a:gd name="T4" fmla="*/ 0 60000 65536"/>
                <a:gd name="T5" fmla="*/ 0 60000 65536"/>
              </a:gdLst>
              <a:ahLst/>
              <a:cxnLst>
                <a:cxn ang="T4">
                  <a:pos x="T0" y="T1"/>
                </a:cxn>
                <a:cxn ang="T5">
                  <a:pos x="T2" y="T3"/>
                </a:cxn>
              </a:cxnLst>
              <a:rect l="0" t="0" r="r" b="b"/>
              <a:pathLst>
                <a:path w="550" h="369">
                  <a:moveTo>
                    <a:pt x="0" y="369"/>
                  </a:moveTo>
                  <a:lnTo>
                    <a:pt x="550" y="0"/>
                  </a:lnTo>
                </a:path>
              </a:pathLst>
            </a:custGeom>
            <a:noFill/>
            <a:ln w="19050">
              <a:solidFill>
                <a:schemeClr val="tx1"/>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43065" name="Freeform 17"/>
            <p:cNvSpPr>
              <a:spLocks/>
            </p:cNvSpPr>
            <p:nvPr/>
          </p:nvSpPr>
          <p:spPr bwMode="auto">
            <a:xfrm>
              <a:off x="1200" y="2071"/>
              <a:ext cx="649" cy="377"/>
            </a:xfrm>
            <a:custGeom>
              <a:avLst/>
              <a:gdLst>
                <a:gd name="T0" fmla="*/ 649 w 649"/>
                <a:gd name="T1" fmla="*/ 0 h 377"/>
                <a:gd name="T2" fmla="*/ 0 w 649"/>
                <a:gd name="T3" fmla="*/ 377 h 377"/>
                <a:gd name="T4" fmla="*/ 0 60000 65536"/>
                <a:gd name="T5" fmla="*/ 0 60000 65536"/>
              </a:gdLst>
              <a:ahLst/>
              <a:cxnLst>
                <a:cxn ang="T4">
                  <a:pos x="T0" y="T1"/>
                </a:cxn>
                <a:cxn ang="T5">
                  <a:pos x="T2" y="T3"/>
                </a:cxn>
              </a:cxnLst>
              <a:rect l="0" t="0" r="r" b="b"/>
              <a:pathLst>
                <a:path w="649" h="377">
                  <a:moveTo>
                    <a:pt x="649" y="0"/>
                  </a:moveTo>
                  <a:lnTo>
                    <a:pt x="0" y="377"/>
                  </a:lnTo>
                </a:path>
              </a:pathLst>
            </a:custGeom>
            <a:noFill/>
            <a:ln w="19050">
              <a:solidFill>
                <a:schemeClr val="tx1"/>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43066" name="Text Box 38"/>
            <p:cNvSpPr txBox="1">
              <a:spLocks noChangeArrowheads="1"/>
            </p:cNvSpPr>
            <p:nvPr/>
          </p:nvSpPr>
          <p:spPr bwMode="auto">
            <a:xfrm>
              <a:off x="734" y="1536"/>
              <a:ext cx="69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a:latin typeface="Arial" pitchFamily="34" charset="0"/>
                </a:rPr>
                <a:t>DAG G:</a:t>
              </a:r>
            </a:p>
          </p:txBody>
        </p:sp>
      </p:grpSp>
      <p:grpSp>
        <p:nvGrpSpPr>
          <p:cNvPr id="133178" name="Group 58"/>
          <p:cNvGrpSpPr>
            <a:grpSpLocks/>
          </p:cNvGrpSpPr>
          <p:nvPr/>
        </p:nvGrpSpPr>
        <p:grpSpPr bwMode="auto">
          <a:xfrm>
            <a:off x="4191000" y="2133600"/>
            <a:ext cx="2743200" cy="2940050"/>
            <a:chOff x="2640" y="1488"/>
            <a:chExt cx="1728" cy="1852"/>
          </a:xfrm>
        </p:grpSpPr>
        <p:sp>
          <p:nvSpPr>
            <p:cNvPr id="43035" name="Line 27"/>
            <p:cNvSpPr>
              <a:spLocks noChangeShapeType="1"/>
            </p:cNvSpPr>
            <p:nvPr/>
          </p:nvSpPr>
          <p:spPr bwMode="auto">
            <a:xfrm>
              <a:off x="3264" y="1872"/>
              <a:ext cx="0" cy="52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36" name="Line 28"/>
            <p:cNvSpPr>
              <a:spLocks noChangeShapeType="1"/>
            </p:cNvSpPr>
            <p:nvPr/>
          </p:nvSpPr>
          <p:spPr bwMode="auto">
            <a:xfrm flipH="1">
              <a:off x="2880" y="2544"/>
              <a:ext cx="384" cy="38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37" name="Line 29"/>
            <p:cNvSpPr>
              <a:spLocks noChangeShapeType="1"/>
            </p:cNvSpPr>
            <p:nvPr/>
          </p:nvSpPr>
          <p:spPr bwMode="auto">
            <a:xfrm>
              <a:off x="3264" y="2544"/>
              <a:ext cx="384" cy="38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38" name="Line 30"/>
            <p:cNvSpPr>
              <a:spLocks noChangeShapeType="1"/>
            </p:cNvSpPr>
            <p:nvPr/>
          </p:nvSpPr>
          <p:spPr bwMode="auto">
            <a:xfrm>
              <a:off x="4224" y="1872"/>
              <a:ext cx="0" cy="48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39" name="Line 31"/>
            <p:cNvSpPr>
              <a:spLocks noChangeShapeType="1"/>
            </p:cNvSpPr>
            <p:nvPr/>
          </p:nvSpPr>
          <p:spPr bwMode="auto">
            <a:xfrm flipH="1">
              <a:off x="3408" y="1872"/>
              <a:ext cx="816" cy="0"/>
            </a:xfrm>
            <a:prstGeom prst="line">
              <a:avLst/>
            </a:prstGeom>
            <a:noFill/>
            <a:ln w="19050">
              <a:solidFill>
                <a:srgbClr val="96969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40" name="Line 32"/>
            <p:cNvSpPr>
              <a:spLocks noChangeShapeType="1"/>
            </p:cNvSpPr>
            <p:nvPr/>
          </p:nvSpPr>
          <p:spPr bwMode="auto">
            <a:xfrm flipH="1" flipV="1">
              <a:off x="3360" y="1968"/>
              <a:ext cx="864" cy="528"/>
            </a:xfrm>
            <a:prstGeom prst="line">
              <a:avLst/>
            </a:prstGeom>
            <a:noFill/>
            <a:ln w="19050">
              <a:solidFill>
                <a:srgbClr val="96969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41" name="Freeform 33"/>
            <p:cNvSpPr>
              <a:spLocks/>
            </p:cNvSpPr>
            <p:nvPr/>
          </p:nvSpPr>
          <p:spPr bwMode="auto">
            <a:xfrm>
              <a:off x="2784" y="1872"/>
              <a:ext cx="480" cy="1008"/>
            </a:xfrm>
            <a:custGeom>
              <a:avLst/>
              <a:gdLst>
                <a:gd name="T0" fmla="*/ 480 w 480"/>
                <a:gd name="T1" fmla="*/ 0 h 1008"/>
                <a:gd name="T2" fmla="*/ 99 w 480"/>
                <a:gd name="T3" fmla="*/ 450 h 1008"/>
                <a:gd name="T4" fmla="*/ 0 w 480"/>
                <a:gd name="T5" fmla="*/ 1008 h 1008"/>
                <a:gd name="T6" fmla="*/ 0 60000 65536"/>
                <a:gd name="T7" fmla="*/ 0 60000 65536"/>
                <a:gd name="T8" fmla="*/ 0 60000 65536"/>
              </a:gdLst>
              <a:ahLst/>
              <a:cxnLst>
                <a:cxn ang="T6">
                  <a:pos x="T0" y="T1"/>
                </a:cxn>
                <a:cxn ang="T7">
                  <a:pos x="T2" y="T3"/>
                </a:cxn>
                <a:cxn ang="T8">
                  <a:pos x="T4" y="T5"/>
                </a:cxn>
              </a:cxnLst>
              <a:rect l="0" t="0" r="r" b="b"/>
              <a:pathLst>
                <a:path w="480" h="1008">
                  <a:moveTo>
                    <a:pt x="480" y="0"/>
                  </a:moveTo>
                  <a:cubicBezTo>
                    <a:pt x="417" y="75"/>
                    <a:pt x="179" y="282"/>
                    <a:pt x="99" y="450"/>
                  </a:cubicBezTo>
                  <a:cubicBezTo>
                    <a:pt x="19" y="618"/>
                    <a:pt x="21" y="892"/>
                    <a:pt x="0" y="1008"/>
                  </a:cubicBezTo>
                </a:path>
              </a:pathLst>
            </a:custGeom>
            <a:noFill/>
            <a:ln w="190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42" name="Line 34"/>
            <p:cNvSpPr>
              <a:spLocks noChangeShapeType="1"/>
            </p:cNvSpPr>
            <p:nvPr/>
          </p:nvSpPr>
          <p:spPr bwMode="auto">
            <a:xfrm flipH="1">
              <a:off x="2928" y="3024"/>
              <a:ext cx="816" cy="0"/>
            </a:xfrm>
            <a:prstGeom prst="line">
              <a:avLst/>
            </a:prstGeom>
            <a:noFill/>
            <a:ln w="19050">
              <a:solidFill>
                <a:srgbClr val="96969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43" name="Freeform 35"/>
            <p:cNvSpPr>
              <a:spLocks/>
            </p:cNvSpPr>
            <p:nvPr/>
          </p:nvSpPr>
          <p:spPr bwMode="auto">
            <a:xfrm>
              <a:off x="2910" y="2496"/>
              <a:ext cx="1314" cy="844"/>
            </a:xfrm>
            <a:custGeom>
              <a:avLst/>
              <a:gdLst>
                <a:gd name="T0" fmla="*/ 1314 w 1314"/>
                <a:gd name="T1" fmla="*/ 0 h 844"/>
                <a:gd name="T2" fmla="*/ 966 w 1314"/>
                <a:gd name="T3" fmla="*/ 740 h 844"/>
                <a:gd name="T4" fmla="*/ 0 w 1314"/>
                <a:gd name="T5" fmla="*/ 627 h 844"/>
                <a:gd name="T6" fmla="*/ 0 60000 65536"/>
                <a:gd name="T7" fmla="*/ 0 60000 65536"/>
                <a:gd name="T8" fmla="*/ 0 60000 65536"/>
              </a:gdLst>
              <a:ahLst/>
              <a:cxnLst>
                <a:cxn ang="T6">
                  <a:pos x="T0" y="T1"/>
                </a:cxn>
                <a:cxn ang="T7">
                  <a:pos x="T2" y="T3"/>
                </a:cxn>
                <a:cxn ang="T8">
                  <a:pos x="T4" y="T5"/>
                </a:cxn>
              </a:cxnLst>
              <a:rect l="0" t="0" r="r" b="b"/>
              <a:pathLst>
                <a:path w="1314" h="844">
                  <a:moveTo>
                    <a:pt x="1314" y="0"/>
                  </a:moveTo>
                  <a:cubicBezTo>
                    <a:pt x="1256" y="123"/>
                    <a:pt x="1185" y="636"/>
                    <a:pt x="966" y="740"/>
                  </a:cubicBezTo>
                  <a:cubicBezTo>
                    <a:pt x="747" y="844"/>
                    <a:pt x="201" y="651"/>
                    <a:pt x="0" y="627"/>
                  </a:cubicBezTo>
                </a:path>
              </a:pathLst>
            </a:custGeom>
            <a:noFill/>
            <a:ln w="1905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44" name="Oval 23"/>
            <p:cNvSpPr>
              <a:spLocks noChangeArrowheads="1"/>
            </p:cNvSpPr>
            <p:nvPr/>
          </p:nvSpPr>
          <p:spPr bwMode="auto">
            <a:xfrm>
              <a:off x="2640" y="2880"/>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c</a:t>
              </a:r>
            </a:p>
          </p:txBody>
        </p:sp>
        <p:sp>
          <p:nvSpPr>
            <p:cNvPr id="43045" name="Oval 24"/>
            <p:cNvSpPr>
              <a:spLocks noChangeArrowheads="1"/>
            </p:cNvSpPr>
            <p:nvPr/>
          </p:nvSpPr>
          <p:spPr bwMode="auto">
            <a:xfrm>
              <a:off x="3600" y="2880"/>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d</a:t>
              </a:r>
            </a:p>
          </p:txBody>
        </p:sp>
        <p:sp>
          <p:nvSpPr>
            <p:cNvPr id="43046" name="Oval 22"/>
            <p:cNvSpPr>
              <a:spLocks noChangeArrowheads="1"/>
            </p:cNvSpPr>
            <p:nvPr/>
          </p:nvSpPr>
          <p:spPr bwMode="auto">
            <a:xfrm>
              <a:off x="3120" y="2400"/>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b</a:t>
              </a:r>
            </a:p>
          </p:txBody>
        </p:sp>
        <p:sp>
          <p:nvSpPr>
            <p:cNvPr id="43047" name="Oval 21"/>
            <p:cNvSpPr>
              <a:spLocks noChangeArrowheads="1"/>
            </p:cNvSpPr>
            <p:nvPr/>
          </p:nvSpPr>
          <p:spPr bwMode="auto">
            <a:xfrm>
              <a:off x="3120" y="1728"/>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a</a:t>
              </a:r>
            </a:p>
          </p:txBody>
        </p:sp>
        <p:sp>
          <p:nvSpPr>
            <p:cNvPr id="43048" name="Oval 26"/>
            <p:cNvSpPr>
              <a:spLocks noChangeArrowheads="1"/>
            </p:cNvSpPr>
            <p:nvPr/>
          </p:nvSpPr>
          <p:spPr bwMode="auto">
            <a:xfrm>
              <a:off x="4080" y="2352"/>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f</a:t>
              </a:r>
            </a:p>
          </p:txBody>
        </p:sp>
        <p:sp>
          <p:nvSpPr>
            <p:cNvPr id="43049" name="Oval 25"/>
            <p:cNvSpPr>
              <a:spLocks noChangeArrowheads="1"/>
            </p:cNvSpPr>
            <p:nvPr/>
          </p:nvSpPr>
          <p:spPr bwMode="auto">
            <a:xfrm>
              <a:off x="4080" y="1728"/>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e</a:t>
              </a:r>
            </a:p>
          </p:txBody>
        </p:sp>
        <p:sp>
          <p:nvSpPr>
            <p:cNvPr id="43050" name="Text Box 39"/>
            <p:cNvSpPr txBox="1">
              <a:spLocks noChangeArrowheads="1"/>
            </p:cNvSpPr>
            <p:nvPr/>
          </p:nvSpPr>
          <p:spPr bwMode="auto">
            <a:xfrm>
              <a:off x="3334" y="1488"/>
              <a:ext cx="72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a:latin typeface="Arial" pitchFamily="34" charset="0"/>
                </a:rPr>
                <a:t>DFS(G):</a:t>
              </a:r>
            </a:p>
          </p:txBody>
        </p:sp>
      </p:grpSp>
      <p:grpSp>
        <p:nvGrpSpPr>
          <p:cNvPr id="133179" name="Group 59"/>
          <p:cNvGrpSpPr>
            <a:grpSpLocks/>
          </p:cNvGrpSpPr>
          <p:nvPr/>
        </p:nvGrpSpPr>
        <p:grpSpPr bwMode="auto">
          <a:xfrm>
            <a:off x="7315200" y="2209800"/>
            <a:ext cx="1208088" cy="2743200"/>
            <a:chOff x="4855" y="1536"/>
            <a:chExt cx="761" cy="1728"/>
          </a:xfrm>
        </p:grpSpPr>
        <p:sp>
          <p:nvSpPr>
            <p:cNvPr id="43032" name="Freeform 36"/>
            <p:cNvSpPr>
              <a:spLocks/>
            </p:cNvSpPr>
            <p:nvPr/>
          </p:nvSpPr>
          <p:spPr bwMode="auto">
            <a:xfrm>
              <a:off x="5136" y="1536"/>
              <a:ext cx="480" cy="1728"/>
            </a:xfrm>
            <a:custGeom>
              <a:avLst/>
              <a:gdLst>
                <a:gd name="T0" fmla="*/ 0 w 480"/>
                <a:gd name="T1" fmla="*/ 0 h 1728"/>
                <a:gd name="T2" fmla="*/ 0 w 480"/>
                <a:gd name="T3" fmla="*/ 1728 h 1728"/>
                <a:gd name="T4" fmla="*/ 480 w 480"/>
                <a:gd name="T5" fmla="*/ 1728 h 1728"/>
                <a:gd name="T6" fmla="*/ 480 w 480"/>
                <a:gd name="T7" fmla="*/ 0 h 17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1728">
                  <a:moveTo>
                    <a:pt x="0" y="0"/>
                  </a:moveTo>
                  <a:lnTo>
                    <a:pt x="0" y="1728"/>
                  </a:lnTo>
                  <a:lnTo>
                    <a:pt x="480" y="1728"/>
                  </a:lnTo>
                  <a:lnTo>
                    <a:pt x="480" y="0"/>
                  </a:lnTo>
                </a:path>
              </a:pathLst>
            </a:custGeom>
            <a:noFill/>
            <a:ln w="28575" cap="flat" cmpd="sng">
              <a:solidFill>
                <a:schemeClr val="accent2"/>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spAutoFit/>
            </a:bodyPr>
            <a:lstStyle/>
            <a:p>
              <a:endParaRPr lang="en-CA"/>
            </a:p>
          </p:txBody>
        </p:sp>
        <p:sp>
          <p:nvSpPr>
            <p:cNvPr id="43033" name="Text Box 37"/>
            <p:cNvSpPr txBox="1">
              <a:spLocks noChangeArrowheads="1"/>
            </p:cNvSpPr>
            <p:nvPr/>
          </p:nvSpPr>
          <p:spPr bwMode="auto">
            <a:xfrm>
              <a:off x="4855" y="2887"/>
              <a:ext cx="276" cy="25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dirty="0">
                  <a:solidFill>
                    <a:schemeClr val="hlink"/>
                  </a:solidFill>
                  <a:latin typeface="Arial" pitchFamily="34" charset="0"/>
                </a:rPr>
                <a:t>S:</a:t>
              </a:r>
            </a:p>
          </p:txBody>
        </p:sp>
        <p:sp>
          <p:nvSpPr>
            <p:cNvPr id="43034" name="Text Box 40"/>
            <p:cNvSpPr txBox="1">
              <a:spLocks noChangeArrowheads="1"/>
            </p:cNvSpPr>
            <p:nvPr/>
          </p:nvSpPr>
          <p:spPr bwMode="auto">
            <a:xfrm>
              <a:off x="5276" y="1584"/>
              <a:ext cx="214" cy="1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35000"/>
                </a:lnSpc>
                <a:buFontTx/>
                <a:buNone/>
              </a:pPr>
              <a:r>
                <a:rPr lang="en-US" sz="2000" b="1">
                  <a:solidFill>
                    <a:schemeClr val="tx2"/>
                  </a:solidFill>
                  <a:latin typeface="Arial" pitchFamily="34" charset="0"/>
                </a:rPr>
                <a:t>e</a:t>
              </a:r>
            </a:p>
            <a:p>
              <a:pPr algn="ctr" eaLnBrk="1" hangingPunct="1">
                <a:lnSpc>
                  <a:spcPct val="135000"/>
                </a:lnSpc>
                <a:buFontTx/>
                <a:buNone/>
              </a:pPr>
              <a:r>
                <a:rPr lang="en-US" sz="2000" b="1">
                  <a:solidFill>
                    <a:schemeClr val="tx2"/>
                  </a:solidFill>
                  <a:latin typeface="Arial" pitchFamily="34" charset="0"/>
                </a:rPr>
                <a:t>f</a:t>
              </a:r>
            </a:p>
            <a:p>
              <a:pPr algn="ctr" eaLnBrk="1" hangingPunct="1">
                <a:lnSpc>
                  <a:spcPct val="135000"/>
                </a:lnSpc>
                <a:buFontTx/>
                <a:buNone/>
              </a:pPr>
              <a:r>
                <a:rPr lang="en-US" sz="2000" b="1">
                  <a:solidFill>
                    <a:schemeClr val="tx2"/>
                  </a:solidFill>
                  <a:latin typeface="Arial" pitchFamily="34" charset="0"/>
                </a:rPr>
                <a:t>a</a:t>
              </a:r>
            </a:p>
            <a:p>
              <a:pPr algn="ctr" eaLnBrk="1" hangingPunct="1">
                <a:lnSpc>
                  <a:spcPct val="135000"/>
                </a:lnSpc>
                <a:buFontTx/>
                <a:buNone/>
              </a:pPr>
              <a:r>
                <a:rPr lang="en-US" sz="2000" b="1">
                  <a:solidFill>
                    <a:schemeClr val="tx2"/>
                  </a:solidFill>
                  <a:latin typeface="Arial" pitchFamily="34" charset="0"/>
                </a:rPr>
                <a:t>b</a:t>
              </a:r>
            </a:p>
            <a:p>
              <a:pPr algn="ctr" eaLnBrk="1" hangingPunct="1">
                <a:lnSpc>
                  <a:spcPct val="135000"/>
                </a:lnSpc>
                <a:buFontTx/>
                <a:buNone/>
              </a:pPr>
              <a:r>
                <a:rPr lang="en-US" sz="2000" b="1">
                  <a:solidFill>
                    <a:schemeClr val="tx2"/>
                  </a:solidFill>
                  <a:latin typeface="Arial" pitchFamily="34" charset="0"/>
                </a:rPr>
                <a:t>d</a:t>
              </a:r>
            </a:p>
            <a:p>
              <a:pPr algn="ctr" eaLnBrk="1" hangingPunct="1">
                <a:lnSpc>
                  <a:spcPct val="135000"/>
                </a:lnSpc>
                <a:buFontTx/>
                <a:buNone/>
              </a:pPr>
              <a:r>
                <a:rPr lang="en-US" sz="2000" b="1">
                  <a:solidFill>
                    <a:schemeClr val="tx2"/>
                  </a:solidFill>
                  <a:latin typeface="Arial" pitchFamily="34" charset="0"/>
                </a:rPr>
                <a:t>c</a:t>
              </a:r>
            </a:p>
          </p:txBody>
        </p:sp>
      </p:grpSp>
      <p:grpSp>
        <p:nvGrpSpPr>
          <p:cNvPr id="133181" name="Group 61"/>
          <p:cNvGrpSpPr>
            <a:grpSpLocks/>
          </p:cNvGrpSpPr>
          <p:nvPr/>
        </p:nvGrpSpPr>
        <p:grpSpPr bwMode="auto">
          <a:xfrm>
            <a:off x="1219200" y="5257800"/>
            <a:ext cx="5715000" cy="1349375"/>
            <a:chOff x="768" y="3312"/>
            <a:chExt cx="3600" cy="850"/>
          </a:xfrm>
        </p:grpSpPr>
        <p:sp>
          <p:nvSpPr>
            <p:cNvPr id="43016" name="Line 47"/>
            <p:cNvSpPr>
              <a:spLocks noChangeShapeType="1"/>
            </p:cNvSpPr>
            <p:nvPr/>
          </p:nvSpPr>
          <p:spPr bwMode="auto">
            <a:xfrm>
              <a:off x="960" y="3875"/>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17" name="Line 48"/>
            <p:cNvSpPr>
              <a:spLocks noChangeShapeType="1"/>
            </p:cNvSpPr>
            <p:nvPr/>
          </p:nvSpPr>
          <p:spPr bwMode="auto">
            <a:xfrm>
              <a:off x="1536" y="3875"/>
              <a:ext cx="52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18" name="Line 49"/>
            <p:cNvSpPr>
              <a:spLocks noChangeShapeType="1"/>
            </p:cNvSpPr>
            <p:nvPr/>
          </p:nvSpPr>
          <p:spPr bwMode="auto">
            <a:xfrm>
              <a:off x="2208" y="3875"/>
              <a:ext cx="52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19" name="Line 50"/>
            <p:cNvSpPr>
              <a:spLocks noChangeShapeType="1"/>
            </p:cNvSpPr>
            <p:nvPr/>
          </p:nvSpPr>
          <p:spPr bwMode="auto">
            <a:xfrm>
              <a:off x="2880" y="3875"/>
              <a:ext cx="52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20" name="Line 51"/>
            <p:cNvSpPr>
              <a:spLocks noChangeShapeType="1"/>
            </p:cNvSpPr>
            <p:nvPr/>
          </p:nvSpPr>
          <p:spPr bwMode="auto">
            <a:xfrm>
              <a:off x="3552" y="3875"/>
              <a:ext cx="52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21" name="Freeform 52"/>
            <p:cNvSpPr>
              <a:spLocks/>
            </p:cNvSpPr>
            <p:nvPr/>
          </p:nvSpPr>
          <p:spPr bwMode="auto">
            <a:xfrm>
              <a:off x="914" y="3635"/>
              <a:ext cx="1178" cy="227"/>
            </a:xfrm>
            <a:custGeom>
              <a:avLst/>
              <a:gdLst>
                <a:gd name="T0" fmla="*/ 0 w 1178"/>
                <a:gd name="T1" fmla="*/ 227 h 227"/>
                <a:gd name="T2" fmla="*/ 304 w 1178"/>
                <a:gd name="T3" fmla="*/ 41 h 227"/>
                <a:gd name="T4" fmla="*/ 880 w 1178"/>
                <a:gd name="T5" fmla="*/ 15 h 227"/>
                <a:gd name="T6" fmla="*/ 1178 w 1178"/>
                <a:gd name="T7" fmla="*/ 134 h 22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78" h="227">
                  <a:moveTo>
                    <a:pt x="0" y="227"/>
                  </a:moveTo>
                  <a:cubicBezTo>
                    <a:pt x="51" y="196"/>
                    <a:pt x="157" y="76"/>
                    <a:pt x="304" y="41"/>
                  </a:cubicBezTo>
                  <a:cubicBezTo>
                    <a:pt x="451" y="6"/>
                    <a:pt x="734" y="0"/>
                    <a:pt x="880" y="15"/>
                  </a:cubicBezTo>
                  <a:cubicBezTo>
                    <a:pt x="1026" y="30"/>
                    <a:pt x="1116" y="109"/>
                    <a:pt x="1178" y="134"/>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22" name="Freeform 53"/>
            <p:cNvSpPr>
              <a:spLocks/>
            </p:cNvSpPr>
            <p:nvPr/>
          </p:nvSpPr>
          <p:spPr bwMode="auto">
            <a:xfrm>
              <a:off x="1556" y="3895"/>
              <a:ext cx="2562" cy="267"/>
            </a:xfrm>
            <a:custGeom>
              <a:avLst/>
              <a:gdLst>
                <a:gd name="T0" fmla="*/ 0 w 2562"/>
                <a:gd name="T1" fmla="*/ 0 h 267"/>
                <a:gd name="T2" fmla="*/ 794 w 2562"/>
                <a:gd name="T3" fmla="*/ 232 h 267"/>
                <a:gd name="T4" fmla="*/ 2046 w 2562"/>
                <a:gd name="T5" fmla="*/ 212 h 267"/>
                <a:gd name="T6" fmla="*/ 2562 w 2562"/>
                <a:gd name="T7" fmla="*/ 86 h 26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62" h="267">
                  <a:moveTo>
                    <a:pt x="0" y="0"/>
                  </a:moveTo>
                  <a:cubicBezTo>
                    <a:pt x="132" y="39"/>
                    <a:pt x="453" y="197"/>
                    <a:pt x="794" y="232"/>
                  </a:cubicBezTo>
                  <a:cubicBezTo>
                    <a:pt x="1135" y="267"/>
                    <a:pt x="1751" y="236"/>
                    <a:pt x="2046" y="212"/>
                  </a:cubicBezTo>
                  <a:cubicBezTo>
                    <a:pt x="2341" y="188"/>
                    <a:pt x="2455" y="112"/>
                    <a:pt x="2562" y="86"/>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3023" name="Freeform 54"/>
            <p:cNvSpPr>
              <a:spLocks/>
            </p:cNvSpPr>
            <p:nvPr/>
          </p:nvSpPr>
          <p:spPr bwMode="auto">
            <a:xfrm>
              <a:off x="2906" y="3666"/>
              <a:ext cx="1199" cy="196"/>
            </a:xfrm>
            <a:custGeom>
              <a:avLst/>
              <a:gdLst>
                <a:gd name="T0" fmla="*/ 0 w 1199"/>
                <a:gd name="T1" fmla="*/ 196 h 196"/>
                <a:gd name="T2" fmla="*/ 325 w 1199"/>
                <a:gd name="T3" fmla="*/ 30 h 196"/>
                <a:gd name="T4" fmla="*/ 775 w 1199"/>
                <a:gd name="T5" fmla="*/ 17 h 196"/>
                <a:gd name="T6" fmla="*/ 1199 w 1199"/>
                <a:gd name="T7" fmla="*/ 116 h 1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99" h="196">
                  <a:moveTo>
                    <a:pt x="0" y="196"/>
                  </a:moveTo>
                  <a:cubicBezTo>
                    <a:pt x="54" y="168"/>
                    <a:pt x="196" y="60"/>
                    <a:pt x="325" y="30"/>
                  </a:cubicBezTo>
                  <a:cubicBezTo>
                    <a:pt x="454" y="0"/>
                    <a:pt x="629" y="3"/>
                    <a:pt x="775" y="17"/>
                  </a:cubicBezTo>
                  <a:cubicBezTo>
                    <a:pt x="921" y="31"/>
                    <a:pt x="1111" y="95"/>
                    <a:pt x="1199" y="116"/>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43024" name="Freeform 55"/>
            <p:cNvSpPr>
              <a:spLocks/>
            </p:cNvSpPr>
            <p:nvPr/>
          </p:nvSpPr>
          <p:spPr bwMode="auto">
            <a:xfrm>
              <a:off x="2231" y="3552"/>
              <a:ext cx="1933" cy="316"/>
            </a:xfrm>
            <a:custGeom>
              <a:avLst/>
              <a:gdLst>
                <a:gd name="T0" fmla="*/ 0 w 1933"/>
                <a:gd name="T1" fmla="*/ 316 h 316"/>
                <a:gd name="T2" fmla="*/ 404 w 1933"/>
                <a:gd name="T3" fmla="*/ 85 h 316"/>
                <a:gd name="T4" fmla="*/ 1357 w 1933"/>
                <a:gd name="T5" fmla="*/ 18 h 316"/>
                <a:gd name="T6" fmla="*/ 1933 w 1933"/>
                <a:gd name="T7" fmla="*/ 191 h 3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33" h="316">
                  <a:moveTo>
                    <a:pt x="0" y="316"/>
                  </a:moveTo>
                  <a:cubicBezTo>
                    <a:pt x="67" y="277"/>
                    <a:pt x="178" y="135"/>
                    <a:pt x="404" y="85"/>
                  </a:cubicBezTo>
                  <a:cubicBezTo>
                    <a:pt x="630" y="35"/>
                    <a:pt x="1102" y="0"/>
                    <a:pt x="1357" y="18"/>
                  </a:cubicBezTo>
                  <a:cubicBezTo>
                    <a:pt x="1612" y="36"/>
                    <a:pt x="1813" y="155"/>
                    <a:pt x="1933" y="191"/>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43025" name="Oval 41"/>
            <p:cNvSpPr>
              <a:spLocks noChangeArrowheads="1"/>
            </p:cNvSpPr>
            <p:nvPr/>
          </p:nvSpPr>
          <p:spPr bwMode="auto">
            <a:xfrm>
              <a:off x="768" y="3731"/>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e</a:t>
              </a:r>
            </a:p>
          </p:txBody>
        </p:sp>
        <p:sp>
          <p:nvSpPr>
            <p:cNvPr id="43026" name="Oval 42"/>
            <p:cNvSpPr>
              <a:spLocks noChangeArrowheads="1"/>
            </p:cNvSpPr>
            <p:nvPr/>
          </p:nvSpPr>
          <p:spPr bwMode="auto">
            <a:xfrm>
              <a:off x="1392" y="3731"/>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f</a:t>
              </a:r>
            </a:p>
          </p:txBody>
        </p:sp>
        <p:sp>
          <p:nvSpPr>
            <p:cNvPr id="43027" name="Oval 43"/>
            <p:cNvSpPr>
              <a:spLocks noChangeArrowheads="1"/>
            </p:cNvSpPr>
            <p:nvPr/>
          </p:nvSpPr>
          <p:spPr bwMode="auto">
            <a:xfrm>
              <a:off x="2064" y="3731"/>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a</a:t>
              </a:r>
            </a:p>
          </p:txBody>
        </p:sp>
        <p:sp>
          <p:nvSpPr>
            <p:cNvPr id="43028" name="Oval 44"/>
            <p:cNvSpPr>
              <a:spLocks noChangeArrowheads="1"/>
            </p:cNvSpPr>
            <p:nvPr/>
          </p:nvSpPr>
          <p:spPr bwMode="auto">
            <a:xfrm>
              <a:off x="2736" y="3731"/>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b</a:t>
              </a:r>
            </a:p>
          </p:txBody>
        </p:sp>
        <p:sp>
          <p:nvSpPr>
            <p:cNvPr id="43029" name="Oval 45"/>
            <p:cNvSpPr>
              <a:spLocks noChangeArrowheads="1"/>
            </p:cNvSpPr>
            <p:nvPr/>
          </p:nvSpPr>
          <p:spPr bwMode="auto">
            <a:xfrm>
              <a:off x="3408" y="3731"/>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d</a:t>
              </a:r>
            </a:p>
          </p:txBody>
        </p:sp>
        <p:sp>
          <p:nvSpPr>
            <p:cNvPr id="43030" name="Oval 46"/>
            <p:cNvSpPr>
              <a:spLocks noChangeArrowheads="1"/>
            </p:cNvSpPr>
            <p:nvPr/>
          </p:nvSpPr>
          <p:spPr bwMode="auto">
            <a:xfrm>
              <a:off x="4080" y="3731"/>
              <a:ext cx="288" cy="288"/>
            </a:xfrm>
            <a:prstGeom prst="ellipse">
              <a:avLst/>
            </a:prstGeom>
            <a:solidFill>
              <a:schemeClr val="accent3">
                <a:lumMod val="8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c</a:t>
              </a:r>
            </a:p>
          </p:txBody>
        </p:sp>
        <p:sp>
          <p:nvSpPr>
            <p:cNvPr id="43031" name="Rectangle 60"/>
            <p:cNvSpPr>
              <a:spLocks noChangeArrowheads="1"/>
            </p:cNvSpPr>
            <p:nvPr/>
          </p:nvSpPr>
          <p:spPr bwMode="auto">
            <a:xfrm>
              <a:off x="914" y="3312"/>
              <a:ext cx="223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buFontTx/>
                <a:buNone/>
              </a:pPr>
              <a:r>
                <a:rPr lang="en-US" sz="2000" b="1">
                  <a:latin typeface="Arial" pitchFamily="34" charset="0"/>
                </a:rPr>
                <a:t>A topological ordering of G:</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41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33140"/>
                                        </p:tgtEl>
                                        <p:attrNameLst>
                                          <p:attrName>style.visibility</p:attrName>
                                        </p:attrNameLst>
                                      </p:cBhvr>
                                      <p:to>
                                        <p:strVal val="visible"/>
                                      </p:to>
                                    </p:set>
                                    <p:animEffect transition="in" filter="wipe(up)">
                                      <p:cBhvr>
                                        <p:cTn id="7" dur="500"/>
                                        <p:tgtEl>
                                          <p:spTgt spid="13314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33177"/>
                                        </p:tgtEl>
                                        <p:attrNameLst>
                                          <p:attrName>style.visibility</p:attrName>
                                        </p:attrNameLst>
                                      </p:cBhvr>
                                      <p:to>
                                        <p:strVal val="visible"/>
                                      </p:to>
                                    </p:set>
                                    <p:animEffect transition="in" filter="wipe(left)">
                                      <p:cBhvr>
                                        <p:cTn id="11" dur="2000"/>
                                        <p:tgtEl>
                                          <p:spTgt spid="133177"/>
                                        </p:tgtEl>
                                      </p:cBhvr>
                                    </p:animEffect>
                                  </p:childTnLst>
                                </p:cTn>
                              </p:par>
                            </p:childTnLst>
                          </p:cTn>
                        </p:par>
                        <p:par>
                          <p:cTn id="12" fill="hold" nodeType="afterGroup">
                            <p:stCondLst>
                              <p:cond delay="2500"/>
                            </p:stCondLst>
                            <p:childTnLst>
                              <p:par>
                                <p:cTn id="13" presetID="22" presetClass="entr" presetSubtype="8" fill="hold" nodeType="afterEffect">
                                  <p:stCondLst>
                                    <p:cond delay="0"/>
                                  </p:stCondLst>
                                  <p:childTnLst>
                                    <p:set>
                                      <p:cBhvr>
                                        <p:cTn id="14" dur="1" fill="hold">
                                          <p:stCondLst>
                                            <p:cond delay="0"/>
                                          </p:stCondLst>
                                        </p:cTn>
                                        <p:tgtEl>
                                          <p:spTgt spid="133178"/>
                                        </p:tgtEl>
                                        <p:attrNameLst>
                                          <p:attrName>style.visibility</p:attrName>
                                        </p:attrNameLst>
                                      </p:cBhvr>
                                      <p:to>
                                        <p:strVal val="visible"/>
                                      </p:to>
                                    </p:set>
                                    <p:animEffect transition="in" filter="wipe(left)">
                                      <p:cBhvr>
                                        <p:cTn id="15" dur="2000"/>
                                        <p:tgtEl>
                                          <p:spTgt spid="133178"/>
                                        </p:tgtEl>
                                      </p:cBhvr>
                                    </p:animEffect>
                                  </p:childTnLst>
                                </p:cTn>
                              </p:par>
                            </p:childTnLst>
                          </p:cTn>
                        </p:par>
                        <p:par>
                          <p:cTn id="16" fill="hold" nodeType="afterGroup">
                            <p:stCondLst>
                              <p:cond delay="4500"/>
                            </p:stCondLst>
                            <p:childTnLst>
                              <p:par>
                                <p:cTn id="17" presetID="22" presetClass="entr" presetSubtype="4" fill="hold" nodeType="afterEffect">
                                  <p:stCondLst>
                                    <p:cond delay="0"/>
                                  </p:stCondLst>
                                  <p:childTnLst>
                                    <p:set>
                                      <p:cBhvr>
                                        <p:cTn id="18" dur="1" fill="hold">
                                          <p:stCondLst>
                                            <p:cond delay="0"/>
                                          </p:stCondLst>
                                        </p:cTn>
                                        <p:tgtEl>
                                          <p:spTgt spid="133179"/>
                                        </p:tgtEl>
                                        <p:attrNameLst>
                                          <p:attrName>style.visibility</p:attrName>
                                        </p:attrNameLst>
                                      </p:cBhvr>
                                      <p:to>
                                        <p:strVal val="visible"/>
                                      </p:to>
                                    </p:set>
                                    <p:animEffect transition="in" filter="wipe(down)">
                                      <p:cBhvr>
                                        <p:cTn id="19" dur="2000"/>
                                        <p:tgtEl>
                                          <p:spTgt spid="13317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33181"/>
                                        </p:tgtEl>
                                        <p:attrNameLst>
                                          <p:attrName>style.visibility</p:attrName>
                                        </p:attrNameLst>
                                      </p:cBhvr>
                                      <p:to>
                                        <p:strVal val="visible"/>
                                      </p:to>
                                    </p:set>
                                    <p:animEffect transition="in" filter="wipe(left)">
                                      <p:cBhvr>
                                        <p:cTn id="24" dur="2000"/>
                                        <p:tgtEl>
                                          <p:spTgt spid="133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0"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Grp="1" noChangeArrowheads="1"/>
          </p:cNvSpPr>
          <p:nvPr>
            <p:ph type="ctrTitle"/>
          </p:nvPr>
        </p:nvSpPr>
        <p:spPr>
          <a:xfrm>
            <a:off x="685800" y="2286000"/>
            <a:ext cx="7772400" cy="1752600"/>
          </a:xfrm>
          <a:solidFill>
            <a:srgbClr val="FFCCCC"/>
          </a:solidFill>
          <a:ln w="762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lstStyle/>
          <a:p>
            <a:pPr eaLnBrk="1" hangingPunct="1"/>
            <a:r>
              <a:rPr lang="en-US" dirty="0" smtClean="0">
                <a:solidFill>
                  <a:schemeClr val="accent2"/>
                </a:solidFill>
                <a:latin typeface="Arial Rounded MT Bold" pitchFamily="34" charset="0"/>
              </a:rPr>
              <a:t>STRONGLY  CONNECTED  </a:t>
            </a:r>
            <a:r>
              <a:rPr lang="en-US" dirty="0" smtClean="0">
                <a:solidFill>
                  <a:srgbClr val="FF0000"/>
                </a:solidFill>
                <a:latin typeface="Arial Rounded MT Bold" pitchFamily="34" charset="0"/>
              </a:rPr>
              <a:t>COMPONENTS</a:t>
            </a:r>
          </a:p>
        </p:txBody>
      </p:sp>
      <p:sp>
        <p:nvSpPr>
          <p:cNvPr id="2" name="Slide Number Placeholder 1"/>
          <p:cNvSpPr>
            <a:spLocks noGrp="1"/>
          </p:cNvSpPr>
          <p:nvPr>
            <p:ph type="sldNum" sz="quarter" idx="12"/>
          </p:nvPr>
        </p:nvSpPr>
        <p:spPr/>
        <p:txBody>
          <a:bodyPr/>
          <a:lstStyle/>
          <a:p>
            <a:pPr>
              <a:defRPr/>
            </a:pPr>
            <a:fld id="{90683EDB-7658-49F0-B96C-482436AB937A}" type="slidenum">
              <a:rPr lang="en-US" smtClean="0"/>
              <a:pPr>
                <a:defRPr/>
              </a:pPr>
              <a:t>42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83970"/>
                                        </p:tgtEl>
                                        <p:attrNameLst>
                                          <p:attrName>style.visibility</p:attrName>
                                        </p:attrNameLst>
                                      </p:cBhvr>
                                      <p:to>
                                        <p:strVal val="visible"/>
                                      </p:to>
                                    </p:set>
                                    <p:anim calcmode="lin" valueType="num">
                                      <p:cBhvr>
                                        <p:cTn id="7" dur="500" fill="hold"/>
                                        <p:tgtEl>
                                          <p:spTgt spid="83970"/>
                                        </p:tgtEl>
                                        <p:attrNameLst>
                                          <p:attrName>ppt_w</p:attrName>
                                        </p:attrNameLst>
                                      </p:cBhvr>
                                      <p:tavLst>
                                        <p:tav tm="0">
                                          <p:val>
                                            <p:fltVal val="0"/>
                                          </p:val>
                                        </p:tav>
                                        <p:tav tm="100000">
                                          <p:val>
                                            <p:strVal val="#ppt_w"/>
                                          </p:val>
                                        </p:tav>
                                      </p:tavLst>
                                    </p:anim>
                                    <p:anim calcmode="lin" valueType="num">
                                      <p:cBhvr>
                                        <p:cTn id="8" dur="500" fill="hold"/>
                                        <p:tgtEl>
                                          <p:spTgt spid="8397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Graph Connectivity</a:t>
            </a:r>
          </a:p>
        </p:txBody>
      </p:sp>
      <p:sp>
        <p:nvSpPr>
          <p:cNvPr id="91139" name="Text Box 3"/>
          <p:cNvSpPr txBox="1">
            <a:spLocks noChangeArrowheads="1"/>
          </p:cNvSpPr>
          <p:nvPr/>
        </p:nvSpPr>
        <p:spPr bwMode="auto">
          <a:xfrm>
            <a:off x="193674" y="838200"/>
            <a:ext cx="8797925" cy="5409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8913" indent="-188913">
              <a:defRPr sz="1600">
                <a:solidFill>
                  <a:schemeClr val="tx1"/>
                </a:solidFill>
                <a:latin typeface="Times New Roman" pitchFamily="18" charset="0"/>
              </a:defRPr>
            </a:lvl1pPr>
            <a:lvl2pPr marL="763588" indent="-290513">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marL="265113" indent="-265113" eaLnBrk="1" hangingPunct="1">
              <a:lnSpc>
                <a:spcPct val="125000"/>
              </a:lnSpc>
              <a:buFont typeface="Wingdings" pitchFamily="2" charset="2"/>
              <a:buChar char="§"/>
            </a:pPr>
            <a:r>
              <a:rPr lang="en-US" sz="2400" b="1" dirty="0">
                <a:solidFill>
                  <a:schemeClr val="accent6"/>
                </a:solidFill>
                <a:latin typeface="Arial" pitchFamily="34" charset="0"/>
              </a:rPr>
              <a:t>How well is a graph connected?</a:t>
            </a:r>
            <a:r>
              <a:rPr lang="en-US" sz="2000" dirty="0">
                <a:solidFill>
                  <a:schemeClr val="accent6"/>
                </a:solidFill>
                <a:latin typeface="Arial" pitchFamily="34" charset="0"/>
              </a:rPr>
              <a:t> </a:t>
            </a:r>
          </a:p>
          <a:p>
            <a:pPr lvl="1" eaLnBrk="1" hangingPunct="1">
              <a:lnSpc>
                <a:spcPct val="125000"/>
              </a:lnSpc>
              <a:buFont typeface="Wingdings" pitchFamily="2" charset="2"/>
              <a:buChar char="Ø"/>
            </a:pPr>
            <a:r>
              <a:rPr lang="en-US" sz="1800" dirty="0">
                <a:solidFill>
                  <a:schemeClr val="hlink"/>
                </a:solidFill>
                <a:latin typeface="Arial" pitchFamily="34" charset="0"/>
              </a:rPr>
              <a:t>Connectivity issues arise in communication &amp; transportation networks.</a:t>
            </a:r>
          </a:p>
          <a:p>
            <a:pPr lvl="1" eaLnBrk="1" hangingPunct="1">
              <a:lnSpc>
                <a:spcPct val="125000"/>
              </a:lnSpc>
              <a:buFont typeface="Wingdings" pitchFamily="2" charset="2"/>
              <a:buChar char="Ø"/>
            </a:pPr>
            <a:r>
              <a:rPr lang="en-US" sz="1800" dirty="0">
                <a:solidFill>
                  <a:schemeClr val="hlink"/>
                </a:solidFill>
                <a:latin typeface="Arial" pitchFamily="34" charset="0"/>
              </a:rPr>
              <a:t>Identify bottlenecks in case parts of the network break down or malfunction.</a:t>
            </a:r>
          </a:p>
          <a:p>
            <a:pPr lvl="1" eaLnBrk="1" hangingPunct="1">
              <a:lnSpc>
                <a:spcPct val="125000"/>
              </a:lnSpc>
              <a:buFont typeface="Wingdings" pitchFamily="2" charset="2"/>
              <a:buChar char="Ø"/>
            </a:pPr>
            <a:r>
              <a:rPr lang="en-US" sz="1800" dirty="0">
                <a:solidFill>
                  <a:schemeClr val="hlink"/>
                </a:solidFill>
                <a:latin typeface="Arial" pitchFamily="34" charset="0"/>
              </a:rPr>
              <a:t>Fault tolerance in distributed networks.</a:t>
            </a:r>
          </a:p>
          <a:p>
            <a:pPr eaLnBrk="1" hangingPunct="1">
              <a:buFont typeface="Wingdings" pitchFamily="2" charset="2"/>
              <a:buChar char="§"/>
            </a:pPr>
            <a:endParaRPr lang="en-US" sz="1800" dirty="0">
              <a:solidFill>
                <a:schemeClr val="hlink"/>
              </a:solidFill>
              <a:latin typeface="Arial" pitchFamily="34" charset="0"/>
            </a:endParaRPr>
          </a:p>
          <a:p>
            <a:pPr marL="265113" indent="-265113" eaLnBrk="1" hangingPunct="1">
              <a:buFont typeface="Wingdings" pitchFamily="2" charset="2"/>
              <a:buChar char="§"/>
            </a:pPr>
            <a:r>
              <a:rPr lang="en-US" sz="2400" b="1" dirty="0">
                <a:solidFill>
                  <a:schemeClr val="accent6"/>
                </a:solidFill>
                <a:latin typeface="Arial" pitchFamily="34" charset="0"/>
              </a:rPr>
              <a:t>Digraph Connectivity:</a:t>
            </a:r>
            <a:r>
              <a:rPr lang="en-US" sz="2000" b="1" dirty="0">
                <a:solidFill>
                  <a:srgbClr val="CC0000"/>
                </a:solidFill>
                <a:latin typeface="Arial" pitchFamily="34" charset="0"/>
              </a:rPr>
              <a:t/>
            </a:r>
            <a:br>
              <a:rPr lang="en-US" sz="2000" b="1" dirty="0">
                <a:solidFill>
                  <a:srgbClr val="CC0000"/>
                </a:solidFill>
                <a:latin typeface="Arial" pitchFamily="34" charset="0"/>
              </a:rPr>
            </a:br>
            <a:endParaRPr lang="en-US" sz="2000" b="1" dirty="0">
              <a:solidFill>
                <a:srgbClr val="CC0000"/>
              </a:solidFill>
              <a:latin typeface="Arial" pitchFamily="34" charset="0"/>
            </a:endParaRPr>
          </a:p>
          <a:p>
            <a:pPr lvl="1" eaLnBrk="1" hangingPunct="1">
              <a:buFont typeface="Wingdings" pitchFamily="2" charset="2"/>
              <a:buChar char="Ø"/>
            </a:pPr>
            <a:r>
              <a:rPr lang="en-US" sz="1800" dirty="0">
                <a:solidFill>
                  <a:srgbClr val="CC0000"/>
                </a:solidFill>
                <a:latin typeface="Arial" pitchFamily="34" charset="0"/>
              </a:rPr>
              <a:t>Semi-connectivity:</a:t>
            </a:r>
            <a:r>
              <a:rPr lang="en-US" sz="1800" dirty="0">
                <a:solidFill>
                  <a:schemeClr val="hlink"/>
                </a:solidFill>
                <a:latin typeface="Arial" pitchFamily="34" charset="0"/>
              </a:rPr>
              <a:t> </a:t>
            </a:r>
            <a:br>
              <a:rPr lang="en-US" sz="1800" dirty="0">
                <a:solidFill>
                  <a:schemeClr val="hlink"/>
                </a:solidFill>
                <a:latin typeface="Arial" pitchFamily="34" charset="0"/>
              </a:rPr>
            </a:br>
            <a:r>
              <a:rPr lang="en-US" sz="1800" dirty="0">
                <a:solidFill>
                  <a:schemeClr val="hlink"/>
                </a:solidFill>
                <a:latin typeface="Arial" pitchFamily="34" charset="0"/>
              </a:rPr>
              <a:t>can every pair of nodes have at least one-way communication?</a:t>
            </a:r>
            <a:br>
              <a:rPr lang="en-US" sz="1800" dirty="0">
                <a:solidFill>
                  <a:schemeClr val="hlink"/>
                </a:solidFill>
                <a:latin typeface="Arial" pitchFamily="34" charset="0"/>
              </a:rPr>
            </a:br>
            <a:endParaRPr lang="en-US" sz="1800" dirty="0">
              <a:solidFill>
                <a:schemeClr val="hlink"/>
              </a:solidFill>
              <a:latin typeface="Arial" pitchFamily="34" charset="0"/>
            </a:endParaRPr>
          </a:p>
          <a:p>
            <a:pPr lvl="1" eaLnBrk="1" hangingPunct="1">
              <a:buFont typeface="Wingdings" pitchFamily="2" charset="2"/>
              <a:buChar char="Ø"/>
            </a:pPr>
            <a:r>
              <a:rPr lang="en-US" sz="1800" dirty="0">
                <a:solidFill>
                  <a:srgbClr val="CC0000"/>
                </a:solidFill>
                <a:latin typeface="Arial" pitchFamily="34" charset="0"/>
              </a:rPr>
              <a:t>Strong connectivity</a:t>
            </a:r>
            <a:r>
              <a:rPr lang="en-US" sz="1800" dirty="0">
                <a:solidFill>
                  <a:schemeClr val="hlink"/>
                </a:solidFill>
                <a:latin typeface="Arial" pitchFamily="34" charset="0"/>
              </a:rPr>
              <a:t>   </a:t>
            </a:r>
            <a:r>
              <a:rPr lang="en-US" sz="1800" dirty="0">
                <a:latin typeface="Arial" pitchFamily="34" charset="0"/>
              </a:rPr>
              <a:t>(discussed next)</a:t>
            </a:r>
            <a:r>
              <a:rPr lang="en-US" sz="1800" dirty="0">
                <a:solidFill>
                  <a:schemeClr val="hlink"/>
                </a:solidFill>
                <a:latin typeface="Arial" pitchFamily="34" charset="0"/>
              </a:rPr>
              <a:t/>
            </a:r>
            <a:br>
              <a:rPr lang="en-US" sz="1800" dirty="0">
                <a:solidFill>
                  <a:schemeClr val="hlink"/>
                </a:solidFill>
                <a:latin typeface="Arial" pitchFamily="34" charset="0"/>
              </a:rPr>
            </a:br>
            <a:r>
              <a:rPr lang="en-US" sz="1800" dirty="0">
                <a:solidFill>
                  <a:schemeClr val="hlink"/>
                </a:solidFill>
                <a:latin typeface="Arial" pitchFamily="34" charset="0"/>
              </a:rPr>
              <a:t>can every pair of nodes have two-way communication?</a:t>
            </a:r>
          </a:p>
          <a:p>
            <a:pPr lvl="1" eaLnBrk="1" hangingPunct="1">
              <a:buFont typeface="Wingdings" pitchFamily="2" charset="2"/>
              <a:buChar char="Ø"/>
            </a:pPr>
            <a:endParaRPr lang="en-US" sz="1800" dirty="0">
              <a:solidFill>
                <a:schemeClr val="hlink"/>
              </a:solidFill>
              <a:latin typeface="Arial" pitchFamily="34" charset="0"/>
            </a:endParaRPr>
          </a:p>
          <a:p>
            <a:pPr marL="265113" indent="-265113" eaLnBrk="1" hangingPunct="1">
              <a:buFont typeface="Wingdings" pitchFamily="2" charset="2"/>
              <a:buChar char="§"/>
            </a:pPr>
            <a:r>
              <a:rPr lang="en-US" sz="2400" b="1" dirty="0">
                <a:solidFill>
                  <a:schemeClr val="accent6"/>
                </a:solidFill>
                <a:latin typeface="Arial" pitchFamily="34" charset="0"/>
              </a:rPr>
              <a:t>Un-directed graph Connectivity:</a:t>
            </a:r>
            <a:r>
              <a:rPr lang="en-US" sz="1800" dirty="0">
                <a:solidFill>
                  <a:schemeClr val="hlink"/>
                </a:solidFill>
                <a:latin typeface="Arial" pitchFamily="34" charset="0"/>
              </a:rPr>
              <a:t/>
            </a:r>
            <a:br>
              <a:rPr lang="en-US" sz="1800" dirty="0">
                <a:solidFill>
                  <a:schemeClr val="hlink"/>
                </a:solidFill>
                <a:latin typeface="Arial" pitchFamily="34" charset="0"/>
              </a:rPr>
            </a:br>
            <a:endParaRPr lang="en-US" sz="1800" dirty="0">
              <a:solidFill>
                <a:schemeClr val="hlink"/>
              </a:solidFill>
              <a:latin typeface="Arial" pitchFamily="34" charset="0"/>
            </a:endParaRPr>
          </a:p>
          <a:p>
            <a:pPr lvl="1" eaLnBrk="1" hangingPunct="1">
              <a:buFont typeface="Wingdings" pitchFamily="2" charset="2"/>
              <a:buChar char="Ø"/>
            </a:pPr>
            <a:r>
              <a:rPr lang="en-US" sz="1800" dirty="0">
                <a:solidFill>
                  <a:srgbClr val="CC0000"/>
                </a:solidFill>
                <a:latin typeface="Arial" pitchFamily="34" charset="0"/>
              </a:rPr>
              <a:t>Edge/Node connectivity</a:t>
            </a:r>
            <a:r>
              <a:rPr lang="en-US" sz="1800" dirty="0">
                <a:solidFill>
                  <a:schemeClr val="hlink"/>
                </a:solidFill>
                <a:latin typeface="Arial" pitchFamily="34" charset="0"/>
              </a:rPr>
              <a:t>   </a:t>
            </a:r>
            <a:r>
              <a:rPr lang="en-US" sz="1800" dirty="0">
                <a:latin typeface="Arial" pitchFamily="34" charset="0"/>
              </a:rPr>
              <a:t>(discussed in the following section)</a:t>
            </a:r>
            <a:r>
              <a:rPr lang="en-US" sz="1800" dirty="0">
                <a:solidFill>
                  <a:schemeClr val="hlink"/>
                </a:solidFill>
                <a:latin typeface="Arial" pitchFamily="34" charset="0"/>
              </a:rPr>
              <a:t/>
            </a:r>
            <a:br>
              <a:rPr lang="en-US" sz="1800" dirty="0">
                <a:solidFill>
                  <a:schemeClr val="hlink"/>
                </a:solidFill>
                <a:latin typeface="Arial" pitchFamily="34" charset="0"/>
              </a:rPr>
            </a:br>
            <a:r>
              <a:rPr lang="en-US" sz="1800" dirty="0">
                <a:solidFill>
                  <a:schemeClr val="hlink"/>
                </a:solidFill>
                <a:latin typeface="Arial" pitchFamily="34" charset="0"/>
              </a:rPr>
              <a:t>How many edges/nodes need to be removed to disconnect the graph?</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43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91138"/>
                                        </p:tgtEl>
                                        <p:attrNameLst>
                                          <p:attrName>style.visibility</p:attrName>
                                        </p:attrNameLst>
                                      </p:cBhvr>
                                      <p:to>
                                        <p:strVal val="visible"/>
                                      </p:to>
                                    </p:set>
                                    <p:anim calcmode="lin" valueType="num">
                                      <p:cBhvr>
                                        <p:cTn id="7" dur="500" fill="hold"/>
                                        <p:tgtEl>
                                          <p:spTgt spid="91138"/>
                                        </p:tgtEl>
                                        <p:attrNameLst>
                                          <p:attrName>ppt_w</p:attrName>
                                        </p:attrNameLst>
                                      </p:cBhvr>
                                      <p:tavLst>
                                        <p:tav tm="0">
                                          <p:val>
                                            <p:fltVal val="0"/>
                                          </p:val>
                                        </p:tav>
                                        <p:tav tm="100000">
                                          <p:val>
                                            <p:strVal val="#ppt_w"/>
                                          </p:val>
                                        </p:tav>
                                      </p:tavLst>
                                    </p:anim>
                                    <p:anim calcmode="lin" valueType="num">
                                      <p:cBhvr>
                                        <p:cTn id="8" dur="500" fill="hold"/>
                                        <p:tgtEl>
                                          <p:spTgt spid="9113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91139">
                                            <p:txEl>
                                              <p:pRg st="0" end="0"/>
                                            </p:txEl>
                                          </p:spTgt>
                                        </p:tgtEl>
                                        <p:attrNameLst>
                                          <p:attrName>style.visibility</p:attrName>
                                        </p:attrNameLst>
                                      </p:cBhvr>
                                      <p:to>
                                        <p:strVal val="visible"/>
                                      </p:to>
                                    </p:set>
                                    <p:animEffect transition="in" filter="wipe(left)">
                                      <p:cBhvr>
                                        <p:cTn id="13" dur="500"/>
                                        <p:tgtEl>
                                          <p:spTgt spid="91139">
                                            <p:txEl>
                                              <p:pRg st="0" end="0"/>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91139">
                                            <p:txEl>
                                              <p:pRg st="1" end="1"/>
                                            </p:txEl>
                                          </p:spTgt>
                                        </p:tgtEl>
                                        <p:attrNameLst>
                                          <p:attrName>style.visibility</p:attrName>
                                        </p:attrNameLst>
                                      </p:cBhvr>
                                      <p:to>
                                        <p:strVal val="visible"/>
                                      </p:to>
                                    </p:set>
                                    <p:animEffect transition="in" filter="wipe(left)">
                                      <p:cBhvr>
                                        <p:cTn id="16" dur="500"/>
                                        <p:tgtEl>
                                          <p:spTgt spid="91139">
                                            <p:txEl>
                                              <p:pRg st="1" end="1"/>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91139">
                                            <p:txEl>
                                              <p:pRg st="2" end="2"/>
                                            </p:txEl>
                                          </p:spTgt>
                                        </p:tgtEl>
                                        <p:attrNameLst>
                                          <p:attrName>style.visibility</p:attrName>
                                        </p:attrNameLst>
                                      </p:cBhvr>
                                      <p:to>
                                        <p:strVal val="visible"/>
                                      </p:to>
                                    </p:set>
                                    <p:animEffect transition="in" filter="wipe(left)">
                                      <p:cBhvr>
                                        <p:cTn id="19" dur="500"/>
                                        <p:tgtEl>
                                          <p:spTgt spid="91139">
                                            <p:txEl>
                                              <p:pRg st="2" end="2"/>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91139">
                                            <p:txEl>
                                              <p:pRg st="3" end="3"/>
                                            </p:txEl>
                                          </p:spTgt>
                                        </p:tgtEl>
                                        <p:attrNameLst>
                                          <p:attrName>style.visibility</p:attrName>
                                        </p:attrNameLst>
                                      </p:cBhvr>
                                      <p:to>
                                        <p:strVal val="visible"/>
                                      </p:to>
                                    </p:set>
                                    <p:animEffect transition="in" filter="wipe(left)">
                                      <p:cBhvr>
                                        <p:cTn id="22" dur="500"/>
                                        <p:tgtEl>
                                          <p:spTgt spid="911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1139">
                                            <p:txEl>
                                              <p:pRg st="5" end="5"/>
                                            </p:txEl>
                                          </p:spTgt>
                                        </p:tgtEl>
                                        <p:attrNameLst>
                                          <p:attrName>style.visibility</p:attrName>
                                        </p:attrNameLst>
                                      </p:cBhvr>
                                      <p:to>
                                        <p:strVal val="visible"/>
                                      </p:to>
                                    </p:set>
                                    <p:animEffect transition="in" filter="wipe(left)">
                                      <p:cBhvr>
                                        <p:cTn id="27" dur="500"/>
                                        <p:tgtEl>
                                          <p:spTgt spid="91139">
                                            <p:txEl>
                                              <p:pRg st="5" end="5"/>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91139">
                                            <p:txEl>
                                              <p:pRg st="6" end="6"/>
                                            </p:txEl>
                                          </p:spTgt>
                                        </p:tgtEl>
                                        <p:attrNameLst>
                                          <p:attrName>style.visibility</p:attrName>
                                        </p:attrNameLst>
                                      </p:cBhvr>
                                      <p:to>
                                        <p:strVal val="visible"/>
                                      </p:to>
                                    </p:set>
                                    <p:animEffect transition="in" filter="wipe(left)">
                                      <p:cBhvr>
                                        <p:cTn id="30" dur="500"/>
                                        <p:tgtEl>
                                          <p:spTgt spid="91139">
                                            <p:txEl>
                                              <p:pRg st="6" end="6"/>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91139">
                                            <p:txEl>
                                              <p:pRg st="7" end="7"/>
                                            </p:txEl>
                                          </p:spTgt>
                                        </p:tgtEl>
                                        <p:attrNameLst>
                                          <p:attrName>style.visibility</p:attrName>
                                        </p:attrNameLst>
                                      </p:cBhvr>
                                      <p:to>
                                        <p:strVal val="visible"/>
                                      </p:to>
                                    </p:set>
                                    <p:animEffect transition="in" filter="wipe(left)">
                                      <p:cBhvr>
                                        <p:cTn id="33" dur="500"/>
                                        <p:tgtEl>
                                          <p:spTgt spid="91139">
                                            <p:txEl>
                                              <p:pRg st="7" end="7"/>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91139">
                                            <p:txEl>
                                              <p:pRg st="9" end="9"/>
                                            </p:txEl>
                                          </p:spTgt>
                                        </p:tgtEl>
                                        <p:attrNameLst>
                                          <p:attrName>style.visibility</p:attrName>
                                        </p:attrNameLst>
                                      </p:cBhvr>
                                      <p:to>
                                        <p:strVal val="visible"/>
                                      </p:to>
                                    </p:set>
                                    <p:animEffect transition="in" filter="wipe(left)">
                                      <p:cBhvr>
                                        <p:cTn id="38" dur="500"/>
                                        <p:tgtEl>
                                          <p:spTgt spid="91139">
                                            <p:txEl>
                                              <p:pRg st="9" end="9"/>
                                            </p:txEl>
                                          </p:spTgt>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91139">
                                            <p:txEl>
                                              <p:pRg st="10" end="10"/>
                                            </p:txEl>
                                          </p:spTgt>
                                        </p:tgtEl>
                                        <p:attrNameLst>
                                          <p:attrName>style.visibility</p:attrName>
                                        </p:attrNameLst>
                                      </p:cBhvr>
                                      <p:to>
                                        <p:strVal val="visible"/>
                                      </p:to>
                                    </p:set>
                                    <p:animEffect transition="in" filter="wipe(left)">
                                      <p:cBhvr>
                                        <p:cTn id="41" dur="500"/>
                                        <p:tgtEl>
                                          <p:spTgt spid="9113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animBg="1" autoUpdateAnimBg="0"/>
      <p:bldP spid="91139"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4258" name="Rectangle 114"/>
          <p:cNvSpPr>
            <a:spLocks noChangeArrowheads="1"/>
          </p:cNvSpPr>
          <p:nvPr/>
        </p:nvSpPr>
        <p:spPr bwMode="auto">
          <a:xfrm>
            <a:off x="3886200" y="762000"/>
            <a:ext cx="5029200" cy="5867400"/>
          </a:xfrm>
          <a:prstGeom prst="rect">
            <a:avLst/>
          </a:prstGeom>
          <a:solidFill>
            <a:schemeClr val="bg1"/>
          </a:solidFill>
          <a:ln w="19050">
            <a:solidFill>
              <a:schemeClr val="tx1"/>
            </a:solidFill>
            <a:miter lim="800000"/>
            <a:headEnd/>
            <a:tailEnd/>
          </a:ln>
          <a:effectLst>
            <a:outerShdw dist="35921" dir="2700000" algn="ctr" rotWithShape="0">
              <a:schemeClr val="bg2"/>
            </a:outerShdw>
          </a:effectLst>
          <a:extLst/>
        </p:spPr>
        <p:txBody>
          <a:bodyPr anchor="ctr">
            <a:spAutoFit/>
          </a:bodyPr>
          <a:lstStyle/>
          <a:p>
            <a:endParaRPr lang="en-CA"/>
          </a:p>
        </p:txBody>
      </p:sp>
      <p:sp>
        <p:nvSpPr>
          <p:cNvPr id="134257" name="Freeform 113"/>
          <p:cNvSpPr>
            <a:spLocks/>
          </p:cNvSpPr>
          <p:nvPr/>
        </p:nvSpPr>
        <p:spPr bwMode="auto">
          <a:xfrm>
            <a:off x="4953000" y="838200"/>
            <a:ext cx="1593850" cy="1603375"/>
          </a:xfrm>
          <a:custGeom>
            <a:avLst/>
            <a:gdLst>
              <a:gd name="T0" fmla="*/ 185738 w 1004"/>
              <a:gd name="T1" fmla="*/ 188913 h 1010"/>
              <a:gd name="T2" fmla="*/ 1016000 w 1004"/>
              <a:gd name="T3" fmla="*/ 61913 h 1010"/>
              <a:gd name="T4" fmla="*/ 1489075 w 1004"/>
              <a:gd name="T5" fmla="*/ 293688 h 1010"/>
              <a:gd name="T6" fmla="*/ 1446213 w 1004"/>
              <a:gd name="T7" fmla="*/ 1397000 h 1010"/>
              <a:gd name="T8" fmla="*/ 606425 w 1004"/>
              <a:gd name="T9" fmla="*/ 1533525 h 1010"/>
              <a:gd name="T10" fmla="*/ 69850 w 1004"/>
              <a:gd name="T11" fmla="*/ 1196975 h 1010"/>
              <a:gd name="T12" fmla="*/ 185738 w 1004"/>
              <a:gd name="T13" fmla="*/ 188913 h 101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4" h="1010">
                <a:moveTo>
                  <a:pt x="117" y="119"/>
                </a:moveTo>
                <a:cubicBezTo>
                  <a:pt x="216" y="0"/>
                  <a:pt x="503" y="28"/>
                  <a:pt x="640" y="39"/>
                </a:cubicBezTo>
                <a:cubicBezTo>
                  <a:pt x="777" y="50"/>
                  <a:pt x="893" y="45"/>
                  <a:pt x="938" y="185"/>
                </a:cubicBezTo>
                <a:cubicBezTo>
                  <a:pt x="983" y="325"/>
                  <a:pt x="1004" y="750"/>
                  <a:pt x="911" y="880"/>
                </a:cubicBezTo>
                <a:cubicBezTo>
                  <a:pt x="818" y="1010"/>
                  <a:pt x="526" y="987"/>
                  <a:pt x="382" y="966"/>
                </a:cubicBezTo>
                <a:cubicBezTo>
                  <a:pt x="238" y="945"/>
                  <a:pt x="88" y="895"/>
                  <a:pt x="44" y="754"/>
                </a:cubicBezTo>
                <a:cubicBezTo>
                  <a:pt x="0" y="613"/>
                  <a:pt x="20" y="230"/>
                  <a:pt x="117" y="119"/>
                </a:cubicBezTo>
                <a:close/>
              </a:path>
            </a:pathLst>
          </a:custGeom>
          <a:solidFill>
            <a:srgbClr val="FFCC99"/>
          </a:solidFill>
          <a:ln w="1905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4256" name="Freeform 112"/>
          <p:cNvSpPr>
            <a:spLocks/>
          </p:cNvSpPr>
          <p:nvPr/>
        </p:nvSpPr>
        <p:spPr bwMode="auto">
          <a:xfrm>
            <a:off x="6629400" y="914400"/>
            <a:ext cx="1441450" cy="1371600"/>
          </a:xfrm>
          <a:custGeom>
            <a:avLst/>
            <a:gdLst>
              <a:gd name="T0" fmla="*/ 114300 w 908"/>
              <a:gd name="T1" fmla="*/ 204788 h 864"/>
              <a:gd name="T2" fmla="*/ 808038 w 908"/>
              <a:gd name="T3" fmla="*/ 6350 h 864"/>
              <a:gd name="T4" fmla="*/ 1374775 w 908"/>
              <a:gd name="T5" fmla="*/ 247650 h 864"/>
              <a:gd name="T6" fmla="*/ 1206500 w 908"/>
              <a:gd name="T7" fmla="*/ 868363 h 864"/>
              <a:gd name="T8" fmla="*/ 628650 w 908"/>
              <a:gd name="T9" fmla="*/ 1319213 h 864"/>
              <a:gd name="T10" fmla="*/ 103188 w 908"/>
              <a:gd name="T11" fmla="*/ 1182688 h 864"/>
              <a:gd name="T12" fmla="*/ 114300 w 908"/>
              <a:gd name="T13" fmla="*/ 204788 h 8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8" h="864">
                <a:moveTo>
                  <a:pt x="72" y="129"/>
                </a:moveTo>
                <a:cubicBezTo>
                  <a:pt x="146" y="6"/>
                  <a:pt x="377" y="0"/>
                  <a:pt x="509" y="4"/>
                </a:cubicBezTo>
                <a:cubicBezTo>
                  <a:pt x="641" y="8"/>
                  <a:pt x="824" y="66"/>
                  <a:pt x="866" y="156"/>
                </a:cubicBezTo>
                <a:cubicBezTo>
                  <a:pt x="908" y="246"/>
                  <a:pt x="838" y="434"/>
                  <a:pt x="760" y="547"/>
                </a:cubicBezTo>
                <a:cubicBezTo>
                  <a:pt x="682" y="660"/>
                  <a:pt x="512" y="798"/>
                  <a:pt x="396" y="831"/>
                </a:cubicBezTo>
                <a:cubicBezTo>
                  <a:pt x="280" y="864"/>
                  <a:pt x="119" y="862"/>
                  <a:pt x="65" y="745"/>
                </a:cubicBezTo>
                <a:cubicBezTo>
                  <a:pt x="11" y="628"/>
                  <a:pt x="0" y="260"/>
                  <a:pt x="72" y="129"/>
                </a:cubicBezTo>
                <a:close/>
              </a:path>
            </a:pathLst>
          </a:custGeom>
          <a:solidFill>
            <a:srgbClr val="FFCC99"/>
          </a:solidFill>
          <a:ln w="1905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4255" name="Freeform 111"/>
          <p:cNvSpPr>
            <a:spLocks/>
          </p:cNvSpPr>
          <p:nvPr/>
        </p:nvSpPr>
        <p:spPr bwMode="auto">
          <a:xfrm>
            <a:off x="5791200" y="2438400"/>
            <a:ext cx="873125" cy="688975"/>
          </a:xfrm>
          <a:custGeom>
            <a:avLst/>
            <a:gdLst>
              <a:gd name="T0" fmla="*/ 73025 w 550"/>
              <a:gd name="T1" fmla="*/ 130175 h 434"/>
              <a:gd name="T2" fmla="*/ 588963 w 550"/>
              <a:gd name="T3" fmla="*/ 4763 h 434"/>
              <a:gd name="T4" fmla="*/ 787400 w 550"/>
              <a:gd name="T5" fmla="*/ 161925 h 434"/>
              <a:gd name="T6" fmla="*/ 766763 w 550"/>
              <a:gd name="T7" fmla="*/ 582613 h 434"/>
              <a:gd name="T8" fmla="*/ 147638 w 550"/>
              <a:gd name="T9" fmla="*/ 614363 h 434"/>
              <a:gd name="T10" fmla="*/ 73025 w 550"/>
              <a:gd name="T11" fmla="*/ 130175 h 4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0" h="434">
                <a:moveTo>
                  <a:pt x="46" y="82"/>
                </a:moveTo>
                <a:cubicBezTo>
                  <a:pt x="92" y="18"/>
                  <a:pt x="296" y="0"/>
                  <a:pt x="371" y="3"/>
                </a:cubicBezTo>
                <a:cubicBezTo>
                  <a:pt x="446" y="6"/>
                  <a:pt x="477" y="41"/>
                  <a:pt x="496" y="102"/>
                </a:cubicBezTo>
                <a:cubicBezTo>
                  <a:pt x="515" y="163"/>
                  <a:pt x="550" y="320"/>
                  <a:pt x="483" y="367"/>
                </a:cubicBezTo>
                <a:cubicBezTo>
                  <a:pt x="416" y="414"/>
                  <a:pt x="166" y="434"/>
                  <a:pt x="93" y="387"/>
                </a:cubicBezTo>
                <a:cubicBezTo>
                  <a:pt x="20" y="340"/>
                  <a:pt x="0" y="146"/>
                  <a:pt x="46" y="82"/>
                </a:cubicBezTo>
                <a:close/>
              </a:path>
            </a:pathLst>
          </a:custGeom>
          <a:solidFill>
            <a:srgbClr val="FFCC99"/>
          </a:solidFill>
          <a:ln w="1905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414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rgbClr val="FF0000"/>
                </a:solidFill>
                <a:latin typeface="Arial Rounded MT Bold" pitchFamily="34" charset="0"/>
              </a:rPr>
              <a:t>Digraph</a:t>
            </a:r>
            <a:r>
              <a:rPr lang="en-US" sz="2800" dirty="0" smtClean="0">
                <a:solidFill>
                  <a:schemeClr val="tx1"/>
                </a:solidFill>
                <a:latin typeface="Arial Rounded MT Bold" pitchFamily="34" charset="0"/>
              </a:rPr>
              <a:t> Strong Connectivity</a:t>
            </a:r>
          </a:p>
        </p:txBody>
      </p:sp>
      <p:grpSp>
        <p:nvGrpSpPr>
          <p:cNvPr id="134242" name="Group 98"/>
          <p:cNvGrpSpPr>
            <a:grpSpLocks/>
          </p:cNvGrpSpPr>
          <p:nvPr/>
        </p:nvGrpSpPr>
        <p:grpSpPr bwMode="auto">
          <a:xfrm>
            <a:off x="228600" y="762000"/>
            <a:ext cx="3597275" cy="3124200"/>
            <a:chOff x="336" y="672"/>
            <a:chExt cx="2266" cy="1968"/>
          </a:xfrm>
        </p:grpSpPr>
        <p:sp>
          <p:nvSpPr>
            <p:cNvPr id="46148" name="Rectangle 97"/>
            <p:cNvSpPr>
              <a:spLocks noChangeArrowheads="1"/>
            </p:cNvSpPr>
            <p:nvPr/>
          </p:nvSpPr>
          <p:spPr bwMode="auto">
            <a:xfrm>
              <a:off x="336" y="672"/>
              <a:ext cx="2256" cy="1968"/>
            </a:xfrm>
            <a:prstGeom prst="rect">
              <a:avLst/>
            </a:prstGeom>
            <a:solidFill>
              <a:schemeClr val="bg1"/>
            </a:solidFill>
            <a:ln w="19050">
              <a:solidFill>
                <a:schemeClr val="tx1"/>
              </a:solidFill>
              <a:miter lim="800000"/>
              <a:headEnd/>
              <a:tailEnd/>
            </a:ln>
            <a:effectLst>
              <a:outerShdw dist="35921" dir="2700000" algn="ctr" rotWithShape="0">
                <a:schemeClr val="bg2"/>
              </a:outerShdw>
            </a:effectLst>
            <a:extLst/>
          </p:spPr>
          <p:txBody>
            <a:bodyPr anchor="ctr">
              <a:spAutoFit/>
            </a:bodyPr>
            <a:lstStyle/>
            <a:p>
              <a:endParaRPr lang="en-CA"/>
            </a:p>
          </p:txBody>
        </p:sp>
        <p:grpSp>
          <p:nvGrpSpPr>
            <p:cNvPr id="46149" name="Group 96"/>
            <p:cNvGrpSpPr>
              <a:grpSpLocks/>
            </p:cNvGrpSpPr>
            <p:nvPr/>
          </p:nvGrpSpPr>
          <p:grpSpPr bwMode="auto">
            <a:xfrm>
              <a:off x="336" y="720"/>
              <a:ext cx="2266" cy="1873"/>
              <a:chOff x="336" y="720"/>
              <a:chExt cx="2266" cy="1873"/>
            </a:xfrm>
          </p:grpSpPr>
          <p:sp>
            <p:nvSpPr>
              <p:cNvPr id="46150" name="Line 22"/>
              <p:cNvSpPr>
                <a:spLocks noChangeShapeType="1"/>
              </p:cNvSpPr>
              <p:nvPr/>
            </p:nvSpPr>
            <p:spPr bwMode="auto">
              <a:xfrm>
                <a:off x="960" y="960"/>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51" name="Line 23"/>
              <p:cNvSpPr>
                <a:spLocks noChangeShapeType="1"/>
              </p:cNvSpPr>
              <p:nvPr/>
            </p:nvSpPr>
            <p:spPr bwMode="auto">
              <a:xfrm>
                <a:off x="1440" y="960"/>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52" name="Freeform 24"/>
              <p:cNvSpPr>
                <a:spLocks/>
              </p:cNvSpPr>
              <p:nvPr/>
            </p:nvSpPr>
            <p:spPr bwMode="auto">
              <a:xfrm>
                <a:off x="993" y="980"/>
                <a:ext cx="447" cy="460"/>
              </a:xfrm>
              <a:custGeom>
                <a:avLst/>
                <a:gdLst>
                  <a:gd name="T0" fmla="*/ 447 w 447"/>
                  <a:gd name="T1" fmla="*/ 460 h 460"/>
                  <a:gd name="T2" fmla="*/ 0 w 447"/>
                  <a:gd name="T3" fmla="*/ 0 h 460"/>
                  <a:gd name="T4" fmla="*/ 0 60000 65536"/>
                  <a:gd name="T5" fmla="*/ 0 60000 65536"/>
                </a:gdLst>
                <a:ahLst/>
                <a:cxnLst>
                  <a:cxn ang="T4">
                    <a:pos x="T0" y="T1"/>
                  </a:cxn>
                  <a:cxn ang="T5">
                    <a:pos x="T2" y="T3"/>
                  </a:cxn>
                </a:cxnLst>
                <a:rect l="0" t="0" r="r" b="b"/>
                <a:pathLst>
                  <a:path w="447" h="460">
                    <a:moveTo>
                      <a:pt x="447" y="460"/>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53" name="Line 25"/>
              <p:cNvSpPr>
                <a:spLocks noChangeShapeType="1"/>
              </p:cNvSpPr>
              <p:nvPr/>
            </p:nvSpPr>
            <p:spPr bwMode="auto">
              <a:xfrm>
                <a:off x="960" y="960"/>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54" name="Line 26"/>
              <p:cNvSpPr>
                <a:spLocks noChangeShapeType="1"/>
              </p:cNvSpPr>
              <p:nvPr/>
            </p:nvSpPr>
            <p:spPr bwMode="auto">
              <a:xfrm>
                <a:off x="960" y="1440"/>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55" name="Freeform 27"/>
              <p:cNvSpPr>
                <a:spLocks/>
              </p:cNvSpPr>
              <p:nvPr/>
            </p:nvSpPr>
            <p:spPr bwMode="auto">
              <a:xfrm>
                <a:off x="960" y="1440"/>
                <a:ext cx="444" cy="407"/>
              </a:xfrm>
              <a:custGeom>
                <a:avLst/>
                <a:gdLst>
                  <a:gd name="T0" fmla="*/ 0 w 444"/>
                  <a:gd name="T1" fmla="*/ 0 h 407"/>
                  <a:gd name="T2" fmla="*/ 444 w 444"/>
                  <a:gd name="T3" fmla="*/ 407 h 407"/>
                  <a:gd name="T4" fmla="*/ 0 60000 65536"/>
                  <a:gd name="T5" fmla="*/ 0 60000 65536"/>
                </a:gdLst>
                <a:ahLst/>
                <a:cxnLst>
                  <a:cxn ang="T4">
                    <a:pos x="T0" y="T1"/>
                  </a:cxn>
                  <a:cxn ang="T5">
                    <a:pos x="T2" y="T3"/>
                  </a:cxn>
                </a:cxnLst>
                <a:rect l="0" t="0" r="r" b="b"/>
                <a:pathLst>
                  <a:path w="444" h="407">
                    <a:moveTo>
                      <a:pt x="0" y="0"/>
                    </a:moveTo>
                    <a:lnTo>
                      <a:pt x="444" y="407"/>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56" name="Freeform 28"/>
              <p:cNvSpPr>
                <a:spLocks/>
              </p:cNvSpPr>
              <p:nvPr/>
            </p:nvSpPr>
            <p:spPr bwMode="auto">
              <a:xfrm>
                <a:off x="1437" y="1476"/>
                <a:ext cx="1" cy="391"/>
              </a:xfrm>
              <a:custGeom>
                <a:avLst/>
                <a:gdLst>
                  <a:gd name="T0" fmla="*/ 0 w 1"/>
                  <a:gd name="T1" fmla="*/ 391 h 391"/>
                  <a:gd name="T2" fmla="*/ 0 w 1"/>
                  <a:gd name="T3" fmla="*/ 0 h 391"/>
                  <a:gd name="T4" fmla="*/ 0 60000 65536"/>
                  <a:gd name="T5" fmla="*/ 0 60000 65536"/>
                </a:gdLst>
                <a:ahLst/>
                <a:cxnLst>
                  <a:cxn ang="T4">
                    <a:pos x="T0" y="T1"/>
                  </a:cxn>
                  <a:cxn ang="T5">
                    <a:pos x="T2" y="T3"/>
                  </a:cxn>
                </a:cxnLst>
                <a:rect l="0" t="0" r="r" b="b"/>
                <a:pathLst>
                  <a:path w="1" h="391">
                    <a:moveTo>
                      <a:pt x="0" y="391"/>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57" name="Line 29"/>
              <p:cNvSpPr>
                <a:spLocks noChangeShapeType="1"/>
              </p:cNvSpPr>
              <p:nvPr/>
            </p:nvSpPr>
            <p:spPr bwMode="auto">
              <a:xfrm flipH="1">
                <a:off x="1488" y="960"/>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58" name="Freeform 30"/>
              <p:cNvSpPr>
                <a:spLocks/>
              </p:cNvSpPr>
              <p:nvPr/>
            </p:nvSpPr>
            <p:spPr bwMode="auto">
              <a:xfrm>
                <a:off x="1440" y="960"/>
                <a:ext cx="449" cy="450"/>
              </a:xfrm>
              <a:custGeom>
                <a:avLst/>
                <a:gdLst>
                  <a:gd name="T0" fmla="*/ 0 w 449"/>
                  <a:gd name="T1" fmla="*/ 0 h 450"/>
                  <a:gd name="T2" fmla="*/ 449 w 449"/>
                  <a:gd name="T3" fmla="*/ 450 h 450"/>
                  <a:gd name="T4" fmla="*/ 0 60000 65536"/>
                  <a:gd name="T5" fmla="*/ 0 60000 65536"/>
                </a:gdLst>
                <a:ahLst/>
                <a:cxnLst>
                  <a:cxn ang="T4">
                    <a:pos x="T0" y="T1"/>
                  </a:cxn>
                  <a:cxn ang="T5">
                    <a:pos x="T2" y="T3"/>
                  </a:cxn>
                </a:cxnLst>
                <a:rect l="0" t="0" r="r" b="b"/>
                <a:pathLst>
                  <a:path w="449" h="450">
                    <a:moveTo>
                      <a:pt x="0" y="0"/>
                    </a:moveTo>
                    <a:lnTo>
                      <a:pt x="449" y="45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59" name="Line 31"/>
              <p:cNvSpPr>
                <a:spLocks noChangeShapeType="1"/>
              </p:cNvSpPr>
              <p:nvPr/>
            </p:nvSpPr>
            <p:spPr bwMode="auto">
              <a:xfrm flipV="1">
                <a:off x="1920" y="1008"/>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60" name="Oval 15"/>
              <p:cNvSpPr>
                <a:spLocks noChangeArrowheads="1"/>
              </p:cNvSpPr>
              <p:nvPr/>
            </p:nvSpPr>
            <p:spPr bwMode="auto">
              <a:xfrm>
                <a:off x="912" y="91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61" name="Oval 16"/>
              <p:cNvSpPr>
                <a:spLocks noChangeArrowheads="1"/>
              </p:cNvSpPr>
              <p:nvPr/>
            </p:nvSpPr>
            <p:spPr bwMode="auto">
              <a:xfrm>
                <a:off x="1392" y="91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62" name="Oval 17"/>
              <p:cNvSpPr>
                <a:spLocks noChangeArrowheads="1"/>
              </p:cNvSpPr>
              <p:nvPr/>
            </p:nvSpPr>
            <p:spPr bwMode="auto">
              <a:xfrm>
                <a:off x="1872" y="91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63" name="Oval 20"/>
              <p:cNvSpPr>
                <a:spLocks noChangeArrowheads="1"/>
              </p:cNvSpPr>
              <p:nvPr/>
            </p:nvSpPr>
            <p:spPr bwMode="auto">
              <a:xfrm>
                <a:off x="1872" y="139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64" name="Oval 19"/>
              <p:cNvSpPr>
                <a:spLocks noChangeArrowheads="1"/>
              </p:cNvSpPr>
              <p:nvPr/>
            </p:nvSpPr>
            <p:spPr bwMode="auto">
              <a:xfrm>
                <a:off x="1392" y="139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65" name="Oval 18"/>
              <p:cNvSpPr>
                <a:spLocks noChangeArrowheads="1"/>
              </p:cNvSpPr>
              <p:nvPr/>
            </p:nvSpPr>
            <p:spPr bwMode="auto">
              <a:xfrm>
                <a:off x="912" y="139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66" name="Oval 21"/>
              <p:cNvSpPr>
                <a:spLocks noChangeArrowheads="1"/>
              </p:cNvSpPr>
              <p:nvPr/>
            </p:nvSpPr>
            <p:spPr bwMode="auto">
              <a:xfrm>
                <a:off x="1392" y="18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67" name="Text Box 32"/>
              <p:cNvSpPr txBox="1">
                <a:spLocks noChangeArrowheads="1"/>
              </p:cNvSpPr>
              <p:nvPr/>
            </p:nvSpPr>
            <p:spPr bwMode="auto">
              <a:xfrm>
                <a:off x="864" y="720"/>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a</a:t>
                </a:r>
              </a:p>
            </p:txBody>
          </p:sp>
          <p:sp>
            <p:nvSpPr>
              <p:cNvPr id="46168" name="Text Box 33"/>
              <p:cNvSpPr txBox="1">
                <a:spLocks noChangeArrowheads="1"/>
              </p:cNvSpPr>
              <p:nvPr/>
            </p:nvSpPr>
            <p:spPr bwMode="auto">
              <a:xfrm>
                <a:off x="1340" y="72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b</a:t>
                </a:r>
              </a:p>
            </p:txBody>
          </p:sp>
          <p:sp>
            <p:nvSpPr>
              <p:cNvPr id="46169" name="Text Box 34"/>
              <p:cNvSpPr txBox="1">
                <a:spLocks noChangeArrowheads="1"/>
              </p:cNvSpPr>
              <p:nvPr/>
            </p:nvSpPr>
            <p:spPr bwMode="auto">
              <a:xfrm>
                <a:off x="1824" y="720"/>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c</a:t>
                </a:r>
              </a:p>
            </p:txBody>
          </p:sp>
          <p:sp>
            <p:nvSpPr>
              <p:cNvPr id="46170" name="Text Box 35"/>
              <p:cNvSpPr txBox="1">
                <a:spLocks noChangeArrowheads="1"/>
              </p:cNvSpPr>
              <p:nvPr/>
            </p:nvSpPr>
            <p:spPr bwMode="auto">
              <a:xfrm>
                <a:off x="720" y="129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d</a:t>
                </a:r>
              </a:p>
            </p:txBody>
          </p:sp>
          <p:sp>
            <p:nvSpPr>
              <p:cNvPr id="46171" name="Text Box 36"/>
              <p:cNvSpPr txBox="1">
                <a:spLocks noChangeArrowheads="1"/>
              </p:cNvSpPr>
              <p:nvPr/>
            </p:nvSpPr>
            <p:spPr bwMode="auto">
              <a:xfrm>
                <a:off x="1488" y="168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g</a:t>
                </a:r>
              </a:p>
            </p:txBody>
          </p:sp>
          <p:sp>
            <p:nvSpPr>
              <p:cNvPr id="46172" name="Text Box 37"/>
              <p:cNvSpPr txBox="1">
                <a:spLocks noChangeArrowheads="1"/>
              </p:cNvSpPr>
              <p:nvPr/>
            </p:nvSpPr>
            <p:spPr bwMode="auto">
              <a:xfrm>
                <a:off x="1440" y="1392"/>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e</a:t>
                </a:r>
              </a:p>
            </p:txBody>
          </p:sp>
          <p:sp>
            <p:nvSpPr>
              <p:cNvPr id="46173" name="Text Box 38"/>
              <p:cNvSpPr txBox="1">
                <a:spLocks noChangeArrowheads="1"/>
              </p:cNvSpPr>
              <p:nvPr/>
            </p:nvSpPr>
            <p:spPr bwMode="auto">
              <a:xfrm>
                <a:off x="1968" y="1296"/>
                <a:ext cx="1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f</a:t>
                </a:r>
              </a:p>
            </p:txBody>
          </p:sp>
          <p:sp>
            <p:nvSpPr>
              <p:cNvPr id="46174" name="Text Box 40"/>
              <p:cNvSpPr txBox="1">
                <a:spLocks noChangeArrowheads="1"/>
              </p:cNvSpPr>
              <p:nvPr/>
            </p:nvSpPr>
            <p:spPr bwMode="auto">
              <a:xfrm>
                <a:off x="336" y="2016"/>
                <a:ext cx="2266"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u="sng">
                    <a:solidFill>
                      <a:schemeClr val="tx2"/>
                    </a:solidFill>
                    <a:latin typeface="Arial" pitchFamily="34" charset="0"/>
                  </a:rPr>
                  <a:t>Strongly Connected</a:t>
                </a:r>
                <a:r>
                  <a:rPr lang="en-US" sz="1800">
                    <a:solidFill>
                      <a:schemeClr val="tx2"/>
                    </a:solidFill>
                    <a:latin typeface="Arial" pitchFamily="34" charset="0"/>
                  </a:rPr>
                  <a:t>:</a:t>
                </a:r>
              </a:p>
              <a:p>
                <a:pPr algn="ctr" eaLnBrk="1" hangingPunct="1">
                  <a:buFontTx/>
                  <a:buNone/>
                </a:pPr>
                <a:r>
                  <a:rPr lang="en-US" sz="1800">
                    <a:solidFill>
                      <a:schemeClr val="tx2"/>
                    </a:solidFill>
                    <a:latin typeface="Arial" pitchFamily="34" charset="0"/>
                  </a:rPr>
                  <a:t>There is a directed path</a:t>
                </a:r>
                <a:br>
                  <a:rPr lang="en-US" sz="1800">
                    <a:solidFill>
                      <a:schemeClr val="tx2"/>
                    </a:solidFill>
                    <a:latin typeface="Arial" pitchFamily="34" charset="0"/>
                  </a:rPr>
                </a:br>
                <a:r>
                  <a:rPr lang="en-US" sz="1800">
                    <a:solidFill>
                      <a:schemeClr val="tx2"/>
                    </a:solidFill>
                    <a:latin typeface="Arial" pitchFamily="34" charset="0"/>
                  </a:rPr>
                  <a:t>from any node to any other node.</a:t>
                </a:r>
              </a:p>
            </p:txBody>
          </p:sp>
        </p:grpSp>
      </p:grpSp>
      <p:grpSp>
        <p:nvGrpSpPr>
          <p:cNvPr id="134261" name="Group 117"/>
          <p:cNvGrpSpPr>
            <a:grpSpLocks/>
          </p:cNvGrpSpPr>
          <p:nvPr/>
        </p:nvGrpSpPr>
        <p:grpSpPr bwMode="auto">
          <a:xfrm>
            <a:off x="228600" y="3962400"/>
            <a:ext cx="3581400" cy="2667000"/>
            <a:chOff x="144" y="2496"/>
            <a:chExt cx="2256" cy="1632"/>
          </a:xfrm>
          <a:effectLst>
            <a:outerShdw blurRad="50800" dist="38100" dir="2700000" algn="tl" rotWithShape="0">
              <a:prstClr val="black">
                <a:alpha val="40000"/>
              </a:prstClr>
            </a:outerShdw>
          </a:effectLst>
        </p:grpSpPr>
        <p:sp>
          <p:nvSpPr>
            <p:cNvPr id="46133" name="Rectangle 99"/>
            <p:cNvSpPr>
              <a:spLocks noChangeArrowheads="1"/>
            </p:cNvSpPr>
            <p:nvPr/>
          </p:nvSpPr>
          <p:spPr bwMode="auto">
            <a:xfrm>
              <a:off x="144" y="2496"/>
              <a:ext cx="2256" cy="163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46134" name="Line 43"/>
            <p:cNvSpPr>
              <a:spLocks noChangeShapeType="1"/>
            </p:cNvSpPr>
            <p:nvPr/>
          </p:nvSpPr>
          <p:spPr bwMode="auto">
            <a:xfrm>
              <a:off x="1006" y="2797"/>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35" name="Line 44"/>
            <p:cNvSpPr>
              <a:spLocks noChangeShapeType="1"/>
            </p:cNvSpPr>
            <p:nvPr/>
          </p:nvSpPr>
          <p:spPr bwMode="auto">
            <a:xfrm>
              <a:off x="1486" y="2797"/>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36" name="Freeform 45"/>
            <p:cNvSpPr>
              <a:spLocks/>
            </p:cNvSpPr>
            <p:nvPr/>
          </p:nvSpPr>
          <p:spPr bwMode="auto">
            <a:xfrm>
              <a:off x="1008" y="2832"/>
              <a:ext cx="450" cy="450"/>
            </a:xfrm>
            <a:custGeom>
              <a:avLst/>
              <a:gdLst>
                <a:gd name="T0" fmla="*/ 0 w 450"/>
                <a:gd name="T1" fmla="*/ 450 h 450"/>
                <a:gd name="T2" fmla="*/ 450 w 450"/>
                <a:gd name="T3" fmla="*/ 0 h 450"/>
                <a:gd name="T4" fmla="*/ 0 60000 65536"/>
                <a:gd name="T5" fmla="*/ 0 60000 65536"/>
              </a:gdLst>
              <a:ahLst/>
              <a:cxnLst>
                <a:cxn ang="T4">
                  <a:pos x="T0" y="T1"/>
                </a:cxn>
                <a:cxn ang="T5">
                  <a:pos x="T2" y="T3"/>
                </a:cxn>
              </a:cxnLst>
              <a:rect l="0" t="0" r="r" b="b"/>
              <a:pathLst>
                <a:path w="450" h="450">
                  <a:moveTo>
                    <a:pt x="0" y="450"/>
                  </a:moveTo>
                  <a:lnTo>
                    <a:pt x="45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37" name="Line 46"/>
            <p:cNvSpPr>
              <a:spLocks noChangeShapeType="1"/>
            </p:cNvSpPr>
            <p:nvPr/>
          </p:nvSpPr>
          <p:spPr bwMode="auto">
            <a:xfrm>
              <a:off x="1006" y="2797"/>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38" name="Line 47"/>
            <p:cNvSpPr>
              <a:spLocks noChangeShapeType="1"/>
            </p:cNvSpPr>
            <p:nvPr/>
          </p:nvSpPr>
          <p:spPr bwMode="auto">
            <a:xfrm>
              <a:off x="1006" y="3277"/>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39" name="Oval 53"/>
            <p:cNvSpPr>
              <a:spLocks noChangeArrowheads="1"/>
            </p:cNvSpPr>
            <p:nvPr/>
          </p:nvSpPr>
          <p:spPr bwMode="auto">
            <a:xfrm>
              <a:off x="958" y="2749"/>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40" name="Oval 54"/>
            <p:cNvSpPr>
              <a:spLocks noChangeArrowheads="1"/>
            </p:cNvSpPr>
            <p:nvPr/>
          </p:nvSpPr>
          <p:spPr bwMode="auto">
            <a:xfrm>
              <a:off x="1438" y="2749"/>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41" name="Oval 57"/>
            <p:cNvSpPr>
              <a:spLocks noChangeArrowheads="1"/>
            </p:cNvSpPr>
            <p:nvPr/>
          </p:nvSpPr>
          <p:spPr bwMode="auto">
            <a:xfrm>
              <a:off x="1438" y="3229"/>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42" name="Oval 58"/>
            <p:cNvSpPr>
              <a:spLocks noChangeArrowheads="1"/>
            </p:cNvSpPr>
            <p:nvPr/>
          </p:nvSpPr>
          <p:spPr bwMode="auto">
            <a:xfrm>
              <a:off x="958" y="3229"/>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43" name="Text Box 60"/>
            <p:cNvSpPr txBox="1">
              <a:spLocks noChangeArrowheads="1"/>
            </p:cNvSpPr>
            <p:nvPr/>
          </p:nvSpPr>
          <p:spPr bwMode="auto">
            <a:xfrm>
              <a:off x="910" y="2557"/>
              <a:ext cx="180"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a</a:t>
              </a:r>
            </a:p>
          </p:txBody>
        </p:sp>
        <p:sp>
          <p:nvSpPr>
            <p:cNvPr id="46144" name="Text Box 61"/>
            <p:cNvSpPr txBox="1">
              <a:spLocks noChangeArrowheads="1"/>
            </p:cNvSpPr>
            <p:nvPr/>
          </p:nvSpPr>
          <p:spPr bwMode="auto">
            <a:xfrm>
              <a:off x="1386" y="2557"/>
              <a:ext cx="188"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b</a:t>
              </a:r>
            </a:p>
          </p:txBody>
        </p:sp>
        <p:sp>
          <p:nvSpPr>
            <p:cNvPr id="46145" name="Text Box 63"/>
            <p:cNvSpPr txBox="1">
              <a:spLocks noChangeArrowheads="1"/>
            </p:cNvSpPr>
            <p:nvPr/>
          </p:nvSpPr>
          <p:spPr bwMode="auto">
            <a:xfrm>
              <a:off x="910" y="3277"/>
              <a:ext cx="180"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c</a:t>
              </a:r>
            </a:p>
          </p:txBody>
        </p:sp>
        <p:sp>
          <p:nvSpPr>
            <p:cNvPr id="46146" name="Text Box 65"/>
            <p:cNvSpPr txBox="1">
              <a:spLocks noChangeArrowheads="1"/>
            </p:cNvSpPr>
            <p:nvPr/>
          </p:nvSpPr>
          <p:spPr bwMode="auto">
            <a:xfrm>
              <a:off x="1390" y="3277"/>
              <a:ext cx="188"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d</a:t>
              </a:r>
            </a:p>
          </p:txBody>
        </p:sp>
        <p:sp>
          <p:nvSpPr>
            <p:cNvPr id="46147" name="Text Box 67"/>
            <p:cNvSpPr txBox="1">
              <a:spLocks noChangeArrowheads="1"/>
            </p:cNvSpPr>
            <p:nvPr/>
          </p:nvSpPr>
          <p:spPr bwMode="auto">
            <a:xfrm>
              <a:off x="288" y="3600"/>
              <a:ext cx="1920" cy="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u="sng">
                  <a:solidFill>
                    <a:schemeClr val="tx2"/>
                  </a:solidFill>
                  <a:latin typeface="Arial" pitchFamily="34" charset="0"/>
                </a:rPr>
                <a:t>NOT Strongly Connected</a:t>
              </a:r>
              <a:r>
                <a:rPr lang="en-US" sz="1800">
                  <a:solidFill>
                    <a:schemeClr val="tx2"/>
                  </a:solidFill>
                  <a:latin typeface="Arial" pitchFamily="34" charset="0"/>
                </a:rPr>
                <a:t>:</a:t>
              </a:r>
            </a:p>
            <a:p>
              <a:pPr algn="ctr" eaLnBrk="1" hangingPunct="1">
                <a:buFontTx/>
                <a:buNone/>
              </a:pPr>
              <a:r>
                <a:rPr lang="en-US" sz="1800">
                  <a:solidFill>
                    <a:schemeClr val="tx2"/>
                  </a:solidFill>
                  <a:latin typeface="Arial" pitchFamily="34" charset="0"/>
                </a:rPr>
                <a:t>there is no path from d to a.</a:t>
              </a:r>
            </a:p>
          </p:txBody>
        </p:sp>
      </p:grpSp>
      <p:sp>
        <p:nvSpPr>
          <p:cNvPr id="134237" name="Text Box 93"/>
          <p:cNvSpPr txBox="1">
            <a:spLocks noChangeArrowheads="1"/>
          </p:cNvSpPr>
          <p:nvPr/>
        </p:nvSpPr>
        <p:spPr bwMode="auto">
          <a:xfrm>
            <a:off x="4572000" y="3124200"/>
            <a:ext cx="3810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3 Strongly Connected Components</a:t>
            </a:r>
          </a:p>
        </p:txBody>
      </p:sp>
      <p:grpSp>
        <p:nvGrpSpPr>
          <p:cNvPr id="134254" name="Group 110"/>
          <p:cNvGrpSpPr>
            <a:grpSpLocks/>
          </p:cNvGrpSpPr>
          <p:nvPr/>
        </p:nvGrpSpPr>
        <p:grpSpPr bwMode="auto">
          <a:xfrm>
            <a:off x="5029200" y="914400"/>
            <a:ext cx="2959100" cy="2082800"/>
            <a:chOff x="768" y="2832"/>
            <a:chExt cx="1864" cy="1312"/>
          </a:xfrm>
        </p:grpSpPr>
        <p:sp>
          <p:nvSpPr>
            <p:cNvPr id="46100" name="Freeform 106"/>
            <p:cNvSpPr>
              <a:spLocks/>
            </p:cNvSpPr>
            <p:nvPr/>
          </p:nvSpPr>
          <p:spPr bwMode="auto">
            <a:xfrm>
              <a:off x="2006" y="2984"/>
              <a:ext cx="444" cy="68"/>
            </a:xfrm>
            <a:custGeom>
              <a:avLst/>
              <a:gdLst>
                <a:gd name="T0" fmla="*/ 444 w 444"/>
                <a:gd name="T1" fmla="*/ 68 h 68"/>
                <a:gd name="T2" fmla="*/ 252 w 444"/>
                <a:gd name="T3" fmla="*/ 2 h 68"/>
                <a:gd name="T4" fmla="*/ 0 w 444"/>
                <a:gd name="T5" fmla="*/ 55 h 68"/>
                <a:gd name="T6" fmla="*/ 0 60000 65536"/>
                <a:gd name="T7" fmla="*/ 0 60000 65536"/>
                <a:gd name="T8" fmla="*/ 0 60000 65536"/>
              </a:gdLst>
              <a:ahLst/>
              <a:cxnLst>
                <a:cxn ang="T6">
                  <a:pos x="T0" y="T1"/>
                </a:cxn>
                <a:cxn ang="T7">
                  <a:pos x="T2" y="T3"/>
                </a:cxn>
                <a:cxn ang="T8">
                  <a:pos x="T4" y="T5"/>
                </a:cxn>
              </a:cxnLst>
              <a:rect l="0" t="0" r="r" b="b"/>
              <a:pathLst>
                <a:path w="444" h="68">
                  <a:moveTo>
                    <a:pt x="444" y="68"/>
                  </a:moveTo>
                  <a:cubicBezTo>
                    <a:pt x="412" y="57"/>
                    <a:pt x="326" y="4"/>
                    <a:pt x="252" y="2"/>
                  </a:cubicBezTo>
                  <a:cubicBezTo>
                    <a:pt x="178" y="0"/>
                    <a:pt x="52" y="44"/>
                    <a:pt x="0" y="55"/>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01" name="Line 104"/>
            <p:cNvSpPr>
              <a:spLocks noChangeShapeType="1"/>
            </p:cNvSpPr>
            <p:nvPr/>
          </p:nvSpPr>
          <p:spPr bwMode="auto">
            <a:xfrm>
              <a:off x="1968" y="3072"/>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02" name="Line 103"/>
            <p:cNvSpPr>
              <a:spLocks noChangeShapeType="1"/>
            </p:cNvSpPr>
            <p:nvPr/>
          </p:nvSpPr>
          <p:spPr bwMode="auto">
            <a:xfrm flipH="1">
              <a:off x="1536" y="3552"/>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03" name="Line 69"/>
            <p:cNvSpPr>
              <a:spLocks noChangeShapeType="1"/>
            </p:cNvSpPr>
            <p:nvPr/>
          </p:nvSpPr>
          <p:spPr bwMode="auto">
            <a:xfrm>
              <a:off x="1008" y="3072"/>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04" name="Line 70"/>
            <p:cNvSpPr>
              <a:spLocks noChangeShapeType="1"/>
            </p:cNvSpPr>
            <p:nvPr/>
          </p:nvSpPr>
          <p:spPr bwMode="auto">
            <a:xfrm>
              <a:off x="1488" y="3072"/>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05" name="Freeform 71"/>
            <p:cNvSpPr>
              <a:spLocks/>
            </p:cNvSpPr>
            <p:nvPr/>
          </p:nvSpPr>
          <p:spPr bwMode="auto">
            <a:xfrm>
              <a:off x="1049" y="3098"/>
              <a:ext cx="439" cy="454"/>
            </a:xfrm>
            <a:custGeom>
              <a:avLst/>
              <a:gdLst>
                <a:gd name="T0" fmla="*/ 439 w 439"/>
                <a:gd name="T1" fmla="*/ 454 h 454"/>
                <a:gd name="T2" fmla="*/ 0 w 439"/>
                <a:gd name="T3" fmla="*/ 0 h 454"/>
                <a:gd name="T4" fmla="*/ 0 60000 65536"/>
                <a:gd name="T5" fmla="*/ 0 60000 65536"/>
              </a:gdLst>
              <a:ahLst/>
              <a:cxnLst>
                <a:cxn ang="T4">
                  <a:pos x="T0" y="T1"/>
                </a:cxn>
                <a:cxn ang="T5">
                  <a:pos x="T2" y="T3"/>
                </a:cxn>
              </a:cxnLst>
              <a:rect l="0" t="0" r="r" b="b"/>
              <a:pathLst>
                <a:path w="439" h="454">
                  <a:moveTo>
                    <a:pt x="439" y="454"/>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06" name="Line 72"/>
            <p:cNvSpPr>
              <a:spLocks noChangeShapeType="1"/>
            </p:cNvSpPr>
            <p:nvPr/>
          </p:nvSpPr>
          <p:spPr bwMode="auto">
            <a:xfrm>
              <a:off x="1008" y="3072"/>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07" name="Line 73"/>
            <p:cNvSpPr>
              <a:spLocks noChangeShapeType="1"/>
            </p:cNvSpPr>
            <p:nvPr/>
          </p:nvSpPr>
          <p:spPr bwMode="auto">
            <a:xfrm>
              <a:off x="1008" y="3552"/>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08" name="Line 74"/>
            <p:cNvSpPr>
              <a:spLocks noChangeShapeType="1"/>
            </p:cNvSpPr>
            <p:nvPr/>
          </p:nvSpPr>
          <p:spPr bwMode="auto">
            <a:xfrm>
              <a:off x="1056" y="3600"/>
              <a:ext cx="432" cy="384"/>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46109" name="Freeform 75"/>
            <p:cNvSpPr>
              <a:spLocks/>
            </p:cNvSpPr>
            <p:nvPr/>
          </p:nvSpPr>
          <p:spPr bwMode="auto">
            <a:xfrm>
              <a:off x="1488" y="3600"/>
              <a:ext cx="458" cy="402"/>
            </a:xfrm>
            <a:custGeom>
              <a:avLst/>
              <a:gdLst>
                <a:gd name="T0" fmla="*/ 0 w 458"/>
                <a:gd name="T1" fmla="*/ 402 h 402"/>
                <a:gd name="T2" fmla="*/ 458 w 458"/>
                <a:gd name="T3" fmla="*/ 0 h 402"/>
                <a:gd name="T4" fmla="*/ 0 60000 65536"/>
                <a:gd name="T5" fmla="*/ 0 60000 65536"/>
              </a:gdLst>
              <a:ahLst/>
              <a:cxnLst>
                <a:cxn ang="T4">
                  <a:pos x="T0" y="T1"/>
                </a:cxn>
                <a:cxn ang="T5">
                  <a:pos x="T2" y="T3"/>
                </a:cxn>
              </a:cxnLst>
              <a:rect l="0" t="0" r="r" b="b"/>
              <a:pathLst>
                <a:path w="458" h="402">
                  <a:moveTo>
                    <a:pt x="0" y="402"/>
                  </a:moveTo>
                  <a:lnTo>
                    <a:pt x="458"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10" name="Line 76"/>
            <p:cNvSpPr>
              <a:spLocks noChangeShapeType="1"/>
            </p:cNvSpPr>
            <p:nvPr/>
          </p:nvSpPr>
          <p:spPr bwMode="auto">
            <a:xfrm flipH="1">
              <a:off x="1536" y="3072"/>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11" name="Freeform 77"/>
            <p:cNvSpPr>
              <a:spLocks/>
            </p:cNvSpPr>
            <p:nvPr/>
          </p:nvSpPr>
          <p:spPr bwMode="auto">
            <a:xfrm>
              <a:off x="1516" y="3098"/>
              <a:ext cx="421" cy="424"/>
            </a:xfrm>
            <a:custGeom>
              <a:avLst/>
              <a:gdLst>
                <a:gd name="T0" fmla="*/ 0 w 421"/>
                <a:gd name="T1" fmla="*/ 0 h 424"/>
                <a:gd name="T2" fmla="*/ 421 w 421"/>
                <a:gd name="T3" fmla="*/ 424 h 424"/>
                <a:gd name="T4" fmla="*/ 0 60000 65536"/>
                <a:gd name="T5" fmla="*/ 0 60000 65536"/>
              </a:gdLst>
              <a:ahLst/>
              <a:cxnLst>
                <a:cxn ang="T4">
                  <a:pos x="T0" y="T1"/>
                </a:cxn>
                <a:cxn ang="T5">
                  <a:pos x="T2" y="T3"/>
                </a:cxn>
              </a:cxnLst>
              <a:rect l="0" t="0" r="r" b="b"/>
              <a:pathLst>
                <a:path w="421" h="424">
                  <a:moveTo>
                    <a:pt x="0" y="0"/>
                  </a:moveTo>
                  <a:lnTo>
                    <a:pt x="421" y="424"/>
                  </a:lnTo>
                </a:path>
              </a:pathLst>
            </a:custGeom>
            <a:noFill/>
            <a:ln w="1905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12" name="Line 78"/>
            <p:cNvSpPr>
              <a:spLocks noChangeShapeType="1"/>
            </p:cNvSpPr>
            <p:nvPr/>
          </p:nvSpPr>
          <p:spPr bwMode="auto">
            <a:xfrm flipV="1">
              <a:off x="1968" y="3120"/>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13" name="Oval 79"/>
            <p:cNvSpPr>
              <a:spLocks noChangeArrowheads="1"/>
            </p:cNvSpPr>
            <p:nvPr/>
          </p:nvSpPr>
          <p:spPr bwMode="auto">
            <a:xfrm>
              <a:off x="960" y="30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14" name="Oval 80"/>
            <p:cNvSpPr>
              <a:spLocks noChangeArrowheads="1"/>
            </p:cNvSpPr>
            <p:nvPr/>
          </p:nvSpPr>
          <p:spPr bwMode="auto">
            <a:xfrm>
              <a:off x="1440" y="30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15" name="Oval 81"/>
            <p:cNvSpPr>
              <a:spLocks noChangeArrowheads="1"/>
            </p:cNvSpPr>
            <p:nvPr/>
          </p:nvSpPr>
          <p:spPr bwMode="auto">
            <a:xfrm>
              <a:off x="1920" y="30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16" name="Oval 82"/>
            <p:cNvSpPr>
              <a:spLocks noChangeArrowheads="1"/>
            </p:cNvSpPr>
            <p:nvPr/>
          </p:nvSpPr>
          <p:spPr bwMode="auto">
            <a:xfrm>
              <a:off x="1920" y="350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17" name="Oval 83"/>
            <p:cNvSpPr>
              <a:spLocks noChangeArrowheads="1"/>
            </p:cNvSpPr>
            <p:nvPr/>
          </p:nvSpPr>
          <p:spPr bwMode="auto">
            <a:xfrm>
              <a:off x="1440" y="350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18" name="Oval 84"/>
            <p:cNvSpPr>
              <a:spLocks noChangeArrowheads="1"/>
            </p:cNvSpPr>
            <p:nvPr/>
          </p:nvSpPr>
          <p:spPr bwMode="auto">
            <a:xfrm>
              <a:off x="960" y="350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19" name="Text Box 86"/>
            <p:cNvSpPr txBox="1">
              <a:spLocks noChangeArrowheads="1"/>
            </p:cNvSpPr>
            <p:nvPr/>
          </p:nvSpPr>
          <p:spPr bwMode="auto">
            <a:xfrm>
              <a:off x="912" y="2832"/>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a</a:t>
              </a:r>
            </a:p>
          </p:txBody>
        </p:sp>
        <p:sp>
          <p:nvSpPr>
            <p:cNvPr id="46120" name="Text Box 87"/>
            <p:cNvSpPr txBox="1">
              <a:spLocks noChangeArrowheads="1"/>
            </p:cNvSpPr>
            <p:nvPr/>
          </p:nvSpPr>
          <p:spPr bwMode="auto">
            <a:xfrm>
              <a:off x="1388" y="283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b</a:t>
              </a:r>
            </a:p>
          </p:txBody>
        </p:sp>
        <p:sp>
          <p:nvSpPr>
            <p:cNvPr id="46121" name="Text Box 88"/>
            <p:cNvSpPr txBox="1">
              <a:spLocks noChangeArrowheads="1"/>
            </p:cNvSpPr>
            <p:nvPr/>
          </p:nvSpPr>
          <p:spPr bwMode="auto">
            <a:xfrm>
              <a:off x="1872" y="2832"/>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c</a:t>
              </a:r>
            </a:p>
          </p:txBody>
        </p:sp>
        <p:sp>
          <p:nvSpPr>
            <p:cNvPr id="46122" name="Text Box 89"/>
            <p:cNvSpPr txBox="1">
              <a:spLocks noChangeArrowheads="1"/>
            </p:cNvSpPr>
            <p:nvPr/>
          </p:nvSpPr>
          <p:spPr bwMode="auto">
            <a:xfrm>
              <a:off x="768" y="340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d</a:t>
              </a:r>
            </a:p>
          </p:txBody>
        </p:sp>
        <p:sp>
          <p:nvSpPr>
            <p:cNvPr id="46123" name="Text Box 90"/>
            <p:cNvSpPr txBox="1">
              <a:spLocks noChangeArrowheads="1"/>
            </p:cNvSpPr>
            <p:nvPr/>
          </p:nvSpPr>
          <p:spPr bwMode="auto">
            <a:xfrm>
              <a:off x="1248" y="384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g</a:t>
              </a:r>
            </a:p>
          </p:txBody>
        </p:sp>
        <p:sp>
          <p:nvSpPr>
            <p:cNvPr id="46124" name="Text Box 91"/>
            <p:cNvSpPr txBox="1">
              <a:spLocks noChangeArrowheads="1"/>
            </p:cNvSpPr>
            <p:nvPr/>
          </p:nvSpPr>
          <p:spPr bwMode="auto">
            <a:xfrm>
              <a:off x="1488" y="3504"/>
              <a:ext cx="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e</a:t>
              </a:r>
            </a:p>
          </p:txBody>
        </p:sp>
        <p:sp>
          <p:nvSpPr>
            <p:cNvPr id="46125" name="Text Box 92"/>
            <p:cNvSpPr txBox="1">
              <a:spLocks noChangeArrowheads="1"/>
            </p:cNvSpPr>
            <p:nvPr/>
          </p:nvSpPr>
          <p:spPr bwMode="auto">
            <a:xfrm>
              <a:off x="2016" y="3456"/>
              <a:ext cx="16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f</a:t>
              </a:r>
            </a:p>
          </p:txBody>
        </p:sp>
        <p:sp>
          <p:nvSpPr>
            <p:cNvPr id="46126" name="Line 102"/>
            <p:cNvSpPr>
              <a:spLocks noChangeShapeType="1"/>
            </p:cNvSpPr>
            <p:nvPr/>
          </p:nvSpPr>
          <p:spPr bwMode="auto">
            <a:xfrm flipV="1">
              <a:off x="1488" y="3600"/>
              <a:ext cx="0" cy="38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28" name="Line 105"/>
            <p:cNvSpPr>
              <a:spLocks noChangeShapeType="1"/>
            </p:cNvSpPr>
            <p:nvPr/>
          </p:nvSpPr>
          <p:spPr bwMode="auto">
            <a:xfrm flipH="1">
              <a:off x="2016" y="3072"/>
              <a:ext cx="432"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29" name="Oval 95"/>
            <p:cNvSpPr>
              <a:spLocks noChangeArrowheads="1"/>
            </p:cNvSpPr>
            <p:nvPr/>
          </p:nvSpPr>
          <p:spPr bwMode="auto">
            <a:xfrm>
              <a:off x="2400" y="30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6130" name="Rectangle 107"/>
            <p:cNvSpPr>
              <a:spLocks noChangeArrowheads="1"/>
            </p:cNvSpPr>
            <p:nvPr/>
          </p:nvSpPr>
          <p:spPr bwMode="auto">
            <a:xfrm>
              <a:off x="2444" y="288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buFontTx/>
                <a:buNone/>
              </a:pPr>
              <a:r>
                <a:rPr lang="en-US" sz="1800">
                  <a:solidFill>
                    <a:schemeClr val="tx2"/>
                  </a:solidFill>
                </a:rPr>
                <a:t>h</a:t>
              </a:r>
            </a:p>
          </p:txBody>
        </p:sp>
        <p:sp>
          <p:nvSpPr>
            <p:cNvPr id="46131" name="Freeform 108"/>
            <p:cNvSpPr>
              <a:spLocks/>
            </p:cNvSpPr>
            <p:nvPr/>
          </p:nvSpPr>
          <p:spPr bwMode="auto">
            <a:xfrm>
              <a:off x="820" y="2999"/>
              <a:ext cx="166" cy="160"/>
            </a:xfrm>
            <a:custGeom>
              <a:avLst/>
              <a:gdLst>
                <a:gd name="T0" fmla="*/ 166 w 166"/>
                <a:gd name="T1" fmla="*/ 113 h 160"/>
                <a:gd name="T2" fmla="*/ 80 w 166"/>
                <a:gd name="T3" fmla="*/ 159 h 160"/>
                <a:gd name="T4" fmla="*/ 8 w 166"/>
                <a:gd name="T5" fmla="*/ 106 h 160"/>
                <a:gd name="T6" fmla="*/ 34 w 166"/>
                <a:gd name="T7" fmla="*/ 13 h 160"/>
                <a:gd name="T8" fmla="*/ 166 w 166"/>
                <a:gd name="T9" fmla="*/ 27 h 1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6" h="160">
                  <a:moveTo>
                    <a:pt x="166" y="113"/>
                  </a:moveTo>
                  <a:cubicBezTo>
                    <a:pt x="152" y="121"/>
                    <a:pt x="106" y="160"/>
                    <a:pt x="80" y="159"/>
                  </a:cubicBezTo>
                  <a:cubicBezTo>
                    <a:pt x="54" y="158"/>
                    <a:pt x="16" y="130"/>
                    <a:pt x="8" y="106"/>
                  </a:cubicBezTo>
                  <a:cubicBezTo>
                    <a:pt x="0" y="82"/>
                    <a:pt x="8" y="26"/>
                    <a:pt x="34" y="13"/>
                  </a:cubicBezTo>
                  <a:cubicBezTo>
                    <a:pt x="60" y="0"/>
                    <a:pt x="139" y="24"/>
                    <a:pt x="166" y="27"/>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32" name="Freeform 109"/>
            <p:cNvSpPr>
              <a:spLocks/>
            </p:cNvSpPr>
            <p:nvPr/>
          </p:nvSpPr>
          <p:spPr bwMode="auto">
            <a:xfrm>
              <a:off x="1490" y="3992"/>
              <a:ext cx="172" cy="152"/>
            </a:xfrm>
            <a:custGeom>
              <a:avLst/>
              <a:gdLst>
                <a:gd name="T0" fmla="*/ 0 w 172"/>
                <a:gd name="T1" fmla="*/ 33 h 152"/>
                <a:gd name="T2" fmla="*/ 33 w 172"/>
                <a:gd name="T3" fmla="*/ 133 h 152"/>
                <a:gd name="T4" fmla="*/ 125 w 172"/>
                <a:gd name="T5" fmla="*/ 139 h 152"/>
                <a:gd name="T6" fmla="*/ 159 w 172"/>
                <a:gd name="T7" fmla="*/ 53 h 152"/>
                <a:gd name="T8" fmla="*/ 46 w 172"/>
                <a:gd name="T9" fmla="*/ 0 h 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2" h="152">
                  <a:moveTo>
                    <a:pt x="0" y="33"/>
                  </a:moveTo>
                  <a:cubicBezTo>
                    <a:pt x="5" y="50"/>
                    <a:pt x="12" y="115"/>
                    <a:pt x="33" y="133"/>
                  </a:cubicBezTo>
                  <a:cubicBezTo>
                    <a:pt x="54" y="151"/>
                    <a:pt x="104" y="152"/>
                    <a:pt x="125" y="139"/>
                  </a:cubicBezTo>
                  <a:cubicBezTo>
                    <a:pt x="146" y="126"/>
                    <a:pt x="172" y="76"/>
                    <a:pt x="159" y="53"/>
                  </a:cubicBezTo>
                  <a:cubicBezTo>
                    <a:pt x="146" y="30"/>
                    <a:pt x="70" y="11"/>
                    <a:pt x="46" y="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127" name="Oval 85"/>
            <p:cNvSpPr>
              <a:spLocks noChangeArrowheads="1"/>
            </p:cNvSpPr>
            <p:nvPr/>
          </p:nvSpPr>
          <p:spPr bwMode="auto">
            <a:xfrm>
              <a:off x="1440" y="39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grpSp>
      <p:grpSp>
        <p:nvGrpSpPr>
          <p:cNvPr id="134275" name="Group 131"/>
          <p:cNvGrpSpPr>
            <a:grpSpLocks/>
          </p:cNvGrpSpPr>
          <p:nvPr/>
        </p:nvGrpSpPr>
        <p:grpSpPr bwMode="auto">
          <a:xfrm>
            <a:off x="4876800" y="4114800"/>
            <a:ext cx="3276600" cy="1941513"/>
            <a:chOff x="3072" y="2592"/>
            <a:chExt cx="2064" cy="1223"/>
          </a:xfrm>
        </p:grpSpPr>
        <p:grpSp>
          <p:nvGrpSpPr>
            <p:cNvPr id="46092" name="Group 128"/>
            <p:cNvGrpSpPr>
              <a:grpSpLocks/>
            </p:cNvGrpSpPr>
            <p:nvPr/>
          </p:nvGrpSpPr>
          <p:grpSpPr bwMode="auto">
            <a:xfrm>
              <a:off x="3216" y="2976"/>
              <a:ext cx="1752" cy="839"/>
              <a:chOff x="2928" y="2976"/>
              <a:chExt cx="1752" cy="839"/>
            </a:xfrm>
          </p:grpSpPr>
          <p:sp>
            <p:nvSpPr>
              <p:cNvPr id="46094" name="Line 124"/>
              <p:cNvSpPr>
                <a:spLocks noChangeShapeType="1"/>
              </p:cNvSpPr>
              <p:nvPr/>
            </p:nvSpPr>
            <p:spPr bwMode="auto">
              <a:xfrm flipH="1">
                <a:off x="3504" y="3120"/>
                <a:ext cx="86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6095" name="Freeform 125"/>
              <p:cNvSpPr>
                <a:spLocks/>
              </p:cNvSpPr>
              <p:nvPr/>
            </p:nvSpPr>
            <p:spPr bwMode="auto">
              <a:xfrm>
                <a:off x="3893" y="3244"/>
                <a:ext cx="576" cy="437"/>
              </a:xfrm>
              <a:custGeom>
                <a:avLst/>
                <a:gdLst>
                  <a:gd name="T0" fmla="*/ 0 w 576"/>
                  <a:gd name="T1" fmla="*/ 437 h 437"/>
                  <a:gd name="T2" fmla="*/ 384 w 576"/>
                  <a:gd name="T3" fmla="*/ 278 h 437"/>
                  <a:gd name="T4" fmla="*/ 576 w 576"/>
                  <a:gd name="T5" fmla="*/ 0 h 437"/>
                  <a:gd name="T6" fmla="*/ 0 60000 65536"/>
                  <a:gd name="T7" fmla="*/ 0 60000 65536"/>
                  <a:gd name="T8" fmla="*/ 0 60000 65536"/>
                </a:gdLst>
                <a:ahLst/>
                <a:cxnLst>
                  <a:cxn ang="T6">
                    <a:pos x="T0" y="T1"/>
                  </a:cxn>
                  <a:cxn ang="T7">
                    <a:pos x="T2" y="T3"/>
                  </a:cxn>
                  <a:cxn ang="T8">
                    <a:pos x="T4" y="T5"/>
                  </a:cxn>
                </a:cxnLst>
                <a:rect l="0" t="0" r="r" b="b"/>
                <a:pathLst>
                  <a:path w="576" h="437">
                    <a:moveTo>
                      <a:pt x="0" y="437"/>
                    </a:moveTo>
                    <a:cubicBezTo>
                      <a:pt x="64" y="410"/>
                      <a:pt x="288" y="351"/>
                      <a:pt x="384" y="278"/>
                    </a:cubicBezTo>
                    <a:cubicBezTo>
                      <a:pt x="480" y="205"/>
                      <a:pt x="536" y="58"/>
                      <a:pt x="576" y="0"/>
                    </a:cubicBezTo>
                  </a:path>
                </a:pathLst>
              </a:custGeom>
              <a:noFill/>
              <a:ln w="381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46096" name="Freeform 126"/>
              <p:cNvSpPr>
                <a:spLocks/>
              </p:cNvSpPr>
              <p:nvPr/>
            </p:nvSpPr>
            <p:spPr bwMode="auto">
              <a:xfrm>
                <a:off x="3270" y="3295"/>
                <a:ext cx="623" cy="399"/>
              </a:xfrm>
              <a:custGeom>
                <a:avLst/>
                <a:gdLst>
                  <a:gd name="T0" fmla="*/ 629 w 629"/>
                  <a:gd name="T1" fmla="*/ 430 h 430"/>
                  <a:gd name="T2" fmla="*/ 252 w 629"/>
                  <a:gd name="T3" fmla="*/ 298 h 430"/>
                  <a:gd name="T4" fmla="*/ 0 w 629"/>
                  <a:gd name="T5" fmla="*/ 0 h 430"/>
                  <a:gd name="T6" fmla="*/ 0 60000 65536"/>
                  <a:gd name="T7" fmla="*/ 0 60000 65536"/>
                  <a:gd name="T8" fmla="*/ 0 60000 65536"/>
                  <a:gd name="connsiteX0" fmla="*/ 9902 w 9902"/>
                  <a:gd name="connsiteY0" fmla="*/ 9280 h 9280"/>
                  <a:gd name="connsiteX1" fmla="*/ 3908 w 9902"/>
                  <a:gd name="connsiteY1" fmla="*/ 6210 h 9280"/>
                  <a:gd name="connsiteX2" fmla="*/ 0 w 9902"/>
                  <a:gd name="connsiteY2" fmla="*/ 0 h 9280"/>
                </a:gdLst>
                <a:ahLst/>
                <a:cxnLst>
                  <a:cxn ang="0">
                    <a:pos x="connsiteX0" y="connsiteY0"/>
                  </a:cxn>
                  <a:cxn ang="0">
                    <a:pos x="connsiteX1" y="connsiteY1"/>
                  </a:cxn>
                  <a:cxn ang="0">
                    <a:pos x="connsiteX2" y="connsiteY2"/>
                  </a:cxn>
                </a:cxnLst>
                <a:rect l="l" t="t" r="r" b="b"/>
                <a:pathLst>
                  <a:path w="9902" h="9280">
                    <a:moveTo>
                      <a:pt x="9902" y="9280"/>
                    </a:moveTo>
                    <a:cubicBezTo>
                      <a:pt x="8900" y="8768"/>
                      <a:pt x="5578" y="7885"/>
                      <a:pt x="3908" y="6210"/>
                    </a:cubicBezTo>
                    <a:cubicBezTo>
                      <a:pt x="2239" y="4536"/>
                      <a:pt x="827" y="1442"/>
                      <a:pt x="0" y="0"/>
                    </a:cubicBezTo>
                  </a:path>
                </a:pathLst>
              </a:custGeom>
              <a:noFill/>
              <a:ln w="381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46097" name="AutoShape 123"/>
              <p:cNvSpPr>
                <a:spLocks noChangeArrowheads="1"/>
              </p:cNvSpPr>
              <p:nvPr/>
            </p:nvSpPr>
            <p:spPr bwMode="auto">
              <a:xfrm>
                <a:off x="3744" y="3552"/>
                <a:ext cx="302" cy="263"/>
              </a:xfrm>
              <a:prstGeom prst="roundRect">
                <a:avLst>
                  <a:gd name="adj" fmla="val 16667"/>
                </a:avLst>
              </a:prstGeom>
              <a:solidFill>
                <a:srgbClr val="FFCC99"/>
              </a:solidFill>
              <a:ln w="19050">
                <a:noFill/>
                <a:round/>
                <a:headEnd/>
                <a:tailEn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800" dirty="0">
                    <a:solidFill>
                      <a:schemeClr val="tx2"/>
                    </a:solidFill>
                    <a:latin typeface="Arial" pitchFamily="34" charset="0"/>
                  </a:rPr>
                  <a:t> g </a:t>
                </a:r>
              </a:p>
            </p:txBody>
          </p:sp>
          <p:sp>
            <p:nvSpPr>
              <p:cNvPr id="46098" name="AutoShape 122"/>
              <p:cNvSpPr>
                <a:spLocks noChangeArrowheads="1"/>
              </p:cNvSpPr>
              <p:nvPr/>
            </p:nvSpPr>
            <p:spPr bwMode="auto">
              <a:xfrm>
                <a:off x="4264" y="2976"/>
                <a:ext cx="416" cy="263"/>
              </a:xfrm>
              <a:prstGeom prst="roundRect">
                <a:avLst>
                  <a:gd name="adj" fmla="val 16667"/>
                </a:avLst>
              </a:prstGeom>
              <a:solidFill>
                <a:srgbClr val="FFCC99"/>
              </a:solidFill>
              <a:ln w="19050">
                <a:noFill/>
                <a:round/>
                <a:headEnd/>
                <a:tailEn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800" dirty="0">
                    <a:solidFill>
                      <a:schemeClr val="tx2"/>
                    </a:solidFill>
                    <a:latin typeface="Arial" pitchFamily="34" charset="0"/>
                  </a:rPr>
                  <a:t>c h f</a:t>
                </a:r>
              </a:p>
            </p:txBody>
          </p:sp>
          <p:sp>
            <p:nvSpPr>
              <p:cNvPr id="46099" name="AutoShape 121"/>
              <p:cNvSpPr>
                <a:spLocks noChangeArrowheads="1"/>
              </p:cNvSpPr>
              <p:nvPr/>
            </p:nvSpPr>
            <p:spPr bwMode="auto">
              <a:xfrm>
                <a:off x="2928" y="3024"/>
                <a:ext cx="592" cy="263"/>
              </a:xfrm>
              <a:prstGeom prst="roundRect">
                <a:avLst>
                  <a:gd name="adj" fmla="val 16667"/>
                </a:avLst>
              </a:prstGeom>
              <a:solidFill>
                <a:srgbClr val="FFCC99"/>
              </a:solidFill>
              <a:ln w="19050">
                <a:noFill/>
                <a:round/>
                <a:headEnd/>
                <a:tailEn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800" dirty="0">
                    <a:solidFill>
                      <a:schemeClr val="tx2"/>
                    </a:solidFill>
                    <a:latin typeface="Arial" pitchFamily="34" charset="0"/>
                  </a:rPr>
                  <a:t>a b d e</a:t>
                </a:r>
              </a:p>
            </p:txBody>
          </p:sp>
        </p:grpSp>
        <p:sp>
          <p:nvSpPr>
            <p:cNvPr id="46093" name="Text Box 129"/>
            <p:cNvSpPr txBox="1">
              <a:spLocks noChangeArrowheads="1"/>
            </p:cNvSpPr>
            <p:nvPr/>
          </p:nvSpPr>
          <p:spPr bwMode="auto">
            <a:xfrm>
              <a:off x="3072" y="2592"/>
              <a:ext cx="206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SCC Component Graph</a:t>
              </a:r>
              <a:br>
                <a:rPr lang="en-US" sz="1800">
                  <a:solidFill>
                    <a:schemeClr val="tx2"/>
                  </a:solidFill>
                  <a:latin typeface="Arial" pitchFamily="34" charset="0"/>
                </a:rPr>
              </a:br>
              <a:r>
                <a:rPr lang="en-US" sz="1800">
                  <a:solidFill>
                    <a:schemeClr val="tx2"/>
                  </a:solidFill>
                  <a:latin typeface="Arial" pitchFamily="34" charset="0"/>
                </a:rPr>
                <a:t>is a DAG:</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44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34146"/>
                                        </p:tgtEl>
                                        <p:attrNameLst>
                                          <p:attrName>style.visibility</p:attrName>
                                        </p:attrNameLst>
                                      </p:cBhvr>
                                      <p:to>
                                        <p:strVal val="visible"/>
                                      </p:to>
                                    </p:set>
                                    <p:anim calcmode="lin" valueType="num">
                                      <p:cBhvr>
                                        <p:cTn id="7" dur="500" fill="hold"/>
                                        <p:tgtEl>
                                          <p:spTgt spid="134146"/>
                                        </p:tgtEl>
                                        <p:attrNameLst>
                                          <p:attrName>ppt_w</p:attrName>
                                        </p:attrNameLst>
                                      </p:cBhvr>
                                      <p:tavLst>
                                        <p:tav tm="0">
                                          <p:val>
                                            <p:fltVal val="0"/>
                                          </p:val>
                                        </p:tav>
                                        <p:tav tm="100000">
                                          <p:val>
                                            <p:strVal val="#ppt_w"/>
                                          </p:val>
                                        </p:tav>
                                      </p:tavLst>
                                    </p:anim>
                                    <p:anim calcmode="lin" valueType="num">
                                      <p:cBhvr>
                                        <p:cTn id="8" dur="500" fill="hold"/>
                                        <p:tgtEl>
                                          <p:spTgt spid="13414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134242"/>
                                        </p:tgtEl>
                                        <p:attrNameLst>
                                          <p:attrName>style.visibility</p:attrName>
                                        </p:attrNameLst>
                                      </p:cBhvr>
                                      <p:to>
                                        <p:strVal val="visible"/>
                                      </p:to>
                                    </p:set>
                                    <p:animEffect transition="in" filter="wipe(up)">
                                      <p:cBhvr>
                                        <p:cTn id="13" dur="500"/>
                                        <p:tgtEl>
                                          <p:spTgt spid="13424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34261"/>
                                        </p:tgtEl>
                                        <p:attrNameLst>
                                          <p:attrName>style.visibility</p:attrName>
                                        </p:attrNameLst>
                                      </p:cBhvr>
                                      <p:to>
                                        <p:strVal val="visible"/>
                                      </p:to>
                                    </p:set>
                                    <p:animEffect transition="in" filter="wipe(up)">
                                      <p:cBhvr>
                                        <p:cTn id="18" dur="500"/>
                                        <p:tgtEl>
                                          <p:spTgt spid="13426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34258"/>
                                        </p:tgtEl>
                                        <p:attrNameLst>
                                          <p:attrName>style.visibility</p:attrName>
                                        </p:attrNameLst>
                                      </p:cBhvr>
                                      <p:to>
                                        <p:strVal val="visible"/>
                                      </p:to>
                                    </p:set>
                                    <p:animEffect transition="in" filter="wipe(up)">
                                      <p:cBhvr>
                                        <p:cTn id="23" dur="500"/>
                                        <p:tgtEl>
                                          <p:spTgt spid="134258"/>
                                        </p:tgtEl>
                                      </p:cBhvr>
                                    </p:animEffect>
                                  </p:childTnLst>
                                </p:cTn>
                              </p:par>
                            </p:childTnLst>
                          </p:cTn>
                        </p:par>
                        <p:par>
                          <p:cTn id="24" fill="hold" nodeType="afterGroup">
                            <p:stCondLst>
                              <p:cond delay="500"/>
                            </p:stCondLst>
                            <p:childTnLst>
                              <p:par>
                                <p:cTn id="25" presetID="9" presetClass="entr" presetSubtype="0" fill="hold" nodeType="afterEffect">
                                  <p:stCondLst>
                                    <p:cond delay="0"/>
                                  </p:stCondLst>
                                  <p:childTnLst>
                                    <p:set>
                                      <p:cBhvr>
                                        <p:cTn id="26" dur="1" fill="hold">
                                          <p:stCondLst>
                                            <p:cond delay="0"/>
                                          </p:stCondLst>
                                        </p:cTn>
                                        <p:tgtEl>
                                          <p:spTgt spid="134254"/>
                                        </p:tgtEl>
                                        <p:attrNameLst>
                                          <p:attrName>style.visibility</p:attrName>
                                        </p:attrNameLst>
                                      </p:cBhvr>
                                      <p:to>
                                        <p:strVal val="visible"/>
                                      </p:to>
                                    </p:set>
                                    <p:animEffect transition="in" filter="dissolve">
                                      <p:cBhvr>
                                        <p:cTn id="27" dur="500"/>
                                        <p:tgtEl>
                                          <p:spTgt spid="1342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34257"/>
                                        </p:tgtEl>
                                        <p:attrNameLst>
                                          <p:attrName>style.visibility</p:attrName>
                                        </p:attrNameLst>
                                      </p:cBhvr>
                                      <p:to>
                                        <p:strVal val="visible"/>
                                      </p:to>
                                    </p:set>
                                    <p:animEffect transition="in" filter="dissolve">
                                      <p:cBhvr>
                                        <p:cTn id="32" dur="500"/>
                                        <p:tgtEl>
                                          <p:spTgt spid="134257"/>
                                        </p:tgtEl>
                                      </p:cBhvr>
                                    </p:animEffect>
                                  </p:childTnLst>
                                </p:cTn>
                              </p:par>
                            </p:childTnLst>
                          </p:cTn>
                        </p:par>
                        <p:par>
                          <p:cTn id="33" fill="hold" nodeType="afterGroup">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134256"/>
                                        </p:tgtEl>
                                        <p:attrNameLst>
                                          <p:attrName>style.visibility</p:attrName>
                                        </p:attrNameLst>
                                      </p:cBhvr>
                                      <p:to>
                                        <p:strVal val="visible"/>
                                      </p:to>
                                    </p:set>
                                    <p:animEffect transition="in" filter="dissolve">
                                      <p:cBhvr>
                                        <p:cTn id="36" dur="500"/>
                                        <p:tgtEl>
                                          <p:spTgt spid="134256"/>
                                        </p:tgtEl>
                                      </p:cBhvr>
                                    </p:animEffect>
                                  </p:childTnLst>
                                </p:cTn>
                              </p:par>
                            </p:childTnLst>
                          </p:cTn>
                        </p:par>
                        <p:par>
                          <p:cTn id="37" fill="hold" nodeType="afterGroup">
                            <p:stCondLst>
                              <p:cond delay="1000"/>
                            </p:stCondLst>
                            <p:childTnLst>
                              <p:par>
                                <p:cTn id="38" presetID="9" presetClass="entr" presetSubtype="0" fill="hold" grpId="0" nodeType="afterEffect">
                                  <p:stCondLst>
                                    <p:cond delay="0"/>
                                  </p:stCondLst>
                                  <p:childTnLst>
                                    <p:set>
                                      <p:cBhvr>
                                        <p:cTn id="39" dur="1" fill="hold">
                                          <p:stCondLst>
                                            <p:cond delay="0"/>
                                          </p:stCondLst>
                                        </p:cTn>
                                        <p:tgtEl>
                                          <p:spTgt spid="134255"/>
                                        </p:tgtEl>
                                        <p:attrNameLst>
                                          <p:attrName>style.visibility</p:attrName>
                                        </p:attrNameLst>
                                      </p:cBhvr>
                                      <p:to>
                                        <p:strVal val="visible"/>
                                      </p:to>
                                    </p:set>
                                    <p:animEffect transition="in" filter="dissolve">
                                      <p:cBhvr>
                                        <p:cTn id="40" dur="500"/>
                                        <p:tgtEl>
                                          <p:spTgt spid="134255"/>
                                        </p:tgtEl>
                                      </p:cBhvr>
                                    </p:animEffect>
                                  </p:childTnLst>
                                </p:cTn>
                              </p:par>
                            </p:childTnLst>
                          </p:cTn>
                        </p:par>
                        <p:par>
                          <p:cTn id="41" fill="hold" nodeType="afterGroup">
                            <p:stCondLst>
                              <p:cond delay="1500"/>
                            </p:stCondLst>
                            <p:childTnLst>
                              <p:par>
                                <p:cTn id="42" presetID="22" presetClass="entr" presetSubtype="8" fill="hold" grpId="0" nodeType="afterEffect">
                                  <p:stCondLst>
                                    <p:cond delay="1000"/>
                                  </p:stCondLst>
                                  <p:childTnLst>
                                    <p:set>
                                      <p:cBhvr>
                                        <p:cTn id="43" dur="1" fill="hold">
                                          <p:stCondLst>
                                            <p:cond delay="0"/>
                                          </p:stCondLst>
                                        </p:cTn>
                                        <p:tgtEl>
                                          <p:spTgt spid="134237"/>
                                        </p:tgtEl>
                                        <p:attrNameLst>
                                          <p:attrName>style.visibility</p:attrName>
                                        </p:attrNameLst>
                                      </p:cBhvr>
                                      <p:to>
                                        <p:strVal val="visible"/>
                                      </p:to>
                                    </p:set>
                                    <p:animEffect transition="in" filter="wipe(left)">
                                      <p:cBhvr>
                                        <p:cTn id="44" dur="500"/>
                                        <p:tgtEl>
                                          <p:spTgt spid="13423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134275"/>
                                        </p:tgtEl>
                                        <p:attrNameLst>
                                          <p:attrName>style.visibility</p:attrName>
                                        </p:attrNameLst>
                                      </p:cBhvr>
                                      <p:to>
                                        <p:strVal val="visible"/>
                                      </p:to>
                                    </p:set>
                                    <p:animEffect transition="in" filter="wipe(up)">
                                      <p:cBhvr>
                                        <p:cTn id="49" dur="500"/>
                                        <p:tgtEl>
                                          <p:spTgt spid="134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258" grpId="0" animBg="1"/>
      <p:bldP spid="134257" grpId="0" animBg="1"/>
      <p:bldP spid="134256" grpId="0" animBg="1"/>
      <p:bldP spid="134255" grpId="0" animBg="1"/>
      <p:bldP spid="134146" grpId="0" animBg="1" autoUpdateAnimBg="0"/>
      <p:bldP spid="134237"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Strongly Connected Components</a:t>
            </a:r>
          </a:p>
        </p:txBody>
      </p:sp>
      <p:sp>
        <p:nvSpPr>
          <p:cNvPr id="135171" name="Text Box 3"/>
          <p:cNvSpPr txBox="1">
            <a:spLocks noChangeArrowheads="1"/>
          </p:cNvSpPr>
          <p:nvPr/>
        </p:nvSpPr>
        <p:spPr bwMode="auto">
          <a:xfrm>
            <a:off x="609600" y="685800"/>
            <a:ext cx="7467600" cy="357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8913" indent="-188913">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25000"/>
              </a:lnSpc>
              <a:buFont typeface="Wingdings" pitchFamily="2" charset="2"/>
              <a:buChar char="§"/>
            </a:pPr>
            <a:r>
              <a:rPr lang="en-US" sz="1800" b="1" dirty="0">
                <a:solidFill>
                  <a:srgbClr val="CC0000"/>
                </a:solidFill>
                <a:latin typeface="Arial" pitchFamily="34" charset="0"/>
              </a:rPr>
              <a:t>Reachability:</a:t>
            </a:r>
            <a:r>
              <a:rPr lang="en-US" sz="1800" dirty="0">
                <a:solidFill>
                  <a:schemeClr val="hlink"/>
                </a:solidFill>
                <a:latin typeface="Arial" pitchFamily="34" charset="0"/>
              </a:rPr>
              <a:t>   u </a:t>
            </a:r>
            <a:r>
              <a:rPr lang="en-US" sz="2800" baseline="-8000" dirty="0">
                <a:solidFill>
                  <a:schemeClr val="hlink"/>
                </a:solidFill>
                <a:latin typeface="Arial" pitchFamily="34" charset="0"/>
                <a:cs typeface="Arial" pitchFamily="34" charset="0"/>
              </a:rPr>
              <a:t>~~</a:t>
            </a:r>
            <a:r>
              <a:rPr lang="en-US" sz="1800" dirty="0" smtClean="0">
                <a:solidFill>
                  <a:schemeClr val="hlink"/>
                </a:solidFill>
                <a:latin typeface="Arial" pitchFamily="34" charset="0"/>
                <a:sym typeface="Symbol" pitchFamily="18" charset="2"/>
              </a:rPr>
              <a:t></a:t>
            </a:r>
            <a:r>
              <a:rPr lang="en-US" sz="2800" b="1" baseline="-2000" dirty="0" smtClean="0">
                <a:solidFill>
                  <a:schemeClr val="hlink"/>
                </a:solidFill>
                <a:latin typeface="Arial" pitchFamily="34" charset="0"/>
                <a:sym typeface="Symbol" pitchFamily="18" charset="2"/>
              </a:rPr>
              <a:t> </a:t>
            </a:r>
            <a:r>
              <a:rPr lang="en-US" sz="1800" dirty="0">
                <a:solidFill>
                  <a:schemeClr val="hlink"/>
                </a:solidFill>
                <a:latin typeface="Arial" pitchFamily="34" charset="0"/>
              </a:rPr>
              <a:t>v. </a:t>
            </a:r>
            <a:r>
              <a:rPr lang="en-US" sz="1800" dirty="0" smtClean="0">
                <a:solidFill>
                  <a:schemeClr val="hlink"/>
                </a:solidFill>
                <a:latin typeface="Arial" pitchFamily="34" charset="0"/>
              </a:rPr>
              <a:t> </a:t>
            </a:r>
            <a:r>
              <a:rPr lang="en-US" sz="1800" dirty="0">
                <a:solidFill>
                  <a:schemeClr val="hlink"/>
                </a:solidFill>
                <a:latin typeface="Arial" pitchFamily="34" charset="0"/>
              </a:rPr>
              <a:t/>
            </a:r>
            <a:br>
              <a:rPr lang="en-US" sz="1800" dirty="0">
                <a:solidFill>
                  <a:schemeClr val="hlink"/>
                </a:solidFill>
                <a:latin typeface="Arial" pitchFamily="34" charset="0"/>
              </a:rPr>
            </a:br>
            <a:r>
              <a:rPr lang="en-US" sz="1800" dirty="0">
                <a:solidFill>
                  <a:schemeClr val="hlink"/>
                </a:solidFill>
                <a:latin typeface="Arial" pitchFamily="34" charset="0"/>
              </a:rPr>
              <a:t>v is reachable from u,    i.e.,     there is a directed path from u to v.</a:t>
            </a:r>
            <a:br>
              <a:rPr lang="en-US" sz="1800" dirty="0">
                <a:solidFill>
                  <a:schemeClr val="hlink"/>
                </a:solidFill>
                <a:latin typeface="Arial" pitchFamily="34" charset="0"/>
              </a:rPr>
            </a:br>
            <a:r>
              <a:rPr lang="en-US" sz="1800" dirty="0">
                <a:solidFill>
                  <a:schemeClr val="hlink"/>
                </a:solidFill>
                <a:latin typeface="Arial" pitchFamily="34" charset="0"/>
              </a:rPr>
              <a:t> 	- Reflexive</a:t>
            </a:r>
            <a:br>
              <a:rPr lang="en-US" sz="1800" dirty="0">
                <a:solidFill>
                  <a:schemeClr val="hlink"/>
                </a:solidFill>
                <a:latin typeface="Arial" pitchFamily="34" charset="0"/>
              </a:rPr>
            </a:br>
            <a:r>
              <a:rPr lang="en-US" sz="1800" dirty="0">
                <a:solidFill>
                  <a:schemeClr val="hlink"/>
                </a:solidFill>
                <a:latin typeface="Arial" pitchFamily="34" charset="0"/>
              </a:rPr>
              <a:t> 	- Transitive </a:t>
            </a:r>
          </a:p>
          <a:p>
            <a:pPr eaLnBrk="1" hangingPunct="1">
              <a:lnSpc>
                <a:spcPct val="125000"/>
              </a:lnSpc>
              <a:buFont typeface="Wingdings" pitchFamily="2" charset="2"/>
              <a:buChar char="§"/>
            </a:pPr>
            <a:endParaRPr lang="en-US" sz="1800" dirty="0">
              <a:solidFill>
                <a:schemeClr val="hlink"/>
              </a:solidFill>
              <a:latin typeface="Arial" pitchFamily="34" charset="0"/>
            </a:endParaRPr>
          </a:p>
          <a:p>
            <a:pPr eaLnBrk="1" hangingPunct="1">
              <a:lnSpc>
                <a:spcPct val="125000"/>
              </a:lnSpc>
              <a:buFont typeface="Wingdings" pitchFamily="2" charset="2"/>
              <a:buChar char="§"/>
            </a:pPr>
            <a:r>
              <a:rPr lang="en-US" sz="1800" b="1" dirty="0">
                <a:solidFill>
                  <a:srgbClr val="CC0000"/>
                </a:solidFill>
                <a:latin typeface="Arial" pitchFamily="34" charset="0"/>
              </a:rPr>
              <a:t>Mutual Reachability:</a:t>
            </a:r>
            <a:r>
              <a:rPr lang="en-US" sz="1800" dirty="0">
                <a:solidFill>
                  <a:schemeClr val="hlink"/>
                </a:solidFill>
                <a:latin typeface="Arial" pitchFamily="34" charset="0"/>
              </a:rPr>
              <a:t>  </a:t>
            </a:r>
            <a:r>
              <a:rPr lang="en-US" sz="1800" dirty="0" smtClean="0">
                <a:solidFill>
                  <a:schemeClr val="hlink"/>
                </a:solidFill>
                <a:latin typeface="Arial" pitchFamily="34" charset="0"/>
              </a:rPr>
              <a:t> </a:t>
            </a:r>
            <a:r>
              <a:rPr lang="en-US" sz="1800" dirty="0">
                <a:solidFill>
                  <a:schemeClr val="hlink"/>
                </a:solidFill>
                <a:latin typeface="Arial" pitchFamily="34" charset="0"/>
              </a:rPr>
              <a:t>u </a:t>
            </a:r>
            <a:r>
              <a:rPr lang="en-US" sz="1800" dirty="0">
                <a:solidFill>
                  <a:schemeClr val="hlink"/>
                </a:solidFill>
                <a:latin typeface="Arial" pitchFamily="34" charset="0"/>
                <a:sym typeface="Symbol" pitchFamily="18" charset="2"/>
              </a:rPr>
              <a:t></a:t>
            </a:r>
            <a:r>
              <a:rPr lang="en-US" sz="2800" baseline="-8000" dirty="0">
                <a:solidFill>
                  <a:schemeClr val="hlink"/>
                </a:solidFill>
                <a:latin typeface="Arial" pitchFamily="34" charset="0"/>
                <a:cs typeface="Arial" pitchFamily="34" charset="0"/>
              </a:rPr>
              <a:t>~~</a:t>
            </a:r>
            <a:r>
              <a:rPr lang="en-US" sz="1800" dirty="0">
                <a:solidFill>
                  <a:schemeClr val="hlink"/>
                </a:solidFill>
                <a:latin typeface="Arial" pitchFamily="34" charset="0"/>
                <a:sym typeface="Symbol" pitchFamily="18" charset="2"/>
              </a:rPr>
              <a:t></a:t>
            </a:r>
            <a:r>
              <a:rPr lang="en-US" sz="1800" dirty="0">
                <a:solidFill>
                  <a:schemeClr val="hlink"/>
                </a:solidFill>
                <a:latin typeface="Arial" pitchFamily="34" charset="0"/>
              </a:rPr>
              <a:t> v :   u and v are mutually reachable, </a:t>
            </a:r>
            <a:br>
              <a:rPr lang="en-US" sz="1800" dirty="0">
                <a:solidFill>
                  <a:schemeClr val="hlink"/>
                </a:solidFill>
                <a:latin typeface="Arial" pitchFamily="34" charset="0"/>
              </a:rPr>
            </a:br>
            <a:r>
              <a:rPr lang="en-US" sz="1800" dirty="0">
                <a:solidFill>
                  <a:schemeClr val="hlink"/>
                </a:solidFill>
                <a:latin typeface="Arial" pitchFamily="34" charset="0"/>
              </a:rPr>
              <a:t>			i.e.,   u </a:t>
            </a:r>
            <a:r>
              <a:rPr lang="en-US" sz="2800" baseline="-8000" dirty="0">
                <a:solidFill>
                  <a:schemeClr val="hlink"/>
                </a:solidFill>
                <a:latin typeface="Arial" pitchFamily="34" charset="0"/>
                <a:cs typeface="Arial" pitchFamily="34" charset="0"/>
              </a:rPr>
              <a:t>~~</a:t>
            </a:r>
            <a:r>
              <a:rPr lang="en-US" sz="1800" dirty="0">
                <a:solidFill>
                  <a:schemeClr val="hlink"/>
                </a:solidFill>
                <a:latin typeface="Arial" pitchFamily="34" charset="0"/>
                <a:sym typeface="Symbol" pitchFamily="18" charset="2"/>
              </a:rPr>
              <a:t></a:t>
            </a:r>
            <a:r>
              <a:rPr lang="en-US" sz="1800" dirty="0">
                <a:solidFill>
                  <a:schemeClr val="hlink"/>
                </a:solidFill>
                <a:latin typeface="Arial" pitchFamily="34" charset="0"/>
              </a:rPr>
              <a:t> v   &amp;   v </a:t>
            </a:r>
            <a:r>
              <a:rPr lang="en-US" sz="2800" baseline="-8000" dirty="0">
                <a:solidFill>
                  <a:schemeClr val="hlink"/>
                </a:solidFill>
                <a:latin typeface="Arial" pitchFamily="34" charset="0"/>
                <a:cs typeface="Arial" pitchFamily="34" charset="0"/>
              </a:rPr>
              <a:t>~~</a:t>
            </a:r>
            <a:r>
              <a:rPr lang="en-US" sz="1800" dirty="0">
                <a:solidFill>
                  <a:schemeClr val="hlink"/>
                </a:solidFill>
                <a:latin typeface="Arial" pitchFamily="34" charset="0"/>
                <a:sym typeface="Symbol" pitchFamily="18" charset="2"/>
              </a:rPr>
              <a:t></a:t>
            </a:r>
            <a:r>
              <a:rPr lang="en-US" sz="1800" dirty="0">
                <a:solidFill>
                  <a:schemeClr val="hlink"/>
                </a:solidFill>
                <a:latin typeface="Arial" pitchFamily="34" charset="0"/>
              </a:rPr>
              <a:t> u.        </a:t>
            </a:r>
            <a:br>
              <a:rPr lang="en-US" sz="1800" dirty="0">
                <a:solidFill>
                  <a:schemeClr val="hlink"/>
                </a:solidFill>
                <a:latin typeface="Arial" pitchFamily="34" charset="0"/>
              </a:rPr>
            </a:br>
            <a:r>
              <a:rPr lang="en-US" sz="1800" dirty="0">
                <a:solidFill>
                  <a:schemeClr val="hlink"/>
                </a:solidFill>
                <a:latin typeface="Arial" pitchFamily="34" charset="0"/>
              </a:rPr>
              <a:t>	- Reflexive</a:t>
            </a:r>
            <a:br>
              <a:rPr lang="en-US" sz="1800" dirty="0">
                <a:solidFill>
                  <a:schemeClr val="hlink"/>
                </a:solidFill>
                <a:latin typeface="Arial" pitchFamily="34" charset="0"/>
              </a:rPr>
            </a:br>
            <a:r>
              <a:rPr lang="en-US" sz="1800" dirty="0">
                <a:solidFill>
                  <a:schemeClr val="hlink"/>
                </a:solidFill>
                <a:latin typeface="Arial" pitchFamily="34" charset="0"/>
              </a:rPr>
              <a:t>	- Symmetric      </a:t>
            </a:r>
            <a:r>
              <a:rPr lang="en-US" sz="1800" b="1" dirty="0">
                <a:solidFill>
                  <a:schemeClr val="hlink"/>
                </a:solidFill>
                <a:latin typeface="Arial" pitchFamily="34" charset="0"/>
                <a:sym typeface="Symbol" pitchFamily="18" charset="2"/>
              </a:rPr>
              <a:t></a:t>
            </a:r>
            <a:r>
              <a:rPr lang="en-US" sz="1800" dirty="0">
                <a:solidFill>
                  <a:schemeClr val="hlink"/>
                </a:solidFill>
                <a:latin typeface="Arial" pitchFamily="34" charset="0"/>
                <a:sym typeface="Symbol" pitchFamily="18" charset="2"/>
              </a:rPr>
              <a:t>   </a:t>
            </a:r>
            <a:r>
              <a:rPr lang="en-US" sz="1800" dirty="0">
                <a:solidFill>
                  <a:srgbClr val="CC0000"/>
                </a:solidFill>
                <a:latin typeface="Arial" pitchFamily="34" charset="0"/>
                <a:sym typeface="Symbol" pitchFamily="18" charset="2"/>
              </a:rPr>
              <a:t>equivalence relation</a:t>
            </a:r>
            <a:r>
              <a:rPr lang="en-US" sz="1800" dirty="0">
                <a:solidFill>
                  <a:schemeClr val="hlink"/>
                </a:solidFill>
                <a:latin typeface="Arial" pitchFamily="34" charset="0"/>
                <a:sym typeface="Symbol" pitchFamily="18" charset="2"/>
              </a:rPr>
              <a:t> on V(G)</a:t>
            </a:r>
            <a:r>
              <a:rPr lang="en-US" sz="1800" dirty="0">
                <a:solidFill>
                  <a:schemeClr val="hlink"/>
                </a:solidFill>
                <a:latin typeface="Arial" pitchFamily="34" charset="0"/>
              </a:rPr>
              <a:t/>
            </a:r>
            <a:br>
              <a:rPr lang="en-US" sz="1800" dirty="0">
                <a:solidFill>
                  <a:schemeClr val="hlink"/>
                </a:solidFill>
                <a:latin typeface="Arial" pitchFamily="34" charset="0"/>
              </a:rPr>
            </a:br>
            <a:r>
              <a:rPr lang="en-US" sz="1800" dirty="0">
                <a:solidFill>
                  <a:schemeClr val="hlink"/>
                </a:solidFill>
                <a:latin typeface="Arial" pitchFamily="34" charset="0"/>
              </a:rPr>
              <a:t>	- Transitive</a:t>
            </a:r>
          </a:p>
        </p:txBody>
      </p:sp>
      <p:sp>
        <p:nvSpPr>
          <p:cNvPr id="135172" name="AutoShape 4"/>
          <p:cNvSpPr>
            <a:spLocks/>
          </p:cNvSpPr>
          <p:nvPr/>
        </p:nvSpPr>
        <p:spPr bwMode="auto">
          <a:xfrm>
            <a:off x="2895600" y="3276600"/>
            <a:ext cx="228600" cy="914400"/>
          </a:xfrm>
          <a:prstGeom prst="rightBrace">
            <a:avLst>
              <a:gd name="adj1" fmla="val 33333"/>
              <a:gd name="adj2" fmla="val 50000"/>
            </a:avLst>
          </a:prstGeom>
          <a:noFill/>
          <a:ln w="19050">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135173" name="Rectangle 5"/>
          <p:cNvSpPr>
            <a:spLocks noChangeArrowheads="1"/>
          </p:cNvSpPr>
          <p:nvPr/>
        </p:nvSpPr>
        <p:spPr bwMode="auto">
          <a:xfrm>
            <a:off x="609600" y="4495800"/>
            <a:ext cx="8001000"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88913" indent="-188913" eaLnBrk="1" hangingPunct="1">
              <a:lnSpc>
                <a:spcPct val="125000"/>
              </a:lnSpc>
              <a:spcBef>
                <a:spcPct val="50000"/>
              </a:spcBef>
              <a:buFont typeface="Wingdings" pitchFamily="2" charset="2"/>
              <a:buChar char="§"/>
            </a:pPr>
            <a:r>
              <a:rPr lang="en-US" sz="1800" b="1" baseline="-2000">
                <a:solidFill>
                  <a:schemeClr val="hlink"/>
                </a:solidFill>
                <a:latin typeface="Arial" pitchFamily="34" charset="0"/>
                <a:sym typeface="Symbol" pitchFamily="18" charset="2"/>
              </a:rPr>
              <a:t> </a:t>
            </a:r>
            <a:r>
              <a:rPr lang="en-US" sz="1800">
                <a:solidFill>
                  <a:schemeClr val="hlink"/>
                </a:solidFill>
                <a:latin typeface="Arial" pitchFamily="34" charset="0"/>
                <a:sym typeface="Symbol" pitchFamily="18" charset="2"/>
              </a:rPr>
              <a:t></a:t>
            </a:r>
            <a:r>
              <a:rPr lang="en-US" sz="2800" baseline="-8000">
                <a:solidFill>
                  <a:schemeClr val="hlink"/>
                </a:solidFill>
                <a:latin typeface="Arial" pitchFamily="34" charset="0"/>
                <a:cs typeface="Arial" pitchFamily="34" charset="0"/>
              </a:rPr>
              <a:t>~~</a:t>
            </a:r>
            <a:r>
              <a:rPr lang="en-US" sz="1800">
                <a:solidFill>
                  <a:schemeClr val="hlink"/>
                </a:solidFill>
                <a:latin typeface="Arial" pitchFamily="34" charset="0"/>
                <a:sym typeface="Symbol" pitchFamily="18" charset="2"/>
              </a:rPr>
              <a:t></a:t>
            </a:r>
            <a:r>
              <a:rPr lang="en-US" sz="1800">
                <a:solidFill>
                  <a:schemeClr val="hlink"/>
                </a:solidFill>
                <a:latin typeface="Arial" pitchFamily="34" charset="0"/>
              </a:rPr>
              <a:t> partitions V(G) into </a:t>
            </a:r>
            <a:r>
              <a:rPr lang="en-US" sz="1800">
                <a:solidFill>
                  <a:srgbClr val="CC0000"/>
                </a:solidFill>
                <a:latin typeface="Arial" pitchFamily="34" charset="0"/>
              </a:rPr>
              <a:t>equivalence classes</a:t>
            </a:r>
            <a:r>
              <a:rPr lang="en-US" sz="1800">
                <a:solidFill>
                  <a:schemeClr val="hlink"/>
                </a:solidFill>
                <a:latin typeface="Arial" pitchFamily="34" charset="0"/>
              </a:rPr>
              <a:t>.</a:t>
            </a:r>
          </a:p>
          <a:p>
            <a:pPr marL="188913" indent="-188913" eaLnBrk="1" hangingPunct="1">
              <a:lnSpc>
                <a:spcPct val="125000"/>
              </a:lnSpc>
              <a:spcBef>
                <a:spcPct val="50000"/>
              </a:spcBef>
              <a:buFont typeface="Wingdings" pitchFamily="2" charset="2"/>
              <a:buChar char="§"/>
            </a:pPr>
            <a:r>
              <a:rPr lang="en-US" sz="1800" b="1">
                <a:solidFill>
                  <a:srgbClr val="CC0000"/>
                </a:solidFill>
                <a:latin typeface="Arial" pitchFamily="34" charset="0"/>
              </a:rPr>
              <a:t>Strongly Connected Components</a:t>
            </a:r>
            <a:r>
              <a:rPr lang="en-US" sz="1800">
                <a:solidFill>
                  <a:schemeClr val="hlink"/>
                </a:solidFill>
                <a:latin typeface="Arial" pitchFamily="34" charset="0"/>
              </a:rPr>
              <a:t> of G:</a:t>
            </a:r>
            <a:br>
              <a:rPr lang="en-US" sz="1800">
                <a:solidFill>
                  <a:schemeClr val="hlink"/>
                </a:solidFill>
                <a:latin typeface="Arial" pitchFamily="34" charset="0"/>
              </a:rPr>
            </a:br>
            <a:r>
              <a:rPr lang="en-US" sz="1800">
                <a:solidFill>
                  <a:schemeClr val="hlink"/>
                </a:solidFill>
                <a:latin typeface="Arial" pitchFamily="34" charset="0"/>
              </a:rPr>
              <a:t>Subgraphs of G induced by these equivalence classes.</a:t>
            </a:r>
          </a:p>
          <a:p>
            <a:pPr marL="188913" indent="-188913" eaLnBrk="1" hangingPunct="1">
              <a:lnSpc>
                <a:spcPct val="125000"/>
              </a:lnSpc>
              <a:spcBef>
                <a:spcPct val="50000"/>
              </a:spcBef>
              <a:buFont typeface="Wingdings" pitchFamily="2" charset="2"/>
              <a:buChar char="§"/>
            </a:pPr>
            <a:r>
              <a:rPr lang="en-US" sz="1800">
                <a:solidFill>
                  <a:schemeClr val="hlink"/>
                </a:solidFill>
                <a:latin typeface="Arial" pitchFamily="34" charset="0"/>
              </a:rPr>
              <a:t>Remaining edges are called cross-component edges.</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45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35170"/>
                                        </p:tgtEl>
                                        <p:attrNameLst>
                                          <p:attrName>style.visibility</p:attrName>
                                        </p:attrNameLst>
                                      </p:cBhvr>
                                      <p:to>
                                        <p:strVal val="visible"/>
                                      </p:to>
                                    </p:set>
                                    <p:anim calcmode="lin" valueType="num">
                                      <p:cBhvr>
                                        <p:cTn id="7" dur="500" fill="hold"/>
                                        <p:tgtEl>
                                          <p:spTgt spid="135170"/>
                                        </p:tgtEl>
                                        <p:attrNameLst>
                                          <p:attrName>ppt_w</p:attrName>
                                        </p:attrNameLst>
                                      </p:cBhvr>
                                      <p:tavLst>
                                        <p:tav tm="0">
                                          <p:val>
                                            <p:fltVal val="0"/>
                                          </p:val>
                                        </p:tav>
                                        <p:tav tm="100000">
                                          <p:val>
                                            <p:strVal val="#ppt_w"/>
                                          </p:val>
                                        </p:tav>
                                      </p:tavLst>
                                    </p:anim>
                                    <p:anim calcmode="lin" valueType="num">
                                      <p:cBhvr>
                                        <p:cTn id="8" dur="500" fill="hold"/>
                                        <p:tgtEl>
                                          <p:spTgt spid="13517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35171">
                                            <p:txEl>
                                              <p:pRg st="0" end="0"/>
                                            </p:txEl>
                                          </p:spTgt>
                                        </p:tgtEl>
                                        <p:attrNameLst>
                                          <p:attrName>style.visibility</p:attrName>
                                        </p:attrNameLst>
                                      </p:cBhvr>
                                      <p:to>
                                        <p:strVal val="visible"/>
                                      </p:to>
                                    </p:set>
                                    <p:animEffect transition="in" filter="wipe(up)">
                                      <p:cBhvr>
                                        <p:cTn id="13" dur="500"/>
                                        <p:tgtEl>
                                          <p:spTgt spid="135171">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35171">
                                            <p:txEl>
                                              <p:pRg st="2" end="2"/>
                                            </p:txEl>
                                          </p:spTgt>
                                        </p:tgtEl>
                                        <p:attrNameLst>
                                          <p:attrName>style.visibility</p:attrName>
                                        </p:attrNameLst>
                                      </p:cBhvr>
                                      <p:to>
                                        <p:strVal val="visible"/>
                                      </p:to>
                                    </p:set>
                                    <p:animEffect transition="in" filter="wipe(up)">
                                      <p:cBhvr>
                                        <p:cTn id="18" dur="500"/>
                                        <p:tgtEl>
                                          <p:spTgt spid="135171">
                                            <p:txEl>
                                              <p:pRg st="2" end="2"/>
                                            </p:txEl>
                                          </p:spTgt>
                                        </p:tgtEl>
                                      </p:cBhvr>
                                    </p:animEffect>
                                  </p:childTnLst>
                                </p:cTn>
                              </p:par>
                            </p:childTnLst>
                          </p:cTn>
                        </p:par>
                        <p:par>
                          <p:cTn id="19" fill="hold" nodeType="afterGroup">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135172"/>
                                        </p:tgtEl>
                                        <p:attrNameLst>
                                          <p:attrName>style.visibility</p:attrName>
                                        </p:attrNameLst>
                                      </p:cBhvr>
                                      <p:to>
                                        <p:strVal val="visible"/>
                                      </p:to>
                                    </p:set>
                                    <p:animEffect transition="in" filter="wipe(left)">
                                      <p:cBhvr>
                                        <p:cTn id="22" dur="500"/>
                                        <p:tgtEl>
                                          <p:spTgt spid="1351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35173">
                                            <p:txEl>
                                              <p:pRg st="0" end="0"/>
                                            </p:txEl>
                                          </p:spTgt>
                                        </p:tgtEl>
                                        <p:attrNameLst>
                                          <p:attrName>style.visibility</p:attrName>
                                        </p:attrNameLst>
                                      </p:cBhvr>
                                      <p:to>
                                        <p:strVal val="visible"/>
                                      </p:to>
                                    </p:set>
                                    <p:animEffect transition="in" filter="wipe(up)">
                                      <p:cBhvr>
                                        <p:cTn id="27" dur="500"/>
                                        <p:tgtEl>
                                          <p:spTgt spid="135173">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35173">
                                            <p:txEl>
                                              <p:pRg st="1" end="1"/>
                                            </p:txEl>
                                          </p:spTgt>
                                        </p:tgtEl>
                                        <p:attrNameLst>
                                          <p:attrName>style.visibility</p:attrName>
                                        </p:attrNameLst>
                                      </p:cBhvr>
                                      <p:to>
                                        <p:strVal val="visible"/>
                                      </p:to>
                                    </p:set>
                                    <p:animEffect transition="in" filter="wipe(up)">
                                      <p:cBhvr>
                                        <p:cTn id="32" dur="500"/>
                                        <p:tgtEl>
                                          <p:spTgt spid="135173">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35173">
                                            <p:txEl>
                                              <p:pRg st="2" end="2"/>
                                            </p:txEl>
                                          </p:spTgt>
                                        </p:tgtEl>
                                        <p:attrNameLst>
                                          <p:attrName>style.visibility</p:attrName>
                                        </p:attrNameLst>
                                      </p:cBhvr>
                                      <p:to>
                                        <p:strVal val="visible"/>
                                      </p:to>
                                    </p:set>
                                    <p:animEffect transition="in" filter="wipe(up)">
                                      <p:cBhvr>
                                        <p:cTn id="37" dur="500"/>
                                        <p:tgtEl>
                                          <p:spTgt spid="13517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0" grpId="0" animBg="1" autoUpdateAnimBg="0"/>
      <p:bldP spid="135171" grpId="0" build="p" autoUpdateAnimBg="0"/>
      <p:bldP spid="135172" grpId="0" animBg="1"/>
      <p:bldP spid="135173"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325" name="Freeform 133"/>
          <p:cNvSpPr>
            <a:spLocks/>
          </p:cNvSpPr>
          <p:nvPr/>
        </p:nvSpPr>
        <p:spPr bwMode="auto">
          <a:xfrm>
            <a:off x="7086600" y="1371600"/>
            <a:ext cx="1841500" cy="1625600"/>
          </a:xfrm>
          <a:custGeom>
            <a:avLst/>
            <a:gdLst>
              <a:gd name="T0" fmla="*/ 9525 w 1160"/>
              <a:gd name="T1" fmla="*/ 1171575 h 1024"/>
              <a:gd name="T2" fmla="*/ 303213 w 1160"/>
              <a:gd name="T3" fmla="*/ 1601788 h 1024"/>
              <a:gd name="T4" fmla="*/ 1670050 w 1160"/>
              <a:gd name="T5" fmla="*/ 1317625 h 1024"/>
              <a:gd name="T6" fmla="*/ 1333500 w 1160"/>
              <a:gd name="T7" fmla="*/ 203200 h 1024"/>
              <a:gd name="T8" fmla="*/ 703263 w 1160"/>
              <a:gd name="T9" fmla="*/ 98425 h 1024"/>
              <a:gd name="T10" fmla="*/ 357188 w 1160"/>
              <a:gd name="T11" fmla="*/ 655638 h 1024"/>
              <a:gd name="T12" fmla="*/ 9525 w 1160"/>
              <a:gd name="T13" fmla="*/ 1171575 h 10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60" h="1024">
                <a:moveTo>
                  <a:pt x="6" y="738"/>
                </a:moveTo>
                <a:cubicBezTo>
                  <a:pt x="0" y="837"/>
                  <a:pt x="17" y="994"/>
                  <a:pt x="191" y="1009"/>
                </a:cubicBezTo>
                <a:cubicBezTo>
                  <a:pt x="365" y="1024"/>
                  <a:pt x="944" y="977"/>
                  <a:pt x="1052" y="830"/>
                </a:cubicBezTo>
                <a:cubicBezTo>
                  <a:pt x="1160" y="683"/>
                  <a:pt x="941" y="256"/>
                  <a:pt x="840" y="128"/>
                </a:cubicBezTo>
                <a:cubicBezTo>
                  <a:pt x="739" y="0"/>
                  <a:pt x="545" y="15"/>
                  <a:pt x="443" y="62"/>
                </a:cubicBezTo>
                <a:cubicBezTo>
                  <a:pt x="341" y="109"/>
                  <a:pt x="298" y="300"/>
                  <a:pt x="225" y="413"/>
                </a:cubicBezTo>
                <a:cubicBezTo>
                  <a:pt x="152" y="526"/>
                  <a:pt x="9" y="646"/>
                  <a:pt x="6" y="738"/>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6326" name="Freeform 134"/>
          <p:cNvSpPr>
            <a:spLocks/>
          </p:cNvSpPr>
          <p:nvPr/>
        </p:nvSpPr>
        <p:spPr bwMode="auto">
          <a:xfrm>
            <a:off x="5257800" y="1447800"/>
            <a:ext cx="1608138" cy="1533525"/>
          </a:xfrm>
          <a:custGeom>
            <a:avLst/>
            <a:gdLst>
              <a:gd name="T0" fmla="*/ 101600 w 1013"/>
              <a:gd name="T1" fmla="*/ 1316038 h 966"/>
              <a:gd name="T2" fmla="*/ 868363 w 1013"/>
              <a:gd name="T3" fmla="*/ 1525588 h 966"/>
              <a:gd name="T4" fmla="*/ 1550988 w 1013"/>
              <a:gd name="T5" fmla="*/ 1263650 h 966"/>
              <a:gd name="T6" fmla="*/ 1214438 w 1013"/>
              <a:gd name="T7" fmla="*/ 642938 h 966"/>
              <a:gd name="T8" fmla="*/ 889000 w 1013"/>
              <a:gd name="T9" fmla="*/ 22225 h 966"/>
              <a:gd name="T10" fmla="*/ 258763 w 1013"/>
              <a:gd name="T11" fmla="*/ 506413 h 966"/>
              <a:gd name="T12" fmla="*/ 101600 w 1013"/>
              <a:gd name="T13" fmla="*/ 1316038 h 9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13" h="966">
                <a:moveTo>
                  <a:pt x="64" y="829"/>
                </a:moveTo>
                <a:cubicBezTo>
                  <a:pt x="128" y="936"/>
                  <a:pt x="395" y="966"/>
                  <a:pt x="547" y="961"/>
                </a:cubicBezTo>
                <a:cubicBezTo>
                  <a:pt x="699" y="956"/>
                  <a:pt x="941" y="889"/>
                  <a:pt x="977" y="796"/>
                </a:cubicBezTo>
                <a:cubicBezTo>
                  <a:pt x="1013" y="703"/>
                  <a:pt x="834" y="535"/>
                  <a:pt x="765" y="405"/>
                </a:cubicBezTo>
                <a:cubicBezTo>
                  <a:pt x="696" y="275"/>
                  <a:pt x="660" y="28"/>
                  <a:pt x="560" y="14"/>
                </a:cubicBezTo>
                <a:cubicBezTo>
                  <a:pt x="460" y="0"/>
                  <a:pt x="246" y="183"/>
                  <a:pt x="163" y="319"/>
                </a:cubicBezTo>
                <a:cubicBezTo>
                  <a:pt x="80" y="455"/>
                  <a:pt x="0" y="722"/>
                  <a:pt x="64" y="829"/>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6327" name="Freeform 135"/>
          <p:cNvSpPr>
            <a:spLocks/>
          </p:cNvSpPr>
          <p:nvPr/>
        </p:nvSpPr>
        <p:spPr bwMode="auto">
          <a:xfrm>
            <a:off x="6553200" y="1371600"/>
            <a:ext cx="763588" cy="754063"/>
          </a:xfrm>
          <a:custGeom>
            <a:avLst/>
            <a:gdLst>
              <a:gd name="T0" fmla="*/ 123825 w 481"/>
              <a:gd name="T1" fmla="*/ 671513 h 475"/>
              <a:gd name="T2" fmla="*/ 596900 w 481"/>
              <a:gd name="T3" fmla="*/ 692150 h 475"/>
              <a:gd name="T4" fmla="*/ 733425 w 481"/>
              <a:gd name="T5" fmla="*/ 303213 h 475"/>
              <a:gd name="T6" fmla="*/ 417513 w 481"/>
              <a:gd name="T7" fmla="*/ 7938 h 475"/>
              <a:gd name="T8" fmla="*/ 49213 w 481"/>
              <a:gd name="T9" fmla="*/ 250825 h 475"/>
              <a:gd name="T10" fmla="*/ 123825 w 481"/>
              <a:gd name="T11" fmla="*/ 671513 h 47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1" h="475">
                <a:moveTo>
                  <a:pt x="78" y="423"/>
                </a:moveTo>
                <a:cubicBezTo>
                  <a:pt x="135" y="469"/>
                  <a:pt x="312" y="475"/>
                  <a:pt x="376" y="436"/>
                </a:cubicBezTo>
                <a:cubicBezTo>
                  <a:pt x="440" y="397"/>
                  <a:pt x="481" y="263"/>
                  <a:pt x="462" y="191"/>
                </a:cubicBezTo>
                <a:cubicBezTo>
                  <a:pt x="443" y="119"/>
                  <a:pt x="335" y="10"/>
                  <a:pt x="263" y="5"/>
                </a:cubicBezTo>
                <a:cubicBezTo>
                  <a:pt x="191" y="0"/>
                  <a:pt x="62" y="88"/>
                  <a:pt x="31" y="158"/>
                </a:cubicBezTo>
                <a:cubicBezTo>
                  <a:pt x="0" y="228"/>
                  <a:pt x="21" y="377"/>
                  <a:pt x="78" y="423"/>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6328" name="Freeform 136"/>
          <p:cNvSpPr>
            <a:spLocks/>
          </p:cNvSpPr>
          <p:nvPr/>
        </p:nvSpPr>
        <p:spPr bwMode="auto">
          <a:xfrm>
            <a:off x="6096000" y="76200"/>
            <a:ext cx="1812925" cy="1292225"/>
          </a:xfrm>
          <a:custGeom>
            <a:avLst/>
            <a:gdLst>
              <a:gd name="T0" fmla="*/ 144463 w 1142"/>
              <a:gd name="T1" fmla="*/ 1149350 h 814"/>
              <a:gd name="T2" fmla="*/ 830263 w 1142"/>
              <a:gd name="T3" fmla="*/ 1149350 h 814"/>
              <a:gd name="T4" fmla="*/ 1668463 w 1142"/>
              <a:gd name="T5" fmla="*/ 1225550 h 814"/>
              <a:gd name="T6" fmla="*/ 1695450 w 1142"/>
              <a:gd name="T7" fmla="*/ 749300 h 814"/>
              <a:gd name="T8" fmla="*/ 982663 w 1142"/>
              <a:gd name="T9" fmla="*/ 6350 h 814"/>
              <a:gd name="T10" fmla="*/ 139700 w 1142"/>
              <a:gd name="T11" fmla="*/ 708025 h 814"/>
              <a:gd name="T12" fmla="*/ 144463 w 1142"/>
              <a:gd name="T13" fmla="*/ 1149350 h 81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42" h="814">
                <a:moveTo>
                  <a:pt x="91" y="724"/>
                </a:moveTo>
                <a:cubicBezTo>
                  <a:pt x="163" y="804"/>
                  <a:pt x="363" y="716"/>
                  <a:pt x="523" y="724"/>
                </a:cubicBezTo>
                <a:cubicBezTo>
                  <a:pt x="683" y="732"/>
                  <a:pt x="960" y="814"/>
                  <a:pt x="1051" y="772"/>
                </a:cubicBezTo>
                <a:cubicBezTo>
                  <a:pt x="1142" y="730"/>
                  <a:pt x="1140" y="600"/>
                  <a:pt x="1068" y="472"/>
                </a:cubicBezTo>
                <a:cubicBezTo>
                  <a:pt x="996" y="344"/>
                  <a:pt x="782" y="8"/>
                  <a:pt x="619" y="4"/>
                </a:cubicBezTo>
                <a:cubicBezTo>
                  <a:pt x="456" y="0"/>
                  <a:pt x="176" y="326"/>
                  <a:pt x="88" y="446"/>
                </a:cubicBezTo>
                <a:cubicBezTo>
                  <a:pt x="0" y="566"/>
                  <a:pt x="91" y="666"/>
                  <a:pt x="91" y="724"/>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6324" name="Freeform 132"/>
          <p:cNvSpPr>
            <a:spLocks/>
          </p:cNvSpPr>
          <p:nvPr/>
        </p:nvSpPr>
        <p:spPr bwMode="auto">
          <a:xfrm>
            <a:off x="1684338" y="1336675"/>
            <a:ext cx="763587" cy="754063"/>
          </a:xfrm>
          <a:custGeom>
            <a:avLst/>
            <a:gdLst>
              <a:gd name="T0" fmla="*/ 123825 w 481"/>
              <a:gd name="T1" fmla="*/ 671513 h 475"/>
              <a:gd name="T2" fmla="*/ 596900 w 481"/>
              <a:gd name="T3" fmla="*/ 692150 h 475"/>
              <a:gd name="T4" fmla="*/ 733425 w 481"/>
              <a:gd name="T5" fmla="*/ 303213 h 475"/>
              <a:gd name="T6" fmla="*/ 417512 w 481"/>
              <a:gd name="T7" fmla="*/ 7938 h 475"/>
              <a:gd name="T8" fmla="*/ 49212 w 481"/>
              <a:gd name="T9" fmla="*/ 250825 h 475"/>
              <a:gd name="T10" fmla="*/ 123825 w 481"/>
              <a:gd name="T11" fmla="*/ 671513 h 47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1" h="475">
                <a:moveTo>
                  <a:pt x="78" y="423"/>
                </a:moveTo>
                <a:cubicBezTo>
                  <a:pt x="135" y="469"/>
                  <a:pt x="312" y="475"/>
                  <a:pt x="376" y="436"/>
                </a:cubicBezTo>
                <a:cubicBezTo>
                  <a:pt x="440" y="397"/>
                  <a:pt x="481" y="263"/>
                  <a:pt x="462" y="191"/>
                </a:cubicBezTo>
                <a:cubicBezTo>
                  <a:pt x="443" y="119"/>
                  <a:pt x="335" y="10"/>
                  <a:pt x="263" y="5"/>
                </a:cubicBezTo>
                <a:cubicBezTo>
                  <a:pt x="191" y="0"/>
                  <a:pt x="62" y="88"/>
                  <a:pt x="31" y="158"/>
                </a:cubicBezTo>
                <a:cubicBezTo>
                  <a:pt x="0" y="228"/>
                  <a:pt x="21" y="377"/>
                  <a:pt x="78" y="423"/>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6323" name="Freeform 131"/>
          <p:cNvSpPr>
            <a:spLocks/>
          </p:cNvSpPr>
          <p:nvPr/>
        </p:nvSpPr>
        <p:spPr bwMode="auto">
          <a:xfrm>
            <a:off x="2176463" y="1362075"/>
            <a:ext cx="1841500" cy="1625600"/>
          </a:xfrm>
          <a:custGeom>
            <a:avLst/>
            <a:gdLst>
              <a:gd name="T0" fmla="*/ 9525 w 1160"/>
              <a:gd name="T1" fmla="*/ 1171575 h 1024"/>
              <a:gd name="T2" fmla="*/ 303213 w 1160"/>
              <a:gd name="T3" fmla="*/ 1601788 h 1024"/>
              <a:gd name="T4" fmla="*/ 1670050 w 1160"/>
              <a:gd name="T5" fmla="*/ 1317625 h 1024"/>
              <a:gd name="T6" fmla="*/ 1333500 w 1160"/>
              <a:gd name="T7" fmla="*/ 203200 h 1024"/>
              <a:gd name="T8" fmla="*/ 703263 w 1160"/>
              <a:gd name="T9" fmla="*/ 98425 h 1024"/>
              <a:gd name="T10" fmla="*/ 357188 w 1160"/>
              <a:gd name="T11" fmla="*/ 655638 h 1024"/>
              <a:gd name="T12" fmla="*/ 9525 w 1160"/>
              <a:gd name="T13" fmla="*/ 1171575 h 10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60" h="1024">
                <a:moveTo>
                  <a:pt x="6" y="738"/>
                </a:moveTo>
                <a:cubicBezTo>
                  <a:pt x="0" y="837"/>
                  <a:pt x="17" y="994"/>
                  <a:pt x="191" y="1009"/>
                </a:cubicBezTo>
                <a:cubicBezTo>
                  <a:pt x="365" y="1024"/>
                  <a:pt x="944" y="977"/>
                  <a:pt x="1052" y="830"/>
                </a:cubicBezTo>
                <a:cubicBezTo>
                  <a:pt x="1160" y="683"/>
                  <a:pt x="941" y="256"/>
                  <a:pt x="840" y="128"/>
                </a:cubicBezTo>
                <a:cubicBezTo>
                  <a:pt x="739" y="0"/>
                  <a:pt x="545" y="15"/>
                  <a:pt x="443" y="62"/>
                </a:cubicBezTo>
                <a:cubicBezTo>
                  <a:pt x="341" y="109"/>
                  <a:pt x="298" y="300"/>
                  <a:pt x="225" y="413"/>
                </a:cubicBezTo>
                <a:cubicBezTo>
                  <a:pt x="152" y="526"/>
                  <a:pt x="9" y="646"/>
                  <a:pt x="6" y="738"/>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6322" name="Freeform 130"/>
          <p:cNvSpPr>
            <a:spLocks/>
          </p:cNvSpPr>
          <p:nvPr/>
        </p:nvSpPr>
        <p:spPr bwMode="auto">
          <a:xfrm>
            <a:off x="382588" y="1438275"/>
            <a:ext cx="1608137" cy="1533525"/>
          </a:xfrm>
          <a:custGeom>
            <a:avLst/>
            <a:gdLst>
              <a:gd name="T0" fmla="*/ 101600 w 1013"/>
              <a:gd name="T1" fmla="*/ 1316038 h 966"/>
              <a:gd name="T2" fmla="*/ 868362 w 1013"/>
              <a:gd name="T3" fmla="*/ 1525588 h 966"/>
              <a:gd name="T4" fmla="*/ 1550987 w 1013"/>
              <a:gd name="T5" fmla="*/ 1263650 h 966"/>
              <a:gd name="T6" fmla="*/ 1214437 w 1013"/>
              <a:gd name="T7" fmla="*/ 642938 h 966"/>
              <a:gd name="T8" fmla="*/ 889000 w 1013"/>
              <a:gd name="T9" fmla="*/ 22225 h 966"/>
              <a:gd name="T10" fmla="*/ 258762 w 1013"/>
              <a:gd name="T11" fmla="*/ 506413 h 966"/>
              <a:gd name="T12" fmla="*/ 101600 w 1013"/>
              <a:gd name="T13" fmla="*/ 1316038 h 9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13" h="966">
                <a:moveTo>
                  <a:pt x="64" y="829"/>
                </a:moveTo>
                <a:cubicBezTo>
                  <a:pt x="128" y="936"/>
                  <a:pt x="395" y="966"/>
                  <a:pt x="547" y="961"/>
                </a:cubicBezTo>
                <a:cubicBezTo>
                  <a:pt x="699" y="956"/>
                  <a:pt x="941" y="889"/>
                  <a:pt x="977" y="796"/>
                </a:cubicBezTo>
                <a:cubicBezTo>
                  <a:pt x="1013" y="703"/>
                  <a:pt x="834" y="535"/>
                  <a:pt x="765" y="405"/>
                </a:cubicBezTo>
                <a:cubicBezTo>
                  <a:pt x="696" y="275"/>
                  <a:pt x="660" y="28"/>
                  <a:pt x="560" y="14"/>
                </a:cubicBezTo>
                <a:cubicBezTo>
                  <a:pt x="460" y="0"/>
                  <a:pt x="246" y="183"/>
                  <a:pt x="163" y="319"/>
                </a:cubicBezTo>
                <a:cubicBezTo>
                  <a:pt x="80" y="455"/>
                  <a:pt x="0" y="722"/>
                  <a:pt x="64" y="829"/>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6321" name="Freeform 129"/>
          <p:cNvSpPr>
            <a:spLocks/>
          </p:cNvSpPr>
          <p:nvPr/>
        </p:nvSpPr>
        <p:spPr bwMode="auto">
          <a:xfrm>
            <a:off x="1227138" y="69850"/>
            <a:ext cx="1812925" cy="1292225"/>
          </a:xfrm>
          <a:custGeom>
            <a:avLst/>
            <a:gdLst>
              <a:gd name="T0" fmla="*/ 144463 w 1142"/>
              <a:gd name="T1" fmla="*/ 1149350 h 814"/>
              <a:gd name="T2" fmla="*/ 830263 w 1142"/>
              <a:gd name="T3" fmla="*/ 1149350 h 814"/>
              <a:gd name="T4" fmla="*/ 1668463 w 1142"/>
              <a:gd name="T5" fmla="*/ 1225550 h 814"/>
              <a:gd name="T6" fmla="*/ 1695450 w 1142"/>
              <a:gd name="T7" fmla="*/ 749300 h 814"/>
              <a:gd name="T8" fmla="*/ 982663 w 1142"/>
              <a:gd name="T9" fmla="*/ 6350 h 814"/>
              <a:gd name="T10" fmla="*/ 139700 w 1142"/>
              <a:gd name="T11" fmla="*/ 708025 h 814"/>
              <a:gd name="T12" fmla="*/ 144463 w 1142"/>
              <a:gd name="T13" fmla="*/ 1149350 h 81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42" h="814">
                <a:moveTo>
                  <a:pt x="91" y="724"/>
                </a:moveTo>
                <a:cubicBezTo>
                  <a:pt x="163" y="804"/>
                  <a:pt x="363" y="716"/>
                  <a:pt x="523" y="724"/>
                </a:cubicBezTo>
                <a:cubicBezTo>
                  <a:pt x="683" y="732"/>
                  <a:pt x="960" y="814"/>
                  <a:pt x="1051" y="772"/>
                </a:cubicBezTo>
                <a:cubicBezTo>
                  <a:pt x="1142" y="730"/>
                  <a:pt x="1140" y="600"/>
                  <a:pt x="1068" y="472"/>
                </a:cubicBezTo>
                <a:cubicBezTo>
                  <a:pt x="996" y="344"/>
                  <a:pt x="782" y="8"/>
                  <a:pt x="619" y="4"/>
                </a:cubicBezTo>
                <a:cubicBezTo>
                  <a:pt x="456" y="0"/>
                  <a:pt x="176" y="326"/>
                  <a:pt x="88" y="446"/>
                </a:cubicBezTo>
                <a:cubicBezTo>
                  <a:pt x="0" y="566"/>
                  <a:pt x="91" y="666"/>
                  <a:pt x="91" y="724"/>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nvGrpSpPr>
          <p:cNvPr id="48138" name="Group 87"/>
          <p:cNvGrpSpPr>
            <a:grpSpLocks/>
          </p:cNvGrpSpPr>
          <p:nvPr/>
        </p:nvGrpSpPr>
        <p:grpSpPr bwMode="auto">
          <a:xfrm>
            <a:off x="609600" y="152400"/>
            <a:ext cx="2940050" cy="2728913"/>
            <a:chOff x="476" y="96"/>
            <a:chExt cx="1852" cy="1719"/>
          </a:xfrm>
        </p:grpSpPr>
        <p:grpSp>
          <p:nvGrpSpPr>
            <p:cNvPr id="48225" name="Group 83"/>
            <p:cNvGrpSpPr>
              <a:grpSpLocks/>
            </p:cNvGrpSpPr>
            <p:nvPr/>
          </p:nvGrpSpPr>
          <p:grpSpPr bwMode="auto">
            <a:xfrm>
              <a:off x="476" y="96"/>
              <a:ext cx="1852" cy="1719"/>
              <a:chOff x="476" y="96"/>
              <a:chExt cx="1852" cy="1719"/>
            </a:xfrm>
          </p:grpSpPr>
          <p:sp>
            <p:nvSpPr>
              <p:cNvPr id="48227" name="Oval 6"/>
              <p:cNvSpPr>
                <a:spLocks noChangeArrowheads="1"/>
              </p:cNvSpPr>
              <p:nvPr/>
            </p:nvSpPr>
            <p:spPr bwMode="auto">
              <a:xfrm>
                <a:off x="528"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229" name="Oval 8"/>
              <p:cNvSpPr>
                <a:spLocks noChangeArrowheads="1"/>
              </p:cNvSpPr>
              <p:nvPr/>
            </p:nvSpPr>
            <p:spPr bwMode="auto">
              <a:xfrm>
                <a:off x="1344" y="105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230" name="Oval 9"/>
              <p:cNvSpPr>
                <a:spLocks noChangeArrowheads="1"/>
              </p:cNvSpPr>
              <p:nvPr/>
            </p:nvSpPr>
            <p:spPr bwMode="auto">
              <a:xfrm>
                <a:off x="816" y="105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231" name="Oval 10"/>
              <p:cNvSpPr>
                <a:spLocks noChangeArrowheads="1"/>
              </p:cNvSpPr>
              <p:nvPr/>
            </p:nvSpPr>
            <p:spPr bwMode="auto">
              <a:xfrm>
                <a:off x="1056"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232" name="Oval 11"/>
              <p:cNvSpPr>
                <a:spLocks noChangeArrowheads="1"/>
              </p:cNvSpPr>
              <p:nvPr/>
            </p:nvSpPr>
            <p:spPr bwMode="auto">
              <a:xfrm>
                <a:off x="1632"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233" name="Oval 12"/>
              <p:cNvSpPr>
                <a:spLocks noChangeArrowheads="1"/>
              </p:cNvSpPr>
              <p:nvPr/>
            </p:nvSpPr>
            <p:spPr bwMode="auto">
              <a:xfrm>
                <a:off x="1680" y="6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234" name="Oval 13"/>
              <p:cNvSpPr>
                <a:spLocks noChangeArrowheads="1"/>
              </p:cNvSpPr>
              <p:nvPr/>
            </p:nvSpPr>
            <p:spPr bwMode="auto">
              <a:xfrm>
                <a:off x="1920" y="105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235" name="Oval 14"/>
              <p:cNvSpPr>
                <a:spLocks noChangeArrowheads="1"/>
              </p:cNvSpPr>
              <p:nvPr/>
            </p:nvSpPr>
            <p:spPr bwMode="auto">
              <a:xfrm>
                <a:off x="1440" y="14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236" name="Oval 15"/>
              <p:cNvSpPr>
                <a:spLocks noChangeArrowheads="1"/>
              </p:cNvSpPr>
              <p:nvPr/>
            </p:nvSpPr>
            <p:spPr bwMode="auto">
              <a:xfrm>
                <a:off x="2208"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237" name="Freeform 16"/>
              <p:cNvSpPr>
                <a:spLocks/>
              </p:cNvSpPr>
              <p:nvPr/>
            </p:nvSpPr>
            <p:spPr bwMode="auto">
              <a:xfrm>
                <a:off x="1172" y="232"/>
                <a:ext cx="285" cy="397"/>
              </a:xfrm>
              <a:custGeom>
                <a:avLst/>
                <a:gdLst>
                  <a:gd name="T0" fmla="*/ 285 w 285"/>
                  <a:gd name="T1" fmla="*/ 0 h 397"/>
                  <a:gd name="T2" fmla="*/ 0 w 285"/>
                  <a:gd name="T3" fmla="*/ 397 h 397"/>
                  <a:gd name="T4" fmla="*/ 0 60000 65536"/>
                  <a:gd name="T5" fmla="*/ 0 60000 65536"/>
                </a:gdLst>
                <a:ahLst/>
                <a:cxnLst>
                  <a:cxn ang="T4">
                    <a:pos x="T0" y="T1"/>
                  </a:cxn>
                  <a:cxn ang="T5">
                    <a:pos x="T2" y="T3"/>
                  </a:cxn>
                </a:cxnLst>
                <a:rect l="0" t="0" r="r" b="b"/>
                <a:pathLst>
                  <a:path w="285" h="397">
                    <a:moveTo>
                      <a:pt x="285" y="0"/>
                    </a:moveTo>
                    <a:lnTo>
                      <a:pt x="0" y="397"/>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38" name="Freeform 17"/>
              <p:cNvSpPr>
                <a:spLocks/>
              </p:cNvSpPr>
              <p:nvPr/>
            </p:nvSpPr>
            <p:spPr bwMode="auto">
              <a:xfrm>
                <a:off x="894" y="720"/>
                <a:ext cx="210" cy="333"/>
              </a:xfrm>
              <a:custGeom>
                <a:avLst/>
                <a:gdLst>
                  <a:gd name="T0" fmla="*/ 210 w 210"/>
                  <a:gd name="T1" fmla="*/ 0 h 333"/>
                  <a:gd name="T2" fmla="*/ 0 w 210"/>
                  <a:gd name="T3" fmla="*/ 333 h 333"/>
                  <a:gd name="T4" fmla="*/ 0 60000 65536"/>
                  <a:gd name="T5" fmla="*/ 0 60000 65536"/>
                </a:gdLst>
                <a:ahLst/>
                <a:cxnLst>
                  <a:cxn ang="T4">
                    <a:pos x="T0" y="T1"/>
                  </a:cxn>
                  <a:cxn ang="T5">
                    <a:pos x="T2" y="T3"/>
                  </a:cxn>
                </a:cxnLst>
                <a:rect l="0" t="0" r="r" b="b"/>
                <a:pathLst>
                  <a:path w="210" h="333">
                    <a:moveTo>
                      <a:pt x="210" y="0"/>
                    </a:moveTo>
                    <a:lnTo>
                      <a:pt x="0" y="333"/>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39" name="Freeform 18"/>
              <p:cNvSpPr>
                <a:spLocks/>
              </p:cNvSpPr>
              <p:nvPr/>
            </p:nvSpPr>
            <p:spPr bwMode="auto">
              <a:xfrm>
                <a:off x="596" y="1145"/>
                <a:ext cx="238" cy="398"/>
              </a:xfrm>
              <a:custGeom>
                <a:avLst/>
                <a:gdLst>
                  <a:gd name="T0" fmla="*/ 0 w 238"/>
                  <a:gd name="T1" fmla="*/ 398 h 398"/>
                  <a:gd name="T2" fmla="*/ 238 w 238"/>
                  <a:gd name="T3" fmla="*/ 0 h 398"/>
                  <a:gd name="T4" fmla="*/ 0 60000 65536"/>
                  <a:gd name="T5" fmla="*/ 0 60000 65536"/>
                </a:gdLst>
                <a:ahLst/>
                <a:cxnLst>
                  <a:cxn ang="T4">
                    <a:pos x="T0" y="T1"/>
                  </a:cxn>
                  <a:cxn ang="T5">
                    <a:pos x="T2" y="T3"/>
                  </a:cxn>
                </a:cxnLst>
                <a:rect l="0" t="0" r="r" b="b"/>
                <a:pathLst>
                  <a:path w="238" h="398">
                    <a:moveTo>
                      <a:pt x="0" y="398"/>
                    </a:moveTo>
                    <a:lnTo>
                      <a:pt x="238"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40" name="Freeform 20"/>
              <p:cNvSpPr>
                <a:spLocks/>
              </p:cNvSpPr>
              <p:nvPr/>
            </p:nvSpPr>
            <p:spPr bwMode="auto">
              <a:xfrm>
                <a:off x="1503" y="232"/>
                <a:ext cx="199" cy="390"/>
              </a:xfrm>
              <a:custGeom>
                <a:avLst/>
                <a:gdLst>
                  <a:gd name="T0" fmla="*/ 199 w 199"/>
                  <a:gd name="T1" fmla="*/ 390 h 390"/>
                  <a:gd name="T2" fmla="*/ 0 w 199"/>
                  <a:gd name="T3" fmla="*/ 0 h 390"/>
                  <a:gd name="T4" fmla="*/ 0 60000 65536"/>
                  <a:gd name="T5" fmla="*/ 0 60000 65536"/>
                </a:gdLst>
                <a:ahLst/>
                <a:cxnLst>
                  <a:cxn ang="T4">
                    <a:pos x="T0" y="T1"/>
                  </a:cxn>
                  <a:cxn ang="T5">
                    <a:pos x="T2" y="T3"/>
                  </a:cxn>
                </a:cxnLst>
                <a:rect l="0" t="0" r="r" b="b"/>
                <a:pathLst>
                  <a:path w="199" h="390">
                    <a:moveTo>
                      <a:pt x="199" y="390"/>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41" name="Freeform 21"/>
              <p:cNvSpPr>
                <a:spLocks/>
              </p:cNvSpPr>
              <p:nvPr/>
            </p:nvSpPr>
            <p:spPr bwMode="auto">
              <a:xfrm>
                <a:off x="1198" y="673"/>
                <a:ext cx="482" cy="2"/>
              </a:xfrm>
              <a:custGeom>
                <a:avLst/>
                <a:gdLst>
                  <a:gd name="T0" fmla="*/ 0 w 482"/>
                  <a:gd name="T1" fmla="*/ 2 h 2"/>
                  <a:gd name="T2" fmla="*/ 482 w 482"/>
                  <a:gd name="T3" fmla="*/ 0 h 2"/>
                  <a:gd name="T4" fmla="*/ 0 60000 65536"/>
                  <a:gd name="T5" fmla="*/ 0 60000 65536"/>
                </a:gdLst>
                <a:ahLst/>
                <a:cxnLst>
                  <a:cxn ang="T4">
                    <a:pos x="T0" y="T1"/>
                  </a:cxn>
                  <a:cxn ang="T5">
                    <a:pos x="T2" y="T3"/>
                  </a:cxn>
                </a:cxnLst>
                <a:rect l="0" t="0" r="r" b="b"/>
                <a:pathLst>
                  <a:path w="482" h="2">
                    <a:moveTo>
                      <a:pt x="0" y="2"/>
                    </a:moveTo>
                    <a:lnTo>
                      <a:pt x="482"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42" name="Freeform 22"/>
              <p:cNvSpPr>
                <a:spLocks/>
              </p:cNvSpPr>
              <p:nvPr/>
            </p:nvSpPr>
            <p:spPr bwMode="auto">
              <a:xfrm>
                <a:off x="1437" y="708"/>
                <a:ext cx="258" cy="358"/>
              </a:xfrm>
              <a:custGeom>
                <a:avLst/>
                <a:gdLst>
                  <a:gd name="T0" fmla="*/ 258 w 258"/>
                  <a:gd name="T1" fmla="*/ 0 h 358"/>
                  <a:gd name="T2" fmla="*/ 0 w 258"/>
                  <a:gd name="T3" fmla="*/ 358 h 358"/>
                  <a:gd name="T4" fmla="*/ 0 60000 65536"/>
                  <a:gd name="T5" fmla="*/ 0 60000 65536"/>
                </a:gdLst>
                <a:ahLst/>
                <a:cxnLst>
                  <a:cxn ang="T4">
                    <a:pos x="T0" y="T1"/>
                  </a:cxn>
                  <a:cxn ang="T5">
                    <a:pos x="T2" y="T3"/>
                  </a:cxn>
                </a:cxnLst>
                <a:rect l="0" t="0" r="r" b="b"/>
                <a:pathLst>
                  <a:path w="258" h="358">
                    <a:moveTo>
                      <a:pt x="258" y="0"/>
                    </a:moveTo>
                    <a:lnTo>
                      <a:pt x="0" y="358"/>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43" name="Freeform 23"/>
              <p:cNvSpPr>
                <a:spLocks/>
              </p:cNvSpPr>
              <p:nvPr/>
            </p:nvSpPr>
            <p:spPr bwMode="auto">
              <a:xfrm>
                <a:off x="1172" y="708"/>
                <a:ext cx="185" cy="351"/>
              </a:xfrm>
              <a:custGeom>
                <a:avLst/>
                <a:gdLst>
                  <a:gd name="T0" fmla="*/ 0 w 185"/>
                  <a:gd name="T1" fmla="*/ 0 h 351"/>
                  <a:gd name="T2" fmla="*/ 185 w 185"/>
                  <a:gd name="T3" fmla="*/ 351 h 351"/>
                  <a:gd name="T4" fmla="*/ 0 60000 65536"/>
                  <a:gd name="T5" fmla="*/ 0 60000 65536"/>
                </a:gdLst>
                <a:ahLst/>
                <a:cxnLst>
                  <a:cxn ang="T4">
                    <a:pos x="T0" y="T1"/>
                  </a:cxn>
                  <a:cxn ang="T5">
                    <a:pos x="T2" y="T3"/>
                  </a:cxn>
                </a:cxnLst>
                <a:rect l="0" t="0" r="r" b="b"/>
                <a:pathLst>
                  <a:path w="185" h="351">
                    <a:moveTo>
                      <a:pt x="0" y="0"/>
                    </a:moveTo>
                    <a:lnTo>
                      <a:pt x="185" y="35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44" name="Freeform 24"/>
              <p:cNvSpPr>
                <a:spLocks/>
              </p:cNvSpPr>
              <p:nvPr/>
            </p:nvSpPr>
            <p:spPr bwMode="auto">
              <a:xfrm>
                <a:off x="912" y="1105"/>
                <a:ext cx="439" cy="1"/>
              </a:xfrm>
              <a:custGeom>
                <a:avLst/>
                <a:gdLst>
                  <a:gd name="T0" fmla="*/ 439 w 439"/>
                  <a:gd name="T1" fmla="*/ 1 h 1"/>
                  <a:gd name="T2" fmla="*/ 0 w 439"/>
                  <a:gd name="T3" fmla="*/ 0 h 1"/>
                  <a:gd name="T4" fmla="*/ 0 60000 65536"/>
                  <a:gd name="T5" fmla="*/ 0 60000 65536"/>
                </a:gdLst>
                <a:ahLst/>
                <a:cxnLst>
                  <a:cxn ang="T4">
                    <a:pos x="T0" y="T1"/>
                  </a:cxn>
                  <a:cxn ang="T5">
                    <a:pos x="T2" y="T3"/>
                  </a:cxn>
                </a:cxnLst>
                <a:rect l="0" t="0" r="r" b="b"/>
                <a:pathLst>
                  <a:path w="439" h="1">
                    <a:moveTo>
                      <a:pt x="439" y="1"/>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45" name="Freeform 25"/>
              <p:cNvSpPr>
                <a:spLocks/>
              </p:cNvSpPr>
              <p:nvPr/>
            </p:nvSpPr>
            <p:spPr bwMode="auto">
              <a:xfrm>
                <a:off x="887" y="1145"/>
                <a:ext cx="199" cy="391"/>
              </a:xfrm>
              <a:custGeom>
                <a:avLst/>
                <a:gdLst>
                  <a:gd name="T0" fmla="*/ 0 w 199"/>
                  <a:gd name="T1" fmla="*/ 0 h 391"/>
                  <a:gd name="T2" fmla="*/ 199 w 199"/>
                  <a:gd name="T3" fmla="*/ 391 h 391"/>
                  <a:gd name="T4" fmla="*/ 0 60000 65536"/>
                  <a:gd name="T5" fmla="*/ 0 60000 65536"/>
                </a:gdLst>
                <a:ahLst/>
                <a:cxnLst>
                  <a:cxn ang="T4">
                    <a:pos x="T0" y="T1"/>
                  </a:cxn>
                  <a:cxn ang="T5">
                    <a:pos x="T2" y="T3"/>
                  </a:cxn>
                </a:cxnLst>
                <a:rect l="0" t="0" r="r" b="b"/>
                <a:pathLst>
                  <a:path w="199" h="391">
                    <a:moveTo>
                      <a:pt x="0" y="0"/>
                    </a:moveTo>
                    <a:lnTo>
                      <a:pt x="199" y="39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46" name="Freeform 26"/>
              <p:cNvSpPr>
                <a:spLocks/>
              </p:cNvSpPr>
              <p:nvPr/>
            </p:nvSpPr>
            <p:spPr bwMode="auto">
              <a:xfrm>
                <a:off x="629" y="1582"/>
                <a:ext cx="427" cy="2"/>
              </a:xfrm>
              <a:custGeom>
                <a:avLst/>
                <a:gdLst>
                  <a:gd name="T0" fmla="*/ 427 w 427"/>
                  <a:gd name="T1" fmla="*/ 2 h 2"/>
                  <a:gd name="T2" fmla="*/ 0 w 427"/>
                  <a:gd name="T3" fmla="*/ 0 h 2"/>
                  <a:gd name="T4" fmla="*/ 0 60000 65536"/>
                  <a:gd name="T5" fmla="*/ 0 60000 65536"/>
                </a:gdLst>
                <a:ahLst/>
                <a:cxnLst>
                  <a:cxn ang="T4">
                    <a:pos x="T0" y="T1"/>
                  </a:cxn>
                  <a:cxn ang="T5">
                    <a:pos x="T2" y="T3"/>
                  </a:cxn>
                </a:cxnLst>
                <a:rect l="0" t="0" r="r" b="b"/>
                <a:pathLst>
                  <a:path w="427" h="2">
                    <a:moveTo>
                      <a:pt x="427" y="2"/>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47" name="Line 27"/>
              <p:cNvSpPr>
                <a:spLocks noChangeShapeType="1"/>
              </p:cNvSpPr>
              <p:nvPr/>
            </p:nvSpPr>
            <p:spPr bwMode="auto">
              <a:xfrm flipH="1">
                <a:off x="1152" y="1584"/>
                <a:ext cx="48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48" name="Line 28"/>
              <p:cNvSpPr>
                <a:spLocks noChangeShapeType="1"/>
              </p:cNvSpPr>
              <p:nvPr/>
            </p:nvSpPr>
            <p:spPr bwMode="auto">
              <a:xfrm>
                <a:off x="1728" y="1584"/>
                <a:ext cx="48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49" name="Freeform 29"/>
              <p:cNvSpPr>
                <a:spLocks/>
              </p:cNvSpPr>
              <p:nvPr/>
            </p:nvSpPr>
            <p:spPr bwMode="auto">
              <a:xfrm>
                <a:off x="1132" y="1145"/>
                <a:ext cx="232" cy="391"/>
              </a:xfrm>
              <a:custGeom>
                <a:avLst/>
                <a:gdLst>
                  <a:gd name="T0" fmla="*/ 232 w 232"/>
                  <a:gd name="T1" fmla="*/ 0 h 391"/>
                  <a:gd name="T2" fmla="*/ 0 w 232"/>
                  <a:gd name="T3" fmla="*/ 391 h 391"/>
                  <a:gd name="T4" fmla="*/ 0 60000 65536"/>
                  <a:gd name="T5" fmla="*/ 0 60000 65536"/>
                </a:gdLst>
                <a:ahLst/>
                <a:cxnLst>
                  <a:cxn ang="T4">
                    <a:pos x="T0" y="T1"/>
                  </a:cxn>
                  <a:cxn ang="T5">
                    <a:pos x="T2" y="T3"/>
                  </a:cxn>
                </a:cxnLst>
                <a:rect l="0" t="0" r="r" b="b"/>
                <a:pathLst>
                  <a:path w="232" h="391">
                    <a:moveTo>
                      <a:pt x="232" y="0"/>
                    </a:moveTo>
                    <a:lnTo>
                      <a:pt x="0" y="39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50" name="Freeform 30"/>
              <p:cNvSpPr>
                <a:spLocks/>
              </p:cNvSpPr>
              <p:nvPr/>
            </p:nvSpPr>
            <p:spPr bwMode="auto">
              <a:xfrm>
                <a:off x="1417" y="1139"/>
                <a:ext cx="238" cy="404"/>
              </a:xfrm>
              <a:custGeom>
                <a:avLst/>
                <a:gdLst>
                  <a:gd name="T0" fmla="*/ 0 w 238"/>
                  <a:gd name="T1" fmla="*/ 0 h 404"/>
                  <a:gd name="T2" fmla="*/ 238 w 238"/>
                  <a:gd name="T3" fmla="*/ 404 h 404"/>
                  <a:gd name="T4" fmla="*/ 0 60000 65536"/>
                  <a:gd name="T5" fmla="*/ 0 60000 65536"/>
                </a:gdLst>
                <a:ahLst/>
                <a:cxnLst>
                  <a:cxn ang="T4">
                    <a:pos x="T0" y="T1"/>
                  </a:cxn>
                  <a:cxn ang="T5">
                    <a:pos x="T2" y="T3"/>
                  </a:cxn>
                </a:cxnLst>
                <a:rect l="0" t="0" r="r" b="b"/>
                <a:pathLst>
                  <a:path w="238" h="404">
                    <a:moveTo>
                      <a:pt x="0" y="0"/>
                    </a:moveTo>
                    <a:lnTo>
                      <a:pt x="238" y="404"/>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51" name="Line 31"/>
              <p:cNvSpPr>
                <a:spLocks noChangeShapeType="1"/>
              </p:cNvSpPr>
              <p:nvPr/>
            </p:nvSpPr>
            <p:spPr bwMode="auto">
              <a:xfrm flipH="1">
                <a:off x="1680" y="1152"/>
                <a:ext cx="240" cy="3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52" name="Freeform 32"/>
              <p:cNvSpPr>
                <a:spLocks/>
              </p:cNvSpPr>
              <p:nvPr/>
            </p:nvSpPr>
            <p:spPr bwMode="auto">
              <a:xfrm>
                <a:off x="1993" y="1152"/>
                <a:ext cx="245" cy="391"/>
              </a:xfrm>
              <a:custGeom>
                <a:avLst/>
                <a:gdLst>
                  <a:gd name="T0" fmla="*/ 245 w 245"/>
                  <a:gd name="T1" fmla="*/ 391 h 391"/>
                  <a:gd name="T2" fmla="*/ 0 w 245"/>
                  <a:gd name="T3" fmla="*/ 0 h 391"/>
                  <a:gd name="T4" fmla="*/ 0 60000 65536"/>
                  <a:gd name="T5" fmla="*/ 0 60000 65536"/>
                </a:gdLst>
                <a:ahLst/>
                <a:cxnLst>
                  <a:cxn ang="T4">
                    <a:pos x="T0" y="T1"/>
                  </a:cxn>
                  <a:cxn ang="T5">
                    <a:pos x="T2" y="T3"/>
                  </a:cxn>
                </a:cxnLst>
                <a:rect l="0" t="0" r="r" b="b"/>
                <a:pathLst>
                  <a:path w="245" h="391">
                    <a:moveTo>
                      <a:pt x="245" y="391"/>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53" name="Line 33"/>
              <p:cNvSpPr>
                <a:spLocks noChangeShapeType="1"/>
              </p:cNvSpPr>
              <p:nvPr/>
            </p:nvSpPr>
            <p:spPr bwMode="auto">
              <a:xfrm>
                <a:off x="1440" y="1104"/>
                <a:ext cx="48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54" name="Freeform 34"/>
              <p:cNvSpPr>
                <a:spLocks/>
              </p:cNvSpPr>
              <p:nvPr/>
            </p:nvSpPr>
            <p:spPr bwMode="auto">
              <a:xfrm>
                <a:off x="1748" y="715"/>
                <a:ext cx="198" cy="351"/>
              </a:xfrm>
              <a:custGeom>
                <a:avLst/>
                <a:gdLst>
                  <a:gd name="T0" fmla="*/ 0 w 198"/>
                  <a:gd name="T1" fmla="*/ 0 h 351"/>
                  <a:gd name="T2" fmla="*/ 198 w 198"/>
                  <a:gd name="T3" fmla="*/ 351 h 351"/>
                  <a:gd name="T4" fmla="*/ 0 60000 65536"/>
                  <a:gd name="T5" fmla="*/ 0 60000 65536"/>
                </a:gdLst>
                <a:ahLst/>
                <a:cxnLst>
                  <a:cxn ang="T4">
                    <a:pos x="T0" y="T1"/>
                  </a:cxn>
                  <a:cxn ang="T5">
                    <a:pos x="T2" y="T3"/>
                  </a:cxn>
                </a:cxnLst>
                <a:rect l="0" t="0" r="r" b="b"/>
                <a:pathLst>
                  <a:path w="198" h="351">
                    <a:moveTo>
                      <a:pt x="0" y="0"/>
                    </a:moveTo>
                    <a:lnTo>
                      <a:pt x="198" y="35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55" name="Text Box 35"/>
              <p:cNvSpPr txBox="1">
                <a:spLocks noChangeArrowheads="1"/>
              </p:cNvSpPr>
              <p:nvPr/>
            </p:nvSpPr>
            <p:spPr bwMode="auto">
              <a:xfrm>
                <a:off x="1296" y="9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a</a:t>
                </a:r>
              </a:p>
            </p:txBody>
          </p:sp>
          <p:sp>
            <p:nvSpPr>
              <p:cNvPr id="48256" name="Text Box 36"/>
              <p:cNvSpPr txBox="1">
                <a:spLocks noChangeArrowheads="1"/>
              </p:cNvSpPr>
              <p:nvPr/>
            </p:nvSpPr>
            <p:spPr bwMode="auto">
              <a:xfrm>
                <a:off x="956" y="48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b</a:t>
                </a:r>
              </a:p>
            </p:txBody>
          </p:sp>
          <p:sp>
            <p:nvSpPr>
              <p:cNvPr id="48257" name="Text Box 37"/>
              <p:cNvSpPr txBox="1">
                <a:spLocks noChangeArrowheads="1"/>
              </p:cNvSpPr>
              <p:nvPr/>
            </p:nvSpPr>
            <p:spPr bwMode="auto">
              <a:xfrm>
                <a:off x="1728" y="480"/>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c</a:t>
                </a:r>
              </a:p>
            </p:txBody>
          </p:sp>
          <p:sp>
            <p:nvSpPr>
              <p:cNvPr id="48258" name="Text Box 38"/>
              <p:cNvSpPr txBox="1">
                <a:spLocks noChangeArrowheads="1"/>
              </p:cNvSpPr>
              <p:nvPr/>
            </p:nvSpPr>
            <p:spPr bwMode="auto">
              <a:xfrm>
                <a:off x="668" y="91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d</a:t>
                </a:r>
              </a:p>
            </p:txBody>
          </p:sp>
          <p:sp>
            <p:nvSpPr>
              <p:cNvPr id="48259" name="Text Box 39"/>
              <p:cNvSpPr txBox="1">
                <a:spLocks noChangeArrowheads="1"/>
              </p:cNvSpPr>
              <p:nvPr/>
            </p:nvSpPr>
            <p:spPr bwMode="auto">
              <a:xfrm>
                <a:off x="1296" y="768"/>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e</a:t>
                </a:r>
              </a:p>
            </p:txBody>
          </p:sp>
          <p:sp>
            <p:nvSpPr>
              <p:cNvPr id="48260" name="Text Box 40"/>
              <p:cNvSpPr txBox="1">
                <a:spLocks noChangeArrowheads="1"/>
              </p:cNvSpPr>
              <p:nvPr/>
            </p:nvSpPr>
            <p:spPr bwMode="auto">
              <a:xfrm>
                <a:off x="2024" y="912"/>
                <a:ext cx="16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f</a:t>
                </a:r>
              </a:p>
            </p:txBody>
          </p:sp>
          <p:sp>
            <p:nvSpPr>
              <p:cNvPr id="48261" name="Text Box 41"/>
              <p:cNvSpPr txBox="1">
                <a:spLocks noChangeArrowheads="1"/>
              </p:cNvSpPr>
              <p:nvPr/>
            </p:nvSpPr>
            <p:spPr bwMode="auto">
              <a:xfrm>
                <a:off x="476" y="158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g</a:t>
                </a:r>
              </a:p>
            </p:txBody>
          </p:sp>
          <p:sp>
            <p:nvSpPr>
              <p:cNvPr id="48262" name="Text Box 42"/>
              <p:cNvSpPr txBox="1">
                <a:spLocks noChangeArrowheads="1"/>
              </p:cNvSpPr>
              <p:nvPr/>
            </p:nvSpPr>
            <p:spPr bwMode="auto">
              <a:xfrm>
                <a:off x="1004" y="158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h</a:t>
                </a:r>
              </a:p>
            </p:txBody>
          </p:sp>
          <p:sp>
            <p:nvSpPr>
              <p:cNvPr id="48263" name="Text Box 43"/>
              <p:cNvSpPr txBox="1">
                <a:spLocks noChangeArrowheads="1"/>
              </p:cNvSpPr>
              <p:nvPr/>
            </p:nvSpPr>
            <p:spPr bwMode="auto">
              <a:xfrm>
                <a:off x="1596" y="158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i</a:t>
                </a:r>
              </a:p>
            </p:txBody>
          </p:sp>
          <p:sp>
            <p:nvSpPr>
              <p:cNvPr id="48264" name="Text Box 44"/>
              <p:cNvSpPr txBox="1">
                <a:spLocks noChangeArrowheads="1"/>
              </p:cNvSpPr>
              <p:nvPr/>
            </p:nvSpPr>
            <p:spPr bwMode="auto">
              <a:xfrm>
                <a:off x="2172" y="158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j</a:t>
                </a:r>
              </a:p>
            </p:txBody>
          </p:sp>
          <p:sp>
            <p:nvSpPr>
              <p:cNvPr id="48228" name="Oval 7"/>
              <p:cNvSpPr>
                <a:spLocks noChangeArrowheads="1"/>
              </p:cNvSpPr>
              <p:nvPr/>
            </p:nvSpPr>
            <p:spPr bwMode="auto">
              <a:xfrm>
                <a:off x="1104" y="6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grpSp>
        <p:sp>
          <p:nvSpPr>
            <p:cNvPr id="48226" name="Text Box 85"/>
            <p:cNvSpPr txBox="1">
              <a:spLocks noChangeArrowheads="1"/>
            </p:cNvSpPr>
            <p:nvPr/>
          </p:nvSpPr>
          <p:spPr bwMode="auto">
            <a:xfrm>
              <a:off x="476" y="359"/>
              <a:ext cx="295"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dirty="0">
                  <a:solidFill>
                    <a:schemeClr val="tx2"/>
                  </a:solidFill>
                  <a:latin typeface="Arial" pitchFamily="34" charset="0"/>
                </a:rPr>
                <a:t>G:</a:t>
              </a:r>
            </a:p>
          </p:txBody>
        </p:sp>
      </p:grpSp>
      <p:grpSp>
        <p:nvGrpSpPr>
          <p:cNvPr id="136280" name="Group 88"/>
          <p:cNvGrpSpPr>
            <a:grpSpLocks/>
          </p:cNvGrpSpPr>
          <p:nvPr/>
        </p:nvGrpSpPr>
        <p:grpSpPr bwMode="auto">
          <a:xfrm>
            <a:off x="5316538" y="152400"/>
            <a:ext cx="3135313" cy="2728913"/>
            <a:chOff x="3185" y="96"/>
            <a:chExt cx="1975" cy="1719"/>
          </a:xfrm>
        </p:grpSpPr>
        <p:grpSp>
          <p:nvGrpSpPr>
            <p:cNvPr id="48185" name="Group 84"/>
            <p:cNvGrpSpPr>
              <a:grpSpLocks/>
            </p:cNvGrpSpPr>
            <p:nvPr/>
          </p:nvGrpSpPr>
          <p:grpSpPr bwMode="auto">
            <a:xfrm>
              <a:off x="3308" y="96"/>
              <a:ext cx="1852" cy="1719"/>
              <a:chOff x="3308" y="96"/>
              <a:chExt cx="1852" cy="1719"/>
            </a:xfrm>
          </p:grpSpPr>
          <p:sp>
            <p:nvSpPr>
              <p:cNvPr id="48187" name="Oval 45"/>
              <p:cNvSpPr>
                <a:spLocks noChangeArrowheads="1"/>
              </p:cNvSpPr>
              <p:nvPr/>
            </p:nvSpPr>
            <p:spPr bwMode="auto">
              <a:xfrm>
                <a:off x="3360"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88" name="Oval 46"/>
              <p:cNvSpPr>
                <a:spLocks noChangeArrowheads="1"/>
              </p:cNvSpPr>
              <p:nvPr/>
            </p:nvSpPr>
            <p:spPr bwMode="auto">
              <a:xfrm>
                <a:off x="3936" y="6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89" name="Oval 47"/>
              <p:cNvSpPr>
                <a:spLocks noChangeArrowheads="1"/>
              </p:cNvSpPr>
              <p:nvPr/>
            </p:nvSpPr>
            <p:spPr bwMode="auto">
              <a:xfrm>
                <a:off x="4176" y="105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90" name="Oval 48"/>
              <p:cNvSpPr>
                <a:spLocks noChangeArrowheads="1"/>
              </p:cNvSpPr>
              <p:nvPr/>
            </p:nvSpPr>
            <p:spPr bwMode="auto">
              <a:xfrm>
                <a:off x="3648" y="105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91" name="Oval 49"/>
              <p:cNvSpPr>
                <a:spLocks noChangeArrowheads="1"/>
              </p:cNvSpPr>
              <p:nvPr/>
            </p:nvSpPr>
            <p:spPr bwMode="auto">
              <a:xfrm>
                <a:off x="3888"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92" name="Oval 50"/>
              <p:cNvSpPr>
                <a:spLocks noChangeArrowheads="1"/>
              </p:cNvSpPr>
              <p:nvPr/>
            </p:nvSpPr>
            <p:spPr bwMode="auto">
              <a:xfrm>
                <a:off x="4464"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93" name="Oval 51"/>
              <p:cNvSpPr>
                <a:spLocks noChangeArrowheads="1"/>
              </p:cNvSpPr>
              <p:nvPr/>
            </p:nvSpPr>
            <p:spPr bwMode="auto">
              <a:xfrm>
                <a:off x="4512" y="6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94" name="Oval 52"/>
              <p:cNvSpPr>
                <a:spLocks noChangeArrowheads="1"/>
              </p:cNvSpPr>
              <p:nvPr/>
            </p:nvSpPr>
            <p:spPr bwMode="auto">
              <a:xfrm>
                <a:off x="4752" y="105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95" name="Oval 53"/>
              <p:cNvSpPr>
                <a:spLocks noChangeArrowheads="1"/>
              </p:cNvSpPr>
              <p:nvPr/>
            </p:nvSpPr>
            <p:spPr bwMode="auto">
              <a:xfrm>
                <a:off x="4272" y="14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96" name="Oval 54"/>
              <p:cNvSpPr>
                <a:spLocks noChangeArrowheads="1"/>
              </p:cNvSpPr>
              <p:nvPr/>
            </p:nvSpPr>
            <p:spPr bwMode="auto">
              <a:xfrm>
                <a:off x="5040"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97" name="Freeform 55"/>
              <p:cNvSpPr>
                <a:spLocks/>
              </p:cNvSpPr>
              <p:nvPr/>
            </p:nvSpPr>
            <p:spPr bwMode="auto">
              <a:xfrm>
                <a:off x="4004" y="232"/>
                <a:ext cx="285" cy="397"/>
              </a:xfrm>
              <a:custGeom>
                <a:avLst/>
                <a:gdLst>
                  <a:gd name="T0" fmla="*/ 285 w 285"/>
                  <a:gd name="T1" fmla="*/ 0 h 397"/>
                  <a:gd name="T2" fmla="*/ 0 w 285"/>
                  <a:gd name="T3" fmla="*/ 397 h 397"/>
                  <a:gd name="T4" fmla="*/ 0 60000 65536"/>
                  <a:gd name="T5" fmla="*/ 0 60000 65536"/>
                </a:gdLst>
                <a:ahLst/>
                <a:cxnLst>
                  <a:cxn ang="T4">
                    <a:pos x="T0" y="T1"/>
                  </a:cxn>
                  <a:cxn ang="T5">
                    <a:pos x="T2" y="T3"/>
                  </a:cxn>
                </a:cxnLst>
                <a:rect l="0" t="0" r="r" b="b"/>
                <a:pathLst>
                  <a:path w="285" h="397">
                    <a:moveTo>
                      <a:pt x="285" y="0"/>
                    </a:moveTo>
                    <a:lnTo>
                      <a:pt x="0" y="397"/>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98" name="Freeform 56"/>
              <p:cNvSpPr>
                <a:spLocks/>
              </p:cNvSpPr>
              <p:nvPr/>
            </p:nvSpPr>
            <p:spPr bwMode="auto">
              <a:xfrm>
                <a:off x="3726" y="720"/>
                <a:ext cx="210" cy="333"/>
              </a:xfrm>
              <a:custGeom>
                <a:avLst/>
                <a:gdLst>
                  <a:gd name="T0" fmla="*/ 210 w 210"/>
                  <a:gd name="T1" fmla="*/ 0 h 333"/>
                  <a:gd name="T2" fmla="*/ 0 w 210"/>
                  <a:gd name="T3" fmla="*/ 333 h 333"/>
                  <a:gd name="T4" fmla="*/ 0 60000 65536"/>
                  <a:gd name="T5" fmla="*/ 0 60000 65536"/>
                </a:gdLst>
                <a:ahLst/>
                <a:cxnLst>
                  <a:cxn ang="T4">
                    <a:pos x="T0" y="T1"/>
                  </a:cxn>
                  <a:cxn ang="T5">
                    <a:pos x="T2" y="T3"/>
                  </a:cxn>
                </a:cxnLst>
                <a:rect l="0" t="0" r="r" b="b"/>
                <a:pathLst>
                  <a:path w="210" h="333">
                    <a:moveTo>
                      <a:pt x="210" y="0"/>
                    </a:moveTo>
                    <a:lnTo>
                      <a:pt x="0" y="333"/>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99" name="Freeform 57"/>
              <p:cNvSpPr>
                <a:spLocks/>
              </p:cNvSpPr>
              <p:nvPr/>
            </p:nvSpPr>
            <p:spPr bwMode="auto">
              <a:xfrm>
                <a:off x="3428" y="1145"/>
                <a:ext cx="238" cy="398"/>
              </a:xfrm>
              <a:custGeom>
                <a:avLst/>
                <a:gdLst>
                  <a:gd name="T0" fmla="*/ 0 w 238"/>
                  <a:gd name="T1" fmla="*/ 398 h 398"/>
                  <a:gd name="T2" fmla="*/ 238 w 238"/>
                  <a:gd name="T3" fmla="*/ 0 h 398"/>
                  <a:gd name="T4" fmla="*/ 0 60000 65536"/>
                  <a:gd name="T5" fmla="*/ 0 60000 65536"/>
                </a:gdLst>
                <a:ahLst/>
                <a:cxnLst>
                  <a:cxn ang="T4">
                    <a:pos x="T0" y="T1"/>
                  </a:cxn>
                  <a:cxn ang="T5">
                    <a:pos x="T2" y="T3"/>
                  </a:cxn>
                </a:cxnLst>
                <a:rect l="0" t="0" r="r" b="b"/>
                <a:pathLst>
                  <a:path w="238" h="398">
                    <a:moveTo>
                      <a:pt x="0" y="398"/>
                    </a:moveTo>
                    <a:lnTo>
                      <a:pt x="238" y="0"/>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00" name="Freeform 58"/>
              <p:cNvSpPr>
                <a:spLocks/>
              </p:cNvSpPr>
              <p:nvPr/>
            </p:nvSpPr>
            <p:spPr bwMode="auto">
              <a:xfrm>
                <a:off x="4335" y="232"/>
                <a:ext cx="199" cy="390"/>
              </a:xfrm>
              <a:custGeom>
                <a:avLst/>
                <a:gdLst>
                  <a:gd name="T0" fmla="*/ 199 w 199"/>
                  <a:gd name="T1" fmla="*/ 390 h 390"/>
                  <a:gd name="T2" fmla="*/ 0 w 199"/>
                  <a:gd name="T3" fmla="*/ 0 h 390"/>
                  <a:gd name="T4" fmla="*/ 0 60000 65536"/>
                  <a:gd name="T5" fmla="*/ 0 60000 65536"/>
                </a:gdLst>
                <a:ahLst/>
                <a:cxnLst>
                  <a:cxn ang="T4">
                    <a:pos x="T0" y="T1"/>
                  </a:cxn>
                  <a:cxn ang="T5">
                    <a:pos x="T2" y="T3"/>
                  </a:cxn>
                </a:cxnLst>
                <a:rect l="0" t="0" r="r" b="b"/>
                <a:pathLst>
                  <a:path w="199" h="390">
                    <a:moveTo>
                      <a:pt x="199" y="390"/>
                    </a:moveTo>
                    <a:lnTo>
                      <a:pt x="0" y="0"/>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01" name="Freeform 59"/>
              <p:cNvSpPr>
                <a:spLocks/>
              </p:cNvSpPr>
              <p:nvPr/>
            </p:nvSpPr>
            <p:spPr bwMode="auto">
              <a:xfrm>
                <a:off x="4030" y="673"/>
                <a:ext cx="482" cy="2"/>
              </a:xfrm>
              <a:custGeom>
                <a:avLst/>
                <a:gdLst>
                  <a:gd name="T0" fmla="*/ 0 w 482"/>
                  <a:gd name="T1" fmla="*/ 2 h 2"/>
                  <a:gd name="T2" fmla="*/ 482 w 482"/>
                  <a:gd name="T3" fmla="*/ 0 h 2"/>
                  <a:gd name="T4" fmla="*/ 0 60000 65536"/>
                  <a:gd name="T5" fmla="*/ 0 60000 65536"/>
                </a:gdLst>
                <a:ahLst/>
                <a:cxnLst>
                  <a:cxn ang="T4">
                    <a:pos x="T0" y="T1"/>
                  </a:cxn>
                  <a:cxn ang="T5">
                    <a:pos x="T2" y="T3"/>
                  </a:cxn>
                </a:cxnLst>
                <a:rect l="0" t="0" r="r" b="b"/>
                <a:pathLst>
                  <a:path w="482" h="2">
                    <a:moveTo>
                      <a:pt x="0" y="2"/>
                    </a:moveTo>
                    <a:lnTo>
                      <a:pt x="482" y="0"/>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02" name="Freeform 60"/>
              <p:cNvSpPr>
                <a:spLocks/>
              </p:cNvSpPr>
              <p:nvPr/>
            </p:nvSpPr>
            <p:spPr bwMode="auto">
              <a:xfrm>
                <a:off x="4269" y="708"/>
                <a:ext cx="258" cy="358"/>
              </a:xfrm>
              <a:custGeom>
                <a:avLst/>
                <a:gdLst>
                  <a:gd name="T0" fmla="*/ 258 w 258"/>
                  <a:gd name="T1" fmla="*/ 0 h 358"/>
                  <a:gd name="T2" fmla="*/ 0 w 258"/>
                  <a:gd name="T3" fmla="*/ 358 h 358"/>
                  <a:gd name="T4" fmla="*/ 0 60000 65536"/>
                  <a:gd name="T5" fmla="*/ 0 60000 65536"/>
                </a:gdLst>
                <a:ahLst/>
                <a:cxnLst>
                  <a:cxn ang="T4">
                    <a:pos x="T0" y="T1"/>
                  </a:cxn>
                  <a:cxn ang="T5">
                    <a:pos x="T2" y="T3"/>
                  </a:cxn>
                </a:cxnLst>
                <a:rect l="0" t="0" r="r" b="b"/>
                <a:pathLst>
                  <a:path w="258" h="358">
                    <a:moveTo>
                      <a:pt x="258" y="0"/>
                    </a:moveTo>
                    <a:lnTo>
                      <a:pt x="0" y="358"/>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03" name="Freeform 61"/>
              <p:cNvSpPr>
                <a:spLocks/>
              </p:cNvSpPr>
              <p:nvPr/>
            </p:nvSpPr>
            <p:spPr bwMode="auto">
              <a:xfrm>
                <a:off x="4004" y="708"/>
                <a:ext cx="185" cy="351"/>
              </a:xfrm>
              <a:custGeom>
                <a:avLst/>
                <a:gdLst>
                  <a:gd name="T0" fmla="*/ 0 w 185"/>
                  <a:gd name="T1" fmla="*/ 0 h 351"/>
                  <a:gd name="T2" fmla="*/ 185 w 185"/>
                  <a:gd name="T3" fmla="*/ 351 h 351"/>
                  <a:gd name="T4" fmla="*/ 0 60000 65536"/>
                  <a:gd name="T5" fmla="*/ 0 60000 65536"/>
                </a:gdLst>
                <a:ahLst/>
                <a:cxnLst>
                  <a:cxn ang="T4">
                    <a:pos x="T0" y="T1"/>
                  </a:cxn>
                  <a:cxn ang="T5">
                    <a:pos x="T2" y="T3"/>
                  </a:cxn>
                </a:cxnLst>
                <a:rect l="0" t="0" r="r" b="b"/>
                <a:pathLst>
                  <a:path w="185" h="351">
                    <a:moveTo>
                      <a:pt x="0" y="0"/>
                    </a:moveTo>
                    <a:lnTo>
                      <a:pt x="185" y="351"/>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04" name="Freeform 62"/>
              <p:cNvSpPr>
                <a:spLocks/>
              </p:cNvSpPr>
              <p:nvPr/>
            </p:nvSpPr>
            <p:spPr bwMode="auto">
              <a:xfrm>
                <a:off x="3744" y="1105"/>
                <a:ext cx="439" cy="1"/>
              </a:xfrm>
              <a:custGeom>
                <a:avLst/>
                <a:gdLst>
                  <a:gd name="T0" fmla="*/ 439 w 439"/>
                  <a:gd name="T1" fmla="*/ 1 h 1"/>
                  <a:gd name="T2" fmla="*/ 0 w 439"/>
                  <a:gd name="T3" fmla="*/ 0 h 1"/>
                  <a:gd name="T4" fmla="*/ 0 60000 65536"/>
                  <a:gd name="T5" fmla="*/ 0 60000 65536"/>
                </a:gdLst>
                <a:ahLst/>
                <a:cxnLst>
                  <a:cxn ang="T4">
                    <a:pos x="T0" y="T1"/>
                  </a:cxn>
                  <a:cxn ang="T5">
                    <a:pos x="T2" y="T3"/>
                  </a:cxn>
                </a:cxnLst>
                <a:rect l="0" t="0" r="r" b="b"/>
                <a:pathLst>
                  <a:path w="439" h="1">
                    <a:moveTo>
                      <a:pt x="439" y="1"/>
                    </a:moveTo>
                    <a:lnTo>
                      <a:pt x="0" y="0"/>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05" name="Freeform 63"/>
              <p:cNvSpPr>
                <a:spLocks/>
              </p:cNvSpPr>
              <p:nvPr/>
            </p:nvSpPr>
            <p:spPr bwMode="auto">
              <a:xfrm>
                <a:off x="3719" y="1145"/>
                <a:ext cx="199" cy="391"/>
              </a:xfrm>
              <a:custGeom>
                <a:avLst/>
                <a:gdLst>
                  <a:gd name="T0" fmla="*/ 0 w 199"/>
                  <a:gd name="T1" fmla="*/ 0 h 391"/>
                  <a:gd name="T2" fmla="*/ 199 w 199"/>
                  <a:gd name="T3" fmla="*/ 391 h 391"/>
                  <a:gd name="T4" fmla="*/ 0 60000 65536"/>
                  <a:gd name="T5" fmla="*/ 0 60000 65536"/>
                </a:gdLst>
                <a:ahLst/>
                <a:cxnLst>
                  <a:cxn ang="T4">
                    <a:pos x="T0" y="T1"/>
                  </a:cxn>
                  <a:cxn ang="T5">
                    <a:pos x="T2" y="T3"/>
                  </a:cxn>
                </a:cxnLst>
                <a:rect l="0" t="0" r="r" b="b"/>
                <a:pathLst>
                  <a:path w="199" h="391">
                    <a:moveTo>
                      <a:pt x="0" y="0"/>
                    </a:moveTo>
                    <a:lnTo>
                      <a:pt x="199" y="391"/>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06" name="Freeform 64"/>
              <p:cNvSpPr>
                <a:spLocks/>
              </p:cNvSpPr>
              <p:nvPr/>
            </p:nvSpPr>
            <p:spPr bwMode="auto">
              <a:xfrm>
                <a:off x="3461" y="1582"/>
                <a:ext cx="427" cy="2"/>
              </a:xfrm>
              <a:custGeom>
                <a:avLst/>
                <a:gdLst>
                  <a:gd name="T0" fmla="*/ 427 w 427"/>
                  <a:gd name="T1" fmla="*/ 2 h 2"/>
                  <a:gd name="T2" fmla="*/ 0 w 427"/>
                  <a:gd name="T3" fmla="*/ 0 h 2"/>
                  <a:gd name="T4" fmla="*/ 0 60000 65536"/>
                  <a:gd name="T5" fmla="*/ 0 60000 65536"/>
                </a:gdLst>
                <a:ahLst/>
                <a:cxnLst>
                  <a:cxn ang="T4">
                    <a:pos x="T0" y="T1"/>
                  </a:cxn>
                  <a:cxn ang="T5">
                    <a:pos x="T2" y="T3"/>
                  </a:cxn>
                </a:cxnLst>
                <a:rect l="0" t="0" r="r" b="b"/>
                <a:pathLst>
                  <a:path w="427" h="2">
                    <a:moveTo>
                      <a:pt x="427" y="2"/>
                    </a:moveTo>
                    <a:lnTo>
                      <a:pt x="0" y="0"/>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07" name="Line 65"/>
              <p:cNvSpPr>
                <a:spLocks noChangeShapeType="1"/>
              </p:cNvSpPr>
              <p:nvPr/>
            </p:nvSpPr>
            <p:spPr bwMode="auto">
              <a:xfrm flipH="1">
                <a:off x="3984" y="1584"/>
                <a:ext cx="48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08" name="Line 66"/>
              <p:cNvSpPr>
                <a:spLocks noChangeShapeType="1"/>
              </p:cNvSpPr>
              <p:nvPr/>
            </p:nvSpPr>
            <p:spPr bwMode="auto">
              <a:xfrm>
                <a:off x="4560" y="1584"/>
                <a:ext cx="48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09" name="Freeform 67"/>
              <p:cNvSpPr>
                <a:spLocks/>
              </p:cNvSpPr>
              <p:nvPr/>
            </p:nvSpPr>
            <p:spPr bwMode="auto">
              <a:xfrm>
                <a:off x="3964" y="1145"/>
                <a:ext cx="232" cy="391"/>
              </a:xfrm>
              <a:custGeom>
                <a:avLst/>
                <a:gdLst>
                  <a:gd name="T0" fmla="*/ 232 w 232"/>
                  <a:gd name="T1" fmla="*/ 0 h 391"/>
                  <a:gd name="T2" fmla="*/ 0 w 232"/>
                  <a:gd name="T3" fmla="*/ 391 h 391"/>
                  <a:gd name="T4" fmla="*/ 0 60000 65536"/>
                  <a:gd name="T5" fmla="*/ 0 60000 65536"/>
                </a:gdLst>
                <a:ahLst/>
                <a:cxnLst>
                  <a:cxn ang="T4">
                    <a:pos x="T0" y="T1"/>
                  </a:cxn>
                  <a:cxn ang="T5">
                    <a:pos x="T2" y="T3"/>
                  </a:cxn>
                </a:cxnLst>
                <a:rect l="0" t="0" r="r" b="b"/>
                <a:pathLst>
                  <a:path w="232" h="391">
                    <a:moveTo>
                      <a:pt x="232" y="0"/>
                    </a:moveTo>
                    <a:lnTo>
                      <a:pt x="0" y="391"/>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10" name="Freeform 68"/>
              <p:cNvSpPr>
                <a:spLocks/>
              </p:cNvSpPr>
              <p:nvPr/>
            </p:nvSpPr>
            <p:spPr bwMode="auto">
              <a:xfrm>
                <a:off x="4249" y="1139"/>
                <a:ext cx="238" cy="404"/>
              </a:xfrm>
              <a:custGeom>
                <a:avLst/>
                <a:gdLst>
                  <a:gd name="T0" fmla="*/ 0 w 238"/>
                  <a:gd name="T1" fmla="*/ 0 h 404"/>
                  <a:gd name="T2" fmla="*/ 238 w 238"/>
                  <a:gd name="T3" fmla="*/ 404 h 404"/>
                  <a:gd name="T4" fmla="*/ 0 60000 65536"/>
                  <a:gd name="T5" fmla="*/ 0 60000 65536"/>
                </a:gdLst>
                <a:ahLst/>
                <a:cxnLst>
                  <a:cxn ang="T4">
                    <a:pos x="T0" y="T1"/>
                  </a:cxn>
                  <a:cxn ang="T5">
                    <a:pos x="T2" y="T3"/>
                  </a:cxn>
                </a:cxnLst>
                <a:rect l="0" t="0" r="r" b="b"/>
                <a:pathLst>
                  <a:path w="238" h="404">
                    <a:moveTo>
                      <a:pt x="0" y="0"/>
                    </a:moveTo>
                    <a:lnTo>
                      <a:pt x="238" y="404"/>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11" name="Line 69"/>
              <p:cNvSpPr>
                <a:spLocks noChangeShapeType="1"/>
              </p:cNvSpPr>
              <p:nvPr/>
            </p:nvSpPr>
            <p:spPr bwMode="auto">
              <a:xfrm flipH="1">
                <a:off x="4512" y="1152"/>
                <a:ext cx="240" cy="384"/>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12" name="Freeform 70"/>
              <p:cNvSpPr>
                <a:spLocks/>
              </p:cNvSpPr>
              <p:nvPr/>
            </p:nvSpPr>
            <p:spPr bwMode="auto">
              <a:xfrm>
                <a:off x="4825" y="1152"/>
                <a:ext cx="245" cy="391"/>
              </a:xfrm>
              <a:custGeom>
                <a:avLst/>
                <a:gdLst>
                  <a:gd name="T0" fmla="*/ 245 w 245"/>
                  <a:gd name="T1" fmla="*/ 391 h 391"/>
                  <a:gd name="T2" fmla="*/ 0 w 245"/>
                  <a:gd name="T3" fmla="*/ 0 h 391"/>
                  <a:gd name="T4" fmla="*/ 0 60000 65536"/>
                  <a:gd name="T5" fmla="*/ 0 60000 65536"/>
                </a:gdLst>
                <a:ahLst/>
                <a:cxnLst>
                  <a:cxn ang="T4">
                    <a:pos x="T0" y="T1"/>
                  </a:cxn>
                  <a:cxn ang="T5">
                    <a:pos x="T2" y="T3"/>
                  </a:cxn>
                </a:cxnLst>
                <a:rect l="0" t="0" r="r" b="b"/>
                <a:pathLst>
                  <a:path w="245" h="391">
                    <a:moveTo>
                      <a:pt x="245" y="391"/>
                    </a:moveTo>
                    <a:lnTo>
                      <a:pt x="0" y="0"/>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13" name="Line 71"/>
              <p:cNvSpPr>
                <a:spLocks noChangeShapeType="1"/>
              </p:cNvSpPr>
              <p:nvPr/>
            </p:nvSpPr>
            <p:spPr bwMode="auto">
              <a:xfrm>
                <a:off x="4272" y="1104"/>
                <a:ext cx="48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14" name="Freeform 72"/>
              <p:cNvSpPr>
                <a:spLocks/>
              </p:cNvSpPr>
              <p:nvPr/>
            </p:nvSpPr>
            <p:spPr bwMode="auto">
              <a:xfrm>
                <a:off x="4580" y="715"/>
                <a:ext cx="198" cy="351"/>
              </a:xfrm>
              <a:custGeom>
                <a:avLst/>
                <a:gdLst>
                  <a:gd name="T0" fmla="*/ 0 w 198"/>
                  <a:gd name="T1" fmla="*/ 0 h 351"/>
                  <a:gd name="T2" fmla="*/ 198 w 198"/>
                  <a:gd name="T3" fmla="*/ 351 h 351"/>
                  <a:gd name="T4" fmla="*/ 0 60000 65536"/>
                  <a:gd name="T5" fmla="*/ 0 60000 65536"/>
                </a:gdLst>
                <a:ahLst/>
                <a:cxnLst>
                  <a:cxn ang="T4">
                    <a:pos x="T0" y="T1"/>
                  </a:cxn>
                  <a:cxn ang="T5">
                    <a:pos x="T2" y="T3"/>
                  </a:cxn>
                </a:cxnLst>
                <a:rect l="0" t="0" r="r" b="b"/>
                <a:pathLst>
                  <a:path w="198" h="351">
                    <a:moveTo>
                      <a:pt x="0" y="0"/>
                    </a:moveTo>
                    <a:lnTo>
                      <a:pt x="198" y="351"/>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215" name="Text Box 73"/>
              <p:cNvSpPr txBox="1">
                <a:spLocks noChangeArrowheads="1"/>
              </p:cNvSpPr>
              <p:nvPr/>
            </p:nvSpPr>
            <p:spPr bwMode="auto">
              <a:xfrm>
                <a:off x="4128" y="9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a</a:t>
                </a:r>
              </a:p>
            </p:txBody>
          </p:sp>
          <p:sp>
            <p:nvSpPr>
              <p:cNvPr id="48216" name="Text Box 74"/>
              <p:cNvSpPr txBox="1">
                <a:spLocks noChangeArrowheads="1"/>
              </p:cNvSpPr>
              <p:nvPr/>
            </p:nvSpPr>
            <p:spPr bwMode="auto">
              <a:xfrm>
                <a:off x="3788" y="48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b</a:t>
                </a:r>
              </a:p>
            </p:txBody>
          </p:sp>
          <p:sp>
            <p:nvSpPr>
              <p:cNvPr id="48217" name="Text Box 75"/>
              <p:cNvSpPr txBox="1">
                <a:spLocks noChangeArrowheads="1"/>
              </p:cNvSpPr>
              <p:nvPr/>
            </p:nvSpPr>
            <p:spPr bwMode="auto">
              <a:xfrm>
                <a:off x="4560" y="480"/>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c</a:t>
                </a:r>
              </a:p>
            </p:txBody>
          </p:sp>
          <p:sp>
            <p:nvSpPr>
              <p:cNvPr id="48218" name="Text Box 76"/>
              <p:cNvSpPr txBox="1">
                <a:spLocks noChangeArrowheads="1"/>
              </p:cNvSpPr>
              <p:nvPr/>
            </p:nvSpPr>
            <p:spPr bwMode="auto">
              <a:xfrm>
                <a:off x="3500" y="91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d</a:t>
                </a:r>
              </a:p>
            </p:txBody>
          </p:sp>
          <p:sp>
            <p:nvSpPr>
              <p:cNvPr id="48219" name="Text Box 77"/>
              <p:cNvSpPr txBox="1">
                <a:spLocks noChangeArrowheads="1"/>
              </p:cNvSpPr>
              <p:nvPr/>
            </p:nvSpPr>
            <p:spPr bwMode="auto">
              <a:xfrm>
                <a:off x="4128" y="81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e</a:t>
                </a:r>
              </a:p>
            </p:txBody>
          </p:sp>
          <p:sp>
            <p:nvSpPr>
              <p:cNvPr id="48220" name="Text Box 78"/>
              <p:cNvSpPr txBox="1">
                <a:spLocks noChangeArrowheads="1"/>
              </p:cNvSpPr>
              <p:nvPr/>
            </p:nvSpPr>
            <p:spPr bwMode="auto">
              <a:xfrm>
                <a:off x="4856" y="912"/>
                <a:ext cx="16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f</a:t>
                </a:r>
              </a:p>
            </p:txBody>
          </p:sp>
          <p:sp>
            <p:nvSpPr>
              <p:cNvPr id="48221" name="Text Box 79"/>
              <p:cNvSpPr txBox="1">
                <a:spLocks noChangeArrowheads="1"/>
              </p:cNvSpPr>
              <p:nvPr/>
            </p:nvSpPr>
            <p:spPr bwMode="auto">
              <a:xfrm>
                <a:off x="3308" y="158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g</a:t>
                </a:r>
              </a:p>
            </p:txBody>
          </p:sp>
          <p:sp>
            <p:nvSpPr>
              <p:cNvPr id="48222" name="Text Box 80"/>
              <p:cNvSpPr txBox="1">
                <a:spLocks noChangeArrowheads="1"/>
              </p:cNvSpPr>
              <p:nvPr/>
            </p:nvSpPr>
            <p:spPr bwMode="auto">
              <a:xfrm>
                <a:off x="3836" y="158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h</a:t>
                </a:r>
              </a:p>
            </p:txBody>
          </p:sp>
          <p:sp>
            <p:nvSpPr>
              <p:cNvPr id="48223" name="Text Box 81"/>
              <p:cNvSpPr txBox="1">
                <a:spLocks noChangeArrowheads="1"/>
              </p:cNvSpPr>
              <p:nvPr/>
            </p:nvSpPr>
            <p:spPr bwMode="auto">
              <a:xfrm>
                <a:off x="4428" y="158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i</a:t>
                </a:r>
              </a:p>
            </p:txBody>
          </p:sp>
          <p:sp>
            <p:nvSpPr>
              <p:cNvPr id="48224" name="Text Box 82"/>
              <p:cNvSpPr txBox="1">
                <a:spLocks noChangeArrowheads="1"/>
              </p:cNvSpPr>
              <p:nvPr/>
            </p:nvSpPr>
            <p:spPr bwMode="auto">
              <a:xfrm>
                <a:off x="5004" y="158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j</a:t>
                </a:r>
              </a:p>
            </p:txBody>
          </p:sp>
        </p:grpSp>
        <p:sp>
          <p:nvSpPr>
            <p:cNvPr id="48186" name="Text Box 86"/>
            <p:cNvSpPr txBox="1">
              <a:spLocks noChangeArrowheads="1"/>
            </p:cNvSpPr>
            <p:nvPr/>
          </p:nvSpPr>
          <p:spPr bwMode="auto">
            <a:xfrm>
              <a:off x="3185" y="455"/>
              <a:ext cx="349"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dirty="0">
                  <a:solidFill>
                    <a:schemeClr val="tx2"/>
                  </a:solidFill>
                  <a:latin typeface="Arial" pitchFamily="34" charset="0"/>
                </a:rPr>
                <a:t>G</a:t>
              </a:r>
              <a:r>
                <a:rPr lang="en-US" sz="2000" b="1" baseline="30000" dirty="0">
                  <a:solidFill>
                    <a:schemeClr val="tx2"/>
                  </a:solidFill>
                  <a:latin typeface="Arial" pitchFamily="34" charset="0"/>
                </a:rPr>
                <a:t>T</a:t>
              </a:r>
              <a:r>
                <a:rPr lang="en-US" sz="2000" b="1" dirty="0">
                  <a:solidFill>
                    <a:schemeClr val="tx2"/>
                  </a:solidFill>
                  <a:latin typeface="Arial" pitchFamily="34" charset="0"/>
                </a:rPr>
                <a:t>:</a:t>
              </a:r>
            </a:p>
          </p:txBody>
        </p:sp>
      </p:grpSp>
      <p:sp>
        <p:nvSpPr>
          <p:cNvPr id="136333" name="Text Box 141" descr="Stationery"/>
          <p:cNvSpPr txBox="1">
            <a:spLocks noChangeArrowheads="1"/>
          </p:cNvSpPr>
          <p:nvPr/>
        </p:nvSpPr>
        <p:spPr bwMode="auto">
          <a:xfrm>
            <a:off x="5214938" y="3556000"/>
            <a:ext cx="3751262" cy="2873375"/>
          </a:xfrm>
          <a:prstGeom prst="rect">
            <a:avLst/>
          </a:prstGeom>
          <a:blipFill dpi="0" rotWithShape="0">
            <a:blip r:embed="rId2"/>
            <a:srcRect/>
            <a:tile tx="0" ty="0" sx="100000" sy="100000" flip="none" algn="tl"/>
          </a:blipFill>
          <a:ln w="381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dirty="0">
                <a:solidFill>
                  <a:srgbClr val="CC0000"/>
                </a:solidFill>
                <a:latin typeface="Arial" pitchFamily="34" charset="0"/>
              </a:rPr>
              <a:t>By the WPT</a:t>
            </a:r>
            <a:r>
              <a:rPr lang="en-US" sz="2000" dirty="0">
                <a:solidFill>
                  <a:schemeClr val="tx2"/>
                </a:solidFill>
                <a:latin typeface="Arial" pitchFamily="34" charset="0"/>
              </a:rPr>
              <a:t/>
            </a:r>
            <a:br>
              <a:rPr lang="en-US" sz="2000" dirty="0">
                <a:solidFill>
                  <a:schemeClr val="tx2"/>
                </a:solidFill>
                <a:latin typeface="Arial" pitchFamily="34" charset="0"/>
              </a:rPr>
            </a:br>
            <a:r>
              <a:rPr lang="en-US" sz="2000" dirty="0">
                <a:solidFill>
                  <a:schemeClr val="hlink"/>
                </a:solidFill>
                <a:latin typeface="Arial" pitchFamily="34" charset="0"/>
              </a:rPr>
              <a:t>every node of an SCC</a:t>
            </a:r>
            <a:br>
              <a:rPr lang="en-US" sz="2000" dirty="0">
                <a:solidFill>
                  <a:schemeClr val="hlink"/>
                </a:solidFill>
                <a:latin typeface="Arial" pitchFamily="34" charset="0"/>
              </a:rPr>
            </a:br>
            <a:r>
              <a:rPr lang="en-US" sz="2000" dirty="0">
                <a:solidFill>
                  <a:schemeClr val="hlink"/>
                </a:solidFill>
                <a:latin typeface="Arial" pitchFamily="34" charset="0"/>
              </a:rPr>
              <a:t>falls within the same DFS tree.</a:t>
            </a:r>
          </a:p>
          <a:p>
            <a:pPr algn="ctr" eaLnBrk="1" hangingPunct="1">
              <a:buFontTx/>
              <a:buNone/>
            </a:pPr>
            <a:r>
              <a:rPr lang="en-US" sz="2000" dirty="0">
                <a:solidFill>
                  <a:schemeClr val="tx2"/>
                </a:solidFill>
                <a:latin typeface="Arial" pitchFamily="34" charset="0"/>
              </a:rPr>
              <a:t/>
            </a:r>
            <a:br>
              <a:rPr lang="en-US" sz="2000" dirty="0">
                <a:solidFill>
                  <a:schemeClr val="tx2"/>
                </a:solidFill>
                <a:latin typeface="Arial" pitchFamily="34" charset="0"/>
              </a:rPr>
            </a:br>
            <a:r>
              <a:rPr lang="en-US" sz="2000" dirty="0">
                <a:solidFill>
                  <a:schemeClr val="tx2"/>
                </a:solidFill>
                <a:latin typeface="Arial" pitchFamily="34" charset="0"/>
              </a:rPr>
              <a:t>So, each DFS tree is </a:t>
            </a:r>
            <a:br>
              <a:rPr lang="en-US" sz="2000" dirty="0">
                <a:solidFill>
                  <a:schemeClr val="tx2"/>
                </a:solidFill>
                <a:latin typeface="Arial" pitchFamily="34" charset="0"/>
              </a:rPr>
            </a:br>
            <a:r>
              <a:rPr lang="en-US" sz="2000" dirty="0">
                <a:solidFill>
                  <a:schemeClr val="tx2"/>
                </a:solidFill>
                <a:latin typeface="Arial" pitchFamily="34" charset="0"/>
              </a:rPr>
              <a:t>the union of one or more </a:t>
            </a:r>
            <a:br>
              <a:rPr lang="en-US" sz="2000" dirty="0">
                <a:solidFill>
                  <a:schemeClr val="tx2"/>
                </a:solidFill>
                <a:latin typeface="Arial" pitchFamily="34" charset="0"/>
              </a:rPr>
            </a:br>
            <a:r>
              <a:rPr lang="en-US" sz="2000" dirty="0">
                <a:solidFill>
                  <a:schemeClr val="tx2"/>
                </a:solidFill>
                <a:latin typeface="Arial" pitchFamily="34" charset="0"/>
              </a:rPr>
              <a:t>SCC’s</a:t>
            </a:r>
          </a:p>
          <a:p>
            <a:pPr algn="ctr" eaLnBrk="1" hangingPunct="1">
              <a:buFontTx/>
              <a:buNone/>
            </a:pPr>
            <a:endParaRPr lang="en-US" sz="2000" dirty="0">
              <a:solidFill>
                <a:schemeClr val="tx2"/>
              </a:solidFill>
              <a:latin typeface="Arial" pitchFamily="34" charset="0"/>
            </a:endParaRPr>
          </a:p>
          <a:p>
            <a:pPr algn="ctr" eaLnBrk="1" hangingPunct="1">
              <a:buFontTx/>
              <a:buNone/>
            </a:pPr>
            <a:r>
              <a:rPr lang="en-US" sz="2000" dirty="0">
                <a:solidFill>
                  <a:schemeClr val="hlink"/>
                </a:solidFill>
                <a:latin typeface="Arial" pitchFamily="34" charset="0"/>
              </a:rPr>
              <a:t>How can we disentangle them?</a:t>
            </a:r>
          </a:p>
        </p:txBody>
      </p:sp>
      <p:sp>
        <p:nvSpPr>
          <p:cNvPr id="136334" name="Freeform 142"/>
          <p:cNvSpPr>
            <a:spLocks/>
          </p:cNvSpPr>
          <p:nvPr/>
        </p:nvSpPr>
        <p:spPr bwMode="auto">
          <a:xfrm>
            <a:off x="1682750" y="4572000"/>
            <a:ext cx="763588" cy="754063"/>
          </a:xfrm>
          <a:custGeom>
            <a:avLst/>
            <a:gdLst>
              <a:gd name="T0" fmla="*/ 123825 w 481"/>
              <a:gd name="T1" fmla="*/ 671513 h 475"/>
              <a:gd name="T2" fmla="*/ 596900 w 481"/>
              <a:gd name="T3" fmla="*/ 692150 h 475"/>
              <a:gd name="T4" fmla="*/ 733425 w 481"/>
              <a:gd name="T5" fmla="*/ 303213 h 475"/>
              <a:gd name="T6" fmla="*/ 417513 w 481"/>
              <a:gd name="T7" fmla="*/ 7938 h 475"/>
              <a:gd name="T8" fmla="*/ 49213 w 481"/>
              <a:gd name="T9" fmla="*/ 250825 h 475"/>
              <a:gd name="T10" fmla="*/ 123825 w 481"/>
              <a:gd name="T11" fmla="*/ 671513 h 47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1" h="475">
                <a:moveTo>
                  <a:pt x="78" y="423"/>
                </a:moveTo>
                <a:cubicBezTo>
                  <a:pt x="135" y="469"/>
                  <a:pt x="312" y="475"/>
                  <a:pt x="376" y="436"/>
                </a:cubicBezTo>
                <a:cubicBezTo>
                  <a:pt x="440" y="397"/>
                  <a:pt x="481" y="263"/>
                  <a:pt x="462" y="191"/>
                </a:cubicBezTo>
                <a:cubicBezTo>
                  <a:pt x="443" y="119"/>
                  <a:pt x="335" y="10"/>
                  <a:pt x="263" y="5"/>
                </a:cubicBezTo>
                <a:cubicBezTo>
                  <a:pt x="191" y="0"/>
                  <a:pt x="62" y="88"/>
                  <a:pt x="31" y="158"/>
                </a:cubicBezTo>
                <a:cubicBezTo>
                  <a:pt x="0" y="228"/>
                  <a:pt x="21" y="377"/>
                  <a:pt x="78" y="423"/>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6335" name="Freeform 143"/>
          <p:cNvSpPr>
            <a:spLocks/>
          </p:cNvSpPr>
          <p:nvPr/>
        </p:nvSpPr>
        <p:spPr bwMode="auto">
          <a:xfrm>
            <a:off x="2978150" y="4953000"/>
            <a:ext cx="801688" cy="1608138"/>
          </a:xfrm>
          <a:custGeom>
            <a:avLst/>
            <a:gdLst>
              <a:gd name="T0" fmla="*/ 42863 w 505"/>
              <a:gd name="T1" fmla="*/ 1277938 h 1013"/>
              <a:gd name="T2" fmla="*/ 274638 w 505"/>
              <a:gd name="T3" fmla="*/ 1562100 h 1013"/>
              <a:gd name="T4" fmla="*/ 725488 w 505"/>
              <a:gd name="T5" fmla="*/ 1393825 h 1013"/>
              <a:gd name="T6" fmla="*/ 735013 w 505"/>
              <a:gd name="T7" fmla="*/ 279400 h 1013"/>
              <a:gd name="T8" fmla="*/ 420688 w 505"/>
              <a:gd name="T9" fmla="*/ 6350 h 1013"/>
              <a:gd name="T10" fmla="*/ 63500 w 505"/>
              <a:gd name="T11" fmla="*/ 238125 h 1013"/>
              <a:gd name="T12" fmla="*/ 42863 w 505"/>
              <a:gd name="T13" fmla="*/ 1277938 h 101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5" h="1013">
                <a:moveTo>
                  <a:pt x="27" y="805"/>
                </a:moveTo>
                <a:cubicBezTo>
                  <a:pt x="49" y="944"/>
                  <a:pt x="101" y="972"/>
                  <a:pt x="173" y="984"/>
                </a:cubicBezTo>
                <a:cubicBezTo>
                  <a:pt x="245" y="996"/>
                  <a:pt x="409" y="1013"/>
                  <a:pt x="457" y="878"/>
                </a:cubicBezTo>
                <a:cubicBezTo>
                  <a:pt x="505" y="743"/>
                  <a:pt x="495" y="321"/>
                  <a:pt x="463" y="176"/>
                </a:cubicBezTo>
                <a:cubicBezTo>
                  <a:pt x="431" y="31"/>
                  <a:pt x="336" y="8"/>
                  <a:pt x="265" y="4"/>
                </a:cubicBezTo>
                <a:cubicBezTo>
                  <a:pt x="194" y="0"/>
                  <a:pt x="80" y="17"/>
                  <a:pt x="40" y="150"/>
                </a:cubicBezTo>
                <a:cubicBezTo>
                  <a:pt x="0" y="283"/>
                  <a:pt x="5" y="666"/>
                  <a:pt x="27" y="805"/>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6336" name="Freeform 144"/>
          <p:cNvSpPr>
            <a:spLocks/>
          </p:cNvSpPr>
          <p:nvPr/>
        </p:nvSpPr>
        <p:spPr bwMode="auto">
          <a:xfrm>
            <a:off x="311150" y="5029200"/>
            <a:ext cx="812800" cy="1457325"/>
          </a:xfrm>
          <a:custGeom>
            <a:avLst/>
            <a:gdLst>
              <a:gd name="T0" fmla="*/ 65088 w 512"/>
              <a:gd name="T1" fmla="*/ 1190625 h 918"/>
              <a:gd name="T2" fmla="*/ 401638 w 512"/>
              <a:gd name="T3" fmla="*/ 1443038 h 918"/>
              <a:gd name="T4" fmla="*/ 738188 w 512"/>
              <a:gd name="T5" fmla="*/ 1263650 h 918"/>
              <a:gd name="T6" fmla="*/ 758825 w 512"/>
              <a:gd name="T7" fmla="*/ 276225 h 918"/>
              <a:gd name="T8" fmla="*/ 412750 w 512"/>
              <a:gd name="T9" fmla="*/ 3175 h 918"/>
              <a:gd name="T10" fmla="*/ 57150 w 512"/>
              <a:gd name="T11" fmla="*/ 255588 h 918"/>
              <a:gd name="T12" fmla="*/ 65088 w 512"/>
              <a:gd name="T13" fmla="*/ 1190625 h 9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2" h="918">
                <a:moveTo>
                  <a:pt x="41" y="750"/>
                </a:moveTo>
                <a:cubicBezTo>
                  <a:pt x="77" y="875"/>
                  <a:pt x="182" y="901"/>
                  <a:pt x="253" y="909"/>
                </a:cubicBezTo>
                <a:cubicBezTo>
                  <a:pt x="324" y="917"/>
                  <a:pt x="428" y="918"/>
                  <a:pt x="465" y="796"/>
                </a:cubicBezTo>
                <a:cubicBezTo>
                  <a:pt x="502" y="674"/>
                  <a:pt x="512" y="306"/>
                  <a:pt x="478" y="174"/>
                </a:cubicBezTo>
                <a:cubicBezTo>
                  <a:pt x="444" y="42"/>
                  <a:pt x="334" y="4"/>
                  <a:pt x="260" y="2"/>
                </a:cubicBezTo>
                <a:cubicBezTo>
                  <a:pt x="186" y="0"/>
                  <a:pt x="72" y="36"/>
                  <a:pt x="36" y="161"/>
                </a:cubicBezTo>
                <a:cubicBezTo>
                  <a:pt x="0" y="286"/>
                  <a:pt x="5" y="625"/>
                  <a:pt x="41" y="750"/>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6337" name="Freeform 145"/>
          <p:cNvSpPr>
            <a:spLocks/>
          </p:cNvSpPr>
          <p:nvPr/>
        </p:nvSpPr>
        <p:spPr bwMode="auto">
          <a:xfrm>
            <a:off x="1682750" y="2971800"/>
            <a:ext cx="830263" cy="1504950"/>
          </a:xfrm>
          <a:custGeom>
            <a:avLst/>
            <a:gdLst>
              <a:gd name="T0" fmla="*/ 63500 w 523"/>
              <a:gd name="T1" fmla="*/ 1239838 h 948"/>
              <a:gd name="T2" fmla="*/ 342900 w 523"/>
              <a:gd name="T3" fmla="*/ 1497013 h 948"/>
              <a:gd name="T4" fmla="*/ 757238 w 523"/>
              <a:gd name="T5" fmla="*/ 1282700 h 948"/>
              <a:gd name="T6" fmla="*/ 765175 w 523"/>
              <a:gd name="T7" fmla="*/ 254000 h 948"/>
              <a:gd name="T8" fmla="*/ 365125 w 523"/>
              <a:gd name="T9" fmla="*/ 1588 h 948"/>
              <a:gd name="T10" fmla="*/ 50800 w 523"/>
              <a:gd name="T11" fmla="*/ 265113 h 948"/>
              <a:gd name="T12" fmla="*/ 63500 w 523"/>
              <a:gd name="T13" fmla="*/ 1239838 h 9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23" h="948">
                <a:moveTo>
                  <a:pt x="40" y="781"/>
                </a:moveTo>
                <a:cubicBezTo>
                  <a:pt x="69" y="906"/>
                  <a:pt x="143" y="938"/>
                  <a:pt x="216" y="943"/>
                </a:cubicBezTo>
                <a:cubicBezTo>
                  <a:pt x="289" y="948"/>
                  <a:pt x="433" y="938"/>
                  <a:pt x="477" y="808"/>
                </a:cubicBezTo>
                <a:cubicBezTo>
                  <a:pt x="521" y="678"/>
                  <a:pt x="523" y="295"/>
                  <a:pt x="482" y="160"/>
                </a:cubicBezTo>
                <a:cubicBezTo>
                  <a:pt x="441" y="25"/>
                  <a:pt x="305" y="0"/>
                  <a:pt x="230" y="1"/>
                </a:cubicBezTo>
                <a:cubicBezTo>
                  <a:pt x="155" y="2"/>
                  <a:pt x="64" y="37"/>
                  <a:pt x="32" y="167"/>
                </a:cubicBezTo>
                <a:cubicBezTo>
                  <a:pt x="0" y="297"/>
                  <a:pt x="38" y="653"/>
                  <a:pt x="40" y="781"/>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nvGrpSpPr>
          <p:cNvPr id="136338" name="Group 146"/>
          <p:cNvGrpSpPr>
            <a:grpSpLocks/>
          </p:cNvGrpSpPr>
          <p:nvPr/>
        </p:nvGrpSpPr>
        <p:grpSpPr bwMode="auto">
          <a:xfrm>
            <a:off x="323850" y="2938462"/>
            <a:ext cx="3327400" cy="3490913"/>
            <a:chOff x="764" y="2016"/>
            <a:chExt cx="2096" cy="2199"/>
          </a:xfrm>
        </p:grpSpPr>
        <p:sp>
          <p:nvSpPr>
            <p:cNvPr id="48146" name="Oval 147"/>
            <p:cNvSpPr>
              <a:spLocks noChangeArrowheads="1"/>
            </p:cNvSpPr>
            <p:nvPr/>
          </p:nvSpPr>
          <p:spPr bwMode="auto">
            <a:xfrm>
              <a:off x="1824" y="211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47" name="Oval 148"/>
            <p:cNvSpPr>
              <a:spLocks noChangeArrowheads="1"/>
            </p:cNvSpPr>
            <p:nvPr/>
          </p:nvSpPr>
          <p:spPr bwMode="auto">
            <a:xfrm>
              <a:off x="1824" y="244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48" name="Oval 149"/>
            <p:cNvSpPr>
              <a:spLocks noChangeArrowheads="1"/>
            </p:cNvSpPr>
            <p:nvPr/>
          </p:nvSpPr>
          <p:spPr bwMode="auto">
            <a:xfrm>
              <a:off x="1824" y="283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49" name="Oval 150"/>
            <p:cNvSpPr>
              <a:spLocks noChangeArrowheads="1"/>
            </p:cNvSpPr>
            <p:nvPr/>
          </p:nvSpPr>
          <p:spPr bwMode="auto">
            <a:xfrm>
              <a:off x="1824" y="316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50" name="Oval 151"/>
            <p:cNvSpPr>
              <a:spLocks noChangeArrowheads="1"/>
            </p:cNvSpPr>
            <p:nvPr/>
          </p:nvSpPr>
          <p:spPr bwMode="auto">
            <a:xfrm>
              <a:off x="960" y="345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51" name="Oval 152"/>
            <p:cNvSpPr>
              <a:spLocks noChangeArrowheads="1"/>
            </p:cNvSpPr>
            <p:nvPr/>
          </p:nvSpPr>
          <p:spPr bwMode="auto">
            <a:xfrm>
              <a:off x="960" y="374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52" name="Oval 153"/>
            <p:cNvSpPr>
              <a:spLocks noChangeArrowheads="1"/>
            </p:cNvSpPr>
            <p:nvPr/>
          </p:nvSpPr>
          <p:spPr bwMode="auto">
            <a:xfrm>
              <a:off x="960" y="403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53" name="Oval 154"/>
            <p:cNvSpPr>
              <a:spLocks noChangeArrowheads="1"/>
            </p:cNvSpPr>
            <p:nvPr/>
          </p:nvSpPr>
          <p:spPr bwMode="auto">
            <a:xfrm>
              <a:off x="2640" y="340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54" name="Oval 155"/>
            <p:cNvSpPr>
              <a:spLocks noChangeArrowheads="1"/>
            </p:cNvSpPr>
            <p:nvPr/>
          </p:nvSpPr>
          <p:spPr bwMode="auto">
            <a:xfrm>
              <a:off x="2640" y="374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55" name="Oval 156"/>
            <p:cNvSpPr>
              <a:spLocks noChangeArrowheads="1"/>
            </p:cNvSpPr>
            <p:nvPr/>
          </p:nvSpPr>
          <p:spPr bwMode="auto">
            <a:xfrm>
              <a:off x="2640" y="403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48156" name="Line 157"/>
            <p:cNvSpPr>
              <a:spLocks noChangeShapeType="1"/>
            </p:cNvSpPr>
            <p:nvPr/>
          </p:nvSpPr>
          <p:spPr bwMode="auto">
            <a:xfrm>
              <a:off x="1872" y="2208"/>
              <a:ext cx="0"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57" name="Line 158"/>
            <p:cNvSpPr>
              <a:spLocks noChangeShapeType="1"/>
            </p:cNvSpPr>
            <p:nvPr/>
          </p:nvSpPr>
          <p:spPr bwMode="auto">
            <a:xfrm>
              <a:off x="1872" y="2544"/>
              <a:ext cx="0"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58" name="Line 159"/>
            <p:cNvSpPr>
              <a:spLocks noChangeShapeType="1"/>
            </p:cNvSpPr>
            <p:nvPr/>
          </p:nvSpPr>
          <p:spPr bwMode="auto">
            <a:xfrm>
              <a:off x="1872" y="2928"/>
              <a:ext cx="0"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59" name="Line 160"/>
            <p:cNvSpPr>
              <a:spLocks noChangeShapeType="1"/>
            </p:cNvSpPr>
            <p:nvPr/>
          </p:nvSpPr>
          <p:spPr bwMode="auto">
            <a:xfrm flipH="1">
              <a:off x="1056" y="3216"/>
              <a:ext cx="768"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60" name="Line 161"/>
            <p:cNvSpPr>
              <a:spLocks noChangeShapeType="1"/>
            </p:cNvSpPr>
            <p:nvPr/>
          </p:nvSpPr>
          <p:spPr bwMode="auto">
            <a:xfrm>
              <a:off x="1008" y="3552"/>
              <a:ext cx="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61" name="Line 162"/>
            <p:cNvSpPr>
              <a:spLocks noChangeShapeType="1"/>
            </p:cNvSpPr>
            <p:nvPr/>
          </p:nvSpPr>
          <p:spPr bwMode="auto">
            <a:xfrm>
              <a:off x="1008" y="3840"/>
              <a:ext cx="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62" name="Freeform 163"/>
            <p:cNvSpPr>
              <a:spLocks/>
            </p:cNvSpPr>
            <p:nvPr/>
          </p:nvSpPr>
          <p:spPr bwMode="auto">
            <a:xfrm>
              <a:off x="1920" y="3216"/>
              <a:ext cx="705" cy="225"/>
            </a:xfrm>
            <a:custGeom>
              <a:avLst/>
              <a:gdLst>
                <a:gd name="T0" fmla="*/ 0 w 705"/>
                <a:gd name="T1" fmla="*/ 0 h 225"/>
                <a:gd name="T2" fmla="*/ 705 w 705"/>
                <a:gd name="T3" fmla="*/ 225 h 225"/>
                <a:gd name="T4" fmla="*/ 0 60000 65536"/>
                <a:gd name="T5" fmla="*/ 0 60000 65536"/>
              </a:gdLst>
              <a:ahLst/>
              <a:cxnLst>
                <a:cxn ang="T4">
                  <a:pos x="T0" y="T1"/>
                </a:cxn>
                <a:cxn ang="T5">
                  <a:pos x="T2" y="T3"/>
                </a:cxn>
              </a:cxnLst>
              <a:rect l="0" t="0" r="r" b="b"/>
              <a:pathLst>
                <a:path w="705" h="225">
                  <a:moveTo>
                    <a:pt x="0" y="0"/>
                  </a:moveTo>
                  <a:lnTo>
                    <a:pt x="705" y="225"/>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63" name="Line 164"/>
            <p:cNvSpPr>
              <a:spLocks noChangeShapeType="1"/>
            </p:cNvSpPr>
            <p:nvPr/>
          </p:nvSpPr>
          <p:spPr bwMode="auto">
            <a:xfrm>
              <a:off x="2688" y="3504"/>
              <a:ext cx="0"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64" name="Line 165"/>
            <p:cNvSpPr>
              <a:spLocks noChangeShapeType="1"/>
            </p:cNvSpPr>
            <p:nvPr/>
          </p:nvSpPr>
          <p:spPr bwMode="auto">
            <a:xfrm>
              <a:off x="2688" y="3840"/>
              <a:ext cx="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65" name="Freeform 166"/>
            <p:cNvSpPr>
              <a:spLocks/>
            </p:cNvSpPr>
            <p:nvPr/>
          </p:nvSpPr>
          <p:spPr bwMode="auto">
            <a:xfrm>
              <a:off x="1082" y="3792"/>
              <a:ext cx="1558" cy="1"/>
            </a:xfrm>
            <a:custGeom>
              <a:avLst/>
              <a:gdLst>
                <a:gd name="T0" fmla="*/ 1558 w 1558"/>
                <a:gd name="T1" fmla="*/ 0 h 1"/>
                <a:gd name="T2" fmla="*/ 0 w 1558"/>
                <a:gd name="T3" fmla="*/ 0 h 1"/>
                <a:gd name="T4" fmla="*/ 0 60000 65536"/>
                <a:gd name="T5" fmla="*/ 0 60000 65536"/>
              </a:gdLst>
              <a:ahLst/>
              <a:cxnLst>
                <a:cxn ang="T4">
                  <a:pos x="T0" y="T1"/>
                </a:cxn>
                <a:cxn ang="T5">
                  <a:pos x="T2" y="T3"/>
                </a:cxn>
              </a:cxnLst>
              <a:rect l="0" t="0" r="r" b="b"/>
              <a:pathLst>
                <a:path w="1558" h="1">
                  <a:moveTo>
                    <a:pt x="1558" y="0"/>
                  </a:moveTo>
                  <a:lnTo>
                    <a:pt x="0" y="0"/>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66" name="Line 167"/>
            <p:cNvSpPr>
              <a:spLocks noChangeShapeType="1"/>
            </p:cNvSpPr>
            <p:nvPr/>
          </p:nvSpPr>
          <p:spPr bwMode="auto">
            <a:xfrm flipH="1">
              <a:off x="1056" y="3264"/>
              <a:ext cx="768" cy="480"/>
            </a:xfrm>
            <a:prstGeom prst="line">
              <a:avLst/>
            </a:prstGeom>
            <a:noFill/>
            <a:ln w="12700">
              <a:solidFill>
                <a:srgbClr val="96969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67" name="Line 168"/>
            <p:cNvSpPr>
              <a:spLocks noChangeShapeType="1"/>
            </p:cNvSpPr>
            <p:nvPr/>
          </p:nvSpPr>
          <p:spPr bwMode="auto">
            <a:xfrm>
              <a:off x="1920" y="3264"/>
              <a:ext cx="720" cy="480"/>
            </a:xfrm>
            <a:prstGeom prst="line">
              <a:avLst/>
            </a:prstGeom>
            <a:noFill/>
            <a:ln w="12700">
              <a:solidFill>
                <a:srgbClr val="96969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68" name="Freeform 169"/>
            <p:cNvSpPr>
              <a:spLocks/>
            </p:cNvSpPr>
            <p:nvPr/>
          </p:nvSpPr>
          <p:spPr bwMode="auto">
            <a:xfrm>
              <a:off x="1923" y="2196"/>
              <a:ext cx="101" cy="656"/>
            </a:xfrm>
            <a:custGeom>
              <a:avLst/>
              <a:gdLst>
                <a:gd name="T0" fmla="*/ 0 w 101"/>
                <a:gd name="T1" fmla="*/ 0 h 656"/>
                <a:gd name="T2" fmla="*/ 100 w 101"/>
                <a:gd name="T3" fmla="*/ 325 h 656"/>
                <a:gd name="T4" fmla="*/ 7 w 101"/>
                <a:gd name="T5" fmla="*/ 656 h 656"/>
                <a:gd name="T6" fmla="*/ 0 60000 65536"/>
                <a:gd name="T7" fmla="*/ 0 60000 65536"/>
                <a:gd name="T8" fmla="*/ 0 60000 65536"/>
              </a:gdLst>
              <a:ahLst/>
              <a:cxnLst>
                <a:cxn ang="T6">
                  <a:pos x="T0" y="T1"/>
                </a:cxn>
                <a:cxn ang="T7">
                  <a:pos x="T2" y="T3"/>
                </a:cxn>
                <a:cxn ang="T8">
                  <a:pos x="T4" y="T5"/>
                </a:cxn>
              </a:cxnLst>
              <a:rect l="0" t="0" r="r" b="b"/>
              <a:pathLst>
                <a:path w="101" h="656">
                  <a:moveTo>
                    <a:pt x="0" y="0"/>
                  </a:moveTo>
                  <a:cubicBezTo>
                    <a:pt x="17" y="55"/>
                    <a:pt x="99" y="216"/>
                    <a:pt x="100" y="325"/>
                  </a:cubicBezTo>
                  <a:cubicBezTo>
                    <a:pt x="101" y="434"/>
                    <a:pt x="27" y="587"/>
                    <a:pt x="7" y="656"/>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69" name="Freeform 170"/>
            <p:cNvSpPr>
              <a:spLocks/>
            </p:cNvSpPr>
            <p:nvPr/>
          </p:nvSpPr>
          <p:spPr bwMode="auto">
            <a:xfrm>
              <a:off x="1734" y="2547"/>
              <a:ext cx="116" cy="629"/>
            </a:xfrm>
            <a:custGeom>
              <a:avLst/>
              <a:gdLst>
                <a:gd name="T0" fmla="*/ 116 w 116"/>
                <a:gd name="T1" fmla="*/ 0 h 629"/>
                <a:gd name="T2" fmla="*/ 4 w 116"/>
                <a:gd name="T3" fmla="*/ 311 h 629"/>
                <a:gd name="T4" fmla="*/ 90 w 116"/>
                <a:gd name="T5" fmla="*/ 629 h 629"/>
                <a:gd name="T6" fmla="*/ 0 60000 65536"/>
                <a:gd name="T7" fmla="*/ 0 60000 65536"/>
                <a:gd name="T8" fmla="*/ 0 60000 65536"/>
              </a:gdLst>
              <a:ahLst/>
              <a:cxnLst>
                <a:cxn ang="T6">
                  <a:pos x="T0" y="T1"/>
                </a:cxn>
                <a:cxn ang="T7">
                  <a:pos x="T2" y="T3"/>
                </a:cxn>
                <a:cxn ang="T8">
                  <a:pos x="T4" y="T5"/>
                </a:cxn>
              </a:cxnLst>
              <a:rect l="0" t="0" r="r" b="b"/>
              <a:pathLst>
                <a:path w="116" h="629">
                  <a:moveTo>
                    <a:pt x="116" y="0"/>
                  </a:moveTo>
                  <a:cubicBezTo>
                    <a:pt x="97" y="51"/>
                    <a:pt x="8" y="206"/>
                    <a:pt x="4" y="311"/>
                  </a:cubicBezTo>
                  <a:cubicBezTo>
                    <a:pt x="0" y="416"/>
                    <a:pt x="72" y="563"/>
                    <a:pt x="90" y="629"/>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70" name="Freeform 171"/>
            <p:cNvSpPr>
              <a:spLocks/>
            </p:cNvSpPr>
            <p:nvPr/>
          </p:nvSpPr>
          <p:spPr bwMode="auto">
            <a:xfrm>
              <a:off x="1043" y="2544"/>
              <a:ext cx="781" cy="904"/>
            </a:xfrm>
            <a:custGeom>
              <a:avLst/>
              <a:gdLst>
                <a:gd name="T0" fmla="*/ 781 w 781"/>
                <a:gd name="T1" fmla="*/ 0 h 904"/>
                <a:gd name="T2" fmla="*/ 0 w 781"/>
                <a:gd name="T3" fmla="*/ 904 h 904"/>
                <a:gd name="T4" fmla="*/ 0 60000 65536"/>
                <a:gd name="T5" fmla="*/ 0 60000 65536"/>
              </a:gdLst>
              <a:ahLst/>
              <a:cxnLst>
                <a:cxn ang="T4">
                  <a:pos x="T0" y="T1"/>
                </a:cxn>
                <a:cxn ang="T5">
                  <a:pos x="T2" y="T3"/>
                </a:cxn>
              </a:cxnLst>
              <a:rect l="0" t="0" r="r" b="b"/>
              <a:pathLst>
                <a:path w="781" h="904">
                  <a:moveTo>
                    <a:pt x="781" y="0"/>
                  </a:moveTo>
                  <a:lnTo>
                    <a:pt x="0" y="904"/>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71" name="Freeform 172"/>
            <p:cNvSpPr>
              <a:spLocks/>
            </p:cNvSpPr>
            <p:nvPr/>
          </p:nvSpPr>
          <p:spPr bwMode="auto">
            <a:xfrm>
              <a:off x="830" y="3540"/>
              <a:ext cx="133" cy="510"/>
            </a:xfrm>
            <a:custGeom>
              <a:avLst/>
              <a:gdLst>
                <a:gd name="T0" fmla="*/ 133 w 133"/>
                <a:gd name="T1" fmla="*/ 510 h 510"/>
                <a:gd name="T2" fmla="*/ 1 w 133"/>
                <a:gd name="T3" fmla="*/ 285 h 510"/>
                <a:gd name="T4" fmla="*/ 127 w 133"/>
                <a:gd name="T5" fmla="*/ 0 h 510"/>
                <a:gd name="T6" fmla="*/ 0 60000 65536"/>
                <a:gd name="T7" fmla="*/ 0 60000 65536"/>
                <a:gd name="T8" fmla="*/ 0 60000 65536"/>
              </a:gdLst>
              <a:ahLst/>
              <a:cxnLst>
                <a:cxn ang="T6">
                  <a:pos x="T0" y="T1"/>
                </a:cxn>
                <a:cxn ang="T7">
                  <a:pos x="T2" y="T3"/>
                </a:cxn>
                <a:cxn ang="T8">
                  <a:pos x="T4" y="T5"/>
                </a:cxn>
              </a:cxnLst>
              <a:rect l="0" t="0" r="r" b="b"/>
              <a:pathLst>
                <a:path w="133" h="510">
                  <a:moveTo>
                    <a:pt x="133" y="510"/>
                  </a:moveTo>
                  <a:cubicBezTo>
                    <a:pt x="110" y="471"/>
                    <a:pt x="2" y="370"/>
                    <a:pt x="1" y="285"/>
                  </a:cubicBezTo>
                  <a:cubicBezTo>
                    <a:pt x="0" y="200"/>
                    <a:pt x="101" y="59"/>
                    <a:pt x="127" y="0"/>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72" name="Freeform 173"/>
            <p:cNvSpPr>
              <a:spLocks/>
            </p:cNvSpPr>
            <p:nvPr/>
          </p:nvSpPr>
          <p:spPr bwMode="auto">
            <a:xfrm>
              <a:off x="2731" y="3501"/>
              <a:ext cx="115" cy="543"/>
            </a:xfrm>
            <a:custGeom>
              <a:avLst/>
              <a:gdLst>
                <a:gd name="T0" fmla="*/ 0 w 115"/>
                <a:gd name="T1" fmla="*/ 543 h 543"/>
                <a:gd name="T2" fmla="*/ 113 w 115"/>
                <a:gd name="T3" fmla="*/ 291 h 543"/>
                <a:gd name="T4" fmla="*/ 13 w 115"/>
                <a:gd name="T5" fmla="*/ 0 h 543"/>
                <a:gd name="T6" fmla="*/ 0 60000 65536"/>
                <a:gd name="T7" fmla="*/ 0 60000 65536"/>
                <a:gd name="T8" fmla="*/ 0 60000 65536"/>
              </a:gdLst>
              <a:ahLst/>
              <a:cxnLst>
                <a:cxn ang="T6">
                  <a:pos x="T0" y="T1"/>
                </a:cxn>
                <a:cxn ang="T7">
                  <a:pos x="T2" y="T3"/>
                </a:cxn>
                <a:cxn ang="T8">
                  <a:pos x="T4" y="T5"/>
                </a:cxn>
              </a:cxnLst>
              <a:rect l="0" t="0" r="r" b="b"/>
              <a:pathLst>
                <a:path w="115" h="543">
                  <a:moveTo>
                    <a:pt x="0" y="543"/>
                  </a:moveTo>
                  <a:cubicBezTo>
                    <a:pt x="19" y="502"/>
                    <a:pt x="111" y="381"/>
                    <a:pt x="113" y="291"/>
                  </a:cubicBezTo>
                  <a:cubicBezTo>
                    <a:pt x="115" y="201"/>
                    <a:pt x="34" y="61"/>
                    <a:pt x="13" y="0"/>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73" name="Freeform 174"/>
            <p:cNvSpPr>
              <a:spLocks/>
            </p:cNvSpPr>
            <p:nvPr/>
          </p:nvSpPr>
          <p:spPr bwMode="auto">
            <a:xfrm>
              <a:off x="1920" y="2928"/>
              <a:ext cx="738" cy="467"/>
            </a:xfrm>
            <a:custGeom>
              <a:avLst/>
              <a:gdLst>
                <a:gd name="T0" fmla="*/ 0 w 738"/>
                <a:gd name="T1" fmla="*/ 0 h 467"/>
                <a:gd name="T2" fmla="*/ 738 w 738"/>
                <a:gd name="T3" fmla="*/ 467 h 467"/>
                <a:gd name="T4" fmla="*/ 0 60000 65536"/>
                <a:gd name="T5" fmla="*/ 0 60000 65536"/>
              </a:gdLst>
              <a:ahLst/>
              <a:cxnLst>
                <a:cxn ang="T4">
                  <a:pos x="T0" y="T1"/>
                </a:cxn>
                <a:cxn ang="T5">
                  <a:pos x="T2" y="T3"/>
                </a:cxn>
              </a:cxnLst>
              <a:rect l="0" t="0" r="r" b="b"/>
              <a:pathLst>
                <a:path w="738" h="467">
                  <a:moveTo>
                    <a:pt x="0" y="0"/>
                  </a:moveTo>
                  <a:lnTo>
                    <a:pt x="738" y="467"/>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48174" name="Text Box 175"/>
            <p:cNvSpPr txBox="1">
              <a:spLocks noChangeArrowheads="1"/>
            </p:cNvSpPr>
            <p:nvPr/>
          </p:nvSpPr>
          <p:spPr bwMode="auto">
            <a:xfrm>
              <a:off x="1680" y="201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a</a:t>
              </a:r>
            </a:p>
          </p:txBody>
        </p:sp>
        <p:sp>
          <p:nvSpPr>
            <p:cNvPr id="48175" name="Text Box 176"/>
            <p:cNvSpPr txBox="1">
              <a:spLocks noChangeArrowheads="1"/>
            </p:cNvSpPr>
            <p:nvPr/>
          </p:nvSpPr>
          <p:spPr bwMode="auto">
            <a:xfrm>
              <a:off x="1676" y="235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b</a:t>
              </a:r>
            </a:p>
          </p:txBody>
        </p:sp>
        <p:sp>
          <p:nvSpPr>
            <p:cNvPr id="48176" name="Text Box 177"/>
            <p:cNvSpPr txBox="1">
              <a:spLocks noChangeArrowheads="1"/>
            </p:cNvSpPr>
            <p:nvPr/>
          </p:nvSpPr>
          <p:spPr bwMode="auto">
            <a:xfrm>
              <a:off x="1920" y="273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c</a:t>
              </a:r>
            </a:p>
          </p:txBody>
        </p:sp>
        <p:sp>
          <p:nvSpPr>
            <p:cNvPr id="48177" name="Text Box 178"/>
            <p:cNvSpPr txBox="1">
              <a:spLocks noChangeArrowheads="1"/>
            </p:cNvSpPr>
            <p:nvPr/>
          </p:nvSpPr>
          <p:spPr bwMode="auto">
            <a:xfrm>
              <a:off x="1776" y="321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e</a:t>
              </a:r>
            </a:p>
          </p:txBody>
        </p:sp>
        <p:sp>
          <p:nvSpPr>
            <p:cNvPr id="48178" name="Text Box 179"/>
            <p:cNvSpPr txBox="1">
              <a:spLocks noChangeArrowheads="1"/>
            </p:cNvSpPr>
            <p:nvPr/>
          </p:nvSpPr>
          <p:spPr bwMode="auto">
            <a:xfrm>
              <a:off x="764" y="336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d</a:t>
              </a:r>
            </a:p>
          </p:txBody>
        </p:sp>
        <p:sp>
          <p:nvSpPr>
            <p:cNvPr id="48179" name="Text Box 180"/>
            <p:cNvSpPr txBox="1">
              <a:spLocks noChangeArrowheads="1"/>
            </p:cNvSpPr>
            <p:nvPr/>
          </p:nvSpPr>
          <p:spPr bwMode="auto">
            <a:xfrm>
              <a:off x="1004" y="374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h</a:t>
              </a:r>
            </a:p>
          </p:txBody>
        </p:sp>
        <p:sp>
          <p:nvSpPr>
            <p:cNvPr id="48180" name="Text Box 181"/>
            <p:cNvSpPr txBox="1">
              <a:spLocks noChangeArrowheads="1"/>
            </p:cNvSpPr>
            <p:nvPr/>
          </p:nvSpPr>
          <p:spPr bwMode="auto">
            <a:xfrm>
              <a:off x="1004" y="398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g</a:t>
              </a:r>
            </a:p>
          </p:txBody>
        </p:sp>
        <p:sp>
          <p:nvSpPr>
            <p:cNvPr id="48181" name="Text Box 182"/>
            <p:cNvSpPr txBox="1">
              <a:spLocks noChangeArrowheads="1"/>
            </p:cNvSpPr>
            <p:nvPr/>
          </p:nvSpPr>
          <p:spPr bwMode="auto">
            <a:xfrm>
              <a:off x="2696" y="3264"/>
              <a:ext cx="16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f</a:t>
              </a:r>
            </a:p>
          </p:txBody>
        </p:sp>
        <p:sp>
          <p:nvSpPr>
            <p:cNvPr id="48182" name="Text Box 183"/>
            <p:cNvSpPr txBox="1">
              <a:spLocks noChangeArrowheads="1"/>
            </p:cNvSpPr>
            <p:nvPr/>
          </p:nvSpPr>
          <p:spPr bwMode="auto">
            <a:xfrm>
              <a:off x="2508" y="374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i</a:t>
              </a:r>
            </a:p>
          </p:txBody>
        </p:sp>
        <p:sp>
          <p:nvSpPr>
            <p:cNvPr id="48183" name="Text Box 184"/>
            <p:cNvSpPr txBox="1">
              <a:spLocks noChangeArrowheads="1"/>
            </p:cNvSpPr>
            <p:nvPr/>
          </p:nvSpPr>
          <p:spPr bwMode="auto">
            <a:xfrm>
              <a:off x="2508" y="398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j</a:t>
              </a:r>
            </a:p>
          </p:txBody>
        </p:sp>
        <p:sp>
          <p:nvSpPr>
            <p:cNvPr id="48184" name="Text Box 185"/>
            <p:cNvSpPr txBox="1">
              <a:spLocks noChangeArrowheads="1"/>
            </p:cNvSpPr>
            <p:nvPr/>
          </p:nvSpPr>
          <p:spPr bwMode="auto">
            <a:xfrm>
              <a:off x="779" y="2256"/>
              <a:ext cx="726"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dirty="0">
                  <a:solidFill>
                    <a:schemeClr val="tx2"/>
                  </a:solidFill>
                  <a:latin typeface="Arial" pitchFamily="34" charset="0"/>
                </a:rPr>
                <a:t>DFS(G):</a:t>
              </a:r>
            </a:p>
          </p:txBody>
        </p:sp>
      </p:grpSp>
      <p:sp>
        <p:nvSpPr>
          <p:cNvPr id="2" name="Slide Number Placeholder 1"/>
          <p:cNvSpPr>
            <a:spLocks noGrp="1"/>
          </p:cNvSpPr>
          <p:nvPr>
            <p:ph type="sldNum" sz="quarter" idx="12"/>
          </p:nvPr>
        </p:nvSpPr>
        <p:spPr/>
        <p:txBody>
          <a:bodyPr/>
          <a:lstStyle/>
          <a:p>
            <a:pPr>
              <a:defRPr/>
            </a:pPr>
            <a:fld id="{5019D0FD-30FE-4170-95C0-BCF9C0F390F3}" type="slidenum">
              <a:rPr lang="en-US" smtClean="0"/>
              <a:pPr>
                <a:defRPr/>
              </a:pPr>
              <a:t>46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36280"/>
                                        </p:tgtEl>
                                        <p:attrNameLst>
                                          <p:attrName>style.visibility</p:attrName>
                                        </p:attrNameLst>
                                      </p:cBhvr>
                                      <p:to>
                                        <p:strVal val="visible"/>
                                      </p:to>
                                    </p:set>
                                    <p:animEffect transition="in" filter="wipe(up)">
                                      <p:cBhvr>
                                        <p:cTn id="7" dur="500"/>
                                        <p:tgtEl>
                                          <p:spTgt spid="1362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6321"/>
                                        </p:tgtEl>
                                        <p:attrNameLst>
                                          <p:attrName>style.visibility</p:attrName>
                                        </p:attrNameLst>
                                      </p:cBhvr>
                                      <p:to>
                                        <p:strVal val="visible"/>
                                      </p:to>
                                    </p:set>
                                    <p:animEffect transition="in" filter="dissolve">
                                      <p:cBhvr>
                                        <p:cTn id="12" dur="500"/>
                                        <p:tgtEl>
                                          <p:spTgt spid="136321"/>
                                        </p:tgtEl>
                                      </p:cBhvr>
                                    </p:animEffect>
                                  </p:childTnLst>
                                </p:cTn>
                              </p:par>
                            </p:childTnLst>
                          </p:cTn>
                        </p:par>
                        <p:par>
                          <p:cTn id="13" fill="hold" nodeType="afterGroup">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36322"/>
                                        </p:tgtEl>
                                        <p:attrNameLst>
                                          <p:attrName>style.visibility</p:attrName>
                                        </p:attrNameLst>
                                      </p:cBhvr>
                                      <p:to>
                                        <p:strVal val="visible"/>
                                      </p:to>
                                    </p:set>
                                    <p:animEffect transition="in" filter="dissolve">
                                      <p:cBhvr>
                                        <p:cTn id="16" dur="500"/>
                                        <p:tgtEl>
                                          <p:spTgt spid="136322"/>
                                        </p:tgtEl>
                                      </p:cBhvr>
                                    </p:animEffect>
                                  </p:childTnLst>
                                </p:cTn>
                              </p:par>
                            </p:childTnLst>
                          </p:cTn>
                        </p:par>
                        <p:par>
                          <p:cTn id="17" fill="hold" nodeType="afterGroup">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136323"/>
                                        </p:tgtEl>
                                        <p:attrNameLst>
                                          <p:attrName>style.visibility</p:attrName>
                                        </p:attrNameLst>
                                      </p:cBhvr>
                                      <p:to>
                                        <p:strVal val="visible"/>
                                      </p:to>
                                    </p:set>
                                    <p:animEffect transition="in" filter="dissolve">
                                      <p:cBhvr>
                                        <p:cTn id="20" dur="500"/>
                                        <p:tgtEl>
                                          <p:spTgt spid="136323"/>
                                        </p:tgtEl>
                                      </p:cBhvr>
                                    </p:animEffect>
                                  </p:childTnLst>
                                </p:cTn>
                              </p:par>
                            </p:childTnLst>
                          </p:cTn>
                        </p:par>
                        <p:par>
                          <p:cTn id="21" fill="hold" nodeType="afterGroup">
                            <p:stCondLst>
                              <p:cond delay="1500"/>
                            </p:stCondLst>
                            <p:childTnLst>
                              <p:par>
                                <p:cTn id="22" presetID="9" presetClass="entr" presetSubtype="0" fill="hold" grpId="0" nodeType="afterEffect">
                                  <p:stCondLst>
                                    <p:cond delay="0"/>
                                  </p:stCondLst>
                                  <p:childTnLst>
                                    <p:set>
                                      <p:cBhvr>
                                        <p:cTn id="23" dur="1" fill="hold">
                                          <p:stCondLst>
                                            <p:cond delay="0"/>
                                          </p:stCondLst>
                                        </p:cTn>
                                        <p:tgtEl>
                                          <p:spTgt spid="136324"/>
                                        </p:tgtEl>
                                        <p:attrNameLst>
                                          <p:attrName>style.visibility</p:attrName>
                                        </p:attrNameLst>
                                      </p:cBhvr>
                                      <p:to>
                                        <p:strVal val="visible"/>
                                      </p:to>
                                    </p:set>
                                    <p:animEffect transition="in" filter="dissolve">
                                      <p:cBhvr>
                                        <p:cTn id="24" dur="500"/>
                                        <p:tgtEl>
                                          <p:spTgt spid="13632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36328"/>
                                        </p:tgtEl>
                                        <p:attrNameLst>
                                          <p:attrName>style.visibility</p:attrName>
                                        </p:attrNameLst>
                                      </p:cBhvr>
                                      <p:to>
                                        <p:strVal val="visible"/>
                                      </p:to>
                                    </p:set>
                                    <p:animEffect transition="in" filter="dissolve">
                                      <p:cBhvr>
                                        <p:cTn id="29" dur="500"/>
                                        <p:tgtEl>
                                          <p:spTgt spid="136328"/>
                                        </p:tgtEl>
                                      </p:cBhvr>
                                    </p:animEffect>
                                  </p:childTnLst>
                                </p:cTn>
                              </p:par>
                            </p:childTnLst>
                          </p:cTn>
                        </p:par>
                        <p:par>
                          <p:cTn id="30" fill="hold" nodeType="afterGroup">
                            <p:stCondLst>
                              <p:cond delay="500"/>
                            </p:stCondLst>
                            <p:childTnLst>
                              <p:par>
                                <p:cTn id="31" presetID="9" presetClass="entr" presetSubtype="0" fill="hold" grpId="0" nodeType="afterEffect">
                                  <p:stCondLst>
                                    <p:cond delay="0"/>
                                  </p:stCondLst>
                                  <p:childTnLst>
                                    <p:set>
                                      <p:cBhvr>
                                        <p:cTn id="32" dur="1" fill="hold">
                                          <p:stCondLst>
                                            <p:cond delay="0"/>
                                          </p:stCondLst>
                                        </p:cTn>
                                        <p:tgtEl>
                                          <p:spTgt spid="136326"/>
                                        </p:tgtEl>
                                        <p:attrNameLst>
                                          <p:attrName>style.visibility</p:attrName>
                                        </p:attrNameLst>
                                      </p:cBhvr>
                                      <p:to>
                                        <p:strVal val="visible"/>
                                      </p:to>
                                    </p:set>
                                    <p:animEffect transition="in" filter="dissolve">
                                      <p:cBhvr>
                                        <p:cTn id="33" dur="500"/>
                                        <p:tgtEl>
                                          <p:spTgt spid="136326"/>
                                        </p:tgtEl>
                                      </p:cBhvr>
                                    </p:animEffect>
                                  </p:childTnLst>
                                </p:cTn>
                              </p:par>
                            </p:childTnLst>
                          </p:cTn>
                        </p:par>
                        <p:par>
                          <p:cTn id="34" fill="hold" nodeType="afterGroup">
                            <p:stCondLst>
                              <p:cond delay="1000"/>
                            </p:stCondLst>
                            <p:childTnLst>
                              <p:par>
                                <p:cTn id="35" presetID="9" presetClass="entr" presetSubtype="0" fill="hold" grpId="0" nodeType="afterEffect">
                                  <p:stCondLst>
                                    <p:cond delay="0"/>
                                  </p:stCondLst>
                                  <p:childTnLst>
                                    <p:set>
                                      <p:cBhvr>
                                        <p:cTn id="36" dur="1" fill="hold">
                                          <p:stCondLst>
                                            <p:cond delay="0"/>
                                          </p:stCondLst>
                                        </p:cTn>
                                        <p:tgtEl>
                                          <p:spTgt spid="136325"/>
                                        </p:tgtEl>
                                        <p:attrNameLst>
                                          <p:attrName>style.visibility</p:attrName>
                                        </p:attrNameLst>
                                      </p:cBhvr>
                                      <p:to>
                                        <p:strVal val="visible"/>
                                      </p:to>
                                    </p:set>
                                    <p:animEffect transition="in" filter="dissolve">
                                      <p:cBhvr>
                                        <p:cTn id="37" dur="500"/>
                                        <p:tgtEl>
                                          <p:spTgt spid="136325"/>
                                        </p:tgtEl>
                                      </p:cBhvr>
                                    </p:animEffect>
                                  </p:childTnLst>
                                </p:cTn>
                              </p:par>
                            </p:childTnLst>
                          </p:cTn>
                        </p:par>
                        <p:par>
                          <p:cTn id="38" fill="hold" nodeType="afterGroup">
                            <p:stCondLst>
                              <p:cond delay="1500"/>
                            </p:stCondLst>
                            <p:childTnLst>
                              <p:par>
                                <p:cTn id="39" presetID="9" presetClass="entr" presetSubtype="0" fill="hold" grpId="0" nodeType="afterEffect">
                                  <p:stCondLst>
                                    <p:cond delay="0"/>
                                  </p:stCondLst>
                                  <p:childTnLst>
                                    <p:set>
                                      <p:cBhvr>
                                        <p:cTn id="40" dur="1" fill="hold">
                                          <p:stCondLst>
                                            <p:cond delay="0"/>
                                          </p:stCondLst>
                                        </p:cTn>
                                        <p:tgtEl>
                                          <p:spTgt spid="136327"/>
                                        </p:tgtEl>
                                        <p:attrNameLst>
                                          <p:attrName>style.visibility</p:attrName>
                                        </p:attrNameLst>
                                      </p:cBhvr>
                                      <p:to>
                                        <p:strVal val="visible"/>
                                      </p:to>
                                    </p:set>
                                    <p:animEffect transition="in" filter="dissolve">
                                      <p:cBhvr>
                                        <p:cTn id="41" dur="500"/>
                                        <p:tgtEl>
                                          <p:spTgt spid="13632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136337"/>
                                        </p:tgtEl>
                                        <p:attrNameLst>
                                          <p:attrName>style.visibility</p:attrName>
                                        </p:attrNameLst>
                                      </p:cBhvr>
                                      <p:to>
                                        <p:strVal val="visible"/>
                                      </p:to>
                                    </p:set>
                                    <p:animEffect transition="in" filter="dissolve">
                                      <p:cBhvr>
                                        <p:cTn id="46" dur="500"/>
                                        <p:tgtEl>
                                          <p:spTgt spid="136337"/>
                                        </p:tgtEl>
                                      </p:cBhvr>
                                    </p:animEffect>
                                  </p:childTnLst>
                                </p:cTn>
                              </p:par>
                            </p:childTnLst>
                          </p:cTn>
                        </p:par>
                        <p:par>
                          <p:cTn id="47" fill="hold">
                            <p:stCondLst>
                              <p:cond delay="500"/>
                            </p:stCondLst>
                            <p:childTnLst>
                              <p:par>
                                <p:cTn id="48" presetID="9" presetClass="entr" presetSubtype="0" fill="hold" grpId="0" nodeType="afterEffect">
                                  <p:stCondLst>
                                    <p:cond delay="0"/>
                                  </p:stCondLst>
                                  <p:childTnLst>
                                    <p:set>
                                      <p:cBhvr>
                                        <p:cTn id="49" dur="1" fill="hold">
                                          <p:stCondLst>
                                            <p:cond delay="0"/>
                                          </p:stCondLst>
                                        </p:cTn>
                                        <p:tgtEl>
                                          <p:spTgt spid="136336"/>
                                        </p:tgtEl>
                                        <p:attrNameLst>
                                          <p:attrName>style.visibility</p:attrName>
                                        </p:attrNameLst>
                                      </p:cBhvr>
                                      <p:to>
                                        <p:strVal val="visible"/>
                                      </p:to>
                                    </p:set>
                                    <p:animEffect transition="in" filter="dissolve">
                                      <p:cBhvr>
                                        <p:cTn id="50" dur="500"/>
                                        <p:tgtEl>
                                          <p:spTgt spid="136336"/>
                                        </p:tgtEl>
                                      </p:cBhvr>
                                    </p:animEffect>
                                  </p:childTnLst>
                                </p:cTn>
                              </p:par>
                            </p:childTnLst>
                          </p:cTn>
                        </p:par>
                        <p:par>
                          <p:cTn id="51" fill="hold">
                            <p:stCondLst>
                              <p:cond delay="1000"/>
                            </p:stCondLst>
                            <p:childTnLst>
                              <p:par>
                                <p:cTn id="52" presetID="9" presetClass="entr" presetSubtype="0" fill="hold" grpId="0" nodeType="afterEffect">
                                  <p:stCondLst>
                                    <p:cond delay="0"/>
                                  </p:stCondLst>
                                  <p:childTnLst>
                                    <p:set>
                                      <p:cBhvr>
                                        <p:cTn id="53" dur="1" fill="hold">
                                          <p:stCondLst>
                                            <p:cond delay="0"/>
                                          </p:stCondLst>
                                        </p:cTn>
                                        <p:tgtEl>
                                          <p:spTgt spid="136334"/>
                                        </p:tgtEl>
                                        <p:attrNameLst>
                                          <p:attrName>style.visibility</p:attrName>
                                        </p:attrNameLst>
                                      </p:cBhvr>
                                      <p:to>
                                        <p:strVal val="visible"/>
                                      </p:to>
                                    </p:set>
                                    <p:animEffect transition="in" filter="dissolve">
                                      <p:cBhvr>
                                        <p:cTn id="54" dur="500"/>
                                        <p:tgtEl>
                                          <p:spTgt spid="136334"/>
                                        </p:tgtEl>
                                      </p:cBhvr>
                                    </p:animEffect>
                                  </p:childTnLst>
                                </p:cTn>
                              </p:par>
                            </p:childTnLst>
                          </p:cTn>
                        </p:par>
                        <p:par>
                          <p:cTn id="55" fill="hold">
                            <p:stCondLst>
                              <p:cond delay="1500"/>
                            </p:stCondLst>
                            <p:childTnLst>
                              <p:par>
                                <p:cTn id="56" presetID="9" presetClass="entr" presetSubtype="0" fill="hold" grpId="0" nodeType="afterEffect">
                                  <p:stCondLst>
                                    <p:cond delay="0"/>
                                  </p:stCondLst>
                                  <p:childTnLst>
                                    <p:set>
                                      <p:cBhvr>
                                        <p:cTn id="57" dur="1" fill="hold">
                                          <p:stCondLst>
                                            <p:cond delay="0"/>
                                          </p:stCondLst>
                                        </p:cTn>
                                        <p:tgtEl>
                                          <p:spTgt spid="136335"/>
                                        </p:tgtEl>
                                        <p:attrNameLst>
                                          <p:attrName>style.visibility</p:attrName>
                                        </p:attrNameLst>
                                      </p:cBhvr>
                                      <p:to>
                                        <p:strVal val="visible"/>
                                      </p:to>
                                    </p:set>
                                    <p:animEffect transition="in" filter="dissolve">
                                      <p:cBhvr>
                                        <p:cTn id="58" dur="500"/>
                                        <p:tgtEl>
                                          <p:spTgt spid="136335"/>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136333"/>
                                        </p:tgtEl>
                                        <p:attrNameLst>
                                          <p:attrName>style.visibility</p:attrName>
                                        </p:attrNameLst>
                                      </p:cBhvr>
                                      <p:to>
                                        <p:strVal val="visible"/>
                                      </p:to>
                                    </p:set>
                                    <p:animEffect transition="in" filter="wipe(up)">
                                      <p:cBhvr>
                                        <p:cTn id="63" dur="500"/>
                                        <p:tgtEl>
                                          <p:spTgt spid="136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325" grpId="0" animBg="1"/>
      <p:bldP spid="136326" grpId="0" animBg="1"/>
      <p:bldP spid="136327" grpId="0" animBg="1"/>
      <p:bldP spid="136328" grpId="0" animBg="1"/>
      <p:bldP spid="136324" grpId="0" animBg="1"/>
      <p:bldP spid="136323" grpId="0" animBg="1"/>
      <p:bldP spid="136322" grpId="0" animBg="1"/>
      <p:bldP spid="136321" grpId="0" animBg="1"/>
      <p:bldP spid="136333" grpId="0" animBg="1" autoUpdateAnimBg="0"/>
      <p:bldP spid="136334" grpId="0" animBg="1"/>
      <p:bldP spid="136335" grpId="0" animBg="1"/>
      <p:bldP spid="136336" grpId="0" animBg="1"/>
      <p:bldP spid="13633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352" name="Text Box 136" descr="Stationery"/>
          <p:cNvSpPr txBox="1">
            <a:spLocks noChangeArrowheads="1"/>
          </p:cNvSpPr>
          <p:nvPr/>
        </p:nvSpPr>
        <p:spPr bwMode="auto">
          <a:xfrm>
            <a:off x="228600" y="152400"/>
            <a:ext cx="8686800" cy="2689225"/>
          </a:xfrm>
          <a:prstGeom prst="rect">
            <a:avLst/>
          </a:prstGeom>
          <a:blipFill dpi="0" rotWithShape="0">
            <a:blip r:embed="rId2"/>
            <a:srcRect/>
            <a:tile tx="0" ty="0" sx="100000" sy="100000" flip="none" algn="tl"/>
          </a:blipFill>
          <a:ln w="381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lvl1pPr marL="282575" indent="-282575">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r>
              <a:rPr lang="en-US" sz="2000" b="1" dirty="0">
                <a:solidFill>
                  <a:srgbClr val="CC0000"/>
                </a:solidFill>
                <a:latin typeface="Arial" pitchFamily="34" charset="0"/>
              </a:rPr>
              <a:t>SCC roof</a:t>
            </a:r>
            <a:r>
              <a:rPr lang="en-US" sz="2000" dirty="0">
                <a:solidFill>
                  <a:schemeClr val="hlink"/>
                </a:solidFill>
                <a:latin typeface="Arial" pitchFamily="34" charset="0"/>
              </a:rPr>
              <a:t>  =   the node x with minimum d[x] among all nodes of the SCC </a:t>
            </a:r>
            <a:br>
              <a:rPr lang="en-US" sz="2000" dirty="0">
                <a:solidFill>
                  <a:schemeClr val="hlink"/>
                </a:solidFill>
                <a:latin typeface="Arial" pitchFamily="34" charset="0"/>
              </a:rPr>
            </a:br>
            <a:r>
              <a:rPr lang="en-US" sz="2000" dirty="0">
                <a:solidFill>
                  <a:schemeClr val="hlink"/>
                </a:solidFill>
                <a:latin typeface="Arial" pitchFamily="34" charset="0"/>
              </a:rPr>
              <a:t>		 (nodes </a:t>
            </a:r>
            <a:r>
              <a:rPr lang="en-US" sz="2000" dirty="0">
                <a:solidFill>
                  <a:srgbClr val="CC0000"/>
                </a:solidFill>
                <a:latin typeface="Arial" pitchFamily="34" charset="0"/>
              </a:rPr>
              <a:t>d, f, e, a</a:t>
            </a:r>
            <a:r>
              <a:rPr lang="en-US" sz="2000" dirty="0">
                <a:solidFill>
                  <a:schemeClr val="hlink"/>
                </a:solidFill>
                <a:latin typeface="Arial" pitchFamily="34" charset="0"/>
              </a:rPr>
              <a:t> in the example below).</a:t>
            </a:r>
          </a:p>
          <a:p>
            <a:pPr eaLnBrk="1" hangingPunct="1"/>
            <a:r>
              <a:rPr lang="en-US" sz="2000" b="1" dirty="0">
                <a:solidFill>
                  <a:srgbClr val="CC0000"/>
                </a:solidFill>
                <a:latin typeface="Arial" pitchFamily="34" charset="0"/>
              </a:rPr>
              <a:t>WPT</a:t>
            </a:r>
            <a:r>
              <a:rPr lang="en-US" sz="2000" dirty="0">
                <a:solidFill>
                  <a:schemeClr val="hlink"/>
                </a:solidFill>
                <a:latin typeface="Arial" pitchFamily="34" charset="0"/>
              </a:rPr>
              <a:t>   </a:t>
            </a:r>
            <a:r>
              <a:rPr lang="en-US" sz="2400" b="1" dirty="0">
                <a:solidFill>
                  <a:schemeClr val="hlink"/>
                </a:solidFill>
                <a:latin typeface="Arial" pitchFamily="34" charset="0"/>
                <a:sym typeface="Symbol" pitchFamily="18" charset="2"/>
              </a:rPr>
              <a:t></a:t>
            </a:r>
            <a:r>
              <a:rPr lang="en-US" sz="2000" dirty="0">
                <a:solidFill>
                  <a:schemeClr val="hlink"/>
                </a:solidFill>
                <a:latin typeface="Arial" pitchFamily="34" charset="0"/>
                <a:sym typeface="Symbol" pitchFamily="18" charset="2"/>
              </a:rPr>
              <a:t>  </a:t>
            </a:r>
            <a:r>
              <a:rPr lang="en-US" sz="2000" dirty="0">
                <a:solidFill>
                  <a:schemeClr val="hlink"/>
                </a:solidFill>
                <a:latin typeface="Arial" pitchFamily="34" charset="0"/>
              </a:rPr>
              <a:t>all nodes of an SCC are DFS descendants of its roof.</a:t>
            </a:r>
          </a:p>
          <a:p>
            <a:pPr eaLnBrk="1" hangingPunct="1"/>
            <a:r>
              <a:rPr lang="en-US" sz="2000" b="1" dirty="0">
                <a:solidFill>
                  <a:schemeClr val="hlink"/>
                </a:solidFill>
                <a:latin typeface="Arial" pitchFamily="34" charset="0"/>
                <a:sym typeface="Symbol" pitchFamily="18" charset="2"/>
              </a:rPr>
              <a:t> </a:t>
            </a:r>
            <a:r>
              <a:rPr lang="en-US" sz="2400" b="1" dirty="0">
                <a:solidFill>
                  <a:schemeClr val="hlink"/>
                </a:solidFill>
                <a:latin typeface="Arial" pitchFamily="34" charset="0"/>
                <a:sym typeface="Symbol" pitchFamily="18" charset="2"/>
              </a:rPr>
              <a:t> </a:t>
            </a:r>
            <a:r>
              <a:rPr lang="en-US" sz="2000" dirty="0">
                <a:solidFill>
                  <a:schemeClr val="hlink"/>
                </a:solidFill>
                <a:latin typeface="Arial" pitchFamily="34" charset="0"/>
                <a:sym typeface="Symbol" pitchFamily="18" charset="2"/>
              </a:rPr>
              <a:t>SCC roof x has maximum f[x] among all nodes of the SCC.</a:t>
            </a:r>
            <a:endParaRPr lang="en-US" sz="2000" dirty="0">
              <a:solidFill>
                <a:schemeClr val="hlink"/>
              </a:solidFill>
              <a:latin typeface="Arial" pitchFamily="34" charset="0"/>
            </a:endParaRPr>
          </a:p>
          <a:p>
            <a:pPr eaLnBrk="1" hangingPunct="1"/>
            <a:endParaRPr lang="en-US" sz="2000" dirty="0">
              <a:solidFill>
                <a:schemeClr val="hlink"/>
              </a:solidFill>
              <a:latin typeface="Arial" pitchFamily="34" charset="0"/>
            </a:endParaRPr>
          </a:p>
          <a:p>
            <a:pPr eaLnBrk="1" hangingPunct="1"/>
            <a:r>
              <a:rPr lang="en-US" sz="2000" dirty="0">
                <a:solidFill>
                  <a:schemeClr val="hlink"/>
                </a:solidFill>
                <a:latin typeface="Arial" pitchFamily="34" charset="0"/>
              </a:rPr>
              <a:t>No path can re-enter an SCC after leaving it.</a:t>
            </a:r>
          </a:p>
          <a:p>
            <a:pPr eaLnBrk="1" hangingPunct="1"/>
            <a:r>
              <a:rPr lang="en-US" sz="2000" dirty="0">
                <a:solidFill>
                  <a:schemeClr val="hlink"/>
                </a:solidFill>
                <a:latin typeface="Arial" pitchFamily="34" charset="0"/>
              </a:rPr>
              <a:t>SCC roofs are scanned (colored </a:t>
            </a:r>
            <a:r>
              <a:rPr lang="en-US" dirty="0">
                <a:solidFill>
                  <a:schemeClr val="hlink"/>
                </a:solidFill>
                <a:latin typeface="Arial" pitchFamily="34" charset="0"/>
              </a:rPr>
              <a:t>BLACK</a:t>
            </a:r>
            <a:r>
              <a:rPr lang="en-US" sz="2000" dirty="0">
                <a:solidFill>
                  <a:schemeClr val="hlink"/>
                </a:solidFill>
                <a:latin typeface="Arial" pitchFamily="34" charset="0"/>
              </a:rPr>
              <a:t>)  </a:t>
            </a:r>
            <a:r>
              <a:rPr lang="en-US" sz="2000" b="1" dirty="0">
                <a:solidFill>
                  <a:srgbClr val="CC0000"/>
                </a:solidFill>
                <a:latin typeface="Arial" pitchFamily="34" charset="0"/>
              </a:rPr>
              <a:t>in </a:t>
            </a:r>
            <a:r>
              <a:rPr lang="en-US" sz="2000" b="1" u="sng" dirty="0">
                <a:solidFill>
                  <a:srgbClr val="CC0000"/>
                </a:solidFill>
                <a:latin typeface="Arial" pitchFamily="34" charset="0"/>
              </a:rPr>
              <a:t>reverse</a:t>
            </a:r>
            <a:r>
              <a:rPr lang="en-US" sz="2000" b="1" dirty="0">
                <a:solidFill>
                  <a:srgbClr val="CC0000"/>
                </a:solidFill>
                <a:latin typeface="Arial" pitchFamily="34" charset="0"/>
              </a:rPr>
              <a:t> topological order</a:t>
            </a:r>
            <a:r>
              <a:rPr lang="en-US" sz="2000" dirty="0">
                <a:solidFill>
                  <a:schemeClr val="hlink"/>
                </a:solidFill>
                <a:latin typeface="Arial" pitchFamily="34" charset="0"/>
              </a:rPr>
              <a:t> </a:t>
            </a:r>
            <a:br>
              <a:rPr lang="en-US" sz="2000" dirty="0">
                <a:solidFill>
                  <a:schemeClr val="hlink"/>
                </a:solidFill>
                <a:latin typeface="Arial" pitchFamily="34" charset="0"/>
              </a:rPr>
            </a:br>
            <a:r>
              <a:rPr lang="en-US" sz="2000" dirty="0">
                <a:solidFill>
                  <a:schemeClr val="hlink"/>
                </a:solidFill>
                <a:latin typeface="Arial" pitchFamily="34" charset="0"/>
              </a:rPr>
              <a:t>of the SCC Component Graph.</a:t>
            </a:r>
          </a:p>
        </p:txBody>
      </p:sp>
      <p:sp>
        <p:nvSpPr>
          <p:cNvPr id="137397" name="Text Box 181" descr="Stationery"/>
          <p:cNvSpPr txBox="1">
            <a:spLocks noChangeArrowheads="1"/>
          </p:cNvSpPr>
          <p:nvPr/>
        </p:nvSpPr>
        <p:spPr bwMode="auto">
          <a:xfrm>
            <a:off x="5334000" y="3048000"/>
            <a:ext cx="3575050" cy="3482975"/>
          </a:xfrm>
          <a:prstGeom prst="rect">
            <a:avLst/>
          </a:prstGeom>
          <a:blipFill dpi="0" rotWithShape="0">
            <a:blip r:embed="rId2"/>
            <a:srcRect/>
            <a:tile tx="0" ty="0" sx="100000" sy="100000" flip="none" algn="tl"/>
          </a:blipFill>
          <a:ln w="381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2000" b="1" u="sng" dirty="0">
                <a:solidFill>
                  <a:srgbClr val="CC0000"/>
                </a:solidFill>
                <a:latin typeface="Arial" pitchFamily="34" charset="0"/>
              </a:rPr>
              <a:t>How to disentangle SCCs</a:t>
            </a:r>
            <a:r>
              <a:rPr lang="en-US" sz="2000" b="1" dirty="0">
                <a:solidFill>
                  <a:srgbClr val="CC0000"/>
                </a:solidFill>
                <a:latin typeface="Arial" pitchFamily="34" charset="0"/>
              </a:rPr>
              <a:t>:</a:t>
            </a:r>
          </a:p>
          <a:p>
            <a:pPr eaLnBrk="1" hangingPunct="1">
              <a:buFontTx/>
              <a:buNone/>
            </a:pPr>
            <a:endParaRPr lang="en-US" sz="2000" dirty="0">
              <a:solidFill>
                <a:schemeClr val="hlink"/>
              </a:solidFill>
              <a:latin typeface="Arial" pitchFamily="34" charset="0"/>
            </a:endParaRPr>
          </a:p>
          <a:p>
            <a:pPr eaLnBrk="1" hangingPunct="1">
              <a:buFontTx/>
              <a:buNone/>
            </a:pPr>
            <a:r>
              <a:rPr lang="en-US" sz="2000" dirty="0">
                <a:solidFill>
                  <a:schemeClr val="hlink"/>
                </a:solidFill>
                <a:latin typeface="Arial" pitchFamily="34" charset="0"/>
              </a:rPr>
              <a:t>Do 2</a:t>
            </a:r>
            <a:r>
              <a:rPr lang="en-US" sz="2000" baseline="30000" dirty="0">
                <a:solidFill>
                  <a:schemeClr val="hlink"/>
                </a:solidFill>
                <a:latin typeface="Arial" pitchFamily="34" charset="0"/>
              </a:rPr>
              <a:t>nd</a:t>
            </a:r>
            <a:r>
              <a:rPr lang="en-US" sz="2000" dirty="0">
                <a:solidFill>
                  <a:schemeClr val="hlink"/>
                </a:solidFill>
                <a:latin typeface="Arial" pitchFamily="34" charset="0"/>
              </a:rPr>
              <a:t> DFS, this time on G</a:t>
            </a:r>
            <a:r>
              <a:rPr lang="en-US" sz="2000" baseline="30000" dirty="0">
                <a:solidFill>
                  <a:schemeClr val="hlink"/>
                </a:solidFill>
                <a:latin typeface="Arial" pitchFamily="34" charset="0"/>
              </a:rPr>
              <a:t>T</a:t>
            </a:r>
            <a:r>
              <a:rPr lang="en-US" sz="2000" dirty="0">
                <a:solidFill>
                  <a:schemeClr val="hlink"/>
                </a:solidFill>
                <a:latin typeface="Arial" pitchFamily="34" charset="0"/>
              </a:rPr>
              <a:t>,</a:t>
            </a:r>
          </a:p>
          <a:p>
            <a:pPr eaLnBrk="1" hangingPunct="1">
              <a:buFontTx/>
              <a:buNone/>
            </a:pPr>
            <a:r>
              <a:rPr lang="en-US" sz="2000" dirty="0">
                <a:solidFill>
                  <a:schemeClr val="hlink"/>
                </a:solidFill>
                <a:latin typeface="Arial" pitchFamily="34" charset="0"/>
              </a:rPr>
              <a:t>the </a:t>
            </a:r>
            <a:r>
              <a:rPr lang="en-US" sz="2000" u="sng" dirty="0">
                <a:solidFill>
                  <a:schemeClr val="hlink"/>
                </a:solidFill>
                <a:latin typeface="Arial" pitchFamily="34" charset="0"/>
              </a:rPr>
              <a:t>reverse</a:t>
            </a:r>
            <a:r>
              <a:rPr lang="en-US" sz="2000" dirty="0">
                <a:solidFill>
                  <a:schemeClr val="hlink"/>
                </a:solidFill>
                <a:latin typeface="Arial" pitchFamily="34" charset="0"/>
              </a:rPr>
              <a:t> of G,</a:t>
            </a:r>
            <a:br>
              <a:rPr lang="en-US" sz="2000" dirty="0">
                <a:solidFill>
                  <a:schemeClr val="hlink"/>
                </a:solidFill>
                <a:latin typeface="Arial" pitchFamily="34" charset="0"/>
              </a:rPr>
            </a:br>
            <a:r>
              <a:rPr lang="en-US" sz="2000" dirty="0">
                <a:solidFill>
                  <a:schemeClr val="hlink"/>
                </a:solidFill>
                <a:latin typeface="Arial" pitchFamily="34" charset="0"/>
              </a:rPr>
              <a:t>but pick DFS tree roots in</a:t>
            </a:r>
            <a:br>
              <a:rPr lang="en-US" sz="2000" dirty="0">
                <a:solidFill>
                  <a:schemeClr val="hlink"/>
                </a:solidFill>
                <a:latin typeface="Arial" pitchFamily="34" charset="0"/>
              </a:rPr>
            </a:br>
            <a:r>
              <a:rPr lang="en-US" sz="2000" dirty="0">
                <a:solidFill>
                  <a:schemeClr val="hlink"/>
                </a:solidFill>
                <a:latin typeface="Arial" pitchFamily="34" charset="0"/>
              </a:rPr>
              <a:t> </a:t>
            </a:r>
            <a:r>
              <a:rPr lang="en-US" sz="2000" u="sng" dirty="0">
                <a:solidFill>
                  <a:schemeClr val="hlink"/>
                </a:solidFill>
                <a:latin typeface="Arial" pitchFamily="34" charset="0"/>
              </a:rPr>
              <a:t>reverse</a:t>
            </a:r>
            <a:r>
              <a:rPr lang="en-US" sz="2000" dirty="0">
                <a:solidFill>
                  <a:schemeClr val="hlink"/>
                </a:solidFill>
                <a:latin typeface="Arial" pitchFamily="34" charset="0"/>
              </a:rPr>
              <a:t> of the above </a:t>
            </a:r>
            <a:br>
              <a:rPr lang="en-US" sz="2000" dirty="0">
                <a:solidFill>
                  <a:schemeClr val="hlink"/>
                </a:solidFill>
                <a:latin typeface="Arial" pitchFamily="34" charset="0"/>
              </a:rPr>
            </a:br>
            <a:r>
              <a:rPr lang="en-US" sz="2000" dirty="0">
                <a:solidFill>
                  <a:schemeClr val="hlink"/>
                </a:solidFill>
                <a:latin typeface="Arial" pitchFamily="34" charset="0"/>
              </a:rPr>
              <a:t>“</a:t>
            </a:r>
            <a:r>
              <a:rPr lang="en-US" sz="2000" u="sng" dirty="0">
                <a:solidFill>
                  <a:schemeClr val="hlink"/>
                </a:solidFill>
                <a:latin typeface="Arial" pitchFamily="34" charset="0"/>
              </a:rPr>
              <a:t>reverse</a:t>
            </a:r>
            <a:r>
              <a:rPr lang="en-US" sz="2000" dirty="0">
                <a:solidFill>
                  <a:schemeClr val="hlink"/>
                </a:solidFill>
                <a:latin typeface="Arial" pitchFamily="34" charset="0"/>
              </a:rPr>
              <a:t> topological order”.</a:t>
            </a:r>
          </a:p>
          <a:p>
            <a:pPr eaLnBrk="1" hangingPunct="1">
              <a:buFontTx/>
              <a:buNone/>
            </a:pPr>
            <a:endParaRPr lang="en-US" sz="2000" dirty="0">
              <a:solidFill>
                <a:schemeClr val="hlink"/>
              </a:solidFill>
              <a:latin typeface="Arial" pitchFamily="34" charset="0"/>
            </a:endParaRPr>
          </a:p>
          <a:p>
            <a:pPr eaLnBrk="1" hangingPunct="1">
              <a:buFontTx/>
              <a:buNone/>
            </a:pPr>
            <a:r>
              <a:rPr lang="en-US" sz="2000" dirty="0">
                <a:latin typeface="Arial" pitchFamily="34" charset="0"/>
              </a:rPr>
              <a:t>This requires stacking of nodes in the 1</a:t>
            </a:r>
            <a:r>
              <a:rPr lang="en-US" sz="2000" baseline="30000" dirty="0">
                <a:latin typeface="Arial" pitchFamily="34" charset="0"/>
              </a:rPr>
              <a:t>st</a:t>
            </a:r>
            <a:r>
              <a:rPr lang="en-US" sz="2000" dirty="0">
                <a:latin typeface="Arial" pitchFamily="34" charset="0"/>
              </a:rPr>
              <a:t> DFS as in Topological Sort Algorithm 2.</a:t>
            </a:r>
          </a:p>
        </p:txBody>
      </p:sp>
      <p:grpSp>
        <p:nvGrpSpPr>
          <p:cNvPr id="137403" name="Group 187"/>
          <p:cNvGrpSpPr>
            <a:grpSpLocks/>
          </p:cNvGrpSpPr>
          <p:nvPr/>
        </p:nvGrpSpPr>
        <p:grpSpPr bwMode="auto">
          <a:xfrm>
            <a:off x="4038600" y="2971800"/>
            <a:ext cx="914400" cy="3581400"/>
            <a:chOff x="2544" y="1920"/>
            <a:chExt cx="576" cy="2208"/>
          </a:xfrm>
        </p:grpSpPr>
        <p:sp>
          <p:nvSpPr>
            <p:cNvPr id="49162" name="Freeform 184"/>
            <p:cNvSpPr>
              <a:spLocks/>
            </p:cNvSpPr>
            <p:nvPr/>
          </p:nvSpPr>
          <p:spPr bwMode="auto">
            <a:xfrm>
              <a:off x="2832" y="1968"/>
              <a:ext cx="288" cy="2160"/>
            </a:xfrm>
            <a:custGeom>
              <a:avLst/>
              <a:gdLst>
                <a:gd name="T0" fmla="*/ 0 w 480"/>
                <a:gd name="T1" fmla="*/ 0 h 1728"/>
                <a:gd name="T2" fmla="*/ 0 w 480"/>
                <a:gd name="T3" fmla="*/ 2160 h 1728"/>
                <a:gd name="T4" fmla="*/ 288 w 480"/>
                <a:gd name="T5" fmla="*/ 2160 h 1728"/>
                <a:gd name="T6" fmla="*/ 288 w 480"/>
                <a:gd name="T7" fmla="*/ 0 h 17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1728">
                  <a:moveTo>
                    <a:pt x="0" y="0"/>
                  </a:moveTo>
                  <a:lnTo>
                    <a:pt x="0" y="1728"/>
                  </a:lnTo>
                  <a:lnTo>
                    <a:pt x="480" y="1728"/>
                  </a:lnTo>
                  <a:lnTo>
                    <a:pt x="480" y="0"/>
                  </a:lnTo>
                </a:path>
              </a:pathLst>
            </a:custGeom>
            <a:noFill/>
            <a:ln w="28575" cap="flat" cmpd="sng">
              <a:solidFill>
                <a:schemeClr val="accent2"/>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49163" name="Text Box 185"/>
            <p:cNvSpPr txBox="1">
              <a:spLocks noChangeArrowheads="1"/>
            </p:cNvSpPr>
            <p:nvPr/>
          </p:nvSpPr>
          <p:spPr bwMode="auto">
            <a:xfrm>
              <a:off x="2544" y="2400"/>
              <a:ext cx="276" cy="244"/>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dirty="0">
                  <a:solidFill>
                    <a:srgbClr val="CC0000"/>
                  </a:solidFill>
                  <a:latin typeface="Arial" pitchFamily="34" charset="0"/>
                </a:rPr>
                <a:t>S:</a:t>
              </a:r>
            </a:p>
          </p:txBody>
        </p:sp>
        <p:sp>
          <p:nvSpPr>
            <p:cNvPr id="49164" name="Text Box 186"/>
            <p:cNvSpPr txBox="1">
              <a:spLocks noChangeArrowheads="1"/>
            </p:cNvSpPr>
            <p:nvPr/>
          </p:nvSpPr>
          <p:spPr bwMode="auto">
            <a:xfrm>
              <a:off x="2880" y="1920"/>
              <a:ext cx="214" cy="21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0000"/>
                </a:lnSpc>
                <a:buFontTx/>
                <a:buNone/>
              </a:pPr>
              <a:r>
                <a:rPr lang="en-US" sz="2000" b="1">
                  <a:solidFill>
                    <a:srgbClr val="CC0000"/>
                  </a:solidFill>
                  <a:latin typeface="Arial" pitchFamily="34" charset="0"/>
                </a:rPr>
                <a:t>a</a:t>
              </a:r>
            </a:p>
            <a:p>
              <a:pPr algn="ctr" eaLnBrk="1" hangingPunct="1">
                <a:lnSpc>
                  <a:spcPct val="110000"/>
                </a:lnSpc>
                <a:buFontTx/>
                <a:buNone/>
              </a:pPr>
              <a:r>
                <a:rPr lang="en-US" sz="2000" b="1">
                  <a:solidFill>
                    <a:srgbClr val="CC0000"/>
                  </a:solidFill>
                  <a:latin typeface="Arial" pitchFamily="34" charset="0"/>
                </a:rPr>
                <a:t>b</a:t>
              </a:r>
            </a:p>
            <a:p>
              <a:pPr algn="ctr" eaLnBrk="1" hangingPunct="1">
                <a:lnSpc>
                  <a:spcPct val="110000"/>
                </a:lnSpc>
                <a:buFontTx/>
                <a:buNone/>
              </a:pPr>
              <a:r>
                <a:rPr lang="en-US" sz="2000" b="1">
                  <a:solidFill>
                    <a:srgbClr val="CC0000"/>
                  </a:solidFill>
                  <a:latin typeface="Arial" pitchFamily="34" charset="0"/>
                </a:rPr>
                <a:t>c</a:t>
              </a:r>
            </a:p>
            <a:p>
              <a:pPr algn="ctr" eaLnBrk="1" hangingPunct="1">
                <a:lnSpc>
                  <a:spcPct val="110000"/>
                </a:lnSpc>
                <a:buFontTx/>
                <a:buNone/>
              </a:pPr>
              <a:r>
                <a:rPr lang="en-US" sz="2000" b="1">
                  <a:solidFill>
                    <a:srgbClr val="CC0000"/>
                  </a:solidFill>
                  <a:latin typeface="Arial" pitchFamily="34" charset="0"/>
                </a:rPr>
                <a:t>e</a:t>
              </a:r>
            </a:p>
            <a:p>
              <a:pPr algn="ctr" eaLnBrk="1" hangingPunct="1">
                <a:lnSpc>
                  <a:spcPct val="110000"/>
                </a:lnSpc>
                <a:buFontTx/>
                <a:buNone/>
              </a:pPr>
              <a:r>
                <a:rPr lang="en-US" sz="2000" b="1">
                  <a:solidFill>
                    <a:srgbClr val="CC0000"/>
                  </a:solidFill>
                  <a:latin typeface="Arial" pitchFamily="34" charset="0"/>
                </a:rPr>
                <a:t>f</a:t>
              </a:r>
            </a:p>
            <a:p>
              <a:pPr algn="ctr" eaLnBrk="1" hangingPunct="1">
                <a:lnSpc>
                  <a:spcPct val="110000"/>
                </a:lnSpc>
                <a:buFontTx/>
                <a:buNone/>
              </a:pPr>
              <a:r>
                <a:rPr lang="en-US" sz="2000" b="1">
                  <a:solidFill>
                    <a:srgbClr val="CC0000"/>
                  </a:solidFill>
                  <a:latin typeface="Arial" pitchFamily="34" charset="0"/>
                </a:rPr>
                <a:t>i</a:t>
              </a:r>
            </a:p>
            <a:p>
              <a:pPr algn="ctr" eaLnBrk="1" hangingPunct="1">
                <a:lnSpc>
                  <a:spcPct val="110000"/>
                </a:lnSpc>
                <a:buFontTx/>
                <a:buNone/>
              </a:pPr>
              <a:r>
                <a:rPr lang="en-US" sz="2000" b="1">
                  <a:solidFill>
                    <a:srgbClr val="CC0000"/>
                  </a:solidFill>
                  <a:latin typeface="Arial" pitchFamily="34" charset="0"/>
                </a:rPr>
                <a:t>j</a:t>
              </a:r>
            </a:p>
            <a:p>
              <a:pPr algn="ctr" eaLnBrk="1" hangingPunct="1">
                <a:lnSpc>
                  <a:spcPct val="110000"/>
                </a:lnSpc>
                <a:buFontTx/>
                <a:buNone/>
              </a:pPr>
              <a:r>
                <a:rPr lang="en-US" sz="2000" b="1">
                  <a:solidFill>
                    <a:srgbClr val="CC0000"/>
                  </a:solidFill>
                  <a:latin typeface="Arial" pitchFamily="34" charset="0"/>
                </a:rPr>
                <a:t>d</a:t>
              </a:r>
            </a:p>
            <a:p>
              <a:pPr algn="ctr" eaLnBrk="1" hangingPunct="1">
                <a:lnSpc>
                  <a:spcPct val="110000"/>
                </a:lnSpc>
                <a:buFontTx/>
                <a:buNone/>
              </a:pPr>
              <a:r>
                <a:rPr lang="en-US" sz="2000" b="1">
                  <a:solidFill>
                    <a:srgbClr val="CC0000"/>
                  </a:solidFill>
                  <a:latin typeface="Arial" pitchFamily="34" charset="0"/>
                </a:rPr>
                <a:t>h</a:t>
              </a:r>
            </a:p>
            <a:p>
              <a:pPr algn="ctr" eaLnBrk="1" hangingPunct="1">
                <a:lnSpc>
                  <a:spcPct val="110000"/>
                </a:lnSpc>
                <a:buFontTx/>
                <a:buNone/>
              </a:pPr>
              <a:r>
                <a:rPr lang="en-US" sz="2000" b="1">
                  <a:solidFill>
                    <a:srgbClr val="CC0000"/>
                  </a:solidFill>
                  <a:latin typeface="Arial" pitchFamily="34" charset="0"/>
                </a:rPr>
                <a:t>g</a:t>
              </a:r>
            </a:p>
          </p:txBody>
        </p:sp>
      </p:grpSp>
      <p:grpSp>
        <p:nvGrpSpPr>
          <p:cNvPr id="92" name="Group 91"/>
          <p:cNvGrpSpPr/>
          <p:nvPr/>
        </p:nvGrpSpPr>
        <p:grpSpPr>
          <a:xfrm>
            <a:off x="320009" y="2963862"/>
            <a:ext cx="3475038" cy="3589338"/>
            <a:chOff x="304800" y="2971800"/>
            <a:chExt cx="3475038" cy="3589338"/>
          </a:xfrm>
        </p:grpSpPr>
        <p:sp>
          <p:nvSpPr>
            <p:cNvPr id="93" name="Freeform 142"/>
            <p:cNvSpPr>
              <a:spLocks/>
            </p:cNvSpPr>
            <p:nvPr/>
          </p:nvSpPr>
          <p:spPr bwMode="auto">
            <a:xfrm>
              <a:off x="1682750" y="4572000"/>
              <a:ext cx="763588" cy="754063"/>
            </a:xfrm>
            <a:custGeom>
              <a:avLst/>
              <a:gdLst>
                <a:gd name="T0" fmla="*/ 123825 w 481"/>
                <a:gd name="T1" fmla="*/ 671513 h 475"/>
                <a:gd name="T2" fmla="*/ 596900 w 481"/>
                <a:gd name="T3" fmla="*/ 692150 h 475"/>
                <a:gd name="T4" fmla="*/ 733425 w 481"/>
                <a:gd name="T5" fmla="*/ 303213 h 475"/>
                <a:gd name="T6" fmla="*/ 417513 w 481"/>
                <a:gd name="T7" fmla="*/ 7938 h 475"/>
                <a:gd name="T8" fmla="*/ 49213 w 481"/>
                <a:gd name="T9" fmla="*/ 250825 h 475"/>
                <a:gd name="T10" fmla="*/ 123825 w 481"/>
                <a:gd name="T11" fmla="*/ 671513 h 47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1" h="475">
                  <a:moveTo>
                    <a:pt x="78" y="423"/>
                  </a:moveTo>
                  <a:cubicBezTo>
                    <a:pt x="135" y="469"/>
                    <a:pt x="312" y="475"/>
                    <a:pt x="376" y="436"/>
                  </a:cubicBezTo>
                  <a:cubicBezTo>
                    <a:pt x="440" y="397"/>
                    <a:pt x="481" y="263"/>
                    <a:pt x="462" y="191"/>
                  </a:cubicBezTo>
                  <a:cubicBezTo>
                    <a:pt x="443" y="119"/>
                    <a:pt x="335" y="10"/>
                    <a:pt x="263" y="5"/>
                  </a:cubicBezTo>
                  <a:cubicBezTo>
                    <a:pt x="191" y="0"/>
                    <a:pt x="62" y="88"/>
                    <a:pt x="31" y="158"/>
                  </a:cubicBezTo>
                  <a:cubicBezTo>
                    <a:pt x="0" y="228"/>
                    <a:pt x="21" y="377"/>
                    <a:pt x="78" y="423"/>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4" name="Freeform 143"/>
            <p:cNvSpPr>
              <a:spLocks/>
            </p:cNvSpPr>
            <p:nvPr/>
          </p:nvSpPr>
          <p:spPr bwMode="auto">
            <a:xfrm>
              <a:off x="2978150" y="4953000"/>
              <a:ext cx="801688" cy="1608138"/>
            </a:xfrm>
            <a:custGeom>
              <a:avLst/>
              <a:gdLst>
                <a:gd name="T0" fmla="*/ 42863 w 505"/>
                <a:gd name="T1" fmla="*/ 1277938 h 1013"/>
                <a:gd name="T2" fmla="*/ 274638 w 505"/>
                <a:gd name="T3" fmla="*/ 1562100 h 1013"/>
                <a:gd name="T4" fmla="*/ 725488 w 505"/>
                <a:gd name="T5" fmla="*/ 1393825 h 1013"/>
                <a:gd name="T6" fmla="*/ 735013 w 505"/>
                <a:gd name="T7" fmla="*/ 279400 h 1013"/>
                <a:gd name="T8" fmla="*/ 420688 w 505"/>
                <a:gd name="T9" fmla="*/ 6350 h 1013"/>
                <a:gd name="T10" fmla="*/ 63500 w 505"/>
                <a:gd name="T11" fmla="*/ 238125 h 1013"/>
                <a:gd name="T12" fmla="*/ 42863 w 505"/>
                <a:gd name="T13" fmla="*/ 1277938 h 101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5" h="1013">
                  <a:moveTo>
                    <a:pt x="27" y="805"/>
                  </a:moveTo>
                  <a:cubicBezTo>
                    <a:pt x="49" y="944"/>
                    <a:pt x="101" y="972"/>
                    <a:pt x="173" y="984"/>
                  </a:cubicBezTo>
                  <a:cubicBezTo>
                    <a:pt x="245" y="996"/>
                    <a:pt x="409" y="1013"/>
                    <a:pt x="457" y="878"/>
                  </a:cubicBezTo>
                  <a:cubicBezTo>
                    <a:pt x="505" y="743"/>
                    <a:pt x="495" y="321"/>
                    <a:pt x="463" y="176"/>
                  </a:cubicBezTo>
                  <a:cubicBezTo>
                    <a:pt x="431" y="31"/>
                    <a:pt x="336" y="8"/>
                    <a:pt x="265" y="4"/>
                  </a:cubicBezTo>
                  <a:cubicBezTo>
                    <a:pt x="194" y="0"/>
                    <a:pt x="80" y="17"/>
                    <a:pt x="40" y="150"/>
                  </a:cubicBezTo>
                  <a:cubicBezTo>
                    <a:pt x="0" y="283"/>
                    <a:pt x="5" y="666"/>
                    <a:pt x="27" y="805"/>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5" name="Freeform 144"/>
            <p:cNvSpPr>
              <a:spLocks/>
            </p:cNvSpPr>
            <p:nvPr/>
          </p:nvSpPr>
          <p:spPr bwMode="auto">
            <a:xfrm>
              <a:off x="311150" y="5029200"/>
              <a:ext cx="812800" cy="1457325"/>
            </a:xfrm>
            <a:custGeom>
              <a:avLst/>
              <a:gdLst>
                <a:gd name="T0" fmla="*/ 65088 w 512"/>
                <a:gd name="T1" fmla="*/ 1190625 h 918"/>
                <a:gd name="T2" fmla="*/ 401638 w 512"/>
                <a:gd name="T3" fmla="*/ 1443038 h 918"/>
                <a:gd name="T4" fmla="*/ 738188 w 512"/>
                <a:gd name="T5" fmla="*/ 1263650 h 918"/>
                <a:gd name="T6" fmla="*/ 758825 w 512"/>
                <a:gd name="T7" fmla="*/ 276225 h 918"/>
                <a:gd name="T8" fmla="*/ 412750 w 512"/>
                <a:gd name="T9" fmla="*/ 3175 h 918"/>
                <a:gd name="T10" fmla="*/ 57150 w 512"/>
                <a:gd name="T11" fmla="*/ 255588 h 918"/>
                <a:gd name="T12" fmla="*/ 65088 w 512"/>
                <a:gd name="T13" fmla="*/ 1190625 h 9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2" h="918">
                  <a:moveTo>
                    <a:pt x="41" y="750"/>
                  </a:moveTo>
                  <a:cubicBezTo>
                    <a:pt x="77" y="875"/>
                    <a:pt x="182" y="901"/>
                    <a:pt x="253" y="909"/>
                  </a:cubicBezTo>
                  <a:cubicBezTo>
                    <a:pt x="324" y="917"/>
                    <a:pt x="428" y="918"/>
                    <a:pt x="465" y="796"/>
                  </a:cubicBezTo>
                  <a:cubicBezTo>
                    <a:pt x="502" y="674"/>
                    <a:pt x="512" y="306"/>
                    <a:pt x="478" y="174"/>
                  </a:cubicBezTo>
                  <a:cubicBezTo>
                    <a:pt x="444" y="42"/>
                    <a:pt x="334" y="4"/>
                    <a:pt x="260" y="2"/>
                  </a:cubicBezTo>
                  <a:cubicBezTo>
                    <a:pt x="186" y="0"/>
                    <a:pt x="72" y="36"/>
                    <a:pt x="36" y="161"/>
                  </a:cubicBezTo>
                  <a:cubicBezTo>
                    <a:pt x="0" y="286"/>
                    <a:pt x="5" y="625"/>
                    <a:pt x="41" y="750"/>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6" name="Freeform 145"/>
            <p:cNvSpPr>
              <a:spLocks/>
            </p:cNvSpPr>
            <p:nvPr/>
          </p:nvSpPr>
          <p:spPr bwMode="auto">
            <a:xfrm>
              <a:off x="1682750" y="2971800"/>
              <a:ext cx="830263" cy="1504950"/>
            </a:xfrm>
            <a:custGeom>
              <a:avLst/>
              <a:gdLst>
                <a:gd name="T0" fmla="*/ 63500 w 523"/>
                <a:gd name="T1" fmla="*/ 1239838 h 948"/>
                <a:gd name="T2" fmla="*/ 342900 w 523"/>
                <a:gd name="T3" fmla="*/ 1497013 h 948"/>
                <a:gd name="T4" fmla="*/ 757238 w 523"/>
                <a:gd name="T5" fmla="*/ 1282700 h 948"/>
                <a:gd name="T6" fmla="*/ 765175 w 523"/>
                <a:gd name="T7" fmla="*/ 254000 h 948"/>
                <a:gd name="T8" fmla="*/ 365125 w 523"/>
                <a:gd name="T9" fmla="*/ 1588 h 948"/>
                <a:gd name="T10" fmla="*/ 50800 w 523"/>
                <a:gd name="T11" fmla="*/ 265113 h 948"/>
                <a:gd name="T12" fmla="*/ 63500 w 523"/>
                <a:gd name="T13" fmla="*/ 1239838 h 9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23" h="948">
                  <a:moveTo>
                    <a:pt x="40" y="781"/>
                  </a:moveTo>
                  <a:cubicBezTo>
                    <a:pt x="69" y="906"/>
                    <a:pt x="143" y="938"/>
                    <a:pt x="216" y="943"/>
                  </a:cubicBezTo>
                  <a:cubicBezTo>
                    <a:pt x="289" y="948"/>
                    <a:pt x="433" y="938"/>
                    <a:pt x="477" y="808"/>
                  </a:cubicBezTo>
                  <a:cubicBezTo>
                    <a:pt x="521" y="678"/>
                    <a:pt x="523" y="295"/>
                    <a:pt x="482" y="160"/>
                  </a:cubicBezTo>
                  <a:cubicBezTo>
                    <a:pt x="441" y="25"/>
                    <a:pt x="305" y="0"/>
                    <a:pt x="230" y="1"/>
                  </a:cubicBezTo>
                  <a:cubicBezTo>
                    <a:pt x="155" y="2"/>
                    <a:pt x="64" y="37"/>
                    <a:pt x="32" y="167"/>
                  </a:cubicBezTo>
                  <a:cubicBezTo>
                    <a:pt x="0" y="297"/>
                    <a:pt x="38" y="653"/>
                    <a:pt x="40" y="781"/>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nvGrpSpPr>
            <p:cNvPr id="97" name="Group 146"/>
            <p:cNvGrpSpPr>
              <a:grpSpLocks/>
            </p:cNvGrpSpPr>
            <p:nvPr/>
          </p:nvGrpSpPr>
          <p:grpSpPr bwMode="auto">
            <a:xfrm>
              <a:off x="304800" y="2971800"/>
              <a:ext cx="3327400" cy="3490913"/>
              <a:chOff x="764" y="2016"/>
              <a:chExt cx="2096" cy="2199"/>
            </a:xfrm>
          </p:grpSpPr>
          <p:sp>
            <p:nvSpPr>
              <p:cNvPr id="98" name="Oval 147"/>
              <p:cNvSpPr>
                <a:spLocks noChangeArrowheads="1"/>
              </p:cNvSpPr>
              <p:nvPr/>
            </p:nvSpPr>
            <p:spPr bwMode="auto">
              <a:xfrm>
                <a:off x="1824" y="211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99" name="Oval 148"/>
              <p:cNvSpPr>
                <a:spLocks noChangeArrowheads="1"/>
              </p:cNvSpPr>
              <p:nvPr/>
            </p:nvSpPr>
            <p:spPr bwMode="auto">
              <a:xfrm>
                <a:off x="1824" y="244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0" name="Oval 149"/>
              <p:cNvSpPr>
                <a:spLocks noChangeArrowheads="1"/>
              </p:cNvSpPr>
              <p:nvPr/>
            </p:nvSpPr>
            <p:spPr bwMode="auto">
              <a:xfrm>
                <a:off x="1824" y="283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1" name="Oval 150"/>
              <p:cNvSpPr>
                <a:spLocks noChangeArrowheads="1"/>
              </p:cNvSpPr>
              <p:nvPr/>
            </p:nvSpPr>
            <p:spPr bwMode="auto">
              <a:xfrm>
                <a:off x="1824" y="316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2" name="Oval 151"/>
              <p:cNvSpPr>
                <a:spLocks noChangeArrowheads="1"/>
              </p:cNvSpPr>
              <p:nvPr/>
            </p:nvSpPr>
            <p:spPr bwMode="auto">
              <a:xfrm>
                <a:off x="960" y="345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3" name="Oval 152"/>
              <p:cNvSpPr>
                <a:spLocks noChangeArrowheads="1"/>
              </p:cNvSpPr>
              <p:nvPr/>
            </p:nvSpPr>
            <p:spPr bwMode="auto">
              <a:xfrm>
                <a:off x="960" y="374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4" name="Oval 153"/>
              <p:cNvSpPr>
                <a:spLocks noChangeArrowheads="1"/>
              </p:cNvSpPr>
              <p:nvPr/>
            </p:nvSpPr>
            <p:spPr bwMode="auto">
              <a:xfrm>
                <a:off x="960" y="403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5" name="Oval 154"/>
              <p:cNvSpPr>
                <a:spLocks noChangeArrowheads="1"/>
              </p:cNvSpPr>
              <p:nvPr/>
            </p:nvSpPr>
            <p:spPr bwMode="auto">
              <a:xfrm>
                <a:off x="2640" y="340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6" name="Oval 155"/>
              <p:cNvSpPr>
                <a:spLocks noChangeArrowheads="1"/>
              </p:cNvSpPr>
              <p:nvPr/>
            </p:nvSpPr>
            <p:spPr bwMode="auto">
              <a:xfrm>
                <a:off x="2640" y="374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7" name="Oval 156"/>
              <p:cNvSpPr>
                <a:spLocks noChangeArrowheads="1"/>
              </p:cNvSpPr>
              <p:nvPr/>
            </p:nvSpPr>
            <p:spPr bwMode="auto">
              <a:xfrm>
                <a:off x="2640" y="403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8" name="Line 157"/>
              <p:cNvSpPr>
                <a:spLocks noChangeShapeType="1"/>
              </p:cNvSpPr>
              <p:nvPr/>
            </p:nvSpPr>
            <p:spPr bwMode="auto">
              <a:xfrm>
                <a:off x="1872" y="2208"/>
                <a:ext cx="0"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9" name="Line 158"/>
              <p:cNvSpPr>
                <a:spLocks noChangeShapeType="1"/>
              </p:cNvSpPr>
              <p:nvPr/>
            </p:nvSpPr>
            <p:spPr bwMode="auto">
              <a:xfrm>
                <a:off x="1872" y="2544"/>
                <a:ext cx="0"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0" name="Line 159"/>
              <p:cNvSpPr>
                <a:spLocks noChangeShapeType="1"/>
              </p:cNvSpPr>
              <p:nvPr/>
            </p:nvSpPr>
            <p:spPr bwMode="auto">
              <a:xfrm>
                <a:off x="1872" y="2928"/>
                <a:ext cx="0"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1" name="Line 160"/>
              <p:cNvSpPr>
                <a:spLocks noChangeShapeType="1"/>
              </p:cNvSpPr>
              <p:nvPr/>
            </p:nvSpPr>
            <p:spPr bwMode="auto">
              <a:xfrm flipH="1">
                <a:off x="1056" y="3216"/>
                <a:ext cx="768"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2" name="Line 161"/>
              <p:cNvSpPr>
                <a:spLocks noChangeShapeType="1"/>
              </p:cNvSpPr>
              <p:nvPr/>
            </p:nvSpPr>
            <p:spPr bwMode="auto">
              <a:xfrm>
                <a:off x="1008" y="3552"/>
                <a:ext cx="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 name="Line 162"/>
              <p:cNvSpPr>
                <a:spLocks noChangeShapeType="1"/>
              </p:cNvSpPr>
              <p:nvPr/>
            </p:nvSpPr>
            <p:spPr bwMode="auto">
              <a:xfrm>
                <a:off x="1008" y="3840"/>
                <a:ext cx="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 name="Freeform 163"/>
              <p:cNvSpPr>
                <a:spLocks/>
              </p:cNvSpPr>
              <p:nvPr/>
            </p:nvSpPr>
            <p:spPr bwMode="auto">
              <a:xfrm>
                <a:off x="1920" y="3216"/>
                <a:ext cx="705" cy="225"/>
              </a:xfrm>
              <a:custGeom>
                <a:avLst/>
                <a:gdLst>
                  <a:gd name="T0" fmla="*/ 0 w 705"/>
                  <a:gd name="T1" fmla="*/ 0 h 225"/>
                  <a:gd name="T2" fmla="*/ 705 w 705"/>
                  <a:gd name="T3" fmla="*/ 225 h 225"/>
                  <a:gd name="T4" fmla="*/ 0 60000 65536"/>
                  <a:gd name="T5" fmla="*/ 0 60000 65536"/>
                </a:gdLst>
                <a:ahLst/>
                <a:cxnLst>
                  <a:cxn ang="T4">
                    <a:pos x="T0" y="T1"/>
                  </a:cxn>
                  <a:cxn ang="T5">
                    <a:pos x="T2" y="T3"/>
                  </a:cxn>
                </a:cxnLst>
                <a:rect l="0" t="0" r="r" b="b"/>
                <a:pathLst>
                  <a:path w="705" h="225">
                    <a:moveTo>
                      <a:pt x="0" y="0"/>
                    </a:moveTo>
                    <a:lnTo>
                      <a:pt x="705" y="225"/>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 name="Line 164"/>
              <p:cNvSpPr>
                <a:spLocks noChangeShapeType="1"/>
              </p:cNvSpPr>
              <p:nvPr/>
            </p:nvSpPr>
            <p:spPr bwMode="auto">
              <a:xfrm>
                <a:off x="2688" y="3504"/>
                <a:ext cx="0"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6" name="Line 165"/>
              <p:cNvSpPr>
                <a:spLocks noChangeShapeType="1"/>
              </p:cNvSpPr>
              <p:nvPr/>
            </p:nvSpPr>
            <p:spPr bwMode="auto">
              <a:xfrm>
                <a:off x="2688" y="3840"/>
                <a:ext cx="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7" name="Freeform 166"/>
              <p:cNvSpPr>
                <a:spLocks/>
              </p:cNvSpPr>
              <p:nvPr/>
            </p:nvSpPr>
            <p:spPr bwMode="auto">
              <a:xfrm>
                <a:off x="1082" y="3792"/>
                <a:ext cx="1558" cy="1"/>
              </a:xfrm>
              <a:custGeom>
                <a:avLst/>
                <a:gdLst>
                  <a:gd name="T0" fmla="*/ 1558 w 1558"/>
                  <a:gd name="T1" fmla="*/ 0 h 1"/>
                  <a:gd name="T2" fmla="*/ 0 w 1558"/>
                  <a:gd name="T3" fmla="*/ 0 h 1"/>
                  <a:gd name="T4" fmla="*/ 0 60000 65536"/>
                  <a:gd name="T5" fmla="*/ 0 60000 65536"/>
                </a:gdLst>
                <a:ahLst/>
                <a:cxnLst>
                  <a:cxn ang="T4">
                    <a:pos x="T0" y="T1"/>
                  </a:cxn>
                  <a:cxn ang="T5">
                    <a:pos x="T2" y="T3"/>
                  </a:cxn>
                </a:cxnLst>
                <a:rect l="0" t="0" r="r" b="b"/>
                <a:pathLst>
                  <a:path w="1558" h="1">
                    <a:moveTo>
                      <a:pt x="1558" y="0"/>
                    </a:moveTo>
                    <a:lnTo>
                      <a:pt x="0" y="0"/>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8" name="Line 167"/>
              <p:cNvSpPr>
                <a:spLocks noChangeShapeType="1"/>
              </p:cNvSpPr>
              <p:nvPr/>
            </p:nvSpPr>
            <p:spPr bwMode="auto">
              <a:xfrm flipH="1">
                <a:off x="1056" y="3264"/>
                <a:ext cx="768" cy="480"/>
              </a:xfrm>
              <a:prstGeom prst="line">
                <a:avLst/>
              </a:prstGeom>
              <a:noFill/>
              <a:ln w="12700">
                <a:solidFill>
                  <a:srgbClr val="96969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9" name="Line 168"/>
              <p:cNvSpPr>
                <a:spLocks noChangeShapeType="1"/>
              </p:cNvSpPr>
              <p:nvPr/>
            </p:nvSpPr>
            <p:spPr bwMode="auto">
              <a:xfrm>
                <a:off x="1920" y="3264"/>
                <a:ext cx="720" cy="480"/>
              </a:xfrm>
              <a:prstGeom prst="line">
                <a:avLst/>
              </a:prstGeom>
              <a:noFill/>
              <a:ln w="12700">
                <a:solidFill>
                  <a:srgbClr val="96969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0" name="Freeform 169"/>
              <p:cNvSpPr>
                <a:spLocks/>
              </p:cNvSpPr>
              <p:nvPr/>
            </p:nvSpPr>
            <p:spPr bwMode="auto">
              <a:xfrm>
                <a:off x="1923" y="2196"/>
                <a:ext cx="101" cy="656"/>
              </a:xfrm>
              <a:custGeom>
                <a:avLst/>
                <a:gdLst>
                  <a:gd name="T0" fmla="*/ 0 w 101"/>
                  <a:gd name="T1" fmla="*/ 0 h 656"/>
                  <a:gd name="T2" fmla="*/ 100 w 101"/>
                  <a:gd name="T3" fmla="*/ 325 h 656"/>
                  <a:gd name="T4" fmla="*/ 7 w 101"/>
                  <a:gd name="T5" fmla="*/ 656 h 656"/>
                  <a:gd name="T6" fmla="*/ 0 60000 65536"/>
                  <a:gd name="T7" fmla="*/ 0 60000 65536"/>
                  <a:gd name="T8" fmla="*/ 0 60000 65536"/>
                </a:gdLst>
                <a:ahLst/>
                <a:cxnLst>
                  <a:cxn ang="T6">
                    <a:pos x="T0" y="T1"/>
                  </a:cxn>
                  <a:cxn ang="T7">
                    <a:pos x="T2" y="T3"/>
                  </a:cxn>
                  <a:cxn ang="T8">
                    <a:pos x="T4" y="T5"/>
                  </a:cxn>
                </a:cxnLst>
                <a:rect l="0" t="0" r="r" b="b"/>
                <a:pathLst>
                  <a:path w="101" h="656">
                    <a:moveTo>
                      <a:pt x="0" y="0"/>
                    </a:moveTo>
                    <a:cubicBezTo>
                      <a:pt x="17" y="55"/>
                      <a:pt x="99" y="216"/>
                      <a:pt x="100" y="325"/>
                    </a:cubicBezTo>
                    <a:cubicBezTo>
                      <a:pt x="101" y="434"/>
                      <a:pt x="27" y="587"/>
                      <a:pt x="7" y="656"/>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 name="Freeform 170"/>
              <p:cNvSpPr>
                <a:spLocks/>
              </p:cNvSpPr>
              <p:nvPr/>
            </p:nvSpPr>
            <p:spPr bwMode="auto">
              <a:xfrm>
                <a:off x="1734" y="2547"/>
                <a:ext cx="116" cy="629"/>
              </a:xfrm>
              <a:custGeom>
                <a:avLst/>
                <a:gdLst>
                  <a:gd name="T0" fmla="*/ 116 w 116"/>
                  <a:gd name="T1" fmla="*/ 0 h 629"/>
                  <a:gd name="T2" fmla="*/ 4 w 116"/>
                  <a:gd name="T3" fmla="*/ 311 h 629"/>
                  <a:gd name="T4" fmla="*/ 90 w 116"/>
                  <a:gd name="T5" fmla="*/ 629 h 629"/>
                  <a:gd name="T6" fmla="*/ 0 60000 65536"/>
                  <a:gd name="T7" fmla="*/ 0 60000 65536"/>
                  <a:gd name="T8" fmla="*/ 0 60000 65536"/>
                </a:gdLst>
                <a:ahLst/>
                <a:cxnLst>
                  <a:cxn ang="T6">
                    <a:pos x="T0" y="T1"/>
                  </a:cxn>
                  <a:cxn ang="T7">
                    <a:pos x="T2" y="T3"/>
                  </a:cxn>
                  <a:cxn ang="T8">
                    <a:pos x="T4" y="T5"/>
                  </a:cxn>
                </a:cxnLst>
                <a:rect l="0" t="0" r="r" b="b"/>
                <a:pathLst>
                  <a:path w="116" h="629">
                    <a:moveTo>
                      <a:pt x="116" y="0"/>
                    </a:moveTo>
                    <a:cubicBezTo>
                      <a:pt x="97" y="51"/>
                      <a:pt x="8" y="206"/>
                      <a:pt x="4" y="311"/>
                    </a:cubicBezTo>
                    <a:cubicBezTo>
                      <a:pt x="0" y="416"/>
                      <a:pt x="72" y="563"/>
                      <a:pt x="90" y="629"/>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2" name="Freeform 171"/>
              <p:cNvSpPr>
                <a:spLocks/>
              </p:cNvSpPr>
              <p:nvPr/>
            </p:nvSpPr>
            <p:spPr bwMode="auto">
              <a:xfrm>
                <a:off x="1043" y="2544"/>
                <a:ext cx="781" cy="904"/>
              </a:xfrm>
              <a:custGeom>
                <a:avLst/>
                <a:gdLst>
                  <a:gd name="T0" fmla="*/ 781 w 781"/>
                  <a:gd name="T1" fmla="*/ 0 h 904"/>
                  <a:gd name="T2" fmla="*/ 0 w 781"/>
                  <a:gd name="T3" fmla="*/ 904 h 904"/>
                  <a:gd name="T4" fmla="*/ 0 60000 65536"/>
                  <a:gd name="T5" fmla="*/ 0 60000 65536"/>
                </a:gdLst>
                <a:ahLst/>
                <a:cxnLst>
                  <a:cxn ang="T4">
                    <a:pos x="T0" y="T1"/>
                  </a:cxn>
                  <a:cxn ang="T5">
                    <a:pos x="T2" y="T3"/>
                  </a:cxn>
                </a:cxnLst>
                <a:rect l="0" t="0" r="r" b="b"/>
                <a:pathLst>
                  <a:path w="781" h="904">
                    <a:moveTo>
                      <a:pt x="781" y="0"/>
                    </a:moveTo>
                    <a:lnTo>
                      <a:pt x="0" y="904"/>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3" name="Freeform 172"/>
              <p:cNvSpPr>
                <a:spLocks/>
              </p:cNvSpPr>
              <p:nvPr/>
            </p:nvSpPr>
            <p:spPr bwMode="auto">
              <a:xfrm>
                <a:off x="830" y="3540"/>
                <a:ext cx="133" cy="510"/>
              </a:xfrm>
              <a:custGeom>
                <a:avLst/>
                <a:gdLst>
                  <a:gd name="T0" fmla="*/ 133 w 133"/>
                  <a:gd name="T1" fmla="*/ 510 h 510"/>
                  <a:gd name="T2" fmla="*/ 1 w 133"/>
                  <a:gd name="T3" fmla="*/ 285 h 510"/>
                  <a:gd name="T4" fmla="*/ 127 w 133"/>
                  <a:gd name="T5" fmla="*/ 0 h 510"/>
                  <a:gd name="T6" fmla="*/ 0 60000 65536"/>
                  <a:gd name="T7" fmla="*/ 0 60000 65536"/>
                  <a:gd name="T8" fmla="*/ 0 60000 65536"/>
                </a:gdLst>
                <a:ahLst/>
                <a:cxnLst>
                  <a:cxn ang="T6">
                    <a:pos x="T0" y="T1"/>
                  </a:cxn>
                  <a:cxn ang="T7">
                    <a:pos x="T2" y="T3"/>
                  </a:cxn>
                  <a:cxn ang="T8">
                    <a:pos x="T4" y="T5"/>
                  </a:cxn>
                </a:cxnLst>
                <a:rect l="0" t="0" r="r" b="b"/>
                <a:pathLst>
                  <a:path w="133" h="510">
                    <a:moveTo>
                      <a:pt x="133" y="510"/>
                    </a:moveTo>
                    <a:cubicBezTo>
                      <a:pt x="110" y="471"/>
                      <a:pt x="2" y="370"/>
                      <a:pt x="1" y="285"/>
                    </a:cubicBezTo>
                    <a:cubicBezTo>
                      <a:pt x="0" y="200"/>
                      <a:pt x="101" y="59"/>
                      <a:pt x="127" y="0"/>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4" name="Freeform 173"/>
              <p:cNvSpPr>
                <a:spLocks/>
              </p:cNvSpPr>
              <p:nvPr/>
            </p:nvSpPr>
            <p:spPr bwMode="auto">
              <a:xfrm>
                <a:off x="2731" y="3501"/>
                <a:ext cx="115" cy="543"/>
              </a:xfrm>
              <a:custGeom>
                <a:avLst/>
                <a:gdLst>
                  <a:gd name="T0" fmla="*/ 0 w 115"/>
                  <a:gd name="T1" fmla="*/ 543 h 543"/>
                  <a:gd name="T2" fmla="*/ 113 w 115"/>
                  <a:gd name="T3" fmla="*/ 291 h 543"/>
                  <a:gd name="T4" fmla="*/ 13 w 115"/>
                  <a:gd name="T5" fmla="*/ 0 h 543"/>
                  <a:gd name="T6" fmla="*/ 0 60000 65536"/>
                  <a:gd name="T7" fmla="*/ 0 60000 65536"/>
                  <a:gd name="T8" fmla="*/ 0 60000 65536"/>
                </a:gdLst>
                <a:ahLst/>
                <a:cxnLst>
                  <a:cxn ang="T6">
                    <a:pos x="T0" y="T1"/>
                  </a:cxn>
                  <a:cxn ang="T7">
                    <a:pos x="T2" y="T3"/>
                  </a:cxn>
                  <a:cxn ang="T8">
                    <a:pos x="T4" y="T5"/>
                  </a:cxn>
                </a:cxnLst>
                <a:rect l="0" t="0" r="r" b="b"/>
                <a:pathLst>
                  <a:path w="115" h="543">
                    <a:moveTo>
                      <a:pt x="0" y="543"/>
                    </a:moveTo>
                    <a:cubicBezTo>
                      <a:pt x="19" y="502"/>
                      <a:pt x="111" y="381"/>
                      <a:pt x="113" y="291"/>
                    </a:cubicBezTo>
                    <a:cubicBezTo>
                      <a:pt x="115" y="201"/>
                      <a:pt x="34" y="61"/>
                      <a:pt x="13" y="0"/>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5" name="Freeform 174"/>
              <p:cNvSpPr>
                <a:spLocks/>
              </p:cNvSpPr>
              <p:nvPr/>
            </p:nvSpPr>
            <p:spPr bwMode="auto">
              <a:xfrm>
                <a:off x="1920" y="2928"/>
                <a:ext cx="738" cy="467"/>
              </a:xfrm>
              <a:custGeom>
                <a:avLst/>
                <a:gdLst>
                  <a:gd name="T0" fmla="*/ 0 w 738"/>
                  <a:gd name="T1" fmla="*/ 0 h 467"/>
                  <a:gd name="T2" fmla="*/ 738 w 738"/>
                  <a:gd name="T3" fmla="*/ 467 h 467"/>
                  <a:gd name="T4" fmla="*/ 0 60000 65536"/>
                  <a:gd name="T5" fmla="*/ 0 60000 65536"/>
                </a:gdLst>
                <a:ahLst/>
                <a:cxnLst>
                  <a:cxn ang="T4">
                    <a:pos x="T0" y="T1"/>
                  </a:cxn>
                  <a:cxn ang="T5">
                    <a:pos x="T2" y="T3"/>
                  </a:cxn>
                </a:cxnLst>
                <a:rect l="0" t="0" r="r" b="b"/>
                <a:pathLst>
                  <a:path w="738" h="467">
                    <a:moveTo>
                      <a:pt x="0" y="0"/>
                    </a:moveTo>
                    <a:lnTo>
                      <a:pt x="738" y="467"/>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6" name="Text Box 175"/>
              <p:cNvSpPr txBox="1">
                <a:spLocks noChangeArrowheads="1"/>
              </p:cNvSpPr>
              <p:nvPr/>
            </p:nvSpPr>
            <p:spPr bwMode="auto">
              <a:xfrm>
                <a:off x="1680" y="201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a</a:t>
                </a:r>
              </a:p>
            </p:txBody>
          </p:sp>
          <p:sp>
            <p:nvSpPr>
              <p:cNvPr id="127" name="Text Box 176"/>
              <p:cNvSpPr txBox="1">
                <a:spLocks noChangeArrowheads="1"/>
              </p:cNvSpPr>
              <p:nvPr/>
            </p:nvSpPr>
            <p:spPr bwMode="auto">
              <a:xfrm>
                <a:off x="1676" y="235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b</a:t>
                </a:r>
              </a:p>
            </p:txBody>
          </p:sp>
          <p:sp>
            <p:nvSpPr>
              <p:cNvPr id="128" name="Text Box 177"/>
              <p:cNvSpPr txBox="1">
                <a:spLocks noChangeArrowheads="1"/>
              </p:cNvSpPr>
              <p:nvPr/>
            </p:nvSpPr>
            <p:spPr bwMode="auto">
              <a:xfrm>
                <a:off x="1920" y="273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c</a:t>
                </a:r>
              </a:p>
            </p:txBody>
          </p:sp>
          <p:sp>
            <p:nvSpPr>
              <p:cNvPr id="129" name="Text Box 178"/>
              <p:cNvSpPr txBox="1">
                <a:spLocks noChangeArrowheads="1"/>
              </p:cNvSpPr>
              <p:nvPr/>
            </p:nvSpPr>
            <p:spPr bwMode="auto">
              <a:xfrm>
                <a:off x="1776" y="321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e</a:t>
                </a:r>
              </a:p>
            </p:txBody>
          </p:sp>
          <p:sp>
            <p:nvSpPr>
              <p:cNvPr id="130" name="Text Box 179"/>
              <p:cNvSpPr txBox="1">
                <a:spLocks noChangeArrowheads="1"/>
              </p:cNvSpPr>
              <p:nvPr/>
            </p:nvSpPr>
            <p:spPr bwMode="auto">
              <a:xfrm>
                <a:off x="764" y="336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d</a:t>
                </a:r>
              </a:p>
            </p:txBody>
          </p:sp>
          <p:sp>
            <p:nvSpPr>
              <p:cNvPr id="131" name="Text Box 180"/>
              <p:cNvSpPr txBox="1">
                <a:spLocks noChangeArrowheads="1"/>
              </p:cNvSpPr>
              <p:nvPr/>
            </p:nvSpPr>
            <p:spPr bwMode="auto">
              <a:xfrm>
                <a:off x="1004" y="374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h</a:t>
                </a:r>
              </a:p>
            </p:txBody>
          </p:sp>
          <p:sp>
            <p:nvSpPr>
              <p:cNvPr id="132" name="Text Box 181"/>
              <p:cNvSpPr txBox="1">
                <a:spLocks noChangeArrowheads="1"/>
              </p:cNvSpPr>
              <p:nvPr/>
            </p:nvSpPr>
            <p:spPr bwMode="auto">
              <a:xfrm>
                <a:off x="1004" y="398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g</a:t>
                </a:r>
              </a:p>
            </p:txBody>
          </p:sp>
          <p:sp>
            <p:nvSpPr>
              <p:cNvPr id="133" name="Text Box 182"/>
              <p:cNvSpPr txBox="1">
                <a:spLocks noChangeArrowheads="1"/>
              </p:cNvSpPr>
              <p:nvPr/>
            </p:nvSpPr>
            <p:spPr bwMode="auto">
              <a:xfrm>
                <a:off x="2696" y="3264"/>
                <a:ext cx="16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f</a:t>
                </a:r>
              </a:p>
            </p:txBody>
          </p:sp>
          <p:sp>
            <p:nvSpPr>
              <p:cNvPr id="134" name="Text Box 183"/>
              <p:cNvSpPr txBox="1">
                <a:spLocks noChangeArrowheads="1"/>
              </p:cNvSpPr>
              <p:nvPr/>
            </p:nvSpPr>
            <p:spPr bwMode="auto">
              <a:xfrm>
                <a:off x="2508" y="374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i</a:t>
                </a:r>
              </a:p>
            </p:txBody>
          </p:sp>
          <p:sp>
            <p:nvSpPr>
              <p:cNvPr id="135" name="Text Box 184"/>
              <p:cNvSpPr txBox="1">
                <a:spLocks noChangeArrowheads="1"/>
              </p:cNvSpPr>
              <p:nvPr/>
            </p:nvSpPr>
            <p:spPr bwMode="auto">
              <a:xfrm>
                <a:off x="2508" y="398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j</a:t>
                </a:r>
              </a:p>
            </p:txBody>
          </p:sp>
          <p:sp>
            <p:nvSpPr>
              <p:cNvPr id="136" name="Text Box 185"/>
              <p:cNvSpPr txBox="1">
                <a:spLocks noChangeArrowheads="1"/>
              </p:cNvSpPr>
              <p:nvPr/>
            </p:nvSpPr>
            <p:spPr bwMode="auto">
              <a:xfrm>
                <a:off x="779" y="2256"/>
                <a:ext cx="726"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dirty="0">
                    <a:solidFill>
                      <a:schemeClr val="tx2"/>
                    </a:solidFill>
                    <a:latin typeface="Arial" pitchFamily="34" charset="0"/>
                  </a:rPr>
                  <a:t>DFS(G):</a:t>
                </a:r>
              </a:p>
            </p:txBody>
          </p:sp>
        </p:grpSp>
      </p:grpSp>
      <p:sp>
        <p:nvSpPr>
          <p:cNvPr id="2" name="Slide Number Placeholder 1"/>
          <p:cNvSpPr>
            <a:spLocks noGrp="1"/>
          </p:cNvSpPr>
          <p:nvPr>
            <p:ph type="sldNum" sz="quarter" idx="12"/>
          </p:nvPr>
        </p:nvSpPr>
        <p:spPr/>
        <p:txBody>
          <a:bodyPr/>
          <a:lstStyle/>
          <a:p>
            <a:pPr>
              <a:defRPr/>
            </a:pPr>
            <a:fld id="{5019D0FD-30FE-4170-95C0-BCF9C0F390F3}" type="slidenum">
              <a:rPr lang="en-US" smtClean="0"/>
              <a:pPr>
                <a:defRPr/>
              </a:pPr>
              <a:t>47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352">
                                            <p:bg/>
                                          </p:spTgt>
                                        </p:tgtEl>
                                        <p:attrNameLst>
                                          <p:attrName>style.visibility</p:attrName>
                                        </p:attrNameLst>
                                      </p:cBhvr>
                                      <p:to>
                                        <p:strVal val="visible"/>
                                      </p:to>
                                    </p:set>
                                    <p:animEffect transition="in" filter="wipe(left)">
                                      <p:cBhvr>
                                        <p:cTn id="7" dur="500"/>
                                        <p:tgtEl>
                                          <p:spTgt spid="137352">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7352">
                                            <p:txEl>
                                              <p:pRg st="0" end="0"/>
                                            </p:txEl>
                                          </p:spTgt>
                                        </p:tgtEl>
                                        <p:attrNameLst>
                                          <p:attrName>style.visibility</p:attrName>
                                        </p:attrNameLst>
                                      </p:cBhvr>
                                      <p:to>
                                        <p:strVal val="visible"/>
                                      </p:to>
                                    </p:set>
                                    <p:animEffect transition="in" filter="wipe(left)">
                                      <p:cBhvr>
                                        <p:cTn id="12" dur="500"/>
                                        <p:tgtEl>
                                          <p:spTgt spid="13735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7352">
                                            <p:txEl>
                                              <p:pRg st="1" end="1"/>
                                            </p:txEl>
                                          </p:spTgt>
                                        </p:tgtEl>
                                        <p:attrNameLst>
                                          <p:attrName>style.visibility</p:attrName>
                                        </p:attrNameLst>
                                      </p:cBhvr>
                                      <p:to>
                                        <p:strVal val="visible"/>
                                      </p:to>
                                    </p:set>
                                    <p:animEffect transition="in" filter="wipe(left)">
                                      <p:cBhvr>
                                        <p:cTn id="17" dur="500"/>
                                        <p:tgtEl>
                                          <p:spTgt spid="13735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7352">
                                            <p:txEl>
                                              <p:pRg st="2" end="2"/>
                                            </p:txEl>
                                          </p:spTgt>
                                        </p:tgtEl>
                                        <p:attrNameLst>
                                          <p:attrName>style.visibility</p:attrName>
                                        </p:attrNameLst>
                                      </p:cBhvr>
                                      <p:to>
                                        <p:strVal val="visible"/>
                                      </p:to>
                                    </p:set>
                                    <p:animEffect transition="in" filter="wipe(left)">
                                      <p:cBhvr>
                                        <p:cTn id="22" dur="500"/>
                                        <p:tgtEl>
                                          <p:spTgt spid="137352">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7352">
                                            <p:txEl>
                                              <p:pRg st="4" end="4"/>
                                            </p:txEl>
                                          </p:spTgt>
                                        </p:tgtEl>
                                        <p:attrNameLst>
                                          <p:attrName>style.visibility</p:attrName>
                                        </p:attrNameLst>
                                      </p:cBhvr>
                                      <p:to>
                                        <p:strVal val="visible"/>
                                      </p:to>
                                    </p:set>
                                    <p:animEffect transition="in" filter="wipe(left)">
                                      <p:cBhvr>
                                        <p:cTn id="27" dur="500"/>
                                        <p:tgtEl>
                                          <p:spTgt spid="13735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7352">
                                            <p:txEl>
                                              <p:pRg st="5" end="5"/>
                                            </p:txEl>
                                          </p:spTgt>
                                        </p:tgtEl>
                                        <p:attrNameLst>
                                          <p:attrName>style.visibility</p:attrName>
                                        </p:attrNameLst>
                                      </p:cBhvr>
                                      <p:to>
                                        <p:strVal val="visible"/>
                                      </p:to>
                                    </p:set>
                                    <p:animEffect transition="in" filter="wipe(left)">
                                      <p:cBhvr>
                                        <p:cTn id="32" dur="500"/>
                                        <p:tgtEl>
                                          <p:spTgt spid="137352">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37397"/>
                                        </p:tgtEl>
                                        <p:attrNameLst>
                                          <p:attrName>style.visibility</p:attrName>
                                        </p:attrNameLst>
                                      </p:cBhvr>
                                      <p:to>
                                        <p:strVal val="visible"/>
                                      </p:to>
                                    </p:set>
                                    <p:animEffect transition="in" filter="wipe(up)">
                                      <p:cBhvr>
                                        <p:cTn id="37" dur="500"/>
                                        <p:tgtEl>
                                          <p:spTgt spid="13739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137403"/>
                                        </p:tgtEl>
                                        <p:attrNameLst>
                                          <p:attrName>style.visibility</p:attrName>
                                        </p:attrNameLst>
                                      </p:cBhvr>
                                      <p:to>
                                        <p:strVal val="visible"/>
                                      </p:to>
                                    </p:set>
                                    <p:animEffect transition="in" filter="wipe(down)">
                                      <p:cBhvr>
                                        <p:cTn id="42" dur="500"/>
                                        <p:tgtEl>
                                          <p:spTgt spid="137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352" grpId="0" build="p" animBg="1" autoUpdateAnimBg="0"/>
      <p:bldP spid="137397"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8390" name="Group 150"/>
          <p:cNvGrpSpPr>
            <a:grpSpLocks/>
          </p:cNvGrpSpPr>
          <p:nvPr/>
        </p:nvGrpSpPr>
        <p:grpSpPr bwMode="auto">
          <a:xfrm>
            <a:off x="2057400" y="4267200"/>
            <a:ext cx="5913438" cy="1868488"/>
            <a:chOff x="883" y="2488"/>
            <a:chExt cx="3725" cy="1177"/>
          </a:xfrm>
        </p:grpSpPr>
        <p:sp>
          <p:nvSpPr>
            <p:cNvPr id="50222" name="Freeform 95"/>
            <p:cNvSpPr>
              <a:spLocks/>
            </p:cNvSpPr>
            <p:nvPr/>
          </p:nvSpPr>
          <p:spPr bwMode="auto">
            <a:xfrm>
              <a:off x="1824" y="2496"/>
              <a:ext cx="481" cy="475"/>
            </a:xfrm>
            <a:custGeom>
              <a:avLst/>
              <a:gdLst>
                <a:gd name="T0" fmla="*/ 78 w 481"/>
                <a:gd name="T1" fmla="*/ 423 h 475"/>
                <a:gd name="T2" fmla="*/ 376 w 481"/>
                <a:gd name="T3" fmla="*/ 436 h 475"/>
                <a:gd name="T4" fmla="*/ 462 w 481"/>
                <a:gd name="T5" fmla="*/ 191 h 475"/>
                <a:gd name="T6" fmla="*/ 263 w 481"/>
                <a:gd name="T7" fmla="*/ 5 h 475"/>
                <a:gd name="T8" fmla="*/ 31 w 481"/>
                <a:gd name="T9" fmla="*/ 158 h 475"/>
                <a:gd name="T10" fmla="*/ 78 w 481"/>
                <a:gd name="T11" fmla="*/ 423 h 47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1" h="475">
                  <a:moveTo>
                    <a:pt x="78" y="423"/>
                  </a:moveTo>
                  <a:cubicBezTo>
                    <a:pt x="135" y="469"/>
                    <a:pt x="312" y="475"/>
                    <a:pt x="376" y="436"/>
                  </a:cubicBezTo>
                  <a:cubicBezTo>
                    <a:pt x="440" y="397"/>
                    <a:pt x="481" y="263"/>
                    <a:pt x="462" y="191"/>
                  </a:cubicBezTo>
                  <a:cubicBezTo>
                    <a:pt x="443" y="119"/>
                    <a:pt x="335" y="10"/>
                    <a:pt x="263" y="5"/>
                  </a:cubicBezTo>
                  <a:cubicBezTo>
                    <a:pt x="191" y="0"/>
                    <a:pt x="62" y="88"/>
                    <a:pt x="31" y="158"/>
                  </a:cubicBezTo>
                  <a:cubicBezTo>
                    <a:pt x="0" y="228"/>
                    <a:pt x="21" y="377"/>
                    <a:pt x="78" y="423"/>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223" name="Freeform 96"/>
            <p:cNvSpPr>
              <a:spLocks/>
            </p:cNvSpPr>
            <p:nvPr/>
          </p:nvSpPr>
          <p:spPr bwMode="auto">
            <a:xfrm>
              <a:off x="2782" y="2488"/>
              <a:ext cx="494" cy="1024"/>
            </a:xfrm>
            <a:custGeom>
              <a:avLst/>
              <a:gdLst>
                <a:gd name="T0" fmla="*/ 38 w 494"/>
                <a:gd name="T1" fmla="*/ 822 h 1024"/>
                <a:gd name="T2" fmla="*/ 250 w 494"/>
                <a:gd name="T3" fmla="*/ 1021 h 1024"/>
                <a:gd name="T4" fmla="*/ 459 w 494"/>
                <a:gd name="T5" fmla="*/ 838 h 1024"/>
                <a:gd name="T6" fmla="*/ 462 w 494"/>
                <a:gd name="T7" fmla="*/ 154 h 1024"/>
                <a:gd name="T8" fmla="*/ 264 w 494"/>
                <a:gd name="T9" fmla="*/ 1 h 1024"/>
                <a:gd name="T10" fmla="*/ 38 w 494"/>
                <a:gd name="T11" fmla="*/ 147 h 1024"/>
                <a:gd name="T12" fmla="*/ 38 w 494"/>
                <a:gd name="T13" fmla="*/ 822 h 10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4" h="1024">
                  <a:moveTo>
                    <a:pt x="38" y="822"/>
                  </a:moveTo>
                  <a:cubicBezTo>
                    <a:pt x="73" y="974"/>
                    <a:pt x="180" y="1018"/>
                    <a:pt x="250" y="1021"/>
                  </a:cubicBezTo>
                  <a:cubicBezTo>
                    <a:pt x="320" y="1024"/>
                    <a:pt x="424" y="982"/>
                    <a:pt x="459" y="838"/>
                  </a:cubicBezTo>
                  <a:cubicBezTo>
                    <a:pt x="494" y="694"/>
                    <a:pt x="494" y="294"/>
                    <a:pt x="462" y="154"/>
                  </a:cubicBezTo>
                  <a:cubicBezTo>
                    <a:pt x="430" y="14"/>
                    <a:pt x="335" y="2"/>
                    <a:pt x="264" y="1"/>
                  </a:cubicBezTo>
                  <a:cubicBezTo>
                    <a:pt x="193" y="0"/>
                    <a:pt x="76" y="10"/>
                    <a:pt x="38" y="147"/>
                  </a:cubicBezTo>
                  <a:cubicBezTo>
                    <a:pt x="0" y="284"/>
                    <a:pt x="38" y="682"/>
                    <a:pt x="38" y="822"/>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224" name="Freeform 97"/>
            <p:cNvSpPr>
              <a:spLocks/>
            </p:cNvSpPr>
            <p:nvPr/>
          </p:nvSpPr>
          <p:spPr bwMode="auto">
            <a:xfrm>
              <a:off x="4086" y="2521"/>
              <a:ext cx="522" cy="1041"/>
            </a:xfrm>
            <a:custGeom>
              <a:avLst/>
              <a:gdLst>
                <a:gd name="T0" fmla="*/ 39 w 522"/>
                <a:gd name="T1" fmla="*/ 849 h 1041"/>
                <a:gd name="T2" fmla="*/ 264 w 522"/>
                <a:gd name="T3" fmla="*/ 1041 h 1041"/>
                <a:gd name="T4" fmla="*/ 489 w 522"/>
                <a:gd name="T5" fmla="*/ 849 h 1041"/>
                <a:gd name="T6" fmla="*/ 462 w 522"/>
                <a:gd name="T7" fmla="*/ 154 h 1041"/>
                <a:gd name="T8" fmla="*/ 231 w 522"/>
                <a:gd name="T9" fmla="*/ 1 h 1041"/>
                <a:gd name="T10" fmla="*/ 32 w 522"/>
                <a:gd name="T11" fmla="*/ 160 h 1041"/>
                <a:gd name="T12" fmla="*/ 39 w 522"/>
                <a:gd name="T13" fmla="*/ 849 h 10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22" h="1041">
                  <a:moveTo>
                    <a:pt x="39" y="849"/>
                  </a:moveTo>
                  <a:cubicBezTo>
                    <a:pt x="78" y="996"/>
                    <a:pt x="189" y="1041"/>
                    <a:pt x="264" y="1041"/>
                  </a:cubicBezTo>
                  <a:cubicBezTo>
                    <a:pt x="339" y="1041"/>
                    <a:pt x="456" y="997"/>
                    <a:pt x="489" y="849"/>
                  </a:cubicBezTo>
                  <a:cubicBezTo>
                    <a:pt x="522" y="701"/>
                    <a:pt x="505" y="295"/>
                    <a:pt x="462" y="154"/>
                  </a:cubicBezTo>
                  <a:cubicBezTo>
                    <a:pt x="419" y="13"/>
                    <a:pt x="303" y="0"/>
                    <a:pt x="231" y="1"/>
                  </a:cubicBezTo>
                  <a:cubicBezTo>
                    <a:pt x="159" y="2"/>
                    <a:pt x="64" y="19"/>
                    <a:pt x="32" y="160"/>
                  </a:cubicBezTo>
                  <a:cubicBezTo>
                    <a:pt x="0" y="301"/>
                    <a:pt x="38" y="706"/>
                    <a:pt x="39" y="849"/>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225" name="Freeform 98"/>
            <p:cNvSpPr>
              <a:spLocks/>
            </p:cNvSpPr>
            <p:nvPr/>
          </p:nvSpPr>
          <p:spPr bwMode="auto">
            <a:xfrm>
              <a:off x="883" y="2538"/>
              <a:ext cx="547" cy="1127"/>
            </a:xfrm>
            <a:custGeom>
              <a:avLst/>
              <a:gdLst>
                <a:gd name="T0" fmla="*/ 37 w 547"/>
                <a:gd name="T1" fmla="*/ 918 h 1127"/>
                <a:gd name="T2" fmla="*/ 243 w 547"/>
                <a:gd name="T3" fmla="*/ 1123 h 1127"/>
                <a:gd name="T4" fmla="*/ 501 w 547"/>
                <a:gd name="T5" fmla="*/ 944 h 1127"/>
                <a:gd name="T6" fmla="*/ 507 w 547"/>
                <a:gd name="T7" fmla="*/ 183 h 1127"/>
                <a:gd name="T8" fmla="*/ 259 w 547"/>
                <a:gd name="T9" fmla="*/ 7 h 1127"/>
                <a:gd name="T10" fmla="*/ 37 w 547"/>
                <a:gd name="T11" fmla="*/ 223 h 1127"/>
                <a:gd name="T12" fmla="*/ 37 w 547"/>
                <a:gd name="T13" fmla="*/ 918 h 11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47" h="1127">
                  <a:moveTo>
                    <a:pt x="37" y="918"/>
                  </a:moveTo>
                  <a:cubicBezTo>
                    <a:pt x="67" y="1076"/>
                    <a:pt x="166" y="1119"/>
                    <a:pt x="243" y="1123"/>
                  </a:cubicBezTo>
                  <a:cubicBezTo>
                    <a:pt x="320" y="1127"/>
                    <a:pt x="457" y="1101"/>
                    <a:pt x="501" y="944"/>
                  </a:cubicBezTo>
                  <a:cubicBezTo>
                    <a:pt x="545" y="787"/>
                    <a:pt x="547" y="339"/>
                    <a:pt x="507" y="183"/>
                  </a:cubicBezTo>
                  <a:cubicBezTo>
                    <a:pt x="467" y="27"/>
                    <a:pt x="337" y="0"/>
                    <a:pt x="259" y="7"/>
                  </a:cubicBezTo>
                  <a:cubicBezTo>
                    <a:pt x="181" y="14"/>
                    <a:pt x="74" y="71"/>
                    <a:pt x="37" y="223"/>
                  </a:cubicBezTo>
                  <a:cubicBezTo>
                    <a:pt x="0" y="375"/>
                    <a:pt x="37" y="773"/>
                    <a:pt x="37" y="918"/>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grpSp>
        <p:nvGrpSpPr>
          <p:cNvPr id="138388" name="Group 148"/>
          <p:cNvGrpSpPr>
            <a:grpSpLocks/>
          </p:cNvGrpSpPr>
          <p:nvPr/>
        </p:nvGrpSpPr>
        <p:grpSpPr bwMode="auto">
          <a:xfrm>
            <a:off x="884238" y="4197350"/>
            <a:ext cx="6950075" cy="2092325"/>
            <a:chOff x="144" y="2444"/>
            <a:chExt cx="4378" cy="1318"/>
          </a:xfrm>
        </p:grpSpPr>
        <p:sp>
          <p:nvSpPr>
            <p:cNvPr id="50184" name="Oval 100"/>
            <p:cNvSpPr>
              <a:spLocks noChangeArrowheads="1"/>
            </p:cNvSpPr>
            <p:nvPr/>
          </p:nvSpPr>
          <p:spPr bwMode="auto">
            <a:xfrm>
              <a:off x="1101" y="2700"/>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50185" name="Oval 101"/>
            <p:cNvSpPr>
              <a:spLocks noChangeArrowheads="1"/>
            </p:cNvSpPr>
            <p:nvPr/>
          </p:nvSpPr>
          <p:spPr bwMode="auto">
            <a:xfrm>
              <a:off x="1101" y="30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50186" name="Oval 102"/>
            <p:cNvSpPr>
              <a:spLocks noChangeArrowheads="1"/>
            </p:cNvSpPr>
            <p:nvPr/>
          </p:nvSpPr>
          <p:spPr bwMode="auto">
            <a:xfrm>
              <a:off x="1101" y="3420"/>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50187" name="Oval 103"/>
            <p:cNvSpPr>
              <a:spLocks noChangeArrowheads="1"/>
            </p:cNvSpPr>
            <p:nvPr/>
          </p:nvSpPr>
          <p:spPr bwMode="auto">
            <a:xfrm>
              <a:off x="2016" y="268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50188" name="Oval 104"/>
            <p:cNvSpPr>
              <a:spLocks noChangeArrowheads="1"/>
            </p:cNvSpPr>
            <p:nvPr/>
          </p:nvSpPr>
          <p:spPr bwMode="auto">
            <a:xfrm>
              <a:off x="4272" y="27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50189" name="Oval 105"/>
            <p:cNvSpPr>
              <a:spLocks noChangeArrowheads="1"/>
            </p:cNvSpPr>
            <p:nvPr/>
          </p:nvSpPr>
          <p:spPr bwMode="auto">
            <a:xfrm>
              <a:off x="4272" y="30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50190" name="Oval 106"/>
            <p:cNvSpPr>
              <a:spLocks noChangeArrowheads="1"/>
            </p:cNvSpPr>
            <p:nvPr/>
          </p:nvSpPr>
          <p:spPr bwMode="auto">
            <a:xfrm>
              <a:off x="4272" y="331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50191" name="Oval 107"/>
            <p:cNvSpPr>
              <a:spLocks noChangeArrowheads="1"/>
            </p:cNvSpPr>
            <p:nvPr/>
          </p:nvSpPr>
          <p:spPr bwMode="auto">
            <a:xfrm>
              <a:off x="3012" y="268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50192" name="Oval 108"/>
            <p:cNvSpPr>
              <a:spLocks noChangeArrowheads="1"/>
            </p:cNvSpPr>
            <p:nvPr/>
          </p:nvSpPr>
          <p:spPr bwMode="auto">
            <a:xfrm>
              <a:off x="3012" y="30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50193" name="Oval 109"/>
            <p:cNvSpPr>
              <a:spLocks noChangeArrowheads="1"/>
            </p:cNvSpPr>
            <p:nvPr/>
          </p:nvSpPr>
          <p:spPr bwMode="auto">
            <a:xfrm>
              <a:off x="3012" y="331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50194" name="Line 110"/>
            <p:cNvSpPr>
              <a:spLocks noChangeShapeType="1"/>
            </p:cNvSpPr>
            <p:nvPr/>
          </p:nvSpPr>
          <p:spPr bwMode="auto">
            <a:xfrm>
              <a:off x="1149" y="2796"/>
              <a:ext cx="0"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195" name="Line 111"/>
            <p:cNvSpPr>
              <a:spLocks noChangeShapeType="1"/>
            </p:cNvSpPr>
            <p:nvPr/>
          </p:nvSpPr>
          <p:spPr bwMode="auto">
            <a:xfrm>
              <a:off x="1149" y="3132"/>
              <a:ext cx="0"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196" name="Line 114"/>
            <p:cNvSpPr>
              <a:spLocks noChangeShapeType="1"/>
            </p:cNvSpPr>
            <p:nvPr/>
          </p:nvSpPr>
          <p:spPr bwMode="auto">
            <a:xfrm>
              <a:off x="4320" y="2832"/>
              <a:ext cx="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197" name="Line 115"/>
            <p:cNvSpPr>
              <a:spLocks noChangeShapeType="1"/>
            </p:cNvSpPr>
            <p:nvPr/>
          </p:nvSpPr>
          <p:spPr bwMode="auto">
            <a:xfrm>
              <a:off x="4320" y="3120"/>
              <a:ext cx="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198" name="Line 117"/>
            <p:cNvSpPr>
              <a:spLocks noChangeShapeType="1"/>
            </p:cNvSpPr>
            <p:nvPr/>
          </p:nvSpPr>
          <p:spPr bwMode="auto">
            <a:xfrm>
              <a:off x="3060" y="2784"/>
              <a:ext cx="0"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199" name="Line 118"/>
            <p:cNvSpPr>
              <a:spLocks noChangeShapeType="1"/>
            </p:cNvSpPr>
            <p:nvPr/>
          </p:nvSpPr>
          <p:spPr bwMode="auto">
            <a:xfrm>
              <a:off x="3060" y="3120"/>
              <a:ext cx="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200" name="Freeform 122"/>
            <p:cNvSpPr>
              <a:spLocks/>
            </p:cNvSpPr>
            <p:nvPr/>
          </p:nvSpPr>
          <p:spPr bwMode="auto">
            <a:xfrm>
              <a:off x="934" y="2781"/>
              <a:ext cx="158" cy="655"/>
            </a:xfrm>
            <a:custGeom>
              <a:avLst/>
              <a:gdLst>
                <a:gd name="T0" fmla="*/ 158 w 158"/>
                <a:gd name="T1" fmla="*/ 0 h 655"/>
                <a:gd name="T2" fmla="*/ 0 w 158"/>
                <a:gd name="T3" fmla="*/ 344 h 655"/>
                <a:gd name="T4" fmla="*/ 158 w 158"/>
                <a:gd name="T5" fmla="*/ 655 h 655"/>
                <a:gd name="T6" fmla="*/ 0 60000 65536"/>
                <a:gd name="T7" fmla="*/ 0 60000 65536"/>
                <a:gd name="T8" fmla="*/ 0 60000 65536"/>
              </a:gdLst>
              <a:ahLst/>
              <a:cxnLst>
                <a:cxn ang="T6">
                  <a:pos x="T0" y="T1"/>
                </a:cxn>
                <a:cxn ang="T7">
                  <a:pos x="T2" y="T3"/>
                </a:cxn>
                <a:cxn ang="T8">
                  <a:pos x="T4" y="T5"/>
                </a:cxn>
              </a:cxnLst>
              <a:rect l="0" t="0" r="r" b="b"/>
              <a:pathLst>
                <a:path w="158" h="655">
                  <a:moveTo>
                    <a:pt x="158" y="0"/>
                  </a:moveTo>
                  <a:cubicBezTo>
                    <a:pt x="132" y="57"/>
                    <a:pt x="0" y="235"/>
                    <a:pt x="0" y="344"/>
                  </a:cubicBezTo>
                  <a:cubicBezTo>
                    <a:pt x="0" y="453"/>
                    <a:pt x="125" y="590"/>
                    <a:pt x="158" y="655"/>
                  </a:cubicBezTo>
                </a:path>
              </a:pathLst>
            </a:custGeom>
            <a:noFill/>
            <a:ln w="12700" cap="flat" cmpd="sng">
              <a:solidFill>
                <a:srgbClr val="969696"/>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201" name="Freeform 125"/>
            <p:cNvSpPr>
              <a:spLocks/>
            </p:cNvSpPr>
            <p:nvPr/>
          </p:nvSpPr>
          <p:spPr bwMode="auto">
            <a:xfrm>
              <a:off x="4370" y="2814"/>
              <a:ext cx="147" cy="532"/>
            </a:xfrm>
            <a:custGeom>
              <a:avLst/>
              <a:gdLst>
                <a:gd name="T0" fmla="*/ 14 w 147"/>
                <a:gd name="T1" fmla="*/ 532 h 532"/>
                <a:gd name="T2" fmla="*/ 145 w 147"/>
                <a:gd name="T3" fmla="*/ 258 h 532"/>
                <a:gd name="T4" fmla="*/ 0 w 147"/>
                <a:gd name="T5" fmla="*/ 0 h 532"/>
                <a:gd name="T6" fmla="*/ 0 60000 65536"/>
                <a:gd name="T7" fmla="*/ 0 60000 65536"/>
                <a:gd name="T8" fmla="*/ 0 60000 65536"/>
              </a:gdLst>
              <a:ahLst/>
              <a:cxnLst>
                <a:cxn ang="T6">
                  <a:pos x="T0" y="T1"/>
                </a:cxn>
                <a:cxn ang="T7">
                  <a:pos x="T2" y="T3"/>
                </a:cxn>
                <a:cxn ang="T8">
                  <a:pos x="T4" y="T5"/>
                </a:cxn>
              </a:cxnLst>
              <a:rect l="0" t="0" r="r" b="b"/>
              <a:pathLst>
                <a:path w="147" h="532">
                  <a:moveTo>
                    <a:pt x="14" y="532"/>
                  </a:moveTo>
                  <a:cubicBezTo>
                    <a:pt x="36" y="486"/>
                    <a:pt x="147" y="347"/>
                    <a:pt x="145" y="258"/>
                  </a:cubicBezTo>
                  <a:cubicBezTo>
                    <a:pt x="143" y="169"/>
                    <a:pt x="30" y="54"/>
                    <a:pt x="0" y="0"/>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202" name="Freeform 126"/>
            <p:cNvSpPr>
              <a:spLocks/>
            </p:cNvSpPr>
            <p:nvPr/>
          </p:nvSpPr>
          <p:spPr bwMode="auto">
            <a:xfrm>
              <a:off x="3098" y="2767"/>
              <a:ext cx="119" cy="557"/>
            </a:xfrm>
            <a:custGeom>
              <a:avLst/>
              <a:gdLst>
                <a:gd name="T0" fmla="*/ 5 w 119"/>
                <a:gd name="T1" fmla="*/ 557 h 557"/>
                <a:gd name="T2" fmla="*/ 118 w 119"/>
                <a:gd name="T3" fmla="*/ 305 h 557"/>
                <a:gd name="T4" fmla="*/ 0 w 119"/>
                <a:gd name="T5" fmla="*/ 0 h 557"/>
                <a:gd name="T6" fmla="*/ 0 60000 65536"/>
                <a:gd name="T7" fmla="*/ 0 60000 65536"/>
                <a:gd name="T8" fmla="*/ 0 60000 65536"/>
              </a:gdLst>
              <a:ahLst/>
              <a:cxnLst>
                <a:cxn ang="T6">
                  <a:pos x="T0" y="T1"/>
                </a:cxn>
                <a:cxn ang="T7">
                  <a:pos x="T2" y="T3"/>
                </a:cxn>
                <a:cxn ang="T8">
                  <a:pos x="T4" y="T5"/>
                </a:cxn>
              </a:cxnLst>
              <a:rect l="0" t="0" r="r" b="b"/>
              <a:pathLst>
                <a:path w="119" h="557">
                  <a:moveTo>
                    <a:pt x="5" y="557"/>
                  </a:moveTo>
                  <a:cubicBezTo>
                    <a:pt x="24" y="516"/>
                    <a:pt x="119" y="398"/>
                    <a:pt x="118" y="305"/>
                  </a:cubicBezTo>
                  <a:cubicBezTo>
                    <a:pt x="117" y="212"/>
                    <a:pt x="25" y="64"/>
                    <a:pt x="0" y="0"/>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203" name="Text Box 128"/>
            <p:cNvSpPr txBox="1">
              <a:spLocks noChangeArrowheads="1"/>
            </p:cNvSpPr>
            <p:nvPr/>
          </p:nvSpPr>
          <p:spPr bwMode="auto">
            <a:xfrm>
              <a:off x="1100" y="2494"/>
              <a:ext cx="205"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a:solidFill>
                    <a:srgbClr val="CC0000"/>
                  </a:solidFill>
                  <a:latin typeface="Arial" pitchFamily="34" charset="0"/>
                </a:rPr>
                <a:t>a</a:t>
              </a:r>
            </a:p>
          </p:txBody>
        </p:sp>
        <p:sp>
          <p:nvSpPr>
            <p:cNvPr id="50204" name="Text Box 129"/>
            <p:cNvSpPr txBox="1">
              <a:spLocks noChangeArrowheads="1"/>
            </p:cNvSpPr>
            <p:nvPr/>
          </p:nvSpPr>
          <p:spPr bwMode="auto">
            <a:xfrm>
              <a:off x="957" y="2940"/>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c</a:t>
              </a:r>
            </a:p>
          </p:txBody>
        </p:sp>
        <p:sp>
          <p:nvSpPr>
            <p:cNvPr id="50205" name="Text Box 130"/>
            <p:cNvSpPr txBox="1">
              <a:spLocks noChangeArrowheads="1"/>
            </p:cNvSpPr>
            <p:nvPr/>
          </p:nvSpPr>
          <p:spPr bwMode="auto">
            <a:xfrm>
              <a:off x="912" y="340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b</a:t>
              </a:r>
            </a:p>
          </p:txBody>
        </p:sp>
        <p:sp>
          <p:nvSpPr>
            <p:cNvPr id="50206" name="Text Box 131"/>
            <p:cNvSpPr txBox="1">
              <a:spLocks noChangeArrowheads="1"/>
            </p:cNvSpPr>
            <p:nvPr/>
          </p:nvSpPr>
          <p:spPr bwMode="auto">
            <a:xfrm>
              <a:off x="1911" y="2494"/>
              <a:ext cx="205"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a:solidFill>
                    <a:srgbClr val="CC0000"/>
                  </a:solidFill>
                  <a:latin typeface="Arial" pitchFamily="34" charset="0"/>
                </a:rPr>
                <a:t>e</a:t>
              </a:r>
            </a:p>
          </p:txBody>
        </p:sp>
        <p:sp>
          <p:nvSpPr>
            <p:cNvPr id="50207" name="Text Box 132"/>
            <p:cNvSpPr txBox="1">
              <a:spLocks noChangeArrowheads="1"/>
            </p:cNvSpPr>
            <p:nvPr/>
          </p:nvSpPr>
          <p:spPr bwMode="auto">
            <a:xfrm>
              <a:off x="4219" y="2494"/>
              <a:ext cx="21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a:solidFill>
                    <a:srgbClr val="CC0000"/>
                  </a:solidFill>
                  <a:latin typeface="Arial" pitchFamily="34" charset="0"/>
                </a:rPr>
                <a:t>d</a:t>
              </a:r>
            </a:p>
          </p:txBody>
        </p:sp>
        <p:sp>
          <p:nvSpPr>
            <p:cNvPr id="50208" name="Text Box 133"/>
            <p:cNvSpPr txBox="1">
              <a:spLocks noChangeArrowheads="1"/>
            </p:cNvSpPr>
            <p:nvPr/>
          </p:nvSpPr>
          <p:spPr bwMode="auto">
            <a:xfrm>
              <a:off x="4334" y="2916"/>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g</a:t>
              </a:r>
            </a:p>
          </p:txBody>
        </p:sp>
        <p:sp>
          <p:nvSpPr>
            <p:cNvPr id="50209" name="Text Box 134"/>
            <p:cNvSpPr txBox="1">
              <a:spLocks noChangeArrowheads="1"/>
            </p:cNvSpPr>
            <p:nvPr/>
          </p:nvSpPr>
          <p:spPr bwMode="auto">
            <a:xfrm>
              <a:off x="4334" y="334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h</a:t>
              </a:r>
            </a:p>
          </p:txBody>
        </p:sp>
        <p:sp>
          <p:nvSpPr>
            <p:cNvPr id="50210" name="Text Box 135"/>
            <p:cNvSpPr txBox="1">
              <a:spLocks noChangeArrowheads="1"/>
            </p:cNvSpPr>
            <p:nvPr/>
          </p:nvSpPr>
          <p:spPr bwMode="auto">
            <a:xfrm>
              <a:off x="2976" y="2446"/>
              <a:ext cx="16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a:solidFill>
                    <a:srgbClr val="CC0000"/>
                  </a:solidFill>
                  <a:latin typeface="Arial" pitchFamily="34" charset="0"/>
                </a:rPr>
                <a:t>f</a:t>
              </a:r>
            </a:p>
          </p:txBody>
        </p:sp>
        <p:sp>
          <p:nvSpPr>
            <p:cNvPr id="50211" name="Text Box 136"/>
            <p:cNvSpPr txBox="1">
              <a:spLocks noChangeArrowheads="1"/>
            </p:cNvSpPr>
            <p:nvPr/>
          </p:nvSpPr>
          <p:spPr bwMode="auto">
            <a:xfrm>
              <a:off x="2880" y="2928"/>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j</a:t>
              </a:r>
            </a:p>
          </p:txBody>
        </p:sp>
        <p:sp>
          <p:nvSpPr>
            <p:cNvPr id="50212" name="Text Box 137"/>
            <p:cNvSpPr txBox="1">
              <a:spLocks noChangeArrowheads="1"/>
            </p:cNvSpPr>
            <p:nvPr/>
          </p:nvSpPr>
          <p:spPr bwMode="auto">
            <a:xfrm>
              <a:off x="2880" y="326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i</a:t>
              </a:r>
            </a:p>
          </p:txBody>
        </p:sp>
        <p:sp>
          <p:nvSpPr>
            <p:cNvPr id="50213" name="Text Box 138"/>
            <p:cNvSpPr txBox="1">
              <a:spLocks noChangeArrowheads="1"/>
            </p:cNvSpPr>
            <p:nvPr/>
          </p:nvSpPr>
          <p:spPr bwMode="auto">
            <a:xfrm>
              <a:off x="144" y="2736"/>
              <a:ext cx="71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DFS(G</a:t>
              </a:r>
              <a:r>
                <a:rPr lang="en-US" sz="1800" baseline="30000">
                  <a:solidFill>
                    <a:schemeClr val="tx2"/>
                  </a:solidFill>
                  <a:latin typeface="Arial" pitchFamily="34" charset="0"/>
                </a:rPr>
                <a:t>T</a:t>
              </a:r>
              <a:r>
                <a:rPr lang="en-US" sz="1800">
                  <a:solidFill>
                    <a:schemeClr val="tx2"/>
                  </a:solidFill>
                  <a:latin typeface="Arial" pitchFamily="34" charset="0"/>
                </a:rPr>
                <a:t>):</a:t>
              </a:r>
            </a:p>
          </p:txBody>
        </p:sp>
        <p:sp>
          <p:nvSpPr>
            <p:cNvPr id="50214" name="Freeform 139"/>
            <p:cNvSpPr>
              <a:spLocks/>
            </p:cNvSpPr>
            <p:nvPr/>
          </p:nvSpPr>
          <p:spPr bwMode="auto">
            <a:xfrm>
              <a:off x="1198" y="2736"/>
              <a:ext cx="818" cy="316"/>
            </a:xfrm>
            <a:custGeom>
              <a:avLst/>
              <a:gdLst>
                <a:gd name="T0" fmla="*/ 818 w 818"/>
                <a:gd name="T1" fmla="*/ 0 h 316"/>
                <a:gd name="T2" fmla="*/ 0 w 818"/>
                <a:gd name="T3" fmla="*/ 316 h 316"/>
                <a:gd name="T4" fmla="*/ 0 60000 65536"/>
                <a:gd name="T5" fmla="*/ 0 60000 65536"/>
              </a:gdLst>
              <a:ahLst/>
              <a:cxnLst>
                <a:cxn ang="T4">
                  <a:pos x="T0" y="T1"/>
                </a:cxn>
                <a:cxn ang="T5">
                  <a:pos x="T2" y="T3"/>
                </a:cxn>
              </a:cxnLst>
              <a:rect l="0" t="0" r="r" b="b"/>
              <a:pathLst>
                <a:path w="818" h="316">
                  <a:moveTo>
                    <a:pt x="818" y="0"/>
                  </a:moveTo>
                  <a:lnTo>
                    <a:pt x="0" y="316"/>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215" name="Freeform 140"/>
            <p:cNvSpPr>
              <a:spLocks/>
            </p:cNvSpPr>
            <p:nvPr/>
          </p:nvSpPr>
          <p:spPr bwMode="auto">
            <a:xfrm>
              <a:off x="1212" y="2784"/>
              <a:ext cx="804" cy="646"/>
            </a:xfrm>
            <a:custGeom>
              <a:avLst/>
              <a:gdLst>
                <a:gd name="T0" fmla="*/ 804 w 804"/>
                <a:gd name="T1" fmla="*/ 0 h 646"/>
                <a:gd name="T2" fmla="*/ 0 w 804"/>
                <a:gd name="T3" fmla="*/ 646 h 646"/>
                <a:gd name="T4" fmla="*/ 0 60000 65536"/>
                <a:gd name="T5" fmla="*/ 0 60000 65536"/>
              </a:gdLst>
              <a:ahLst/>
              <a:cxnLst>
                <a:cxn ang="T4">
                  <a:pos x="T0" y="T1"/>
                </a:cxn>
                <a:cxn ang="T5">
                  <a:pos x="T2" y="T3"/>
                </a:cxn>
              </a:cxnLst>
              <a:rect l="0" t="0" r="r" b="b"/>
              <a:pathLst>
                <a:path w="804" h="646">
                  <a:moveTo>
                    <a:pt x="804" y="0"/>
                  </a:moveTo>
                  <a:lnTo>
                    <a:pt x="0" y="646"/>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216" name="Freeform 141"/>
            <p:cNvSpPr>
              <a:spLocks/>
            </p:cNvSpPr>
            <p:nvPr/>
          </p:nvSpPr>
          <p:spPr bwMode="auto">
            <a:xfrm>
              <a:off x="2132" y="2728"/>
              <a:ext cx="867" cy="1"/>
            </a:xfrm>
            <a:custGeom>
              <a:avLst/>
              <a:gdLst>
                <a:gd name="T0" fmla="*/ 867 w 867"/>
                <a:gd name="T1" fmla="*/ 0 h 1"/>
                <a:gd name="T2" fmla="*/ 0 w 867"/>
                <a:gd name="T3" fmla="*/ 0 h 1"/>
                <a:gd name="T4" fmla="*/ 0 60000 65536"/>
                <a:gd name="T5" fmla="*/ 0 60000 65536"/>
              </a:gdLst>
              <a:ahLst/>
              <a:cxnLst>
                <a:cxn ang="T4">
                  <a:pos x="T0" y="T1"/>
                </a:cxn>
                <a:cxn ang="T5">
                  <a:pos x="T2" y="T3"/>
                </a:cxn>
              </a:cxnLst>
              <a:rect l="0" t="0" r="r" b="b"/>
              <a:pathLst>
                <a:path w="867" h="1">
                  <a:moveTo>
                    <a:pt x="867" y="0"/>
                  </a:moveTo>
                  <a:lnTo>
                    <a:pt x="0" y="0"/>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217" name="Freeform 142"/>
            <p:cNvSpPr>
              <a:spLocks/>
            </p:cNvSpPr>
            <p:nvPr/>
          </p:nvSpPr>
          <p:spPr bwMode="auto">
            <a:xfrm>
              <a:off x="1218" y="2767"/>
              <a:ext cx="1788" cy="331"/>
            </a:xfrm>
            <a:custGeom>
              <a:avLst/>
              <a:gdLst>
                <a:gd name="T0" fmla="*/ 1788 w 1788"/>
                <a:gd name="T1" fmla="*/ 0 h 331"/>
                <a:gd name="T2" fmla="*/ 887 w 1788"/>
                <a:gd name="T3" fmla="*/ 272 h 331"/>
                <a:gd name="T4" fmla="*/ 0 w 1788"/>
                <a:gd name="T5" fmla="*/ 331 h 331"/>
                <a:gd name="T6" fmla="*/ 0 60000 65536"/>
                <a:gd name="T7" fmla="*/ 0 60000 65536"/>
                <a:gd name="T8" fmla="*/ 0 60000 65536"/>
              </a:gdLst>
              <a:ahLst/>
              <a:cxnLst>
                <a:cxn ang="T6">
                  <a:pos x="T0" y="T1"/>
                </a:cxn>
                <a:cxn ang="T7">
                  <a:pos x="T2" y="T3"/>
                </a:cxn>
                <a:cxn ang="T8">
                  <a:pos x="T4" y="T5"/>
                </a:cxn>
              </a:cxnLst>
              <a:rect l="0" t="0" r="r" b="b"/>
              <a:pathLst>
                <a:path w="1788" h="331">
                  <a:moveTo>
                    <a:pt x="1788" y="0"/>
                  </a:moveTo>
                  <a:cubicBezTo>
                    <a:pt x="1638" y="45"/>
                    <a:pt x="1185" y="217"/>
                    <a:pt x="887" y="272"/>
                  </a:cubicBezTo>
                  <a:cubicBezTo>
                    <a:pt x="589" y="327"/>
                    <a:pt x="185" y="319"/>
                    <a:pt x="0" y="331"/>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218" name="Line 143"/>
            <p:cNvSpPr>
              <a:spLocks noChangeShapeType="1"/>
            </p:cNvSpPr>
            <p:nvPr/>
          </p:nvSpPr>
          <p:spPr bwMode="auto">
            <a:xfrm flipH="1" flipV="1">
              <a:off x="2112" y="2784"/>
              <a:ext cx="912" cy="528"/>
            </a:xfrm>
            <a:prstGeom prst="line">
              <a:avLst/>
            </a:prstGeom>
            <a:noFill/>
            <a:ln w="12700">
              <a:solidFill>
                <a:srgbClr val="96969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219" name="Freeform 144"/>
            <p:cNvSpPr>
              <a:spLocks/>
            </p:cNvSpPr>
            <p:nvPr/>
          </p:nvSpPr>
          <p:spPr bwMode="auto">
            <a:xfrm>
              <a:off x="3120" y="3361"/>
              <a:ext cx="1144" cy="2"/>
            </a:xfrm>
            <a:custGeom>
              <a:avLst/>
              <a:gdLst>
                <a:gd name="T0" fmla="*/ 1144 w 1144"/>
                <a:gd name="T1" fmla="*/ 2 h 2"/>
                <a:gd name="T2" fmla="*/ 0 w 1144"/>
                <a:gd name="T3" fmla="*/ 0 h 2"/>
                <a:gd name="T4" fmla="*/ 0 60000 65536"/>
                <a:gd name="T5" fmla="*/ 0 60000 65536"/>
              </a:gdLst>
              <a:ahLst/>
              <a:cxnLst>
                <a:cxn ang="T4">
                  <a:pos x="T0" y="T1"/>
                </a:cxn>
                <a:cxn ang="T5">
                  <a:pos x="T2" y="T3"/>
                </a:cxn>
              </a:cxnLst>
              <a:rect l="0" t="0" r="r" b="b"/>
              <a:pathLst>
                <a:path w="1144" h="2">
                  <a:moveTo>
                    <a:pt x="1144" y="2"/>
                  </a:moveTo>
                  <a:lnTo>
                    <a:pt x="0" y="0"/>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50220" name="Freeform 145"/>
            <p:cNvSpPr>
              <a:spLocks/>
            </p:cNvSpPr>
            <p:nvPr/>
          </p:nvSpPr>
          <p:spPr bwMode="auto">
            <a:xfrm>
              <a:off x="2099" y="2444"/>
              <a:ext cx="2178" cy="310"/>
            </a:xfrm>
            <a:custGeom>
              <a:avLst/>
              <a:gdLst>
                <a:gd name="T0" fmla="*/ 2178 w 2178"/>
                <a:gd name="T1" fmla="*/ 310 h 310"/>
                <a:gd name="T2" fmla="*/ 1642 w 2178"/>
                <a:gd name="T3" fmla="*/ 45 h 310"/>
                <a:gd name="T4" fmla="*/ 457 w 2178"/>
                <a:gd name="T5" fmla="*/ 39 h 310"/>
                <a:gd name="T6" fmla="*/ 0 w 2178"/>
                <a:gd name="T7" fmla="*/ 237 h 3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78" h="310">
                  <a:moveTo>
                    <a:pt x="2178" y="310"/>
                  </a:moveTo>
                  <a:cubicBezTo>
                    <a:pt x="2089" y="266"/>
                    <a:pt x="1929" y="90"/>
                    <a:pt x="1642" y="45"/>
                  </a:cubicBezTo>
                  <a:cubicBezTo>
                    <a:pt x="1355" y="0"/>
                    <a:pt x="731" y="7"/>
                    <a:pt x="457" y="39"/>
                  </a:cubicBezTo>
                  <a:cubicBezTo>
                    <a:pt x="183" y="71"/>
                    <a:pt x="95" y="196"/>
                    <a:pt x="0" y="237"/>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0221" name="Freeform 146"/>
            <p:cNvSpPr>
              <a:spLocks/>
            </p:cNvSpPr>
            <p:nvPr/>
          </p:nvSpPr>
          <p:spPr bwMode="auto">
            <a:xfrm>
              <a:off x="1218" y="2814"/>
              <a:ext cx="3052" cy="948"/>
            </a:xfrm>
            <a:custGeom>
              <a:avLst/>
              <a:gdLst>
                <a:gd name="T0" fmla="*/ 3052 w 3052"/>
                <a:gd name="T1" fmla="*/ 0 h 948"/>
                <a:gd name="T2" fmla="*/ 1814 w 3052"/>
                <a:gd name="T3" fmla="*/ 834 h 948"/>
                <a:gd name="T4" fmla="*/ 0 w 3052"/>
                <a:gd name="T5" fmla="*/ 682 h 948"/>
                <a:gd name="T6" fmla="*/ 0 60000 65536"/>
                <a:gd name="T7" fmla="*/ 0 60000 65536"/>
                <a:gd name="T8" fmla="*/ 0 60000 65536"/>
              </a:gdLst>
              <a:ahLst/>
              <a:cxnLst>
                <a:cxn ang="T6">
                  <a:pos x="T0" y="T1"/>
                </a:cxn>
                <a:cxn ang="T7">
                  <a:pos x="T2" y="T3"/>
                </a:cxn>
                <a:cxn ang="T8">
                  <a:pos x="T4" y="T5"/>
                </a:cxn>
              </a:cxnLst>
              <a:rect l="0" t="0" r="r" b="b"/>
              <a:pathLst>
                <a:path w="3052" h="948">
                  <a:moveTo>
                    <a:pt x="3052" y="0"/>
                  </a:moveTo>
                  <a:cubicBezTo>
                    <a:pt x="2846" y="139"/>
                    <a:pt x="2323" y="720"/>
                    <a:pt x="1814" y="834"/>
                  </a:cubicBezTo>
                  <a:cubicBezTo>
                    <a:pt x="1305" y="948"/>
                    <a:pt x="378" y="714"/>
                    <a:pt x="0" y="682"/>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grpSp>
        <p:nvGrpSpPr>
          <p:cNvPr id="141" name="Group 187"/>
          <p:cNvGrpSpPr>
            <a:grpSpLocks/>
          </p:cNvGrpSpPr>
          <p:nvPr/>
        </p:nvGrpSpPr>
        <p:grpSpPr bwMode="auto">
          <a:xfrm>
            <a:off x="3926376" y="38100"/>
            <a:ext cx="914400" cy="3581400"/>
            <a:chOff x="2544" y="1920"/>
            <a:chExt cx="576" cy="2208"/>
          </a:xfrm>
        </p:grpSpPr>
        <p:sp>
          <p:nvSpPr>
            <p:cNvPr id="142" name="Freeform 184"/>
            <p:cNvSpPr>
              <a:spLocks/>
            </p:cNvSpPr>
            <p:nvPr/>
          </p:nvSpPr>
          <p:spPr bwMode="auto">
            <a:xfrm>
              <a:off x="2832" y="1968"/>
              <a:ext cx="288" cy="2160"/>
            </a:xfrm>
            <a:custGeom>
              <a:avLst/>
              <a:gdLst>
                <a:gd name="T0" fmla="*/ 0 w 480"/>
                <a:gd name="T1" fmla="*/ 0 h 1728"/>
                <a:gd name="T2" fmla="*/ 0 w 480"/>
                <a:gd name="T3" fmla="*/ 2160 h 1728"/>
                <a:gd name="T4" fmla="*/ 288 w 480"/>
                <a:gd name="T5" fmla="*/ 2160 h 1728"/>
                <a:gd name="T6" fmla="*/ 288 w 480"/>
                <a:gd name="T7" fmla="*/ 0 h 17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1728">
                  <a:moveTo>
                    <a:pt x="0" y="0"/>
                  </a:moveTo>
                  <a:lnTo>
                    <a:pt x="0" y="1728"/>
                  </a:lnTo>
                  <a:lnTo>
                    <a:pt x="480" y="1728"/>
                  </a:lnTo>
                  <a:lnTo>
                    <a:pt x="480" y="0"/>
                  </a:lnTo>
                </a:path>
              </a:pathLst>
            </a:custGeom>
            <a:noFill/>
            <a:ln w="28575" cap="flat" cmpd="sng">
              <a:solidFill>
                <a:schemeClr val="accent2"/>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a:spAutoFit/>
            </a:bodyPr>
            <a:lstStyle/>
            <a:p>
              <a:endParaRPr lang="en-CA"/>
            </a:p>
          </p:txBody>
        </p:sp>
        <p:sp>
          <p:nvSpPr>
            <p:cNvPr id="143" name="Text Box 185"/>
            <p:cNvSpPr txBox="1">
              <a:spLocks noChangeArrowheads="1"/>
            </p:cNvSpPr>
            <p:nvPr/>
          </p:nvSpPr>
          <p:spPr bwMode="auto">
            <a:xfrm>
              <a:off x="2544" y="2400"/>
              <a:ext cx="276" cy="244"/>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dirty="0">
                  <a:solidFill>
                    <a:srgbClr val="CC0000"/>
                  </a:solidFill>
                  <a:latin typeface="Arial" pitchFamily="34" charset="0"/>
                </a:rPr>
                <a:t>S:</a:t>
              </a:r>
            </a:p>
          </p:txBody>
        </p:sp>
        <p:sp>
          <p:nvSpPr>
            <p:cNvPr id="144" name="Text Box 186"/>
            <p:cNvSpPr txBox="1">
              <a:spLocks noChangeArrowheads="1"/>
            </p:cNvSpPr>
            <p:nvPr/>
          </p:nvSpPr>
          <p:spPr bwMode="auto">
            <a:xfrm>
              <a:off x="2880" y="1920"/>
              <a:ext cx="214" cy="21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0000"/>
                </a:lnSpc>
                <a:buFontTx/>
                <a:buNone/>
              </a:pPr>
              <a:r>
                <a:rPr lang="en-US" sz="2000" b="1">
                  <a:solidFill>
                    <a:srgbClr val="CC0000"/>
                  </a:solidFill>
                  <a:latin typeface="Arial" pitchFamily="34" charset="0"/>
                </a:rPr>
                <a:t>a</a:t>
              </a:r>
            </a:p>
            <a:p>
              <a:pPr algn="ctr" eaLnBrk="1" hangingPunct="1">
                <a:lnSpc>
                  <a:spcPct val="110000"/>
                </a:lnSpc>
                <a:buFontTx/>
                <a:buNone/>
              </a:pPr>
              <a:r>
                <a:rPr lang="en-US" sz="2000" b="1">
                  <a:solidFill>
                    <a:srgbClr val="CC0000"/>
                  </a:solidFill>
                  <a:latin typeface="Arial" pitchFamily="34" charset="0"/>
                </a:rPr>
                <a:t>b</a:t>
              </a:r>
            </a:p>
            <a:p>
              <a:pPr algn="ctr" eaLnBrk="1" hangingPunct="1">
                <a:lnSpc>
                  <a:spcPct val="110000"/>
                </a:lnSpc>
                <a:buFontTx/>
                <a:buNone/>
              </a:pPr>
              <a:r>
                <a:rPr lang="en-US" sz="2000" b="1">
                  <a:solidFill>
                    <a:srgbClr val="CC0000"/>
                  </a:solidFill>
                  <a:latin typeface="Arial" pitchFamily="34" charset="0"/>
                </a:rPr>
                <a:t>c</a:t>
              </a:r>
            </a:p>
            <a:p>
              <a:pPr algn="ctr" eaLnBrk="1" hangingPunct="1">
                <a:lnSpc>
                  <a:spcPct val="110000"/>
                </a:lnSpc>
                <a:buFontTx/>
                <a:buNone/>
              </a:pPr>
              <a:r>
                <a:rPr lang="en-US" sz="2000" b="1">
                  <a:solidFill>
                    <a:srgbClr val="CC0000"/>
                  </a:solidFill>
                  <a:latin typeface="Arial" pitchFamily="34" charset="0"/>
                </a:rPr>
                <a:t>e</a:t>
              </a:r>
            </a:p>
            <a:p>
              <a:pPr algn="ctr" eaLnBrk="1" hangingPunct="1">
                <a:lnSpc>
                  <a:spcPct val="110000"/>
                </a:lnSpc>
                <a:buFontTx/>
                <a:buNone/>
              </a:pPr>
              <a:r>
                <a:rPr lang="en-US" sz="2000" b="1">
                  <a:solidFill>
                    <a:srgbClr val="CC0000"/>
                  </a:solidFill>
                  <a:latin typeface="Arial" pitchFamily="34" charset="0"/>
                </a:rPr>
                <a:t>f</a:t>
              </a:r>
            </a:p>
            <a:p>
              <a:pPr algn="ctr" eaLnBrk="1" hangingPunct="1">
                <a:lnSpc>
                  <a:spcPct val="110000"/>
                </a:lnSpc>
                <a:buFontTx/>
                <a:buNone/>
              </a:pPr>
              <a:r>
                <a:rPr lang="en-US" sz="2000" b="1">
                  <a:solidFill>
                    <a:srgbClr val="CC0000"/>
                  </a:solidFill>
                  <a:latin typeface="Arial" pitchFamily="34" charset="0"/>
                </a:rPr>
                <a:t>i</a:t>
              </a:r>
            </a:p>
            <a:p>
              <a:pPr algn="ctr" eaLnBrk="1" hangingPunct="1">
                <a:lnSpc>
                  <a:spcPct val="110000"/>
                </a:lnSpc>
                <a:buFontTx/>
                <a:buNone/>
              </a:pPr>
              <a:r>
                <a:rPr lang="en-US" sz="2000" b="1">
                  <a:solidFill>
                    <a:srgbClr val="CC0000"/>
                  </a:solidFill>
                  <a:latin typeface="Arial" pitchFamily="34" charset="0"/>
                </a:rPr>
                <a:t>j</a:t>
              </a:r>
            </a:p>
            <a:p>
              <a:pPr algn="ctr" eaLnBrk="1" hangingPunct="1">
                <a:lnSpc>
                  <a:spcPct val="110000"/>
                </a:lnSpc>
                <a:buFontTx/>
                <a:buNone/>
              </a:pPr>
              <a:r>
                <a:rPr lang="en-US" sz="2000" b="1">
                  <a:solidFill>
                    <a:srgbClr val="CC0000"/>
                  </a:solidFill>
                  <a:latin typeface="Arial" pitchFamily="34" charset="0"/>
                </a:rPr>
                <a:t>d</a:t>
              </a:r>
            </a:p>
            <a:p>
              <a:pPr algn="ctr" eaLnBrk="1" hangingPunct="1">
                <a:lnSpc>
                  <a:spcPct val="110000"/>
                </a:lnSpc>
                <a:buFontTx/>
                <a:buNone/>
              </a:pPr>
              <a:r>
                <a:rPr lang="en-US" sz="2000" b="1">
                  <a:solidFill>
                    <a:srgbClr val="CC0000"/>
                  </a:solidFill>
                  <a:latin typeface="Arial" pitchFamily="34" charset="0"/>
                </a:rPr>
                <a:t>h</a:t>
              </a:r>
            </a:p>
            <a:p>
              <a:pPr algn="ctr" eaLnBrk="1" hangingPunct="1">
                <a:lnSpc>
                  <a:spcPct val="110000"/>
                </a:lnSpc>
                <a:buFontTx/>
                <a:buNone/>
              </a:pPr>
              <a:r>
                <a:rPr lang="en-US" sz="2000" b="1">
                  <a:solidFill>
                    <a:srgbClr val="CC0000"/>
                  </a:solidFill>
                  <a:latin typeface="Arial" pitchFamily="34" charset="0"/>
                </a:rPr>
                <a:t>g</a:t>
              </a:r>
            </a:p>
          </p:txBody>
        </p:sp>
      </p:grpSp>
      <p:grpSp>
        <p:nvGrpSpPr>
          <p:cNvPr id="145" name="Group 144"/>
          <p:cNvGrpSpPr/>
          <p:nvPr/>
        </p:nvGrpSpPr>
        <p:grpSpPr>
          <a:xfrm>
            <a:off x="304800" y="110331"/>
            <a:ext cx="3475038" cy="3589338"/>
            <a:chOff x="304800" y="2971800"/>
            <a:chExt cx="3475038" cy="3589338"/>
          </a:xfrm>
        </p:grpSpPr>
        <p:sp>
          <p:nvSpPr>
            <p:cNvPr id="146" name="Freeform 142"/>
            <p:cNvSpPr>
              <a:spLocks/>
            </p:cNvSpPr>
            <p:nvPr/>
          </p:nvSpPr>
          <p:spPr bwMode="auto">
            <a:xfrm>
              <a:off x="1682750" y="4572000"/>
              <a:ext cx="763588" cy="754063"/>
            </a:xfrm>
            <a:custGeom>
              <a:avLst/>
              <a:gdLst>
                <a:gd name="T0" fmla="*/ 123825 w 481"/>
                <a:gd name="T1" fmla="*/ 671513 h 475"/>
                <a:gd name="T2" fmla="*/ 596900 w 481"/>
                <a:gd name="T3" fmla="*/ 692150 h 475"/>
                <a:gd name="T4" fmla="*/ 733425 w 481"/>
                <a:gd name="T5" fmla="*/ 303213 h 475"/>
                <a:gd name="T6" fmla="*/ 417513 w 481"/>
                <a:gd name="T7" fmla="*/ 7938 h 475"/>
                <a:gd name="T8" fmla="*/ 49213 w 481"/>
                <a:gd name="T9" fmla="*/ 250825 h 475"/>
                <a:gd name="T10" fmla="*/ 123825 w 481"/>
                <a:gd name="T11" fmla="*/ 671513 h 47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1" h="475">
                  <a:moveTo>
                    <a:pt x="78" y="423"/>
                  </a:moveTo>
                  <a:cubicBezTo>
                    <a:pt x="135" y="469"/>
                    <a:pt x="312" y="475"/>
                    <a:pt x="376" y="436"/>
                  </a:cubicBezTo>
                  <a:cubicBezTo>
                    <a:pt x="440" y="397"/>
                    <a:pt x="481" y="263"/>
                    <a:pt x="462" y="191"/>
                  </a:cubicBezTo>
                  <a:cubicBezTo>
                    <a:pt x="443" y="119"/>
                    <a:pt x="335" y="10"/>
                    <a:pt x="263" y="5"/>
                  </a:cubicBezTo>
                  <a:cubicBezTo>
                    <a:pt x="191" y="0"/>
                    <a:pt x="62" y="88"/>
                    <a:pt x="31" y="158"/>
                  </a:cubicBezTo>
                  <a:cubicBezTo>
                    <a:pt x="0" y="228"/>
                    <a:pt x="21" y="377"/>
                    <a:pt x="78" y="423"/>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7" name="Freeform 143"/>
            <p:cNvSpPr>
              <a:spLocks/>
            </p:cNvSpPr>
            <p:nvPr/>
          </p:nvSpPr>
          <p:spPr bwMode="auto">
            <a:xfrm>
              <a:off x="2978150" y="4953000"/>
              <a:ext cx="801688" cy="1608138"/>
            </a:xfrm>
            <a:custGeom>
              <a:avLst/>
              <a:gdLst>
                <a:gd name="T0" fmla="*/ 42863 w 505"/>
                <a:gd name="T1" fmla="*/ 1277938 h 1013"/>
                <a:gd name="T2" fmla="*/ 274638 w 505"/>
                <a:gd name="T3" fmla="*/ 1562100 h 1013"/>
                <a:gd name="T4" fmla="*/ 725488 w 505"/>
                <a:gd name="T5" fmla="*/ 1393825 h 1013"/>
                <a:gd name="T6" fmla="*/ 735013 w 505"/>
                <a:gd name="T7" fmla="*/ 279400 h 1013"/>
                <a:gd name="T8" fmla="*/ 420688 w 505"/>
                <a:gd name="T9" fmla="*/ 6350 h 1013"/>
                <a:gd name="T10" fmla="*/ 63500 w 505"/>
                <a:gd name="T11" fmla="*/ 238125 h 1013"/>
                <a:gd name="T12" fmla="*/ 42863 w 505"/>
                <a:gd name="T13" fmla="*/ 1277938 h 101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5" h="1013">
                  <a:moveTo>
                    <a:pt x="27" y="805"/>
                  </a:moveTo>
                  <a:cubicBezTo>
                    <a:pt x="49" y="944"/>
                    <a:pt x="101" y="972"/>
                    <a:pt x="173" y="984"/>
                  </a:cubicBezTo>
                  <a:cubicBezTo>
                    <a:pt x="245" y="996"/>
                    <a:pt x="409" y="1013"/>
                    <a:pt x="457" y="878"/>
                  </a:cubicBezTo>
                  <a:cubicBezTo>
                    <a:pt x="505" y="743"/>
                    <a:pt x="495" y="321"/>
                    <a:pt x="463" y="176"/>
                  </a:cubicBezTo>
                  <a:cubicBezTo>
                    <a:pt x="431" y="31"/>
                    <a:pt x="336" y="8"/>
                    <a:pt x="265" y="4"/>
                  </a:cubicBezTo>
                  <a:cubicBezTo>
                    <a:pt x="194" y="0"/>
                    <a:pt x="80" y="17"/>
                    <a:pt x="40" y="150"/>
                  </a:cubicBezTo>
                  <a:cubicBezTo>
                    <a:pt x="0" y="283"/>
                    <a:pt x="5" y="666"/>
                    <a:pt x="27" y="805"/>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8" name="Freeform 144"/>
            <p:cNvSpPr>
              <a:spLocks/>
            </p:cNvSpPr>
            <p:nvPr/>
          </p:nvSpPr>
          <p:spPr bwMode="auto">
            <a:xfrm>
              <a:off x="311150" y="5029200"/>
              <a:ext cx="812800" cy="1457325"/>
            </a:xfrm>
            <a:custGeom>
              <a:avLst/>
              <a:gdLst>
                <a:gd name="T0" fmla="*/ 65088 w 512"/>
                <a:gd name="T1" fmla="*/ 1190625 h 918"/>
                <a:gd name="T2" fmla="*/ 401638 w 512"/>
                <a:gd name="T3" fmla="*/ 1443038 h 918"/>
                <a:gd name="T4" fmla="*/ 738188 w 512"/>
                <a:gd name="T5" fmla="*/ 1263650 h 918"/>
                <a:gd name="T6" fmla="*/ 758825 w 512"/>
                <a:gd name="T7" fmla="*/ 276225 h 918"/>
                <a:gd name="T8" fmla="*/ 412750 w 512"/>
                <a:gd name="T9" fmla="*/ 3175 h 918"/>
                <a:gd name="T10" fmla="*/ 57150 w 512"/>
                <a:gd name="T11" fmla="*/ 255588 h 918"/>
                <a:gd name="T12" fmla="*/ 65088 w 512"/>
                <a:gd name="T13" fmla="*/ 1190625 h 9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2" h="918">
                  <a:moveTo>
                    <a:pt x="41" y="750"/>
                  </a:moveTo>
                  <a:cubicBezTo>
                    <a:pt x="77" y="875"/>
                    <a:pt x="182" y="901"/>
                    <a:pt x="253" y="909"/>
                  </a:cubicBezTo>
                  <a:cubicBezTo>
                    <a:pt x="324" y="917"/>
                    <a:pt x="428" y="918"/>
                    <a:pt x="465" y="796"/>
                  </a:cubicBezTo>
                  <a:cubicBezTo>
                    <a:pt x="502" y="674"/>
                    <a:pt x="512" y="306"/>
                    <a:pt x="478" y="174"/>
                  </a:cubicBezTo>
                  <a:cubicBezTo>
                    <a:pt x="444" y="42"/>
                    <a:pt x="334" y="4"/>
                    <a:pt x="260" y="2"/>
                  </a:cubicBezTo>
                  <a:cubicBezTo>
                    <a:pt x="186" y="0"/>
                    <a:pt x="72" y="36"/>
                    <a:pt x="36" y="161"/>
                  </a:cubicBezTo>
                  <a:cubicBezTo>
                    <a:pt x="0" y="286"/>
                    <a:pt x="5" y="625"/>
                    <a:pt x="41" y="750"/>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49" name="Freeform 145"/>
            <p:cNvSpPr>
              <a:spLocks/>
            </p:cNvSpPr>
            <p:nvPr/>
          </p:nvSpPr>
          <p:spPr bwMode="auto">
            <a:xfrm>
              <a:off x="1682750" y="2971800"/>
              <a:ext cx="830263" cy="1504950"/>
            </a:xfrm>
            <a:custGeom>
              <a:avLst/>
              <a:gdLst>
                <a:gd name="T0" fmla="*/ 63500 w 523"/>
                <a:gd name="T1" fmla="*/ 1239838 h 948"/>
                <a:gd name="T2" fmla="*/ 342900 w 523"/>
                <a:gd name="T3" fmla="*/ 1497013 h 948"/>
                <a:gd name="T4" fmla="*/ 757238 w 523"/>
                <a:gd name="T5" fmla="*/ 1282700 h 948"/>
                <a:gd name="T6" fmla="*/ 765175 w 523"/>
                <a:gd name="T7" fmla="*/ 254000 h 948"/>
                <a:gd name="T8" fmla="*/ 365125 w 523"/>
                <a:gd name="T9" fmla="*/ 1588 h 948"/>
                <a:gd name="T10" fmla="*/ 50800 w 523"/>
                <a:gd name="T11" fmla="*/ 265113 h 948"/>
                <a:gd name="T12" fmla="*/ 63500 w 523"/>
                <a:gd name="T13" fmla="*/ 1239838 h 9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23" h="948">
                  <a:moveTo>
                    <a:pt x="40" y="781"/>
                  </a:moveTo>
                  <a:cubicBezTo>
                    <a:pt x="69" y="906"/>
                    <a:pt x="143" y="938"/>
                    <a:pt x="216" y="943"/>
                  </a:cubicBezTo>
                  <a:cubicBezTo>
                    <a:pt x="289" y="948"/>
                    <a:pt x="433" y="938"/>
                    <a:pt x="477" y="808"/>
                  </a:cubicBezTo>
                  <a:cubicBezTo>
                    <a:pt x="521" y="678"/>
                    <a:pt x="523" y="295"/>
                    <a:pt x="482" y="160"/>
                  </a:cubicBezTo>
                  <a:cubicBezTo>
                    <a:pt x="441" y="25"/>
                    <a:pt x="305" y="0"/>
                    <a:pt x="230" y="1"/>
                  </a:cubicBezTo>
                  <a:cubicBezTo>
                    <a:pt x="155" y="2"/>
                    <a:pt x="64" y="37"/>
                    <a:pt x="32" y="167"/>
                  </a:cubicBezTo>
                  <a:cubicBezTo>
                    <a:pt x="0" y="297"/>
                    <a:pt x="38" y="653"/>
                    <a:pt x="40" y="781"/>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nvGrpSpPr>
            <p:cNvPr id="150" name="Group 146"/>
            <p:cNvGrpSpPr>
              <a:grpSpLocks/>
            </p:cNvGrpSpPr>
            <p:nvPr/>
          </p:nvGrpSpPr>
          <p:grpSpPr bwMode="auto">
            <a:xfrm>
              <a:off x="304800" y="2971800"/>
              <a:ext cx="3327400" cy="3490913"/>
              <a:chOff x="764" y="2016"/>
              <a:chExt cx="2096" cy="2199"/>
            </a:xfrm>
          </p:grpSpPr>
          <p:sp>
            <p:nvSpPr>
              <p:cNvPr id="151" name="Oval 147"/>
              <p:cNvSpPr>
                <a:spLocks noChangeArrowheads="1"/>
              </p:cNvSpPr>
              <p:nvPr/>
            </p:nvSpPr>
            <p:spPr bwMode="auto">
              <a:xfrm>
                <a:off x="1824" y="211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2" name="Oval 148"/>
              <p:cNvSpPr>
                <a:spLocks noChangeArrowheads="1"/>
              </p:cNvSpPr>
              <p:nvPr/>
            </p:nvSpPr>
            <p:spPr bwMode="auto">
              <a:xfrm>
                <a:off x="1824" y="244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3" name="Oval 149"/>
              <p:cNvSpPr>
                <a:spLocks noChangeArrowheads="1"/>
              </p:cNvSpPr>
              <p:nvPr/>
            </p:nvSpPr>
            <p:spPr bwMode="auto">
              <a:xfrm>
                <a:off x="1824" y="283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4" name="Oval 150"/>
              <p:cNvSpPr>
                <a:spLocks noChangeArrowheads="1"/>
              </p:cNvSpPr>
              <p:nvPr/>
            </p:nvSpPr>
            <p:spPr bwMode="auto">
              <a:xfrm>
                <a:off x="1824" y="316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5" name="Oval 151"/>
              <p:cNvSpPr>
                <a:spLocks noChangeArrowheads="1"/>
              </p:cNvSpPr>
              <p:nvPr/>
            </p:nvSpPr>
            <p:spPr bwMode="auto">
              <a:xfrm>
                <a:off x="960" y="345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6" name="Oval 152"/>
              <p:cNvSpPr>
                <a:spLocks noChangeArrowheads="1"/>
              </p:cNvSpPr>
              <p:nvPr/>
            </p:nvSpPr>
            <p:spPr bwMode="auto">
              <a:xfrm>
                <a:off x="960" y="374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7" name="Oval 153"/>
              <p:cNvSpPr>
                <a:spLocks noChangeArrowheads="1"/>
              </p:cNvSpPr>
              <p:nvPr/>
            </p:nvSpPr>
            <p:spPr bwMode="auto">
              <a:xfrm>
                <a:off x="960" y="403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8" name="Oval 154"/>
              <p:cNvSpPr>
                <a:spLocks noChangeArrowheads="1"/>
              </p:cNvSpPr>
              <p:nvPr/>
            </p:nvSpPr>
            <p:spPr bwMode="auto">
              <a:xfrm>
                <a:off x="2640" y="340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9" name="Oval 155"/>
              <p:cNvSpPr>
                <a:spLocks noChangeArrowheads="1"/>
              </p:cNvSpPr>
              <p:nvPr/>
            </p:nvSpPr>
            <p:spPr bwMode="auto">
              <a:xfrm>
                <a:off x="2640" y="374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0" name="Oval 156"/>
              <p:cNvSpPr>
                <a:spLocks noChangeArrowheads="1"/>
              </p:cNvSpPr>
              <p:nvPr/>
            </p:nvSpPr>
            <p:spPr bwMode="auto">
              <a:xfrm>
                <a:off x="2640" y="403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1" name="Line 157"/>
              <p:cNvSpPr>
                <a:spLocks noChangeShapeType="1"/>
              </p:cNvSpPr>
              <p:nvPr/>
            </p:nvSpPr>
            <p:spPr bwMode="auto">
              <a:xfrm>
                <a:off x="1872" y="2208"/>
                <a:ext cx="0"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62" name="Line 158"/>
              <p:cNvSpPr>
                <a:spLocks noChangeShapeType="1"/>
              </p:cNvSpPr>
              <p:nvPr/>
            </p:nvSpPr>
            <p:spPr bwMode="auto">
              <a:xfrm>
                <a:off x="1872" y="2544"/>
                <a:ext cx="0"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63" name="Line 159"/>
              <p:cNvSpPr>
                <a:spLocks noChangeShapeType="1"/>
              </p:cNvSpPr>
              <p:nvPr/>
            </p:nvSpPr>
            <p:spPr bwMode="auto">
              <a:xfrm>
                <a:off x="1872" y="2928"/>
                <a:ext cx="0"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64" name="Line 160"/>
              <p:cNvSpPr>
                <a:spLocks noChangeShapeType="1"/>
              </p:cNvSpPr>
              <p:nvPr/>
            </p:nvSpPr>
            <p:spPr bwMode="auto">
              <a:xfrm flipH="1">
                <a:off x="1056" y="3216"/>
                <a:ext cx="768"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65" name="Line 161"/>
              <p:cNvSpPr>
                <a:spLocks noChangeShapeType="1"/>
              </p:cNvSpPr>
              <p:nvPr/>
            </p:nvSpPr>
            <p:spPr bwMode="auto">
              <a:xfrm>
                <a:off x="1008" y="3552"/>
                <a:ext cx="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66" name="Line 162"/>
              <p:cNvSpPr>
                <a:spLocks noChangeShapeType="1"/>
              </p:cNvSpPr>
              <p:nvPr/>
            </p:nvSpPr>
            <p:spPr bwMode="auto">
              <a:xfrm>
                <a:off x="1008" y="3840"/>
                <a:ext cx="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67" name="Freeform 163"/>
              <p:cNvSpPr>
                <a:spLocks/>
              </p:cNvSpPr>
              <p:nvPr/>
            </p:nvSpPr>
            <p:spPr bwMode="auto">
              <a:xfrm>
                <a:off x="1920" y="3216"/>
                <a:ext cx="705" cy="225"/>
              </a:xfrm>
              <a:custGeom>
                <a:avLst/>
                <a:gdLst>
                  <a:gd name="T0" fmla="*/ 0 w 705"/>
                  <a:gd name="T1" fmla="*/ 0 h 225"/>
                  <a:gd name="T2" fmla="*/ 705 w 705"/>
                  <a:gd name="T3" fmla="*/ 225 h 225"/>
                  <a:gd name="T4" fmla="*/ 0 60000 65536"/>
                  <a:gd name="T5" fmla="*/ 0 60000 65536"/>
                </a:gdLst>
                <a:ahLst/>
                <a:cxnLst>
                  <a:cxn ang="T4">
                    <a:pos x="T0" y="T1"/>
                  </a:cxn>
                  <a:cxn ang="T5">
                    <a:pos x="T2" y="T3"/>
                  </a:cxn>
                </a:cxnLst>
                <a:rect l="0" t="0" r="r" b="b"/>
                <a:pathLst>
                  <a:path w="705" h="225">
                    <a:moveTo>
                      <a:pt x="0" y="0"/>
                    </a:moveTo>
                    <a:lnTo>
                      <a:pt x="705" y="225"/>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68" name="Line 164"/>
              <p:cNvSpPr>
                <a:spLocks noChangeShapeType="1"/>
              </p:cNvSpPr>
              <p:nvPr/>
            </p:nvSpPr>
            <p:spPr bwMode="auto">
              <a:xfrm>
                <a:off x="2688" y="3504"/>
                <a:ext cx="0"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69" name="Line 165"/>
              <p:cNvSpPr>
                <a:spLocks noChangeShapeType="1"/>
              </p:cNvSpPr>
              <p:nvPr/>
            </p:nvSpPr>
            <p:spPr bwMode="auto">
              <a:xfrm>
                <a:off x="2688" y="3840"/>
                <a:ext cx="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0" name="Freeform 166"/>
              <p:cNvSpPr>
                <a:spLocks/>
              </p:cNvSpPr>
              <p:nvPr/>
            </p:nvSpPr>
            <p:spPr bwMode="auto">
              <a:xfrm>
                <a:off x="1082" y="3792"/>
                <a:ext cx="1558" cy="1"/>
              </a:xfrm>
              <a:custGeom>
                <a:avLst/>
                <a:gdLst>
                  <a:gd name="T0" fmla="*/ 1558 w 1558"/>
                  <a:gd name="T1" fmla="*/ 0 h 1"/>
                  <a:gd name="T2" fmla="*/ 0 w 1558"/>
                  <a:gd name="T3" fmla="*/ 0 h 1"/>
                  <a:gd name="T4" fmla="*/ 0 60000 65536"/>
                  <a:gd name="T5" fmla="*/ 0 60000 65536"/>
                </a:gdLst>
                <a:ahLst/>
                <a:cxnLst>
                  <a:cxn ang="T4">
                    <a:pos x="T0" y="T1"/>
                  </a:cxn>
                  <a:cxn ang="T5">
                    <a:pos x="T2" y="T3"/>
                  </a:cxn>
                </a:cxnLst>
                <a:rect l="0" t="0" r="r" b="b"/>
                <a:pathLst>
                  <a:path w="1558" h="1">
                    <a:moveTo>
                      <a:pt x="1558" y="0"/>
                    </a:moveTo>
                    <a:lnTo>
                      <a:pt x="0" y="0"/>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1" name="Line 167"/>
              <p:cNvSpPr>
                <a:spLocks noChangeShapeType="1"/>
              </p:cNvSpPr>
              <p:nvPr/>
            </p:nvSpPr>
            <p:spPr bwMode="auto">
              <a:xfrm flipH="1">
                <a:off x="1056" y="3264"/>
                <a:ext cx="768" cy="480"/>
              </a:xfrm>
              <a:prstGeom prst="line">
                <a:avLst/>
              </a:prstGeom>
              <a:noFill/>
              <a:ln w="12700">
                <a:solidFill>
                  <a:srgbClr val="96969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2" name="Line 168"/>
              <p:cNvSpPr>
                <a:spLocks noChangeShapeType="1"/>
              </p:cNvSpPr>
              <p:nvPr/>
            </p:nvSpPr>
            <p:spPr bwMode="auto">
              <a:xfrm>
                <a:off x="1920" y="3264"/>
                <a:ext cx="720" cy="480"/>
              </a:xfrm>
              <a:prstGeom prst="line">
                <a:avLst/>
              </a:prstGeom>
              <a:noFill/>
              <a:ln w="12700">
                <a:solidFill>
                  <a:srgbClr val="96969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3" name="Freeform 169"/>
              <p:cNvSpPr>
                <a:spLocks/>
              </p:cNvSpPr>
              <p:nvPr/>
            </p:nvSpPr>
            <p:spPr bwMode="auto">
              <a:xfrm>
                <a:off x="1923" y="2196"/>
                <a:ext cx="101" cy="656"/>
              </a:xfrm>
              <a:custGeom>
                <a:avLst/>
                <a:gdLst>
                  <a:gd name="T0" fmla="*/ 0 w 101"/>
                  <a:gd name="T1" fmla="*/ 0 h 656"/>
                  <a:gd name="T2" fmla="*/ 100 w 101"/>
                  <a:gd name="T3" fmla="*/ 325 h 656"/>
                  <a:gd name="T4" fmla="*/ 7 w 101"/>
                  <a:gd name="T5" fmla="*/ 656 h 656"/>
                  <a:gd name="T6" fmla="*/ 0 60000 65536"/>
                  <a:gd name="T7" fmla="*/ 0 60000 65536"/>
                  <a:gd name="T8" fmla="*/ 0 60000 65536"/>
                </a:gdLst>
                <a:ahLst/>
                <a:cxnLst>
                  <a:cxn ang="T6">
                    <a:pos x="T0" y="T1"/>
                  </a:cxn>
                  <a:cxn ang="T7">
                    <a:pos x="T2" y="T3"/>
                  </a:cxn>
                  <a:cxn ang="T8">
                    <a:pos x="T4" y="T5"/>
                  </a:cxn>
                </a:cxnLst>
                <a:rect l="0" t="0" r="r" b="b"/>
                <a:pathLst>
                  <a:path w="101" h="656">
                    <a:moveTo>
                      <a:pt x="0" y="0"/>
                    </a:moveTo>
                    <a:cubicBezTo>
                      <a:pt x="17" y="55"/>
                      <a:pt x="99" y="216"/>
                      <a:pt x="100" y="325"/>
                    </a:cubicBezTo>
                    <a:cubicBezTo>
                      <a:pt x="101" y="434"/>
                      <a:pt x="27" y="587"/>
                      <a:pt x="7" y="656"/>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4" name="Freeform 170"/>
              <p:cNvSpPr>
                <a:spLocks/>
              </p:cNvSpPr>
              <p:nvPr/>
            </p:nvSpPr>
            <p:spPr bwMode="auto">
              <a:xfrm>
                <a:off x="1734" y="2547"/>
                <a:ext cx="116" cy="629"/>
              </a:xfrm>
              <a:custGeom>
                <a:avLst/>
                <a:gdLst>
                  <a:gd name="T0" fmla="*/ 116 w 116"/>
                  <a:gd name="T1" fmla="*/ 0 h 629"/>
                  <a:gd name="T2" fmla="*/ 4 w 116"/>
                  <a:gd name="T3" fmla="*/ 311 h 629"/>
                  <a:gd name="T4" fmla="*/ 90 w 116"/>
                  <a:gd name="T5" fmla="*/ 629 h 629"/>
                  <a:gd name="T6" fmla="*/ 0 60000 65536"/>
                  <a:gd name="T7" fmla="*/ 0 60000 65536"/>
                  <a:gd name="T8" fmla="*/ 0 60000 65536"/>
                </a:gdLst>
                <a:ahLst/>
                <a:cxnLst>
                  <a:cxn ang="T6">
                    <a:pos x="T0" y="T1"/>
                  </a:cxn>
                  <a:cxn ang="T7">
                    <a:pos x="T2" y="T3"/>
                  </a:cxn>
                  <a:cxn ang="T8">
                    <a:pos x="T4" y="T5"/>
                  </a:cxn>
                </a:cxnLst>
                <a:rect l="0" t="0" r="r" b="b"/>
                <a:pathLst>
                  <a:path w="116" h="629">
                    <a:moveTo>
                      <a:pt x="116" y="0"/>
                    </a:moveTo>
                    <a:cubicBezTo>
                      <a:pt x="97" y="51"/>
                      <a:pt x="8" y="206"/>
                      <a:pt x="4" y="311"/>
                    </a:cubicBezTo>
                    <a:cubicBezTo>
                      <a:pt x="0" y="416"/>
                      <a:pt x="72" y="563"/>
                      <a:pt x="90" y="629"/>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5" name="Freeform 171"/>
              <p:cNvSpPr>
                <a:spLocks/>
              </p:cNvSpPr>
              <p:nvPr/>
            </p:nvSpPr>
            <p:spPr bwMode="auto">
              <a:xfrm>
                <a:off x="1043" y="2544"/>
                <a:ext cx="781" cy="904"/>
              </a:xfrm>
              <a:custGeom>
                <a:avLst/>
                <a:gdLst>
                  <a:gd name="T0" fmla="*/ 781 w 781"/>
                  <a:gd name="T1" fmla="*/ 0 h 904"/>
                  <a:gd name="T2" fmla="*/ 0 w 781"/>
                  <a:gd name="T3" fmla="*/ 904 h 904"/>
                  <a:gd name="T4" fmla="*/ 0 60000 65536"/>
                  <a:gd name="T5" fmla="*/ 0 60000 65536"/>
                </a:gdLst>
                <a:ahLst/>
                <a:cxnLst>
                  <a:cxn ang="T4">
                    <a:pos x="T0" y="T1"/>
                  </a:cxn>
                  <a:cxn ang="T5">
                    <a:pos x="T2" y="T3"/>
                  </a:cxn>
                </a:cxnLst>
                <a:rect l="0" t="0" r="r" b="b"/>
                <a:pathLst>
                  <a:path w="781" h="904">
                    <a:moveTo>
                      <a:pt x="781" y="0"/>
                    </a:moveTo>
                    <a:lnTo>
                      <a:pt x="0" y="904"/>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6" name="Freeform 172"/>
              <p:cNvSpPr>
                <a:spLocks/>
              </p:cNvSpPr>
              <p:nvPr/>
            </p:nvSpPr>
            <p:spPr bwMode="auto">
              <a:xfrm>
                <a:off x="830" y="3540"/>
                <a:ext cx="133" cy="510"/>
              </a:xfrm>
              <a:custGeom>
                <a:avLst/>
                <a:gdLst>
                  <a:gd name="T0" fmla="*/ 133 w 133"/>
                  <a:gd name="T1" fmla="*/ 510 h 510"/>
                  <a:gd name="T2" fmla="*/ 1 w 133"/>
                  <a:gd name="T3" fmla="*/ 285 h 510"/>
                  <a:gd name="T4" fmla="*/ 127 w 133"/>
                  <a:gd name="T5" fmla="*/ 0 h 510"/>
                  <a:gd name="T6" fmla="*/ 0 60000 65536"/>
                  <a:gd name="T7" fmla="*/ 0 60000 65536"/>
                  <a:gd name="T8" fmla="*/ 0 60000 65536"/>
                </a:gdLst>
                <a:ahLst/>
                <a:cxnLst>
                  <a:cxn ang="T6">
                    <a:pos x="T0" y="T1"/>
                  </a:cxn>
                  <a:cxn ang="T7">
                    <a:pos x="T2" y="T3"/>
                  </a:cxn>
                  <a:cxn ang="T8">
                    <a:pos x="T4" y="T5"/>
                  </a:cxn>
                </a:cxnLst>
                <a:rect l="0" t="0" r="r" b="b"/>
                <a:pathLst>
                  <a:path w="133" h="510">
                    <a:moveTo>
                      <a:pt x="133" y="510"/>
                    </a:moveTo>
                    <a:cubicBezTo>
                      <a:pt x="110" y="471"/>
                      <a:pt x="2" y="370"/>
                      <a:pt x="1" y="285"/>
                    </a:cubicBezTo>
                    <a:cubicBezTo>
                      <a:pt x="0" y="200"/>
                      <a:pt x="101" y="59"/>
                      <a:pt x="127" y="0"/>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7" name="Freeform 173"/>
              <p:cNvSpPr>
                <a:spLocks/>
              </p:cNvSpPr>
              <p:nvPr/>
            </p:nvSpPr>
            <p:spPr bwMode="auto">
              <a:xfrm>
                <a:off x="2731" y="3501"/>
                <a:ext cx="115" cy="543"/>
              </a:xfrm>
              <a:custGeom>
                <a:avLst/>
                <a:gdLst>
                  <a:gd name="T0" fmla="*/ 0 w 115"/>
                  <a:gd name="T1" fmla="*/ 543 h 543"/>
                  <a:gd name="T2" fmla="*/ 113 w 115"/>
                  <a:gd name="T3" fmla="*/ 291 h 543"/>
                  <a:gd name="T4" fmla="*/ 13 w 115"/>
                  <a:gd name="T5" fmla="*/ 0 h 543"/>
                  <a:gd name="T6" fmla="*/ 0 60000 65536"/>
                  <a:gd name="T7" fmla="*/ 0 60000 65536"/>
                  <a:gd name="T8" fmla="*/ 0 60000 65536"/>
                </a:gdLst>
                <a:ahLst/>
                <a:cxnLst>
                  <a:cxn ang="T6">
                    <a:pos x="T0" y="T1"/>
                  </a:cxn>
                  <a:cxn ang="T7">
                    <a:pos x="T2" y="T3"/>
                  </a:cxn>
                  <a:cxn ang="T8">
                    <a:pos x="T4" y="T5"/>
                  </a:cxn>
                </a:cxnLst>
                <a:rect l="0" t="0" r="r" b="b"/>
                <a:pathLst>
                  <a:path w="115" h="543">
                    <a:moveTo>
                      <a:pt x="0" y="543"/>
                    </a:moveTo>
                    <a:cubicBezTo>
                      <a:pt x="19" y="502"/>
                      <a:pt x="111" y="381"/>
                      <a:pt x="113" y="291"/>
                    </a:cubicBezTo>
                    <a:cubicBezTo>
                      <a:pt x="115" y="201"/>
                      <a:pt x="34" y="61"/>
                      <a:pt x="13" y="0"/>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 name="Freeform 174"/>
              <p:cNvSpPr>
                <a:spLocks/>
              </p:cNvSpPr>
              <p:nvPr/>
            </p:nvSpPr>
            <p:spPr bwMode="auto">
              <a:xfrm>
                <a:off x="1920" y="2928"/>
                <a:ext cx="738" cy="467"/>
              </a:xfrm>
              <a:custGeom>
                <a:avLst/>
                <a:gdLst>
                  <a:gd name="T0" fmla="*/ 0 w 738"/>
                  <a:gd name="T1" fmla="*/ 0 h 467"/>
                  <a:gd name="T2" fmla="*/ 738 w 738"/>
                  <a:gd name="T3" fmla="*/ 467 h 467"/>
                  <a:gd name="T4" fmla="*/ 0 60000 65536"/>
                  <a:gd name="T5" fmla="*/ 0 60000 65536"/>
                </a:gdLst>
                <a:ahLst/>
                <a:cxnLst>
                  <a:cxn ang="T4">
                    <a:pos x="T0" y="T1"/>
                  </a:cxn>
                  <a:cxn ang="T5">
                    <a:pos x="T2" y="T3"/>
                  </a:cxn>
                </a:cxnLst>
                <a:rect l="0" t="0" r="r" b="b"/>
                <a:pathLst>
                  <a:path w="738" h="467">
                    <a:moveTo>
                      <a:pt x="0" y="0"/>
                    </a:moveTo>
                    <a:lnTo>
                      <a:pt x="738" y="467"/>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9" name="Text Box 175"/>
              <p:cNvSpPr txBox="1">
                <a:spLocks noChangeArrowheads="1"/>
              </p:cNvSpPr>
              <p:nvPr/>
            </p:nvSpPr>
            <p:spPr bwMode="auto">
              <a:xfrm>
                <a:off x="1680" y="201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a</a:t>
                </a:r>
              </a:p>
            </p:txBody>
          </p:sp>
          <p:sp>
            <p:nvSpPr>
              <p:cNvPr id="180" name="Text Box 176"/>
              <p:cNvSpPr txBox="1">
                <a:spLocks noChangeArrowheads="1"/>
              </p:cNvSpPr>
              <p:nvPr/>
            </p:nvSpPr>
            <p:spPr bwMode="auto">
              <a:xfrm>
                <a:off x="1676" y="235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b</a:t>
                </a:r>
              </a:p>
            </p:txBody>
          </p:sp>
          <p:sp>
            <p:nvSpPr>
              <p:cNvPr id="181" name="Text Box 177"/>
              <p:cNvSpPr txBox="1">
                <a:spLocks noChangeArrowheads="1"/>
              </p:cNvSpPr>
              <p:nvPr/>
            </p:nvSpPr>
            <p:spPr bwMode="auto">
              <a:xfrm>
                <a:off x="1920" y="273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c</a:t>
                </a:r>
              </a:p>
            </p:txBody>
          </p:sp>
          <p:sp>
            <p:nvSpPr>
              <p:cNvPr id="182" name="Text Box 178"/>
              <p:cNvSpPr txBox="1">
                <a:spLocks noChangeArrowheads="1"/>
              </p:cNvSpPr>
              <p:nvPr/>
            </p:nvSpPr>
            <p:spPr bwMode="auto">
              <a:xfrm>
                <a:off x="1776" y="321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e</a:t>
                </a:r>
              </a:p>
            </p:txBody>
          </p:sp>
          <p:sp>
            <p:nvSpPr>
              <p:cNvPr id="183" name="Text Box 179"/>
              <p:cNvSpPr txBox="1">
                <a:spLocks noChangeArrowheads="1"/>
              </p:cNvSpPr>
              <p:nvPr/>
            </p:nvSpPr>
            <p:spPr bwMode="auto">
              <a:xfrm>
                <a:off x="764" y="336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d</a:t>
                </a:r>
              </a:p>
            </p:txBody>
          </p:sp>
          <p:sp>
            <p:nvSpPr>
              <p:cNvPr id="184" name="Text Box 180"/>
              <p:cNvSpPr txBox="1">
                <a:spLocks noChangeArrowheads="1"/>
              </p:cNvSpPr>
              <p:nvPr/>
            </p:nvSpPr>
            <p:spPr bwMode="auto">
              <a:xfrm>
                <a:off x="1004" y="374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h</a:t>
                </a:r>
              </a:p>
            </p:txBody>
          </p:sp>
          <p:sp>
            <p:nvSpPr>
              <p:cNvPr id="185" name="Text Box 181"/>
              <p:cNvSpPr txBox="1">
                <a:spLocks noChangeArrowheads="1"/>
              </p:cNvSpPr>
              <p:nvPr/>
            </p:nvSpPr>
            <p:spPr bwMode="auto">
              <a:xfrm>
                <a:off x="1004" y="398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g</a:t>
                </a:r>
              </a:p>
            </p:txBody>
          </p:sp>
          <p:sp>
            <p:nvSpPr>
              <p:cNvPr id="186" name="Text Box 182"/>
              <p:cNvSpPr txBox="1">
                <a:spLocks noChangeArrowheads="1"/>
              </p:cNvSpPr>
              <p:nvPr/>
            </p:nvSpPr>
            <p:spPr bwMode="auto">
              <a:xfrm>
                <a:off x="2696" y="3264"/>
                <a:ext cx="16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f</a:t>
                </a:r>
              </a:p>
            </p:txBody>
          </p:sp>
          <p:sp>
            <p:nvSpPr>
              <p:cNvPr id="187" name="Text Box 183"/>
              <p:cNvSpPr txBox="1">
                <a:spLocks noChangeArrowheads="1"/>
              </p:cNvSpPr>
              <p:nvPr/>
            </p:nvSpPr>
            <p:spPr bwMode="auto">
              <a:xfrm>
                <a:off x="2508" y="374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i</a:t>
                </a:r>
              </a:p>
            </p:txBody>
          </p:sp>
          <p:sp>
            <p:nvSpPr>
              <p:cNvPr id="188" name="Text Box 184"/>
              <p:cNvSpPr txBox="1">
                <a:spLocks noChangeArrowheads="1"/>
              </p:cNvSpPr>
              <p:nvPr/>
            </p:nvSpPr>
            <p:spPr bwMode="auto">
              <a:xfrm>
                <a:off x="2508" y="398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j</a:t>
                </a:r>
              </a:p>
            </p:txBody>
          </p:sp>
          <p:sp>
            <p:nvSpPr>
              <p:cNvPr id="189" name="Text Box 185"/>
              <p:cNvSpPr txBox="1">
                <a:spLocks noChangeArrowheads="1"/>
              </p:cNvSpPr>
              <p:nvPr/>
            </p:nvSpPr>
            <p:spPr bwMode="auto">
              <a:xfrm>
                <a:off x="779" y="2256"/>
                <a:ext cx="726"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dirty="0">
                    <a:solidFill>
                      <a:schemeClr val="tx2"/>
                    </a:solidFill>
                    <a:latin typeface="Arial" pitchFamily="34" charset="0"/>
                  </a:rPr>
                  <a:t>DFS(G):</a:t>
                </a:r>
              </a:p>
            </p:txBody>
          </p:sp>
        </p:grpSp>
      </p:grpSp>
      <p:grpSp>
        <p:nvGrpSpPr>
          <p:cNvPr id="3" name="Group 2"/>
          <p:cNvGrpSpPr/>
          <p:nvPr/>
        </p:nvGrpSpPr>
        <p:grpSpPr>
          <a:xfrm>
            <a:off x="5257800" y="76200"/>
            <a:ext cx="3670300" cy="2921000"/>
            <a:chOff x="5257800" y="76200"/>
            <a:chExt cx="3670300" cy="2921000"/>
          </a:xfrm>
        </p:grpSpPr>
        <p:sp>
          <p:nvSpPr>
            <p:cNvPr id="190" name="Freeform 133"/>
            <p:cNvSpPr>
              <a:spLocks/>
            </p:cNvSpPr>
            <p:nvPr/>
          </p:nvSpPr>
          <p:spPr bwMode="auto">
            <a:xfrm>
              <a:off x="7086600" y="1371600"/>
              <a:ext cx="1841500" cy="1625600"/>
            </a:xfrm>
            <a:custGeom>
              <a:avLst/>
              <a:gdLst>
                <a:gd name="T0" fmla="*/ 9525 w 1160"/>
                <a:gd name="T1" fmla="*/ 1171575 h 1024"/>
                <a:gd name="T2" fmla="*/ 303213 w 1160"/>
                <a:gd name="T3" fmla="*/ 1601788 h 1024"/>
                <a:gd name="T4" fmla="*/ 1670050 w 1160"/>
                <a:gd name="T5" fmla="*/ 1317625 h 1024"/>
                <a:gd name="T6" fmla="*/ 1333500 w 1160"/>
                <a:gd name="T7" fmla="*/ 203200 h 1024"/>
                <a:gd name="T8" fmla="*/ 703263 w 1160"/>
                <a:gd name="T9" fmla="*/ 98425 h 1024"/>
                <a:gd name="T10" fmla="*/ 357188 w 1160"/>
                <a:gd name="T11" fmla="*/ 655638 h 1024"/>
                <a:gd name="T12" fmla="*/ 9525 w 1160"/>
                <a:gd name="T13" fmla="*/ 1171575 h 10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60" h="1024">
                  <a:moveTo>
                    <a:pt x="6" y="738"/>
                  </a:moveTo>
                  <a:cubicBezTo>
                    <a:pt x="0" y="837"/>
                    <a:pt x="17" y="994"/>
                    <a:pt x="191" y="1009"/>
                  </a:cubicBezTo>
                  <a:cubicBezTo>
                    <a:pt x="365" y="1024"/>
                    <a:pt x="944" y="977"/>
                    <a:pt x="1052" y="830"/>
                  </a:cubicBezTo>
                  <a:cubicBezTo>
                    <a:pt x="1160" y="683"/>
                    <a:pt x="941" y="256"/>
                    <a:pt x="840" y="128"/>
                  </a:cubicBezTo>
                  <a:cubicBezTo>
                    <a:pt x="739" y="0"/>
                    <a:pt x="545" y="15"/>
                    <a:pt x="443" y="62"/>
                  </a:cubicBezTo>
                  <a:cubicBezTo>
                    <a:pt x="341" y="109"/>
                    <a:pt x="298" y="300"/>
                    <a:pt x="225" y="413"/>
                  </a:cubicBezTo>
                  <a:cubicBezTo>
                    <a:pt x="152" y="526"/>
                    <a:pt x="9" y="646"/>
                    <a:pt x="6" y="738"/>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nvGrpSpPr>
            <p:cNvPr id="2" name="Group 1"/>
            <p:cNvGrpSpPr/>
            <p:nvPr/>
          </p:nvGrpSpPr>
          <p:grpSpPr>
            <a:xfrm>
              <a:off x="5257800" y="76200"/>
              <a:ext cx="2651125" cy="2905125"/>
              <a:chOff x="5257800" y="76200"/>
              <a:chExt cx="2651125" cy="2905125"/>
            </a:xfrm>
          </p:grpSpPr>
          <p:sp>
            <p:nvSpPr>
              <p:cNvPr id="191" name="Freeform 134"/>
              <p:cNvSpPr>
                <a:spLocks/>
              </p:cNvSpPr>
              <p:nvPr/>
            </p:nvSpPr>
            <p:spPr bwMode="auto">
              <a:xfrm>
                <a:off x="5257800" y="1447800"/>
                <a:ext cx="1608138" cy="1533525"/>
              </a:xfrm>
              <a:custGeom>
                <a:avLst/>
                <a:gdLst>
                  <a:gd name="T0" fmla="*/ 101600 w 1013"/>
                  <a:gd name="T1" fmla="*/ 1316038 h 966"/>
                  <a:gd name="T2" fmla="*/ 868363 w 1013"/>
                  <a:gd name="T3" fmla="*/ 1525588 h 966"/>
                  <a:gd name="T4" fmla="*/ 1550988 w 1013"/>
                  <a:gd name="T5" fmla="*/ 1263650 h 966"/>
                  <a:gd name="T6" fmla="*/ 1214438 w 1013"/>
                  <a:gd name="T7" fmla="*/ 642938 h 966"/>
                  <a:gd name="T8" fmla="*/ 889000 w 1013"/>
                  <a:gd name="T9" fmla="*/ 22225 h 966"/>
                  <a:gd name="T10" fmla="*/ 258763 w 1013"/>
                  <a:gd name="T11" fmla="*/ 506413 h 966"/>
                  <a:gd name="T12" fmla="*/ 101600 w 1013"/>
                  <a:gd name="T13" fmla="*/ 1316038 h 9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13" h="966">
                    <a:moveTo>
                      <a:pt x="64" y="829"/>
                    </a:moveTo>
                    <a:cubicBezTo>
                      <a:pt x="128" y="936"/>
                      <a:pt x="395" y="966"/>
                      <a:pt x="547" y="961"/>
                    </a:cubicBezTo>
                    <a:cubicBezTo>
                      <a:pt x="699" y="956"/>
                      <a:pt x="941" y="889"/>
                      <a:pt x="977" y="796"/>
                    </a:cubicBezTo>
                    <a:cubicBezTo>
                      <a:pt x="1013" y="703"/>
                      <a:pt x="834" y="535"/>
                      <a:pt x="765" y="405"/>
                    </a:cubicBezTo>
                    <a:cubicBezTo>
                      <a:pt x="696" y="275"/>
                      <a:pt x="660" y="28"/>
                      <a:pt x="560" y="14"/>
                    </a:cubicBezTo>
                    <a:cubicBezTo>
                      <a:pt x="460" y="0"/>
                      <a:pt x="246" y="183"/>
                      <a:pt x="163" y="319"/>
                    </a:cubicBezTo>
                    <a:cubicBezTo>
                      <a:pt x="80" y="455"/>
                      <a:pt x="0" y="722"/>
                      <a:pt x="64" y="829"/>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2" name="Freeform 135"/>
              <p:cNvSpPr>
                <a:spLocks/>
              </p:cNvSpPr>
              <p:nvPr/>
            </p:nvSpPr>
            <p:spPr bwMode="auto">
              <a:xfrm>
                <a:off x="6553200" y="1371600"/>
                <a:ext cx="763588" cy="754063"/>
              </a:xfrm>
              <a:custGeom>
                <a:avLst/>
                <a:gdLst>
                  <a:gd name="T0" fmla="*/ 123825 w 481"/>
                  <a:gd name="T1" fmla="*/ 671513 h 475"/>
                  <a:gd name="T2" fmla="*/ 596900 w 481"/>
                  <a:gd name="T3" fmla="*/ 692150 h 475"/>
                  <a:gd name="T4" fmla="*/ 733425 w 481"/>
                  <a:gd name="T5" fmla="*/ 303213 h 475"/>
                  <a:gd name="T6" fmla="*/ 417513 w 481"/>
                  <a:gd name="T7" fmla="*/ 7938 h 475"/>
                  <a:gd name="T8" fmla="*/ 49213 w 481"/>
                  <a:gd name="T9" fmla="*/ 250825 h 475"/>
                  <a:gd name="T10" fmla="*/ 123825 w 481"/>
                  <a:gd name="T11" fmla="*/ 671513 h 47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1" h="475">
                    <a:moveTo>
                      <a:pt x="78" y="423"/>
                    </a:moveTo>
                    <a:cubicBezTo>
                      <a:pt x="135" y="469"/>
                      <a:pt x="312" y="475"/>
                      <a:pt x="376" y="436"/>
                    </a:cubicBezTo>
                    <a:cubicBezTo>
                      <a:pt x="440" y="397"/>
                      <a:pt x="481" y="263"/>
                      <a:pt x="462" y="191"/>
                    </a:cubicBezTo>
                    <a:cubicBezTo>
                      <a:pt x="443" y="119"/>
                      <a:pt x="335" y="10"/>
                      <a:pt x="263" y="5"/>
                    </a:cubicBezTo>
                    <a:cubicBezTo>
                      <a:pt x="191" y="0"/>
                      <a:pt x="62" y="88"/>
                      <a:pt x="31" y="158"/>
                    </a:cubicBezTo>
                    <a:cubicBezTo>
                      <a:pt x="0" y="228"/>
                      <a:pt x="21" y="377"/>
                      <a:pt x="78" y="423"/>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3" name="Freeform 136"/>
              <p:cNvSpPr>
                <a:spLocks/>
              </p:cNvSpPr>
              <p:nvPr/>
            </p:nvSpPr>
            <p:spPr bwMode="auto">
              <a:xfrm>
                <a:off x="6096000" y="76200"/>
                <a:ext cx="1812925" cy="1292225"/>
              </a:xfrm>
              <a:custGeom>
                <a:avLst/>
                <a:gdLst>
                  <a:gd name="T0" fmla="*/ 144463 w 1142"/>
                  <a:gd name="T1" fmla="*/ 1149350 h 814"/>
                  <a:gd name="T2" fmla="*/ 830263 w 1142"/>
                  <a:gd name="T3" fmla="*/ 1149350 h 814"/>
                  <a:gd name="T4" fmla="*/ 1668463 w 1142"/>
                  <a:gd name="T5" fmla="*/ 1225550 h 814"/>
                  <a:gd name="T6" fmla="*/ 1695450 w 1142"/>
                  <a:gd name="T7" fmla="*/ 749300 h 814"/>
                  <a:gd name="T8" fmla="*/ 982663 w 1142"/>
                  <a:gd name="T9" fmla="*/ 6350 h 814"/>
                  <a:gd name="T10" fmla="*/ 139700 w 1142"/>
                  <a:gd name="T11" fmla="*/ 708025 h 814"/>
                  <a:gd name="T12" fmla="*/ 144463 w 1142"/>
                  <a:gd name="T13" fmla="*/ 1149350 h 81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42" h="814">
                    <a:moveTo>
                      <a:pt x="91" y="724"/>
                    </a:moveTo>
                    <a:cubicBezTo>
                      <a:pt x="163" y="804"/>
                      <a:pt x="363" y="716"/>
                      <a:pt x="523" y="724"/>
                    </a:cubicBezTo>
                    <a:cubicBezTo>
                      <a:pt x="683" y="732"/>
                      <a:pt x="960" y="814"/>
                      <a:pt x="1051" y="772"/>
                    </a:cubicBezTo>
                    <a:cubicBezTo>
                      <a:pt x="1142" y="730"/>
                      <a:pt x="1140" y="600"/>
                      <a:pt x="1068" y="472"/>
                    </a:cubicBezTo>
                    <a:cubicBezTo>
                      <a:pt x="996" y="344"/>
                      <a:pt x="782" y="8"/>
                      <a:pt x="619" y="4"/>
                    </a:cubicBezTo>
                    <a:cubicBezTo>
                      <a:pt x="456" y="0"/>
                      <a:pt x="176" y="326"/>
                      <a:pt x="88" y="446"/>
                    </a:cubicBezTo>
                    <a:cubicBezTo>
                      <a:pt x="0" y="566"/>
                      <a:pt x="91" y="666"/>
                      <a:pt x="91" y="724"/>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grpSp>
      <p:grpSp>
        <p:nvGrpSpPr>
          <p:cNvPr id="194" name="Group 88"/>
          <p:cNvGrpSpPr>
            <a:grpSpLocks/>
          </p:cNvGrpSpPr>
          <p:nvPr/>
        </p:nvGrpSpPr>
        <p:grpSpPr bwMode="auto">
          <a:xfrm>
            <a:off x="5298281" y="117474"/>
            <a:ext cx="3135313" cy="2728913"/>
            <a:chOff x="3185" y="96"/>
            <a:chExt cx="1975" cy="1719"/>
          </a:xfrm>
        </p:grpSpPr>
        <p:grpSp>
          <p:nvGrpSpPr>
            <p:cNvPr id="195" name="Group 84"/>
            <p:cNvGrpSpPr>
              <a:grpSpLocks/>
            </p:cNvGrpSpPr>
            <p:nvPr/>
          </p:nvGrpSpPr>
          <p:grpSpPr bwMode="auto">
            <a:xfrm>
              <a:off x="3308" y="96"/>
              <a:ext cx="1852" cy="1719"/>
              <a:chOff x="3308" y="96"/>
              <a:chExt cx="1852" cy="1719"/>
            </a:xfrm>
          </p:grpSpPr>
          <p:sp>
            <p:nvSpPr>
              <p:cNvPr id="197" name="Oval 45"/>
              <p:cNvSpPr>
                <a:spLocks noChangeArrowheads="1"/>
              </p:cNvSpPr>
              <p:nvPr/>
            </p:nvSpPr>
            <p:spPr bwMode="auto">
              <a:xfrm>
                <a:off x="3360"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98" name="Oval 46"/>
              <p:cNvSpPr>
                <a:spLocks noChangeArrowheads="1"/>
              </p:cNvSpPr>
              <p:nvPr/>
            </p:nvSpPr>
            <p:spPr bwMode="auto">
              <a:xfrm>
                <a:off x="3936" y="6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99" name="Oval 47"/>
              <p:cNvSpPr>
                <a:spLocks noChangeArrowheads="1"/>
              </p:cNvSpPr>
              <p:nvPr/>
            </p:nvSpPr>
            <p:spPr bwMode="auto">
              <a:xfrm>
                <a:off x="4176" y="105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200" name="Oval 48"/>
              <p:cNvSpPr>
                <a:spLocks noChangeArrowheads="1"/>
              </p:cNvSpPr>
              <p:nvPr/>
            </p:nvSpPr>
            <p:spPr bwMode="auto">
              <a:xfrm>
                <a:off x="3648" y="105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201" name="Oval 49"/>
              <p:cNvSpPr>
                <a:spLocks noChangeArrowheads="1"/>
              </p:cNvSpPr>
              <p:nvPr/>
            </p:nvSpPr>
            <p:spPr bwMode="auto">
              <a:xfrm>
                <a:off x="3888"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202" name="Oval 50"/>
              <p:cNvSpPr>
                <a:spLocks noChangeArrowheads="1"/>
              </p:cNvSpPr>
              <p:nvPr/>
            </p:nvSpPr>
            <p:spPr bwMode="auto">
              <a:xfrm>
                <a:off x="4464"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203" name="Oval 51"/>
              <p:cNvSpPr>
                <a:spLocks noChangeArrowheads="1"/>
              </p:cNvSpPr>
              <p:nvPr/>
            </p:nvSpPr>
            <p:spPr bwMode="auto">
              <a:xfrm>
                <a:off x="4512" y="6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204" name="Oval 52"/>
              <p:cNvSpPr>
                <a:spLocks noChangeArrowheads="1"/>
              </p:cNvSpPr>
              <p:nvPr/>
            </p:nvSpPr>
            <p:spPr bwMode="auto">
              <a:xfrm>
                <a:off x="4752" y="105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205" name="Oval 53"/>
              <p:cNvSpPr>
                <a:spLocks noChangeArrowheads="1"/>
              </p:cNvSpPr>
              <p:nvPr/>
            </p:nvSpPr>
            <p:spPr bwMode="auto">
              <a:xfrm>
                <a:off x="4272" y="14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206" name="Oval 54"/>
              <p:cNvSpPr>
                <a:spLocks noChangeArrowheads="1"/>
              </p:cNvSpPr>
              <p:nvPr/>
            </p:nvSpPr>
            <p:spPr bwMode="auto">
              <a:xfrm>
                <a:off x="5040"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207" name="Freeform 55"/>
              <p:cNvSpPr>
                <a:spLocks/>
              </p:cNvSpPr>
              <p:nvPr/>
            </p:nvSpPr>
            <p:spPr bwMode="auto">
              <a:xfrm>
                <a:off x="4004" y="232"/>
                <a:ext cx="285" cy="397"/>
              </a:xfrm>
              <a:custGeom>
                <a:avLst/>
                <a:gdLst>
                  <a:gd name="T0" fmla="*/ 285 w 285"/>
                  <a:gd name="T1" fmla="*/ 0 h 397"/>
                  <a:gd name="T2" fmla="*/ 0 w 285"/>
                  <a:gd name="T3" fmla="*/ 397 h 397"/>
                  <a:gd name="T4" fmla="*/ 0 60000 65536"/>
                  <a:gd name="T5" fmla="*/ 0 60000 65536"/>
                </a:gdLst>
                <a:ahLst/>
                <a:cxnLst>
                  <a:cxn ang="T4">
                    <a:pos x="T0" y="T1"/>
                  </a:cxn>
                  <a:cxn ang="T5">
                    <a:pos x="T2" y="T3"/>
                  </a:cxn>
                </a:cxnLst>
                <a:rect l="0" t="0" r="r" b="b"/>
                <a:pathLst>
                  <a:path w="285" h="397">
                    <a:moveTo>
                      <a:pt x="285" y="0"/>
                    </a:moveTo>
                    <a:lnTo>
                      <a:pt x="0" y="397"/>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08" name="Freeform 56"/>
              <p:cNvSpPr>
                <a:spLocks/>
              </p:cNvSpPr>
              <p:nvPr/>
            </p:nvSpPr>
            <p:spPr bwMode="auto">
              <a:xfrm>
                <a:off x="3726" y="720"/>
                <a:ext cx="210" cy="333"/>
              </a:xfrm>
              <a:custGeom>
                <a:avLst/>
                <a:gdLst>
                  <a:gd name="T0" fmla="*/ 210 w 210"/>
                  <a:gd name="T1" fmla="*/ 0 h 333"/>
                  <a:gd name="T2" fmla="*/ 0 w 210"/>
                  <a:gd name="T3" fmla="*/ 333 h 333"/>
                  <a:gd name="T4" fmla="*/ 0 60000 65536"/>
                  <a:gd name="T5" fmla="*/ 0 60000 65536"/>
                </a:gdLst>
                <a:ahLst/>
                <a:cxnLst>
                  <a:cxn ang="T4">
                    <a:pos x="T0" y="T1"/>
                  </a:cxn>
                  <a:cxn ang="T5">
                    <a:pos x="T2" y="T3"/>
                  </a:cxn>
                </a:cxnLst>
                <a:rect l="0" t="0" r="r" b="b"/>
                <a:pathLst>
                  <a:path w="210" h="333">
                    <a:moveTo>
                      <a:pt x="210" y="0"/>
                    </a:moveTo>
                    <a:lnTo>
                      <a:pt x="0" y="333"/>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09" name="Freeform 57"/>
              <p:cNvSpPr>
                <a:spLocks/>
              </p:cNvSpPr>
              <p:nvPr/>
            </p:nvSpPr>
            <p:spPr bwMode="auto">
              <a:xfrm>
                <a:off x="3428" y="1145"/>
                <a:ext cx="238" cy="398"/>
              </a:xfrm>
              <a:custGeom>
                <a:avLst/>
                <a:gdLst>
                  <a:gd name="T0" fmla="*/ 0 w 238"/>
                  <a:gd name="T1" fmla="*/ 398 h 398"/>
                  <a:gd name="T2" fmla="*/ 238 w 238"/>
                  <a:gd name="T3" fmla="*/ 0 h 398"/>
                  <a:gd name="T4" fmla="*/ 0 60000 65536"/>
                  <a:gd name="T5" fmla="*/ 0 60000 65536"/>
                </a:gdLst>
                <a:ahLst/>
                <a:cxnLst>
                  <a:cxn ang="T4">
                    <a:pos x="T0" y="T1"/>
                  </a:cxn>
                  <a:cxn ang="T5">
                    <a:pos x="T2" y="T3"/>
                  </a:cxn>
                </a:cxnLst>
                <a:rect l="0" t="0" r="r" b="b"/>
                <a:pathLst>
                  <a:path w="238" h="398">
                    <a:moveTo>
                      <a:pt x="0" y="398"/>
                    </a:moveTo>
                    <a:lnTo>
                      <a:pt x="238" y="0"/>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10" name="Freeform 58"/>
              <p:cNvSpPr>
                <a:spLocks/>
              </p:cNvSpPr>
              <p:nvPr/>
            </p:nvSpPr>
            <p:spPr bwMode="auto">
              <a:xfrm>
                <a:off x="4335" y="232"/>
                <a:ext cx="199" cy="390"/>
              </a:xfrm>
              <a:custGeom>
                <a:avLst/>
                <a:gdLst>
                  <a:gd name="T0" fmla="*/ 199 w 199"/>
                  <a:gd name="T1" fmla="*/ 390 h 390"/>
                  <a:gd name="T2" fmla="*/ 0 w 199"/>
                  <a:gd name="T3" fmla="*/ 0 h 390"/>
                  <a:gd name="T4" fmla="*/ 0 60000 65536"/>
                  <a:gd name="T5" fmla="*/ 0 60000 65536"/>
                </a:gdLst>
                <a:ahLst/>
                <a:cxnLst>
                  <a:cxn ang="T4">
                    <a:pos x="T0" y="T1"/>
                  </a:cxn>
                  <a:cxn ang="T5">
                    <a:pos x="T2" y="T3"/>
                  </a:cxn>
                </a:cxnLst>
                <a:rect l="0" t="0" r="r" b="b"/>
                <a:pathLst>
                  <a:path w="199" h="390">
                    <a:moveTo>
                      <a:pt x="199" y="390"/>
                    </a:moveTo>
                    <a:lnTo>
                      <a:pt x="0" y="0"/>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11" name="Freeform 59"/>
              <p:cNvSpPr>
                <a:spLocks/>
              </p:cNvSpPr>
              <p:nvPr/>
            </p:nvSpPr>
            <p:spPr bwMode="auto">
              <a:xfrm>
                <a:off x="4030" y="673"/>
                <a:ext cx="482" cy="2"/>
              </a:xfrm>
              <a:custGeom>
                <a:avLst/>
                <a:gdLst>
                  <a:gd name="T0" fmla="*/ 0 w 482"/>
                  <a:gd name="T1" fmla="*/ 2 h 2"/>
                  <a:gd name="T2" fmla="*/ 482 w 482"/>
                  <a:gd name="T3" fmla="*/ 0 h 2"/>
                  <a:gd name="T4" fmla="*/ 0 60000 65536"/>
                  <a:gd name="T5" fmla="*/ 0 60000 65536"/>
                </a:gdLst>
                <a:ahLst/>
                <a:cxnLst>
                  <a:cxn ang="T4">
                    <a:pos x="T0" y="T1"/>
                  </a:cxn>
                  <a:cxn ang="T5">
                    <a:pos x="T2" y="T3"/>
                  </a:cxn>
                </a:cxnLst>
                <a:rect l="0" t="0" r="r" b="b"/>
                <a:pathLst>
                  <a:path w="482" h="2">
                    <a:moveTo>
                      <a:pt x="0" y="2"/>
                    </a:moveTo>
                    <a:lnTo>
                      <a:pt x="482" y="0"/>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12" name="Freeform 60"/>
              <p:cNvSpPr>
                <a:spLocks/>
              </p:cNvSpPr>
              <p:nvPr/>
            </p:nvSpPr>
            <p:spPr bwMode="auto">
              <a:xfrm>
                <a:off x="4269" y="708"/>
                <a:ext cx="258" cy="358"/>
              </a:xfrm>
              <a:custGeom>
                <a:avLst/>
                <a:gdLst>
                  <a:gd name="T0" fmla="*/ 258 w 258"/>
                  <a:gd name="T1" fmla="*/ 0 h 358"/>
                  <a:gd name="T2" fmla="*/ 0 w 258"/>
                  <a:gd name="T3" fmla="*/ 358 h 358"/>
                  <a:gd name="T4" fmla="*/ 0 60000 65536"/>
                  <a:gd name="T5" fmla="*/ 0 60000 65536"/>
                </a:gdLst>
                <a:ahLst/>
                <a:cxnLst>
                  <a:cxn ang="T4">
                    <a:pos x="T0" y="T1"/>
                  </a:cxn>
                  <a:cxn ang="T5">
                    <a:pos x="T2" y="T3"/>
                  </a:cxn>
                </a:cxnLst>
                <a:rect l="0" t="0" r="r" b="b"/>
                <a:pathLst>
                  <a:path w="258" h="358">
                    <a:moveTo>
                      <a:pt x="258" y="0"/>
                    </a:moveTo>
                    <a:lnTo>
                      <a:pt x="0" y="358"/>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13" name="Freeform 61"/>
              <p:cNvSpPr>
                <a:spLocks/>
              </p:cNvSpPr>
              <p:nvPr/>
            </p:nvSpPr>
            <p:spPr bwMode="auto">
              <a:xfrm>
                <a:off x="4004" y="708"/>
                <a:ext cx="185" cy="351"/>
              </a:xfrm>
              <a:custGeom>
                <a:avLst/>
                <a:gdLst>
                  <a:gd name="T0" fmla="*/ 0 w 185"/>
                  <a:gd name="T1" fmla="*/ 0 h 351"/>
                  <a:gd name="T2" fmla="*/ 185 w 185"/>
                  <a:gd name="T3" fmla="*/ 351 h 351"/>
                  <a:gd name="T4" fmla="*/ 0 60000 65536"/>
                  <a:gd name="T5" fmla="*/ 0 60000 65536"/>
                </a:gdLst>
                <a:ahLst/>
                <a:cxnLst>
                  <a:cxn ang="T4">
                    <a:pos x="T0" y="T1"/>
                  </a:cxn>
                  <a:cxn ang="T5">
                    <a:pos x="T2" y="T3"/>
                  </a:cxn>
                </a:cxnLst>
                <a:rect l="0" t="0" r="r" b="b"/>
                <a:pathLst>
                  <a:path w="185" h="351">
                    <a:moveTo>
                      <a:pt x="0" y="0"/>
                    </a:moveTo>
                    <a:lnTo>
                      <a:pt x="185" y="351"/>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14" name="Freeform 62"/>
              <p:cNvSpPr>
                <a:spLocks/>
              </p:cNvSpPr>
              <p:nvPr/>
            </p:nvSpPr>
            <p:spPr bwMode="auto">
              <a:xfrm>
                <a:off x="3744" y="1105"/>
                <a:ext cx="439" cy="1"/>
              </a:xfrm>
              <a:custGeom>
                <a:avLst/>
                <a:gdLst>
                  <a:gd name="T0" fmla="*/ 439 w 439"/>
                  <a:gd name="T1" fmla="*/ 1 h 1"/>
                  <a:gd name="T2" fmla="*/ 0 w 439"/>
                  <a:gd name="T3" fmla="*/ 0 h 1"/>
                  <a:gd name="T4" fmla="*/ 0 60000 65536"/>
                  <a:gd name="T5" fmla="*/ 0 60000 65536"/>
                </a:gdLst>
                <a:ahLst/>
                <a:cxnLst>
                  <a:cxn ang="T4">
                    <a:pos x="T0" y="T1"/>
                  </a:cxn>
                  <a:cxn ang="T5">
                    <a:pos x="T2" y="T3"/>
                  </a:cxn>
                </a:cxnLst>
                <a:rect l="0" t="0" r="r" b="b"/>
                <a:pathLst>
                  <a:path w="439" h="1">
                    <a:moveTo>
                      <a:pt x="439" y="1"/>
                    </a:moveTo>
                    <a:lnTo>
                      <a:pt x="0" y="0"/>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15" name="Freeform 63"/>
              <p:cNvSpPr>
                <a:spLocks/>
              </p:cNvSpPr>
              <p:nvPr/>
            </p:nvSpPr>
            <p:spPr bwMode="auto">
              <a:xfrm>
                <a:off x="3719" y="1145"/>
                <a:ext cx="199" cy="391"/>
              </a:xfrm>
              <a:custGeom>
                <a:avLst/>
                <a:gdLst>
                  <a:gd name="T0" fmla="*/ 0 w 199"/>
                  <a:gd name="T1" fmla="*/ 0 h 391"/>
                  <a:gd name="T2" fmla="*/ 199 w 199"/>
                  <a:gd name="T3" fmla="*/ 391 h 391"/>
                  <a:gd name="T4" fmla="*/ 0 60000 65536"/>
                  <a:gd name="T5" fmla="*/ 0 60000 65536"/>
                </a:gdLst>
                <a:ahLst/>
                <a:cxnLst>
                  <a:cxn ang="T4">
                    <a:pos x="T0" y="T1"/>
                  </a:cxn>
                  <a:cxn ang="T5">
                    <a:pos x="T2" y="T3"/>
                  </a:cxn>
                </a:cxnLst>
                <a:rect l="0" t="0" r="r" b="b"/>
                <a:pathLst>
                  <a:path w="199" h="391">
                    <a:moveTo>
                      <a:pt x="0" y="0"/>
                    </a:moveTo>
                    <a:lnTo>
                      <a:pt x="199" y="391"/>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16" name="Freeform 64"/>
              <p:cNvSpPr>
                <a:spLocks/>
              </p:cNvSpPr>
              <p:nvPr/>
            </p:nvSpPr>
            <p:spPr bwMode="auto">
              <a:xfrm>
                <a:off x="3461" y="1582"/>
                <a:ext cx="427" cy="2"/>
              </a:xfrm>
              <a:custGeom>
                <a:avLst/>
                <a:gdLst>
                  <a:gd name="T0" fmla="*/ 427 w 427"/>
                  <a:gd name="T1" fmla="*/ 2 h 2"/>
                  <a:gd name="T2" fmla="*/ 0 w 427"/>
                  <a:gd name="T3" fmla="*/ 0 h 2"/>
                  <a:gd name="T4" fmla="*/ 0 60000 65536"/>
                  <a:gd name="T5" fmla="*/ 0 60000 65536"/>
                </a:gdLst>
                <a:ahLst/>
                <a:cxnLst>
                  <a:cxn ang="T4">
                    <a:pos x="T0" y="T1"/>
                  </a:cxn>
                  <a:cxn ang="T5">
                    <a:pos x="T2" y="T3"/>
                  </a:cxn>
                </a:cxnLst>
                <a:rect l="0" t="0" r="r" b="b"/>
                <a:pathLst>
                  <a:path w="427" h="2">
                    <a:moveTo>
                      <a:pt x="427" y="2"/>
                    </a:moveTo>
                    <a:lnTo>
                      <a:pt x="0" y="0"/>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17" name="Line 65"/>
              <p:cNvSpPr>
                <a:spLocks noChangeShapeType="1"/>
              </p:cNvSpPr>
              <p:nvPr/>
            </p:nvSpPr>
            <p:spPr bwMode="auto">
              <a:xfrm flipH="1">
                <a:off x="3984" y="1584"/>
                <a:ext cx="48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18" name="Line 66"/>
              <p:cNvSpPr>
                <a:spLocks noChangeShapeType="1"/>
              </p:cNvSpPr>
              <p:nvPr/>
            </p:nvSpPr>
            <p:spPr bwMode="auto">
              <a:xfrm>
                <a:off x="4560" y="1584"/>
                <a:ext cx="48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19" name="Freeform 67"/>
              <p:cNvSpPr>
                <a:spLocks/>
              </p:cNvSpPr>
              <p:nvPr/>
            </p:nvSpPr>
            <p:spPr bwMode="auto">
              <a:xfrm>
                <a:off x="3964" y="1145"/>
                <a:ext cx="232" cy="391"/>
              </a:xfrm>
              <a:custGeom>
                <a:avLst/>
                <a:gdLst>
                  <a:gd name="T0" fmla="*/ 232 w 232"/>
                  <a:gd name="T1" fmla="*/ 0 h 391"/>
                  <a:gd name="T2" fmla="*/ 0 w 232"/>
                  <a:gd name="T3" fmla="*/ 391 h 391"/>
                  <a:gd name="T4" fmla="*/ 0 60000 65536"/>
                  <a:gd name="T5" fmla="*/ 0 60000 65536"/>
                </a:gdLst>
                <a:ahLst/>
                <a:cxnLst>
                  <a:cxn ang="T4">
                    <a:pos x="T0" y="T1"/>
                  </a:cxn>
                  <a:cxn ang="T5">
                    <a:pos x="T2" y="T3"/>
                  </a:cxn>
                </a:cxnLst>
                <a:rect l="0" t="0" r="r" b="b"/>
                <a:pathLst>
                  <a:path w="232" h="391">
                    <a:moveTo>
                      <a:pt x="232" y="0"/>
                    </a:moveTo>
                    <a:lnTo>
                      <a:pt x="0" y="391"/>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20" name="Freeform 68"/>
              <p:cNvSpPr>
                <a:spLocks/>
              </p:cNvSpPr>
              <p:nvPr/>
            </p:nvSpPr>
            <p:spPr bwMode="auto">
              <a:xfrm>
                <a:off x="4249" y="1139"/>
                <a:ext cx="238" cy="404"/>
              </a:xfrm>
              <a:custGeom>
                <a:avLst/>
                <a:gdLst>
                  <a:gd name="T0" fmla="*/ 0 w 238"/>
                  <a:gd name="T1" fmla="*/ 0 h 404"/>
                  <a:gd name="T2" fmla="*/ 238 w 238"/>
                  <a:gd name="T3" fmla="*/ 404 h 404"/>
                  <a:gd name="T4" fmla="*/ 0 60000 65536"/>
                  <a:gd name="T5" fmla="*/ 0 60000 65536"/>
                </a:gdLst>
                <a:ahLst/>
                <a:cxnLst>
                  <a:cxn ang="T4">
                    <a:pos x="T0" y="T1"/>
                  </a:cxn>
                  <a:cxn ang="T5">
                    <a:pos x="T2" y="T3"/>
                  </a:cxn>
                </a:cxnLst>
                <a:rect l="0" t="0" r="r" b="b"/>
                <a:pathLst>
                  <a:path w="238" h="404">
                    <a:moveTo>
                      <a:pt x="0" y="0"/>
                    </a:moveTo>
                    <a:lnTo>
                      <a:pt x="238" y="404"/>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21" name="Line 69"/>
              <p:cNvSpPr>
                <a:spLocks noChangeShapeType="1"/>
              </p:cNvSpPr>
              <p:nvPr/>
            </p:nvSpPr>
            <p:spPr bwMode="auto">
              <a:xfrm flipH="1">
                <a:off x="4512" y="1152"/>
                <a:ext cx="240" cy="384"/>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22" name="Freeform 70"/>
              <p:cNvSpPr>
                <a:spLocks/>
              </p:cNvSpPr>
              <p:nvPr/>
            </p:nvSpPr>
            <p:spPr bwMode="auto">
              <a:xfrm>
                <a:off x="4825" y="1152"/>
                <a:ext cx="245" cy="391"/>
              </a:xfrm>
              <a:custGeom>
                <a:avLst/>
                <a:gdLst>
                  <a:gd name="T0" fmla="*/ 245 w 245"/>
                  <a:gd name="T1" fmla="*/ 391 h 391"/>
                  <a:gd name="T2" fmla="*/ 0 w 245"/>
                  <a:gd name="T3" fmla="*/ 0 h 391"/>
                  <a:gd name="T4" fmla="*/ 0 60000 65536"/>
                  <a:gd name="T5" fmla="*/ 0 60000 65536"/>
                </a:gdLst>
                <a:ahLst/>
                <a:cxnLst>
                  <a:cxn ang="T4">
                    <a:pos x="T0" y="T1"/>
                  </a:cxn>
                  <a:cxn ang="T5">
                    <a:pos x="T2" y="T3"/>
                  </a:cxn>
                </a:cxnLst>
                <a:rect l="0" t="0" r="r" b="b"/>
                <a:pathLst>
                  <a:path w="245" h="391">
                    <a:moveTo>
                      <a:pt x="245" y="391"/>
                    </a:moveTo>
                    <a:lnTo>
                      <a:pt x="0" y="0"/>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23" name="Line 71"/>
              <p:cNvSpPr>
                <a:spLocks noChangeShapeType="1"/>
              </p:cNvSpPr>
              <p:nvPr/>
            </p:nvSpPr>
            <p:spPr bwMode="auto">
              <a:xfrm>
                <a:off x="4272" y="1104"/>
                <a:ext cx="48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24" name="Freeform 72"/>
              <p:cNvSpPr>
                <a:spLocks/>
              </p:cNvSpPr>
              <p:nvPr/>
            </p:nvSpPr>
            <p:spPr bwMode="auto">
              <a:xfrm>
                <a:off x="4580" y="715"/>
                <a:ext cx="198" cy="351"/>
              </a:xfrm>
              <a:custGeom>
                <a:avLst/>
                <a:gdLst>
                  <a:gd name="T0" fmla="*/ 0 w 198"/>
                  <a:gd name="T1" fmla="*/ 0 h 351"/>
                  <a:gd name="T2" fmla="*/ 198 w 198"/>
                  <a:gd name="T3" fmla="*/ 351 h 351"/>
                  <a:gd name="T4" fmla="*/ 0 60000 65536"/>
                  <a:gd name="T5" fmla="*/ 0 60000 65536"/>
                </a:gdLst>
                <a:ahLst/>
                <a:cxnLst>
                  <a:cxn ang="T4">
                    <a:pos x="T0" y="T1"/>
                  </a:cxn>
                  <a:cxn ang="T5">
                    <a:pos x="T2" y="T3"/>
                  </a:cxn>
                </a:cxnLst>
                <a:rect l="0" t="0" r="r" b="b"/>
                <a:pathLst>
                  <a:path w="198" h="351">
                    <a:moveTo>
                      <a:pt x="0" y="0"/>
                    </a:moveTo>
                    <a:lnTo>
                      <a:pt x="198" y="351"/>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225" name="Text Box 73"/>
              <p:cNvSpPr txBox="1">
                <a:spLocks noChangeArrowheads="1"/>
              </p:cNvSpPr>
              <p:nvPr/>
            </p:nvSpPr>
            <p:spPr bwMode="auto">
              <a:xfrm>
                <a:off x="4128" y="9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a</a:t>
                </a:r>
              </a:p>
            </p:txBody>
          </p:sp>
          <p:sp>
            <p:nvSpPr>
              <p:cNvPr id="226" name="Text Box 74"/>
              <p:cNvSpPr txBox="1">
                <a:spLocks noChangeArrowheads="1"/>
              </p:cNvSpPr>
              <p:nvPr/>
            </p:nvSpPr>
            <p:spPr bwMode="auto">
              <a:xfrm>
                <a:off x="3788" y="48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b</a:t>
                </a:r>
              </a:p>
            </p:txBody>
          </p:sp>
          <p:sp>
            <p:nvSpPr>
              <p:cNvPr id="227" name="Text Box 75"/>
              <p:cNvSpPr txBox="1">
                <a:spLocks noChangeArrowheads="1"/>
              </p:cNvSpPr>
              <p:nvPr/>
            </p:nvSpPr>
            <p:spPr bwMode="auto">
              <a:xfrm>
                <a:off x="4560" y="480"/>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c</a:t>
                </a:r>
              </a:p>
            </p:txBody>
          </p:sp>
          <p:sp>
            <p:nvSpPr>
              <p:cNvPr id="228" name="Text Box 76"/>
              <p:cNvSpPr txBox="1">
                <a:spLocks noChangeArrowheads="1"/>
              </p:cNvSpPr>
              <p:nvPr/>
            </p:nvSpPr>
            <p:spPr bwMode="auto">
              <a:xfrm>
                <a:off x="3500" y="91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d</a:t>
                </a:r>
              </a:p>
            </p:txBody>
          </p:sp>
          <p:sp>
            <p:nvSpPr>
              <p:cNvPr id="229" name="Text Box 77"/>
              <p:cNvSpPr txBox="1">
                <a:spLocks noChangeArrowheads="1"/>
              </p:cNvSpPr>
              <p:nvPr/>
            </p:nvSpPr>
            <p:spPr bwMode="auto">
              <a:xfrm>
                <a:off x="4128" y="81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e</a:t>
                </a:r>
              </a:p>
            </p:txBody>
          </p:sp>
          <p:sp>
            <p:nvSpPr>
              <p:cNvPr id="230" name="Text Box 78"/>
              <p:cNvSpPr txBox="1">
                <a:spLocks noChangeArrowheads="1"/>
              </p:cNvSpPr>
              <p:nvPr/>
            </p:nvSpPr>
            <p:spPr bwMode="auto">
              <a:xfrm>
                <a:off x="4856" y="912"/>
                <a:ext cx="16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f</a:t>
                </a:r>
              </a:p>
            </p:txBody>
          </p:sp>
          <p:sp>
            <p:nvSpPr>
              <p:cNvPr id="231" name="Text Box 79"/>
              <p:cNvSpPr txBox="1">
                <a:spLocks noChangeArrowheads="1"/>
              </p:cNvSpPr>
              <p:nvPr/>
            </p:nvSpPr>
            <p:spPr bwMode="auto">
              <a:xfrm>
                <a:off x="3308" y="158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g</a:t>
                </a:r>
              </a:p>
            </p:txBody>
          </p:sp>
          <p:sp>
            <p:nvSpPr>
              <p:cNvPr id="232" name="Text Box 80"/>
              <p:cNvSpPr txBox="1">
                <a:spLocks noChangeArrowheads="1"/>
              </p:cNvSpPr>
              <p:nvPr/>
            </p:nvSpPr>
            <p:spPr bwMode="auto">
              <a:xfrm>
                <a:off x="3836" y="158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h</a:t>
                </a:r>
              </a:p>
            </p:txBody>
          </p:sp>
          <p:sp>
            <p:nvSpPr>
              <p:cNvPr id="233" name="Text Box 81"/>
              <p:cNvSpPr txBox="1">
                <a:spLocks noChangeArrowheads="1"/>
              </p:cNvSpPr>
              <p:nvPr/>
            </p:nvSpPr>
            <p:spPr bwMode="auto">
              <a:xfrm>
                <a:off x="4428" y="158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i</a:t>
                </a:r>
              </a:p>
            </p:txBody>
          </p:sp>
          <p:sp>
            <p:nvSpPr>
              <p:cNvPr id="234" name="Text Box 82"/>
              <p:cNvSpPr txBox="1">
                <a:spLocks noChangeArrowheads="1"/>
              </p:cNvSpPr>
              <p:nvPr/>
            </p:nvSpPr>
            <p:spPr bwMode="auto">
              <a:xfrm>
                <a:off x="5004" y="158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j</a:t>
                </a:r>
              </a:p>
            </p:txBody>
          </p:sp>
        </p:grpSp>
        <p:sp>
          <p:nvSpPr>
            <p:cNvPr id="196" name="Text Box 86"/>
            <p:cNvSpPr txBox="1">
              <a:spLocks noChangeArrowheads="1"/>
            </p:cNvSpPr>
            <p:nvPr/>
          </p:nvSpPr>
          <p:spPr bwMode="auto">
            <a:xfrm>
              <a:off x="3185" y="455"/>
              <a:ext cx="349"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dirty="0">
                  <a:solidFill>
                    <a:schemeClr val="tx2"/>
                  </a:solidFill>
                  <a:latin typeface="Arial" pitchFamily="34" charset="0"/>
                </a:rPr>
                <a:t>G</a:t>
              </a:r>
              <a:r>
                <a:rPr lang="en-US" sz="2000" b="1" baseline="30000" dirty="0">
                  <a:solidFill>
                    <a:schemeClr val="tx2"/>
                  </a:solidFill>
                  <a:latin typeface="Arial" pitchFamily="34" charset="0"/>
                </a:rPr>
                <a:t>T</a:t>
              </a:r>
              <a:r>
                <a:rPr lang="en-US" sz="2000" b="1" dirty="0">
                  <a:solidFill>
                    <a:schemeClr val="tx2"/>
                  </a:solidFill>
                  <a:latin typeface="Arial" pitchFamily="34" charset="0"/>
                </a:rPr>
                <a:t>:</a:t>
              </a:r>
            </a:p>
          </p:txBody>
        </p:sp>
      </p:grpSp>
      <p:sp>
        <p:nvSpPr>
          <p:cNvPr id="4" name="Slide Number Placeholder 3"/>
          <p:cNvSpPr>
            <a:spLocks noGrp="1"/>
          </p:cNvSpPr>
          <p:nvPr>
            <p:ph type="sldNum" sz="quarter" idx="12"/>
          </p:nvPr>
        </p:nvSpPr>
        <p:spPr/>
        <p:txBody>
          <a:bodyPr/>
          <a:lstStyle/>
          <a:p>
            <a:pPr>
              <a:defRPr/>
            </a:pPr>
            <a:fld id="{5019D0FD-30FE-4170-95C0-BCF9C0F390F3}" type="slidenum">
              <a:rPr lang="en-US" smtClean="0"/>
              <a:pPr>
                <a:defRPr/>
              </a:pPr>
              <a:t>48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wipe(down)">
                                      <p:cBhvr>
                                        <p:cTn id="7" dur="500"/>
                                        <p:tgtEl>
                                          <p:spTgt spid="1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
                                        </p:tgtEl>
                                        <p:attrNameLst>
                                          <p:attrName>style.visibility</p:attrName>
                                        </p:attrNameLst>
                                      </p:cBhvr>
                                      <p:to>
                                        <p:strVal val="visible"/>
                                      </p:to>
                                    </p:set>
                                    <p:animEffect transition="in" filter="fade">
                                      <p:cBhvr>
                                        <p:cTn id="12" dur="500"/>
                                        <p:tgtEl>
                                          <p:spTgt spid="1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8388"/>
                                        </p:tgtEl>
                                        <p:attrNameLst>
                                          <p:attrName>style.visibility</p:attrName>
                                        </p:attrNameLst>
                                      </p:cBhvr>
                                      <p:to>
                                        <p:strVal val="visible"/>
                                      </p:to>
                                    </p:set>
                                    <p:animEffect transition="in" filter="wipe(left)">
                                      <p:cBhvr>
                                        <p:cTn id="17" dur="500"/>
                                        <p:tgtEl>
                                          <p:spTgt spid="13838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38390"/>
                                        </p:tgtEl>
                                        <p:attrNameLst>
                                          <p:attrName>style.visibility</p:attrName>
                                        </p:attrNameLst>
                                      </p:cBhvr>
                                      <p:to>
                                        <p:strVal val="visible"/>
                                      </p:to>
                                    </p:set>
                                    <p:animEffect transition="in" filter="dissolve">
                                      <p:cBhvr>
                                        <p:cTn id="22" dur="500"/>
                                        <p:tgtEl>
                                          <p:spTgt spid="13839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0493" name="Group 205"/>
          <p:cNvGrpSpPr>
            <a:grpSpLocks/>
          </p:cNvGrpSpPr>
          <p:nvPr/>
        </p:nvGrpSpPr>
        <p:grpSpPr bwMode="auto">
          <a:xfrm>
            <a:off x="4267200" y="838200"/>
            <a:ext cx="4492625" cy="2057400"/>
            <a:chOff x="2688" y="528"/>
            <a:chExt cx="2830" cy="1296"/>
          </a:xfrm>
        </p:grpSpPr>
        <p:sp>
          <p:nvSpPr>
            <p:cNvPr id="51248" name="Text Box 194"/>
            <p:cNvSpPr txBox="1">
              <a:spLocks noChangeArrowheads="1"/>
            </p:cNvSpPr>
            <p:nvPr/>
          </p:nvSpPr>
          <p:spPr bwMode="auto">
            <a:xfrm>
              <a:off x="3168" y="528"/>
              <a:ext cx="2064"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Topological Sort</a:t>
              </a:r>
              <a:br>
                <a:rPr lang="en-US" sz="1800">
                  <a:solidFill>
                    <a:schemeClr val="tx2"/>
                  </a:solidFill>
                  <a:latin typeface="Arial" pitchFamily="34" charset="0"/>
                </a:rPr>
              </a:br>
              <a:r>
                <a:rPr lang="en-US" sz="1800">
                  <a:solidFill>
                    <a:schemeClr val="tx2"/>
                  </a:solidFill>
                  <a:latin typeface="Arial" pitchFamily="34" charset="0"/>
                </a:rPr>
                <a:t>of the</a:t>
              </a:r>
              <a:br>
                <a:rPr lang="en-US" sz="1800">
                  <a:solidFill>
                    <a:schemeClr val="tx2"/>
                  </a:solidFill>
                  <a:latin typeface="Arial" pitchFamily="34" charset="0"/>
                </a:rPr>
              </a:br>
              <a:r>
                <a:rPr lang="en-US" sz="1800">
                  <a:solidFill>
                    <a:schemeClr val="tx2"/>
                  </a:solidFill>
                  <a:latin typeface="Arial" pitchFamily="34" charset="0"/>
                </a:rPr>
                <a:t>SCC Component Graph of G:</a:t>
              </a:r>
            </a:p>
          </p:txBody>
        </p:sp>
        <p:sp>
          <p:nvSpPr>
            <p:cNvPr id="51249" name="Freeform 196"/>
            <p:cNvSpPr>
              <a:spLocks/>
            </p:cNvSpPr>
            <p:nvPr/>
          </p:nvSpPr>
          <p:spPr bwMode="auto">
            <a:xfrm>
              <a:off x="3096" y="1482"/>
              <a:ext cx="327" cy="1"/>
            </a:xfrm>
            <a:custGeom>
              <a:avLst/>
              <a:gdLst>
                <a:gd name="T0" fmla="*/ 327 w 327"/>
                <a:gd name="T1" fmla="*/ 1 h 1"/>
                <a:gd name="T2" fmla="*/ 0 w 327"/>
                <a:gd name="T3" fmla="*/ 0 h 1"/>
                <a:gd name="T4" fmla="*/ 0 60000 65536"/>
                <a:gd name="T5" fmla="*/ 0 60000 65536"/>
              </a:gdLst>
              <a:ahLst/>
              <a:cxnLst>
                <a:cxn ang="T4">
                  <a:pos x="T0" y="T1"/>
                </a:cxn>
                <a:cxn ang="T5">
                  <a:pos x="T2" y="T3"/>
                </a:cxn>
              </a:cxnLst>
              <a:rect l="0" t="0" r="r" b="b"/>
              <a:pathLst>
                <a:path w="327" h="1">
                  <a:moveTo>
                    <a:pt x="327" y="1"/>
                  </a:moveTo>
                  <a:lnTo>
                    <a:pt x="0" y="0"/>
                  </a:lnTo>
                </a:path>
              </a:pathLst>
            </a:custGeom>
            <a:noFill/>
            <a:ln w="1905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51250" name="Freeform 197"/>
            <p:cNvSpPr>
              <a:spLocks/>
            </p:cNvSpPr>
            <p:nvPr/>
          </p:nvSpPr>
          <p:spPr bwMode="auto">
            <a:xfrm>
              <a:off x="3692" y="1476"/>
              <a:ext cx="413" cy="5"/>
            </a:xfrm>
            <a:custGeom>
              <a:avLst/>
              <a:gdLst>
                <a:gd name="T0" fmla="*/ 413 w 413"/>
                <a:gd name="T1" fmla="*/ 0 h 5"/>
                <a:gd name="T2" fmla="*/ 0 w 413"/>
                <a:gd name="T3" fmla="*/ 5 h 5"/>
                <a:gd name="T4" fmla="*/ 0 60000 65536"/>
                <a:gd name="T5" fmla="*/ 0 60000 65536"/>
              </a:gdLst>
              <a:ahLst/>
              <a:cxnLst>
                <a:cxn ang="T4">
                  <a:pos x="T0" y="T1"/>
                </a:cxn>
                <a:cxn ang="T5">
                  <a:pos x="T2" y="T3"/>
                </a:cxn>
              </a:cxnLst>
              <a:rect l="0" t="0" r="r" b="b"/>
              <a:pathLst>
                <a:path w="413" h="5">
                  <a:moveTo>
                    <a:pt x="413" y="0"/>
                  </a:moveTo>
                  <a:lnTo>
                    <a:pt x="0" y="5"/>
                  </a:lnTo>
                </a:path>
              </a:pathLst>
            </a:custGeom>
            <a:noFill/>
            <a:ln w="1905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51251" name="Freeform 198"/>
            <p:cNvSpPr>
              <a:spLocks/>
            </p:cNvSpPr>
            <p:nvPr/>
          </p:nvSpPr>
          <p:spPr bwMode="auto">
            <a:xfrm>
              <a:off x="4462" y="1457"/>
              <a:ext cx="570" cy="3"/>
            </a:xfrm>
            <a:custGeom>
              <a:avLst/>
              <a:gdLst>
                <a:gd name="T0" fmla="*/ 570 w 570"/>
                <a:gd name="T1" fmla="*/ 0 h 3"/>
                <a:gd name="T2" fmla="*/ 0 w 570"/>
                <a:gd name="T3" fmla="*/ 3 h 3"/>
                <a:gd name="T4" fmla="*/ 0 60000 65536"/>
                <a:gd name="T5" fmla="*/ 0 60000 65536"/>
              </a:gdLst>
              <a:ahLst/>
              <a:cxnLst>
                <a:cxn ang="T4">
                  <a:pos x="T0" y="T1"/>
                </a:cxn>
                <a:cxn ang="T5">
                  <a:pos x="T2" y="T3"/>
                </a:cxn>
              </a:cxnLst>
              <a:rect l="0" t="0" r="r" b="b"/>
              <a:pathLst>
                <a:path w="570" h="3">
                  <a:moveTo>
                    <a:pt x="570" y="0"/>
                  </a:moveTo>
                  <a:lnTo>
                    <a:pt x="0" y="3"/>
                  </a:lnTo>
                </a:path>
              </a:pathLst>
            </a:custGeom>
            <a:noFill/>
            <a:ln w="1905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51252" name="Freeform 199"/>
            <p:cNvSpPr>
              <a:spLocks/>
            </p:cNvSpPr>
            <p:nvPr/>
          </p:nvSpPr>
          <p:spPr bwMode="auto">
            <a:xfrm>
              <a:off x="3696" y="1183"/>
              <a:ext cx="1349" cy="243"/>
            </a:xfrm>
            <a:custGeom>
              <a:avLst/>
              <a:gdLst>
                <a:gd name="T0" fmla="*/ 0 w 1349"/>
                <a:gd name="T1" fmla="*/ 243 h 243"/>
                <a:gd name="T2" fmla="*/ 649 w 1349"/>
                <a:gd name="T3" fmla="*/ 7 h 243"/>
                <a:gd name="T4" fmla="*/ 1349 w 1349"/>
                <a:gd name="T5" fmla="*/ 201 h 243"/>
                <a:gd name="T6" fmla="*/ 0 60000 65536"/>
                <a:gd name="T7" fmla="*/ 0 60000 65536"/>
                <a:gd name="T8" fmla="*/ 0 60000 65536"/>
              </a:gdLst>
              <a:ahLst/>
              <a:cxnLst>
                <a:cxn ang="T6">
                  <a:pos x="T0" y="T1"/>
                </a:cxn>
                <a:cxn ang="T7">
                  <a:pos x="T2" y="T3"/>
                </a:cxn>
                <a:cxn ang="T8">
                  <a:pos x="T4" y="T5"/>
                </a:cxn>
              </a:cxnLst>
              <a:rect l="0" t="0" r="r" b="b"/>
              <a:pathLst>
                <a:path w="1349" h="243">
                  <a:moveTo>
                    <a:pt x="0" y="243"/>
                  </a:moveTo>
                  <a:cubicBezTo>
                    <a:pt x="108" y="202"/>
                    <a:pt x="424" y="14"/>
                    <a:pt x="649" y="7"/>
                  </a:cubicBezTo>
                  <a:cubicBezTo>
                    <a:pt x="874" y="0"/>
                    <a:pt x="1203" y="161"/>
                    <a:pt x="1349" y="201"/>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1253" name="Freeform 200"/>
            <p:cNvSpPr>
              <a:spLocks/>
            </p:cNvSpPr>
            <p:nvPr/>
          </p:nvSpPr>
          <p:spPr bwMode="auto">
            <a:xfrm>
              <a:off x="3093" y="1544"/>
              <a:ext cx="1945" cy="280"/>
            </a:xfrm>
            <a:custGeom>
              <a:avLst/>
              <a:gdLst>
                <a:gd name="T0" fmla="*/ 0 w 1945"/>
                <a:gd name="T1" fmla="*/ 0 h 280"/>
                <a:gd name="T2" fmla="*/ 618 w 1945"/>
                <a:gd name="T3" fmla="*/ 241 h 280"/>
                <a:gd name="T4" fmla="*/ 1444 w 1945"/>
                <a:gd name="T5" fmla="*/ 235 h 280"/>
                <a:gd name="T6" fmla="*/ 1945 w 1945"/>
                <a:gd name="T7" fmla="*/ 12 h 2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5" h="280">
                  <a:moveTo>
                    <a:pt x="0" y="0"/>
                  </a:moveTo>
                  <a:cubicBezTo>
                    <a:pt x="103" y="40"/>
                    <a:pt x="378" y="203"/>
                    <a:pt x="618" y="241"/>
                  </a:cubicBezTo>
                  <a:cubicBezTo>
                    <a:pt x="859" y="280"/>
                    <a:pt x="1223" y="273"/>
                    <a:pt x="1444" y="235"/>
                  </a:cubicBezTo>
                  <a:cubicBezTo>
                    <a:pt x="1665" y="197"/>
                    <a:pt x="1841" y="58"/>
                    <a:pt x="1945" y="12"/>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1254" name="Freeform 201"/>
            <p:cNvSpPr>
              <a:spLocks/>
            </p:cNvSpPr>
            <p:nvPr/>
          </p:nvSpPr>
          <p:spPr bwMode="auto">
            <a:xfrm>
              <a:off x="3093" y="1508"/>
              <a:ext cx="992" cy="191"/>
            </a:xfrm>
            <a:custGeom>
              <a:avLst/>
              <a:gdLst>
                <a:gd name="T0" fmla="*/ 0 w 992"/>
                <a:gd name="T1" fmla="*/ 0 h 191"/>
                <a:gd name="T2" fmla="*/ 523 w 992"/>
                <a:gd name="T3" fmla="*/ 182 h 191"/>
                <a:gd name="T4" fmla="*/ 992 w 992"/>
                <a:gd name="T5" fmla="*/ 54 h 191"/>
                <a:gd name="T6" fmla="*/ 0 60000 65536"/>
                <a:gd name="T7" fmla="*/ 0 60000 65536"/>
                <a:gd name="T8" fmla="*/ 0 60000 65536"/>
              </a:gdLst>
              <a:ahLst/>
              <a:cxnLst>
                <a:cxn ang="T6">
                  <a:pos x="T0" y="T1"/>
                </a:cxn>
                <a:cxn ang="T7">
                  <a:pos x="T2" y="T3"/>
                </a:cxn>
                <a:cxn ang="T8">
                  <a:pos x="T4" y="T5"/>
                </a:cxn>
              </a:cxnLst>
              <a:rect l="0" t="0" r="r" b="b"/>
              <a:pathLst>
                <a:path w="992" h="191">
                  <a:moveTo>
                    <a:pt x="0" y="0"/>
                  </a:moveTo>
                  <a:cubicBezTo>
                    <a:pt x="87" y="30"/>
                    <a:pt x="358" y="173"/>
                    <a:pt x="523" y="182"/>
                  </a:cubicBezTo>
                  <a:cubicBezTo>
                    <a:pt x="688" y="191"/>
                    <a:pt x="894" y="81"/>
                    <a:pt x="992" y="54"/>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1255" name="AutoShape 193"/>
            <p:cNvSpPr>
              <a:spLocks noChangeArrowheads="1"/>
            </p:cNvSpPr>
            <p:nvPr/>
          </p:nvSpPr>
          <p:spPr bwMode="auto">
            <a:xfrm>
              <a:off x="2688" y="1337"/>
              <a:ext cx="462" cy="263"/>
            </a:xfrm>
            <a:prstGeom prst="roundRect">
              <a:avLst>
                <a:gd name="adj" fmla="val 16667"/>
              </a:avLst>
            </a:prstGeom>
            <a:solidFill>
              <a:srgbClr val="FFCC99"/>
            </a:solidFill>
            <a:ln w="19050">
              <a:noFill/>
              <a:round/>
              <a:headEnd/>
              <a:tailEn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800" dirty="0">
                  <a:solidFill>
                    <a:schemeClr val="tx2"/>
                  </a:solidFill>
                  <a:latin typeface="Arial" pitchFamily="34" charset="0"/>
                </a:rPr>
                <a:t>a c b</a:t>
              </a:r>
            </a:p>
          </p:txBody>
        </p:sp>
        <p:sp>
          <p:nvSpPr>
            <p:cNvPr id="51256" name="AutoShape 191"/>
            <p:cNvSpPr>
              <a:spLocks noChangeArrowheads="1"/>
            </p:cNvSpPr>
            <p:nvPr/>
          </p:nvSpPr>
          <p:spPr bwMode="auto">
            <a:xfrm>
              <a:off x="3423" y="1337"/>
              <a:ext cx="306" cy="263"/>
            </a:xfrm>
            <a:prstGeom prst="roundRect">
              <a:avLst>
                <a:gd name="adj" fmla="val 16667"/>
              </a:avLst>
            </a:prstGeom>
            <a:solidFill>
              <a:srgbClr val="FFCC99"/>
            </a:solidFill>
            <a:ln w="19050">
              <a:noFill/>
              <a:round/>
              <a:headEnd/>
              <a:tailEn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800">
                  <a:solidFill>
                    <a:schemeClr val="tx2"/>
                  </a:solidFill>
                  <a:latin typeface="Arial" pitchFamily="34" charset="0"/>
                </a:rPr>
                <a:t> e </a:t>
              </a:r>
            </a:p>
          </p:txBody>
        </p:sp>
        <p:sp>
          <p:nvSpPr>
            <p:cNvPr id="51257" name="AutoShape 192"/>
            <p:cNvSpPr>
              <a:spLocks noChangeArrowheads="1"/>
            </p:cNvSpPr>
            <p:nvPr/>
          </p:nvSpPr>
          <p:spPr bwMode="auto">
            <a:xfrm>
              <a:off x="4106" y="1337"/>
              <a:ext cx="412" cy="263"/>
            </a:xfrm>
            <a:prstGeom prst="roundRect">
              <a:avLst>
                <a:gd name="adj" fmla="val 16667"/>
              </a:avLst>
            </a:prstGeom>
            <a:solidFill>
              <a:srgbClr val="FFCC99"/>
            </a:solidFill>
            <a:ln w="19050">
              <a:noFill/>
              <a:round/>
              <a:headEnd/>
              <a:tailEn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800" dirty="0">
                  <a:solidFill>
                    <a:schemeClr val="tx2"/>
                  </a:solidFill>
                  <a:latin typeface="Arial" pitchFamily="34" charset="0"/>
                </a:rPr>
                <a:t>f  j  i</a:t>
              </a:r>
            </a:p>
          </p:txBody>
        </p:sp>
        <p:sp>
          <p:nvSpPr>
            <p:cNvPr id="51258" name="AutoShape 195"/>
            <p:cNvSpPr>
              <a:spLocks noChangeArrowheads="1"/>
            </p:cNvSpPr>
            <p:nvPr/>
          </p:nvSpPr>
          <p:spPr bwMode="auto">
            <a:xfrm>
              <a:off x="5048" y="1337"/>
              <a:ext cx="470" cy="263"/>
            </a:xfrm>
            <a:prstGeom prst="roundRect">
              <a:avLst>
                <a:gd name="adj" fmla="val 16667"/>
              </a:avLst>
            </a:prstGeom>
            <a:solidFill>
              <a:srgbClr val="FFCC99"/>
            </a:solidFill>
            <a:ln w="19050">
              <a:noFill/>
              <a:round/>
              <a:headEnd/>
              <a:tailEn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buFontTx/>
                <a:buNone/>
              </a:pPr>
              <a:r>
                <a:rPr lang="en-US" sz="1800" dirty="0">
                  <a:solidFill>
                    <a:schemeClr val="tx2"/>
                  </a:solidFill>
                  <a:latin typeface="Arial" pitchFamily="34" charset="0"/>
                </a:rPr>
                <a:t>d g h</a:t>
              </a:r>
            </a:p>
          </p:txBody>
        </p:sp>
      </p:grpSp>
      <p:grpSp>
        <p:nvGrpSpPr>
          <p:cNvPr id="2" name="Group 1"/>
          <p:cNvGrpSpPr/>
          <p:nvPr/>
        </p:nvGrpSpPr>
        <p:grpSpPr>
          <a:xfrm>
            <a:off x="382588" y="69850"/>
            <a:ext cx="3635375" cy="2917825"/>
            <a:chOff x="382588" y="69850"/>
            <a:chExt cx="3635375" cy="2917825"/>
          </a:xfrm>
        </p:grpSpPr>
        <p:sp>
          <p:nvSpPr>
            <p:cNvPr id="104" name="Freeform 132"/>
            <p:cNvSpPr>
              <a:spLocks/>
            </p:cNvSpPr>
            <p:nvPr/>
          </p:nvSpPr>
          <p:spPr bwMode="auto">
            <a:xfrm>
              <a:off x="1684338" y="1336675"/>
              <a:ext cx="763587" cy="754063"/>
            </a:xfrm>
            <a:custGeom>
              <a:avLst/>
              <a:gdLst>
                <a:gd name="T0" fmla="*/ 123825 w 481"/>
                <a:gd name="T1" fmla="*/ 671513 h 475"/>
                <a:gd name="T2" fmla="*/ 596900 w 481"/>
                <a:gd name="T3" fmla="*/ 692150 h 475"/>
                <a:gd name="T4" fmla="*/ 733425 w 481"/>
                <a:gd name="T5" fmla="*/ 303213 h 475"/>
                <a:gd name="T6" fmla="*/ 417512 w 481"/>
                <a:gd name="T7" fmla="*/ 7938 h 475"/>
                <a:gd name="T8" fmla="*/ 49212 w 481"/>
                <a:gd name="T9" fmla="*/ 250825 h 475"/>
                <a:gd name="T10" fmla="*/ 123825 w 481"/>
                <a:gd name="T11" fmla="*/ 671513 h 47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1" h="475">
                  <a:moveTo>
                    <a:pt x="78" y="423"/>
                  </a:moveTo>
                  <a:cubicBezTo>
                    <a:pt x="135" y="469"/>
                    <a:pt x="312" y="475"/>
                    <a:pt x="376" y="436"/>
                  </a:cubicBezTo>
                  <a:cubicBezTo>
                    <a:pt x="440" y="397"/>
                    <a:pt x="481" y="263"/>
                    <a:pt x="462" y="191"/>
                  </a:cubicBezTo>
                  <a:cubicBezTo>
                    <a:pt x="443" y="119"/>
                    <a:pt x="335" y="10"/>
                    <a:pt x="263" y="5"/>
                  </a:cubicBezTo>
                  <a:cubicBezTo>
                    <a:pt x="191" y="0"/>
                    <a:pt x="62" y="88"/>
                    <a:pt x="31" y="158"/>
                  </a:cubicBezTo>
                  <a:cubicBezTo>
                    <a:pt x="0" y="228"/>
                    <a:pt x="21" y="377"/>
                    <a:pt x="78" y="423"/>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5" name="Freeform 131"/>
            <p:cNvSpPr>
              <a:spLocks/>
            </p:cNvSpPr>
            <p:nvPr/>
          </p:nvSpPr>
          <p:spPr bwMode="auto">
            <a:xfrm>
              <a:off x="2176463" y="1362075"/>
              <a:ext cx="1841500" cy="1625600"/>
            </a:xfrm>
            <a:custGeom>
              <a:avLst/>
              <a:gdLst>
                <a:gd name="T0" fmla="*/ 9525 w 1160"/>
                <a:gd name="T1" fmla="*/ 1171575 h 1024"/>
                <a:gd name="T2" fmla="*/ 303213 w 1160"/>
                <a:gd name="T3" fmla="*/ 1601788 h 1024"/>
                <a:gd name="T4" fmla="*/ 1670050 w 1160"/>
                <a:gd name="T5" fmla="*/ 1317625 h 1024"/>
                <a:gd name="T6" fmla="*/ 1333500 w 1160"/>
                <a:gd name="T7" fmla="*/ 203200 h 1024"/>
                <a:gd name="T8" fmla="*/ 703263 w 1160"/>
                <a:gd name="T9" fmla="*/ 98425 h 1024"/>
                <a:gd name="T10" fmla="*/ 357188 w 1160"/>
                <a:gd name="T11" fmla="*/ 655638 h 1024"/>
                <a:gd name="T12" fmla="*/ 9525 w 1160"/>
                <a:gd name="T13" fmla="*/ 1171575 h 10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60" h="1024">
                  <a:moveTo>
                    <a:pt x="6" y="738"/>
                  </a:moveTo>
                  <a:cubicBezTo>
                    <a:pt x="0" y="837"/>
                    <a:pt x="17" y="994"/>
                    <a:pt x="191" y="1009"/>
                  </a:cubicBezTo>
                  <a:cubicBezTo>
                    <a:pt x="365" y="1024"/>
                    <a:pt x="944" y="977"/>
                    <a:pt x="1052" y="830"/>
                  </a:cubicBezTo>
                  <a:cubicBezTo>
                    <a:pt x="1160" y="683"/>
                    <a:pt x="941" y="256"/>
                    <a:pt x="840" y="128"/>
                  </a:cubicBezTo>
                  <a:cubicBezTo>
                    <a:pt x="739" y="0"/>
                    <a:pt x="545" y="15"/>
                    <a:pt x="443" y="62"/>
                  </a:cubicBezTo>
                  <a:cubicBezTo>
                    <a:pt x="341" y="109"/>
                    <a:pt x="298" y="300"/>
                    <a:pt x="225" y="413"/>
                  </a:cubicBezTo>
                  <a:cubicBezTo>
                    <a:pt x="152" y="526"/>
                    <a:pt x="9" y="646"/>
                    <a:pt x="6" y="738"/>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6" name="Freeform 130"/>
            <p:cNvSpPr>
              <a:spLocks/>
            </p:cNvSpPr>
            <p:nvPr/>
          </p:nvSpPr>
          <p:spPr bwMode="auto">
            <a:xfrm>
              <a:off x="382588" y="1438275"/>
              <a:ext cx="1608137" cy="1533525"/>
            </a:xfrm>
            <a:custGeom>
              <a:avLst/>
              <a:gdLst>
                <a:gd name="T0" fmla="*/ 101600 w 1013"/>
                <a:gd name="T1" fmla="*/ 1316038 h 966"/>
                <a:gd name="T2" fmla="*/ 868362 w 1013"/>
                <a:gd name="T3" fmla="*/ 1525588 h 966"/>
                <a:gd name="T4" fmla="*/ 1550987 w 1013"/>
                <a:gd name="T5" fmla="*/ 1263650 h 966"/>
                <a:gd name="T6" fmla="*/ 1214437 w 1013"/>
                <a:gd name="T7" fmla="*/ 642938 h 966"/>
                <a:gd name="T8" fmla="*/ 889000 w 1013"/>
                <a:gd name="T9" fmla="*/ 22225 h 966"/>
                <a:gd name="T10" fmla="*/ 258762 w 1013"/>
                <a:gd name="T11" fmla="*/ 506413 h 966"/>
                <a:gd name="T12" fmla="*/ 101600 w 1013"/>
                <a:gd name="T13" fmla="*/ 1316038 h 9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13" h="966">
                  <a:moveTo>
                    <a:pt x="64" y="829"/>
                  </a:moveTo>
                  <a:cubicBezTo>
                    <a:pt x="128" y="936"/>
                    <a:pt x="395" y="966"/>
                    <a:pt x="547" y="961"/>
                  </a:cubicBezTo>
                  <a:cubicBezTo>
                    <a:pt x="699" y="956"/>
                    <a:pt x="941" y="889"/>
                    <a:pt x="977" y="796"/>
                  </a:cubicBezTo>
                  <a:cubicBezTo>
                    <a:pt x="1013" y="703"/>
                    <a:pt x="834" y="535"/>
                    <a:pt x="765" y="405"/>
                  </a:cubicBezTo>
                  <a:cubicBezTo>
                    <a:pt x="696" y="275"/>
                    <a:pt x="660" y="28"/>
                    <a:pt x="560" y="14"/>
                  </a:cubicBezTo>
                  <a:cubicBezTo>
                    <a:pt x="460" y="0"/>
                    <a:pt x="246" y="183"/>
                    <a:pt x="163" y="319"/>
                  </a:cubicBezTo>
                  <a:cubicBezTo>
                    <a:pt x="80" y="455"/>
                    <a:pt x="0" y="722"/>
                    <a:pt x="64" y="829"/>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 name="Freeform 129"/>
            <p:cNvSpPr>
              <a:spLocks/>
            </p:cNvSpPr>
            <p:nvPr/>
          </p:nvSpPr>
          <p:spPr bwMode="auto">
            <a:xfrm>
              <a:off x="1227138" y="69850"/>
              <a:ext cx="1812925" cy="1292225"/>
            </a:xfrm>
            <a:custGeom>
              <a:avLst/>
              <a:gdLst>
                <a:gd name="T0" fmla="*/ 144463 w 1142"/>
                <a:gd name="T1" fmla="*/ 1149350 h 814"/>
                <a:gd name="T2" fmla="*/ 830263 w 1142"/>
                <a:gd name="T3" fmla="*/ 1149350 h 814"/>
                <a:gd name="T4" fmla="*/ 1668463 w 1142"/>
                <a:gd name="T5" fmla="*/ 1225550 h 814"/>
                <a:gd name="T6" fmla="*/ 1695450 w 1142"/>
                <a:gd name="T7" fmla="*/ 749300 h 814"/>
                <a:gd name="T8" fmla="*/ 982663 w 1142"/>
                <a:gd name="T9" fmla="*/ 6350 h 814"/>
                <a:gd name="T10" fmla="*/ 139700 w 1142"/>
                <a:gd name="T11" fmla="*/ 708025 h 814"/>
                <a:gd name="T12" fmla="*/ 144463 w 1142"/>
                <a:gd name="T13" fmla="*/ 1149350 h 81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42" h="814">
                  <a:moveTo>
                    <a:pt x="91" y="724"/>
                  </a:moveTo>
                  <a:cubicBezTo>
                    <a:pt x="163" y="804"/>
                    <a:pt x="363" y="716"/>
                    <a:pt x="523" y="724"/>
                  </a:cubicBezTo>
                  <a:cubicBezTo>
                    <a:pt x="683" y="732"/>
                    <a:pt x="960" y="814"/>
                    <a:pt x="1051" y="772"/>
                  </a:cubicBezTo>
                  <a:cubicBezTo>
                    <a:pt x="1142" y="730"/>
                    <a:pt x="1140" y="600"/>
                    <a:pt x="1068" y="472"/>
                  </a:cubicBezTo>
                  <a:cubicBezTo>
                    <a:pt x="996" y="344"/>
                    <a:pt x="782" y="8"/>
                    <a:pt x="619" y="4"/>
                  </a:cubicBezTo>
                  <a:cubicBezTo>
                    <a:pt x="456" y="0"/>
                    <a:pt x="176" y="326"/>
                    <a:pt x="88" y="446"/>
                  </a:cubicBezTo>
                  <a:cubicBezTo>
                    <a:pt x="0" y="566"/>
                    <a:pt x="91" y="666"/>
                    <a:pt x="91" y="724"/>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nvGrpSpPr>
            <p:cNvPr id="108" name="Group 87"/>
            <p:cNvGrpSpPr>
              <a:grpSpLocks/>
            </p:cNvGrpSpPr>
            <p:nvPr/>
          </p:nvGrpSpPr>
          <p:grpSpPr bwMode="auto">
            <a:xfrm>
              <a:off x="609600" y="152400"/>
              <a:ext cx="2940050" cy="2728913"/>
              <a:chOff x="476" y="96"/>
              <a:chExt cx="1852" cy="1719"/>
            </a:xfrm>
          </p:grpSpPr>
          <p:grpSp>
            <p:nvGrpSpPr>
              <p:cNvPr id="109" name="Group 83"/>
              <p:cNvGrpSpPr>
                <a:grpSpLocks/>
              </p:cNvGrpSpPr>
              <p:nvPr/>
            </p:nvGrpSpPr>
            <p:grpSpPr bwMode="auto">
              <a:xfrm>
                <a:off x="476" y="96"/>
                <a:ext cx="1852" cy="1719"/>
                <a:chOff x="476" y="96"/>
                <a:chExt cx="1852" cy="1719"/>
              </a:xfrm>
            </p:grpSpPr>
            <p:sp>
              <p:nvSpPr>
                <p:cNvPr id="111" name="Oval 6"/>
                <p:cNvSpPr>
                  <a:spLocks noChangeArrowheads="1"/>
                </p:cNvSpPr>
                <p:nvPr/>
              </p:nvSpPr>
              <p:spPr bwMode="auto">
                <a:xfrm>
                  <a:off x="528"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2" name="Oval 8"/>
                <p:cNvSpPr>
                  <a:spLocks noChangeArrowheads="1"/>
                </p:cNvSpPr>
                <p:nvPr/>
              </p:nvSpPr>
              <p:spPr bwMode="auto">
                <a:xfrm>
                  <a:off x="1344" y="105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3" name="Oval 9"/>
                <p:cNvSpPr>
                  <a:spLocks noChangeArrowheads="1"/>
                </p:cNvSpPr>
                <p:nvPr/>
              </p:nvSpPr>
              <p:spPr bwMode="auto">
                <a:xfrm>
                  <a:off x="816" y="105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4" name="Oval 10"/>
                <p:cNvSpPr>
                  <a:spLocks noChangeArrowheads="1"/>
                </p:cNvSpPr>
                <p:nvPr/>
              </p:nvSpPr>
              <p:spPr bwMode="auto">
                <a:xfrm>
                  <a:off x="1056"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5" name="Oval 11"/>
                <p:cNvSpPr>
                  <a:spLocks noChangeArrowheads="1"/>
                </p:cNvSpPr>
                <p:nvPr/>
              </p:nvSpPr>
              <p:spPr bwMode="auto">
                <a:xfrm>
                  <a:off x="1632"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6" name="Oval 12"/>
                <p:cNvSpPr>
                  <a:spLocks noChangeArrowheads="1"/>
                </p:cNvSpPr>
                <p:nvPr/>
              </p:nvSpPr>
              <p:spPr bwMode="auto">
                <a:xfrm>
                  <a:off x="1680" y="6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7" name="Oval 13"/>
                <p:cNvSpPr>
                  <a:spLocks noChangeArrowheads="1"/>
                </p:cNvSpPr>
                <p:nvPr/>
              </p:nvSpPr>
              <p:spPr bwMode="auto">
                <a:xfrm>
                  <a:off x="1920" y="105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8" name="Oval 14"/>
                <p:cNvSpPr>
                  <a:spLocks noChangeArrowheads="1"/>
                </p:cNvSpPr>
                <p:nvPr/>
              </p:nvSpPr>
              <p:spPr bwMode="auto">
                <a:xfrm>
                  <a:off x="1440" y="14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9" name="Oval 15"/>
                <p:cNvSpPr>
                  <a:spLocks noChangeArrowheads="1"/>
                </p:cNvSpPr>
                <p:nvPr/>
              </p:nvSpPr>
              <p:spPr bwMode="auto">
                <a:xfrm>
                  <a:off x="2208" y="15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20" name="Freeform 16"/>
                <p:cNvSpPr>
                  <a:spLocks/>
                </p:cNvSpPr>
                <p:nvPr/>
              </p:nvSpPr>
              <p:spPr bwMode="auto">
                <a:xfrm>
                  <a:off x="1172" y="232"/>
                  <a:ext cx="285" cy="397"/>
                </a:xfrm>
                <a:custGeom>
                  <a:avLst/>
                  <a:gdLst>
                    <a:gd name="T0" fmla="*/ 285 w 285"/>
                    <a:gd name="T1" fmla="*/ 0 h 397"/>
                    <a:gd name="T2" fmla="*/ 0 w 285"/>
                    <a:gd name="T3" fmla="*/ 397 h 397"/>
                    <a:gd name="T4" fmla="*/ 0 60000 65536"/>
                    <a:gd name="T5" fmla="*/ 0 60000 65536"/>
                  </a:gdLst>
                  <a:ahLst/>
                  <a:cxnLst>
                    <a:cxn ang="T4">
                      <a:pos x="T0" y="T1"/>
                    </a:cxn>
                    <a:cxn ang="T5">
                      <a:pos x="T2" y="T3"/>
                    </a:cxn>
                  </a:cxnLst>
                  <a:rect l="0" t="0" r="r" b="b"/>
                  <a:pathLst>
                    <a:path w="285" h="397">
                      <a:moveTo>
                        <a:pt x="285" y="0"/>
                      </a:moveTo>
                      <a:lnTo>
                        <a:pt x="0" y="397"/>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 name="Freeform 17"/>
                <p:cNvSpPr>
                  <a:spLocks/>
                </p:cNvSpPr>
                <p:nvPr/>
              </p:nvSpPr>
              <p:spPr bwMode="auto">
                <a:xfrm>
                  <a:off x="894" y="720"/>
                  <a:ext cx="210" cy="333"/>
                </a:xfrm>
                <a:custGeom>
                  <a:avLst/>
                  <a:gdLst>
                    <a:gd name="T0" fmla="*/ 210 w 210"/>
                    <a:gd name="T1" fmla="*/ 0 h 333"/>
                    <a:gd name="T2" fmla="*/ 0 w 210"/>
                    <a:gd name="T3" fmla="*/ 333 h 333"/>
                    <a:gd name="T4" fmla="*/ 0 60000 65536"/>
                    <a:gd name="T5" fmla="*/ 0 60000 65536"/>
                  </a:gdLst>
                  <a:ahLst/>
                  <a:cxnLst>
                    <a:cxn ang="T4">
                      <a:pos x="T0" y="T1"/>
                    </a:cxn>
                    <a:cxn ang="T5">
                      <a:pos x="T2" y="T3"/>
                    </a:cxn>
                  </a:cxnLst>
                  <a:rect l="0" t="0" r="r" b="b"/>
                  <a:pathLst>
                    <a:path w="210" h="333">
                      <a:moveTo>
                        <a:pt x="210" y="0"/>
                      </a:moveTo>
                      <a:lnTo>
                        <a:pt x="0" y="333"/>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2" name="Freeform 18"/>
                <p:cNvSpPr>
                  <a:spLocks/>
                </p:cNvSpPr>
                <p:nvPr/>
              </p:nvSpPr>
              <p:spPr bwMode="auto">
                <a:xfrm>
                  <a:off x="596" y="1145"/>
                  <a:ext cx="238" cy="398"/>
                </a:xfrm>
                <a:custGeom>
                  <a:avLst/>
                  <a:gdLst>
                    <a:gd name="T0" fmla="*/ 0 w 238"/>
                    <a:gd name="T1" fmla="*/ 398 h 398"/>
                    <a:gd name="T2" fmla="*/ 238 w 238"/>
                    <a:gd name="T3" fmla="*/ 0 h 398"/>
                    <a:gd name="T4" fmla="*/ 0 60000 65536"/>
                    <a:gd name="T5" fmla="*/ 0 60000 65536"/>
                  </a:gdLst>
                  <a:ahLst/>
                  <a:cxnLst>
                    <a:cxn ang="T4">
                      <a:pos x="T0" y="T1"/>
                    </a:cxn>
                    <a:cxn ang="T5">
                      <a:pos x="T2" y="T3"/>
                    </a:cxn>
                  </a:cxnLst>
                  <a:rect l="0" t="0" r="r" b="b"/>
                  <a:pathLst>
                    <a:path w="238" h="398">
                      <a:moveTo>
                        <a:pt x="0" y="398"/>
                      </a:moveTo>
                      <a:lnTo>
                        <a:pt x="238"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3" name="Freeform 20"/>
                <p:cNvSpPr>
                  <a:spLocks/>
                </p:cNvSpPr>
                <p:nvPr/>
              </p:nvSpPr>
              <p:spPr bwMode="auto">
                <a:xfrm>
                  <a:off x="1503" y="232"/>
                  <a:ext cx="199" cy="390"/>
                </a:xfrm>
                <a:custGeom>
                  <a:avLst/>
                  <a:gdLst>
                    <a:gd name="T0" fmla="*/ 199 w 199"/>
                    <a:gd name="T1" fmla="*/ 390 h 390"/>
                    <a:gd name="T2" fmla="*/ 0 w 199"/>
                    <a:gd name="T3" fmla="*/ 0 h 390"/>
                    <a:gd name="T4" fmla="*/ 0 60000 65536"/>
                    <a:gd name="T5" fmla="*/ 0 60000 65536"/>
                  </a:gdLst>
                  <a:ahLst/>
                  <a:cxnLst>
                    <a:cxn ang="T4">
                      <a:pos x="T0" y="T1"/>
                    </a:cxn>
                    <a:cxn ang="T5">
                      <a:pos x="T2" y="T3"/>
                    </a:cxn>
                  </a:cxnLst>
                  <a:rect l="0" t="0" r="r" b="b"/>
                  <a:pathLst>
                    <a:path w="199" h="390">
                      <a:moveTo>
                        <a:pt x="199" y="390"/>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4" name="Freeform 21"/>
                <p:cNvSpPr>
                  <a:spLocks/>
                </p:cNvSpPr>
                <p:nvPr/>
              </p:nvSpPr>
              <p:spPr bwMode="auto">
                <a:xfrm>
                  <a:off x="1198" y="673"/>
                  <a:ext cx="482" cy="2"/>
                </a:xfrm>
                <a:custGeom>
                  <a:avLst/>
                  <a:gdLst>
                    <a:gd name="T0" fmla="*/ 0 w 482"/>
                    <a:gd name="T1" fmla="*/ 2 h 2"/>
                    <a:gd name="T2" fmla="*/ 482 w 482"/>
                    <a:gd name="T3" fmla="*/ 0 h 2"/>
                    <a:gd name="T4" fmla="*/ 0 60000 65536"/>
                    <a:gd name="T5" fmla="*/ 0 60000 65536"/>
                  </a:gdLst>
                  <a:ahLst/>
                  <a:cxnLst>
                    <a:cxn ang="T4">
                      <a:pos x="T0" y="T1"/>
                    </a:cxn>
                    <a:cxn ang="T5">
                      <a:pos x="T2" y="T3"/>
                    </a:cxn>
                  </a:cxnLst>
                  <a:rect l="0" t="0" r="r" b="b"/>
                  <a:pathLst>
                    <a:path w="482" h="2">
                      <a:moveTo>
                        <a:pt x="0" y="2"/>
                      </a:moveTo>
                      <a:lnTo>
                        <a:pt x="482"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5" name="Freeform 22"/>
                <p:cNvSpPr>
                  <a:spLocks/>
                </p:cNvSpPr>
                <p:nvPr/>
              </p:nvSpPr>
              <p:spPr bwMode="auto">
                <a:xfrm>
                  <a:off x="1437" y="708"/>
                  <a:ext cx="258" cy="358"/>
                </a:xfrm>
                <a:custGeom>
                  <a:avLst/>
                  <a:gdLst>
                    <a:gd name="T0" fmla="*/ 258 w 258"/>
                    <a:gd name="T1" fmla="*/ 0 h 358"/>
                    <a:gd name="T2" fmla="*/ 0 w 258"/>
                    <a:gd name="T3" fmla="*/ 358 h 358"/>
                    <a:gd name="T4" fmla="*/ 0 60000 65536"/>
                    <a:gd name="T5" fmla="*/ 0 60000 65536"/>
                  </a:gdLst>
                  <a:ahLst/>
                  <a:cxnLst>
                    <a:cxn ang="T4">
                      <a:pos x="T0" y="T1"/>
                    </a:cxn>
                    <a:cxn ang="T5">
                      <a:pos x="T2" y="T3"/>
                    </a:cxn>
                  </a:cxnLst>
                  <a:rect l="0" t="0" r="r" b="b"/>
                  <a:pathLst>
                    <a:path w="258" h="358">
                      <a:moveTo>
                        <a:pt x="258" y="0"/>
                      </a:moveTo>
                      <a:lnTo>
                        <a:pt x="0" y="358"/>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6" name="Freeform 23"/>
                <p:cNvSpPr>
                  <a:spLocks/>
                </p:cNvSpPr>
                <p:nvPr/>
              </p:nvSpPr>
              <p:spPr bwMode="auto">
                <a:xfrm>
                  <a:off x="1172" y="708"/>
                  <a:ext cx="185" cy="351"/>
                </a:xfrm>
                <a:custGeom>
                  <a:avLst/>
                  <a:gdLst>
                    <a:gd name="T0" fmla="*/ 0 w 185"/>
                    <a:gd name="T1" fmla="*/ 0 h 351"/>
                    <a:gd name="T2" fmla="*/ 185 w 185"/>
                    <a:gd name="T3" fmla="*/ 351 h 351"/>
                    <a:gd name="T4" fmla="*/ 0 60000 65536"/>
                    <a:gd name="T5" fmla="*/ 0 60000 65536"/>
                  </a:gdLst>
                  <a:ahLst/>
                  <a:cxnLst>
                    <a:cxn ang="T4">
                      <a:pos x="T0" y="T1"/>
                    </a:cxn>
                    <a:cxn ang="T5">
                      <a:pos x="T2" y="T3"/>
                    </a:cxn>
                  </a:cxnLst>
                  <a:rect l="0" t="0" r="r" b="b"/>
                  <a:pathLst>
                    <a:path w="185" h="351">
                      <a:moveTo>
                        <a:pt x="0" y="0"/>
                      </a:moveTo>
                      <a:lnTo>
                        <a:pt x="185" y="35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7" name="Freeform 24"/>
                <p:cNvSpPr>
                  <a:spLocks/>
                </p:cNvSpPr>
                <p:nvPr/>
              </p:nvSpPr>
              <p:spPr bwMode="auto">
                <a:xfrm>
                  <a:off x="912" y="1105"/>
                  <a:ext cx="439" cy="1"/>
                </a:xfrm>
                <a:custGeom>
                  <a:avLst/>
                  <a:gdLst>
                    <a:gd name="T0" fmla="*/ 439 w 439"/>
                    <a:gd name="T1" fmla="*/ 1 h 1"/>
                    <a:gd name="T2" fmla="*/ 0 w 439"/>
                    <a:gd name="T3" fmla="*/ 0 h 1"/>
                    <a:gd name="T4" fmla="*/ 0 60000 65536"/>
                    <a:gd name="T5" fmla="*/ 0 60000 65536"/>
                  </a:gdLst>
                  <a:ahLst/>
                  <a:cxnLst>
                    <a:cxn ang="T4">
                      <a:pos x="T0" y="T1"/>
                    </a:cxn>
                    <a:cxn ang="T5">
                      <a:pos x="T2" y="T3"/>
                    </a:cxn>
                  </a:cxnLst>
                  <a:rect l="0" t="0" r="r" b="b"/>
                  <a:pathLst>
                    <a:path w="439" h="1">
                      <a:moveTo>
                        <a:pt x="439" y="1"/>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8" name="Freeform 25"/>
                <p:cNvSpPr>
                  <a:spLocks/>
                </p:cNvSpPr>
                <p:nvPr/>
              </p:nvSpPr>
              <p:spPr bwMode="auto">
                <a:xfrm>
                  <a:off x="887" y="1145"/>
                  <a:ext cx="199" cy="391"/>
                </a:xfrm>
                <a:custGeom>
                  <a:avLst/>
                  <a:gdLst>
                    <a:gd name="T0" fmla="*/ 0 w 199"/>
                    <a:gd name="T1" fmla="*/ 0 h 391"/>
                    <a:gd name="T2" fmla="*/ 199 w 199"/>
                    <a:gd name="T3" fmla="*/ 391 h 391"/>
                    <a:gd name="T4" fmla="*/ 0 60000 65536"/>
                    <a:gd name="T5" fmla="*/ 0 60000 65536"/>
                  </a:gdLst>
                  <a:ahLst/>
                  <a:cxnLst>
                    <a:cxn ang="T4">
                      <a:pos x="T0" y="T1"/>
                    </a:cxn>
                    <a:cxn ang="T5">
                      <a:pos x="T2" y="T3"/>
                    </a:cxn>
                  </a:cxnLst>
                  <a:rect l="0" t="0" r="r" b="b"/>
                  <a:pathLst>
                    <a:path w="199" h="391">
                      <a:moveTo>
                        <a:pt x="0" y="0"/>
                      </a:moveTo>
                      <a:lnTo>
                        <a:pt x="199" y="39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9" name="Freeform 26"/>
                <p:cNvSpPr>
                  <a:spLocks/>
                </p:cNvSpPr>
                <p:nvPr/>
              </p:nvSpPr>
              <p:spPr bwMode="auto">
                <a:xfrm>
                  <a:off x="629" y="1582"/>
                  <a:ext cx="427" cy="2"/>
                </a:xfrm>
                <a:custGeom>
                  <a:avLst/>
                  <a:gdLst>
                    <a:gd name="T0" fmla="*/ 427 w 427"/>
                    <a:gd name="T1" fmla="*/ 2 h 2"/>
                    <a:gd name="T2" fmla="*/ 0 w 427"/>
                    <a:gd name="T3" fmla="*/ 0 h 2"/>
                    <a:gd name="T4" fmla="*/ 0 60000 65536"/>
                    <a:gd name="T5" fmla="*/ 0 60000 65536"/>
                  </a:gdLst>
                  <a:ahLst/>
                  <a:cxnLst>
                    <a:cxn ang="T4">
                      <a:pos x="T0" y="T1"/>
                    </a:cxn>
                    <a:cxn ang="T5">
                      <a:pos x="T2" y="T3"/>
                    </a:cxn>
                  </a:cxnLst>
                  <a:rect l="0" t="0" r="r" b="b"/>
                  <a:pathLst>
                    <a:path w="427" h="2">
                      <a:moveTo>
                        <a:pt x="427" y="2"/>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0" name="Line 27"/>
                <p:cNvSpPr>
                  <a:spLocks noChangeShapeType="1"/>
                </p:cNvSpPr>
                <p:nvPr/>
              </p:nvSpPr>
              <p:spPr bwMode="auto">
                <a:xfrm flipH="1">
                  <a:off x="1152" y="1584"/>
                  <a:ext cx="48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1" name="Line 28"/>
                <p:cNvSpPr>
                  <a:spLocks noChangeShapeType="1"/>
                </p:cNvSpPr>
                <p:nvPr/>
              </p:nvSpPr>
              <p:spPr bwMode="auto">
                <a:xfrm>
                  <a:off x="1728" y="1584"/>
                  <a:ext cx="48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2" name="Freeform 29"/>
                <p:cNvSpPr>
                  <a:spLocks/>
                </p:cNvSpPr>
                <p:nvPr/>
              </p:nvSpPr>
              <p:spPr bwMode="auto">
                <a:xfrm>
                  <a:off x="1132" y="1145"/>
                  <a:ext cx="232" cy="391"/>
                </a:xfrm>
                <a:custGeom>
                  <a:avLst/>
                  <a:gdLst>
                    <a:gd name="T0" fmla="*/ 232 w 232"/>
                    <a:gd name="T1" fmla="*/ 0 h 391"/>
                    <a:gd name="T2" fmla="*/ 0 w 232"/>
                    <a:gd name="T3" fmla="*/ 391 h 391"/>
                    <a:gd name="T4" fmla="*/ 0 60000 65536"/>
                    <a:gd name="T5" fmla="*/ 0 60000 65536"/>
                  </a:gdLst>
                  <a:ahLst/>
                  <a:cxnLst>
                    <a:cxn ang="T4">
                      <a:pos x="T0" y="T1"/>
                    </a:cxn>
                    <a:cxn ang="T5">
                      <a:pos x="T2" y="T3"/>
                    </a:cxn>
                  </a:cxnLst>
                  <a:rect l="0" t="0" r="r" b="b"/>
                  <a:pathLst>
                    <a:path w="232" h="391">
                      <a:moveTo>
                        <a:pt x="232" y="0"/>
                      </a:moveTo>
                      <a:lnTo>
                        <a:pt x="0" y="39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3" name="Freeform 30"/>
                <p:cNvSpPr>
                  <a:spLocks/>
                </p:cNvSpPr>
                <p:nvPr/>
              </p:nvSpPr>
              <p:spPr bwMode="auto">
                <a:xfrm>
                  <a:off x="1417" y="1139"/>
                  <a:ext cx="238" cy="404"/>
                </a:xfrm>
                <a:custGeom>
                  <a:avLst/>
                  <a:gdLst>
                    <a:gd name="T0" fmla="*/ 0 w 238"/>
                    <a:gd name="T1" fmla="*/ 0 h 404"/>
                    <a:gd name="T2" fmla="*/ 238 w 238"/>
                    <a:gd name="T3" fmla="*/ 404 h 404"/>
                    <a:gd name="T4" fmla="*/ 0 60000 65536"/>
                    <a:gd name="T5" fmla="*/ 0 60000 65536"/>
                  </a:gdLst>
                  <a:ahLst/>
                  <a:cxnLst>
                    <a:cxn ang="T4">
                      <a:pos x="T0" y="T1"/>
                    </a:cxn>
                    <a:cxn ang="T5">
                      <a:pos x="T2" y="T3"/>
                    </a:cxn>
                  </a:cxnLst>
                  <a:rect l="0" t="0" r="r" b="b"/>
                  <a:pathLst>
                    <a:path w="238" h="404">
                      <a:moveTo>
                        <a:pt x="0" y="0"/>
                      </a:moveTo>
                      <a:lnTo>
                        <a:pt x="238" y="404"/>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4" name="Line 31"/>
                <p:cNvSpPr>
                  <a:spLocks noChangeShapeType="1"/>
                </p:cNvSpPr>
                <p:nvPr/>
              </p:nvSpPr>
              <p:spPr bwMode="auto">
                <a:xfrm flipH="1">
                  <a:off x="1680" y="1152"/>
                  <a:ext cx="240" cy="3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5" name="Freeform 32"/>
                <p:cNvSpPr>
                  <a:spLocks/>
                </p:cNvSpPr>
                <p:nvPr/>
              </p:nvSpPr>
              <p:spPr bwMode="auto">
                <a:xfrm>
                  <a:off x="1993" y="1152"/>
                  <a:ext cx="245" cy="391"/>
                </a:xfrm>
                <a:custGeom>
                  <a:avLst/>
                  <a:gdLst>
                    <a:gd name="T0" fmla="*/ 245 w 245"/>
                    <a:gd name="T1" fmla="*/ 391 h 391"/>
                    <a:gd name="T2" fmla="*/ 0 w 245"/>
                    <a:gd name="T3" fmla="*/ 0 h 391"/>
                    <a:gd name="T4" fmla="*/ 0 60000 65536"/>
                    <a:gd name="T5" fmla="*/ 0 60000 65536"/>
                  </a:gdLst>
                  <a:ahLst/>
                  <a:cxnLst>
                    <a:cxn ang="T4">
                      <a:pos x="T0" y="T1"/>
                    </a:cxn>
                    <a:cxn ang="T5">
                      <a:pos x="T2" y="T3"/>
                    </a:cxn>
                  </a:cxnLst>
                  <a:rect l="0" t="0" r="r" b="b"/>
                  <a:pathLst>
                    <a:path w="245" h="391">
                      <a:moveTo>
                        <a:pt x="245" y="391"/>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6" name="Line 33"/>
                <p:cNvSpPr>
                  <a:spLocks noChangeShapeType="1"/>
                </p:cNvSpPr>
                <p:nvPr/>
              </p:nvSpPr>
              <p:spPr bwMode="auto">
                <a:xfrm>
                  <a:off x="1440" y="1104"/>
                  <a:ext cx="48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7" name="Freeform 34"/>
                <p:cNvSpPr>
                  <a:spLocks/>
                </p:cNvSpPr>
                <p:nvPr/>
              </p:nvSpPr>
              <p:spPr bwMode="auto">
                <a:xfrm>
                  <a:off x="1748" y="715"/>
                  <a:ext cx="198" cy="351"/>
                </a:xfrm>
                <a:custGeom>
                  <a:avLst/>
                  <a:gdLst>
                    <a:gd name="T0" fmla="*/ 0 w 198"/>
                    <a:gd name="T1" fmla="*/ 0 h 351"/>
                    <a:gd name="T2" fmla="*/ 198 w 198"/>
                    <a:gd name="T3" fmla="*/ 351 h 351"/>
                    <a:gd name="T4" fmla="*/ 0 60000 65536"/>
                    <a:gd name="T5" fmla="*/ 0 60000 65536"/>
                  </a:gdLst>
                  <a:ahLst/>
                  <a:cxnLst>
                    <a:cxn ang="T4">
                      <a:pos x="T0" y="T1"/>
                    </a:cxn>
                    <a:cxn ang="T5">
                      <a:pos x="T2" y="T3"/>
                    </a:cxn>
                  </a:cxnLst>
                  <a:rect l="0" t="0" r="r" b="b"/>
                  <a:pathLst>
                    <a:path w="198" h="351">
                      <a:moveTo>
                        <a:pt x="0" y="0"/>
                      </a:moveTo>
                      <a:lnTo>
                        <a:pt x="198" y="35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38" name="Text Box 35"/>
                <p:cNvSpPr txBox="1">
                  <a:spLocks noChangeArrowheads="1"/>
                </p:cNvSpPr>
                <p:nvPr/>
              </p:nvSpPr>
              <p:spPr bwMode="auto">
                <a:xfrm>
                  <a:off x="1296" y="9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a</a:t>
                  </a:r>
                </a:p>
              </p:txBody>
            </p:sp>
            <p:sp>
              <p:nvSpPr>
                <p:cNvPr id="139" name="Text Box 36"/>
                <p:cNvSpPr txBox="1">
                  <a:spLocks noChangeArrowheads="1"/>
                </p:cNvSpPr>
                <p:nvPr/>
              </p:nvSpPr>
              <p:spPr bwMode="auto">
                <a:xfrm>
                  <a:off x="956" y="48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b</a:t>
                  </a:r>
                </a:p>
              </p:txBody>
            </p:sp>
            <p:sp>
              <p:nvSpPr>
                <p:cNvPr id="140" name="Text Box 37"/>
                <p:cNvSpPr txBox="1">
                  <a:spLocks noChangeArrowheads="1"/>
                </p:cNvSpPr>
                <p:nvPr/>
              </p:nvSpPr>
              <p:spPr bwMode="auto">
                <a:xfrm>
                  <a:off x="1728" y="480"/>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c</a:t>
                  </a:r>
                </a:p>
              </p:txBody>
            </p:sp>
            <p:sp>
              <p:nvSpPr>
                <p:cNvPr id="141" name="Text Box 38"/>
                <p:cNvSpPr txBox="1">
                  <a:spLocks noChangeArrowheads="1"/>
                </p:cNvSpPr>
                <p:nvPr/>
              </p:nvSpPr>
              <p:spPr bwMode="auto">
                <a:xfrm>
                  <a:off x="668" y="91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d</a:t>
                  </a:r>
                </a:p>
              </p:txBody>
            </p:sp>
            <p:sp>
              <p:nvSpPr>
                <p:cNvPr id="142" name="Text Box 39"/>
                <p:cNvSpPr txBox="1">
                  <a:spLocks noChangeArrowheads="1"/>
                </p:cNvSpPr>
                <p:nvPr/>
              </p:nvSpPr>
              <p:spPr bwMode="auto">
                <a:xfrm>
                  <a:off x="1296" y="768"/>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e</a:t>
                  </a:r>
                </a:p>
              </p:txBody>
            </p:sp>
            <p:sp>
              <p:nvSpPr>
                <p:cNvPr id="143" name="Text Box 40"/>
                <p:cNvSpPr txBox="1">
                  <a:spLocks noChangeArrowheads="1"/>
                </p:cNvSpPr>
                <p:nvPr/>
              </p:nvSpPr>
              <p:spPr bwMode="auto">
                <a:xfrm>
                  <a:off x="2024" y="912"/>
                  <a:ext cx="16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f</a:t>
                  </a:r>
                </a:p>
              </p:txBody>
            </p:sp>
            <p:sp>
              <p:nvSpPr>
                <p:cNvPr id="144" name="Text Box 41"/>
                <p:cNvSpPr txBox="1">
                  <a:spLocks noChangeArrowheads="1"/>
                </p:cNvSpPr>
                <p:nvPr/>
              </p:nvSpPr>
              <p:spPr bwMode="auto">
                <a:xfrm>
                  <a:off x="476" y="158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g</a:t>
                  </a:r>
                </a:p>
              </p:txBody>
            </p:sp>
            <p:sp>
              <p:nvSpPr>
                <p:cNvPr id="145" name="Text Box 42"/>
                <p:cNvSpPr txBox="1">
                  <a:spLocks noChangeArrowheads="1"/>
                </p:cNvSpPr>
                <p:nvPr/>
              </p:nvSpPr>
              <p:spPr bwMode="auto">
                <a:xfrm>
                  <a:off x="1004" y="158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h</a:t>
                  </a:r>
                </a:p>
              </p:txBody>
            </p:sp>
            <p:sp>
              <p:nvSpPr>
                <p:cNvPr id="146" name="Text Box 43"/>
                <p:cNvSpPr txBox="1">
                  <a:spLocks noChangeArrowheads="1"/>
                </p:cNvSpPr>
                <p:nvPr/>
              </p:nvSpPr>
              <p:spPr bwMode="auto">
                <a:xfrm>
                  <a:off x="1596" y="158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i</a:t>
                  </a:r>
                </a:p>
              </p:txBody>
            </p:sp>
            <p:sp>
              <p:nvSpPr>
                <p:cNvPr id="147" name="Text Box 44"/>
                <p:cNvSpPr txBox="1">
                  <a:spLocks noChangeArrowheads="1"/>
                </p:cNvSpPr>
                <p:nvPr/>
              </p:nvSpPr>
              <p:spPr bwMode="auto">
                <a:xfrm>
                  <a:off x="2172" y="158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j</a:t>
                  </a:r>
                </a:p>
              </p:txBody>
            </p:sp>
            <p:sp>
              <p:nvSpPr>
                <p:cNvPr id="148" name="Oval 7"/>
                <p:cNvSpPr>
                  <a:spLocks noChangeArrowheads="1"/>
                </p:cNvSpPr>
                <p:nvPr/>
              </p:nvSpPr>
              <p:spPr bwMode="auto">
                <a:xfrm>
                  <a:off x="1104" y="6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grpSp>
          <p:sp>
            <p:nvSpPr>
              <p:cNvPr id="110" name="Text Box 85"/>
              <p:cNvSpPr txBox="1">
                <a:spLocks noChangeArrowheads="1"/>
              </p:cNvSpPr>
              <p:nvPr/>
            </p:nvSpPr>
            <p:spPr bwMode="auto">
              <a:xfrm>
                <a:off x="476" y="359"/>
                <a:ext cx="295"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dirty="0">
                    <a:solidFill>
                      <a:schemeClr val="tx2"/>
                    </a:solidFill>
                    <a:latin typeface="Arial" pitchFamily="34" charset="0"/>
                  </a:rPr>
                  <a:t>G:</a:t>
                </a:r>
              </a:p>
            </p:txBody>
          </p:sp>
        </p:grpSp>
      </p:grpSp>
      <p:grpSp>
        <p:nvGrpSpPr>
          <p:cNvPr id="150" name="Group 150"/>
          <p:cNvGrpSpPr>
            <a:grpSpLocks/>
          </p:cNvGrpSpPr>
          <p:nvPr/>
        </p:nvGrpSpPr>
        <p:grpSpPr bwMode="auto">
          <a:xfrm>
            <a:off x="2057400" y="4267200"/>
            <a:ext cx="5913438" cy="1868488"/>
            <a:chOff x="883" y="2488"/>
            <a:chExt cx="3725" cy="1177"/>
          </a:xfrm>
        </p:grpSpPr>
        <p:sp>
          <p:nvSpPr>
            <p:cNvPr id="151" name="Freeform 95"/>
            <p:cNvSpPr>
              <a:spLocks/>
            </p:cNvSpPr>
            <p:nvPr/>
          </p:nvSpPr>
          <p:spPr bwMode="auto">
            <a:xfrm>
              <a:off x="1824" y="2496"/>
              <a:ext cx="481" cy="475"/>
            </a:xfrm>
            <a:custGeom>
              <a:avLst/>
              <a:gdLst>
                <a:gd name="T0" fmla="*/ 78 w 481"/>
                <a:gd name="T1" fmla="*/ 423 h 475"/>
                <a:gd name="T2" fmla="*/ 376 w 481"/>
                <a:gd name="T3" fmla="*/ 436 h 475"/>
                <a:gd name="T4" fmla="*/ 462 w 481"/>
                <a:gd name="T5" fmla="*/ 191 h 475"/>
                <a:gd name="T6" fmla="*/ 263 w 481"/>
                <a:gd name="T7" fmla="*/ 5 h 475"/>
                <a:gd name="T8" fmla="*/ 31 w 481"/>
                <a:gd name="T9" fmla="*/ 158 h 475"/>
                <a:gd name="T10" fmla="*/ 78 w 481"/>
                <a:gd name="T11" fmla="*/ 423 h 47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1" h="475">
                  <a:moveTo>
                    <a:pt x="78" y="423"/>
                  </a:moveTo>
                  <a:cubicBezTo>
                    <a:pt x="135" y="469"/>
                    <a:pt x="312" y="475"/>
                    <a:pt x="376" y="436"/>
                  </a:cubicBezTo>
                  <a:cubicBezTo>
                    <a:pt x="440" y="397"/>
                    <a:pt x="481" y="263"/>
                    <a:pt x="462" y="191"/>
                  </a:cubicBezTo>
                  <a:cubicBezTo>
                    <a:pt x="443" y="119"/>
                    <a:pt x="335" y="10"/>
                    <a:pt x="263" y="5"/>
                  </a:cubicBezTo>
                  <a:cubicBezTo>
                    <a:pt x="191" y="0"/>
                    <a:pt x="62" y="88"/>
                    <a:pt x="31" y="158"/>
                  </a:cubicBezTo>
                  <a:cubicBezTo>
                    <a:pt x="0" y="228"/>
                    <a:pt x="21" y="377"/>
                    <a:pt x="78" y="423"/>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52" name="Freeform 96"/>
            <p:cNvSpPr>
              <a:spLocks/>
            </p:cNvSpPr>
            <p:nvPr/>
          </p:nvSpPr>
          <p:spPr bwMode="auto">
            <a:xfrm>
              <a:off x="2782" y="2488"/>
              <a:ext cx="494" cy="1024"/>
            </a:xfrm>
            <a:custGeom>
              <a:avLst/>
              <a:gdLst>
                <a:gd name="T0" fmla="*/ 38 w 494"/>
                <a:gd name="T1" fmla="*/ 822 h 1024"/>
                <a:gd name="T2" fmla="*/ 250 w 494"/>
                <a:gd name="T3" fmla="*/ 1021 h 1024"/>
                <a:gd name="T4" fmla="*/ 459 w 494"/>
                <a:gd name="T5" fmla="*/ 838 h 1024"/>
                <a:gd name="T6" fmla="*/ 462 w 494"/>
                <a:gd name="T7" fmla="*/ 154 h 1024"/>
                <a:gd name="T8" fmla="*/ 264 w 494"/>
                <a:gd name="T9" fmla="*/ 1 h 1024"/>
                <a:gd name="T10" fmla="*/ 38 w 494"/>
                <a:gd name="T11" fmla="*/ 147 h 1024"/>
                <a:gd name="T12" fmla="*/ 38 w 494"/>
                <a:gd name="T13" fmla="*/ 822 h 10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4" h="1024">
                  <a:moveTo>
                    <a:pt x="38" y="822"/>
                  </a:moveTo>
                  <a:cubicBezTo>
                    <a:pt x="73" y="974"/>
                    <a:pt x="180" y="1018"/>
                    <a:pt x="250" y="1021"/>
                  </a:cubicBezTo>
                  <a:cubicBezTo>
                    <a:pt x="320" y="1024"/>
                    <a:pt x="424" y="982"/>
                    <a:pt x="459" y="838"/>
                  </a:cubicBezTo>
                  <a:cubicBezTo>
                    <a:pt x="494" y="694"/>
                    <a:pt x="494" y="294"/>
                    <a:pt x="462" y="154"/>
                  </a:cubicBezTo>
                  <a:cubicBezTo>
                    <a:pt x="430" y="14"/>
                    <a:pt x="335" y="2"/>
                    <a:pt x="264" y="1"/>
                  </a:cubicBezTo>
                  <a:cubicBezTo>
                    <a:pt x="193" y="0"/>
                    <a:pt x="76" y="10"/>
                    <a:pt x="38" y="147"/>
                  </a:cubicBezTo>
                  <a:cubicBezTo>
                    <a:pt x="0" y="284"/>
                    <a:pt x="38" y="682"/>
                    <a:pt x="38" y="822"/>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53" name="Freeform 97"/>
            <p:cNvSpPr>
              <a:spLocks/>
            </p:cNvSpPr>
            <p:nvPr/>
          </p:nvSpPr>
          <p:spPr bwMode="auto">
            <a:xfrm>
              <a:off x="4086" y="2521"/>
              <a:ext cx="522" cy="1041"/>
            </a:xfrm>
            <a:custGeom>
              <a:avLst/>
              <a:gdLst>
                <a:gd name="T0" fmla="*/ 39 w 522"/>
                <a:gd name="T1" fmla="*/ 849 h 1041"/>
                <a:gd name="T2" fmla="*/ 264 w 522"/>
                <a:gd name="T3" fmla="*/ 1041 h 1041"/>
                <a:gd name="T4" fmla="*/ 489 w 522"/>
                <a:gd name="T5" fmla="*/ 849 h 1041"/>
                <a:gd name="T6" fmla="*/ 462 w 522"/>
                <a:gd name="T7" fmla="*/ 154 h 1041"/>
                <a:gd name="T8" fmla="*/ 231 w 522"/>
                <a:gd name="T9" fmla="*/ 1 h 1041"/>
                <a:gd name="T10" fmla="*/ 32 w 522"/>
                <a:gd name="T11" fmla="*/ 160 h 1041"/>
                <a:gd name="T12" fmla="*/ 39 w 522"/>
                <a:gd name="T13" fmla="*/ 849 h 10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22" h="1041">
                  <a:moveTo>
                    <a:pt x="39" y="849"/>
                  </a:moveTo>
                  <a:cubicBezTo>
                    <a:pt x="78" y="996"/>
                    <a:pt x="189" y="1041"/>
                    <a:pt x="264" y="1041"/>
                  </a:cubicBezTo>
                  <a:cubicBezTo>
                    <a:pt x="339" y="1041"/>
                    <a:pt x="456" y="997"/>
                    <a:pt x="489" y="849"/>
                  </a:cubicBezTo>
                  <a:cubicBezTo>
                    <a:pt x="522" y="701"/>
                    <a:pt x="505" y="295"/>
                    <a:pt x="462" y="154"/>
                  </a:cubicBezTo>
                  <a:cubicBezTo>
                    <a:pt x="419" y="13"/>
                    <a:pt x="303" y="0"/>
                    <a:pt x="231" y="1"/>
                  </a:cubicBezTo>
                  <a:cubicBezTo>
                    <a:pt x="159" y="2"/>
                    <a:pt x="64" y="19"/>
                    <a:pt x="32" y="160"/>
                  </a:cubicBezTo>
                  <a:cubicBezTo>
                    <a:pt x="0" y="301"/>
                    <a:pt x="38" y="706"/>
                    <a:pt x="39" y="849"/>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54" name="Freeform 98"/>
            <p:cNvSpPr>
              <a:spLocks/>
            </p:cNvSpPr>
            <p:nvPr/>
          </p:nvSpPr>
          <p:spPr bwMode="auto">
            <a:xfrm>
              <a:off x="883" y="2538"/>
              <a:ext cx="547" cy="1127"/>
            </a:xfrm>
            <a:custGeom>
              <a:avLst/>
              <a:gdLst>
                <a:gd name="T0" fmla="*/ 37 w 547"/>
                <a:gd name="T1" fmla="*/ 918 h 1127"/>
                <a:gd name="T2" fmla="*/ 243 w 547"/>
                <a:gd name="T3" fmla="*/ 1123 h 1127"/>
                <a:gd name="T4" fmla="*/ 501 w 547"/>
                <a:gd name="T5" fmla="*/ 944 h 1127"/>
                <a:gd name="T6" fmla="*/ 507 w 547"/>
                <a:gd name="T7" fmla="*/ 183 h 1127"/>
                <a:gd name="T8" fmla="*/ 259 w 547"/>
                <a:gd name="T9" fmla="*/ 7 h 1127"/>
                <a:gd name="T10" fmla="*/ 37 w 547"/>
                <a:gd name="T11" fmla="*/ 223 h 1127"/>
                <a:gd name="T12" fmla="*/ 37 w 547"/>
                <a:gd name="T13" fmla="*/ 918 h 11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47" h="1127">
                  <a:moveTo>
                    <a:pt x="37" y="918"/>
                  </a:moveTo>
                  <a:cubicBezTo>
                    <a:pt x="67" y="1076"/>
                    <a:pt x="166" y="1119"/>
                    <a:pt x="243" y="1123"/>
                  </a:cubicBezTo>
                  <a:cubicBezTo>
                    <a:pt x="320" y="1127"/>
                    <a:pt x="457" y="1101"/>
                    <a:pt x="501" y="944"/>
                  </a:cubicBezTo>
                  <a:cubicBezTo>
                    <a:pt x="545" y="787"/>
                    <a:pt x="547" y="339"/>
                    <a:pt x="507" y="183"/>
                  </a:cubicBezTo>
                  <a:cubicBezTo>
                    <a:pt x="467" y="27"/>
                    <a:pt x="337" y="0"/>
                    <a:pt x="259" y="7"/>
                  </a:cubicBezTo>
                  <a:cubicBezTo>
                    <a:pt x="181" y="14"/>
                    <a:pt x="74" y="71"/>
                    <a:pt x="37" y="223"/>
                  </a:cubicBezTo>
                  <a:cubicBezTo>
                    <a:pt x="0" y="375"/>
                    <a:pt x="37" y="773"/>
                    <a:pt x="37" y="918"/>
                  </a:cubicBezTo>
                  <a:close/>
                </a:path>
              </a:pathLst>
            </a:custGeom>
            <a:solidFill>
              <a:srgbClr val="FFCC99"/>
            </a:solidFill>
            <a:ln w="12700" cap="flat" cmpd="sng">
              <a:noFill/>
              <a:prstDash val="sysDot"/>
              <a:round/>
              <a:headEnd type="none" w="med" len="med"/>
              <a:tailEnd type="none" w="med" len="med"/>
            </a:ln>
            <a:effectLst/>
            <a:scene3d>
              <a:camera prst="orthographicFront">
                <a:rot lat="0" lon="0" rev="0"/>
              </a:camera>
              <a:lightRig rig="contrasting" dir="t">
                <a:rot lat="0" lon="0" rev="7800000"/>
              </a:lightRig>
            </a:scene3d>
            <a:sp3d>
              <a:bevelT w="139700" h="139700"/>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grpSp>
        <p:nvGrpSpPr>
          <p:cNvPr id="155" name="Group 148"/>
          <p:cNvGrpSpPr>
            <a:grpSpLocks/>
          </p:cNvGrpSpPr>
          <p:nvPr/>
        </p:nvGrpSpPr>
        <p:grpSpPr bwMode="auto">
          <a:xfrm>
            <a:off x="884238" y="4197350"/>
            <a:ext cx="6950075" cy="2092325"/>
            <a:chOff x="144" y="2444"/>
            <a:chExt cx="4378" cy="1318"/>
          </a:xfrm>
        </p:grpSpPr>
        <p:sp>
          <p:nvSpPr>
            <p:cNvPr id="156" name="Oval 100"/>
            <p:cNvSpPr>
              <a:spLocks noChangeArrowheads="1"/>
            </p:cNvSpPr>
            <p:nvPr/>
          </p:nvSpPr>
          <p:spPr bwMode="auto">
            <a:xfrm>
              <a:off x="1101" y="2700"/>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7" name="Oval 101"/>
            <p:cNvSpPr>
              <a:spLocks noChangeArrowheads="1"/>
            </p:cNvSpPr>
            <p:nvPr/>
          </p:nvSpPr>
          <p:spPr bwMode="auto">
            <a:xfrm>
              <a:off x="1101" y="30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8" name="Oval 102"/>
            <p:cNvSpPr>
              <a:spLocks noChangeArrowheads="1"/>
            </p:cNvSpPr>
            <p:nvPr/>
          </p:nvSpPr>
          <p:spPr bwMode="auto">
            <a:xfrm>
              <a:off x="1101" y="3420"/>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9" name="Oval 103"/>
            <p:cNvSpPr>
              <a:spLocks noChangeArrowheads="1"/>
            </p:cNvSpPr>
            <p:nvPr/>
          </p:nvSpPr>
          <p:spPr bwMode="auto">
            <a:xfrm>
              <a:off x="2016" y="268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0" name="Oval 104"/>
            <p:cNvSpPr>
              <a:spLocks noChangeArrowheads="1"/>
            </p:cNvSpPr>
            <p:nvPr/>
          </p:nvSpPr>
          <p:spPr bwMode="auto">
            <a:xfrm>
              <a:off x="4272" y="2736"/>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1" name="Oval 105"/>
            <p:cNvSpPr>
              <a:spLocks noChangeArrowheads="1"/>
            </p:cNvSpPr>
            <p:nvPr/>
          </p:nvSpPr>
          <p:spPr bwMode="auto">
            <a:xfrm>
              <a:off x="4272" y="30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2" name="Oval 106"/>
            <p:cNvSpPr>
              <a:spLocks noChangeArrowheads="1"/>
            </p:cNvSpPr>
            <p:nvPr/>
          </p:nvSpPr>
          <p:spPr bwMode="auto">
            <a:xfrm>
              <a:off x="4272" y="331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3" name="Oval 107"/>
            <p:cNvSpPr>
              <a:spLocks noChangeArrowheads="1"/>
            </p:cNvSpPr>
            <p:nvPr/>
          </p:nvSpPr>
          <p:spPr bwMode="auto">
            <a:xfrm>
              <a:off x="3012" y="268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4" name="Oval 108"/>
            <p:cNvSpPr>
              <a:spLocks noChangeArrowheads="1"/>
            </p:cNvSpPr>
            <p:nvPr/>
          </p:nvSpPr>
          <p:spPr bwMode="auto">
            <a:xfrm>
              <a:off x="3012" y="30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5" name="Oval 109"/>
            <p:cNvSpPr>
              <a:spLocks noChangeArrowheads="1"/>
            </p:cNvSpPr>
            <p:nvPr/>
          </p:nvSpPr>
          <p:spPr bwMode="auto">
            <a:xfrm>
              <a:off x="3012" y="331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66" name="Line 110"/>
            <p:cNvSpPr>
              <a:spLocks noChangeShapeType="1"/>
            </p:cNvSpPr>
            <p:nvPr/>
          </p:nvSpPr>
          <p:spPr bwMode="auto">
            <a:xfrm>
              <a:off x="1149" y="2796"/>
              <a:ext cx="0"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67" name="Line 111"/>
            <p:cNvSpPr>
              <a:spLocks noChangeShapeType="1"/>
            </p:cNvSpPr>
            <p:nvPr/>
          </p:nvSpPr>
          <p:spPr bwMode="auto">
            <a:xfrm>
              <a:off x="1149" y="3132"/>
              <a:ext cx="0"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68" name="Line 114"/>
            <p:cNvSpPr>
              <a:spLocks noChangeShapeType="1"/>
            </p:cNvSpPr>
            <p:nvPr/>
          </p:nvSpPr>
          <p:spPr bwMode="auto">
            <a:xfrm>
              <a:off x="4320" y="2832"/>
              <a:ext cx="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69" name="Line 115"/>
            <p:cNvSpPr>
              <a:spLocks noChangeShapeType="1"/>
            </p:cNvSpPr>
            <p:nvPr/>
          </p:nvSpPr>
          <p:spPr bwMode="auto">
            <a:xfrm>
              <a:off x="4320" y="3120"/>
              <a:ext cx="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0" name="Line 117"/>
            <p:cNvSpPr>
              <a:spLocks noChangeShapeType="1"/>
            </p:cNvSpPr>
            <p:nvPr/>
          </p:nvSpPr>
          <p:spPr bwMode="auto">
            <a:xfrm>
              <a:off x="3060" y="2784"/>
              <a:ext cx="0"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1" name="Line 118"/>
            <p:cNvSpPr>
              <a:spLocks noChangeShapeType="1"/>
            </p:cNvSpPr>
            <p:nvPr/>
          </p:nvSpPr>
          <p:spPr bwMode="auto">
            <a:xfrm>
              <a:off x="3060" y="3120"/>
              <a:ext cx="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2" name="Freeform 122"/>
            <p:cNvSpPr>
              <a:spLocks/>
            </p:cNvSpPr>
            <p:nvPr/>
          </p:nvSpPr>
          <p:spPr bwMode="auto">
            <a:xfrm>
              <a:off x="934" y="2781"/>
              <a:ext cx="158" cy="655"/>
            </a:xfrm>
            <a:custGeom>
              <a:avLst/>
              <a:gdLst>
                <a:gd name="T0" fmla="*/ 158 w 158"/>
                <a:gd name="T1" fmla="*/ 0 h 655"/>
                <a:gd name="T2" fmla="*/ 0 w 158"/>
                <a:gd name="T3" fmla="*/ 344 h 655"/>
                <a:gd name="T4" fmla="*/ 158 w 158"/>
                <a:gd name="T5" fmla="*/ 655 h 655"/>
                <a:gd name="T6" fmla="*/ 0 60000 65536"/>
                <a:gd name="T7" fmla="*/ 0 60000 65536"/>
                <a:gd name="T8" fmla="*/ 0 60000 65536"/>
              </a:gdLst>
              <a:ahLst/>
              <a:cxnLst>
                <a:cxn ang="T6">
                  <a:pos x="T0" y="T1"/>
                </a:cxn>
                <a:cxn ang="T7">
                  <a:pos x="T2" y="T3"/>
                </a:cxn>
                <a:cxn ang="T8">
                  <a:pos x="T4" y="T5"/>
                </a:cxn>
              </a:cxnLst>
              <a:rect l="0" t="0" r="r" b="b"/>
              <a:pathLst>
                <a:path w="158" h="655">
                  <a:moveTo>
                    <a:pt x="158" y="0"/>
                  </a:moveTo>
                  <a:cubicBezTo>
                    <a:pt x="132" y="57"/>
                    <a:pt x="0" y="235"/>
                    <a:pt x="0" y="344"/>
                  </a:cubicBezTo>
                  <a:cubicBezTo>
                    <a:pt x="0" y="453"/>
                    <a:pt x="125" y="590"/>
                    <a:pt x="158" y="655"/>
                  </a:cubicBezTo>
                </a:path>
              </a:pathLst>
            </a:custGeom>
            <a:noFill/>
            <a:ln w="12700" cap="flat" cmpd="sng">
              <a:solidFill>
                <a:srgbClr val="969696"/>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3" name="Freeform 125"/>
            <p:cNvSpPr>
              <a:spLocks/>
            </p:cNvSpPr>
            <p:nvPr/>
          </p:nvSpPr>
          <p:spPr bwMode="auto">
            <a:xfrm>
              <a:off x="4370" y="2814"/>
              <a:ext cx="147" cy="532"/>
            </a:xfrm>
            <a:custGeom>
              <a:avLst/>
              <a:gdLst>
                <a:gd name="T0" fmla="*/ 14 w 147"/>
                <a:gd name="T1" fmla="*/ 532 h 532"/>
                <a:gd name="T2" fmla="*/ 145 w 147"/>
                <a:gd name="T3" fmla="*/ 258 h 532"/>
                <a:gd name="T4" fmla="*/ 0 w 147"/>
                <a:gd name="T5" fmla="*/ 0 h 532"/>
                <a:gd name="T6" fmla="*/ 0 60000 65536"/>
                <a:gd name="T7" fmla="*/ 0 60000 65536"/>
                <a:gd name="T8" fmla="*/ 0 60000 65536"/>
              </a:gdLst>
              <a:ahLst/>
              <a:cxnLst>
                <a:cxn ang="T6">
                  <a:pos x="T0" y="T1"/>
                </a:cxn>
                <a:cxn ang="T7">
                  <a:pos x="T2" y="T3"/>
                </a:cxn>
                <a:cxn ang="T8">
                  <a:pos x="T4" y="T5"/>
                </a:cxn>
              </a:cxnLst>
              <a:rect l="0" t="0" r="r" b="b"/>
              <a:pathLst>
                <a:path w="147" h="532">
                  <a:moveTo>
                    <a:pt x="14" y="532"/>
                  </a:moveTo>
                  <a:cubicBezTo>
                    <a:pt x="36" y="486"/>
                    <a:pt x="147" y="347"/>
                    <a:pt x="145" y="258"/>
                  </a:cubicBezTo>
                  <a:cubicBezTo>
                    <a:pt x="143" y="169"/>
                    <a:pt x="30" y="54"/>
                    <a:pt x="0" y="0"/>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4" name="Freeform 126"/>
            <p:cNvSpPr>
              <a:spLocks/>
            </p:cNvSpPr>
            <p:nvPr/>
          </p:nvSpPr>
          <p:spPr bwMode="auto">
            <a:xfrm>
              <a:off x="3098" y="2767"/>
              <a:ext cx="119" cy="557"/>
            </a:xfrm>
            <a:custGeom>
              <a:avLst/>
              <a:gdLst>
                <a:gd name="T0" fmla="*/ 5 w 119"/>
                <a:gd name="T1" fmla="*/ 557 h 557"/>
                <a:gd name="T2" fmla="*/ 118 w 119"/>
                <a:gd name="T3" fmla="*/ 305 h 557"/>
                <a:gd name="T4" fmla="*/ 0 w 119"/>
                <a:gd name="T5" fmla="*/ 0 h 557"/>
                <a:gd name="T6" fmla="*/ 0 60000 65536"/>
                <a:gd name="T7" fmla="*/ 0 60000 65536"/>
                <a:gd name="T8" fmla="*/ 0 60000 65536"/>
              </a:gdLst>
              <a:ahLst/>
              <a:cxnLst>
                <a:cxn ang="T6">
                  <a:pos x="T0" y="T1"/>
                </a:cxn>
                <a:cxn ang="T7">
                  <a:pos x="T2" y="T3"/>
                </a:cxn>
                <a:cxn ang="T8">
                  <a:pos x="T4" y="T5"/>
                </a:cxn>
              </a:cxnLst>
              <a:rect l="0" t="0" r="r" b="b"/>
              <a:pathLst>
                <a:path w="119" h="557">
                  <a:moveTo>
                    <a:pt x="5" y="557"/>
                  </a:moveTo>
                  <a:cubicBezTo>
                    <a:pt x="24" y="516"/>
                    <a:pt x="119" y="398"/>
                    <a:pt x="118" y="305"/>
                  </a:cubicBezTo>
                  <a:cubicBezTo>
                    <a:pt x="117" y="212"/>
                    <a:pt x="25" y="64"/>
                    <a:pt x="0" y="0"/>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5" name="Text Box 128"/>
            <p:cNvSpPr txBox="1">
              <a:spLocks noChangeArrowheads="1"/>
            </p:cNvSpPr>
            <p:nvPr/>
          </p:nvSpPr>
          <p:spPr bwMode="auto">
            <a:xfrm>
              <a:off x="1100" y="2494"/>
              <a:ext cx="205"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a:solidFill>
                    <a:srgbClr val="CC0000"/>
                  </a:solidFill>
                  <a:latin typeface="Arial" pitchFamily="34" charset="0"/>
                </a:rPr>
                <a:t>a</a:t>
              </a:r>
            </a:p>
          </p:txBody>
        </p:sp>
        <p:sp>
          <p:nvSpPr>
            <p:cNvPr id="176" name="Text Box 129"/>
            <p:cNvSpPr txBox="1">
              <a:spLocks noChangeArrowheads="1"/>
            </p:cNvSpPr>
            <p:nvPr/>
          </p:nvSpPr>
          <p:spPr bwMode="auto">
            <a:xfrm>
              <a:off x="957" y="2940"/>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c</a:t>
              </a:r>
            </a:p>
          </p:txBody>
        </p:sp>
        <p:sp>
          <p:nvSpPr>
            <p:cNvPr id="177" name="Text Box 130"/>
            <p:cNvSpPr txBox="1">
              <a:spLocks noChangeArrowheads="1"/>
            </p:cNvSpPr>
            <p:nvPr/>
          </p:nvSpPr>
          <p:spPr bwMode="auto">
            <a:xfrm>
              <a:off x="912" y="340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b</a:t>
              </a:r>
            </a:p>
          </p:txBody>
        </p:sp>
        <p:sp>
          <p:nvSpPr>
            <p:cNvPr id="178" name="Text Box 131"/>
            <p:cNvSpPr txBox="1">
              <a:spLocks noChangeArrowheads="1"/>
            </p:cNvSpPr>
            <p:nvPr/>
          </p:nvSpPr>
          <p:spPr bwMode="auto">
            <a:xfrm>
              <a:off x="1911" y="2494"/>
              <a:ext cx="205"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a:solidFill>
                    <a:srgbClr val="CC0000"/>
                  </a:solidFill>
                  <a:latin typeface="Arial" pitchFamily="34" charset="0"/>
                </a:rPr>
                <a:t>e</a:t>
              </a:r>
            </a:p>
          </p:txBody>
        </p:sp>
        <p:sp>
          <p:nvSpPr>
            <p:cNvPr id="179" name="Text Box 132"/>
            <p:cNvSpPr txBox="1">
              <a:spLocks noChangeArrowheads="1"/>
            </p:cNvSpPr>
            <p:nvPr/>
          </p:nvSpPr>
          <p:spPr bwMode="auto">
            <a:xfrm>
              <a:off x="4219" y="2494"/>
              <a:ext cx="21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a:solidFill>
                    <a:srgbClr val="CC0000"/>
                  </a:solidFill>
                  <a:latin typeface="Arial" pitchFamily="34" charset="0"/>
                </a:rPr>
                <a:t>d</a:t>
              </a:r>
            </a:p>
          </p:txBody>
        </p:sp>
        <p:sp>
          <p:nvSpPr>
            <p:cNvPr id="180" name="Text Box 133"/>
            <p:cNvSpPr txBox="1">
              <a:spLocks noChangeArrowheads="1"/>
            </p:cNvSpPr>
            <p:nvPr/>
          </p:nvSpPr>
          <p:spPr bwMode="auto">
            <a:xfrm>
              <a:off x="4334" y="2916"/>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g</a:t>
              </a:r>
            </a:p>
          </p:txBody>
        </p:sp>
        <p:sp>
          <p:nvSpPr>
            <p:cNvPr id="181" name="Text Box 134"/>
            <p:cNvSpPr txBox="1">
              <a:spLocks noChangeArrowheads="1"/>
            </p:cNvSpPr>
            <p:nvPr/>
          </p:nvSpPr>
          <p:spPr bwMode="auto">
            <a:xfrm>
              <a:off x="4334" y="334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h</a:t>
              </a:r>
            </a:p>
          </p:txBody>
        </p:sp>
        <p:sp>
          <p:nvSpPr>
            <p:cNvPr id="182" name="Text Box 135"/>
            <p:cNvSpPr txBox="1">
              <a:spLocks noChangeArrowheads="1"/>
            </p:cNvSpPr>
            <p:nvPr/>
          </p:nvSpPr>
          <p:spPr bwMode="auto">
            <a:xfrm>
              <a:off x="2976" y="2446"/>
              <a:ext cx="16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2000" b="1">
                  <a:solidFill>
                    <a:srgbClr val="CC0000"/>
                  </a:solidFill>
                  <a:latin typeface="Arial" pitchFamily="34" charset="0"/>
                </a:rPr>
                <a:t>f</a:t>
              </a:r>
            </a:p>
          </p:txBody>
        </p:sp>
        <p:sp>
          <p:nvSpPr>
            <p:cNvPr id="183" name="Text Box 136"/>
            <p:cNvSpPr txBox="1">
              <a:spLocks noChangeArrowheads="1"/>
            </p:cNvSpPr>
            <p:nvPr/>
          </p:nvSpPr>
          <p:spPr bwMode="auto">
            <a:xfrm>
              <a:off x="2880" y="2928"/>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j</a:t>
              </a:r>
            </a:p>
          </p:txBody>
        </p:sp>
        <p:sp>
          <p:nvSpPr>
            <p:cNvPr id="184" name="Text Box 137"/>
            <p:cNvSpPr txBox="1">
              <a:spLocks noChangeArrowheads="1"/>
            </p:cNvSpPr>
            <p:nvPr/>
          </p:nvSpPr>
          <p:spPr bwMode="auto">
            <a:xfrm>
              <a:off x="2880" y="3264"/>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i</a:t>
              </a:r>
            </a:p>
          </p:txBody>
        </p:sp>
        <p:sp>
          <p:nvSpPr>
            <p:cNvPr id="185" name="Text Box 138"/>
            <p:cNvSpPr txBox="1">
              <a:spLocks noChangeArrowheads="1"/>
            </p:cNvSpPr>
            <p:nvPr/>
          </p:nvSpPr>
          <p:spPr bwMode="auto">
            <a:xfrm>
              <a:off x="144" y="2736"/>
              <a:ext cx="71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DFS(G</a:t>
              </a:r>
              <a:r>
                <a:rPr lang="en-US" sz="1800" baseline="30000">
                  <a:solidFill>
                    <a:schemeClr val="tx2"/>
                  </a:solidFill>
                  <a:latin typeface="Arial" pitchFamily="34" charset="0"/>
                </a:rPr>
                <a:t>T</a:t>
              </a:r>
              <a:r>
                <a:rPr lang="en-US" sz="1800">
                  <a:solidFill>
                    <a:schemeClr val="tx2"/>
                  </a:solidFill>
                  <a:latin typeface="Arial" pitchFamily="34" charset="0"/>
                </a:rPr>
                <a:t>):</a:t>
              </a:r>
            </a:p>
          </p:txBody>
        </p:sp>
        <p:sp>
          <p:nvSpPr>
            <p:cNvPr id="186" name="Freeform 139"/>
            <p:cNvSpPr>
              <a:spLocks/>
            </p:cNvSpPr>
            <p:nvPr/>
          </p:nvSpPr>
          <p:spPr bwMode="auto">
            <a:xfrm>
              <a:off x="1198" y="2736"/>
              <a:ext cx="818" cy="316"/>
            </a:xfrm>
            <a:custGeom>
              <a:avLst/>
              <a:gdLst>
                <a:gd name="T0" fmla="*/ 818 w 818"/>
                <a:gd name="T1" fmla="*/ 0 h 316"/>
                <a:gd name="T2" fmla="*/ 0 w 818"/>
                <a:gd name="T3" fmla="*/ 316 h 316"/>
                <a:gd name="T4" fmla="*/ 0 60000 65536"/>
                <a:gd name="T5" fmla="*/ 0 60000 65536"/>
              </a:gdLst>
              <a:ahLst/>
              <a:cxnLst>
                <a:cxn ang="T4">
                  <a:pos x="T0" y="T1"/>
                </a:cxn>
                <a:cxn ang="T5">
                  <a:pos x="T2" y="T3"/>
                </a:cxn>
              </a:cxnLst>
              <a:rect l="0" t="0" r="r" b="b"/>
              <a:pathLst>
                <a:path w="818" h="316">
                  <a:moveTo>
                    <a:pt x="818" y="0"/>
                  </a:moveTo>
                  <a:lnTo>
                    <a:pt x="0" y="316"/>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7" name="Freeform 140"/>
            <p:cNvSpPr>
              <a:spLocks/>
            </p:cNvSpPr>
            <p:nvPr/>
          </p:nvSpPr>
          <p:spPr bwMode="auto">
            <a:xfrm>
              <a:off x="1212" y="2784"/>
              <a:ext cx="804" cy="646"/>
            </a:xfrm>
            <a:custGeom>
              <a:avLst/>
              <a:gdLst>
                <a:gd name="T0" fmla="*/ 804 w 804"/>
                <a:gd name="T1" fmla="*/ 0 h 646"/>
                <a:gd name="T2" fmla="*/ 0 w 804"/>
                <a:gd name="T3" fmla="*/ 646 h 646"/>
                <a:gd name="T4" fmla="*/ 0 60000 65536"/>
                <a:gd name="T5" fmla="*/ 0 60000 65536"/>
              </a:gdLst>
              <a:ahLst/>
              <a:cxnLst>
                <a:cxn ang="T4">
                  <a:pos x="T0" y="T1"/>
                </a:cxn>
                <a:cxn ang="T5">
                  <a:pos x="T2" y="T3"/>
                </a:cxn>
              </a:cxnLst>
              <a:rect l="0" t="0" r="r" b="b"/>
              <a:pathLst>
                <a:path w="804" h="646">
                  <a:moveTo>
                    <a:pt x="804" y="0"/>
                  </a:moveTo>
                  <a:lnTo>
                    <a:pt x="0" y="646"/>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8" name="Freeform 141"/>
            <p:cNvSpPr>
              <a:spLocks/>
            </p:cNvSpPr>
            <p:nvPr/>
          </p:nvSpPr>
          <p:spPr bwMode="auto">
            <a:xfrm>
              <a:off x="2132" y="2728"/>
              <a:ext cx="867" cy="1"/>
            </a:xfrm>
            <a:custGeom>
              <a:avLst/>
              <a:gdLst>
                <a:gd name="T0" fmla="*/ 867 w 867"/>
                <a:gd name="T1" fmla="*/ 0 h 1"/>
                <a:gd name="T2" fmla="*/ 0 w 867"/>
                <a:gd name="T3" fmla="*/ 0 h 1"/>
                <a:gd name="T4" fmla="*/ 0 60000 65536"/>
                <a:gd name="T5" fmla="*/ 0 60000 65536"/>
              </a:gdLst>
              <a:ahLst/>
              <a:cxnLst>
                <a:cxn ang="T4">
                  <a:pos x="T0" y="T1"/>
                </a:cxn>
                <a:cxn ang="T5">
                  <a:pos x="T2" y="T3"/>
                </a:cxn>
              </a:cxnLst>
              <a:rect l="0" t="0" r="r" b="b"/>
              <a:pathLst>
                <a:path w="867" h="1">
                  <a:moveTo>
                    <a:pt x="867" y="0"/>
                  </a:moveTo>
                  <a:lnTo>
                    <a:pt x="0" y="0"/>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9" name="Freeform 142"/>
            <p:cNvSpPr>
              <a:spLocks/>
            </p:cNvSpPr>
            <p:nvPr/>
          </p:nvSpPr>
          <p:spPr bwMode="auto">
            <a:xfrm>
              <a:off x="1218" y="2767"/>
              <a:ext cx="1788" cy="331"/>
            </a:xfrm>
            <a:custGeom>
              <a:avLst/>
              <a:gdLst>
                <a:gd name="T0" fmla="*/ 1788 w 1788"/>
                <a:gd name="T1" fmla="*/ 0 h 331"/>
                <a:gd name="T2" fmla="*/ 887 w 1788"/>
                <a:gd name="T3" fmla="*/ 272 h 331"/>
                <a:gd name="T4" fmla="*/ 0 w 1788"/>
                <a:gd name="T5" fmla="*/ 331 h 331"/>
                <a:gd name="T6" fmla="*/ 0 60000 65536"/>
                <a:gd name="T7" fmla="*/ 0 60000 65536"/>
                <a:gd name="T8" fmla="*/ 0 60000 65536"/>
              </a:gdLst>
              <a:ahLst/>
              <a:cxnLst>
                <a:cxn ang="T6">
                  <a:pos x="T0" y="T1"/>
                </a:cxn>
                <a:cxn ang="T7">
                  <a:pos x="T2" y="T3"/>
                </a:cxn>
                <a:cxn ang="T8">
                  <a:pos x="T4" y="T5"/>
                </a:cxn>
              </a:cxnLst>
              <a:rect l="0" t="0" r="r" b="b"/>
              <a:pathLst>
                <a:path w="1788" h="331">
                  <a:moveTo>
                    <a:pt x="1788" y="0"/>
                  </a:moveTo>
                  <a:cubicBezTo>
                    <a:pt x="1638" y="45"/>
                    <a:pt x="1185" y="217"/>
                    <a:pt x="887" y="272"/>
                  </a:cubicBezTo>
                  <a:cubicBezTo>
                    <a:pt x="589" y="327"/>
                    <a:pt x="185" y="319"/>
                    <a:pt x="0" y="331"/>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0" name="Line 143"/>
            <p:cNvSpPr>
              <a:spLocks noChangeShapeType="1"/>
            </p:cNvSpPr>
            <p:nvPr/>
          </p:nvSpPr>
          <p:spPr bwMode="auto">
            <a:xfrm flipH="1" flipV="1">
              <a:off x="2112" y="2784"/>
              <a:ext cx="912" cy="528"/>
            </a:xfrm>
            <a:prstGeom prst="line">
              <a:avLst/>
            </a:prstGeom>
            <a:noFill/>
            <a:ln w="12700">
              <a:solidFill>
                <a:srgbClr val="96969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1" name="Freeform 144"/>
            <p:cNvSpPr>
              <a:spLocks/>
            </p:cNvSpPr>
            <p:nvPr/>
          </p:nvSpPr>
          <p:spPr bwMode="auto">
            <a:xfrm>
              <a:off x="3120" y="3361"/>
              <a:ext cx="1144" cy="2"/>
            </a:xfrm>
            <a:custGeom>
              <a:avLst/>
              <a:gdLst>
                <a:gd name="T0" fmla="*/ 1144 w 1144"/>
                <a:gd name="T1" fmla="*/ 2 h 2"/>
                <a:gd name="T2" fmla="*/ 0 w 1144"/>
                <a:gd name="T3" fmla="*/ 0 h 2"/>
                <a:gd name="T4" fmla="*/ 0 60000 65536"/>
                <a:gd name="T5" fmla="*/ 0 60000 65536"/>
              </a:gdLst>
              <a:ahLst/>
              <a:cxnLst>
                <a:cxn ang="T4">
                  <a:pos x="T0" y="T1"/>
                </a:cxn>
                <a:cxn ang="T5">
                  <a:pos x="T2" y="T3"/>
                </a:cxn>
              </a:cxnLst>
              <a:rect l="0" t="0" r="r" b="b"/>
              <a:pathLst>
                <a:path w="1144" h="2">
                  <a:moveTo>
                    <a:pt x="1144" y="2"/>
                  </a:moveTo>
                  <a:lnTo>
                    <a:pt x="0" y="0"/>
                  </a:ln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92" name="Freeform 145"/>
            <p:cNvSpPr>
              <a:spLocks/>
            </p:cNvSpPr>
            <p:nvPr/>
          </p:nvSpPr>
          <p:spPr bwMode="auto">
            <a:xfrm>
              <a:off x="2099" y="2444"/>
              <a:ext cx="2178" cy="310"/>
            </a:xfrm>
            <a:custGeom>
              <a:avLst/>
              <a:gdLst>
                <a:gd name="T0" fmla="*/ 2178 w 2178"/>
                <a:gd name="T1" fmla="*/ 310 h 310"/>
                <a:gd name="T2" fmla="*/ 1642 w 2178"/>
                <a:gd name="T3" fmla="*/ 45 h 310"/>
                <a:gd name="T4" fmla="*/ 457 w 2178"/>
                <a:gd name="T5" fmla="*/ 39 h 310"/>
                <a:gd name="T6" fmla="*/ 0 w 2178"/>
                <a:gd name="T7" fmla="*/ 237 h 3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78" h="310">
                  <a:moveTo>
                    <a:pt x="2178" y="310"/>
                  </a:moveTo>
                  <a:cubicBezTo>
                    <a:pt x="2089" y="266"/>
                    <a:pt x="1929" y="90"/>
                    <a:pt x="1642" y="45"/>
                  </a:cubicBezTo>
                  <a:cubicBezTo>
                    <a:pt x="1355" y="0"/>
                    <a:pt x="731" y="7"/>
                    <a:pt x="457" y="39"/>
                  </a:cubicBezTo>
                  <a:cubicBezTo>
                    <a:pt x="183" y="71"/>
                    <a:pt x="95" y="196"/>
                    <a:pt x="0" y="237"/>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93" name="Freeform 146"/>
            <p:cNvSpPr>
              <a:spLocks/>
            </p:cNvSpPr>
            <p:nvPr/>
          </p:nvSpPr>
          <p:spPr bwMode="auto">
            <a:xfrm>
              <a:off x="1218" y="2814"/>
              <a:ext cx="3052" cy="948"/>
            </a:xfrm>
            <a:custGeom>
              <a:avLst/>
              <a:gdLst>
                <a:gd name="T0" fmla="*/ 3052 w 3052"/>
                <a:gd name="T1" fmla="*/ 0 h 948"/>
                <a:gd name="T2" fmla="*/ 1814 w 3052"/>
                <a:gd name="T3" fmla="*/ 834 h 948"/>
                <a:gd name="T4" fmla="*/ 0 w 3052"/>
                <a:gd name="T5" fmla="*/ 682 h 948"/>
                <a:gd name="T6" fmla="*/ 0 60000 65536"/>
                <a:gd name="T7" fmla="*/ 0 60000 65536"/>
                <a:gd name="T8" fmla="*/ 0 60000 65536"/>
              </a:gdLst>
              <a:ahLst/>
              <a:cxnLst>
                <a:cxn ang="T6">
                  <a:pos x="T0" y="T1"/>
                </a:cxn>
                <a:cxn ang="T7">
                  <a:pos x="T2" y="T3"/>
                </a:cxn>
                <a:cxn ang="T8">
                  <a:pos x="T4" y="T5"/>
                </a:cxn>
              </a:cxnLst>
              <a:rect l="0" t="0" r="r" b="b"/>
              <a:pathLst>
                <a:path w="3052" h="948">
                  <a:moveTo>
                    <a:pt x="3052" y="0"/>
                  </a:moveTo>
                  <a:cubicBezTo>
                    <a:pt x="2846" y="139"/>
                    <a:pt x="2323" y="720"/>
                    <a:pt x="1814" y="834"/>
                  </a:cubicBezTo>
                  <a:cubicBezTo>
                    <a:pt x="1305" y="948"/>
                    <a:pt x="378" y="714"/>
                    <a:pt x="0" y="682"/>
                  </a:cubicBezTo>
                </a:path>
              </a:pathLst>
            </a:custGeom>
            <a:noFill/>
            <a:ln w="12700" cap="flat" cmpd="sng">
              <a:solidFill>
                <a:srgbClr val="96969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sp>
        <p:nvSpPr>
          <p:cNvPr id="3" name="Slide Number Placeholder 2"/>
          <p:cNvSpPr>
            <a:spLocks noGrp="1"/>
          </p:cNvSpPr>
          <p:nvPr>
            <p:ph type="sldNum" sz="quarter" idx="12"/>
          </p:nvPr>
        </p:nvSpPr>
        <p:spPr/>
        <p:txBody>
          <a:bodyPr/>
          <a:lstStyle/>
          <a:p>
            <a:pPr>
              <a:defRPr/>
            </a:pPr>
            <a:fld id="{5019D0FD-30FE-4170-95C0-BCF9C0F390F3}" type="slidenum">
              <a:rPr lang="en-US" smtClean="0"/>
              <a:pPr>
                <a:defRPr/>
              </a:pPr>
              <a:t>49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40493"/>
                                        </p:tgtEl>
                                        <p:attrNameLst>
                                          <p:attrName>style.visibility</p:attrName>
                                        </p:attrNameLst>
                                      </p:cBhvr>
                                      <p:to>
                                        <p:strVal val="visible"/>
                                      </p:to>
                                    </p:set>
                                    <p:animEffect transition="in" filter="wipe(up)">
                                      <p:cBhvr>
                                        <p:cTn id="12" dur="500"/>
                                        <p:tgtEl>
                                          <p:spTgt spid="140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SCC Algorithm – </a:t>
            </a:r>
            <a:r>
              <a:rPr lang="en-US" sz="2400" dirty="0" err="1" smtClean="0">
                <a:solidFill>
                  <a:srgbClr val="CC0000"/>
                </a:solidFill>
                <a:latin typeface="Arial Rounded MT Bold" pitchFamily="34" charset="0"/>
              </a:rPr>
              <a:t>Kosaraju-Sharir</a:t>
            </a:r>
            <a:r>
              <a:rPr lang="en-US" sz="2400" dirty="0" smtClean="0">
                <a:solidFill>
                  <a:srgbClr val="CC0000"/>
                </a:solidFill>
                <a:latin typeface="Arial Rounded MT Bold" pitchFamily="34" charset="0"/>
              </a:rPr>
              <a:t> [1978]</a:t>
            </a:r>
          </a:p>
        </p:txBody>
      </p:sp>
      <p:sp>
        <p:nvSpPr>
          <p:cNvPr id="145411" name="Text Box 3"/>
          <p:cNvSpPr txBox="1">
            <a:spLocks noChangeArrowheads="1"/>
          </p:cNvSpPr>
          <p:nvPr/>
        </p:nvSpPr>
        <p:spPr bwMode="auto">
          <a:xfrm>
            <a:off x="152400" y="838200"/>
            <a:ext cx="8839200" cy="5659438"/>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457200" indent="-457200" defTabSz="439738">
              <a:defRPr sz="1600">
                <a:solidFill>
                  <a:schemeClr val="tx1"/>
                </a:solidFill>
                <a:latin typeface="Times New Roman" pitchFamily="18" charset="0"/>
              </a:defRPr>
            </a:lvl1pPr>
            <a:lvl2pPr marL="742950" indent="-285750" defTabSz="439738">
              <a:defRPr sz="1600">
                <a:solidFill>
                  <a:schemeClr val="tx1"/>
                </a:solidFill>
                <a:latin typeface="Times New Roman" pitchFamily="18" charset="0"/>
              </a:defRPr>
            </a:lvl2pPr>
            <a:lvl3pPr marL="1143000" indent="-228600" defTabSz="439738">
              <a:defRPr sz="1600">
                <a:solidFill>
                  <a:schemeClr val="tx1"/>
                </a:solidFill>
                <a:latin typeface="Times New Roman" pitchFamily="18" charset="0"/>
              </a:defRPr>
            </a:lvl3pPr>
            <a:lvl4pPr marL="1600200" indent="-228600" defTabSz="439738">
              <a:defRPr sz="1600">
                <a:solidFill>
                  <a:schemeClr val="tx1"/>
                </a:solidFill>
                <a:latin typeface="Times New Roman" pitchFamily="18" charset="0"/>
              </a:defRPr>
            </a:lvl4pPr>
            <a:lvl5pPr marL="2057400" indent="-228600" defTabSz="439738">
              <a:defRPr sz="1600">
                <a:solidFill>
                  <a:schemeClr val="tx1"/>
                </a:solidFill>
                <a:latin typeface="Times New Roman" pitchFamily="18" charset="0"/>
              </a:defRPr>
            </a:lvl5pPr>
            <a:lvl6pPr marL="2514600" indent="-228600" defTabSz="439738" eaLnBrk="0" fontAlgn="base" hangingPunct="0">
              <a:spcBef>
                <a:spcPct val="0"/>
              </a:spcBef>
              <a:spcAft>
                <a:spcPct val="0"/>
              </a:spcAft>
              <a:buChar char="•"/>
              <a:defRPr sz="1600">
                <a:solidFill>
                  <a:schemeClr val="tx1"/>
                </a:solidFill>
                <a:latin typeface="Times New Roman" pitchFamily="18" charset="0"/>
              </a:defRPr>
            </a:lvl6pPr>
            <a:lvl7pPr marL="2971800" indent="-228600" defTabSz="439738" eaLnBrk="0" fontAlgn="base" hangingPunct="0">
              <a:spcBef>
                <a:spcPct val="0"/>
              </a:spcBef>
              <a:spcAft>
                <a:spcPct val="0"/>
              </a:spcAft>
              <a:buChar char="•"/>
              <a:defRPr sz="1600">
                <a:solidFill>
                  <a:schemeClr val="tx1"/>
                </a:solidFill>
                <a:latin typeface="Times New Roman" pitchFamily="18" charset="0"/>
              </a:defRPr>
            </a:lvl7pPr>
            <a:lvl8pPr marL="3429000" indent="-228600" defTabSz="439738" eaLnBrk="0" fontAlgn="base" hangingPunct="0">
              <a:spcBef>
                <a:spcPct val="0"/>
              </a:spcBef>
              <a:spcAft>
                <a:spcPct val="0"/>
              </a:spcAft>
              <a:buChar char="•"/>
              <a:defRPr sz="1600">
                <a:solidFill>
                  <a:schemeClr val="tx1"/>
                </a:solidFill>
                <a:latin typeface="Times New Roman" pitchFamily="18" charset="0"/>
              </a:defRPr>
            </a:lvl8pPr>
            <a:lvl9pPr marL="3886200" indent="-228600" defTabSz="439738"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90000"/>
              </a:lnSpc>
              <a:buFontTx/>
              <a:buNone/>
            </a:pPr>
            <a:r>
              <a:rPr lang="en-US" sz="2000" b="1" dirty="0"/>
              <a:t>Algorithm</a:t>
            </a:r>
            <a:r>
              <a:rPr lang="en-US" sz="2000" dirty="0">
                <a:solidFill>
                  <a:schemeClr val="hlink"/>
                </a:solidFill>
              </a:rPr>
              <a:t>  </a:t>
            </a:r>
            <a:r>
              <a:rPr lang="en-US" sz="2000" b="1" dirty="0" err="1">
                <a:solidFill>
                  <a:schemeClr val="hlink"/>
                </a:solidFill>
              </a:rPr>
              <a:t>StronglyConnectedComponents</a:t>
            </a:r>
            <a:r>
              <a:rPr lang="en-US" sz="2000" dirty="0">
                <a:solidFill>
                  <a:schemeClr val="hlink"/>
                </a:solidFill>
              </a:rPr>
              <a:t>(</a:t>
            </a:r>
            <a:r>
              <a:rPr lang="en-US" sz="2000" dirty="0">
                <a:solidFill>
                  <a:schemeClr val="hlink"/>
                </a:solidFill>
                <a:sym typeface="Symbol" pitchFamily="18" charset="2"/>
              </a:rPr>
              <a:t>G</a:t>
            </a:r>
            <a:r>
              <a:rPr lang="en-US" sz="2000" dirty="0">
                <a:solidFill>
                  <a:schemeClr val="hlink"/>
                </a:solidFill>
              </a:rPr>
              <a:t>)</a:t>
            </a:r>
            <a:r>
              <a:rPr lang="en-US" sz="2000" dirty="0">
                <a:solidFill>
                  <a:schemeClr val="tx2"/>
                </a:solidFill>
              </a:rPr>
              <a:t> </a:t>
            </a:r>
          </a:p>
          <a:p>
            <a:pPr eaLnBrk="1" hangingPunct="1">
              <a:lnSpc>
                <a:spcPct val="90000"/>
              </a:lnSpc>
              <a:buFontTx/>
              <a:buAutoNum type="arabicPeriod"/>
            </a:pPr>
            <a:r>
              <a:rPr lang="en-US" sz="2000" dirty="0">
                <a:solidFill>
                  <a:schemeClr val="hlink"/>
                </a:solidFill>
                <a:sym typeface="Symbol" pitchFamily="18" charset="2"/>
              </a:rPr>
              <a:t>Initialize stack S to empty, and call DFS(G) with the following modifications:</a:t>
            </a:r>
            <a:br>
              <a:rPr lang="en-US" sz="2000" dirty="0">
                <a:solidFill>
                  <a:schemeClr val="hlink"/>
                </a:solidFill>
                <a:sym typeface="Symbol" pitchFamily="18" charset="2"/>
              </a:rPr>
            </a:br>
            <a:r>
              <a:rPr lang="en-US" sz="2000" dirty="0">
                <a:solidFill>
                  <a:schemeClr val="hlink"/>
                </a:solidFill>
                <a:sym typeface="Symbol" pitchFamily="18" charset="2"/>
              </a:rPr>
              <a:t>push nodes onto stack S when they finish their </a:t>
            </a:r>
            <a:r>
              <a:rPr lang="en-US" sz="2000" dirty="0" err="1">
                <a:solidFill>
                  <a:schemeClr val="hlink"/>
                </a:solidFill>
                <a:sym typeface="Symbol" pitchFamily="18" charset="2"/>
              </a:rPr>
              <a:t>DFSvisit</a:t>
            </a:r>
            <a:r>
              <a:rPr lang="en-US" sz="2000" dirty="0">
                <a:solidFill>
                  <a:schemeClr val="hlink"/>
                </a:solidFill>
                <a:sym typeface="Symbol" pitchFamily="18" charset="2"/>
              </a:rPr>
              <a:t> calls.</a:t>
            </a:r>
            <a:br>
              <a:rPr lang="en-US" sz="2000" dirty="0">
                <a:solidFill>
                  <a:schemeClr val="hlink"/>
                </a:solidFill>
                <a:sym typeface="Symbol" pitchFamily="18" charset="2"/>
              </a:rPr>
            </a:br>
            <a:r>
              <a:rPr lang="en-US" sz="2000" dirty="0">
                <a:solidFill>
                  <a:schemeClr val="hlink"/>
                </a:solidFill>
                <a:sym typeface="Symbol" pitchFamily="18" charset="2"/>
              </a:rPr>
              <a:t>I.e., at the end of the procedure </a:t>
            </a:r>
            <a:r>
              <a:rPr lang="en-US" sz="2000" dirty="0" err="1">
                <a:solidFill>
                  <a:schemeClr val="hlink"/>
                </a:solidFill>
                <a:sym typeface="Symbol" pitchFamily="18" charset="2"/>
              </a:rPr>
              <a:t>DFSvisit</a:t>
            </a:r>
            <a:r>
              <a:rPr lang="en-US" sz="2000" dirty="0">
                <a:solidFill>
                  <a:schemeClr val="hlink"/>
                </a:solidFill>
                <a:sym typeface="Symbol" pitchFamily="18" charset="2"/>
              </a:rPr>
              <a:t>(u) add the statement “Push(</a:t>
            </a:r>
            <a:r>
              <a:rPr lang="en-US" sz="2000" dirty="0" err="1">
                <a:solidFill>
                  <a:schemeClr val="hlink"/>
                </a:solidFill>
                <a:sym typeface="Symbol" pitchFamily="18" charset="2"/>
              </a:rPr>
              <a:t>u,S</a:t>
            </a:r>
            <a:r>
              <a:rPr lang="en-US" sz="2000" dirty="0">
                <a:solidFill>
                  <a:schemeClr val="hlink"/>
                </a:solidFill>
                <a:sym typeface="Symbol" pitchFamily="18" charset="2"/>
              </a:rPr>
              <a:t>)”.</a:t>
            </a:r>
            <a:br>
              <a:rPr lang="en-US" sz="2000" dirty="0">
                <a:solidFill>
                  <a:schemeClr val="hlink"/>
                </a:solidFill>
                <a:sym typeface="Symbol" pitchFamily="18" charset="2"/>
              </a:rPr>
            </a:br>
            <a:r>
              <a:rPr lang="en-US" sz="2000" dirty="0">
                <a:solidFill>
                  <a:schemeClr val="hlink"/>
                </a:solidFill>
                <a:sym typeface="Symbol" pitchFamily="18" charset="2"/>
              </a:rPr>
              <a:t>(There is no need to compute d[u] &amp; f[u] values explicitly.)</a:t>
            </a:r>
            <a:br>
              <a:rPr lang="en-US" sz="2000" dirty="0">
                <a:solidFill>
                  <a:schemeClr val="hlink"/>
                </a:solidFill>
                <a:sym typeface="Symbol" pitchFamily="18" charset="2"/>
              </a:rPr>
            </a:br>
            <a:endParaRPr lang="en-US" sz="2000" dirty="0">
              <a:solidFill>
                <a:srgbClr val="CC0000"/>
              </a:solidFill>
            </a:endParaRPr>
          </a:p>
          <a:p>
            <a:pPr eaLnBrk="1" hangingPunct="1">
              <a:lnSpc>
                <a:spcPct val="90000"/>
              </a:lnSpc>
              <a:buFontTx/>
              <a:buAutoNum type="arabicPeriod"/>
            </a:pPr>
            <a:r>
              <a:rPr lang="en-US" sz="2000" dirty="0">
                <a:solidFill>
                  <a:schemeClr val="hlink"/>
                </a:solidFill>
              </a:rPr>
              <a:t>Construct the adjacency list structure of G</a:t>
            </a:r>
            <a:r>
              <a:rPr lang="en-US" sz="2000" baseline="30000" dirty="0">
                <a:solidFill>
                  <a:schemeClr val="hlink"/>
                </a:solidFill>
              </a:rPr>
              <a:t>T</a:t>
            </a:r>
            <a:r>
              <a:rPr lang="en-US" sz="2000" dirty="0">
                <a:solidFill>
                  <a:schemeClr val="hlink"/>
                </a:solidFill>
              </a:rPr>
              <a:t> from that of G.</a:t>
            </a:r>
            <a:r>
              <a:rPr lang="en-US" sz="2000" dirty="0">
                <a:solidFill>
                  <a:schemeClr val="tx2"/>
                </a:solidFill>
              </a:rPr>
              <a:t> </a:t>
            </a:r>
            <a:br>
              <a:rPr lang="en-US" sz="2000" dirty="0">
                <a:solidFill>
                  <a:schemeClr val="tx2"/>
                </a:solidFill>
              </a:rPr>
            </a:br>
            <a:endParaRPr lang="en-US" sz="2000" dirty="0">
              <a:solidFill>
                <a:schemeClr val="tx2"/>
              </a:solidFill>
            </a:endParaRPr>
          </a:p>
          <a:p>
            <a:pPr eaLnBrk="1" hangingPunct="1">
              <a:lnSpc>
                <a:spcPct val="90000"/>
              </a:lnSpc>
              <a:buFontTx/>
              <a:buAutoNum type="arabicPeriod"/>
            </a:pPr>
            <a:r>
              <a:rPr lang="en-US" sz="2000" dirty="0">
                <a:solidFill>
                  <a:schemeClr val="hlink"/>
                </a:solidFill>
              </a:rPr>
              <a:t>Call DFS(G</a:t>
            </a:r>
            <a:r>
              <a:rPr lang="en-US" sz="2000" baseline="30000" dirty="0">
                <a:solidFill>
                  <a:schemeClr val="hlink"/>
                </a:solidFill>
              </a:rPr>
              <a:t>T</a:t>
            </a:r>
            <a:r>
              <a:rPr lang="en-US" sz="2000" dirty="0">
                <a:solidFill>
                  <a:schemeClr val="hlink"/>
                </a:solidFill>
              </a:rPr>
              <a:t>) with the following modification:  initiate DFS-roots in </a:t>
            </a:r>
            <a:br>
              <a:rPr lang="en-US" sz="2000" dirty="0">
                <a:solidFill>
                  <a:schemeClr val="hlink"/>
                </a:solidFill>
              </a:rPr>
            </a:br>
            <a:r>
              <a:rPr lang="en-US" sz="2000" dirty="0">
                <a:solidFill>
                  <a:schemeClr val="hlink"/>
                </a:solidFill>
              </a:rPr>
              <a:t>stack-S-order, i.e., in the main DFS(G</a:t>
            </a:r>
            <a:r>
              <a:rPr lang="en-US" sz="2000" baseline="30000" dirty="0">
                <a:solidFill>
                  <a:schemeClr val="hlink"/>
                </a:solidFill>
              </a:rPr>
              <a:t>T</a:t>
            </a:r>
            <a:r>
              <a:rPr lang="en-US" sz="2000" dirty="0">
                <a:solidFill>
                  <a:schemeClr val="hlink"/>
                </a:solidFill>
              </a:rPr>
              <a:t>) algorithm, instead of </a:t>
            </a:r>
            <a:r>
              <a:rPr lang="en-US" sz="2000" dirty="0">
                <a:solidFill>
                  <a:srgbClr val="CC0000"/>
                </a:solidFill>
              </a:rPr>
              <a:t> </a:t>
            </a:r>
            <a:br>
              <a:rPr lang="en-US" sz="2000" dirty="0">
                <a:solidFill>
                  <a:srgbClr val="CC0000"/>
                </a:solidFill>
              </a:rPr>
            </a:br>
            <a:r>
              <a:rPr lang="en-US" sz="2000" dirty="0">
                <a:solidFill>
                  <a:srgbClr val="CC0000"/>
                </a:solidFill>
              </a:rPr>
              <a:t>	“</a:t>
            </a:r>
            <a:r>
              <a:rPr lang="en-US" sz="2000" b="1" dirty="0"/>
              <a:t>for</a:t>
            </a:r>
            <a:r>
              <a:rPr lang="en-US" sz="2000" dirty="0">
                <a:solidFill>
                  <a:schemeClr val="hlink"/>
                </a:solidFill>
              </a:rPr>
              <a:t> each vertex </a:t>
            </a:r>
            <a:r>
              <a:rPr lang="en-US" sz="2000" dirty="0" err="1">
                <a:solidFill>
                  <a:schemeClr val="hlink"/>
                </a:solidFill>
                <a:sym typeface="Symbol" pitchFamily="18" charset="2"/>
              </a:rPr>
              <a:t>uV</a:t>
            </a:r>
            <a:r>
              <a:rPr lang="en-US" sz="2000" dirty="0">
                <a:solidFill>
                  <a:schemeClr val="hlink"/>
                </a:solidFill>
              </a:rPr>
              <a:t>(G</a:t>
            </a:r>
            <a:r>
              <a:rPr lang="en-US" sz="2000" baseline="30000" dirty="0">
                <a:solidFill>
                  <a:schemeClr val="hlink"/>
                </a:solidFill>
              </a:rPr>
              <a:t>T</a:t>
            </a:r>
            <a:r>
              <a:rPr lang="en-US" sz="2000" dirty="0">
                <a:solidFill>
                  <a:schemeClr val="hlink"/>
                </a:solidFill>
              </a:rPr>
              <a:t>) </a:t>
            </a:r>
            <a:r>
              <a:rPr lang="en-US" sz="2000" b="1" dirty="0"/>
              <a:t>do</a:t>
            </a:r>
            <a:r>
              <a:rPr lang="en-US" sz="2000" dirty="0">
                <a:solidFill>
                  <a:srgbClr val="CC0000"/>
                </a:solidFill>
              </a:rPr>
              <a:t> </a:t>
            </a:r>
            <a:r>
              <a:rPr lang="en-US" sz="2000" b="1" dirty="0">
                <a:solidFill>
                  <a:schemeClr val="tx2"/>
                </a:solidFill>
              </a:rPr>
              <a:t>if</a:t>
            </a:r>
            <a:r>
              <a:rPr lang="en-US" sz="2000" dirty="0">
                <a:solidFill>
                  <a:schemeClr val="tx2"/>
                </a:solidFill>
              </a:rPr>
              <a:t> </a:t>
            </a:r>
            <a:r>
              <a:rPr lang="en-US" sz="2000" dirty="0">
                <a:solidFill>
                  <a:schemeClr val="hlink"/>
                </a:solidFill>
              </a:rPr>
              <a:t>color[u] = </a:t>
            </a:r>
            <a:r>
              <a:rPr lang="en-US" dirty="0">
                <a:solidFill>
                  <a:schemeClr val="hlink"/>
                </a:solidFill>
              </a:rPr>
              <a:t>WHITE</a:t>
            </a:r>
            <a:r>
              <a:rPr lang="en-US" sz="2000" dirty="0">
                <a:solidFill>
                  <a:schemeClr val="hlink"/>
                </a:solidFill>
              </a:rPr>
              <a:t> </a:t>
            </a:r>
            <a:r>
              <a:rPr lang="en-US" sz="2000" b="1" dirty="0">
                <a:solidFill>
                  <a:schemeClr val="tx2"/>
                </a:solidFill>
              </a:rPr>
              <a:t>then do </a:t>
            </a:r>
            <a:r>
              <a:rPr lang="en-US" sz="2000" b="1" dirty="0" err="1">
                <a:solidFill>
                  <a:schemeClr val="hlink"/>
                </a:solidFill>
                <a:sym typeface="Symbol" pitchFamily="18" charset="2"/>
              </a:rPr>
              <a:t>DFSvisit</a:t>
            </a:r>
            <a:r>
              <a:rPr lang="en-US" sz="2000" dirty="0">
                <a:solidFill>
                  <a:schemeClr val="hlink"/>
                </a:solidFill>
                <a:sym typeface="Symbol" pitchFamily="18" charset="2"/>
              </a:rPr>
              <a:t>(u)”</a:t>
            </a:r>
            <a:r>
              <a:rPr lang="en-US" sz="2000" b="1" dirty="0">
                <a:solidFill>
                  <a:schemeClr val="tx2"/>
                </a:solidFill>
              </a:rPr>
              <a:t/>
            </a:r>
            <a:br>
              <a:rPr lang="en-US" sz="2000" b="1" dirty="0">
                <a:solidFill>
                  <a:schemeClr val="tx2"/>
                </a:solidFill>
              </a:rPr>
            </a:br>
            <a:r>
              <a:rPr lang="en-US" sz="2000" dirty="0">
                <a:solidFill>
                  <a:schemeClr val="hlink"/>
                </a:solidFill>
              </a:rPr>
              <a:t>perform the following: </a:t>
            </a:r>
            <a:br>
              <a:rPr lang="en-US" sz="2000" dirty="0">
                <a:solidFill>
                  <a:schemeClr val="hlink"/>
                </a:solidFill>
              </a:rPr>
            </a:br>
            <a:r>
              <a:rPr lang="en-US" sz="2000" dirty="0">
                <a:solidFill>
                  <a:schemeClr val="hlink"/>
                </a:solidFill>
              </a:rPr>
              <a:t>	</a:t>
            </a:r>
            <a:r>
              <a:rPr lang="en-US" sz="2000" b="1" dirty="0"/>
              <a:t>while </a:t>
            </a:r>
            <a:r>
              <a:rPr lang="en-US" sz="2000" dirty="0">
                <a:solidFill>
                  <a:schemeClr val="hlink"/>
                </a:solidFill>
              </a:rPr>
              <a:t>S </a:t>
            </a:r>
            <a:r>
              <a:rPr lang="en-US" sz="2000" dirty="0">
                <a:solidFill>
                  <a:schemeClr val="hlink"/>
                </a:solidFill>
                <a:sym typeface="Symbol" pitchFamily="18" charset="2"/>
              </a:rPr>
              <a:t> </a:t>
            </a:r>
            <a:r>
              <a:rPr lang="en-US" sz="2000" dirty="0">
                <a:solidFill>
                  <a:schemeClr val="hlink"/>
                </a:solidFill>
              </a:rPr>
              <a:t>  </a:t>
            </a:r>
            <a:r>
              <a:rPr lang="en-US" sz="2000" b="1" dirty="0"/>
              <a:t>do </a:t>
            </a:r>
            <a:br>
              <a:rPr lang="en-US" sz="2000" b="1" dirty="0"/>
            </a:br>
            <a:r>
              <a:rPr lang="en-US" sz="2000" b="1" dirty="0"/>
              <a:t>		</a:t>
            </a:r>
            <a:r>
              <a:rPr lang="en-US" sz="2000" dirty="0">
                <a:solidFill>
                  <a:schemeClr val="hlink"/>
                </a:solidFill>
                <a:sym typeface="Symbol" pitchFamily="18" charset="2"/>
              </a:rPr>
              <a:t>u </a:t>
            </a:r>
            <a:r>
              <a:rPr lang="en-US" sz="2000" dirty="0">
                <a:solidFill>
                  <a:schemeClr val="hlink"/>
                </a:solidFill>
              </a:rPr>
              <a:t> Pop(S)</a:t>
            </a:r>
            <a:br>
              <a:rPr lang="en-US" sz="2000" dirty="0">
                <a:solidFill>
                  <a:schemeClr val="hlink"/>
                </a:solidFill>
              </a:rPr>
            </a:br>
            <a:r>
              <a:rPr lang="en-US" sz="2000" dirty="0">
                <a:solidFill>
                  <a:schemeClr val="hlink"/>
                </a:solidFill>
              </a:rPr>
              <a:t>		</a:t>
            </a:r>
            <a:r>
              <a:rPr lang="en-US" sz="2000" b="1" dirty="0">
                <a:solidFill>
                  <a:schemeClr val="tx2"/>
                </a:solidFill>
              </a:rPr>
              <a:t>if</a:t>
            </a:r>
            <a:r>
              <a:rPr lang="en-US" sz="2000" dirty="0">
                <a:solidFill>
                  <a:schemeClr val="tx2"/>
                </a:solidFill>
              </a:rPr>
              <a:t> </a:t>
            </a:r>
            <a:r>
              <a:rPr lang="en-US" sz="2000" dirty="0">
                <a:solidFill>
                  <a:schemeClr val="hlink"/>
                </a:solidFill>
              </a:rPr>
              <a:t>color[u] = </a:t>
            </a:r>
            <a:r>
              <a:rPr lang="en-US" dirty="0">
                <a:solidFill>
                  <a:schemeClr val="hlink"/>
                </a:solidFill>
              </a:rPr>
              <a:t>WHITE</a:t>
            </a:r>
            <a:r>
              <a:rPr lang="en-US" sz="2000" dirty="0">
                <a:solidFill>
                  <a:schemeClr val="hlink"/>
                </a:solidFill>
              </a:rPr>
              <a:t> </a:t>
            </a:r>
            <a:r>
              <a:rPr lang="en-US" sz="2000" b="1" dirty="0">
                <a:solidFill>
                  <a:schemeClr val="tx2"/>
                </a:solidFill>
              </a:rPr>
              <a:t>then do </a:t>
            </a:r>
            <a:r>
              <a:rPr lang="en-US" sz="2000" b="1" dirty="0" err="1">
                <a:solidFill>
                  <a:schemeClr val="hlink"/>
                </a:solidFill>
                <a:sym typeface="Symbol" pitchFamily="18" charset="2"/>
              </a:rPr>
              <a:t>DFSvisit</a:t>
            </a:r>
            <a:r>
              <a:rPr lang="en-US" sz="2000" dirty="0">
                <a:solidFill>
                  <a:schemeClr val="hlink"/>
                </a:solidFill>
                <a:sym typeface="Symbol" pitchFamily="18" charset="2"/>
              </a:rPr>
              <a:t>(u)</a:t>
            </a:r>
            <a:endParaRPr lang="en-US" sz="2000" b="1" dirty="0"/>
          </a:p>
          <a:p>
            <a:pPr eaLnBrk="1" hangingPunct="1">
              <a:lnSpc>
                <a:spcPct val="90000"/>
              </a:lnSpc>
              <a:buFontTx/>
              <a:buNone/>
            </a:pPr>
            <a:r>
              <a:rPr lang="en-US" sz="2000" dirty="0">
                <a:solidFill>
                  <a:srgbClr val="CC0000"/>
                </a:solidFill>
              </a:rPr>
              <a:t> 		</a:t>
            </a:r>
            <a:r>
              <a:rPr lang="en-US" sz="2000" b="1" dirty="0"/>
              <a:t>end-while</a:t>
            </a:r>
            <a:br>
              <a:rPr lang="en-US" sz="2000" b="1" dirty="0"/>
            </a:br>
            <a:r>
              <a:rPr lang="en-US" sz="1800" dirty="0">
                <a:solidFill>
                  <a:schemeClr val="hlink"/>
                </a:solidFill>
              </a:rPr>
              <a:t>		</a:t>
            </a:r>
            <a:endParaRPr lang="en-US" sz="2000" dirty="0">
              <a:solidFill>
                <a:srgbClr val="CC0000"/>
              </a:solidFill>
            </a:endParaRPr>
          </a:p>
          <a:p>
            <a:pPr eaLnBrk="1" hangingPunct="1">
              <a:lnSpc>
                <a:spcPct val="90000"/>
              </a:lnSpc>
              <a:buFontTx/>
              <a:buAutoNum type="arabicPeriod" startAt="4"/>
            </a:pPr>
            <a:r>
              <a:rPr lang="en-US" sz="2000" dirty="0">
                <a:solidFill>
                  <a:schemeClr val="hlink"/>
                </a:solidFill>
              </a:rPr>
              <a:t>Each DFS-tree of step 3 (plus all edges between its nodes) forms an SCC.</a:t>
            </a:r>
            <a:br>
              <a:rPr lang="en-US" sz="2000" dirty="0">
                <a:solidFill>
                  <a:schemeClr val="hlink"/>
                </a:solidFill>
              </a:rPr>
            </a:br>
            <a:r>
              <a:rPr lang="en-US" sz="2000" dirty="0">
                <a:solidFill>
                  <a:schemeClr val="hlink"/>
                </a:solidFill>
              </a:rPr>
              <a:t>SCCs are discovered in topological order of the SCC Component Graph of G.</a:t>
            </a:r>
            <a:endParaRPr lang="en-US" sz="2000" dirty="0">
              <a:solidFill>
                <a:srgbClr val="CC0000"/>
              </a:solidFill>
              <a:cs typeface="Arial" pitchFamily="34" charset="0"/>
            </a:endParaRPr>
          </a:p>
          <a:p>
            <a:pPr eaLnBrk="1" hangingPunct="1">
              <a:lnSpc>
                <a:spcPct val="90000"/>
              </a:lnSpc>
              <a:buFontTx/>
              <a:buNone/>
            </a:pPr>
            <a:r>
              <a:rPr lang="en-US" sz="2000" b="1" dirty="0"/>
              <a:t>end</a:t>
            </a:r>
            <a:r>
              <a:rPr lang="en-US" sz="2000" dirty="0">
                <a:solidFill>
                  <a:schemeClr val="hlink"/>
                </a:solidFill>
              </a:rPr>
              <a:t> </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50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45410"/>
                                        </p:tgtEl>
                                        <p:attrNameLst>
                                          <p:attrName>style.visibility</p:attrName>
                                        </p:attrNameLst>
                                      </p:cBhvr>
                                      <p:to>
                                        <p:strVal val="visible"/>
                                      </p:to>
                                    </p:set>
                                    <p:anim calcmode="lin" valueType="num">
                                      <p:cBhvr>
                                        <p:cTn id="7" dur="500" fill="hold"/>
                                        <p:tgtEl>
                                          <p:spTgt spid="145410"/>
                                        </p:tgtEl>
                                        <p:attrNameLst>
                                          <p:attrName>ppt_w</p:attrName>
                                        </p:attrNameLst>
                                      </p:cBhvr>
                                      <p:tavLst>
                                        <p:tav tm="0">
                                          <p:val>
                                            <p:fltVal val="0"/>
                                          </p:val>
                                        </p:tav>
                                        <p:tav tm="100000">
                                          <p:val>
                                            <p:strVal val="#ppt_w"/>
                                          </p:val>
                                        </p:tav>
                                      </p:tavLst>
                                    </p:anim>
                                    <p:anim calcmode="lin" valueType="num">
                                      <p:cBhvr>
                                        <p:cTn id="8" dur="500" fill="hold"/>
                                        <p:tgtEl>
                                          <p:spTgt spid="145410"/>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250"/>
                                  </p:stCondLst>
                                  <p:childTnLst>
                                    <p:set>
                                      <p:cBhvr>
                                        <p:cTn id="11" dur="1" fill="hold">
                                          <p:stCondLst>
                                            <p:cond delay="0"/>
                                          </p:stCondLst>
                                        </p:cTn>
                                        <p:tgtEl>
                                          <p:spTgt spid="145411">
                                            <p:bg/>
                                          </p:spTgt>
                                        </p:tgtEl>
                                        <p:attrNameLst>
                                          <p:attrName>style.visibility</p:attrName>
                                        </p:attrNameLst>
                                      </p:cBhvr>
                                      <p:to>
                                        <p:strVal val="visible"/>
                                      </p:to>
                                    </p:set>
                                    <p:animEffect transition="in" filter="wipe(up)">
                                      <p:cBhvr>
                                        <p:cTn id="12" dur="1000"/>
                                        <p:tgtEl>
                                          <p:spTgt spid="145411">
                                            <p:bg/>
                                          </p:spTgt>
                                        </p:tgtEl>
                                      </p:cBhvr>
                                    </p:animEffect>
                                  </p:childTnLst>
                                </p:cTn>
                              </p:par>
                            </p:childTnLst>
                          </p:cTn>
                        </p:par>
                        <p:par>
                          <p:cTn id="13" fill="hold" nodeType="afterGroup">
                            <p:stCondLst>
                              <p:cond delay="1750"/>
                            </p:stCondLst>
                            <p:childTnLst>
                              <p:par>
                                <p:cTn id="14" presetID="22" presetClass="entr" presetSubtype="1" fill="hold" grpId="0" nodeType="afterEffect">
                                  <p:stCondLst>
                                    <p:cond delay="250"/>
                                  </p:stCondLst>
                                  <p:childTnLst>
                                    <p:set>
                                      <p:cBhvr>
                                        <p:cTn id="15" dur="1" fill="hold">
                                          <p:stCondLst>
                                            <p:cond delay="0"/>
                                          </p:stCondLst>
                                        </p:cTn>
                                        <p:tgtEl>
                                          <p:spTgt spid="145411">
                                            <p:txEl>
                                              <p:pRg st="0" end="0"/>
                                            </p:txEl>
                                          </p:spTgt>
                                        </p:tgtEl>
                                        <p:attrNameLst>
                                          <p:attrName>style.visibility</p:attrName>
                                        </p:attrNameLst>
                                      </p:cBhvr>
                                      <p:to>
                                        <p:strVal val="visible"/>
                                      </p:to>
                                    </p:set>
                                    <p:animEffect transition="in" filter="wipe(up)">
                                      <p:cBhvr>
                                        <p:cTn id="16" dur="1000"/>
                                        <p:tgtEl>
                                          <p:spTgt spid="145411">
                                            <p:txEl>
                                              <p:pRg st="0" end="0"/>
                                            </p:txEl>
                                          </p:spTgt>
                                        </p:tgtEl>
                                      </p:cBhvr>
                                    </p:animEffect>
                                  </p:childTnLst>
                                </p:cTn>
                              </p:par>
                            </p:childTnLst>
                          </p:cTn>
                        </p:par>
                        <p:par>
                          <p:cTn id="17" fill="hold" nodeType="afterGroup">
                            <p:stCondLst>
                              <p:cond delay="3000"/>
                            </p:stCondLst>
                            <p:childTnLst>
                              <p:par>
                                <p:cTn id="18" presetID="22" presetClass="entr" presetSubtype="1" fill="hold" grpId="0" nodeType="afterEffect">
                                  <p:stCondLst>
                                    <p:cond delay="250"/>
                                  </p:stCondLst>
                                  <p:childTnLst>
                                    <p:set>
                                      <p:cBhvr>
                                        <p:cTn id="19" dur="1" fill="hold">
                                          <p:stCondLst>
                                            <p:cond delay="0"/>
                                          </p:stCondLst>
                                        </p:cTn>
                                        <p:tgtEl>
                                          <p:spTgt spid="145411">
                                            <p:txEl>
                                              <p:pRg st="1" end="1"/>
                                            </p:txEl>
                                          </p:spTgt>
                                        </p:tgtEl>
                                        <p:attrNameLst>
                                          <p:attrName>style.visibility</p:attrName>
                                        </p:attrNameLst>
                                      </p:cBhvr>
                                      <p:to>
                                        <p:strVal val="visible"/>
                                      </p:to>
                                    </p:set>
                                    <p:animEffect transition="in" filter="wipe(up)">
                                      <p:cBhvr>
                                        <p:cTn id="20" dur="1000"/>
                                        <p:tgtEl>
                                          <p:spTgt spid="145411">
                                            <p:txEl>
                                              <p:pRg st="1" end="1"/>
                                            </p:txEl>
                                          </p:spTgt>
                                        </p:tgtEl>
                                      </p:cBhvr>
                                    </p:animEffect>
                                  </p:childTnLst>
                                </p:cTn>
                              </p:par>
                            </p:childTnLst>
                          </p:cTn>
                        </p:par>
                        <p:par>
                          <p:cTn id="21" fill="hold" nodeType="afterGroup">
                            <p:stCondLst>
                              <p:cond delay="4250"/>
                            </p:stCondLst>
                            <p:childTnLst>
                              <p:par>
                                <p:cTn id="22" presetID="22" presetClass="entr" presetSubtype="1" fill="hold" grpId="0" nodeType="afterEffect">
                                  <p:stCondLst>
                                    <p:cond delay="250"/>
                                  </p:stCondLst>
                                  <p:childTnLst>
                                    <p:set>
                                      <p:cBhvr>
                                        <p:cTn id="23" dur="1" fill="hold">
                                          <p:stCondLst>
                                            <p:cond delay="0"/>
                                          </p:stCondLst>
                                        </p:cTn>
                                        <p:tgtEl>
                                          <p:spTgt spid="145411">
                                            <p:txEl>
                                              <p:pRg st="2" end="2"/>
                                            </p:txEl>
                                          </p:spTgt>
                                        </p:tgtEl>
                                        <p:attrNameLst>
                                          <p:attrName>style.visibility</p:attrName>
                                        </p:attrNameLst>
                                      </p:cBhvr>
                                      <p:to>
                                        <p:strVal val="visible"/>
                                      </p:to>
                                    </p:set>
                                    <p:animEffect transition="in" filter="wipe(up)">
                                      <p:cBhvr>
                                        <p:cTn id="24" dur="1000"/>
                                        <p:tgtEl>
                                          <p:spTgt spid="145411">
                                            <p:txEl>
                                              <p:pRg st="2" end="2"/>
                                            </p:txEl>
                                          </p:spTgt>
                                        </p:tgtEl>
                                      </p:cBhvr>
                                    </p:animEffect>
                                  </p:childTnLst>
                                </p:cTn>
                              </p:par>
                            </p:childTnLst>
                          </p:cTn>
                        </p:par>
                        <p:par>
                          <p:cTn id="25" fill="hold" nodeType="afterGroup">
                            <p:stCondLst>
                              <p:cond delay="5500"/>
                            </p:stCondLst>
                            <p:childTnLst>
                              <p:par>
                                <p:cTn id="26" presetID="22" presetClass="entr" presetSubtype="1" fill="hold" grpId="0" nodeType="afterEffect">
                                  <p:stCondLst>
                                    <p:cond delay="250"/>
                                  </p:stCondLst>
                                  <p:childTnLst>
                                    <p:set>
                                      <p:cBhvr>
                                        <p:cTn id="27" dur="1" fill="hold">
                                          <p:stCondLst>
                                            <p:cond delay="0"/>
                                          </p:stCondLst>
                                        </p:cTn>
                                        <p:tgtEl>
                                          <p:spTgt spid="145411">
                                            <p:txEl>
                                              <p:pRg st="3" end="3"/>
                                            </p:txEl>
                                          </p:spTgt>
                                        </p:tgtEl>
                                        <p:attrNameLst>
                                          <p:attrName>style.visibility</p:attrName>
                                        </p:attrNameLst>
                                      </p:cBhvr>
                                      <p:to>
                                        <p:strVal val="visible"/>
                                      </p:to>
                                    </p:set>
                                    <p:animEffect transition="in" filter="wipe(up)">
                                      <p:cBhvr>
                                        <p:cTn id="28" dur="1000"/>
                                        <p:tgtEl>
                                          <p:spTgt spid="145411">
                                            <p:txEl>
                                              <p:pRg st="3" end="3"/>
                                            </p:txEl>
                                          </p:spTgt>
                                        </p:tgtEl>
                                      </p:cBhvr>
                                    </p:animEffect>
                                  </p:childTnLst>
                                </p:cTn>
                              </p:par>
                            </p:childTnLst>
                          </p:cTn>
                        </p:par>
                        <p:par>
                          <p:cTn id="29" fill="hold" nodeType="afterGroup">
                            <p:stCondLst>
                              <p:cond delay="6750"/>
                            </p:stCondLst>
                            <p:childTnLst>
                              <p:par>
                                <p:cTn id="30" presetID="22" presetClass="entr" presetSubtype="1" fill="hold" grpId="0" nodeType="afterEffect">
                                  <p:stCondLst>
                                    <p:cond delay="250"/>
                                  </p:stCondLst>
                                  <p:childTnLst>
                                    <p:set>
                                      <p:cBhvr>
                                        <p:cTn id="31" dur="1" fill="hold">
                                          <p:stCondLst>
                                            <p:cond delay="0"/>
                                          </p:stCondLst>
                                        </p:cTn>
                                        <p:tgtEl>
                                          <p:spTgt spid="145411">
                                            <p:txEl>
                                              <p:pRg st="4" end="4"/>
                                            </p:txEl>
                                          </p:spTgt>
                                        </p:tgtEl>
                                        <p:attrNameLst>
                                          <p:attrName>style.visibility</p:attrName>
                                        </p:attrNameLst>
                                      </p:cBhvr>
                                      <p:to>
                                        <p:strVal val="visible"/>
                                      </p:to>
                                    </p:set>
                                    <p:animEffect transition="in" filter="wipe(up)">
                                      <p:cBhvr>
                                        <p:cTn id="32" dur="1000"/>
                                        <p:tgtEl>
                                          <p:spTgt spid="145411">
                                            <p:txEl>
                                              <p:pRg st="4" end="4"/>
                                            </p:txEl>
                                          </p:spTgt>
                                        </p:tgtEl>
                                      </p:cBhvr>
                                    </p:animEffect>
                                  </p:childTnLst>
                                </p:cTn>
                              </p:par>
                            </p:childTnLst>
                          </p:cTn>
                        </p:par>
                        <p:par>
                          <p:cTn id="33" fill="hold" nodeType="afterGroup">
                            <p:stCondLst>
                              <p:cond delay="8000"/>
                            </p:stCondLst>
                            <p:childTnLst>
                              <p:par>
                                <p:cTn id="34" presetID="22" presetClass="entr" presetSubtype="1" fill="hold" grpId="0" nodeType="afterEffect">
                                  <p:stCondLst>
                                    <p:cond delay="250"/>
                                  </p:stCondLst>
                                  <p:childTnLst>
                                    <p:set>
                                      <p:cBhvr>
                                        <p:cTn id="35" dur="1" fill="hold">
                                          <p:stCondLst>
                                            <p:cond delay="0"/>
                                          </p:stCondLst>
                                        </p:cTn>
                                        <p:tgtEl>
                                          <p:spTgt spid="145411">
                                            <p:txEl>
                                              <p:pRg st="5" end="5"/>
                                            </p:txEl>
                                          </p:spTgt>
                                        </p:tgtEl>
                                        <p:attrNameLst>
                                          <p:attrName>style.visibility</p:attrName>
                                        </p:attrNameLst>
                                      </p:cBhvr>
                                      <p:to>
                                        <p:strVal val="visible"/>
                                      </p:to>
                                    </p:set>
                                    <p:animEffect transition="in" filter="wipe(up)">
                                      <p:cBhvr>
                                        <p:cTn id="36" dur="1000"/>
                                        <p:tgtEl>
                                          <p:spTgt spid="145411">
                                            <p:txEl>
                                              <p:pRg st="5" end="5"/>
                                            </p:txEl>
                                          </p:spTgt>
                                        </p:tgtEl>
                                      </p:cBhvr>
                                    </p:animEffect>
                                  </p:childTnLst>
                                </p:cTn>
                              </p:par>
                            </p:childTnLst>
                          </p:cTn>
                        </p:par>
                        <p:par>
                          <p:cTn id="37" fill="hold" nodeType="afterGroup">
                            <p:stCondLst>
                              <p:cond delay="9250"/>
                            </p:stCondLst>
                            <p:childTnLst>
                              <p:par>
                                <p:cTn id="38" presetID="22" presetClass="entr" presetSubtype="1" fill="hold" grpId="0" nodeType="afterEffect">
                                  <p:stCondLst>
                                    <p:cond delay="250"/>
                                  </p:stCondLst>
                                  <p:childTnLst>
                                    <p:set>
                                      <p:cBhvr>
                                        <p:cTn id="39" dur="1" fill="hold">
                                          <p:stCondLst>
                                            <p:cond delay="0"/>
                                          </p:stCondLst>
                                        </p:cTn>
                                        <p:tgtEl>
                                          <p:spTgt spid="145411">
                                            <p:txEl>
                                              <p:pRg st="6" end="6"/>
                                            </p:txEl>
                                          </p:spTgt>
                                        </p:tgtEl>
                                        <p:attrNameLst>
                                          <p:attrName>style.visibility</p:attrName>
                                        </p:attrNameLst>
                                      </p:cBhvr>
                                      <p:to>
                                        <p:strVal val="visible"/>
                                      </p:to>
                                    </p:set>
                                    <p:animEffect transition="in" filter="wipe(up)">
                                      <p:cBhvr>
                                        <p:cTn id="40" dur="1000"/>
                                        <p:tgtEl>
                                          <p:spTgt spid="1454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0" grpId="0" animBg="1" autoUpdateAnimBg="0"/>
      <p:bldP spid="145411" grpId="0" build="p" animBg="1" autoUpdateAnimBg="0" advAuto="100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Rectangle 3" descr="Recycled paper"/>
          <p:cNvSpPr>
            <a:spLocks noChangeArrowheads="1"/>
          </p:cNvSpPr>
          <p:nvPr/>
        </p:nvSpPr>
        <p:spPr bwMode="auto">
          <a:xfrm>
            <a:off x="152400" y="152400"/>
            <a:ext cx="8839200" cy="4762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spcBef>
                <a:spcPct val="50000"/>
              </a:spcBef>
              <a:buFontTx/>
              <a:buNone/>
            </a:pPr>
            <a:r>
              <a:rPr lang="en-US" sz="2400" b="1" dirty="0">
                <a:solidFill>
                  <a:srgbClr val="CC0000"/>
                </a:solidFill>
              </a:rPr>
              <a:t>FACT 1:  </a:t>
            </a:r>
            <a:r>
              <a:rPr lang="en-US" sz="2000" dirty="0">
                <a:solidFill>
                  <a:schemeClr val="hlink"/>
                </a:solidFill>
              </a:rPr>
              <a:t>Each DFS tree T of  DFS(G</a:t>
            </a:r>
            <a:r>
              <a:rPr lang="en-US" sz="2000" baseline="30000" dirty="0">
                <a:solidFill>
                  <a:schemeClr val="hlink"/>
                </a:solidFill>
              </a:rPr>
              <a:t>T</a:t>
            </a:r>
            <a:r>
              <a:rPr lang="en-US" sz="2000" dirty="0">
                <a:solidFill>
                  <a:schemeClr val="hlink"/>
                </a:solidFill>
              </a:rPr>
              <a:t>)  consists of a </a:t>
            </a:r>
            <a:r>
              <a:rPr lang="en-US" sz="2000" b="1" dirty="0">
                <a:solidFill>
                  <a:srgbClr val="CC0000"/>
                </a:solidFill>
              </a:rPr>
              <a:t>single</a:t>
            </a:r>
            <a:r>
              <a:rPr lang="en-US" sz="2000" dirty="0">
                <a:solidFill>
                  <a:schemeClr val="hlink"/>
                </a:solidFill>
              </a:rPr>
              <a:t> SCC.</a:t>
            </a:r>
          </a:p>
        </p:txBody>
      </p:sp>
      <p:sp>
        <p:nvSpPr>
          <p:cNvPr id="141316" name="Rectangle 4"/>
          <p:cNvSpPr>
            <a:spLocks noChangeArrowheads="1"/>
          </p:cNvSpPr>
          <p:nvPr/>
        </p:nvSpPr>
        <p:spPr bwMode="auto">
          <a:xfrm>
            <a:off x="228600" y="2590800"/>
            <a:ext cx="8077200" cy="3776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576263" indent="-576263" eaLnBrk="1" hangingPunct="1">
              <a:lnSpc>
                <a:spcPct val="110000"/>
              </a:lnSpc>
              <a:buFontTx/>
              <a:buAutoNum type="arabicParenR" startAt="3"/>
            </a:pPr>
            <a:r>
              <a:rPr lang="en-US" sz="2000"/>
              <a:t>P = the tree path in T (and G</a:t>
            </a:r>
            <a:r>
              <a:rPr lang="en-US" sz="2000" baseline="30000"/>
              <a:t>T</a:t>
            </a:r>
            <a:r>
              <a:rPr lang="en-US" sz="2000"/>
              <a:t>) from x to y.</a:t>
            </a:r>
          </a:p>
          <a:p>
            <a:pPr marL="576263" indent="-576263" eaLnBrk="1" hangingPunct="1">
              <a:lnSpc>
                <a:spcPct val="110000"/>
              </a:lnSpc>
              <a:buFontTx/>
              <a:buAutoNum type="arabicParenR" startAt="3"/>
            </a:pPr>
            <a:r>
              <a:rPr lang="en-US" sz="2000"/>
              <a:t>P</a:t>
            </a:r>
            <a:r>
              <a:rPr lang="en-US" sz="2000" baseline="30000"/>
              <a:t>T</a:t>
            </a:r>
            <a:r>
              <a:rPr lang="en-US" sz="2000"/>
              <a:t> is a path in G from y to x.</a:t>
            </a:r>
          </a:p>
          <a:p>
            <a:pPr marL="576263" indent="-576263" eaLnBrk="1" hangingPunct="1">
              <a:lnSpc>
                <a:spcPct val="110000"/>
              </a:lnSpc>
              <a:buFontTx/>
              <a:buAutoNum type="arabicParenR" startAt="3"/>
            </a:pPr>
            <a:r>
              <a:rPr lang="en-US" sz="2000"/>
              <a:t>(2)    </a:t>
            </a:r>
            <a:r>
              <a:rPr lang="en-US" sz="2000">
                <a:sym typeface="Symbol" pitchFamily="18" charset="2"/>
              </a:rPr>
              <a:t>   </a:t>
            </a:r>
            <a:r>
              <a:rPr lang="en-US" sz="2000"/>
              <a:t>P</a:t>
            </a:r>
            <a:r>
              <a:rPr lang="en-US" sz="2000" baseline="30000"/>
              <a:t>T</a:t>
            </a:r>
            <a:r>
              <a:rPr lang="en-US" sz="2000"/>
              <a:t> was an all-white path in DFS(G) when y was discovered.</a:t>
            </a:r>
          </a:p>
          <a:p>
            <a:pPr marL="576263" indent="-576263" eaLnBrk="1" hangingPunct="1">
              <a:lnSpc>
                <a:spcPct val="110000"/>
              </a:lnSpc>
              <a:buFontTx/>
              <a:buAutoNum type="arabicParenR" startAt="3"/>
            </a:pPr>
            <a:r>
              <a:rPr lang="en-US" sz="2000"/>
              <a:t>(5) + WPT  </a:t>
            </a:r>
            <a:r>
              <a:rPr lang="en-US" sz="2000">
                <a:sym typeface="Symbol" pitchFamily="18" charset="2"/>
              </a:rPr>
              <a:t>   </a:t>
            </a:r>
            <a:r>
              <a:rPr lang="en-US" sz="2000"/>
              <a:t>x is a descendant of y in DFS(G).</a:t>
            </a:r>
          </a:p>
          <a:p>
            <a:pPr marL="576263" indent="-576263" eaLnBrk="1" hangingPunct="1">
              <a:lnSpc>
                <a:spcPct val="110000"/>
              </a:lnSpc>
              <a:buFontTx/>
              <a:buAutoNum type="arabicParenR" startAt="3"/>
            </a:pPr>
            <a:r>
              <a:rPr lang="en-US" sz="2000"/>
              <a:t>(6)  +  PT    </a:t>
            </a:r>
            <a:r>
              <a:rPr lang="en-US" sz="2000">
                <a:sym typeface="Symbol" pitchFamily="18" charset="2"/>
              </a:rPr>
              <a:t>   </a:t>
            </a:r>
            <a:r>
              <a:rPr lang="en-US" sz="2000"/>
              <a:t>f[x] </a:t>
            </a:r>
            <a:r>
              <a:rPr lang="en-US" sz="2000">
                <a:sym typeface="Symbol" pitchFamily="18" charset="2"/>
              </a:rPr>
              <a:t> </a:t>
            </a:r>
            <a:r>
              <a:rPr lang="en-US" sz="2000"/>
              <a:t>f[y]   </a:t>
            </a:r>
            <a:r>
              <a:rPr lang="en-US" sz="2000">
                <a:solidFill>
                  <a:srgbClr val="CC0000"/>
                </a:solidFill>
              </a:rPr>
              <a:t>(wrt 1</a:t>
            </a:r>
            <a:r>
              <a:rPr lang="en-US" sz="2000" baseline="30000">
                <a:solidFill>
                  <a:srgbClr val="CC0000"/>
                </a:solidFill>
              </a:rPr>
              <a:t>st</a:t>
            </a:r>
            <a:r>
              <a:rPr lang="en-US" sz="2000">
                <a:solidFill>
                  <a:srgbClr val="CC0000"/>
                </a:solidFill>
              </a:rPr>
              <a:t> DFS(G)).</a:t>
            </a:r>
          </a:p>
          <a:p>
            <a:pPr marL="576263" indent="-576263" eaLnBrk="1" hangingPunct="1">
              <a:lnSpc>
                <a:spcPct val="110000"/>
              </a:lnSpc>
              <a:buFontTx/>
              <a:buAutoNum type="arabicParenR" startAt="3"/>
            </a:pPr>
            <a:r>
              <a:rPr lang="en-US" sz="2000"/>
              <a:t>(1)  +  (7)    </a:t>
            </a:r>
            <a:r>
              <a:rPr lang="en-US" sz="2000">
                <a:sym typeface="Symbol" pitchFamily="18" charset="2"/>
              </a:rPr>
              <a:t>   </a:t>
            </a:r>
            <a:r>
              <a:rPr lang="en-US" sz="2000"/>
              <a:t>f[x] </a:t>
            </a:r>
            <a:r>
              <a:rPr lang="en-US" sz="2000">
                <a:sym typeface="Symbol" pitchFamily="18" charset="2"/>
              </a:rPr>
              <a:t>= </a:t>
            </a:r>
            <a:r>
              <a:rPr lang="en-US" sz="2000"/>
              <a:t>f[y]    </a:t>
            </a:r>
            <a:r>
              <a:rPr lang="en-US" sz="2000">
                <a:sym typeface="Symbol" pitchFamily="18" charset="2"/>
              </a:rPr>
              <a:t>     </a:t>
            </a:r>
            <a:r>
              <a:rPr lang="en-US" sz="2000"/>
              <a:t>x </a:t>
            </a:r>
            <a:r>
              <a:rPr lang="en-US" sz="2000">
                <a:sym typeface="Symbol" pitchFamily="18" charset="2"/>
              </a:rPr>
              <a:t>= </a:t>
            </a:r>
            <a:r>
              <a:rPr lang="en-US" sz="2000"/>
              <a:t>y.</a:t>
            </a:r>
          </a:p>
          <a:p>
            <a:pPr marL="576263" indent="-576263" eaLnBrk="1" hangingPunct="1">
              <a:lnSpc>
                <a:spcPct val="110000"/>
              </a:lnSpc>
              <a:buFontTx/>
              <a:buAutoNum type="arabicParenR" startAt="3"/>
            </a:pPr>
            <a:r>
              <a:rPr lang="en-US" sz="2000"/>
              <a:t>(1)+(2)+(8) </a:t>
            </a:r>
            <a:r>
              <a:rPr lang="en-US" sz="2000">
                <a:sym typeface="Symbol" pitchFamily="18" charset="2"/>
              </a:rPr>
              <a:t>  node uT:  d[x]  d[u] &lt; f[u]  f[x]  </a:t>
            </a:r>
            <a:r>
              <a:rPr lang="en-US" sz="2000">
                <a:solidFill>
                  <a:srgbClr val="CC0000"/>
                </a:solidFill>
              </a:rPr>
              <a:t>(wrt 1</a:t>
            </a:r>
            <a:r>
              <a:rPr lang="en-US" sz="2000" baseline="30000">
                <a:solidFill>
                  <a:srgbClr val="CC0000"/>
                </a:solidFill>
              </a:rPr>
              <a:t>st</a:t>
            </a:r>
            <a:r>
              <a:rPr lang="en-US" sz="2000">
                <a:solidFill>
                  <a:srgbClr val="CC0000"/>
                </a:solidFill>
              </a:rPr>
              <a:t> DFS(G)).</a:t>
            </a:r>
          </a:p>
          <a:p>
            <a:pPr marL="576263" indent="-576263" eaLnBrk="1" hangingPunct="1">
              <a:lnSpc>
                <a:spcPct val="110000"/>
              </a:lnSpc>
              <a:buFontTx/>
              <a:buAutoNum type="arabicParenR" startAt="3"/>
            </a:pPr>
            <a:r>
              <a:rPr lang="en-US" sz="2000">
                <a:sym typeface="Symbol" pitchFamily="18" charset="2"/>
              </a:rPr>
              <a:t>(9)  +  PT      node uT:  u is a descendant of x in 1</a:t>
            </a:r>
            <a:r>
              <a:rPr lang="en-US" sz="2000" baseline="30000">
                <a:sym typeface="Symbol" pitchFamily="18" charset="2"/>
              </a:rPr>
              <a:t>st</a:t>
            </a:r>
            <a:r>
              <a:rPr lang="en-US" sz="2000">
                <a:sym typeface="Symbol" pitchFamily="18" charset="2"/>
              </a:rPr>
              <a:t> DFS(G).</a:t>
            </a:r>
          </a:p>
          <a:p>
            <a:pPr marL="576263" indent="-576263" eaLnBrk="1" hangingPunct="1">
              <a:lnSpc>
                <a:spcPct val="110000"/>
              </a:lnSpc>
              <a:buFontTx/>
              <a:buAutoNum type="arabicParenR" startAt="3"/>
            </a:pPr>
            <a:r>
              <a:rPr lang="en-US" sz="2000">
                <a:sym typeface="Symbol" pitchFamily="18" charset="2"/>
              </a:rPr>
              <a:t>          (10)     node uT:  </a:t>
            </a:r>
            <a:r>
              <a:rPr lang="en-US" sz="1800">
                <a:latin typeface="Arial" pitchFamily="34" charset="0"/>
              </a:rPr>
              <a:t>x </a:t>
            </a:r>
            <a:r>
              <a:rPr lang="en-US" sz="2800" baseline="-8000">
                <a:latin typeface="Arial" pitchFamily="34" charset="0"/>
                <a:cs typeface="Arial" pitchFamily="34" charset="0"/>
              </a:rPr>
              <a:t>~~</a:t>
            </a:r>
            <a:r>
              <a:rPr lang="en-US" sz="1800">
                <a:latin typeface="Arial" pitchFamily="34" charset="0"/>
                <a:sym typeface="Symbol" pitchFamily="18" charset="2"/>
              </a:rPr>
              <a:t></a:t>
            </a:r>
            <a:r>
              <a:rPr lang="en-US" sz="2800" b="1" baseline="-2000">
                <a:latin typeface="Arial" pitchFamily="34" charset="0"/>
                <a:sym typeface="Symbol" pitchFamily="18" charset="2"/>
              </a:rPr>
              <a:t> </a:t>
            </a:r>
            <a:r>
              <a:rPr lang="en-US" sz="1800">
                <a:latin typeface="Arial" pitchFamily="34" charset="0"/>
              </a:rPr>
              <a:t>u  in  G.</a:t>
            </a:r>
          </a:p>
          <a:p>
            <a:pPr marL="576263" indent="-576263" eaLnBrk="1" hangingPunct="1">
              <a:lnSpc>
                <a:spcPct val="110000"/>
              </a:lnSpc>
              <a:buFontTx/>
              <a:buAutoNum type="arabicParenR" startAt="3"/>
            </a:pPr>
            <a:r>
              <a:rPr lang="en-US" sz="2000">
                <a:sym typeface="Symbol" pitchFamily="18" charset="2"/>
              </a:rPr>
              <a:t>                          node uT:  </a:t>
            </a:r>
            <a:r>
              <a:rPr lang="en-US" sz="1800">
                <a:latin typeface="Arial" pitchFamily="34" charset="0"/>
              </a:rPr>
              <a:t>x </a:t>
            </a:r>
            <a:r>
              <a:rPr lang="en-US" sz="2800" baseline="-8000">
                <a:latin typeface="Arial" pitchFamily="34" charset="0"/>
                <a:cs typeface="Arial" pitchFamily="34" charset="0"/>
              </a:rPr>
              <a:t>~~</a:t>
            </a:r>
            <a:r>
              <a:rPr lang="en-US" sz="1800">
                <a:latin typeface="Arial" pitchFamily="34" charset="0"/>
                <a:sym typeface="Symbol" pitchFamily="18" charset="2"/>
              </a:rPr>
              <a:t></a:t>
            </a:r>
            <a:r>
              <a:rPr lang="en-US" sz="2800" b="1" baseline="-2000">
                <a:latin typeface="Arial" pitchFamily="34" charset="0"/>
                <a:sym typeface="Symbol" pitchFamily="18" charset="2"/>
              </a:rPr>
              <a:t> </a:t>
            </a:r>
            <a:r>
              <a:rPr lang="en-US" sz="1800">
                <a:latin typeface="Arial" pitchFamily="34" charset="0"/>
              </a:rPr>
              <a:t>u  in  G</a:t>
            </a:r>
            <a:r>
              <a:rPr lang="en-US" sz="2000" baseline="30000"/>
              <a:t>T</a:t>
            </a:r>
            <a:r>
              <a:rPr lang="en-US" sz="1800">
                <a:latin typeface="Arial" pitchFamily="34" charset="0"/>
              </a:rPr>
              <a:t>.</a:t>
            </a:r>
          </a:p>
          <a:p>
            <a:pPr marL="576263" indent="-576263" eaLnBrk="1" hangingPunct="1">
              <a:lnSpc>
                <a:spcPct val="110000"/>
              </a:lnSpc>
              <a:buFontTx/>
              <a:buAutoNum type="arabicParenR" startAt="3"/>
            </a:pPr>
            <a:r>
              <a:rPr lang="en-US" sz="1800">
                <a:latin typeface="Arial" pitchFamily="34" charset="0"/>
              </a:rPr>
              <a:t>(11) + (12)   </a:t>
            </a:r>
            <a:r>
              <a:rPr lang="en-US" sz="2000">
                <a:sym typeface="Symbol" pitchFamily="18" charset="2"/>
              </a:rPr>
              <a:t>  node uT:  u is in the same SCC as x.                     </a:t>
            </a:r>
            <a:r>
              <a:rPr lang="en-US" sz="2000"/>
              <a:t>□</a:t>
            </a:r>
          </a:p>
        </p:txBody>
      </p:sp>
      <p:grpSp>
        <p:nvGrpSpPr>
          <p:cNvPr id="141327" name="Group 15"/>
          <p:cNvGrpSpPr>
            <a:grpSpLocks/>
          </p:cNvGrpSpPr>
          <p:nvPr/>
        </p:nvGrpSpPr>
        <p:grpSpPr bwMode="auto">
          <a:xfrm>
            <a:off x="7010400" y="685800"/>
            <a:ext cx="1873250" cy="1905000"/>
            <a:chOff x="4148" y="432"/>
            <a:chExt cx="1180" cy="1200"/>
          </a:xfrm>
        </p:grpSpPr>
        <p:sp>
          <p:nvSpPr>
            <p:cNvPr id="53254" name="AutoShape 9"/>
            <p:cNvSpPr>
              <a:spLocks noChangeArrowheads="1"/>
            </p:cNvSpPr>
            <p:nvPr/>
          </p:nvSpPr>
          <p:spPr bwMode="auto">
            <a:xfrm>
              <a:off x="4176" y="553"/>
              <a:ext cx="1152" cy="1079"/>
            </a:xfrm>
            <a:prstGeom prst="triangle">
              <a:avLst>
                <a:gd name="adj" fmla="val 50000"/>
              </a:avLst>
            </a:prstGeom>
            <a:solidFill>
              <a:srgbClr val="FFCC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53255" name="Oval 7"/>
            <p:cNvSpPr>
              <a:spLocks noChangeArrowheads="1"/>
            </p:cNvSpPr>
            <p:nvPr/>
          </p:nvSpPr>
          <p:spPr bwMode="auto">
            <a:xfrm>
              <a:off x="4704" y="505"/>
              <a:ext cx="96" cy="96"/>
            </a:xfrm>
            <a:prstGeom prst="ellipse">
              <a:avLst/>
            </a:prstGeom>
            <a:solidFill>
              <a:schemeClr val="accent5">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53256" name="Oval 8"/>
            <p:cNvSpPr>
              <a:spLocks noChangeArrowheads="1"/>
            </p:cNvSpPr>
            <p:nvPr/>
          </p:nvSpPr>
          <p:spPr bwMode="auto">
            <a:xfrm>
              <a:off x="4704" y="1273"/>
              <a:ext cx="96" cy="96"/>
            </a:xfrm>
            <a:prstGeom prst="ellipse">
              <a:avLst/>
            </a:prstGeom>
            <a:solidFill>
              <a:schemeClr val="accent5">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53257" name="Freeform 10"/>
            <p:cNvSpPr>
              <a:spLocks/>
            </p:cNvSpPr>
            <p:nvPr/>
          </p:nvSpPr>
          <p:spPr bwMode="auto">
            <a:xfrm>
              <a:off x="4727" y="601"/>
              <a:ext cx="63" cy="672"/>
            </a:xfrm>
            <a:custGeom>
              <a:avLst/>
              <a:gdLst>
                <a:gd name="T0" fmla="*/ 25 w 63"/>
                <a:gd name="T1" fmla="*/ 0 h 672"/>
                <a:gd name="T2" fmla="*/ 28 w 63"/>
                <a:gd name="T3" fmla="*/ 73 h 672"/>
                <a:gd name="T4" fmla="*/ 42 w 63"/>
                <a:gd name="T5" fmla="*/ 152 h 672"/>
                <a:gd name="T6" fmla="*/ 2 w 63"/>
                <a:gd name="T7" fmla="*/ 212 h 672"/>
                <a:gd name="T8" fmla="*/ 55 w 63"/>
                <a:gd name="T9" fmla="*/ 278 h 672"/>
                <a:gd name="T10" fmla="*/ 15 w 63"/>
                <a:gd name="T11" fmla="*/ 364 h 672"/>
                <a:gd name="T12" fmla="*/ 61 w 63"/>
                <a:gd name="T13" fmla="*/ 430 h 672"/>
                <a:gd name="T14" fmla="*/ 28 w 63"/>
                <a:gd name="T15" fmla="*/ 497 h 672"/>
                <a:gd name="T16" fmla="*/ 25 w 63"/>
                <a:gd name="T17" fmla="*/ 672 h 6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3" h="672">
                  <a:moveTo>
                    <a:pt x="25" y="0"/>
                  </a:moveTo>
                  <a:cubicBezTo>
                    <a:pt x="25" y="12"/>
                    <a:pt x="25" y="48"/>
                    <a:pt x="28" y="73"/>
                  </a:cubicBezTo>
                  <a:cubicBezTo>
                    <a:pt x="31" y="98"/>
                    <a:pt x="46" y="129"/>
                    <a:pt x="42" y="152"/>
                  </a:cubicBezTo>
                  <a:cubicBezTo>
                    <a:pt x="38" y="175"/>
                    <a:pt x="0" y="191"/>
                    <a:pt x="2" y="212"/>
                  </a:cubicBezTo>
                  <a:cubicBezTo>
                    <a:pt x="4" y="233"/>
                    <a:pt x="53" y="253"/>
                    <a:pt x="55" y="278"/>
                  </a:cubicBezTo>
                  <a:cubicBezTo>
                    <a:pt x="57" y="303"/>
                    <a:pt x="14" y="339"/>
                    <a:pt x="15" y="364"/>
                  </a:cubicBezTo>
                  <a:cubicBezTo>
                    <a:pt x="16" y="389"/>
                    <a:pt x="59" y="408"/>
                    <a:pt x="61" y="430"/>
                  </a:cubicBezTo>
                  <a:cubicBezTo>
                    <a:pt x="63" y="452"/>
                    <a:pt x="34" y="457"/>
                    <a:pt x="28" y="497"/>
                  </a:cubicBezTo>
                  <a:cubicBezTo>
                    <a:pt x="22" y="537"/>
                    <a:pt x="26" y="636"/>
                    <a:pt x="25" y="672"/>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53258" name="Text Box 11"/>
            <p:cNvSpPr txBox="1">
              <a:spLocks noChangeArrowheads="1"/>
            </p:cNvSpPr>
            <p:nvPr/>
          </p:nvSpPr>
          <p:spPr bwMode="auto">
            <a:xfrm>
              <a:off x="4560" y="43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x</a:t>
              </a:r>
            </a:p>
          </p:txBody>
        </p:sp>
        <p:sp>
          <p:nvSpPr>
            <p:cNvPr id="53259" name="Text Box 12"/>
            <p:cNvSpPr txBox="1">
              <a:spLocks noChangeArrowheads="1"/>
            </p:cNvSpPr>
            <p:nvPr/>
          </p:nvSpPr>
          <p:spPr bwMode="auto">
            <a:xfrm>
              <a:off x="4752" y="115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y</a:t>
              </a:r>
            </a:p>
          </p:txBody>
        </p:sp>
        <p:sp>
          <p:nvSpPr>
            <p:cNvPr id="53260" name="Text Box 13"/>
            <p:cNvSpPr txBox="1">
              <a:spLocks noChangeArrowheads="1"/>
            </p:cNvSpPr>
            <p:nvPr/>
          </p:nvSpPr>
          <p:spPr bwMode="auto">
            <a:xfrm>
              <a:off x="4148" y="649"/>
              <a:ext cx="24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T:</a:t>
              </a:r>
            </a:p>
          </p:txBody>
        </p:sp>
      </p:grpSp>
      <p:sp>
        <p:nvSpPr>
          <p:cNvPr id="141328" name="Rectangle 16"/>
          <p:cNvSpPr>
            <a:spLocks noChangeArrowheads="1"/>
          </p:cNvSpPr>
          <p:nvPr/>
        </p:nvSpPr>
        <p:spPr bwMode="auto">
          <a:xfrm>
            <a:off x="228600" y="685800"/>
            <a:ext cx="7861300" cy="1920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576263" indent="-576263" eaLnBrk="1" hangingPunct="1">
              <a:spcBef>
                <a:spcPct val="50000"/>
              </a:spcBef>
              <a:buFontTx/>
              <a:buNone/>
            </a:pPr>
            <a:r>
              <a:rPr lang="en-US" sz="2000" b="1"/>
              <a:t>Proof:</a:t>
            </a:r>
          </a:p>
          <a:p>
            <a:pPr marL="576263" indent="-576263" eaLnBrk="1" hangingPunct="1">
              <a:spcBef>
                <a:spcPct val="50000"/>
              </a:spcBef>
              <a:buFontTx/>
              <a:buAutoNum type="arabicParenR"/>
            </a:pPr>
            <a:r>
              <a:rPr lang="en-US" sz="2000"/>
              <a:t>Among nodes in T, root x has max f[.]   </a:t>
            </a:r>
            <a:r>
              <a:rPr lang="en-US" sz="2000">
                <a:solidFill>
                  <a:srgbClr val="CC0000"/>
                </a:solidFill>
              </a:rPr>
              <a:t>(wrt 1</a:t>
            </a:r>
            <a:r>
              <a:rPr lang="en-US" sz="2000" baseline="30000">
                <a:solidFill>
                  <a:srgbClr val="CC0000"/>
                </a:solidFill>
              </a:rPr>
              <a:t>st</a:t>
            </a:r>
            <a:r>
              <a:rPr lang="en-US" sz="2000">
                <a:solidFill>
                  <a:srgbClr val="CC0000"/>
                </a:solidFill>
              </a:rPr>
              <a:t> DFS(G)).</a:t>
            </a:r>
            <a:r>
              <a:rPr lang="en-US" sz="2000"/>
              <a:t/>
            </a:r>
            <a:br>
              <a:rPr lang="en-US" sz="2000"/>
            </a:br>
            <a:r>
              <a:rPr lang="en-US" sz="2000">
                <a:solidFill>
                  <a:srgbClr val="CC0000"/>
                </a:solidFill>
              </a:rPr>
              <a:t>It came out of stack S before any other node in T.</a:t>
            </a:r>
          </a:p>
          <a:p>
            <a:pPr marL="576263" indent="-576263" eaLnBrk="1" hangingPunct="1">
              <a:spcBef>
                <a:spcPct val="50000"/>
              </a:spcBef>
              <a:buFontTx/>
              <a:buAutoNum type="arabicParenR"/>
            </a:pPr>
            <a:r>
              <a:rPr lang="en-US" sz="2000"/>
              <a:t>Among the nodes in T, let y be the one with min d[.]  </a:t>
            </a:r>
            <a:br>
              <a:rPr lang="en-US" sz="2000"/>
            </a:br>
            <a:r>
              <a:rPr lang="en-US" sz="2000">
                <a:solidFill>
                  <a:srgbClr val="CC0000"/>
                </a:solidFill>
              </a:rPr>
              <a:t>(wrt 1</a:t>
            </a:r>
            <a:r>
              <a:rPr lang="en-US" sz="2000" baseline="30000">
                <a:solidFill>
                  <a:srgbClr val="CC0000"/>
                </a:solidFill>
              </a:rPr>
              <a:t>st</a:t>
            </a:r>
            <a:r>
              <a:rPr lang="en-US" sz="2000">
                <a:solidFill>
                  <a:srgbClr val="CC0000"/>
                </a:solidFill>
              </a:rPr>
              <a:t> DFS(G)).</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51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1315"/>
                                        </p:tgtEl>
                                        <p:attrNameLst>
                                          <p:attrName>style.visibility</p:attrName>
                                        </p:attrNameLst>
                                      </p:cBhvr>
                                      <p:to>
                                        <p:strVal val="visible"/>
                                      </p:to>
                                    </p:set>
                                    <p:animEffect transition="in" filter="wipe(left)">
                                      <p:cBhvr>
                                        <p:cTn id="7" dur="500"/>
                                        <p:tgtEl>
                                          <p:spTgt spid="1413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1328">
                                            <p:txEl>
                                              <p:pRg st="0" end="0"/>
                                            </p:txEl>
                                          </p:spTgt>
                                        </p:tgtEl>
                                        <p:attrNameLst>
                                          <p:attrName>style.visibility</p:attrName>
                                        </p:attrNameLst>
                                      </p:cBhvr>
                                      <p:to>
                                        <p:strVal val="visible"/>
                                      </p:to>
                                    </p:set>
                                    <p:animEffect transition="in" filter="wipe(left)">
                                      <p:cBhvr>
                                        <p:cTn id="12" dur="500"/>
                                        <p:tgtEl>
                                          <p:spTgt spid="14132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1328">
                                            <p:txEl>
                                              <p:pRg st="1" end="1"/>
                                            </p:txEl>
                                          </p:spTgt>
                                        </p:tgtEl>
                                        <p:attrNameLst>
                                          <p:attrName>style.visibility</p:attrName>
                                        </p:attrNameLst>
                                      </p:cBhvr>
                                      <p:to>
                                        <p:strVal val="visible"/>
                                      </p:to>
                                    </p:set>
                                    <p:animEffect transition="in" filter="wipe(left)">
                                      <p:cBhvr>
                                        <p:cTn id="17" dur="500"/>
                                        <p:tgtEl>
                                          <p:spTgt spid="141328">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1328">
                                            <p:txEl>
                                              <p:pRg st="2" end="2"/>
                                            </p:txEl>
                                          </p:spTgt>
                                        </p:tgtEl>
                                        <p:attrNameLst>
                                          <p:attrName>style.visibility</p:attrName>
                                        </p:attrNameLst>
                                      </p:cBhvr>
                                      <p:to>
                                        <p:strVal val="visible"/>
                                      </p:to>
                                    </p:set>
                                    <p:animEffect transition="in" filter="wipe(left)">
                                      <p:cBhvr>
                                        <p:cTn id="22" dur="500"/>
                                        <p:tgtEl>
                                          <p:spTgt spid="141328">
                                            <p:txEl>
                                              <p:pRg st="2" end="2"/>
                                            </p:txEl>
                                          </p:spTgt>
                                        </p:tgtEl>
                                      </p:cBhvr>
                                    </p:animEffect>
                                  </p:childTnLst>
                                </p:cTn>
                              </p:par>
                            </p:childTnLst>
                          </p:cTn>
                        </p:par>
                        <p:par>
                          <p:cTn id="23" fill="hold" nodeType="afterGroup">
                            <p:stCondLst>
                              <p:cond delay="500"/>
                            </p:stCondLst>
                            <p:childTnLst>
                              <p:par>
                                <p:cTn id="24" presetID="22" presetClass="entr" presetSubtype="1" fill="hold" nodeType="afterEffect">
                                  <p:stCondLst>
                                    <p:cond delay="0"/>
                                  </p:stCondLst>
                                  <p:childTnLst>
                                    <p:set>
                                      <p:cBhvr>
                                        <p:cTn id="25" dur="1" fill="hold">
                                          <p:stCondLst>
                                            <p:cond delay="0"/>
                                          </p:stCondLst>
                                        </p:cTn>
                                        <p:tgtEl>
                                          <p:spTgt spid="141327"/>
                                        </p:tgtEl>
                                        <p:attrNameLst>
                                          <p:attrName>style.visibility</p:attrName>
                                        </p:attrNameLst>
                                      </p:cBhvr>
                                      <p:to>
                                        <p:strVal val="visible"/>
                                      </p:to>
                                    </p:set>
                                    <p:animEffect transition="in" filter="wipe(up)">
                                      <p:cBhvr>
                                        <p:cTn id="26" dur="500"/>
                                        <p:tgtEl>
                                          <p:spTgt spid="14132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1316">
                                            <p:txEl>
                                              <p:pRg st="0" end="0"/>
                                            </p:txEl>
                                          </p:spTgt>
                                        </p:tgtEl>
                                        <p:attrNameLst>
                                          <p:attrName>style.visibility</p:attrName>
                                        </p:attrNameLst>
                                      </p:cBhvr>
                                      <p:to>
                                        <p:strVal val="visible"/>
                                      </p:to>
                                    </p:set>
                                    <p:animEffect transition="in" filter="wipe(left)">
                                      <p:cBhvr>
                                        <p:cTn id="31" dur="500"/>
                                        <p:tgtEl>
                                          <p:spTgt spid="141316">
                                            <p:txEl>
                                              <p:pRg st="0" end="0"/>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1316">
                                            <p:txEl>
                                              <p:pRg st="1" end="1"/>
                                            </p:txEl>
                                          </p:spTgt>
                                        </p:tgtEl>
                                        <p:attrNameLst>
                                          <p:attrName>style.visibility</p:attrName>
                                        </p:attrNameLst>
                                      </p:cBhvr>
                                      <p:to>
                                        <p:strVal val="visible"/>
                                      </p:to>
                                    </p:set>
                                    <p:animEffect transition="in" filter="wipe(left)">
                                      <p:cBhvr>
                                        <p:cTn id="36" dur="500"/>
                                        <p:tgtEl>
                                          <p:spTgt spid="141316">
                                            <p:txEl>
                                              <p:pRg st="1" end="1"/>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41316">
                                            <p:txEl>
                                              <p:pRg st="2" end="2"/>
                                            </p:txEl>
                                          </p:spTgt>
                                        </p:tgtEl>
                                        <p:attrNameLst>
                                          <p:attrName>style.visibility</p:attrName>
                                        </p:attrNameLst>
                                      </p:cBhvr>
                                      <p:to>
                                        <p:strVal val="visible"/>
                                      </p:to>
                                    </p:set>
                                    <p:animEffect transition="in" filter="wipe(left)">
                                      <p:cBhvr>
                                        <p:cTn id="41" dur="500"/>
                                        <p:tgtEl>
                                          <p:spTgt spid="141316">
                                            <p:txEl>
                                              <p:pRg st="2" end="2"/>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41316">
                                            <p:txEl>
                                              <p:pRg st="3" end="3"/>
                                            </p:txEl>
                                          </p:spTgt>
                                        </p:tgtEl>
                                        <p:attrNameLst>
                                          <p:attrName>style.visibility</p:attrName>
                                        </p:attrNameLst>
                                      </p:cBhvr>
                                      <p:to>
                                        <p:strVal val="visible"/>
                                      </p:to>
                                    </p:set>
                                    <p:animEffect transition="in" filter="wipe(left)">
                                      <p:cBhvr>
                                        <p:cTn id="46" dur="500"/>
                                        <p:tgtEl>
                                          <p:spTgt spid="141316">
                                            <p:txEl>
                                              <p:pRg st="3" end="3"/>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41316">
                                            <p:txEl>
                                              <p:pRg st="4" end="4"/>
                                            </p:txEl>
                                          </p:spTgt>
                                        </p:tgtEl>
                                        <p:attrNameLst>
                                          <p:attrName>style.visibility</p:attrName>
                                        </p:attrNameLst>
                                      </p:cBhvr>
                                      <p:to>
                                        <p:strVal val="visible"/>
                                      </p:to>
                                    </p:set>
                                    <p:animEffect transition="in" filter="wipe(left)">
                                      <p:cBhvr>
                                        <p:cTn id="51" dur="500"/>
                                        <p:tgtEl>
                                          <p:spTgt spid="141316">
                                            <p:txEl>
                                              <p:pRg st="4" end="4"/>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41316">
                                            <p:txEl>
                                              <p:pRg st="5" end="5"/>
                                            </p:txEl>
                                          </p:spTgt>
                                        </p:tgtEl>
                                        <p:attrNameLst>
                                          <p:attrName>style.visibility</p:attrName>
                                        </p:attrNameLst>
                                      </p:cBhvr>
                                      <p:to>
                                        <p:strVal val="visible"/>
                                      </p:to>
                                    </p:set>
                                    <p:animEffect transition="in" filter="wipe(left)">
                                      <p:cBhvr>
                                        <p:cTn id="56" dur="500"/>
                                        <p:tgtEl>
                                          <p:spTgt spid="141316">
                                            <p:txEl>
                                              <p:pRg st="5" end="5"/>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41316">
                                            <p:txEl>
                                              <p:pRg st="6" end="6"/>
                                            </p:txEl>
                                          </p:spTgt>
                                        </p:tgtEl>
                                        <p:attrNameLst>
                                          <p:attrName>style.visibility</p:attrName>
                                        </p:attrNameLst>
                                      </p:cBhvr>
                                      <p:to>
                                        <p:strVal val="visible"/>
                                      </p:to>
                                    </p:set>
                                    <p:animEffect transition="in" filter="wipe(left)">
                                      <p:cBhvr>
                                        <p:cTn id="61" dur="500"/>
                                        <p:tgtEl>
                                          <p:spTgt spid="141316">
                                            <p:txEl>
                                              <p:pRg st="6" end="6"/>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41316">
                                            <p:txEl>
                                              <p:pRg st="7" end="7"/>
                                            </p:txEl>
                                          </p:spTgt>
                                        </p:tgtEl>
                                        <p:attrNameLst>
                                          <p:attrName>style.visibility</p:attrName>
                                        </p:attrNameLst>
                                      </p:cBhvr>
                                      <p:to>
                                        <p:strVal val="visible"/>
                                      </p:to>
                                    </p:set>
                                    <p:animEffect transition="in" filter="wipe(left)">
                                      <p:cBhvr>
                                        <p:cTn id="66" dur="500"/>
                                        <p:tgtEl>
                                          <p:spTgt spid="141316">
                                            <p:txEl>
                                              <p:pRg st="7" end="7"/>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41316">
                                            <p:txEl>
                                              <p:pRg st="8" end="8"/>
                                            </p:txEl>
                                          </p:spTgt>
                                        </p:tgtEl>
                                        <p:attrNameLst>
                                          <p:attrName>style.visibility</p:attrName>
                                        </p:attrNameLst>
                                      </p:cBhvr>
                                      <p:to>
                                        <p:strVal val="visible"/>
                                      </p:to>
                                    </p:set>
                                    <p:animEffect transition="in" filter="wipe(left)">
                                      <p:cBhvr>
                                        <p:cTn id="71" dur="500"/>
                                        <p:tgtEl>
                                          <p:spTgt spid="141316">
                                            <p:txEl>
                                              <p:pRg st="8" end="8"/>
                                            </p:txEl>
                                          </p:spTgt>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41316">
                                            <p:txEl>
                                              <p:pRg st="9" end="9"/>
                                            </p:txEl>
                                          </p:spTgt>
                                        </p:tgtEl>
                                        <p:attrNameLst>
                                          <p:attrName>style.visibility</p:attrName>
                                        </p:attrNameLst>
                                      </p:cBhvr>
                                      <p:to>
                                        <p:strVal val="visible"/>
                                      </p:to>
                                    </p:set>
                                    <p:animEffect transition="in" filter="wipe(left)">
                                      <p:cBhvr>
                                        <p:cTn id="76" dur="500"/>
                                        <p:tgtEl>
                                          <p:spTgt spid="141316">
                                            <p:txEl>
                                              <p:pRg st="9" end="9"/>
                                            </p:txEl>
                                          </p:spTgt>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41316">
                                            <p:txEl>
                                              <p:pRg st="10" end="10"/>
                                            </p:txEl>
                                          </p:spTgt>
                                        </p:tgtEl>
                                        <p:attrNameLst>
                                          <p:attrName>style.visibility</p:attrName>
                                        </p:attrNameLst>
                                      </p:cBhvr>
                                      <p:to>
                                        <p:strVal val="visible"/>
                                      </p:to>
                                    </p:set>
                                    <p:animEffect transition="in" filter="wipe(left)">
                                      <p:cBhvr>
                                        <p:cTn id="81" dur="500"/>
                                        <p:tgtEl>
                                          <p:spTgt spid="14131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animBg="1" autoUpdateAnimBg="0"/>
      <p:bldP spid="141316" grpId="0" build="p" autoUpdateAnimBg="0"/>
      <p:bldP spid="141328"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descr="Recycled paper"/>
          <p:cNvSpPr>
            <a:spLocks noChangeArrowheads="1"/>
          </p:cNvSpPr>
          <p:nvPr/>
        </p:nvSpPr>
        <p:spPr bwMode="auto">
          <a:xfrm>
            <a:off x="152400" y="152400"/>
            <a:ext cx="8839200" cy="4762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spcBef>
                <a:spcPct val="50000"/>
              </a:spcBef>
              <a:buFontTx/>
              <a:buNone/>
            </a:pPr>
            <a:r>
              <a:rPr lang="en-US" sz="2400" b="1" dirty="0">
                <a:solidFill>
                  <a:srgbClr val="CC0000"/>
                </a:solidFill>
              </a:rPr>
              <a:t>FACT 1:  </a:t>
            </a:r>
            <a:r>
              <a:rPr lang="en-US" sz="2000" dirty="0">
                <a:solidFill>
                  <a:schemeClr val="hlink"/>
                </a:solidFill>
              </a:rPr>
              <a:t>Each DFS tree T of  DFS(G</a:t>
            </a:r>
            <a:r>
              <a:rPr lang="en-US" sz="2000" baseline="30000" dirty="0">
                <a:solidFill>
                  <a:schemeClr val="hlink"/>
                </a:solidFill>
              </a:rPr>
              <a:t>T</a:t>
            </a:r>
            <a:r>
              <a:rPr lang="en-US" sz="2000" dirty="0">
                <a:solidFill>
                  <a:schemeClr val="hlink"/>
                </a:solidFill>
              </a:rPr>
              <a:t>)  consists of a </a:t>
            </a:r>
            <a:r>
              <a:rPr lang="en-US" sz="2000" b="1" dirty="0">
                <a:solidFill>
                  <a:srgbClr val="CC0000"/>
                </a:solidFill>
              </a:rPr>
              <a:t>single</a:t>
            </a:r>
            <a:r>
              <a:rPr lang="en-US" sz="2000" dirty="0">
                <a:solidFill>
                  <a:schemeClr val="hlink"/>
                </a:solidFill>
              </a:rPr>
              <a:t> SCC.</a:t>
            </a:r>
          </a:p>
        </p:txBody>
      </p:sp>
      <p:sp>
        <p:nvSpPr>
          <p:cNvPr id="142348" name="Rectangle 12"/>
          <p:cNvSpPr>
            <a:spLocks noChangeArrowheads="1"/>
          </p:cNvSpPr>
          <p:nvPr/>
        </p:nvSpPr>
        <p:spPr bwMode="auto">
          <a:xfrm>
            <a:off x="152400" y="1828800"/>
            <a:ext cx="8686800" cy="222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buFontTx/>
              <a:buNone/>
            </a:pPr>
            <a:r>
              <a:rPr lang="en-US" sz="2000" b="1"/>
              <a:t>Proof:</a:t>
            </a:r>
            <a:br>
              <a:rPr lang="en-US" sz="2000" b="1"/>
            </a:br>
            <a:r>
              <a:rPr lang="en-US" sz="2000"/>
              <a:t>In DFS(G</a:t>
            </a:r>
            <a:r>
              <a:rPr lang="en-US" sz="2000" baseline="30000"/>
              <a:t>T</a:t>
            </a:r>
            <a:r>
              <a:rPr lang="en-US" sz="2000"/>
              <a:t>), each DFS tree is an SCC (by Fact 1).</a:t>
            </a:r>
            <a:br>
              <a:rPr lang="en-US" sz="2000"/>
            </a:br>
            <a:r>
              <a:rPr lang="en-US" sz="2000"/>
              <a:t/>
            </a:r>
            <a:br>
              <a:rPr lang="en-US" sz="2000"/>
            </a:br>
            <a:r>
              <a:rPr lang="en-US" sz="2000"/>
              <a:t>Cross-component edges, in G</a:t>
            </a:r>
            <a:r>
              <a:rPr lang="en-US" sz="2000" baseline="30000"/>
              <a:t>T</a:t>
            </a:r>
            <a:r>
              <a:rPr lang="en-US" sz="2000"/>
              <a:t>, go from a node in a DFS tree to a node in an earlier DFS tree (i.e., from right to left).</a:t>
            </a:r>
            <a:br>
              <a:rPr lang="en-US" sz="2000"/>
            </a:br>
            <a:r>
              <a:rPr lang="en-US" sz="2000"/>
              <a:t/>
            </a:r>
            <a:br>
              <a:rPr lang="en-US" sz="2000"/>
            </a:br>
            <a:r>
              <a:rPr lang="en-US" sz="2000"/>
              <a:t>Reverse cross-component edges of G</a:t>
            </a:r>
            <a:r>
              <a:rPr lang="en-US" sz="2000" baseline="30000"/>
              <a:t>T</a:t>
            </a:r>
            <a:r>
              <a:rPr lang="en-US" sz="2000"/>
              <a:t>  to conform to G (i.e., from left to right).  </a:t>
            </a:r>
            <a:r>
              <a:rPr lang="en-US" sz="2000">
                <a:cs typeface="Times New Roman" pitchFamily="18" charset="0"/>
              </a:rPr>
              <a:t>□</a:t>
            </a:r>
            <a:r>
              <a:rPr lang="en-US" sz="2000"/>
              <a:t> </a:t>
            </a:r>
          </a:p>
        </p:txBody>
      </p:sp>
      <p:sp>
        <p:nvSpPr>
          <p:cNvPr id="142349" name="Rectangle 13" descr="Recycled paper"/>
          <p:cNvSpPr>
            <a:spLocks noChangeArrowheads="1"/>
          </p:cNvSpPr>
          <p:nvPr/>
        </p:nvSpPr>
        <p:spPr bwMode="auto">
          <a:xfrm>
            <a:off x="152400" y="914400"/>
            <a:ext cx="8839200" cy="7810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spcBef>
                <a:spcPct val="50000"/>
              </a:spcBef>
              <a:buFontTx/>
              <a:buNone/>
            </a:pPr>
            <a:r>
              <a:rPr lang="en-US" sz="2400" b="1" dirty="0">
                <a:solidFill>
                  <a:srgbClr val="CC0000"/>
                </a:solidFill>
              </a:rPr>
              <a:t>FACT 2:  </a:t>
            </a:r>
            <a:r>
              <a:rPr lang="en-US" sz="2000" dirty="0">
                <a:solidFill>
                  <a:schemeClr val="hlink"/>
                </a:solidFill>
              </a:rPr>
              <a:t>In DFS(G</a:t>
            </a:r>
            <a:r>
              <a:rPr lang="en-US" sz="2000" baseline="30000" dirty="0">
                <a:solidFill>
                  <a:schemeClr val="hlink"/>
                </a:solidFill>
              </a:rPr>
              <a:t>T</a:t>
            </a:r>
            <a:r>
              <a:rPr lang="en-US" sz="2000" dirty="0">
                <a:solidFill>
                  <a:schemeClr val="hlink"/>
                </a:solidFill>
              </a:rPr>
              <a:t>), the DFS trees (i.e., SCCs) are discovered in topological order of the SCC Component Graph of G.</a:t>
            </a:r>
          </a:p>
        </p:txBody>
      </p:sp>
      <p:sp>
        <p:nvSpPr>
          <p:cNvPr id="142350" name="Rectangle 14" descr="Recycled paper"/>
          <p:cNvSpPr>
            <a:spLocks noChangeArrowheads="1"/>
          </p:cNvSpPr>
          <p:nvPr/>
        </p:nvSpPr>
        <p:spPr bwMode="auto">
          <a:xfrm>
            <a:off x="152400" y="4648200"/>
            <a:ext cx="8839200" cy="7810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spcBef>
                <a:spcPct val="50000"/>
              </a:spcBef>
              <a:buFontTx/>
              <a:buNone/>
            </a:pPr>
            <a:r>
              <a:rPr lang="en-US" sz="2400" b="1" dirty="0">
                <a:solidFill>
                  <a:srgbClr val="CC0000"/>
                </a:solidFill>
              </a:rPr>
              <a:t>THEOREM:  </a:t>
            </a:r>
            <a:r>
              <a:rPr lang="en-US" sz="2000" dirty="0">
                <a:solidFill>
                  <a:schemeClr val="hlink"/>
                </a:solidFill>
              </a:rPr>
              <a:t>The algorithm correctly finds the SCCs in topological order of the SCC Component Graph of G in O(V + E) time.</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52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2349"/>
                                        </p:tgtEl>
                                        <p:attrNameLst>
                                          <p:attrName>style.visibility</p:attrName>
                                        </p:attrNameLst>
                                      </p:cBhvr>
                                      <p:to>
                                        <p:strVal val="visible"/>
                                      </p:to>
                                    </p:set>
                                    <p:animEffect transition="in" filter="wipe(left)">
                                      <p:cBhvr>
                                        <p:cTn id="7" dur="500"/>
                                        <p:tgtEl>
                                          <p:spTgt spid="1423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2348"/>
                                        </p:tgtEl>
                                        <p:attrNameLst>
                                          <p:attrName>style.visibility</p:attrName>
                                        </p:attrNameLst>
                                      </p:cBhvr>
                                      <p:to>
                                        <p:strVal val="visible"/>
                                      </p:to>
                                    </p:set>
                                    <p:animEffect transition="in" filter="wipe(up)">
                                      <p:cBhvr>
                                        <p:cTn id="12" dur="500"/>
                                        <p:tgtEl>
                                          <p:spTgt spid="1423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2350"/>
                                        </p:tgtEl>
                                        <p:attrNameLst>
                                          <p:attrName>style.visibility</p:attrName>
                                        </p:attrNameLst>
                                      </p:cBhvr>
                                      <p:to>
                                        <p:strVal val="visible"/>
                                      </p:to>
                                    </p:set>
                                    <p:animEffect transition="in" filter="wipe(left)">
                                      <p:cBhvr>
                                        <p:cTn id="17" dur="500"/>
                                        <p:tgtEl>
                                          <p:spTgt spid="142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8" grpId="0" autoUpdateAnimBg="0"/>
      <p:bldP spid="142349" grpId="0" animBg="1" autoUpdateAnimBg="0"/>
      <p:bldP spid="142350" grpId="0" animBg="1"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4" name="Rectangle 2"/>
          <p:cNvSpPr>
            <a:spLocks noGrp="1" noChangeArrowheads="1"/>
          </p:cNvSpPr>
          <p:nvPr>
            <p:ph type="ctrTitle"/>
          </p:nvPr>
        </p:nvSpPr>
        <p:spPr>
          <a:xfrm>
            <a:off x="685800" y="1752600"/>
            <a:ext cx="7772400" cy="2209800"/>
          </a:xfrm>
          <a:solidFill>
            <a:srgbClr val="FFCCCC"/>
          </a:solidFill>
          <a:ln w="762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lstStyle/>
          <a:p>
            <a:pPr eaLnBrk="1" hangingPunct="1"/>
            <a:r>
              <a:rPr lang="en-US" sz="6000" dirty="0" smtClean="0">
                <a:solidFill>
                  <a:schemeClr val="accent2"/>
                </a:solidFill>
                <a:latin typeface="Arial Rounded MT Bold" pitchFamily="34" charset="0"/>
              </a:rPr>
              <a:t>Bi-CONNECTED COMPONENTS</a:t>
            </a:r>
          </a:p>
        </p:txBody>
      </p:sp>
      <p:sp>
        <p:nvSpPr>
          <p:cNvPr id="84995" name="Text Box 3"/>
          <p:cNvSpPr txBox="1">
            <a:spLocks noChangeArrowheads="1"/>
          </p:cNvSpPr>
          <p:nvPr/>
        </p:nvSpPr>
        <p:spPr bwMode="auto">
          <a:xfrm>
            <a:off x="4329113" y="4267200"/>
            <a:ext cx="4100512" cy="141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r" eaLnBrk="1" hangingPunct="1">
              <a:lnSpc>
                <a:spcPct val="115000"/>
              </a:lnSpc>
              <a:spcBef>
                <a:spcPct val="50000"/>
              </a:spcBef>
              <a:buFont typeface="Wingdings" pitchFamily="2" charset="2"/>
              <a:buNone/>
            </a:pPr>
            <a:r>
              <a:rPr lang="en-US" sz="2000" i="1"/>
              <a:t>We must all hang together,</a:t>
            </a:r>
          </a:p>
          <a:p>
            <a:pPr algn="r" eaLnBrk="1" hangingPunct="1">
              <a:lnSpc>
                <a:spcPct val="115000"/>
              </a:lnSpc>
              <a:spcBef>
                <a:spcPct val="50000"/>
              </a:spcBef>
              <a:buFont typeface="Wingdings" pitchFamily="2" charset="2"/>
              <a:buNone/>
            </a:pPr>
            <a:r>
              <a:rPr lang="en-US" sz="2000" i="1"/>
              <a:t>or assuredly we shall hang separately.</a:t>
            </a:r>
          </a:p>
          <a:p>
            <a:pPr algn="r" eaLnBrk="1" hangingPunct="1">
              <a:lnSpc>
                <a:spcPct val="115000"/>
              </a:lnSpc>
              <a:spcBef>
                <a:spcPct val="50000"/>
              </a:spcBef>
              <a:buFont typeface="Wingdings" pitchFamily="2" charset="2"/>
              <a:buNone/>
            </a:pPr>
            <a:r>
              <a:rPr lang="en-US" sz="2000"/>
              <a:t>B. Franklin</a:t>
            </a:r>
          </a:p>
        </p:txBody>
      </p:sp>
      <p:sp>
        <p:nvSpPr>
          <p:cNvPr id="2" name="Slide Number Placeholder 1"/>
          <p:cNvSpPr>
            <a:spLocks noGrp="1"/>
          </p:cNvSpPr>
          <p:nvPr>
            <p:ph type="sldNum" sz="quarter" idx="12"/>
          </p:nvPr>
        </p:nvSpPr>
        <p:spPr/>
        <p:txBody>
          <a:bodyPr/>
          <a:lstStyle/>
          <a:p>
            <a:pPr>
              <a:defRPr/>
            </a:pPr>
            <a:fld id="{90683EDB-7658-49F0-B96C-482436AB937A}" type="slidenum">
              <a:rPr lang="en-US" smtClean="0"/>
              <a:pPr>
                <a:defRPr/>
              </a:pPr>
              <a:t>53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84994"/>
                                        </p:tgtEl>
                                        <p:attrNameLst>
                                          <p:attrName>style.visibility</p:attrName>
                                        </p:attrNameLst>
                                      </p:cBhvr>
                                      <p:to>
                                        <p:strVal val="visible"/>
                                      </p:to>
                                    </p:set>
                                    <p:anim calcmode="lin" valueType="num">
                                      <p:cBhvr>
                                        <p:cTn id="7" dur="500" fill="hold"/>
                                        <p:tgtEl>
                                          <p:spTgt spid="84994"/>
                                        </p:tgtEl>
                                        <p:attrNameLst>
                                          <p:attrName>ppt_w</p:attrName>
                                        </p:attrNameLst>
                                      </p:cBhvr>
                                      <p:tavLst>
                                        <p:tav tm="0">
                                          <p:val>
                                            <p:fltVal val="0"/>
                                          </p:val>
                                        </p:tav>
                                        <p:tav tm="100000">
                                          <p:val>
                                            <p:strVal val="#ppt_w"/>
                                          </p:val>
                                        </p:tav>
                                      </p:tavLst>
                                    </p:anim>
                                    <p:anim calcmode="lin" valueType="num">
                                      <p:cBhvr>
                                        <p:cTn id="8" dur="500" fill="hold"/>
                                        <p:tgtEl>
                                          <p:spTgt spid="84994"/>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84995"/>
                                        </p:tgtEl>
                                        <p:attrNameLst>
                                          <p:attrName>style.visibility</p:attrName>
                                        </p:attrNameLst>
                                      </p:cBhvr>
                                      <p:to>
                                        <p:strVal val="visible"/>
                                      </p:to>
                                    </p:set>
                                    <p:animEffect transition="in" filter="wipe(left)">
                                      <p:cBhvr>
                                        <p:cTn id="12" dur="500"/>
                                        <p:tgtEl>
                                          <p:spTgt spid="849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4" grpId="0" animBg="1" autoUpdateAnimBg="0"/>
      <p:bldP spid="84995"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Node Connectivity</a:t>
            </a:r>
          </a:p>
        </p:txBody>
      </p:sp>
      <p:sp>
        <p:nvSpPr>
          <p:cNvPr id="89091" name="Text Box 3"/>
          <p:cNvSpPr txBox="1">
            <a:spLocks noChangeArrowheads="1"/>
          </p:cNvSpPr>
          <p:nvPr/>
        </p:nvSpPr>
        <p:spPr bwMode="auto">
          <a:xfrm>
            <a:off x="212725" y="825500"/>
            <a:ext cx="8520113" cy="1262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None/>
            </a:pPr>
            <a:r>
              <a:rPr lang="en-US" sz="2000"/>
              <a:t>undirected graph G = (V, E)   &amp;  integer k,  0 </a:t>
            </a:r>
            <a:r>
              <a:rPr lang="en-US" sz="2000">
                <a:sym typeface="Symbol" pitchFamily="18" charset="2"/>
              </a:rPr>
              <a:t> </a:t>
            </a:r>
            <a:r>
              <a:rPr lang="en-US" sz="2000"/>
              <a:t>k &lt; |V|.</a:t>
            </a:r>
          </a:p>
          <a:p>
            <a:pPr eaLnBrk="1" hangingPunct="1">
              <a:lnSpc>
                <a:spcPct val="115000"/>
              </a:lnSpc>
              <a:spcBef>
                <a:spcPct val="50000"/>
              </a:spcBef>
              <a:buFont typeface="Wingdings" pitchFamily="2" charset="2"/>
              <a:buNone/>
            </a:pPr>
            <a:r>
              <a:rPr lang="en-US" sz="2000"/>
              <a:t>G is </a:t>
            </a:r>
            <a:r>
              <a:rPr lang="en-US" sz="2000" b="1">
                <a:solidFill>
                  <a:srgbClr val="CC0000"/>
                </a:solidFill>
              </a:rPr>
              <a:t>k-connected  </a:t>
            </a:r>
            <a:r>
              <a:rPr lang="en-US" sz="2000"/>
              <a:t>(or</a:t>
            </a:r>
            <a:r>
              <a:rPr lang="en-US" sz="2000" b="1">
                <a:solidFill>
                  <a:srgbClr val="CC0000"/>
                </a:solidFill>
              </a:rPr>
              <a:t> k-node-connected</a:t>
            </a:r>
            <a:r>
              <a:rPr lang="en-US" sz="2000"/>
              <a:t>): </a:t>
            </a:r>
            <a:br>
              <a:rPr lang="en-US" sz="2000"/>
            </a:br>
            <a:r>
              <a:rPr lang="en-US" sz="2000"/>
              <a:t>if we need to remove at least k nodes (&amp; all their incident edges) to disconnect G. </a:t>
            </a:r>
          </a:p>
        </p:txBody>
      </p:sp>
      <p:sp>
        <p:nvSpPr>
          <p:cNvPr id="89113" name="Rectangle 25" descr="Recycled paper"/>
          <p:cNvSpPr>
            <a:spLocks noChangeArrowheads="1"/>
          </p:cNvSpPr>
          <p:nvPr/>
        </p:nvSpPr>
        <p:spPr bwMode="auto">
          <a:xfrm>
            <a:off x="152400" y="4800600"/>
            <a:ext cx="8839200" cy="7810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spcBef>
                <a:spcPct val="50000"/>
              </a:spcBef>
              <a:buFontTx/>
              <a:buNone/>
            </a:pPr>
            <a:r>
              <a:rPr lang="en-US" sz="2400" b="1" dirty="0">
                <a:solidFill>
                  <a:srgbClr val="CC0000"/>
                </a:solidFill>
              </a:rPr>
              <a:t>FACT 1:  </a:t>
            </a:r>
            <a:r>
              <a:rPr lang="en-US" sz="2000" dirty="0">
                <a:solidFill>
                  <a:schemeClr val="hlink"/>
                </a:solidFill>
              </a:rPr>
              <a:t>G is k-connected if and only if between every pair of its nodes there are at least k paths that are node-disjoint (not considering the two ends).</a:t>
            </a:r>
          </a:p>
        </p:txBody>
      </p:sp>
      <p:sp>
        <p:nvSpPr>
          <p:cNvPr id="89114" name="Rectangle 26" descr="Recycled paper"/>
          <p:cNvSpPr>
            <a:spLocks noChangeArrowheads="1"/>
          </p:cNvSpPr>
          <p:nvPr/>
        </p:nvSpPr>
        <p:spPr bwMode="auto">
          <a:xfrm>
            <a:off x="152400" y="5791200"/>
            <a:ext cx="8839200" cy="7810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spcBef>
                <a:spcPct val="50000"/>
              </a:spcBef>
              <a:buFontTx/>
              <a:buNone/>
            </a:pPr>
            <a:r>
              <a:rPr lang="en-US" sz="2400" b="1" dirty="0" err="1">
                <a:solidFill>
                  <a:srgbClr val="CC0000"/>
                </a:solidFill>
              </a:rPr>
              <a:t>Balinski’s</a:t>
            </a:r>
            <a:r>
              <a:rPr lang="en-US" sz="2400" b="1" dirty="0">
                <a:solidFill>
                  <a:srgbClr val="CC0000"/>
                </a:solidFill>
              </a:rPr>
              <a:t> Theorem [1961]:  </a:t>
            </a:r>
            <a:br>
              <a:rPr lang="en-US" sz="2400" b="1" dirty="0">
                <a:solidFill>
                  <a:srgbClr val="CC0000"/>
                </a:solidFill>
              </a:rPr>
            </a:br>
            <a:r>
              <a:rPr lang="en-US" sz="2000" dirty="0">
                <a:solidFill>
                  <a:schemeClr val="hlink"/>
                </a:solidFill>
              </a:rPr>
              <a:t>The node-edge skeleton of a k dimensional </a:t>
            </a:r>
            <a:r>
              <a:rPr lang="en-US" sz="2000" dirty="0" err="1">
                <a:solidFill>
                  <a:schemeClr val="hlink"/>
                </a:solidFill>
              </a:rPr>
              <a:t>polytope</a:t>
            </a:r>
            <a:r>
              <a:rPr lang="en-US" sz="2000" dirty="0">
                <a:solidFill>
                  <a:schemeClr val="hlink"/>
                </a:solidFill>
              </a:rPr>
              <a:t> is k-connected.</a:t>
            </a:r>
          </a:p>
        </p:txBody>
      </p:sp>
      <p:grpSp>
        <p:nvGrpSpPr>
          <p:cNvPr id="89129" name="Group 41"/>
          <p:cNvGrpSpPr>
            <a:grpSpLocks/>
          </p:cNvGrpSpPr>
          <p:nvPr/>
        </p:nvGrpSpPr>
        <p:grpSpPr bwMode="auto">
          <a:xfrm>
            <a:off x="330200" y="2382838"/>
            <a:ext cx="8159750" cy="1998662"/>
            <a:chOff x="208" y="1501"/>
            <a:chExt cx="5140" cy="1259"/>
          </a:xfrm>
          <a:effectLst/>
        </p:grpSpPr>
        <p:sp>
          <p:nvSpPr>
            <p:cNvPr id="56327" name="Line 6"/>
            <p:cNvSpPr>
              <a:spLocks noChangeShapeType="1"/>
            </p:cNvSpPr>
            <p:nvPr/>
          </p:nvSpPr>
          <p:spPr bwMode="auto">
            <a:xfrm>
              <a:off x="3216" y="1693"/>
              <a:ext cx="432" cy="0"/>
            </a:xfrm>
            <a:prstGeom prst="line">
              <a:avLst/>
            </a:prstGeom>
            <a:noFill/>
            <a:ln w="12700">
              <a:solidFill>
                <a:schemeClr val="tx1"/>
              </a:solidFill>
              <a:round/>
              <a:headEnd type="oval" w="med" len="med"/>
              <a:tailEnd type="oval" w="med" len="me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28" name="Line 7"/>
            <p:cNvSpPr>
              <a:spLocks noChangeShapeType="1"/>
            </p:cNvSpPr>
            <p:nvPr/>
          </p:nvSpPr>
          <p:spPr bwMode="auto">
            <a:xfrm>
              <a:off x="3216" y="1693"/>
              <a:ext cx="0" cy="384"/>
            </a:xfrm>
            <a:prstGeom prst="line">
              <a:avLst/>
            </a:prstGeom>
            <a:noFill/>
            <a:ln w="12700">
              <a:solidFill>
                <a:schemeClr val="tx1"/>
              </a:solidFill>
              <a:round/>
              <a:headEnd/>
              <a:tailEn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29" name="Line 8"/>
            <p:cNvSpPr>
              <a:spLocks noChangeShapeType="1"/>
            </p:cNvSpPr>
            <p:nvPr/>
          </p:nvSpPr>
          <p:spPr bwMode="auto">
            <a:xfrm>
              <a:off x="3216" y="2077"/>
              <a:ext cx="432" cy="0"/>
            </a:xfrm>
            <a:prstGeom prst="line">
              <a:avLst/>
            </a:prstGeom>
            <a:noFill/>
            <a:ln w="12700">
              <a:solidFill>
                <a:schemeClr val="tx1"/>
              </a:solidFill>
              <a:round/>
              <a:headEnd type="oval" w="med" len="med"/>
              <a:tailEnd type="oval" w="med" len="me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30" name="Line 9"/>
            <p:cNvSpPr>
              <a:spLocks noChangeShapeType="1"/>
            </p:cNvSpPr>
            <p:nvPr/>
          </p:nvSpPr>
          <p:spPr bwMode="auto">
            <a:xfrm flipV="1">
              <a:off x="3648" y="1693"/>
              <a:ext cx="0" cy="384"/>
            </a:xfrm>
            <a:prstGeom prst="line">
              <a:avLst/>
            </a:prstGeom>
            <a:noFill/>
            <a:ln w="12700">
              <a:solidFill>
                <a:schemeClr val="tx1"/>
              </a:solidFill>
              <a:round/>
              <a:headEnd/>
              <a:tailEn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31" name="Line 10"/>
            <p:cNvSpPr>
              <a:spLocks noChangeShapeType="1"/>
            </p:cNvSpPr>
            <p:nvPr/>
          </p:nvSpPr>
          <p:spPr bwMode="auto">
            <a:xfrm>
              <a:off x="4752" y="1693"/>
              <a:ext cx="288" cy="0"/>
            </a:xfrm>
            <a:prstGeom prst="line">
              <a:avLst/>
            </a:prstGeom>
            <a:noFill/>
            <a:ln w="12700">
              <a:solidFill>
                <a:schemeClr val="tx1"/>
              </a:solidFill>
              <a:round/>
              <a:headEnd type="oval" w="med" len="med"/>
              <a:tailEnd type="oval" w="med" len="me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32" name="Line 11"/>
            <p:cNvSpPr>
              <a:spLocks noChangeShapeType="1"/>
            </p:cNvSpPr>
            <p:nvPr/>
          </p:nvSpPr>
          <p:spPr bwMode="auto">
            <a:xfrm>
              <a:off x="4752" y="1693"/>
              <a:ext cx="0" cy="240"/>
            </a:xfrm>
            <a:prstGeom prst="line">
              <a:avLst/>
            </a:prstGeom>
            <a:noFill/>
            <a:ln w="12700">
              <a:solidFill>
                <a:schemeClr val="tx1"/>
              </a:solidFill>
              <a:round/>
              <a:headEnd/>
              <a:tailEn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33" name="Line 12"/>
            <p:cNvSpPr>
              <a:spLocks noChangeShapeType="1"/>
            </p:cNvSpPr>
            <p:nvPr/>
          </p:nvSpPr>
          <p:spPr bwMode="auto">
            <a:xfrm>
              <a:off x="4752" y="1933"/>
              <a:ext cx="288" cy="0"/>
            </a:xfrm>
            <a:prstGeom prst="line">
              <a:avLst/>
            </a:prstGeom>
            <a:noFill/>
            <a:ln w="12700">
              <a:solidFill>
                <a:schemeClr val="tx1"/>
              </a:solidFill>
              <a:round/>
              <a:headEnd type="oval" w="med" len="med"/>
              <a:tailEnd type="oval" w="med" len="me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34" name="Line 13"/>
            <p:cNvSpPr>
              <a:spLocks noChangeShapeType="1"/>
            </p:cNvSpPr>
            <p:nvPr/>
          </p:nvSpPr>
          <p:spPr bwMode="auto">
            <a:xfrm flipV="1">
              <a:off x="5040" y="1693"/>
              <a:ext cx="0" cy="240"/>
            </a:xfrm>
            <a:prstGeom prst="line">
              <a:avLst/>
            </a:prstGeom>
            <a:noFill/>
            <a:ln w="12700">
              <a:solidFill>
                <a:schemeClr val="tx1"/>
              </a:solidFill>
              <a:round/>
              <a:headEnd/>
              <a:tailEn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35" name="Line 14"/>
            <p:cNvSpPr>
              <a:spLocks noChangeShapeType="1"/>
            </p:cNvSpPr>
            <p:nvPr/>
          </p:nvSpPr>
          <p:spPr bwMode="auto">
            <a:xfrm>
              <a:off x="4560" y="1501"/>
              <a:ext cx="672" cy="0"/>
            </a:xfrm>
            <a:prstGeom prst="line">
              <a:avLst/>
            </a:prstGeom>
            <a:noFill/>
            <a:ln w="12700">
              <a:solidFill>
                <a:schemeClr val="tx1"/>
              </a:solidFill>
              <a:round/>
              <a:headEnd type="oval" w="med" len="med"/>
              <a:tailEnd type="oval" w="med" len="me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36" name="Line 15"/>
            <p:cNvSpPr>
              <a:spLocks noChangeShapeType="1"/>
            </p:cNvSpPr>
            <p:nvPr/>
          </p:nvSpPr>
          <p:spPr bwMode="auto">
            <a:xfrm>
              <a:off x="4560" y="1501"/>
              <a:ext cx="0" cy="624"/>
            </a:xfrm>
            <a:prstGeom prst="line">
              <a:avLst/>
            </a:prstGeom>
            <a:noFill/>
            <a:ln w="12700">
              <a:solidFill>
                <a:schemeClr val="tx1"/>
              </a:solidFill>
              <a:round/>
              <a:headEnd/>
              <a:tailEn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37" name="Line 16"/>
            <p:cNvSpPr>
              <a:spLocks noChangeShapeType="1"/>
            </p:cNvSpPr>
            <p:nvPr/>
          </p:nvSpPr>
          <p:spPr bwMode="auto">
            <a:xfrm>
              <a:off x="4560" y="2125"/>
              <a:ext cx="672" cy="0"/>
            </a:xfrm>
            <a:prstGeom prst="line">
              <a:avLst/>
            </a:prstGeom>
            <a:noFill/>
            <a:ln w="12700">
              <a:solidFill>
                <a:schemeClr val="tx1"/>
              </a:solidFill>
              <a:round/>
              <a:headEnd type="oval" w="med" len="med"/>
              <a:tailEnd type="oval" w="med" len="me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38" name="Line 17"/>
            <p:cNvSpPr>
              <a:spLocks noChangeShapeType="1"/>
            </p:cNvSpPr>
            <p:nvPr/>
          </p:nvSpPr>
          <p:spPr bwMode="auto">
            <a:xfrm flipV="1">
              <a:off x="5232" y="1501"/>
              <a:ext cx="0" cy="624"/>
            </a:xfrm>
            <a:prstGeom prst="line">
              <a:avLst/>
            </a:prstGeom>
            <a:noFill/>
            <a:ln w="12700">
              <a:solidFill>
                <a:schemeClr val="tx1"/>
              </a:solidFill>
              <a:round/>
              <a:headEnd/>
              <a:tailEn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39" name="Line 18"/>
            <p:cNvSpPr>
              <a:spLocks noChangeShapeType="1"/>
            </p:cNvSpPr>
            <p:nvPr/>
          </p:nvSpPr>
          <p:spPr bwMode="auto">
            <a:xfrm flipV="1">
              <a:off x="5040" y="1501"/>
              <a:ext cx="192" cy="192"/>
            </a:xfrm>
            <a:prstGeom prst="line">
              <a:avLst/>
            </a:prstGeom>
            <a:noFill/>
            <a:ln w="12700">
              <a:solidFill>
                <a:schemeClr val="tx1"/>
              </a:solidFill>
              <a:round/>
              <a:headEnd/>
              <a:tailEn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40" name="Line 19"/>
            <p:cNvSpPr>
              <a:spLocks noChangeShapeType="1"/>
            </p:cNvSpPr>
            <p:nvPr/>
          </p:nvSpPr>
          <p:spPr bwMode="auto">
            <a:xfrm flipH="1" flipV="1">
              <a:off x="4560" y="1501"/>
              <a:ext cx="192" cy="192"/>
            </a:xfrm>
            <a:prstGeom prst="line">
              <a:avLst/>
            </a:prstGeom>
            <a:noFill/>
            <a:ln w="12700">
              <a:solidFill>
                <a:schemeClr val="tx1"/>
              </a:solidFill>
              <a:round/>
              <a:headEnd/>
              <a:tailEn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41" name="Line 20"/>
            <p:cNvSpPr>
              <a:spLocks noChangeShapeType="1"/>
            </p:cNvSpPr>
            <p:nvPr/>
          </p:nvSpPr>
          <p:spPr bwMode="auto">
            <a:xfrm flipH="1">
              <a:off x="4560" y="1933"/>
              <a:ext cx="192" cy="192"/>
            </a:xfrm>
            <a:prstGeom prst="line">
              <a:avLst/>
            </a:prstGeom>
            <a:noFill/>
            <a:ln w="12700">
              <a:solidFill>
                <a:schemeClr val="tx1"/>
              </a:solidFill>
              <a:round/>
              <a:headEnd/>
              <a:tailEn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42" name="Line 21"/>
            <p:cNvSpPr>
              <a:spLocks noChangeShapeType="1"/>
            </p:cNvSpPr>
            <p:nvPr/>
          </p:nvSpPr>
          <p:spPr bwMode="auto">
            <a:xfrm>
              <a:off x="5040" y="1933"/>
              <a:ext cx="192" cy="192"/>
            </a:xfrm>
            <a:prstGeom prst="line">
              <a:avLst/>
            </a:prstGeom>
            <a:noFill/>
            <a:ln w="12700">
              <a:solidFill>
                <a:schemeClr val="tx1"/>
              </a:solidFill>
              <a:round/>
              <a:headEnd/>
              <a:tailEn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43" name="Text Box 23"/>
            <p:cNvSpPr txBox="1">
              <a:spLocks noChangeArrowheads="1"/>
            </p:cNvSpPr>
            <p:nvPr/>
          </p:nvSpPr>
          <p:spPr bwMode="auto">
            <a:xfrm>
              <a:off x="2992" y="2256"/>
              <a:ext cx="820" cy="504"/>
            </a:xfrm>
            <a:prstGeom prst="rect">
              <a:avLst/>
            </a:prstGeom>
            <a:noFill/>
            <a:ln w="12700">
              <a:noFill/>
              <a:miter lim="800000"/>
              <a:headEnd/>
              <a:tailEnd/>
            </a:ln>
            <a:effectLst>
              <a:outerShdw blurRad="44450" dist="27940" dir="5400000" algn="ctr">
                <a:srgbClr val="000000">
                  <a:alpha val="32000"/>
                </a:srgbClr>
              </a:outerShdw>
            </a:effectLst>
            <a:extLst>
              <a:ext uri="{909E8E84-426E-40DD-AFC4-6F175D3DCCD1}">
                <a14:hiddenFill xmlns:a14="http://schemas.microsoft.com/office/drawing/2010/main">
                  <a:solidFill>
                    <a:schemeClr val="accent1"/>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1800" dirty="0"/>
                <a:t>2-connected</a:t>
              </a:r>
              <a:br>
                <a:rPr lang="en-US" sz="1800" dirty="0"/>
              </a:br>
              <a:r>
                <a:rPr lang="en-US" sz="1800" dirty="0">
                  <a:solidFill>
                    <a:srgbClr val="CC0000"/>
                  </a:solidFill>
                </a:rPr>
                <a:t>but not</a:t>
              </a:r>
              <a:br>
                <a:rPr lang="en-US" sz="1800" dirty="0">
                  <a:solidFill>
                    <a:srgbClr val="CC0000"/>
                  </a:solidFill>
                </a:rPr>
              </a:br>
              <a:r>
                <a:rPr lang="en-US" sz="1800" dirty="0">
                  <a:solidFill>
                    <a:srgbClr val="CC0000"/>
                  </a:solidFill>
                </a:rPr>
                <a:t>3-connected</a:t>
              </a:r>
            </a:p>
          </p:txBody>
        </p:sp>
        <p:sp>
          <p:nvSpPr>
            <p:cNvPr id="56344" name="Text Box 24"/>
            <p:cNvSpPr txBox="1">
              <a:spLocks noChangeArrowheads="1"/>
            </p:cNvSpPr>
            <p:nvPr/>
          </p:nvSpPr>
          <p:spPr bwMode="auto">
            <a:xfrm>
              <a:off x="4528" y="2256"/>
              <a:ext cx="820" cy="504"/>
            </a:xfrm>
            <a:prstGeom prst="rect">
              <a:avLst/>
            </a:prstGeom>
            <a:noFill/>
            <a:ln w="12700">
              <a:noFill/>
              <a:miter lim="800000"/>
              <a:headEnd/>
              <a:tailEnd/>
            </a:ln>
            <a:effectLst>
              <a:outerShdw blurRad="44450" dist="27940" dir="5400000" algn="ctr">
                <a:srgbClr val="000000">
                  <a:alpha val="32000"/>
                </a:srgbClr>
              </a:outerShdw>
            </a:effectLst>
            <a:extLst>
              <a:ext uri="{909E8E84-426E-40DD-AFC4-6F175D3DCCD1}">
                <a14:hiddenFill xmlns:a14="http://schemas.microsoft.com/office/drawing/2010/main">
                  <a:solidFill>
                    <a:schemeClr val="accent1"/>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1800" dirty="0"/>
                <a:t>3-connected</a:t>
              </a:r>
              <a:br>
                <a:rPr lang="en-US" sz="1800" dirty="0"/>
              </a:br>
              <a:r>
                <a:rPr lang="en-US" sz="1800" dirty="0">
                  <a:solidFill>
                    <a:srgbClr val="CC0000"/>
                  </a:solidFill>
                </a:rPr>
                <a:t>but not</a:t>
              </a:r>
              <a:br>
                <a:rPr lang="en-US" sz="1800" dirty="0">
                  <a:solidFill>
                    <a:srgbClr val="CC0000"/>
                  </a:solidFill>
                </a:rPr>
              </a:br>
              <a:r>
                <a:rPr lang="en-US" sz="1800" dirty="0">
                  <a:solidFill>
                    <a:srgbClr val="CC0000"/>
                  </a:solidFill>
                </a:rPr>
                <a:t>4-connected</a:t>
              </a:r>
            </a:p>
          </p:txBody>
        </p:sp>
        <p:sp>
          <p:nvSpPr>
            <p:cNvPr id="56345" name="Line 27"/>
            <p:cNvSpPr>
              <a:spLocks noChangeShapeType="1"/>
            </p:cNvSpPr>
            <p:nvPr/>
          </p:nvSpPr>
          <p:spPr bwMode="auto">
            <a:xfrm flipH="1" flipV="1">
              <a:off x="1632" y="1693"/>
              <a:ext cx="288" cy="192"/>
            </a:xfrm>
            <a:prstGeom prst="line">
              <a:avLst/>
            </a:prstGeom>
            <a:noFill/>
            <a:ln w="12700">
              <a:solidFill>
                <a:schemeClr val="tx1"/>
              </a:solidFill>
              <a:round/>
              <a:headEnd/>
              <a:tailEn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46" name="Line 28"/>
            <p:cNvSpPr>
              <a:spLocks noChangeShapeType="1"/>
            </p:cNvSpPr>
            <p:nvPr/>
          </p:nvSpPr>
          <p:spPr bwMode="auto">
            <a:xfrm flipH="1">
              <a:off x="1632" y="1885"/>
              <a:ext cx="288" cy="192"/>
            </a:xfrm>
            <a:prstGeom prst="line">
              <a:avLst/>
            </a:prstGeom>
            <a:noFill/>
            <a:ln w="12700">
              <a:solidFill>
                <a:schemeClr val="tx1"/>
              </a:solidFill>
              <a:round/>
              <a:headEnd/>
              <a:tailEn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47" name="Line 29"/>
            <p:cNvSpPr>
              <a:spLocks noChangeShapeType="1"/>
            </p:cNvSpPr>
            <p:nvPr/>
          </p:nvSpPr>
          <p:spPr bwMode="auto">
            <a:xfrm flipV="1">
              <a:off x="1632" y="1693"/>
              <a:ext cx="0" cy="384"/>
            </a:xfrm>
            <a:prstGeom prst="line">
              <a:avLst/>
            </a:prstGeom>
            <a:noFill/>
            <a:ln w="12700">
              <a:solidFill>
                <a:schemeClr val="tx1"/>
              </a:solidFill>
              <a:round/>
              <a:headEnd type="oval" w="med" len="med"/>
              <a:tailEnd type="oval" w="med" len="me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48" name="Line 30"/>
            <p:cNvSpPr>
              <a:spLocks noChangeShapeType="1"/>
            </p:cNvSpPr>
            <p:nvPr/>
          </p:nvSpPr>
          <p:spPr bwMode="auto">
            <a:xfrm flipV="1">
              <a:off x="1920" y="1693"/>
              <a:ext cx="288" cy="192"/>
            </a:xfrm>
            <a:prstGeom prst="line">
              <a:avLst/>
            </a:prstGeom>
            <a:noFill/>
            <a:ln w="12700">
              <a:solidFill>
                <a:schemeClr val="tx1"/>
              </a:solidFill>
              <a:round/>
              <a:headEnd/>
              <a:tailEn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49" name="Line 31"/>
            <p:cNvSpPr>
              <a:spLocks noChangeShapeType="1"/>
            </p:cNvSpPr>
            <p:nvPr/>
          </p:nvSpPr>
          <p:spPr bwMode="auto">
            <a:xfrm>
              <a:off x="2208" y="1693"/>
              <a:ext cx="0" cy="384"/>
            </a:xfrm>
            <a:prstGeom prst="line">
              <a:avLst/>
            </a:prstGeom>
            <a:noFill/>
            <a:ln w="12700">
              <a:solidFill>
                <a:schemeClr val="tx1"/>
              </a:solidFill>
              <a:round/>
              <a:headEnd type="oval" w="med" len="med"/>
              <a:tailEnd type="oval" w="med" len="me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50" name="Line 32"/>
            <p:cNvSpPr>
              <a:spLocks noChangeShapeType="1"/>
            </p:cNvSpPr>
            <p:nvPr/>
          </p:nvSpPr>
          <p:spPr bwMode="auto">
            <a:xfrm flipH="1" flipV="1">
              <a:off x="1920" y="1885"/>
              <a:ext cx="288" cy="192"/>
            </a:xfrm>
            <a:prstGeom prst="line">
              <a:avLst/>
            </a:prstGeom>
            <a:noFill/>
            <a:ln w="12700">
              <a:solidFill>
                <a:schemeClr val="tx1"/>
              </a:solidFill>
              <a:round/>
              <a:headEnd/>
              <a:tailEnd type="oval" w="med" len="me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51" name="Text Box 33"/>
            <p:cNvSpPr txBox="1">
              <a:spLocks noChangeArrowheads="1"/>
            </p:cNvSpPr>
            <p:nvPr/>
          </p:nvSpPr>
          <p:spPr bwMode="auto">
            <a:xfrm>
              <a:off x="1824" y="1837"/>
              <a:ext cx="187" cy="257"/>
            </a:xfrm>
            <a:prstGeom prst="rect">
              <a:avLst/>
            </a:prstGeom>
            <a:noFill/>
            <a:ln w="12700">
              <a:noFill/>
              <a:miter lim="800000"/>
              <a:headEnd/>
              <a:tailEnd/>
            </a:ln>
            <a:effectLst>
              <a:outerShdw blurRad="44450" dist="27940" dir="5400000" algn="ctr">
                <a:srgbClr val="000000">
                  <a:alpha val="32000"/>
                </a:srgbClr>
              </a:outerShdw>
            </a:effectLst>
            <a:extLst>
              <a:ext uri="{909E8E84-426E-40DD-AFC4-6F175D3DCCD1}">
                <a14:hiddenFill xmlns:a14="http://schemas.microsoft.com/office/drawing/2010/main">
                  <a:solidFill>
                    <a:schemeClr val="accent1"/>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dirty="0"/>
                <a:t>a</a:t>
              </a:r>
            </a:p>
          </p:txBody>
        </p:sp>
        <p:sp>
          <p:nvSpPr>
            <p:cNvPr id="56352" name="Text Box 34"/>
            <p:cNvSpPr txBox="1">
              <a:spLocks noChangeArrowheads="1"/>
            </p:cNvSpPr>
            <p:nvPr/>
          </p:nvSpPr>
          <p:spPr bwMode="auto">
            <a:xfrm>
              <a:off x="1536" y="2208"/>
              <a:ext cx="820" cy="504"/>
            </a:xfrm>
            <a:prstGeom prst="rect">
              <a:avLst/>
            </a:prstGeom>
            <a:noFill/>
            <a:ln w="12700">
              <a:noFill/>
              <a:miter lim="800000"/>
              <a:headEnd/>
              <a:tailEnd/>
            </a:ln>
            <a:effectLst>
              <a:outerShdw blurRad="44450" dist="27940" dir="5400000" algn="ctr">
                <a:srgbClr val="000000">
                  <a:alpha val="32000"/>
                </a:srgbClr>
              </a:outerShdw>
            </a:effectLst>
            <a:extLst>
              <a:ext uri="{909E8E84-426E-40DD-AFC4-6F175D3DCCD1}">
                <a14:hiddenFill xmlns:a14="http://schemas.microsoft.com/office/drawing/2010/main">
                  <a:solidFill>
                    <a:schemeClr val="accent1"/>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1800" dirty="0"/>
                <a:t>1-connected</a:t>
              </a:r>
              <a:br>
                <a:rPr lang="en-US" sz="1800" dirty="0"/>
              </a:br>
              <a:r>
                <a:rPr lang="en-US" sz="1800" dirty="0">
                  <a:solidFill>
                    <a:srgbClr val="CC0000"/>
                  </a:solidFill>
                </a:rPr>
                <a:t>but not</a:t>
              </a:r>
              <a:br>
                <a:rPr lang="en-US" sz="1800" dirty="0">
                  <a:solidFill>
                    <a:srgbClr val="CC0000"/>
                  </a:solidFill>
                </a:rPr>
              </a:br>
              <a:r>
                <a:rPr lang="en-US" sz="1800" dirty="0">
                  <a:solidFill>
                    <a:srgbClr val="CC0000"/>
                  </a:solidFill>
                </a:rPr>
                <a:t>2-connected</a:t>
              </a:r>
            </a:p>
          </p:txBody>
        </p:sp>
        <p:sp>
          <p:nvSpPr>
            <p:cNvPr id="56353" name="Line 36"/>
            <p:cNvSpPr>
              <a:spLocks noChangeShapeType="1"/>
            </p:cNvSpPr>
            <p:nvPr/>
          </p:nvSpPr>
          <p:spPr bwMode="auto">
            <a:xfrm>
              <a:off x="432" y="1680"/>
              <a:ext cx="432" cy="0"/>
            </a:xfrm>
            <a:prstGeom prst="line">
              <a:avLst/>
            </a:prstGeom>
            <a:noFill/>
            <a:ln w="12700">
              <a:solidFill>
                <a:schemeClr val="tx1"/>
              </a:solidFill>
              <a:round/>
              <a:headEnd type="oval" w="med" len="med"/>
              <a:tailEnd type="oval" w="med" len="me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54" name="Line 38"/>
            <p:cNvSpPr>
              <a:spLocks noChangeShapeType="1"/>
            </p:cNvSpPr>
            <p:nvPr/>
          </p:nvSpPr>
          <p:spPr bwMode="auto">
            <a:xfrm>
              <a:off x="432" y="2064"/>
              <a:ext cx="432" cy="0"/>
            </a:xfrm>
            <a:prstGeom prst="line">
              <a:avLst/>
            </a:prstGeom>
            <a:noFill/>
            <a:ln w="12700">
              <a:solidFill>
                <a:schemeClr val="tx1"/>
              </a:solidFill>
              <a:round/>
              <a:headEnd type="oval" w="med" len="med"/>
              <a:tailEnd type="oval" w="med" len="med"/>
            </a:ln>
            <a:effectLst>
              <a:outerShdw blurRad="44450" dist="27940" dir="5400000" algn="ctr">
                <a:srgbClr val="000000">
                  <a:alpha val="32000"/>
                </a:srgbClr>
              </a:outerShdw>
            </a:effectLst>
            <a:extLst>
              <a:ext uri="{909E8E84-426E-40DD-AFC4-6F175D3DCCD1}">
                <a14:hiddenFill xmlns:a14="http://schemas.microsoft.com/office/drawing/2010/main">
                  <a:noFill/>
                </a14:hiddenFill>
              </a:ext>
            </a:extLst>
          </p:spPr>
          <p:txBody>
            <a:bodyPr bIns="10800">
              <a:spAutoFit/>
            </a:bodyPr>
            <a:lstStyle/>
            <a:p>
              <a:endParaRPr lang="en-CA"/>
            </a:p>
          </p:txBody>
        </p:sp>
        <p:sp>
          <p:nvSpPr>
            <p:cNvPr id="56355" name="Text Box 40"/>
            <p:cNvSpPr txBox="1">
              <a:spLocks noChangeArrowheads="1"/>
            </p:cNvSpPr>
            <p:nvPr/>
          </p:nvSpPr>
          <p:spPr bwMode="auto">
            <a:xfrm>
              <a:off x="208" y="2243"/>
              <a:ext cx="820" cy="504"/>
            </a:xfrm>
            <a:prstGeom prst="rect">
              <a:avLst/>
            </a:prstGeom>
            <a:noFill/>
            <a:ln w="12700">
              <a:noFill/>
              <a:miter lim="800000"/>
              <a:headEnd/>
              <a:tailEnd/>
            </a:ln>
            <a:effectLst>
              <a:outerShdw blurRad="44450" dist="27940" dir="5400000" algn="ctr">
                <a:srgbClr val="000000">
                  <a:alpha val="32000"/>
                </a:srgbClr>
              </a:outerShdw>
            </a:effectLst>
            <a:extLst>
              <a:ext uri="{909E8E84-426E-40DD-AFC4-6F175D3DCCD1}">
                <a14:hiddenFill xmlns:a14="http://schemas.microsoft.com/office/drawing/2010/main">
                  <a:solidFill>
                    <a:schemeClr val="accent1"/>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1800" dirty="0"/>
                <a:t>0-connected</a:t>
              </a:r>
              <a:br>
                <a:rPr lang="en-US" sz="1800" dirty="0"/>
              </a:br>
              <a:r>
                <a:rPr lang="en-US" sz="1800" dirty="0">
                  <a:solidFill>
                    <a:srgbClr val="CC0000"/>
                  </a:solidFill>
                </a:rPr>
                <a:t>but not</a:t>
              </a:r>
              <a:br>
                <a:rPr lang="en-US" sz="1800" dirty="0">
                  <a:solidFill>
                    <a:srgbClr val="CC0000"/>
                  </a:solidFill>
                </a:rPr>
              </a:br>
              <a:r>
                <a:rPr lang="en-US" sz="1800" dirty="0">
                  <a:solidFill>
                    <a:srgbClr val="CC0000"/>
                  </a:solidFill>
                </a:rPr>
                <a:t>1-connected</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54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89090"/>
                                        </p:tgtEl>
                                        <p:attrNameLst>
                                          <p:attrName>style.visibility</p:attrName>
                                        </p:attrNameLst>
                                      </p:cBhvr>
                                      <p:to>
                                        <p:strVal val="visible"/>
                                      </p:to>
                                    </p:set>
                                    <p:anim calcmode="lin" valueType="num">
                                      <p:cBhvr>
                                        <p:cTn id="7" dur="500" fill="hold"/>
                                        <p:tgtEl>
                                          <p:spTgt spid="89090"/>
                                        </p:tgtEl>
                                        <p:attrNameLst>
                                          <p:attrName>ppt_w</p:attrName>
                                        </p:attrNameLst>
                                      </p:cBhvr>
                                      <p:tavLst>
                                        <p:tav tm="0">
                                          <p:val>
                                            <p:fltVal val="0"/>
                                          </p:val>
                                        </p:tav>
                                        <p:tav tm="100000">
                                          <p:val>
                                            <p:strVal val="#ppt_w"/>
                                          </p:val>
                                        </p:tav>
                                      </p:tavLst>
                                    </p:anim>
                                    <p:anim calcmode="lin" valueType="num">
                                      <p:cBhvr>
                                        <p:cTn id="8" dur="500" fill="hold"/>
                                        <p:tgtEl>
                                          <p:spTgt spid="89090"/>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1000"/>
                                  </p:stCondLst>
                                  <p:childTnLst>
                                    <p:set>
                                      <p:cBhvr>
                                        <p:cTn id="11" dur="1" fill="hold">
                                          <p:stCondLst>
                                            <p:cond delay="0"/>
                                          </p:stCondLst>
                                        </p:cTn>
                                        <p:tgtEl>
                                          <p:spTgt spid="89091"/>
                                        </p:tgtEl>
                                        <p:attrNameLst>
                                          <p:attrName>style.visibility</p:attrName>
                                        </p:attrNameLst>
                                      </p:cBhvr>
                                      <p:to>
                                        <p:strVal val="visible"/>
                                      </p:to>
                                    </p:set>
                                    <p:animEffect transition="in" filter="wipe(up)">
                                      <p:cBhvr>
                                        <p:cTn id="12" dur="500"/>
                                        <p:tgtEl>
                                          <p:spTgt spid="890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9129"/>
                                        </p:tgtEl>
                                        <p:attrNameLst>
                                          <p:attrName>style.visibility</p:attrName>
                                        </p:attrNameLst>
                                      </p:cBhvr>
                                      <p:to>
                                        <p:strVal val="visible"/>
                                      </p:to>
                                    </p:set>
                                    <p:animEffect transition="in" filter="wipe(left)">
                                      <p:cBhvr>
                                        <p:cTn id="17" dur="500"/>
                                        <p:tgtEl>
                                          <p:spTgt spid="891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9113"/>
                                        </p:tgtEl>
                                        <p:attrNameLst>
                                          <p:attrName>style.visibility</p:attrName>
                                        </p:attrNameLst>
                                      </p:cBhvr>
                                      <p:to>
                                        <p:strVal val="visible"/>
                                      </p:to>
                                    </p:set>
                                    <p:animEffect transition="in" filter="wipe(left)">
                                      <p:cBhvr>
                                        <p:cTn id="22" dur="500"/>
                                        <p:tgtEl>
                                          <p:spTgt spid="891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9114"/>
                                        </p:tgtEl>
                                        <p:attrNameLst>
                                          <p:attrName>style.visibility</p:attrName>
                                        </p:attrNameLst>
                                      </p:cBhvr>
                                      <p:to>
                                        <p:strVal val="visible"/>
                                      </p:to>
                                    </p:set>
                                    <p:animEffect transition="in" filter="wipe(left)">
                                      <p:cBhvr>
                                        <p:cTn id="27" dur="500"/>
                                        <p:tgtEl>
                                          <p:spTgt spid="89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animBg="1" autoUpdateAnimBg="0"/>
      <p:bldP spid="89091" grpId="0" autoUpdateAnimBg="0"/>
      <p:bldP spid="89113" grpId="0" animBg="1" autoUpdateAnimBg="0"/>
      <p:bldP spid="89114" grpId="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184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BiConnectivity</a:t>
            </a:r>
          </a:p>
        </p:txBody>
      </p:sp>
      <p:sp>
        <p:nvSpPr>
          <p:cNvPr id="291843" name="Text Box 3"/>
          <p:cNvSpPr txBox="1">
            <a:spLocks noChangeArrowheads="1"/>
          </p:cNvSpPr>
          <p:nvPr/>
        </p:nvSpPr>
        <p:spPr bwMode="auto">
          <a:xfrm>
            <a:off x="212725" y="833438"/>
            <a:ext cx="8702675" cy="835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None/>
            </a:pPr>
            <a:r>
              <a:rPr lang="en-US" sz="2400" b="1" dirty="0">
                <a:solidFill>
                  <a:schemeClr val="accent6"/>
                </a:solidFill>
              </a:rPr>
              <a:t>Suppose G = (V, E) is connected.</a:t>
            </a:r>
            <a:br>
              <a:rPr lang="en-US" sz="2400" b="1" dirty="0">
                <a:solidFill>
                  <a:schemeClr val="accent6"/>
                </a:solidFill>
              </a:rPr>
            </a:br>
            <a:r>
              <a:rPr lang="en-US" sz="2000" dirty="0"/>
              <a:t>An </a:t>
            </a:r>
            <a:r>
              <a:rPr lang="en-US" sz="2000" b="1" dirty="0">
                <a:solidFill>
                  <a:srgbClr val="CC0000"/>
                </a:solidFill>
              </a:rPr>
              <a:t>articulation point</a:t>
            </a:r>
            <a:r>
              <a:rPr lang="en-US" sz="2000" dirty="0"/>
              <a:t> is a node whose removal will disconnect G.</a:t>
            </a:r>
          </a:p>
        </p:txBody>
      </p:sp>
      <p:sp>
        <p:nvSpPr>
          <p:cNvPr id="291872" name="Rectangle 32" descr="Recycled paper"/>
          <p:cNvSpPr>
            <a:spLocks noChangeArrowheads="1"/>
          </p:cNvSpPr>
          <p:nvPr/>
        </p:nvSpPr>
        <p:spPr bwMode="auto">
          <a:xfrm>
            <a:off x="152400" y="5750816"/>
            <a:ext cx="8839200" cy="52322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spcBef>
                <a:spcPct val="50000"/>
              </a:spcBef>
              <a:buFontTx/>
              <a:buNone/>
            </a:pPr>
            <a:r>
              <a:rPr lang="en-US" sz="2400" b="1" dirty="0">
                <a:solidFill>
                  <a:srgbClr val="CC0000"/>
                </a:solidFill>
              </a:rPr>
              <a:t>FACT 4:   </a:t>
            </a:r>
            <a:r>
              <a:rPr lang="en-US" sz="2000" dirty="0">
                <a:solidFill>
                  <a:schemeClr val="hlink"/>
                </a:solidFill>
              </a:rPr>
              <a:t>G is </a:t>
            </a:r>
            <a:r>
              <a:rPr lang="en-US" sz="2000" dirty="0" err="1">
                <a:solidFill>
                  <a:schemeClr val="hlink"/>
                </a:solidFill>
              </a:rPr>
              <a:t>biconnected</a:t>
            </a:r>
            <a:r>
              <a:rPr lang="en-US" sz="2000" dirty="0">
                <a:solidFill>
                  <a:schemeClr val="hlink"/>
                </a:solidFill>
              </a:rPr>
              <a:t>   </a:t>
            </a:r>
            <a:r>
              <a:rPr lang="en-US" sz="2800" b="1" dirty="0">
                <a:solidFill>
                  <a:srgbClr val="CC0000"/>
                </a:solidFill>
                <a:sym typeface="Symbol" pitchFamily="18" charset="2"/>
              </a:rPr>
              <a:t></a:t>
            </a:r>
            <a:r>
              <a:rPr lang="en-US" sz="2000" dirty="0">
                <a:solidFill>
                  <a:schemeClr val="hlink"/>
                </a:solidFill>
              </a:rPr>
              <a:t>   G has no articulation points.</a:t>
            </a:r>
          </a:p>
        </p:txBody>
      </p:sp>
      <p:sp>
        <p:nvSpPr>
          <p:cNvPr id="291873" name="Rectangle 33" descr="Recycled paper"/>
          <p:cNvSpPr>
            <a:spLocks noChangeArrowheads="1"/>
          </p:cNvSpPr>
          <p:nvPr/>
        </p:nvSpPr>
        <p:spPr bwMode="auto">
          <a:xfrm>
            <a:off x="152400" y="4724400"/>
            <a:ext cx="8839200" cy="7810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spcBef>
                <a:spcPct val="50000"/>
              </a:spcBef>
              <a:buFontTx/>
              <a:buNone/>
            </a:pPr>
            <a:r>
              <a:rPr lang="en-US" sz="2400" b="1" dirty="0">
                <a:solidFill>
                  <a:srgbClr val="CC0000"/>
                </a:solidFill>
              </a:rPr>
              <a:t>FACT 3:  </a:t>
            </a:r>
            <a:r>
              <a:rPr lang="en-US" sz="2000" dirty="0" err="1">
                <a:solidFill>
                  <a:schemeClr val="hlink"/>
                </a:solidFill>
              </a:rPr>
              <a:t>x</a:t>
            </a:r>
            <a:r>
              <a:rPr lang="en-US" sz="2000" dirty="0" err="1">
                <a:solidFill>
                  <a:schemeClr val="hlink"/>
                </a:solidFill>
                <a:sym typeface="Symbol" pitchFamily="18" charset="2"/>
              </a:rPr>
              <a:t></a:t>
            </a:r>
            <a:r>
              <a:rPr lang="en-US" sz="2000" dirty="0" err="1">
                <a:solidFill>
                  <a:schemeClr val="hlink"/>
                </a:solidFill>
              </a:rPr>
              <a:t>V</a:t>
            </a:r>
            <a:r>
              <a:rPr lang="en-US" sz="2000" dirty="0">
                <a:solidFill>
                  <a:schemeClr val="hlink"/>
                </a:solidFill>
              </a:rPr>
              <a:t> is an articulation point of G if there are two distinct nodes u &amp; v in G distinct from x, such that every path between u &amp; v passes through x.</a:t>
            </a:r>
          </a:p>
        </p:txBody>
      </p:sp>
      <p:grpSp>
        <p:nvGrpSpPr>
          <p:cNvPr id="291939" name="Group 99"/>
          <p:cNvGrpSpPr>
            <a:grpSpLocks/>
          </p:cNvGrpSpPr>
          <p:nvPr/>
        </p:nvGrpSpPr>
        <p:grpSpPr bwMode="auto">
          <a:xfrm>
            <a:off x="533400" y="1981200"/>
            <a:ext cx="7467600" cy="2465388"/>
            <a:chOff x="336" y="1248"/>
            <a:chExt cx="4704" cy="1553"/>
          </a:xfrm>
        </p:grpSpPr>
        <p:sp>
          <p:nvSpPr>
            <p:cNvPr id="57351" name="Freeform 41" descr="Wide upward diagonal"/>
            <p:cNvSpPr>
              <a:spLocks/>
            </p:cNvSpPr>
            <p:nvPr/>
          </p:nvSpPr>
          <p:spPr bwMode="auto">
            <a:xfrm rot="10778342">
              <a:off x="672" y="1344"/>
              <a:ext cx="593" cy="364"/>
            </a:xfrm>
            <a:custGeom>
              <a:avLst/>
              <a:gdLst>
                <a:gd name="T0" fmla="*/ 0 w 593"/>
                <a:gd name="T1" fmla="*/ 176 h 364"/>
                <a:gd name="T2" fmla="*/ 102 w 593"/>
                <a:gd name="T3" fmla="*/ 135 h 364"/>
                <a:gd name="T4" fmla="*/ 406 w 593"/>
                <a:gd name="T5" fmla="*/ 6 h 364"/>
                <a:gd name="T6" fmla="*/ 591 w 593"/>
                <a:gd name="T7" fmla="*/ 171 h 364"/>
                <a:gd name="T8" fmla="*/ 420 w 593"/>
                <a:gd name="T9" fmla="*/ 358 h 364"/>
                <a:gd name="T10" fmla="*/ 88 w 593"/>
                <a:gd name="T11" fmla="*/ 209 h 364"/>
                <a:gd name="T12" fmla="*/ 0 w 593"/>
                <a:gd name="T13" fmla="*/ 176 h 3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3" h="364">
                  <a:moveTo>
                    <a:pt x="0" y="176"/>
                  </a:moveTo>
                  <a:cubicBezTo>
                    <a:pt x="2" y="164"/>
                    <a:pt x="34" y="163"/>
                    <a:pt x="102" y="135"/>
                  </a:cubicBezTo>
                  <a:cubicBezTo>
                    <a:pt x="170" y="107"/>
                    <a:pt x="325" y="0"/>
                    <a:pt x="406" y="6"/>
                  </a:cubicBezTo>
                  <a:cubicBezTo>
                    <a:pt x="487" y="12"/>
                    <a:pt x="589" y="112"/>
                    <a:pt x="591" y="171"/>
                  </a:cubicBezTo>
                  <a:cubicBezTo>
                    <a:pt x="593" y="230"/>
                    <a:pt x="504" y="352"/>
                    <a:pt x="420" y="358"/>
                  </a:cubicBezTo>
                  <a:cubicBezTo>
                    <a:pt x="336" y="364"/>
                    <a:pt x="158" y="239"/>
                    <a:pt x="88" y="209"/>
                  </a:cubicBezTo>
                  <a:cubicBezTo>
                    <a:pt x="18" y="179"/>
                    <a:pt x="18" y="183"/>
                    <a:pt x="0" y="176"/>
                  </a:cubicBezTo>
                  <a:close/>
                </a:path>
              </a:pathLst>
            </a:custGeom>
            <a:solidFill>
              <a:schemeClr val="accent3">
                <a:lumMod val="75000"/>
              </a:schemeClr>
            </a:solidFill>
            <a:ln w="12700" cap="flat" cmpd="sng">
              <a:solidFill>
                <a:schemeClr val="accent3">
                  <a:lumMod val="75000"/>
                </a:schemeClr>
              </a:solidFill>
              <a:prstDash val="solid"/>
              <a:round/>
              <a:headEnd type="none" w="med" len="med"/>
              <a:tailEnd type="none" w="med" len="med"/>
            </a:ln>
            <a:effectLst>
              <a:outerShdw blurRad="44450" dist="27940" dir="5400000" algn="ctr">
                <a:srgbClr val="000000">
                  <a:alpha val="32000"/>
                </a:srgbClr>
              </a:outerShdw>
            </a:effectLst>
            <a:extLst/>
          </p:spPr>
          <p:txBody>
            <a:bodyPr bIns="10800">
              <a:spAutoFit/>
            </a:bodyPr>
            <a:lstStyle/>
            <a:p>
              <a:endParaRPr lang="en-CA"/>
            </a:p>
          </p:txBody>
        </p:sp>
        <p:sp>
          <p:nvSpPr>
            <p:cNvPr id="57352" name="Freeform 40" descr="Wide upward diagonal"/>
            <p:cNvSpPr>
              <a:spLocks/>
            </p:cNvSpPr>
            <p:nvPr/>
          </p:nvSpPr>
          <p:spPr bwMode="auto">
            <a:xfrm>
              <a:off x="1296" y="1344"/>
              <a:ext cx="593" cy="364"/>
            </a:xfrm>
            <a:custGeom>
              <a:avLst/>
              <a:gdLst>
                <a:gd name="T0" fmla="*/ 0 w 593"/>
                <a:gd name="T1" fmla="*/ 176 h 364"/>
                <a:gd name="T2" fmla="*/ 102 w 593"/>
                <a:gd name="T3" fmla="*/ 135 h 364"/>
                <a:gd name="T4" fmla="*/ 406 w 593"/>
                <a:gd name="T5" fmla="*/ 6 h 364"/>
                <a:gd name="T6" fmla="*/ 591 w 593"/>
                <a:gd name="T7" fmla="*/ 171 h 364"/>
                <a:gd name="T8" fmla="*/ 420 w 593"/>
                <a:gd name="T9" fmla="*/ 358 h 364"/>
                <a:gd name="T10" fmla="*/ 88 w 593"/>
                <a:gd name="T11" fmla="*/ 209 h 364"/>
                <a:gd name="T12" fmla="*/ 0 w 593"/>
                <a:gd name="T13" fmla="*/ 176 h 3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3" h="364">
                  <a:moveTo>
                    <a:pt x="0" y="176"/>
                  </a:moveTo>
                  <a:cubicBezTo>
                    <a:pt x="2" y="164"/>
                    <a:pt x="34" y="163"/>
                    <a:pt x="102" y="135"/>
                  </a:cubicBezTo>
                  <a:cubicBezTo>
                    <a:pt x="170" y="107"/>
                    <a:pt x="325" y="0"/>
                    <a:pt x="406" y="6"/>
                  </a:cubicBezTo>
                  <a:cubicBezTo>
                    <a:pt x="487" y="12"/>
                    <a:pt x="589" y="112"/>
                    <a:pt x="591" y="171"/>
                  </a:cubicBezTo>
                  <a:cubicBezTo>
                    <a:pt x="593" y="230"/>
                    <a:pt x="504" y="352"/>
                    <a:pt x="420" y="358"/>
                  </a:cubicBezTo>
                  <a:cubicBezTo>
                    <a:pt x="336" y="364"/>
                    <a:pt x="158" y="239"/>
                    <a:pt x="88" y="209"/>
                  </a:cubicBezTo>
                  <a:cubicBezTo>
                    <a:pt x="18" y="179"/>
                    <a:pt x="18" y="183"/>
                    <a:pt x="0" y="176"/>
                  </a:cubicBezTo>
                  <a:close/>
                </a:path>
              </a:pathLst>
            </a:custGeom>
            <a:solidFill>
              <a:schemeClr val="accent3">
                <a:lumMod val="75000"/>
              </a:schemeClr>
            </a:solidFill>
            <a:ln w="12700" cap="flat" cmpd="sng">
              <a:solidFill>
                <a:schemeClr val="accent3">
                  <a:lumMod val="75000"/>
                </a:schemeClr>
              </a:solidFill>
              <a:prstDash val="solid"/>
              <a:round/>
              <a:headEnd type="none" w="med" len="med"/>
              <a:tailEnd type="none" w="med" len="med"/>
            </a:ln>
            <a:effectLst>
              <a:outerShdw blurRad="44450" dist="27940" dir="5400000" algn="ctr">
                <a:srgbClr val="000000">
                  <a:alpha val="32000"/>
                </a:srgbClr>
              </a:outerShdw>
            </a:effectLst>
            <a:extLst/>
          </p:spPr>
          <p:txBody>
            <a:bodyPr bIns="10800">
              <a:spAutoFit/>
            </a:bodyPr>
            <a:lstStyle/>
            <a:p>
              <a:endParaRPr lang="en-CA"/>
            </a:p>
          </p:txBody>
        </p:sp>
        <p:sp>
          <p:nvSpPr>
            <p:cNvPr id="57353" name="Freeform 42" descr="Wide upward diagonal"/>
            <p:cNvSpPr>
              <a:spLocks/>
            </p:cNvSpPr>
            <p:nvPr/>
          </p:nvSpPr>
          <p:spPr bwMode="auto">
            <a:xfrm rot="1888765">
              <a:off x="1008" y="1680"/>
              <a:ext cx="593" cy="364"/>
            </a:xfrm>
            <a:custGeom>
              <a:avLst/>
              <a:gdLst>
                <a:gd name="T0" fmla="*/ 0 w 593"/>
                <a:gd name="T1" fmla="*/ 176 h 364"/>
                <a:gd name="T2" fmla="*/ 102 w 593"/>
                <a:gd name="T3" fmla="*/ 135 h 364"/>
                <a:gd name="T4" fmla="*/ 406 w 593"/>
                <a:gd name="T5" fmla="*/ 6 h 364"/>
                <a:gd name="T6" fmla="*/ 591 w 593"/>
                <a:gd name="T7" fmla="*/ 171 h 364"/>
                <a:gd name="T8" fmla="*/ 420 w 593"/>
                <a:gd name="T9" fmla="*/ 358 h 364"/>
                <a:gd name="T10" fmla="*/ 88 w 593"/>
                <a:gd name="T11" fmla="*/ 209 h 364"/>
                <a:gd name="T12" fmla="*/ 0 w 593"/>
                <a:gd name="T13" fmla="*/ 176 h 3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3" h="364">
                  <a:moveTo>
                    <a:pt x="0" y="176"/>
                  </a:moveTo>
                  <a:cubicBezTo>
                    <a:pt x="2" y="164"/>
                    <a:pt x="34" y="163"/>
                    <a:pt x="102" y="135"/>
                  </a:cubicBezTo>
                  <a:cubicBezTo>
                    <a:pt x="170" y="107"/>
                    <a:pt x="325" y="0"/>
                    <a:pt x="406" y="6"/>
                  </a:cubicBezTo>
                  <a:cubicBezTo>
                    <a:pt x="487" y="12"/>
                    <a:pt x="589" y="112"/>
                    <a:pt x="591" y="171"/>
                  </a:cubicBezTo>
                  <a:cubicBezTo>
                    <a:pt x="593" y="230"/>
                    <a:pt x="504" y="352"/>
                    <a:pt x="420" y="358"/>
                  </a:cubicBezTo>
                  <a:cubicBezTo>
                    <a:pt x="336" y="364"/>
                    <a:pt x="158" y="239"/>
                    <a:pt x="88" y="209"/>
                  </a:cubicBezTo>
                  <a:cubicBezTo>
                    <a:pt x="18" y="179"/>
                    <a:pt x="18" y="183"/>
                    <a:pt x="0" y="176"/>
                  </a:cubicBezTo>
                  <a:close/>
                </a:path>
              </a:pathLst>
            </a:custGeom>
            <a:solidFill>
              <a:schemeClr val="accent3">
                <a:lumMod val="75000"/>
              </a:schemeClr>
            </a:solidFill>
            <a:ln w="12700" cap="flat" cmpd="sng">
              <a:solidFill>
                <a:schemeClr val="accent3">
                  <a:lumMod val="75000"/>
                </a:schemeClr>
              </a:solidFill>
              <a:prstDash val="solid"/>
              <a:round/>
              <a:headEnd type="none" w="med" len="med"/>
              <a:tailEnd type="none" w="med" len="med"/>
            </a:ln>
            <a:effectLst>
              <a:outerShdw blurRad="44450" dist="27940" dir="5400000" algn="ctr">
                <a:srgbClr val="000000">
                  <a:alpha val="32000"/>
                </a:srgbClr>
              </a:outerShdw>
            </a:effectLst>
            <a:extLst/>
          </p:spPr>
          <p:txBody>
            <a:bodyPr bIns="10800">
              <a:spAutoFit/>
            </a:bodyPr>
            <a:lstStyle/>
            <a:p>
              <a:endParaRPr lang="en-CA"/>
            </a:p>
          </p:txBody>
        </p:sp>
        <p:sp>
          <p:nvSpPr>
            <p:cNvPr id="57354" name="Freeform 43" descr="Wide upward diagonal"/>
            <p:cNvSpPr>
              <a:spLocks/>
            </p:cNvSpPr>
            <p:nvPr/>
          </p:nvSpPr>
          <p:spPr bwMode="auto">
            <a:xfrm rot="6622799">
              <a:off x="605" y="1747"/>
              <a:ext cx="593" cy="364"/>
            </a:xfrm>
            <a:custGeom>
              <a:avLst/>
              <a:gdLst>
                <a:gd name="T0" fmla="*/ 0 w 593"/>
                <a:gd name="T1" fmla="*/ 176 h 364"/>
                <a:gd name="T2" fmla="*/ 102 w 593"/>
                <a:gd name="T3" fmla="*/ 135 h 364"/>
                <a:gd name="T4" fmla="*/ 406 w 593"/>
                <a:gd name="T5" fmla="*/ 6 h 364"/>
                <a:gd name="T6" fmla="*/ 591 w 593"/>
                <a:gd name="T7" fmla="*/ 171 h 364"/>
                <a:gd name="T8" fmla="*/ 420 w 593"/>
                <a:gd name="T9" fmla="*/ 358 h 364"/>
                <a:gd name="T10" fmla="*/ 88 w 593"/>
                <a:gd name="T11" fmla="*/ 209 h 364"/>
                <a:gd name="T12" fmla="*/ 0 w 593"/>
                <a:gd name="T13" fmla="*/ 176 h 3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3" h="364">
                  <a:moveTo>
                    <a:pt x="0" y="176"/>
                  </a:moveTo>
                  <a:cubicBezTo>
                    <a:pt x="2" y="164"/>
                    <a:pt x="34" y="163"/>
                    <a:pt x="102" y="135"/>
                  </a:cubicBezTo>
                  <a:cubicBezTo>
                    <a:pt x="170" y="107"/>
                    <a:pt x="325" y="0"/>
                    <a:pt x="406" y="6"/>
                  </a:cubicBezTo>
                  <a:cubicBezTo>
                    <a:pt x="487" y="12"/>
                    <a:pt x="589" y="112"/>
                    <a:pt x="591" y="171"/>
                  </a:cubicBezTo>
                  <a:cubicBezTo>
                    <a:pt x="593" y="230"/>
                    <a:pt x="504" y="352"/>
                    <a:pt x="420" y="358"/>
                  </a:cubicBezTo>
                  <a:cubicBezTo>
                    <a:pt x="336" y="364"/>
                    <a:pt x="158" y="239"/>
                    <a:pt x="88" y="209"/>
                  </a:cubicBezTo>
                  <a:cubicBezTo>
                    <a:pt x="18" y="179"/>
                    <a:pt x="18" y="183"/>
                    <a:pt x="0" y="176"/>
                  </a:cubicBezTo>
                  <a:close/>
                </a:path>
              </a:pathLst>
            </a:custGeom>
            <a:solidFill>
              <a:schemeClr val="accent3">
                <a:lumMod val="75000"/>
              </a:schemeClr>
            </a:solidFill>
            <a:ln w="12700" cap="flat" cmpd="sng">
              <a:solidFill>
                <a:schemeClr val="accent3">
                  <a:lumMod val="75000"/>
                </a:schemeClr>
              </a:solidFill>
              <a:prstDash val="solid"/>
              <a:round/>
              <a:headEnd type="none" w="med" len="med"/>
              <a:tailEnd type="none" w="med" len="med"/>
            </a:ln>
            <a:effectLst>
              <a:outerShdw blurRad="44450" dist="27940" dir="5400000" algn="ctr">
                <a:srgbClr val="000000">
                  <a:alpha val="32000"/>
                </a:srgbClr>
              </a:outerShdw>
            </a:effectLst>
            <a:extLst/>
          </p:spPr>
          <p:txBody>
            <a:bodyPr bIns="10800">
              <a:spAutoFit/>
            </a:bodyPr>
            <a:lstStyle/>
            <a:p>
              <a:endParaRPr lang="en-CA"/>
            </a:p>
          </p:txBody>
        </p:sp>
        <p:sp>
          <p:nvSpPr>
            <p:cNvPr id="57355" name="Oval 39"/>
            <p:cNvSpPr>
              <a:spLocks noChangeArrowheads="1"/>
            </p:cNvSpPr>
            <p:nvPr/>
          </p:nvSpPr>
          <p:spPr bwMode="auto">
            <a:xfrm>
              <a:off x="960" y="1632"/>
              <a:ext cx="96" cy="96"/>
            </a:xfrm>
            <a:prstGeom prst="ellipse">
              <a:avLst/>
            </a:prstGeom>
            <a:solidFill>
              <a:srgbClr val="CC0000"/>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57356" name="Oval 36"/>
            <p:cNvSpPr>
              <a:spLocks noChangeArrowheads="1"/>
            </p:cNvSpPr>
            <p:nvPr/>
          </p:nvSpPr>
          <p:spPr bwMode="auto">
            <a:xfrm>
              <a:off x="1248" y="1488"/>
              <a:ext cx="96" cy="96"/>
            </a:xfrm>
            <a:prstGeom prst="ellipse">
              <a:avLst/>
            </a:prstGeom>
            <a:solidFill>
              <a:srgbClr val="CC0000"/>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57357" name="Freeform 44" descr="Wide upward diagonal"/>
            <p:cNvSpPr>
              <a:spLocks/>
            </p:cNvSpPr>
            <p:nvPr/>
          </p:nvSpPr>
          <p:spPr bwMode="auto">
            <a:xfrm rot="1888765">
              <a:off x="1872" y="1488"/>
              <a:ext cx="593" cy="364"/>
            </a:xfrm>
            <a:custGeom>
              <a:avLst/>
              <a:gdLst>
                <a:gd name="T0" fmla="*/ 0 w 593"/>
                <a:gd name="T1" fmla="*/ 176 h 364"/>
                <a:gd name="T2" fmla="*/ 102 w 593"/>
                <a:gd name="T3" fmla="*/ 135 h 364"/>
                <a:gd name="T4" fmla="*/ 406 w 593"/>
                <a:gd name="T5" fmla="*/ 6 h 364"/>
                <a:gd name="T6" fmla="*/ 591 w 593"/>
                <a:gd name="T7" fmla="*/ 171 h 364"/>
                <a:gd name="T8" fmla="*/ 420 w 593"/>
                <a:gd name="T9" fmla="*/ 358 h 364"/>
                <a:gd name="T10" fmla="*/ 88 w 593"/>
                <a:gd name="T11" fmla="*/ 209 h 364"/>
                <a:gd name="T12" fmla="*/ 0 w 593"/>
                <a:gd name="T13" fmla="*/ 176 h 3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3" h="364">
                  <a:moveTo>
                    <a:pt x="0" y="176"/>
                  </a:moveTo>
                  <a:cubicBezTo>
                    <a:pt x="2" y="164"/>
                    <a:pt x="34" y="163"/>
                    <a:pt x="102" y="135"/>
                  </a:cubicBezTo>
                  <a:cubicBezTo>
                    <a:pt x="170" y="107"/>
                    <a:pt x="325" y="0"/>
                    <a:pt x="406" y="6"/>
                  </a:cubicBezTo>
                  <a:cubicBezTo>
                    <a:pt x="487" y="12"/>
                    <a:pt x="589" y="112"/>
                    <a:pt x="591" y="171"/>
                  </a:cubicBezTo>
                  <a:cubicBezTo>
                    <a:pt x="593" y="230"/>
                    <a:pt x="504" y="352"/>
                    <a:pt x="420" y="358"/>
                  </a:cubicBezTo>
                  <a:cubicBezTo>
                    <a:pt x="336" y="364"/>
                    <a:pt x="158" y="239"/>
                    <a:pt x="88" y="209"/>
                  </a:cubicBezTo>
                  <a:cubicBezTo>
                    <a:pt x="18" y="179"/>
                    <a:pt x="18" y="183"/>
                    <a:pt x="0" y="176"/>
                  </a:cubicBezTo>
                  <a:close/>
                </a:path>
              </a:pathLst>
            </a:custGeom>
            <a:solidFill>
              <a:schemeClr val="accent3">
                <a:lumMod val="75000"/>
              </a:schemeClr>
            </a:solidFill>
            <a:ln w="12700" cap="flat" cmpd="sng">
              <a:solidFill>
                <a:schemeClr val="accent3">
                  <a:lumMod val="75000"/>
                </a:schemeClr>
              </a:solidFill>
              <a:prstDash val="solid"/>
              <a:round/>
              <a:headEnd type="none" w="med" len="med"/>
              <a:tailEnd type="none" w="med" len="med"/>
            </a:ln>
            <a:effectLst>
              <a:outerShdw blurRad="44450" dist="27940" dir="5400000" algn="ctr">
                <a:srgbClr val="000000">
                  <a:alpha val="32000"/>
                </a:srgbClr>
              </a:outerShdw>
            </a:effectLst>
            <a:extLst/>
          </p:spPr>
          <p:txBody>
            <a:bodyPr bIns="10800">
              <a:spAutoFit/>
            </a:bodyPr>
            <a:lstStyle/>
            <a:p>
              <a:endParaRPr lang="en-CA"/>
            </a:p>
          </p:txBody>
        </p:sp>
        <p:sp>
          <p:nvSpPr>
            <p:cNvPr id="57358" name="Freeform 45" descr="Wide upward diagonal"/>
            <p:cNvSpPr>
              <a:spLocks/>
            </p:cNvSpPr>
            <p:nvPr/>
          </p:nvSpPr>
          <p:spPr bwMode="auto">
            <a:xfrm rot="1888765">
              <a:off x="1488" y="2016"/>
              <a:ext cx="593" cy="364"/>
            </a:xfrm>
            <a:custGeom>
              <a:avLst/>
              <a:gdLst>
                <a:gd name="T0" fmla="*/ 0 w 593"/>
                <a:gd name="T1" fmla="*/ 176 h 364"/>
                <a:gd name="T2" fmla="*/ 102 w 593"/>
                <a:gd name="T3" fmla="*/ 135 h 364"/>
                <a:gd name="T4" fmla="*/ 406 w 593"/>
                <a:gd name="T5" fmla="*/ 6 h 364"/>
                <a:gd name="T6" fmla="*/ 591 w 593"/>
                <a:gd name="T7" fmla="*/ 171 h 364"/>
                <a:gd name="T8" fmla="*/ 420 w 593"/>
                <a:gd name="T9" fmla="*/ 358 h 364"/>
                <a:gd name="T10" fmla="*/ 88 w 593"/>
                <a:gd name="T11" fmla="*/ 209 h 364"/>
                <a:gd name="T12" fmla="*/ 0 w 593"/>
                <a:gd name="T13" fmla="*/ 176 h 3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3" h="364">
                  <a:moveTo>
                    <a:pt x="0" y="176"/>
                  </a:moveTo>
                  <a:cubicBezTo>
                    <a:pt x="2" y="164"/>
                    <a:pt x="34" y="163"/>
                    <a:pt x="102" y="135"/>
                  </a:cubicBezTo>
                  <a:cubicBezTo>
                    <a:pt x="170" y="107"/>
                    <a:pt x="325" y="0"/>
                    <a:pt x="406" y="6"/>
                  </a:cubicBezTo>
                  <a:cubicBezTo>
                    <a:pt x="487" y="12"/>
                    <a:pt x="589" y="112"/>
                    <a:pt x="591" y="171"/>
                  </a:cubicBezTo>
                  <a:cubicBezTo>
                    <a:pt x="593" y="230"/>
                    <a:pt x="504" y="352"/>
                    <a:pt x="420" y="358"/>
                  </a:cubicBezTo>
                  <a:cubicBezTo>
                    <a:pt x="336" y="364"/>
                    <a:pt x="158" y="239"/>
                    <a:pt x="88" y="209"/>
                  </a:cubicBezTo>
                  <a:cubicBezTo>
                    <a:pt x="18" y="179"/>
                    <a:pt x="18" y="183"/>
                    <a:pt x="0" y="176"/>
                  </a:cubicBezTo>
                  <a:close/>
                </a:path>
              </a:pathLst>
            </a:custGeom>
            <a:solidFill>
              <a:schemeClr val="accent3">
                <a:lumMod val="75000"/>
              </a:schemeClr>
            </a:solidFill>
            <a:ln w="12700" cap="flat" cmpd="sng">
              <a:solidFill>
                <a:schemeClr val="accent3">
                  <a:lumMod val="75000"/>
                </a:schemeClr>
              </a:solidFill>
              <a:prstDash val="solid"/>
              <a:round/>
              <a:headEnd type="none" w="med" len="med"/>
              <a:tailEnd type="none" w="med" len="med"/>
            </a:ln>
            <a:effectLst>
              <a:outerShdw blurRad="44450" dist="27940" dir="5400000" algn="ctr">
                <a:srgbClr val="000000">
                  <a:alpha val="32000"/>
                </a:srgbClr>
              </a:outerShdw>
            </a:effectLst>
            <a:extLst/>
          </p:spPr>
          <p:txBody>
            <a:bodyPr bIns="10800">
              <a:spAutoFit/>
            </a:bodyPr>
            <a:lstStyle/>
            <a:p>
              <a:endParaRPr lang="en-CA"/>
            </a:p>
          </p:txBody>
        </p:sp>
        <p:sp>
          <p:nvSpPr>
            <p:cNvPr id="57359" name="Freeform 46" descr="Wide upward diagonal"/>
            <p:cNvSpPr>
              <a:spLocks/>
            </p:cNvSpPr>
            <p:nvPr/>
          </p:nvSpPr>
          <p:spPr bwMode="auto">
            <a:xfrm rot="6710522">
              <a:off x="1133" y="2131"/>
              <a:ext cx="593" cy="364"/>
            </a:xfrm>
            <a:custGeom>
              <a:avLst/>
              <a:gdLst>
                <a:gd name="T0" fmla="*/ 0 w 593"/>
                <a:gd name="T1" fmla="*/ 176 h 364"/>
                <a:gd name="T2" fmla="*/ 102 w 593"/>
                <a:gd name="T3" fmla="*/ 135 h 364"/>
                <a:gd name="T4" fmla="*/ 406 w 593"/>
                <a:gd name="T5" fmla="*/ 6 h 364"/>
                <a:gd name="T6" fmla="*/ 591 w 593"/>
                <a:gd name="T7" fmla="*/ 171 h 364"/>
                <a:gd name="T8" fmla="*/ 420 w 593"/>
                <a:gd name="T9" fmla="*/ 358 h 364"/>
                <a:gd name="T10" fmla="*/ 88 w 593"/>
                <a:gd name="T11" fmla="*/ 209 h 364"/>
                <a:gd name="T12" fmla="*/ 0 w 593"/>
                <a:gd name="T13" fmla="*/ 176 h 3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3" h="364">
                  <a:moveTo>
                    <a:pt x="0" y="176"/>
                  </a:moveTo>
                  <a:cubicBezTo>
                    <a:pt x="2" y="164"/>
                    <a:pt x="34" y="163"/>
                    <a:pt x="102" y="135"/>
                  </a:cubicBezTo>
                  <a:cubicBezTo>
                    <a:pt x="170" y="107"/>
                    <a:pt x="325" y="0"/>
                    <a:pt x="406" y="6"/>
                  </a:cubicBezTo>
                  <a:cubicBezTo>
                    <a:pt x="487" y="12"/>
                    <a:pt x="589" y="112"/>
                    <a:pt x="591" y="171"/>
                  </a:cubicBezTo>
                  <a:cubicBezTo>
                    <a:pt x="593" y="230"/>
                    <a:pt x="504" y="352"/>
                    <a:pt x="420" y="358"/>
                  </a:cubicBezTo>
                  <a:cubicBezTo>
                    <a:pt x="336" y="364"/>
                    <a:pt x="158" y="239"/>
                    <a:pt x="88" y="209"/>
                  </a:cubicBezTo>
                  <a:cubicBezTo>
                    <a:pt x="18" y="179"/>
                    <a:pt x="18" y="183"/>
                    <a:pt x="0" y="176"/>
                  </a:cubicBezTo>
                  <a:close/>
                </a:path>
              </a:pathLst>
            </a:custGeom>
            <a:solidFill>
              <a:schemeClr val="accent3">
                <a:lumMod val="75000"/>
              </a:schemeClr>
            </a:solidFill>
            <a:ln w="12700" cap="flat" cmpd="sng">
              <a:solidFill>
                <a:schemeClr val="accent3">
                  <a:lumMod val="75000"/>
                </a:schemeClr>
              </a:solidFill>
              <a:prstDash val="solid"/>
              <a:round/>
              <a:headEnd type="none" w="med" len="med"/>
              <a:tailEnd type="none" w="med" len="med"/>
            </a:ln>
            <a:effectLst>
              <a:outerShdw blurRad="44450" dist="27940" dir="5400000" algn="ctr">
                <a:srgbClr val="000000">
                  <a:alpha val="32000"/>
                </a:srgbClr>
              </a:outerShdw>
            </a:effectLst>
            <a:extLst/>
          </p:spPr>
          <p:txBody>
            <a:bodyPr bIns="10800">
              <a:spAutoFit/>
            </a:bodyPr>
            <a:lstStyle/>
            <a:p>
              <a:endParaRPr lang="en-CA"/>
            </a:p>
          </p:txBody>
        </p:sp>
        <p:sp>
          <p:nvSpPr>
            <p:cNvPr id="57360" name="Oval 47"/>
            <p:cNvSpPr>
              <a:spLocks noChangeArrowheads="1"/>
            </p:cNvSpPr>
            <p:nvPr/>
          </p:nvSpPr>
          <p:spPr bwMode="auto">
            <a:xfrm>
              <a:off x="1872" y="1440"/>
              <a:ext cx="96" cy="96"/>
            </a:xfrm>
            <a:prstGeom prst="ellipse">
              <a:avLst/>
            </a:prstGeom>
            <a:solidFill>
              <a:srgbClr val="CC0000"/>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57361" name="Oval 48"/>
            <p:cNvSpPr>
              <a:spLocks noChangeArrowheads="1"/>
            </p:cNvSpPr>
            <p:nvPr/>
          </p:nvSpPr>
          <p:spPr bwMode="auto">
            <a:xfrm>
              <a:off x="1488" y="1968"/>
              <a:ext cx="96" cy="96"/>
            </a:xfrm>
            <a:prstGeom prst="ellipse">
              <a:avLst/>
            </a:prstGeom>
            <a:solidFill>
              <a:srgbClr val="CC0000"/>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57362" name="Freeform 87" descr="Wide upward diagonal"/>
            <p:cNvSpPr>
              <a:spLocks/>
            </p:cNvSpPr>
            <p:nvPr/>
          </p:nvSpPr>
          <p:spPr bwMode="auto">
            <a:xfrm rot="8639140">
              <a:off x="336" y="2208"/>
              <a:ext cx="593" cy="364"/>
            </a:xfrm>
            <a:custGeom>
              <a:avLst/>
              <a:gdLst>
                <a:gd name="T0" fmla="*/ 0 w 593"/>
                <a:gd name="T1" fmla="*/ 176 h 364"/>
                <a:gd name="T2" fmla="*/ 102 w 593"/>
                <a:gd name="T3" fmla="*/ 135 h 364"/>
                <a:gd name="T4" fmla="*/ 406 w 593"/>
                <a:gd name="T5" fmla="*/ 6 h 364"/>
                <a:gd name="T6" fmla="*/ 591 w 593"/>
                <a:gd name="T7" fmla="*/ 171 h 364"/>
                <a:gd name="T8" fmla="*/ 420 w 593"/>
                <a:gd name="T9" fmla="*/ 358 h 364"/>
                <a:gd name="T10" fmla="*/ 88 w 593"/>
                <a:gd name="T11" fmla="*/ 209 h 364"/>
                <a:gd name="T12" fmla="*/ 0 w 593"/>
                <a:gd name="T13" fmla="*/ 176 h 3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3" h="364">
                  <a:moveTo>
                    <a:pt x="0" y="176"/>
                  </a:moveTo>
                  <a:cubicBezTo>
                    <a:pt x="2" y="164"/>
                    <a:pt x="34" y="163"/>
                    <a:pt x="102" y="135"/>
                  </a:cubicBezTo>
                  <a:cubicBezTo>
                    <a:pt x="170" y="107"/>
                    <a:pt x="325" y="0"/>
                    <a:pt x="406" y="6"/>
                  </a:cubicBezTo>
                  <a:cubicBezTo>
                    <a:pt x="487" y="12"/>
                    <a:pt x="589" y="112"/>
                    <a:pt x="591" y="171"/>
                  </a:cubicBezTo>
                  <a:cubicBezTo>
                    <a:pt x="593" y="230"/>
                    <a:pt x="504" y="352"/>
                    <a:pt x="420" y="358"/>
                  </a:cubicBezTo>
                  <a:cubicBezTo>
                    <a:pt x="336" y="364"/>
                    <a:pt x="158" y="239"/>
                    <a:pt x="88" y="209"/>
                  </a:cubicBezTo>
                  <a:cubicBezTo>
                    <a:pt x="18" y="179"/>
                    <a:pt x="18" y="183"/>
                    <a:pt x="0" y="176"/>
                  </a:cubicBezTo>
                  <a:close/>
                </a:path>
              </a:pathLst>
            </a:custGeom>
            <a:solidFill>
              <a:schemeClr val="accent3">
                <a:lumMod val="75000"/>
              </a:schemeClr>
            </a:solidFill>
            <a:ln w="12700" cap="flat" cmpd="sng">
              <a:solidFill>
                <a:schemeClr val="accent3">
                  <a:lumMod val="75000"/>
                </a:schemeClr>
              </a:solidFill>
              <a:prstDash val="solid"/>
              <a:round/>
              <a:headEnd type="none" w="med" len="med"/>
              <a:tailEnd type="none" w="med" len="med"/>
            </a:ln>
            <a:effectLst>
              <a:outerShdw blurRad="44450" dist="27940" dir="5400000" algn="ctr">
                <a:srgbClr val="000000">
                  <a:alpha val="32000"/>
                </a:srgbClr>
              </a:outerShdw>
            </a:effectLst>
            <a:extLst/>
          </p:spPr>
          <p:txBody>
            <a:bodyPr bIns="10800">
              <a:spAutoFit/>
            </a:bodyPr>
            <a:lstStyle/>
            <a:p>
              <a:endParaRPr lang="en-CA"/>
            </a:p>
          </p:txBody>
        </p:sp>
        <p:sp>
          <p:nvSpPr>
            <p:cNvPr id="57363" name="Freeform 88" descr="Wide upward diagonal"/>
            <p:cNvSpPr>
              <a:spLocks/>
            </p:cNvSpPr>
            <p:nvPr/>
          </p:nvSpPr>
          <p:spPr bwMode="auto">
            <a:xfrm rot="3799709">
              <a:off x="701" y="2323"/>
              <a:ext cx="593" cy="364"/>
            </a:xfrm>
            <a:custGeom>
              <a:avLst/>
              <a:gdLst>
                <a:gd name="T0" fmla="*/ 0 w 593"/>
                <a:gd name="T1" fmla="*/ 176 h 364"/>
                <a:gd name="T2" fmla="*/ 102 w 593"/>
                <a:gd name="T3" fmla="*/ 135 h 364"/>
                <a:gd name="T4" fmla="*/ 406 w 593"/>
                <a:gd name="T5" fmla="*/ 6 h 364"/>
                <a:gd name="T6" fmla="*/ 591 w 593"/>
                <a:gd name="T7" fmla="*/ 171 h 364"/>
                <a:gd name="T8" fmla="*/ 420 w 593"/>
                <a:gd name="T9" fmla="*/ 358 h 364"/>
                <a:gd name="T10" fmla="*/ 88 w 593"/>
                <a:gd name="T11" fmla="*/ 209 h 364"/>
                <a:gd name="T12" fmla="*/ 0 w 593"/>
                <a:gd name="T13" fmla="*/ 176 h 3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3" h="364">
                  <a:moveTo>
                    <a:pt x="0" y="176"/>
                  </a:moveTo>
                  <a:cubicBezTo>
                    <a:pt x="2" y="164"/>
                    <a:pt x="34" y="163"/>
                    <a:pt x="102" y="135"/>
                  </a:cubicBezTo>
                  <a:cubicBezTo>
                    <a:pt x="170" y="107"/>
                    <a:pt x="325" y="0"/>
                    <a:pt x="406" y="6"/>
                  </a:cubicBezTo>
                  <a:cubicBezTo>
                    <a:pt x="487" y="12"/>
                    <a:pt x="589" y="112"/>
                    <a:pt x="591" y="171"/>
                  </a:cubicBezTo>
                  <a:cubicBezTo>
                    <a:pt x="593" y="230"/>
                    <a:pt x="504" y="352"/>
                    <a:pt x="420" y="358"/>
                  </a:cubicBezTo>
                  <a:cubicBezTo>
                    <a:pt x="336" y="364"/>
                    <a:pt x="158" y="239"/>
                    <a:pt x="88" y="209"/>
                  </a:cubicBezTo>
                  <a:cubicBezTo>
                    <a:pt x="18" y="179"/>
                    <a:pt x="18" y="183"/>
                    <a:pt x="0" y="176"/>
                  </a:cubicBezTo>
                  <a:close/>
                </a:path>
              </a:pathLst>
            </a:custGeom>
            <a:solidFill>
              <a:schemeClr val="accent3">
                <a:lumMod val="75000"/>
              </a:schemeClr>
            </a:solidFill>
            <a:ln w="12700" cap="flat" cmpd="sng">
              <a:solidFill>
                <a:schemeClr val="accent3">
                  <a:lumMod val="75000"/>
                </a:schemeClr>
              </a:solidFill>
              <a:prstDash val="solid"/>
              <a:round/>
              <a:headEnd type="none" w="med" len="med"/>
              <a:tailEnd type="none" w="med" len="med"/>
            </a:ln>
            <a:effectLst>
              <a:outerShdw blurRad="44450" dist="27940" dir="5400000" algn="ctr">
                <a:srgbClr val="000000">
                  <a:alpha val="32000"/>
                </a:srgbClr>
              </a:outerShdw>
            </a:effectLst>
            <a:extLst/>
          </p:spPr>
          <p:txBody>
            <a:bodyPr bIns="10800">
              <a:spAutoFit/>
            </a:bodyPr>
            <a:lstStyle/>
            <a:p>
              <a:endParaRPr lang="en-CA"/>
            </a:p>
          </p:txBody>
        </p:sp>
        <p:sp>
          <p:nvSpPr>
            <p:cNvPr id="57364" name="Oval 89"/>
            <p:cNvSpPr>
              <a:spLocks noChangeArrowheads="1"/>
            </p:cNvSpPr>
            <p:nvPr/>
          </p:nvSpPr>
          <p:spPr bwMode="auto">
            <a:xfrm>
              <a:off x="816" y="2160"/>
              <a:ext cx="96" cy="96"/>
            </a:xfrm>
            <a:prstGeom prst="ellipse">
              <a:avLst/>
            </a:prstGeom>
            <a:solidFill>
              <a:srgbClr val="CC0000"/>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57365" name="Line 49"/>
            <p:cNvSpPr>
              <a:spLocks noChangeShapeType="1"/>
            </p:cNvSpPr>
            <p:nvPr/>
          </p:nvSpPr>
          <p:spPr bwMode="auto">
            <a:xfrm>
              <a:off x="3648" y="1248"/>
              <a:ext cx="0" cy="28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66" name="Line 50"/>
            <p:cNvSpPr>
              <a:spLocks noChangeShapeType="1"/>
            </p:cNvSpPr>
            <p:nvPr/>
          </p:nvSpPr>
          <p:spPr bwMode="auto">
            <a:xfrm flipH="1">
              <a:off x="3360" y="1536"/>
              <a:ext cx="288"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67" name="Line 51"/>
            <p:cNvSpPr>
              <a:spLocks noChangeShapeType="1"/>
            </p:cNvSpPr>
            <p:nvPr/>
          </p:nvSpPr>
          <p:spPr bwMode="auto">
            <a:xfrm flipV="1">
              <a:off x="3360" y="1248"/>
              <a:ext cx="288" cy="28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68" name="Line 52"/>
            <p:cNvSpPr>
              <a:spLocks noChangeShapeType="1"/>
            </p:cNvSpPr>
            <p:nvPr/>
          </p:nvSpPr>
          <p:spPr bwMode="auto">
            <a:xfrm>
              <a:off x="3648" y="1248"/>
              <a:ext cx="288" cy="28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69" name="Line 53"/>
            <p:cNvSpPr>
              <a:spLocks noChangeShapeType="1"/>
            </p:cNvSpPr>
            <p:nvPr/>
          </p:nvSpPr>
          <p:spPr bwMode="auto">
            <a:xfrm flipH="1">
              <a:off x="3648" y="1536"/>
              <a:ext cx="288" cy="24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70" name="Line 54"/>
            <p:cNvSpPr>
              <a:spLocks noChangeShapeType="1"/>
            </p:cNvSpPr>
            <p:nvPr/>
          </p:nvSpPr>
          <p:spPr bwMode="auto">
            <a:xfrm flipV="1">
              <a:off x="3648" y="1536"/>
              <a:ext cx="0" cy="24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71" name="Line 55"/>
            <p:cNvSpPr>
              <a:spLocks noChangeShapeType="1"/>
            </p:cNvSpPr>
            <p:nvPr/>
          </p:nvSpPr>
          <p:spPr bwMode="auto">
            <a:xfrm>
              <a:off x="3360" y="1536"/>
              <a:ext cx="288" cy="24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72" name="Line 56"/>
            <p:cNvSpPr>
              <a:spLocks noChangeShapeType="1"/>
            </p:cNvSpPr>
            <p:nvPr/>
          </p:nvSpPr>
          <p:spPr bwMode="auto">
            <a:xfrm flipH="1">
              <a:off x="3360" y="1776"/>
              <a:ext cx="288"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73" name="Line 57"/>
            <p:cNvSpPr>
              <a:spLocks noChangeShapeType="1"/>
            </p:cNvSpPr>
            <p:nvPr/>
          </p:nvSpPr>
          <p:spPr bwMode="auto">
            <a:xfrm>
              <a:off x="3360" y="1776"/>
              <a:ext cx="0" cy="24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74" name="Line 58"/>
            <p:cNvSpPr>
              <a:spLocks noChangeShapeType="1"/>
            </p:cNvSpPr>
            <p:nvPr/>
          </p:nvSpPr>
          <p:spPr bwMode="auto">
            <a:xfrm flipV="1">
              <a:off x="3360" y="1776"/>
              <a:ext cx="288" cy="24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75" name="Line 59"/>
            <p:cNvSpPr>
              <a:spLocks noChangeShapeType="1"/>
            </p:cNvSpPr>
            <p:nvPr/>
          </p:nvSpPr>
          <p:spPr bwMode="auto">
            <a:xfrm>
              <a:off x="3648" y="1776"/>
              <a:ext cx="288"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76" name="Line 60"/>
            <p:cNvSpPr>
              <a:spLocks noChangeShapeType="1"/>
            </p:cNvSpPr>
            <p:nvPr/>
          </p:nvSpPr>
          <p:spPr bwMode="auto">
            <a:xfrm>
              <a:off x="3936" y="1776"/>
              <a:ext cx="0" cy="24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77" name="Line 61"/>
            <p:cNvSpPr>
              <a:spLocks noChangeShapeType="1"/>
            </p:cNvSpPr>
            <p:nvPr/>
          </p:nvSpPr>
          <p:spPr bwMode="auto">
            <a:xfrm flipH="1" flipV="1">
              <a:off x="3648" y="1776"/>
              <a:ext cx="288" cy="24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78" name="Line 62"/>
            <p:cNvSpPr>
              <a:spLocks noChangeShapeType="1"/>
            </p:cNvSpPr>
            <p:nvPr/>
          </p:nvSpPr>
          <p:spPr bwMode="auto">
            <a:xfrm>
              <a:off x="3648" y="1776"/>
              <a:ext cx="0" cy="52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79" name="Line 63"/>
            <p:cNvSpPr>
              <a:spLocks noChangeShapeType="1"/>
            </p:cNvSpPr>
            <p:nvPr/>
          </p:nvSpPr>
          <p:spPr bwMode="auto">
            <a:xfrm flipH="1">
              <a:off x="3456" y="2304"/>
              <a:ext cx="192" cy="19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80" name="Line 64"/>
            <p:cNvSpPr>
              <a:spLocks noChangeShapeType="1"/>
            </p:cNvSpPr>
            <p:nvPr/>
          </p:nvSpPr>
          <p:spPr bwMode="auto">
            <a:xfrm>
              <a:off x="3456" y="2496"/>
              <a:ext cx="336"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81" name="Line 65"/>
            <p:cNvSpPr>
              <a:spLocks noChangeShapeType="1"/>
            </p:cNvSpPr>
            <p:nvPr/>
          </p:nvSpPr>
          <p:spPr bwMode="auto">
            <a:xfrm flipH="1" flipV="1">
              <a:off x="3648" y="2304"/>
              <a:ext cx="144" cy="19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82" name="Line 66"/>
            <p:cNvSpPr>
              <a:spLocks noChangeShapeType="1"/>
            </p:cNvSpPr>
            <p:nvPr/>
          </p:nvSpPr>
          <p:spPr bwMode="auto">
            <a:xfrm>
              <a:off x="3936" y="1536"/>
              <a:ext cx="528"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83" name="Line 67"/>
            <p:cNvSpPr>
              <a:spLocks noChangeShapeType="1"/>
            </p:cNvSpPr>
            <p:nvPr/>
          </p:nvSpPr>
          <p:spPr bwMode="auto">
            <a:xfrm flipV="1">
              <a:off x="4464" y="1296"/>
              <a:ext cx="192" cy="24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84" name="Line 68"/>
            <p:cNvSpPr>
              <a:spLocks noChangeShapeType="1"/>
            </p:cNvSpPr>
            <p:nvPr/>
          </p:nvSpPr>
          <p:spPr bwMode="auto">
            <a:xfrm>
              <a:off x="4656" y="1296"/>
              <a:ext cx="192" cy="24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85" name="Line 69"/>
            <p:cNvSpPr>
              <a:spLocks noChangeShapeType="1"/>
            </p:cNvSpPr>
            <p:nvPr/>
          </p:nvSpPr>
          <p:spPr bwMode="auto">
            <a:xfrm flipH="1">
              <a:off x="4656" y="1536"/>
              <a:ext cx="192" cy="24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86" name="Line 70"/>
            <p:cNvSpPr>
              <a:spLocks noChangeShapeType="1"/>
            </p:cNvSpPr>
            <p:nvPr/>
          </p:nvSpPr>
          <p:spPr bwMode="auto">
            <a:xfrm flipH="1" flipV="1">
              <a:off x="4464" y="1536"/>
              <a:ext cx="192" cy="24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87" name="Line 71"/>
            <p:cNvSpPr>
              <a:spLocks noChangeShapeType="1"/>
            </p:cNvSpPr>
            <p:nvPr/>
          </p:nvSpPr>
          <p:spPr bwMode="auto">
            <a:xfrm>
              <a:off x="4464" y="1536"/>
              <a:ext cx="384"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88" name="Line 72"/>
            <p:cNvSpPr>
              <a:spLocks noChangeShapeType="1"/>
            </p:cNvSpPr>
            <p:nvPr/>
          </p:nvSpPr>
          <p:spPr bwMode="auto">
            <a:xfrm>
              <a:off x="4656" y="1776"/>
              <a:ext cx="384" cy="384"/>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89" name="Line 73"/>
            <p:cNvSpPr>
              <a:spLocks noChangeShapeType="1"/>
            </p:cNvSpPr>
            <p:nvPr/>
          </p:nvSpPr>
          <p:spPr bwMode="auto">
            <a:xfrm flipH="1">
              <a:off x="4368" y="2160"/>
              <a:ext cx="672"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90" name="Line 74"/>
            <p:cNvSpPr>
              <a:spLocks noChangeShapeType="1"/>
            </p:cNvSpPr>
            <p:nvPr/>
          </p:nvSpPr>
          <p:spPr bwMode="auto">
            <a:xfrm flipV="1">
              <a:off x="4368" y="1776"/>
              <a:ext cx="288" cy="384"/>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91" name="Text Box 75"/>
            <p:cNvSpPr txBox="1">
              <a:spLocks noChangeArrowheads="1"/>
            </p:cNvSpPr>
            <p:nvPr/>
          </p:nvSpPr>
          <p:spPr bwMode="auto">
            <a:xfrm>
              <a:off x="3936" y="1296"/>
              <a:ext cx="18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a</a:t>
              </a:r>
            </a:p>
          </p:txBody>
        </p:sp>
        <p:sp>
          <p:nvSpPr>
            <p:cNvPr id="57392" name="Text Box 76"/>
            <p:cNvSpPr txBox="1">
              <a:spLocks noChangeArrowheads="1"/>
            </p:cNvSpPr>
            <p:nvPr/>
          </p:nvSpPr>
          <p:spPr bwMode="auto">
            <a:xfrm>
              <a:off x="4320" y="1296"/>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b</a:t>
              </a:r>
            </a:p>
          </p:txBody>
        </p:sp>
        <p:sp>
          <p:nvSpPr>
            <p:cNvPr id="57393" name="Text Box 77"/>
            <p:cNvSpPr txBox="1">
              <a:spLocks noChangeArrowheads="1"/>
            </p:cNvSpPr>
            <p:nvPr/>
          </p:nvSpPr>
          <p:spPr bwMode="auto">
            <a:xfrm>
              <a:off x="3504" y="1728"/>
              <a:ext cx="18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c</a:t>
              </a:r>
            </a:p>
          </p:txBody>
        </p:sp>
        <p:sp>
          <p:nvSpPr>
            <p:cNvPr id="57394" name="Text Box 78"/>
            <p:cNvSpPr txBox="1">
              <a:spLocks noChangeArrowheads="1"/>
            </p:cNvSpPr>
            <p:nvPr/>
          </p:nvSpPr>
          <p:spPr bwMode="auto">
            <a:xfrm>
              <a:off x="3648" y="2112"/>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d</a:t>
              </a:r>
            </a:p>
          </p:txBody>
        </p:sp>
        <p:sp>
          <p:nvSpPr>
            <p:cNvPr id="57395" name="Text Box 79"/>
            <p:cNvSpPr txBox="1">
              <a:spLocks noChangeArrowheads="1"/>
            </p:cNvSpPr>
            <p:nvPr/>
          </p:nvSpPr>
          <p:spPr bwMode="auto">
            <a:xfrm>
              <a:off x="4464" y="1632"/>
              <a:ext cx="18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e</a:t>
              </a:r>
            </a:p>
          </p:txBody>
        </p:sp>
        <p:sp>
          <p:nvSpPr>
            <p:cNvPr id="57396" name="Line 80"/>
            <p:cNvSpPr>
              <a:spLocks noChangeShapeType="1"/>
            </p:cNvSpPr>
            <p:nvPr/>
          </p:nvSpPr>
          <p:spPr bwMode="auto">
            <a:xfrm flipH="1">
              <a:off x="4176" y="2160"/>
              <a:ext cx="192" cy="33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97" name="Line 81"/>
            <p:cNvSpPr>
              <a:spLocks noChangeShapeType="1"/>
            </p:cNvSpPr>
            <p:nvPr/>
          </p:nvSpPr>
          <p:spPr bwMode="auto">
            <a:xfrm>
              <a:off x="4176" y="2496"/>
              <a:ext cx="528"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98" name="Line 82"/>
            <p:cNvSpPr>
              <a:spLocks noChangeShapeType="1"/>
            </p:cNvSpPr>
            <p:nvPr/>
          </p:nvSpPr>
          <p:spPr bwMode="auto">
            <a:xfrm flipH="1" flipV="1">
              <a:off x="4368" y="2160"/>
              <a:ext cx="336" cy="33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7399" name="Text Box 86"/>
            <p:cNvSpPr txBox="1">
              <a:spLocks noChangeArrowheads="1"/>
            </p:cNvSpPr>
            <p:nvPr/>
          </p:nvSpPr>
          <p:spPr bwMode="auto">
            <a:xfrm>
              <a:off x="4188" y="1968"/>
              <a:ext cx="164"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f</a:t>
              </a:r>
            </a:p>
          </p:txBody>
        </p:sp>
        <p:sp>
          <p:nvSpPr>
            <p:cNvPr id="57400" name="Oval 90"/>
            <p:cNvSpPr>
              <a:spLocks noChangeArrowheads="1"/>
            </p:cNvSpPr>
            <p:nvPr/>
          </p:nvSpPr>
          <p:spPr bwMode="auto">
            <a:xfrm>
              <a:off x="4608" y="1728"/>
              <a:ext cx="96" cy="96"/>
            </a:xfrm>
            <a:prstGeom prst="ellipse">
              <a:avLst/>
            </a:prstGeom>
            <a:solidFill>
              <a:srgbClr val="CC0000"/>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57401" name="Oval 91"/>
            <p:cNvSpPr>
              <a:spLocks noChangeArrowheads="1"/>
            </p:cNvSpPr>
            <p:nvPr/>
          </p:nvSpPr>
          <p:spPr bwMode="auto">
            <a:xfrm>
              <a:off x="4320" y="2112"/>
              <a:ext cx="96" cy="96"/>
            </a:xfrm>
            <a:prstGeom prst="ellipse">
              <a:avLst/>
            </a:prstGeom>
            <a:solidFill>
              <a:srgbClr val="CC0000"/>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57402" name="Oval 92"/>
            <p:cNvSpPr>
              <a:spLocks noChangeArrowheads="1"/>
            </p:cNvSpPr>
            <p:nvPr/>
          </p:nvSpPr>
          <p:spPr bwMode="auto">
            <a:xfrm>
              <a:off x="3600" y="2256"/>
              <a:ext cx="96" cy="96"/>
            </a:xfrm>
            <a:prstGeom prst="ellipse">
              <a:avLst/>
            </a:prstGeom>
            <a:solidFill>
              <a:srgbClr val="CC0000"/>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57403" name="Oval 93"/>
            <p:cNvSpPr>
              <a:spLocks noChangeArrowheads="1"/>
            </p:cNvSpPr>
            <p:nvPr/>
          </p:nvSpPr>
          <p:spPr bwMode="auto">
            <a:xfrm>
              <a:off x="3600" y="1728"/>
              <a:ext cx="96" cy="96"/>
            </a:xfrm>
            <a:prstGeom prst="ellipse">
              <a:avLst/>
            </a:prstGeom>
            <a:solidFill>
              <a:srgbClr val="CC0000"/>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57404" name="Oval 94"/>
            <p:cNvSpPr>
              <a:spLocks noChangeArrowheads="1"/>
            </p:cNvSpPr>
            <p:nvPr/>
          </p:nvSpPr>
          <p:spPr bwMode="auto">
            <a:xfrm>
              <a:off x="4416" y="1488"/>
              <a:ext cx="96" cy="96"/>
            </a:xfrm>
            <a:prstGeom prst="ellipse">
              <a:avLst/>
            </a:prstGeom>
            <a:solidFill>
              <a:srgbClr val="CC0000"/>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57405" name="Oval 95"/>
            <p:cNvSpPr>
              <a:spLocks noChangeArrowheads="1"/>
            </p:cNvSpPr>
            <p:nvPr/>
          </p:nvSpPr>
          <p:spPr bwMode="auto">
            <a:xfrm>
              <a:off x="3888" y="1488"/>
              <a:ext cx="96" cy="96"/>
            </a:xfrm>
            <a:prstGeom prst="ellipse">
              <a:avLst/>
            </a:prstGeom>
            <a:solidFill>
              <a:srgbClr val="CC0000"/>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55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91842"/>
                                        </p:tgtEl>
                                        <p:attrNameLst>
                                          <p:attrName>style.visibility</p:attrName>
                                        </p:attrNameLst>
                                      </p:cBhvr>
                                      <p:to>
                                        <p:strVal val="visible"/>
                                      </p:to>
                                    </p:set>
                                    <p:anim calcmode="lin" valueType="num">
                                      <p:cBhvr>
                                        <p:cTn id="7" dur="500" fill="hold"/>
                                        <p:tgtEl>
                                          <p:spTgt spid="291842"/>
                                        </p:tgtEl>
                                        <p:attrNameLst>
                                          <p:attrName>ppt_w</p:attrName>
                                        </p:attrNameLst>
                                      </p:cBhvr>
                                      <p:tavLst>
                                        <p:tav tm="0">
                                          <p:val>
                                            <p:fltVal val="0"/>
                                          </p:val>
                                        </p:tav>
                                        <p:tav tm="100000">
                                          <p:val>
                                            <p:strVal val="#ppt_w"/>
                                          </p:val>
                                        </p:tav>
                                      </p:tavLst>
                                    </p:anim>
                                    <p:anim calcmode="lin" valueType="num">
                                      <p:cBhvr>
                                        <p:cTn id="8" dur="500" fill="hold"/>
                                        <p:tgtEl>
                                          <p:spTgt spid="29184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91843"/>
                                        </p:tgtEl>
                                        <p:attrNameLst>
                                          <p:attrName>style.visibility</p:attrName>
                                        </p:attrNameLst>
                                      </p:cBhvr>
                                      <p:to>
                                        <p:strVal val="visible"/>
                                      </p:to>
                                    </p:set>
                                    <p:animEffect transition="in" filter="wipe(up)">
                                      <p:cBhvr>
                                        <p:cTn id="13" dur="500"/>
                                        <p:tgtEl>
                                          <p:spTgt spid="29184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91939"/>
                                        </p:tgtEl>
                                        <p:attrNameLst>
                                          <p:attrName>style.visibility</p:attrName>
                                        </p:attrNameLst>
                                      </p:cBhvr>
                                      <p:to>
                                        <p:strVal val="visible"/>
                                      </p:to>
                                    </p:set>
                                    <p:animEffect transition="in" filter="wipe(left)">
                                      <p:cBhvr>
                                        <p:cTn id="18" dur="500"/>
                                        <p:tgtEl>
                                          <p:spTgt spid="29193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91873"/>
                                        </p:tgtEl>
                                        <p:attrNameLst>
                                          <p:attrName>style.visibility</p:attrName>
                                        </p:attrNameLst>
                                      </p:cBhvr>
                                      <p:to>
                                        <p:strVal val="visible"/>
                                      </p:to>
                                    </p:set>
                                    <p:animEffect transition="in" filter="wipe(left)">
                                      <p:cBhvr>
                                        <p:cTn id="23" dur="500"/>
                                        <p:tgtEl>
                                          <p:spTgt spid="29187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91872"/>
                                        </p:tgtEl>
                                        <p:attrNameLst>
                                          <p:attrName>style.visibility</p:attrName>
                                        </p:attrNameLst>
                                      </p:cBhvr>
                                      <p:to>
                                        <p:strVal val="visible"/>
                                      </p:to>
                                    </p:set>
                                    <p:animEffect transition="in" filter="wipe(left)">
                                      <p:cBhvr>
                                        <p:cTn id="28" dur="500"/>
                                        <p:tgtEl>
                                          <p:spTgt spid="2918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2" grpId="0" animBg="1" autoUpdateAnimBg="0"/>
      <p:bldP spid="291843" grpId="0" autoUpdateAnimBg="0"/>
      <p:bldP spid="291872" grpId="0" animBg="1" autoUpdateAnimBg="0"/>
      <p:bldP spid="291873"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err="1" smtClean="0">
                <a:solidFill>
                  <a:schemeClr val="tx1"/>
                </a:solidFill>
                <a:latin typeface="Arial Rounded MT Bold" pitchFamily="34" charset="0"/>
              </a:rPr>
              <a:t>Biconnected</a:t>
            </a:r>
            <a:r>
              <a:rPr lang="en-US" sz="2800" dirty="0" smtClean="0">
                <a:solidFill>
                  <a:schemeClr val="tx1"/>
                </a:solidFill>
                <a:latin typeface="Arial Rounded MT Bold" pitchFamily="34" charset="0"/>
              </a:rPr>
              <a:t> Components</a:t>
            </a:r>
          </a:p>
        </p:txBody>
      </p:sp>
      <p:sp>
        <p:nvSpPr>
          <p:cNvPr id="292935" name="Rectangle 71"/>
          <p:cNvSpPr>
            <a:spLocks noChangeArrowheads="1"/>
          </p:cNvSpPr>
          <p:nvPr/>
        </p:nvSpPr>
        <p:spPr bwMode="auto">
          <a:xfrm>
            <a:off x="228600" y="3200400"/>
            <a:ext cx="81534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marL="481013" indent="-481013" eaLnBrk="1" hangingPunct="1">
              <a:lnSpc>
                <a:spcPct val="125000"/>
              </a:lnSpc>
              <a:spcBef>
                <a:spcPct val="50000"/>
              </a:spcBef>
              <a:buFont typeface="Wingdings" pitchFamily="2" charset="2"/>
              <a:buChar char="§"/>
            </a:pPr>
            <a:r>
              <a:rPr lang="en-US" sz="2000">
                <a:sym typeface="Symbol" pitchFamily="18" charset="2"/>
              </a:rPr>
              <a:t>Equivalence relation </a:t>
            </a:r>
            <a:r>
              <a:rPr lang="en-US" sz="2000"/>
              <a:t>  partitions E into equivalence classes </a:t>
            </a:r>
            <a:br>
              <a:rPr lang="en-US" sz="2000"/>
            </a:br>
            <a:r>
              <a:rPr lang="en-US" sz="2000"/>
              <a:t>	E</a:t>
            </a:r>
            <a:r>
              <a:rPr lang="en-US" sz="2000" baseline="-25000"/>
              <a:t>1</a:t>
            </a:r>
            <a:r>
              <a:rPr lang="en-US" sz="2000"/>
              <a:t> , E</a:t>
            </a:r>
            <a:r>
              <a:rPr lang="en-US" sz="2000" baseline="-25000"/>
              <a:t>2</a:t>
            </a:r>
            <a:r>
              <a:rPr lang="en-US" sz="2000"/>
              <a:t> , … , E</a:t>
            </a:r>
            <a:r>
              <a:rPr lang="en-US" sz="2000" baseline="-25000"/>
              <a:t>k</a:t>
            </a:r>
            <a:r>
              <a:rPr lang="en-US" sz="2000"/>
              <a:t> ,  for some k.</a:t>
            </a:r>
            <a:br>
              <a:rPr lang="en-US" sz="2000"/>
            </a:br>
            <a:endParaRPr lang="en-US" sz="2000"/>
          </a:p>
          <a:p>
            <a:pPr marL="481013" indent="-481013" eaLnBrk="1" hangingPunct="1">
              <a:lnSpc>
                <a:spcPct val="125000"/>
              </a:lnSpc>
              <a:spcBef>
                <a:spcPct val="50000"/>
              </a:spcBef>
              <a:buFont typeface="Wingdings" pitchFamily="2" charset="2"/>
              <a:buChar char="§"/>
            </a:pPr>
            <a:r>
              <a:rPr lang="en-US" sz="2000"/>
              <a:t>V</a:t>
            </a:r>
            <a:r>
              <a:rPr lang="en-US" sz="2000" baseline="-25000"/>
              <a:t>i</a:t>
            </a:r>
            <a:r>
              <a:rPr lang="en-US" sz="2000"/>
              <a:t>  = set of vertices of  E</a:t>
            </a:r>
            <a:r>
              <a:rPr lang="en-US" sz="2000" baseline="-25000"/>
              <a:t>i</a:t>
            </a:r>
            <a:r>
              <a:rPr lang="en-US" sz="2000"/>
              <a:t>  ,   i = 1..k.</a:t>
            </a:r>
            <a:br>
              <a:rPr lang="en-US" sz="2000"/>
            </a:br>
            <a:endParaRPr lang="en-US" sz="2000"/>
          </a:p>
          <a:p>
            <a:pPr marL="481013" indent="-481013" eaLnBrk="1" hangingPunct="1">
              <a:lnSpc>
                <a:spcPct val="125000"/>
              </a:lnSpc>
              <a:spcBef>
                <a:spcPct val="50000"/>
              </a:spcBef>
              <a:buFont typeface="Wingdings" pitchFamily="2" charset="2"/>
              <a:buChar char="§"/>
            </a:pPr>
            <a:r>
              <a:rPr lang="en-US" sz="2000" b="1">
                <a:solidFill>
                  <a:srgbClr val="CC0000"/>
                </a:solidFill>
              </a:rPr>
              <a:t>Biconnected Components</a:t>
            </a:r>
            <a:r>
              <a:rPr lang="en-US" sz="2000"/>
              <a:t> of G:     G</a:t>
            </a:r>
            <a:r>
              <a:rPr lang="en-US" sz="2000" baseline="-25000"/>
              <a:t>i</a:t>
            </a:r>
            <a:r>
              <a:rPr lang="en-US" sz="2000"/>
              <a:t> = (V</a:t>
            </a:r>
            <a:r>
              <a:rPr lang="en-US" sz="2000" baseline="-25000"/>
              <a:t>i</a:t>
            </a:r>
            <a:r>
              <a:rPr lang="en-US" sz="2000"/>
              <a:t>  , E</a:t>
            </a:r>
            <a:r>
              <a:rPr lang="en-US" sz="2000" baseline="-25000"/>
              <a:t>i</a:t>
            </a:r>
            <a:r>
              <a:rPr lang="en-US" sz="2000"/>
              <a:t> ) , i = 1..k. </a:t>
            </a:r>
          </a:p>
        </p:txBody>
      </p:sp>
      <p:grpSp>
        <p:nvGrpSpPr>
          <p:cNvPr id="292942" name="Group 78"/>
          <p:cNvGrpSpPr>
            <a:grpSpLocks/>
          </p:cNvGrpSpPr>
          <p:nvPr/>
        </p:nvGrpSpPr>
        <p:grpSpPr bwMode="auto">
          <a:xfrm>
            <a:off x="212725" y="833438"/>
            <a:ext cx="8702675" cy="1733550"/>
            <a:chOff x="134" y="525"/>
            <a:chExt cx="5482" cy="1092"/>
          </a:xfrm>
        </p:grpSpPr>
        <p:sp>
          <p:nvSpPr>
            <p:cNvPr id="58373" name="Text Box 3"/>
            <p:cNvSpPr txBox="1">
              <a:spLocks noChangeArrowheads="1"/>
            </p:cNvSpPr>
            <p:nvPr/>
          </p:nvSpPr>
          <p:spPr bwMode="auto">
            <a:xfrm>
              <a:off x="134" y="525"/>
              <a:ext cx="5482"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marL="457200" indent="-457200">
                <a:defRPr sz="1600">
                  <a:solidFill>
                    <a:schemeClr val="tx1"/>
                  </a:solidFill>
                  <a:latin typeface="Times New Roman" pitchFamily="18" charset="0"/>
                </a:defRPr>
              </a:lvl1pPr>
              <a:lvl2pPr marL="936625" indent="-457200">
                <a:defRPr sz="1600">
                  <a:solidFill>
                    <a:schemeClr val="tx1"/>
                  </a:solidFill>
                  <a:latin typeface="Times New Roman" pitchFamily="18" charset="0"/>
                </a:defRPr>
              </a:lvl2pPr>
              <a:lvl3pPr marL="1371600" indent="-4572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Char char="§"/>
              </a:pPr>
              <a:r>
                <a:rPr lang="en-US" sz="2000" b="1">
                  <a:solidFill>
                    <a:srgbClr val="CC0000"/>
                  </a:solidFill>
                </a:rPr>
                <a:t>An equivalence relation on E:  </a:t>
              </a:r>
            </a:p>
            <a:p>
              <a:pPr lvl="1" eaLnBrk="1" hangingPunct="1">
                <a:spcBef>
                  <a:spcPct val="50000"/>
                </a:spcBef>
                <a:buFont typeface="Wingdings" pitchFamily="2" charset="2"/>
                <a:buNone/>
              </a:pPr>
              <a:r>
                <a:rPr lang="en-US" sz="2000"/>
                <a:t>e</a:t>
              </a:r>
              <a:r>
                <a:rPr lang="en-US" sz="2000" baseline="-25000"/>
                <a:t>1</a:t>
              </a:r>
              <a:r>
                <a:rPr lang="en-US" sz="2000"/>
                <a:t> , e</a:t>
              </a:r>
              <a:r>
                <a:rPr lang="en-US" sz="2000" baseline="-25000"/>
                <a:t>2</a:t>
              </a:r>
              <a:r>
                <a:rPr lang="en-US" sz="2000"/>
                <a:t> </a:t>
              </a:r>
              <a:r>
                <a:rPr lang="en-US" sz="2000">
                  <a:sym typeface="Symbol" pitchFamily="18" charset="2"/>
                </a:rPr>
                <a:t> </a:t>
              </a:r>
              <a:r>
                <a:rPr lang="en-US" sz="2000"/>
                <a:t>E:     e</a:t>
              </a:r>
              <a:r>
                <a:rPr lang="en-US" sz="2000" baseline="-25000"/>
                <a:t>1</a:t>
              </a:r>
              <a:r>
                <a:rPr lang="en-US" sz="2000"/>
                <a:t> </a:t>
              </a:r>
              <a:r>
                <a:rPr lang="en-US" sz="2000">
                  <a:sym typeface="Symbol" pitchFamily="18" charset="2"/>
                </a:rPr>
                <a:t></a:t>
              </a:r>
              <a:r>
                <a:rPr lang="en-US" sz="2000"/>
                <a:t> e</a:t>
              </a:r>
              <a:r>
                <a:rPr lang="en-US" sz="2000" baseline="-25000"/>
                <a:t>2</a:t>
              </a:r>
              <a:r>
                <a:rPr lang="en-US" sz="2000"/>
                <a:t>  if and only if</a:t>
              </a:r>
            </a:p>
            <a:p>
              <a:pPr lvl="2" eaLnBrk="1" hangingPunct="1">
                <a:spcBef>
                  <a:spcPct val="50000"/>
                </a:spcBef>
                <a:buFont typeface="Wingdings" pitchFamily="2" charset="2"/>
                <a:buAutoNum type="arabicPeriod"/>
              </a:pPr>
              <a:r>
                <a:rPr lang="en-US" sz="2000"/>
                <a:t>e</a:t>
              </a:r>
              <a:r>
                <a:rPr lang="en-US" sz="2000" baseline="-25000"/>
                <a:t>1</a:t>
              </a:r>
              <a:r>
                <a:rPr lang="en-US" sz="2000"/>
                <a:t> </a:t>
              </a:r>
              <a:r>
                <a:rPr lang="en-US" sz="2000">
                  <a:sym typeface="Symbol" pitchFamily="18" charset="2"/>
                </a:rPr>
                <a:t>=</a:t>
              </a:r>
              <a:r>
                <a:rPr lang="en-US" sz="2000"/>
                <a:t> e</a:t>
              </a:r>
              <a:r>
                <a:rPr lang="en-US" sz="2000" baseline="-25000"/>
                <a:t>2  </a:t>
              </a:r>
              <a:r>
                <a:rPr lang="en-US" sz="2000"/>
                <a:t>  , or</a:t>
              </a:r>
            </a:p>
            <a:p>
              <a:pPr lvl="2" eaLnBrk="1" hangingPunct="1">
                <a:spcBef>
                  <a:spcPct val="50000"/>
                </a:spcBef>
                <a:buFont typeface="Wingdings" pitchFamily="2" charset="2"/>
                <a:buAutoNum type="arabicPeriod"/>
              </a:pPr>
              <a:r>
                <a:rPr lang="en-US" sz="2000"/>
                <a:t>There is a simple cycle that contains e</a:t>
              </a:r>
              <a:r>
                <a:rPr lang="en-US" sz="2000" baseline="-25000"/>
                <a:t>1</a:t>
              </a:r>
              <a:r>
                <a:rPr lang="en-US" sz="2000"/>
                <a:t> </a:t>
              </a:r>
              <a:r>
                <a:rPr lang="en-US" sz="2000">
                  <a:sym typeface="Symbol" pitchFamily="18" charset="2"/>
                </a:rPr>
                <a:t>and</a:t>
              </a:r>
              <a:r>
                <a:rPr lang="en-US" sz="2000"/>
                <a:t> e</a:t>
              </a:r>
              <a:r>
                <a:rPr lang="en-US" sz="2000" baseline="-25000"/>
                <a:t>2 </a:t>
              </a:r>
              <a:r>
                <a:rPr lang="en-US" sz="2000"/>
                <a:t>.</a:t>
              </a:r>
            </a:p>
          </p:txBody>
        </p:sp>
        <p:sp>
          <p:nvSpPr>
            <p:cNvPr id="58374" name="Freeform 63"/>
            <p:cNvSpPr>
              <a:spLocks/>
            </p:cNvSpPr>
            <p:nvPr/>
          </p:nvSpPr>
          <p:spPr bwMode="auto">
            <a:xfrm>
              <a:off x="3936" y="705"/>
              <a:ext cx="2" cy="464"/>
            </a:xfrm>
            <a:custGeom>
              <a:avLst/>
              <a:gdLst>
                <a:gd name="T0" fmla="*/ 0 w 2"/>
                <a:gd name="T1" fmla="*/ 0 h 464"/>
                <a:gd name="T2" fmla="*/ 2 w 2"/>
                <a:gd name="T3" fmla="*/ 464 h 464"/>
                <a:gd name="T4" fmla="*/ 0 60000 65536"/>
                <a:gd name="T5" fmla="*/ 0 60000 65536"/>
              </a:gdLst>
              <a:ahLst/>
              <a:cxnLst>
                <a:cxn ang="T4">
                  <a:pos x="T0" y="T1"/>
                </a:cxn>
                <a:cxn ang="T5">
                  <a:pos x="T2" y="T3"/>
                </a:cxn>
              </a:cxnLst>
              <a:rect l="0" t="0" r="r" b="b"/>
              <a:pathLst>
                <a:path w="2" h="464">
                  <a:moveTo>
                    <a:pt x="0" y="0"/>
                  </a:moveTo>
                  <a:lnTo>
                    <a:pt x="2" y="464"/>
                  </a:lnTo>
                </a:path>
              </a:pathLst>
            </a:custGeom>
            <a:noFill/>
            <a:ln w="12700" cap="flat" cmpd="sng">
              <a:solidFill>
                <a:schemeClr val="tx1"/>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8375" name="Freeform 64"/>
            <p:cNvSpPr>
              <a:spLocks/>
            </p:cNvSpPr>
            <p:nvPr/>
          </p:nvSpPr>
          <p:spPr bwMode="auto">
            <a:xfrm>
              <a:off x="3168" y="672"/>
              <a:ext cx="768" cy="73"/>
            </a:xfrm>
            <a:custGeom>
              <a:avLst/>
              <a:gdLst>
                <a:gd name="T0" fmla="*/ 0 w 768"/>
                <a:gd name="T1" fmla="*/ 33 h 73"/>
                <a:gd name="T2" fmla="*/ 180 w 768"/>
                <a:gd name="T3" fmla="*/ 30 h 73"/>
                <a:gd name="T4" fmla="*/ 268 w 768"/>
                <a:gd name="T5" fmla="*/ 70 h 73"/>
                <a:gd name="T6" fmla="*/ 336 w 768"/>
                <a:gd name="T7" fmla="*/ 9 h 73"/>
                <a:gd name="T8" fmla="*/ 404 w 768"/>
                <a:gd name="T9" fmla="*/ 57 h 73"/>
                <a:gd name="T10" fmla="*/ 478 w 768"/>
                <a:gd name="T11" fmla="*/ 3 h 73"/>
                <a:gd name="T12" fmla="*/ 566 w 768"/>
                <a:gd name="T13" fmla="*/ 36 h 73"/>
                <a:gd name="T14" fmla="*/ 768 w 768"/>
                <a:gd name="T15" fmla="*/ 34 h 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68" h="73">
                  <a:moveTo>
                    <a:pt x="0" y="33"/>
                  </a:moveTo>
                  <a:lnTo>
                    <a:pt x="180" y="30"/>
                  </a:lnTo>
                  <a:cubicBezTo>
                    <a:pt x="225" y="36"/>
                    <a:pt x="242" y="73"/>
                    <a:pt x="268" y="70"/>
                  </a:cubicBezTo>
                  <a:cubicBezTo>
                    <a:pt x="294" y="67"/>
                    <a:pt x="313" y="11"/>
                    <a:pt x="336" y="9"/>
                  </a:cubicBezTo>
                  <a:cubicBezTo>
                    <a:pt x="359" y="7"/>
                    <a:pt x="380" y="58"/>
                    <a:pt x="404" y="57"/>
                  </a:cubicBezTo>
                  <a:cubicBezTo>
                    <a:pt x="428" y="56"/>
                    <a:pt x="451" y="6"/>
                    <a:pt x="478" y="3"/>
                  </a:cubicBezTo>
                  <a:cubicBezTo>
                    <a:pt x="505" y="0"/>
                    <a:pt x="518" y="31"/>
                    <a:pt x="566" y="36"/>
                  </a:cubicBezTo>
                  <a:lnTo>
                    <a:pt x="768" y="34"/>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8376" name="Freeform 67"/>
            <p:cNvSpPr>
              <a:spLocks/>
            </p:cNvSpPr>
            <p:nvPr/>
          </p:nvSpPr>
          <p:spPr bwMode="auto">
            <a:xfrm>
              <a:off x="3168" y="1137"/>
              <a:ext cx="768" cy="73"/>
            </a:xfrm>
            <a:custGeom>
              <a:avLst/>
              <a:gdLst>
                <a:gd name="T0" fmla="*/ 0 w 768"/>
                <a:gd name="T1" fmla="*/ 33 h 73"/>
                <a:gd name="T2" fmla="*/ 180 w 768"/>
                <a:gd name="T3" fmla="*/ 30 h 73"/>
                <a:gd name="T4" fmla="*/ 268 w 768"/>
                <a:gd name="T5" fmla="*/ 70 h 73"/>
                <a:gd name="T6" fmla="*/ 336 w 768"/>
                <a:gd name="T7" fmla="*/ 9 h 73"/>
                <a:gd name="T8" fmla="*/ 404 w 768"/>
                <a:gd name="T9" fmla="*/ 57 h 73"/>
                <a:gd name="T10" fmla="*/ 478 w 768"/>
                <a:gd name="T11" fmla="*/ 3 h 73"/>
                <a:gd name="T12" fmla="*/ 566 w 768"/>
                <a:gd name="T13" fmla="*/ 36 h 73"/>
                <a:gd name="T14" fmla="*/ 768 w 768"/>
                <a:gd name="T15" fmla="*/ 34 h 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68" h="73">
                  <a:moveTo>
                    <a:pt x="0" y="33"/>
                  </a:moveTo>
                  <a:lnTo>
                    <a:pt x="180" y="30"/>
                  </a:lnTo>
                  <a:cubicBezTo>
                    <a:pt x="225" y="36"/>
                    <a:pt x="242" y="73"/>
                    <a:pt x="268" y="70"/>
                  </a:cubicBezTo>
                  <a:cubicBezTo>
                    <a:pt x="294" y="67"/>
                    <a:pt x="313" y="11"/>
                    <a:pt x="336" y="9"/>
                  </a:cubicBezTo>
                  <a:cubicBezTo>
                    <a:pt x="359" y="7"/>
                    <a:pt x="380" y="58"/>
                    <a:pt x="404" y="57"/>
                  </a:cubicBezTo>
                  <a:cubicBezTo>
                    <a:pt x="428" y="56"/>
                    <a:pt x="451" y="6"/>
                    <a:pt x="478" y="3"/>
                  </a:cubicBezTo>
                  <a:cubicBezTo>
                    <a:pt x="505" y="0"/>
                    <a:pt x="518" y="31"/>
                    <a:pt x="566" y="36"/>
                  </a:cubicBezTo>
                  <a:lnTo>
                    <a:pt x="768" y="34"/>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8377" name="Rectangle 68"/>
            <p:cNvSpPr>
              <a:spLocks noChangeArrowheads="1"/>
            </p:cNvSpPr>
            <p:nvPr/>
          </p:nvSpPr>
          <p:spPr bwMode="auto">
            <a:xfrm>
              <a:off x="2976" y="801"/>
              <a:ext cx="239"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2000"/>
                <a:t>e</a:t>
              </a:r>
              <a:r>
                <a:rPr lang="en-US" sz="2000" baseline="-25000"/>
                <a:t>1</a:t>
              </a:r>
            </a:p>
          </p:txBody>
        </p:sp>
        <p:sp>
          <p:nvSpPr>
            <p:cNvPr id="58378" name="Rectangle 69"/>
            <p:cNvSpPr>
              <a:spLocks noChangeArrowheads="1"/>
            </p:cNvSpPr>
            <p:nvPr/>
          </p:nvSpPr>
          <p:spPr bwMode="auto">
            <a:xfrm>
              <a:off x="3936" y="801"/>
              <a:ext cx="239"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2000"/>
                <a:t>e</a:t>
              </a:r>
              <a:r>
                <a:rPr lang="en-US" sz="2000" baseline="-25000"/>
                <a:t>2</a:t>
              </a:r>
            </a:p>
          </p:txBody>
        </p:sp>
        <p:sp>
          <p:nvSpPr>
            <p:cNvPr id="58379" name="AutoShape 74"/>
            <p:cNvSpPr>
              <a:spLocks/>
            </p:cNvSpPr>
            <p:nvPr/>
          </p:nvSpPr>
          <p:spPr bwMode="auto">
            <a:xfrm>
              <a:off x="4320" y="528"/>
              <a:ext cx="96" cy="1056"/>
            </a:xfrm>
            <a:prstGeom prst="rightBrace">
              <a:avLst>
                <a:gd name="adj1" fmla="val 91667"/>
                <a:gd name="adj2" fmla="val 50000"/>
              </a:avLst>
            </a:prstGeom>
            <a:noFill/>
            <a:ln w="127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58380" name="Text Box 75"/>
            <p:cNvSpPr txBox="1">
              <a:spLocks noChangeArrowheads="1"/>
            </p:cNvSpPr>
            <p:nvPr/>
          </p:nvSpPr>
          <p:spPr bwMode="auto">
            <a:xfrm>
              <a:off x="4464" y="720"/>
              <a:ext cx="789" cy="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None/>
              </a:pPr>
              <a:r>
                <a:rPr lang="en-US" sz="2000">
                  <a:solidFill>
                    <a:srgbClr val="CC0000"/>
                  </a:solidFill>
                </a:rPr>
                <a:t>reflexive</a:t>
              </a:r>
              <a:br>
                <a:rPr lang="en-US" sz="2000">
                  <a:solidFill>
                    <a:srgbClr val="CC0000"/>
                  </a:solidFill>
                </a:rPr>
              </a:br>
              <a:r>
                <a:rPr lang="en-US" sz="2000">
                  <a:solidFill>
                    <a:srgbClr val="CC0000"/>
                  </a:solidFill>
                </a:rPr>
                <a:t>symmetric</a:t>
              </a:r>
              <a:br>
                <a:rPr lang="en-US" sz="2000">
                  <a:solidFill>
                    <a:srgbClr val="CC0000"/>
                  </a:solidFill>
                </a:rPr>
              </a:br>
              <a:r>
                <a:rPr lang="en-US" sz="2000">
                  <a:solidFill>
                    <a:srgbClr val="CC0000"/>
                  </a:solidFill>
                </a:rPr>
                <a:t>transitive</a:t>
              </a:r>
            </a:p>
          </p:txBody>
        </p:sp>
        <p:sp>
          <p:nvSpPr>
            <p:cNvPr id="58381" name="Line 77"/>
            <p:cNvSpPr>
              <a:spLocks noChangeShapeType="1"/>
            </p:cNvSpPr>
            <p:nvPr/>
          </p:nvSpPr>
          <p:spPr bwMode="auto">
            <a:xfrm>
              <a:off x="3168" y="720"/>
              <a:ext cx="0" cy="43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56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92866"/>
                                        </p:tgtEl>
                                        <p:attrNameLst>
                                          <p:attrName>style.visibility</p:attrName>
                                        </p:attrNameLst>
                                      </p:cBhvr>
                                      <p:to>
                                        <p:strVal val="visible"/>
                                      </p:to>
                                    </p:set>
                                    <p:anim calcmode="lin" valueType="num">
                                      <p:cBhvr>
                                        <p:cTn id="7" dur="500" fill="hold"/>
                                        <p:tgtEl>
                                          <p:spTgt spid="292866"/>
                                        </p:tgtEl>
                                        <p:attrNameLst>
                                          <p:attrName>ppt_w</p:attrName>
                                        </p:attrNameLst>
                                      </p:cBhvr>
                                      <p:tavLst>
                                        <p:tav tm="0">
                                          <p:val>
                                            <p:fltVal val="0"/>
                                          </p:val>
                                        </p:tav>
                                        <p:tav tm="100000">
                                          <p:val>
                                            <p:strVal val="#ppt_w"/>
                                          </p:val>
                                        </p:tav>
                                      </p:tavLst>
                                    </p:anim>
                                    <p:anim calcmode="lin" valueType="num">
                                      <p:cBhvr>
                                        <p:cTn id="8" dur="500" fill="hold"/>
                                        <p:tgtEl>
                                          <p:spTgt spid="29286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92942"/>
                                        </p:tgtEl>
                                        <p:attrNameLst>
                                          <p:attrName>style.visibility</p:attrName>
                                        </p:attrNameLst>
                                      </p:cBhvr>
                                      <p:to>
                                        <p:strVal val="visible"/>
                                      </p:to>
                                    </p:set>
                                    <p:animEffect transition="in" filter="wipe(left)">
                                      <p:cBhvr>
                                        <p:cTn id="13" dur="500"/>
                                        <p:tgtEl>
                                          <p:spTgt spid="29294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92935">
                                            <p:txEl>
                                              <p:pRg st="0" end="0"/>
                                            </p:txEl>
                                          </p:spTgt>
                                        </p:tgtEl>
                                        <p:attrNameLst>
                                          <p:attrName>style.visibility</p:attrName>
                                        </p:attrNameLst>
                                      </p:cBhvr>
                                      <p:to>
                                        <p:strVal val="visible"/>
                                      </p:to>
                                    </p:set>
                                    <p:animEffect transition="in" filter="wipe(left)">
                                      <p:cBhvr>
                                        <p:cTn id="18" dur="500"/>
                                        <p:tgtEl>
                                          <p:spTgt spid="292935">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92935">
                                            <p:txEl>
                                              <p:pRg st="1" end="1"/>
                                            </p:txEl>
                                          </p:spTgt>
                                        </p:tgtEl>
                                        <p:attrNameLst>
                                          <p:attrName>style.visibility</p:attrName>
                                        </p:attrNameLst>
                                      </p:cBhvr>
                                      <p:to>
                                        <p:strVal val="visible"/>
                                      </p:to>
                                    </p:set>
                                    <p:animEffect transition="in" filter="wipe(left)">
                                      <p:cBhvr>
                                        <p:cTn id="23" dur="500"/>
                                        <p:tgtEl>
                                          <p:spTgt spid="292935">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92935">
                                            <p:txEl>
                                              <p:pRg st="2" end="2"/>
                                            </p:txEl>
                                          </p:spTgt>
                                        </p:tgtEl>
                                        <p:attrNameLst>
                                          <p:attrName>style.visibility</p:attrName>
                                        </p:attrNameLst>
                                      </p:cBhvr>
                                      <p:to>
                                        <p:strVal val="visible"/>
                                      </p:to>
                                    </p:set>
                                    <p:animEffect transition="in" filter="wipe(left)">
                                      <p:cBhvr>
                                        <p:cTn id="28" dur="500"/>
                                        <p:tgtEl>
                                          <p:spTgt spid="2929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6" grpId="0" animBg="1" autoUpdateAnimBg="0"/>
      <p:bldP spid="292935"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Example</a:t>
            </a:r>
          </a:p>
        </p:txBody>
      </p:sp>
      <p:grpSp>
        <p:nvGrpSpPr>
          <p:cNvPr id="59395" name="Group 141"/>
          <p:cNvGrpSpPr>
            <a:grpSpLocks/>
          </p:cNvGrpSpPr>
          <p:nvPr/>
        </p:nvGrpSpPr>
        <p:grpSpPr bwMode="auto">
          <a:xfrm>
            <a:off x="1447800" y="838200"/>
            <a:ext cx="5943600" cy="2743200"/>
            <a:chOff x="816" y="480"/>
            <a:chExt cx="3744" cy="1728"/>
          </a:xfrm>
        </p:grpSpPr>
        <p:grpSp>
          <p:nvGrpSpPr>
            <p:cNvPr id="59446" name="Group 138"/>
            <p:cNvGrpSpPr>
              <a:grpSpLocks/>
            </p:cNvGrpSpPr>
            <p:nvPr/>
          </p:nvGrpSpPr>
          <p:grpSpPr bwMode="auto">
            <a:xfrm>
              <a:off x="1440" y="480"/>
              <a:ext cx="2480" cy="1579"/>
              <a:chOff x="204" y="480"/>
              <a:chExt cx="2480" cy="1579"/>
            </a:xfrm>
          </p:grpSpPr>
          <p:sp>
            <p:nvSpPr>
              <p:cNvPr id="59448" name="Line 27"/>
              <p:cNvSpPr>
                <a:spLocks noChangeShapeType="1"/>
              </p:cNvSpPr>
              <p:nvPr/>
            </p:nvSpPr>
            <p:spPr bwMode="auto">
              <a:xfrm>
                <a:off x="864" y="672"/>
                <a:ext cx="0" cy="384"/>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49" name="Line 28"/>
              <p:cNvSpPr>
                <a:spLocks noChangeShapeType="1"/>
              </p:cNvSpPr>
              <p:nvPr/>
            </p:nvSpPr>
            <p:spPr bwMode="auto">
              <a:xfrm flipH="1">
                <a:off x="432" y="1056"/>
                <a:ext cx="432"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50" name="Line 29"/>
              <p:cNvSpPr>
                <a:spLocks noChangeShapeType="1"/>
              </p:cNvSpPr>
              <p:nvPr/>
            </p:nvSpPr>
            <p:spPr bwMode="auto">
              <a:xfrm flipV="1">
                <a:off x="432" y="672"/>
                <a:ext cx="432" cy="384"/>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51" name="Line 30"/>
              <p:cNvSpPr>
                <a:spLocks noChangeShapeType="1"/>
              </p:cNvSpPr>
              <p:nvPr/>
            </p:nvSpPr>
            <p:spPr bwMode="auto">
              <a:xfrm>
                <a:off x="864" y="672"/>
                <a:ext cx="432" cy="384"/>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52" name="Line 31"/>
              <p:cNvSpPr>
                <a:spLocks noChangeShapeType="1"/>
              </p:cNvSpPr>
              <p:nvPr/>
            </p:nvSpPr>
            <p:spPr bwMode="auto">
              <a:xfrm flipH="1">
                <a:off x="864" y="1056"/>
                <a:ext cx="432" cy="384"/>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53" name="Line 32"/>
              <p:cNvSpPr>
                <a:spLocks noChangeShapeType="1"/>
              </p:cNvSpPr>
              <p:nvPr/>
            </p:nvSpPr>
            <p:spPr bwMode="auto">
              <a:xfrm flipV="1">
                <a:off x="864" y="1056"/>
                <a:ext cx="0" cy="384"/>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54" name="Line 33"/>
              <p:cNvSpPr>
                <a:spLocks noChangeShapeType="1"/>
              </p:cNvSpPr>
              <p:nvPr/>
            </p:nvSpPr>
            <p:spPr bwMode="auto">
              <a:xfrm>
                <a:off x="432" y="1056"/>
                <a:ext cx="432" cy="384"/>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55" name="Line 34"/>
              <p:cNvSpPr>
                <a:spLocks noChangeShapeType="1"/>
              </p:cNvSpPr>
              <p:nvPr/>
            </p:nvSpPr>
            <p:spPr bwMode="auto">
              <a:xfrm flipH="1">
                <a:off x="384" y="1440"/>
                <a:ext cx="480"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56" name="Line 35"/>
              <p:cNvSpPr>
                <a:spLocks noChangeShapeType="1"/>
              </p:cNvSpPr>
              <p:nvPr/>
            </p:nvSpPr>
            <p:spPr bwMode="auto">
              <a:xfrm>
                <a:off x="384" y="1440"/>
                <a:ext cx="0" cy="52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57" name="Line 36"/>
              <p:cNvSpPr>
                <a:spLocks noChangeShapeType="1"/>
              </p:cNvSpPr>
              <p:nvPr/>
            </p:nvSpPr>
            <p:spPr bwMode="auto">
              <a:xfrm flipV="1">
                <a:off x="384" y="1440"/>
                <a:ext cx="480" cy="52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58" name="Line 37"/>
              <p:cNvSpPr>
                <a:spLocks noChangeShapeType="1"/>
              </p:cNvSpPr>
              <p:nvPr/>
            </p:nvSpPr>
            <p:spPr bwMode="auto">
              <a:xfrm>
                <a:off x="864" y="1440"/>
                <a:ext cx="432"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59" name="Line 38"/>
              <p:cNvSpPr>
                <a:spLocks noChangeShapeType="1"/>
              </p:cNvSpPr>
              <p:nvPr/>
            </p:nvSpPr>
            <p:spPr bwMode="auto">
              <a:xfrm>
                <a:off x="1296" y="1440"/>
                <a:ext cx="0" cy="57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60" name="Line 39"/>
              <p:cNvSpPr>
                <a:spLocks noChangeShapeType="1"/>
              </p:cNvSpPr>
              <p:nvPr/>
            </p:nvSpPr>
            <p:spPr bwMode="auto">
              <a:xfrm flipH="1" flipV="1">
                <a:off x="864" y="1440"/>
                <a:ext cx="432" cy="57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61" name="Line 44"/>
              <p:cNvSpPr>
                <a:spLocks noChangeShapeType="1"/>
              </p:cNvSpPr>
              <p:nvPr/>
            </p:nvSpPr>
            <p:spPr bwMode="auto">
              <a:xfrm>
                <a:off x="1296" y="1056"/>
                <a:ext cx="528"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62" name="Line 45"/>
              <p:cNvSpPr>
                <a:spLocks noChangeShapeType="1"/>
              </p:cNvSpPr>
              <p:nvPr/>
            </p:nvSpPr>
            <p:spPr bwMode="auto">
              <a:xfrm flipV="1">
                <a:off x="1824" y="624"/>
                <a:ext cx="336" cy="43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63" name="Line 46"/>
              <p:cNvSpPr>
                <a:spLocks noChangeShapeType="1"/>
              </p:cNvSpPr>
              <p:nvPr/>
            </p:nvSpPr>
            <p:spPr bwMode="auto">
              <a:xfrm>
                <a:off x="2160" y="624"/>
                <a:ext cx="336" cy="43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64" name="Line 47"/>
              <p:cNvSpPr>
                <a:spLocks noChangeShapeType="1"/>
              </p:cNvSpPr>
              <p:nvPr/>
            </p:nvSpPr>
            <p:spPr bwMode="auto">
              <a:xfrm flipH="1">
                <a:off x="2160" y="1056"/>
                <a:ext cx="336" cy="43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65" name="Line 48"/>
              <p:cNvSpPr>
                <a:spLocks noChangeShapeType="1"/>
              </p:cNvSpPr>
              <p:nvPr/>
            </p:nvSpPr>
            <p:spPr bwMode="auto">
              <a:xfrm flipH="1" flipV="1">
                <a:off x="1824" y="1056"/>
                <a:ext cx="336" cy="43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66" name="Line 49"/>
              <p:cNvSpPr>
                <a:spLocks noChangeShapeType="1"/>
              </p:cNvSpPr>
              <p:nvPr/>
            </p:nvSpPr>
            <p:spPr bwMode="auto">
              <a:xfrm>
                <a:off x="1824" y="1056"/>
                <a:ext cx="672"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67" name="Line 50"/>
              <p:cNvSpPr>
                <a:spLocks noChangeShapeType="1"/>
              </p:cNvSpPr>
              <p:nvPr/>
            </p:nvSpPr>
            <p:spPr bwMode="auto">
              <a:xfrm>
                <a:off x="2160" y="1488"/>
                <a:ext cx="336" cy="52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68" name="Line 51"/>
              <p:cNvSpPr>
                <a:spLocks noChangeShapeType="1"/>
              </p:cNvSpPr>
              <p:nvPr/>
            </p:nvSpPr>
            <p:spPr bwMode="auto">
              <a:xfrm flipH="1">
                <a:off x="1824" y="2016"/>
                <a:ext cx="672"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69" name="Line 52"/>
              <p:cNvSpPr>
                <a:spLocks noChangeShapeType="1"/>
              </p:cNvSpPr>
              <p:nvPr/>
            </p:nvSpPr>
            <p:spPr bwMode="auto">
              <a:xfrm flipV="1">
                <a:off x="1824" y="1488"/>
                <a:ext cx="336" cy="52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70" name="Text Box 71"/>
              <p:cNvSpPr txBox="1">
                <a:spLocks noChangeArrowheads="1"/>
              </p:cNvSpPr>
              <p:nvPr/>
            </p:nvSpPr>
            <p:spPr bwMode="auto">
              <a:xfrm>
                <a:off x="624" y="480"/>
                <a:ext cx="18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a</a:t>
                </a:r>
              </a:p>
            </p:txBody>
          </p:sp>
          <p:sp>
            <p:nvSpPr>
              <p:cNvPr id="59471" name="Text Box 72"/>
              <p:cNvSpPr txBox="1">
                <a:spLocks noChangeArrowheads="1"/>
              </p:cNvSpPr>
              <p:nvPr/>
            </p:nvSpPr>
            <p:spPr bwMode="auto">
              <a:xfrm>
                <a:off x="288" y="816"/>
                <a:ext cx="18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c</a:t>
                </a:r>
              </a:p>
            </p:txBody>
          </p:sp>
          <p:sp>
            <p:nvSpPr>
              <p:cNvPr id="59472" name="Text Box 73"/>
              <p:cNvSpPr txBox="1">
                <a:spLocks noChangeArrowheads="1"/>
              </p:cNvSpPr>
              <p:nvPr/>
            </p:nvSpPr>
            <p:spPr bwMode="auto">
              <a:xfrm>
                <a:off x="864" y="912"/>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d</a:t>
                </a:r>
              </a:p>
            </p:txBody>
          </p:sp>
          <p:sp>
            <p:nvSpPr>
              <p:cNvPr id="59473" name="Text Box 74"/>
              <p:cNvSpPr txBox="1">
                <a:spLocks noChangeArrowheads="1"/>
              </p:cNvSpPr>
              <p:nvPr/>
            </p:nvSpPr>
            <p:spPr bwMode="auto">
              <a:xfrm>
                <a:off x="1200" y="816"/>
                <a:ext cx="18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e</a:t>
                </a:r>
              </a:p>
            </p:txBody>
          </p:sp>
          <p:sp>
            <p:nvSpPr>
              <p:cNvPr id="59474" name="Text Box 75"/>
              <p:cNvSpPr txBox="1">
                <a:spLocks noChangeArrowheads="1"/>
              </p:cNvSpPr>
              <p:nvPr/>
            </p:nvSpPr>
            <p:spPr bwMode="auto">
              <a:xfrm>
                <a:off x="780" y="1440"/>
                <a:ext cx="156"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i</a:t>
                </a:r>
              </a:p>
            </p:txBody>
          </p:sp>
          <p:sp>
            <p:nvSpPr>
              <p:cNvPr id="59475" name="Text Box 76"/>
              <p:cNvSpPr txBox="1">
                <a:spLocks noChangeArrowheads="1"/>
              </p:cNvSpPr>
              <p:nvPr/>
            </p:nvSpPr>
            <p:spPr bwMode="auto">
              <a:xfrm>
                <a:off x="236" y="1296"/>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h</a:t>
                </a:r>
              </a:p>
            </p:txBody>
          </p:sp>
          <p:sp>
            <p:nvSpPr>
              <p:cNvPr id="59476" name="Text Box 77"/>
              <p:cNvSpPr txBox="1">
                <a:spLocks noChangeArrowheads="1"/>
              </p:cNvSpPr>
              <p:nvPr/>
            </p:nvSpPr>
            <p:spPr bwMode="auto">
              <a:xfrm>
                <a:off x="204" y="1776"/>
                <a:ext cx="156"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l</a:t>
                </a:r>
              </a:p>
            </p:txBody>
          </p:sp>
          <p:sp>
            <p:nvSpPr>
              <p:cNvPr id="59477" name="Text Box 78"/>
              <p:cNvSpPr txBox="1">
                <a:spLocks noChangeArrowheads="1"/>
              </p:cNvSpPr>
              <p:nvPr/>
            </p:nvSpPr>
            <p:spPr bwMode="auto">
              <a:xfrm>
                <a:off x="1308" y="1344"/>
                <a:ext cx="156"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j</a:t>
                </a:r>
              </a:p>
            </p:txBody>
          </p:sp>
          <p:sp>
            <p:nvSpPr>
              <p:cNvPr id="59478" name="Text Box 79"/>
              <p:cNvSpPr txBox="1">
                <a:spLocks noChangeArrowheads="1"/>
              </p:cNvSpPr>
              <p:nvPr/>
            </p:nvSpPr>
            <p:spPr bwMode="auto">
              <a:xfrm>
                <a:off x="1272" y="1824"/>
                <a:ext cx="22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m</a:t>
                </a:r>
              </a:p>
            </p:txBody>
          </p:sp>
          <p:sp>
            <p:nvSpPr>
              <p:cNvPr id="59479" name="Text Box 80"/>
              <p:cNvSpPr txBox="1">
                <a:spLocks noChangeArrowheads="1"/>
              </p:cNvSpPr>
              <p:nvPr/>
            </p:nvSpPr>
            <p:spPr bwMode="auto">
              <a:xfrm>
                <a:off x="1688" y="816"/>
                <a:ext cx="164"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f</a:t>
                </a:r>
              </a:p>
            </p:txBody>
          </p:sp>
          <p:sp>
            <p:nvSpPr>
              <p:cNvPr id="59480" name="Text Box 81"/>
              <p:cNvSpPr txBox="1">
                <a:spLocks noChangeArrowheads="1"/>
              </p:cNvSpPr>
              <p:nvPr/>
            </p:nvSpPr>
            <p:spPr bwMode="auto">
              <a:xfrm>
                <a:off x="2204" y="528"/>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b</a:t>
                </a:r>
              </a:p>
            </p:txBody>
          </p:sp>
          <p:sp>
            <p:nvSpPr>
              <p:cNvPr id="59481" name="Text Box 82"/>
              <p:cNvSpPr txBox="1">
                <a:spLocks noChangeArrowheads="1"/>
              </p:cNvSpPr>
              <p:nvPr/>
            </p:nvSpPr>
            <p:spPr bwMode="auto">
              <a:xfrm>
                <a:off x="2496" y="912"/>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g</a:t>
                </a:r>
              </a:p>
            </p:txBody>
          </p:sp>
          <p:sp>
            <p:nvSpPr>
              <p:cNvPr id="59482" name="Text Box 83"/>
              <p:cNvSpPr txBox="1">
                <a:spLocks noChangeArrowheads="1"/>
              </p:cNvSpPr>
              <p:nvPr/>
            </p:nvSpPr>
            <p:spPr bwMode="auto">
              <a:xfrm>
                <a:off x="1964" y="1344"/>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k</a:t>
                </a:r>
              </a:p>
            </p:txBody>
          </p:sp>
          <p:sp>
            <p:nvSpPr>
              <p:cNvPr id="59483" name="Text Box 84"/>
              <p:cNvSpPr txBox="1">
                <a:spLocks noChangeArrowheads="1"/>
              </p:cNvSpPr>
              <p:nvPr/>
            </p:nvSpPr>
            <p:spPr bwMode="auto">
              <a:xfrm>
                <a:off x="1676" y="1776"/>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n</a:t>
                </a:r>
              </a:p>
            </p:txBody>
          </p:sp>
          <p:sp>
            <p:nvSpPr>
              <p:cNvPr id="59484" name="Text Box 85"/>
              <p:cNvSpPr txBox="1">
                <a:spLocks noChangeArrowheads="1"/>
              </p:cNvSpPr>
              <p:nvPr/>
            </p:nvSpPr>
            <p:spPr bwMode="auto">
              <a:xfrm>
                <a:off x="2444" y="1776"/>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o</a:t>
                </a:r>
              </a:p>
            </p:txBody>
          </p:sp>
        </p:grpSp>
        <p:sp>
          <p:nvSpPr>
            <p:cNvPr id="59447" name="Rectangle 139"/>
            <p:cNvSpPr>
              <a:spLocks noChangeArrowheads="1"/>
            </p:cNvSpPr>
            <p:nvPr/>
          </p:nvSpPr>
          <p:spPr bwMode="auto">
            <a:xfrm>
              <a:off x="816" y="480"/>
              <a:ext cx="3744" cy="1728"/>
            </a:xfrm>
            <a:prstGeom prst="rect">
              <a:avLst/>
            </a:prstGeom>
            <a:noFill/>
            <a:ln w="127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chemeClr val="accent1"/>
                  </a:solidFill>
                </a14:hiddenFill>
              </a:ext>
            </a:extLst>
          </p:spPr>
          <p:txBody>
            <a:bodyPr bIns="10800" anchor="ctr">
              <a:spAutoFit/>
            </a:bodyPr>
            <a:lstStyle/>
            <a:p>
              <a:endParaRPr lang="en-CA"/>
            </a:p>
          </p:txBody>
        </p:sp>
      </p:grpSp>
      <p:grpSp>
        <p:nvGrpSpPr>
          <p:cNvPr id="59396" name="Group 142"/>
          <p:cNvGrpSpPr>
            <a:grpSpLocks/>
          </p:cNvGrpSpPr>
          <p:nvPr/>
        </p:nvGrpSpPr>
        <p:grpSpPr bwMode="auto">
          <a:xfrm>
            <a:off x="1435100" y="3657600"/>
            <a:ext cx="5956300" cy="3048000"/>
            <a:chOff x="808" y="2304"/>
            <a:chExt cx="3752" cy="1920"/>
          </a:xfrm>
        </p:grpSpPr>
        <p:grpSp>
          <p:nvGrpSpPr>
            <p:cNvPr id="59397" name="Group 102"/>
            <p:cNvGrpSpPr>
              <a:grpSpLocks/>
            </p:cNvGrpSpPr>
            <p:nvPr/>
          </p:nvGrpSpPr>
          <p:grpSpPr bwMode="auto">
            <a:xfrm>
              <a:off x="1096" y="2304"/>
              <a:ext cx="1092" cy="1195"/>
              <a:chOff x="336" y="2016"/>
              <a:chExt cx="1092" cy="1195"/>
            </a:xfrm>
          </p:grpSpPr>
          <p:sp>
            <p:nvSpPr>
              <p:cNvPr id="59434" name="Line 86"/>
              <p:cNvSpPr>
                <a:spLocks noChangeShapeType="1"/>
              </p:cNvSpPr>
              <p:nvPr/>
            </p:nvSpPr>
            <p:spPr bwMode="auto">
              <a:xfrm>
                <a:off x="912" y="2208"/>
                <a:ext cx="0" cy="384"/>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35" name="Line 87"/>
              <p:cNvSpPr>
                <a:spLocks noChangeShapeType="1"/>
              </p:cNvSpPr>
              <p:nvPr/>
            </p:nvSpPr>
            <p:spPr bwMode="auto">
              <a:xfrm flipH="1">
                <a:off x="480" y="2592"/>
                <a:ext cx="432"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36" name="Line 88"/>
              <p:cNvSpPr>
                <a:spLocks noChangeShapeType="1"/>
              </p:cNvSpPr>
              <p:nvPr/>
            </p:nvSpPr>
            <p:spPr bwMode="auto">
              <a:xfrm flipV="1">
                <a:off x="480" y="2208"/>
                <a:ext cx="432" cy="384"/>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37" name="Line 89"/>
              <p:cNvSpPr>
                <a:spLocks noChangeShapeType="1"/>
              </p:cNvSpPr>
              <p:nvPr/>
            </p:nvSpPr>
            <p:spPr bwMode="auto">
              <a:xfrm>
                <a:off x="912" y="2208"/>
                <a:ext cx="432" cy="384"/>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38" name="Line 90"/>
              <p:cNvSpPr>
                <a:spLocks noChangeShapeType="1"/>
              </p:cNvSpPr>
              <p:nvPr/>
            </p:nvSpPr>
            <p:spPr bwMode="auto">
              <a:xfrm flipH="1">
                <a:off x="912" y="2592"/>
                <a:ext cx="432" cy="384"/>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39" name="Line 91"/>
              <p:cNvSpPr>
                <a:spLocks noChangeShapeType="1"/>
              </p:cNvSpPr>
              <p:nvPr/>
            </p:nvSpPr>
            <p:spPr bwMode="auto">
              <a:xfrm flipV="1">
                <a:off x="912" y="2592"/>
                <a:ext cx="0" cy="384"/>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40" name="Line 92"/>
              <p:cNvSpPr>
                <a:spLocks noChangeShapeType="1"/>
              </p:cNvSpPr>
              <p:nvPr/>
            </p:nvSpPr>
            <p:spPr bwMode="auto">
              <a:xfrm>
                <a:off x="480" y="2592"/>
                <a:ext cx="432" cy="384"/>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41" name="Text Box 95"/>
              <p:cNvSpPr txBox="1">
                <a:spLocks noChangeArrowheads="1"/>
              </p:cNvSpPr>
              <p:nvPr/>
            </p:nvSpPr>
            <p:spPr bwMode="auto">
              <a:xfrm>
                <a:off x="336" y="2352"/>
                <a:ext cx="18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c</a:t>
                </a:r>
              </a:p>
            </p:txBody>
          </p:sp>
          <p:sp>
            <p:nvSpPr>
              <p:cNvPr id="59442" name="Text Box 96"/>
              <p:cNvSpPr txBox="1">
                <a:spLocks noChangeArrowheads="1"/>
              </p:cNvSpPr>
              <p:nvPr/>
            </p:nvSpPr>
            <p:spPr bwMode="auto">
              <a:xfrm>
                <a:off x="912" y="2448"/>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d</a:t>
                </a:r>
              </a:p>
            </p:txBody>
          </p:sp>
          <p:sp>
            <p:nvSpPr>
              <p:cNvPr id="59443" name="Text Box 97"/>
              <p:cNvSpPr txBox="1">
                <a:spLocks noChangeArrowheads="1"/>
              </p:cNvSpPr>
              <p:nvPr/>
            </p:nvSpPr>
            <p:spPr bwMode="auto">
              <a:xfrm>
                <a:off x="1248" y="2352"/>
                <a:ext cx="18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e</a:t>
                </a:r>
              </a:p>
            </p:txBody>
          </p:sp>
          <p:sp>
            <p:nvSpPr>
              <p:cNvPr id="59444" name="Text Box 98"/>
              <p:cNvSpPr txBox="1">
                <a:spLocks noChangeArrowheads="1"/>
              </p:cNvSpPr>
              <p:nvPr/>
            </p:nvSpPr>
            <p:spPr bwMode="auto">
              <a:xfrm>
                <a:off x="828" y="2976"/>
                <a:ext cx="156"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i</a:t>
                </a:r>
              </a:p>
            </p:txBody>
          </p:sp>
          <p:sp>
            <p:nvSpPr>
              <p:cNvPr id="59445" name="Text Box 101"/>
              <p:cNvSpPr txBox="1">
                <a:spLocks noChangeArrowheads="1"/>
              </p:cNvSpPr>
              <p:nvPr/>
            </p:nvSpPr>
            <p:spPr bwMode="auto">
              <a:xfrm>
                <a:off x="720" y="2016"/>
                <a:ext cx="18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a</a:t>
                </a:r>
              </a:p>
            </p:txBody>
          </p:sp>
        </p:grpSp>
        <p:grpSp>
          <p:nvGrpSpPr>
            <p:cNvPr id="59398" name="Group 109"/>
            <p:cNvGrpSpPr>
              <a:grpSpLocks/>
            </p:cNvGrpSpPr>
            <p:nvPr/>
          </p:nvGrpSpPr>
          <p:grpSpPr bwMode="auto">
            <a:xfrm>
              <a:off x="808" y="3408"/>
              <a:ext cx="732" cy="715"/>
              <a:chOff x="204" y="3120"/>
              <a:chExt cx="732" cy="715"/>
            </a:xfrm>
          </p:grpSpPr>
          <p:sp>
            <p:nvSpPr>
              <p:cNvPr id="59428" name="Line 103"/>
              <p:cNvSpPr>
                <a:spLocks noChangeShapeType="1"/>
              </p:cNvSpPr>
              <p:nvPr/>
            </p:nvSpPr>
            <p:spPr bwMode="auto">
              <a:xfrm flipH="1">
                <a:off x="384" y="3264"/>
                <a:ext cx="480"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29" name="Line 104"/>
              <p:cNvSpPr>
                <a:spLocks noChangeShapeType="1"/>
              </p:cNvSpPr>
              <p:nvPr/>
            </p:nvSpPr>
            <p:spPr bwMode="auto">
              <a:xfrm>
                <a:off x="384" y="3264"/>
                <a:ext cx="0" cy="52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30" name="Line 105"/>
              <p:cNvSpPr>
                <a:spLocks noChangeShapeType="1"/>
              </p:cNvSpPr>
              <p:nvPr/>
            </p:nvSpPr>
            <p:spPr bwMode="auto">
              <a:xfrm flipV="1">
                <a:off x="384" y="3264"/>
                <a:ext cx="480" cy="52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31" name="Text Box 106"/>
              <p:cNvSpPr txBox="1">
                <a:spLocks noChangeArrowheads="1"/>
              </p:cNvSpPr>
              <p:nvPr/>
            </p:nvSpPr>
            <p:spPr bwMode="auto">
              <a:xfrm>
                <a:off x="780" y="3264"/>
                <a:ext cx="156"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i</a:t>
                </a:r>
              </a:p>
            </p:txBody>
          </p:sp>
          <p:sp>
            <p:nvSpPr>
              <p:cNvPr id="59432" name="Text Box 107"/>
              <p:cNvSpPr txBox="1">
                <a:spLocks noChangeArrowheads="1"/>
              </p:cNvSpPr>
              <p:nvPr/>
            </p:nvSpPr>
            <p:spPr bwMode="auto">
              <a:xfrm>
                <a:off x="236" y="3120"/>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h</a:t>
                </a:r>
              </a:p>
            </p:txBody>
          </p:sp>
          <p:sp>
            <p:nvSpPr>
              <p:cNvPr id="59433" name="Text Box 108"/>
              <p:cNvSpPr txBox="1">
                <a:spLocks noChangeArrowheads="1"/>
              </p:cNvSpPr>
              <p:nvPr/>
            </p:nvSpPr>
            <p:spPr bwMode="auto">
              <a:xfrm>
                <a:off x="204" y="3600"/>
                <a:ext cx="156"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l</a:t>
                </a:r>
              </a:p>
            </p:txBody>
          </p:sp>
        </p:grpSp>
        <p:grpSp>
          <p:nvGrpSpPr>
            <p:cNvPr id="59399" name="Group 116"/>
            <p:cNvGrpSpPr>
              <a:grpSpLocks/>
            </p:cNvGrpSpPr>
            <p:nvPr/>
          </p:nvGrpSpPr>
          <p:grpSpPr bwMode="auto">
            <a:xfrm>
              <a:off x="1756" y="3456"/>
              <a:ext cx="720" cy="715"/>
              <a:chOff x="1044" y="3168"/>
              <a:chExt cx="720" cy="715"/>
            </a:xfrm>
          </p:grpSpPr>
          <p:sp>
            <p:nvSpPr>
              <p:cNvPr id="59422" name="Line 110"/>
              <p:cNvSpPr>
                <a:spLocks noChangeShapeType="1"/>
              </p:cNvSpPr>
              <p:nvPr/>
            </p:nvSpPr>
            <p:spPr bwMode="auto">
              <a:xfrm>
                <a:off x="1128" y="3264"/>
                <a:ext cx="432"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23" name="Line 111"/>
              <p:cNvSpPr>
                <a:spLocks noChangeShapeType="1"/>
              </p:cNvSpPr>
              <p:nvPr/>
            </p:nvSpPr>
            <p:spPr bwMode="auto">
              <a:xfrm>
                <a:off x="1560" y="3264"/>
                <a:ext cx="0" cy="57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24" name="Line 112"/>
              <p:cNvSpPr>
                <a:spLocks noChangeShapeType="1"/>
              </p:cNvSpPr>
              <p:nvPr/>
            </p:nvSpPr>
            <p:spPr bwMode="auto">
              <a:xfrm flipH="1" flipV="1">
                <a:off x="1128" y="3264"/>
                <a:ext cx="432" cy="57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25" name="Text Box 113"/>
              <p:cNvSpPr txBox="1">
                <a:spLocks noChangeArrowheads="1"/>
              </p:cNvSpPr>
              <p:nvPr/>
            </p:nvSpPr>
            <p:spPr bwMode="auto">
              <a:xfrm>
                <a:off x="1044" y="3264"/>
                <a:ext cx="156"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i</a:t>
                </a:r>
              </a:p>
            </p:txBody>
          </p:sp>
          <p:sp>
            <p:nvSpPr>
              <p:cNvPr id="59426" name="Text Box 114"/>
              <p:cNvSpPr txBox="1">
                <a:spLocks noChangeArrowheads="1"/>
              </p:cNvSpPr>
              <p:nvPr/>
            </p:nvSpPr>
            <p:spPr bwMode="auto">
              <a:xfrm>
                <a:off x="1572" y="3168"/>
                <a:ext cx="156"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j</a:t>
                </a:r>
              </a:p>
            </p:txBody>
          </p:sp>
          <p:sp>
            <p:nvSpPr>
              <p:cNvPr id="59427" name="Text Box 115"/>
              <p:cNvSpPr txBox="1">
                <a:spLocks noChangeArrowheads="1"/>
              </p:cNvSpPr>
              <p:nvPr/>
            </p:nvSpPr>
            <p:spPr bwMode="auto">
              <a:xfrm>
                <a:off x="1536" y="3648"/>
                <a:ext cx="22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m</a:t>
                </a:r>
              </a:p>
            </p:txBody>
          </p:sp>
        </p:grpSp>
        <p:grpSp>
          <p:nvGrpSpPr>
            <p:cNvPr id="59400" name="Group 120"/>
            <p:cNvGrpSpPr>
              <a:grpSpLocks/>
            </p:cNvGrpSpPr>
            <p:nvPr/>
          </p:nvGrpSpPr>
          <p:grpSpPr bwMode="auto">
            <a:xfrm>
              <a:off x="2392" y="2640"/>
              <a:ext cx="652" cy="240"/>
              <a:chOff x="1680" y="2352"/>
              <a:chExt cx="652" cy="240"/>
            </a:xfrm>
          </p:grpSpPr>
          <p:sp>
            <p:nvSpPr>
              <p:cNvPr id="59419" name="Line 117"/>
              <p:cNvSpPr>
                <a:spLocks noChangeShapeType="1"/>
              </p:cNvSpPr>
              <p:nvPr/>
            </p:nvSpPr>
            <p:spPr bwMode="auto">
              <a:xfrm>
                <a:off x="1776" y="2592"/>
                <a:ext cx="528"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20" name="Text Box 118"/>
              <p:cNvSpPr txBox="1">
                <a:spLocks noChangeArrowheads="1"/>
              </p:cNvSpPr>
              <p:nvPr/>
            </p:nvSpPr>
            <p:spPr bwMode="auto">
              <a:xfrm>
                <a:off x="1680" y="2352"/>
                <a:ext cx="18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e</a:t>
                </a:r>
              </a:p>
            </p:txBody>
          </p:sp>
          <p:sp>
            <p:nvSpPr>
              <p:cNvPr id="59421" name="Text Box 119"/>
              <p:cNvSpPr txBox="1">
                <a:spLocks noChangeArrowheads="1"/>
              </p:cNvSpPr>
              <p:nvPr/>
            </p:nvSpPr>
            <p:spPr bwMode="auto">
              <a:xfrm>
                <a:off x="2168" y="2352"/>
                <a:ext cx="164"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f</a:t>
                </a:r>
              </a:p>
            </p:txBody>
          </p:sp>
        </p:grpSp>
        <p:grpSp>
          <p:nvGrpSpPr>
            <p:cNvPr id="59401" name="Group 130"/>
            <p:cNvGrpSpPr>
              <a:grpSpLocks/>
            </p:cNvGrpSpPr>
            <p:nvPr/>
          </p:nvGrpSpPr>
          <p:grpSpPr bwMode="auto">
            <a:xfrm>
              <a:off x="3264" y="2352"/>
              <a:ext cx="996" cy="1051"/>
              <a:chOff x="2552" y="2064"/>
              <a:chExt cx="996" cy="1051"/>
            </a:xfrm>
          </p:grpSpPr>
          <p:sp>
            <p:nvSpPr>
              <p:cNvPr id="59410" name="Line 121"/>
              <p:cNvSpPr>
                <a:spLocks noChangeShapeType="1"/>
              </p:cNvSpPr>
              <p:nvPr/>
            </p:nvSpPr>
            <p:spPr bwMode="auto">
              <a:xfrm flipV="1">
                <a:off x="2688" y="2160"/>
                <a:ext cx="336" cy="43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11" name="Line 122"/>
              <p:cNvSpPr>
                <a:spLocks noChangeShapeType="1"/>
              </p:cNvSpPr>
              <p:nvPr/>
            </p:nvSpPr>
            <p:spPr bwMode="auto">
              <a:xfrm>
                <a:off x="3024" y="2160"/>
                <a:ext cx="336" cy="43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12" name="Line 123"/>
              <p:cNvSpPr>
                <a:spLocks noChangeShapeType="1"/>
              </p:cNvSpPr>
              <p:nvPr/>
            </p:nvSpPr>
            <p:spPr bwMode="auto">
              <a:xfrm flipH="1">
                <a:off x="3024" y="2592"/>
                <a:ext cx="336" cy="43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13" name="Line 124"/>
              <p:cNvSpPr>
                <a:spLocks noChangeShapeType="1"/>
              </p:cNvSpPr>
              <p:nvPr/>
            </p:nvSpPr>
            <p:spPr bwMode="auto">
              <a:xfrm flipH="1" flipV="1">
                <a:off x="2688" y="2592"/>
                <a:ext cx="336" cy="43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14" name="Line 125"/>
              <p:cNvSpPr>
                <a:spLocks noChangeShapeType="1"/>
              </p:cNvSpPr>
              <p:nvPr/>
            </p:nvSpPr>
            <p:spPr bwMode="auto">
              <a:xfrm>
                <a:off x="2688" y="2592"/>
                <a:ext cx="672"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15" name="Text Box 126"/>
              <p:cNvSpPr txBox="1">
                <a:spLocks noChangeArrowheads="1"/>
              </p:cNvSpPr>
              <p:nvPr/>
            </p:nvSpPr>
            <p:spPr bwMode="auto">
              <a:xfrm>
                <a:off x="2552" y="2352"/>
                <a:ext cx="164"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f</a:t>
                </a:r>
              </a:p>
            </p:txBody>
          </p:sp>
          <p:sp>
            <p:nvSpPr>
              <p:cNvPr id="59416" name="Text Box 127"/>
              <p:cNvSpPr txBox="1">
                <a:spLocks noChangeArrowheads="1"/>
              </p:cNvSpPr>
              <p:nvPr/>
            </p:nvSpPr>
            <p:spPr bwMode="auto">
              <a:xfrm>
                <a:off x="3068" y="2064"/>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b</a:t>
                </a:r>
              </a:p>
            </p:txBody>
          </p:sp>
          <p:sp>
            <p:nvSpPr>
              <p:cNvPr id="59417" name="Text Box 128"/>
              <p:cNvSpPr txBox="1">
                <a:spLocks noChangeArrowheads="1"/>
              </p:cNvSpPr>
              <p:nvPr/>
            </p:nvSpPr>
            <p:spPr bwMode="auto">
              <a:xfrm>
                <a:off x="3360" y="2448"/>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g</a:t>
                </a:r>
              </a:p>
            </p:txBody>
          </p:sp>
          <p:sp>
            <p:nvSpPr>
              <p:cNvPr id="59418" name="Text Box 129"/>
              <p:cNvSpPr txBox="1">
                <a:spLocks noChangeArrowheads="1"/>
              </p:cNvSpPr>
              <p:nvPr/>
            </p:nvSpPr>
            <p:spPr bwMode="auto">
              <a:xfrm>
                <a:off x="2828" y="2880"/>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k</a:t>
                </a:r>
              </a:p>
            </p:txBody>
          </p:sp>
        </p:grpSp>
        <p:grpSp>
          <p:nvGrpSpPr>
            <p:cNvPr id="59402" name="Group 137"/>
            <p:cNvGrpSpPr>
              <a:grpSpLocks/>
            </p:cNvGrpSpPr>
            <p:nvPr/>
          </p:nvGrpSpPr>
          <p:grpSpPr bwMode="auto">
            <a:xfrm>
              <a:off x="3252" y="3456"/>
              <a:ext cx="956" cy="672"/>
              <a:chOff x="2540" y="3168"/>
              <a:chExt cx="956" cy="672"/>
            </a:xfrm>
          </p:grpSpPr>
          <p:sp>
            <p:nvSpPr>
              <p:cNvPr id="59404" name="Line 131"/>
              <p:cNvSpPr>
                <a:spLocks noChangeShapeType="1"/>
              </p:cNvSpPr>
              <p:nvPr/>
            </p:nvSpPr>
            <p:spPr bwMode="auto">
              <a:xfrm>
                <a:off x="3024" y="3312"/>
                <a:ext cx="336" cy="52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05" name="Line 132"/>
              <p:cNvSpPr>
                <a:spLocks noChangeShapeType="1"/>
              </p:cNvSpPr>
              <p:nvPr/>
            </p:nvSpPr>
            <p:spPr bwMode="auto">
              <a:xfrm flipH="1">
                <a:off x="2688" y="3840"/>
                <a:ext cx="672"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06" name="Line 133"/>
              <p:cNvSpPr>
                <a:spLocks noChangeShapeType="1"/>
              </p:cNvSpPr>
              <p:nvPr/>
            </p:nvSpPr>
            <p:spPr bwMode="auto">
              <a:xfrm flipV="1">
                <a:off x="2688" y="3312"/>
                <a:ext cx="336" cy="52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59407" name="Text Box 134"/>
              <p:cNvSpPr txBox="1">
                <a:spLocks noChangeArrowheads="1"/>
              </p:cNvSpPr>
              <p:nvPr/>
            </p:nvSpPr>
            <p:spPr bwMode="auto">
              <a:xfrm>
                <a:off x="2828" y="3168"/>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k</a:t>
                </a:r>
              </a:p>
            </p:txBody>
          </p:sp>
          <p:sp>
            <p:nvSpPr>
              <p:cNvPr id="59408" name="Text Box 135"/>
              <p:cNvSpPr txBox="1">
                <a:spLocks noChangeArrowheads="1"/>
              </p:cNvSpPr>
              <p:nvPr/>
            </p:nvSpPr>
            <p:spPr bwMode="auto">
              <a:xfrm>
                <a:off x="2540" y="3600"/>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n</a:t>
                </a:r>
              </a:p>
            </p:txBody>
          </p:sp>
          <p:sp>
            <p:nvSpPr>
              <p:cNvPr id="59409" name="Text Box 136"/>
              <p:cNvSpPr txBox="1">
                <a:spLocks noChangeArrowheads="1"/>
              </p:cNvSpPr>
              <p:nvPr/>
            </p:nvSpPr>
            <p:spPr bwMode="auto">
              <a:xfrm>
                <a:off x="3308" y="3600"/>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o</a:t>
                </a:r>
              </a:p>
            </p:txBody>
          </p:sp>
        </p:grpSp>
        <p:sp>
          <p:nvSpPr>
            <p:cNvPr id="59403" name="Rectangle 140"/>
            <p:cNvSpPr>
              <a:spLocks noChangeArrowheads="1"/>
            </p:cNvSpPr>
            <p:nvPr/>
          </p:nvSpPr>
          <p:spPr bwMode="auto">
            <a:xfrm>
              <a:off x="816" y="2352"/>
              <a:ext cx="3744" cy="1872"/>
            </a:xfrm>
            <a:prstGeom prst="rect">
              <a:avLst/>
            </a:prstGeom>
            <a:noFill/>
            <a:ln w="127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chemeClr val="accent1"/>
                  </a:solidFill>
                </a14:hiddenFill>
              </a:ext>
            </a:extLst>
          </p:spPr>
          <p:txBody>
            <a:bodyPr bIns="10800" anchor="ctr">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57</a:t>
            </a:fld>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93917" name="Group 29"/>
          <p:cNvGrpSpPr>
            <a:grpSpLocks/>
          </p:cNvGrpSpPr>
          <p:nvPr/>
        </p:nvGrpSpPr>
        <p:grpSpPr bwMode="auto">
          <a:xfrm>
            <a:off x="2819400" y="3429000"/>
            <a:ext cx="4846638" cy="3276600"/>
            <a:chOff x="979" y="2080"/>
            <a:chExt cx="3053" cy="2064"/>
          </a:xfrm>
        </p:grpSpPr>
        <p:sp>
          <p:nvSpPr>
            <p:cNvPr id="60423" name="Freeform 17"/>
            <p:cNvSpPr>
              <a:spLocks/>
            </p:cNvSpPr>
            <p:nvPr/>
          </p:nvSpPr>
          <p:spPr bwMode="auto">
            <a:xfrm>
              <a:off x="1088" y="2080"/>
              <a:ext cx="2944" cy="2064"/>
            </a:xfrm>
            <a:custGeom>
              <a:avLst/>
              <a:gdLst>
                <a:gd name="T0" fmla="*/ 16 w 2944"/>
                <a:gd name="T1" fmla="*/ 1136 h 2064"/>
                <a:gd name="T2" fmla="*/ 496 w 2944"/>
                <a:gd name="T3" fmla="*/ 272 h 2064"/>
                <a:gd name="T4" fmla="*/ 2224 w 2944"/>
                <a:gd name="T5" fmla="*/ 176 h 2064"/>
                <a:gd name="T6" fmla="*/ 2896 w 2944"/>
                <a:gd name="T7" fmla="*/ 1328 h 2064"/>
                <a:gd name="T8" fmla="*/ 1936 w 2944"/>
                <a:gd name="T9" fmla="*/ 2000 h 2064"/>
                <a:gd name="T10" fmla="*/ 400 w 2944"/>
                <a:gd name="T11" fmla="*/ 1712 h 2064"/>
                <a:gd name="T12" fmla="*/ 16 w 2944"/>
                <a:gd name="T13" fmla="*/ 1136 h 20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44" h="2064">
                  <a:moveTo>
                    <a:pt x="16" y="1136"/>
                  </a:moveTo>
                  <a:cubicBezTo>
                    <a:pt x="32" y="896"/>
                    <a:pt x="128" y="432"/>
                    <a:pt x="496" y="272"/>
                  </a:cubicBezTo>
                  <a:cubicBezTo>
                    <a:pt x="864" y="112"/>
                    <a:pt x="1824" y="0"/>
                    <a:pt x="2224" y="176"/>
                  </a:cubicBezTo>
                  <a:cubicBezTo>
                    <a:pt x="2624" y="352"/>
                    <a:pt x="2944" y="1024"/>
                    <a:pt x="2896" y="1328"/>
                  </a:cubicBezTo>
                  <a:cubicBezTo>
                    <a:pt x="2848" y="1632"/>
                    <a:pt x="2352" y="1936"/>
                    <a:pt x="1936" y="2000"/>
                  </a:cubicBezTo>
                  <a:cubicBezTo>
                    <a:pt x="1520" y="2064"/>
                    <a:pt x="720" y="1856"/>
                    <a:pt x="400" y="1712"/>
                  </a:cubicBezTo>
                  <a:cubicBezTo>
                    <a:pt x="80" y="1568"/>
                    <a:pt x="0" y="1376"/>
                    <a:pt x="16" y="1136"/>
                  </a:cubicBezTo>
                  <a:close/>
                </a:path>
              </a:pathLst>
            </a:custGeom>
            <a:solidFill>
              <a:schemeClr val="bg1"/>
            </a:solidFill>
            <a:ln w="12700" cap="flat" cmpd="sng">
              <a:solidFill>
                <a:srgbClr val="CC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0424" name="Line 18"/>
            <p:cNvSpPr>
              <a:spLocks noChangeShapeType="1"/>
            </p:cNvSpPr>
            <p:nvPr/>
          </p:nvSpPr>
          <p:spPr bwMode="auto">
            <a:xfrm flipH="1" flipV="1">
              <a:off x="2160" y="3120"/>
              <a:ext cx="336" cy="9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0425" name="Line 19"/>
            <p:cNvSpPr>
              <a:spLocks noChangeShapeType="1"/>
            </p:cNvSpPr>
            <p:nvPr/>
          </p:nvSpPr>
          <p:spPr bwMode="auto">
            <a:xfrm flipV="1">
              <a:off x="2496" y="3120"/>
              <a:ext cx="336" cy="9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0426" name="Freeform 20"/>
            <p:cNvSpPr>
              <a:spLocks/>
            </p:cNvSpPr>
            <p:nvPr/>
          </p:nvSpPr>
          <p:spPr bwMode="auto">
            <a:xfrm>
              <a:off x="1440" y="3103"/>
              <a:ext cx="720" cy="57"/>
            </a:xfrm>
            <a:custGeom>
              <a:avLst/>
              <a:gdLst>
                <a:gd name="T0" fmla="*/ 720 w 720"/>
                <a:gd name="T1" fmla="*/ 17 h 57"/>
                <a:gd name="T2" fmla="*/ 606 w 720"/>
                <a:gd name="T3" fmla="*/ 48 h 57"/>
                <a:gd name="T4" fmla="*/ 491 w 720"/>
                <a:gd name="T5" fmla="*/ 1 h 57"/>
                <a:gd name="T6" fmla="*/ 369 w 720"/>
                <a:gd name="T7" fmla="*/ 55 h 57"/>
                <a:gd name="T8" fmla="*/ 241 w 720"/>
                <a:gd name="T9" fmla="*/ 7 h 57"/>
                <a:gd name="T10" fmla="*/ 105 w 720"/>
                <a:gd name="T11" fmla="*/ 55 h 57"/>
                <a:gd name="T12" fmla="*/ 0 w 720"/>
                <a:gd name="T13" fmla="*/ 17 h 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0" h="57">
                  <a:moveTo>
                    <a:pt x="720" y="17"/>
                  </a:moveTo>
                  <a:cubicBezTo>
                    <a:pt x="701" y="22"/>
                    <a:pt x="644" y="51"/>
                    <a:pt x="606" y="48"/>
                  </a:cubicBezTo>
                  <a:cubicBezTo>
                    <a:pt x="568" y="45"/>
                    <a:pt x="530" y="0"/>
                    <a:pt x="491" y="1"/>
                  </a:cubicBezTo>
                  <a:cubicBezTo>
                    <a:pt x="452" y="2"/>
                    <a:pt x="411" y="54"/>
                    <a:pt x="369" y="55"/>
                  </a:cubicBezTo>
                  <a:cubicBezTo>
                    <a:pt x="327" y="56"/>
                    <a:pt x="285" y="7"/>
                    <a:pt x="241" y="7"/>
                  </a:cubicBezTo>
                  <a:cubicBezTo>
                    <a:pt x="197" y="7"/>
                    <a:pt x="145" y="53"/>
                    <a:pt x="105" y="55"/>
                  </a:cubicBezTo>
                  <a:cubicBezTo>
                    <a:pt x="65" y="57"/>
                    <a:pt x="22" y="25"/>
                    <a:pt x="0" y="17"/>
                  </a:cubicBezTo>
                </a:path>
              </a:pathLst>
            </a:custGeom>
            <a:noFill/>
            <a:ln w="12700" cap="flat" cmpd="sng">
              <a:solidFill>
                <a:schemeClr val="tx1"/>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0427" name="Freeform 21"/>
            <p:cNvSpPr>
              <a:spLocks/>
            </p:cNvSpPr>
            <p:nvPr/>
          </p:nvSpPr>
          <p:spPr bwMode="auto">
            <a:xfrm>
              <a:off x="2832" y="3090"/>
              <a:ext cx="672" cy="77"/>
            </a:xfrm>
            <a:custGeom>
              <a:avLst/>
              <a:gdLst>
                <a:gd name="T0" fmla="*/ 0 w 672"/>
                <a:gd name="T1" fmla="*/ 30 h 77"/>
                <a:gd name="T2" fmla="*/ 136 w 672"/>
                <a:gd name="T3" fmla="*/ 75 h 77"/>
                <a:gd name="T4" fmla="*/ 299 w 672"/>
                <a:gd name="T5" fmla="*/ 20 h 77"/>
                <a:gd name="T6" fmla="*/ 434 w 672"/>
                <a:gd name="T7" fmla="*/ 75 h 77"/>
                <a:gd name="T8" fmla="*/ 570 w 672"/>
                <a:gd name="T9" fmla="*/ 7 h 77"/>
                <a:gd name="T10" fmla="*/ 672 w 672"/>
                <a:gd name="T11" fmla="*/ 30 h 7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72" h="77">
                  <a:moveTo>
                    <a:pt x="0" y="30"/>
                  </a:moveTo>
                  <a:cubicBezTo>
                    <a:pt x="23" y="37"/>
                    <a:pt x="86" y="77"/>
                    <a:pt x="136" y="75"/>
                  </a:cubicBezTo>
                  <a:cubicBezTo>
                    <a:pt x="186" y="73"/>
                    <a:pt x="249" y="20"/>
                    <a:pt x="299" y="20"/>
                  </a:cubicBezTo>
                  <a:cubicBezTo>
                    <a:pt x="349" y="20"/>
                    <a:pt x="389" y="77"/>
                    <a:pt x="434" y="75"/>
                  </a:cubicBezTo>
                  <a:cubicBezTo>
                    <a:pt x="479" y="73"/>
                    <a:pt x="530" y="14"/>
                    <a:pt x="570" y="7"/>
                  </a:cubicBezTo>
                  <a:cubicBezTo>
                    <a:pt x="610" y="0"/>
                    <a:pt x="651" y="25"/>
                    <a:pt x="672" y="30"/>
                  </a:cubicBezTo>
                </a:path>
              </a:pathLst>
            </a:custGeom>
            <a:noFill/>
            <a:ln w="12700" cap="flat" cmpd="sng">
              <a:solidFill>
                <a:schemeClr val="tx1"/>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0428" name="Text Box 23"/>
            <p:cNvSpPr txBox="1">
              <a:spLocks noChangeArrowheads="1"/>
            </p:cNvSpPr>
            <p:nvPr/>
          </p:nvSpPr>
          <p:spPr bwMode="auto">
            <a:xfrm>
              <a:off x="1294" y="3117"/>
              <a:ext cx="1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u</a:t>
              </a:r>
            </a:p>
          </p:txBody>
        </p:sp>
        <p:sp>
          <p:nvSpPr>
            <p:cNvPr id="60429" name="Text Box 24"/>
            <p:cNvSpPr txBox="1">
              <a:spLocks noChangeArrowheads="1"/>
            </p:cNvSpPr>
            <p:nvPr/>
          </p:nvSpPr>
          <p:spPr bwMode="auto">
            <a:xfrm>
              <a:off x="3456" y="3120"/>
              <a:ext cx="1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v</a:t>
              </a:r>
            </a:p>
          </p:txBody>
        </p:sp>
        <p:sp>
          <p:nvSpPr>
            <p:cNvPr id="60430" name="Text Box 25"/>
            <p:cNvSpPr txBox="1">
              <a:spLocks noChangeArrowheads="1"/>
            </p:cNvSpPr>
            <p:nvPr/>
          </p:nvSpPr>
          <p:spPr bwMode="auto">
            <a:xfrm>
              <a:off x="2400" y="3168"/>
              <a:ext cx="1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x</a:t>
              </a:r>
            </a:p>
          </p:txBody>
        </p:sp>
        <p:sp>
          <p:nvSpPr>
            <p:cNvPr id="60431" name="Text Box 26"/>
            <p:cNvSpPr txBox="1">
              <a:spLocks noChangeArrowheads="1"/>
            </p:cNvSpPr>
            <p:nvPr/>
          </p:nvSpPr>
          <p:spPr bwMode="auto">
            <a:xfrm>
              <a:off x="2256" y="2928"/>
              <a:ext cx="239"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e</a:t>
              </a:r>
              <a:r>
                <a:rPr lang="en-US" sz="2000" baseline="-25000"/>
                <a:t>1</a:t>
              </a:r>
            </a:p>
          </p:txBody>
        </p:sp>
        <p:sp>
          <p:nvSpPr>
            <p:cNvPr id="60432" name="Text Box 27"/>
            <p:cNvSpPr txBox="1">
              <a:spLocks noChangeArrowheads="1"/>
            </p:cNvSpPr>
            <p:nvPr/>
          </p:nvSpPr>
          <p:spPr bwMode="auto">
            <a:xfrm>
              <a:off x="2544" y="2880"/>
              <a:ext cx="239"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e</a:t>
              </a:r>
              <a:r>
                <a:rPr lang="en-US" sz="2000" baseline="-25000"/>
                <a:t>2</a:t>
              </a:r>
            </a:p>
          </p:txBody>
        </p:sp>
        <p:sp>
          <p:nvSpPr>
            <p:cNvPr id="60433" name="Text Box 28"/>
            <p:cNvSpPr txBox="1">
              <a:spLocks noChangeArrowheads="1"/>
            </p:cNvSpPr>
            <p:nvPr/>
          </p:nvSpPr>
          <p:spPr bwMode="auto">
            <a:xfrm>
              <a:off x="979" y="2327"/>
              <a:ext cx="320"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800"/>
                <a:t>G</a:t>
              </a:r>
              <a:r>
                <a:rPr lang="en-US" sz="2800" baseline="-25000"/>
                <a:t>i</a:t>
              </a:r>
            </a:p>
          </p:txBody>
        </p:sp>
      </p:grpSp>
      <p:sp>
        <p:nvSpPr>
          <p:cNvPr id="60419"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err="1" smtClean="0">
                <a:solidFill>
                  <a:schemeClr val="hlink"/>
                </a:solidFill>
                <a:latin typeface="Arial Rounded MT Bold" pitchFamily="34" charset="0"/>
              </a:rPr>
              <a:t>Biconnected</a:t>
            </a:r>
            <a:r>
              <a:rPr lang="en-US" sz="2800" dirty="0" smtClean="0">
                <a:solidFill>
                  <a:schemeClr val="hlink"/>
                </a:solidFill>
                <a:latin typeface="Arial Rounded MT Bold" pitchFamily="34" charset="0"/>
              </a:rPr>
              <a:t> Components</a:t>
            </a:r>
            <a:r>
              <a:rPr lang="en-US" sz="2800" dirty="0" smtClean="0">
                <a:solidFill>
                  <a:schemeClr val="tx1"/>
                </a:solidFill>
                <a:latin typeface="Arial Rounded MT Bold" pitchFamily="34" charset="0"/>
              </a:rPr>
              <a:t> &amp; </a:t>
            </a:r>
            <a:r>
              <a:rPr lang="en-US" sz="2800" dirty="0" smtClean="0">
                <a:solidFill>
                  <a:srgbClr val="CC0000"/>
                </a:solidFill>
                <a:latin typeface="Arial Rounded MT Bold" pitchFamily="34" charset="0"/>
              </a:rPr>
              <a:t>Articulation Points</a:t>
            </a:r>
          </a:p>
        </p:txBody>
      </p:sp>
      <p:sp>
        <p:nvSpPr>
          <p:cNvPr id="293891" name="Rectangle 3" descr="Recycled paper"/>
          <p:cNvSpPr>
            <a:spLocks noChangeArrowheads="1"/>
          </p:cNvSpPr>
          <p:nvPr/>
        </p:nvSpPr>
        <p:spPr bwMode="auto">
          <a:xfrm>
            <a:off x="152400" y="838200"/>
            <a:ext cx="8839200" cy="1938338"/>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288925" indent="-288925" eaLnBrk="1" hangingPunct="1">
              <a:spcBef>
                <a:spcPct val="50000"/>
              </a:spcBef>
              <a:buFontTx/>
              <a:buNone/>
            </a:pPr>
            <a:r>
              <a:rPr lang="en-US" sz="2400" b="1" dirty="0">
                <a:solidFill>
                  <a:srgbClr val="CC0000"/>
                </a:solidFill>
              </a:rPr>
              <a:t>FACT 5:    </a:t>
            </a:r>
            <a:r>
              <a:rPr lang="en-US" sz="2000" dirty="0">
                <a:solidFill>
                  <a:schemeClr val="hlink"/>
                </a:solidFill>
              </a:rPr>
              <a:t>Let </a:t>
            </a:r>
            <a:r>
              <a:rPr lang="en-US" sz="2000" dirty="0" err="1">
                <a:solidFill>
                  <a:schemeClr val="hlink"/>
                </a:solidFill>
              </a:rPr>
              <a:t>G</a:t>
            </a:r>
            <a:r>
              <a:rPr lang="en-US" sz="2000" baseline="-25000" dirty="0" err="1">
                <a:solidFill>
                  <a:schemeClr val="hlink"/>
                </a:solidFill>
              </a:rPr>
              <a:t>i</a:t>
            </a:r>
            <a:r>
              <a:rPr lang="en-US" sz="2000" dirty="0">
                <a:solidFill>
                  <a:schemeClr val="hlink"/>
                </a:solidFill>
              </a:rPr>
              <a:t> = (V</a:t>
            </a:r>
            <a:r>
              <a:rPr lang="en-US" sz="2000" baseline="-25000" dirty="0">
                <a:solidFill>
                  <a:schemeClr val="hlink"/>
                </a:solidFill>
              </a:rPr>
              <a:t>i</a:t>
            </a:r>
            <a:r>
              <a:rPr lang="en-US" sz="2000" dirty="0">
                <a:solidFill>
                  <a:schemeClr val="hlink"/>
                </a:solidFill>
              </a:rPr>
              <a:t> , </a:t>
            </a:r>
            <a:r>
              <a:rPr lang="en-US" sz="2000" dirty="0" err="1">
                <a:solidFill>
                  <a:schemeClr val="hlink"/>
                </a:solidFill>
              </a:rPr>
              <a:t>E</a:t>
            </a:r>
            <a:r>
              <a:rPr lang="en-US" sz="2000" baseline="-25000" dirty="0" err="1">
                <a:solidFill>
                  <a:schemeClr val="hlink"/>
                </a:solidFill>
              </a:rPr>
              <a:t>i</a:t>
            </a:r>
            <a:r>
              <a:rPr lang="en-US" sz="2000" dirty="0">
                <a:solidFill>
                  <a:schemeClr val="hlink"/>
                </a:solidFill>
              </a:rPr>
              <a:t> ) , i = 1..k, be </a:t>
            </a:r>
            <a:r>
              <a:rPr lang="en-US" sz="2000" dirty="0" err="1">
                <a:solidFill>
                  <a:schemeClr val="hlink"/>
                </a:solidFill>
              </a:rPr>
              <a:t>biconnected</a:t>
            </a:r>
            <a:r>
              <a:rPr lang="en-US" sz="2000" dirty="0">
                <a:solidFill>
                  <a:schemeClr val="hlink"/>
                </a:solidFill>
              </a:rPr>
              <a:t> components of G.   Then,</a:t>
            </a:r>
          </a:p>
          <a:p>
            <a:pPr marL="760413" lvl="1" indent="-280988" eaLnBrk="1" hangingPunct="1">
              <a:spcBef>
                <a:spcPct val="50000"/>
              </a:spcBef>
              <a:buFontTx/>
              <a:buAutoNum type="arabicPeriod"/>
            </a:pPr>
            <a:r>
              <a:rPr lang="en-US" sz="2000" dirty="0" err="1">
                <a:solidFill>
                  <a:schemeClr val="hlink"/>
                </a:solidFill>
              </a:rPr>
              <a:t>G</a:t>
            </a:r>
            <a:r>
              <a:rPr lang="en-US" sz="2000" baseline="-25000" dirty="0" err="1">
                <a:solidFill>
                  <a:schemeClr val="hlink"/>
                </a:solidFill>
              </a:rPr>
              <a:t>i</a:t>
            </a:r>
            <a:r>
              <a:rPr lang="en-US" sz="2000" dirty="0">
                <a:solidFill>
                  <a:schemeClr val="hlink"/>
                </a:solidFill>
              </a:rPr>
              <a:t>  is </a:t>
            </a:r>
            <a:r>
              <a:rPr lang="en-US" sz="2000" dirty="0" err="1">
                <a:solidFill>
                  <a:schemeClr val="hlink"/>
                </a:solidFill>
              </a:rPr>
              <a:t>biconnected</a:t>
            </a:r>
            <a:r>
              <a:rPr lang="en-US" sz="2000" dirty="0">
                <a:solidFill>
                  <a:schemeClr val="hlink"/>
                </a:solidFill>
              </a:rPr>
              <a:t> ,  for i = 1..k, </a:t>
            </a:r>
          </a:p>
          <a:p>
            <a:pPr marL="760413" lvl="1" indent="-280988" eaLnBrk="1" hangingPunct="1">
              <a:spcBef>
                <a:spcPct val="50000"/>
              </a:spcBef>
              <a:buFontTx/>
              <a:buAutoNum type="arabicPeriod"/>
            </a:pPr>
            <a:r>
              <a:rPr lang="en-US" sz="2000" dirty="0">
                <a:solidFill>
                  <a:schemeClr val="hlink"/>
                </a:solidFill>
              </a:rPr>
              <a:t>V</a:t>
            </a:r>
            <a:r>
              <a:rPr lang="en-US" sz="2000" baseline="-25000" dirty="0">
                <a:solidFill>
                  <a:schemeClr val="hlink"/>
                </a:solidFill>
              </a:rPr>
              <a:t>i </a:t>
            </a:r>
            <a:r>
              <a:rPr lang="en-US" sz="2000" dirty="0">
                <a:solidFill>
                  <a:schemeClr val="hlink"/>
                </a:solidFill>
                <a:sym typeface="Symbol" pitchFamily="18" charset="2"/>
              </a:rPr>
              <a:t></a:t>
            </a:r>
            <a:r>
              <a:rPr lang="en-US" sz="2000" baseline="-25000" dirty="0">
                <a:solidFill>
                  <a:schemeClr val="hlink"/>
                </a:solidFill>
              </a:rPr>
              <a:t> </a:t>
            </a:r>
            <a:r>
              <a:rPr lang="en-US" sz="2000" dirty="0" err="1">
                <a:solidFill>
                  <a:schemeClr val="hlink"/>
                </a:solidFill>
              </a:rPr>
              <a:t>V</a:t>
            </a:r>
            <a:r>
              <a:rPr lang="en-US" sz="2000" baseline="-25000" dirty="0" err="1">
                <a:solidFill>
                  <a:schemeClr val="hlink"/>
                </a:solidFill>
              </a:rPr>
              <a:t>j</a:t>
            </a:r>
            <a:r>
              <a:rPr lang="en-US" sz="2000" dirty="0">
                <a:solidFill>
                  <a:schemeClr val="hlink"/>
                </a:solidFill>
              </a:rPr>
              <a:t> has at most one node, for i </a:t>
            </a:r>
            <a:r>
              <a:rPr lang="en-US" sz="2000" dirty="0">
                <a:solidFill>
                  <a:schemeClr val="hlink"/>
                </a:solidFill>
                <a:sym typeface="Symbol" pitchFamily="18" charset="2"/>
              </a:rPr>
              <a:t> </a:t>
            </a:r>
            <a:r>
              <a:rPr lang="en-US" sz="2000" dirty="0">
                <a:solidFill>
                  <a:schemeClr val="hlink"/>
                </a:solidFill>
              </a:rPr>
              <a:t>j,</a:t>
            </a:r>
          </a:p>
          <a:p>
            <a:pPr marL="760413" lvl="1" indent="-280988" eaLnBrk="1" hangingPunct="1">
              <a:spcBef>
                <a:spcPct val="50000"/>
              </a:spcBef>
              <a:buFontTx/>
              <a:buAutoNum type="arabicPeriod"/>
            </a:pPr>
            <a:r>
              <a:rPr lang="en-US" sz="2000" dirty="0">
                <a:solidFill>
                  <a:schemeClr val="hlink"/>
                </a:solidFill>
              </a:rPr>
              <a:t>node </a:t>
            </a:r>
            <a:r>
              <a:rPr lang="en-US" sz="2000" dirty="0" err="1">
                <a:solidFill>
                  <a:schemeClr val="hlink"/>
                </a:solidFill>
              </a:rPr>
              <a:t>x</a:t>
            </a:r>
            <a:r>
              <a:rPr lang="en-US" sz="2000" dirty="0" err="1">
                <a:solidFill>
                  <a:schemeClr val="hlink"/>
                </a:solidFill>
                <a:sym typeface="Symbol" pitchFamily="18" charset="2"/>
              </a:rPr>
              <a:t></a:t>
            </a:r>
            <a:r>
              <a:rPr lang="en-US" sz="2000" dirty="0" err="1">
                <a:solidFill>
                  <a:schemeClr val="hlink"/>
                </a:solidFill>
              </a:rPr>
              <a:t>V</a:t>
            </a:r>
            <a:r>
              <a:rPr lang="en-US" sz="2000" dirty="0">
                <a:solidFill>
                  <a:schemeClr val="hlink"/>
                </a:solidFill>
              </a:rPr>
              <a:t> is an articulation point of G  </a:t>
            </a:r>
            <a:r>
              <a:rPr lang="en-US" sz="2400" dirty="0">
                <a:solidFill>
                  <a:srgbClr val="CC0000"/>
                </a:solidFill>
                <a:sym typeface="Symbol" pitchFamily="18" charset="2"/>
              </a:rPr>
              <a:t></a:t>
            </a:r>
            <a:r>
              <a:rPr lang="en-US" sz="2000" dirty="0">
                <a:solidFill>
                  <a:schemeClr val="hlink"/>
                </a:solidFill>
              </a:rPr>
              <a:t>  x </a:t>
            </a:r>
            <a:r>
              <a:rPr lang="en-US" sz="2000" dirty="0">
                <a:solidFill>
                  <a:schemeClr val="hlink"/>
                </a:solidFill>
                <a:sym typeface="Symbol" pitchFamily="18" charset="2"/>
              </a:rPr>
              <a:t> </a:t>
            </a:r>
            <a:r>
              <a:rPr lang="en-US" sz="2000" dirty="0">
                <a:solidFill>
                  <a:schemeClr val="hlink"/>
                </a:solidFill>
              </a:rPr>
              <a:t>V</a:t>
            </a:r>
            <a:r>
              <a:rPr lang="en-US" sz="2000" baseline="-25000" dirty="0">
                <a:solidFill>
                  <a:schemeClr val="hlink"/>
                </a:solidFill>
              </a:rPr>
              <a:t>i </a:t>
            </a:r>
            <a:r>
              <a:rPr lang="en-US" sz="2000" dirty="0">
                <a:solidFill>
                  <a:schemeClr val="hlink"/>
                </a:solidFill>
                <a:sym typeface="Symbol" pitchFamily="18" charset="2"/>
              </a:rPr>
              <a:t></a:t>
            </a:r>
            <a:r>
              <a:rPr lang="en-US" sz="2000" baseline="-25000" dirty="0">
                <a:solidFill>
                  <a:schemeClr val="hlink"/>
                </a:solidFill>
              </a:rPr>
              <a:t> </a:t>
            </a:r>
            <a:r>
              <a:rPr lang="en-US" sz="2000" dirty="0" err="1">
                <a:solidFill>
                  <a:schemeClr val="hlink"/>
                </a:solidFill>
              </a:rPr>
              <a:t>V</a:t>
            </a:r>
            <a:r>
              <a:rPr lang="en-US" sz="2000" baseline="-25000" dirty="0" err="1">
                <a:solidFill>
                  <a:schemeClr val="hlink"/>
                </a:solidFill>
              </a:rPr>
              <a:t>j</a:t>
            </a:r>
            <a:r>
              <a:rPr lang="en-US" sz="2000" dirty="0">
                <a:solidFill>
                  <a:schemeClr val="hlink"/>
                </a:solidFill>
              </a:rPr>
              <a:t>  for some i </a:t>
            </a:r>
            <a:r>
              <a:rPr lang="en-US" sz="2000" dirty="0">
                <a:solidFill>
                  <a:schemeClr val="hlink"/>
                </a:solidFill>
                <a:sym typeface="Symbol" pitchFamily="18" charset="2"/>
              </a:rPr>
              <a:t> </a:t>
            </a:r>
            <a:r>
              <a:rPr lang="en-US" sz="2000" dirty="0">
                <a:solidFill>
                  <a:schemeClr val="hlink"/>
                </a:solidFill>
              </a:rPr>
              <a:t>j.</a:t>
            </a:r>
          </a:p>
        </p:txBody>
      </p:sp>
      <p:sp>
        <p:nvSpPr>
          <p:cNvPr id="293904" name="Text Box 16"/>
          <p:cNvSpPr txBox="1">
            <a:spLocks noChangeArrowheads="1"/>
          </p:cNvSpPr>
          <p:nvPr/>
        </p:nvSpPr>
        <p:spPr bwMode="auto">
          <a:xfrm>
            <a:off x="136525" y="2967038"/>
            <a:ext cx="5976938" cy="40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None/>
            </a:pPr>
            <a:r>
              <a:rPr lang="en-US" sz="2000" b="1"/>
              <a:t>Proof of (1):</a:t>
            </a:r>
            <a:r>
              <a:rPr lang="en-US" sz="2000"/>
              <a:t> G</a:t>
            </a:r>
            <a:r>
              <a:rPr lang="en-US" sz="2000" baseline="-25000"/>
              <a:t>i</a:t>
            </a:r>
            <a:r>
              <a:rPr lang="en-US" sz="2000">
                <a:solidFill>
                  <a:schemeClr val="hlink"/>
                </a:solidFill>
              </a:rPr>
              <a:t> </a:t>
            </a:r>
            <a:r>
              <a:rPr lang="en-US" sz="2000"/>
              <a:t> cannot have an articulation point, say x:</a:t>
            </a:r>
          </a:p>
        </p:txBody>
      </p:sp>
      <p:sp>
        <p:nvSpPr>
          <p:cNvPr id="293910" name="Freeform 22"/>
          <p:cNvSpPr>
            <a:spLocks/>
          </p:cNvSpPr>
          <p:nvPr/>
        </p:nvSpPr>
        <p:spPr bwMode="auto">
          <a:xfrm>
            <a:off x="4610100" y="4241800"/>
            <a:ext cx="1295400" cy="846138"/>
          </a:xfrm>
          <a:custGeom>
            <a:avLst/>
            <a:gdLst>
              <a:gd name="T0" fmla="*/ 90488 w 816"/>
              <a:gd name="T1" fmla="*/ 846138 h 533"/>
              <a:gd name="T2" fmla="*/ 58738 w 816"/>
              <a:gd name="T3" fmla="*/ 368300 h 533"/>
              <a:gd name="T4" fmla="*/ 439738 w 816"/>
              <a:gd name="T5" fmla="*/ 63500 h 533"/>
              <a:gd name="T6" fmla="*/ 1049338 w 816"/>
              <a:gd name="T7" fmla="*/ 63500 h 533"/>
              <a:gd name="T8" fmla="*/ 1277938 w 816"/>
              <a:gd name="T9" fmla="*/ 444500 h 533"/>
              <a:gd name="T10" fmla="*/ 1155700 w 816"/>
              <a:gd name="T11" fmla="*/ 835025 h 53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6" h="533">
                <a:moveTo>
                  <a:pt x="57" y="533"/>
                </a:moveTo>
                <a:cubicBezTo>
                  <a:pt x="54" y="484"/>
                  <a:pt x="0" y="314"/>
                  <a:pt x="37" y="232"/>
                </a:cubicBezTo>
                <a:cubicBezTo>
                  <a:pt x="74" y="150"/>
                  <a:pt x="173" y="72"/>
                  <a:pt x="277" y="40"/>
                </a:cubicBezTo>
                <a:cubicBezTo>
                  <a:pt x="381" y="8"/>
                  <a:pt x="573" y="0"/>
                  <a:pt x="661" y="40"/>
                </a:cubicBezTo>
                <a:cubicBezTo>
                  <a:pt x="749" y="80"/>
                  <a:pt x="794" y="199"/>
                  <a:pt x="805" y="280"/>
                </a:cubicBezTo>
                <a:cubicBezTo>
                  <a:pt x="816" y="361"/>
                  <a:pt x="744" y="475"/>
                  <a:pt x="728" y="526"/>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58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93891"/>
                                        </p:tgtEl>
                                        <p:attrNameLst>
                                          <p:attrName>style.visibility</p:attrName>
                                        </p:attrNameLst>
                                      </p:cBhvr>
                                      <p:to>
                                        <p:strVal val="visible"/>
                                      </p:to>
                                    </p:set>
                                    <p:animEffect transition="in" filter="wipe(up)">
                                      <p:cBhvr>
                                        <p:cTn id="7" dur="500"/>
                                        <p:tgtEl>
                                          <p:spTgt spid="2938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3904"/>
                                        </p:tgtEl>
                                        <p:attrNameLst>
                                          <p:attrName>style.visibility</p:attrName>
                                        </p:attrNameLst>
                                      </p:cBhvr>
                                      <p:to>
                                        <p:strVal val="visible"/>
                                      </p:to>
                                    </p:set>
                                    <p:animEffect transition="in" filter="wipe(left)">
                                      <p:cBhvr>
                                        <p:cTn id="12" dur="500"/>
                                        <p:tgtEl>
                                          <p:spTgt spid="2939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93917"/>
                                        </p:tgtEl>
                                        <p:attrNameLst>
                                          <p:attrName>style.visibility</p:attrName>
                                        </p:attrNameLst>
                                      </p:cBhvr>
                                      <p:to>
                                        <p:strVal val="visible"/>
                                      </p:to>
                                    </p:set>
                                    <p:animEffect transition="in" filter="wipe(up)">
                                      <p:cBhvr>
                                        <p:cTn id="17" dur="500"/>
                                        <p:tgtEl>
                                          <p:spTgt spid="2939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93910"/>
                                        </p:tgtEl>
                                        <p:attrNameLst>
                                          <p:attrName>style.visibility</p:attrName>
                                        </p:attrNameLst>
                                      </p:cBhvr>
                                      <p:to>
                                        <p:strVal val="visible"/>
                                      </p:to>
                                    </p:set>
                                    <p:animEffect transition="in" filter="dissolve">
                                      <p:cBhvr>
                                        <p:cTn id="22" dur="500"/>
                                        <p:tgtEl>
                                          <p:spTgt spid="293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1" grpId="0" animBg="1" autoUpdateAnimBg="0"/>
      <p:bldP spid="293904" grpId="0" autoUpdateAnimBg="0"/>
      <p:bldP spid="293910"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14"/>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err="1" smtClean="0">
                <a:solidFill>
                  <a:schemeClr val="hlink"/>
                </a:solidFill>
                <a:latin typeface="Arial Rounded MT Bold" pitchFamily="34" charset="0"/>
              </a:rPr>
              <a:t>Biconnected</a:t>
            </a:r>
            <a:r>
              <a:rPr lang="en-US" sz="2800" dirty="0" smtClean="0">
                <a:solidFill>
                  <a:schemeClr val="hlink"/>
                </a:solidFill>
                <a:latin typeface="Arial Rounded MT Bold" pitchFamily="34" charset="0"/>
              </a:rPr>
              <a:t> Components</a:t>
            </a:r>
            <a:r>
              <a:rPr lang="en-US" sz="2800" dirty="0" smtClean="0">
                <a:solidFill>
                  <a:schemeClr val="tx1"/>
                </a:solidFill>
                <a:latin typeface="Arial Rounded MT Bold" pitchFamily="34" charset="0"/>
              </a:rPr>
              <a:t> &amp; </a:t>
            </a:r>
            <a:r>
              <a:rPr lang="en-US" sz="2800" dirty="0" smtClean="0">
                <a:solidFill>
                  <a:srgbClr val="CC0000"/>
                </a:solidFill>
                <a:latin typeface="Arial Rounded MT Bold" pitchFamily="34" charset="0"/>
              </a:rPr>
              <a:t>Articulation Points</a:t>
            </a:r>
          </a:p>
        </p:txBody>
      </p:sp>
      <p:sp>
        <p:nvSpPr>
          <p:cNvPr id="61443" name="Rectangle 15" descr="Recycled paper"/>
          <p:cNvSpPr>
            <a:spLocks noChangeArrowheads="1"/>
          </p:cNvSpPr>
          <p:nvPr/>
        </p:nvSpPr>
        <p:spPr bwMode="auto">
          <a:xfrm>
            <a:off x="152400" y="838200"/>
            <a:ext cx="8839200" cy="1938338"/>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288925" indent="-288925" eaLnBrk="1" hangingPunct="1">
              <a:spcBef>
                <a:spcPct val="50000"/>
              </a:spcBef>
              <a:buFontTx/>
              <a:buNone/>
            </a:pPr>
            <a:r>
              <a:rPr lang="en-US" sz="2400" b="1" dirty="0">
                <a:solidFill>
                  <a:srgbClr val="CC0000"/>
                </a:solidFill>
              </a:rPr>
              <a:t>FACT 5:    </a:t>
            </a:r>
            <a:r>
              <a:rPr lang="en-US" sz="2000" dirty="0">
                <a:solidFill>
                  <a:schemeClr val="hlink"/>
                </a:solidFill>
              </a:rPr>
              <a:t>Let </a:t>
            </a:r>
            <a:r>
              <a:rPr lang="en-US" sz="2000" dirty="0" err="1">
                <a:solidFill>
                  <a:schemeClr val="hlink"/>
                </a:solidFill>
              </a:rPr>
              <a:t>G</a:t>
            </a:r>
            <a:r>
              <a:rPr lang="en-US" sz="2000" baseline="-25000" dirty="0" err="1">
                <a:solidFill>
                  <a:schemeClr val="hlink"/>
                </a:solidFill>
              </a:rPr>
              <a:t>i</a:t>
            </a:r>
            <a:r>
              <a:rPr lang="en-US" sz="2000" dirty="0">
                <a:solidFill>
                  <a:schemeClr val="hlink"/>
                </a:solidFill>
              </a:rPr>
              <a:t> = (V</a:t>
            </a:r>
            <a:r>
              <a:rPr lang="en-US" sz="2000" baseline="-25000" dirty="0">
                <a:solidFill>
                  <a:schemeClr val="hlink"/>
                </a:solidFill>
              </a:rPr>
              <a:t>i</a:t>
            </a:r>
            <a:r>
              <a:rPr lang="en-US" sz="2000" dirty="0">
                <a:solidFill>
                  <a:schemeClr val="hlink"/>
                </a:solidFill>
              </a:rPr>
              <a:t> , </a:t>
            </a:r>
            <a:r>
              <a:rPr lang="en-US" sz="2000" dirty="0" err="1">
                <a:solidFill>
                  <a:schemeClr val="hlink"/>
                </a:solidFill>
              </a:rPr>
              <a:t>E</a:t>
            </a:r>
            <a:r>
              <a:rPr lang="en-US" sz="2000" baseline="-25000" dirty="0" err="1">
                <a:solidFill>
                  <a:schemeClr val="hlink"/>
                </a:solidFill>
              </a:rPr>
              <a:t>i</a:t>
            </a:r>
            <a:r>
              <a:rPr lang="en-US" sz="2000" dirty="0">
                <a:solidFill>
                  <a:schemeClr val="hlink"/>
                </a:solidFill>
              </a:rPr>
              <a:t> ) , i = 1..k, be </a:t>
            </a:r>
            <a:r>
              <a:rPr lang="en-US" sz="2000" dirty="0" err="1">
                <a:solidFill>
                  <a:schemeClr val="hlink"/>
                </a:solidFill>
              </a:rPr>
              <a:t>biconnected</a:t>
            </a:r>
            <a:r>
              <a:rPr lang="en-US" sz="2000" dirty="0">
                <a:solidFill>
                  <a:schemeClr val="hlink"/>
                </a:solidFill>
              </a:rPr>
              <a:t> components of G.   Then,</a:t>
            </a:r>
          </a:p>
          <a:p>
            <a:pPr marL="760413" lvl="1" indent="-280988" eaLnBrk="1" hangingPunct="1">
              <a:spcBef>
                <a:spcPct val="50000"/>
              </a:spcBef>
              <a:buFontTx/>
              <a:buAutoNum type="arabicPeriod"/>
            </a:pPr>
            <a:r>
              <a:rPr lang="en-US" sz="2000" dirty="0" err="1">
                <a:solidFill>
                  <a:schemeClr val="hlink"/>
                </a:solidFill>
              </a:rPr>
              <a:t>G</a:t>
            </a:r>
            <a:r>
              <a:rPr lang="en-US" sz="2000" baseline="-25000" dirty="0" err="1">
                <a:solidFill>
                  <a:schemeClr val="hlink"/>
                </a:solidFill>
              </a:rPr>
              <a:t>i</a:t>
            </a:r>
            <a:r>
              <a:rPr lang="en-US" sz="2000" dirty="0">
                <a:solidFill>
                  <a:schemeClr val="hlink"/>
                </a:solidFill>
              </a:rPr>
              <a:t>  is </a:t>
            </a:r>
            <a:r>
              <a:rPr lang="en-US" sz="2000" dirty="0" err="1">
                <a:solidFill>
                  <a:schemeClr val="hlink"/>
                </a:solidFill>
              </a:rPr>
              <a:t>biconnected</a:t>
            </a:r>
            <a:r>
              <a:rPr lang="en-US" sz="2000" dirty="0">
                <a:solidFill>
                  <a:schemeClr val="hlink"/>
                </a:solidFill>
              </a:rPr>
              <a:t> ,  for i = 1..k, </a:t>
            </a:r>
          </a:p>
          <a:p>
            <a:pPr marL="760413" lvl="1" indent="-280988" eaLnBrk="1" hangingPunct="1">
              <a:spcBef>
                <a:spcPct val="50000"/>
              </a:spcBef>
              <a:buFontTx/>
              <a:buAutoNum type="arabicPeriod"/>
            </a:pPr>
            <a:r>
              <a:rPr lang="en-US" sz="2000" dirty="0">
                <a:solidFill>
                  <a:schemeClr val="hlink"/>
                </a:solidFill>
              </a:rPr>
              <a:t>V</a:t>
            </a:r>
            <a:r>
              <a:rPr lang="en-US" sz="2000" baseline="-25000" dirty="0">
                <a:solidFill>
                  <a:schemeClr val="hlink"/>
                </a:solidFill>
              </a:rPr>
              <a:t>i </a:t>
            </a:r>
            <a:r>
              <a:rPr lang="en-US" sz="2000" dirty="0">
                <a:solidFill>
                  <a:schemeClr val="hlink"/>
                </a:solidFill>
                <a:sym typeface="Symbol" pitchFamily="18" charset="2"/>
              </a:rPr>
              <a:t></a:t>
            </a:r>
            <a:r>
              <a:rPr lang="en-US" sz="2000" baseline="-25000" dirty="0">
                <a:solidFill>
                  <a:schemeClr val="hlink"/>
                </a:solidFill>
              </a:rPr>
              <a:t> </a:t>
            </a:r>
            <a:r>
              <a:rPr lang="en-US" sz="2000" dirty="0" err="1">
                <a:solidFill>
                  <a:schemeClr val="hlink"/>
                </a:solidFill>
              </a:rPr>
              <a:t>V</a:t>
            </a:r>
            <a:r>
              <a:rPr lang="en-US" sz="2000" baseline="-25000" dirty="0" err="1">
                <a:solidFill>
                  <a:schemeClr val="hlink"/>
                </a:solidFill>
              </a:rPr>
              <a:t>j</a:t>
            </a:r>
            <a:r>
              <a:rPr lang="en-US" sz="2000" dirty="0">
                <a:solidFill>
                  <a:schemeClr val="hlink"/>
                </a:solidFill>
              </a:rPr>
              <a:t> has at most one node, for i </a:t>
            </a:r>
            <a:r>
              <a:rPr lang="en-US" sz="2000" dirty="0">
                <a:solidFill>
                  <a:schemeClr val="hlink"/>
                </a:solidFill>
                <a:sym typeface="Symbol" pitchFamily="18" charset="2"/>
              </a:rPr>
              <a:t> </a:t>
            </a:r>
            <a:r>
              <a:rPr lang="en-US" sz="2000" dirty="0">
                <a:solidFill>
                  <a:schemeClr val="hlink"/>
                </a:solidFill>
              </a:rPr>
              <a:t>j,</a:t>
            </a:r>
          </a:p>
          <a:p>
            <a:pPr marL="760413" lvl="1" indent="-280988" eaLnBrk="1" hangingPunct="1">
              <a:spcBef>
                <a:spcPct val="50000"/>
              </a:spcBef>
              <a:buFontTx/>
              <a:buAutoNum type="arabicPeriod"/>
            </a:pPr>
            <a:r>
              <a:rPr lang="en-US" sz="2000" dirty="0">
                <a:solidFill>
                  <a:schemeClr val="hlink"/>
                </a:solidFill>
              </a:rPr>
              <a:t>node </a:t>
            </a:r>
            <a:r>
              <a:rPr lang="en-US" sz="2000" dirty="0" err="1">
                <a:solidFill>
                  <a:schemeClr val="hlink"/>
                </a:solidFill>
              </a:rPr>
              <a:t>x</a:t>
            </a:r>
            <a:r>
              <a:rPr lang="en-US" sz="2000" dirty="0" err="1">
                <a:solidFill>
                  <a:schemeClr val="hlink"/>
                </a:solidFill>
                <a:sym typeface="Symbol" pitchFamily="18" charset="2"/>
              </a:rPr>
              <a:t></a:t>
            </a:r>
            <a:r>
              <a:rPr lang="en-US" sz="2000" dirty="0" err="1">
                <a:solidFill>
                  <a:schemeClr val="hlink"/>
                </a:solidFill>
              </a:rPr>
              <a:t>V</a:t>
            </a:r>
            <a:r>
              <a:rPr lang="en-US" sz="2000" dirty="0">
                <a:solidFill>
                  <a:schemeClr val="hlink"/>
                </a:solidFill>
              </a:rPr>
              <a:t> is an articulation point of G  </a:t>
            </a:r>
            <a:r>
              <a:rPr lang="en-US" sz="2400" dirty="0">
                <a:solidFill>
                  <a:srgbClr val="CC0000"/>
                </a:solidFill>
                <a:sym typeface="Symbol" pitchFamily="18" charset="2"/>
              </a:rPr>
              <a:t></a:t>
            </a:r>
            <a:r>
              <a:rPr lang="en-US" sz="2000" dirty="0">
                <a:solidFill>
                  <a:schemeClr val="hlink"/>
                </a:solidFill>
              </a:rPr>
              <a:t>  x </a:t>
            </a:r>
            <a:r>
              <a:rPr lang="en-US" sz="2000" dirty="0">
                <a:solidFill>
                  <a:schemeClr val="hlink"/>
                </a:solidFill>
                <a:sym typeface="Symbol" pitchFamily="18" charset="2"/>
              </a:rPr>
              <a:t> </a:t>
            </a:r>
            <a:r>
              <a:rPr lang="en-US" sz="2000" dirty="0">
                <a:solidFill>
                  <a:schemeClr val="hlink"/>
                </a:solidFill>
              </a:rPr>
              <a:t>V</a:t>
            </a:r>
            <a:r>
              <a:rPr lang="en-US" sz="2000" baseline="-25000" dirty="0">
                <a:solidFill>
                  <a:schemeClr val="hlink"/>
                </a:solidFill>
              </a:rPr>
              <a:t>i </a:t>
            </a:r>
            <a:r>
              <a:rPr lang="en-US" sz="2000" dirty="0">
                <a:solidFill>
                  <a:schemeClr val="hlink"/>
                </a:solidFill>
                <a:sym typeface="Symbol" pitchFamily="18" charset="2"/>
              </a:rPr>
              <a:t></a:t>
            </a:r>
            <a:r>
              <a:rPr lang="en-US" sz="2000" baseline="-25000" dirty="0">
                <a:solidFill>
                  <a:schemeClr val="hlink"/>
                </a:solidFill>
              </a:rPr>
              <a:t> </a:t>
            </a:r>
            <a:r>
              <a:rPr lang="en-US" sz="2000" dirty="0" err="1">
                <a:solidFill>
                  <a:schemeClr val="hlink"/>
                </a:solidFill>
              </a:rPr>
              <a:t>V</a:t>
            </a:r>
            <a:r>
              <a:rPr lang="en-US" sz="2000" baseline="-25000" dirty="0" err="1">
                <a:solidFill>
                  <a:schemeClr val="hlink"/>
                </a:solidFill>
              </a:rPr>
              <a:t>j</a:t>
            </a:r>
            <a:r>
              <a:rPr lang="en-US" sz="2000" dirty="0">
                <a:solidFill>
                  <a:schemeClr val="hlink"/>
                </a:solidFill>
              </a:rPr>
              <a:t>  for some i </a:t>
            </a:r>
            <a:r>
              <a:rPr lang="en-US" sz="2000" dirty="0">
                <a:solidFill>
                  <a:schemeClr val="hlink"/>
                </a:solidFill>
                <a:sym typeface="Symbol" pitchFamily="18" charset="2"/>
              </a:rPr>
              <a:t> </a:t>
            </a:r>
            <a:r>
              <a:rPr lang="en-US" sz="2000" dirty="0">
                <a:solidFill>
                  <a:schemeClr val="hlink"/>
                </a:solidFill>
              </a:rPr>
              <a:t>j.</a:t>
            </a:r>
          </a:p>
        </p:txBody>
      </p:sp>
      <p:sp>
        <p:nvSpPr>
          <p:cNvPr id="295952" name="Text Box 16"/>
          <p:cNvSpPr txBox="1">
            <a:spLocks noChangeArrowheads="1"/>
          </p:cNvSpPr>
          <p:nvPr/>
        </p:nvSpPr>
        <p:spPr bwMode="auto">
          <a:xfrm>
            <a:off x="136525" y="2967038"/>
            <a:ext cx="8528050" cy="40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None/>
            </a:pPr>
            <a:r>
              <a:rPr lang="en-US" sz="2000" b="1"/>
              <a:t>Proof of (2):</a:t>
            </a:r>
            <a:r>
              <a:rPr lang="en-US" sz="2000"/>
              <a:t> G</a:t>
            </a:r>
            <a:r>
              <a:rPr lang="en-US" sz="2000" baseline="-25000"/>
              <a:t>i</a:t>
            </a:r>
            <a:r>
              <a:rPr lang="en-US" sz="2000">
                <a:solidFill>
                  <a:schemeClr val="hlink"/>
                </a:solidFill>
              </a:rPr>
              <a:t> </a:t>
            </a:r>
            <a:r>
              <a:rPr lang="en-US" sz="2000"/>
              <a:t> and G</a:t>
            </a:r>
            <a:r>
              <a:rPr lang="en-US" sz="2000" baseline="-25000"/>
              <a:t>j</a:t>
            </a:r>
            <a:r>
              <a:rPr lang="en-US" sz="2000">
                <a:solidFill>
                  <a:schemeClr val="hlink"/>
                </a:solidFill>
              </a:rPr>
              <a:t> </a:t>
            </a:r>
            <a:r>
              <a:rPr lang="en-US" sz="2000"/>
              <a:t>cannot have more than one point in common, say x and y:</a:t>
            </a:r>
          </a:p>
        </p:txBody>
      </p:sp>
      <p:grpSp>
        <p:nvGrpSpPr>
          <p:cNvPr id="295959" name="Group 23"/>
          <p:cNvGrpSpPr>
            <a:grpSpLocks/>
          </p:cNvGrpSpPr>
          <p:nvPr/>
        </p:nvGrpSpPr>
        <p:grpSpPr bwMode="auto">
          <a:xfrm>
            <a:off x="1676400" y="3352800"/>
            <a:ext cx="5689600" cy="3303588"/>
            <a:chOff x="288" y="2112"/>
            <a:chExt cx="3584" cy="2081"/>
          </a:xfrm>
        </p:grpSpPr>
        <p:sp>
          <p:nvSpPr>
            <p:cNvPr id="61454" name="Freeform 3"/>
            <p:cNvSpPr>
              <a:spLocks/>
            </p:cNvSpPr>
            <p:nvPr/>
          </p:nvSpPr>
          <p:spPr bwMode="auto">
            <a:xfrm>
              <a:off x="594" y="2301"/>
              <a:ext cx="1623" cy="1777"/>
            </a:xfrm>
            <a:custGeom>
              <a:avLst/>
              <a:gdLst>
                <a:gd name="T0" fmla="*/ 16 w 1623"/>
                <a:gd name="T1" fmla="*/ 816 h 1777"/>
                <a:gd name="T2" fmla="*/ 443 w 1623"/>
                <a:gd name="T3" fmla="*/ 131 h 1777"/>
                <a:gd name="T4" fmla="*/ 1500 w 1623"/>
                <a:gd name="T5" fmla="*/ 64 h 1777"/>
                <a:gd name="T6" fmla="*/ 1181 w 1623"/>
                <a:gd name="T7" fmla="*/ 518 h 1777"/>
                <a:gd name="T8" fmla="*/ 1168 w 1623"/>
                <a:gd name="T9" fmla="*/ 1094 h 1777"/>
                <a:gd name="T10" fmla="*/ 1473 w 1623"/>
                <a:gd name="T11" fmla="*/ 1697 h 1777"/>
                <a:gd name="T12" fmla="*/ 347 w 1623"/>
                <a:gd name="T13" fmla="*/ 1571 h 1777"/>
                <a:gd name="T14" fmla="*/ 16 w 1623"/>
                <a:gd name="T15" fmla="*/ 816 h 17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23" h="1777">
                  <a:moveTo>
                    <a:pt x="16" y="816"/>
                  </a:moveTo>
                  <a:cubicBezTo>
                    <a:pt x="32" y="576"/>
                    <a:pt x="196" y="256"/>
                    <a:pt x="443" y="131"/>
                  </a:cubicBezTo>
                  <a:cubicBezTo>
                    <a:pt x="690" y="6"/>
                    <a:pt x="1377" y="0"/>
                    <a:pt x="1500" y="64"/>
                  </a:cubicBezTo>
                  <a:cubicBezTo>
                    <a:pt x="1623" y="128"/>
                    <a:pt x="1236" y="346"/>
                    <a:pt x="1181" y="518"/>
                  </a:cubicBezTo>
                  <a:cubicBezTo>
                    <a:pt x="1126" y="690"/>
                    <a:pt x="1119" y="898"/>
                    <a:pt x="1168" y="1094"/>
                  </a:cubicBezTo>
                  <a:cubicBezTo>
                    <a:pt x="1217" y="1290"/>
                    <a:pt x="1610" y="1617"/>
                    <a:pt x="1473" y="1697"/>
                  </a:cubicBezTo>
                  <a:cubicBezTo>
                    <a:pt x="1336" y="1777"/>
                    <a:pt x="590" y="1718"/>
                    <a:pt x="347" y="1571"/>
                  </a:cubicBezTo>
                  <a:cubicBezTo>
                    <a:pt x="104" y="1424"/>
                    <a:pt x="0" y="1056"/>
                    <a:pt x="16" y="816"/>
                  </a:cubicBezTo>
                  <a:close/>
                </a:path>
              </a:pathLst>
            </a:custGeom>
            <a:solidFill>
              <a:schemeClr val="bg1"/>
            </a:solidFill>
            <a:ln w="12700" cap="flat" cmpd="sng">
              <a:solidFill>
                <a:srgbClr val="CC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1455" name="Text Box 10"/>
            <p:cNvSpPr txBox="1">
              <a:spLocks noChangeArrowheads="1"/>
            </p:cNvSpPr>
            <p:nvPr/>
          </p:nvSpPr>
          <p:spPr bwMode="auto">
            <a:xfrm>
              <a:off x="2064" y="2112"/>
              <a:ext cx="1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x</a:t>
              </a:r>
            </a:p>
          </p:txBody>
        </p:sp>
        <p:sp>
          <p:nvSpPr>
            <p:cNvPr id="61456" name="Text Box 13"/>
            <p:cNvSpPr txBox="1">
              <a:spLocks noChangeArrowheads="1"/>
            </p:cNvSpPr>
            <p:nvPr/>
          </p:nvSpPr>
          <p:spPr bwMode="auto">
            <a:xfrm>
              <a:off x="288" y="2736"/>
              <a:ext cx="320"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800"/>
                <a:t>G</a:t>
              </a:r>
              <a:r>
                <a:rPr lang="en-US" sz="2800" baseline="-25000"/>
                <a:t>i</a:t>
              </a:r>
            </a:p>
          </p:txBody>
        </p:sp>
        <p:sp>
          <p:nvSpPr>
            <p:cNvPr id="61457" name="Text Box 18"/>
            <p:cNvSpPr txBox="1">
              <a:spLocks noChangeArrowheads="1"/>
            </p:cNvSpPr>
            <p:nvPr/>
          </p:nvSpPr>
          <p:spPr bwMode="auto">
            <a:xfrm>
              <a:off x="2016" y="3936"/>
              <a:ext cx="1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y</a:t>
              </a:r>
            </a:p>
          </p:txBody>
        </p:sp>
        <p:sp>
          <p:nvSpPr>
            <p:cNvPr id="61458" name="Freeform 19"/>
            <p:cNvSpPr>
              <a:spLocks/>
            </p:cNvSpPr>
            <p:nvPr/>
          </p:nvSpPr>
          <p:spPr bwMode="auto">
            <a:xfrm>
              <a:off x="2001" y="2294"/>
              <a:ext cx="1583" cy="1776"/>
            </a:xfrm>
            <a:custGeom>
              <a:avLst/>
              <a:gdLst>
                <a:gd name="T0" fmla="*/ 1577 w 1583"/>
                <a:gd name="T1" fmla="*/ 904 h 1776"/>
                <a:gd name="T2" fmla="*/ 1179 w 1583"/>
                <a:gd name="T3" fmla="*/ 1606 h 1776"/>
                <a:gd name="T4" fmla="*/ 126 w 1583"/>
                <a:gd name="T5" fmla="*/ 1717 h 1776"/>
                <a:gd name="T6" fmla="*/ 426 w 1583"/>
                <a:gd name="T7" fmla="*/ 1251 h 1776"/>
                <a:gd name="T8" fmla="*/ 415 w 1583"/>
                <a:gd name="T9" fmla="*/ 674 h 1776"/>
                <a:gd name="T10" fmla="*/ 161 w 1583"/>
                <a:gd name="T11" fmla="*/ 85 h 1776"/>
                <a:gd name="T12" fmla="*/ 1215 w 1583"/>
                <a:gd name="T13" fmla="*/ 164 h 1776"/>
                <a:gd name="T14" fmla="*/ 1577 w 1583"/>
                <a:gd name="T15" fmla="*/ 904 h 17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83" h="1776">
                  <a:moveTo>
                    <a:pt x="1577" y="904"/>
                  </a:moveTo>
                  <a:cubicBezTo>
                    <a:pt x="1571" y="1145"/>
                    <a:pt x="1421" y="1471"/>
                    <a:pt x="1179" y="1606"/>
                  </a:cubicBezTo>
                  <a:cubicBezTo>
                    <a:pt x="937" y="1742"/>
                    <a:pt x="251" y="1776"/>
                    <a:pt x="126" y="1717"/>
                  </a:cubicBezTo>
                  <a:cubicBezTo>
                    <a:pt x="0" y="1659"/>
                    <a:pt x="378" y="1425"/>
                    <a:pt x="426" y="1251"/>
                  </a:cubicBezTo>
                  <a:cubicBezTo>
                    <a:pt x="473" y="1076"/>
                    <a:pt x="459" y="868"/>
                    <a:pt x="415" y="674"/>
                  </a:cubicBezTo>
                  <a:cubicBezTo>
                    <a:pt x="371" y="480"/>
                    <a:pt x="28" y="170"/>
                    <a:pt x="161" y="85"/>
                  </a:cubicBezTo>
                  <a:cubicBezTo>
                    <a:pt x="294" y="0"/>
                    <a:pt x="979" y="28"/>
                    <a:pt x="1215" y="164"/>
                  </a:cubicBezTo>
                  <a:cubicBezTo>
                    <a:pt x="1451" y="300"/>
                    <a:pt x="1583" y="664"/>
                    <a:pt x="1577" y="904"/>
                  </a:cubicBezTo>
                  <a:close/>
                </a:path>
              </a:pathLst>
            </a:custGeom>
            <a:solidFill>
              <a:schemeClr val="bg1"/>
            </a:solidFill>
            <a:ln w="12700" cap="flat" cmpd="sng">
              <a:solidFill>
                <a:srgbClr val="CC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1459" name="Oval 20"/>
            <p:cNvSpPr>
              <a:spLocks noChangeArrowheads="1"/>
            </p:cNvSpPr>
            <p:nvPr/>
          </p:nvSpPr>
          <p:spPr bwMode="auto">
            <a:xfrm>
              <a:off x="2064" y="2352"/>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61460" name="Oval 21"/>
            <p:cNvSpPr>
              <a:spLocks noChangeArrowheads="1"/>
            </p:cNvSpPr>
            <p:nvPr/>
          </p:nvSpPr>
          <p:spPr bwMode="auto">
            <a:xfrm>
              <a:off x="2064" y="3888"/>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61461" name="Text Box 22"/>
            <p:cNvSpPr txBox="1">
              <a:spLocks noChangeArrowheads="1"/>
            </p:cNvSpPr>
            <p:nvPr/>
          </p:nvSpPr>
          <p:spPr bwMode="auto">
            <a:xfrm>
              <a:off x="3552" y="2688"/>
              <a:ext cx="320"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800"/>
                <a:t>G</a:t>
              </a:r>
              <a:r>
                <a:rPr lang="en-US" sz="2800" baseline="-25000"/>
                <a:t>j</a:t>
              </a:r>
            </a:p>
          </p:txBody>
        </p:sp>
      </p:grpSp>
      <p:grpSp>
        <p:nvGrpSpPr>
          <p:cNvPr id="295975" name="Group 39"/>
          <p:cNvGrpSpPr>
            <a:grpSpLocks/>
          </p:cNvGrpSpPr>
          <p:nvPr/>
        </p:nvGrpSpPr>
        <p:grpSpPr bwMode="auto">
          <a:xfrm>
            <a:off x="3117850" y="3810000"/>
            <a:ext cx="1454150" cy="2438400"/>
            <a:chOff x="1964" y="2400"/>
            <a:chExt cx="916" cy="1536"/>
          </a:xfrm>
        </p:grpSpPr>
        <p:sp>
          <p:nvSpPr>
            <p:cNvPr id="61451" name="Line 24"/>
            <p:cNvSpPr>
              <a:spLocks noChangeShapeType="1"/>
            </p:cNvSpPr>
            <p:nvPr/>
          </p:nvSpPr>
          <p:spPr bwMode="auto">
            <a:xfrm flipH="1">
              <a:off x="2112" y="2400"/>
              <a:ext cx="768"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1452" name="Line 25"/>
            <p:cNvSpPr>
              <a:spLocks noChangeShapeType="1"/>
            </p:cNvSpPr>
            <p:nvPr/>
          </p:nvSpPr>
          <p:spPr bwMode="auto">
            <a:xfrm flipH="1" flipV="1">
              <a:off x="2064" y="3648"/>
              <a:ext cx="816"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1453" name="Freeform 28"/>
            <p:cNvSpPr>
              <a:spLocks/>
            </p:cNvSpPr>
            <p:nvPr/>
          </p:nvSpPr>
          <p:spPr bwMode="auto">
            <a:xfrm>
              <a:off x="1964" y="2640"/>
              <a:ext cx="156" cy="1013"/>
            </a:xfrm>
            <a:custGeom>
              <a:avLst/>
              <a:gdLst>
                <a:gd name="T0" fmla="*/ 148 w 156"/>
                <a:gd name="T1" fmla="*/ 0 h 1013"/>
                <a:gd name="T2" fmla="*/ 52 w 156"/>
                <a:gd name="T3" fmla="*/ 144 h 1013"/>
                <a:gd name="T4" fmla="*/ 148 w 156"/>
                <a:gd name="T5" fmla="*/ 240 h 1013"/>
                <a:gd name="T6" fmla="*/ 4 w 156"/>
                <a:gd name="T7" fmla="*/ 432 h 1013"/>
                <a:gd name="T8" fmla="*/ 148 w 156"/>
                <a:gd name="T9" fmla="*/ 672 h 1013"/>
                <a:gd name="T10" fmla="*/ 4 w 156"/>
                <a:gd name="T11" fmla="*/ 864 h 1013"/>
                <a:gd name="T12" fmla="*/ 123 w 156"/>
                <a:gd name="T13" fmla="*/ 1013 h 101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6" h="1013">
                  <a:moveTo>
                    <a:pt x="148" y="0"/>
                  </a:moveTo>
                  <a:cubicBezTo>
                    <a:pt x="100" y="52"/>
                    <a:pt x="52" y="104"/>
                    <a:pt x="52" y="144"/>
                  </a:cubicBezTo>
                  <a:cubicBezTo>
                    <a:pt x="52" y="184"/>
                    <a:pt x="156" y="192"/>
                    <a:pt x="148" y="240"/>
                  </a:cubicBezTo>
                  <a:cubicBezTo>
                    <a:pt x="140" y="288"/>
                    <a:pt x="4" y="360"/>
                    <a:pt x="4" y="432"/>
                  </a:cubicBezTo>
                  <a:cubicBezTo>
                    <a:pt x="4" y="504"/>
                    <a:pt x="148" y="600"/>
                    <a:pt x="148" y="672"/>
                  </a:cubicBezTo>
                  <a:cubicBezTo>
                    <a:pt x="148" y="744"/>
                    <a:pt x="8" y="807"/>
                    <a:pt x="4" y="864"/>
                  </a:cubicBezTo>
                  <a:cubicBezTo>
                    <a:pt x="0" y="921"/>
                    <a:pt x="98" y="982"/>
                    <a:pt x="123" y="1013"/>
                  </a:cubicBezTo>
                </a:path>
              </a:pathLst>
            </a:custGeom>
            <a:noFill/>
            <a:ln w="12700" cap="flat" cmpd="sng">
              <a:solidFill>
                <a:schemeClr val="tx1"/>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grpSp>
      <p:grpSp>
        <p:nvGrpSpPr>
          <p:cNvPr id="295976" name="Group 40"/>
          <p:cNvGrpSpPr>
            <a:grpSpLocks/>
          </p:cNvGrpSpPr>
          <p:nvPr/>
        </p:nvGrpSpPr>
        <p:grpSpPr bwMode="auto">
          <a:xfrm>
            <a:off x="4572000" y="3810000"/>
            <a:ext cx="1314450" cy="2438400"/>
            <a:chOff x="2880" y="2400"/>
            <a:chExt cx="828" cy="1536"/>
          </a:xfrm>
        </p:grpSpPr>
        <p:sp>
          <p:nvSpPr>
            <p:cNvPr id="61448" name="Line 26"/>
            <p:cNvSpPr>
              <a:spLocks noChangeShapeType="1"/>
            </p:cNvSpPr>
            <p:nvPr/>
          </p:nvSpPr>
          <p:spPr bwMode="auto">
            <a:xfrm>
              <a:off x="2880" y="2400"/>
              <a:ext cx="816"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1449" name="Line 27"/>
            <p:cNvSpPr>
              <a:spLocks noChangeShapeType="1"/>
            </p:cNvSpPr>
            <p:nvPr/>
          </p:nvSpPr>
          <p:spPr bwMode="auto">
            <a:xfrm flipV="1">
              <a:off x="2880" y="3600"/>
              <a:ext cx="816"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1450" name="Freeform 38"/>
            <p:cNvSpPr>
              <a:spLocks/>
            </p:cNvSpPr>
            <p:nvPr/>
          </p:nvSpPr>
          <p:spPr bwMode="auto">
            <a:xfrm>
              <a:off x="3552" y="2592"/>
              <a:ext cx="156" cy="1013"/>
            </a:xfrm>
            <a:custGeom>
              <a:avLst/>
              <a:gdLst>
                <a:gd name="T0" fmla="*/ 148 w 156"/>
                <a:gd name="T1" fmla="*/ 0 h 1013"/>
                <a:gd name="T2" fmla="*/ 52 w 156"/>
                <a:gd name="T3" fmla="*/ 144 h 1013"/>
                <a:gd name="T4" fmla="*/ 148 w 156"/>
                <a:gd name="T5" fmla="*/ 240 h 1013"/>
                <a:gd name="T6" fmla="*/ 4 w 156"/>
                <a:gd name="T7" fmla="*/ 432 h 1013"/>
                <a:gd name="T8" fmla="*/ 148 w 156"/>
                <a:gd name="T9" fmla="*/ 672 h 1013"/>
                <a:gd name="T10" fmla="*/ 4 w 156"/>
                <a:gd name="T11" fmla="*/ 864 h 1013"/>
                <a:gd name="T12" fmla="*/ 123 w 156"/>
                <a:gd name="T13" fmla="*/ 1013 h 101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6" h="1013">
                  <a:moveTo>
                    <a:pt x="148" y="0"/>
                  </a:moveTo>
                  <a:cubicBezTo>
                    <a:pt x="100" y="52"/>
                    <a:pt x="52" y="104"/>
                    <a:pt x="52" y="144"/>
                  </a:cubicBezTo>
                  <a:cubicBezTo>
                    <a:pt x="52" y="184"/>
                    <a:pt x="156" y="192"/>
                    <a:pt x="148" y="240"/>
                  </a:cubicBezTo>
                  <a:cubicBezTo>
                    <a:pt x="140" y="288"/>
                    <a:pt x="4" y="360"/>
                    <a:pt x="4" y="432"/>
                  </a:cubicBezTo>
                  <a:cubicBezTo>
                    <a:pt x="4" y="504"/>
                    <a:pt x="148" y="600"/>
                    <a:pt x="148" y="672"/>
                  </a:cubicBezTo>
                  <a:cubicBezTo>
                    <a:pt x="148" y="744"/>
                    <a:pt x="8" y="807"/>
                    <a:pt x="4" y="864"/>
                  </a:cubicBezTo>
                  <a:cubicBezTo>
                    <a:pt x="0" y="921"/>
                    <a:pt x="98" y="982"/>
                    <a:pt x="123" y="1013"/>
                  </a:cubicBezTo>
                </a:path>
              </a:pathLst>
            </a:custGeom>
            <a:noFill/>
            <a:ln w="12700" cap="flat" cmpd="sng">
              <a:solidFill>
                <a:schemeClr val="tx1"/>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59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5952"/>
                                        </p:tgtEl>
                                        <p:attrNameLst>
                                          <p:attrName>style.visibility</p:attrName>
                                        </p:attrNameLst>
                                      </p:cBhvr>
                                      <p:to>
                                        <p:strVal val="visible"/>
                                      </p:to>
                                    </p:set>
                                    <p:animEffect transition="in" filter="wipe(left)">
                                      <p:cBhvr>
                                        <p:cTn id="7" dur="500"/>
                                        <p:tgtEl>
                                          <p:spTgt spid="2959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95959"/>
                                        </p:tgtEl>
                                        <p:attrNameLst>
                                          <p:attrName>style.visibility</p:attrName>
                                        </p:attrNameLst>
                                      </p:cBhvr>
                                      <p:to>
                                        <p:strVal val="visible"/>
                                      </p:to>
                                    </p:set>
                                    <p:animEffect transition="in" filter="wipe(up)">
                                      <p:cBhvr>
                                        <p:cTn id="12" dur="500"/>
                                        <p:tgtEl>
                                          <p:spTgt spid="2959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295975"/>
                                        </p:tgtEl>
                                        <p:attrNameLst>
                                          <p:attrName>style.visibility</p:attrName>
                                        </p:attrNameLst>
                                      </p:cBhvr>
                                      <p:to>
                                        <p:strVal val="visible"/>
                                      </p:to>
                                    </p:set>
                                    <p:animEffect transition="in" filter="wipe(right)">
                                      <p:cBhvr>
                                        <p:cTn id="17" dur="500"/>
                                        <p:tgtEl>
                                          <p:spTgt spid="2959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95976"/>
                                        </p:tgtEl>
                                        <p:attrNameLst>
                                          <p:attrName>style.visibility</p:attrName>
                                        </p:attrNameLst>
                                      </p:cBhvr>
                                      <p:to>
                                        <p:strVal val="visible"/>
                                      </p:to>
                                    </p:set>
                                    <p:animEffect transition="in" filter="wipe(left)">
                                      <p:cBhvr>
                                        <p:cTn id="22" dur="500"/>
                                        <p:tgtEl>
                                          <p:spTgt spid="2959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52"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err="1" smtClean="0">
                <a:solidFill>
                  <a:schemeClr val="hlink"/>
                </a:solidFill>
                <a:latin typeface="Arial Rounded MT Bold" pitchFamily="34" charset="0"/>
              </a:rPr>
              <a:t>Biconnected</a:t>
            </a:r>
            <a:r>
              <a:rPr lang="en-US" sz="2800" dirty="0" smtClean="0">
                <a:solidFill>
                  <a:schemeClr val="hlink"/>
                </a:solidFill>
                <a:latin typeface="Arial Rounded MT Bold" pitchFamily="34" charset="0"/>
              </a:rPr>
              <a:t> Components</a:t>
            </a:r>
            <a:r>
              <a:rPr lang="en-US" sz="2800" dirty="0" smtClean="0">
                <a:solidFill>
                  <a:schemeClr val="tx1"/>
                </a:solidFill>
                <a:latin typeface="Arial Rounded MT Bold" pitchFamily="34" charset="0"/>
              </a:rPr>
              <a:t> &amp; </a:t>
            </a:r>
            <a:r>
              <a:rPr lang="en-US" sz="2800" dirty="0" smtClean="0">
                <a:solidFill>
                  <a:srgbClr val="CC0000"/>
                </a:solidFill>
                <a:latin typeface="Arial Rounded MT Bold" pitchFamily="34" charset="0"/>
              </a:rPr>
              <a:t>Articulation Points</a:t>
            </a:r>
          </a:p>
        </p:txBody>
      </p:sp>
      <p:sp>
        <p:nvSpPr>
          <p:cNvPr id="62467" name="Rectangle 3" descr="Recycled paper"/>
          <p:cNvSpPr>
            <a:spLocks noChangeArrowheads="1"/>
          </p:cNvSpPr>
          <p:nvPr/>
        </p:nvSpPr>
        <p:spPr bwMode="auto">
          <a:xfrm>
            <a:off x="152400" y="838200"/>
            <a:ext cx="8839200" cy="1938338"/>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288925" indent="-288925" eaLnBrk="1" hangingPunct="1">
              <a:spcBef>
                <a:spcPct val="50000"/>
              </a:spcBef>
              <a:buFontTx/>
              <a:buNone/>
            </a:pPr>
            <a:r>
              <a:rPr lang="en-US" sz="2400" b="1" dirty="0">
                <a:solidFill>
                  <a:srgbClr val="CC0000"/>
                </a:solidFill>
              </a:rPr>
              <a:t>FACT 5:    </a:t>
            </a:r>
            <a:r>
              <a:rPr lang="en-US" sz="2000" dirty="0">
                <a:solidFill>
                  <a:schemeClr val="hlink"/>
                </a:solidFill>
              </a:rPr>
              <a:t>Let </a:t>
            </a:r>
            <a:r>
              <a:rPr lang="en-US" sz="2000" dirty="0" err="1">
                <a:solidFill>
                  <a:schemeClr val="hlink"/>
                </a:solidFill>
              </a:rPr>
              <a:t>G</a:t>
            </a:r>
            <a:r>
              <a:rPr lang="en-US" sz="2000" baseline="-25000" dirty="0" err="1">
                <a:solidFill>
                  <a:schemeClr val="hlink"/>
                </a:solidFill>
              </a:rPr>
              <a:t>i</a:t>
            </a:r>
            <a:r>
              <a:rPr lang="en-US" sz="2000" dirty="0">
                <a:solidFill>
                  <a:schemeClr val="hlink"/>
                </a:solidFill>
              </a:rPr>
              <a:t> = (V</a:t>
            </a:r>
            <a:r>
              <a:rPr lang="en-US" sz="2000" baseline="-25000" dirty="0">
                <a:solidFill>
                  <a:schemeClr val="hlink"/>
                </a:solidFill>
              </a:rPr>
              <a:t>i</a:t>
            </a:r>
            <a:r>
              <a:rPr lang="en-US" sz="2000" dirty="0">
                <a:solidFill>
                  <a:schemeClr val="hlink"/>
                </a:solidFill>
              </a:rPr>
              <a:t> , </a:t>
            </a:r>
            <a:r>
              <a:rPr lang="en-US" sz="2000" dirty="0" err="1">
                <a:solidFill>
                  <a:schemeClr val="hlink"/>
                </a:solidFill>
              </a:rPr>
              <a:t>E</a:t>
            </a:r>
            <a:r>
              <a:rPr lang="en-US" sz="2000" baseline="-25000" dirty="0" err="1">
                <a:solidFill>
                  <a:schemeClr val="hlink"/>
                </a:solidFill>
              </a:rPr>
              <a:t>i</a:t>
            </a:r>
            <a:r>
              <a:rPr lang="en-US" sz="2000" dirty="0">
                <a:solidFill>
                  <a:schemeClr val="hlink"/>
                </a:solidFill>
              </a:rPr>
              <a:t> ) , i = 1..k, be </a:t>
            </a:r>
            <a:r>
              <a:rPr lang="en-US" sz="2000" dirty="0" err="1">
                <a:solidFill>
                  <a:schemeClr val="hlink"/>
                </a:solidFill>
              </a:rPr>
              <a:t>biconnected</a:t>
            </a:r>
            <a:r>
              <a:rPr lang="en-US" sz="2000" dirty="0">
                <a:solidFill>
                  <a:schemeClr val="hlink"/>
                </a:solidFill>
              </a:rPr>
              <a:t> components of G.   Then,</a:t>
            </a:r>
          </a:p>
          <a:p>
            <a:pPr marL="760413" lvl="1" indent="-280988" eaLnBrk="1" hangingPunct="1">
              <a:spcBef>
                <a:spcPct val="50000"/>
              </a:spcBef>
              <a:buFontTx/>
              <a:buAutoNum type="arabicPeriod"/>
            </a:pPr>
            <a:r>
              <a:rPr lang="en-US" sz="2000" dirty="0" err="1">
                <a:solidFill>
                  <a:schemeClr val="hlink"/>
                </a:solidFill>
              </a:rPr>
              <a:t>G</a:t>
            </a:r>
            <a:r>
              <a:rPr lang="en-US" sz="2000" baseline="-25000" dirty="0" err="1">
                <a:solidFill>
                  <a:schemeClr val="hlink"/>
                </a:solidFill>
              </a:rPr>
              <a:t>i</a:t>
            </a:r>
            <a:r>
              <a:rPr lang="en-US" sz="2000" dirty="0">
                <a:solidFill>
                  <a:schemeClr val="hlink"/>
                </a:solidFill>
              </a:rPr>
              <a:t>  is </a:t>
            </a:r>
            <a:r>
              <a:rPr lang="en-US" sz="2000" dirty="0" err="1">
                <a:solidFill>
                  <a:schemeClr val="hlink"/>
                </a:solidFill>
              </a:rPr>
              <a:t>biconnected</a:t>
            </a:r>
            <a:r>
              <a:rPr lang="en-US" sz="2000" dirty="0">
                <a:solidFill>
                  <a:schemeClr val="hlink"/>
                </a:solidFill>
              </a:rPr>
              <a:t> ,  for i = 1..k, </a:t>
            </a:r>
          </a:p>
          <a:p>
            <a:pPr marL="760413" lvl="1" indent="-280988" eaLnBrk="1" hangingPunct="1">
              <a:spcBef>
                <a:spcPct val="50000"/>
              </a:spcBef>
              <a:buFontTx/>
              <a:buAutoNum type="arabicPeriod"/>
            </a:pPr>
            <a:r>
              <a:rPr lang="en-US" sz="2000" dirty="0">
                <a:solidFill>
                  <a:schemeClr val="hlink"/>
                </a:solidFill>
              </a:rPr>
              <a:t>V</a:t>
            </a:r>
            <a:r>
              <a:rPr lang="en-US" sz="2000" baseline="-25000" dirty="0">
                <a:solidFill>
                  <a:schemeClr val="hlink"/>
                </a:solidFill>
              </a:rPr>
              <a:t>i </a:t>
            </a:r>
            <a:r>
              <a:rPr lang="en-US" sz="2000" dirty="0">
                <a:solidFill>
                  <a:schemeClr val="hlink"/>
                </a:solidFill>
                <a:sym typeface="Symbol" pitchFamily="18" charset="2"/>
              </a:rPr>
              <a:t></a:t>
            </a:r>
            <a:r>
              <a:rPr lang="en-US" sz="2000" baseline="-25000" dirty="0">
                <a:solidFill>
                  <a:schemeClr val="hlink"/>
                </a:solidFill>
              </a:rPr>
              <a:t> </a:t>
            </a:r>
            <a:r>
              <a:rPr lang="en-US" sz="2000" dirty="0" err="1">
                <a:solidFill>
                  <a:schemeClr val="hlink"/>
                </a:solidFill>
              </a:rPr>
              <a:t>V</a:t>
            </a:r>
            <a:r>
              <a:rPr lang="en-US" sz="2000" baseline="-25000" dirty="0" err="1">
                <a:solidFill>
                  <a:schemeClr val="hlink"/>
                </a:solidFill>
              </a:rPr>
              <a:t>j</a:t>
            </a:r>
            <a:r>
              <a:rPr lang="en-US" sz="2000" dirty="0">
                <a:solidFill>
                  <a:schemeClr val="hlink"/>
                </a:solidFill>
              </a:rPr>
              <a:t> has at most one node, for i </a:t>
            </a:r>
            <a:r>
              <a:rPr lang="en-US" sz="2000" dirty="0">
                <a:solidFill>
                  <a:schemeClr val="hlink"/>
                </a:solidFill>
                <a:sym typeface="Symbol" pitchFamily="18" charset="2"/>
              </a:rPr>
              <a:t> </a:t>
            </a:r>
            <a:r>
              <a:rPr lang="en-US" sz="2000" dirty="0">
                <a:solidFill>
                  <a:schemeClr val="hlink"/>
                </a:solidFill>
              </a:rPr>
              <a:t>j,</a:t>
            </a:r>
          </a:p>
          <a:p>
            <a:pPr marL="760413" lvl="1" indent="-280988" eaLnBrk="1" hangingPunct="1">
              <a:spcBef>
                <a:spcPct val="50000"/>
              </a:spcBef>
              <a:buFontTx/>
              <a:buAutoNum type="arabicPeriod"/>
            </a:pPr>
            <a:r>
              <a:rPr lang="en-US" sz="2000" dirty="0">
                <a:solidFill>
                  <a:schemeClr val="hlink"/>
                </a:solidFill>
              </a:rPr>
              <a:t>node </a:t>
            </a:r>
            <a:r>
              <a:rPr lang="en-US" sz="2000" dirty="0" err="1">
                <a:solidFill>
                  <a:schemeClr val="hlink"/>
                </a:solidFill>
              </a:rPr>
              <a:t>x</a:t>
            </a:r>
            <a:r>
              <a:rPr lang="en-US" sz="2000" dirty="0" err="1">
                <a:solidFill>
                  <a:schemeClr val="hlink"/>
                </a:solidFill>
                <a:sym typeface="Symbol" pitchFamily="18" charset="2"/>
              </a:rPr>
              <a:t></a:t>
            </a:r>
            <a:r>
              <a:rPr lang="en-US" sz="2000" dirty="0" err="1">
                <a:solidFill>
                  <a:schemeClr val="hlink"/>
                </a:solidFill>
              </a:rPr>
              <a:t>V</a:t>
            </a:r>
            <a:r>
              <a:rPr lang="en-US" sz="2000" dirty="0">
                <a:solidFill>
                  <a:schemeClr val="hlink"/>
                </a:solidFill>
              </a:rPr>
              <a:t> is an articulation point of G  </a:t>
            </a:r>
            <a:r>
              <a:rPr lang="en-US" sz="2400" dirty="0">
                <a:solidFill>
                  <a:srgbClr val="CC0000"/>
                </a:solidFill>
                <a:sym typeface="Symbol" pitchFamily="18" charset="2"/>
              </a:rPr>
              <a:t></a:t>
            </a:r>
            <a:r>
              <a:rPr lang="en-US" sz="2000" dirty="0">
                <a:solidFill>
                  <a:schemeClr val="hlink"/>
                </a:solidFill>
              </a:rPr>
              <a:t>  x </a:t>
            </a:r>
            <a:r>
              <a:rPr lang="en-US" sz="2000" dirty="0">
                <a:solidFill>
                  <a:schemeClr val="hlink"/>
                </a:solidFill>
                <a:sym typeface="Symbol" pitchFamily="18" charset="2"/>
              </a:rPr>
              <a:t> </a:t>
            </a:r>
            <a:r>
              <a:rPr lang="en-US" sz="2000" dirty="0">
                <a:solidFill>
                  <a:schemeClr val="hlink"/>
                </a:solidFill>
              </a:rPr>
              <a:t>V</a:t>
            </a:r>
            <a:r>
              <a:rPr lang="en-US" sz="2000" baseline="-25000" dirty="0">
                <a:solidFill>
                  <a:schemeClr val="hlink"/>
                </a:solidFill>
              </a:rPr>
              <a:t>i </a:t>
            </a:r>
            <a:r>
              <a:rPr lang="en-US" sz="2000" dirty="0">
                <a:solidFill>
                  <a:schemeClr val="hlink"/>
                </a:solidFill>
                <a:sym typeface="Symbol" pitchFamily="18" charset="2"/>
              </a:rPr>
              <a:t></a:t>
            </a:r>
            <a:r>
              <a:rPr lang="en-US" sz="2000" baseline="-25000" dirty="0">
                <a:solidFill>
                  <a:schemeClr val="hlink"/>
                </a:solidFill>
              </a:rPr>
              <a:t> </a:t>
            </a:r>
            <a:r>
              <a:rPr lang="en-US" sz="2000" dirty="0" err="1">
                <a:solidFill>
                  <a:schemeClr val="hlink"/>
                </a:solidFill>
              </a:rPr>
              <a:t>V</a:t>
            </a:r>
            <a:r>
              <a:rPr lang="en-US" sz="2000" baseline="-25000" dirty="0" err="1">
                <a:solidFill>
                  <a:schemeClr val="hlink"/>
                </a:solidFill>
              </a:rPr>
              <a:t>j</a:t>
            </a:r>
            <a:r>
              <a:rPr lang="en-US" sz="2000" dirty="0">
                <a:solidFill>
                  <a:schemeClr val="hlink"/>
                </a:solidFill>
              </a:rPr>
              <a:t>  for some i </a:t>
            </a:r>
            <a:r>
              <a:rPr lang="en-US" sz="2000" dirty="0">
                <a:solidFill>
                  <a:schemeClr val="hlink"/>
                </a:solidFill>
                <a:sym typeface="Symbol" pitchFamily="18" charset="2"/>
              </a:rPr>
              <a:t> </a:t>
            </a:r>
            <a:r>
              <a:rPr lang="en-US" sz="2000" dirty="0">
                <a:solidFill>
                  <a:schemeClr val="hlink"/>
                </a:solidFill>
              </a:rPr>
              <a:t>j.</a:t>
            </a:r>
          </a:p>
        </p:txBody>
      </p:sp>
      <p:sp>
        <p:nvSpPr>
          <p:cNvPr id="297988" name="Text Box 4"/>
          <p:cNvSpPr txBox="1">
            <a:spLocks noChangeArrowheads="1"/>
          </p:cNvSpPr>
          <p:nvPr/>
        </p:nvSpPr>
        <p:spPr bwMode="auto">
          <a:xfrm>
            <a:off x="136525" y="2959100"/>
            <a:ext cx="9004300" cy="146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marL="385763" indent="-385763">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None/>
            </a:pPr>
            <a:r>
              <a:rPr lang="en-US" sz="2000" b="1"/>
              <a:t>Proof of (3):</a:t>
            </a:r>
            <a:r>
              <a:rPr lang="en-US" sz="2000"/>
              <a:t>   [ </a:t>
            </a:r>
            <a:r>
              <a:rPr lang="en-US" sz="2000" b="1">
                <a:sym typeface="Symbol" pitchFamily="18" charset="2"/>
              </a:rPr>
              <a:t></a:t>
            </a:r>
            <a:r>
              <a:rPr lang="en-US" sz="2000">
                <a:sym typeface="Symbol" pitchFamily="18" charset="2"/>
              </a:rPr>
              <a:t> </a:t>
            </a:r>
            <a:r>
              <a:rPr lang="en-US" sz="2000"/>
              <a:t>]:</a:t>
            </a:r>
            <a:br>
              <a:rPr lang="en-US" sz="2000"/>
            </a:br>
            <a:r>
              <a:rPr lang="en-US" sz="2000"/>
              <a:t>Suppose x is an articulation point of G, lying on every path between u &amp; v.</a:t>
            </a:r>
            <a:br>
              <a:rPr lang="en-US" sz="2000"/>
            </a:br>
            <a:r>
              <a:rPr lang="en-US" sz="2000"/>
              <a:t>Consider one such path, and let e</a:t>
            </a:r>
            <a:r>
              <a:rPr lang="en-US" sz="2000" baseline="-25000"/>
              <a:t>1 </a:t>
            </a:r>
            <a:r>
              <a:rPr lang="en-US" sz="2000"/>
              <a:t>and e</a:t>
            </a:r>
            <a:r>
              <a:rPr lang="en-US" sz="2000" baseline="-25000"/>
              <a:t>2 </a:t>
            </a:r>
            <a:r>
              <a:rPr lang="en-US" sz="2000"/>
              <a:t>be the two edges on the path incident to x.</a:t>
            </a:r>
            <a:br>
              <a:rPr lang="en-US" sz="2000"/>
            </a:br>
            <a:endParaRPr lang="en-US" sz="2000"/>
          </a:p>
        </p:txBody>
      </p:sp>
      <p:grpSp>
        <p:nvGrpSpPr>
          <p:cNvPr id="298014" name="Group 30"/>
          <p:cNvGrpSpPr>
            <a:grpSpLocks/>
          </p:cNvGrpSpPr>
          <p:nvPr/>
        </p:nvGrpSpPr>
        <p:grpSpPr bwMode="auto">
          <a:xfrm>
            <a:off x="2590800" y="4191000"/>
            <a:ext cx="3743325" cy="865188"/>
            <a:chOff x="1563" y="2960"/>
            <a:chExt cx="2358" cy="545"/>
          </a:xfrm>
        </p:grpSpPr>
        <p:sp>
          <p:nvSpPr>
            <p:cNvPr id="62473" name="Line 19"/>
            <p:cNvSpPr>
              <a:spLocks noChangeShapeType="1"/>
            </p:cNvSpPr>
            <p:nvPr/>
          </p:nvSpPr>
          <p:spPr bwMode="auto">
            <a:xfrm flipH="1" flipV="1">
              <a:off x="2429" y="3200"/>
              <a:ext cx="336" cy="9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2474" name="Line 20"/>
            <p:cNvSpPr>
              <a:spLocks noChangeShapeType="1"/>
            </p:cNvSpPr>
            <p:nvPr/>
          </p:nvSpPr>
          <p:spPr bwMode="auto">
            <a:xfrm flipV="1">
              <a:off x="2765" y="3200"/>
              <a:ext cx="336" cy="9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2475" name="Freeform 21"/>
            <p:cNvSpPr>
              <a:spLocks/>
            </p:cNvSpPr>
            <p:nvPr/>
          </p:nvSpPr>
          <p:spPr bwMode="auto">
            <a:xfrm>
              <a:off x="1709" y="3183"/>
              <a:ext cx="720" cy="57"/>
            </a:xfrm>
            <a:custGeom>
              <a:avLst/>
              <a:gdLst>
                <a:gd name="T0" fmla="*/ 720 w 720"/>
                <a:gd name="T1" fmla="*/ 17 h 57"/>
                <a:gd name="T2" fmla="*/ 606 w 720"/>
                <a:gd name="T3" fmla="*/ 48 h 57"/>
                <a:gd name="T4" fmla="*/ 491 w 720"/>
                <a:gd name="T5" fmla="*/ 1 h 57"/>
                <a:gd name="T6" fmla="*/ 369 w 720"/>
                <a:gd name="T7" fmla="*/ 55 h 57"/>
                <a:gd name="T8" fmla="*/ 241 w 720"/>
                <a:gd name="T9" fmla="*/ 7 h 57"/>
                <a:gd name="T10" fmla="*/ 105 w 720"/>
                <a:gd name="T11" fmla="*/ 55 h 57"/>
                <a:gd name="T12" fmla="*/ 0 w 720"/>
                <a:gd name="T13" fmla="*/ 17 h 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0" h="57">
                  <a:moveTo>
                    <a:pt x="720" y="17"/>
                  </a:moveTo>
                  <a:cubicBezTo>
                    <a:pt x="701" y="22"/>
                    <a:pt x="644" y="51"/>
                    <a:pt x="606" y="48"/>
                  </a:cubicBezTo>
                  <a:cubicBezTo>
                    <a:pt x="568" y="45"/>
                    <a:pt x="530" y="0"/>
                    <a:pt x="491" y="1"/>
                  </a:cubicBezTo>
                  <a:cubicBezTo>
                    <a:pt x="452" y="2"/>
                    <a:pt x="411" y="54"/>
                    <a:pt x="369" y="55"/>
                  </a:cubicBezTo>
                  <a:cubicBezTo>
                    <a:pt x="327" y="56"/>
                    <a:pt x="285" y="7"/>
                    <a:pt x="241" y="7"/>
                  </a:cubicBezTo>
                  <a:cubicBezTo>
                    <a:pt x="197" y="7"/>
                    <a:pt x="145" y="53"/>
                    <a:pt x="105" y="55"/>
                  </a:cubicBezTo>
                  <a:cubicBezTo>
                    <a:pt x="65" y="57"/>
                    <a:pt x="22" y="25"/>
                    <a:pt x="0" y="17"/>
                  </a:cubicBezTo>
                </a:path>
              </a:pathLst>
            </a:custGeom>
            <a:noFill/>
            <a:ln w="12700" cap="flat" cmpd="sng">
              <a:solidFill>
                <a:schemeClr val="tx1"/>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2476" name="Freeform 22"/>
            <p:cNvSpPr>
              <a:spLocks/>
            </p:cNvSpPr>
            <p:nvPr/>
          </p:nvSpPr>
          <p:spPr bwMode="auto">
            <a:xfrm>
              <a:off x="3101" y="3170"/>
              <a:ext cx="672" cy="77"/>
            </a:xfrm>
            <a:custGeom>
              <a:avLst/>
              <a:gdLst>
                <a:gd name="T0" fmla="*/ 0 w 672"/>
                <a:gd name="T1" fmla="*/ 30 h 77"/>
                <a:gd name="T2" fmla="*/ 136 w 672"/>
                <a:gd name="T3" fmla="*/ 75 h 77"/>
                <a:gd name="T4" fmla="*/ 299 w 672"/>
                <a:gd name="T5" fmla="*/ 20 h 77"/>
                <a:gd name="T6" fmla="*/ 434 w 672"/>
                <a:gd name="T7" fmla="*/ 75 h 77"/>
                <a:gd name="T8" fmla="*/ 570 w 672"/>
                <a:gd name="T9" fmla="*/ 7 h 77"/>
                <a:gd name="T10" fmla="*/ 672 w 672"/>
                <a:gd name="T11" fmla="*/ 30 h 7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72" h="77">
                  <a:moveTo>
                    <a:pt x="0" y="30"/>
                  </a:moveTo>
                  <a:cubicBezTo>
                    <a:pt x="23" y="37"/>
                    <a:pt x="86" y="77"/>
                    <a:pt x="136" y="75"/>
                  </a:cubicBezTo>
                  <a:cubicBezTo>
                    <a:pt x="186" y="73"/>
                    <a:pt x="249" y="20"/>
                    <a:pt x="299" y="20"/>
                  </a:cubicBezTo>
                  <a:cubicBezTo>
                    <a:pt x="349" y="20"/>
                    <a:pt x="389" y="77"/>
                    <a:pt x="434" y="75"/>
                  </a:cubicBezTo>
                  <a:cubicBezTo>
                    <a:pt x="479" y="73"/>
                    <a:pt x="530" y="14"/>
                    <a:pt x="570" y="7"/>
                  </a:cubicBezTo>
                  <a:cubicBezTo>
                    <a:pt x="610" y="0"/>
                    <a:pt x="651" y="25"/>
                    <a:pt x="672" y="30"/>
                  </a:cubicBezTo>
                </a:path>
              </a:pathLst>
            </a:custGeom>
            <a:noFill/>
            <a:ln w="12700" cap="flat" cmpd="sng">
              <a:solidFill>
                <a:schemeClr val="tx1"/>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2477" name="Text Box 23"/>
            <p:cNvSpPr txBox="1">
              <a:spLocks noChangeArrowheads="1"/>
            </p:cNvSpPr>
            <p:nvPr/>
          </p:nvSpPr>
          <p:spPr bwMode="auto">
            <a:xfrm>
              <a:off x="1563" y="3197"/>
              <a:ext cx="1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u</a:t>
              </a:r>
            </a:p>
          </p:txBody>
        </p:sp>
        <p:sp>
          <p:nvSpPr>
            <p:cNvPr id="62478" name="Text Box 24"/>
            <p:cNvSpPr txBox="1">
              <a:spLocks noChangeArrowheads="1"/>
            </p:cNvSpPr>
            <p:nvPr/>
          </p:nvSpPr>
          <p:spPr bwMode="auto">
            <a:xfrm>
              <a:off x="3725" y="3200"/>
              <a:ext cx="1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v</a:t>
              </a:r>
            </a:p>
          </p:txBody>
        </p:sp>
        <p:sp>
          <p:nvSpPr>
            <p:cNvPr id="62479" name="Text Box 25"/>
            <p:cNvSpPr txBox="1">
              <a:spLocks noChangeArrowheads="1"/>
            </p:cNvSpPr>
            <p:nvPr/>
          </p:nvSpPr>
          <p:spPr bwMode="auto">
            <a:xfrm>
              <a:off x="2669" y="3248"/>
              <a:ext cx="1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x</a:t>
              </a:r>
            </a:p>
          </p:txBody>
        </p:sp>
        <p:sp>
          <p:nvSpPr>
            <p:cNvPr id="62480" name="Text Box 26"/>
            <p:cNvSpPr txBox="1">
              <a:spLocks noChangeArrowheads="1"/>
            </p:cNvSpPr>
            <p:nvPr/>
          </p:nvSpPr>
          <p:spPr bwMode="auto">
            <a:xfrm>
              <a:off x="2525" y="3008"/>
              <a:ext cx="239"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e</a:t>
              </a:r>
              <a:r>
                <a:rPr lang="en-US" sz="2000" baseline="-25000"/>
                <a:t>1</a:t>
              </a:r>
            </a:p>
          </p:txBody>
        </p:sp>
        <p:sp>
          <p:nvSpPr>
            <p:cNvPr id="62481" name="Text Box 27"/>
            <p:cNvSpPr txBox="1">
              <a:spLocks noChangeArrowheads="1"/>
            </p:cNvSpPr>
            <p:nvPr/>
          </p:nvSpPr>
          <p:spPr bwMode="auto">
            <a:xfrm>
              <a:off x="2813" y="2960"/>
              <a:ext cx="239"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e</a:t>
              </a:r>
              <a:r>
                <a:rPr lang="en-US" sz="2000" baseline="-25000"/>
                <a:t>2</a:t>
              </a:r>
            </a:p>
          </p:txBody>
        </p:sp>
      </p:grpSp>
      <p:grpSp>
        <p:nvGrpSpPr>
          <p:cNvPr id="298017" name="Group 33"/>
          <p:cNvGrpSpPr>
            <a:grpSpLocks/>
          </p:cNvGrpSpPr>
          <p:nvPr/>
        </p:nvGrpSpPr>
        <p:grpSpPr bwMode="auto">
          <a:xfrm>
            <a:off x="609600" y="5181600"/>
            <a:ext cx="4151313" cy="1109663"/>
            <a:chOff x="384" y="3264"/>
            <a:chExt cx="2615" cy="699"/>
          </a:xfrm>
        </p:grpSpPr>
        <p:sp>
          <p:nvSpPr>
            <p:cNvPr id="62471" name="Rectangle 31"/>
            <p:cNvSpPr>
              <a:spLocks noChangeArrowheads="1"/>
            </p:cNvSpPr>
            <p:nvPr/>
          </p:nvSpPr>
          <p:spPr bwMode="auto">
            <a:xfrm>
              <a:off x="384" y="3264"/>
              <a:ext cx="2615" cy="6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eaLnBrk="1" hangingPunct="1">
                <a:lnSpc>
                  <a:spcPct val="115000"/>
                </a:lnSpc>
                <a:spcBef>
                  <a:spcPct val="50000"/>
                </a:spcBef>
                <a:buFont typeface="Wingdings" pitchFamily="2" charset="2"/>
                <a:buNone/>
              </a:pPr>
              <a:r>
                <a:rPr lang="en-US" sz="2000"/>
                <a:t>Then, e</a:t>
              </a:r>
              <a:r>
                <a:rPr lang="en-US" sz="2000" baseline="-25000"/>
                <a:t>1 </a:t>
              </a:r>
              <a:r>
                <a:rPr lang="en-US" sz="2000">
                  <a:sym typeface="Symbol" pitchFamily="18" charset="2"/>
                </a:rPr>
                <a:t></a:t>
              </a:r>
              <a:r>
                <a:rPr lang="en-US" sz="2000" baseline="-25000"/>
                <a:t> </a:t>
              </a:r>
              <a:r>
                <a:rPr lang="en-US" sz="2000"/>
                <a:t>e</a:t>
              </a:r>
              <a:r>
                <a:rPr lang="en-US" sz="2000" baseline="-25000"/>
                <a:t>2 </a:t>
              </a:r>
              <a:r>
                <a:rPr lang="en-US" sz="2000"/>
                <a:t>.</a:t>
              </a:r>
              <a:br>
                <a:rPr lang="en-US" sz="2000"/>
              </a:br>
              <a:r>
                <a:rPr lang="en-US" sz="2000"/>
                <a:t>So, e</a:t>
              </a:r>
              <a:r>
                <a:rPr lang="en-US" sz="2000" baseline="-25000"/>
                <a:t>1 </a:t>
              </a:r>
              <a:r>
                <a:rPr lang="en-US" sz="2000">
                  <a:sym typeface="Symbol" pitchFamily="18" charset="2"/>
                </a:rPr>
                <a:t></a:t>
              </a:r>
              <a:r>
                <a:rPr lang="en-US" sz="2000" baseline="-25000"/>
                <a:t> </a:t>
              </a:r>
              <a:r>
                <a:rPr lang="en-US" sz="2000"/>
                <a:t>E</a:t>
              </a:r>
              <a:r>
                <a:rPr lang="en-US" sz="2000" baseline="-25000"/>
                <a:t>i </a:t>
              </a:r>
              <a:r>
                <a:rPr lang="en-US" sz="2000">
                  <a:sym typeface="Symbol" pitchFamily="18" charset="2"/>
                </a:rPr>
                <a:t> and </a:t>
              </a:r>
              <a:r>
                <a:rPr lang="en-US" sz="2000"/>
                <a:t>e</a:t>
              </a:r>
              <a:r>
                <a:rPr lang="en-US" sz="2000" baseline="-25000"/>
                <a:t>2 </a:t>
              </a:r>
              <a:r>
                <a:rPr lang="en-US" sz="2000">
                  <a:sym typeface="Symbol" pitchFamily="18" charset="2"/>
                </a:rPr>
                <a:t></a:t>
              </a:r>
              <a:r>
                <a:rPr lang="en-US" sz="2000" baseline="-25000"/>
                <a:t> </a:t>
              </a:r>
              <a:r>
                <a:rPr lang="en-US" sz="2000"/>
                <a:t>E</a:t>
              </a:r>
              <a:r>
                <a:rPr lang="en-US" sz="2000" baseline="-25000"/>
                <a:t>j       </a:t>
              </a:r>
              <a:r>
                <a:rPr lang="en-US" sz="2000"/>
                <a:t>for some i </a:t>
              </a:r>
              <a:r>
                <a:rPr lang="en-US" sz="2000">
                  <a:sym typeface="Symbol" pitchFamily="18" charset="2"/>
                </a:rPr>
                <a:t> </a:t>
              </a:r>
              <a:r>
                <a:rPr lang="en-US" sz="2000"/>
                <a:t>j.</a:t>
              </a:r>
              <a:br>
                <a:rPr lang="en-US" sz="2000"/>
              </a:br>
              <a:r>
                <a:rPr lang="en-US" sz="2000"/>
                <a:t>Therefore, x </a:t>
              </a:r>
              <a:r>
                <a:rPr lang="en-US" sz="2000">
                  <a:sym typeface="Symbol" pitchFamily="18" charset="2"/>
                </a:rPr>
                <a:t> </a:t>
              </a:r>
              <a:r>
                <a:rPr lang="en-US" sz="2000"/>
                <a:t>V</a:t>
              </a:r>
              <a:r>
                <a:rPr lang="en-US" sz="2000" baseline="-25000"/>
                <a:t>i </a:t>
              </a:r>
              <a:r>
                <a:rPr lang="en-US" sz="2000">
                  <a:sym typeface="Symbol" pitchFamily="18" charset="2"/>
                </a:rPr>
                <a:t></a:t>
              </a:r>
              <a:r>
                <a:rPr lang="en-US" sz="2000" baseline="-25000"/>
                <a:t> </a:t>
              </a:r>
              <a:r>
                <a:rPr lang="en-US" sz="2000"/>
                <a:t>V</a:t>
              </a:r>
              <a:r>
                <a:rPr lang="en-US" sz="2000" baseline="-25000"/>
                <a:t>j</a:t>
              </a:r>
              <a:r>
                <a:rPr lang="en-US" sz="2000"/>
                <a:t>  for some i </a:t>
              </a:r>
              <a:r>
                <a:rPr lang="en-US" sz="2000">
                  <a:sym typeface="Symbol" pitchFamily="18" charset="2"/>
                </a:rPr>
                <a:t> </a:t>
              </a:r>
              <a:r>
                <a:rPr lang="en-US" sz="2000"/>
                <a:t>j.</a:t>
              </a:r>
            </a:p>
          </p:txBody>
        </p:sp>
        <p:sp>
          <p:nvSpPr>
            <p:cNvPr id="62472" name="Line 32"/>
            <p:cNvSpPr>
              <a:spLocks noChangeShapeType="1"/>
            </p:cNvSpPr>
            <p:nvPr/>
          </p:nvSpPr>
          <p:spPr bwMode="auto">
            <a:xfrm flipH="1">
              <a:off x="1008" y="3360"/>
              <a:ext cx="48"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60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97988"/>
                                        </p:tgtEl>
                                        <p:attrNameLst>
                                          <p:attrName>style.visibility</p:attrName>
                                        </p:attrNameLst>
                                      </p:cBhvr>
                                      <p:to>
                                        <p:strVal val="visible"/>
                                      </p:to>
                                    </p:set>
                                    <p:animEffect transition="in" filter="wipe(up)">
                                      <p:cBhvr>
                                        <p:cTn id="7" dur="500"/>
                                        <p:tgtEl>
                                          <p:spTgt spid="29798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98014"/>
                                        </p:tgtEl>
                                        <p:attrNameLst>
                                          <p:attrName>style.visibility</p:attrName>
                                        </p:attrNameLst>
                                      </p:cBhvr>
                                      <p:to>
                                        <p:strVal val="visible"/>
                                      </p:to>
                                    </p:set>
                                    <p:animEffect transition="in" filter="wipe(left)">
                                      <p:cBhvr>
                                        <p:cTn id="11" dur="500"/>
                                        <p:tgtEl>
                                          <p:spTgt spid="29801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98017"/>
                                        </p:tgtEl>
                                        <p:attrNameLst>
                                          <p:attrName>style.visibility</p:attrName>
                                        </p:attrNameLst>
                                      </p:cBhvr>
                                      <p:to>
                                        <p:strVal val="visible"/>
                                      </p:to>
                                    </p:set>
                                    <p:animEffect transition="in" filter="wipe(up)">
                                      <p:cBhvr>
                                        <p:cTn id="16" dur="500"/>
                                        <p:tgtEl>
                                          <p:spTgt spid="298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8"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err="1" smtClean="0">
                <a:solidFill>
                  <a:schemeClr val="hlink"/>
                </a:solidFill>
                <a:latin typeface="Arial Rounded MT Bold" pitchFamily="34" charset="0"/>
              </a:rPr>
              <a:t>Biconnected</a:t>
            </a:r>
            <a:r>
              <a:rPr lang="en-US" sz="2800" dirty="0" smtClean="0">
                <a:solidFill>
                  <a:schemeClr val="hlink"/>
                </a:solidFill>
                <a:latin typeface="Arial Rounded MT Bold" pitchFamily="34" charset="0"/>
              </a:rPr>
              <a:t> Components</a:t>
            </a:r>
            <a:r>
              <a:rPr lang="en-US" sz="2800" dirty="0" smtClean="0">
                <a:solidFill>
                  <a:schemeClr val="tx1"/>
                </a:solidFill>
                <a:latin typeface="Arial Rounded MT Bold" pitchFamily="34" charset="0"/>
              </a:rPr>
              <a:t> &amp; </a:t>
            </a:r>
            <a:r>
              <a:rPr lang="en-US" sz="2800" dirty="0" smtClean="0">
                <a:solidFill>
                  <a:srgbClr val="CC0000"/>
                </a:solidFill>
                <a:latin typeface="Arial Rounded MT Bold" pitchFamily="34" charset="0"/>
              </a:rPr>
              <a:t>Articulation Points</a:t>
            </a:r>
          </a:p>
        </p:txBody>
      </p:sp>
      <p:sp>
        <p:nvSpPr>
          <p:cNvPr id="63491" name="Rectangle 3" descr="Recycled paper"/>
          <p:cNvSpPr>
            <a:spLocks noChangeArrowheads="1"/>
          </p:cNvSpPr>
          <p:nvPr/>
        </p:nvSpPr>
        <p:spPr bwMode="auto">
          <a:xfrm>
            <a:off x="152400" y="838200"/>
            <a:ext cx="8839200" cy="1938338"/>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288925" indent="-288925" eaLnBrk="1" hangingPunct="1">
              <a:spcBef>
                <a:spcPct val="50000"/>
              </a:spcBef>
              <a:buFontTx/>
              <a:buNone/>
            </a:pPr>
            <a:r>
              <a:rPr lang="en-US" sz="2400" b="1" dirty="0">
                <a:solidFill>
                  <a:srgbClr val="CC0000"/>
                </a:solidFill>
              </a:rPr>
              <a:t>FACT 5:    </a:t>
            </a:r>
            <a:r>
              <a:rPr lang="en-US" sz="2000" dirty="0">
                <a:solidFill>
                  <a:schemeClr val="hlink"/>
                </a:solidFill>
              </a:rPr>
              <a:t>Let </a:t>
            </a:r>
            <a:r>
              <a:rPr lang="en-US" sz="2000" dirty="0" err="1">
                <a:solidFill>
                  <a:schemeClr val="hlink"/>
                </a:solidFill>
              </a:rPr>
              <a:t>G</a:t>
            </a:r>
            <a:r>
              <a:rPr lang="en-US" sz="2000" baseline="-25000" dirty="0" err="1">
                <a:solidFill>
                  <a:schemeClr val="hlink"/>
                </a:solidFill>
              </a:rPr>
              <a:t>i</a:t>
            </a:r>
            <a:r>
              <a:rPr lang="en-US" sz="2000" dirty="0">
                <a:solidFill>
                  <a:schemeClr val="hlink"/>
                </a:solidFill>
              </a:rPr>
              <a:t> = (V</a:t>
            </a:r>
            <a:r>
              <a:rPr lang="en-US" sz="2000" baseline="-25000" dirty="0">
                <a:solidFill>
                  <a:schemeClr val="hlink"/>
                </a:solidFill>
              </a:rPr>
              <a:t>i</a:t>
            </a:r>
            <a:r>
              <a:rPr lang="en-US" sz="2000" dirty="0">
                <a:solidFill>
                  <a:schemeClr val="hlink"/>
                </a:solidFill>
              </a:rPr>
              <a:t> , </a:t>
            </a:r>
            <a:r>
              <a:rPr lang="en-US" sz="2000" dirty="0" err="1">
                <a:solidFill>
                  <a:schemeClr val="hlink"/>
                </a:solidFill>
              </a:rPr>
              <a:t>E</a:t>
            </a:r>
            <a:r>
              <a:rPr lang="en-US" sz="2000" baseline="-25000" dirty="0" err="1">
                <a:solidFill>
                  <a:schemeClr val="hlink"/>
                </a:solidFill>
              </a:rPr>
              <a:t>i</a:t>
            </a:r>
            <a:r>
              <a:rPr lang="en-US" sz="2000" dirty="0">
                <a:solidFill>
                  <a:schemeClr val="hlink"/>
                </a:solidFill>
              </a:rPr>
              <a:t> ) , i = 1..k, be </a:t>
            </a:r>
            <a:r>
              <a:rPr lang="en-US" sz="2000" dirty="0" err="1">
                <a:solidFill>
                  <a:schemeClr val="hlink"/>
                </a:solidFill>
              </a:rPr>
              <a:t>biconnected</a:t>
            </a:r>
            <a:r>
              <a:rPr lang="en-US" sz="2000" dirty="0">
                <a:solidFill>
                  <a:schemeClr val="hlink"/>
                </a:solidFill>
              </a:rPr>
              <a:t> components of G.   Then,</a:t>
            </a:r>
          </a:p>
          <a:p>
            <a:pPr marL="760413" lvl="1" indent="-280988" eaLnBrk="1" hangingPunct="1">
              <a:spcBef>
                <a:spcPct val="50000"/>
              </a:spcBef>
              <a:buFontTx/>
              <a:buAutoNum type="arabicPeriod"/>
            </a:pPr>
            <a:r>
              <a:rPr lang="en-US" sz="2000" dirty="0" err="1">
                <a:solidFill>
                  <a:schemeClr val="hlink"/>
                </a:solidFill>
              </a:rPr>
              <a:t>G</a:t>
            </a:r>
            <a:r>
              <a:rPr lang="en-US" sz="2000" baseline="-25000" dirty="0" err="1">
                <a:solidFill>
                  <a:schemeClr val="hlink"/>
                </a:solidFill>
              </a:rPr>
              <a:t>i</a:t>
            </a:r>
            <a:r>
              <a:rPr lang="en-US" sz="2000" dirty="0">
                <a:solidFill>
                  <a:schemeClr val="hlink"/>
                </a:solidFill>
              </a:rPr>
              <a:t>  is </a:t>
            </a:r>
            <a:r>
              <a:rPr lang="en-US" sz="2000" dirty="0" err="1">
                <a:solidFill>
                  <a:schemeClr val="hlink"/>
                </a:solidFill>
              </a:rPr>
              <a:t>biconnected</a:t>
            </a:r>
            <a:r>
              <a:rPr lang="en-US" sz="2000" dirty="0">
                <a:solidFill>
                  <a:schemeClr val="hlink"/>
                </a:solidFill>
              </a:rPr>
              <a:t> ,  for i = 1..k, </a:t>
            </a:r>
          </a:p>
          <a:p>
            <a:pPr marL="760413" lvl="1" indent="-280988" eaLnBrk="1" hangingPunct="1">
              <a:spcBef>
                <a:spcPct val="50000"/>
              </a:spcBef>
              <a:buFontTx/>
              <a:buAutoNum type="arabicPeriod"/>
            </a:pPr>
            <a:r>
              <a:rPr lang="en-US" sz="2000" dirty="0">
                <a:solidFill>
                  <a:schemeClr val="hlink"/>
                </a:solidFill>
              </a:rPr>
              <a:t>V</a:t>
            </a:r>
            <a:r>
              <a:rPr lang="en-US" sz="2000" baseline="-25000" dirty="0">
                <a:solidFill>
                  <a:schemeClr val="hlink"/>
                </a:solidFill>
              </a:rPr>
              <a:t>i </a:t>
            </a:r>
            <a:r>
              <a:rPr lang="en-US" sz="2000" dirty="0">
                <a:solidFill>
                  <a:schemeClr val="hlink"/>
                </a:solidFill>
                <a:sym typeface="Symbol" pitchFamily="18" charset="2"/>
              </a:rPr>
              <a:t></a:t>
            </a:r>
            <a:r>
              <a:rPr lang="en-US" sz="2000" baseline="-25000" dirty="0">
                <a:solidFill>
                  <a:schemeClr val="hlink"/>
                </a:solidFill>
              </a:rPr>
              <a:t> </a:t>
            </a:r>
            <a:r>
              <a:rPr lang="en-US" sz="2000" dirty="0" err="1">
                <a:solidFill>
                  <a:schemeClr val="hlink"/>
                </a:solidFill>
              </a:rPr>
              <a:t>V</a:t>
            </a:r>
            <a:r>
              <a:rPr lang="en-US" sz="2000" baseline="-25000" dirty="0" err="1">
                <a:solidFill>
                  <a:schemeClr val="hlink"/>
                </a:solidFill>
              </a:rPr>
              <a:t>j</a:t>
            </a:r>
            <a:r>
              <a:rPr lang="en-US" sz="2000" dirty="0">
                <a:solidFill>
                  <a:schemeClr val="hlink"/>
                </a:solidFill>
              </a:rPr>
              <a:t> has at most one node, for i </a:t>
            </a:r>
            <a:r>
              <a:rPr lang="en-US" sz="2000" dirty="0">
                <a:solidFill>
                  <a:schemeClr val="hlink"/>
                </a:solidFill>
                <a:sym typeface="Symbol" pitchFamily="18" charset="2"/>
              </a:rPr>
              <a:t> </a:t>
            </a:r>
            <a:r>
              <a:rPr lang="en-US" sz="2000" dirty="0">
                <a:solidFill>
                  <a:schemeClr val="hlink"/>
                </a:solidFill>
              </a:rPr>
              <a:t>j,</a:t>
            </a:r>
          </a:p>
          <a:p>
            <a:pPr marL="760413" lvl="1" indent="-280988" eaLnBrk="1" hangingPunct="1">
              <a:spcBef>
                <a:spcPct val="50000"/>
              </a:spcBef>
              <a:buFontTx/>
              <a:buAutoNum type="arabicPeriod"/>
            </a:pPr>
            <a:r>
              <a:rPr lang="en-US" sz="2000" dirty="0">
                <a:solidFill>
                  <a:schemeClr val="hlink"/>
                </a:solidFill>
              </a:rPr>
              <a:t>node </a:t>
            </a:r>
            <a:r>
              <a:rPr lang="en-US" sz="2000" dirty="0" err="1">
                <a:solidFill>
                  <a:schemeClr val="hlink"/>
                </a:solidFill>
              </a:rPr>
              <a:t>x</a:t>
            </a:r>
            <a:r>
              <a:rPr lang="en-US" sz="2000" dirty="0" err="1">
                <a:solidFill>
                  <a:schemeClr val="hlink"/>
                </a:solidFill>
                <a:sym typeface="Symbol" pitchFamily="18" charset="2"/>
              </a:rPr>
              <a:t></a:t>
            </a:r>
            <a:r>
              <a:rPr lang="en-US" sz="2000" dirty="0" err="1">
                <a:solidFill>
                  <a:schemeClr val="hlink"/>
                </a:solidFill>
              </a:rPr>
              <a:t>V</a:t>
            </a:r>
            <a:r>
              <a:rPr lang="en-US" sz="2000" dirty="0">
                <a:solidFill>
                  <a:schemeClr val="hlink"/>
                </a:solidFill>
              </a:rPr>
              <a:t> is an articulation point of G  </a:t>
            </a:r>
            <a:r>
              <a:rPr lang="en-US" sz="2400" dirty="0">
                <a:solidFill>
                  <a:srgbClr val="CC0000"/>
                </a:solidFill>
                <a:sym typeface="Symbol" pitchFamily="18" charset="2"/>
              </a:rPr>
              <a:t></a:t>
            </a:r>
            <a:r>
              <a:rPr lang="en-US" sz="2000" dirty="0">
                <a:solidFill>
                  <a:schemeClr val="hlink"/>
                </a:solidFill>
              </a:rPr>
              <a:t>  x </a:t>
            </a:r>
            <a:r>
              <a:rPr lang="en-US" sz="2000" dirty="0">
                <a:solidFill>
                  <a:schemeClr val="hlink"/>
                </a:solidFill>
                <a:sym typeface="Symbol" pitchFamily="18" charset="2"/>
              </a:rPr>
              <a:t> </a:t>
            </a:r>
            <a:r>
              <a:rPr lang="en-US" sz="2000" dirty="0">
                <a:solidFill>
                  <a:schemeClr val="hlink"/>
                </a:solidFill>
              </a:rPr>
              <a:t>V</a:t>
            </a:r>
            <a:r>
              <a:rPr lang="en-US" sz="2000" baseline="-25000" dirty="0">
                <a:solidFill>
                  <a:schemeClr val="hlink"/>
                </a:solidFill>
              </a:rPr>
              <a:t>i </a:t>
            </a:r>
            <a:r>
              <a:rPr lang="en-US" sz="2000" dirty="0">
                <a:solidFill>
                  <a:schemeClr val="hlink"/>
                </a:solidFill>
                <a:sym typeface="Symbol" pitchFamily="18" charset="2"/>
              </a:rPr>
              <a:t></a:t>
            </a:r>
            <a:r>
              <a:rPr lang="en-US" sz="2000" baseline="-25000" dirty="0">
                <a:solidFill>
                  <a:schemeClr val="hlink"/>
                </a:solidFill>
              </a:rPr>
              <a:t> </a:t>
            </a:r>
            <a:r>
              <a:rPr lang="en-US" sz="2000" dirty="0" err="1">
                <a:solidFill>
                  <a:schemeClr val="hlink"/>
                </a:solidFill>
              </a:rPr>
              <a:t>V</a:t>
            </a:r>
            <a:r>
              <a:rPr lang="en-US" sz="2000" baseline="-25000" dirty="0" err="1">
                <a:solidFill>
                  <a:schemeClr val="hlink"/>
                </a:solidFill>
              </a:rPr>
              <a:t>j</a:t>
            </a:r>
            <a:r>
              <a:rPr lang="en-US" sz="2000" dirty="0">
                <a:solidFill>
                  <a:schemeClr val="hlink"/>
                </a:solidFill>
              </a:rPr>
              <a:t>  for some i </a:t>
            </a:r>
            <a:r>
              <a:rPr lang="en-US" sz="2000" dirty="0">
                <a:solidFill>
                  <a:schemeClr val="hlink"/>
                </a:solidFill>
                <a:sym typeface="Symbol" pitchFamily="18" charset="2"/>
              </a:rPr>
              <a:t> </a:t>
            </a:r>
            <a:r>
              <a:rPr lang="en-US" sz="2000" dirty="0">
                <a:solidFill>
                  <a:schemeClr val="hlink"/>
                </a:solidFill>
              </a:rPr>
              <a:t>j.</a:t>
            </a:r>
          </a:p>
        </p:txBody>
      </p:sp>
      <p:sp>
        <p:nvSpPr>
          <p:cNvPr id="296964" name="Text Box 4"/>
          <p:cNvSpPr txBox="1">
            <a:spLocks noChangeArrowheads="1"/>
          </p:cNvSpPr>
          <p:nvPr/>
        </p:nvSpPr>
        <p:spPr bwMode="auto">
          <a:xfrm>
            <a:off x="136525" y="2959100"/>
            <a:ext cx="2314575"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None/>
            </a:pPr>
            <a:r>
              <a:rPr lang="en-US" sz="2000" b="1"/>
              <a:t>Proof of (3):</a:t>
            </a:r>
            <a:r>
              <a:rPr lang="en-US" sz="2000"/>
              <a:t>   [ </a:t>
            </a:r>
            <a:r>
              <a:rPr lang="en-US" sz="2000" b="1">
                <a:sym typeface="Symbol" pitchFamily="18" charset="2"/>
              </a:rPr>
              <a:t></a:t>
            </a:r>
            <a:r>
              <a:rPr lang="en-US" sz="2000">
                <a:sym typeface="Symbol" pitchFamily="18" charset="2"/>
              </a:rPr>
              <a:t> </a:t>
            </a:r>
            <a:r>
              <a:rPr lang="en-US" sz="2000"/>
              <a:t>]:</a:t>
            </a:r>
          </a:p>
        </p:txBody>
      </p:sp>
      <p:grpSp>
        <p:nvGrpSpPr>
          <p:cNvPr id="296986" name="Group 26"/>
          <p:cNvGrpSpPr>
            <a:grpSpLocks/>
          </p:cNvGrpSpPr>
          <p:nvPr/>
        </p:nvGrpSpPr>
        <p:grpSpPr bwMode="auto">
          <a:xfrm>
            <a:off x="1676400" y="3352800"/>
            <a:ext cx="5689600" cy="3019425"/>
            <a:chOff x="1056" y="2112"/>
            <a:chExt cx="3584" cy="1902"/>
          </a:xfrm>
        </p:grpSpPr>
        <p:sp>
          <p:nvSpPr>
            <p:cNvPr id="63499" name="Freeform 6"/>
            <p:cNvSpPr>
              <a:spLocks/>
            </p:cNvSpPr>
            <p:nvPr/>
          </p:nvSpPr>
          <p:spPr bwMode="auto">
            <a:xfrm>
              <a:off x="1362" y="2301"/>
              <a:ext cx="1623" cy="1690"/>
            </a:xfrm>
            <a:custGeom>
              <a:avLst/>
              <a:gdLst>
                <a:gd name="T0" fmla="*/ 16 w 1623"/>
                <a:gd name="T1" fmla="*/ 816 h 1690"/>
                <a:gd name="T2" fmla="*/ 443 w 1623"/>
                <a:gd name="T3" fmla="*/ 131 h 1690"/>
                <a:gd name="T4" fmla="*/ 1500 w 1623"/>
                <a:gd name="T5" fmla="*/ 64 h 1690"/>
                <a:gd name="T6" fmla="*/ 1181 w 1623"/>
                <a:gd name="T7" fmla="*/ 518 h 1690"/>
                <a:gd name="T8" fmla="*/ 1168 w 1623"/>
                <a:gd name="T9" fmla="*/ 1094 h 1690"/>
                <a:gd name="T10" fmla="*/ 806 w 1623"/>
                <a:gd name="T11" fmla="*/ 1528 h 1690"/>
                <a:gd name="T12" fmla="*/ 347 w 1623"/>
                <a:gd name="T13" fmla="*/ 1571 h 1690"/>
                <a:gd name="T14" fmla="*/ 16 w 1623"/>
                <a:gd name="T15" fmla="*/ 816 h 169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23" h="1690">
                  <a:moveTo>
                    <a:pt x="16" y="816"/>
                  </a:moveTo>
                  <a:cubicBezTo>
                    <a:pt x="32" y="576"/>
                    <a:pt x="196" y="256"/>
                    <a:pt x="443" y="131"/>
                  </a:cubicBezTo>
                  <a:cubicBezTo>
                    <a:pt x="690" y="6"/>
                    <a:pt x="1377" y="0"/>
                    <a:pt x="1500" y="64"/>
                  </a:cubicBezTo>
                  <a:cubicBezTo>
                    <a:pt x="1623" y="128"/>
                    <a:pt x="1236" y="346"/>
                    <a:pt x="1181" y="518"/>
                  </a:cubicBezTo>
                  <a:cubicBezTo>
                    <a:pt x="1126" y="690"/>
                    <a:pt x="1230" y="926"/>
                    <a:pt x="1168" y="1094"/>
                  </a:cubicBezTo>
                  <a:cubicBezTo>
                    <a:pt x="1106" y="1262"/>
                    <a:pt x="943" y="1448"/>
                    <a:pt x="806" y="1528"/>
                  </a:cubicBezTo>
                  <a:cubicBezTo>
                    <a:pt x="669" y="1608"/>
                    <a:pt x="479" y="1690"/>
                    <a:pt x="347" y="1571"/>
                  </a:cubicBezTo>
                  <a:cubicBezTo>
                    <a:pt x="215" y="1452"/>
                    <a:pt x="0" y="1056"/>
                    <a:pt x="16" y="816"/>
                  </a:cubicBezTo>
                  <a:close/>
                </a:path>
              </a:pathLst>
            </a:custGeom>
            <a:solidFill>
              <a:schemeClr val="bg1"/>
            </a:solidFill>
            <a:ln w="12700" cap="flat" cmpd="sng">
              <a:solidFill>
                <a:srgbClr val="CC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3500" name="Text Box 7"/>
            <p:cNvSpPr txBox="1">
              <a:spLocks noChangeArrowheads="1"/>
            </p:cNvSpPr>
            <p:nvPr/>
          </p:nvSpPr>
          <p:spPr bwMode="auto">
            <a:xfrm>
              <a:off x="2832" y="2112"/>
              <a:ext cx="1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x</a:t>
              </a:r>
            </a:p>
          </p:txBody>
        </p:sp>
        <p:sp>
          <p:nvSpPr>
            <p:cNvPr id="63501" name="Text Box 8"/>
            <p:cNvSpPr txBox="1">
              <a:spLocks noChangeArrowheads="1"/>
            </p:cNvSpPr>
            <p:nvPr/>
          </p:nvSpPr>
          <p:spPr bwMode="auto">
            <a:xfrm>
              <a:off x="1056" y="2736"/>
              <a:ext cx="320"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800"/>
                <a:t>G</a:t>
              </a:r>
              <a:r>
                <a:rPr lang="en-US" sz="2800" baseline="-25000"/>
                <a:t>i</a:t>
              </a:r>
            </a:p>
          </p:txBody>
        </p:sp>
        <p:sp>
          <p:nvSpPr>
            <p:cNvPr id="63502" name="Freeform 10"/>
            <p:cNvSpPr>
              <a:spLocks/>
            </p:cNvSpPr>
            <p:nvPr/>
          </p:nvSpPr>
          <p:spPr bwMode="auto">
            <a:xfrm>
              <a:off x="2797" y="2294"/>
              <a:ext cx="1555" cy="1720"/>
            </a:xfrm>
            <a:custGeom>
              <a:avLst/>
              <a:gdLst>
                <a:gd name="T0" fmla="*/ 1549 w 1555"/>
                <a:gd name="T1" fmla="*/ 904 h 1720"/>
                <a:gd name="T2" fmla="*/ 1151 w 1555"/>
                <a:gd name="T3" fmla="*/ 1606 h 1720"/>
                <a:gd name="T4" fmla="*/ 557 w 1555"/>
                <a:gd name="T5" fmla="*/ 1589 h 1720"/>
                <a:gd name="T6" fmla="*/ 398 w 1555"/>
                <a:gd name="T7" fmla="*/ 1251 h 1720"/>
                <a:gd name="T8" fmla="*/ 387 w 1555"/>
                <a:gd name="T9" fmla="*/ 674 h 1720"/>
                <a:gd name="T10" fmla="*/ 133 w 1555"/>
                <a:gd name="T11" fmla="*/ 85 h 1720"/>
                <a:gd name="T12" fmla="*/ 1187 w 1555"/>
                <a:gd name="T13" fmla="*/ 164 h 1720"/>
                <a:gd name="T14" fmla="*/ 1549 w 1555"/>
                <a:gd name="T15" fmla="*/ 904 h 17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55" h="1720">
                  <a:moveTo>
                    <a:pt x="1549" y="904"/>
                  </a:moveTo>
                  <a:cubicBezTo>
                    <a:pt x="1543" y="1145"/>
                    <a:pt x="1316" y="1492"/>
                    <a:pt x="1151" y="1606"/>
                  </a:cubicBezTo>
                  <a:cubicBezTo>
                    <a:pt x="986" y="1720"/>
                    <a:pt x="682" y="1648"/>
                    <a:pt x="557" y="1589"/>
                  </a:cubicBezTo>
                  <a:cubicBezTo>
                    <a:pt x="432" y="1530"/>
                    <a:pt x="426" y="1403"/>
                    <a:pt x="398" y="1251"/>
                  </a:cubicBezTo>
                  <a:cubicBezTo>
                    <a:pt x="370" y="1099"/>
                    <a:pt x="431" y="868"/>
                    <a:pt x="387" y="674"/>
                  </a:cubicBezTo>
                  <a:cubicBezTo>
                    <a:pt x="343" y="480"/>
                    <a:pt x="0" y="170"/>
                    <a:pt x="133" y="85"/>
                  </a:cubicBezTo>
                  <a:cubicBezTo>
                    <a:pt x="266" y="0"/>
                    <a:pt x="951" y="28"/>
                    <a:pt x="1187" y="164"/>
                  </a:cubicBezTo>
                  <a:cubicBezTo>
                    <a:pt x="1423" y="300"/>
                    <a:pt x="1555" y="664"/>
                    <a:pt x="1549" y="904"/>
                  </a:cubicBezTo>
                  <a:close/>
                </a:path>
              </a:pathLst>
            </a:custGeom>
            <a:solidFill>
              <a:schemeClr val="bg1"/>
            </a:solidFill>
            <a:ln w="12700" cap="flat" cmpd="sng">
              <a:solidFill>
                <a:srgbClr val="CC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3503" name="Oval 11"/>
            <p:cNvSpPr>
              <a:spLocks noChangeArrowheads="1"/>
            </p:cNvSpPr>
            <p:nvPr/>
          </p:nvSpPr>
          <p:spPr bwMode="auto">
            <a:xfrm>
              <a:off x="2832" y="2352"/>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63504" name="Text Box 13"/>
            <p:cNvSpPr txBox="1">
              <a:spLocks noChangeArrowheads="1"/>
            </p:cNvSpPr>
            <p:nvPr/>
          </p:nvSpPr>
          <p:spPr bwMode="auto">
            <a:xfrm>
              <a:off x="4320" y="2688"/>
              <a:ext cx="320"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800"/>
                <a:t>G</a:t>
              </a:r>
              <a:r>
                <a:rPr lang="en-US" sz="2800" baseline="-25000"/>
                <a:t>j</a:t>
              </a:r>
            </a:p>
          </p:txBody>
        </p:sp>
      </p:grpSp>
      <p:grpSp>
        <p:nvGrpSpPr>
          <p:cNvPr id="296987" name="Group 27"/>
          <p:cNvGrpSpPr>
            <a:grpSpLocks/>
          </p:cNvGrpSpPr>
          <p:nvPr/>
        </p:nvGrpSpPr>
        <p:grpSpPr bwMode="auto">
          <a:xfrm>
            <a:off x="3048000" y="3810000"/>
            <a:ext cx="2978150" cy="941388"/>
            <a:chOff x="1920" y="2400"/>
            <a:chExt cx="1876" cy="593"/>
          </a:xfrm>
        </p:grpSpPr>
        <p:sp>
          <p:nvSpPr>
            <p:cNvPr id="63495" name="Line 22"/>
            <p:cNvSpPr>
              <a:spLocks noChangeShapeType="1"/>
            </p:cNvSpPr>
            <p:nvPr/>
          </p:nvSpPr>
          <p:spPr bwMode="auto">
            <a:xfrm flipH="1">
              <a:off x="2016" y="2400"/>
              <a:ext cx="864" cy="384"/>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3496" name="Line 23"/>
            <p:cNvSpPr>
              <a:spLocks noChangeShapeType="1"/>
            </p:cNvSpPr>
            <p:nvPr/>
          </p:nvSpPr>
          <p:spPr bwMode="auto">
            <a:xfrm>
              <a:off x="2880" y="2400"/>
              <a:ext cx="816" cy="33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3497" name="Text Box 24"/>
            <p:cNvSpPr txBox="1">
              <a:spLocks noChangeArrowheads="1"/>
            </p:cNvSpPr>
            <p:nvPr/>
          </p:nvSpPr>
          <p:spPr bwMode="auto">
            <a:xfrm>
              <a:off x="1920" y="2736"/>
              <a:ext cx="1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u</a:t>
              </a:r>
            </a:p>
          </p:txBody>
        </p:sp>
        <p:sp>
          <p:nvSpPr>
            <p:cNvPr id="63498" name="Text Box 25"/>
            <p:cNvSpPr txBox="1">
              <a:spLocks noChangeArrowheads="1"/>
            </p:cNvSpPr>
            <p:nvPr/>
          </p:nvSpPr>
          <p:spPr bwMode="auto">
            <a:xfrm>
              <a:off x="3600" y="2688"/>
              <a:ext cx="1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v</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61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64"/>
                                        </p:tgtEl>
                                        <p:attrNameLst>
                                          <p:attrName>style.visibility</p:attrName>
                                        </p:attrNameLst>
                                      </p:cBhvr>
                                      <p:to>
                                        <p:strVal val="visible"/>
                                      </p:to>
                                    </p:set>
                                    <p:animEffect transition="in" filter="wipe(left)">
                                      <p:cBhvr>
                                        <p:cTn id="7" dur="500"/>
                                        <p:tgtEl>
                                          <p:spTgt spid="2969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96986"/>
                                        </p:tgtEl>
                                        <p:attrNameLst>
                                          <p:attrName>style.visibility</p:attrName>
                                        </p:attrNameLst>
                                      </p:cBhvr>
                                      <p:to>
                                        <p:strVal val="visible"/>
                                      </p:to>
                                    </p:set>
                                    <p:animEffect transition="in" filter="wipe(up)">
                                      <p:cBhvr>
                                        <p:cTn id="12" dur="500"/>
                                        <p:tgtEl>
                                          <p:spTgt spid="2969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96987"/>
                                        </p:tgtEl>
                                        <p:attrNameLst>
                                          <p:attrName>style.visibility</p:attrName>
                                        </p:attrNameLst>
                                      </p:cBhvr>
                                      <p:to>
                                        <p:strVal val="visible"/>
                                      </p:to>
                                    </p:set>
                                    <p:animEffect transition="in" filter="wipe(up)">
                                      <p:cBhvr>
                                        <p:cTn id="17" dur="500"/>
                                        <p:tgtEl>
                                          <p:spTgt spid="2969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4"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99165" name="Group 157"/>
          <p:cNvGrpSpPr>
            <a:grpSpLocks/>
          </p:cNvGrpSpPr>
          <p:nvPr/>
        </p:nvGrpSpPr>
        <p:grpSpPr bwMode="auto">
          <a:xfrm>
            <a:off x="5486400" y="895351"/>
            <a:ext cx="3216276" cy="5121276"/>
            <a:chOff x="1248" y="708"/>
            <a:chExt cx="2026" cy="3226"/>
          </a:xfrm>
        </p:grpSpPr>
        <p:sp>
          <p:nvSpPr>
            <p:cNvPr id="64595" name="Freeform 146"/>
            <p:cNvSpPr>
              <a:spLocks/>
            </p:cNvSpPr>
            <p:nvPr/>
          </p:nvSpPr>
          <p:spPr bwMode="auto">
            <a:xfrm>
              <a:off x="1781" y="708"/>
              <a:ext cx="1214" cy="1462"/>
            </a:xfrm>
            <a:custGeom>
              <a:avLst/>
              <a:gdLst>
                <a:gd name="T0" fmla="*/ 401 w 1336"/>
                <a:gd name="T1" fmla="*/ 14 h 1478"/>
                <a:gd name="T2" fmla="*/ 1180 w 1336"/>
                <a:gd name="T3" fmla="*/ 400 h 1478"/>
                <a:gd name="T4" fmla="*/ 1336 w 1336"/>
                <a:gd name="T5" fmla="*/ 1051 h 1478"/>
                <a:gd name="T6" fmla="*/ 1234 w 1336"/>
                <a:gd name="T7" fmla="*/ 1478 h 1478"/>
                <a:gd name="T8" fmla="*/ 878 w 1336"/>
                <a:gd name="T9" fmla="*/ 1392 h 1478"/>
                <a:gd name="T10" fmla="*/ 398 w 1336"/>
                <a:gd name="T11" fmla="*/ 1056 h 1478"/>
                <a:gd name="T12" fmla="*/ 1 w 1336"/>
                <a:gd name="T13" fmla="*/ 319 h 1478"/>
                <a:gd name="T14" fmla="*/ 401 w 1336"/>
                <a:gd name="T15" fmla="*/ 14 h 1478"/>
                <a:gd name="T16" fmla="*/ 0 60000 65536"/>
                <a:gd name="T17" fmla="*/ 0 60000 65536"/>
                <a:gd name="T18" fmla="*/ 0 60000 65536"/>
                <a:gd name="T19" fmla="*/ 0 60000 65536"/>
                <a:gd name="T20" fmla="*/ 0 60000 65536"/>
                <a:gd name="T21" fmla="*/ 0 60000 65536"/>
                <a:gd name="T22" fmla="*/ 0 60000 65536"/>
                <a:gd name="T23" fmla="*/ 0 60000 65536"/>
                <a:gd name="connsiteX0" fmla="*/ 2995 w 9994"/>
                <a:gd name="connsiteY0" fmla="*/ 63 h 9968"/>
                <a:gd name="connsiteX1" fmla="*/ 7389 w 9994"/>
                <a:gd name="connsiteY1" fmla="*/ 4266 h 9968"/>
                <a:gd name="connsiteX2" fmla="*/ 9994 w 9994"/>
                <a:gd name="connsiteY2" fmla="*/ 7079 h 9968"/>
                <a:gd name="connsiteX3" fmla="*/ 9231 w 9994"/>
                <a:gd name="connsiteY3" fmla="*/ 9968 h 9968"/>
                <a:gd name="connsiteX4" fmla="*/ 6566 w 9994"/>
                <a:gd name="connsiteY4" fmla="*/ 9386 h 9968"/>
                <a:gd name="connsiteX5" fmla="*/ 2973 w 9994"/>
                <a:gd name="connsiteY5" fmla="*/ 7113 h 9968"/>
                <a:gd name="connsiteX6" fmla="*/ 1 w 9994"/>
                <a:gd name="connsiteY6" fmla="*/ 2126 h 9968"/>
                <a:gd name="connsiteX7" fmla="*/ 2995 w 9994"/>
                <a:gd name="connsiteY7" fmla="*/ 63 h 9968"/>
                <a:gd name="connsiteX0" fmla="*/ 2997 w 9237"/>
                <a:gd name="connsiteY0" fmla="*/ 63 h 10000"/>
                <a:gd name="connsiteX1" fmla="*/ 7393 w 9237"/>
                <a:gd name="connsiteY1" fmla="*/ 4280 h 10000"/>
                <a:gd name="connsiteX2" fmla="*/ 8701 w 9237"/>
                <a:gd name="connsiteY2" fmla="*/ 7312 h 10000"/>
                <a:gd name="connsiteX3" fmla="*/ 9237 w 9237"/>
                <a:gd name="connsiteY3" fmla="*/ 10000 h 10000"/>
                <a:gd name="connsiteX4" fmla="*/ 6570 w 9237"/>
                <a:gd name="connsiteY4" fmla="*/ 9416 h 10000"/>
                <a:gd name="connsiteX5" fmla="*/ 2975 w 9237"/>
                <a:gd name="connsiteY5" fmla="*/ 7136 h 10000"/>
                <a:gd name="connsiteX6" fmla="*/ 1 w 9237"/>
                <a:gd name="connsiteY6" fmla="*/ 2133 h 10000"/>
                <a:gd name="connsiteX7" fmla="*/ 2997 w 9237"/>
                <a:gd name="connsiteY7" fmla="*/ 63 h 10000"/>
                <a:gd name="connsiteX0" fmla="*/ 3245 w 10000"/>
                <a:gd name="connsiteY0" fmla="*/ 95 h 10032"/>
                <a:gd name="connsiteX1" fmla="*/ 7652 w 10000"/>
                <a:gd name="connsiteY1" fmla="*/ 4985 h 10032"/>
                <a:gd name="connsiteX2" fmla="*/ 9420 w 10000"/>
                <a:gd name="connsiteY2" fmla="*/ 7344 h 10032"/>
                <a:gd name="connsiteX3" fmla="*/ 10000 w 10000"/>
                <a:gd name="connsiteY3" fmla="*/ 10032 h 10032"/>
                <a:gd name="connsiteX4" fmla="*/ 7113 w 10000"/>
                <a:gd name="connsiteY4" fmla="*/ 9448 h 10032"/>
                <a:gd name="connsiteX5" fmla="*/ 3221 w 10000"/>
                <a:gd name="connsiteY5" fmla="*/ 7168 h 10032"/>
                <a:gd name="connsiteX6" fmla="*/ 1 w 10000"/>
                <a:gd name="connsiteY6" fmla="*/ 2165 h 10032"/>
                <a:gd name="connsiteX7" fmla="*/ 3245 w 10000"/>
                <a:gd name="connsiteY7" fmla="*/ 95 h 10032"/>
                <a:gd name="connsiteX0" fmla="*/ 3245 w 10000"/>
                <a:gd name="connsiteY0" fmla="*/ 95 h 10032"/>
                <a:gd name="connsiteX1" fmla="*/ 7652 w 10000"/>
                <a:gd name="connsiteY1" fmla="*/ 4985 h 10032"/>
                <a:gd name="connsiteX2" fmla="*/ 9420 w 10000"/>
                <a:gd name="connsiteY2" fmla="*/ 7344 h 10032"/>
                <a:gd name="connsiteX3" fmla="*/ 10000 w 10000"/>
                <a:gd name="connsiteY3" fmla="*/ 10032 h 10032"/>
                <a:gd name="connsiteX4" fmla="*/ 7113 w 10000"/>
                <a:gd name="connsiteY4" fmla="*/ 9448 h 10032"/>
                <a:gd name="connsiteX5" fmla="*/ 3221 w 10000"/>
                <a:gd name="connsiteY5" fmla="*/ 7168 h 10032"/>
                <a:gd name="connsiteX6" fmla="*/ 1 w 10000"/>
                <a:gd name="connsiteY6" fmla="*/ 2165 h 10032"/>
                <a:gd name="connsiteX7" fmla="*/ 3245 w 10000"/>
                <a:gd name="connsiteY7" fmla="*/ 95 h 10032"/>
                <a:gd name="connsiteX0" fmla="*/ 3245 w 10000"/>
                <a:gd name="connsiteY0" fmla="*/ 95 h 10032"/>
                <a:gd name="connsiteX1" fmla="*/ 7652 w 10000"/>
                <a:gd name="connsiteY1" fmla="*/ 4985 h 10032"/>
                <a:gd name="connsiteX2" fmla="*/ 9420 w 10000"/>
                <a:gd name="connsiteY2" fmla="*/ 7344 h 10032"/>
                <a:gd name="connsiteX3" fmla="*/ 10000 w 10000"/>
                <a:gd name="connsiteY3" fmla="*/ 10032 h 10032"/>
                <a:gd name="connsiteX4" fmla="*/ 7113 w 10000"/>
                <a:gd name="connsiteY4" fmla="*/ 9448 h 10032"/>
                <a:gd name="connsiteX5" fmla="*/ 3221 w 10000"/>
                <a:gd name="connsiteY5" fmla="*/ 7168 h 10032"/>
                <a:gd name="connsiteX6" fmla="*/ 1 w 10000"/>
                <a:gd name="connsiteY6" fmla="*/ 2165 h 10032"/>
                <a:gd name="connsiteX7" fmla="*/ 3245 w 10000"/>
                <a:gd name="connsiteY7" fmla="*/ 95 h 10032"/>
                <a:gd name="connsiteX0" fmla="*/ 3245 w 10000"/>
                <a:gd name="connsiteY0" fmla="*/ 95 h 10032"/>
                <a:gd name="connsiteX1" fmla="*/ 7652 w 10000"/>
                <a:gd name="connsiteY1" fmla="*/ 4985 h 10032"/>
                <a:gd name="connsiteX2" fmla="*/ 9420 w 10000"/>
                <a:gd name="connsiteY2" fmla="*/ 7344 h 10032"/>
                <a:gd name="connsiteX3" fmla="*/ 10000 w 10000"/>
                <a:gd name="connsiteY3" fmla="*/ 10032 h 10032"/>
                <a:gd name="connsiteX4" fmla="*/ 7113 w 10000"/>
                <a:gd name="connsiteY4" fmla="*/ 9448 h 10032"/>
                <a:gd name="connsiteX5" fmla="*/ 3221 w 10000"/>
                <a:gd name="connsiteY5" fmla="*/ 7168 h 10032"/>
                <a:gd name="connsiteX6" fmla="*/ 1 w 10000"/>
                <a:gd name="connsiteY6" fmla="*/ 2165 h 10032"/>
                <a:gd name="connsiteX7" fmla="*/ 3245 w 10000"/>
                <a:gd name="connsiteY7" fmla="*/ 95 h 10032"/>
                <a:gd name="connsiteX0" fmla="*/ 3245 w 10000"/>
                <a:gd name="connsiteY0" fmla="*/ 95 h 10032"/>
                <a:gd name="connsiteX1" fmla="*/ 7652 w 10000"/>
                <a:gd name="connsiteY1" fmla="*/ 4985 h 10032"/>
                <a:gd name="connsiteX2" fmla="*/ 9420 w 10000"/>
                <a:gd name="connsiteY2" fmla="*/ 7344 h 10032"/>
                <a:gd name="connsiteX3" fmla="*/ 10000 w 10000"/>
                <a:gd name="connsiteY3" fmla="*/ 10032 h 10032"/>
                <a:gd name="connsiteX4" fmla="*/ 7113 w 10000"/>
                <a:gd name="connsiteY4" fmla="*/ 9448 h 10032"/>
                <a:gd name="connsiteX5" fmla="*/ 3221 w 10000"/>
                <a:gd name="connsiteY5" fmla="*/ 7168 h 10032"/>
                <a:gd name="connsiteX6" fmla="*/ 1 w 10000"/>
                <a:gd name="connsiteY6" fmla="*/ 2165 h 10032"/>
                <a:gd name="connsiteX7" fmla="*/ 3245 w 10000"/>
                <a:gd name="connsiteY7" fmla="*/ 95 h 10032"/>
                <a:gd name="connsiteX0" fmla="*/ 3245 w 10000"/>
                <a:gd name="connsiteY0" fmla="*/ 95 h 10032"/>
                <a:gd name="connsiteX1" fmla="*/ 7652 w 10000"/>
                <a:gd name="connsiteY1" fmla="*/ 4985 h 10032"/>
                <a:gd name="connsiteX2" fmla="*/ 9420 w 10000"/>
                <a:gd name="connsiteY2" fmla="*/ 7344 h 10032"/>
                <a:gd name="connsiteX3" fmla="*/ 10000 w 10000"/>
                <a:gd name="connsiteY3" fmla="*/ 10032 h 10032"/>
                <a:gd name="connsiteX4" fmla="*/ 7113 w 10000"/>
                <a:gd name="connsiteY4" fmla="*/ 9448 h 10032"/>
                <a:gd name="connsiteX5" fmla="*/ 3221 w 10000"/>
                <a:gd name="connsiteY5" fmla="*/ 7168 h 10032"/>
                <a:gd name="connsiteX6" fmla="*/ 1 w 10000"/>
                <a:gd name="connsiteY6" fmla="*/ 2165 h 10032"/>
                <a:gd name="connsiteX7" fmla="*/ 3245 w 10000"/>
                <a:gd name="connsiteY7" fmla="*/ 95 h 10032"/>
                <a:gd name="connsiteX0" fmla="*/ 3245 w 10000"/>
                <a:gd name="connsiteY0" fmla="*/ 95 h 10032"/>
                <a:gd name="connsiteX1" fmla="*/ 7652 w 10000"/>
                <a:gd name="connsiteY1" fmla="*/ 4985 h 10032"/>
                <a:gd name="connsiteX2" fmla="*/ 9420 w 10000"/>
                <a:gd name="connsiteY2" fmla="*/ 7344 h 10032"/>
                <a:gd name="connsiteX3" fmla="*/ 10000 w 10000"/>
                <a:gd name="connsiteY3" fmla="*/ 10032 h 10032"/>
                <a:gd name="connsiteX4" fmla="*/ 7113 w 10000"/>
                <a:gd name="connsiteY4" fmla="*/ 9448 h 10032"/>
                <a:gd name="connsiteX5" fmla="*/ 3221 w 10000"/>
                <a:gd name="connsiteY5" fmla="*/ 7168 h 10032"/>
                <a:gd name="connsiteX6" fmla="*/ 1 w 10000"/>
                <a:gd name="connsiteY6" fmla="*/ 2165 h 10032"/>
                <a:gd name="connsiteX7" fmla="*/ 3245 w 10000"/>
                <a:gd name="connsiteY7" fmla="*/ 95 h 10032"/>
                <a:gd name="connsiteX0" fmla="*/ 3245 w 10000"/>
                <a:gd name="connsiteY0" fmla="*/ 95 h 10032"/>
                <a:gd name="connsiteX1" fmla="*/ 7652 w 10000"/>
                <a:gd name="connsiteY1" fmla="*/ 4985 h 10032"/>
                <a:gd name="connsiteX2" fmla="*/ 9420 w 10000"/>
                <a:gd name="connsiteY2" fmla="*/ 7344 h 10032"/>
                <a:gd name="connsiteX3" fmla="*/ 10000 w 10000"/>
                <a:gd name="connsiteY3" fmla="*/ 10032 h 10032"/>
                <a:gd name="connsiteX4" fmla="*/ 7113 w 10000"/>
                <a:gd name="connsiteY4" fmla="*/ 9448 h 10032"/>
                <a:gd name="connsiteX5" fmla="*/ 3221 w 10000"/>
                <a:gd name="connsiteY5" fmla="*/ 7168 h 10032"/>
                <a:gd name="connsiteX6" fmla="*/ 1 w 10000"/>
                <a:gd name="connsiteY6" fmla="*/ 2165 h 10032"/>
                <a:gd name="connsiteX7" fmla="*/ 3245 w 10000"/>
                <a:gd name="connsiteY7" fmla="*/ 95 h 10032"/>
                <a:gd name="connsiteX0" fmla="*/ 3245 w 10000"/>
                <a:gd name="connsiteY0" fmla="*/ 95 h 10032"/>
                <a:gd name="connsiteX1" fmla="*/ 7652 w 10000"/>
                <a:gd name="connsiteY1" fmla="*/ 4985 h 10032"/>
                <a:gd name="connsiteX2" fmla="*/ 9420 w 10000"/>
                <a:gd name="connsiteY2" fmla="*/ 7344 h 10032"/>
                <a:gd name="connsiteX3" fmla="*/ 10000 w 10000"/>
                <a:gd name="connsiteY3" fmla="*/ 10032 h 10032"/>
                <a:gd name="connsiteX4" fmla="*/ 7113 w 10000"/>
                <a:gd name="connsiteY4" fmla="*/ 9448 h 10032"/>
                <a:gd name="connsiteX5" fmla="*/ 3221 w 10000"/>
                <a:gd name="connsiteY5" fmla="*/ 7168 h 10032"/>
                <a:gd name="connsiteX6" fmla="*/ 1 w 10000"/>
                <a:gd name="connsiteY6" fmla="*/ 2165 h 10032"/>
                <a:gd name="connsiteX7" fmla="*/ 3245 w 10000"/>
                <a:gd name="connsiteY7" fmla="*/ 95 h 10032"/>
                <a:gd name="connsiteX0" fmla="*/ 3245 w 9849"/>
                <a:gd name="connsiteY0" fmla="*/ 95 h 10158"/>
                <a:gd name="connsiteX1" fmla="*/ 7652 w 9849"/>
                <a:gd name="connsiteY1" fmla="*/ 4985 h 10158"/>
                <a:gd name="connsiteX2" fmla="*/ 9420 w 9849"/>
                <a:gd name="connsiteY2" fmla="*/ 7344 h 10158"/>
                <a:gd name="connsiteX3" fmla="*/ 9849 w 9849"/>
                <a:gd name="connsiteY3" fmla="*/ 10158 h 10158"/>
                <a:gd name="connsiteX4" fmla="*/ 7113 w 9849"/>
                <a:gd name="connsiteY4" fmla="*/ 9448 h 10158"/>
                <a:gd name="connsiteX5" fmla="*/ 3221 w 9849"/>
                <a:gd name="connsiteY5" fmla="*/ 7168 h 10158"/>
                <a:gd name="connsiteX6" fmla="*/ 1 w 9849"/>
                <a:gd name="connsiteY6" fmla="*/ 2165 h 10158"/>
                <a:gd name="connsiteX7" fmla="*/ 3245 w 9849"/>
                <a:gd name="connsiteY7" fmla="*/ 95 h 10158"/>
                <a:gd name="connsiteX0" fmla="*/ 3295 w 10000"/>
                <a:gd name="connsiteY0" fmla="*/ 94 h 10004"/>
                <a:gd name="connsiteX1" fmla="*/ 7769 w 10000"/>
                <a:gd name="connsiteY1" fmla="*/ 4907 h 10004"/>
                <a:gd name="connsiteX2" fmla="*/ 9564 w 10000"/>
                <a:gd name="connsiteY2" fmla="*/ 7230 h 10004"/>
                <a:gd name="connsiteX3" fmla="*/ 10000 w 10000"/>
                <a:gd name="connsiteY3" fmla="*/ 10000 h 10004"/>
                <a:gd name="connsiteX4" fmla="*/ 7222 w 10000"/>
                <a:gd name="connsiteY4" fmla="*/ 9301 h 10004"/>
                <a:gd name="connsiteX5" fmla="*/ 3270 w 10000"/>
                <a:gd name="connsiteY5" fmla="*/ 7057 h 10004"/>
                <a:gd name="connsiteX6" fmla="*/ 1 w 10000"/>
                <a:gd name="connsiteY6" fmla="*/ 2131 h 10004"/>
                <a:gd name="connsiteX7" fmla="*/ 3295 w 10000"/>
                <a:gd name="connsiteY7" fmla="*/ 94 h 10004"/>
                <a:gd name="connsiteX0" fmla="*/ 3295 w 10000"/>
                <a:gd name="connsiteY0" fmla="*/ 94 h 10004"/>
                <a:gd name="connsiteX1" fmla="*/ 7769 w 10000"/>
                <a:gd name="connsiteY1" fmla="*/ 4907 h 10004"/>
                <a:gd name="connsiteX2" fmla="*/ 9564 w 10000"/>
                <a:gd name="connsiteY2" fmla="*/ 7230 h 10004"/>
                <a:gd name="connsiteX3" fmla="*/ 10000 w 10000"/>
                <a:gd name="connsiteY3" fmla="*/ 10000 h 10004"/>
                <a:gd name="connsiteX4" fmla="*/ 7018 w 10000"/>
                <a:gd name="connsiteY4" fmla="*/ 9301 h 10004"/>
                <a:gd name="connsiteX5" fmla="*/ 3270 w 10000"/>
                <a:gd name="connsiteY5" fmla="*/ 7057 h 10004"/>
                <a:gd name="connsiteX6" fmla="*/ 1 w 10000"/>
                <a:gd name="connsiteY6" fmla="*/ 2131 h 10004"/>
                <a:gd name="connsiteX7" fmla="*/ 3295 w 10000"/>
                <a:gd name="connsiteY7" fmla="*/ 94 h 10004"/>
                <a:gd name="connsiteX0" fmla="*/ 3961 w 10003"/>
                <a:gd name="connsiteY0" fmla="*/ 112 h 9691"/>
                <a:gd name="connsiteX1" fmla="*/ 7772 w 10003"/>
                <a:gd name="connsiteY1" fmla="*/ 4594 h 9691"/>
                <a:gd name="connsiteX2" fmla="*/ 9567 w 10003"/>
                <a:gd name="connsiteY2" fmla="*/ 6917 h 9691"/>
                <a:gd name="connsiteX3" fmla="*/ 10003 w 10003"/>
                <a:gd name="connsiteY3" fmla="*/ 9687 h 9691"/>
                <a:gd name="connsiteX4" fmla="*/ 7021 w 10003"/>
                <a:gd name="connsiteY4" fmla="*/ 8988 h 9691"/>
                <a:gd name="connsiteX5" fmla="*/ 3273 w 10003"/>
                <a:gd name="connsiteY5" fmla="*/ 6744 h 9691"/>
                <a:gd name="connsiteX6" fmla="*/ 4 w 10003"/>
                <a:gd name="connsiteY6" fmla="*/ 1818 h 9691"/>
                <a:gd name="connsiteX7" fmla="*/ 3961 w 10003"/>
                <a:gd name="connsiteY7" fmla="*/ 112 h 9691"/>
                <a:gd name="connsiteX0" fmla="*/ 3960 w 10000"/>
                <a:gd name="connsiteY0" fmla="*/ 48 h 9932"/>
                <a:gd name="connsiteX1" fmla="*/ 7770 w 10000"/>
                <a:gd name="connsiteY1" fmla="*/ 4672 h 9932"/>
                <a:gd name="connsiteX2" fmla="*/ 9564 w 10000"/>
                <a:gd name="connsiteY2" fmla="*/ 7070 h 9932"/>
                <a:gd name="connsiteX3" fmla="*/ 10000 w 10000"/>
                <a:gd name="connsiteY3" fmla="*/ 9928 h 9932"/>
                <a:gd name="connsiteX4" fmla="*/ 7019 w 10000"/>
                <a:gd name="connsiteY4" fmla="*/ 9207 h 9932"/>
                <a:gd name="connsiteX5" fmla="*/ 3272 w 10000"/>
                <a:gd name="connsiteY5" fmla="*/ 6891 h 9932"/>
                <a:gd name="connsiteX6" fmla="*/ 4 w 10000"/>
                <a:gd name="connsiteY6" fmla="*/ 1808 h 9932"/>
                <a:gd name="connsiteX7" fmla="*/ 3960 w 10000"/>
                <a:gd name="connsiteY7" fmla="*/ 48 h 9932"/>
                <a:gd name="connsiteX0" fmla="*/ 3960 w 10000"/>
                <a:gd name="connsiteY0" fmla="*/ 193 h 10145"/>
                <a:gd name="connsiteX1" fmla="*/ 7770 w 10000"/>
                <a:gd name="connsiteY1" fmla="*/ 4849 h 10145"/>
                <a:gd name="connsiteX2" fmla="*/ 9564 w 10000"/>
                <a:gd name="connsiteY2" fmla="*/ 7263 h 10145"/>
                <a:gd name="connsiteX3" fmla="*/ 10000 w 10000"/>
                <a:gd name="connsiteY3" fmla="*/ 10141 h 10145"/>
                <a:gd name="connsiteX4" fmla="*/ 7019 w 10000"/>
                <a:gd name="connsiteY4" fmla="*/ 9415 h 10145"/>
                <a:gd name="connsiteX5" fmla="*/ 3272 w 10000"/>
                <a:gd name="connsiteY5" fmla="*/ 7083 h 10145"/>
                <a:gd name="connsiteX6" fmla="*/ 4 w 10000"/>
                <a:gd name="connsiteY6" fmla="*/ 1965 h 10145"/>
                <a:gd name="connsiteX7" fmla="*/ 3960 w 10000"/>
                <a:gd name="connsiteY7" fmla="*/ 193 h 10145"/>
                <a:gd name="connsiteX0" fmla="*/ 3960 w 10000"/>
                <a:gd name="connsiteY0" fmla="*/ 193 h 10145"/>
                <a:gd name="connsiteX1" fmla="*/ 7770 w 10000"/>
                <a:gd name="connsiteY1" fmla="*/ 4849 h 10145"/>
                <a:gd name="connsiteX2" fmla="*/ 9564 w 10000"/>
                <a:gd name="connsiteY2" fmla="*/ 7263 h 10145"/>
                <a:gd name="connsiteX3" fmla="*/ 10000 w 10000"/>
                <a:gd name="connsiteY3" fmla="*/ 10141 h 10145"/>
                <a:gd name="connsiteX4" fmla="*/ 7019 w 10000"/>
                <a:gd name="connsiteY4" fmla="*/ 9415 h 10145"/>
                <a:gd name="connsiteX5" fmla="*/ 3272 w 10000"/>
                <a:gd name="connsiteY5" fmla="*/ 7083 h 10145"/>
                <a:gd name="connsiteX6" fmla="*/ 4 w 10000"/>
                <a:gd name="connsiteY6" fmla="*/ 1965 h 10145"/>
                <a:gd name="connsiteX7" fmla="*/ 3960 w 10000"/>
                <a:gd name="connsiteY7" fmla="*/ 193 h 10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145">
                  <a:moveTo>
                    <a:pt x="3960" y="193"/>
                  </a:moveTo>
                  <a:cubicBezTo>
                    <a:pt x="5408" y="890"/>
                    <a:pt x="6836" y="3671"/>
                    <a:pt x="7770" y="4849"/>
                  </a:cubicBezTo>
                  <a:cubicBezTo>
                    <a:pt x="8704" y="6027"/>
                    <a:pt x="9082" y="6142"/>
                    <a:pt x="9564" y="7263"/>
                  </a:cubicBezTo>
                  <a:cubicBezTo>
                    <a:pt x="9964" y="8093"/>
                    <a:pt x="9804" y="9225"/>
                    <a:pt x="10000" y="10141"/>
                  </a:cubicBezTo>
                  <a:cubicBezTo>
                    <a:pt x="8972" y="10200"/>
                    <a:pt x="7945" y="9657"/>
                    <a:pt x="7019" y="9415"/>
                  </a:cubicBezTo>
                  <a:cubicBezTo>
                    <a:pt x="5874" y="8930"/>
                    <a:pt x="4474" y="8326"/>
                    <a:pt x="3272" y="7083"/>
                  </a:cubicBezTo>
                  <a:cubicBezTo>
                    <a:pt x="2069" y="5840"/>
                    <a:pt x="-111" y="3113"/>
                    <a:pt x="4" y="1965"/>
                  </a:cubicBezTo>
                  <a:cubicBezTo>
                    <a:pt x="119" y="817"/>
                    <a:pt x="2512" y="-504"/>
                    <a:pt x="3960" y="193"/>
                  </a:cubicBezTo>
                  <a:close/>
                </a:path>
              </a:pathLst>
            </a:custGeom>
            <a:solidFill>
              <a:srgbClr val="FFCC99"/>
            </a:solidFill>
            <a:ln>
              <a:noFill/>
            </a:ln>
            <a:effectLst/>
            <a:extLst>
              <a:ext uri="{91240B29-F687-4F45-9708-019B960494DF}">
                <a14:hiddenLine xmlns:a14="http://schemas.microsoft.com/office/drawing/2010/main" w="12700"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96" name="Freeform 147"/>
            <p:cNvSpPr>
              <a:spLocks/>
            </p:cNvSpPr>
            <p:nvPr/>
          </p:nvSpPr>
          <p:spPr bwMode="auto">
            <a:xfrm>
              <a:off x="2865" y="2155"/>
              <a:ext cx="237" cy="343"/>
            </a:xfrm>
            <a:custGeom>
              <a:avLst/>
              <a:gdLst>
                <a:gd name="T0" fmla="*/ 129 w 237"/>
                <a:gd name="T1" fmla="*/ 341 h 343"/>
                <a:gd name="T2" fmla="*/ 0 w 237"/>
                <a:gd name="T3" fmla="*/ 185 h 343"/>
                <a:gd name="T4" fmla="*/ 129 w 237"/>
                <a:gd name="T5" fmla="*/ 5 h 343"/>
                <a:gd name="T6" fmla="*/ 237 w 237"/>
                <a:gd name="T7" fmla="*/ 157 h 343"/>
                <a:gd name="T8" fmla="*/ 129 w 237"/>
                <a:gd name="T9" fmla="*/ 341 h 3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7" h="343">
                  <a:moveTo>
                    <a:pt x="129" y="341"/>
                  </a:moveTo>
                  <a:cubicBezTo>
                    <a:pt x="83" y="343"/>
                    <a:pt x="0" y="241"/>
                    <a:pt x="0" y="185"/>
                  </a:cubicBezTo>
                  <a:cubicBezTo>
                    <a:pt x="0" y="129"/>
                    <a:pt x="90" y="10"/>
                    <a:pt x="129" y="5"/>
                  </a:cubicBezTo>
                  <a:cubicBezTo>
                    <a:pt x="168" y="0"/>
                    <a:pt x="237" y="101"/>
                    <a:pt x="237" y="157"/>
                  </a:cubicBezTo>
                  <a:cubicBezTo>
                    <a:pt x="237" y="213"/>
                    <a:pt x="151" y="303"/>
                    <a:pt x="129" y="341"/>
                  </a:cubicBezTo>
                  <a:close/>
                </a:path>
              </a:pathLst>
            </a:custGeom>
            <a:solidFill>
              <a:srgbClr val="FF99FF"/>
            </a:solidFill>
            <a:ln>
              <a:noFill/>
            </a:ln>
            <a:effectLst/>
            <a:extLst>
              <a:ext uri="{91240B29-F687-4F45-9708-019B960494DF}">
                <a14:hiddenLine xmlns:a14="http://schemas.microsoft.com/office/drawing/2010/main" w="12700"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97" name="Freeform 148"/>
            <p:cNvSpPr>
              <a:spLocks/>
            </p:cNvSpPr>
            <p:nvPr/>
          </p:nvSpPr>
          <p:spPr bwMode="auto">
            <a:xfrm>
              <a:off x="2624" y="2476"/>
              <a:ext cx="650" cy="826"/>
            </a:xfrm>
            <a:custGeom>
              <a:avLst/>
              <a:gdLst>
                <a:gd name="T0" fmla="*/ 373 w 668"/>
                <a:gd name="T1" fmla="*/ 826 h 826"/>
                <a:gd name="T2" fmla="*/ 61 w 668"/>
                <a:gd name="T3" fmla="*/ 643 h 826"/>
                <a:gd name="T4" fmla="*/ 47 w 668"/>
                <a:gd name="T5" fmla="*/ 202 h 826"/>
                <a:gd name="T6" fmla="*/ 342 w 668"/>
                <a:gd name="T7" fmla="*/ 0 h 826"/>
                <a:gd name="T8" fmla="*/ 619 w 668"/>
                <a:gd name="T9" fmla="*/ 237 h 826"/>
                <a:gd name="T10" fmla="*/ 637 w 668"/>
                <a:gd name="T11" fmla="*/ 562 h 826"/>
                <a:gd name="T12" fmla="*/ 373 w 668"/>
                <a:gd name="T13" fmla="*/ 826 h 826"/>
                <a:gd name="T14" fmla="*/ 0 60000 65536"/>
                <a:gd name="T15" fmla="*/ 0 60000 65536"/>
                <a:gd name="T16" fmla="*/ 0 60000 65536"/>
                <a:gd name="T17" fmla="*/ 0 60000 65536"/>
                <a:gd name="T18" fmla="*/ 0 60000 65536"/>
                <a:gd name="T19" fmla="*/ 0 60000 65536"/>
                <a:gd name="T20" fmla="*/ 0 60000 65536"/>
                <a:gd name="connsiteX0" fmla="*/ 5349 w 9426"/>
                <a:gd name="connsiteY0" fmla="*/ 10000 h 10000"/>
                <a:gd name="connsiteX1" fmla="*/ 678 w 9426"/>
                <a:gd name="connsiteY1" fmla="*/ 7785 h 10000"/>
                <a:gd name="connsiteX2" fmla="*/ 469 w 9426"/>
                <a:gd name="connsiteY2" fmla="*/ 2446 h 10000"/>
                <a:gd name="connsiteX3" fmla="*/ 2459 w 9426"/>
                <a:gd name="connsiteY3" fmla="*/ 1311 h 10000"/>
                <a:gd name="connsiteX4" fmla="*/ 4885 w 9426"/>
                <a:gd name="connsiteY4" fmla="*/ 0 h 10000"/>
                <a:gd name="connsiteX5" fmla="*/ 9031 w 9426"/>
                <a:gd name="connsiteY5" fmla="*/ 2869 h 10000"/>
                <a:gd name="connsiteX6" fmla="*/ 9301 w 9426"/>
                <a:gd name="connsiteY6" fmla="*/ 6804 h 10000"/>
                <a:gd name="connsiteX7" fmla="*/ 5349 w 9426"/>
                <a:gd name="connsiteY7" fmla="*/ 10000 h 10000"/>
                <a:gd name="connsiteX0" fmla="*/ 5675 w 10000"/>
                <a:gd name="connsiteY0" fmla="*/ 10000 h 10000"/>
                <a:gd name="connsiteX1" fmla="*/ 719 w 10000"/>
                <a:gd name="connsiteY1" fmla="*/ 7785 h 10000"/>
                <a:gd name="connsiteX2" fmla="*/ 498 w 10000"/>
                <a:gd name="connsiteY2" fmla="*/ 2446 h 10000"/>
                <a:gd name="connsiteX3" fmla="*/ 5182 w 10000"/>
                <a:gd name="connsiteY3" fmla="*/ 0 h 10000"/>
                <a:gd name="connsiteX4" fmla="*/ 9581 w 10000"/>
                <a:gd name="connsiteY4" fmla="*/ 2869 h 10000"/>
                <a:gd name="connsiteX5" fmla="*/ 9867 w 10000"/>
                <a:gd name="connsiteY5" fmla="*/ 6804 h 10000"/>
                <a:gd name="connsiteX6" fmla="*/ 5675 w 10000"/>
                <a:gd name="connsiteY6" fmla="*/ 10000 h 10000"/>
                <a:gd name="connsiteX0" fmla="*/ 5675 w 10000"/>
                <a:gd name="connsiteY0" fmla="*/ 10000 h 10000"/>
                <a:gd name="connsiteX1" fmla="*/ 719 w 10000"/>
                <a:gd name="connsiteY1" fmla="*/ 7785 h 10000"/>
                <a:gd name="connsiteX2" fmla="*/ 498 w 10000"/>
                <a:gd name="connsiteY2" fmla="*/ 2446 h 10000"/>
                <a:gd name="connsiteX3" fmla="*/ 5182 w 10000"/>
                <a:gd name="connsiteY3" fmla="*/ 0 h 10000"/>
                <a:gd name="connsiteX4" fmla="*/ 9581 w 10000"/>
                <a:gd name="connsiteY4" fmla="*/ 2869 h 10000"/>
                <a:gd name="connsiteX5" fmla="*/ 9867 w 10000"/>
                <a:gd name="connsiteY5" fmla="*/ 6804 h 10000"/>
                <a:gd name="connsiteX6" fmla="*/ 5675 w 10000"/>
                <a:gd name="connsiteY6" fmla="*/ 10000 h 10000"/>
                <a:gd name="connsiteX0" fmla="*/ 5675 w 10000"/>
                <a:gd name="connsiteY0" fmla="*/ 10000 h 10000"/>
                <a:gd name="connsiteX1" fmla="*/ 719 w 10000"/>
                <a:gd name="connsiteY1" fmla="*/ 7785 h 10000"/>
                <a:gd name="connsiteX2" fmla="*/ 498 w 10000"/>
                <a:gd name="connsiteY2" fmla="*/ 2446 h 10000"/>
                <a:gd name="connsiteX3" fmla="*/ 5182 w 10000"/>
                <a:gd name="connsiteY3" fmla="*/ 0 h 10000"/>
                <a:gd name="connsiteX4" fmla="*/ 9581 w 10000"/>
                <a:gd name="connsiteY4" fmla="*/ 2869 h 10000"/>
                <a:gd name="connsiteX5" fmla="*/ 9867 w 10000"/>
                <a:gd name="connsiteY5" fmla="*/ 6804 h 10000"/>
                <a:gd name="connsiteX6" fmla="*/ 5675 w 10000"/>
                <a:gd name="connsiteY6" fmla="*/ 10000 h 10000"/>
                <a:gd name="connsiteX0" fmla="*/ 5675 w 10000"/>
                <a:gd name="connsiteY0" fmla="*/ 10000 h 10000"/>
                <a:gd name="connsiteX1" fmla="*/ 719 w 10000"/>
                <a:gd name="connsiteY1" fmla="*/ 7785 h 10000"/>
                <a:gd name="connsiteX2" fmla="*/ 498 w 10000"/>
                <a:gd name="connsiteY2" fmla="*/ 2446 h 10000"/>
                <a:gd name="connsiteX3" fmla="*/ 5182 w 10000"/>
                <a:gd name="connsiteY3" fmla="*/ 0 h 10000"/>
                <a:gd name="connsiteX4" fmla="*/ 9581 w 10000"/>
                <a:gd name="connsiteY4" fmla="*/ 2869 h 10000"/>
                <a:gd name="connsiteX5" fmla="*/ 9867 w 10000"/>
                <a:gd name="connsiteY5" fmla="*/ 6804 h 10000"/>
                <a:gd name="connsiteX6" fmla="*/ 5675 w 10000"/>
                <a:gd name="connsiteY6" fmla="*/ 10000 h 10000"/>
                <a:gd name="connsiteX0" fmla="*/ 5675 w 9959"/>
                <a:gd name="connsiteY0" fmla="*/ 10000 h 10000"/>
                <a:gd name="connsiteX1" fmla="*/ 719 w 9959"/>
                <a:gd name="connsiteY1" fmla="*/ 7785 h 10000"/>
                <a:gd name="connsiteX2" fmla="*/ 498 w 9959"/>
                <a:gd name="connsiteY2" fmla="*/ 2446 h 10000"/>
                <a:gd name="connsiteX3" fmla="*/ 5182 w 9959"/>
                <a:gd name="connsiteY3" fmla="*/ 0 h 10000"/>
                <a:gd name="connsiteX4" fmla="*/ 9581 w 9959"/>
                <a:gd name="connsiteY4" fmla="*/ 2869 h 10000"/>
                <a:gd name="connsiteX5" fmla="*/ 9867 w 9959"/>
                <a:gd name="connsiteY5" fmla="*/ 6804 h 10000"/>
                <a:gd name="connsiteX6" fmla="*/ 5675 w 9959"/>
                <a:gd name="connsiteY6" fmla="*/ 10000 h 10000"/>
                <a:gd name="connsiteX0" fmla="*/ 5698 w 10000"/>
                <a:gd name="connsiteY0" fmla="*/ 10000 h 10000"/>
                <a:gd name="connsiteX1" fmla="*/ 722 w 10000"/>
                <a:gd name="connsiteY1" fmla="*/ 7785 h 10000"/>
                <a:gd name="connsiteX2" fmla="*/ 500 w 10000"/>
                <a:gd name="connsiteY2" fmla="*/ 2446 h 10000"/>
                <a:gd name="connsiteX3" fmla="*/ 5203 w 10000"/>
                <a:gd name="connsiteY3" fmla="*/ 0 h 10000"/>
                <a:gd name="connsiteX4" fmla="*/ 9620 w 10000"/>
                <a:gd name="connsiteY4" fmla="*/ 2869 h 10000"/>
                <a:gd name="connsiteX5" fmla="*/ 9908 w 10000"/>
                <a:gd name="connsiteY5" fmla="*/ 6804 h 10000"/>
                <a:gd name="connsiteX6" fmla="*/ 5698 w 10000"/>
                <a:gd name="connsiteY6" fmla="*/ 10000 h 10000"/>
                <a:gd name="connsiteX0" fmla="*/ 5698 w 9851"/>
                <a:gd name="connsiteY0" fmla="*/ 10000 h 10000"/>
                <a:gd name="connsiteX1" fmla="*/ 722 w 9851"/>
                <a:gd name="connsiteY1" fmla="*/ 7785 h 10000"/>
                <a:gd name="connsiteX2" fmla="*/ 500 w 9851"/>
                <a:gd name="connsiteY2" fmla="*/ 2446 h 10000"/>
                <a:gd name="connsiteX3" fmla="*/ 5203 w 9851"/>
                <a:gd name="connsiteY3" fmla="*/ 0 h 10000"/>
                <a:gd name="connsiteX4" fmla="*/ 9620 w 9851"/>
                <a:gd name="connsiteY4" fmla="*/ 2869 h 10000"/>
                <a:gd name="connsiteX5" fmla="*/ 9315 w 9851"/>
                <a:gd name="connsiteY5" fmla="*/ 6729 h 10000"/>
                <a:gd name="connsiteX6" fmla="*/ 5698 w 9851"/>
                <a:gd name="connsiteY6" fmla="*/ 10000 h 10000"/>
                <a:gd name="connsiteX0" fmla="*/ 5784 w 9757"/>
                <a:gd name="connsiteY0" fmla="*/ 10000 h 10000"/>
                <a:gd name="connsiteX1" fmla="*/ 733 w 9757"/>
                <a:gd name="connsiteY1" fmla="*/ 7785 h 10000"/>
                <a:gd name="connsiteX2" fmla="*/ 508 w 9757"/>
                <a:gd name="connsiteY2" fmla="*/ 2446 h 10000"/>
                <a:gd name="connsiteX3" fmla="*/ 5282 w 9757"/>
                <a:gd name="connsiteY3" fmla="*/ 0 h 10000"/>
                <a:gd name="connsiteX4" fmla="*/ 9465 w 9757"/>
                <a:gd name="connsiteY4" fmla="*/ 2869 h 10000"/>
                <a:gd name="connsiteX5" fmla="*/ 9456 w 9757"/>
                <a:gd name="connsiteY5" fmla="*/ 6729 h 10000"/>
                <a:gd name="connsiteX6" fmla="*/ 5784 w 9757"/>
                <a:gd name="connsiteY6" fmla="*/ 10000 h 10000"/>
                <a:gd name="connsiteX0" fmla="*/ 5771 w 9843"/>
                <a:gd name="connsiteY0" fmla="*/ 10000 h 10000"/>
                <a:gd name="connsiteX1" fmla="*/ 594 w 9843"/>
                <a:gd name="connsiteY1" fmla="*/ 7785 h 10000"/>
                <a:gd name="connsiteX2" fmla="*/ 672 w 9843"/>
                <a:gd name="connsiteY2" fmla="*/ 2221 h 10000"/>
                <a:gd name="connsiteX3" fmla="*/ 5257 w 9843"/>
                <a:gd name="connsiteY3" fmla="*/ 0 h 10000"/>
                <a:gd name="connsiteX4" fmla="*/ 9544 w 9843"/>
                <a:gd name="connsiteY4" fmla="*/ 2869 h 10000"/>
                <a:gd name="connsiteX5" fmla="*/ 9535 w 9843"/>
                <a:gd name="connsiteY5" fmla="*/ 6729 h 10000"/>
                <a:gd name="connsiteX6" fmla="*/ 5771 w 9843"/>
                <a:gd name="connsiteY6" fmla="*/ 10000 h 10000"/>
                <a:gd name="connsiteX0" fmla="*/ 5668 w 9805"/>
                <a:gd name="connsiteY0" fmla="*/ 10000 h 10000"/>
                <a:gd name="connsiteX1" fmla="*/ 825 w 9805"/>
                <a:gd name="connsiteY1" fmla="*/ 8085 h 10000"/>
                <a:gd name="connsiteX2" fmla="*/ 488 w 9805"/>
                <a:gd name="connsiteY2" fmla="*/ 2221 h 10000"/>
                <a:gd name="connsiteX3" fmla="*/ 5146 w 9805"/>
                <a:gd name="connsiteY3" fmla="*/ 0 h 10000"/>
                <a:gd name="connsiteX4" fmla="*/ 9501 w 9805"/>
                <a:gd name="connsiteY4" fmla="*/ 2869 h 10000"/>
                <a:gd name="connsiteX5" fmla="*/ 9492 w 9805"/>
                <a:gd name="connsiteY5" fmla="*/ 6729 h 10000"/>
                <a:gd name="connsiteX6" fmla="*/ 5668 w 9805"/>
                <a:gd name="connsiteY6" fmla="*/ 10000 h 10000"/>
                <a:gd name="connsiteX0" fmla="*/ 6244 w 10463"/>
                <a:gd name="connsiteY0" fmla="*/ 10000 h 10000"/>
                <a:gd name="connsiteX1" fmla="*/ 1304 w 10463"/>
                <a:gd name="connsiteY1" fmla="*/ 8085 h 10000"/>
                <a:gd name="connsiteX2" fmla="*/ 322 w 10463"/>
                <a:gd name="connsiteY2" fmla="*/ 2296 h 10000"/>
                <a:gd name="connsiteX3" fmla="*/ 5711 w 10463"/>
                <a:gd name="connsiteY3" fmla="*/ 0 h 10000"/>
                <a:gd name="connsiteX4" fmla="*/ 10153 w 10463"/>
                <a:gd name="connsiteY4" fmla="*/ 2869 h 10000"/>
                <a:gd name="connsiteX5" fmla="*/ 10144 w 10463"/>
                <a:gd name="connsiteY5" fmla="*/ 6729 h 10000"/>
                <a:gd name="connsiteX6" fmla="*/ 6244 w 10463"/>
                <a:gd name="connsiteY6" fmla="*/ 10000 h 10000"/>
                <a:gd name="connsiteX0" fmla="*/ 6462 w 10681"/>
                <a:gd name="connsiteY0" fmla="*/ 10000 h 10000"/>
                <a:gd name="connsiteX1" fmla="*/ 777 w 10681"/>
                <a:gd name="connsiteY1" fmla="*/ 7560 h 10000"/>
                <a:gd name="connsiteX2" fmla="*/ 540 w 10681"/>
                <a:gd name="connsiteY2" fmla="*/ 2296 h 10000"/>
                <a:gd name="connsiteX3" fmla="*/ 5929 w 10681"/>
                <a:gd name="connsiteY3" fmla="*/ 0 h 10000"/>
                <a:gd name="connsiteX4" fmla="*/ 10371 w 10681"/>
                <a:gd name="connsiteY4" fmla="*/ 2869 h 10000"/>
                <a:gd name="connsiteX5" fmla="*/ 10362 w 10681"/>
                <a:gd name="connsiteY5" fmla="*/ 6729 h 10000"/>
                <a:gd name="connsiteX6" fmla="*/ 6462 w 10681"/>
                <a:gd name="connsiteY6" fmla="*/ 10000 h 10000"/>
                <a:gd name="connsiteX0" fmla="*/ 6593 w 10812"/>
                <a:gd name="connsiteY0" fmla="*/ 10000 h 10000"/>
                <a:gd name="connsiteX1" fmla="*/ 908 w 10812"/>
                <a:gd name="connsiteY1" fmla="*/ 7560 h 10000"/>
                <a:gd name="connsiteX2" fmla="*/ 458 w 10812"/>
                <a:gd name="connsiteY2" fmla="*/ 2896 h 10000"/>
                <a:gd name="connsiteX3" fmla="*/ 6060 w 10812"/>
                <a:gd name="connsiteY3" fmla="*/ 0 h 10000"/>
                <a:gd name="connsiteX4" fmla="*/ 10502 w 10812"/>
                <a:gd name="connsiteY4" fmla="*/ 2869 h 10000"/>
                <a:gd name="connsiteX5" fmla="*/ 10493 w 10812"/>
                <a:gd name="connsiteY5" fmla="*/ 6729 h 10000"/>
                <a:gd name="connsiteX6" fmla="*/ 6593 w 10812"/>
                <a:gd name="connsiteY6" fmla="*/ 10000 h 10000"/>
                <a:gd name="connsiteX0" fmla="*/ 6593 w 11070"/>
                <a:gd name="connsiteY0" fmla="*/ 10000 h 10000"/>
                <a:gd name="connsiteX1" fmla="*/ 908 w 11070"/>
                <a:gd name="connsiteY1" fmla="*/ 7560 h 10000"/>
                <a:gd name="connsiteX2" fmla="*/ 458 w 11070"/>
                <a:gd name="connsiteY2" fmla="*/ 2896 h 10000"/>
                <a:gd name="connsiteX3" fmla="*/ 6060 w 11070"/>
                <a:gd name="connsiteY3" fmla="*/ 0 h 10000"/>
                <a:gd name="connsiteX4" fmla="*/ 10821 w 11070"/>
                <a:gd name="connsiteY4" fmla="*/ 2869 h 10000"/>
                <a:gd name="connsiteX5" fmla="*/ 10493 w 11070"/>
                <a:gd name="connsiteY5" fmla="*/ 6729 h 10000"/>
                <a:gd name="connsiteX6" fmla="*/ 6593 w 11070"/>
                <a:gd name="connsiteY6" fmla="*/ 10000 h 10000"/>
                <a:gd name="connsiteX0" fmla="*/ 6593 w 11158"/>
                <a:gd name="connsiteY0" fmla="*/ 10000 h 10000"/>
                <a:gd name="connsiteX1" fmla="*/ 908 w 11158"/>
                <a:gd name="connsiteY1" fmla="*/ 7560 h 10000"/>
                <a:gd name="connsiteX2" fmla="*/ 458 w 11158"/>
                <a:gd name="connsiteY2" fmla="*/ 2896 h 10000"/>
                <a:gd name="connsiteX3" fmla="*/ 6060 w 11158"/>
                <a:gd name="connsiteY3" fmla="*/ 0 h 10000"/>
                <a:gd name="connsiteX4" fmla="*/ 10821 w 11158"/>
                <a:gd name="connsiteY4" fmla="*/ 2869 h 10000"/>
                <a:gd name="connsiteX5" fmla="*/ 10918 w 11158"/>
                <a:gd name="connsiteY5" fmla="*/ 6804 h 10000"/>
                <a:gd name="connsiteX6" fmla="*/ 6593 w 11158"/>
                <a:gd name="connsiteY6"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58" h="10000">
                  <a:moveTo>
                    <a:pt x="6593" y="10000"/>
                  </a:moveTo>
                  <a:cubicBezTo>
                    <a:pt x="4806" y="9262"/>
                    <a:pt x="2591" y="8598"/>
                    <a:pt x="908" y="7560"/>
                  </a:cubicBezTo>
                  <a:cubicBezTo>
                    <a:pt x="-20" y="6300"/>
                    <a:pt x="-352" y="4191"/>
                    <a:pt x="458" y="2896"/>
                  </a:cubicBezTo>
                  <a:cubicBezTo>
                    <a:pt x="2147" y="1481"/>
                    <a:pt x="4370" y="815"/>
                    <a:pt x="6060" y="0"/>
                  </a:cubicBezTo>
                  <a:cubicBezTo>
                    <a:pt x="7694" y="73"/>
                    <a:pt x="9979" y="1731"/>
                    <a:pt x="10821" y="2869"/>
                  </a:cubicBezTo>
                  <a:cubicBezTo>
                    <a:pt x="11558" y="4307"/>
                    <a:pt x="10848" y="5981"/>
                    <a:pt x="10918" y="6804"/>
                  </a:cubicBezTo>
                  <a:cubicBezTo>
                    <a:pt x="9510" y="8244"/>
                    <a:pt x="8105" y="8935"/>
                    <a:pt x="6593" y="10000"/>
                  </a:cubicBezTo>
                  <a:close/>
                </a:path>
              </a:pathLst>
            </a:custGeom>
            <a:solidFill>
              <a:srgbClr val="FFFF99"/>
            </a:solidFill>
            <a:ln>
              <a:noFill/>
            </a:ln>
            <a:effectLst/>
            <a:extLst>
              <a:ext uri="{91240B29-F687-4F45-9708-019B960494DF}">
                <a14:hiddenLine xmlns:a14="http://schemas.microsoft.com/office/drawing/2010/main" w="12700" cap="flat" cmpd="sng">
                  <a:solidFill>
                    <a:schemeClr val="tx1"/>
                  </a:solidFill>
                  <a:prstDash val="solid"/>
                  <a:round/>
                  <a:headEnd type="none" w="med" len="med"/>
                  <a:tailEnd type="none" w="med" len="med"/>
                </a14:hiddenLine>
              </a:ext>
            </a:extLst>
          </p:spPr>
          <p:txBody>
            <a:bodyPr wrap="none" bIns="10800">
              <a:spAutoFit/>
            </a:bodyPr>
            <a:lstStyle/>
            <a:p>
              <a:endParaRPr lang="en-CA"/>
            </a:p>
          </p:txBody>
        </p:sp>
        <p:sp>
          <p:nvSpPr>
            <p:cNvPr id="64598" name="Freeform 149"/>
            <p:cNvSpPr>
              <a:spLocks/>
            </p:cNvSpPr>
            <p:nvPr/>
          </p:nvSpPr>
          <p:spPr bwMode="auto">
            <a:xfrm>
              <a:off x="2722" y="3312"/>
              <a:ext cx="526" cy="622"/>
            </a:xfrm>
            <a:custGeom>
              <a:avLst/>
              <a:gdLst>
                <a:gd name="T0" fmla="*/ 272 w 526"/>
                <a:gd name="T1" fmla="*/ 0 h 622"/>
                <a:gd name="T2" fmla="*/ 55 w 526"/>
                <a:gd name="T3" fmla="*/ 180 h 622"/>
                <a:gd name="T4" fmla="*/ 35 w 526"/>
                <a:gd name="T5" fmla="*/ 451 h 622"/>
                <a:gd name="T6" fmla="*/ 265 w 526"/>
                <a:gd name="T7" fmla="*/ 620 h 622"/>
                <a:gd name="T8" fmla="*/ 489 w 526"/>
                <a:gd name="T9" fmla="*/ 437 h 622"/>
                <a:gd name="T10" fmla="*/ 489 w 526"/>
                <a:gd name="T11" fmla="*/ 193 h 622"/>
                <a:gd name="T12" fmla="*/ 272 w 526"/>
                <a:gd name="T13" fmla="*/ 0 h 6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26" h="622">
                  <a:moveTo>
                    <a:pt x="272" y="0"/>
                  </a:moveTo>
                  <a:lnTo>
                    <a:pt x="55" y="180"/>
                  </a:lnTo>
                  <a:cubicBezTo>
                    <a:pt x="16" y="255"/>
                    <a:pt x="0" y="378"/>
                    <a:pt x="35" y="451"/>
                  </a:cubicBezTo>
                  <a:cubicBezTo>
                    <a:pt x="70" y="524"/>
                    <a:pt x="189" y="622"/>
                    <a:pt x="265" y="620"/>
                  </a:cubicBezTo>
                  <a:cubicBezTo>
                    <a:pt x="341" y="618"/>
                    <a:pt x="452" y="508"/>
                    <a:pt x="489" y="437"/>
                  </a:cubicBezTo>
                  <a:cubicBezTo>
                    <a:pt x="526" y="366"/>
                    <a:pt x="525" y="266"/>
                    <a:pt x="489" y="193"/>
                  </a:cubicBezTo>
                  <a:lnTo>
                    <a:pt x="272" y="0"/>
                  </a:lnTo>
                  <a:close/>
                </a:path>
              </a:pathLst>
            </a:custGeom>
            <a:solidFill>
              <a:srgbClr val="FF99FF"/>
            </a:solidFill>
            <a:ln>
              <a:noFill/>
            </a:ln>
            <a:effectLst/>
            <a:extLst>
              <a:ext uri="{91240B29-F687-4F45-9708-019B960494DF}">
                <a14:hiddenLine xmlns:a14="http://schemas.microsoft.com/office/drawing/2010/main" w="12700"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99" name="Freeform 150"/>
            <p:cNvSpPr>
              <a:spLocks/>
            </p:cNvSpPr>
            <p:nvPr/>
          </p:nvSpPr>
          <p:spPr bwMode="auto">
            <a:xfrm>
              <a:off x="1919" y="1728"/>
              <a:ext cx="626" cy="966"/>
            </a:xfrm>
            <a:custGeom>
              <a:avLst/>
              <a:gdLst>
                <a:gd name="T0" fmla="*/ 259 w 626"/>
                <a:gd name="T1" fmla="*/ 0 h 966"/>
                <a:gd name="T2" fmla="*/ 31 w 626"/>
                <a:gd name="T3" fmla="*/ 598 h 966"/>
                <a:gd name="T4" fmla="*/ 72 w 626"/>
                <a:gd name="T5" fmla="*/ 849 h 966"/>
                <a:gd name="T6" fmla="*/ 289 w 626"/>
                <a:gd name="T7" fmla="*/ 950 h 966"/>
                <a:gd name="T8" fmla="*/ 574 w 626"/>
                <a:gd name="T9" fmla="*/ 754 h 966"/>
                <a:gd name="T10" fmla="*/ 574 w 626"/>
                <a:gd name="T11" fmla="*/ 408 h 966"/>
                <a:gd name="T12" fmla="*/ 259 w 626"/>
                <a:gd name="T13" fmla="*/ 0 h 9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26" h="966">
                  <a:moveTo>
                    <a:pt x="259" y="0"/>
                  </a:moveTo>
                  <a:lnTo>
                    <a:pt x="31" y="598"/>
                  </a:lnTo>
                  <a:cubicBezTo>
                    <a:pt x="0" y="739"/>
                    <a:pt x="29" y="790"/>
                    <a:pt x="72" y="849"/>
                  </a:cubicBezTo>
                  <a:cubicBezTo>
                    <a:pt x="115" y="908"/>
                    <a:pt x="205" y="966"/>
                    <a:pt x="289" y="950"/>
                  </a:cubicBezTo>
                  <a:cubicBezTo>
                    <a:pt x="373" y="934"/>
                    <a:pt x="527" y="844"/>
                    <a:pt x="574" y="754"/>
                  </a:cubicBezTo>
                  <a:cubicBezTo>
                    <a:pt x="621" y="664"/>
                    <a:pt x="626" y="534"/>
                    <a:pt x="574" y="408"/>
                  </a:cubicBezTo>
                  <a:lnTo>
                    <a:pt x="259" y="0"/>
                  </a:lnTo>
                  <a:close/>
                </a:path>
              </a:pathLst>
            </a:custGeom>
            <a:solidFill>
              <a:srgbClr val="FFFF99"/>
            </a:solidFill>
            <a:ln>
              <a:noFill/>
            </a:ln>
            <a:effectLst/>
            <a:extLst>
              <a:ext uri="{91240B29-F687-4F45-9708-019B960494DF}">
                <a14:hiddenLine xmlns:a14="http://schemas.microsoft.com/office/drawing/2010/main" w="12700"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600" name="Freeform 151"/>
            <p:cNvSpPr>
              <a:spLocks/>
            </p:cNvSpPr>
            <p:nvPr/>
          </p:nvSpPr>
          <p:spPr bwMode="auto">
            <a:xfrm>
              <a:off x="1248" y="1728"/>
              <a:ext cx="930" cy="971"/>
            </a:xfrm>
            <a:custGeom>
              <a:avLst/>
              <a:gdLst>
                <a:gd name="T0" fmla="*/ 930 w 930"/>
                <a:gd name="T1" fmla="*/ 0 h 971"/>
                <a:gd name="T2" fmla="*/ 526 w 930"/>
                <a:gd name="T3" fmla="*/ 781 h 971"/>
                <a:gd name="T4" fmla="*/ 174 w 930"/>
                <a:gd name="T5" fmla="*/ 950 h 971"/>
                <a:gd name="T6" fmla="*/ 4 w 930"/>
                <a:gd name="T7" fmla="*/ 652 h 971"/>
                <a:gd name="T8" fmla="*/ 154 w 930"/>
                <a:gd name="T9" fmla="*/ 137 h 971"/>
                <a:gd name="T10" fmla="*/ 930 w 930"/>
                <a:gd name="T11" fmla="*/ 0 h 97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30" h="971">
                  <a:moveTo>
                    <a:pt x="930" y="0"/>
                  </a:moveTo>
                  <a:lnTo>
                    <a:pt x="526" y="781"/>
                  </a:lnTo>
                  <a:cubicBezTo>
                    <a:pt x="400" y="939"/>
                    <a:pt x="261" y="971"/>
                    <a:pt x="174" y="950"/>
                  </a:cubicBezTo>
                  <a:cubicBezTo>
                    <a:pt x="87" y="929"/>
                    <a:pt x="7" y="787"/>
                    <a:pt x="4" y="652"/>
                  </a:cubicBezTo>
                  <a:cubicBezTo>
                    <a:pt x="1" y="517"/>
                    <a:pt x="0" y="246"/>
                    <a:pt x="154" y="137"/>
                  </a:cubicBezTo>
                  <a:cubicBezTo>
                    <a:pt x="308" y="28"/>
                    <a:pt x="768" y="29"/>
                    <a:pt x="930" y="0"/>
                  </a:cubicBezTo>
                  <a:close/>
                </a:path>
              </a:pathLst>
            </a:custGeom>
            <a:solidFill>
              <a:srgbClr val="FF99FF"/>
            </a:solidFill>
            <a:ln>
              <a:noFill/>
            </a:ln>
            <a:effectLst/>
            <a:extLst>
              <a:ext uri="{91240B29-F687-4F45-9708-019B960494DF}">
                <a14:hiddenLine xmlns:a14="http://schemas.microsoft.com/office/drawing/2010/main" w="12700" cap="flat" cmpd="sng">
                  <a:solidFill>
                    <a:srgbClr val="FFCC99"/>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grpSp>
      <p:sp>
        <p:nvSpPr>
          <p:cNvPr id="29901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Apply  DFS</a:t>
            </a:r>
          </a:p>
        </p:txBody>
      </p:sp>
      <p:sp>
        <p:nvSpPr>
          <p:cNvPr id="299102" name="Text Box 94"/>
          <p:cNvSpPr txBox="1">
            <a:spLocks noChangeArrowheads="1"/>
          </p:cNvSpPr>
          <p:nvPr/>
        </p:nvSpPr>
        <p:spPr bwMode="auto">
          <a:xfrm>
            <a:off x="152400" y="762000"/>
            <a:ext cx="5105400" cy="301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None/>
            </a:pPr>
            <a:r>
              <a:rPr lang="en-US" sz="2000" b="1">
                <a:solidFill>
                  <a:srgbClr val="CC0000"/>
                </a:solidFill>
              </a:rPr>
              <a:t>DFS</a:t>
            </a:r>
            <a:r>
              <a:rPr lang="en-US" sz="2000">
                <a:solidFill>
                  <a:schemeClr val="hlink"/>
                </a:solidFill>
              </a:rPr>
              <a:t>  is particularly useful in finding the biconnected components of a graph, because in the DFS there are no cross edges; only tree- and back-edges.</a:t>
            </a:r>
          </a:p>
          <a:p>
            <a:pPr eaLnBrk="1" hangingPunct="1">
              <a:lnSpc>
                <a:spcPct val="115000"/>
              </a:lnSpc>
              <a:spcBef>
                <a:spcPct val="50000"/>
              </a:spcBef>
              <a:buFont typeface="Wingdings" pitchFamily="2" charset="2"/>
              <a:buNone/>
            </a:pPr>
            <a:r>
              <a:rPr lang="en-US" sz="2000">
                <a:solidFill>
                  <a:srgbClr val="A50021"/>
                </a:solidFill>
              </a:rPr>
              <a:t>A back-edge (u,v) forms a simple cycle with the DFS tree path between u and v.</a:t>
            </a:r>
            <a:br>
              <a:rPr lang="en-US" sz="2000">
                <a:solidFill>
                  <a:srgbClr val="A50021"/>
                </a:solidFill>
              </a:rPr>
            </a:br>
            <a:r>
              <a:rPr lang="en-US" sz="2000">
                <a:solidFill>
                  <a:srgbClr val="A50021"/>
                </a:solidFill>
              </a:rPr>
              <a:t>Hence, all edges of that cycle are equivalent and belong to the same biconnected component.</a:t>
            </a:r>
          </a:p>
        </p:txBody>
      </p:sp>
      <p:grpSp>
        <p:nvGrpSpPr>
          <p:cNvPr id="299160" name="Group 152"/>
          <p:cNvGrpSpPr>
            <a:grpSpLocks/>
          </p:cNvGrpSpPr>
          <p:nvPr/>
        </p:nvGrpSpPr>
        <p:grpSpPr bwMode="auto">
          <a:xfrm>
            <a:off x="5562600" y="914400"/>
            <a:ext cx="2990850" cy="4922838"/>
            <a:chOff x="3504" y="576"/>
            <a:chExt cx="1884" cy="3101"/>
          </a:xfrm>
        </p:grpSpPr>
        <p:grpSp>
          <p:nvGrpSpPr>
            <p:cNvPr id="64557" name="Group 110"/>
            <p:cNvGrpSpPr>
              <a:grpSpLocks/>
            </p:cNvGrpSpPr>
            <p:nvPr/>
          </p:nvGrpSpPr>
          <p:grpSpPr bwMode="auto">
            <a:xfrm>
              <a:off x="3700" y="706"/>
              <a:ext cx="1488" cy="2880"/>
              <a:chOff x="432" y="1056"/>
              <a:chExt cx="1488" cy="2880"/>
            </a:xfrm>
          </p:grpSpPr>
          <p:sp>
            <p:nvSpPr>
              <p:cNvPr id="64581" name="Line 96"/>
              <p:cNvSpPr>
                <a:spLocks noChangeShapeType="1"/>
              </p:cNvSpPr>
              <p:nvPr/>
            </p:nvSpPr>
            <p:spPr bwMode="auto">
              <a:xfrm>
                <a:off x="1104" y="1056"/>
                <a:ext cx="0" cy="28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82" name="Line 97"/>
              <p:cNvSpPr>
                <a:spLocks noChangeShapeType="1"/>
              </p:cNvSpPr>
              <p:nvPr/>
            </p:nvSpPr>
            <p:spPr bwMode="auto">
              <a:xfrm>
                <a:off x="1104" y="1344"/>
                <a:ext cx="0" cy="28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83" name="Line 98"/>
              <p:cNvSpPr>
                <a:spLocks noChangeShapeType="1"/>
              </p:cNvSpPr>
              <p:nvPr/>
            </p:nvSpPr>
            <p:spPr bwMode="auto">
              <a:xfrm>
                <a:off x="1104" y="1632"/>
                <a:ext cx="0" cy="28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84" name="Line 99"/>
              <p:cNvSpPr>
                <a:spLocks noChangeShapeType="1"/>
              </p:cNvSpPr>
              <p:nvPr/>
            </p:nvSpPr>
            <p:spPr bwMode="auto">
              <a:xfrm flipH="1">
                <a:off x="432" y="1920"/>
                <a:ext cx="672" cy="43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85" name="Line 100"/>
              <p:cNvSpPr>
                <a:spLocks noChangeShapeType="1"/>
              </p:cNvSpPr>
              <p:nvPr/>
            </p:nvSpPr>
            <p:spPr bwMode="auto">
              <a:xfrm>
                <a:off x="1104" y="1920"/>
                <a:ext cx="816" cy="43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86" name="Line 101"/>
              <p:cNvSpPr>
                <a:spLocks noChangeShapeType="1"/>
              </p:cNvSpPr>
              <p:nvPr/>
            </p:nvSpPr>
            <p:spPr bwMode="auto">
              <a:xfrm>
                <a:off x="432" y="2352"/>
                <a:ext cx="0" cy="33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87" name="Line 102"/>
              <p:cNvSpPr>
                <a:spLocks noChangeShapeType="1"/>
              </p:cNvSpPr>
              <p:nvPr/>
            </p:nvSpPr>
            <p:spPr bwMode="auto">
              <a:xfrm>
                <a:off x="1104" y="1920"/>
                <a:ext cx="0" cy="43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88" name="Line 103"/>
              <p:cNvSpPr>
                <a:spLocks noChangeShapeType="1"/>
              </p:cNvSpPr>
              <p:nvPr/>
            </p:nvSpPr>
            <p:spPr bwMode="auto">
              <a:xfrm>
                <a:off x="1104" y="2352"/>
                <a:ext cx="0" cy="33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89" name="Line 104"/>
              <p:cNvSpPr>
                <a:spLocks noChangeShapeType="1"/>
              </p:cNvSpPr>
              <p:nvPr/>
            </p:nvSpPr>
            <p:spPr bwMode="auto">
              <a:xfrm>
                <a:off x="1920" y="2352"/>
                <a:ext cx="0" cy="33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90" name="Line 105"/>
              <p:cNvSpPr>
                <a:spLocks noChangeShapeType="1"/>
              </p:cNvSpPr>
              <p:nvPr/>
            </p:nvSpPr>
            <p:spPr bwMode="auto">
              <a:xfrm>
                <a:off x="1920" y="2688"/>
                <a:ext cx="0" cy="28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91" name="Line 106"/>
              <p:cNvSpPr>
                <a:spLocks noChangeShapeType="1"/>
              </p:cNvSpPr>
              <p:nvPr/>
            </p:nvSpPr>
            <p:spPr bwMode="auto">
              <a:xfrm>
                <a:off x="1920" y="2976"/>
                <a:ext cx="0" cy="24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92" name="Line 107"/>
              <p:cNvSpPr>
                <a:spLocks noChangeShapeType="1"/>
              </p:cNvSpPr>
              <p:nvPr/>
            </p:nvSpPr>
            <p:spPr bwMode="auto">
              <a:xfrm>
                <a:off x="1920" y="3216"/>
                <a:ext cx="0" cy="28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93" name="Line 108"/>
              <p:cNvSpPr>
                <a:spLocks noChangeShapeType="1"/>
              </p:cNvSpPr>
              <p:nvPr/>
            </p:nvSpPr>
            <p:spPr bwMode="auto">
              <a:xfrm>
                <a:off x="1920" y="3504"/>
                <a:ext cx="0" cy="24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94" name="Line 109"/>
              <p:cNvSpPr>
                <a:spLocks noChangeShapeType="1"/>
              </p:cNvSpPr>
              <p:nvPr/>
            </p:nvSpPr>
            <p:spPr bwMode="auto">
              <a:xfrm>
                <a:off x="1920" y="3744"/>
                <a:ext cx="0" cy="19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grpSp>
        <p:sp>
          <p:nvSpPr>
            <p:cNvPr id="64558" name="Freeform 111"/>
            <p:cNvSpPr>
              <a:spLocks/>
            </p:cNvSpPr>
            <p:nvPr/>
          </p:nvSpPr>
          <p:spPr bwMode="auto">
            <a:xfrm>
              <a:off x="3700" y="1570"/>
              <a:ext cx="672" cy="768"/>
            </a:xfrm>
            <a:custGeom>
              <a:avLst/>
              <a:gdLst>
                <a:gd name="T0" fmla="*/ 672 w 672"/>
                <a:gd name="T1" fmla="*/ 0 h 768"/>
                <a:gd name="T2" fmla="*/ 0 w 672"/>
                <a:gd name="T3" fmla="*/ 768 h 768"/>
                <a:gd name="T4" fmla="*/ 0 60000 65536"/>
                <a:gd name="T5" fmla="*/ 0 60000 65536"/>
              </a:gdLst>
              <a:ahLst/>
              <a:cxnLst>
                <a:cxn ang="T4">
                  <a:pos x="T0" y="T1"/>
                </a:cxn>
                <a:cxn ang="T5">
                  <a:pos x="T2" y="T3"/>
                </a:cxn>
              </a:cxnLst>
              <a:rect l="0" t="0" r="r" b="b"/>
              <a:pathLst>
                <a:path w="672" h="768">
                  <a:moveTo>
                    <a:pt x="672" y="0"/>
                  </a:moveTo>
                  <a:lnTo>
                    <a:pt x="0" y="768"/>
                  </a:ln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59" name="Freeform 112"/>
            <p:cNvSpPr>
              <a:spLocks/>
            </p:cNvSpPr>
            <p:nvPr/>
          </p:nvSpPr>
          <p:spPr bwMode="auto">
            <a:xfrm>
              <a:off x="4372" y="1581"/>
              <a:ext cx="169" cy="757"/>
            </a:xfrm>
            <a:custGeom>
              <a:avLst/>
              <a:gdLst>
                <a:gd name="T0" fmla="*/ 0 w 169"/>
                <a:gd name="T1" fmla="*/ 757 h 757"/>
                <a:gd name="T2" fmla="*/ 168 w 169"/>
                <a:gd name="T3" fmla="*/ 427 h 757"/>
                <a:gd name="T4" fmla="*/ 7 w 169"/>
                <a:gd name="T5" fmla="*/ 0 h 757"/>
                <a:gd name="T6" fmla="*/ 0 60000 65536"/>
                <a:gd name="T7" fmla="*/ 0 60000 65536"/>
                <a:gd name="T8" fmla="*/ 0 60000 65536"/>
              </a:gdLst>
              <a:ahLst/>
              <a:cxnLst>
                <a:cxn ang="T6">
                  <a:pos x="T0" y="T1"/>
                </a:cxn>
                <a:cxn ang="T7">
                  <a:pos x="T2" y="T3"/>
                </a:cxn>
                <a:cxn ang="T8">
                  <a:pos x="T4" y="T5"/>
                </a:cxn>
              </a:cxnLst>
              <a:rect l="0" t="0" r="r" b="b"/>
              <a:pathLst>
                <a:path w="169" h="757">
                  <a:moveTo>
                    <a:pt x="0" y="757"/>
                  </a:moveTo>
                  <a:cubicBezTo>
                    <a:pt x="28" y="702"/>
                    <a:pt x="167" y="553"/>
                    <a:pt x="168" y="427"/>
                  </a:cubicBezTo>
                  <a:cubicBezTo>
                    <a:pt x="169" y="301"/>
                    <a:pt x="41" y="89"/>
                    <a:pt x="7" y="0"/>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60" name="Freeform 113"/>
            <p:cNvSpPr>
              <a:spLocks/>
            </p:cNvSpPr>
            <p:nvPr/>
          </p:nvSpPr>
          <p:spPr bwMode="auto">
            <a:xfrm>
              <a:off x="4372" y="714"/>
              <a:ext cx="143" cy="568"/>
            </a:xfrm>
            <a:custGeom>
              <a:avLst/>
              <a:gdLst>
                <a:gd name="T0" fmla="*/ 0 w 143"/>
                <a:gd name="T1" fmla="*/ 568 h 568"/>
                <a:gd name="T2" fmla="*/ 141 w 143"/>
                <a:gd name="T3" fmla="*/ 284 h 568"/>
                <a:gd name="T4" fmla="*/ 14 w 143"/>
                <a:gd name="T5" fmla="*/ 0 h 568"/>
                <a:gd name="T6" fmla="*/ 0 60000 65536"/>
                <a:gd name="T7" fmla="*/ 0 60000 65536"/>
                <a:gd name="T8" fmla="*/ 0 60000 65536"/>
              </a:gdLst>
              <a:ahLst/>
              <a:cxnLst>
                <a:cxn ang="T6">
                  <a:pos x="T0" y="T1"/>
                </a:cxn>
                <a:cxn ang="T7">
                  <a:pos x="T2" y="T3"/>
                </a:cxn>
                <a:cxn ang="T8">
                  <a:pos x="T4" y="T5"/>
                </a:cxn>
              </a:cxnLst>
              <a:rect l="0" t="0" r="r" b="b"/>
              <a:pathLst>
                <a:path w="143" h="568">
                  <a:moveTo>
                    <a:pt x="0" y="568"/>
                  </a:moveTo>
                  <a:cubicBezTo>
                    <a:pt x="23" y="521"/>
                    <a:pt x="139" y="379"/>
                    <a:pt x="141" y="284"/>
                  </a:cubicBezTo>
                  <a:cubicBezTo>
                    <a:pt x="143" y="189"/>
                    <a:pt x="40" y="59"/>
                    <a:pt x="14" y="0"/>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61" name="Freeform 114"/>
            <p:cNvSpPr>
              <a:spLocks/>
            </p:cNvSpPr>
            <p:nvPr/>
          </p:nvSpPr>
          <p:spPr bwMode="auto">
            <a:xfrm>
              <a:off x="4235" y="1005"/>
              <a:ext cx="137" cy="565"/>
            </a:xfrm>
            <a:custGeom>
              <a:avLst/>
              <a:gdLst>
                <a:gd name="T0" fmla="*/ 137 w 137"/>
                <a:gd name="T1" fmla="*/ 565 h 565"/>
                <a:gd name="T2" fmla="*/ 0 w 137"/>
                <a:gd name="T3" fmla="*/ 278 h 565"/>
                <a:gd name="T4" fmla="*/ 136 w 137"/>
                <a:gd name="T5" fmla="*/ 0 h 565"/>
                <a:gd name="T6" fmla="*/ 0 60000 65536"/>
                <a:gd name="T7" fmla="*/ 0 60000 65536"/>
                <a:gd name="T8" fmla="*/ 0 60000 65536"/>
              </a:gdLst>
              <a:ahLst/>
              <a:cxnLst>
                <a:cxn ang="T6">
                  <a:pos x="T0" y="T1"/>
                </a:cxn>
                <a:cxn ang="T7">
                  <a:pos x="T2" y="T3"/>
                </a:cxn>
                <a:cxn ang="T8">
                  <a:pos x="T4" y="T5"/>
                </a:cxn>
              </a:cxnLst>
              <a:rect l="0" t="0" r="r" b="b"/>
              <a:pathLst>
                <a:path w="137" h="565">
                  <a:moveTo>
                    <a:pt x="137" y="565"/>
                  </a:moveTo>
                  <a:cubicBezTo>
                    <a:pt x="114" y="517"/>
                    <a:pt x="0" y="372"/>
                    <a:pt x="0" y="278"/>
                  </a:cubicBezTo>
                  <a:cubicBezTo>
                    <a:pt x="0" y="184"/>
                    <a:pt x="108" y="58"/>
                    <a:pt x="136" y="0"/>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62" name="Freeform 115"/>
            <p:cNvSpPr>
              <a:spLocks/>
            </p:cNvSpPr>
            <p:nvPr/>
          </p:nvSpPr>
          <p:spPr bwMode="auto">
            <a:xfrm>
              <a:off x="4384" y="1294"/>
              <a:ext cx="804" cy="708"/>
            </a:xfrm>
            <a:custGeom>
              <a:avLst/>
              <a:gdLst>
                <a:gd name="T0" fmla="*/ 804 w 804"/>
                <a:gd name="T1" fmla="*/ 708 h 708"/>
                <a:gd name="T2" fmla="*/ 400 w 804"/>
                <a:gd name="T3" fmla="*/ 278 h 708"/>
                <a:gd name="T4" fmla="*/ 0 w 804"/>
                <a:gd name="T5" fmla="*/ 0 h 708"/>
                <a:gd name="T6" fmla="*/ 0 60000 65536"/>
                <a:gd name="T7" fmla="*/ 0 60000 65536"/>
                <a:gd name="T8" fmla="*/ 0 60000 65536"/>
              </a:gdLst>
              <a:ahLst/>
              <a:cxnLst>
                <a:cxn ang="T6">
                  <a:pos x="T0" y="T1"/>
                </a:cxn>
                <a:cxn ang="T7">
                  <a:pos x="T2" y="T3"/>
                </a:cxn>
                <a:cxn ang="T8">
                  <a:pos x="T4" y="T5"/>
                </a:cxn>
              </a:cxnLst>
              <a:rect l="0" t="0" r="r" b="b"/>
              <a:pathLst>
                <a:path w="804" h="708">
                  <a:moveTo>
                    <a:pt x="804" y="708"/>
                  </a:moveTo>
                  <a:cubicBezTo>
                    <a:pt x="737" y="636"/>
                    <a:pt x="534" y="396"/>
                    <a:pt x="400" y="278"/>
                  </a:cubicBezTo>
                  <a:cubicBezTo>
                    <a:pt x="266" y="160"/>
                    <a:pt x="83" y="58"/>
                    <a:pt x="0" y="0"/>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63" name="Freeform 116"/>
            <p:cNvSpPr>
              <a:spLocks/>
            </p:cNvSpPr>
            <p:nvPr/>
          </p:nvSpPr>
          <p:spPr bwMode="auto">
            <a:xfrm>
              <a:off x="5188" y="2333"/>
              <a:ext cx="126" cy="533"/>
            </a:xfrm>
            <a:custGeom>
              <a:avLst/>
              <a:gdLst>
                <a:gd name="T0" fmla="*/ 0 w 126"/>
                <a:gd name="T1" fmla="*/ 533 h 533"/>
                <a:gd name="T2" fmla="*/ 125 w 126"/>
                <a:gd name="T3" fmla="*/ 285 h 533"/>
                <a:gd name="T4" fmla="*/ 5 w 126"/>
                <a:gd name="T5" fmla="*/ 0 h 533"/>
                <a:gd name="T6" fmla="*/ 0 60000 65536"/>
                <a:gd name="T7" fmla="*/ 0 60000 65536"/>
                <a:gd name="T8" fmla="*/ 0 60000 65536"/>
              </a:gdLst>
              <a:ahLst/>
              <a:cxnLst>
                <a:cxn ang="T6">
                  <a:pos x="T0" y="T1"/>
                </a:cxn>
                <a:cxn ang="T7">
                  <a:pos x="T2" y="T3"/>
                </a:cxn>
                <a:cxn ang="T8">
                  <a:pos x="T4" y="T5"/>
                </a:cxn>
              </a:cxnLst>
              <a:rect l="0" t="0" r="r" b="b"/>
              <a:pathLst>
                <a:path w="126" h="533">
                  <a:moveTo>
                    <a:pt x="0" y="533"/>
                  </a:moveTo>
                  <a:cubicBezTo>
                    <a:pt x="21" y="492"/>
                    <a:pt x="124" y="374"/>
                    <a:pt x="125" y="285"/>
                  </a:cubicBezTo>
                  <a:cubicBezTo>
                    <a:pt x="126" y="196"/>
                    <a:pt x="30" y="59"/>
                    <a:pt x="5" y="0"/>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64" name="Freeform 117"/>
            <p:cNvSpPr>
              <a:spLocks/>
            </p:cNvSpPr>
            <p:nvPr/>
          </p:nvSpPr>
          <p:spPr bwMode="auto">
            <a:xfrm>
              <a:off x="4964" y="2340"/>
              <a:ext cx="224" cy="814"/>
            </a:xfrm>
            <a:custGeom>
              <a:avLst/>
              <a:gdLst>
                <a:gd name="T0" fmla="*/ 224 w 224"/>
                <a:gd name="T1" fmla="*/ 814 h 814"/>
                <a:gd name="T2" fmla="*/ 37 w 224"/>
                <a:gd name="T3" fmla="*/ 549 h 814"/>
                <a:gd name="T4" fmla="*/ 30 w 224"/>
                <a:gd name="T5" fmla="*/ 271 h 814"/>
                <a:gd name="T6" fmla="*/ 215 w 224"/>
                <a:gd name="T7" fmla="*/ 0 h 8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4" h="814">
                  <a:moveTo>
                    <a:pt x="224" y="814"/>
                  </a:moveTo>
                  <a:cubicBezTo>
                    <a:pt x="193" y="770"/>
                    <a:pt x="69" y="640"/>
                    <a:pt x="37" y="549"/>
                  </a:cubicBezTo>
                  <a:cubicBezTo>
                    <a:pt x="5" y="458"/>
                    <a:pt x="0" y="362"/>
                    <a:pt x="30" y="271"/>
                  </a:cubicBezTo>
                  <a:cubicBezTo>
                    <a:pt x="60" y="180"/>
                    <a:pt x="176" y="56"/>
                    <a:pt x="215" y="0"/>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65" name="Freeform 118"/>
            <p:cNvSpPr>
              <a:spLocks/>
            </p:cNvSpPr>
            <p:nvPr/>
          </p:nvSpPr>
          <p:spPr bwMode="auto">
            <a:xfrm>
              <a:off x="5188" y="3160"/>
              <a:ext cx="105" cy="426"/>
            </a:xfrm>
            <a:custGeom>
              <a:avLst/>
              <a:gdLst>
                <a:gd name="T0" fmla="*/ 0 w 105"/>
                <a:gd name="T1" fmla="*/ 426 h 426"/>
                <a:gd name="T2" fmla="*/ 104 w 105"/>
                <a:gd name="T3" fmla="*/ 237 h 426"/>
                <a:gd name="T4" fmla="*/ 5 w 105"/>
                <a:gd name="T5" fmla="*/ 0 h 426"/>
                <a:gd name="T6" fmla="*/ 0 60000 65536"/>
                <a:gd name="T7" fmla="*/ 0 60000 65536"/>
                <a:gd name="T8" fmla="*/ 0 60000 65536"/>
              </a:gdLst>
              <a:ahLst/>
              <a:cxnLst>
                <a:cxn ang="T6">
                  <a:pos x="T0" y="T1"/>
                </a:cxn>
                <a:cxn ang="T7">
                  <a:pos x="T2" y="T3"/>
                </a:cxn>
                <a:cxn ang="T8">
                  <a:pos x="T4" y="T5"/>
                </a:cxn>
              </a:cxnLst>
              <a:rect l="0" t="0" r="r" b="b"/>
              <a:pathLst>
                <a:path w="105" h="426">
                  <a:moveTo>
                    <a:pt x="0" y="426"/>
                  </a:moveTo>
                  <a:cubicBezTo>
                    <a:pt x="17" y="394"/>
                    <a:pt x="103" y="308"/>
                    <a:pt x="104" y="237"/>
                  </a:cubicBezTo>
                  <a:cubicBezTo>
                    <a:pt x="105" y="166"/>
                    <a:pt x="26" y="50"/>
                    <a:pt x="5" y="0"/>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4566" name="Text Box 119"/>
            <p:cNvSpPr txBox="1">
              <a:spLocks noChangeArrowheads="1"/>
            </p:cNvSpPr>
            <p:nvPr/>
          </p:nvSpPr>
          <p:spPr bwMode="auto">
            <a:xfrm>
              <a:off x="4138" y="576"/>
              <a:ext cx="180"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a</a:t>
              </a:r>
            </a:p>
          </p:txBody>
        </p:sp>
        <p:sp>
          <p:nvSpPr>
            <p:cNvPr id="64567" name="Text Box 120"/>
            <p:cNvSpPr txBox="1">
              <a:spLocks noChangeArrowheads="1"/>
            </p:cNvSpPr>
            <p:nvPr/>
          </p:nvSpPr>
          <p:spPr bwMode="auto">
            <a:xfrm>
              <a:off x="4180" y="850"/>
              <a:ext cx="18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b</a:t>
              </a:r>
            </a:p>
          </p:txBody>
        </p:sp>
        <p:sp>
          <p:nvSpPr>
            <p:cNvPr id="64568" name="Text Box 121"/>
            <p:cNvSpPr txBox="1">
              <a:spLocks noChangeArrowheads="1"/>
            </p:cNvSpPr>
            <p:nvPr/>
          </p:nvSpPr>
          <p:spPr bwMode="auto">
            <a:xfrm>
              <a:off x="4416" y="1104"/>
              <a:ext cx="180"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c</a:t>
              </a:r>
            </a:p>
          </p:txBody>
        </p:sp>
        <p:sp>
          <p:nvSpPr>
            <p:cNvPr id="64569" name="Text Box 122"/>
            <p:cNvSpPr txBox="1">
              <a:spLocks noChangeArrowheads="1"/>
            </p:cNvSpPr>
            <p:nvPr/>
          </p:nvSpPr>
          <p:spPr bwMode="auto">
            <a:xfrm>
              <a:off x="4128" y="1392"/>
              <a:ext cx="180"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e</a:t>
              </a:r>
            </a:p>
          </p:txBody>
        </p:sp>
        <p:sp>
          <p:nvSpPr>
            <p:cNvPr id="64570" name="Text Box 123"/>
            <p:cNvSpPr txBox="1">
              <a:spLocks noChangeArrowheads="1"/>
            </p:cNvSpPr>
            <p:nvPr/>
          </p:nvSpPr>
          <p:spPr bwMode="auto">
            <a:xfrm>
              <a:off x="3504" y="1858"/>
              <a:ext cx="18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d</a:t>
              </a:r>
            </a:p>
          </p:txBody>
        </p:sp>
        <p:sp>
          <p:nvSpPr>
            <p:cNvPr id="64571" name="Text Box 124"/>
            <p:cNvSpPr txBox="1">
              <a:spLocks noChangeArrowheads="1"/>
            </p:cNvSpPr>
            <p:nvPr/>
          </p:nvSpPr>
          <p:spPr bwMode="auto">
            <a:xfrm>
              <a:off x="3516" y="2194"/>
              <a:ext cx="164"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f</a:t>
              </a:r>
            </a:p>
          </p:txBody>
        </p:sp>
        <p:sp>
          <p:nvSpPr>
            <p:cNvPr id="64572" name="Text Box 125"/>
            <p:cNvSpPr txBox="1">
              <a:spLocks noChangeArrowheads="1"/>
            </p:cNvSpPr>
            <p:nvPr/>
          </p:nvSpPr>
          <p:spPr bwMode="auto">
            <a:xfrm>
              <a:off x="4180" y="1858"/>
              <a:ext cx="18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g</a:t>
              </a:r>
            </a:p>
          </p:txBody>
        </p:sp>
        <p:sp>
          <p:nvSpPr>
            <p:cNvPr id="64573" name="Text Box 126"/>
            <p:cNvSpPr txBox="1">
              <a:spLocks noChangeArrowheads="1"/>
            </p:cNvSpPr>
            <p:nvPr/>
          </p:nvSpPr>
          <p:spPr bwMode="auto">
            <a:xfrm>
              <a:off x="4176" y="2194"/>
              <a:ext cx="18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h</a:t>
              </a:r>
            </a:p>
          </p:txBody>
        </p:sp>
        <p:sp>
          <p:nvSpPr>
            <p:cNvPr id="64574" name="Text Box 127"/>
            <p:cNvSpPr txBox="1">
              <a:spLocks noChangeArrowheads="1"/>
            </p:cNvSpPr>
            <p:nvPr/>
          </p:nvSpPr>
          <p:spPr bwMode="auto">
            <a:xfrm>
              <a:off x="5232" y="1824"/>
              <a:ext cx="156"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i</a:t>
              </a:r>
            </a:p>
          </p:txBody>
        </p:sp>
        <p:sp>
          <p:nvSpPr>
            <p:cNvPr id="64575" name="Text Box 128"/>
            <p:cNvSpPr txBox="1">
              <a:spLocks noChangeArrowheads="1"/>
            </p:cNvSpPr>
            <p:nvPr/>
          </p:nvSpPr>
          <p:spPr bwMode="auto">
            <a:xfrm>
              <a:off x="5232" y="2160"/>
              <a:ext cx="156"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j</a:t>
              </a:r>
            </a:p>
          </p:txBody>
        </p:sp>
        <p:sp>
          <p:nvSpPr>
            <p:cNvPr id="64576" name="Text Box 129"/>
            <p:cNvSpPr txBox="1">
              <a:spLocks noChangeArrowheads="1"/>
            </p:cNvSpPr>
            <p:nvPr/>
          </p:nvSpPr>
          <p:spPr bwMode="auto">
            <a:xfrm>
              <a:off x="4996" y="2482"/>
              <a:ext cx="18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k</a:t>
              </a:r>
            </a:p>
          </p:txBody>
        </p:sp>
        <p:sp>
          <p:nvSpPr>
            <p:cNvPr id="64577" name="Text Box 130"/>
            <p:cNvSpPr txBox="1">
              <a:spLocks noChangeArrowheads="1"/>
            </p:cNvSpPr>
            <p:nvPr/>
          </p:nvSpPr>
          <p:spPr bwMode="auto">
            <a:xfrm>
              <a:off x="5008" y="2722"/>
              <a:ext cx="156"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l</a:t>
              </a:r>
            </a:p>
          </p:txBody>
        </p:sp>
        <p:sp>
          <p:nvSpPr>
            <p:cNvPr id="64578" name="Text Box 131"/>
            <p:cNvSpPr txBox="1">
              <a:spLocks noChangeArrowheads="1"/>
            </p:cNvSpPr>
            <p:nvPr/>
          </p:nvSpPr>
          <p:spPr bwMode="auto">
            <a:xfrm>
              <a:off x="4896" y="3024"/>
              <a:ext cx="22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m</a:t>
              </a:r>
            </a:p>
          </p:txBody>
        </p:sp>
        <p:sp>
          <p:nvSpPr>
            <p:cNvPr id="64579" name="Text Box 132"/>
            <p:cNvSpPr txBox="1">
              <a:spLocks noChangeArrowheads="1"/>
            </p:cNvSpPr>
            <p:nvPr/>
          </p:nvSpPr>
          <p:spPr bwMode="auto">
            <a:xfrm>
              <a:off x="4992" y="3250"/>
              <a:ext cx="18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n</a:t>
              </a:r>
            </a:p>
          </p:txBody>
        </p:sp>
        <p:sp>
          <p:nvSpPr>
            <p:cNvPr id="64580" name="Text Box 133"/>
            <p:cNvSpPr txBox="1">
              <a:spLocks noChangeArrowheads="1"/>
            </p:cNvSpPr>
            <p:nvPr/>
          </p:nvSpPr>
          <p:spPr bwMode="auto">
            <a:xfrm>
              <a:off x="4992" y="3442"/>
              <a:ext cx="18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o</a:t>
              </a:r>
            </a:p>
          </p:txBody>
        </p:sp>
      </p:grpSp>
      <p:grpSp>
        <p:nvGrpSpPr>
          <p:cNvPr id="299162" name="Group 154"/>
          <p:cNvGrpSpPr>
            <a:grpSpLocks/>
          </p:cNvGrpSpPr>
          <p:nvPr/>
        </p:nvGrpSpPr>
        <p:grpSpPr bwMode="auto">
          <a:xfrm>
            <a:off x="381000" y="4129088"/>
            <a:ext cx="4572000" cy="2347912"/>
            <a:chOff x="240" y="2601"/>
            <a:chExt cx="2880" cy="1479"/>
          </a:xfrm>
        </p:grpSpPr>
        <p:sp>
          <p:nvSpPr>
            <p:cNvPr id="64519" name="Line 5"/>
            <p:cNvSpPr>
              <a:spLocks noChangeShapeType="1"/>
            </p:cNvSpPr>
            <p:nvPr/>
          </p:nvSpPr>
          <p:spPr bwMode="auto">
            <a:xfrm>
              <a:off x="1027" y="2766"/>
              <a:ext cx="0" cy="32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20" name="Line 6"/>
            <p:cNvSpPr>
              <a:spLocks noChangeShapeType="1"/>
            </p:cNvSpPr>
            <p:nvPr/>
          </p:nvSpPr>
          <p:spPr bwMode="auto">
            <a:xfrm flipH="1">
              <a:off x="547" y="3094"/>
              <a:ext cx="480"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21" name="Line 7"/>
            <p:cNvSpPr>
              <a:spLocks noChangeShapeType="1"/>
            </p:cNvSpPr>
            <p:nvPr/>
          </p:nvSpPr>
          <p:spPr bwMode="auto">
            <a:xfrm flipV="1">
              <a:off x="547" y="2766"/>
              <a:ext cx="480" cy="32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22" name="Line 9"/>
            <p:cNvSpPr>
              <a:spLocks noChangeShapeType="1"/>
            </p:cNvSpPr>
            <p:nvPr/>
          </p:nvSpPr>
          <p:spPr bwMode="auto">
            <a:xfrm flipH="1">
              <a:off x="1027" y="3094"/>
              <a:ext cx="480" cy="32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23" name="Line 10"/>
            <p:cNvSpPr>
              <a:spLocks noChangeShapeType="1"/>
            </p:cNvSpPr>
            <p:nvPr/>
          </p:nvSpPr>
          <p:spPr bwMode="auto">
            <a:xfrm flipV="1">
              <a:off x="1027" y="3094"/>
              <a:ext cx="0" cy="32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24" name="Line 11"/>
            <p:cNvSpPr>
              <a:spLocks noChangeShapeType="1"/>
            </p:cNvSpPr>
            <p:nvPr/>
          </p:nvSpPr>
          <p:spPr bwMode="auto">
            <a:xfrm>
              <a:off x="547" y="3094"/>
              <a:ext cx="480" cy="32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25" name="Line 12"/>
            <p:cNvSpPr>
              <a:spLocks noChangeShapeType="1"/>
            </p:cNvSpPr>
            <p:nvPr/>
          </p:nvSpPr>
          <p:spPr bwMode="auto">
            <a:xfrm flipH="1">
              <a:off x="493" y="3422"/>
              <a:ext cx="534"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26" name="Line 13"/>
            <p:cNvSpPr>
              <a:spLocks noChangeShapeType="1"/>
            </p:cNvSpPr>
            <p:nvPr/>
          </p:nvSpPr>
          <p:spPr bwMode="auto">
            <a:xfrm>
              <a:off x="493" y="3422"/>
              <a:ext cx="0" cy="453"/>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27" name="Line 14"/>
            <p:cNvSpPr>
              <a:spLocks noChangeShapeType="1"/>
            </p:cNvSpPr>
            <p:nvPr/>
          </p:nvSpPr>
          <p:spPr bwMode="auto">
            <a:xfrm flipV="1">
              <a:off x="493" y="3422"/>
              <a:ext cx="534" cy="453"/>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28" name="Line 15"/>
            <p:cNvSpPr>
              <a:spLocks noChangeShapeType="1"/>
            </p:cNvSpPr>
            <p:nvPr/>
          </p:nvSpPr>
          <p:spPr bwMode="auto">
            <a:xfrm>
              <a:off x="1027" y="3422"/>
              <a:ext cx="480"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29" name="Line 16"/>
            <p:cNvSpPr>
              <a:spLocks noChangeShapeType="1"/>
            </p:cNvSpPr>
            <p:nvPr/>
          </p:nvSpPr>
          <p:spPr bwMode="auto">
            <a:xfrm>
              <a:off x="1507" y="3422"/>
              <a:ext cx="0" cy="493"/>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30" name="Line 17"/>
            <p:cNvSpPr>
              <a:spLocks noChangeShapeType="1"/>
            </p:cNvSpPr>
            <p:nvPr/>
          </p:nvSpPr>
          <p:spPr bwMode="auto">
            <a:xfrm flipH="1" flipV="1">
              <a:off x="1027" y="3422"/>
              <a:ext cx="480" cy="493"/>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31" name="Line 18"/>
            <p:cNvSpPr>
              <a:spLocks noChangeShapeType="1"/>
            </p:cNvSpPr>
            <p:nvPr/>
          </p:nvSpPr>
          <p:spPr bwMode="auto">
            <a:xfrm>
              <a:off x="1507" y="3094"/>
              <a:ext cx="586"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32" name="Line 19"/>
            <p:cNvSpPr>
              <a:spLocks noChangeShapeType="1"/>
            </p:cNvSpPr>
            <p:nvPr/>
          </p:nvSpPr>
          <p:spPr bwMode="auto">
            <a:xfrm flipV="1">
              <a:off x="2093" y="2724"/>
              <a:ext cx="374" cy="37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33" name="Line 20"/>
            <p:cNvSpPr>
              <a:spLocks noChangeShapeType="1"/>
            </p:cNvSpPr>
            <p:nvPr/>
          </p:nvSpPr>
          <p:spPr bwMode="auto">
            <a:xfrm>
              <a:off x="2467" y="2724"/>
              <a:ext cx="373" cy="37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34" name="Line 21"/>
            <p:cNvSpPr>
              <a:spLocks noChangeShapeType="1"/>
            </p:cNvSpPr>
            <p:nvPr/>
          </p:nvSpPr>
          <p:spPr bwMode="auto">
            <a:xfrm flipH="1">
              <a:off x="2467" y="3094"/>
              <a:ext cx="373" cy="37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35" name="Line 22"/>
            <p:cNvSpPr>
              <a:spLocks noChangeShapeType="1"/>
            </p:cNvSpPr>
            <p:nvPr/>
          </p:nvSpPr>
          <p:spPr bwMode="auto">
            <a:xfrm flipH="1" flipV="1">
              <a:off x="2093" y="3094"/>
              <a:ext cx="374" cy="37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36" name="Line 23"/>
            <p:cNvSpPr>
              <a:spLocks noChangeShapeType="1"/>
            </p:cNvSpPr>
            <p:nvPr/>
          </p:nvSpPr>
          <p:spPr bwMode="auto">
            <a:xfrm>
              <a:off x="2093" y="3094"/>
              <a:ext cx="747"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37" name="Line 24"/>
            <p:cNvSpPr>
              <a:spLocks noChangeShapeType="1"/>
            </p:cNvSpPr>
            <p:nvPr/>
          </p:nvSpPr>
          <p:spPr bwMode="auto">
            <a:xfrm>
              <a:off x="2467" y="3464"/>
              <a:ext cx="373" cy="451"/>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38" name="Line 25"/>
            <p:cNvSpPr>
              <a:spLocks noChangeShapeType="1"/>
            </p:cNvSpPr>
            <p:nvPr/>
          </p:nvSpPr>
          <p:spPr bwMode="auto">
            <a:xfrm flipH="1">
              <a:off x="2093" y="3915"/>
              <a:ext cx="747" cy="0"/>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39" name="Line 26"/>
            <p:cNvSpPr>
              <a:spLocks noChangeShapeType="1"/>
            </p:cNvSpPr>
            <p:nvPr/>
          </p:nvSpPr>
          <p:spPr bwMode="auto">
            <a:xfrm flipV="1">
              <a:off x="2093" y="3464"/>
              <a:ext cx="374" cy="451"/>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4540" name="Text Box 27"/>
            <p:cNvSpPr txBox="1">
              <a:spLocks noChangeArrowheads="1"/>
            </p:cNvSpPr>
            <p:nvPr/>
          </p:nvSpPr>
          <p:spPr bwMode="auto">
            <a:xfrm>
              <a:off x="770" y="2601"/>
              <a:ext cx="18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a</a:t>
              </a:r>
            </a:p>
          </p:txBody>
        </p:sp>
        <p:sp>
          <p:nvSpPr>
            <p:cNvPr id="64541" name="Text Box 28"/>
            <p:cNvSpPr txBox="1">
              <a:spLocks noChangeArrowheads="1"/>
            </p:cNvSpPr>
            <p:nvPr/>
          </p:nvSpPr>
          <p:spPr bwMode="auto">
            <a:xfrm>
              <a:off x="392" y="2889"/>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b</a:t>
              </a:r>
            </a:p>
          </p:txBody>
        </p:sp>
        <p:sp>
          <p:nvSpPr>
            <p:cNvPr id="64542" name="Text Box 29"/>
            <p:cNvSpPr txBox="1">
              <a:spLocks noChangeArrowheads="1"/>
            </p:cNvSpPr>
            <p:nvPr/>
          </p:nvSpPr>
          <p:spPr bwMode="auto">
            <a:xfrm>
              <a:off x="1008" y="2832"/>
              <a:ext cx="18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c</a:t>
              </a:r>
            </a:p>
          </p:txBody>
        </p:sp>
        <p:sp>
          <p:nvSpPr>
            <p:cNvPr id="64543" name="Text Box 30"/>
            <p:cNvSpPr txBox="1">
              <a:spLocks noChangeArrowheads="1"/>
            </p:cNvSpPr>
            <p:nvPr/>
          </p:nvSpPr>
          <p:spPr bwMode="auto">
            <a:xfrm>
              <a:off x="1440" y="2832"/>
              <a:ext cx="156"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i</a:t>
              </a:r>
            </a:p>
          </p:txBody>
        </p:sp>
        <p:sp>
          <p:nvSpPr>
            <p:cNvPr id="64544" name="Text Box 31"/>
            <p:cNvSpPr txBox="1">
              <a:spLocks noChangeArrowheads="1"/>
            </p:cNvSpPr>
            <p:nvPr/>
          </p:nvSpPr>
          <p:spPr bwMode="auto">
            <a:xfrm>
              <a:off x="930" y="3422"/>
              <a:ext cx="18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e</a:t>
              </a:r>
            </a:p>
          </p:txBody>
        </p:sp>
        <p:sp>
          <p:nvSpPr>
            <p:cNvPr id="64545" name="Text Box 32"/>
            <p:cNvSpPr txBox="1">
              <a:spLocks noChangeArrowheads="1"/>
            </p:cNvSpPr>
            <p:nvPr/>
          </p:nvSpPr>
          <p:spPr bwMode="auto">
            <a:xfrm>
              <a:off x="304" y="3284"/>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d</a:t>
              </a:r>
            </a:p>
          </p:txBody>
        </p:sp>
        <p:sp>
          <p:nvSpPr>
            <p:cNvPr id="64546" name="Text Box 33"/>
            <p:cNvSpPr txBox="1">
              <a:spLocks noChangeArrowheads="1"/>
            </p:cNvSpPr>
            <p:nvPr/>
          </p:nvSpPr>
          <p:spPr bwMode="auto">
            <a:xfrm>
              <a:off x="297" y="3710"/>
              <a:ext cx="164"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f</a:t>
              </a:r>
            </a:p>
          </p:txBody>
        </p:sp>
        <p:sp>
          <p:nvSpPr>
            <p:cNvPr id="64547" name="Text Box 34"/>
            <p:cNvSpPr txBox="1">
              <a:spLocks noChangeArrowheads="1"/>
            </p:cNvSpPr>
            <p:nvPr/>
          </p:nvSpPr>
          <p:spPr bwMode="auto">
            <a:xfrm>
              <a:off x="1513" y="3340"/>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g</a:t>
              </a:r>
            </a:p>
          </p:txBody>
        </p:sp>
        <p:sp>
          <p:nvSpPr>
            <p:cNvPr id="64548" name="Text Box 35"/>
            <p:cNvSpPr txBox="1">
              <a:spLocks noChangeArrowheads="1"/>
            </p:cNvSpPr>
            <p:nvPr/>
          </p:nvSpPr>
          <p:spPr bwMode="auto">
            <a:xfrm>
              <a:off x="1536" y="3744"/>
              <a:ext cx="188"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h</a:t>
              </a:r>
            </a:p>
          </p:txBody>
        </p:sp>
        <p:sp>
          <p:nvSpPr>
            <p:cNvPr id="64549" name="Text Box 36"/>
            <p:cNvSpPr txBox="1">
              <a:spLocks noChangeArrowheads="1"/>
            </p:cNvSpPr>
            <p:nvPr/>
          </p:nvSpPr>
          <p:spPr bwMode="auto">
            <a:xfrm>
              <a:off x="1960" y="2828"/>
              <a:ext cx="156"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j</a:t>
              </a:r>
            </a:p>
          </p:txBody>
        </p:sp>
        <p:sp>
          <p:nvSpPr>
            <p:cNvPr id="64550" name="Text Box 37"/>
            <p:cNvSpPr txBox="1">
              <a:spLocks noChangeArrowheads="1"/>
            </p:cNvSpPr>
            <p:nvPr/>
          </p:nvSpPr>
          <p:spPr bwMode="auto">
            <a:xfrm>
              <a:off x="2400" y="2688"/>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k</a:t>
              </a:r>
            </a:p>
          </p:txBody>
        </p:sp>
        <p:sp>
          <p:nvSpPr>
            <p:cNvPr id="64551" name="Text Box 38"/>
            <p:cNvSpPr txBox="1">
              <a:spLocks noChangeArrowheads="1"/>
            </p:cNvSpPr>
            <p:nvPr/>
          </p:nvSpPr>
          <p:spPr bwMode="auto">
            <a:xfrm>
              <a:off x="2832" y="2880"/>
              <a:ext cx="156"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l</a:t>
              </a:r>
            </a:p>
          </p:txBody>
        </p:sp>
        <p:sp>
          <p:nvSpPr>
            <p:cNvPr id="64552" name="Text Box 39"/>
            <p:cNvSpPr txBox="1">
              <a:spLocks noChangeArrowheads="1"/>
            </p:cNvSpPr>
            <p:nvPr/>
          </p:nvSpPr>
          <p:spPr bwMode="auto">
            <a:xfrm>
              <a:off x="2256" y="3312"/>
              <a:ext cx="229"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m</a:t>
              </a:r>
            </a:p>
          </p:txBody>
        </p:sp>
        <p:sp>
          <p:nvSpPr>
            <p:cNvPr id="64553" name="Text Box 40"/>
            <p:cNvSpPr txBox="1">
              <a:spLocks noChangeArrowheads="1"/>
            </p:cNvSpPr>
            <p:nvPr/>
          </p:nvSpPr>
          <p:spPr bwMode="auto">
            <a:xfrm>
              <a:off x="1957" y="3625"/>
              <a:ext cx="189"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n</a:t>
              </a:r>
            </a:p>
          </p:txBody>
        </p:sp>
        <p:sp>
          <p:nvSpPr>
            <p:cNvPr id="64554" name="Text Box 41"/>
            <p:cNvSpPr txBox="1">
              <a:spLocks noChangeArrowheads="1"/>
            </p:cNvSpPr>
            <p:nvPr/>
          </p:nvSpPr>
          <p:spPr bwMode="auto">
            <a:xfrm>
              <a:off x="2811" y="3625"/>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o</a:t>
              </a:r>
            </a:p>
          </p:txBody>
        </p:sp>
        <p:sp>
          <p:nvSpPr>
            <p:cNvPr id="64555" name="Rectangle 42"/>
            <p:cNvSpPr>
              <a:spLocks noChangeArrowheads="1"/>
            </p:cNvSpPr>
            <p:nvPr/>
          </p:nvSpPr>
          <p:spPr bwMode="auto">
            <a:xfrm>
              <a:off x="240" y="2601"/>
              <a:ext cx="2880" cy="1479"/>
            </a:xfrm>
            <a:prstGeom prst="rect">
              <a:avLst/>
            </a:prstGeom>
            <a:noFill/>
            <a:ln w="127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chemeClr val="accent1"/>
                  </a:solidFill>
                </a14:hiddenFill>
              </a:ext>
            </a:extLst>
          </p:spPr>
          <p:txBody>
            <a:bodyPr bIns="10800" anchor="ctr">
              <a:spAutoFit/>
            </a:bodyPr>
            <a:lstStyle/>
            <a:p>
              <a:endParaRPr lang="en-CA"/>
            </a:p>
          </p:txBody>
        </p:sp>
        <p:sp>
          <p:nvSpPr>
            <p:cNvPr id="64556" name="Freeform 153"/>
            <p:cNvSpPr>
              <a:spLocks/>
            </p:cNvSpPr>
            <p:nvPr/>
          </p:nvSpPr>
          <p:spPr bwMode="auto">
            <a:xfrm>
              <a:off x="1030" y="3097"/>
              <a:ext cx="481" cy="1"/>
            </a:xfrm>
            <a:custGeom>
              <a:avLst/>
              <a:gdLst>
                <a:gd name="T0" fmla="*/ 481 w 481"/>
                <a:gd name="T1" fmla="*/ 0 h 1"/>
                <a:gd name="T2" fmla="*/ 0 w 481"/>
                <a:gd name="T3" fmla="*/ 0 h 1"/>
                <a:gd name="T4" fmla="*/ 0 60000 65536"/>
                <a:gd name="T5" fmla="*/ 0 60000 65536"/>
              </a:gdLst>
              <a:ahLst/>
              <a:cxnLst>
                <a:cxn ang="T4">
                  <a:pos x="T0" y="T1"/>
                </a:cxn>
                <a:cxn ang="T5">
                  <a:pos x="T2" y="T3"/>
                </a:cxn>
              </a:cxnLst>
              <a:rect l="0" t="0" r="r" b="b"/>
              <a:pathLst>
                <a:path w="481" h="1">
                  <a:moveTo>
                    <a:pt x="481" y="0"/>
                  </a:moveTo>
                  <a:lnTo>
                    <a:pt x="0" y="0"/>
                  </a:lnTo>
                </a:path>
              </a:pathLst>
            </a:custGeom>
            <a:noFill/>
            <a:ln w="12700">
              <a:solidFill>
                <a:schemeClr val="tx1"/>
              </a:solidFill>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62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99010"/>
                                        </p:tgtEl>
                                        <p:attrNameLst>
                                          <p:attrName>style.visibility</p:attrName>
                                        </p:attrNameLst>
                                      </p:cBhvr>
                                      <p:to>
                                        <p:strVal val="visible"/>
                                      </p:to>
                                    </p:set>
                                    <p:anim calcmode="lin" valueType="num">
                                      <p:cBhvr>
                                        <p:cTn id="7" dur="500" fill="hold"/>
                                        <p:tgtEl>
                                          <p:spTgt spid="299010"/>
                                        </p:tgtEl>
                                        <p:attrNameLst>
                                          <p:attrName>ppt_w</p:attrName>
                                        </p:attrNameLst>
                                      </p:cBhvr>
                                      <p:tavLst>
                                        <p:tav tm="0">
                                          <p:val>
                                            <p:fltVal val="0"/>
                                          </p:val>
                                        </p:tav>
                                        <p:tav tm="100000">
                                          <p:val>
                                            <p:strVal val="#ppt_w"/>
                                          </p:val>
                                        </p:tav>
                                      </p:tavLst>
                                    </p:anim>
                                    <p:anim calcmode="lin" valueType="num">
                                      <p:cBhvr>
                                        <p:cTn id="8" dur="500" fill="hold"/>
                                        <p:tgtEl>
                                          <p:spTgt spid="299010"/>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299102"/>
                                        </p:tgtEl>
                                        <p:attrNameLst>
                                          <p:attrName>style.visibility</p:attrName>
                                        </p:attrNameLst>
                                      </p:cBhvr>
                                      <p:to>
                                        <p:strVal val="visible"/>
                                      </p:to>
                                    </p:set>
                                    <p:animEffect transition="in" filter="wipe(up)">
                                      <p:cBhvr>
                                        <p:cTn id="12" dur="500"/>
                                        <p:tgtEl>
                                          <p:spTgt spid="299102"/>
                                        </p:tgtEl>
                                      </p:cBhvr>
                                    </p:animEffect>
                                  </p:childTnLst>
                                </p:cTn>
                              </p:par>
                            </p:childTnLst>
                          </p:cTn>
                        </p:par>
                        <p:par>
                          <p:cTn id="13" fill="hold" nodeType="afterGroup">
                            <p:stCondLst>
                              <p:cond delay="1000"/>
                            </p:stCondLst>
                            <p:childTnLst>
                              <p:par>
                                <p:cTn id="14" presetID="22" presetClass="entr" presetSubtype="1" fill="hold" nodeType="afterEffect">
                                  <p:stCondLst>
                                    <p:cond delay="1000"/>
                                  </p:stCondLst>
                                  <p:childTnLst>
                                    <p:set>
                                      <p:cBhvr>
                                        <p:cTn id="15" dur="1" fill="hold">
                                          <p:stCondLst>
                                            <p:cond delay="0"/>
                                          </p:stCondLst>
                                        </p:cTn>
                                        <p:tgtEl>
                                          <p:spTgt spid="299162"/>
                                        </p:tgtEl>
                                        <p:attrNameLst>
                                          <p:attrName>style.visibility</p:attrName>
                                        </p:attrNameLst>
                                      </p:cBhvr>
                                      <p:to>
                                        <p:strVal val="visible"/>
                                      </p:to>
                                    </p:set>
                                    <p:animEffect transition="in" filter="wipe(up)">
                                      <p:cBhvr>
                                        <p:cTn id="16" dur="500"/>
                                        <p:tgtEl>
                                          <p:spTgt spid="299162"/>
                                        </p:tgtEl>
                                      </p:cBhvr>
                                    </p:animEffect>
                                  </p:childTnLst>
                                </p:cTn>
                              </p:par>
                            </p:childTnLst>
                          </p:cTn>
                        </p:par>
                        <p:par>
                          <p:cTn id="17" fill="hold" nodeType="afterGroup">
                            <p:stCondLst>
                              <p:cond delay="2500"/>
                            </p:stCondLst>
                            <p:childTnLst>
                              <p:par>
                                <p:cTn id="18" presetID="22" presetClass="entr" presetSubtype="1" fill="hold" nodeType="afterEffect">
                                  <p:stCondLst>
                                    <p:cond delay="1000"/>
                                  </p:stCondLst>
                                  <p:childTnLst>
                                    <p:set>
                                      <p:cBhvr>
                                        <p:cTn id="19" dur="1" fill="hold">
                                          <p:stCondLst>
                                            <p:cond delay="0"/>
                                          </p:stCondLst>
                                        </p:cTn>
                                        <p:tgtEl>
                                          <p:spTgt spid="299160"/>
                                        </p:tgtEl>
                                        <p:attrNameLst>
                                          <p:attrName>style.visibility</p:attrName>
                                        </p:attrNameLst>
                                      </p:cBhvr>
                                      <p:to>
                                        <p:strVal val="visible"/>
                                      </p:to>
                                    </p:set>
                                    <p:animEffect transition="in" filter="wipe(up)">
                                      <p:cBhvr>
                                        <p:cTn id="20" dur="500"/>
                                        <p:tgtEl>
                                          <p:spTgt spid="29916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299165"/>
                                        </p:tgtEl>
                                        <p:attrNameLst>
                                          <p:attrName>style.visibility</p:attrName>
                                        </p:attrNameLst>
                                      </p:cBhvr>
                                      <p:to>
                                        <p:strVal val="visible"/>
                                      </p:to>
                                    </p:set>
                                    <p:animEffect transition="in" filter="dissolve">
                                      <p:cBhvr>
                                        <p:cTn id="25" dur="500"/>
                                        <p:tgtEl>
                                          <p:spTgt spid="299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0" grpId="0" animBg="1" autoUpdateAnimBg="0"/>
      <p:bldP spid="299102"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1070" name="Rectangle 14"/>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hlink"/>
                </a:solidFill>
                <a:latin typeface="Arial Rounded MT Bold" pitchFamily="34" charset="0"/>
              </a:rPr>
              <a:t>Articulation Points  </a:t>
            </a:r>
            <a:r>
              <a:rPr lang="en-US" sz="2800" smtClean="0">
                <a:solidFill>
                  <a:srgbClr val="CC0000"/>
                </a:solidFill>
                <a:latin typeface="Arial Rounded MT Bold" pitchFamily="34" charset="0"/>
              </a:rPr>
              <a:t> </a:t>
            </a:r>
            <a:r>
              <a:rPr lang="en-US" sz="2800" smtClean="0">
                <a:solidFill>
                  <a:schemeClr val="tx1"/>
                </a:solidFill>
                <a:latin typeface="Arial Rounded MT Bold" pitchFamily="34" charset="0"/>
              </a:rPr>
              <a:t>&amp;</a:t>
            </a:r>
            <a:r>
              <a:rPr lang="en-US" sz="2800" smtClean="0">
                <a:solidFill>
                  <a:srgbClr val="CC0000"/>
                </a:solidFill>
                <a:latin typeface="Arial Rounded MT Bold" pitchFamily="34" charset="0"/>
              </a:rPr>
              <a:t>   DFS</a:t>
            </a:r>
          </a:p>
        </p:txBody>
      </p:sp>
      <p:sp>
        <p:nvSpPr>
          <p:cNvPr id="301071" name="Rectangle 15" descr="Recycled paper"/>
          <p:cNvSpPr>
            <a:spLocks noChangeArrowheads="1"/>
          </p:cNvSpPr>
          <p:nvPr/>
        </p:nvSpPr>
        <p:spPr bwMode="auto">
          <a:xfrm>
            <a:off x="152400" y="838200"/>
            <a:ext cx="8839200" cy="1695450"/>
          </a:xfrm>
          <a:prstGeom prst="rect">
            <a:avLst/>
          </a:prstGeom>
          <a:blipFill dpi="0" rotWithShape="0">
            <a:blip r:embed="rId2"/>
            <a:srcRect/>
            <a:tile tx="0" ty="0" sx="100000" sy="100000" flip="none" algn="tl"/>
          </a:blipFill>
          <a:ln w="19050">
            <a:solidFill>
              <a:srgbClr val="000000"/>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288925" indent="-288925" eaLnBrk="1" hangingPunct="1">
              <a:spcBef>
                <a:spcPct val="50000"/>
              </a:spcBef>
              <a:buFontTx/>
              <a:buNone/>
              <a:tabLst>
                <a:tab pos="663575" algn="l"/>
              </a:tabLst>
            </a:pPr>
            <a:r>
              <a:rPr lang="en-US" sz="2400" b="1" dirty="0">
                <a:solidFill>
                  <a:srgbClr val="CC0000"/>
                </a:solidFill>
              </a:rPr>
              <a:t>FACT 6:    </a:t>
            </a:r>
            <a:r>
              <a:rPr lang="en-US" sz="2000" dirty="0">
                <a:solidFill>
                  <a:schemeClr val="hlink"/>
                </a:solidFill>
              </a:rPr>
              <a:t>Node u is an articulation point </a:t>
            </a:r>
            <a:r>
              <a:rPr lang="en-US" sz="2400" dirty="0">
                <a:solidFill>
                  <a:srgbClr val="CC0000"/>
                </a:solidFill>
                <a:sym typeface="Symbol" pitchFamily="18" charset="2"/>
              </a:rPr>
              <a:t>   </a:t>
            </a:r>
            <a:r>
              <a:rPr lang="en-US" sz="2400" dirty="0">
                <a:solidFill>
                  <a:schemeClr val="hlink"/>
                </a:solidFill>
                <a:sym typeface="Symbol" pitchFamily="18" charset="2"/>
              </a:rPr>
              <a:t>either 1 or 2 holds:</a:t>
            </a:r>
            <a:endParaRPr lang="en-US" sz="2000" dirty="0">
              <a:solidFill>
                <a:schemeClr val="hlink"/>
              </a:solidFill>
            </a:endParaRPr>
          </a:p>
          <a:p>
            <a:pPr marL="288925" indent="-288925" eaLnBrk="1" hangingPunct="1">
              <a:spcBef>
                <a:spcPct val="50000"/>
              </a:spcBef>
              <a:buFontTx/>
              <a:buAutoNum type="arabicPeriod"/>
              <a:tabLst>
                <a:tab pos="663575" algn="l"/>
              </a:tabLst>
            </a:pPr>
            <a:r>
              <a:rPr lang="en-US" sz="2000" dirty="0">
                <a:solidFill>
                  <a:schemeClr val="hlink"/>
                </a:solidFill>
              </a:rPr>
              <a:t>u is a DFS root with at least 2 children, or</a:t>
            </a:r>
          </a:p>
          <a:p>
            <a:pPr marL="288925" indent="-288925" eaLnBrk="1" hangingPunct="1">
              <a:spcBef>
                <a:spcPct val="50000"/>
              </a:spcBef>
              <a:buFontTx/>
              <a:buAutoNum type="arabicPeriod"/>
              <a:tabLst>
                <a:tab pos="663575" algn="l"/>
              </a:tabLst>
            </a:pPr>
            <a:r>
              <a:rPr lang="en-US" sz="2000" dirty="0">
                <a:solidFill>
                  <a:schemeClr val="hlink"/>
                </a:solidFill>
              </a:rPr>
              <a:t>u is not root, but it has a child v such that there is no back-edge between any descendant of v (</a:t>
            </a:r>
            <a:r>
              <a:rPr lang="en-US" sz="1800" dirty="0">
                <a:solidFill>
                  <a:schemeClr val="hlink"/>
                </a:solidFill>
              </a:rPr>
              <a:t>including</a:t>
            </a:r>
            <a:r>
              <a:rPr lang="en-US" sz="2000" dirty="0">
                <a:solidFill>
                  <a:schemeClr val="hlink"/>
                </a:solidFill>
              </a:rPr>
              <a:t> v) and any ancestor of parent </a:t>
            </a:r>
            <a:r>
              <a:rPr lang="en-US" sz="2000" dirty="0">
                <a:solidFill>
                  <a:schemeClr val="hlink"/>
                </a:solidFill>
                <a:latin typeface="Symbol" pitchFamily="18" charset="2"/>
              </a:rPr>
              <a:t>p</a:t>
            </a:r>
            <a:r>
              <a:rPr lang="en-US" sz="2000" dirty="0">
                <a:solidFill>
                  <a:schemeClr val="hlink"/>
                </a:solidFill>
              </a:rPr>
              <a:t>[u] of u (</a:t>
            </a:r>
            <a:r>
              <a:rPr lang="en-US" sz="1800" dirty="0">
                <a:solidFill>
                  <a:schemeClr val="hlink"/>
                </a:solidFill>
              </a:rPr>
              <a:t>including</a:t>
            </a:r>
            <a:r>
              <a:rPr lang="en-US" sz="2000" dirty="0">
                <a:solidFill>
                  <a:schemeClr val="hlink"/>
                </a:solidFill>
              </a:rPr>
              <a:t> </a:t>
            </a:r>
            <a:r>
              <a:rPr lang="en-US" sz="2000" dirty="0">
                <a:solidFill>
                  <a:schemeClr val="hlink"/>
                </a:solidFill>
                <a:latin typeface="Symbol" pitchFamily="18" charset="2"/>
              </a:rPr>
              <a:t>p</a:t>
            </a:r>
            <a:r>
              <a:rPr lang="en-US" sz="2000" dirty="0">
                <a:solidFill>
                  <a:schemeClr val="hlink"/>
                </a:solidFill>
              </a:rPr>
              <a:t>[u]).</a:t>
            </a:r>
          </a:p>
        </p:txBody>
      </p:sp>
      <p:grpSp>
        <p:nvGrpSpPr>
          <p:cNvPr id="301112" name="Group 56"/>
          <p:cNvGrpSpPr>
            <a:grpSpLocks/>
          </p:cNvGrpSpPr>
          <p:nvPr/>
        </p:nvGrpSpPr>
        <p:grpSpPr bwMode="auto">
          <a:xfrm>
            <a:off x="384175" y="2819400"/>
            <a:ext cx="8150225" cy="3367088"/>
            <a:chOff x="242" y="1776"/>
            <a:chExt cx="5134" cy="2121"/>
          </a:xfrm>
        </p:grpSpPr>
        <p:grpSp>
          <p:nvGrpSpPr>
            <p:cNvPr id="65541" name="Group 52"/>
            <p:cNvGrpSpPr>
              <a:grpSpLocks/>
            </p:cNvGrpSpPr>
            <p:nvPr/>
          </p:nvGrpSpPr>
          <p:grpSpPr bwMode="auto">
            <a:xfrm>
              <a:off x="242" y="1876"/>
              <a:ext cx="1486" cy="2021"/>
              <a:chOff x="242" y="1876"/>
              <a:chExt cx="1486" cy="2021"/>
            </a:xfrm>
          </p:grpSpPr>
          <p:sp>
            <p:nvSpPr>
              <p:cNvPr id="65562" name="AutoShape 18"/>
              <p:cNvSpPr>
                <a:spLocks noChangeArrowheads="1"/>
              </p:cNvSpPr>
              <p:nvPr/>
            </p:nvSpPr>
            <p:spPr bwMode="auto">
              <a:xfrm>
                <a:off x="336" y="2544"/>
                <a:ext cx="672" cy="672"/>
              </a:xfrm>
              <a:prstGeom prst="triangle">
                <a:avLst>
                  <a:gd name="adj" fmla="val 50000"/>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65563" name="AutoShape 19"/>
              <p:cNvSpPr>
                <a:spLocks noChangeArrowheads="1"/>
              </p:cNvSpPr>
              <p:nvPr/>
            </p:nvSpPr>
            <p:spPr bwMode="auto">
              <a:xfrm>
                <a:off x="1056" y="2544"/>
                <a:ext cx="672" cy="672"/>
              </a:xfrm>
              <a:prstGeom prst="triangle">
                <a:avLst>
                  <a:gd name="adj" fmla="val 50000"/>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65564" name="Line 20"/>
              <p:cNvSpPr>
                <a:spLocks noChangeShapeType="1"/>
              </p:cNvSpPr>
              <p:nvPr/>
            </p:nvSpPr>
            <p:spPr bwMode="auto">
              <a:xfrm flipV="1">
                <a:off x="672" y="2208"/>
                <a:ext cx="336" cy="336"/>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5565" name="Line 21"/>
              <p:cNvSpPr>
                <a:spLocks noChangeShapeType="1"/>
              </p:cNvSpPr>
              <p:nvPr/>
            </p:nvSpPr>
            <p:spPr bwMode="auto">
              <a:xfrm flipH="1" flipV="1">
                <a:off x="1008" y="2208"/>
                <a:ext cx="384" cy="336"/>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5566" name="Freeform 23"/>
              <p:cNvSpPr>
                <a:spLocks/>
              </p:cNvSpPr>
              <p:nvPr/>
            </p:nvSpPr>
            <p:spPr bwMode="auto">
              <a:xfrm>
                <a:off x="448" y="2208"/>
                <a:ext cx="560" cy="855"/>
              </a:xfrm>
              <a:custGeom>
                <a:avLst/>
                <a:gdLst>
                  <a:gd name="T0" fmla="*/ 162 w 560"/>
                  <a:gd name="T1" fmla="*/ 855 h 855"/>
                  <a:gd name="T2" fmla="*/ 20 w 560"/>
                  <a:gd name="T3" fmla="*/ 597 h 855"/>
                  <a:gd name="T4" fmla="*/ 40 w 560"/>
                  <a:gd name="T5" fmla="*/ 313 h 855"/>
                  <a:gd name="T6" fmla="*/ 223 w 560"/>
                  <a:gd name="T7" fmla="*/ 110 h 855"/>
                  <a:gd name="T8" fmla="*/ 560 w 560"/>
                  <a:gd name="T9" fmla="*/ 0 h 8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0" h="855">
                    <a:moveTo>
                      <a:pt x="162" y="855"/>
                    </a:moveTo>
                    <a:cubicBezTo>
                      <a:pt x="138" y="812"/>
                      <a:pt x="40" y="687"/>
                      <a:pt x="20" y="597"/>
                    </a:cubicBezTo>
                    <a:cubicBezTo>
                      <a:pt x="0" y="507"/>
                      <a:pt x="6" y="394"/>
                      <a:pt x="40" y="313"/>
                    </a:cubicBezTo>
                    <a:cubicBezTo>
                      <a:pt x="74" y="232"/>
                      <a:pt x="136" y="162"/>
                      <a:pt x="223" y="110"/>
                    </a:cubicBezTo>
                    <a:cubicBezTo>
                      <a:pt x="310" y="58"/>
                      <a:pt x="490" y="23"/>
                      <a:pt x="560" y="0"/>
                    </a:cubicBezTo>
                  </a:path>
                </a:pathLst>
              </a:custGeom>
              <a:noFill/>
              <a:ln w="1905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5567" name="Freeform 24"/>
              <p:cNvSpPr>
                <a:spLocks/>
              </p:cNvSpPr>
              <p:nvPr/>
            </p:nvSpPr>
            <p:spPr bwMode="auto">
              <a:xfrm>
                <a:off x="1008" y="2208"/>
                <a:ext cx="580" cy="787"/>
              </a:xfrm>
              <a:custGeom>
                <a:avLst/>
                <a:gdLst>
                  <a:gd name="T0" fmla="*/ 435 w 580"/>
                  <a:gd name="T1" fmla="*/ 787 h 787"/>
                  <a:gd name="T2" fmla="*/ 557 w 580"/>
                  <a:gd name="T3" fmla="*/ 557 h 787"/>
                  <a:gd name="T4" fmla="*/ 544 w 580"/>
                  <a:gd name="T5" fmla="*/ 279 h 787"/>
                  <a:gd name="T6" fmla="*/ 341 w 580"/>
                  <a:gd name="T7" fmla="*/ 89 h 787"/>
                  <a:gd name="T8" fmla="*/ 0 w 580"/>
                  <a:gd name="T9" fmla="*/ 0 h 7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0" h="787">
                    <a:moveTo>
                      <a:pt x="435" y="787"/>
                    </a:moveTo>
                    <a:cubicBezTo>
                      <a:pt x="455" y="749"/>
                      <a:pt x="539" y="641"/>
                      <a:pt x="557" y="557"/>
                    </a:cubicBezTo>
                    <a:cubicBezTo>
                      <a:pt x="575" y="473"/>
                      <a:pt x="580" y="357"/>
                      <a:pt x="544" y="279"/>
                    </a:cubicBezTo>
                    <a:cubicBezTo>
                      <a:pt x="508" y="201"/>
                      <a:pt x="432" y="135"/>
                      <a:pt x="341" y="89"/>
                    </a:cubicBezTo>
                    <a:cubicBezTo>
                      <a:pt x="250" y="43"/>
                      <a:pt x="71" y="19"/>
                      <a:pt x="0" y="0"/>
                    </a:cubicBezTo>
                  </a:path>
                </a:pathLst>
              </a:custGeom>
              <a:noFill/>
              <a:ln w="1905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5568" name="Text Box 25"/>
              <p:cNvSpPr txBox="1">
                <a:spLocks noChangeArrowheads="1"/>
              </p:cNvSpPr>
              <p:nvPr/>
            </p:nvSpPr>
            <p:spPr bwMode="auto">
              <a:xfrm>
                <a:off x="930" y="1889"/>
                <a:ext cx="456"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u root</a:t>
                </a:r>
              </a:p>
            </p:txBody>
          </p:sp>
          <p:sp>
            <p:nvSpPr>
              <p:cNvPr id="65569" name="Text Box 26"/>
              <p:cNvSpPr txBox="1">
                <a:spLocks noChangeArrowheads="1"/>
              </p:cNvSpPr>
              <p:nvPr/>
            </p:nvSpPr>
            <p:spPr bwMode="auto">
              <a:xfrm>
                <a:off x="336" y="3264"/>
                <a:ext cx="1392" cy="6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b="1">
                    <a:solidFill>
                      <a:srgbClr val="CC0000"/>
                    </a:solidFill>
                  </a:rPr>
                  <a:t>No cross-edges. </a:t>
                </a:r>
                <a:br>
                  <a:rPr lang="en-US" sz="1800" b="1">
                    <a:solidFill>
                      <a:srgbClr val="CC0000"/>
                    </a:solidFill>
                  </a:rPr>
                </a:br>
                <a:r>
                  <a:rPr lang="en-US" sz="1800" b="1">
                    <a:solidFill>
                      <a:srgbClr val="CC0000"/>
                    </a:solidFill>
                  </a:rPr>
                  <a:t>Removal of u disconnects v &amp; w.</a:t>
                </a:r>
              </a:p>
            </p:txBody>
          </p:sp>
          <p:sp>
            <p:nvSpPr>
              <p:cNvPr id="65570" name="Oval 28"/>
              <p:cNvSpPr>
                <a:spLocks noChangeArrowheads="1"/>
              </p:cNvSpPr>
              <p:nvPr/>
            </p:nvSpPr>
            <p:spPr bwMode="auto">
              <a:xfrm>
                <a:off x="242" y="1876"/>
                <a:ext cx="238" cy="244"/>
              </a:xfrm>
              <a:prstGeom prst="ellipse">
                <a:avLst/>
              </a:prstGeom>
              <a:noFill/>
              <a:ln w="19050">
                <a:solidFill>
                  <a:schemeClr val="accent6"/>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bIns="10800" anchor="ctr">
                <a:spAutoFit/>
              </a:bodyPr>
              <a:lstStyle/>
              <a:p>
                <a:pPr algn="ctr" eaLnBrk="1" hangingPunct="1">
                  <a:lnSpc>
                    <a:spcPct val="80000"/>
                  </a:lnSpc>
                  <a:spcBef>
                    <a:spcPct val="50000"/>
                  </a:spcBef>
                  <a:buFont typeface="Wingdings" pitchFamily="2" charset="2"/>
                  <a:buNone/>
                </a:pPr>
                <a:r>
                  <a:rPr lang="en-US" sz="1800"/>
                  <a:t>1</a:t>
                </a:r>
              </a:p>
            </p:txBody>
          </p:sp>
          <p:sp>
            <p:nvSpPr>
              <p:cNvPr id="65571" name="Rectangle 49"/>
              <p:cNvSpPr>
                <a:spLocks noChangeArrowheads="1"/>
              </p:cNvSpPr>
              <p:nvPr/>
            </p:nvSpPr>
            <p:spPr bwMode="auto">
              <a:xfrm>
                <a:off x="720" y="2400"/>
                <a:ext cx="18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v</a:t>
                </a:r>
              </a:p>
            </p:txBody>
          </p:sp>
          <p:sp>
            <p:nvSpPr>
              <p:cNvPr id="65572" name="Rectangle 50"/>
              <p:cNvSpPr>
                <a:spLocks noChangeArrowheads="1"/>
              </p:cNvSpPr>
              <p:nvPr/>
            </p:nvSpPr>
            <p:spPr bwMode="auto">
              <a:xfrm>
                <a:off x="1184" y="2400"/>
                <a:ext cx="220"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w</a:t>
                </a:r>
              </a:p>
            </p:txBody>
          </p:sp>
        </p:grpSp>
        <p:sp>
          <p:nvSpPr>
            <p:cNvPr id="65542" name="Oval 29"/>
            <p:cNvSpPr>
              <a:spLocks noChangeArrowheads="1"/>
            </p:cNvSpPr>
            <p:nvPr/>
          </p:nvSpPr>
          <p:spPr bwMode="auto">
            <a:xfrm>
              <a:off x="2640" y="1920"/>
              <a:ext cx="238" cy="244"/>
            </a:xfrm>
            <a:prstGeom prst="ellipse">
              <a:avLst/>
            </a:prstGeom>
            <a:noFill/>
            <a:ln w="19050">
              <a:solidFill>
                <a:schemeClr val="accent6"/>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bIns="10800" anchor="ctr">
              <a:spAutoFit/>
            </a:bodyPr>
            <a:lstStyle/>
            <a:p>
              <a:pPr algn="ctr" eaLnBrk="1" hangingPunct="1">
                <a:lnSpc>
                  <a:spcPct val="80000"/>
                </a:lnSpc>
                <a:spcBef>
                  <a:spcPct val="50000"/>
                </a:spcBef>
                <a:buFont typeface="Wingdings" pitchFamily="2" charset="2"/>
                <a:buNone/>
              </a:pPr>
              <a:r>
                <a:rPr lang="en-US" sz="1800"/>
                <a:t>2</a:t>
              </a:r>
            </a:p>
          </p:txBody>
        </p:sp>
        <p:sp>
          <p:nvSpPr>
            <p:cNvPr id="65543" name="AutoShape 30"/>
            <p:cNvSpPr>
              <a:spLocks noChangeArrowheads="1"/>
            </p:cNvSpPr>
            <p:nvPr/>
          </p:nvSpPr>
          <p:spPr bwMode="auto">
            <a:xfrm>
              <a:off x="3072" y="3168"/>
              <a:ext cx="672" cy="672"/>
            </a:xfrm>
            <a:prstGeom prst="triangle">
              <a:avLst>
                <a:gd name="adj" fmla="val 50000"/>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65544" name="AutoShape 31"/>
            <p:cNvSpPr>
              <a:spLocks noChangeArrowheads="1"/>
            </p:cNvSpPr>
            <p:nvPr/>
          </p:nvSpPr>
          <p:spPr bwMode="auto">
            <a:xfrm>
              <a:off x="3792" y="3168"/>
              <a:ext cx="672" cy="672"/>
            </a:xfrm>
            <a:prstGeom prst="triangle">
              <a:avLst>
                <a:gd name="adj" fmla="val 50000"/>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65545" name="Line 32"/>
            <p:cNvSpPr>
              <a:spLocks noChangeShapeType="1"/>
            </p:cNvSpPr>
            <p:nvPr/>
          </p:nvSpPr>
          <p:spPr bwMode="auto">
            <a:xfrm flipV="1">
              <a:off x="3408" y="2832"/>
              <a:ext cx="336" cy="336"/>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5546" name="Line 33"/>
            <p:cNvSpPr>
              <a:spLocks noChangeShapeType="1"/>
            </p:cNvSpPr>
            <p:nvPr/>
          </p:nvSpPr>
          <p:spPr bwMode="auto">
            <a:xfrm flipH="1" flipV="1">
              <a:off x="3744" y="2832"/>
              <a:ext cx="384" cy="336"/>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5547" name="Freeform 34"/>
            <p:cNvSpPr>
              <a:spLocks/>
            </p:cNvSpPr>
            <p:nvPr/>
          </p:nvSpPr>
          <p:spPr bwMode="auto">
            <a:xfrm>
              <a:off x="3068" y="2277"/>
              <a:ext cx="429" cy="1410"/>
            </a:xfrm>
            <a:custGeom>
              <a:avLst/>
              <a:gdLst>
                <a:gd name="T0" fmla="*/ 278 w 429"/>
                <a:gd name="T1" fmla="*/ 1410 h 1410"/>
                <a:gd name="T2" fmla="*/ 49 w 429"/>
                <a:gd name="T3" fmla="*/ 1037 h 1410"/>
                <a:gd name="T4" fmla="*/ 63 w 429"/>
                <a:gd name="T5" fmla="*/ 501 h 1410"/>
                <a:gd name="T6" fmla="*/ 429 w 429"/>
                <a:gd name="T7" fmla="*/ 0 h 14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29" h="1410">
                  <a:moveTo>
                    <a:pt x="278" y="1410"/>
                  </a:moveTo>
                  <a:cubicBezTo>
                    <a:pt x="240" y="1348"/>
                    <a:pt x="85" y="1188"/>
                    <a:pt x="49" y="1037"/>
                  </a:cubicBezTo>
                  <a:cubicBezTo>
                    <a:pt x="13" y="886"/>
                    <a:pt x="0" y="674"/>
                    <a:pt x="63" y="501"/>
                  </a:cubicBezTo>
                  <a:cubicBezTo>
                    <a:pt x="126" y="328"/>
                    <a:pt x="353" y="105"/>
                    <a:pt x="429" y="0"/>
                  </a:cubicBezTo>
                </a:path>
              </a:pathLst>
            </a:custGeom>
            <a:noFill/>
            <a:ln w="1905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5548" name="AutoShape 36"/>
            <p:cNvSpPr>
              <a:spLocks noChangeArrowheads="1"/>
            </p:cNvSpPr>
            <p:nvPr/>
          </p:nvSpPr>
          <p:spPr bwMode="auto">
            <a:xfrm>
              <a:off x="4704" y="3120"/>
              <a:ext cx="672" cy="672"/>
            </a:xfrm>
            <a:prstGeom prst="triangle">
              <a:avLst>
                <a:gd name="adj" fmla="val 50000"/>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65549" name="Line 37"/>
            <p:cNvSpPr>
              <a:spLocks noChangeShapeType="1"/>
            </p:cNvSpPr>
            <p:nvPr/>
          </p:nvSpPr>
          <p:spPr bwMode="auto">
            <a:xfrm flipH="1" flipV="1">
              <a:off x="3744" y="2832"/>
              <a:ext cx="1296" cy="288"/>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5550" name="Line 38"/>
            <p:cNvSpPr>
              <a:spLocks noChangeShapeType="1"/>
            </p:cNvSpPr>
            <p:nvPr/>
          </p:nvSpPr>
          <p:spPr bwMode="auto">
            <a:xfrm>
              <a:off x="4368" y="3168"/>
              <a:ext cx="384" cy="0"/>
            </a:xfrm>
            <a:prstGeom prst="line">
              <a:avLst/>
            </a:prstGeom>
            <a:noFill/>
            <a:ln w="571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5551" name="Line 39"/>
            <p:cNvSpPr>
              <a:spLocks noChangeShapeType="1"/>
            </p:cNvSpPr>
            <p:nvPr/>
          </p:nvSpPr>
          <p:spPr bwMode="auto">
            <a:xfrm flipV="1">
              <a:off x="3744" y="2592"/>
              <a:ext cx="0" cy="240"/>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5552" name="Freeform 40"/>
            <p:cNvSpPr>
              <a:spLocks/>
            </p:cNvSpPr>
            <p:nvPr/>
          </p:nvSpPr>
          <p:spPr bwMode="auto">
            <a:xfrm>
              <a:off x="3714" y="1920"/>
              <a:ext cx="58" cy="672"/>
            </a:xfrm>
            <a:custGeom>
              <a:avLst/>
              <a:gdLst>
                <a:gd name="T0" fmla="*/ 30 w 58"/>
                <a:gd name="T1" fmla="*/ 672 h 672"/>
                <a:gd name="T2" fmla="*/ 54 w 58"/>
                <a:gd name="T3" fmla="*/ 560 h 672"/>
                <a:gd name="T4" fmla="*/ 6 w 58"/>
                <a:gd name="T5" fmla="*/ 472 h 672"/>
                <a:gd name="T6" fmla="*/ 33 w 58"/>
                <a:gd name="T7" fmla="*/ 384 h 672"/>
                <a:gd name="T8" fmla="*/ 0 w 58"/>
                <a:gd name="T9" fmla="*/ 303 h 672"/>
                <a:gd name="T10" fmla="*/ 33 w 58"/>
                <a:gd name="T11" fmla="*/ 208 h 672"/>
                <a:gd name="T12" fmla="*/ 0 w 58"/>
                <a:gd name="T13" fmla="*/ 120 h 672"/>
                <a:gd name="T14" fmla="*/ 30 w 58"/>
                <a:gd name="T15" fmla="*/ 0 h 6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8" h="672">
                  <a:moveTo>
                    <a:pt x="30" y="672"/>
                  </a:moveTo>
                  <a:cubicBezTo>
                    <a:pt x="34" y="653"/>
                    <a:pt x="58" y="593"/>
                    <a:pt x="54" y="560"/>
                  </a:cubicBezTo>
                  <a:cubicBezTo>
                    <a:pt x="50" y="527"/>
                    <a:pt x="9" y="501"/>
                    <a:pt x="6" y="472"/>
                  </a:cubicBezTo>
                  <a:cubicBezTo>
                    <a:pt x="3" y="443"/>
                    <a:pt x="34" y="412"/>
                    <a:pt x="33" y="384"/>
                  </a:cubicBezTo>
                  <a:cubicBezTo>
                    <a:pt x="32" y="356"/>
                    <a:pt x="0" y="332"/>
                    <a:pt x="0" y="303"/>
                  </a:cubicBezTo>
                  <a:cubicBezTo>
                    <a:pt x="0" y="274"/>
                    <a:pt x="33" y="238"/>
                    <a:pt x="33" y="208"/>
                  </a:cubicBezTo>
                  <a:cubicBezTo>
                    <a:pt x="33" y="178"/>
                    <a:pt x="0" y="155"/>
                    <a:pt x="0" y="120"/>
                  </a:cubicBezTo>
                  <a:cubicBezTo>
                    <a:pt x="0" y="85"/>
                    <a:pt x="24" y="25"/>
                    <a:pt x="30" y="0"/>
                  </a:cubicBezTo>
                </a:path>
              </a:pathLst>
            </a:custGeom>
            <a:noFill/>
            <a:ln w="19050" cap="flat" cmpd="sng">
              <a:solidFill>
                <a:schemeClr val="tx1"/>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5553" name="Rectangle 42"/>
            <p:cNvSpPr>
              <a:spLocks noChangeArrowheads="1"/>
            </p:cNvSpPr>
            <p:nvPr/>
          </p:nvSpPr>
          <p:spPr bwMode="auto">
            <a:xfrm>
              <a:off x="3744" y="1776"/>
              <a:ext cx="34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root</a:t>
              </a:r>
            </a:p>
          </p:txBody>
        </p:sp>
        <p:sp>
          <p:nvSpPr>
            <p:cNvPr id="65554" name="Rectangle 43"/>
            <p:cNvSpPr>
              <a:spLocks noChangeArrowheads="1"/>
            </p:cNvSpPr>
            <p:nvPr/>
          </p:nvSpPr>
          <p:spPr bwMode="auto">
            <a:xfrm>
              <a:off x="3552" y="2688"/>
              <a:ext cx="18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u</a:t>
              </a:r>
            </a:p>
          </p:txBody>
        </p:sp>
        <p:sp>
          <p:nvSpPr>
            <p:cNvPr id="65555" name="Rectangle 44"/>
            <p:cNvSpPr>
              <a:spLocks noChangeArrowheads="1"/>
            </p:cNvSpPr>
            <p:nvPr/>
          </p:nvSpPr>
          <p:spPr bwMode="auto">
            <a:xfrm>
              <a:off x="3757" y="2467"/>
              <a:ext cx="363"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latin typeface="Symbol" pitchFamily="18" charset="2"/>
                </a:rPr>
                <a:t>p</a:t>
              </a:r>
              <a:r>
                <a:rPr lang="en-US" sz="1800"/>
                <a:t>[u]</a:t>
              </a:r>
            </a:p>
          </p:txBody>
        </p:sp>
        <p:sp>
          <p:nvSpPr>
            <p:cNvPr id="65556" name="Rectangle 45"/>
            <p:cNvSpPr>
              <a:spLocks noChangeArrowheads="1"/>
            </p:cNvSpPr>
            <p:nvPr/>
          </p:nvSpPr>
          <p:spPr bwMode="auto">
            <a:xfrm>
              <a:off x="3456" y="3024"/>
              <a:ext cx="18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v</a:t>
              </a:r>
            </a:p>
          </p:txBody>
        </p:sp>
        <p:sp>
          <p:nvSpPr>
            <p:cNvPr id="65557" name="AutoShape 46"/>
            <p:cNvSpPr>
              <a:spLocks/>
            </p:cNvSpPr>
            <p:nvPr/>
          </p:nvSpPr>
          <p:spPr bwMode="auto">
            <a:xfrm>
              <a:off x="3504" y="1920"/>
              <a:ext cx="96" cy="720"/>
            </a:xfrm>
            <a:prstGeom prst="leftBrace">
              <a:avLst>
                <a:gd name="adj1" fmla="val 62500"/>
                <a:gd name="adj2" fmla="val 50000"/>
              </a:avLst>
            </a:pr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65558" name="Line 47"/>
            <p:cNvSpPr>
              <a:spLocks noChangeShapeType="1"/>
            </p:cNvSpPr>
            <p:nvPr/>
          </p:nvSpPr>
          <p:spPr bwMode="auto">
            <a:xfrm flipH="1">
              <a:off x="2976" y="2880"/>
              <a:ext cx="240" cy="240"/>
            </a:xfrm>
            <a:prstGeom prst="line">
              <a:avLst/>
            </a:prstGeom>
            <a:noFill/>
            <a:ln w="5715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65559" name="Line 48"/>
            <p:cNvSpPr>
              <a:spLocks noChangeShapeType="1"/>
            </p:cNvSpPr>
            <p:nvPr/>
          </p:nvSpPr>
          <p:spPr bwMode="auto">
            <a:xfrm flipH="1" flipV="1">
              <a:off x="2976" y="2880"/>
              <a:ext cx="240" cy="240"/>
            </a:xfrm>
            <a:prstGeom prst="line">
              <a:avLst/>
            </a:prstGeom>
            <a:noFill/>
            <a:ln w="5715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65560" name="Text Box 51"/>
            <p:cNvSpPr txBox="1">
              <a:spLocks noChangeArrowheads="1"/>
            </p:cNvSpPr>
            <p:nvPr/>
          </p:nvSpPr>
          <p:spPr bwMode="auto">
            <a:xfrm>
              <a:off x="4224" y="2016"/>
              <a:ext cx="960" cy="6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b="1">
                  <a:solidFill>
                    <a:srgbClr val="CC0000"/>
                  </a:solidFill>
                </a:rPr>
                <a:t>Removal of u disconnects </a:t>
              </a:r>
              <a:br>
                <a:rPr lang="en-US" sz="1800" b="1">
                  <a:solidFill>
                    <a:srgbClr val="CC0000"/>
                  </a:solidFill>
                </a:rPr>
              </a:br>
              <a:r>
                <a:rPr lang="en-US" sz="1800" b="1">
                  <a:solidFill>
                    <a:srgbClr val="CC0000"/>
                  </a:solidFill>
                </a:rPr>
                <a:t>v &amp; </a:t>
              </a:r>
              <a:r>
                <a:rPr lang="en-US" sz="1800" b="1">
                  <a:solidFill>
                    <a:srgbClr val="CC0000"/>
                  </a:solidFill>
                  <a:latin typeface="Symbol" pitchFamily="18" charset="2"/>
                </a:rPr>
                <a:t>p</a:t>
              </a:r>
              <a:r>
                <a:rPr lang="en-US" sz="1800" b="1">
                  <a:solidFill>
                    <a:srgbClr val="CC0000"/>
                  </a:solidFill>
                </a:rPr>
                <a:t>[u].</a:t>
              </a:r>
            </a:p>
          </p:txBody>
        </p:sp>
        <p:sp>
          <p:nvSpPr>
            <p:cNvPr id="65561" name="Freeform 55"/>
            <p:cNvSpPr>
              <a:spLocks/>
            </p:cNvSpPr>
            <p:nvPr/>
          </p:nvSpPr>
          <p:spPr bwMode="auto">
            <a:xfrm>
              <a:off x="3552" y="2832"/>
              <a:ext cx="235" cy="816"/>
            </a:xfrm>
            <a:custGeom>
              <a:avLst/>
              <a:gdLst>
                <a:gd name="T0" fmla="*/ 199 w 284"/>
                <a:gd name="T1" fmla="*/ 0 h 651"/>
                <a:gd name="T2" fmla="*/ 202 w 284"/>
                <a:gd name="T3" fmla="*/ 476 h 651"/>
                <a:gd name="T4" fmla="*/ 0 w 284"/>
                <a:gd name="T5" fmla="*/ 816 h 651"/>
                <a:gd name="T6" fmla="*/ 0 60000 65536"/>
                <a:gd name="T7" fmla="*/ 0 60000 65536"/>
                <a:gd name="T8" fmla="*/ 0 60000 65536"/>
              </a:gdLst>
              <a:ahLst/>
              <a:cxnLst>
                <a:cxn ang="T6">
                  <a:pos x="T0" y="T1"/>
                </a:cxn>
                <a:cxn ang="T7">
                  <a:pos x="T2" y="T3"/>
                </a:cxn>
                <a:cxn ang="T8">
                  <a:pos x="T4" y="T5"/>
                </a:cxn>
              </a:cxnLst>
              <a:rect l="0" t="0" r="r" b="b"/>
              <a:pathLst>
                <a:path w="284" h="651">
                  <a:moveTo>
                    <a:pt x="241" y="0"/>
                  </a:moveTo>
                  <a:cubicBezTo>
                    <a:pt x="241" y="63"/>
                    <a:pt x="284" y="271"/>
                    <a:pt x="244" y="380"/>
                  </a:cubicBezTo>
                  <a:cubicBezTo>
                    <a:pt x="204" y="489"/>
                    <a:pt x="51" y="595"/>
                    <a:pt x="0" y="651"/>
                  </a:cubicBezTo>
                </a:path>
              </a:pathLst>
            </a:custGeom>
            <a:noFill/>
            <a:ln w="1905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63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301070"/>
                                        </p:tgtEl>
                                        <p:attrNameLst>
                                          <p:attrName>style.visibility</p:attrName>
                                        </p:attrNameLst>
                                      </p:cBhvr>
                                      <p:to>
                                        <p:strVal val="visible"/>
                                      </p:to>
                                    </p:set>
                                    <p:anim calcmode="lin" valueType="num">
                                      <p:cBhvr>
                                        <p:cTn id="7" dur="500" fill="hold"/>
                                        <p:tgtEl>
                                          <p:spTgt spid="301070"/>
                                        </p:tgtEl>
                                        <p:attrNameLst>
                                          <p:attrName>ppt_w</p:attrName>
                                        </p:attrNameLst>
                                      </p:cBhvr>
                                      <p:tavLst>
                                        <p:tav tm="0">
                                          <p:val>
                                            <p:fltVal val="0"/>
                                          </p:val>
                                        </p:tav>
                                        <p:tav tm="100000">
                                          <p:val>
                                            <p:strVal val="#ppt_w"/>
                                          </p:val>
                                        </p:tav>
                                      </p:tavLst>
                                    </p:anim>
                                    <p:anim calcmode="lin" valueType="num">
                                      <p:cBhvr>
                                        <p:cTn id="8" dur="500" fill="hold"/>
                                        <p:tgtEl>
                                          <p:spTgt spid="30107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301071"/>
                                        </p:tgtEl>
                                        <p:attrNameLst>
                                          <p:attrName>style.visibility</p:attrName>
                                        </p:attrNameLst>
                                      </p:cBhvr>
                                      <p:to>
                                        <p:strVal val="visible"/>
                                      </p:to>
                                    </p:set>
                                    <p:animEffect transition="in" filter="wipe(up)">
                                      <p:cBhvr>
                                        <p:cTn id="13" dur="500"/>
                                        <p:tgtEl>
                                          <p:spTgt spid="301071"/>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301112"/>
                                        </p:tgtEl>
                                        <p:attrNameLst>
                                          <p:attrName>style.visibility</p:attrName>
                                        </p:attrNameLst>
                                      </p:cBhvr>
                                      <p:to>
                                        <p:strVal val="visible"/>
                                      </p:to>
                                    </p:set>
                                    <p:animEffect transition="in" filter="wipe(left)">
                                      <p:cBhvr>
                                        <p:cTn id="17" dur="2000"/>
                                        <p:tgtEl>
                                          <p:spTgt spid="301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70" grpId="0" animBg="1" autoUpdateAnimBg="0"/>
      <p:bldP spid="301071" grpId="0" animBg="1"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208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DFS </a:t>
            </a:r>
            <a:r>
              <a:rPr lang="en-US" sz="2800" smtClean="0">
                <a:solidFill>
                  <a:srgbClr val="CC0000"/>
                </a:solidFill>
                <a:latin typeface="Arial Rounded MT Bold" pitchFamily="34" charset="0"/>
              </a:rPr>
              <a:t>“low”</a:t>
            </a:r>
            <a:r>
              <a:rPr lang="en-US" sz="2800" smtClean="0">
                <a:solidFill>
                  <a:schemeClr val="tx1"/>
                </a:solidFill>
                <a:latin typeface="Arial Rounded MT Bold" pitchFamily="34" charset="0"/>
              </a:rPr>
              <a:t> Computation</a:t>
            </a:r>
          </a:p>
        </p:txBody>
      </p:sp>
      <mc:AlternateContent xmlns:mc="http://schemas.openxmlformats.org/markup-compatibility/2006" xmlns:a14="http://schemas.microsoft.com/office/drawing/2010/main">
        <mc:Choice Requires="a14">
          <p:sp>
            <p:nvSpPr>
              <p:cNvPr id="66577" name="Rectangle 37" descr="Recycled paper"/>
              <p:cNvSpPr>
                <a:spLocks noChangeArrowheads="1"/>
              </p:cNvSpPr>
              <p:nvPr/>
            </p:nvSpPr>
            <p:spPr bwMode="auto">
              <a:xfrm>
                <a:off x="152400" y="4267200"/>
                <a:ext cx="8839200" cy="1642226"/>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44000" bIns="0">
                <a:spAutoFit/>
              </a:bodyPr>
              <a:lstStyle/>
              <a:p>
                <a:pPr marL="288925" indent="-288925" eaLnBrk="1" hangingPunct="1">
                  <a:spcBef>
                    <a:spcPct val="50000"/>
                  </a:spcBef>
                  <a:buFontTx/>
                  <a:buNone/>
                  <a:tabLst>
                    <a:tab pos="663575" algn="l"/>
                  </a:tabLst>
                </a:pPr>
                <a:r>
                  <a:rPr lang="en-US" sz="2400" b="1" dirty="0" smtClean="0">
                    <a:solidFill>
                      <a:srgbClr val="CC0000"/>
                    </a:solidFill>
                  </a:rPr>
                  <a:t>FACT 7:</a:t>
                </a:r>
                <a14:m>
                  <m:oMath xmlns:m="http://schemas.openxmlformats.org/officeDocument/2006/math">
                    <m:r>
                      <a:rPr lang="en-CA" sz="2400" b="0" i="0" smtClean="0">
                        <a:solidFill>
                          <a:srgbClr val="CC0000"/>
                        </a:solidFill>
                        <a:latin typeface="Cambria Math"/>
                      </a:rPr>
                      <m:t>   </m:t>
                    </m:r>
                    <m:r>
                      <m:rPr>
                        <m:sty m:val="p"/>
                      </m:rPr>
                      <a:rPr lang="en-CA" sz="2400" b="0" i="0" smtClean="0">
                        <a:solidFill>
                          <a:schemeClr val="accent6"/>
                        </a:solidFill>
                        <a:latin typeface="Cambria Math"/>
                      </a:rPr>
                      <m:t>low</m:t>
                    </m:r>
                    <m:d>
                      <m:dPr>
                        <m:begChr m:val="["/>
                        <m:endChr m:val="]"/>
                        <m:ctrlPr>
                          <a:rPr lang="en-CA" sz="2400" i="1" smtClean="0">
                            <a:solidFill>
                              <a:schemeClr val="accent6"/>
                            </a:solidFill>
                            <a:latin typeface="Cambria Math"/>
                          </a:rPr>
                        </m:ctrlPr>
                      </m:dPr>
                      <m:e>
                        <m:r>
                          <m:rPr>
                            <m:sty m:val="p"/>
                          </m:rPr>
                          <a:rPr lang="en-CA" sz="2400" b="0" i="0" smtClean="0">
                            <a:solidFill>
                              <a:schemeClr val="accent6"/>
                            </a:solidFill>
                            <a:latin typeface="Cambria Math"/>
                          </a:rPr>
                          <m:t>u</m:t>
                        </m:r>
                      </m:e>
                    </m:d>
                    <m:r>
                      <a:rPr lang="en-CA" sz="2400" b="0" i="0" smtClean="0">
                        <a:solidFill>
                          <a:schemeClr val="accent6"/>
                        </a:solidFill>
                        <a:latin typeface="Cambria Math"/>
                      </a:rPr>
                      <m:t>=</m:t>
                    </m:r>
                    <m:r>
                      <m:rPr>
                        <m:sty m:val="p"/>
                      </m:rPr>
                      <a:rPr lang="en-CA" sz="2400" b="0" i="0" smtClean="0">
                        <a:solidFill>
                          <a:schemeClr val="accent6"/>
                        </a:solidFill>
                        <a:latin typeface="Cambria Math"/>
                      </a:rPr>
                      <m:t>min</m:t>
                    </m:r>
                    <m:r>
                      <a:rPr lang="en-CA" sz="2400" b="0" i="0" smtClean="0">
                        <a:solidFill>
                          <a:schemeClr val="accent6"/>
                        </a:solidFill>
                        <a:latin typeface="Cambria Math"/>
                      </a:rPr>
                      <m:t> </m:t>
                    </m:r>
                    <m:d>
                      <m:dPr>
                        <m:ctrlPr>
                          <a:rPr lang="en-CA" sz="2400" i="1" smtClean="0">
                            <a:solidFill>
                              <a:schemeClr val="accent6"/>
                            </a:solidFill>
                            <a:latin typeface="Cambria Math"/>
                          </a:rPr>
                        </m:ctrlPr>
                      </m:dPr>
                      <m:e>
                        <m:m>
                          <m:mPr>
                            <m:mcs>
                              <m:mc>
                                <m:mcPr>
                                  <m:count m:val="1"/>
                                  <m:mcJc m:val="center"/>
                                </m:mcPr>
                              </m:mc>
                            </m:mcs>
                            <m:ctrlPr>
                              <a:rPr lang="en-CA" sz="2400" i="1" smtClean="0">
                                <a:solidFill>
                                  <a:schemeClr val="accent6"/>
                                </a:solidFill>
                                <a:latin typeface="Cambria Math"/>
                              </a:rPr>
                            </m:ctrlPr>
                          </m:mPr>
                          <m:mr>
                            <m:e>
                              <m:d>
                                <m:dPr>
                                  <m:begChr m:val="{"/>
                                  <m:endChr m:val="}"/>
                                  <m:ctrlPr>
                                    <a:rPr lang="en-CA" sz="2400" b="0" i="1" smtClean="0">
                                      <a:solidFill>
                                        <a:schemeClr val="accent6"/>
                                      </a:solidFill>
                                      <a:latin typeface="Cambria Math"/>
                                    </a:rPr>
                                  </m:ctrlPr>
                                </m:dPr>
                                <m:e>
                                  <m:r>
                                    <m:rPr>
                                      <m:brk m:alnAt="7"/>
                                    </m:rPr>
                                    <a:rPr lang="en-CA" sz="2400" b="0" i="0" smtClean="0">
                                      <a:solidFill>
                                        <a:schemeClr val="accent6"/>
                                      </a:solidFill>
                                      <a:latin typeface="Cambria Math"/>
                                    </a:rPr>
                                    <m:t> </m:t>
                                  </m:r>
                                  <m:r>
                                    <m:rPr>
                                      <m:sty m:val="p"/>
                                    </m:rPr>
                                    <a:rPr lang="en-CA" sz="2400" b="0" i="0" smtClean="0">
                                      <a:solidFill>
                                        <a:schemeClr val="accent6"/>
                                      </a:solidFill>
                                      <a:latin typeface="Cambria Math"/>
                                    </a:rPr>
                                    <m:t>pre</m:t>
                                  </m:r>
                                  <m:d>
                                    <m:dPr>
                                      <m:begChr m:val="["/>
                                      <m:endChr m:val="]"/>
                                      <m:ctrlPr>
                                        <a:rPr lang="en-CA" sz="2400" i="1" smtClean="0">
                                          <a:solidFill>
                                            <a:schemeClr val="accent6"/>
                                          </a:solidFill>
                                          <a:latin typeface="Cambria Math"/>
                                        </a:rPr>
                                      </m:ctrlPr>
                                    </m:dPr>
                                    <m:e>
                                      <m:r>
                                        <m:rPr>
                                          <m:sty m:val="p"/>
                                          <m:brk m:alnAt="7"/>
                                        </m:rPr>
                                        <a:rPr lang="en-CA" sz="2400" b="0" i="0" smtClean="0">
                                          <a:solidFill>
                                            <a:schemeClr val="accent6"/>
                                          </a:solidFill>
                                          <a:latin typeface="Cambria Math"/>
                                        </a:rPr>
                                        <m:t>u</m:t>
                                      </m:r>
                                    </m:e>
                                  </m:d>
                                  <m:r>
                                    <m:rPr>
                                      <m:brk m:alnAt="7"/>
                                    </m:rPr>
                                    <a:rPr lang="en-CA" sz="2400" b="0" i="0" smtClean="0">
                                      <a:solidFill>
                                        <a:schemeClr val="accent6"/>
                                      </a:solidFill>
                                      <a:latin typeface="Cambria Math"/>
                                    </a:rPr>
                                    <m:t> </m:t>
                                  </m:r>
                                </m:e>
                              </m:d>
                              <m:r>
                                <m:rPr>
                                  <m:brk m:alnAt="7"/>
                                </m:rPr>
                                <a:rPr lang="en-CA" sz="2400" b="0" i="0" smtClean="0">
                                  <a:solidFill>
                                    <a:schemeClr val="accent6"/>
                                  </a:solidFill>
                                  <a:latin typeface="Cambria Math"/>
                                </a:rPr>
                                <m:t> </m:t>
                              </m:r>
                              <m:r>
                                <a:rPr lang="en-CA" sz="2400" b="0" i="0" smtClean="0">
                                  <a:solidFill>
                                    <a:schemeClr val="accent6"/>
                                  </a:solidFill>
                                  <a:latin typeface="Cambria Math"/>
                                </a:rPr>
                                <m:t>                                         </m:t>
                              </m:r>
                              <m:r>
                                <a:rPr lang="en-CA" sz="2400" b="0" i="1" smtClean="0">
                                  <a:solidFill>
                                    <a:schemeClr val="accent6"/>
                                  </a:solidFill>
                                  <a:latin typeface="Cambria Math"/>
                                  <a:ea typeface="Cambria Math"/>
                                </a:rPr>
                                <m:t> </m:t>
                              </m:r>
                            </m:e>
                          </m:mr>
                          <m:mr>
                            <m:e>
                              <m:r>
                                <a:rPr lang="en-CA" sz="2400" i="1" smtClean="0">
                                  <a:solidFill>
                                    <a:schemeClr val="accent6"/>
                                  </a:solidFill>
                                  <a:latin typeface="Cambria Math"/>
                                  <a:ea typeface="Cambria Math"/>
                                </a:rPr>
                                <m:t>∪</m:t>
                              </m:r>
                              <m:r>
                                <a:rPr lang="en-CA" sz="2400" b="0" i="1" smtClean="0">
                                  <a:solidFill>
                                    <a:schemeClr val="accent6"/>
                                  </a:solidFill>
                                  <a:latin typeface="Cambria Math"/>
                                  <a:ea typeface="Cambria Math"/>
                                </a:rPr>
                                <m:t> </m:t>
                              </m:r>
                              <m:d>
                                <m:dPr>
                                  <m:begChr m:val="{"/>
                                  <m:endChr m:val="|"/>
                                  <m:ctrlPr>
                                    <a:rPr lang="en-CA" sz="2400" i="1" smtClean="0">
                                      <a:solidFill>
                                        <a:schemeClr val="accent6"/>
                                      </a:solidFill>
                                      <a:latin typeface="Cambria Math"/>
                                    </a:rPr>
                                  </m:ctrlPr>
                                </m:dPr>
                                <m:e>
                                  <m:r>
                                    <a:rPr lang="en-CA" sz="2400" b="0" i="0" smtClean="0">
                                      <a:solidFill>
                                        <a:schemeClr val="accent6"/>
                                      </a:solidFill>
                                      <a:latin typeface="Cambria Math"/>
                                    </a:rPr>
                                    <m:t> </m:t>
                                  </m:r>
                                  <m:r>
                                    <m:rPr>
                                      <m:sty m:val="p"/>
                                    </m:rPr>
                                    <a:rPr lang="en-CA" sz="2400" b="0" i="0" smtClean="0">
                                      <a:solidFill>
                                        <a:schemeClr val="accent6"/>
                                      </a:solidFill>
                                      <a:latin typeface="Cambria Math"/>
                                    </a:rPr>
                                    <m:t>pre</m:t>
                                  </m:r>
                                  <m:d>
                                    <m:dPr>
                                      <m:begChr m:val="["/>
                                      <m:endChr m:val="]"/>
                                      <m:ctrlPr>
                                        <a:rPr lang="en-CA" sz="2400" i="1" smtClean="0">
                                          <a:solidFill>
                                            <a:schemeClr val="accent6"/>
                                          </a:solidFill>
                                          <a:latin typeface="Cambria Math"/>
                                        </a:rPr>
                                      </m:ctrlPr>
                                    </m:dPr>
                                    <m:e>
                                      <m:r>
                                        <m:rPr>
                                          <m:sty m:val="p"/>
                                        </m:rPr>
                                        <a:rPr lang="en-CA" sz="2400" b="0" i="0" smtClean="0">
                                          <a:solidFill>
                                            <a:schemeClr val="accent6"/>
                                          </a:solidFill>
                                          <a:latin typeface="Cambria Math"/>
                                        </a:rPr>
                                        <m:t>x</m:t>
                                      </m:r>
                                    </m:e>
                                  </m:d>
                                  <m:r>
                                    <a:rPr lang="en-CA" sz="2400" b="0" i="0" smtClean="0">
                                      <a:solidFill>
                                        <a:schemeClr val="accent6"/>
                                      </a:solidFill>
                                      <a:latin typeface="Cambria Math"/>
                                    </a:rPr>
                                    <m:t>  </m:t>
                                  </m:r>
                                </m:e>
                              </m:d>
                              <m:r>
                                <a:rPr lang="en-CA" sz="2400" b="0" i="0" smtClean="0">
                                  <a:solidFill>
                                    <a:schemeClr val="accent6"/>
                                  </a:solidFill>
                                  <a:latin typeface="Cambria Math"/>
                                </a:rPr>
                                <m:t> </m:t>
                              </m:r>
                              <m:r>
                                <a:rPr lang="en-CA" sz="2400" b="0" i="0" smtClean="0">
                                  <a:solidFill>
                                    <a:schemeClr val="accent6"/>
                                  </a:solidFill>
                                  <a:latin typeface="Cambria Math"/>
                                  <a:ea typeface="Cambria Math"/>
                                </a:rPr>
                                <m:t>∃ </m:t>
                              </m:r>
                              <m:r>
                                <m:rPr>
                                  <m:sty m:val="p"/>
                                </m:rPr>
                                <a:rPr lang="en-CA" sz="2400" b="0" i="0" smtClean="0">
                                  <a:solidFill>
                                    <a:schemeClr val="accent6"/>
                                  </a:solidFill>
                                  <a:latin typeface="Cambria Math"/>
                                  <a:ea typeface="Cambria Math"/>
                                </a:rPr>
                                <m:t>back</m:t>
                              </m:r>
                              <m:r>
                                <a:rPr lang="en-CA" sz="2400" b="0" i="0" smtClean="0">
                                  <a:solidFill>
                                    <a:schemeClr val="accent6"/>
                                  </a:solidFill>
                                  <a:latin typeface="Cambria Math"/>
                                  <a:ea typeface="Cambria Math"/>
                                </a:rPr>
                                <m:t>−</m:t>
                              </m:r>
                              <m:r>
                                <m:rPr>
                                  <m:sty m:val="p"/>
                                </m:rPr>
                                <a:rPr lang="en-CA" sz="2400" b="0" i="0" smtClean="0">
                                  <a:solidFill>
                                    <a:schemeClr val="accent6"/>
                                  </a:solidFill>
                                  <a:latin typeface="Cambria Math"/>
                                  <a:ea typeface="Cambria Math"/>
                                </a:rPr>
                                <m:t>edge</m:t>
                              </m:r>
                              <m:r>
                                <a:rPr lang="en-CA" sz="2400" b="0" i="0" smtClean="0">
                                  <a:solidFill>
                                    <a:schemeClr val="accent6"/>
                                  </a:solidFill>
                                  <a:latin typeface="Cambria Math"/>
                                  <a:ea typeface="Cambria Math"/>
                                </a:rPr>
                                <m:t> </m:t>
                              </m:r>
                              <m:d>
                                <m:dPr>
                                  <m:ctrlPr>
                                    <a:rPr lang="en-CA" sz="2400" i="1" smtClean="0">
                                      <a:solidFill>
                                        <a:schemeClr val="accent6"/>
                                      </a:solidFill>
                                      <a:latin typeface="Cambria Math"/>
                                      <a:ea typeface="Cambria Math"/>
                                    </a:rPr>
                                  </m:ctrlPr>
                                </m:dPr>
                                <m:e>
                                  <m:r>
                                    <m:rPr>
                                      <m:sty m:val="p"/>
                                    </m:rPr>
                                    <a:rPr lang="en-CA" sz="2400" b="0" i="0" smtClean="0">
                                      <a:solidFill>
                                        <a:schemeClr val="accent6"/>
                                      </a:solidFill>
                                      <a:latin typeface="Cambria Math"/>
                                      <a:ea typeface="Cambria Math"/>
                                    </a:rPr>
                                    <m:t>u</m:t>
                                  </m:r>
                                  <m:r>
                                    <a:rPr lang="en-CA" sz="2400" b="0" i="0" smtClean="0">
                                      <a:solidFill>
                                        <a:schemeClr val="accent6"/>
                                      </a:solidFill>
                                      <a:latin typeface="Cambria Math"/>
                                      <a:ea typeface="Cambria Math"/>
                                    </a:rPr>
                                    <m:t>,</m:t>
                                  </m:r>
                                  <m:r>
                                    <m:rPr>
                                      <m:sty m:val="p"/>
                                    </m:rPr>
                                    <a:rPr lang="en-CA" sz="2400" b="0" i="0" smtClean="0">
                                      <a:solidFill>
                                        <a:schemeClr val="accent6"/>
                                      </a:solidFill>
                                      <a:latin typeface="Cambria Math"/>
                                      <a:ea typeface="Cambria Math"/>
                                    </a:rPr>
                                    <m:t>x</m:t>
                                  </m:r>
                                </m:e>
                              </m:d>
                              <m:r>
                                <a:rPr lang="en-CA" sz="2400" b="0" i="0" smtClean="0">
                                  <a:solidFill>
                                    <a:schemeClr val="accent6"/>
                                  </a:solidFill>
                                  <a:latin typeface="Cambria Math"/>
                                  <a:ea typeface="Cambria Math"/>
                                </a:rPr>
                                <m:t> }     </m:t>
                              </m:r>
                            </m:e>
                          </m:mr>
                          <m:mr>
                            <m:e>
                              <m:r>
                                <a:rPr lang="en-CA" sz="2400" i="1" smtClean="0">
                                  <a:solidFill>
                                    <a:schemeClr val="accent6"/>
                                  </a:solidFill>
                                  <a:latin typeface="Cambria Math"/>
                                  <a:ea typeface="Cambria Math"/>
                                </a:rPr>
                                <m:t>∪</m:t>
                              </m:r>
                              <m:r>
                                <a:rPr lang="en-CA" sz="2400" b="0" i="1" smtClean="0">
                                  <a:solidFill>
                                    <a:schemeClr val="accent6"/>
                                  </a:solidFill>
                                  <a:latin typeface="Cambria Math"/>
                                  <a:ea typeface="Cambria Math"/>
                                </a:rPr>
                                <m:t> </m:t>
                              </m:r>
                              <m:d>
                                <m:dPr>
                                  <m:begChr m:val="{"/>
                                  <m:endChr m:val="|"/>
                                  <m:ctrlPr>
                                    <a:rPr lang="en-CA" sz="2400" b="0" i="1" smtClean="0">
                                      <a:solidFill>
                                        <a:schemeClr val="accent6"/>
                                      </a:solidFill>
                                      <a:latin typeface="Cambria Math"/>
                                    </a:rPr>
                                  </m:ctrlPr>
                                </m:dPr>
                                <m:e>
                                  <m:r>
                                    <a:rPr lang="en-CA" sz="2400" b="0" i="0" smtClean="0">
                                      <a:solidFill>
                                        <a:schemeClr val="accent6"/>
                                      </a:solidFill>
                                      <a:latin typeface="Cambria Math"/>
                                    </a:rPr>
                                    <m:t> </m:t>
                                  </m:r>
                                  <m:r>
                                    <m:rPr>
                                      <m:sty m:val="p"/>
                                    </m:rPr>
                                    <a:rPr lang="en-CA" sz="2400" b="0" i="0" smtClean="0">
                                      <a:solidFill>
                                        <a:schemeClr val="accent6"/>
                                      </a:solidFill>
                                      <a:latin typeface="Cambria Math"/>
                                    </a:rPr>
                                    <m:t>low</m:t>
                                  </m:r>
                                  <m:d>
                                    <m:dPr>
                                      <m:begChr m:val="["/>
                                      <m:endChr m:val="]"/>
                                      <m:ctrlPr>
                                        <a:rPr lang="en-CA" sz="2400" b="0" i="1" smtClean="0">
                                          <a:solidFill>
                                            <a:schemeClr val="accent6"/>
                                          </a:solidFill>
                                          <a:latin typeface="Cambria Math"/>
                                        </a:rPr>
                                      </m:ctrlPr>
                                    </m:dPr>
                                    <m:e>
                                      <m:r>
                                        <m:rPr>
                                          <m:sty m:val="p"/>
                                        </m:rPr>
                                        <a:rPr lang="en-CA" sz="2400" b="0" i="0" smtClean="0">
                                          <a:solidFill>
                                            <a:schemeClr val="accent6"/>
                                          </a:solidFill>
                                          <a:latin typeface="Cambria Math"/>
                                        </a:rPr>
                                        <m:t>c</m:t>
                                      </m:r>
                                    </m:e>
                                  </m:d>
                                  <m:r>
                                    <a:rPr lang="en-CA" sz="2400" b="0" i="0" smtClean="0">
                                      <a:solidFill>
                                        <a:schemeClr val="accent6"/>
                                      </a:solidFill>
                                      <a:latin typeface="Cambria Math"/>
                                    </a:rPr>
                                    <m:t>  </m:t>
                                  </m:r>
                                </m:e>
                              </m:d>
                              <m:r>
                                <a:rPr lang="en-CA" sz="2400" b="0" i="0" smtClean="0">
                                  <a:solidFill>
                                    <a:schemeClr val="accent6"/>
                                  </a:solidFill>
                                  <a:latin typeface="Cambria Math"/>
                                </a:rPr>
                                <m:t> </m:t>
                              </m:r>
                              <m:r>
                                <m:rPr>
                                  <m:sty m:val="p"/>
                                </m:rPr>
                                <a:rPr lang="en-CA" sz="2400" b="0" i="0" smtClean="0">
                                  <a:solidFill>
                                    <a:schemeClr val="accent6"/>
                                  </a:solidFill>
                                  <a:latin typeface="Cambria Math"/>
                                </a:rPr>
                                <m:t>c</m:t>
                              </m:r>
                              <m:r>
                                <a:rPr lang="en-CA" sz="2400" b="0" i="0" smtClean="0">
                                  <a:solidFill>
                                    <a:schemeClr val="accent6"/>
                                  </a:solidFill>
                                  <a:latin typeface="Cambria Math"/>
                                </a:rPr>
                                <m:t> </m:t>
                              </m:r>
                              <m:r>
                                <m:rPr>
                                  <m:sty m:val="p"/>
                                </m:rPr>
                                <a:rPr lang="en-CA" sz="2400" b="0" i="0" smtClean="0">
                                  <a:solidFill>
                                    <a:schemeClr val="accent6"/>
                                  </a:solidFill>
                                  <a:latin typeface="Cambria Math"/>
                                </a:rPr>
                                <m:t>is</m:t>
                              </m:r>
                              <m:r>
                                <a:rPr lang="en-CA" sz="2400" b="0" i="0" smtClean="0">
                                  <a:solidFill>
                                    <a:schemeClr val="accent6"/>
                                  </a:solidFill>
                                  <a:latin typeface="Cambria Math"/>
                                </a:rPr>
                                <m:t> </m:t>
                              </m:r>
                              <m:r>
                                <m:rPr>
                                  <m:sty m:val="p"/>
                                </m:rPr>
                                <a:rPr lang="en-CA" sz="2400" b="0" i="0" smtClean="0">
                                  <a:solidFill>
                                    <a:schemeClr val="accent6"/>
                                  </a:solidFill>
                                  <a:latin typeface="Cambria Math"/>
                                </a:rPr>
                                <m:t>a</m:t>
                              </m:r>
                              <m:r>
                                <a:rPr lang="en-CA" sz="2400" b="0" i="0" smtClean="0">
                                  <a:solidFill>
                                    <a:schemeClr val="accent6"/>
                                  </a:solidFill>
                                  <a:latin typeface="Cambria Math"/>
                                </a:rPr>
                                <m:t>  </m:t>
                              </m:r>
                              <m:r>
                                <m:rPr>
                                  <m:sty m:val="p"/>
                                </m:rPr>
                                <a:rPr lang="en-CA" sz="2400" b="0" i="0" smtClean="0">
                                  <a:solidFill>
                                    <a:schemeClr val="accent6"/>
                                  </a:solidFill>
                                  <a:latin typeface="Cambria Math"/>
                                </a:rPr>
                                <m:t>DFS</m:t>
                              </m:r>
                              <m:r>
                                <a:rPr lang="en-CA" sz="2400" b="0" i="0" smtClean="0">
                                  <a:solidFill>
                                    <a:schemeClr val="accent6"/>
                                  </a:solidFill>
                                  <a:latin typeface="Cambria Math"/>
                                </a:rPr>
                                <m:t>−</m:t>
                              </m:r>
                              <m:r>
                                <m:rPr>
                                  <m:sty m:val="p"/>
                                </m:rPr>
                                <a:rPr lang="en-CA" sz="2400" b="0" i="0" smtClean="0">
                                  <a:solidFill>
                                    <a:schemeClr val="accent6"/>
                                  </a:solidFill>
                                  <a:latin typeface="Cambria Math"/>
                                </a:rPr>
                                <m:t>child</m:t>
                              </m:r>
                              <m:r>
                                <a:rPr lang="en-CA" sz="2400" b="0" i="0" smtClean="0">
                                  <a:solidFill>
                                    <a:schemeClr val="accent6"/>
                                  </a:solidFill>
                                  <a:latin typeface="Cambria Math"/>
                                </a:rPr>
                                <m:t>  </m:t>
                              </m:r>
                              <m:r>
                                <m:rPr>
                                  <m:sty m:val="p"/>
                                </m:rPr>
                                <a:rPr lang="en-CA" sz="2400" b="0" i="0" smtClean="0">
                                  <a:solidFill>
                                    <a:schemeClr val="accent6"/>
                                  </a:solidFill>
                                  <a:latin typeface="Cambria Math"/>
                                </a:rPr>
                                <m:t>of</m:t>
                              </m:r>
                              <m:r>
                                <a:rPr lang="en-CA" sz="2400" b="0" i="0" smtClean="0">
                                  <a:solidFill>
                                    <a:schemeClr val="accent6"/>
                                  </a:solidFill>
                                  <a:latin typeface="Cambria Math"/>
                                </a:rPr>
                                <m:t> </m:t>
                              </m:r>
                              <m:r>
                                <m:rPr>
                                  <m:sty m:val="p"/>
                                </m:rPr>
                                <a:rPr lang="en-CA" sz="2400" b="0" i="0" smtClean="0">
                                  <a:solidFill>
                                    <a:schemeClr val="accent6"/>
                                  </a:solidFill>
                                  <a:latin typeface="Cambria Math"/>
                                </a:rPr>
                                <m:t>u</m:t>
                              </m:r>
                              <m:r>
                                <a:rPr lang="en-CA" sz="2400" b="0" i="0" smtClean="0">
                                  <a:solidFill>
                                    <a:schemeClr val="accent6"/>
                                  </a:solidFill>
                                  <a:latin typeface="Cambria Math"/>
                                </a:rPr>
                                <m:t> }</m:t>
                              </m:r>
                            </m:e>
                          </m:mr>
                        </m:m>
                      </m:e>
                    </m:d>
                  </m:oMath>
                </a14:m>
                <a:r>
                  <a:rPr lang="en-US" sz="2400" b="1" dirty="0" smtClean="0">
                    <a:solidFill>
                      <a:schemeClr val="accent6"/>
                    </a:solidFill>
                  </a:rPr>
                  <a:t>.</a:t>
                </a:r>
                <a:r>
                  <a:rPr lang="en-US" sz="2400" b="1" dirty="0">
                    <a:solidFill>
                      <a:schemeClr val="accent6"/>
                    </a:solidFill>
                  </a:rPr>
                  <a:t/>
                </a:r>
                <a:br>
                  <a:rPr lang="en-US" sz="2400" b="1" dirty="0">
                    <a:solidFill>
                      <a:schemeClr val="accent6"/>
                    </a:solidFill>
                  </a:rPr>
                </a:br>
                <a:endParaRPr lang="en-US" sz="2000" dirty="0">
                  <a:solidFill>
                    <a:schemeClr val="hlink"/>
                  </a:solidFill>
                </a:endParaRPr>
              </a:p>
            </p:txBody>
          </p:sp>
        </mc:Choice>
        <mc:Fallback xmlns="">
          <p:sp>
            <p:nvSpPr>
              <p:cNvPr id="66577" name="Rectangle 37" descr="Recycled paper"/>
              <p:cNvSpPr>
                <a:spLocks noRot="1" noChangeAspect="1" noMove="1" noResize="1" noEditPoints="1" noAdjustHandles="1" noChangeArrowheads="1" noChangeShapeType="1" noTextEdit="1"/>
              </p:cNvSpPr>
              <p:nvPr/>
            </p:nvSpPr>
            <p:spPr bwMode="auto">
              <a:xfrm>
                <a:off x="152400" y="4267200"/>
                <a:ext cx="8839200" cy="1642226"/>
              </a:xfrm>
              <a:prstGeom prst="rect">
                <a:avLst/>
              </a:prstGeom>
              <a:blipFill rotWithShape="1">
                <a:blip r:embed="rId3"/>
                <a:stretch>
                  <a:fillRect/>
                </a:stretch>
              </a:blipFill>
              <a:ln w="19050">
                <a:noFill/>
                <a:miter lim="800000"/>
                <a:headEnd/>
                <a:tailEnd/>
              </a:ln>
              <a:effectLst>
                <a:outerShdw blurRad="44450" dist="27940" dir="5400000" algn="ctr">
                  <a:srgbClr val="000000">
                    <a:alpha val="32000"/>
                  </a:srgbClr>
                </a:outerShdw>
              </a:effectLst>
              <a:extLst/>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66565" name="Text Box 36"/>
              <p:cNvSpPr txBox="1">
                <a:spLocks noChangeArrowheads="1"/>
              </p:cNvSpPr>
              <p:nvPr/>
            </p:nvSpPr>
            <p:spPr bwMode="auto">
              <a:xfrm>
                <a:off x="152401" y="825500"/>
                <a:ext cx="6934200" cy="2237862"/>
              </a:xfrm>
              <a:prstGeom prst="rect">
                <a:avLst/>
              </a:prstGeom>
              <a:noFill/>
              <a:ln>
                <a:noFill/>
              </a:ln>
              <a:effectLst/>
              <a:extLst>
                <a:ext uri="{909E8E84-426E-40DD-AFC4-6F175D3DCCD1}">
                  <a14:hiddenFill>
                    <a:solidFill>
                      <a:srgbClr val="FFFFFF"/>
                    </a:solidFill>
                  </a14:hiddenFill>
                </a:ext>
                <a:ext uri="{91240B29-F687-4F45-9708-019B960494DF}">
                  <a14:hiddenLine w="1905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bIns="10800">
                <a:spAutoFit/>
              </a:bodyPr>
              <a:lstStyle>
                <a:lvl1pPr marL="288925" indent="-288925">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Char char="§"/>
                </a:pPr>
                <a:r>
                  <a:rPr lang="en-US" sz="2000" dirty="0" smtClean="0"/>
                  <a:t>Do a DFS  and for each node </a:t>
                </a:r>
                <a:r>
                  <a:rPr lang="en-US" sz="2000" dirty="0" err="1"/>
                  <a:t>u</a:t>
                </a:r>
                <a:r>
                  <a:rPr lang="en-US" sz="2000" dirty="0" err="1">
                    <a:sym typeface="Symbol" pitchFamily="18" charset="2"/>
                  </a:rPr>
                  <a:t></a:t>
                </a:r>
                <a:r>
                  <a:rPr lang="en-US" sz="2000" dirty="0" err="1"/>
                  <a:t>V</a:t>
                </a:r>
                <a:r>
                  <a:rPr lang="en-US" sz="2000" dirty="0"/>
                  <a:t>(G</a:t>
                </a:r>
                <a:r>
                  <a:rPr lang="en-US" sz="2000" dirty="0" smtClean="0"/>
                  <a:t>)  </a:t>
                </a:r>
                <a:r>
                  <a:rPr lang="en-US" sz="2000" dirty="0"/>
                  <a:t>compute:</a:t>
                </a:r>
              </a:p>
              <a:p>
                <a:pPr eaLnBrk="1" hangingPunct="1">
                  <a:lnSpc>
                    <a:spcPct val="115000"/>
                  </a:lnSpc>
                  <a:spcBef>
                    <a:spcPct val="50000"/>
                  </a:spcBef>
                  <a:buFont typeface="Wingdings" pitchFamily="2" charset="2"/>
                  <a:buChar char="§"/>
                </a:pPr>
                <a14:m>
                  <m:oMath xmlns:m="http://schemas.openxmlformats.org/officeDocument/2006/math">
                    <m:r>
                      <m:rPr>
                        <m:sty m:val="p"/>
                      </m:rPr>
                      <a:rPr lang="en-US" sz="2000" i="0" dirty="0" smtClean="0">
                        <a:solidFill>
                          <a:schemeClr val="accent6"/>
                        </a:solidFill>
                        <a:latin typeface="Cambria Math"/>
                      </a:rPr>
                      <m:t>pre</m:t>
                    </m:r>
                    <m:r>
                      <a:rPr lang="en-US" sz="2000" i="0" dirty="0" smtClean="0">
                        <a:solidFill>
                          <a:schemeClr val="accent6"/>
                        </a:solidFill>
                        <a:latin typeface="Cambria Math"/>
                      </a:rPr>
                      <m:t>[</m:t>
                    </m:r>
                    <m:r>
                      <m:rPr>
                        <m:sty m:val="p"/>
                      </m:rPr>
                      <a:rPr lang="en-US" sz="2000" i="0" dirty="0" smtClean="0">
                        <a:solidFill>
                          <a:schemeClr val="accent6"/>
                        </a:solidFill>
                        <a:latin typeface="Cambria Math"/>
                      </a:rPr>
                      <m:t>u</m:t>
                    </m:r>
                    <m:r>
                      <a:rPr lang="en-US" sz="2000" i="0" dirty="0" smtClean="0">
                        <a:solidFill>
                          <a:schemeClr val="accent6"/>
                        </a:solidFill>
                        <a:latin typeface="Cambria Math"/>
                      </a:rPr>
                      <m:t>]  =   </m:t>
                    </m:r>
                  </m:oMath>
                </a14:m>
                <a:r>
                  <a:rPr lang="en-US" sz="2000" dirty="0"/>
                  <a:t>DFS pre-order numbering of node </a:t>
                </a:r>
                <a:r>
                  <a:rPr lang="en-US" sz="2000" dirty="0" smtClean="0"/>
                  <a:t>u.</a:t>
                </a:r>
              </a:p>
              <a:p>
                <a:pPr defTabSz="541338" eaLnBrk="1" hangingPunct="1">
                  <a:lnSpc>
                    <a:spcPct val="115000"/>
                  </a:lnSpc>
                  <a:spcBef>
                    <a:spcPct val="50000"/>
                  </a:spcBef>
                  <a:buFont typeface="Wingdings" pitchFamily="2" charset="2"/>
                  <a:buChar char="§"/>
                </a:pPr>
                <a14:m>
                  <m:oMath xmlns:m="http://schemas.openxmlformats.org/officeDocument/2006/math">
                    <m:r>
                      <m:rPr>
                        <m:sty m:val="p"/>
                      </m:rPr>
                      <a:rPr lang="en-CA" sz="2000" b="0" i="0" smtClean="0">
                        <a:solidFill>
                          <a:schemeClr val="accent6"/>
                        </a:solidFill>
                        <a:latin typeface="Cambria Math"/>
                      </a:rPr>
                      <m:t>low</m:t>
                    </m:r>
                    <m:d>
                      <m:dPr>
                        <m:begChr m:val="["/>
                        <m:endChr m:val="]"/>
                        <m:ctrlPr>
                          <a:rPr lang="en-CA" sz="2000" b="0" i="1" smtClean="0">
                            <a:solidFill>
                              <a:schemeClr val="accent6"/>
                            </a:solidFill>
                            <a:latin typeface="Cambria Math"/>
                          </a:rPr>
                        </m:ctrlPr>
                      </m:dPr>
                      <m:e>
                        <m:r>
                          <m:rPr>
                            <m:sty m:val="p"/>
                          </m:rPr>
                          <a:rPr lang="en-CA" sz="2000" b="0" i="0" smtClean="0">
                            <a:solidFill>
                              <a:schemeClr val="accent6"/>
                            </a:solidFill>
                            <a:latin typeface="Cambria Math"/>
                          </a:rPr>
                          <m:t>u</m:t>
                        </m:r>
                      </m:e>
                    </m:d>
                    <m:r>
                      <a:rPr lang="en-CA" sz="2000" b="0" i="1" smtClean="0">
                        <a:solidFill>
                          <a:schemeClr val="accent6"/>
                        </a:solidFill>
                        <a:latin typeface="Cambria Math"/>
                      </a:rPr>
                      <m:t> ≝</m:t>
                    </m:r>
                    <m:func>
                      <m:funcPr>
                        <m:ctrlPr>
                          <a:rPr lang="en-CA" sz="2000" b="0" i="1" smtClean="0">
                            <a:solidFill>
                              <a:schemeClr val="accent6"/>
                            </a:solidFill>
                            <a:latin typeface="Cambria Math"/>
                          </a:rPr>
                        </m:ctrlPr>
                      </m:funcPr>
                      <m:fName>
                        <m:r>
                          <a:rPr lang="en-CA" sz="2000" b="0" i="0" smtClean="0">
                            <a:solidFill>
                              <a:schemeClr val="accent6"/>
                            </a:solidFill>
                            <a:latin typeface="Cambria Math"/>
                          </a:rPr>
                          <m:t> </m:t>
                        </m:r>
                        <m:r>
                          <m:rPr>
                            <m:sty m:val="p"/>
                          </m:rPr>
                          <a:rPr lang="en-CA" sz="2000" b="0" i="0" smtClean="0">
                            <a:solidFill>
                              <a:schemeClr val="accent6"/>
                            </a:solidFill>
                            <a:latin typeface="Cambria Math"/>
                          </a:rPr>
                          <m:t>min</m:t>
                        </m:r>
                        <m:r>
                          <a:rPr lang="en-CA" sz="2000" b="0" i="0" smtClean="0">
                            <a:solidFill>
                              <a:schemeClr val="accent6"/>
                            </a:solidFill>
                            <a:latin typeface="Cambria Math"/>
                          </a:rPr>
                          <m:t> </m:t>
                        </m:r>
                      </m:fName>
                      <m:e>
                        <m:d>
                          <m:dPr>
                            <m:begChr m:val="{"/>
                            <m:endChr m:val="}"/>
                            <m:ctrlPr>
                              <a:rPr lang="en-CA" sz="2000" b="0" i="1" smtClean="0">
                                <a:solidFill>
                                  <a:schemeClr val="accent6"/>
                                </a:solidFill>
                                <a:latin typeface="Cambria Math"/>
                              </a:rPr>
                            </m:ctrlPr>
                          </m:dPr>
                          <m:e>
                            <m:r>
                              <a:rPr lang="en-CA" sz="2000" b="0" i="1" smtClean="0">
                                <a:solidFill>
                                  <a:schemeClr val="accent6"/>
                                </a:solidFill>
                                <a:latin typeface="Cambria Math"/>
                              </a:rPr>
                              <m:t> </m:t>
                            </m:r>
                            <m:r>
                              <m:rPr>
                                <m:sty m:val="p"/>
                              </m:rPr>
                              <a:rPr lang="en-CA" sz="2000" b="0" i="0" smtClean="0">
                                <a:solidFill>
                                  <a:schemeClr val="accent6"/>
                                </a:solidFill>
                                <a:latin typeface="Cambria Math"/>
                              </a:rPr>
                              <m:t>pre</m:t>
                            </m:r>
                            <m:d>
                              <m:dPr>
                                <m:begChr m:val="["/>
                                <m:endChr m:val="]"/>
                                <m:ctrlPr>
                                  <a:rPr lang="en-CA" sz="2000" b="0" i="1" smtClean="0">
                                    <a:solidFill>
                                      <a:schemeClr val="accent6"/>
                                    </a:solidFill>
                                    <a:latin typeface="Cambria Math"/>
                                  </a:rPr>
                                </m:ctrlPr>
                              </m:dPr>
                              <m:e>
                                <m:r>
                                  <m:rPr>
                                    <m:sty m:val="p"/>
                                  </m:rPr>
                                  <a:rPr lang="en-CA" sz="2000" b="0" i="0" smtClean="0">
                                    <a:solidFill>
                                      <a:schemeClr val="accent6"/>
                                    </a:solidFill>
                                    <a:latin typeface="Cambria Math"/>
                                  </a:rPr>
                                  <m:t>x</m:t>
                                </m:r>
                              </m:e>
                            </m:d>
                            <m:r>
                              <a:rPr lang="en-CA" sz="2000" b="0" i="0" smtClean="0">
                                <a:solidFill>
                                  <a:schemeClr val="accent6"/>
                                </a:solidFill>
                                <a:latin typeface="Cambria Math"/>
                              </a:rPr>
                              <m:t>  </m:t>
                            </m:r>
                          </m:e>
                          <m:e>
                            <m:m>
                              <m:mPr>
                                <m:mcs>
                                  <m:mc>
                                    <m:mcPr>
                                      <m:count m:val="1"/>
                                      <m:mcJc m:val="center"/>
                                    </m:mcPr>
                                  </m:mc>
                                </m:mcs>
                                <m:ctrlPr>
                                  <a:rPr lang="en-CA" sz="2000" b="0" i="1" smtClean="0">
                                    <a:solidFill>
                                      <a:schemeClr val="accent6"/>
                                    </a:solidFill>
                                    <a:latin typeface="Cambria Math"/>
                                  </a:rPr>
                                </m:ctrlPr>
                              </m:mPr>
                              <m:mr>
                                <m:e>
                                  <m:r>
                                    <m:rPr>
                                      <m:brk m:alnAt="7"/>
                                    </m:rPr>
                                    <a:rPr lang="en-CA" sz="2000" b="0" i="0" smtClean="0">
                                      <a:solidFill>
                                        <a:schemeClr val="accent6"/>
                                      </a:solidFill>
                                      <a:latin typeface="Cambria Math"/>
                                    </a:rPr>
                                    <m:t> </m:t>
                                  </m:r>
                                  <m:r>
                                    <a:rPr lang="en-CA" sz="2000" b="0" i="0" smtClean="0">
                                      <a:solidFill>
                                        <a:schemeClr val="accent6"/>
                                      </a:solidFill>
                                      <a:latin typeface="Cambria Math"/>
                                    </a:rPr>
                                    <m:t>    </m:t>
                                  </m:r>
                                  <m:r>
                                    <m:rPr>
                                      <m:sty m:val="p"/>
                                    </m:rPr>
                                    <a:rPr lang="en-CA" sz="2000" b="0" i="0" smtClean="0">
                                      <a:solidFill>
                                        <a:schemeClr val="accent6"/>
                                      </a:solidFill>
                                      <a:latin typeface="Cambria Math"/>
                                    </a:rPr>
                                    <m:t>x</m:t>
                                  </m:r>
                                  <m:r>
                                    <a:rPr lang="en-CA" sz="2000" b="0" i="0" smtClean="0">
                                      <a:solidFill>
                                        <a:schemeClr val="accent6"/>
                                      </a:solidFill>
                                      <a:latin typeface="Cambria Math"/>
                                    </a:rPr>
                                    <m:t>=</m:t>
                                  </m:r>
                                  <m:r>
                                    <m:rPr>
                                      <m:sty m:val="p"/>
                                    </m:rPr>
                                    <a:rPr lang="en-CA" sz="2000" b="0" i="0" smtClean="0">
                                      <a:solidFill>
                                        <a:schemeClr val="accent6"/>
                                      </a:solidFill>
                                      <a:latin typeface="Cambria Math"/>
                                    </a:rPr>
                                    <m:t>u</m:t>
                                  </m:r>
                                  <m:r>
                                    <a:rPr lang="en-CA" sz="2000" b="0" i="0" smtClean="0">
                                      <a:solidFill>
                                        <a:schemeClr val="accent6"/>
                                      </a:solidFill>
                                      <a:latin typeface="Cambria Math"/>
                                    </a:rPr>
                                    <m:t>,       </m:t>
                                  </m:r>
                                  <m:r>
                                    <m:rPr>
                                      <m:sty m:val="p"/>
                                    </m:rPr>
                                    <a:rPr lang="en-CA" sz="2000" b="0" i="0" smtClean="0">
                                      <a:solidFill>
                                        <a:schemeClr val="accent6"/>
                                      </a:solidFill>
                                      <a:latin typeface="Cambria Math"/>
                                    </a:rPr>
                                    <m:t>or</m:t>
                                  </m:r>
                                  <m:r>
                                    <a:rPr lang="en-CA" sz="2000" b="0" i="0" smtClean="0">
                                      <a:solidFill>
                                        <a:schemeClr val="accent6"/>
                                      </a:solidFill>
                                      <a:latin typeface="Cambria Math"/>
                                    </a:rPr>
                                    <m:t>                                </m:t>
                                  </m:r>
                                </m:e>
                              </m:mr>
                              <m:mr>
                                <m:e>
                                  <m:eqArr>
                                    <m:eqArrPr>
                                      <m:ctrlPr>
                                        <a:rPr lang="en-CA" sz="2000" b="0" i="1" smtClean="0">
                                          <a:solidFill>
                                            <a:schemeClr val="accent6"/>
                                          </a:solidFill>
                                          <a:latin typeface="Cambria Math"/>
                                          <a:ea typeface="Cambria Math"/>
                                        </a:rPr>
                                      </m:ctrlPr>
                                    </m:eqArrPr>
                                    <m:e>
                                      <m:r>
                                        <a:rPr lang="en-CA" sz="2000" b="0" i="0" smtClean="0">
                                          <a:solidFill>
                                            <a:schemeClr val="accent6"/>
                                          </a:solidFill>
                                          <a:latin typeface="Cambria Math"/>
                                          <a:ea typeface="Cambria Math"/>
                                        </a:rPr>
                                        <m:t>∃ </m:t>
                                      </m:r>
                                      <m:r>
                                        <m:rPr>
                                          <m:sty m:val="p"/>
                                        </m:rPr>
                                        <a:rPr lang="en-CA" sz="2000" b="0" i="0" smtClean="0">
                                          <a:solidFill>
                                            <a:schemeClr val="accent6"/>
                                          </a:solidFill>
                                          <a:latin typeface="Cambria Math"/>
                                          <a:ea typeface="Cambria Math"/>
                                        </a:rPr>
                                        <m:t>back</m:t>
                                      </m:r>
                                      <m:r>
                                        <a:rPr lang="en-CA" sz="2000" b="0" i="0" smtClean="0">
                                          <a:solidFill>
                                            <a:schemeClr val="accent6"/>
                                          </a:solidFill>
                                          <a:latin typeface="Cambria Math"/>
                                          <a:ea typeface="Cambria Math"/>
                                        </a:rPr>
                                        <m:t>−</m:t>
                                      </m:r>
                                      <m:r>
                                        <m:rPr>
                                          <m:sty m:val="p"/>
                                        </m:rPr>
                                        <a:rPr lang="en-CA" sz="2000" b="0" i="0" smtClean="0">
                                          <a:solidFill>
                                            <a:schemeClr val="accent6"/>
                                          </a:solidFill>
                                          <a:latin typeface="Cambria Math"/>
                                          <a:ea typeface="Cambria Math"/>
                                        </a:rPr>
                                        <m:t>edge</m:t>
                                      </m:r>
                                      <m:r>
                                        <a:rPr lang="en-CA" sz="2000" b="0" i="0" smtClean="0">
                                          <a:solidFill>
                                            <a:schemeClr val="accent6"/>
                                          </a:solidFill>
                                          <a:latin typeface="Cambria Math"/>
                                          <a:ea typeface="Cambria Math"/>
                                        </a:rPr>
                                        <m:t>   </m:t>
                                      </m:r>
                                      <m:r>
                                        <m:rPr>
                                          <m:sty m:val="p"/>
                                        </m:rPr>
                                        <a:rPr lang="en-CA" sz="2000" b="0" i="0" smtClean="0">
                                          <a:solidFill>
                                            <a:schemeClr val="accent6"/>
                                          </a:solidFill>
                                          <a:latin typeface="Cambria Math"/>
                                          <a:ea typeface="Cambria Math"/>
                                        </a:rPr>
                                        <m:t>between</m:t>
                                      </m:r>
                                      <m:r>
                                        <a:rPr lang="en-CA" sz="2000" b="0" i="0" smtClean="0">
                                          <a:solidFill>
                                            <a:schemeClr val="accent6"/>
                                          </a:solidFill>
                                          <a:latin typeface="Cambria Math"/>
                                          <a:ea typeface="Cambria Math"/>
                                        </a:rPr>
                                        <m:t> </m:t>
                                      </m:r>
                                      <m:r>
                                        <m:rPr>
                                          <m:sty m:val="p"/>
                                        </m:rPr>
                                        <a:rPr lang="en-CA" sz="2000">
                                          <a:solidFill>
                                            <a:schemeClr val="accent6"/>
                                          </a:solidFill>
                                          <a:latin typeface="Cambria Math"/>
                                          <a:ea typeface="Cambria Math"/>
                                        </a:rPr>
                                        <m:t>x</m:t>
                                      </m:r>
                                    </m:e>
                                    <m:e>
                                      <m:r>
                                        <m:rPr>
                                          <m:sty m:val="p"/>
                                        </m:rPr>
                                        <a:rPr lang="en-CA" sz="2000">
                                          <a:solidFill>
                                            <a:schemeClr val="accent6"/>
                                          </a:solidFill>
                                          <a:latin typeface="Cambria Math"/>
                                          <a:ea typeface="Cambria Math"/>
                                        </a:rPr>
                                        <m:t>and</m:t>
                                      </m:r>
                                      <m:r>
                                        <a:rPr lang="en-CA" sz="2000" b="0" i="0" smtClean="0">
                                          <a:solidFill>
                                            <a:schemeClr val="accent6"/>
                                          </a:solidFill>
                                          <a:latin typeface="Cambria Math"/>
                                          <a:ea typeface="Cambria Math"/>
                                        </a:rPr>
                                        <m:t> </m:t>
                                      </m:r>
                                      <m:r>
                                        <m:rPr>
                                          <m:sty m:val="p"/>
                                        </m:rPr>
                                        <a:rPr lang="en-CA" sz="2000" b="0" i="0" smtClean="0">
                                          <a:solidFill>
                                            <a:schemeClr val="accent6"/>
                                          </a:solidFill>
                                          <a:latin typeface="Cambria Math"/>
                                          <a:ea typeface="Cambria Math"/>
                                        </a:rPr>
                                        <m:t>some</m:t>
                                      </m:r>
                                      <m:r>
                                        <a:rPr lang="en-CA" sz="2000" b="0" i="0" smtClean="0">
                                          <a:solidFill>
                                            <a:schemeClr val="accent6"/>
                                          </a:solidFill>
                                          <a:latin typeface="Cambria Math"/>
                                          <a:ea typeface="Cambria Math"/>
                                        </a:rPr>
                                        <m:t> </m:t>
                                      </m:r>
                                      <m:r>
                                        <m:rPr>
                                          <m:sty m:val="p"/>
                                        </m:rPr>
                                        <a:rPr lang="en-CA" sz="2000" b="0" i="0" smtClean="0">
                                          <a:solidFill>
                                            <a:schemeClr val="accent6"/>
                                          </a:solidFill>
                                          <a:latin typeface="Cambria Math"/>
                                          <a:ea typeface="Cambria Math"/>
                                        </a:rPr>
                                        <m:t>descendent</m:t>
                                      </m:r>
                                      <m:r>
                                        <a:rPr lang="en-CA" sz="2000" b="0" i="0" smtClean="0">
                                          <a:solidFill>
                                            <a:schemeClr val="accent6"/>
                                          </a:solidFill>
                                          <a:latin typeface="Cambria Math"/>
                                          <a:ea typeface="Cambria Math"/>
                                        </a:rPr>
                                        <m:t> </m:t>
                                      </m:r>
                                      <m:r>
                                        <m:rPr>
                                          <m:sty m:val="p"/>
                                        </m:rPr>
                                        <a:rPr lang="en-CA" sz="2000" b="0" i="0" smtClean="0">
                                          <a:solidFill>
                                            <a:schemeClr val="accent6"/>
                                          </a:solidFill>
                                          <a:latin typeface="Cambria Math"/>
                                          <a:ea typeface="Cambria Math"/>
                                        </a:rPr>
                                        <m:t>of</m:t>
                                      </m:r>
                                      <m:r>
                                        <a:rPr lang="en-CA" sz="2000" b="0" i="0" smtClean="0">
                                          <a:solidFill>
                                            <a:schemeClr val="accent6"/>
                                          </a:solidFill>
                                          <a:latin typeface="Cambria Math"/>
                                          <a:ea typeface="Cambria Math"/>
                                        </a:rPr>
                                        <m:t>  </m:t>
                                      </m:r>
                                      <m:r>
                                        <m:rPr>
                                          <m:sty m:val="p"/>
                                        </m:rPr>
                                        <a:rPr lang="en-CA" sz="2000" b="0" i="0" smtClean="0">
                                          <a:solidFill>
                                            <a:schemeClr val="accent6"/>
                                          </a:solidFill>
                                          <a:latin typeface="Cambria Math"/>
                                          <a:ea typeface="Cambria Math"/>
                                        </a:rPr>
                                        <m:t>u</m:t>
                                      </m:r>
                                      <m:r>
                                        <a:rPr lang="en-CA" sz="2000" b="0" i="0" smtClean="0">
                                          <a:solidFill>
                                            <a:schemeClr val="accent6"/>
                                          </a:solidFill>
                                          <a:latin typeface="Cambria Math"/>
                                          <a:ea typeface="Cambria Math"/>
                                        </a:rPr>
                                        <m:t> </m:t>
                                      </m:r>
                                    </m:e>
                                  </m:eqArr>
                                </m:e>
                              </m:mr>
                            </m:m>
                          </m:e>
                        </m:d>
                        <m:r>
                          <a:rPr lang="en-CA" sz="2000" b="0" i="0" smtClean="0">
                            <a:solidFill>
                              <a:schemeClr val="accent6"/>
                            </a:solidFill>
                            <a:latin typeface="Cambria Math"/>
                          </a:rPr>
                          <m:t> .</m:t>
                        </m:r>
                      </m:e>
                    </m:func>
                  </m:oMath>
                </a14:m>
                <a:endParaRPr lang="en-US" sz="2000" dirty="0">
                  <a:solidFill>
                    <a:srgbClr val="CC0000"/>
                  </a:solidFill>
                </a:endParaRPr>
              </a:p>
            </p:txBody>
          </p:sp>
        </mc:Choice>
        <mc:Fallback xmlns="">
          <p:sp>
            <p:nvSpPr>
              <p:cNvPr id="66565" name="Text Box 36"/>
              <p:cNvSpPr txBox="1">
                <a:spLocks noRot="1" noChangeAspect="1" noMove="1" noResize="1" noEditPoints="1" noAdjustHandles="1" noChangeArrowheads="1" noChangeShapeType="1" noTextEdit="1"/>
              </p:cNvSpPr>
              <p:nvPr/>
            </p:nvSpPr>
            <p:spPr bwMode="auto">
              <a:xfrm>
                <a:off x="152401" y="825500"/>
                <a:ext cx="6934200" cy="2237862"/>
              </a:xfrm>
              <a:prstGeom prst="rect">
                <a:avLst/>
              </a:prstGeom>
              <a:blipFill rotWithShape="1">
                <a:blip r:embed="rId4"/>
                <a:stretch>
                  <a:fillRect l="-703" t="-815"/>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p:grpSp>
        <p:nvGrpSpPr>
          <p:cNvPr id="66568" name="Group 81"/>
          <p:cNvGrpSpPr>
            <a:grpSpLocks/>
          </p:cNvGrpSpPr>
          <p:nvPr/>
        </p:nvGrpSpPr>
        <p:grpSpPr bwMode="auto">
          <a:xfrm>
            <a:off x="6946900" y="861270"/>
            <a:ext cx="1704975" cy="2895600"/>
            <a:chOff x="3792" y="480"/>
            <a:chExt cx="1074" cy="1824"/>
          </a:xfrm>
        </p:grpSpPr>
        <p:sp>
          <p:nvSpPr>
            <p:cNvPr id="66570" name="AutoShape 56"/>
            <p:cNvSpPr>
              <a:spLocks noChangeArrowheads="1"/>
            </p:cNvSpPr>
            <p:nvPr/>
          </p:nvSpPr>
          <p:spPr bwMode="auto">
            <a:xfrm>
              <a:off x="3792" y="1536"/>
              <a:ext cx="1008" cy="768"/>
            </a:xfrm>
            <a:prstGeom prst="triangle">
              <a:avLst>
                <a:gd name="adj" fmla="val 50000"/>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66571" name="Freeform 60"/>
            <p:cNvSpPr>
              <a:spLocks/>
            </p:cNvSpPr>
            <p:nvPr/>
          </p:nvSpPr>
          <p:spPr bwMode="auto">
            <a:xfrm>
              <a:off x="4310" y="1111"/>
              <a:ext cx="556" cy="953"/>
            </a:xfrm>
            <a:custGeom>
              <a:avLst/>
              <a:gdLst>
                <a:gd name="T0" fmla="*/ 156 w 556"/>
                <a:gd name="T1" fmla="*/ 953 h 1159"/>
                <a:gd name="T2" fmla="*/ 508 w 556"/>
                <a:gd name="T3" fmla="*/ 602 h 1159"/>
                <a:gd name="T4" fmla="*/ 447 w 556"/>
                <a:gd name="T5" fmla="*/ 223 h 1159"/>
                <a:gd name="T6" fmla="*/ 0 w 556"/>
                <a:gd name="T7" fmla="*/ 0 h 115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56" h="1159">
                  <a:moveTo>
                    <a:pt x="156" y="1159"/>
                  </a:moveTo>
                  <a:cubicBezTo>
                    <a:pt x="215" y="1088"/>
                    <a:pt x="460" y="880"/>
                    <a:pt x="508" y="732"/>
                  </a:cubicBezTo>
                  <a:cubicBezTo>
                    <a:pt x="556" y="584"/>
                    <a:pt x="532" y="393"/>
                    <a:pt x="447" y="271"/>
                  </a:cubicBezTo>
                  <a:cubicBezTo>
                    <a:pt x="362" y="149"/>
                    <a:pt x="93" y="57"/>
                    <a:pt x="0" y="0"/>
                  </a:cubicBezTo>
                </a:path>
              </a:pathLst>
            </a:custGeom>
            <a:noFill/>
            <a:ln w="1905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6572" name="Freeform 65"/>
            <p:cNvSpPr>
              <a:spLocks/>
            </p:cNvSpPr>
            <p:nvPr/>
          </p:nvSpPr>
          <p:spPr bwMode="auto">
            <a:xfrm>
              <a:off x="4272" y="624"/>
              <a:ext cx="48" cy="480"/>
            </a:xfrm>
            <a:custGeom>
              <a:avLst/>
              <a:gdLst>
                <a:gd name="T0" fmla="*/ 25 w 58"/>
                <a:gd name="T1" fmla="*/ 480 h 672"/>
                <a:gd name="T2" fmla="*/ 45 w 58"/>
                <a:gd name="T3" fmla="*/ 400 h 672"/>
                <a:gd name="T4" fmla="*/ 5 w 58"/>
                <a:gd name="T5" fmla="*/ 337 h 672"/>
                <a:gd name="T6" fmla="*/ 27 w 58"/>
                <a:gd name="T7" fmla="*/ 274 h 672"/>
                <a:gd name="T8" fmla="*/ 0 w 58"/>
                <a:gd name="T9" fmla="*/ 216 h 672"/>
                <a:gd name="T10" fmla="*/ 27 w 58"/>
                <a:gd name="T11" fmla="*/ 149 h 672"/>
                <a:gd name="T12" fmla="*/ 0 w 58"/>
                <a:gd name="T13" fmla="*/ 86 h 672"/>
                <a:gd name="T14" fmla="*/ 25 w 58"/>
                <a:gd name="T15" fmla="*/ 0 h 6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8" h="672">
                  <a:moveTo>
                    <a:pt x="30" y="672"/>
                  </a:moveTo>
                  <a:cubicBezTo>
                    <a:pt x="34" y="653"/>
                    <a:pt x="58" y="593"/>
                    <a:pt x="54" y="560"/>
                  </a:cubicBezTo>
                  <a:cubicBezTo>
                    <a:pt x="50" y="527"/>
                    <a:pt x="9" y="501"/>
                    <a:pt x="6" y="472"/>
                  </a:cubicBezTo>
                  <a:cubicBezTo>
                    <a:pt x="3" y="443"/>
                    <a:pt x="34" y="412"/>
                    <a:pt x="33" y="384"/>
                  </a:cubicBezTo>
                  <a:cubicBezTo>
                    <a:pt x="32" y="356"/>
                    <a:pt x="0" y="332"/>
                    <a:pt x="0" y="303"/>
                  </a:cubicBezTo>
                  <a:cubicBezTo>
                    <a:pt x="0" y="274"/>
                    <a:pt x="33" y="238"/>
                    <a:pt x="33" y="208"/>
                  </a:cubicBezTo>
                  <a:cubicBezTo>
                    <a:pt x="33" y="178"/>
                    <a:pt x="0" y="155"/>
                    <a:pt x="0" y="120"/>
                  </a:cubicBezTo>
                  <a:cubicBezTo>
                    <a:pt x="0" y="85"/>
                    <a:pt x="24" y="25"/>
                    <a:pt x="30" y="0"/>
                  </a:cubicBezTo>
                </a:path>
              </a:pathLst>
            </a:custGeom>
            <a:noFill/>
            <a:ln w="19050" cap="flat" cmpd="sng">
              <a:solidFill>
                <a:schemeClr val="tx1"/>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6573" name="Rectangle 66"/>
            <p:cNvSpPr>
              <a:spLocks noChangeArrowheads="1"/>
            </p:cNvSpPr>
            <p:nvPr/>
          </p:nvSpPr>
          <p:spPr bwMode="auto">
            <a:xfrm>
              <a:off x="4320" y="480"/>
              <a:ext cx="34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root</a:t>
              </a:r>
            </a:p>
          </p:txBody>
        </p:sp>
        <p:sp>
          <p:nvSpPr>
            <p:cNvPr id="66574" name="Rectangle 67"/>
            <p:cNvSpPr>
              <a:spLocks noChangeArrowheads="1"/>
            </p:cNvSpPr>
            <p:nvPr/>
          </p:nvSpPr>
          <p:spPr bwMode="auto">
            <a:xfrm>
              <a:off x="4110" y="1392"/>
              <a:ext cx="18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u</a:t>
              </a:r>
            </a:p>
          </p:txBody>
        </p:sp>
        <p:sp>
          <p:nvSpPr>
            <p:cNvPr id="66575" name="Freeform 79"/>
            <p:cNvSpPr>
              <a:spLocks/>
            </p:cNvSpPr>
            <p:nvPr/>
          </p:nvSpPr>
          <p:spPr bwMode="auto">
            <a:xfrm>
              <a:off x="4272" y="1104"/>
              <a:ext cx="48" cy="432"/>
            </a:xfrm>
            <a:custGeom>
              <a:avLst/>
              <a:gdLst>
                <a:gd name="T0" fmla="*/ 25 w 58"/>
                <a:gd name="T1" fmla="*/ 432 h 672"/>
                <a:gd name="T2" fmla="*/ 45 w 58"/>
                <a:gd name="T3" fmla="*/ 360 h 672"/>
                <a:gd name="T4" fmla="*/ 5 w 58"/>
                <a:gd name="T5" fmla="*/ 303 h 672"/>
                <a:gd name="T6" fmla="*/ 27 w 58"/>
                <a:gd name="T7" fmla="*/ 247 h 672"/>
                <a:gd name="T8" fmla="*/ 0 w 58"/>
                <a:gd name="T9" fmla="*/ 195 h 672"/>
                <a:gd name="T10" fmla="*/ 27 w 58"/>
                <a:gd name="T11" fmla="*/ 134 h 672"/>
                <a:gd name="T12" fmla="*/ 0 w 58"/>
                <a:gd name="T13" fmla="*/ 77 h 672"/>
                <a:gd name="T14" fmla="*/ 25 w 58"/>
                <a:gd name="T15" fmla="*/ 0 h 6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8" h="672">
                  <a:moveTo>
                    <a:pt x="30" y="672"/>
                  </a:moveTo>
                  <a:cubicBezTo>
                    <a:pt x="34" y="653"/>
                    <a:pt x="58" y="593"/>
                    <a:pt x="54" y="560"/>
                  </a:cubicBezTo>
                  <a:cubicBezTo>
                    <a:pt x="50" y="527"/>
                    <a:pt x="9" y="501"/>
                    <a:pt x="6" y="472"/>
                  </a:cubicBezTo>
                  <a:cubicBezTo>
                    <a:pt x="3" y="443"/>
                    <a:pt x="34" y="412"/>
                    <a:pt x="33" y="384"/>
                  </a:cubicBezTo>
                  <a:cubicBezTo>
                    <a:pt x="32" y="356"/>
                    <a:pt x="0" y="332"/>
                    <a:pt x="0" y="303"/>
                  </a:cubicBezTo>
                  <a:cubicBezTo>
                    <a:pt x="0" y="274"/>
                    <a:pt x="33" y="238"/>
                    <a:pt x="33" y="208"/>
                  </a:cubicBezTo>
                  <a:cubicBezTo>
                    <a:pt x="33" y="178"/>
                    <a:pt x="0" y="155"/>
                    <a:pt x="0" y="120"/>
                  </a:cubicBezTo>
                  <a:cubicBezTo>
                    <a:pt x="0" y="85"/>
                    <a:pt x="24" y="25"/>
                    <a:pt x="30" y="0"/>
                  </a:cubicBezTo>
                </a:path>
              </a:pathLst>
            </a:custGeom>
            <a:noFill/>
            <a:ln w="19050" cap="flat" cmpd="sng">
              <a:solidFill>
                <a:schemeClr val="tx1"/>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6576" name="Rectangle 80"/>
            <p:cNvSpPr>
              <a:spLocks noChangeArrowheads="1"/>
            </p:cNvSpPr>
            <p:nvPr/>
          </p:nvSpPr>
          <p:spPr bwMode="auto">
            <a:xfrm>
              <a:off x="4080" y="960"/>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x</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64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302082"/>
                                        </p:tgtEl>
                                        <p:attrNameLst>
                                          <p:attrName>style.visibility</p:attrName>
                                        </p:attrNameLst>
                                      </p:cBhvr>
                                      <p:to>
                                        <p:strVal val="visible"/>
                                      </p:to>
                                    </p:set>
                                    <p:anim calcmode="lin" valueType="num">
                                      <p:cBhvr>
                                        <p:cTn id="7" dur="500" fill="hold"/>
                                        <p:tgtEl>
                                          <p:spTgt spid="302082"/>
                                        </p:tgtEl>
                                        <p:attrNameLst>
                                          <p:attrName>ppt_w</p:attrName>
                                        </p:attrNameLst>
                                      </p:cBhvr>
                                      <p:tavLst>
                                        <p:tav tm="0">
                                          <p:val>
                                            <p:fltVal val="0"/>
                                          </p:val>
                                        </p:tav>
                                        <p:tav tm="100000">
                                          <p:val>
                                            <p:strVal val="#ppt_w"/>
                                          </p:val>
                                        </p:tav>
                                      </p:tavLst>
                                    </p:anim>
                                    <p:anim calcmode="lin" valueType="num">
                                      <p:cBhvr>
                                        <p:cTn id="8" dur="500" fill="hold"/>
                                        <p:tgtEl>
                                          <p:spTgt spid="30208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6565">
                                            <p:txEl>
                                              <p:pRg st="0" end="0"/>
                                            </p:txEl>
                                          </p:spTgt>
                                        </p:tgtEl>
                                        <p:attrNameLst>
                                          <p:attrName>style.visibility</p:attrName>
                                        </p:attrNameLst>
                                      </p:cBhvr>
                                      <p:to>
                                        <p:strVal val="visible"/>
                                      </p:to>
                                    </p:set>
                                    <p:animEffect transition="in" filter="wipe(left)">
                                      <p:cBhvr>
                                        <p:cTn id="13" dur="500"/>
                                        <p:tgtEl>
                                          <p:spTgt spid="6656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6565">
                                            <p:txEl>
                                              <p:pRg st="1" end="1"/>
                                            </p:txEl>
                                          </p:spTgt>
                                        </p:tgtEl>
                                        <p:attrNameLst>
                                          <p:attrName>style.visibility</p:attrName>
                                        </p:attrNameLst>
                                      </p:cBhvr>
                                      <p:to>
                                        <p:strVal val="visible"/>
                                      </p:to>
                                    </p:set>
                                    <p:animEffect transition="in" filter="wipe(left)">
                                      <p:cBhvr>
                                        <p:cTn id="18" dur="500"/>
                                        <p:tgtEl>
                                          <p:spTgt spid="66565">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6565">
                                            <p:txEl>
                                              <p:pRg st="2" end="2"/>
                                            </p:txEl>
                                          </p:spTgt>
                                        </p:tgtEl>
                                        <p:attrNameLst>
                                          <p:attrName>style.visibility</p:attrName>
                                        </p:attrNameLst>
                                      </p:cBhvr>
                                      <p:to>
                                        <p:strVal val="visible"/>
                                      </p:to>
                                    </p:set>
                                    <p:animEffect transition="in" filter="wipe(left)">
                                      <p:cBhvr>
                                        <p:cTn id="23" dur="500"/>
                                        <p:tgtEl>
                                          <p:spTgt spid="66565">
                                            <p:txEl>
                                              <p:pRg st="2" end="2"/>
                                            </p:txEl>
                                          </p:spTgt>
                                        </p:tgtEl>
                                      </p:cBhvr>
                                    </p:animEffect>
                                  </p:childTnLst>
                                </p:cTn>
                              </p:par>
                            </p:childTnLst>
                          </p:cTn>
                        </p:par>
                        <p:par>
                          <p:cTn id="24" fill="hold">
                            <p:stCondLst>
                              <p:cond delay="500"/>
                            </p:stCondLst>
                            <p:childTnLst>
                              <p:par>
                                <p:cTn id="25" presetID="10" presetClass="entr" presetSubtype="0" fill="hold" nodeType="afterEffect">
                                  <p:stCondLst>
                                    <p:cond delay="0"/>
                                  </p:stCondLst>
                                  <p:childTnLst>
                                    <p:set>
                                      <p:cBhvr>
                                        <p:cTn id="26" dur="1" fill="hold">
                                          <p:stCondLst>
                                            <p:cond delay="0"/>
                                          </p:stCondLst>
                                        </p:cTn>
                                        <p:tgtEl>
                                          <p:spTgt spid="66568"/>
                                        </p:tgtEl>
                                        <p:attrNameLst>
                                          <p:attrName>style.visibility</p:attrName>
                                        </p:attrNameLst>
                                      </p:cBhvr>
                                      <p:to>
                                        <p:strVal val="visible"/>
                                      </p:to>
                                    </p:set>
                                    <p:animEffect transition="in" filter="fade">
                                      <p:cBhvr>
                                        <p:cTn id="27" dur="500"/>
                                        <p:tgtEl>
                                          <p:spTgt spid="66568"/>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66577"/>
                                        </p:tgtEl>
                                        <p:attrNameLst>
                                          <p:attrName>style.visibility</p:attrName>
                                        </p:attrNameLst>
                                      </p:cBhvr>
                                      <p:to>
                                        <p:strVal val="visible"/>
                                      </p:to>
                                    </p:set>
                                    <p:animEffect transition="in" filter="fade">
                                      <p:cBhvr>
                                        <p:cTn id="32" dur="1000"/>
                                        <p:tgtEl>
                                          <p:spTgt spid="66577"/>
                                        </p:tgtEl>
                                      </p:cBhvr>
                                    </p:animEffect>
                                    <p:anim calcmode="lin" valueType="num">
                                      <p:cBhvr>
                                        <p:cTn id="33" dur="1000" fill="hold"/>
                                        <p:tgtEl>
                                          <p:spTgt spid="66577"/>
                                        </p:tgtEl>
                                        <p:attrNameLst>
                                          <p:attrName>ppt_x</p:attrName>
                                        </p:attrNameLst>
                                      </p:cBhvr>
                                      <p:tavLst>
                                        <p:tav tm="0">
                                          <p:val>
                                            <p:strVal val="#ppt_x"/>
                                          </p:val>
                                        </p:tav>
                                        <p:tav tm="100000">
                                          <p:val>
                                            <p:strVal val="#ppt_x"/>
                                          </p:val>
                                        </p:tav>
                                      </p:tavLst>
                                    </p:anim>
                                    <p:anim calcmode="lin" valueType="num">
                                      <p:cBhvr>
                                        <p:cTn id="34" dur="1000" fill="hold"/>
                                        <p:tgtEl>
                                          <p:spTgt spid="665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2" grpId="0" animBg="1" autoUpdateAnimBg="0"/>
      <p:bldP spid="66577" grpId="0" animBg="1"/>
      <p:bldP spid="66565" grpId="0" build="p"/>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hlink"/>
                </a:solidFill>
                <a:latin typeface="Arial Rounded MT Bold" pitchFamily="34" charset="0"/>
              </a:rPr>
              <a:t>Articulation Points  </a:t>
            </a:r>
            <a:r>
              <a:rPr lang="en-US" sz="2800" dirty="0" smtClean="0">
                <a:solidFill>
                  <a:srgbClr val="CC0000"/>
                </a:solidFill>
                <a:latin typeface="Arial Rounded MT Bold" pitchFamily="34" charset="0"/>
              </a:rPr>
              <a:t> </a:t>
            </a:r>
            <a:r>
              <a:rPr lang="en-US" sz="2800" dirty="0" smtClean="0">
                <a:solidFill>
                  <a:schemeClr val="tx1"/>
                </a:solidFill>
                <a:latin typeface="Arial Rounded MT Bold" pitchFamily="34" charset="0"/>
              </a:rPr>
              <a:t>&amp;</a:t>
            </a:r>
            <a:r>
              <a:rPr lang="en-US" sz="2800" dirty="0" smtClean="0">
                <a:solidFill>
                  <a:srgbClr val="CC0000"/>
                </a:solidFill>
                <a:latin typeface="Arial Rounded MT Bold" pitchFamily="34" charset="0"/>
              </a:rPr>
              <a:t>   DFS “low” numbers</a:t>
            </a:r>
          </a:p>
        </p:txBody>
      </p:sp>
      <p:sp>
        <p:nvSpPr>
          <p:cNvPr id="303107" name="Rectangle 3" descr="Recycled paper"/>
          <p:cNvSpPr>
            <a:spLocks noChangeArrowheads="1"/>
          </p:cNvSpPr>
          <p:nvPr/>
        </p:nvSpPr>
        <p:spPr bwMode="auto">
          <a:xfrm>
            <a:off x="152400" y="838200"/>
            <a:ext cx="8839200" cy="13906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288925" indent="-288925" eaLnBrk="1" hangingPunct="1">
              <a:spcBef>
                <a:spcPct val="50000"/>
              </a:spcBef>
              <a:buFontTx/>
              <a:buNone/>
              <a:tabLst>
                <a:tab pos="663575" algn="l"/>
              </a:tabLst>
            </a:pPr>
            <a:r>
              <a:rPr lang="en-US" sz="2400" b="1" dirty="0">
                <a:solidFill>
                  <a:srgbClr val="CC0000"/>
                </a:solidFill>
              </a:rPr>
              <a:t>FACT 8:    </a:t>
            </a:r>
            <a:r>
              <a:rPr lang="en-US" sz="2000" dirty="0">
                <a:solidFill>
                  <a:schemeClr val="hlink"/>
                </a:solidFill>
              </a:rPr>
              <a:t>Node u is an articulation point </a:t>
            </a:r>
            <a:r>
              <a:rPr lang="en-US" sz="2400" dirty="0">
                <a:solidFill>
                  <a:srgbClr val="CC0000"/>
                </a:solidFill>
                <a:sym typeface="Symbol" pitchFamily="18" charset="2"/>
              </a:rPr>
              <a:t>   </a:t>
            </a:r>
            <a:r>
              <a:rPr lang="en-US" sz="2400" dirty="0">
                <a:solidFill>
                  <a:schemeClr val="hlink"/>
                </a:solidFill>
                <a:sym typeface="Symbol" pitchFamily="18" charset="2"/>
              </a:rPr>
              <a:t>either 1 or 2 holds:</a:t>
            </a:r>
            <a:endParaRPr lang="en-US" sz="2000" dirty="0">
              <a:solidFill>
                <a:schemeClr val="hlink"/>
              </a:solidFill>
            </a:endParaRPr>
          </a:p>
          <a:p>
            <a:pPr marL="1808163" lvl="1" indent="-374650" eaLnBrk="1" hangingPunct="1">
              <a:spcBef>
                <a:spcPct val="50000"/>
              </a:spcBef>
              <a:buFontTx/>
              <a:buAutoNum type="arabicPeriod"/>
              <a:tabLst>
                <a:tab pos="663575" algn="l"/>
              </a:tabLst>
            </a:pPr>
            <a:r>
              <a:rPr lang="en-US" sz="2000" dirty="0">
                <a:solidFill>
                  <a:schemeClr val="hlink"/>
                </a:solidFill>
              </a:rPr>
              <a:t>u is a DFS root with at least 2 children, or</a:t>
            </a:r>
          </a:p>
          <a:p>
            <a:pPr marL="1808163" lvl="1" indent="-374650" eaLnBrk="1" hangingPunct="1">
              <a:spcBef>
                <a:spcPct val="50000"/>
              </a:spcBef>
              <a:buFontTx/>
              <a:buAutoNum type="arabicPeriod"/>
              <a:tabLst>
                <a:tab pos="663575" algn="l"/>
              </a:tabLst>
            </a:pPr>
            <a:r>
              <a:rPr lang="en-US" sz="2000" dirty="0">
                <a:solidFill>
                  <a:schemeClr val="hlink"/>
                </a:solidFill>
                <a:sym typeface="Symbol" pitchFamily="18" charset="2"/>
              </a:rPr>
              <a:t>(u is not root &amp;)  a child v of u  such that  low[v]  pre[u].</a:t>
            </a:r>
            <a:endParaRPr lang="en-US" sz="2000" dirty="0">
              <a:solidFill>
                <a:schemeClr val="hlink"/>
              </a:solidFill>
            </a:endParaRPr>
          </a:p>
        </p:txBody>
      </p:sp>
      <p:grpSp>
        <p:nvGrpSpPr>
          <p:cNvPr id="303199" name="Group 95"/>
          <p:cNvGrpSpPr>
            <a:grpSpLocks/>
          </p:cNvGrpSpPr>
          <p:nvPr/>
        </p:nvGrpSpPr>
        <p:grpSpPr bwMode="auto">
          <a:xfrm>
            <a:off x="1981200" y="2286000"/>
            <a:ext cx="4022725" cy="4106863"/>
            <a:chOff x="1248" y="1440"/>
            <a:chExt cx="2534" cy="2587"/>
          </a:xfrm>
        </p:grpSpPr>
        <p:sp>
          <p:nvSpPr>
            <p:cNvPr id="67594" name="Text Box 60"/>
            <p:cNvSpPr txBox="1">
              <a:spLocks noChangeArrowheads="1"/>
            </p:cNvSpPr>
            <p:nvPr/>
          </p:nvSpPr>
          <p:spPr bwMode="auto">
            <a:xfrm>
              <a:off x="2544" y="1824"/>
              <a:ext cx="180"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a</a:t>
              </a:r>
            </a:p>
          </p:txBody>
        </p:sp>
        <p:sp>
          <p:nvSpPr>
            <p:cNvPr id="67595" name="Text Box 77"/>
            <p:cNvSpPr txBox="1">
              <a:spLocks noChangeArrowheads="1"/>
            </p:cNvSpPr>
            <p:nvPr/>
          </p:nvSpPr>
          <p:spPr bwMode="auto">
            <a:xfrm>
              <a:off x="1968" y="1824"/>
              <a:ext cx="42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dirty="0"/>
                <a:t>[1,1]</a:t>
              </a:r>
            </a:p>
          </p:txBody>
        </p:sp>
        <p:sp>
          <p:nvSpPr>
            <p:cNvPr id="67596" name="Text Box 78"/>
            <p:cNvSpPr txBox="1">
              <a:spLocks noChangeArrowheads="1"/>
            </p:cNvSpPr>
            <p:nvPr/>
          </p:nvSpPr>
          <p:spPr bwMode="auto">
            <a:xfrm>
              <a:off x="1847" y="1440"/>
              <a:ext cx="760"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solidFill>
                    <a:srgbClr val="CC0000"/>
                  </a:solidFill>
                </a:rPr>
                <a:t>pre     low</a:t>
              </a:r>
            </a:p>
          </p:txBody>
        </p:sp>
        <p:sp>
          <p:nvSpPr>
            <p:cNvPr id="67597" name="Freeform 79"/>
            <p:cNvSpPr>
              <a:spLocks/>
            </p:cNvSpPr>
            <p:nvPr/>
          </p:nvSpPr>
          <p:spPr bwMode="auto">
            <a:xfrm>
              <a:off x="2019" y="1673"/>
              <a:ext cx="95" cy="197"/>
            </a:xfrm>
            <a:custGeom>
              <a:avLst/>
              <a:gdLst>
                <a:gd name="T0" fmla="*/ 0 w 95"/>
                <a:gd name="T1" fmla="*/ 0 h 197"/>
                <a:gd name="T2" fmla="*/ 95 w 95"/>
                <a:gd name="T3" fmla="*/ 197 h 197"/>
                <a:gd name="T4" fmla="*/ 0 60000 65536"/>
                <a:gd name="T5" fmla="*/ 0 60000 65536"/>
              </a:gdLst>
              <a:ahLst/>
              <a:cxnLst>
                <a:cxn ang="T4">
                  <a:pos x="T0" y="T1"/>
                </a:cxn>
                <a:cxn ang="T5">
                  <a:pos x="T2" y="T3"/>
                </a:cxn>
              </a:cxnLst>
              <a:rect l="0" t="0" r="r" b="b"/>
              <a:pathLst>
                <a:path w="95" h="197">
                  <a:moveTo>
                    <a:pt x="0" y="0"/>
                  </a:moveTo>
                  <a:lnTo>
                    <a:pt x="95" y="197"/>
                  </a:lnTo>
                </a:path>
              </a:pathLst>
            </a:custGeom>
            <a:noFill/>
            <a:ln w="190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7598" name="Freeform 80"/>
            <p:cNvSpPr>
              <a:spLocks/>
            </p:cNvSpPr>
            <p:nvPr/>
          </p:nvSpPr>
          <p:spPr bwMode="auto">
            <a:xfrm>
              <a:off x="2256" y="1673"/>
              <a:ext cx="129" cy="210"/>
            </a:xfrm>
            <a:custGeom>
              <a:avLst/>
              <a:gdLst>
                <a:gd name="T0" fmla="*/ 129 w 129"/>
                <a:gd name="T1" fmla="*/ 0 h 210"/>
                <a:gd name="T2" fmla="*/ 0 w 129"/>
                <a:gd name="T3" fmla="*/ 210 h 210"/>
                <a:gd name="T4" fmla="*/ 0 60000 65536"/>
                <a:gd name="T5" fmla="*/ 0 60000 65536"/>
              </a:gdLst>
              <a:ahLst/>
              <a:cxnLst>
                <a:cxn ang="T4">
                  <a:pos x="T0" y="T1"/>
                </a:cxn>
                <a:cxn ang="T5">
                  <a:pos x="T2" y="T3"/>
                </a:cxn>
              </a:cxnLst>
              <a:rect l="0" t="0" r="r" b="b"/>
              <a:pathLst>
                <a:path w="129" h="210">
                  <a:moveTo>
                    <a:pt x="129" y="0"/>
                  </a:moveTo>
                  <a:lnTo>
                    <a:pt x="0" y="210"/>
                  </a:lnTo>
                </a:path>
              </a:pathLst>
            </a:custGeom>
            <a:noFill/>
            <a:ln w="190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7599" name="Line 38"/>
            <p:cNvSpPr>
              <a:spLocks noChangeShapeType="1"/>
            </p:cNvSpPr>
            <p:nvPr/>
          </p:nvSpPr>
          <p:spPr bwMode="auto">
            <a:xfrm>
              <a:off x="2500" y="2002"/>
              <a:ext cx="0" cy="28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7600" name="Line 39"/>
            <p:cNvSpPr>
              <a:spLocks noChangeShapeType="1"/>
            </p:cNvSpPr>
            <p:nvPr/>
          </p:nvSpPr>
          <p:spPr bwMode="auto">
            <a:xfrm>
              <a:off x="2500" y="2290"/>
              <a:ext cx="0" cy="28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7601" name="Line 40"/>
            <p:cNvSpPr>
              <a:spLocks noChangeShapeType="1"/>
            </p:cNvSpPr>
            <p:nvPr/>
          </p:nvSpPr>
          <p:spPr bwMode="auto">
            <a:xfrm>
              <a:off x="2500" y="2578"/>
              <a:ext cx="0" cy="28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7602" name="Line 41"/>
            <p:cNvSpPr>
              <a:spLocks noChangeShapeType="1"/>
            </p:cNvSpPr>
            <p:nvPr/>
          </p:nvSpPr>
          <p:spPr bwMode="auto">
            <a:xfrm flipH="1">
              <a:off x="1828" y="2866"/>
              <a:ext cx="672" cy="432"/>
            </a:xfrm>
            <a:prstGeom prst="line">
              <a:avLst/>
            </a:prstGeom>
            <a:noFill/>
            <a:ln w="2857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7603" name="Line 42"/>
            <p:cNvSpPr>
              <a:spLocks noChangeShapeType="1"/>
            </p:cNvSpPr>
            <p:nvPr/>
          </p:nvSpPr>
          <p:spPr bwMode="auto">
            <a:xfrm>
              <a:off x="2500" y="2866"/>
              <a:ext cx="816" cy="43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7604" name="Line 43"/>
            <p:cNvSpPr>
              <a:spLocks noChangeShapeType="1"/>
            </p:cNvSpPr>
            <p:nvPr/>
          </p:nvSpPr>
          <p:spPr bwMode="auto">
            <a:xfrm>
              <a:off x="1828" y="3298"/>
              <a:ext cx="0" cy="33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7605" name="Line 46"/>
            <p:cNvSpPr>
              <a:spLocks noChangeShapeType="1"/>
            </p:cNvSpPr>
            <p:nvPr/>
          </p:nvSpPr>
          <p:spPr bwMode="auto">
            <a:xfrm>
              <a:off x="3316" y="3298"/>
              <a:ext cx="0" cy="336"/>
            </a:xfrm>
            <a:prstGeom prst="line">
              <a:avLst/>
            </a:prstGeom>
            <a:noFill/>
            <a:ln w="381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7606" name="Freeform 47"/>
            <p:cNvSpPr>
              <a:spLocks/>
            </p:cNvSpPr>
            <p:nvPr/>
          </p:nvSpPr>
          <p:spPr bwMode="auto">
            <a:xfrm>
              <a:off x="3313" y="3625"/>
              <a:ext cx="1" cy="311"/>
            </a:xfrm>
            <a:custGeom>
              <a:avLst/>
              <a:gdLst>
                <a:gd name="T0" fmla="*/ 1 w 1"/>
                <a:gd name="T1" fmla="*/ 0 h 311"/>
                <a:gd name="T2" fmla="*/ 0 w 1"/>
                <a:gd name="T3" fmla="*/ 311 h 311"/>
                <a:gd name="T4" fmla="*/ 0 60000 65536"/>
                <a:gd name="T5" fmla="*/ 0 60000 65536"/>
              </a:gdLst>
              <a:ahLst/>
              <a:cxnLst>
                <a:cxn ang="T4">
                  <a:pos x="T0" y="T1"/>
                </a:cxn>
                <a:cxn ang="T5">
                  <a:pos x="T2" y="T3"/>
                </a:cxn>
              </a:cxnLst>
              <a:rect l="0" t="0" r="r" b="b"/>
              <a:pathLst>
                <a:path w="1" h="311">
                  <a:moveTo>
                    <a:pt x="1" y="0"/>
                  </a:moveTo>
                  <a:lnTo>
                    <a:pt x="0" y="311"/>
                  </a:lnTo>
                </a:path>
              </a:pathLst>
            </a:custGeom>
            <a:noFill/>
            <a:ln w="12700">
              <a:solidFill>
                <a:schemeClr val="tx1"/>
              </a:solidFill>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7607" name="Freeform 52"/>
            <p:cNvSpPr>
              <a:spLocks/>
            </p:cNvSpPr>
            <p:nvPr/>
          </p:nvSpPr>
          <p:spPr bwMode="auto">
            <a:xfrm>
              <a:off x="1828" y="2866"/>
              <a:ext cx="672" cy="768"/>
            </a:xfrm>
            <a:custGeom>
              <a:avLst/>
              <a:gdLst>
                <a:gd name="T0" fmla="*/ 672 w 672"/>
                <a:gd name="T1" fmla="*/ 0 h 768"/>
                <a:gd name="T2" fmla="*/ 0 w 672"/>
                <a:gd name="T3" fmla="*/ 768 h 768"/>
                <a:gd name="T4" fmla="*/ 0 60000 65536"/>
                <a:gd name="T5" fmla="*/ 0 60000 65536"/>
              </a:gdLst>
              <a:ahLst/>
              <a:cxnLst>
                <a:cxn ang="T4">
                  <a:pos x="T0" y="T1"/>
                </a:cxn>
                <a:cxn ang="T5">
                  <a:pos x="T2" y="T3"/>
                </a:cxn>
              </a:cxnLst>
              <a:rect l="0" t="0" r="r" b="b"/>
              <a:pathLst>
                <a:path w="672" h="768">
                  <a:moveTo>
                    <a:pt x="672" y="0"/>
                  </a:moveTo>
                  <a:lnTo>
                    <a:pt x="0" y="768"/>
                  </a:ln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7608" name="Freeform 54"/>
            <p:cNvSpPr>
              <a:spLocks/>
            </p:cNvSpPr>
            <p:nvPr/>
          </p:nvSpPr>
          <p:spPr bwMode="auto">
            <a:xfrm>
              <a:off x="2494" y="2290"/>
              <a:ext cx="833" cy="1003"/>
            </a:xfrm>
            <a:custGeom>
              <a:avLst/>
              <a:gdLst>
                <a:gd name="T0" fmla="*/ 833 w 833"/>
                <a:gd name="T1" fmla="*/ 1003 h 1003"/>
                <a:gd name="T2" fmla="*/ 433 w 833"/>
                <a:gd name="T3" fmla="*/ 414 h 1003"/>
                <a:gd name="T4" fmla="*/ 0 w 833"/>
                <a:gd name="T5" fmla="*/ 0 h 1003"/>
                <a:gd name="T6" fmla="*/ 0 60000 65536"/>
                <a:gd name="T7" fmla="*/ 0 60000 65536"/>
                <a:gd name="T8" fmla="*/ 0 60000 65536"/>
              </a:gdLst>
              <a:ahLst/>
              <a:cxnLst>
                <a:cxn ang="T6">
                  <a:pos x="T0" y="T1"/>
                </a:cxn>
                <a:cxn ang="T7">
                  <a:pos x="T2" y="T3"/>
                </a:cxn>
                <a:cxn ang="T8">
                  <a:pos x="T4" y="T5"/>
                </a:cxn>
              </a:cxnLst>
              <a:rect l="0" t="0" r="r" b="b"/>
              <a:pathLst>
                <a:path w="833" h="1003">
                  <a:moveTo>
                    <a:pt x="833" y="1003"/>
                  </a:moveTo>
                  <a:cubicBezTo>
                    <a:pt x="766" y="905"/>
                    <a:pt x="572" y="581"/>
                    <a:pt x="433" y="414"/>
                  </a:cubicBezTo>
                  <a:cubicBezTo>
                    <a:pt x="294" y="247"/>
                    <a:pt x="90" y="86"/>
                    <a:pt x="0" y="0"/>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7609" name="Freeform 55"/>
            <p:cNvSpPr>
              <a:spLocks/>
            </p:cNvSpPr>
            <p:nvPr/>
          </p:nvSpPr>
          <p:spPr bwMode="auto">
            <a:xfrm>
              <a:off x="2405" y="1999"/>
              <a:ext cx="102" cy="583"/>
            </a:xfrm>
            <a:custGeom>
              <a:avLst/>
              <a:gdLst>
                <a:gd name="T0" fmla="*/ 96 w 102"/>
                <a:gd name="T1" fmla="*/ 583 h 583"/>
                <a:gd name="T2" fmla="*/ 1 w 102"/>
                <a:gd name="T3" fmla="*/ 325 h 583"/>
                <a:gd name="T4" fmla="*/ 102 w 102"/>
                <a:gd name="T5" fmla="*/ 0 h 583"/>
                <a:gd name="T6" fmla="*/ 0 60000 65536"/>
                <a:gd name="T7" fmla="*/ 0 60000 65536"/>
                <a:gd name="T8" fmla="*/ 0 60000 65536"/>
              </a:gdLst>
              <a:ahLst/>
              <a:cxnLst>
                <a:cxn ang="T6">
                  <a:pos x="T0" y="T1"/>
                </a:cxn>
                <a:cxn ang="T7">
                  <a:pos x="T2" y="T3"/>
                </a:cxn>
                <a:cxn ang="T8">
                  <a:pos x="T4" y="T5"/>
                </a:cxn>
              </a:cxnLst>
              <a:rect l="0" t="0" r="r" b="b"/>
              <a:pathLst>
                <a:path w="102" h="583">
                  <a:moveTo>
                    <a:pt x="96" y="583"/>
                  </a:moveTo>
                  <a:cubicBezTo>
                    <a:pt x="80" y="540"/>
                    <a:pt x="0" y="422"/>
                    <a:pt x="1" y="325"/>
                  </a:cubicBezTo>
                  <a:cubicBezTo>
                    <a:pt x="2" y="228"/>
                    <a:pt x="81" y="68"/>
                    <a:pt x="102" y="0"/>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7610" name="Freeform 57"/>
            <p:cNvSpPr>
              <a:spLocks/>
            </p:cNvSpPr>
            <p:nvPr/>
          </p:nvSpPr>
          <p:spPr bwMode="auto">
            <a:xfrm>
              <a:off x="3151" y="3312"/>
              <a:ext cx="179" cy="631"/>
            </a:xfrm>
            <a:custGeom>
              <a:avLst/>
              <a:gdLst>
                <a:gd name="T0" fmla="*/ 179 w 179"/>
                <a:gd name="T1" fmla="*/ 631 h 631"/>
                <a:gd name="T2" fmla="*/ 2 w 179"/>
                <a:gd name="T3" fmla="*/ 286 h 631"/>
                <a:gd name="T4" fmla="*/ 166 w 179"/>
                <a:gd name="T5" fmla="*/ 0 h 631"/>
                <a:gd name="T6" fmla="*/ 0 60000 65536"/>
                <a:gd name="T7" fmla="*/ 0 60000 65536"/>
                <a:gd name="T8" fmla="*/ 0 60000 65536"/>
              </a:gdLst>
              <a:ahLst/>
              <a:cxnLst>
                <a:cxn ang="T6">
                  <a:pos x="T0" y="T1"/>
                </a:cxn>
                <a:cxn ang="T7">
                  <a:pos x="T2" y="T3"/>
                </a:cxn>
                <a:cxn ang="T8">
                  <a:pos x="T4" y="T5"/>
                </a:cxn>
              </a:cxnLst>
              <a:rect l="0" t="0" r="r" b="b"/>
              <a:pathLst>
                <a:path w="179" h="631">
                  <a:moveTo>
                    <a:pt x="179" y="631"/>
                  </a:moveTo>
                  <a:cubicBezTo>
                    <a:pt x="150" y="574"/>
                    <a:pt x="4" y="391"/>
                    <a:pt x="2" y="286"/>
                  </a:cubicBezTo>
                  <a:cubicBezTo>
                    <a:pt x="0" y="181"/>
                    <a:pt x="132" y="60"/>
                    <a:pt x="166" y="0"/>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7611" name="Text Box 61"/>
            <p:cNvSpPr txBox="1">
              <a:spLocks noChangeArrowheads="1"/>
            </p:cNvSpPr>
            <p:nvPr/>
          </p:nvSpPr>
          <p:spPr bwMode="auto">
            <a:xfrm>
              <a:off x="2496" y="2160"/>
              <a:ext cx="240"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b</a:t>
              </a:r>
            </a:p>
          </p:txBody>
        </p:sp>
        <p:sp>
          <p:nvSpPr>
            <p:cNvPr id="67612" name="Text Box 62"/>
            <p:cNvSpPr txBox="1">
              <a:spLocks noChangeArrowheads="1"/>
            </p:cNvSpPr>
            <p:nvPr/>
          </p:nvSpPr>
          <p:spPr bwMode="auto">
            <a:xfrm>
              <a:off x="2548" y="2448"/>
              <a:ext cx="180"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c</a:t>
              </a:r>
            </a:p>
          </p:txBody>
        </p:sp>
        <p:sp>
          <p:nvSpPr>
            <p:cNvPr id="67613" name="Text Box 63"/>
            <p:cNvSpPr txBox="1">
              <a:spLocks noChangeArrowheads="1"/>
            </p:cNvSpPr>
            <p:nvPr/>
          </p:nvSpPr>
          <p:spPr bwMode="auto">
            <a:xfrm>
              <a:off x="2540" y="2640"/>
              <a:ext cx="18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d</a:t>
              </a:r>
            </a:p>
          </p:txBody>
        </p:sp>
        <p:sp>
          <p:nvSpPr>
            <p:cNvPr id="67614" name="Text Box 64"/>
            <p:cNvSpPr txBox="1">
              <a:spLocks noChangeArrowheads="1"/>
            </p:cNvSpPr>
            <p:nvPr/>
          </p:nvSpPr>
          <p:spPr bwMode="auto">
            <a:xfrm>
              <a:off x="1636" y="3154"/>
              <a:ext cx="180"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e</a:t>
              </a:r>
            </a:p>
          </p:txBody>
        </p:sp>
        <p:sp>
          <p:nvSpPr>
            <p:cNvPr id="67615" name="Text Box 65"/>
            <p:cNvSpPr txBox="1">
              <a:spLocks noChangeArrowheads="1"/>
            </p:cNvSpPr>
            <p:nvPr/>
          </p:nvSpPr>
          <p:spPr bwMode="auto">
            <a:xfrm>
              <a:off x="1644" y="3490"/>
              <a:ext cx="164"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f</a:t>
              </a:r>
            </a:p>
          </p:txBody>
        </p:sp>
        <p:sp>
          <p:nvSpPr>
            <p:cNvPr id="67616" name="Text Box 68"/>
            <p:cNvSpPr txBox="1">
              <a:spLocks noChangeArrowheads="1"/>
            </p:cNvSpPr>
            <p:nvPr/>
          </p:nvSpPr>
          <p:spPr bwMode="auto">
            <a:xfrm>
              <a:off x="3248" y="2976"/>
              <a:ext cx="18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g</a:t>
              </a:r>
            </a:p>
          </p:txBody>
        </p:sp>
        <p:sp>
          <p:nvSpPr>
            <p:cNvPr id="67617" name="Text Box 69"/>
            <p:cNvSpPr txBox="1">
              <a:spLocks noChangeArrowheads="1"/>
            </p:cNvSpPr>
            <p:nvPr/>
          </p:nvSpPr>
          <p:spPr bwMode="auto">
            <a:xfrm>
              <a:off x="3152" y="3456"/>
              <a:ext cx="18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h</a:t>
              </a:r>
            </a:p>
          </p:txBody>
        </p:sp>
        <p:sp>
          <p:nvSpPr>
            <p:cNvPr id="67618" name="Text Box 70"/>
            <p:cNvSpPr txBox="1">
              <a:spLocks noChangeArrowheads="1"/>
            </p:cNvSpPr>
            <p:nvPr/>
          </p:nvSpPr>
          <p:spPr bwMode="auto">
            <a:xfrm>
              <a:off x="3136" y="3792"/>
              <a:ext cx="156"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i</a:t>
              </a:r>
            </a:p>
          </p:txBody>
        </p:sp>
        <p:sp>
          <p:nvSpPr>
            <p:cNvPr id="67619" name="Oval 75"/>
            <p:cNvSpPr>
              <a:spLocks noChangeArrowheads="1"/>
            </p:cNvSpPr>
            <p:nvPr/>
          </p:nvSpPr>
          <p:spPr bwMode="auto">
            <a:xfrm>
              <a:off x="2448" y="2784"/>
              <a:ext cx="144" cy="144"/>
            </a:xfrm>
            <a:prstGeom prst="ellipse">
              <a:avLst/>
            </a:prstGeom>
            <a:solidFill>
              <a:srgbClr val="CC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67620" name="Oval 76"/>
            <p:cNvSpPr>
              <a:spLocks noChangeArrowheads="1"/>
            </p:cNvSpPr>
            <p:nvPr/>
          </p:nvSpPr>
          <p:spPr bwMode="auto">
            <a:xfrm>
              <a:off x="3264" y="3216"/>
              <a:ext cx="144" cy="144"/>
            </a:xfrm>
            <a:prstGeom prst="ellipse">
              <a:avLst/>
            </a:prstGeom>
            <a:solidFill>
              <a:srgbClr val="CC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67621" name="Text Box 81"/>
            <p:cNvSpPr txBox="1">
              <a:spLocks noChangeArrowheads="1"/>
            </p:cNvSpPr>
            <p:nvPr/>
          </p:nvSpPr>
          <p:spPr bwMode="auto">
            <a:xfrm>
              <a:off x="1968" y="2112"/>
              <a:ext cx="42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[2,1]</a:t>
              </a:r>
            </a:p>
          </p:txBody>
        </p:sp>
        <p:sp>
          <p:nvSpPr>
            <p:cNvPr id="67622" name="Text Box 82"/>
            <p:cNvSpPr txBox="1">
              <a:spLocks noChangeArrowheads="1"/>
            </p:cNvSpPr>
            <p:nvPr/>
          </p:nvSpPr>
          <p:spPr bwMode="auto">
            <a:xfrm>
              <a:off x="1968" y="2400"/>
              <a:ext cx="42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[3,1]</a:t>
              </a:r>
            </a:p>
          </p:txBody>
        </p:sp>
        <p:sp>
          <p:nvSpPr>
            <p:cNvPr id="67623" name="Text Box 83"/>
            <p:cNvSpPr txBox="1">
              <a:spLocks noChangeArrowheads="1"/>
            </p:cNvSpPr>
            <p:nvPr/>
          </p:nvSpPr>
          <p:spPr bwMode="auto">
            <a:xfrm>
              <a:off x="1968" y="2688"/>
              <a:ext cx="42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[4,2]</a:t>
              </a:r>
            </a:p>
          </p:txBody>
        </p:sp>
        <p:sp>
          <p:nvSpPr>
            <p:cNvPr id="67624" name="Text Box 84"/>
            <p:cNvSpPr txBox="1">
              <a:spLocks noChangeArrowheads="1"/>
            </p:cNvSpPr>
            <p:nvPr/>
          </p:nvSpPr>
          <p:spPr bwMode="auto">
            <a:xfrm>
              <a:off x="1248" y="3120"/>
              <a:ext cx="42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[5,4]</a:t>
              </a:r>
            </a:p>
          </p:txBody>
        </p:sp>
        <p:sp>
          <p:nvSpPr>
            <p:cNvPr id="67625" name="Text Box 85"/>
            <p:cNvSpPr txBox="1">
              <a:spLocks noChangeArrowheads="1"/>
            </p:cNvSpPr>
            <p:nvPr/>
          </p:nvSpPr>
          <p:spPr bwMode="auto">
            <a:xfrm>
              <a:off x="1248" y="3456"/>
              <a:ext cx="42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[6,4]</a:t>
              </a:r>
            </a:p>
          </p:txBody>
        </p:sp>
        <p:sp>
          <p:nvSpPr>
            <p:cNvPr id="67626" name="Text Box 86"/>
            <p:cNvSpPr txBox="1">
              <a:spLocks noChangeArrowheads="1"/>
            </p:cNvSpPr>
            <p:nvPr/>
          </p:nvSpPr>
          <p:spPr bwMode="auto">
            <a:xfrm>
              <a:off x="3360" y="3120"/>
              <a:ext cx="42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[7,2]</a:t>
              </a:r>
            </a:p>
          </p:txBody>
        </p:sp>
        <p:sp>
          <p:nvSpPr>
            <p:cNvPr id="67627" name="Text Box 87"/>
            <p:cNvSpPr txBox="1">
              <a:spLocks noChangeArrowheads="1"/>
            </p:cNvSpPr>
            <p:nvPr/>
          </p:nvSpPr>
          <p:spPr bwMode="auto">
            <a:xfrm>
              <a:off x="3360" y="3456"/>
              <a:ext cx="42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[8,7]</a:t>
              </a:r>
            </a:p>
          </p:txBody>
        </p:sp>
        <p:sp>
          <p:nvSpPr>
            <p:cNvPr id="67628" name="Text Box 88"/>
            <p:cNvSpPr txBox="1">
              <a:spLocks noChangeArrowheads="1"/>
            </p:cNvSpPr>
            <p:nvPr/>
          </p:nvSpPr>
          <p:spPr bwMode="auto">
            <a:xfrm>
              <a:off x="3360" y="3696"/>
              <a:ext cx="42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[9,7]</a:t>
              </a:r>
            </a:p>
          </p:txBody>
        </p:sp>
      </p:grpSp>
      <p:grpSp>
        <p:nvGrpSpPr>
          <p:cNvPr id="303205" name="Group 101"/>
          <p:cNvGrpSpPr>
            <a:grpSpLocks/>
          </p:cNvGrpSpPr>
          <p:nvPr/>
        </p:nvGrpSpPr>
        <p:grpSpPr bwMode="auto">
          <a:xfrm>
            <a:off x="436563" y="3886202"/>
            <a:ext cx="8015288" cy="1654176"/>
            <a:chOff x="275" y="2448"/>
            <a:chExt cx="5049" cy="1042"/>
          </a:xfrm>
        </p:grpSpPr>
        <p:sp>
          <p:nvSpPr>
            <p:cNvPr id="67590" name="Rectangle 96"/>
            <p:cNvSpPr>
              <a:spLocks noChangeArrowheads="1"/>
            </p:cNvSpPr>
            <p:nvPr/>
          </p:nvSpPr>
          <p:spPr bwMode="auto">
            <a:xfrm>
              <a:off x="275" y="2448"/>
              <a:ext cx="1091"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15000"/>
                </a:lnSpc>
                <a:spcBef>
                  <a:spcPct val="50000"/>
                </a:spcBef>
                <a:buFont typeface="Wingdings" pitchFamily="2" charset="2"/>
                <a:buNone/>
              </a:pPr>
              <a:r>
                <a:rPr lang="en-US" sz="2000" dirty="0">
                  <a:solidFill>
                    <a:srgbClr val="CC0000"/>
                  </a:solidFill>
                  <a:sym typeface="Symbol" pitchFamily="18" charset="2"/>
                </a:rPr>
                <a:t>low[e]  pre[d]</a:t>
              </a:r>
            </a:p>
          </p:txBody>
        </p:sp>
        <p:sp>
          <p:nvSpPr>
            <p:cNvPr id="67591" name="Rectangle 97"/>
            <p:cNvSpPr>
              <a:spLocks noChangeArrowheads="1"/>
            </p:cNvSpPr>
            <p:nvPr/>
          </p:nvSpPr>
          <p:spPr bwMode="auto">
            <a:xfrm>
              <a:off x="4224" y="3211"/>
              <a:ext cx="1100"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115000"/>
                </a:lnSpc>
                <a:spcBef>
                  <a:spcPct val="50000"/>
                </a:spcBef>
                <a:buFont typeface="Wingdings" pitchFamily="2" charset="2"/>
                <a:buNone/>
              </a:pPr>
              <a:r>
                <a:rPr lang="en-US" sz="2000" dirty="0">
                  <a:solidFill>
                    <a:srgbClr val="CC0000"/>
                  </a:solidFill>
                  <a:sym typeface="Symbol" pitchFamily="18" charset="2"/>
                </a:rPr>
                <a:t>low[h]  pre[g]</a:t>
              </a:r>
            </a:p>
          </p:txBody>
        </p:sp>
        <p:sp>
          <p:nvSpPr>
            <p:cNvPr id="67592" name="Line 98"/>
            <p:cNvSpPr>
              <a:spLocks noChangeShapeType="1"/>
            </p:cNvSpPr>
            <p:nvPr/>
          </p:nvSpPr>
          <p:spPr bwMode="auto">
            <a:xfrm>
              <a:off x="1296" y="2688"/>
              <a:ext cx="723" cy="384"/>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CA"/>
            </a:p>
          </p:txBody>
        </p:sp>
        <p:sp>
          <p:nvSpPr>
            <p:cNvPr id="67593" name="Line 100"/>
            <p:cNvSpPr>
              <a:spLocks noChangeShapeType="1"/>
            </p:cNvSpPr>
            <p:nvPr/>
          </p:nvSpPr>
          <p:spPr bwMode="auto">
            <a:xfrm flipH="1">
              <a:off x="3436" y="3377"/>
              <a:ext cx="788" cy="79"/>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65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303106"/>
                                        </p:tgtEl>
                                        <p:attrNameLst>
                                          <p:attrName>style.visibility</p:attrName>
                                        </p:attrNameLst>
                                      </p:cBhvr>
                                      <p:to>
                                        <p:strVal val="visible"/>
                                      </p:to>
                                    </p:set>
                                    <p:anim calcmode="lin" valueType="num">
                                      <p:cBhvr>
                                        <p:cTn id="7" dur="500" fill="hold"/>
                                        <p:tgtEl>
                                          <p:spTgt spid="303106"/>
                                        </p:tgtEl>
                                        <p:attrNameLst>
                                          <p:attrName>ppt_w</p:attrName>
                                        </p:attrNameLst>
                                      </p:cBhvr>
                                      <p:tavLst>
                                        <p:tav tm="0">
                                          <p:val>
                                            <p:fltVal val="0"/>
                                          </p:val>
                                        </p:tav>
                                        <p:tav tm="100000">
                                          <p:val>
                                            <p:strVal val="#ppt_w"/>
                                          </p:val>
                                        </p:tav>
                                      </p:tavLst>
                                    </p:anim>
                                    <p:anim calcmode="lin" valueType="num">
                                      <p:cBhvr>
                                        <p:cTn id="8" dur="500" fill="hold"/>
                                        <p:tgtEl>
                                          <p:spTgt spid="30310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303107"/>
                                        </p:tgtEl>
                                        <p:attrNameLst>
                                          <p:attrName>style.visibility</p:attrName>
                                        </p:attrNameLst>
                                      </p:cBhvr>
                                      <p:to>
                                        <p:strVal val="visible"/>
                                      </p:to>
                                    </p:set>
                                    <p:animEffect transition="in" filter="wipe(up)">
                                      <p:cBhvr>
                                        <p:cTn id="13" dur="500"/>
                                        <p:tgtEl>
                                          <p:spTgt spid="303107"/>
                                        </p:tgtEl>
                                      </p:cBhvr>
                                    </p:animEffect>
                                  </p:childTnLst>
                                </p:cTn>
                              </p:par>
                            </p:childTnLst>
                          </p:cTn>
                        </p:par>
                        <p:par>
                          <p:cTn id="14" fill="hold" nodeType="afterGroup">
                            <p:stCondLst>
                              <p:cond delay="500"/>
                            </p:stCondLst>
                            <p:childTnLst>
                              <p:par>
                                <p:cTn id="15" presetID="22" presetClass="entr" presetSubtype="1" fill="hold" nodeType="afterEffect">
                                  <p:stCondLst>
                                    <p:cond delay="1000"/>
                                  </p:stCondLst>
                                  <p:childTnLst>
                                    <p:set>
                                      <p:cBhvr>
                                        <p:cTn id="16" dur="1" fill="hold">
                                          <p:stCondLst>
                                            <p:cond delay="0"/>
                                          </p:stCondLst>
                                        </p:cTn>
                                        <p:tgtEl>
                                          <p:spTgt spid="303199"/>
                                        </p:tgtEl>
                                        <p:attrNameLst>
                                          <p:attrName>style.visibility</p:attrName>
                                        </p:attrNameLst>
                                      </p:cBhvr>
                                      <p:to>
                                        <p:strVal val="visible"/>
                                      </p:to>
                                    </p:set>
                                    <p:animEffect transition="in" filter="wipe(up)">
                                      <p:cBhvr>
                                        <p:cTn id="17" dur="500"/>
                                        <p:tgtEl>
                                          <p:spTgt spid="3031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03205"/>
                                        </p:tgtEl>
                                        <p:attrNameLst>
                                          <p:attrName>style.visibility</p:attrName>
                                        </p:attrNameLst>
                                      </p:cBhvr>
                                      <p:to>
                                        <p:strVal val="visible"/>
                                      </p:to>
                                    </p:set>
                                    <p:animEffect transition="in" filter="wipe(up)">
                                      <p:cBhvr>
                                        <p:cTn id="22" dur="500"/>
                                        <p:tgtEl>
                                          <p:spTgt spid="303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6" grpId="0" animBg="1" autoUpdateAnimBg="0"/>
      <p:bldP spid="303107" grpId="0" animBg="1"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413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hlink"/>
                </a:solidFill>
                <a:latin typeface="Arial Rounded MT Bold" pitchFamily="34" charset="0"/>
              </a:rPr>
              <a:t>Stack up edges</a:t>
            </a:r>
            <a:endParaRPr lang="en-US" sz="2800" smtClean="0">
              <a:solidFill>
                <a:srgbClr val="CC0000"/>
              </a:solidFill>
              <a:latin typeface="Arial Rounded MT Bold" pitchFamily="34" charset="0"/>
            </a:endParaRPr>
          </a:p>
        </p:txBody>
      </p:sp>
      <p:grpSp>
        <p:nvGrpSpPr>
          <p:cNvPr id="304189" name="Group 61"/>
          <p:cNvGrpSpPr>
            <a:grpSpLocks/>
          </p:cNvGrpSpPr>
          <p:nvPr/>
        </p:nvGrpSpPr>
        <p:grpSpPr bwMode="auto">
          <a:xfrm>
            <a:off x="457200" y="3733800"/>
            <a:ext cx="901700" cy="2943225"/>
            <a:chOff x="336" y="2310"/>
            <a:chExt cx="568" cy="1854"/>
          </a:xfrm>
        </p:grpSpPr>
        <p:sp>
          <p:nvSpPr>
            <p:cNvPr id="68665" name="Text Box 45"/>
            <p:cNvSpPr txBox="1">
              <a:spLocks noChangeArrowheads="1"/>
            </p:cNvSpPr>
            <p:nvPr/>
          </p:nvSpPr>
          <p:spPr bwMode="auto">
            <a:xfrm>
              <a:off x="336" y="2575"/>
              <a:ext cx="538" cy="1392"/>
            </a:xfrm>
            <a:prstGeom prst="rect">
              <a:avLst/>
            </a:prstGeom>
            <a:noFill/>
            <a:ln w="19050">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solidFill>
                    <a:schemeClr val="hlink"/>
                  </a:solidFill>
                </a:rPr>
                <a:t>(f, d) (e, f) (d, e) (c, d) (c, a) (b, c) (a, b)</a:t>
              </a:r>
            </a:p>
          </p:txBody>
        </p:sp>
        <p:sp>
          <p:nvSpPr>
            <p:cNvPr id="68666" name="Text Box 46"/>
            <p:cNvSpPr txBox="1">
              <a:spLocks noChangeArrowheads="1"/>
            </p:cNvSpPr>
            <p:nvPr/>
          </p:nvSpPr>
          <p:spPr bwMode="auto">
            <a:xfrm>
              <a:off x="432" y="2310"/>
              <a:ext cx="320"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top</a:t>
              </a:r>
            </a:p>
          </p:txBody>
        </p:sp>
        <p:sp>
          <p:nvSpPr>
            <p:cNvPr id="68667" name="Text Box 47"/>
            <p:cNvSpPr txBox="1">
              <a:spLocks noChangeArrowheads="1"/>
            </p:cNvSpPr>
            <p:nvPr/>
          </p:nvSpPr>
          <p:spPr bwMode="auto">
            <a:xfrm>
              <a:off x="336" y="3936"/>
              <a:ext cx="568"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bottom</a:t>
              </a:r>
            </a:p>
          </p:txBody>
        </p:sp>
      </p:grpSp>
      <p:grpSp>
        <p:nvGrpSpPr>
          <p:cNvPr id="304246" name="Group 118"/>
          <p:cNvGrpSpPr>
            <a:grpSpLocks/>
          </p:cNvGrpSpPr>
          <p:nvPr/>
        </p:nvGrpSpPr>
        <p:grpSpPr bwMode="auto">
          <a:xfrm>
            <a:off x="3352800" y="3886200"/>
            <a:ext cx="1539875" cy="2819400"/>
            <a:chOff x="1824" y="2448"/>
            <a:chExt cx="970" cy="1776"/>
          </a:xfrm>
        </p:grpSpPr>
        <p:sp>
          <p:nvSpPr>
            <p:cNvPr id="68663" name="Text Box 51"/>
            <p:cNvSpPr txBox="1">
              <a:spLocks noChangeArrowheads="1"/>
            </p:cNvSpPr>
            <p:nvPr/>
          </p:nvSpPr>
          <p:spPr bwMode="auto">
            <a:xfrm>
              <a:off x="2256" y="2448"/>
              <a:ext cx="538" cy="1776"/>
            </a:xfrm>
            <a:prstGeom prst="rect">
              <a:avLst/>
            </a:prstGeom>
            <a:noFill/>
            <a:ln w="19050">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solidFill>
                    <a:schemeClr val="hlink"/>
                  </a:solidFill>
                </a:rPr>
                <a:t>(i, g)  (h, i) (g, h) </a:t>
              </a:r>
              <a:br>
                <a:rPr lang="en-US" sz="2000">
                  <a:solidFill>
                    <a:schemeClr val="hlink"/>
                  </a:solidFill>
                </a:rPr>
              </a:br>
              <a:r>
                <a:rPr lang="en-US" sz="2000">
                  <a:solidFill>
                    <a:schemeClr val="hlink"/>
                  </a:solidFill>
                </a:rPr>
                <a:t>(g, b) (d, g) (c, d) (c, a) (b, c) (a, b)</a:t>
              </a:r>
            </a:p>
          </p:txBody>
        </p:sp>
        <p:sp>
          <p:nvSpPr>
            <p:cNvPr id="68664" name="AutoShape 53"/>
            <p:cNvSpPr>
              <a:spLocks noChangeArrowheads="1"/>
            </p:cNvSpPr>
            <p:nvPr/>
          </p:nvSpPr>
          <p:spPr bwMode="auto">
            <a:xfrm>
              <a:off x="1824" y="3264"/>
              <a:ext cx="336" cy="192"/>
            </a:xfrm>
            <a:prstGeom prst="rightArrow">
              <a:avLst>
                <a:gd name="adj1" fmla="val 50000"/>
                <a:gd name="adj2" fmla="val 43750"/>
              </a:avLst>
            </a:prstGeom>
            <a:solidFill>
              <a:srgbClr val="CC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grpSp>
      <p:grpSp>
        <p:nvGrpSpPr>
          <p:cNvPr id="304251" name="Group 123"/>
          <p:cNvGrpSpPr>
            <a:grpSpLocks/>
          </p:cNvGrpSpPr>
          <p:nvPr/>
        </p:nvGrpSpPr>
        <p:grpSpPr bwMode="auto">
          <a:xfrm>
            <a:off x="228600" y="741363"/>
            <a:ext cx="7908925" cy="3455987"/>
            <a:chOff x="144" y="467"/>
            <a:chExt cx="4982" cy="2177"/>
          </a:xfrm>
        </p:grpSpPr>
        <p:sp>
          <p:nvSpPr>
            <p:cNvPr id="68629" name="Text Box 39"/>
            <p:cNvSpPr txBox="1">
              <a:spLocks noChangeArrowheads="1"/>
            </p:cNvSpPr>
            <p:nvPr/>
          </p:nvSpPr>
          <p:spPr bwMode="auto">
            <a:xfrm>
              <a:off x="144" y="528"/>
              <a:ext cx="2352" cy="1692"/>
            </a:xfrm>
            <a:prstGeom prst="rect">
              <a:avLst/>
            </a:prstGeom>
            <a:solidFill>
              <a:schemeClr val="bg1"/>
            </a:solid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lIns="126000" tIns="82800" rIns="126000" bIns="82800">
              <a:spAutoFit/>
            </a:bodyPr>
            <a:lstStyle>
              <a:lvl1pPr marL="192088" indent="-192088">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90000"/>
                </a:lnSpc>
                <a:spcBef>
                  <a:spcPct val="50000"/>
                </a:spcBef>
                <a:buFont typeface="Wingdings" pitchFamily="2" charset="2"/>
                <a:buChar char="§"/>
              </a:pPr>
              <a:r>
                <a:rPr lang="en-US" sz="2000" dirty="0"/>
                <a:t>Stack up each edge (</a:t>
              </a:r>
              <a:r>
                <a:rPr lang="en-US" sz="2000" dirty="0" err="1"/>
                <a:t>u,v</a:t>
              </a:r>
              <a:r>
                <a:rPr lang="en-US" sz="2000" dirty="0"/>
                <a:t>) </a:t>
              </a:r>
              <a:br>
                <a:rPr lang="en-US" sz="2000" dirty="0"/>
              </a:br>
              <a:r>
                <a:rPr lang="en-US" sz="2000" dirty="0"/>
                <a:t>at its 1</a:t>
              </a:r>
              <a:r>
                <a:rPr lang="en-US" sz="2000" baseline="30000" dirty="0"/>
                <a:t>st</a:t>
              </a:r>
              <a:r>
                <a:rPr lang="en-US" sz="2000" dirty="0"/>
                <a:t> traversal, i.e., if</a:t>
              </a:r>
              <a:br>
                <a:rPr lang="en-US" sz="2000" dirty="0"/>
              </a:br>
              <a:r>
                <a:rPr lang="en-US" sz="2000" dirty="0">
                  <a:solidFill>
                    <a:schemeClr val="hlink"/>
                  </a:solidFill>
                </a:rPr>
                <a:t>v </a:t>
              </a:r>
              <a:r>
                <a:rPr lang="en-US" sz="2000" dirty="0">
                  <a:solidFill>
                    <a:schemeClr val="hlink"/>
                  </a:solidFill>
                  <a:sym typeface="Symbol" pitchFamily="18" charset="2"/>
                </a:rPr>
                <a:t> </a:t>
              </a:r>
              <a:r>
                <a:rPr lang="en-US" sz="2000" dirty="0">
                  <a:solidFill>
                    <a:schemeClr val="hlink"/>
                  </a:solidFill>
                  <a:latin typeface="Symbol" pitchFamily="18" charset="2"/>
                </a:rPr>
                <a:t>p</a:t>
              </a:r>
              <a:r>
                <a:rPr lang="en-US" sz="2000" dirty="0">
                  <a:solidFill>
                    <a:schemeClr val="hlink"/>
                  </a:solidFill>
                </a:rPr>
                <a:t>[u]  &amp;  pre[v] &lt; pre[u].</a:t>
              </a:r>
            </a:p>
            <a:p>
              <a:pPr eaLnBrk="1" hangingPunct="1">
                <a:lnSpc>
                  <a:spcPct val="90000"/>
                </a:lnSpc>
                <a:spcBef>
                  <a:spcPct val="50000"/>
                </a:spcBef>
                <a:buFont typeface="Wingdings" pitchFamily="2" charset="2"/>
                <a:buChar char="§"/>
              </a:pPr>
              <a:r>
                <a:rPr lang="en-US" sz="2000" dirty="0"/>
                <a:t>Articulation points discovered in post-order of child-node.</a:t>
              </a:r>
            </a:p>
            <a:p>
              <a:pPr eaLnBrk="1" hangingPunct="1">
                <a:lnSpc>
                  <a:spcPct val="90000"/>
                </a:lnSpc>
                <a:spcBef>
                  <a:spcPct val="50000"/>
                </a:spcBef>
                <a:buFont typeface="Wingdings" pitchFamily="2" charset="2"/>
                <a:buChar char="§"/>
              </a:pPr>
              <a:r>
                <a:rPr lang="en-US" sz="2000" dirty="0">
                  <a:solidFill>
                    <a:srgbClr val="CC0000"/>
                  </a:solidFill>
                </a:rPr>
                <a:t>Pop-up the stack </a:t>
              </a:r>
              <a:br>
                <a:rPr lang="en-US" sz="2000" dirty="0">
                  <a:solidFill>
                    <a:srgbClr val="CC0000"/>
                  </a:solidFill>
                </a:rPr>
              </a:br>
              <a:r>
                <a:rPr lang="en-US" sz="2000" dirty="0">
                  <a:solidFill>
                    <a:srgbClr val="CC0000"/>
                  </a:solidFill>
                </a:rPr>
                <a:t>up to (</a:t>
              </a:r>
              <a:r>
                <a:rPr lang="en-US" sz="2000" dirty="0" err="1">
                  <a:solidFill>
                    <a:srgbClr val="CC0000"/>
                  </a:solidFill>
                </a:rPr>
                <a:t>u,v</a:t>
              </a:r>
              <a:r>
                <a:rPr lang="en-US" sz="2000" dirty="0">
                  <a:solidFill>
                    <a:srgbClr val="CC0000"/>
                  </a:solidFill>
                </a:rPr>
                <a:t>), inclusive, when </a:t>
              </a:r>
              <a:br>
                <a:rPr lang="en-US" sz="2000" dirty="0">
                  <a:solidFill>
                    <a:srgbClr val="CC0000"/>
                  </a:solidFill>
                </a:rPr>
              </a:br>
              <a:r>
                <a:rPr lang="en-US" sz="2000" dirty="0">
                  <a:solidFill>
                    <a:srgbClr val="CC0000"/>
                  </a:solidFill>
                </a:rPr>
                <a:t>u = </a:t>
              </a:r>
              <a:r>
                <a:rPr lang="en-US" sz="2000" dirty="0">
                  <a:solidFill>
                    <a:srgbClr val="CC0000"/>
                  </a:solidFill>
                  <a:latin typeface="Symbol" pitchFamily="18" charset="2"/>
                </a:rPr>
                <a:t>p</a:t>
              </a:r>
              <a:r>
                <a:rPr lang="en-US" sz="2000" dirty="0">
                  <a:solidFill>
                    <a:srgbClr val="CC0000"/>
                  </a:solidFill>
                </a:rPr>
                <a:t>(v)  &amp;  low(v) </a:t>
              </a:r>
              <a:r>
                <a:rPr lang="en-US" sz="2000" dirty="0">
                  <a:solidFill>
                    <a:srgbClr val="CC0000"/>
                  </a:solidFill>
                  <a:sym typeface="Symbol" pitchFamily="18" charset="2"/>
                </a:rPr>
                <a:t> </a:t>
              </a:r>
              <a:r>
                <a:rPr lang="en-US" sz="2000" dirty="0">
                  <a:solidFill>
                    <a:srgbClr val="CC0000"/>
                  </a:solidFill>
                </a:rPr>
                <a:t>pre[u].</a:t>
              </a:r>
            </a:p>
          </p:txBody>
        </p:sp>
        <p:grpSp>
          <p:nvGrpSpPr>
            <p:cNvPr id="68630" name="Group 112"/>
            <p:cNvGrpSpPr>
              <a:grpSpLocks/>
            </p:cNvGrpSpPr>
            <p:nvPr/>
          </p:nvGrpSpPr>
          <p:grpSpPr bwMode="auto">
            <a:xfrm>
              <a:off x="2592" y="467"/>
              <a:ext cx="2534" cy="2177"/>
              <a:chOff x="2208" y="419"/>
              <a:chExt cx="2534" cy="2177"/>
            </a:xfrm>
          </p:grpSpPr>
          <p:sp>
            <p:nvSpPr>
              <p:cNvPr id="68631" name="Text Box 76"/>
              <p:cNvSpPr txBox="1">
                <a:spLocks noChangeArrowheads="1"/>
              </p:cNvSpPr>
              <p:nvPr/>
            </p:nvSpPr>
            <p:spPr bwMode="auto">
              <a:xfrm>
                <a:off x="3504" y="419"/>
                <a:ext cx="180"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1800"/>
                  <a:t>a</a:t>
                </a:r>
              </a:p>
            </p:txBody>
          </p:sp>
          <p:sp>
            <p:nvSpPr>
              <p:cNvPr id="68632" name="Text Box 77"/>
              <p:cNvSpPr txBox="1">
                <a:spLocks noChangeArrowheads="1"/>
              </p:cNvSpPr>
              <p:nvPr/>
            </p:nvSpPr>
            <p:spPr bwMode="auto">
              <a:xfrm>
                <a:off x="2928" y="422"/>
                <a:ext cx="42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2000"/>
                  <a:t>[1,1]</a:t>
                </a:r>
              </a:p>
            </p:txBody>
          </p:sp>
          <p:sp>
            <p:nvSpPr>
              <p:cNvPr id="68633" name="Line 82"/>
              <p:cNvSpPr>
                <a:spLocks noChangeShapeType="1"/>
              </p:cNvSpPr>
              <p:nvPr/>
            </p:nvSpPr>
            <p:spPr bwMode="auto">
              <a:xfrm>
                <a:off x="3460" y="579"/>
                <a:ext cx="0" cy="28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8634" name="Line 83"/>
              <p:cNvSpPr>
                <a:spLocks noChangeShapeType="1"/>
              </p:cNvSpPr>
              <p:nvPr/>
            </p:nvSpPr>
            <p:spPr bwMode="auto">
              <a:xfrm>
                <a:off x="3460" y="867"/>
                <a:ext cx="0" cy="28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8635" name="Line 84"/>
              <p:cNvSpPr>
                <a:spLocks noChangeShapeType="1"/>
              </p:cNvSpPr>
              <p:nvPr/>
            </p:nvSpPr>
            <p:spPr bwMode="auto">
              <a:xfrm>
                <a:off x="3460" y="1155"/>
                <a:ext cx="0" cy="28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8636" name="Line 85"/>
              <p:cNvSpPr>
                <a:spLocks noChangeShapeType="1"/>
              </p:cNvSpPr>
              <p:nvPr/>
            </p:nvSpPr>
            <p:spPr bwMode="auto">
              <a:xfrm flipH="1">
                <a:off x="2788" y="1443"/>
                <a:ext cx="672" cy="432"/>
              </a:xfrm>
              <a:prstGeom prst="line">
                <a:avLst/>
              </a:prstGeom>
              <a:noFill/>
              <a:ln w="381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8637" name="Line 86"/>
              <p:cNvSpPr>
                <a:spLocks noChangeShapeType="1"/>
              </p:cNvSpPr>
              <p:nvPr/>
            </p:nvSpPr>
            <p:spPr bwMode="auto">
              <a:xfrm>
                <a:off x="3460" y="1443"/>
                <a:ext cx="816" cy="432"/>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8638" name="Line 87"/>
              <p:cNvSpPr>
                <a:spLocks noChangeShapeType="1"/>
              </p:cNvSpPr>
              <p:nvPr/>
            </p:nvSpPr>
            <p:spPr bwMode="auto">
              <a:xfrm>
                <a:off x="2788" y="1875"/>
                <a:ext cx="0" cy="336"/>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8639" name="Line 88"/>
              <p:cNvSpPr>
                <a:spLocks noChangeShapeType="1"/>
              </p:cNvSpPr>
              <p:nvPr/>
            </p:nvSpPr>
            <p:spPr bwMode="auto">
              <a:xfrm>
                <a:off x="4276" y="1875"/>
                <a:ext cx="0" cy="336"/>
              </a:xfrm>
              <a:prstGeom prst="line">
                <a:avLst/>
              </a:prstGeom>
              <a:noFill/>
              <a:ln w="381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68640" name="Line 89"/>
              <p:cNvSpPr>
                <a:spLocks noChangeShapeType="1"/>
              </p:cNvSpPr>
              <p:nvPr/>
            </p:nvSpPr>
            <p:spPr bwMode="auto">
              <a:xfrm>
                <a:off x="4272" y="2225"/>
                <a:ext cx="0" cy="288"/>
              </a:xfrm>
              <a:prstGeom prst="line">
                <a:avLst/>
              </a:prstGeom>
              <a:noFill/>
              <a:ln w="127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8641" name="Freeform 90"/>
              <p:cNvSpPr>
                <a:spLocks/>
              </p:cNvSpPr>
              <p:nvPr/>
            </p:nvSpPr>
            <p:spPr bwMode="auto">
              <a:xfrm>
                <a:off x="2788" y="1443"/>
                <a:ext cx="672" cy="768"/>
              </a:xfrm>
              <a:custGeom>
                <a:avLst/>
                <a:gdLst>
                  <a:gd name="T0" fmla="*/ 672 w 672"/>
                  <a:gd name="T1" fmla="*/ 0 h 768"/>
                  <a:gd name="T2" fmla="*/ 0 w 672"/>
                  <a:gd name="T3" fmla="*/ 768 h 768"/>
                  <a:gd name="T4" fmla="*/ 0 60000 65536"/>
                  <a:gd name="T5" fmla="*/ 0 60000 65536"/>
                </a:gdLst>
                <a:ahLst/>
                <a:cxnLst>
                  <a:cxn ang="T4">
                    <a:pos x="T0" y="T1"/>
                  </a:cxn>
                  <a:cxn ang="T5">
                    <a:pos x="T2" y="T3"/>
                  </a:cxn>
                </a:cxnLst>
                <a:rect l="0" t="0" r="r" b="b"/>
                <a:pathLst>
                  <a:path w="672" h="768">
                    <a:moveTo>
                      <a:pt x="672" y="0"/>
                    </a:moveTo>
                    <a:lnTo>
                      <a:pt x="0" y="768"/>
                    </a:ln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8642" name="Freeform 91"/>
              <p:cNvSpPr>
                <a:spLocks/>
              </p:cNvSpPr>
              <p:nvPr/>
            </p:nvSpPr>
            <p:spPr bwMode="auto">
              <a:xfrm>
                <a:off x="3454" y="867"/>
                <a:ext cx="833" cy="1003"/>
              </a:xfrm>
              <a:custGeom>
                <a:avLst/>
                <a:gdLst>
                  <a:gd name="T0" fmla="*/ 833 w 833"/>
                  <a:gd name="T1" fmla="*/ 1003 h 1003"/>
                  <a:gd name="T2" fmla="*/ 433 w 833"/>
                  <a:gd name="T3" fmla="*/ 414 h 1003"/>
                  <a:gd name="T4" fmla="*/ 0 w 833"/>
                  <a:gd name="T5" fmla="*/ 0 h 1003"/>
                  <a:gd name="T6" fmla="*/ 0 60000 65536"/>
                  <a:gd name="T7" fmla="*/ 0 60000 65536"/>
                  <a:gd name="T8" fmla="*/ 0 60000 65536"/>
                </a:gdLst>
                <a:ahLst/>
                <a:cxnLst>
                  <a:cxn ang="T6">
                    <a:pos x="T0" y="T1"/>
                  </a:cxn>
                  <a:cxn ang="T7">
                    <a:pos x="T2" y="T3"/>
                  </a:cxn>
                  <a:cxn ang="T8">
                    <a:pos x="T4" y="T5"/>
                  </a:cxn>
                </a:cxnLst>
                <a:rect l="0" t="0" r="r" b="b"/>
                <a:pathLst>
                  <a:path w="833" h="1003">
                    <a:moveTo>
                      <a:pt x="833" y="1003"/>
                    </a:moveTo>
                    <a:cubicBezTo>
                      <a:pt x="766" y="905"/>
                      <a:pt x="572" y="581"/>
                      <a:pt x="433" y="414"/>
                    </a:cubicBezTo>
                    <a:cubicBezTo>
                      <a:pt x="294" y="247"/>
                      <a:pt x="90" y="86"/>
                      <a:pt x="0" y="0"/>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8643" name="Freeform 92"/>
              <p:cNvSpPr>
                <a:spLocks/>
              </p:cNvSpPr>
              <p:nvPr/>
            </p:nvSpPr>
            <p:spPr bwMode="auto">
              <a:xfrm>
                <a:off x="3365" y="576"/>
                <a:ext cx="102" cy="583"/>
              </a:xfrm>
              <a:custGeom>
                <a:avLst/>
                <a:gdLst>
                  <a:gd name="T0" fmla="*/ 96 w 102"/>
                  <a:gd name="T1" fmla="*/ 583 h 583"/>
                  <a:gd name="T2" fmla="*/ 1 w 102"/>
                  <a:gd name="T3" fmla="*/ 325 h 583"/>
                  <a:gd name="T4" fmla="*/ 102 w 102"/>
                  <a:gd name="T5" fmla="*/ 0 h 583"/>
                  <a:gd name="T6" fmla="*/ 0 60000 65536"/>
                  <a:gd name="T7" fmla="*/ 0 60000 65536"/>
                  <a:gd name="T8" fmla="*/ 0 60000 65536"/>
                </a:gdLst>
                <a:ahLst/>
                <a:cxnLst>
                  <a:cxn ang="T6">
                    <a:pos x="T0" y="T1"/>
                  </a:cxn>
                  <a:cxn ang="T7">
                    <a:pos x="T2" y="T3"/>
                  </a:cxn>
                  <a:cxn ang="T8">
                    <a:pos x="T4" y="T5"/>
                  </a:cxn>
                </a:cxnLst>
                <a:rect l="0" t="0" r="r" b="b"/>
                <a:pathLst>
                  <a:path w="102" h="583">
                    <a:moveTo>
                      <a:pt x="96" y="583"/>
                    </a:moveTo>
                    <a:cubicBezTo>
                      <a:pt x="80" y="540"/>
                      <a:pt x="0" y="422"/>
                      <a:pt x="1" y="325"/>
                    </a:cubicBezTo>
                    <a:cubicBezTo>
                      <a:pt x="2" y="228"/>
                      <a:pt x="81" y="68"/>
                      <a:pt x="102" y="0"/>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8644" name="Freeform 93"/>
              <p:cNvSpPr>
                <a:spLocks/>
              </p:cNvSpPr>
              <p:nvPr/>
            </p:nvSpPr>
            <p:spPr bwMode="auto">
              <a:xfrm>
                <a:off x="4111" y="1889"/>
                <a:ext cx="179" cy="631"/>
              </a:xfrm>
              <a:custGeom>
                <a:avLst/>
                <a:gdLst>
                  <a:gd name="T0" fmla="*/ 179 w 179"/>
                  <a:gd name="T1" fmla="*/ 631 h 631"/>
                  <a:gd name="T2" fmla="*/ 2 w 179"/>
                  <a:gd name="T3" fmla="*/ 286 h 631"/>
                  <a:gd name="T4" fmla="*/ 166 w 179"/>
                  <a:gd name="T5" fmla="*/ 0 h 631"/>
                  <a:gd name="T6" fmla="*/ 0 60000 65536"/>
                  <a:gd name="T7" fmla="*/ 0 60000 65536"/>
                  <a:gd name="T8" fmla="*/ 0 60000 65536"/>
                </a:gdLst>
                <a:ahLst/>
                <a:cxnLst>
                  <a:cxn ang="T6">
                    <a:pos x="T0" y="T1"/>
                  </a:cxn>
                  <a:cxn ang="T7">
                    <a:pos x="T2" y="T3"/>
                  </a:cxn>
                  <a:cxn ang="T8">
                    <a:pos x="T4" y="T5"/>
                  </a:cxn>
                </a:cxnLst>
                <a:rect l="0" t="0" r="r" b="b"/>
                <a:pathLst>
                  <a:path w="179" h="631">
                    <a:moveTo>
                      <a:pt x="179" y="631"/>
                    </a:moveTo>
                    <a:cubicBezTo>
                      <a:pt x="150" y="574"/>
                      <a:pt x="4" y="391"/>
                      <a:pt x="2" y="286"/>
                    </a:cubicBezTo>
                    <a:cubicBezTo>
                      <a:pt x="0" y="181"/>
                      <a:pt x="132" y="60"/>
                      <a:pt x="166" y="0"/>
                    </a:cubicBezTo>
                  </a:path>
                </a:pathLst>
              </a:custGeom>
              <a:noFill/>
              <a:ln w="12700" cap="flat" cmpd="sng">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68645" name="Text Box 94"/>
              <p:cNvSpPr txBox="1">
                <a:spLocks noChangeArrowheads="1"/>
              </p:cNvSpPr>
              <p:nvPr/>
            </p:nvSpPr>
            <p:spPr bwMode="auto">
              <a:xfrm>
                <a:off x="3456" y="737"/>
                <a:ext cx="240"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1800"/>
                  <a:t>b</a:t>
                </a:r>
              </a:p>
            </p:txBody>
          </p:sp>
          <p:sp>
            <p:nvSpPr>
              <p:cNvPr id="68646" name="Text Box 95"/>
              <p:cNvSpPr txBox="1">
                <a:spLocks noChangeArrowheads="1"/>
              </p:cNvSpPr>
              <p:nvPr/>
            </p:nvSpPr>
            <p:spPr bwMode="auto">
              <a:xfrm>
                <a:off x="3508" y="1060"/>
                <a:ext cx="180"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1800"/>
                  <a:t>c</a:t>
                </a:r>
              </a:p>
            </p:txBody>
          </p:sp>
          <p:sp>
            <p:nvSpPr>
              <p:cNvPr id="68647" name="Text Box 96"/>
              <p:cNvSpPr txBox="1">
                <a:spLocks noChangeArrowheads="1"/>
              </p:cNvSpPr>
              <p:nvPr/>
            </p:nvSpPr>
            <p:spPr bwMode="auto">
              <a:xfrm>
                <a:off x="3500" y="1252"/>
                <a:ext cx="1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1800"/>
                  <a:t>d</a:t>
                </a:r>
              </a:p>
            </p:txBody>
          </p:sp>
          <p:sp>
            <p:nvSpPr>
              <p:cNvPr id="68648" name="Text Box 97"/>
              <p:cNvSpPr txBox="1">
                <a:spLocks noChangeArrowheads="1"/>
              </p:cNvSpPr>
              <p:nvPr/>
            </p:nvSpPr>
            <p:spPr bwMode="auto">
              <a:xfrm>
                <a:off x="2596" y="1766"/>
                <a:ext cx="180"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1800"/>
                  <a:t>e</a:t>
                </a:r>
              </a:p>
            </p:txBody>
          </p:sp>
          <p:sp>
            <p:nvSpPr>
              <p:cNvPr id="68649" name="Text Box 98"/>
              <p:cNvSpPr txBox="1">
                <a:spLocks noChangeArrowheads="1"/>
              </p:cNvSpPr>
              <p:nvPr/>
            </p:nvSpPr>
            <p:spPr bwMode="auto">
              <a:xfrm>
                <a:off x="2604" y="2102"/>
                <a:ext cx="16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1800"/>
                  <a:t>f</a:t>
                </a:r>
              </a:p>
            </p:txBody>
          </p:sp>
          <p:sp>
            <p:nvSpPr>
              <p:cNvPr id="68650" name="Text Box 99"/>
              <p:cNvSpPr txBox="1">
                <a:spLocks noChangeArrowheads="1"/>
              </p:cNvSpPr>
              <p:nvPr/>
            </p:nvSpPr>
            <p:spPr bwMode="auto">
              <a:xfrm>
                <a:off x="4208" y="1588"/>
                <a:ext cx="1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1800"/>
                  <a:t>g</a:t>
                </a:r>
              </a:p>
            </p:txBody>
          </p:sp>
          <p:sp>
            <p:nvSpPr>
              <p:cNvPr id="68651" name="Text Box 100"/>
              <p:cNvSpPr txBox="1">
                <a:spLocks noChangeArrowheads="1"/>
              </p:cNvSpPr>
              <p:nvPr/>
            </p:nvSpPr>
            <p:spPr bwMode="auto">
              <a:xfrm>
                <a:off x="4112" y="2068"/>
                <a:ext cx="1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1800"/>
                  <a:t>h</a:t>
                </a:r>
              </a:p>
            </p:txBody>
          </p:sp>
          <p:sp>
            <p:nvSpPr>
              <p:cNvPr id="68652" name="Text Box 101"/>
              <p:cNvSpPr txBox="1">
                <a:spLocks noChangeArrowheads="1"/>
              </p:cNvSpPr>
              <p:nvPr/>
            </p:nvSpPr>
            <p:spPr bwMode="auto">
              <a:xfrm>
                <a:off x="4096" y="2404"/>
                <a:ext cx="15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1800"/>
                  <a:t>i</a:t>
                </a:r>
              </a:p>
            </p:txBody>
          </p:sp>
          <p:sp>
            <p:nvSpPr>
              <p:cNvPr id="68653" name="Oval 102"/>
              <p:cNvSpPr>
                <a:spLocks noChangeArrowheads="1"/>
              </p:cNvSpPr>
              <p:nvPr/>
            </p:nvSpPr>
            <p:spPr bwMode="auto">
              <a:xfrm>
                <a:off x="3408" y="1361"/>
                <a:ext cx="144" cy="144"/>
              </a:xfrm>
              <a:prstGeom prst="ellipse">
                <a:avLst/>
              </a:prstGeom>
              <a:solidFill>
                <a:srgbClr val="CC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68654" name="Oval 103"/>
              <p:cNvSpPr>
                <a:spLocks noChangeArrowheads="1"/>
              </p:cNvSpPr>
              <p:nvPr/>
            </p:nvSpPr>
            <p:spPr bwMode="auto">
              <a:xfrm>
                <a:off x="4224" y="1793"/>
                <a:ext cx="144" cy="144"/>
              </a:xfrm>
              <a:prstGeom prst="ellipse">
                <a:avLst/>
              </a:prstGeom>
              <a:solidFill>
                <a:srgbClr val="CC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68655" name="Text Box 104"/>
              <p:cNvSpPr txBox="1">
                <a:spLocks noChangeArrowheads="1"/>
              </p:cNvSpPr>
              <p:nvPr/>
            </p:nvSpPr>
            <p:spPr bwMode="auto">
              <a:xfrm>
                <a:off x="2928" y="727"/>
                <a:ext cx="42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2000"/>
                  <a:t>[2,1]</a:t>
                </a:r>
              </a:p>
            </p:txBody>
          </p:sp>
          <p:sp>
            <p:nvSpPr>
              <p:cNvPr id="68656" name="Text Box 105"/>
              <p:cNvSpPr txBox="1">
                <a:spLocks noChangeArrowheads="1"/>
              </p:cNvSpPr>
              <p:nvPr/>
            </p:nvSpPr>
            <p:spPr bwMode="auto">
              <a:xfrm>
                <a:off x="2928" y="1015"/>
                <a:ext cx="42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2000"/>
                  <a:t>[3,1]</a:t>
                </a:r>
              </a:p>
            </p:txBody>
          </p:sp>
          <p:sp>
            <p:nvSpPr>
              <p:cNvPr id="68657" name="Text Box 106"/>
              <p:cNvSpPr txBox="1">
                <a:spLocks noChangeArrowheads="1"/>
              </p:cNvSpPr>
              <p:nvPr/>
            </p:nvSpPr>
            <p:spPr bwMode="auto">
              <a:xfrm>
                <a:off x="2928" y="1303"/>
                <a:ext cx="42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2000"/>
                  <a:t>[4,2]</a:t>
                </a:r>
              </a:p>
            </p:txBody>
          </p:sp>
          <p:sp>
            <p:nvSpPr>
              <p:cNvPr id="68658" name="Text Box 107"/>
              <p:cNvSpPr txBox="1">
                <a:spLocks noChangeArrowheads="1"/>
              </p:cNvSpPr>
              <p:nvPr/>
            </p:nvSpPr>
            <p:spPr bwMode="auto">
              <a:xfrm>
                <a:off x="2208" y="1735"/>
                <a:ext cx="42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2000"/>
                  <a:t>[5,4]</a:t>
                </a:r>
              </a:p>
            </p:txBody>
          </p:sp>
          <p:sp>
            <p:nvSpPr>
              <p:cNvPr id="68659" name="Text Box 108"/>
              <p:cNvSpPr txBox="1">
                <a:spLocks noChangeArrowheads="1"/>
              </p:cNvSpPr>
              <p:nvPr/>
            </p:nvSpPr>
            <p:spPr bwMode="auto">
              <a:xfrm>
                <a:off x="2208" y="2071"/>
                <a:ext cx="42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2000"/>
                  <a:t>[6,4]</a:t>
                </a:r>
              </a:p>
            </p:txBody>
          </p:sp>
          <p:sp>
            <p:nvSpPr>
              <p:cNvPr id="68660" name="Text Box 109"/>
              <p:cNvSpPr txBox="1">
                <a:spLocks noChangeArrowheads="1"/>
              </p:cNvSpPr>
              <p:nvPr/>
            </p:nvSpPr>
            <p:spPr bwMode="auto">
              <a:xfrm>
                <a:off x="4320" y="1735"/>
                <a:ext cx="42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2000"/>
                  <a:t>[7,2]</a:t>
                </a:r>
              </a:p>
            </p:txBody>
          </p:sp>
          <p:sp>
            <p:nvSpPr>
              <p:cNvPr id="68661" name="Text Box 110"/>
              <p:cNvSpPr txBox="1">
                <a:spLocks noChangeArrowheads="1"/>
              </p:cNvSpPr>
              <p:nvPr/>
            </p:nvSpPr>
            <p:spPr bwMode="auto">
              <a:xfrm>
                <a:off x="4320" y="2071"/>
                <a:ext cx="42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2000"/>
                  <a:t>[8,7]</a:t>
                </a:r>
              </a:p>
            </p:txBody>
          </p:sp>
          <p:sp>
            <p:nvSpPr>
              <p:cNvPr id="68662" name="Text Box 111"/>
              <p:cNvSpPr txBox="1">
                <a:spLocks noChangeArrowheads="1"/>
              </p:cNvSpPr>
              <p:nvPr/>
            </p:nvSpPr>
            <p:spPr bwMode="auto">
              <a:xfrm>
                <a:off x="4320" y="2311"/>
                <a:ext cx="422"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90000"/>
                  </a:lnSpc>
                  <a:spcBef>
                    <a:spcPct val="50000"/>
                  </a:spcBef>
                  <a:buFont typeface="Wingdings" pitchFamily="2" charset="2"/>
                  <a:buNone/>
                </a:pPr>
                <a:r>
                  <a:rPr lang="en-US" sz="2000"/>
                  <a:t>[9,7]</a:t>
                </a:r>
              </a:p>
            </p:txBody>
          </p:sp>
        </p:grpSp>
      </p:grpSp>
      <p:grpSp>
        <p:nvGrpSpPr>
          <p:cNvPr id="304252" name="Group 124"/>
          <p:cNvGrpSpPr>
            <a:grpSpLocks/>
          </p:cNvGrpSpPr>
          <p:nvPr/>
        </p:nvGrpSpPr>
        <p:grpSpPr bwMode="auto">
          <a:xfrm>
            <a:off x="1524000" y="4114800"/>
            <a:ext cx="1616075" cy="2514600"/>
            <a:chOff x="960" y="2592"/>
            <a:chExt cx="1018" cy="1584"/>
          </a:xfrm>
        </p:grpSpPr>
        <p:sp>
          <p:nvSpPr>
            <p:cNvPr id="68624" name="Text Box 48"/>
            <p:cNvSpPr txBox="1">
              <a:spLocks noChangeArrowheads="1"/>
            </p:cNvSpPr>
            <p:nvPr/>
          </p:nvSpPr>
          <p:spPr bwMode="auto">
            <a:xfrm>
              <a:off x="1440" y="3360"/>
              <a:ext cx="538" cy="816"/>
            </a:xfrm>
            <a:prstGeom prst="rect">
              <a:avLst/>
            </a:prstGeom>
            <a:noFill/>
            <a:ln w="19050">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solidFill>
                    <a:schemeClr val="hlink"/>
                  </a:solidFill>
                </a:rPr>
                <a:t>(c, d) (c, a) (b, c) (a, b)</a:t>
              </a:r>
            </a:p>
          </p:txBody>
        </p:sp>
        <p:sp>
          <p:nvSpPr>
            <p:cNvPr id="68625" name="Rectangle 49"/>
            <p:cNvSpPr>
              <a:spLocks noChangeArrowheads="1"/>
            </p:cNvSpPr>
            <p:nvPr/>
          </p:nvSpPr>
          <p:spPr bwMode="auto">
            <a:xfrm>
              <a:off x="1440" y="2592"/>
              <a:ext cx="528" cy="711"/>
            </a:xfrm>
            <a:prstGeom prst="rect">
              <a:avLst/>
            </a:prstGeom>
            <a:solidFill>
              <a:srgbClr val="FFFFFF"/>
            </a:solidFill>
            <a:ln w="19050">
              <a:solidFill>
                <a:srgbClr val="FF0000"/>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spAutoFit/>
            </a:bodyPr>
            <a:lstStyle/>
            <a:p>
              <a:pPr algn="ctr" eaLnBrk="1" hangingPunct="1">
                <a:lnSpc>
                  <a:spcPct val="115000"/>
                </a:lnSpc>
                <a:spcBef>
                  <a:spcPct val="50000"/>
                </a:spcBef>
                <a:buFont typeface="Wingdings" pitchFamily="2" charset="2"/>
                <a:buNone/>
              </a:pPr>
              <a:r>
                <a:rPr lang="en-US" sz="2000">
                  <a:solidFill>
                    <a:srgbClr val="CC0000"/>
                  </a:solidFill>
                </a:rPr>
                <a:t>(f, d) (e, f) (d, e)</a:t>
              </a:r>
            </a:p>
          </p:txBody>
        </p:sp>
        <p:sp>
          <p:nvSpPr>
            <p:cNvPr id="68626" name="AutoShape 50"/>
            <p:cNvSpPr>
              <a:spLocks noChangeArrowheads="1"/>
            </p:cNvSpPr>
            <p:nvPr/>
          </p:nvSpPr>
          <p:spPr bwMode="auto">
            <a:xfrm>
              <a:off x="960" y="3264"/>
              <a:ext cx="336" cy="192"/>
            </a:xfrm>
            <a:prstGeom prst="rightArrow">
              <a:avLst>
                <a:gd name="adj1" fmla="val 50000"/>
                <a:gd name="adj2" fmla="val 43750"/>
              </a:avLst>
            </a:prstGeom>
            <a:solidFill>
              <a:srgbClr val="CC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68627" name="Text Box 52"/>
            <p:cNvSpPr txBox="1">
              <a:spLocks noChangeArrowheads="1"/>
            </p:cNvSpPr>
            <p:nvPr/>
          </p:nvSpPr>
          <p:spPr bwMode="auto">
            <a:xfrm>
              <a:off x="960" y="2592"/>
              <a:ext cx="410"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solidFill>
                    <a:srgbClr val="CC0000"/>
                  </a:solidFill>
                </a:rPr>
                <a:t>POP</a:t>
              </a:r>
            </a:p>
          </p:txBody>
        </p:sp>
        <p:sp>
          <p:nvSpPr>
            <p:cNvPr id="68628" name="Rectangle 113"/>
            <p:cNvSpPr>
              <a:spLocks noChangeArrowheads="1"/>
            </p:cNvSpPr>
            <p:nvPr/>
          </p:nvSpPr>
          <p:spPr bwMode="auto">
            <a:xfrm>
              <a:off x="960" y="3024"/>
              <a:ext cx="384"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solidFill>
                    <a:srgbClr val="CC0000"/>
                  </a:solidFill>
                </a:rPr>
                <a:t>(d,e)</a:t>
              </a:r>
            </a:p>
          </p:txBody>
        </p:sp>
      </p:grpSp>
      <p:grpSp>
        <p:nvGrpSpPr>
          <p:cNvPr id="304253" name="Group 125"/>
          <p:cNvGrpSpPr>
            <a:grpSpLocks/>
          </p:cNvGrpSpPr>
          <p:nvPr/>
        </p:nvGrpSpPr>
        <p:grpSpPr bwMode="auto">
          <a:xfrm>
            <a:off x="5105400" y="3581400"/>
            <a:ext cx="1692275" cy="3124200"/>
            <a:chOff x="3216" y="2256"/>
            <a:chExt cx="1066" cy="1968"/>
          </a:xfrm>
        </p:grpSpPr>
        <p:sp>
          <p:nvSpPr>
            <p:cNvPr id="68620" name="Text Box 54"/>
            <p:cNvSpPr txBox="1">
              <a:spLocks noChangeArrowheads="1"/>
            </p:cNvSpPr>
            <p:nvPr/>
          </p:nvSpPr>
          <p:spPr bwMode="auto">
            <a:xfrm>
              <a:off x="3744" y="3024"/>
              <a:ext cx="538" cy="1200"/>
            </a:xfrm>
            <a:prstGeom prst="rect">
              <a:avLst/>
            </a:prstGeom>
            <a:noFill/>
            <a:ln w="19050">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solidFill>
                    <a:schemeClr val="hlink"/>
                  </a:solidFill>
                </a:rPr>
                <a:t>(g, b) (d, g) (c, d) (c, a) (b, c) (a, b)</a:t>
              </a:r>
            </a:p>
          </p:txBody>
        </p:sp>
        <p:sp>
          <p:nvSpPr>
            <p:cNvPr id="68621" name="Rectangle 55"/>
            <p:cNvSpPr>
              <a:spLocks noChangeArrowheads="1"/>
            </p:cNvSpPr>
            <p:nvPr/>
          </p:nvSpPr>
          <p:spPr bwMode="auto">
            <a:xfrm>
              <a:off x="3744" y="2256"/>
              <a:ext cx="536" cy="711"/>
            </a:xfrm>
            <a:prstGeom prst="rect">
              <a:avLst/>
            </a:prstGeom>
            <a:solidFill>
              <a:srgbClr val="FFFFFF"/>
            </a:solidFill>
            <a:ln w="19050">
              <a:solidFill>
                <a:srgbClr val="FF0000"/>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spAutoFit/>
            </a:bodyPr>
            <a:lstStyle/>
            <a:p>
              <a:pPr algn="ctr" eaLnBrk="1" hangingPunct="1">
                <a:lnSpc>
                  <a:spcPct val="115000"/>
                </a:lnSpc>
                <a:spcBef>
                  <a:spcPct val="50000"/>
                </a:spcBef>
                <a:buFont typeface="Wingdings" pitchFamily="2" charset="2"/>
                <a:buNone/>
              </a:pPr>
              <a:r>
                <a:rPr lang="en-US" sz="2000">
                  <a:solidFill>
                    <a:srgbClr val="CC0000"/>
                  </a:solidFill>
                </a:rPr>
                <a:t>(i, g)  (h, i) (g, h)</a:t>
              </a:r>
            </a:p>
          </p:txBody>
        </p:sp>
        <p:sp>
          <p:nvSpPr>
            <p:cNvPr id="68622" name="AutoShape 56"/>
            <p:cNvSpPr>
              <a:spLocks noChangeArrowheads="1"/>
            </p:cNvSpPr>
            <p:nvPr/>
          </p:nvSpPr>
          <p:spPr bwMode="auto">
            <a:xfrm>
              <a:off x="3264" y="3264"/>
              <a:ext cx="336" cy="192"/>
            </a:xfrm>
            <a:prstGeom prst="rightArrow">
              <a:avLst>
                <a:gd name="adj1" fmla="val 50000"/>
                <a:gd name="adj2" fmla="val 43750"/>
              </a:avLst>
            </a:prstGeom>
            <a:solidFill>
              <a:srgbClr val="CC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68623" name="Rectangle 114"/>
            <p:cNvSpPr>
              <a:spLocks noChangeArrowheads="1"/>
            </p:cNvSpPr>
            <p:nvPr/>
          </p:nvSpPr>
          <p:spPr bwMode="auto">
            <a:xfrm>
              <a:off x="3216" y="2784"/>
              <a:ext cx="392"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solidFill>
                    <a:srgbClr val="CC0000"/>
                  </a:solidFill>
                </a:rPr>
                <a:t>(g,h)</a:t>
              </a:r>
            </a:p>
          </p:txBody>
        </p:sp>
      </p:grpSp>
      <p:grpSp>
        <p:nvGrpSpPr>
          <p:cNvPr id="304254" name="Group 126"/>
          <p:cNvGrpSpPr>
            <a:grpSpLocks/>
          </p:cNvGrpSpPr>
          <p:nvPr/>
        </p:nvGrpSpPr>
        <p:grpSpPr bwMode="auto">
          <a:xfrm>
            <a:off x="7010400" y="4800600"/>
            <a:ext cx="1539875" cy="1905000"/>
            <a:chOff x="4416" y="3024"/>
            <a:chExt cx="970" cy="1200"/>
          </a:xfrm>
        </p:grpSpPr>
        <p:sp>
          <p:nvSpPr>
            <p:cNvPr id="68617" name="AutoShape 64"/>
            <p:cNvSpPr>
              <a:spLocks noChangeArrowheads="1"/>
            </p:cNvSpPr>
            <p:nvPr/>
          </p:nvSpPr>
          <p:spPr bwMode="auto">
            <a:xfrm>
              <a:off x="4416" y="3216"/>
              <a:ext cx="336" cy="192"/>
            </a:xfrm>
            <a:prstGeom prst="rightArrow">
              <a:avLst>
                <a:gd name="adj1" fmla="val 50000"/>
                <a:gd name="adj2" fmla="val 43750"/>
              </a:avLst>
            </a:prstGeom>
            <a:solidFill>
              <a:srgbClr val="CC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68618" name="Text Box 67"/>
            <p:cNvSpPr txBox="1">
              <a:spLocks noChangeArrowheads="1"/>
            </p:cNvSpPr>
            <p:nvPr/>
          </p:nvSpPr>
          <p:spPr bwMode="auto">
            <a:xfrm>
              <a:off x="4848" y="3024"/>
              <a:ext cx="538" cy="1200"/>
            </a:xfrm>
            <a:prstGeom prst="rect">
              <a:avLst/>
            </a:prstGeom>
            <a:solidFill>
              <a:srgbClr val="FFFFFF"/>
            </a:solidFill>
            <a:ln w="19050">
              <a:solidFill>
                <a:srgbClr val="FF0000"/>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solidFill>
                    <a:srgbClr val="CC0000"/>
                  </a:solidFill>
                </a:rPr>
                <a:t>(g, b) (d, g) (c, d) (c, a) (b, c) (a, b)</a:t>
              </a:r>
            </a:p>
          </p:txBody>
        </p:sp>
        <p:sp>
          <p:nvSpPr>
            <p:cNvPr id="68619" name="Rectangle 115"/>
            <p:cNvSpPr>
              <a:spLocks noChangeArrowheads="1"/>
            </p:cNvSpPr>
            <p:nvPr/>
          </p:nvSpPr>
          <p:spPr bwMode="auto">
            <a:xfrm>
              <a:off x="4416" y="3936"/>
              <a:ext cx="384"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solidFill>
                    <a:srgbClr val="CC0000"/>
                  </a:solidFill>
                </a:rPr>
                <a:t>(a,b)</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66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304130"/>
                                        </p:tgtEl>
                                        <p:attrNameLst>
                                          <p:attrName>style.visibility</p:attrName>
                                        </p:attrNameLst>
                                      </p:cBhvr>
                                      <p:to>
                                        <p:strVal val="visible"/>
                                      </p:to>
                                    </p:set>
                                    <p:anim calcmode="lin" valueType="num">
                                      <p:cBhvr>
                                        <p:cTn id="7" dur="500" fill="hold"/>
                                        <p:tgtEl>
                                          <p:spTgt spid="304130"/>
                                        </p:tgtEl>
                                        <p:attrNameLst>
                                          <p:attrName>ppt_w</p:attrName>
                                        </p:attrNameLst>
                                      </p:cBhvr>
                                      <p:tavLst>
                                        <p:tav tm="0">
                                          <p:val>
                                            <p:fltVal val="0"/>
                                          </p:val>
                                        </p:tav>
                                        <p:tav tm="100000">
                                          <p:val>
                                            <p:strVal val="#ppt_w"/>
                                          </p:val>
                                        </p:tav>
                                      </p:tavLst>
                                    </p:anim>
                                    <p:anim calcmode="lin" valueType="num">
                                      <p:cBhvr>
                                        <p:cTn id="8" dur="500" fill="hold"/>
                                        <p:tgtEl>
                                          <p:spTgt spid="30413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304251"/>
                                        </p:tgtEl>
                                        <p:attrNameLst>
                                          <p:attrName>style.visibility</p:attrName>
                                        </p:attrNameLst>
                                      </p:cBhvr>
                                      <p:to>
                                        <p:strVal val="visible"/>
                                      </p:to>
                                    </p:set>
                                    <p:animEffect transition="in" filter="wipe(left)">
                                      <p:cBhvr>
                                        <p:cTn id="13" dur="500"/>
                                        <p:tgtEl>
                                          <p:spTgt spid="30425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304189"/>
                                        </p:tgtEl>
                                        <p:attrNameLst>
                                          <p:attrName>style.visibility</p:attrName>
                                        </p:attrNameLst>
                                      </p:cBhvr>
                                      <p:to>
                                        <p:strVal val="visible"/>
                                      </p:to>
                                    </p:set>
                                    <p:animEffect transition="in" filter="wipe(left)">
                                      <p:cBhvr>
                                        <p:cTn id="18" dur="500"/>
                                        <p:tgtEl>
                                          <p:spTgt spid="30418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304252"/>
                                        </p:tgtEl>
                                        <p:attrNameLst>
                                          <p:attrName>style.visibility</p:attrName>
                                        </p:attrNameLst>
                                      </p:cBhvr>
                                      <p:to>
                                        <p:strVal val="visible"/>
                                      </p:to>
                                    </p:set>
                                    <p:animEffect transition="in" filter="wipe(left)">
                                      <p:cBhvr>
                                        <p:cTn id="23" dur="500"/>
                                        <p:tgtEl>
                                          <p:spTgt spid="30425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304246"/>
                                        </p:tgtEl>
                                        <p:attrNameLst>
                                          <p:attrName>style.visibility</p:attrName>
                                        </p:attrNameLst>
                                      </p:cBhvr>
                                      <p:to>
                                        <p:strVal val="visible"/>
                                      </p:to>
                                    </p:set>
                                    <p:animEffect transition="in" filter="wipe(left)">
                                      <p:cBhvr>
                                        <p:cTn id="28" dur="500"/>
                                        <p:tgtEl>
                                          <p:spTgt spid="30424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304253"/>
                                        </p:tgtEl>
                                        <p:attrNameLst>
                                          <p:attrName>style.visibility</p:attrName>
                                        </p:attrNameLst>
                                      </p:cBhvr>
                                      <p:to>
                                        <p:strVal val="visible"/>
                                      </p:to>
                                    </p:set>
                                    <p:animEffect transition="in" filter="wipe(left)">
                                      <p:cBhvr>
                                        <p:cTn id="33" dur="500"/>
                                        <p:tgtEl>
                                          <p:spTgt spid="30425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304254"/>
                                        </p:tgtEl>
                                        <p:attrNameLst>
                                          <p:attrName>style.visibility</p:attrName>
                                        </p:attrNameLst>
                                      </p:cBhvr>
                                      <p:to>
                                        <p:strVal val="visible"/>
                                      </p:to>
                                    </p:set>
                                    <p:animEffect transition="in" filter="wipe(left)">
                                      <p:cBhvr>
                                        <p:cTn id="38" dur="500"/>
                                        <p:tgtEl>
                                          <p:spTgt spid="304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0" grpId="0" animBg="1"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515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err="1" smtClean="0">
                <a:solidFill>
                  <a:schemeClr val="tx1"/>
                </a:solidFill>
                <a:latin typeface="Arial Rounded MT Bold" pitchFamily="34" charset="0"/>
              </a:rPr>
              <a:t>BiConnectivity</a:t>
            </a:r>
            <a:r>
              <a:rPr lang="en-US" sz="2800" dirty="0" smtClean="0">
                <a:solidFill>
                  <a:schemeClr val="tx1"/>
                </a:solidFill>
                <a:latin typeface="Arial Rounded MT Bold" pitchFamily="34" charset="0"/>
              </a:rPr>
              <a:t> Algorithm </a:t>
            </a:r>
            <a:r>
              <a:rPr lang="en-US" sz="2400" dirty="0" smtClean="0">
                <a:solidFill>
                  <a:srgbClr val="CC0000"/>
                </a:solidFill>
                <a:latin typeface="Arial Rounded MT Bold" pitchFamily="34" charset="0"/>
              </a:rPr>
              <a:t>– </a:t>
            </a:r>
            <a:r>
              <a:rPr lang="en-US" sz="2400" dirty="0" err="1" smtClean="0">
                <a:solidFill>
                  <a:srgbClr val="CC0000"/>
                </a:solidFill>
                <a:latin typeface="Arial Rounded MT Bold" pitchFamily="34" charset="0"/>
              </a:rPr>
              <a:t>Hopcroft</a:t>
            </a:r>
            <a:r>
              <a:rPr lang="en-US" sz="2400" dirty="0" smtClean="0">
                <a:solidFill>
                  <a:srgbClr val="CC0000"/>
                </a:solidFill>
                <a:latin typeface="Arial Rounded MT Bold" pitchFamily="34" charset="0"/>
              </a:rPr>
              <a:t> [1972]</a:t>
            </a:r>
          </a:p>
        </p:txBody>
      </p:sp>
      <p:sp>
        <p:nvSpPr>
          <p:cNvPr id="305155" name="Text Box 3"/>
          <p:cNvSpPr txBox="1">
            <a:spLocks noChangeArrowheads="1"/>
          </p:cNvSpPr>
          <p:nvPr/>
        </p:nvSpPr>
        <p:spPr bwMode="auto">
          <a:xfrm>
            <a:off x="152400" y="838200"/>
            <a:ext cx="8839200" cy="5864225"/>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457200" indent="-457200" defTabSz="439738">
              <a:defRPr sz="1600">
                <a:solidFill>
                  <a:schemeClr val="tx1"/>
                </a:solidFill>
                <a:latin typeface="Times New Roman" pitchFamily="18" charset="0"/>
              </a:defRPr>
            </a:lvl1pPr>
            <a:lvl2pPr marL="742950" indent="-285750" defTabSz="439738">
              <a:defRPr sz="1600">
                <a:solidFill>
                  <a:schemeClr val="tx1"/>
                </a:solidFill>
                <a:latin typeface="Times New Roman" pitchFamily="18" charset="0"/>
              </a:defRPr>
            </a:lvl2pPr>
            <a:lvl3pPr marL="1143000" indent="-228600" defTabSz="439738">
              <a:defRPr sz="1600">
                <a:solidFill>
                  <a:schemeClr val="tx1"/>
                </a:solidFill>
                <a:latin typeface="Times New Roman" pitchFamily="18" charset="0"/>
              </a:defRPr>
            </a:lvl3pPr>
            <a:lvl4pPr marL="1600200" indent="-228600" defTabSz="439738">
              <a:defRPr sz="1600">
                <a:solidFill>
                  <a:schemeClr val="tx1"/>
                </a:solidFill>
                <a:latin typeface="Times New Roman" pitchFamily="18" charset="0"/>
              </a:defRPr>
            </a:lvl4pPr>
            <a:lvl5pPr marL="2057400" indent="-228600" defTabSz="439738">
              <a:defRPr sz="1600">
                <a:solidFill>
                  <a:schemeClr val="tx1"/>
                </a:solidFill>
                <a:latin typeface="Times New Roman" pitchFamily="18" charset="0"/>
              </a:defRPr>
            </a:lvl5pPr>
            <a:lvl6pPr marL="2514600" indent="-228600" defTabSz="439738" eaLnBrk="0" fontAlgn="base" hangingPunct="0">
              <a:spcBef>
                <a:spcPct val="0"/>
              </a:spcBef>
              <a:spcAft>
                <a:spcPct val="0"/>
              </a:spcAft>
              <a:buChar char="•"/>
              <a:defRPr sz="1600">
                <a:solidFill>
                  <a:schemeClr val="tx1"/>
                </a:solidFill>
                <a:latin typeface="Times New Roman" pitchFamily="18" charset="0"/>
              </a:defRPr>
            </a:lvl6pPr>
            <a:lvl7pPr marL="2971800" indent="-228600" defTabSz="439738" eaLnBrk="0" fontAlgn="base" hangingPunct="0">
              <a:spcBef>
                <a:spcPct val="0"/>
              </a:spcBef>
              <a:spcAft>
                <a:spcPct val="0"/>
              </a:spcAft>
              <a:buChar char="•"/>
              <a:defRPr sz="1600">
                <a:solidFill>
                  <a:schemeClr val="tx1"/>
                </a:solidFill>
                <a:latin typeface="Times New Roman" pitchFamily="18" charset="0"/>
              </a:defRPr>
            </a:lvl7pPr>
            <a:lvl8pPr marL="3429000" indent="-228600" defTabSz="439738" eaLnBrk="0" fontAlgn="base" hangingPunct="0">
              <a:spcBef>
                <a:spcPct val="0"/>
              </a:spcBef>
              <a:spcAft>
                <a:spcPct val="0"/>
              </a:spcAft>
              <a:buChar char="•"/>
              <a:defRPr sz="1600">
                <a:solidFill>
                  <a:schemeClr val="tx1"/>
                </a:solidFill>
                <a:latin typeface="Times New Roman" pitchFamily="18" charset="0"/>
              </a:defRPr>
            </a:lvl8pPr>
            <a:lvl9pPr marL="3886200" indent="-228600" defTabSz="439738"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80000"/>
              </a:lnSpc>
              <a:buFontTx/>
              <a:buNone/>
            </a:pPr>
            <a:r>
              <a:rPr lang="en-US" sz="2400" b="1" dirty="0"/>
              <a:t>Algorithm</a:t>
            </a:r>
            <a:r>
              <a:rPr lang="en-US" sz="2400" dirty="0">
                <a:solidFill>
                  <a:schemeClr val="hlink"/>
                </a:solidFill>
              </a:rPr>
              <a:t>  </a:t>
            </a:r>
            <a:r>
              <a:rPr lang="en-US" sz="2400" b="1" dirty="0" err="1">
                <a:solidFill>
                  <a:schemeClr val="hlink"/>
                </a:solidFill>
              </a:rPr>
              <a:t>BiConnectivity</a:t>
            </a:r>
            <a:r>
              <a:rPr lang="en-US" sz="2400" b="1" dirty="0">
                <a:solidFill>
                  <a:schemeClr val="hlink"/>
                </a:solidFill>
              </a:rPr>
              <a:t> </a:t>
            </a:r>
            <a:r>
              <a:rPr lang="en-US" sz="2400" dirty="0">
                <a:solidFill>
                  <a:schemeClr val="hlink"/>
                </a:solidFill>
              </a:rPr>
              <a:t>(</a:t>
            </a:r>
            <a:r>
              <a:rPr lang="en-US" sz="2400" dirty="0">
                <a:solidFill>
                  <a:schemeClr val="hlink"/>
                </a:solidFill>
                <a:sym typeface="Symbol" pitchFamily="18" charset="2"/>
              </a:rPr>
              <a:t>G</a:t>
            </a:r>
            <a:r>
              <a:rPr lang="en-US" sz="2400" dirty="0">
                <a:solidFill>
                  <a:schemeClr val="hlink"/>
                </a:solidFill>
              </a:rPr>
              <a:t>)</a:t>
            </a:r>
            <a:r>
              <a:rPr lang="en-US" sz="2000" dirty="0">
                <a:solidFill>
                  <a:schemeClr val="tx2"/>
                </a:solidFill>
              </a:rPr>
              <a:t> 					</a:t>
            </a:r>
            <a:r>
              <a:rPr lang="en-US" sz="2400" b="1" dirty="0">
                <a:solidFill>
                  <a:srgbClr val="CC0000"/>
                </a:solidFill>
                <a:cs typeface="Arial" pitchFamily="34" charset="0"/>
              </a:rPr>
              <a:t>§ O(V + E) time</a:t>
            </a:r>
            <a:endParaRPr lang="en-US" sz="2400" b="1" dirty="0">
              <a:solidFill>
                <a:schemeClr val="tx2"/>
              </a:solidFill>
            </a:endParaRPr>
          </a:p>
          <a:p>
            <a:pPr eaLnBrk="1" hangingPunct="1">
              <a:lnSpc>
                <a:spcPct val="80000"/>
              </a:lnSpc>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S</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a:t>
            </a:r>
            <a:r>
              <a:rPr lang="en-US" sz="2000" dirty="0">
                <a:solidFill>
                  <a:srgbClr val="CC0000"/>
                </a:solidFill>
                <a:sym typeface="Symbol" pitchFamily="18" charset="2"/>
              </a:rPr>
              <a:t> ;  </a:t>
            </a:r>
            <a:r>
              <a:rPr lang="en-US" sz="2000" dirty="0">
                <a:solidFill>
                  <a:schemeClr val="hlink"/>
                </a:solidFill>
                <a:sym typeface="Symbol" pitchFamily="18" charset="2"/>
              </a:rPr>
              <a:t>time</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0 								</a:t>
            </a:r>
            <a:r>
              <a:rPr lang="en-US" sz="2000" dirty="0">
                <a:solidFill>
                  <a:srgbClr val="CC0000"/>
                </a:solidFill>
                <a:cs typeface="Arial" pitchFamily="34" charset="0"/>
              </a:rPr>
              <a:t>§ assume no isolated nodes</a:t>
            </a:r>
            <a:endParaRPr lang="en-US" sz="2000" dirty="0">
              <a:solidFill>
                <a:srgbClr val="CC0000"/>
              </a:solidFill>
            </a:endParaRPr>
          </a:p>
          <a:p>
            <a:pPr eaLnBrk="1" hangingPunct="1">
              <a:lnSpc>
                <a:spcPct val="80000"/>
              </a:lnSpc>
              <a:buFontTx/>
              <a:buAutoNum type="arabicPeriod"/>
            </a:pPr>
            <a:r>
              <a:rPr lang="en-US" sz="2000" dirty="0">
                <a:solidFill>
                  <a:srgbClr val="CC0000"/>
                </a:solidFill>
              </a:rPr>
              <a:t> </a:t>
            </a:r>
            <a:r>
              <a:rPr lang="en-US" sz="2000" b="1" dirty="0"/>
              <a:t>for</a:t>
            </a:r>
            <a:r>
              <a:rPr lang="en-US" sz="2000" dirty="0">
                <a:solidFill>
                  <a:schemeClr val="hlink"/>
                </a:solidFill>
              </a:rPr>
              <a:t>  each vertex </a:t>
            </a:r>
            <a:r>
              <a:rPr lang="en-US" sz="2000" dirty="0">
                <a:solidFill>
                  <a:schemeClr val="hlink"/>
                </a:solidFill>
                <a:sym typeface="Symbol" pitchFamily="18" charset="2"/>
              </a:rPr>
              <a:t>u  V(G)  </a:t>
            </a:r>
            <a:r>
              <a:rPr lang="en-US" sz="2000" b="1" dirty="0"/>
              <a:t>do   </a:t>
            </a:r>
            <a:r>
              <a:rPr lang="en-US" sz="2000" dirty="0">
                <a:solidFill>
                  <a:schemeClr val="hlink"/>
                </a:solidFill>
                <a:sym typeface="Symbol" pitchFamily="18" charset="2"/>
              </a:rPr>
              <a:t></a:t>
            </a:r>
            <a:r>
              <a:rPr lang="en-US" sz="2000" dirty="0">
                <a:solidFill>
                  <a:schemeClr val="hlink"/>
                </a:solidFill>
              </a:rPr>
              <a:t>pre[u], </a:t>
            </a:r>
            <a:r>
              <a:rPr lang="en-US" sz="2000" dirty="0">
                <a:solidFill>
                  <a:schemeClr val="hlink"/>
                </a:solidFill>
                <a:latin typeface="Symbol" pitchFamily="18" charset="2"/>
              </a:rPr>
              <a:t>p</a:t>
            </a:r>
            <a:r>
              <a:rPr lang="en-US" sz="2000" dirty="0">
                <a:solidFill>
                  <a:schemeClr val="hlink"/>
                </a:solidFill>
              </a:rPr>
              <a:t>[u]</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0, nil</a:t>
            </a:r>
            <a:r>
              <a:rPr lang="en-US" sz="2000" dirty="0">
                <a:solidFill>
                  <a:schemeClr val="hlink"/>
                </a:solidFill>
                <a:sym typeface="Symbol" pitchFamily="18" charset="2"/>
              </a:rPr>
              <a:t></a:t>
            </a:r>
            <a:r>
              <a:rPr lang="en-US" sz="2000" dirty="0">
                <a:solidFill>
                  <a:schemeClr val="tx2"/>
                </a:solidFill>
              </a:rPr>
              <a:t> </a:t>
            </a:r>
          </a:p>
          <a:p>
            <a:pPr eaLnBrk="1" hangingPunct="1">
              <a:lnSpc>
                <a:spcPct val="80000"/>
              </a:lnSpc>
              <a:buFontTx/>
              <a:buAutoNum type="arabicPeriod"/>
            </a:pPr>
            <a:r>
              <a:rPr lang="en-US" sz="2000" dirty="0">
                <a:solidFill>
                  <a:srgbClr val="CC0000"/>
                </a:solidFill>
              </a:rPr>
              <a:t> </a:t>
            </a:r>
            <a:r>
              <a:rPr lang="en-US" sz="2000" b="1" dirty="0"/>
              <a:t>for</a:t>
            </a:r>
            <a:r>
              <a:rPr lang="en-US" sz="2000" dirty="0">
                <a:solidFill>
                  <a:schemeClr val="hlink"/>
                </a:solidFill>
              </a:rPr>
              <a:t>  each vertex </a:t>
            </a:r>
            <a:r>
              <a:rPr lang="en-US" sz="2000" dirty="0">
                <a:solidFill>
                  <a:schemeClr val="hlink"/>
                </a:solidFill>
                <a:sym typeface="Symbol" pitchFamily="18" charset="2"/>
              </a:rPr>
              <a:t>u  V(G)  </a:t>
            </a:r>
            <a:r>
              <a:rPr lang="en-US" sz="2000" b="1" dirty="0"/>
              <a:t>do   </a:t>
            </a:r>
            <a:r>
              <a:rPr lang="en-US" sz="2000" b="1" dirty="0">
                <a:solidFill>
                  <a:schemeClr val="tx2"/>
                </a:solidFill>
              </a:rPr>
              <a:t>if</a:t>
            </a:r>
            <a:r>
              <a:rPr lang="en-US" sz="2000" dirty="0">
                <a:solidFill>
                  <a:schemeClr val="tx2"/>
                </a:solidFill>
              </a:rPr>
              <a:t> </a:t>
            </a:r>
            <a:r>
              <a:rPr lang="en-US" sz="2000" dirty="0">
                <a:solidFill>
                  <a:schemeClr val="hlink"/>
                </a:solidFill>
              </a:rPr>
              <a:t>pre[u] = 0  </a:t>
            </a:r>
            <a:r>
              <a:rPr lang="en-US" sz="2000" b="1" dirty="0">
                <a:solidFill>
                  <a:schemeClr val="tx2"/>
                </a:solidFill>
              </a:rPr>
              <a:t>then  </a:t>
            </a:r>
            <a:r>
              <a:rPr lang="en-US" sz="2000" b="1" dirty="0" err="1">
                <a:solidFill>
                  <a:schemeClr val="hlink"/>
                </a:solidFill>
                <a:sym typeface="Symbol" pitchFamily="18" charset="2"/>
              </a:rPr>
              <a:t>SearchBC</a:t>
            </a:r>
            <a:r>
              <a:rPr lang="en-US" sz="2000" dirty="0">
                <a:solidFill>
                  <a:schemeClr val="hlink"/>
                </a:solidFill>
                <a:sym typeface="Symbol" pitchFamily="18" charset="2"/>
              </a:rPr>
              <a:t>(u) 	</a:t>
            </a:r>
          </a:p>
          <a:p>
            <a:pPr eaLnBrk="1" hangingPunct="1">
              <a:lnSpc>
                <a:spcPct val="80000"/>
              </a:lnSpc>
              <a:buFontTx/>
              <a:buNone/>
            </a:pPr>
            <a:r>
              <a:rPr lang="en-US" sz="2000" b="1" dirty="0"/>
              <a:t>end</a:t>
            </a:r>
            <a:br>
              <a:rPr lang="en-US" sz="2000" b="1" dirty="0"/>
            </a:br>
            <a:endParaRPr lang="en-US" sz="2000" dirty="0">
              <a:solidFill>
                <a:schemeClr val="hlink"/>
              </a:solidFill>
              <a:sym typeface="Symbol" pitchFamily="18" charset="2"/>
            </a:endParaRPr>
          </a:p>
          <a:p>
            <a:pPr eaLnBrk="1" hangingPunct="1">
              <a:lnSpc>
                <a:spcPct val="80000"/>
              </a:lnSpc>
              <a:buFontTx/>
              <a:buNone/>
            </a:pPr>
            <a:r>
              <a:rPr lang="en-US" sz="2000" b="1" dirty="0"/>
              <a:t>Procedure  </a:t>
            </a:r>
            <a:r>
              <a:rPr lang="en-US" sz="2000" b="1" dirty="0" err="1">
                <a:solidFill>
                  <a:schemeClr val="hlink"/>
                </a:solidFill>
                <a:sym typeface="Symbol" pitchFamily="18" charset="2"/>
              </a:rPr>
              <a:t>SearchBC</a:t>
            </a:r>
            <a:r>
              <a:rPr lang="en-US" sz="2000" dirty="0">
                <a:solidFill>
                  <a:schemeClr val="hlink"/>
                </a:solidFill>
                <a:sym typeface="Symbol" pitchFamily="18" charset="2"/>
              </a:rPr>
              <a:t>(u)</a:t>
            </a:r>
            <a:endParaRPr lang="en-US" sz="2000" dirty="0">
              <a:solidFill>
                <a:srgbClr val="CC0000"/>
              </a:solidFill>
              <a:cs typeface="Arial" pitchFamily="34" charset="0"/>
            </a:endParaRPr>
          </a:p>
          <a:p>
            <a:pPr eaLnBrk="1" hangingPunct="1">
              <a:lnSpc>
                <a:spcPct val="80000"/>
              </a:lnSpc>
              <a:buFontTx/>
              <a:buAutoNum type="arabicPeriod" startAt="4"/>
            </a:pPr>
            <a:r>
              <a:rPr lang="en-US" sz="2000" dirty="0">
                <a:solidFill>
                  <a:srgbClr val="CC0000"/>
                </a:solidFill>
                <a:sym typeface="Symbol" pitchFamily="18" charset="2"/>
              </a:rPr>
              <a:t> </a:t>
            </a:r>
            <a:r>
              <a:rPr lang="en-US" sz="2000" dirty="0">
                <a:solidFill>
                  <a:schemeClr val="hlink"/>
                </a:solidFill>
              </a:rPr>
              <a:t>pre[u] </a:t>
            </a:r>
            <a:r>
              <a:rPr lang="en-US" sz="2000" dirty="0">
                <a:solidFill>
                  <a:schemeClr val="hlink"/>
                </a:solidFill>
                <a:sym typeface="Symbol" pitchFamily="18" charset="2"/>
              </a:rPr>
              <a:t> low[u]  time</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time + 1</a:t>
            </a:r>
            <a:r>
              <a:rPr lang="en-US" sz="2000" dirty="0">
                <a:solidFill>
                  <a:srgbClr val="CC0000"/>
                </a:solidFill>
                <a:cs typeface="Arial" pitchFamily="34" charset="0"/>
              </a:rPr>
              <a:t> 	</a:t>
            </a:r>
          </a:p>
          <a:p>
            <a:pPr eaLnBrk="1" hangingPunct="1">
              <a:lnSpc>
                <a:spcPct val="80000"/>
              </a:lnSpc>
              <a:buFontTx/>
              <a:buAutoNum type="arabicPeriod" startAt="4"/>
            </a:pPr>
            <a:r>
              <a:rPr lang="en-US" sz="2000" dirty="0">
                <a:solidFill>
                  <a:srgbClr val="CC0000"/>
                </a:solidFill>
              </a:rPr>
              <a:t> </a:t>
            </a:r>
            <a:r>
              <a:rPr lang="en-US" sz="2000" b="1" dirty="0"/>
              <a:t>for</a:t>
            </a:r>
            <a:r>
              <a:rPr lang="en-US" sz="2000" dirty="0">
                <a:solidFill>
                  <a:schemeClr val="hlink"/>
                </a:solidFill>
              </a:rPr>
              <a:t> each vertex </a:t>
            </a:r>
            <a:r>
              <a:rPr lang="en-US" sz="2000" dirty="0">
                <a:solidFill>
                  <a:schemeClr val="hlink"/>
                </a:solidFill>
                <a:sym typeface="Symbol" pitchFamily="18" charset="2"/>
              </a:rPr>
              <a:t>v  </a:t>
            </a:r>
            <a:r>
              <a:rPr lang="en-US" sz="2000" dirty="0" err="1">
                <a:solidFill>
                  <a:schemeClr val="hlink"/>
                </a:solidFill>
                <a:sym typeface="Symbol" pitchFamily="18" charset="2"/>
              </a:rPr>
              <a:t>Adj</a:t>
            </a:r>
            <a:r>
              <a:rPr lang="en-US" sz="2000" dirty="0">
                <a:solidFill>
                  <a:schemeClr val="hlink"/>
                </a:solidFill>
                <a:sym typeface="Symbol" pitchFamily="18" charset="2"/>
              </a:rPr>
              <a:t>[u] </a:t>
            </a:r>
            <a:r>
              <a:rPr lang="en-US" sz="2000" b="1" dirty="0"/>
              <a:t>do</a:t>
            </a:r>
            <a:r>
              <a:rPr lang="en-US" sz="2000" dirty="0">
                <a:solidFill>
                  <a:srgbClr val="CC0000"/>
                </a:solidFill>
                <a:cs typeface="Arial" pitchFamily="34" charset="0"/>
              </a:rPr>
              <a:t>             			</a:t>
            </a:r>
            <a:endParaRPr lang="en-US" sz="2000" dirty="0">
              <a:solidFill>
                <a:srgbClr val="CC0000"/>
              </a:solidFill>
            </a:endParaRPr>
          </a:p>
          <a:p>
            <a:pPr eaLnBrk="1" hangingPunct="1">
              <a:lnSpc>
                <a:spcPct val="80000"/>
              </a:lnSpc>
              <a:buFontTx/>
              <a:buAutoNum type="arabicPeriod" startAt="4"/>
            </a:pPr>
            <a:r>
              <a:rPr lang="en-US" sz="2000" dirty="0">
                <a:solidFill>
                  <a:srgbClr val="CC0000"/>
                </a:solidFill>
              </a:rPr>
              <a:t> 	</a:t>
            </a:r>
            <a:r>
              <a:rPr lang="en-US" sz="2000" b="1" dirty="0">
                <a:solidFill>
                  <a:schemeClr val="tx2"/>
                </a:solidFill>
              </a:rPr>
              <a:t>if</a:t>
            </a:r>
            <a:r>
              <a:rPr lang="en-US" sz="2000" dirty="0">
                <a:solidFill>
                  <a:srgbClr val="CC0000"/>
                </a:solidFill>
              </a:rPr>
              <a:t>  </a:t>
            </a:r>
            <a:r>
              <a:rPr lang="en-US" sz="2000" dirty="0">
                <a:solidFill>
                  <a:schemeClr val="hlink"/>
                </a:solidFill>
              </a:rPr>
              <a:t>v </a:t>
            </a:r>
            <a:r>
              <a:rPr lang="en-US" sz="2000" dirty="0">
                <a:solidFill>
                  <a:schemeClr val="hlink"/>
                </a:solidFill>
                <a:sym typeface="Symbol" pitchFamily="18" charset="2"/>
              </a:rPr>
              <a:t> </a:t>
            </a:r>
            <a:r>
              <a:rPr lang="en-US" sz="2000" dirty="0">
                <a:solidFill>
                  <a:schemeClr val="hlink"/>
                </a:solidFill>
                <a:latin typeface="Symbol" pitchFamily="18" charset="2"/>
              </a:rPr>
              <a:t>p</a:t>
            </a:r>
            <a:r>
              <a:rPr lang="en-US" sz="2000" dirty="0">
                <a:solidFill>
                  <a:schemeClr val="hlink"/>
                </a:solidFill>
              </a:rPr>
              <a:t>[u] &amp; pre[v] &lt; pre[u] 	 </a:t>
            </a:r>
            <a:r>
              <a:rPr lang="en-US" sz="2000" b="1" dirty="0">
                <a:solidFill>
                  <a:schemeClr val="tx2"/>
                </a:solidFill>
              </a:rPr>
              <a:t>then</a:t>
            </a:r>
            <a:r>
              <a:rPr lang="en-US" sz="2000" dirty="0">
                <a:solidFill>
                  <a:schemeClr val="hlink"/>
                </a:solidFill>
              </a:rPr>
              <a:t> Push((</a:t>
            </a:r>
            <a:r>
              <a:rPr lang="en-US" sz="2000" dirty="0" err="1">
                <a:solidFill>
                  <a:schemeClr val="hlink"/>
                </a:solidFill>
              </a:rPr>
              <a:t>u,v</a:t>
            </a:r>
            <a:r>
              <a:rPr lang="en-US" sz="2000" dirty="0">
                <a:solidFill>
                  <a:schemeClr val="hlink"/>
                </a:solidFill>
              </a:rPr>
              <a:t>), S)	     	</a:t>
            </a:r>
            <a:r>
              <a:rPr lang="en-US" sz="1800" dirty="0">
                <a:solidFill>
                  <a:srgbClr val="CC0000"/>
                </a:solidFill>
                <a:cs typeface="Arial" pitchFamily="34" charset="0"/>
              </a:rPr>
              <a:t>§ </a:t>
            </a:r>
            <a:r>
              <a:rPr lang="en-US" sz="1800" dirty="0">
                <a:solidFill>
                  <a:srgbClr val="CC0000"/>
                </a:solidFill>
              </a:rPr>
              <a:t>1</a:t>
            </a:r>
            <a:r>
              <a:rPr lang="en-US" sz="1800" baseline="30000" dirty="0">
                <a:solidFill>
                  <a:srgbClr val="CC0000"/>
                </a:solidFill>
              </a:rPr>
              <a:t>st</a:t>
            </a:r>
            <a:r>
              <a:rPr lang="en-US" sz="1800" dirty="0">
                <a:solidFill>
                  <a:srgbClr val="CC0000"/>
                </a:solidFill>
              </a:rPr>
              <a:t> traversal of (</a:t>
            </a:r>
            <a:r>
              <a:rPr lang="en-US" sz="1800" dirty="0" err="1">
                <a:solidFill>
                  <a:srgbClr val="CC0000"/>
                </a:solidFill>
              </a:rPr>
              <a:t>u,v</a:t>
            </a:r>
            <a:r>
              <a:rPr lang="en-US" sz="1800" dirty="0">
                <a:solidFill>
                  <a:srgbClr val="CC0000"/>
                </a:solidFill>
              </a:rPr>
              <a:t>)</a:t>
            </a:r>
            <a:endParaRPr lang="en-US" dirty="0">
              <a:solidFill>
                <a:srgbClr val="CC0000"/>
              </a:solidFill>
            </a:endParaRPr>
          </a:p>
          <a:p>
            <a:pPr eaLnBrk="1" hangingPunct="1">
              <a:lnSpc>
                <a:spcPct val="80000"/>
              </a:lnSpc>
              <a:buFontTx/>
              <a:buAutoNum type="arabicPeriod" startAt="4"/>
            </a:pPr>
            <a:r>
              <a:rPr lang="en-US" sz="2000" dirty="0">
                <a:solidFill>
                  <a:srgbClr val="CC0000"/>
                </a:solidFill>
              </a:rPr>
              <a:t>	</a:t>
            </a:r>
            <a:r>
              <a:rPr lang="en-US" sz="2000" b="1" dirty="0">
                <a:solidFill>
                  <a:schemeClr val="tx2"/>
                </a:solidFill>
              </a:rPr>
              <a:t>if</a:t>
            </a:r>
            <a:r>
              <a:rPr lang="en-US" sz="2000" dirty="0">
                <a:solidFill>
                  <a:schemeClr val="tx2"/>
                </a:solidFill>
              </a:rPr>
              <a:t> </a:t>
            </a:r>
            <a:r>
              <a:rPr lang="en-US" sz="2000" dirty="0">
                <a:solidFill>
                  <a:schemeClr val="hlink"/>
                </a:solidFill>
              </a:rPr>
              <a:t>pre[v] = 0  </a:t>
            </a:r>
            <a:r>
              <a:rPr lang="en-US" sz="2000" b="1" dirty="0">
                <a:solidFill>
                  <a:schemeClr val="tx2"/>
                </a:solidFill>
              </a:rPr>
              <a:t>then do 		</a:t>
            </a:r>
            <a:endParaRPr lang="en-US" sz="2000" dirty="0">
              <a:solidFill>
                <a:schemeClr val="tx2"/>
              </a:solidFill>
            </a:endParaRPr>
          </a:p>
          <a:p>
            <a:pPr eaLnBrk="1" hangingPunct="1">
              <a:lnSpc>
                <a:spcPct val="80000"/>
              </a:lnSpc>
              <a:buFontTx/>
              <a:buAutoNum type="arabicPeriod" startAt="4"/>
            </a:pPr>
            <a:r>
              <a:rPr lang="en-US" sz="2000" dirty="0">
                <a:solidFill>
                  <a:srgbClr val="CC0000"/>
                </a:solidFill>
              </a:rPr>
              <a:t> 		</a:t>
            </a:r>
            <a:r>
              <a:rPr lang="en-US" sz="2000" dirty="0">
                <a:solidFill>
                  <a:schemeClr val="hlink"/>
                </a:solidFill>
                <a:latin typeface="Symbol" pitchFamily="18" charset="2"/>
              </a:rPr>
              <a:t>p</a:t>
            </a:r>
            <a:r>
              <a:rPr lang="en-US" sz="2000" dirty="0">
                <a:solidFill>
                  <a:schemeClr val="hlink"/>
                </a:solidFill>
              </a:rPr>
              <a:t>[v] </a:t>
            </a:r>
            <a:r>
              <a:rPr lang="en-US" sz="2000" dirty="0">
                <a:solidFill>
                  <a:schemeClr val="hlink"/>
                </a:solidFill>
                <a:sym typeface="Symbol" pitchFamily="18" charset="2"/>
              </a:rPr>
              <a:t></a:t>
            </a:r>
            <a:r>
              <a:rPr lang="en-US" sz="2000" dirty="0">
                <a:solidFill>
                  <a:schemeClr val="hlink"/>
                </a:solidFill>
              </a:rPr>
              <a:t> u 										</a:t>
            </a:r>
            <a:r>
              <a:rPr lang="en-US" sz="1800" dirty="0">
                <a:solidFill>
                  <a:srgbClr val="CC0000"/>
                </a:solidFill>
                <a:cs typeface="Arial" pitchFamily="34" charset="0"/>
              </a:rPr>
              <a:t>§ </a:t>
            </a:r>
            <a:r>
              <a:rPr lang="en-US" sz="1800" dirty="0">
                <a:solidFill>
                  <a:srgbClr val="CC0000"/>
                </a:solidFill>
              </a:rPr>
              <a:t>(</a:t>
            </a:r>
            <a:r>
              <a:rPr lang="en-US" sz="1800" dirty="0" err="1">
                <a:solidFill>
                  <a:srgbClr val="CC0000"/>
                </a:solidFill>
              </a:rPr>
              <a:t>u,v</a:t>
            </a:r>
            <a:r>
              <a:rPr lang="en-US" sz="1800" dirty="0">
                <a:solidFill>
                  <a:srgbClr val="CC0000"/>
                </a:solidFill>
              </a:rPr>
              <a:t>) is a tree-edge</a:t>
            </a:r>
            <a:r>
              <a:rPr lang="en-US" sz="2000" dirty="0">
                <a:solidFill>
                  <a:srgbClr val="CC0000"/>
                </a:solidFill>
              </a:rPr>
              <a:t> </a:t>
            </a:r>
            <a:endParaRPr lang="en-US" sz="2000" dirty="0">
              <a:solidFill>
                <a:schemeClr val="hlink"/>
              </a:solidFill>
              <a:sym typeface="Symbol" pitchFamily="18" charset="2"/>
            </a:endParaRPr>
          </a:p>
          <a:p>
            <a:pPr eaLnBrk="1" hangingPunct="1">
              <a:lnSpc>
                <a:spcPct val="80000"/>
              </a:lnSpc>
              <a:buFontTx/>
              <a:buAutoNum type="arabicPeriod" startAt="4"/>
            </a:pPr>
            <a:r>
              <a:rPr lang="en-US" sz="2000" dirty="0">
                <a:solidFill>
                  <a:srgbClr val="CC0000"/>
                </a:solidFill>
                <a:sym typeface="Symbol" pitchFamily="18" charset="2"/>
              </a:rPr>
              <a:t> 		</a:t>
            </a:r>
            <a:r>
              <a:rPr lang="en-US" sz="2000" b="1" dirty="0" err="1">
                <a:solidFill>
                  <a:schemeClr val="hlink"/>
                </a:solidFill>
                <a:sym typeface="Symbol" pitchFamily="18" charset="2"/>
              </a:rPr>
              <a:t>SearchBC</a:t>
            </a:r>
            <a:r>
              <a:rPr lang="en-US" sz="2000" dirty="0">
                <a:solidFill>
                  <a:schemeClr val="hlink"/>
                </a:solidFill>
                <a:sym typeface="Symbol" pitchFamily="18" charset="2"/>
              </a:rPr>
              <a:t>(v)</a:t>
            </a:r>
            <a:r>
              <a:rPr lang="en-US" sz="2000" dirty="0">
                <a:solidFill>
                  <a:schemeClr val="tx2"/>
                </a:solidFill>
              </a:rPr>
              <a:t> 	</a:t>
            </a:r>
          </a:p>
          <a:p>
            <a:pPr eaLnBrk="1" hangingPunct="1">
              <a:lnSpc>
                <a:spcPct val="80000"/>
              </a:lnSpc>
              <a:buFontTx/>
              <a:buAutoNum type="arabicPeriod" startAt="4"/>
            </a:pPr>
            <a:r>
              <a:rPr lang="en-US" sz="2000" dirty="0">
                <a:solidFill>
                  <a:srgbClr val="CC0000"/>
                </a:solidFill>
              </a:rPr>
              <a:t>  		</a:t>
            </a:r>
            <a:r>
              <a:rPr lang="en-US" sz="2000" b="1" dirty="0">
                <a:solidFill>
                  <a:schemeClr val="tx2"/>
                </a:solidFill>
              </a:rPr>
              <a:t>if</a:t>
            </a:r>
            <a:r>
              <a:rPr lang="en-US" sz="2000" dirty="0">
                <a:solidFill>
                  <a:schemeClr val="tx2"/>
                </a:solidFill>
              </a:rPr>
              <a:t> </a:t>
            </a:r>
            <a:r>
              <a:rPr lang="en-US" sz="2000" dirty="0">
                <a:solidFill>
                  <a:schemeClr val="hlink"/>
                </a:solidFill>
              </a:rPr>
              <a:t>low[v] </a:t>
            </a:r>
            <a:r>
              <a:rPr lang="en-US" sz="2000" dirty="0">
                <a:solidFill>
                  <a:schemeClr val="hlink"/>
                </a:solidFill>
                <a:sym typeface="Symbol" pitchFamily="18" charset="2"/>
              </a:rPr>
              <a:t></a:t>
            </a:r>
            <a:r>
              <a:rPr lang="en-US" sz="2000" dirty="0">
                <a:solidFill>
                  <a:schemeClr val="hlink"/>
                </a:solidFill>
              </a:rPr>
              <a:t> pre[u]  </a:t>
            </a:r>
            <a:r>
              <a:rPr lang="en-US" sz="2000" b="1" dirty="0">
                <a:solidFill>
                  <a:schemeClr val="tx2"/>
                </a:solidFill>
              </a:rPr>
              <a:t>then </a:t>
            </a:r>
            <a:r>
              <a:rPr lang="en-US" sz="2000" b="1" dirty="0" err="1">
                <a:solidFill>
                  <a:schemeClr val="hlink"/>
                </a:solidFill>
              </a:rPr>
              <a:t>PrintBC</a:t>
            </a:r>
            <a:r>
              <a:rPr lang="en-US" sz="2000" dirty="0">
                <a:solidFill>
                  <a:schemeClr val="hlink"/>
                </a:solidFill>
              </a:rPr>
              <a:t>(</a:t>
            </a:r>
            <a:r>
              <a:rPr lang="en-US" sz="2000" dirty="0" err="1">
                <a:solidFill>
                  <a:schemeClr val="hlink"/>
                </a:solidFill>
              </a:rPr>
              <a:t>u,v</a:t>
            </a:r>
            <a:r>
              <a:rPr lang="en-US" sz="2000" dirty="0">
                <a:solidFill>
                  <a:schemeClr val="hlink"/>
                </a:solidFill>
              </a:rPr>
              <a:t>)</a:t>
            </a:r>
          </a:p>
          <a:p>
            <a:pPr eaLnBrk="1" hangingPunct="1">
              <a:lnSpc>
                <a:spcPct val="80000"/>
              </a:lnSpc>
              <a:buFontTx/>
              <a:buAutoNum type="arabicPeriod" startAt="4"/>
            </a:pPr>
            <a:r>
              <a:rPr lang="en-US" sz="2000" dirty="0">
                <a:solidFill>
                  <a:srgbClr val="CC0000"/>
                </a:solidFill>
              </a:rPr>
              <a:t> 		</a:t>
            </a:r>
            <a:r>
              <a:rPr lang="en-US" sz="2000" dirty="0">
                <a:solidFill>
                  <a:schemeClr val="hlink"/>
                </a:solidFill>
              </a:rPr>
              <a:t>low[u] </a:t>
            </a:r>
            <a:r>
              <a:rPr lang="en-US" sz="2000" dirty="0">
                <a:solidFill>
                  <a:schemeClr val="hlink"/>
                </a:solidFill>
                <a:sym typeface="Symbol" pitchFamily="18" charset="2"/>
              </a:rPr>
              <a:t> min { low[u] , low[v] }</a:t>
            </a:r>
            <a:endParaRPr lang="en-US" sz="2000" b="1" dirty="0"/>
          </a:p>
          <a:p>
            <a:pPr eaLnBrk="1" hangingPunct="1">
              <a:lnSpc>
                <a:spcPct val="80000"/>
              </a:lnSpc>
              <a:buFontTx/>
              <a:buAutoNum type="arabicPeriod" startAt="4"/>
            </a:pPr>
            <a:r>
              <a:rPr lang="en-US" sz="2000" dirty="0">
                <a:solidFill>
                  <a:srgbClr val="CC0000"/>
                </a:solidFill>
              </a:rPr>
              <a:t>	</a:t>
            </a:r>
            <a:r>
              <a:rPr lang="en-US" sz="2000" b="1" dirty="0"/>
              <a:t>else if </a:t>
            </a:r>
            <a:r>
              <a:rPr lang="en-US" sz="2000" dirty="0">
                <a:solidFill>
                  <a:schemeClr val="hlink"/>
                </a:solidFill>
              </a:rPr>
              <a:t>v </a:t>
            </a:r>
            <a:r>
              <a:rPr lang="en-US" sz="2000" dirty="0">
                <a:solidFill>
                  <a:schemeClr val="hlink"/>
                </a:solidFill>
                <a:sym typeface="Symbol" pitchFamily="18" charset="2"/>
              </a:rPr>
              <a:t> </a:t>
            </a:r>
            <a:r>
              <a:rPr lang="en-US" sz="2000" dirty="0">
                <a:solidFill>
                  <a:schemeClr val="hlink"/>
                </a:solidFill>
                <a:latin typeface="Symbol" pitchFamily="18" charset="2"/>
              </a:rPr>
              <a:t>p</a:t>
            </a:r>
            <a:r>
              <a:rPr lang="en-US" sz="2000" dirty="0">
                <a:solidFill>
                  <a:schemeClr val="hlink"/>
                </a:solidFill>
              </a:rPr>
              <a:t>[u]  </a:t>
            </a:r>
            <a:r>
              <a:rPr lang="en-US" sz="2000" b="1" dirty="0">
                <a:solidFill>
                  <a:schemeClr val="tx2"/>
                </a:solidFill>
              </a:rPr>
              <a:t>then</a:t>
            </a:r>
            <a:r>
              <a:rPr lang="en-US" sz="2000" dirty="0">
                <a:solidFill>
                  <a:schemeClr val="hlink"/>
                </a:solidFill>
              </a:rPr>
              <a:t> low[u] </a:t>
            </a:r>
            <a:r>
              <a:rPr lang="en-US" sz="2000" dirty="0">
                <a:solidFill>
                  <a:schemeClr val="hlink"/>
                </a:solidFill>
                <a:sym typeface="Symbol" pitchFamily="18" charset="2"/>
              </a:rPr>
              <a:t> min { low[u] , pre[v] } 	</a:t>
            </a:r>
            <a:r>
              <a:rPr lang="en-US" sz="1800" dirty="0">
                <a:solidFill>
                  <a:srgbClr val="CC0000"/>
                </a:solidFill>
                <a:cs typeface="Arial" pitchFamily="34" charset="0"/>
              </a:rPr>
              <a:t>§ </a:t>
            </a:r>
            <a:r>
              <a:rPr lang="en-US" sz="1800" dirty="0">
                <a:solidFill>
                  <a:srgbClr val="CC0000"/>
                </a:solidFill>
              </a:rPr>
              <a:t>(</a:t>
            </a:r>
            <a:r>
              <a:rPr lang="en-US" sz="1800" dirty="0" err="1">
                <a:solidFill>
                  <a:srgbClr val="CC0000"/>
                </a:solidFill>
              </a:rPr>
              <a:t>u,v</a:t>
            </a:r>
            <a:r>
              <a:rPr lang="en-US" sz="1800" dirty="0">
                <a:solidFill>
                  <a:srgbClr val="CC0000"/>
                </a:solidFill>
              </a:rPr>
              <a:t>) is a back-edge</a:t>
            </a:r>
            <a:r>
              <a:rPr lang="en-US" sz="2000" dirty="0">
                <a:solidFill>
                  <a:srgbClr val="CC0000"/>
                </a:solidFill>
              </a:rPr>
              <a:t> </a:t>
            </a:r>
            <a:endParaRPr lang="en-US" sz="2000" b="1" dirty="0"/>
          </a:p>
          <a:p>
            <a:pPr eaLnBrk="1" hangingPunct="1">
              <a:lnSpc>
                <a:spcPct val="80000"/>
              </a:lnSpc>
              <a:buFontTx/>
              <a:buAutoNum type="arabicPeriod" startAt="4"/>
            </a:pPr>
            <a:r>
              <a:rPr lang="en-US" sz="2000" dirty="0">
                <a:solidFill>
                  <a:srgbClr val="CC0000"/>
                </a:solidFill>
              </a:rPr>
              <a:t> </a:t>
            </a:r>
            <a:r>
              <a:rPr lang="en-US" sz="2000" b="1" dirty="0"/>
              <a:t>end-for</a:t>
            </a:r>
          </a:p>
          <a:p>
            <a:pPr eaLnBrk="1" hangingPunct="1">
              <a:lnSpc>
                <a:spcPct val="80000"/>
              </a:lnSpc>
              <a:buFontTx/>
              <a:buNone/>
            </a:pPr>
            <a:r>
              <a:rPr lang="en-US" sz="2000" b="1" dirty="0"/>
              <a:t>end</a:t>
            </a:r>
            <a:r>
              <a:rPr lang="en-US" sz="2000" dirty="0">
                <a:solidFill>
                  <a:schemeClr val="hlink"/>
                </a:solidFill>
              </a:rPr>
              <a:t> </a:t>
            </a:r>
          </a:p>
          <a:p>
            <a:pPr eaLnBrk="1" hangingPunct="1">
              <a:lnSpc>
                <a:spcPct val="80000"/>
              </a:lnSpc>
              <a:buFontTx/>
              <a:buNone/>
            </a:pPr>
            <a:endParaRPr lang="en-US" sz="2000" b="1" dirty="0"/>
          </a:p>
          <a:p>
            <a:pPr eaLnBrk="1" hangingPunct="1">
              <a:lnSpc>
                <a:spcPct val="80000"/>
              </a:lnSpc>
              <a:buFontTx/>
              <a:buNone/>
            </a:pPr>
            <a:r>
              <a:rPr lang="en-US" sz="2000" b="1" dirty="0"/>
              <a:t>Procedure </a:t>
            </a:r>
            <a:r>
              <a:rPr lang="en-US" sz="2000" b="1" dirty="0" err="1">
                <a:solidFill>
                  <a:schemeClr val="hlink"/>
                </a:solidFill>
              </a:rPr>
              <a:t>PrintBC</a:t>
            </a:r>
            <a:r>
              <a:rPr lang="en-US" sz="2000" dirty="0">
                <a:solidFill>
                  <a:schemeClr val="hlink"/>
                </a:solidFill>
              </a:rPr>
              <a:t>(</a:t>
            </a:r>
            <a:r>
              <a:rPr lang="en-US" sz="2000" dirty="0" err="1">
                <a:solidFill>
                  <a:schemeClr val="hlink"/>
                </a:solidFill>
              </a:rPr>
              <a:t>u,v</a:t>
            </a:r>
            <a:r>
              <a:rPr lang="en-US" sz="2000" dirty="0">
                <a:solidFill>
                  <a:schemeClr val="hlink"/>
                </a:solidFill>
              </a:rPr>
              <a:t>)</a:t>
            </a:r>
            <a:endParaRPr lang="en-US" sz="2000" dirty="0">
              <a:solidFill>
                <a:srgbClr val="CC0000"/>
              </a:solidFill>
              <a:cs typeface="Arial" pitchFamily="34" charset="0"/>
            </a:endParaRPr>
          </a:p>
          <a:p>
            <a:pPr eaLnBrk="1" hangingPunct="1">
              <a:lnSpc>
                <a:spcPct val="80000"/>
              </a:lnSpc>
              <a:buFontTx/>
              <a:buAutoNum type="arabicPeriod" startAt="14"/>
            </a:pPr>
            <a:r>
              <a:rPr lang="en-US" sz="2000" dirty="0">
                <a:solidFill>
                  <a:srgbClr val="FF0000"/>
                </a:solidFill>
                <a:sym typeface="Symbol" pitchFamily="18" charset="2"/>
              </a:rPr>
              <a:t> </a:t>
            </a:r>
            <a:r>
              <a:rPr lang="en-US" sz="2000" b="1" dirty="0"/>
              <a:t>print </a:t>
            </a:r>
            <a:r>
              <a:rPr lang="en-US" sz="2000" dirty="0">
                <a:solidFill>
                  <a:schemeClr val="hlink"/>
                </a:solidFill>
              </a:rPr>
              <a:t>( “new </a:t>
            </a:r>
            <a:r>
              <a:rPr lang="en-US" sz="2000" dirty="0" err="1">
                <a:solidFill>
                  <a:schemeClr val="hlink"/>
                </a:solidFill>
              </a:rPr>
              <a:t>biconnected</a:t>
            </a:r>
            <a:r>
              <a:rPr lang="en-US" sz="2000" dirty="0">
                <a:solidFill>
                  <a:schemeClr val="hlink"/>
                </a:solidFill>
              </a:rPr>
              <a:t> component with following edges is found:”)</a:t>
            </a:r>
          </a:p>
          <a:p>
            <a:pPr eaLnBrk="1" hangingPunct="1">
              <a:lnSpc>
                <a:spcPct val="80000"/>
              </a:lnSpc>
              <a:buFontTx/>
              <a:buAutoNum type="arabicPeriod" startAt="14"/>
            </a:pPr>
            <a:r>
              <a:rPr lang="en-US" sz="2000" dirty="0">
                <a:solidFill>
                  <a:srgbClr val="CC0000"/>
                </a:solidFill>
              </a:rPr>
              <a:t> </a:t>
            </a:r>
            <a:r>
              <a:rPr lang="en-US" sz="2000" dirty="0">
                <a:solidFill>
                  <a:schemeClr val="hlink"/>
                </a:solidFill>
              </a:rPr>
              <a:t>Iteratively pop S up to and including edge (</a:t>
            </a:r>
            <a:r>
              <a:rPr lang="en-US" sz="2000" dirty="0" err="1">
                <a:solidFill>
                  <a:schemeClr val="hlink"/>
                </a:solidFill>
              </a:rPr>
              <a:t>u,v</a:t>
            </a:r>
            <a:r>
              <a:rPr lang="en-US" sz="2000" dirty="0">
                <a:solidFill>
                  <a:schemeClr val="hlink"/>
                </a:solidFill>
              </a:rPr>
              <a:t>) and print them</a:t>
            </a:r>
          </a:p>
          <a:p>
            <a:pPr eaLnBrk="1" hangingPunct="1">
              <a:lnSpc>
                <a:spcPct val="80000"/>
              </a:lnSpc>
              <a:buFontTx/>
              <a:buNone/>
            </a:pPr>
            <a:r>
              <a:rPr lang="en-US" sz="2000" b="1" dirty="0"/>
              <a:t>end</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67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305154"/>
                                        </p:tgtEl>
                                        <p:attrNameLst>
                                          <p:attrName>style.visibility</p:attrName>
                                        </p:attrNameLst>
                                      </p:cBhvr>
                                      <p:to>
                                        <p:strVal val="visible"/>
                                      </p:to>
                                    </p:set>
                                    <p:anim calcmode="lin" valueType="num">
                                      <p:cBhvr>
                                        <p:cTn id="7" dur="500" fill="hold"/>
                                        <p:tgtEl>
                                          <p:spTgt spid="305154"/>
                                        </p:tgtEl>
                                        <p:attrNameLst>
                                          <p:attrName>ppt_w</p:attrName>
                                        </p:attrNameLst>
                                      </p:cBhvr>
                                      <p:tavLst>
                                        <p:tav tm="0">
                                          <p:val>
                                            <p:fltVal val="0"/>
                                          </p:val>
                                        </p:tav>
                                        <p:tav tm="100000">
                                          <p:val>
                                            <p:strVal val="#ppt_w"/>
                                          </p:val>
                                        </p:tav>
                                      </p:tavLst>
                                    </p:anim>
                                    <p:anim calcmode="lin" valueType="num">
                                      <p:cBhvr>
                                        <p:cTn id="8" dur="500" fill="hold"/>
                                        <p:tgtEl>
                                          <p:spTgt spid="305154"/>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305155"/>
                                        </p:tgtEl>
                                        <p:attrNameLst>
                                          <p:attrName>style.visibility</p:attrName>
                                        </p:attrNameLst>
                                      </p:cBhvr>
                                      <p:to>
                                        <p:strVal val="visible"/>
                                      </p:to>
                                    </p:set>
                                    <p:animEffect transition="in" filter="wipe(up)">
                                      <p:cBhvr>
                                        <p:cTn id="12" dur="2000"/>
                                        <p:tgtEl>
                                          <p:spTgt spid="305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4" grpId="0" animBg="1" autoUpdateAnimBg="0"/>
      <p:bldP spid="305155" grpId="0" animBg="1"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2" name="Rectangle 2"/>
          <p:cNvSpPr>
            <a:spLocks noGrp="1" noChangeArrowheads="1"/>
          </p:cNvSpPr>
          <p:nvPr>
            <p:ph type="ctrTitle"/>
          </p:nvPr>
        </p:nvSpPr>
        <p:spPr>
          <a:xfrm>
            <a:off x="685800" y="2286000"/>
            <a:ext cx="7772400" cy="2209800"/>
          </a:xfrm>
          <a:solidFill>
            <a:srgbClr val="FFCCCC"/>
          </a:solidFill>
          <a:ln w="762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lstStyle/>
          <a:p>
            <a:pPr eaLnBrk="1" hangingPunct="1"/>
            <a:r>
              <a:rPr lang="en-US" sz="6000" dirty="0" smtClean="0">
                <a:solidFill>
                  <a:schemeClr val="accent2"/>
                </a:solidFill>
                <a:latin typeface="Arial Rounded MT Bold" pitchFamily="34" charset="0"/>
              </a:rPr>
              <a:t>MINIMUM  SPANNING  TREES</a:t>
            </a:r>
          </a:p>
        </p:txBody>
      </p:sp>
      <p:sp>
        <p:nvSpPr>
          <p:cNvPr id="2" name="Slide Number Placeholder 1"/>
          <p:cNvSpPr>
            <a:spLocks noGrp="1"/>
          </p:cNvSpPr>
          <p:nvPr>
            <p:ph type="sldNum" sz="quarter" idx="12"/>
          </p:nvPr>
        </p:nvSpPr>
        <p:spPr/>
        <p:txBody>
          <a:bodyPr/>
          <a:lstStyle/>
          <a:p>
            <a:pPr>
              <a:defRPr/>
            </a:pPr>
            <a:fld id="{90683EDB-7658-49F0-B96C-482436AB937A}" type="slidenum">
              <a:rPr lang="en-US" smtClean="0"/>
              <a:pPr>
                <a:defRPr/>
              </a:pPr>
              <a:t>68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43362"/>
                                        </p:tgtEl>
                                        <p:attrNameLst>
                                          <p:attrName>style.visibility</p:attrName>
                                        </p:attrNameLst>
                                      </p:cBhvr>
                                      <p:to>
                                        <p:strVal val="visible"/>
                                      </p:to>
                                    </p:set>
                                    <p:anim calcmode="lin" valueType="num">
                                      <p:cBhvr>
                                        <p:cTn id="7" dur="500" fill="hold"/>
                                        <p:tgtEl>
                                          <p:spTgt spid="143362"/>
                                        </p:tgtEl>
                                        <p:attrNameLst>
                                          <p:attrName>ppt_w</p:attrName>
                                        </p:attrNameLst>
                                      </p:cBhvr>
                                      <p:tavLst>
                                        <p:tav tm="0">
                                          <p:val>
                                            <p:fltVal val="0"/>
                                          </p:val>
                                        </p:tav>
                                        <p:tav tm="100000">
                                          <p:val>
                                            <p:strVal val="#ppt_w"/>
                                          </p:val>
                                        </p:tav>
                                      </p:tavLst>
                                    </p:anim>
                                    <p:anim calcmode="lin" valueType="num">
                                      <p:cBhvr>
                                        <p:cTn id="8" dur="500" fill="hold"/>
                                        <p:tgtEl>
                                          <p:spTgt spid="14336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What is an undirected tree?</a:t>
            </a:r>
          </a:p>
        </p:txBody>
      </p:sp>
      <p:sp>
        <p:nvSpPr>
          <p:cNvPr id="150531" name="Text Box 3"/>
          <p:cNvSpPr txBox="1">
            <a:spLocks noChangeArrowheads="1"/>
          </p:cNvSpPr>
          <p:nvPr/>
        </p:nvSpPr>
        <p:spPr bwMode="auto">
          <a:xfrm>
            <a:off x="152400" y="762000"/>
            <a:ext cx="8839200" cy="2403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defTabSz="1038225">
              <a:defRPr sz="1600">
                <a:solidFill>
                  <a:schemeClr val="tx1"/>
                </a:solidFill>
                <a:latin typeface="Times New Roman" pitchFamily="18" charset="0"/>
              </a:defRPr>
            </a:lvl1pPr>
            <a:lvl2pPr marL="742950" indent="-285750" defTabSz="1038225">
              <a:defRPr sz="1600">
                <a:solidFill>
                  <a:schemeClr val="tx1"/>
                </a:solidFill>
                <a:latin typeface="Times New Roman" pitchFamily="18" charset="0"/>
              </a:defRPr>
            </a:lvl2pPr>
            <a:lvl3pPr marL="1143000" indent="-228600" defTabSz="1038225">
              <a:defRPr sz="1600">
                <a:solidFill>
                  <a:schemeClr val="tx1"/>
                </a:solidFill>
                <a:latin typeface="Times New Roman" pitchFamily="18" charset="0"/>
              </a:defRPr>
            </a:lvl3pPr>
            <a:lvl4pPr marL="1600200" indent="-228600" defTabSz="1038225">
              <a:defRPr sz="1600">
                <a:solidFill>
                  <a:schemeClr val="tx1"/>
                </a:solidFill>
                <a:latin typeface="Times New Roman" pitchFamily="18" charset="0"/>
              </a:defRPr>
            </a:lvl4pPr>
            <a:lvl5pPr marL="2057400" indent="-228600" defTabSz="1038225">
              <a:defRPr sz="1600">
                <a:solidFill>
                  <a:schemeClr val="tx1"/>
                </a:solidFill>
                <a:latin typeface="Times New Roman" pitchFamily="18" charset="0"/>
              </a:defRPr>
            </a:lvl5pPr>
            <a:lvl6pPr marL="2514600" indent="-228600" defTabSz="1038225" eaLnBrk="0" fontAlgn="base" hangingPunct="0">
              <a:spcBef>
                <a:spcPct val="0"/>
              </a:spcBef>
              <a:spcAft>
                <a:spcPct val="0"/>
              </a:spcAft>
              <a:buChar char="•"/>
              <a:defRPr sz="1600">
                <a:solidFill>
                  <a:schemeClr val="tx1"/>
                </a:solidFill>
                <a:latin typeface="Times New Roman" pitchFamily="18" charset="0"/>
              </a:defRPr>
            </a:lvl6pPr>
            <a:lvl7pPr marL="2971800" indent="-228600" defTabSz="1038225" eaLnBrk="0" fontAlgn="base" hangingPunct="0">
              <a:spcBef>
                <a:spcPct val="0"/>
              </a:spcBef>
              <a:spcAft>
                <a:spcPct val="0"/>
              </a:spcAft>
              <a:buChar char="•"/>
              <a:defRPr sz="1600">
                <a:solidFill>
                  <a:schemeClr val="tx1"/>
                </a:solidFill>
                <a:latin typeface="Times New Roman" pitchFamily="18" charset="0"/>
              </a:defRPr>
            </a:lvl7pPr>
            <a:lvl8pPr marL="3429000" indent="-228600" defTabSz="1038225" eaLnBrk="0" fontAlgn="base" hangingPunct="0">
              <a:spcBef>
                <a:spcPct val="0"/>
              </a:spcBef>
              <a:spcAft>
                <a:spcPct val="0"/>
              </a:spcAft>
              <a:buChar char="•"/>
              <a:defRPr sz="1600">
                <a:solidFill>
                  <a:schemeClr val="tx1"/>
                </a:solidFill>
                <a:latin typeface="Times New Roman" pitchFamily="18" charset="0"/>
              </a:defRPr>
            </a:lvl8pPr>
            <a:lvl9pPr marL="3886200" indent="-228600" defTabSz="1038225"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05000"/>
              </a:lnSpc>
              <a:buFont typeface="Wingdings" pitchFamily="2" charset="2"/>
              <a:buNone/>
            </a:pPr>
            <a:r>
              <a:rPr lang="en-US" sz="1800" b="1">
                <a:solidFill>
                  <a:srgbClr val="CC0000"/>
                </a:solidFill>
                <a:latin typeface="Arial" pitchFamily="34" charset="0"/>
              </a:rPr>
              <a:t>Let T be an undirected graph on n nodes.    </a:t>
            </a:r>
          </a:p>
          <a:p>
            <a:pPr eaLnBrk="1" hangingPunct="1">
              <a:lnSpc>
                <a:spcPct val="105000"/>
              </a:lnSpc>
              <a:buFont typeface="Wingdings" pitchFamily="2" charset="2"/>
              <a:buNone/>
            </a:pPr>
            <a:r>
              <a:rPr lang="en-US" sz="1800" b="1">
                <a:solidFill>
                  <a:srgbClr val="CC0000"/>
                </a:solidFill>
                <a:latin typeface="Arial" pitchFamily="34" charset="0"/>
              </a:rPr>
              <a:t>The following statements are equivalent:</a:t>
            </a:r>
            <a:endParaRPr lang="en-US" sz="1800" b="1">
              <a:solidFill>
                <a:schemeClr val="hlink"/>
              </a:solidFill>
              <a:latin typeface="Arial" pitchFamily="34" charset="0"/>
            </a:endParaRPr>
          </a:p>
          <a:p>
            <a:pPr eaLnBrk="1" hangingPunct="1">
              <a:lnSpc>
                <a:spcPct val="105000"/>
              </a:lnSpc>
              <a:buFont typeface="Wingdings" pitchFamily="2" charset="2"/>
              <a:buAutoNum type="arabicPeriod"/>
            </a:pPr>
            <a:r>
              <a:rPr lang="en-US" sz="1800">
                <a:solidFill>
                  <a:schemeClr val="hlink"/>
                </a:solidFill>
                <a:latin typeface="Arial" pitchFamily="34" charset="0"/>
              </a:rPr>
              <a:t>T is a tree.</a:t>
            </a:r>
          </a:p>
          <a:p>
            <a:pPr eaLnBrk="1" hangingPunct="1">
              <a:lnSpc>
                <a:spcPct val="105000"/>
              </a:lnSpc>
              <a:buFont typeface="Wingdings" pitchFamily="2" charset="2"/>
              <a:buAutoNum type="arabicPeriod"/>
            </a:pPr>
            <a:r>
              <a:rPr lang="en-US" sz="1800">
                <a:solidFill>
                  <a:schemeClr val="hlink"/>
                </a:solidFill>
                <a:latin typeface="Arial" pitchFamily="34" charset="0"/>
              </a:rPr>
              <a:t>T is connected and acyclic.</a:t>
            </a:r>
          </a:p>
          <a:p>
            <a:pPr eaLnBrk="1" hangingPunct="1">
              <a:lnSpc>
                <a:spcPct val="105000"/>
              </a:lnSpc>
              <a:buFont typeface="Wingdings" pitchFamily="2" charset="2"/>
              <a:buAutoNum type="arabicPeriod"/>
            </a:pPr>
            <a:r>
              <a:rPr lang="en-US" sz="1800">
                <a:solidFill>
                  <a:schemeClr val="hlink"/>
                </a:solidFill>
                <a:latin typeface="Arial" pitchFamily="34" charset="0"/>
              </a:rPr>
              <a:t>Between each pair of nodes in T there is a unique simple path.</a:t>
            </a:r>
          </a:p>
          <a:p>
            <a:pPr eaLnBrk="1" hangingPunct="1">
              <a:lnSpc>
                <a:spcPct val="105000"/>
              </a:lnSpc>
              <a:buFont typeface="Wingdings" pitchFamily="2" charset="2"/>
              <a:buAutoNum type="arabicPeriod"/>
            </a:pPr>
            <a:r>
              <a:rPr lang="en-US" sz="1800">
                <a:solidFill>
                  <a:schemeClr val="hlink"/>
                </a:solidFill>
                <a:latin typeface="Arial" pitchFamily="34" charset="0"/>
                <a:sym typeface="Wingdings" pitchFamily="2" charset="2"/>
              </a:rPr>
              <a:t>T is connected and has n –1 edges.</a:t>
            </a:r>
          </a:p>
          <a:p>
            <a:pPr eaLnBrk="1" hangingPunct="1">
              <a:lnSpc>
                <a:spcPct val="105000"/>
              </a:lnSpc>
              <a:buFont typeface="Wingdings" pitchFamily="2" charset="2"/>
              <a:buAutoNum type="arabicPeriod"/>
            </a:pPr>
            <a:r>
              <a:rPr lang="en-US" sz="1800">
                <a:solidFill>
                  <a:schemeClr val="hlink"/>
                </a:solidFill>
                <a:latin typeface="Arial" pitchFamily="34" charset="0"/>
                <a:sym typeface="Wingdings" pitchFamily="2" charset="2"/>
              </a:rPr>
              <a:t>T is acyclic and has n –1 edges.</a:t>
            </a:r>
          </a:p>
          <a:p>
            <a:pPr eaLnBrk="1" hangingPunct="1">
              <a:lnSpc>
                <a:spcPct val="105000"/>
              </a:lnSpc>
              <a:buFont typeface="Wingdings" pitchFamily="2" charset="2"/>
              <a:buAutoNum type="arabicPeriod"/>
            </a:pPr>
            <a:r>
              <a:rPr lang="en-US" sz="1800">
                <a:solidFill>
                  <a:schemeClr val="hlink"/>
                </a:solidFill>
                <a:latin typeface="Arial" pitchFamily="34" charset="0"/>
                <a:sym typeface="Wingdings" pitchFamily="2" charset="2"/>
              </a:rPr>
              <a:t>T is </a:t>
            </a:r>
            <a:r>
              <a:rPr lang="en-US" sz="1800">
                <a:solidFill>
                  <a:srgbClr val="CC0000"/>
                </a:solidFill>
                <a:latin typeface="Arial" pitchFamily="34" charset="0"/>
                <a:sym typeface="Wingdings" pitchFamily="2" charset="2"/>
              </a:rPr>
              <a:t>minimally connected</a:t>
            </a:r>
            <a:r>
              <a:rPr lang="en-US" sz="1800">
                <a:solidFill>
                  <a:schemeClr val="hlink"/>
                </a:solidFill>
                <a:latin typeface="Arial" pitchFamily="34" charset="0"/>
                <a:sym typeface="Wingdings" pitchFamily="2" charset="2"/>
              </a:rPr>
              <a:t>: removal of any edge will disconnect T.</a:t>
            </a:r>
          </a:p>
        </p:txBody>
      </p:sp>
      <p:grpSp>
        <p:nvGrpSpPr>
          <p:cNvPr id="150590" name="Group 62"/>
          <p:cNvGrpSpPr>
            <a:grpSpLocks/>
          </p:cNvGrpSpPr>
          <p:nvPr/>
        </p:nvGrpSpPr>
        <p:grpSpPr bwMode="auto">
          <a:xfrm>
            <a:off x="914400" y="3581400"/>
            <a:ext cx="6858000" cy="2895600"/>
            <a:chOff x="576" y="2256"/>
            <a:chExt cx="4320" cy="1824"/>
          </a:xfrm>
        </p:grpSpPr>
        <p:sp>
          <p:nvSpPr>
            <p:cNvPr id="71689" name="Line 20"/>
            <p:cNvSpPr>
              <a:spLocks noChangeShapeType="1"/>
            </p:cNvSpPr>
            <p:nvPr/>
          </p:nvSpPr>
          <p:spPr bwMode="auto">
            <a:xfrm flipH="1">
              <a:off x="2400" y="3168"/>
              <a:ext cx="816"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690" name="Line 21"/>
            <p:cNvSpPr>
              <a:spLocks noChangeShapeType="1"/>
            </p:cNvSpPr>
            <p:nvPr/>
          </p:nvSpPr>
          <p:spPr bwMode="auto">
            <a:xfrm flipH="1" flipV="1">
              <a:off x="1920" y="2688"/>
              <a:ext cx="480" cy="48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691" name="Line 22"/>
            <p:cNvSpPr>
              <a:spLocks noChangeShapeType="1"/>
            </p:cNvSpPr>
            <p:nvPr/>
          </p:nvSpPr>
          <p:spPr bwMode="auto">
            <a:xfrm flipH="1">
              <a:off x="1248" y="2688"/>
              <a:ext cx="672"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692" name="Line 23"/>
            <p:cNvSpPr>
              <a:spLocks noChangeShapeType="1"/>
            </p:cNvSpPr>
            <p:nvPr/>
          </p:nvSpPr>
          <p:spPr bwMode="auto">
            <a:xfrm flipH="1">
              <a:off x="1584" y="2688"/>
              <a:ext cx="336" cy="62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693" name="Line 24"/>
            <p:cNvSpPr>
              <a:spLocks noChangeShapeType="1"/>
            </p:cNvSpPr>
            <p:nvPr/>
          </p:nvSpPr>
          <p:spPr bwMode="auto">
            <a:xfrm flipH="1" flipV="1">
              <a:off x="864" y="3120"/>
              <a:ext cx="720" cy="19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694" name="Freeform 25"/>
            <p:cNvSpPr>
              <a:spLocks/>
            </p:cNvSpPr>
            <p:nvPr/>
          </p:nvSpPr>
          <p:spPr bwMode="auto">
            <a:xfrm>
              <a:off x="816" y="3118"/>
              <a:ext cx="45" cy="530"/>
            </a:xfrm>
            <a:custGeom>
              <a:avLst/>
              <a:gdLst>
                <a:gd name="T0" fmla="*/ 45 w 45"/>
                <a:gd name="T1" fmla="*/ 0 h 530"/>
                <a:gd name="T2" fmla="*/ 0 w 45"/>
                <a:gd name="T3" fmla="*/ 530 h 530"/>
                <a:gd name="T4" fmla="*/ 0 60000 65536"/>
                <a:gd name="T5" fmla="*/ 0 60000 65536"/>
              </a:gdLst>
              <a:ahLst/>
              <a:cxnLst>
                <a:cxn ang="T4">
                  <a:pos x="T0" y="T1"/>
                </a:cxn>
                <a:cxn ang="T5">
                  <a:pos x="T2" y="T3"/>
                </a:cxn>
              </a:cxnLst>
              <a:rect l="0" t="0" r="r" b="b"/>
              <a:pathLst>
                <a:path w="45" h="530">
                  <a:moveTo>
                    <a:pt x="45" y="0"/>
                  </a:moveTo>
                  <a:lnTo>
                    <a:pt x="0" y="530"/>
                  </a:lnTo>
                </a:path>
              </a:pathLst>
            </a:custGeom>
            <a:noFill/>
            <a:ln w="19050" cap="flat" cmpd="sng">
              <a:solidFill>
                <a:schemeClr val="hlink"/>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695" name="Line 26"/>
            <p:cNvSpPr>
              <a:spLocks noChangeShapeType="1"/>
            </p:cNvSpPr>
            <p:nvPr/>
          </p:nvSpPr>
          <p:spPr bwMode="auto">
            <a:xfrm flipH="1">
              <a:off x="1488" y="3312"/>
              <a:ext cx="96" cy="67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696" name="Line 27"/>
            <p:cNvSpPr>
              <a:spLocks noChangeShapeType="1"/>
            </p:cNvSpPr>
            <p:nvPr/>
          </p:nvSpPr>
          <p:spPr bwMode="auto">
            <a:xfrm flipH="1">
              <a:off x="2304" y="3168"/>
              <a:ext cx="96" cy="67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697" name="Line 28"/>
            <p:cNvSpPr>
              <a:spLocks noChangeShapeType="1"/>
            </p:cNvSpPr>
            <p:nvPr/>
          </p:nvSpPr>
          <p:spPr bwMode="auto">
            <a:xfrm flipV="1">
              <a:off x="3216" y="3072"/>
              <a:ext cx="768"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698" name="Line 29"/>
            <p:cNvSpPr>
              <a:spLocks noChangeShapeType="1"/>
            </p:cNvSpPr>
            <p:nvPr/>
          </p:nvSpPr>
          <p:spPr bwMode="auto">
            <a:xfrm flipH="1" flipV="1">
              <a:off x="3792" y="2448"/>
              <a:ext cx="192" cy="62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699" name="Line 30"/>
            <p:cNvSpPr>
              <a:spLocks noChangeShapeType="1"/>
            </p:cNvSpPr>
            <p:nvPr/>
          </p:nvSpPr>
          <p:spPr bwMode="auto">
            <a:xfrm flipV="1">
              <a:off x="3984" y="2544"/>
              <a:ext cx="432" cy="52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00" name="Freeform 31"/>
            <p:cNvSpPr>
              <a:spLocks/>
            </p:cNvSpPr>
            <p:nvPr/>
          </p:nvSpPr>
          <p:spPr bwMode="auto">
            <a:xfrm>
              <a:off x="3984" y="3072"/>
              <a:ext cx="194" cy="808"/>
            </a:xfrm>
            <a:custGeom>
              <a:avLst/>
              <a:gdLst>
                <a:gd name="T0" fmla="*/ 0 w 194"/>
                <a:gd name="T1" fmla="*/ 0 h 808"/>
                <a:gd name="T2" fmla="*/ 194 w 194"/>
                <a:gd name="T3" fmla="*/ 808 h 808"/>
                <a:gd name="T4" fmla="*/ 0 60000 65536"/>
                <a:gd name="T5" fmla="*/ 0 60000 65536"/>
              </a:gdLst>
              <a:ahLst/>
              <a:cxnLst>
                <a:cxn ang="T4">
                  <a:pos x="T0" y="T1"/>
                </a:cxn>
                <a:cxn ang="T5">
                  <a:pos x="T2" y="T3"/>
                </a:cxn>
              </a:cxnLst>
              <a:rect l="0" t="0" r="r" b="b"/>
              <a:pathLst>
                <a:path w="194" h="808">
                  <a:moveTo>
                    <a:pt x="0" y="0"/>
                  </a:moveTo>
                  <a:lnTo>
                    <a:pt x="194" y="808"/>
                  </a:lnTo>
                </a:path>
              </a:pathLst>
            </a:custGeom>
            <a:noFill/>
            <a:ln w="19050" cap="flat" cmpd="sng">
              <a:solidFill>
                <a:schemeClr val="hlink"/>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01" name="Line 32"/>
            <p:cNvSpPr>
              <a:spLocks noChangeShapeType="1"/>
            </p:cNvSpPr>
            <p:nvPr/>
          </p:nvSpPr>
          <p:spPr bwMode="auto">
            <a:xfrm flipH="1" flipV="1">
              <a:off x="3552" y="3744"/>
              <a:ext cx="624"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02" name="Line 33"/>
            <p:cNvSpPr>
              <a:spLocks noChangeShapeType="1"/>
            </p:cNvSpPr>
            <p:nvPr/>
          </p:nvSpPr>
          <p:spPr bwMode="auto">
            <a:xfrm flipV="1">
              <a:off x="4176" y="3456"/>
              <a:ext cx="432" cy="43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03" name="Line 34"/>
            <p:cNvSpPr>
              <a:spLocks noChangeShapeType="1"/>
            </p:cNvSpPr>
            <p:nvPr/>
          </p:nvSpPr>
          <p:spPr bwMode="auto">
            <a:xfrm flipH="1" flipV="1">
              <a:off x="4560" y="3024"/>
              <a:ext cx="48" cy="43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04" name="Line 35"/>
            <p:cNvSpPr>
              <a:spLocks noChangeShapeType="1"/>
            </p:cNvSpPr>
            <p:nvPr/>
          </p:nvSpPr>
          <p:spPr bwMode="auto">
            <a:xfrm flipV="1">
              <a:off x="3216" y="2640"/>
              <a:ext cx="48" cy="52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05" name="Line 36"/>
            <p:cNvSpPr>
              <a:spLocks noChangeShapeType="1"/>
            </p:cNvSpPr>
            <p:nvPr/>
          </p:nvSpPr>
          <p:spPr bwMode="auto">
            <a:xfrm>
              <a:off x="3264" y="2640"/>
              <a:ext cx="240"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06" name="Line 37"/>
            <p:cNvSpPr>
              <a:spLocks noChangeShapeType="1"/>
            </p:cNvSpPr>
            <p:nvPr/>
          </p:nvSpPr>
          <p:spPr bwMode="auto">
            <a:xfrm>
              <a:off x="3216" y="3168"/>
              <a:ext cx="48" cy="38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07" name="Line 38"/>
            <p:cNvSpPr>
              <a:spLocks noChangeShapeType="1"/>
            </p:cNvSpPr>
            <p:nvPr/>
          </p:nvSpPr>
          <p:spPr bwMode="auto">
            <a:xfrm flipV="1">
              <a:off x="3264" y="3456"/>
              <a:ext cx="480"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08" name="Line 39"/>
            <p:cNvSpPr>
              <a:spLocks noChangeShapeType="1"/>
            </p:cNvSpPr>
            <p:nvPr/>
          </p:nvSpPr>
          <p:spPr bwMode="auto">
            <a:xfrm>
              <a:off x="3264" y="3552"/>
              <a:ext cx="144" cy="48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09" name="Line 40"/>
            <p:cNvSpPr>
              <a:spLocks noChangeShapeType="1"/>
            </p:cNvSpPr>
            <p:nvPr/>
          </p:nvSpPr>
          <p:spPr bwMode="auto">
            <a:xfrm flipH="1" flipV="1">
              <a:off x="1968" y="3504"/>
              <a:ext cx="336" cy="33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10" name="Line 41"/>
            <p:cNvSpPr>
              <a:spLocks noChangeShapeType="1"/>
            </p:cNvSpPr>
            <p:nvPr/>
          </p:nvSpPr>
          <p:spPr bwMode="auto">
            <a:xfrm flipH="1">
              <a:off x="2112" y="3840"/>
              <a:ext cx="192" cy="24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11" name="Line 42"/>
            <p:cNvSpPr>
              <a:spLocks noChangeShapeType="1"/>
            </p:cNvSpPr>
            <p:nvPr/>
          </p:nvSpPr>
          <p:spPr bwMode="auto">
            <a:xfrm flipH="1">
              <a:off x="1200" y="3312"/>
              <a:ext cx="384" cy="28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12" name="Line 43"/>
            <p:cNvSpPr>
              <a:spLocks noChangeShapeType="1"/>
            </p:cNvSpPr>
            <p:nvPr/>
          </p:nvSpPr>
          <p:spPr bwMode="auto">
            <a:xfrm flipH="1">
              <a:off x="576" y="3120"/>
              <a:ext cx="288"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13" name="Line 44"/>
            <p:cNvSpPr>
              <a:spLocks noChangeShapeType="1"/>
            </p:cNvSpPr>
            <p:nvPr/>
          </p:nvSpPr>
          <p:spPr bwMode="auto">
            <a:xfrm flipH="1">
              <a:off x="576" y="3120"/>
              <a:ext cx="288" cy="28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14" name="Line 45"/>
            <p:cNvSpPr>
              <a:spLocks noChangeShapeType="1"/>
            </p:cNvSpPr>
            <p:nvPr/>
          </p:nvSpPr>
          <p:spPr bwMode="auto">
            <a:xfrm>
              <a:off x="1248" y="2688"/>
              <a:ext cx="0" cy="28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15" name="Line 46"/>
            <p:cNvSpPr>
              <a:spLocks noChangeShapeType="1"/>
            </p:cNvSpPr>
            <p:nvPr/>
          </p:nvSpPr>
          <p:spPr bwMode="auto">
            <a:xfrm>
              <a:off x="1248" y="2688"/>
              <a:ext cx="288" cy="19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16" name="Line 47"/>
            <p:cNvSpPr>
              <a:spLocks noChangeShapeType="1"/>
            </p:cNvSpPr>
            <p:nvPr/>
          </p:nvSpPr>
          <p:spPr bwMode="auto">
            <a:xfrm flipV="1">
              <a:off x="1968" y="3120"/>
              <a:ext cx="144" cy="38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17" name="Line 48"/>
            <p:cNvSpPr>
              <a:spLocks noChangeShapeType="1"/>
            </p:cNvSpPr>
            <p:nvPr/>
          </p:nvSpPr>
          <p:spPr bwMode="auto">
            <a:xfrm flipH="1">
              <a:off x="1680" y="3504"/>
              <a:ext cx="288"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18" name="Line 49"/>
            <p:cNvSpPr>
              <a:spLocks noChangeShapeType="1"/>
            </p:cNvSpPr>
            <p:nvPr/>
          </p:nvSpPr>
          <p:spPr bwMode="auto">
            <a:xfrm flipH="1">
              <a:off x="1920" y="3504"/>
              <a:ext cx="48" cy="38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19" name="Line 50"/>
            <p:cNvSpPr>
              <a:spLocks noChangeShapeType="1"/>
            </p:cNvSpPr>
            <p:nvPr/>
          </p:nvSpPr>
          <p:spPr bwMode="auto">
            <a:xfrm flipH="1">
              <a:off x="3024" y="3168"/>
              <a:ext cx="192" cy="57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20" name="Line 51"/>
            <p:cNvSpPr>
              <a:spLocks noChangeShapeType="1"/>
            </p:cNvSpPr>
            <p:nvPr/>
          </p:nvSpPr>
          <p:spPr bwMode="auto">
            <a:xfrm>
              <a:off x="3024" y="3744"/>
              <a:ext cx="192" cy="24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21" name="Line 52"/>
            <p:cNvSpPr>
              <a:spLocks noChangeShapeType="1"/>
            </p:cNvSpPr>
            <p:nvPr/>
          </p:nvSpPr>
          <p:spPr bwMode="auto">
            <a:xfrm flipH="1">
              <a:off x="2976" y="3744"/>
              <a:ext cx="48" cy="24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22" name="Line 53"/>
            <p:cNvSpPr>
              <a:spLocks noChangeShapeType="1"/>
            </p:cNvSpPr>
            <p:nvPr/>
          </p:nvSpPr>
          <p:spPr bwMode="auto">
            <a:xfrm flipH="1" flipV="1">
              <a:off x="3216" y="2304"/>
              <a:ext cx="48" cy="33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23" name="Line 54"/>
            <p:cNvSpPr>
              <a:spLocks noChangeShapeType="1"/>
            </p:cNvSpPr>
            <p:nvPr/>
          </p:nvSpPr>
          <p:spPr bwMode="auto">
            <a:xfrm flipV="1">
              <a:off x="3216" y="2256"/>
              <a:ext cx="336"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24" name="Line 55"/>
            <p:cNvSpPr>
              <a:spLocks noChangeShapeType="1"/>
            </p:cNvSpPr>
            <p:nvPr/>
          </p:nvSpPr>
          <p:spPr bwMode="auto">
            <a:xfrm flipH="1">
              <a:off x="2880" y="2304"/>
              <a:ext cx="336"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25" name="Line 56"/>
            <p:cNvSpPr>
              <a:spLocks noChangeShapeType="1"/>
            </p:cNvSpPr>
            <p:nvPr/>
          </p:nvSpPr>
          <p:spPr bwMode="auto">
            <a:xfrm flipH="1">
              <a:off x="3408" y="2640"/>
              <a:ext cx="96" cy="24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26" name="Line 57"/>
            <p:cNvSpPr>
              <a:spLocks noChangeShapeType="1"/>
            </p:cNvSpPr>
            <p:nvPr/>
          </p:nvSpPr>
          <p:spPr bwMode="auto">
            <a:xfrm>
              <a:off x="3504" y="2640"/>
              <a:ext cx="144" cy="19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27" name="Line 58"/>
            <p:cNvSpPr>
              <a:spLocks noChangeShapeType="1"/>
            </p:cNvSpPr>
            <p:nvPr/>
          </p:nvSpPr>
          <p:spPr bwMode="auto">
            <a:xfrm flipV="1">
              <a:off x="4608" y="3360"/>
              <a:ext cx="288"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28" name="Line 59"/>
            <p:cNvSpPr>
              <a:spLocks noChangeShapeType="1"/>
            </p:cNvSpPr>
            <p:nvPr/>
          </p:nvSpPr>
          <p:spPr bwMode="auto">
            <a:xfrm flipH="1" flipV="1">
              <a:off x="4272" y="3360"/>
              <a:ext cx="336"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1729" name="Line 60"/>
            <p:cNvSpPr>
              <a:spLocks noChangeShapeType="1"/>
            </p:cNvSpPr>
            <p:nvPr/>
          </p:nvSpPr>
          <p:spPr bwMode="auto">
            <a:xfrm flipH="1">
              <a:off x="4128" y="3888"/>
              <a:ext cx="48"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grpSp>
      <p:sp>
        <p:nvSpPr>
          <p:cNvPr id="150589" name="Freeform 61"/>
          <p:cNvSpPr>
            <a:spLocks/>
          </p:cNvSpPr>
          <p:nvPr/>
        </p:nvSpPr>
        <p:spPr bwMode="auto">
          <a:xfrm>
            <a:off x="3867150" y="5024438"/>
            <a:ext cx="1198563" cy="9525"/>
          </a:xfrm>
          <a:custGeom>
            <a:avLst/>
            <a:gdLst>
              <a:gd name="T0" fmla="*/ 1198563 w 755"/>
              <a:gd name="T1" fmla="*/ 9525 h 6"/>
              <a:gd name="T2" fmla="*/ 0 w 755"/>
              <a:gd name="T3" fmla="*/ 0 h 6"/>
              <a:gd name="T4" fmla="*/ 0 60000 65536"/>
              <a:gd name="T5" fmla="*/ 0 60000 65536"/>
            </a:gdLst>
            <a:ahLst/>
            <a:cxnLst>
              <a:cxn ang="T4">
                <a:pos x="T0" y="T1"/>
              </a:cxn>
              <a:cxn ang="T5">
                <a:pos x="T2" y="T3"/>
              </a:cxn>
            </a:cxnLst>
            <a:rect l="0" t="0" r="r" b="b"/>
            <a:pathLst>
              <a:path w="755" h="6">
                <a:moveTo>
                  <a:pt x="755" y="6"/>
                </a:moveTo>
                <a:lnTo>
                  <a:pt x="0" y="0"/>
                </a:lnTo>
              </a:path>
            </a:pathLst>
          </a:custGeom>
          <a:noFill/>
          <a:ln w="57150" cap="flat" cmpd="sng">
            <a:solidFill>
              <a:srgbClr val="FFCCFF"/>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50591" name="Freeform 63"/>
          <p:cNvSpPr>
            <a:spLocks/>
          </p:cNvSpPr>
          <p:nvPr/>
        </p:nvSpPr>
        <p:spPr bwMode="auto">
          <a:xfrm>
            <a:off x="3111500" y="4194175"/>
            <a:ext cx="2028825" cy="73025"/>
          </a:xfrm>
          <a:custGeom>
            <a:avLst/>
            <a:gdLst>
              <a:gd name="T0" fmla="*/ 2028825 w 1278"/>
              <a:gd name="T1" fmla="*/ 0 h 46"/>
              <a:gd name="T2" fmla="*/ 0 w 1278"/>
              <a:gd name="T3" fmla="*/ 73025 h 46"/>
              <a:gd name="T4" fmla="*/ 0 60000 65536"/>
              <a:gd name="T5" fmla="*/ 0 60000 65536"/>
            </a:gdLst>
            <a:ahLst/>
            <a:cxnLst>
              <a:cxn ang="T4">
                <a:pos x="T0" y="T1"/>
              </a:cxn>
              <a:cxn ang="T5">
                <a:pos x="T2" y="T3"/>
              </a:cxn>
            </a:cxnLst>
            <a:rect l="0" t="0" r="r" b="b"/>
            <a:pathLst>
              <a:path w="1278" h="46">
                <a:moveTo>
                  <a:pt x="1278" y="0"/>
                </a:moveTo>
                <a:lnTo>
                  <a:pt x="0" y="46"/>
                </a:lnTo>
              </a:path>
            </a:pathLst>
          </a:custGeom>
          <a:noFill/>
          <a:ln w="19050" cap="flat" cmpd="sng">
            <a:solidFill>
              <a:srgbClr val="CC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50592" name="Line 64"/>
          <p:cNvSpPr>
            <a:spLocks noChangeShapeType="1"/>
          </p:cNvSpPr>
          <p:nvPr/>
        </p:nvSpPr>
        <p:spPr bwMode="auto">
          <a:xfrm flipV="1">
            <a:off x="6553200" y="6172200"/>
            <a:ext cx="76200" cy="22860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50593" name="Rectangle 65"/>
          <p:cNvSpPr>
            <a:spLocks noChangeArrowheads="1"/>
          </p:cNvSpPr>
          <p:nvPr/>
        </p:nvSpPr>
        <p:spPr bwMode="auto">
          <a:xfrm>
            <a:off x="152400" y="3124200"/>
            <a:ext cx="81470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457200" indent="-457200" algn="ctr" eaLnBrk="1" hangingPunct="1">
              <a:spcBef>
                <a:spcPct val="50000"/>
              </a:spcBef>
              <a:buFontTx/>
              <a:buAutoNum type="arabicPeriod" startAt="7"/>
            </a:pPr>
            <a:r>
              <a:rPr lang="en-US" sz="1800">
                <a:solidFill>
                  <a:schemeClr val="hlink"/>
                </a:solidFill>
                <a:latin typeface="Arial" pitchFamily="34" charset="0"/>
                <a:sym typeface="Wingdings" pitchFamily="2" charset="2"/>
              </a:rPr>
              <a:t>T is </a:t>
            </a:r>
            <a:r>
              <a:rPr lang="en-US" sz="1800">
                <a:solidFill>
                  <a:srgbClr val="CC0000"/>
                </a:solidFill>
                <a:latin typeface="Arial" pitchFamily="34" charset="0"/>
                <a:sym typeface="Wingdings" pitchFamily="2" charset="2"/>
              </a:rPr>
              <a:t>maximally acyclic</a:t>
            </a:r>
            <a:r>
              <a:rPr lang="en-US" sz="1800">
                <a:solidFill>
                  <a:schemeClr val="hlink"/>
                </a:solidFill>
                <a:latin typeface="Arial" pitchFamily="34" charset="0"/>
                <a:sym typeface="Wingdings" pitchFamily="2" charset="2"/>
              </a:rPr>
              <a:t>: addition of any new edge will create a simple cycle.</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69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50530"/>
                                        </p:tgtEl>
                                        <p:attrNameLst>
                                          <p:attrName>style.visibility</p:attrName>
                                        </p:attrNameLst>
                                      </p:cBhvr>
                                      <p:to>
                                        <p:strVal val="visible"/>
                                      </p:to>
                                    </p:set>
                                    <p:anim calcmode="lin" valueType="num">
                                      <p:cBhvr>
                                        <p:cTn id="7" dur="500" fill="hold"/>
                                        <p:tgtEl>
                                          <p:spTgt spid="150530"/>
                                        </p:tgtEl>
                                        <p:attrNameLst>
                                          <p:attrName>ppt_w</p:attrName>
                                        </p:attrNameLst>
                                      </p:cBhvr>
                                      <p:tavLst>
                                        <p:tav tm="0">
                                          <p:val>
                                            <p:fltVal val="0"/>
                                          </p:val>
                                        </p:tav>
                                        <p:tav tm="100000">
                                          <p:val>
                                            <p:strVal val="#ppt_w"/>
                                          </p:val>
                                        </p:tav>
                                      </p:tavLst>
                                    </p:anim>
                                    <p:anim calcmode="lin" valueType="num">
                                      <p:cBhvr>
                                        <p:cTn id="8" dur="500" fill="hold"/>
                                        <p:tgtEl>
                                          <p:spTgt spid="150530"/>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9" presetClass="entr" presetSubtype="0" fill="hold" nodeType="afterEffect">
                                  <p:stCondLst>
                                    <p:cond delay="1000"/>
                                  </p:stCondLst>
                                  <p:childTnLst>
                                    <p:set>
                                      <p:cBhvr>
                                        <p:cTn id="11" dur="1" fill="hold">
                                          <p:stCondLst>
                                            <p:cond delay="0"/>
                                          </p:stCondLst>
                                        </p:cTn>
                                        <p:tgtEl>
                                          <p:spTgt spid="150590"/>
                                        </p:tgtEl>
                                        <p:attrNameLst>
                                          <p:attrName>style.visibility</p:attrName>
                                        </p:attrNameLst>
                                      </p:cBhvr>
                                      <p:to>
                                        <p:strVal val="visible"/>
                                      </p:to>
                                    </p:set>
                                    <p:animEffect transition="in" filter="dissolve">
                                      <p:cBhvr>
                                        <p:cTn id="12" dur="500"/>
                                        <p:tgtEl>
                                          <p:spTgt spid="1505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0531">
                                            <p:txEl>
                                              <p:pRg st="0" end="0"/>
                                            </p:txEl>
                                          </p:spTgt>
                                        </p:tgtEl>
                                        <p:attrNameLst>
                                          <p:attrName>style.visibility</p:attrName>
                                        </p:attrNameLst>
                                      </p:cBhvr>
                                      <p:to>
                                        <p:strVal val="visible"/>
                                      </p:to>
                                    </p:set>
                                    <p:animEffect transition="in" filter="wipe(left)">
                                      <p:cBhvr>
                                        <p:cTn id="17" dur="500"/>
                                        <p:tgtEl>
                                          <p:spTgt spid="15053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0531">
                                            <p:txEl>
                                              <p:pRg st="1" end="1"/>
                                            </p:txEl>
                                          </p:spTgt>
                                        </p:tgtEl>
                                        <p:attrNameLst>
                                          <p:attrName>style.visibility</p:attrName>
                                        </p:attrNameLst>
                                      </p:cBhvr>
                                      <p:to>
                                        <p:strVal val="visible"/>
                                      </p:to>
                                    </p:set>
                                    <p:animEffect transition="in" filter="wipe(left)">
                                      <p:cBhvr>
                                        <p:cTn id="22" dur="500"/>
                                        <p:tgtEl>
                                          <p:spTgt spid="150531">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0531">
                                            <p:txEl>
                                              <p:pRg st="2" end="2"/>
                                            </p:txEl>
                                          </p:spTgt>
                                        </p:tgtEl>
                                        <p:attrNameLst>
                                          <p:attrName>style.visibility</p:attrName>
                                        </p:attrNameLst>
                                      </p:cBhvr>
                                      <p:to>
                                        <p:strVal val="visible"/>
                                      </p:to>
                                    </p:set>
                                    <p:animEffect transition="in" filter="wipe(left)">
                                      <p:cBhvr>
                                        <p:cTn id="27" dur="500"/>
                                        <p:tgtEl>
                                          <p:spTgt spid="150531">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0531">
                                            <p:txEl>
                                              <p:pRg st="3" end="3"/>
                                            </p:txEl>
                                          </p:spTgt>
                                        </p:tgtEl>
                                        <p:attrNameLst>
                                          <p:attrName>style.visibility</p:attrName>
                                        </p:attrNameLst>
                                      </p:cBhvr>
                                      <p:to>
                                        <p:strVal val="visible"/>
                                      </p:to>
                                    </p:set>
                                    <p:animEffect transition="in" filter="wipe(left)">
                                      <p:cBhvr>
                                        <p:cTn id="32" dur="500"/>
                                        <p:tgtEl>
                                          <p:spTgt spid="150531">
                                            <p:txEl>
                                              <p:pRg st="3" end="3"/>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0531">
                                            <p:txEl>
                                              <p:pRg st="4" end="4"/>
                                            </p:txEl>
                                          </p:spTgt>
                                        </p:tgtEl>
                                        <p:attrNameLst>
                                          <p:attrName>style.visibility</p:attrName>
                                        </p:attrNameLst>
                                      </p:cBhvr>
                                      <p:to>
                                        <p:strVal val="visible"/>
                                      </p:to>
                                    </p:set>
                                    <p:animEffect transition="in" filter="wipe(left)">
                                      <p:cBhvr>
                                        <p:cTn id="37" dur="500"/>
                                        <p:tgtEl>
                                          <p:spTgt spid="150531">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0531">
                                            <p:txEl>
                                              <p:pRg st="5" end="5"/>
                                            </p:txEl>
                                          </p:spTgt>
                                        </p:tgtEl>
                                        <p:attrNameLst>
                                          <p:attrName>style.visibility</p:attrName>
                                        </p:attrNameLst>
                                      </p:cBhvr>
                                      <p:to>
                                        <p:strVal val="visible"/>
                                      </p:to>
                                    </p:set>
                                    <p:animEffect transition="in" filter="wipe(left)">
                                      <p:cBhvr>
                                        <p:cTn id="42" dur="500"/>
                                        <p:tgtEl>
                                          <p:spTgt spid="150531">
                                            <p:txEl>
                                              <p:pRg st="5" end="5"/>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50531">
                                            <p:txEl>
                                              <p:pRg st="6" end="6"/>
                                            </p:txEl>
                                          </p:spTgt>
                                        </p:tgtEl>
                                        <p:attrNameLst>
                                          <p:attrName>style.visibility</p:attrName>
                                        </p:attrNameLst>
                                      </p:cBhvr>
                                      <p:to>
                                        <p:strVal val="visible"/>
                                      </p:to>
                                    </p:set>
                                    <p:animEffect transition="in" filter="wipe(left)">
                                      <p:cBhvr>
                                        <p:cTn id="47" dur="500"/>
                                        <p:tgtEl>
                                          <p:spTgt spid="150531">
                                            <p:txEl>
                                              <p:pRg st="6" end="6"/>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0531">
                                            <p:txEl>
                                              <p:pRg st="7" end="7"/>
                                            </p:txEl>
                                          </p:spTgt>
                                        </p:tgtEl>
                                        <p:attrNameLst>
                                          <p:attrName>style.visibility</p:attrName>
                                        </p:attrNameLst>
                                      </p:cBhvr>
                                      <p:to>
                                        <p:strVal val="visible"/>
                                      </p:to>
                                    </p:set>
                                    <p:animEffect transition="in" filter="wipe(left)">
                                      <p:cBhvr>
                                        <p:cTn id="52" dur="500"/>
                                        <p:tgtEl>
                                          <p:spTgt spid="150531">
                                            <p:txEl>
                                              <p:pRg st="7" end="7"/>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50589"/>
                                        </p:tgtEl>
                                        <p:attrNameLst>
                                          <p:attrName>style.visibility</p:attrName>
                                        </p:attrNameLst>
                                      </p:cBhvr>
                                      <p:to>
                                        <p:strVal val="visible"/>
                                      </p:to>
                                    </p:set>
                                    <p:animEffect transition="in" filter="dissolve">
                                      <p:cBhvr>
                                        <p:cTn id="57" dur="500"/>
                                        <p:tgtEl>
                                          <p:spTgt spid="150589"/>
                                        </p:tgtEl>
                                      </p:cBhvr>
                                    </p:animEffect>
                                  </p:childTnLst>
                                  <p:subTnLst>
                                    <p:set>
                                      <p:cBhvr override="childStyle">
                                        <p:cTn dur="1" fill="hold" display="0" masterRel="nextClick" afterEffect="1"/>
                                        <p:tgtEl>
                                          <p:spTgt spid="150589"/>
                                        </p:tgtEl>
                                        <p:attrNameLst>
                                          <p:attrName>style.visibility</p:attrName>
                                        </p:attrNameLst>
                                      </p:cBhvr>
                                      <p:to>
                                        <p:strVal val="hidden"/>
                                      </p:to>
                                    </p:set>
                                  </p:sub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50592"/>
                                        </p:tgtEl>
                                        <p:attrNameLst>
                                          <p:attrName>style.visibility</p:attrName>
                                        </p:attrNameLst>
                                      </p:cBhvr>
                                      <p:to>
                                        <p:strVal val="visible"/>
                                      </p:to>
                                    </p:set>
                                    <p:animEffect transition="in" filter="dissolve">
                                      <p:cBhvr>
                                        <p:cTn id="62" dur="500"/>
                                        <p:tgtEl>
                                          <p:spTgt spid="15059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50593"/>
                                        </p:tgtEl>
                                        <p:attrNameLst>
                                          <p:attrName>style.visibility</p:attrName>
                                        </p:attrNameLst>
                                      </p:cBhvr>
                                      <p:to>
                                        <p:strVal val="visible"/>
                                      </p:to>
                                    </p:set>
                                    <p:animEffect transition="in" filter="wipe(left)">
                                      <p:cBhvr>
                                        <p:cTn id="67" dur="500"/>
                                        <p:tgtEl>
                                          <p:spTgt spid="15059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50591"/>
                                        </p:tgtEl>
                                        <p:attrNameLst>
                                          <p:attrName>style.visibility</p:attrName>
                                        </p:attrNameLst>
                                      </p:cBhvr>
                                      <p:to>
                                        <p:strVal val="visible"/>
                                      </p:to>
                                    </p:set>
                                    <p:animEffect transition="in" filter="wipe(left)">
                                      <p:cBhvr>
                                        <p:cTn id="72" dur="500"/>
                                        <p:tgtEl>
                                          <p:spTgt spid="150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0" grpId="0" animBg="1" autoUpdateAnimBg="0"/>
      <p:bldP spid="150531" grpId="0" build="p" autoUpdateAnimBg="0"/>
      <p:bldP spid="150589" grpId="0" animBg="1"/>
      <p:bldP spid="150591" grpId="0" animBg="1"/>
      <p:bldP spid="150592" grpId="0" animBg="1"/>
      <p:bldP spid="150593"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The  MST  Problem</a:t>
            </a:r>
          </a:p>
        </p:txBody>
      </p:sp>
      <p:sp>
        <p:nvSpPr>
          <p:cNvPr id="144387" name="Text Box 3"/>
          <p:cNvSpPr txBox="1">
            <a:spLocks noChangeArrowheads="1"/>
          </p:cNvSpPr>
          <p:nvPr/>
        </p:nvSpPr>
        <p:spPr bwMode="auto">
          <a:xfrm>
            <a:off x="140110" y="914400"/>
            <a:ext cx="8839200" cy="2193925"/>
          </a:xfrm>
          <a:prstGeom prst="rect">
            <a:avLst/>
          </a:prstGeom>
          <a:solidFill>
            <a:schemeClr val="accent3">
              <a:lumMod val="85000"/>
            </a:schemeClr>
          </a:solid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lvl1pPr marL="282575" indent="-282575" defTabSz="1528763">
              <a:defRPr sz="1600">
                <a:solidFill>
                  <a:schemeClr val="tx1"/>
                </a:solidFill>
                <a:latin typeface="Times New Roman" pitchFamily="18" charset="0"/>
              </a:defRPr>
            </a:lvl1pPr>
            <a:lvl2pPr marL="742950" indent="-285750" defTabSz="1528763">
              <a:defRPr sz="1600">
                <a:solidFill>
                  <a:schemeClr val="tx1"/>
                </a:solidFill>
                <a:latin typeface="Times New Roman" pitchFamily="18" charset="0"/>
              </a:defRPr>
            </a:lvl2pPr>
            <a:lvl3pPr marL="1143000" indent="-228600" defTabSz="1528763">
              <a:defRPr sz="1600">
                <a:solidFill>
                  <a:schemeClr val="tx1"/>
                </a:solidFill>
                <a:latin typeface="Times New Roman" pitchFamily="18" charset="0"/>
              </a:defRPr>
            </a:lvl3pPr>
            <a:lvl4pPr marL="1600200" indent="-228600" defTabSz="1528763">
              <a:defRPr sz="1600">
                <a:solidFill>
                  <a:schemeClr val="tx1"/>
                </a:solidFill>
                <a:latin typeface="Times New Roman" pitchFamily="18" charset="0"/>
              </a:defRPr>
            </a:lvl4pPr>
            <a:lvl5pPr marL="2057400" indent="-228600" defTabSz="1528763">
              <a:defRPr sz="1600">
                <a:solidFill>
                  <a:schemeClr val="tx1"/>
                </a:solidFill>
                <a:latin typeface="Times New Roman" pitchFamily="18" charset="0"/>
              </a:defRPr>
            </a:lvl5pPr>
            <a:lvl6pPr marL="2514600" indent="-228600" defTabSz="1528763" eaLnBrk="0" fontAlgn="base" hangingPunct="0">
              <a:spcBef>
                <a:spcPct val="0"/>
              </a:spcBef>
              <a:spcAft>
                <a:spcPct val="0"/>
              </a:spcAft>
              <a:buChar char="•"/>
              <a:defRPr sz="1600">
                <a:solidFill>
                  <a:schemeClr val="tx1"/>
                </a:solidFill>
                <a:latin typeface="Times New Roman" pitchFamily="18" charset="0"/>
              </a:defRPr>
            </a:lvl6pPr>
            <a:lvl7pPr marL="2971800" indent="-228600" defTabSz="1528763" eaLnBrk="0" fontAlgn="base" hangingPunct="0">
              <a:spcBef>
                <a:spcPct val="0"/>
              </a:spcBef>
              <a:spcAft>
                <a:spcPct val="0"/>
              </a:spcAft>
              <a:buChar char="•"/>
              <a:defRPr sz="1600">
                <a:solidFill>
                  <a:schemeClr val="tx1"/>
                </a:solidFill>
                <a:latin typeface="Times New Roman" pitchFamily="18" charset="0"/>
              </a:defRPr>
            </a:lvl7pPr>
            <a:lvl8pPr marL="3429000" indent="-228600" defTabSz="1528763" eaLnBrk="0" fontAlgn="base" hangingPunct="0">
              <a:spcBef>
                <a:spcPct val="0"/>
              </a:spcBef>
              <a:spcAft>
                <a:spcPct val="0"/>
              </a:spcAft>
              <a:buChar char="•"/>
              <a:defRPr sz="1600">
                <a:solidFill>
                  <a:schemeClr val="tx1"/>
                </a:solidFill>
                <a:latin typeface="Times New Roman" pitchFamily="18" charset="0"/>
              </a:defRPr>
            </a:lvl8pPr>
            <a:lvl9pPr marL="3886200" indent="-228600" defTabSz="1528763"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95000"/>
              </a:lnSpc>
              <a:buFontTx/>
              <a:buNone/>
            </a:pPr>
            <a:r>
              <a:rPr lang="en-US" sz="1800" b="1" dirty="0">
                <a:solidFill>
                  <a:srgbClr val="CC0000"/>
                </a:solidFill>
                <a:latin typeface="Arial" pitchFamily="34" charset="0"/>
              </a:rPr>
              <a:t>INPUT:</a:t>
            </a:r>
            <a:r>
              <a:rPr lang="en-US" sz="1800" dirty="0">
                <a:solidFill>
                  <a:schemeClr val="hlink"/>
                </a:solidFill>
                <a:latin typeface="Arial" pitchFamily="34" charset="0"/>
              </a:rPr>
              <a:t>     	A weighted connected undirected graph G = (V, E, w).</a:t>
            </a:r>
            <a:endParaRPr lang="en-US" sz="1800" b="1" dirty="0">
              <a:solidFill>
                <a:srgbClr val="CC0000"/>
              </a:solidFill>
              <a:latin typeface="Arial" pitchFamily="34" charset="0"/>
            </a:endParaRPr>
          </a:p>
          <a:p>
            <a:pPr eaLnBrk="1" hangingPunct="1">
              <a:lnSpc>
                <a:spcPct val="95000"/>
              </a:lnSpc>
              <a:buFontTx/>
              <a:buNone/>
            </a:pPr>
            <a:endParaRPr lang="en-US" sz="1800" b="1" dirty="0">
              <a:solidFill>
                <a:srgbClr val="CC0000"/>
              </a:solidFill>
              <a:latin typeface="Arial" pitchFamily="34" charset="0"/>
            </a:endParaRPr>
          </a:p>
          <a:p>
            <a:pPr eaLnBrk="1" hangingPunct="1">
              <a:lnSpc>
                <a:spcPct val="95000"/>
              </a:lnSpc>
              <a:buFontTx/>
              <a:buNone/>
            </a:pPr>
            <a:r>
              <a:rPr lang="en-US" sz="1800" b="1" dirty="0">
                <a:solidFill>
                  <a:srgbClr val="CC0000"/>
                </a:solidFill>
                <a:latin typeface="Arial" pitchFamily="34" charset="0"/>
              </a:rPr>
              <a:t>OUTPUT:</a:t>
            </a:r>
            <a:r>
              <a:rPr lang="en-US" sz="1800" dirty="0">
                <a:solidFill>
                  <a:schemeClr val="hlink"/>
                </a:solidFill>
                <a:latin typeface="Arial" pitchFamily="34" charset="0"/>
              </a:rPr>
              <a:t>  	A Minimum Spanning Tree (MST)  T of G.</a:t>
            </a:r>
          </a:p>
          <a:p>
            <a:pPr eaLnBrk="1" hangingPunct="1">
              <a:lnSpc>
                <a:spcPct val="95000"/>
              </a:lnSpc>
              <a:buFontTx/>
              <a:buNone/>
            </a:pPr>
            <a:endParaRPr lang="en-US" sz="1800" b="1" dirty="0">
              <a:solidFill>
                <a:srgbClr val="CC0000"/>
              </a:solidFill>
              <a:latin typeface="Arial" pitchFamily="34" charset="0"/>
            </a:endParaRPr>
          </a:p>
          <a:p>
            <a:pPr eaLnBrk="1" hangingPunct="1">
              <a:lnSpc>
                <a:spcPct val="95000"/>
              </a:lnSpc>
              <a:buFontTx/>
              <a:buNone/>
            </a:pPr>
            <a:r>
              <a:rPr lang="en-US" sz="1800" b="1" dirty="0">
                <a:solidFill>
                  <a:srgbClr val="CC0000"/>
                </a:solidFill>
                <a:latin typeface="Arial" pitchFamily="34" charset="0"/>
              </a:rPr>
              <a:t>Feasible 	</a:t>
            </a:r>
            <a:r>
              <a:rPr lang="en-US" sz="1800" dirty="0">
                <a:solidFill>
                  <a:schemeClr val="hlink"/>
                </a:solidFill>
                <a:latin typeface="Arial" pitchFamily="34" charset="0"/>
              </a:rPr>
              <a:t>Any spanning tree of G, </a:t>
            </a:r>
          </a:p>
          <a:p>
            <a:pPr eaLnBrk="1" hangingPunct="1">
              <a:lnSpc>
                <a:spcPct val="95000"/>
              </a:lnSpc>
              <a:buFontTx/>
              <a:buNone/>
            </a:pPr>
            <a:r>
              <a:rPr lang="en-US" sz="1800" b="1" dirty="0">
                <a:solidFill>
                  <a:srgbClr val="CC0000"/>
                </a:solidFill>
                <a:latin typeface="Arial" pitchFamily="34" charset="0"/>
              </a:rPr>
              <a:t>Solutions:</a:t>
            </a:r>
            <a:r>
              <a:rPr lang="en-US" sz="1800" dirty="0">
                <a:solidFill>
                  <a:schemeClr val="hlink"/>
                </a:solidFill>
                <a:latin typeface="Arial" pitchFamily="34" charset="0"/>
              </a:rPr>
              <a:t> 	i.e., a </a:t>
            </a:r>
            <a:r>
              <a:rPr lang="en-US" sz="1800" dirty="0" err="1">
                <a:solidFill>
                  <a:schemeClr val="hlink"/>
                </a:solidFill>
                <a:latin typeface="Arial" pitchFamily="34" charset="0"/>
              </a:rPr>
              <a:t>subgraph</a:t>
            </a:r>
            <a:r>
              <a:rPr lang="en-US" sz="1800" dirty="0">
                <a:solidFill>
                  <a:schemeClr val="hlink"/>
                </a:solidFill>
                <a:latin typeface="Arial" pitchFamily="34" charset="0"/>
              </a:rPr>
              <a:t> of G that is a tree and spans (i.e., includes)  V. </a:t>
            </a:r>
          </a:p>
          <a:p>
            <a:pPr eaLnBrk="1" hangingPunct="1">
              <a:lnSpc>
                <a:spcPct val="95000"/>
              </a:lnSpc>
              <a:buFontTx/>
              <a:buNone/>
            </a:pPr>
            <a:endParaRPr lang="en-US" sz="1800" b="1" dirty="0">
              <a:solidFill>
                <a:srgbClr val="CC0000"/>
              </a:solidFill>
              <a:latin typeface="Arial" pitchFamily="34" charset="0"/>
            </a:endParaRPr>
          </a:p>
          <a:p>
            <a:pPr eaLnBrk="1" hangingPunct="1">
              <a:lnSpc>
                <a:spcPct val="95000"/>
              </a:lnSpc>
              <a:buFontTx/>
              <a:buNone/>
            </a:pPr>
            <a:r>
              <a:rPr lang="en-US" sz="1800" b="1" dirty="0">
                <a:solidFill>
                  <a:srgbClr val="CC0000"/>
                </a:solidFill>
                <a:latin typeface="Arial" pitchFamily="34" charset="0"/>
              </a:rPr>
              <a:t>Objective:</a:t>
            </a:r>
            <a:r>
              <a:rPr lang="en-US" sz="1800" dirty="0">
                <a:solidFill>
                  <a:schemeClr val="hlink"/>
                </a:solidFill>
                <a:latin typeface="Arial" pitchFamily="34" charset="0"/>
              </a:rPr>
              <a:t>     Minimize   Cost(T) = sum of the weights of edges in T</a:t>
            </a:r>
            <a:r>
              <a:rPr lang="en-US" sz="1800" dirty="0">
                <a:solidFill>
                  <a:schemeClr val="hlink"/>
                </a:solidFill>
                <a:latin typeface="Arial" pitchFamily="34" charset="0"/>
                <a:sym typeface="Symbol" pitchFamily="18" charset="2"/>
              </a:rPr>
              <a:t>.</a:t>
            </a:r>
          </a:p>
        </p:txBody>
      </p:sp>
      <p:grpSp>
        <p:nvGrpSpPr>
          <p:cNvPr id="144442" name="Group 58"/>
          <p:cNvGrpSpPr>
            <a:grpSpLocks/>
          </p:cNvGrpSpPr>
          <p:nvPr/>
        </p:nvGrpSpPr>
        <p:grpSpPr bwMode="auto">
          <a:xfrm>
            <a:off x="547688" y="3559175"/>
            <a:ext cx="1639887" cy="2446338"/>
            <a:chOff x="440" y="2242"/>
            <a:chExt cx="939" cy="1541"/>
          </a:xfrm>
        </p:grpSpPr>
        <p:sp>
          <p:nvSpPr>
            <p:cNvPr id="72739" name="Line 9"/>
            <p:cNvSpPr>
              <a:spLocks noChangeShapeType="1"/>
            </p:cNvSpPr>
            <p:nvPr/>
          </p:nvSpPr>
          <p:spPr bwMode="auto">
            <a:xfrm flipV="1">
              <a:off x="624" y="2400"/>
              <a:ext cx="288" cy="384"/>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2740" name="Line 10"/>
            <p:cNvSpPr>
              <a:spLocks noChangeShapeType="1"/>
            </p:cNvSpPr>
            <p:nvPr/>
          </p:nvSpPr>
          <p:spPr bwMode="auto">
            <a:xfrm>
              <a:off x="624" y="2784"/>
              <a:ext cx="0" cy="52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2741" name="Line 11"/>
            <p:cNvSpPr>
              <a:spLocks noChangeShapeType="1"/>
            </p:cNvSpPr>
            <p:nvPr/>
          </p:nvSpPr>
          <p:spPr bwMode="auto">
            <a:xfrm>
              <a:off x="624" y="3312"/>
              <a:ext cx="576"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2742" name="Line 12"/>
            <p:cNvSpPr>
              <a:spLocks noChangeShapeType="1"/>
            </p:cNvSpPr>
            <p:nvPr/>
          </p:nvSpPr>
          <p:spPr bwMode="auto">
            <a:xfrm flipV="1">
              <a:off x="1200" y="2784"/>
              <a:ext cx="0" cy="52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2743" name="Line 13"/>
            <p:cNvSpPr>
              <a:spLocks noChangeShapeType="1"/>
            </p:cNvSpPr>
            <p:nvPr/>
          </p:nvSpPr>
          <p:spPr bwMode="auto">
            <a:xfrm flipH="1">
              <a:off x="624" y="2784"/>
              <a:ext cx="576"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2744" name="Line 14"/>
            <p:cNvSpPr>
              <a:spLocks noChangeShapeType="1"/>
            </p:cNvSpPr>
            <p:nvPr/>
          </p:nvSpPr>
          <p:spPr bwMode="auto">
            <a:xfrm flipH="1" flipV="1">
              <a:off x="864" y="2400"/>
              <a:ext cx="336" cy="384"/>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2745" name="Oval 8"/>
            <p:cNvSpPr>
              <a:spLocks noChangeArrowheads="1"/>
            </p:cNvSpPr>
            <p:nvPr/>
          </p:nvSpPr>
          <p:spPr bwMode="auto">
            <a:xfrm>
              <a:off x="768" y="2242"/>
              <a:ext cx="249"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b="1" dirty="0">
                  <a:solidFill>
                    <a:schemeClr val="tx2"/>
                  </a:solidFill>
                </a:rPr>
                <a:t>a</a:t>
              </a:r>
            </a:p>
          </p:txBody>
        </p:sp>
        <p:sp>
          <p:nvSpPr>
            <p:cNvPr id="72746" name="Oval 4"/>
            <p:cNvSpPr>
              <a:spLocks noChangeArrowheads="1"/>
            </p:cNvSpPr>
            <p:nvPr/>
          </p:nvSpPr>
          <p:spPr bwMode="auto">
            <a:xfrm>
              <a:off x="480" y="2626"/>
              <a:ext cx="249"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b="1" dirty="0">
                  <a:solidFill>
                    <a:schemeClr val="tx2"/>
                  </a:solidFill>
                </a:rPr>
                <a:t>b</a:t>
              </a:r>
            </a:p>
          </p:txBody>
        </p:sp>
        <p:sp>
          <p:nvSpPr>
            <p:cNvPr id="72747" name="Oval 6"/>
            <p:cNvSpPr>
              <a:spLocks noChangeArrowheads="1"/>
            </p:cNvSpPr>
            <p:nvPr/>
          </p:nvSpPr>
          <p:spPr bwMode="auto">
            <a:xfrm>
              <a:off x="480" y="3154"/>
              <a:ext cx="249"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b="1" dirty="0">
                  <a:solidFill>
                    <a:schemeClr val="tx2"/>
                  </a:solidFill>
                </a:rPr>
                <a:t>e</a:t>
              </a:r>
            </a:p>
          </p:txBody>
        </p:sp>
        <p:sp>
          <p:nvSpPr>
            <p:cNvPr id="72748" name="Oval 7"/>
            <p:cNvSpPr>
              <a:spLocks noChangeArrowheads="1"/>
            </p:cNvSpPr>
            <p:nvPr/>
          </p:nvSpPr>
          <p:spPr bwMode="auto">
            <a:xfrm>
              <a:off x="1056" y="3154"/>
              <a:ext cx="249"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b="1" dirty="0">
                  <a:solidFill>
                    <a:schemeClr val="tx2"/>
                  </a:solidFill>
                </a:rPr>
                <a:t>d</a:t>
              </a:r>
            </a:p>
          </p:txBody>
        </p:sp>
        <p:sp>
          <p:nvSpPr>
            <p:cNvPr id="72749" name="Oval 5"/>
            <p:cNvSpPr>
              <a:spLocks noChangeArrowheads="1"/>
            </p:cNvSpPr>
            <p:nvPr/>
          </p:nvSpPr>
          <p:spPr bwMode="auto">
            <a:xfrm>
              <a:off x="1056" y="2626"/>
              <a:ext cx="249"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b="1" dirty="0">
                  <a:solidFill>
                    <a:schemeClr val="tx2"/>
                  </a:solidFill>
                </a:rPr>
                <a:t>c</a:t>
              </a:r>
            </a:p>
          </p:txBody>
        </p:sp>
        <p:sp>
          <p:nvSpPr>
            <p:cNvPr id="72750" name="Text Box 15"/>
            <p:cNvSpPr txBox="1">
              <a:spLocks noChangeArrowheads="1"/>
            </p:cNvSpPr>
            <p:nvPr/>
          </p:nvSpPr>
          <p:spPr bwMode="auto">
            <a:xfrm>
              <a:off x="632" y="2400"/>
              <a:ext cx="17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5</a:t>
              </a:r>
            </a:p>
          </p:txBody>
        </p:sp>
        <p:sp>
          <p:nvSpPr>
            <p:cNvPr id="72751" name="Text Box 16"/>
            <p:cNvSpPr txBox="1">
              <a:spLocks noChangeArrowheads="1"/>
            </p:cNvSpPr>
            <p:nvPr/>
          </p:nvSpPr>
          <p:spPr bwMode="auto">
            <a:xfrm>
              <a:off x="1016" y="2400"/>
              <a:ext cx="17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sp>
          <p:nvSpPr>
            <p:cNvPr id="72752" name="Text Box 17"/>
            <p:cNvSpPr txBox="1">
              <a:spLocks noChangeArrowheads="1"/>
            </p:cNvSpPr>
            <p:nvPr/>
          </p:nvSpPr>
          <p:spPr bwMode="auto">
            <a:xfrm>
              <a:off x="825" y="2736"/>
              <a:ext cx="17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72753" name="Text Box 18"/>
            <p:cNvSpPr txBox="1">
              <a:spLocks noChangeArrowheads="1"/>
            </p:cNvSpPr>
            <p:nvPr/>
          </p:nvSpPr>
          <p:spPr bwMode="auto">
            <a:xfrm>
              <a:off x="776" y="3264"/>
              <a:ext cx="17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8</a:t>
              </a:r>
            </a:p>
          </p:txBody>
        </p:sp>
        <p:sp>
          <p:nvSpPr>
            <p:cNvPr id="72754" name="Text Box 19"/>
            <p:cNvSpPr txBox="1">
              <a:spLocks noChangeArrowheads="1"/>
            </p:cNvSpPr>
            <p:nvPr/>
          </p:nvSpPr>
          <p:spPr bwMode="auto">
            <a:xfrm>
              <a:off x="440" y="2928"/>
              <a:ext cx="17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4</a:t>
              </a:r>
            </a:p>
          </p:txBody>
        </p:sp>
        <p:sp>
          <p:nvSpPr>
            <p:cNvPr id="72755" name="Text Box 20"/>
            <p:cNvSpPr txBox="1">
              <a:spLocks noChangeArrowheads="1"/>
            </p:cNvSpPr>
            <p:nvPr/>
          </p:nvSpPr>
          <p:spPr bwMode="auto">
            <a:xfrm>
              <a:off x="1208" y="2880"/>
              <a:ext cx="17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7</a:t>
              </a:r>
            </a:p>
          </p:txBody>
        </p:sp>
        <p:sp>
          <p:nvSpPr>
            <p:cNvPr id="72756" name="Text Box 21"/>
            <p:cNvSpPr txBox="1">
              <a:spLocks noChangeArrowheads="1"/>
            </p:cNvSpPr>
            <p:nvPr/>
          </p:nvSpPr>
          <p:spPr bwMode="auto">
            <a:xfrm>
              <a:off x="762" y="3552"/>
              <a:ext cx="20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G</a:t>
              </a:r>
            </a:p>
          </p:txBody>
        </p:sp>
      </p:grpSp>
      <p:grpSp>
        <p:nvGrpSpPr>
          <p:cNvPr id="144443" name="Group 59"/>
          <p:cNvGrpSpPr>
            <a:grpSpLocks/>
          </p:cNvGrpSpPr>
          <p:nvPr/>
        </p:nvGrpSpPr>
        <p:grpSpPr bwMode="auto">
          <a:xfrm>
            <a:off x="2770188" y="3429000"/>
            <a:ext cx="2578100" cy="2720975"/>
            <a:chOff x="1883" y="2160"/>
            <a:chExt cx="1419" cy="1714"/>
          </a:xfrm>
        </p:grpSpPr>
        <p:sp>
          <p:nvSpPr>
            <p:cNvPr id="72725" name="Line 23"/>
            <p:cNvSpPr>
              <a:spLocks noChangeShapeType="1"/>
            </p:cNvSpPr>
            <p:nvPr/>
          </p:nvSpPr>
          <p:spPr bwMode="auto">
            <a:xfrm>
              <a:off x="2352" y="2702"/>
              <a:ext cx="0" cy="52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2726" name="Line 25"/>
            <p:cNvSpPr>
              <a:spLocks noChangeShapeType="1"/>
            </p:cNvSpPr>
            <p:nvPr/>
          </p:nvSpPr>
          <p:spPr bwMode="auto">
            <a:xfrm flipV="1">
              <a:off x="2928" y="2702"/>
              <a:ext cx="0" cy="52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2727" name="Line 26"/>
            <p:cNvSpPr>
              <a:spLocks noChangeShapeType="1"/>
            </p:cNvSpPr>
            <p:nvPr/>
          </p:nvSpPr>
          <p:spPr bwMode="auto">
            <a:xfrm flipH="1">
              <a:off x="2352" y="2702"/>
              <a:ext cx="576"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2728" name="Line 27"/>
            <p:cNvSpPr>
              <a:spLocks noChangeShapeType="1"/>
            </p:cNvSpPr>
            <p:nvPr/>
          </p:nvSpPr>
          <p:spPr bwMode="auto">
            <a:xfrm flipH="1" flipV="1">
              <a:off x="2592" y="2318"/>
              <a:ext cx="336" cy="384"/>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2729" name="Oval 28"/>
            <p:cNvSpPr>
              <a:spLocks noChangeArrowheads="1"/>
            </p:cNvSpPr>
            <p:nvPr/>
          </p:nvSpPr>
          <p:spPr bwMode="auto">
            <a:xfrm>
              <a:off x="2496" y="2160"/>
              <a:ext cx="249"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b="1" dirty="0">
                  <a:solidFill>
                    <a:schemeClr val="tx2"/>
                  </a:solidFill>
                </a:rPr>
                <a:t>a</a:t>
              </a:r>
            </a:p>
          </p:txBody>
        </p:sp>
        <p:sp>
          <p:nvSpPr>
            <p:cNvPr id="72730" name="Oval 29"/>
            <p:cNvSpPr>
              <a:spLocks noChangeArrowheads="1"/>
            </p:cNvSpPr>
            <p:nvPr/>
          </p:nvSpPr>
          <p:spPr bwMode="auto">
            <a:xfrm>
              <a:off x="2208" y="2544"/>
              <a:ext cx="249"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b="1" dirty="0">
                  <a:solidFill>
                    <a:schemeClr val="tx2"/>
                  </a:solidFill>
                </a:rPr>
                <a:t>b</a:t>
              </a:r>
            </a:p>
          </p:txBody>
        </p:sp>
        <p:sp>
          <p:nvSpPr>
            <p:cNvPr id="72731" name="Oval 30"/>
            <p:cNvSpPr>
              <a:spLocks noChangeArrowheads="1"/>
            </p:cNvSpPr>
            <p:nvPr/>
          </p:nvSpPr>
          <p:spPr bwMode="auto">
            <a:xfrm>
              <a:off x="2208" y="3072"/>
              <a:ext cx="249"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b="1">
                  <a:solidFill>
                    <a:schemeClr val="tx2"/>
                  </a:solidFill>
                </a:rPr>
                <a:t>e</a:t>
              </a:r>
            </a:p>
          </p:txBody>
        </p:sp>
        <p:sp>
          <p:nvSpPr>
            <p:cNvPr id="72732" name="Oval 31"/>
            <p:cNvSpPr>
              <a:spLocks noChangeArrowheads="1"/>
            </p:cNvSpPr>
            <p:nvPr/>
          </p:nvSpPr>
          <p:spPr bwMode="auto">
            <a:xfrm>
              <a:off x="2784" y="3072"/>
              <a:ext cx="249"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b="1" dirty="0">
                  <a:solidFill>
                    <a:schemeClr val="tx2"/>
                  </a:solidFill>
                </a:rPr>
                <a:t>d</a:t>
              </a:r>
            </a:p>
          </p:txBody>
        </p:sp>
        <p:sp>
          <p:nvSpPr>
            <p:cNvPr id="72733" name="Oval 32"/>
            <p:cNvSpPr>
              <a:spLocks noChangeArrowheads="1"/>
            </p:cNvSpPr>
            <p:nvPr/>
          </p:nvSpPr>
          <p:spPr bwMode="auto">
            <a:xfrm>
              <a:off x="2784" y="2544"/>
              <a:ext cx="249"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b="1" dirty="0">
                  <a:solidFill>
                    <a:schemeClr val="tx2"/>
                  </a:solidFill>
                </a:rPr>
                <a:t>c</a:t>
              </a:r>
            </a:p>
          </p:txBody>
        </p:sp>
        <p:sp>
          <p:nvSpPr>
            <p:cNvPr id="72734" name="Text Box 34"/>
            <p:cNvSpPr txBox="1">
              <a:spLocks noChangeArrowheads="1"/>
            </p:cNvSpPr>
            <p:nvPr/>
          </p:nvSpPr>
          <p:spPr bwMode="auto">
            <a:xfrm>
              <a:off x="2747" y="2318"/>
              <a:ext cx="16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sp>
          <p:nvSpPr>
            <p:cNvPr id="72735" name="Text Box 35"/>
            <p:cNvSpPr txBox="1">
              <a:spLocks noChangeArrowheads="1"/>
            </p:cNvSpPr>
            <p:nvPr/>
          </p:nvSpPr>
          <p:spPr bwMode="auto">
            <a:xfrm>
              <a:off x="2555" y="2654"/>
              <a:ext cx="16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72736" name="Text Box 37"/>
            <p:cNvSpPr txBox="1">
              <a:spLocks noChangeArrowheads="1"/>
            </p:cNvSpPr>
            <p:nvPr/>
          </p:nvSpPr>
          <p:spPr bwMode="auto">
            <a:xfrm>
              <a:off x="2171" y="2846"/>
              <a:ext cx="16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4</a:t>
              </a:r>
            </a:p>
          </p:txBody>
        </p:sp>
        <p:sp>
          <p:nvSpPr>
            <p:cNvPr id="72737" name="Text Box 38"/>
            <p:cNvSpPr txBox="1">
              <a:spLocks noChangeArrowheads="1"/>
            </p:cNvSpPr>
            <p:nvPr/>
          </p:nvSpPr>
          <p:spPr bwMode="auto">
            <a:xfrm>
              <a:off x="2939" y="2798"/>
              <a:ext cx="16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7</a:t>
              </a:r>
            </a:p>
          </p:txBody>
        </p:sp>
        <p:sp>
          <p:nvSpPr>
            <p:cNvPr id="72738" name="Text Box 39"/>
            <p:cNvSpPr txBox="1">
              <a:spLocks noChangeArrowheads="1"/>
            </p:cNvSpPr>
            <p:nvPr/>
          </p:nvSpPr>
          <p:spPr bwMode="auto">
            <a:xfrm>
              <a:off x="1883" y="3470"/>
              <a:ext cx="1419"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Minimum spanning tree T</a:t>
              </a:r>
              <a:br>
                <a:rPr lang="en-US" sz="1800">
                  <a:solidFill>
                    <a:schemeClr val="tx2"/>
                  </a:solidFill>
                </a:rPr>
              </a:br>
              <a:r>
                <a:rPr lang="en-US" sz="1800">
                  <a:solidFill>
                    <a:schemeClr val="tx2"/>
                  </a:solidFill>
                </a:rPr>
                <a:t>Cost(T) = 3+2+4+7 = 16</a:t>
              </a:r>
            </a:p>
          </p:txBody>
        </p:sp>
      </p:grpSp>
      <p:grpSp>
        <p:nvGrpSpPr>
          <p:cNvPr id="144444" name="Group 60"/>
          <p:cNvGrpSpPr>
            <a:grpSpLocks/>
          </p:cNvGrpSpPr>
          <p:nvPr/>
        </p:nvGrpSpPr>
        <p:grpSpPr bwMode="auto">
          <a:xfrm>
            <a:off x="5988050" y="3330575"/>
            <a:ext cx="2528888" cy="2720975"/>
            <a:chOff x="3936" y="2098"/>
            <a:chExt cx="1436" cy="1714"/>
          </a:xfrm>
        </p:grpSpPr>
        <p:sp>
          <p:nvSpPr>
            <p:cNvPr id="72711" name="Line 40"/>
            <p:cNvSpPr>
              <a:spLocks noChangeShapeType="1"/>
            </p:cNvSpPr>
            <p:nvPr/>
          </p:nvSpPr>
          <p:spPr bwMode="auto">
            <a:xfrm flipV="1">
              <a:off x="4416" y="2256"/>
              <a:ext cx="288" cy="384"/>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2712" name="Line 41"/>
            <p:cNvSpPr>
              <a:spLocks noChangeShapeType="1"/>
            </p:cNvSpPr>
            <p:nvPr/>
          </p:nvSpPr>
          <p:spPr bwMode="auto">
            <a:xfrm>
              <a:off x="4416" y="2640"/>
              <a:ext cx="0" cy="52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2713" name="Line 42"/>
            <p:cNvSpPr>
              <a:spLocks noChangeShapeType="1"/>
            </p:cNvSpPr>
            <p:nvPr/>
          </p:nvSpPr>
          <p:spPr bwMode="auto">
            <a:xfrm>
              <a:off x="4416" y="3168"/>
              <a:ext cx="576"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2714" name="Line 45"/>
            <p:cNvSpPr>
              <a:spLocks noChangeShapeType="1"/>
            </p:cNvSpPr>
            <p:nvPr/>
          </p:nvSpPr>
          <p:spPr bwMode="auto">
            <a:xfrm flipH="1" flipV="1">
              <a:off x="4656" y="2256"/>
              <a:ext cx="336" cy="384"/>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2715" name="Oval 46"/>
            <p:cNvSpPr>
              <a:spLocks noChangeArrowheads="1"/>
            </p:cNvSpPr>
            <p:nvPr/>
          </p:nvSpPr>
          <p:spPr bwMode="auto">
            <a:xfrm>
              <a:off x="4560" y="2098"/>
              <a:ext cx="249"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b="1" dirty="0">
                  <a:solidFill>
                    <a:schemeClr val="tx2"/>
                  </a:solidFill>
                </a:rPr>
                <a:t>a</a:t>
              </a:r>
            </a:p>
          </p:txBody>
        </p:sp>
        <p:sp>
          <p:nvSpPr>
            <p:cNvPr id="72716" name="Oval 47"/>
            <p:cNvSpPr>
              <a:spLocks noChangeArrowheads="1"/>
            </p:cNvSpPr>
            <p:nvPr/>
          </p:nvSpPr>
          <p:spPr bwMode="auto">
            <a:xfrm>
              <a:off x="4272" y="2482"/>
              <a:ext cx="249"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b="1" dirty="0">
                  <a:solidFill>
                    <a:schemeClr val="tx2"/>
                  </a:solidFill>
                </a:rPr>
                <a:t>b</a:t>
              </a:r>
            </a:p>
          </p:txBody>
        </p:sp>
        <p:sp>
          <p:nvSpPr>
            <p:cNvPr id="72717" name="Oval 48"/>
            <p:cNvSpPr>
              <a:spLocks noChangeArrowheads="1"/>
            </p:cNvSpPr>
            <p:nvPr/>
          </p:nvSpPr>
          <p:spPr bwMode="auto">
            <a:xfrm>
              <a:off x="4272" y="3010"/>
              <a:ext cx="249"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b="1" dirty="0">
                  <a:solidFill>
                    <a:schemeClr val="tx2"/>
                  </a:solidFill>
                </a:rPr>
                <a:t>e</a:t>
              </a:r>
            </a:p>
          </p:txBody>
        </p:sp>
        <p:sp>
          <p:nvSpPr>
            <p:cNvPr id="72718" name="Oval 49"/>
            <p:cNvSpPr>
              <a:spLocks noChangeArrowheads="1"/>
            </p:cNvSpPr>
            <p:nvPr/>
          </p:nvSpPr>
          <p:spPr bwMode="auto">
            <a:xfrm>
              <a:off x="4848" y="3010"/>
              <a:ext cx="249"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b="1">
                  <a:solidFill>
                    <a:schemeClr val="tx2"/>
                  </a:solidFill>
                </a:rPr>
                <a:t>d</a:t>
              </a:r>
            </a:p>
          </p:txBody>
        </p:sp>
        <p:sp>
          <p:nvSpPr>
            <p:cNvPr id="72719" name="Oval 50"/>
            <p:cNvSpPr>
              <a:spLocks noChangeArrowheads="1"/>
            </p:cNvSpPr>
            <p:nvPr/>
          </p:nvSpPr>
          <p:spPr bwMode="auto">
            <a:xfrm>
              <a:off x="4848" y="2482"/>
              <a:ext cx="249"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b="1">
                  <a:solidFill>
                    <a:schemeClr val="tx2"/>
                  </a:solidFill>
                </a:rPr>
                <a:t>c</a:t>
              </a:r>
            </a:p>
          </p:txBody>
        </p:sp>
        <p:sp>
          <p:nvSpPr>
            <p:cNvPr id="72720" name="Text Box 51"/>
            <p:cNvSpPr txBox="1">
              <a:spLocks noChangeArrowheads="1"/>
            </p:cNvSpPr>
            <p:nvPr/>
          </p:nvSpPr>
          <p:spPr bwMode="auto">
            <a:xfrm>
              <a:off x="4425" y="2256"/>
              <a:ext cx="169"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5</a:t>
              </a:r>
            </a:p>
          </p:txBody>
        </p:sp>
        <p:sp>
          <p:nvSpPr>
            <p:cNvPr id="72721" name="Text Box 52"/>
            <p:cNvSpPr txBox="1">
              <a:spLocks noChangeArrowheads="1"/>
            </p:cNvSpPr>
            <p:nvPr/>
          </p:nvSpPr>
          <p:spPr bwMode="auto">
            <a:xfrm>
              <a:off x="4809" y="2256"/>
              <a:ext cx="169"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sp>
          <p:nvSpPr>
            <p:cNvPr id="72722" name="Text Box 54"/>
            <p:cNvSpPr txBox="1">
              <a:spLocks noChangeArrowheads="1"/>
            </p:cNvSpPr>
            <p:nvPr/>
          </p:nvSpPr>
          <p:spPr bwMode="auto">
            <a:xfrm>
              <a:off x="4569" y="3120"/>
              <a:ext cx="169"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8</a:t>
              </a:r>
            </a:p>
          </p:txBody>
        </p:sp>
        <p:sp>
          <p:nvSpPr>
            <p:cNvPr id="72723" name="Text Box 55"/>
            <p:cNvSpPr txBox="1">
              <a:spLocks noChangeArrowheads="1"/>
            </p:cNvSpPr>
            <p:nvPr/>
          </p:nvSpPr>
          <p:spPr bwMode="auto">
            <a:xfrm>
              <a:off x="4233" y="2784"/>
              <a:ext cx="169"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4</a:t>
              </a:r>
            </a:p>
          </p:txBody>
        </p:sp>
        <p:sp>
          <p:nvSpPr>
            <p:cNvPr id="72724" name="Text Box 57"/>
            <p:cNvSpPr txBox="1">
              <a:spLocks noChangeArrowheads="1"/>
            </p:cNvSpPr>
            <p:nvPr/>
          </p:nvSpPr>
          <p:spPr bwMode="auto">
            <a:xfrm>
              <a:off x="3936" y="3408"/>
              <a:ext cx="1436"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Another spanning tree T’</a:t>
              </a:r>
              <a:br>
                <a:rPr lang="en-US" sz="1800">
                  <a:solidFill>
                    <a:schemeClr val="tx2"/>
                  </a:solidFill>
                </a:rPr>
              </a:br>
              <a:r>
                <a:rPr lang="en-US" sz="1800">
                  <a:solidFill>
                    <a:schemeClr val="tx2"/>
                  </a:solidFill>
                </a:rPr>
                <a:t>Cost(T’) = 3+5+4+8 = 20</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70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44386"/>
                                        </p:tgtEl>
                                        <p:attrNameLst>
                                          <p:attrName>style.visibility</p:attrName>
                                        </p:attrNameLst>
                                      </p:cBhvr>
                                      <p:to>
                                        <p:strVal val="visible"/>
                                      </p:to>
                                    </p:set>
                                    <p:anim calcmode="lin" valueType="num">
                                      <p:cBhvr>
                                        <p:cTn id="7" dur="500" fill="hold"/>
                                        <p:tgtEl>
                                          <p:spTgt spid="144386"/>
                                        </p:tgtEl>
                                        <p:attrNameLst>
                                          <p:attrName>ppt_w</p:attrName>
                                        </p:attrNameLst>
                                      </p:cBhvr>
                                      <p:tavLst>
                                        <p:tav tm="0">
                                          <p:val>
                                            <p:fltVal val="0"/>
                                          </p:val>
                                        </p:tav>
                                        <p:tav tm="100000">
                                          <p:val>
                                            <p:strVal val="#ppt_w"/>
                                          </p:val>
                                        </p:tav>
                                      </p:tavLst>
                                    </p:anim>
                                    <p:anim calcmode="lin" valueType="num">
                                      <p:cBhvr>
                                        <p:cTn id="8" dur="500" fill="hold"/>
                                        <p:tgtEl>
                                          <p:spTgt spid="144386"/>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44387"/>
                                        </p:tgtEl>
                                        <p:attrNameLst>
                                          <p:attrName>style.visibility</p:attrName>
                                        </p:attrNameLst>
                                      </p:cBhvr>
                                      <p:to>
                                        <p:strVal val="visible"/>
                                      </p:to>
                                    </p:set>
                                    <p:animEffect transition="in" filter="wipe(up)">
                                      <p:cBhvr>
                                        <p:cTn id="12" dur="500"/>
                                        <p:tgtEl>
                                          <p:spTgt spid="144387"/>
                                        </p:tgtEl>
                                      </p:cBhvr>
                                    </p:animEffect>
                                  </p:childTnLst>
                                </p:cTn>
                              </p:par>
                            </p:childTnLst>
                          </p:cTn>
                        </p:par>
                        <p:par>
                          <p:cTn id="13" fill="hold" nodeType="afterGroup">
                            <p:stCondLst>
                              <p:cond delay="1000"/>
                            </p:stCondLst>
                            <p:childTnLst>
                              <p:par>
                                <p:cTn id="14" presetID="22" presetClass="entr" presetSubtype="1" fill="hold" nodeType="afterEffect">
                                  <p:stCondLst>
                                    <p:cond delay="2000"/>
                                  </p:stCondLst>
                                  <p:childTnLst>
                                    <p:set>
                                      <p:cBhvr>
                                        <p:cTn id="15" dur="1" fill="hold">
                                          <p:stCondLst>
                                            <p:cond delay="0"/>
                                          </p:stCondLst>
                                        </p:cTn>
                                        <p:tgtEl>
                                          <p:spTgt spid="144442"/>
                                        </p:tgtEl>
                                        <p:attrNameLst>
                                          <p:attrName>style.visibility</p:attrName>
                                        </p:attrNameLst>
                                      </p:cBhvr>
                                      <p:to>
                                        <p:strVal val="visible"/>
                                      </p:to>
                                    </p:set>
                                    <p:animEffect transition="in" filter="wipe(up)">
                                      <p:cBhvr>
                                        <p:cTn id="16" dur="500"/>
                                        <p:tgtEl>
                                          <p:spTgt spid="144442"/>
                                        </p:tgtEl>
                                      </p:cBhvr>
                                    </p:animEffect>
                                  </p:childTnLst>
                                </p:cTn>
                              </p:par>
                            </p:childTnLst>
                          </p:cTn>
                        </p:par>
                        <p:par>
                          <p:cTn id="17" fill="hold" nodeType="afterGroup">
                            <p:stCondLst>
                              <p:cond delay="3500"/>
                            </p:stCondLst>
                            <p:childTnLst>
                              <p:par>
                                <p:cTn id="18" presetID="22" presetClass="entr" presetSubtype="1" fill="hold" nodeType="afterEffect">
                                  <p:stCondLst>
                                    <p:cond delay="1000"/>
                                  </p:stCondLst>
                                  <p:childTnLst>
                                    <p:set>
                                      <p:cBhvr>
                                        <p:cTn id="19" dur="1" fill="hold">
                                          <p:stCondLst>
                                            <p:cond delay="0"/>
                                          </p:stCondLst>
                                        </p:cTn>
                                        <p:tgtEl>
                                          <p:spTgt spid="144443"/>
                                        </p:tgtEl>
                                        <p:attrNameLst>
                                          <p:attrName>style.visibility</p:attrName>
                                        </p:attrNameLst>
                                      </p:cBhvr>
                                      <p:to>
                                        <p:strVal val="visible"/>
                                      </p:to>
                                    </p:set>
                                    <p:animEffect transition="in" filter="wipe(up)">
                                      <p:cBhvr>
                                        <p:cTn id="20" dur="500"/>
                                        <p:tgtEl>
                                          <p:spTgt spid="144443"/>
                                        </p:tgtEl>
                                      </p:cBhvr>
                                    </p:animEffect>
                                  </p:childTnLst>
                                </p:cTn>
                              </p:par>
                            </p:childTnLst>
                          </p:cTn>
                        </p:par>
                        <p:par>
                          <p:cTn id="21" fill="hold" nodeType="afterGroup">
                            <p:stCondLst>
                              <p:cond delay="5000"/>
                            </p:stCondLst>
                            <p:childTnLst>
                              <p:par>
                                <p:cTn id="22" presetID="22" presetClass="entr" presetSubtype="1" fill="hold" nodeType="afterEffect">
                                  <p:stCondLst>
                                    <p:cond delay="1000"/>
                                  </p:stCondLst>
                                  <p:childTnLst>
                                    <p:set>
                                      <p:cBhvr>
                                        <p:cTn id="23" dur="1" fill="hold">
                                          <p:stCondLst>
                                            <p:cond delay="0"/>
                                          </p:stCondLst>
                                        </p:cTn>
                                        <p:tgtEl>
                                          <p:spTgt spid="144444"/>
                                        </p:tgtEl>
                                        <p:attrNameLst>
                                          <p:attrName>style.visibility</p:attrName>
                                        </p:attrNameLst>
                                      </p:cBhvr>
                                      <p:to>
                                        <p:strVal val="visible"/>
                                      </p:to>
                                    </p:set>
                                    <p:animEffect transition="in" filter="wipe(up)">
                                      <p:cBhvr>
                                        <p:cTn id="24" dur="500"/>
                                        <p:tgtEl>
                                          <p:spTgt spid="144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6" grpId="0" animBg="1" autoUpdateAnimBg="0"/>
      <p:bldP spid="144387"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MST Preliminaries</a:t>
            </a:r>
          </a:p>
        </p:txBody>
      </p:sp>
      <p:sp>
        <p:nvSpPr>
          <p:cNvPr id="146435" name="Text Box 3"/>
          <p:cNvSpPr txBox="1">
            <a:spLocks noChangeArrowheads="1"/>
          </p:cNvSpPr>
          <p:nvPr/>
        </p:nvSpPr>
        <p:spPr bwMode="auto">
          <a:xfrm>
            <a:off x="228600" y="762000"/>
            <a:ext cx="7543800" cy="1412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2575" indent="-282575" defTabSz="1433513">
              <a:defRPr sz="1600">
                <a:solidFill>
                  <a:schemeClr val="tx1"/>
                </a:solidFill>
                <a:latin typeface="Times New Roman" pitchFamily="18" charset="0"/>
              </a:defRPr>
            </a:lvl1pPr>
            <a:lvl2pPr marL="742950" indent="-285750" defTabSz="1433513">
              <a:defRPr sz="1600">
                <a:solidFill>
                  <a:schemeClr val="tx1"/>
                </a:solidFill>
                <a:latin typeface="Times New Roman" pitchFamily="18" charset="0"/>
              </a:defRPr>
            </a:lvl2pPr>
            <a:lvl3pPr marL="1143000" indent="-228600" defTabSz="1433513">
              <a:defRPr sz="1600">
                <a:solidFill>
                  <a:schemeClr val="tx1"/>
                </a:solidFill>
                <a:latin typeface="Times New Roman" pitchFamily="18" charset="0"/>
              </a:defRPr>
            </a:lvl3pPr>
            <a:lvl4pPr marL="1600200" indent="-228600" defTabSz="1433513">
              <a:defRPr sz="1600">
                <a:solidFill>
                  <a:schemeClr val="tx1"/>
                </a:solidFill>
                <a:latin typeface="Times New Roman" pitchFamily="18" charset="0"/>
              </a:defRPr>
            </a:lvl4pPr>
            <a:lvl5pPr marL="2057400" indent="-228600" defTabSz="1433513">
              <a:defRPr sz="1600">
                <a:solidFill>
                  <a:schemeClr val="tx1"/>
                </a:solidFill>
                <a:latin typeface="Times New Roman" pitchFamily="18" charset="0"/>
              </a:defRPr>
            </a:lvl5pPr>
            <a:lvl6pPr marL="2514600" indent="-228600" defTabSz="1433513" eaLnBrk="0" fontAlgn="base" hangingPunct="0">
              <a:spcBef>
                <a:spcPct val="0"/>
              </a:spcBef>
              <a:spcAft>
                <a:spcPct val="0"/>
              </a:spcAft>
              <a:buChar char="•"/>
              <a:defRPr sz="1600">
                <a:solidFill>
                  <a:schemeClr val="tx1"/>
                </a:solidFill>
                <a:latin typeface="Times New Roman" pitchFamily="18" charset="0"/>
              </a:defRPr>
            </a:lvl6pPr>
            <a:lvl7pPr marL="2971800" indent="-228600" defTabSz="1433513" eaLnBrk="0" fontAlgn="base" hangingPunct="0">
              <a:spcBef>
                <a:spcPct val="0"/>
              </a:spcBef>
              <a:spcAft>
                <a:spcPct val="0"/>
              </a:spcAft>
              <a:buChar char="•"/>
              <a:defRPr sz="1600">
                <a:solidFill>
                  <a:schemeClr val="tx1"/>
                </a:solidFill>
                <a:latin typeface="Times New Roman" pitchFamily="18" charset="0"/>
              </a:defRPr>
            </a:lvl7pPr>
            <a:lvl8pPr marL="3429000" indent="-228600" defTabSz="1433513" eaLnBrk="0" fontAlgn="base" hangingPunct="0">
              <a:spcBef>
                <a:spcPct val="0"/>
              </a:spcBef>
              <a:spcAft>
                <a:spcPct val="0"/>
              </a:spcAft>
              <a:buChar char="•"/>
              <a:defRPr sz="1600">
                <a:solidFill>
                  <a:schemeClr val="tx1"/>
                </a:solidFill>
                <a:latin typeface="Times New Roman" pitchFamily="18" charset="0"/>
              </a:defRPr>
            </a:lvl8pPr>
            <a:lvl9pPr marL="3886200" indent="-228600" defTabSz="1433513"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20000"/>
              </a:lnSpc>
              <a:buFontTx/>
              <a:buNone/>
            </a:pPr>
            <a:r>
              <a:rPr lang="en-US" sz="1800" b="1">
                <a:solidFill>
                  <a:srgbClr val="CC0000"/>
                </a:solidFill>
                <a:latin typeface="Arial" pitchFamily="34" charset="0"/>
              </a:rPr>
              <a:t>Applications:</a:t>
            </a:r>
            <a:r>
              <a:rPr lang="en-US" sz="1800">
                <a:solidFill>
                  <a:schemeClr val="hlink"/>
                </a:solidFill>
                <a:latin typeface="Arial" pitchFamily="34" charset="0"/>
              </a:rPr>
              <a:t> </a:t>
            </a:r>
          </a:p>
          <a:p>
            <a:pPr eaLnBrk="1" hangingPunct="1">
              <a:lnSpc>
                <a:spcPct val="120000"/>
              </a:lnSpc>
            </a:pPr>
            <a:r>
              <a:rPr lang="en-US" sz="1800">
                <a:solidFill>
                  <a:schemeClr val="hlink"/>
                </a:solidFill>
                <a:latin typeface="Arial" pitchFamily="34" charset="0"/>
              </a:rPr>
              <a:t>Optimum cost network interconnection (connected &amp; acyclic)</a:t>
            </a:r>
          </a:p>
          <a:p>
            <a:pPr eaLnBrk="1" hangingPunct="1">
              <a:lnSpc>
                <a:spcPct val="120000"/>
              </a:lnSpc>
            </a:pPr>
            <a:r>
              <a:rPr lang="en-US" sz="1800">
                <a:solidFill>
                  <a:schemeClr val="hlink"/>
                </a:solidFill>
                <a:latin typeface="Arial" pitchFamily="34" charset="0"/>
              </a:rPr>
              <a:t>Minimum length wiring to connect n points</a:t>
            </a:r>
          </a:p>
          <a:p>
            <a:pPr eaLnBrk="1" hangingPunct="1">
              <a:lnSpc>
                <a:spcPct val="120000"/>
              </a:lnSpc>
            </a:pPr>
            <a:r>
              <a:rPr lang="en-US" sz="1800">
                <a:solidFill>
                  <a:schemeClr val="hlink"/>
                </a:solidFill>
                <a:latin typeface="Arial" pitchFamily="34" charset="0"/>
              </a:rPr>
              <a:t>Sub-problem to many other problems</a:t>
            </a:r>
          </a:p>
        </p:txBody>
      </p:sp>
      <p:grpSp>
        <p:nvGrpSpPr>
          <p:cNvPr id="146499" name="Group 67"/>
          <p:cNvGrpSpPr>
            <a:grpSpLocks/>
          </p:cNvGrpSpPr>
          <p:nvPr/>
        </p:nvGrpSpPr>
        <p:grpSpPr bwMode="auto">
          <a:xfrm>
            <a:off x="2286000" y="5181600"/>
            <a:ext cx="6065838" cy="1219200"/>
            <a:chOff x="432" y="1632"/>
            <a:chExt cx="3821" cy="768"/>
          </a:xfrm>
        </p:grpSpPr>
        <p:grpSp>
          <p:nvGrpSpPr>
            <p:cNvPr id="73735" name="Group 64"/>
            <p:cNvGrpSpPr>
              <a:grpSpLocks/>
            </p:cNvGrpSpPr>
            <p:nvPr/>
          </p:nvGrpSpPr>
          <p:grpSpPr bwMode="auto">
            <a:xfrm>
              <a:off x="1296" y="1632"/>
              <a:ext cx="1008" cy="768"/>
              <a:chOff x="1344" y="2400"/>
              <a:chExt cx="1008" cy="768"/>
            </a:xfrm>
          </p:grpSpPr>
          <p:sp>
            <p:nvSpPr>
              <p:cNvPr id="73738" name="Line 58"/>
              <p:cNvSpPr>
                <a:spLocks noChangeShapeType="1"/>
              </p:cNvSpPr>
              <p:nvPr/>
            </p:nvSpPr>
            <p:spPr bwMode="auto">
              <a:xfrm>
                <a:off x="1392" y="3120"/>
                <a:ext cx="912"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3739" name="Line 60"/>
              <p:cNvSpPr>
                <a:spLocks noChangeShapeType="1"/>
              </p:cNvSpPr>
              <p:nvPr/>
            </p:nvSpPr>
            <p:spPr bwMode="auto">
              <a:xfrm>
                <a:off x="1872" y="2448"/>
                <a:ext cx="0" cy="384"/>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3740" name="Line 61"/>
              <p:cNvSpPr>
                <a:spLocks noChangeShapeType="1"/>
              </p:cNvSpPr>
              <p:nvPr/>
            </p:nvSpPr>
            <p:spPr bwMode="auto">
              <a:xfrm flipH="1">
                <a:off x="1392" y="2832"/>
                <a:ext cx="480" cy="28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3741" name="Line 57"/>
              <p:cNvSpPr>
                <a:spLocks noChangeShapeType="1"/>
              </p:cNvSpPr>
              <p:nvPr/>
            </p:nvSpPr>
            <p:spPr bwMode="auto">
              <a:xfrm flipH="1">
                <a:off x="1392" y="2448"/>
                <a:ext cx="480" cy="672"/>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3742" name="Line 59"/>
              <p:cNvSpPr>
                <a:spLocks noChangeShapeType="1"/>
              </p:cNvSpPr>
              <p:nvPr/>
            </p:nvSpPr>
            <p:spPr bwMode="auto">
              <a:xfrm flipH="1" flipV="1">
                <a:off x="1872" y="2448"/>
                <a:ext cx="432" cy="672"/>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3743" name="Line 62"/>
              <p:cNvSpPr>
                <a:spLocks noChangeShapeType="1"/>
              </p:cNvSpPr>
              <p:nvPr/>
            </p:nvSpPr>
            <p:spPr bwMode="auto">
              <a:xfrm>
                <a:off x="1872" y="2832"/>
                <a:ext cx="432" cy="288"/>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3744" name="Oval 53"/>
              <p:cNvSpPr>
                <a:spLocks noChangeArrowheads="1"/>
              </p:cNvSpPr>
              <p:nvPr/>
            </p:nvSpPr>
            <p:spPr bwMode="auto">
              <a:xfrm>
                <a:off x="1824" y="2400"/>
                <a:ext cx="96" cy="96"/>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3745" name="Oval 54"/>
              <p:cNvSpPr>
                <a:spLocks noChangeArrowheads="1"/>
              </p:cNvSpPr>
              <p:nvPr/>
            </p:nvSpPr>
            <p:spPr bwMode="auto">
              <a:xfrm>
                <a:off x="1344" y="3072"/>
                <a:ext cx="96" cy="96"/>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3746" name="Oval 55"/>
              <p:cNvSpPr>
                <a:spLocks noChangeArrowheads="1"/>
              </p:cNvSpPr>
              <p:nvPr/>
            </p:nvSpPr>
            <p:spPr bwMode="auto">
              <a:xfrm>
                <a:off x="2256" y="3072"/>
                <a:ext cx="96" cy="96"/>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3747" name="Oval 56"/>
              <p:cNvSpPr>
                <a:spLocks noChangeArrowheads="1"/>
              </p:cNvSpPr>
              <p:nvPr/>
            </p:nvSpPr>
            <p:spPr bwMode="auto">
              <a:xfrm>
                <a:off x="1824" y="2784"/>
                <a:ext cx="96" cy="96"/>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3748" name="Rectangle 63"/>
              <p:cNvSpPr>
                <a:spLocks noChangeArrowheads="1"/>
              </p:cNvSpPr>
              <p:nvPr/>
            </p:nvSpPr>
            <p:spPr bwMode="auto">
              <a:xfrm>
                <a:off x="1440" y="2496"/>
                <a:ext cx="27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hlink"/>
                    </a:solidFill>
                    <a:latin typeface="Arial" pitchFamily="34" charset="0"/>
                  </a:rPr>
                  <a:t>K</a:t>
                </a:r>
                <a:r>
                  <a:rPr lang="en-US" sz="2000" baseline="-25000">
                    <a:solidFill>
                      <a:schemeClr val="hlink"/>
                    </a:solidFill>
                    <a:latin typeface="Arial" pitchFamily="34" charset="0"/>
                  </a:rPr>
                  <a:t>4</a:t>
                </a:r>
              </a:p>
            </p:txBody>
          </p:sp>
        </p:grpSp>
        <p:sp>
          <p:nvSpPr>
            <p:cNvPr id="73736" name="Rectangle 65"/>
            <p:cNvSpPr>
              <a:spLocks noChangeArrowheads="1"/>
            </p:cNvSpPr>
            <p:nvPr/>
          </p:nvSpPr>
          <p:spPr bwMode="auto">
            <a:xfrm>
              <a:off x="2304" y="1920"/>
              <a:ext cx="1949" cy="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95000"/>
                </a:lnSpc>
                <a:buFontTx/>
                <a:buNone/>
              </a:pPr>
              <a:r>
                <a:rPr lang="en-US" sz="1800">
                  <a:solidFill>
                    <a:schemeClr val="hlink"/>
                  </a:solidFill>
                  <a:latin typeface="Arial" pitchFamily="34" charset="0"/>
                </a:rPr>
                <a:t>has  4</a:t>
              </a:r>
              <a:r>
                <a:rPr lang="en-US" sz="1800" baseline="30000">
                  <a:solidFill>
                    <a:schemeClr val="hlink"/>
                  </a:solidFill>
                  <a:latin typeface="Arial" pitchFamily="34" charset="0"/>
                </a:rPr>
                <a:t>2</a:t>
              </a:r>
              <a:r>
                <a:rPr lang="en-US" sz="1800">
                  <a:solidFill>
                    <a:schemeClr val="hlink"/>
                  </a:solidFill>
                  <a:latin typeface="Arial" pitchFamily="34" charset="0"/>
                </a:rPr>
                <a:t> = 16  spanning trees.</a:t>
              </a:r>
            </a:p>
          </p:txBody>
        </p:sp>
        <p:sp>
          <p:nvSpPr>
            <p:cNvPr id="73737" name="Rectangle 66"/>
            <p:cNvSpPr>
              <a:spLocks noChangeArrowheads="1"/>
            </p:cNvSpPr>
            <p:nvPr/>
          </p:nvSpPr>
          <p:spPr bwMode="auto">
            <a:xfrm>
              <a:off x="432" y="1920"/>
              <a:ext cx="9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hlink"/>
                  </a:solidFill>
                  <a:latin typeface="Arial" pitchFamily="34" charset="0"/>
                </a:rPr>
                <a:t>For example:</a:t>
              </a:r>
            </a:p>
          </p:txBody>
        </p:sp>
      </p:grpSp>
      <p:sp>
        <p:nvSpPr>
          <p:cNvPr id="146500" name="Rectangle 68"/>
          <p:cNvSpPr>
            <a:spLocks noChangeArrowheads="1"/>
          </p:cNvSpPr>
          <p:nvPr/>
        </p:nvSpPr>
        <p:spPr bwMode="auto">
          <a:xfrm>
            <a:off x="228600" y="4648200"/>
            <a:ext cx="8415338"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95000"/>
              </a:lnSpc>
              <a:buFontTx/>
              <a:buNone/>
            </a:pPr>
            <a:r>
              <a:rPr lang="en-US" sz="1800" b="1">
                <a:solidFill>
                  <a:srgbClr val="CC0000"/>
                </a:solidFill>
                <a:latin typeface="Arial" pitchFamily="34" charset="0"/>
              </a:rPr>
              <a:t>Caley’s Theorem:</a:t>
            </a:r>
            <a:r>
              <a:rPr lang="en-US" sz="1800">
                <a:solidFill>
                  <a:schemeClr val="hlink"/>
                </a:solidFill>
                <a:latin typeface="Arial" pitchFamily="34" charset="0"/>
              </a:rPr>
              <a:t>   K</a:t>
            </a:r>
            <a:r>
              <a:rPr lang="en-US" sz="2000" baseline="-25000">
                <a:solidFill>
                  <a:schemeClr val="hlink"/>
                </a:solidFill>
                <a:latin typeface="Arial" pitchFamily="34" charset="0"/>
              </a:rPr>
              <a:t>n</a:t>
            </a:r>
            <a:r>
              <a:rPr lang="en-US" sz="1800">
                <a:solidFill>
                  <a:schemeClr val="hlink"/>
                </a:solidFill>
                <a:latin typeface="Arial" pitchFamily="34" charset="0"/>
              </a:rPr>
              <a:t>, the complete graph on n nodes, has n</a:t>
            </a:r>
            <a:r>
              <a:rPr lang="en-US" sz="2000" baseline="30000">
                <a:solidFill>
                  <a:schemeClr val="hlink"/>
                </a:solidFill>
                <a:latin typeface="Arial" pitchFamily="34" charset="0"/>
              </a:rPr>
              <a:t>n-2</a:t>
            </a:r>
            <a:r>
              <a:rPr lang="en-US" sz="1800">
                <a:solidFill>
                  <a:schemeClr val="hlink"/>
                </a:solidFill>
                <a:latin typeface="Arial" pitchFamily="34" charset="0"/>
              </a:rPr>
              <a:t>  spanning trees.</a:t>
            </a:r>
          </a:p>
        </p:txBody>
      </p:sp>
      <p:sp>
        <p:nvSpPr>
          <p:cNvPr id="146502" name="Rectangle 70"/>
          <p:cNvSpPr>
            <a:spLocks noChangeArrowheads="1"/>
          </p:cNvSpPr>
          <p:nvPr/>
        </p:nvSpPr>
        <p:spPr bwMode="auto">
          <a:xfrm>
            <a:off x="228600" y="2514600"/>
            <a:ext cx="8763000" cy="13589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88913" indent="-188913" eaLnBrk="1" hangingPunct="1">
              <a:lnSpc>
                <a:spcPct val="120000"/>
              </a:lnSpc>
              <a:spcBef>
                <a:spcPct val="50000"/>
              </a:spcBef>
              <a:buFontTx/>
              <a:buNone/>
            </a:pPr>
            <a:r>
              <a:rPr lang="en-US" sz="1800" b="1">
                <a:solidFill>
                  <a:srgbClr val="CC0000"/>
                </a:solidFill>
                <a:latin typeface="Arial" pitchFamily="34" charset="0"/>
              </a:rPr>
              <a:t>FACT:</a:t>
            </a:r>
            <a:r>
              <a:rPr lang="en-US" sz="1800">
                <a:solidFill>
                  <a:schemeClr val="hlink"/>
                </a:solidFill>
                <a:latin typeface="Arial" pitchFamily="34" charset="0"/>
              </a:rPr>
              <a:t>  </a:t>
            </a:r>
          </a:p>
          <a:p>
            <a:pPr marL="188913" indent="-188913" eaLnBrk="1" hangingPunct="1">
              <a:lnSpc>
                <a:spcPct val="120000"/>
              </a:lnSpc>
              <a:spcBef>
                <a:spcPct val="50000"/>
              </a:spcBef>
            </a:pPr>
            <a:r>
              <a:rPr lang="en-US" sz="1800">
                <a:solidFill>
                  <a:schemeClr val="hlink"/>
                </a:solidFill>
                <a:latin typeface="Arial" pitchFamily="34" charset="0"/>
              </a:rPr>
              <a:t>A connected undirected graph has at least one spanning tree (e.g., the DFS tree).</a:t>
            </a:r>
          </a:p>
          <a:p>
            <a:pPr marL="188913" indent="-188913" eaLnBrk="1" hangingPunct="1">
              <a:lnSpc>
                <a:spcPct val="120000"/>
              </a:lnSpc>
              <a:spcBef>
                <a:spcPct val="50000"/>
              </a:spcBef>
            </a:pPr>
            <a:r>
              <a:rPr lang="en-US" sz="1800">
                <a:solidFill>
                  <a:schemeClr val="hlink"/>
                </a:solidFill>
                <a:latin typeface="Arial" pitchFamily="34" charset="0"/>
              </a:rPr>
              <a:t>So, a connected weighted undirected graph has an MST.</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71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46434"/>
                                        </p:tgtEl>
                                        <p:attrNameLst>
                                          <p:attrName>style.visibility</p:attrName>
                                        </p:attrNameLst>
                                      </p:cBhvr>
                                      <p:to>
                                        <p:strVal val="visible"/>
                                      </p:to>
                                    </p:set>
                                    <p:anim calcmode="lin" valueType="num">
                                      <p:cBhvr>
                                        <p:cTn id="7" dur="500" fill="hold"/>
                                        <p:tgtEl>
                                          <p:spTgt spid="146434"/>
                                        </p:tgtEl>
                                        <p:attrNameLst>
                                          <p:attrName>ppt_w</p:attrName>
                                        </p:attrNameLst>
                                      </p:cBhvr>
                                      <p:tavLst>
                                        <p:tav tm="0">
                                          <p:val>
                                            <p:fltVal val="0"/>
                                          </p:val>
                                        </p:tav>
                                        <p:tav tm="100000">
                                          <p:val>
                                            <p:strVal val="#ppt_w"/>
                                          </p:val>
                                        </p:tav>
                                      </p:tavLst>
                                    </p:anim>
                                    <p:anim calcmode="lin" valueType="num">
                                      <p:cBhvr>
                                        <p:cTn id="8" dur="500" fill="hold"/>
                                        <p:tgtEl>
                                          <p:spTgt spid="146434"/>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46435"/>
                                        </p:tgtEl>
                                        <p:attrNameLst>
                                          <p:attrName>style.visibility</p:attrName>
                                        </p:attrNameLst>
                                      </p:cBhvr>
                                      <p:to>
                                        <p:strVal val="visible"/>
                                      </p:to>
                                    </p:set>
                                    <p:animEffect transition="in" filter="wipe(up)">
                                      <p:cBhvr>
                                        <p:cTn id="12" dur="500"/>
                                        <p:tgtEl>
                                          <p:spTgt spid="1464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6502"/>
                                        </p:tgtEl>
                                        <p:attrNameLst>
                                          <p:attrName>style.visibility</p:attrName>
                                        </p:attrNameLst>
                                      </p:cBhvr>
                                      <p:to>
                                        <p:strVal val="visible"/>
                                      </p:to>
                                    </p:set>
                                    <p:animEffect transition="in" filter="wipe(up)">
                                      <p:cBhvr>
                                        <p:cTn id="17" dur="500"/>
                                        <p:tgtEl>
                                          <p:spTgt spid="14650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6500"/>
                                        </p:tgtEl>
                                        <p:attrNameLst>
                                          <p:attrName>style.visibility</p:attrName>
                                        </p:attrNameLst>
                                      </p:cBhvr>
                                      <p:to>
                                        <p:strVal val="visible"/>
                                      </p:to>
                                    </p:set>
                                    <p:animEffect transition="in" filter="wipe(left)">
                                      <p:cBhvr>
                                        <p:cTn id="22" dur="500"/>
                                        <p:tgtEl>
                                          <p:spTgt spid="146500"/>
                                        </p:tgtEl>
                                      </p:cBhvr>
                                    </p:animEffect>
                                  </p:childTnLst>
                                </p:cTn>
                              </p:par>
                            </p:childTnLst>
                          </p:cTn>
                        </p:par>
                        <p:par>
                          <p:cTn id="23" fill="hold" nodeType="afterGroup">
                            <p:stCondLst>
                              <p:cond delay="500"/>
                            </p:stCondLst>
                            <p:childTnLst>
                              <p:par>
                                <p:cTn id="24" presetID="22" presetClass="entr" presetSubtype="8" fill="hold" nodeType="afterEffect">
                                  <p:stCondLst>
                                    <p:cond delay="1000"/>
                                  </p:stCondLst>
                                  <p:childTnLst>
                                    <p:set>
                                      <p:cBhvr>
                                        <p:cTn id="25" dur="1" fill="hold">
                                          <p:stCondLst>
                                            <p:cond delay="0"/>
                                          </p:stCondLst>
                                        </p:cTn>
                                        <p:tgtEl>
                                          <p:spTgt spid="146499"/>
                                        </p:tgtEl>
                                        <p:attrNameLst>
                                          <p:attrName>style.visibility</p:attrName>
                                        </p:attrNameLst>
                                      </p:cBhvr>
                                      <p:to>
                                        <p:strVal val="visible"/>
                                      </p:to>
                                    </p:set>
                                    <p:animEffect transition="in" filter="wipe(left)">
                                      <p:cBhvr>
                                        <p:cTn id="26" dur="500"/>
                                        <p:tgtEl>
                                          <p:spTgt spid="146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4" grpId="0" animBg="1" autoUpdateAnimBg="0"/>
      <p:bldP spid="146435" grpId="0" autoUpdateAnimBg="0"/>
      <p:bldP spid="146500" grpId="0" autoUpdateAnimBg="0"/>
      <p:bldP spid="146502"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A CUT</a:t>
            </a:r>
          </a:p>
        </p:txBody>
      </p:sp>
      <p:sp>
        <p:nvSpPr>
          <p:cNvPr id="148500" name="Rectangle 20"/>
          <p:cNvSpPr>
            <a:spLocks noChangeArrowheads="1"/>
          </p:cNvSpPr>
          <p:nvPr/>
        </p:nvSpPr>
        <p:spPr bwMode="auto">
          <a:xfrm>
            <a:off x="152400" y="914400"/>
            <a:ext cx="8502650" cy="187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88913" indent="-188913" defTabSz="1328738" eaLnBrk="1" hangingPunct="1">
              <a:lnSpc>
                <a:spcPct val="110000"/>
              </a:lnSpc>
              <a:spcBef>
                <a:spcPct val="50000"/>
              </a:spcBef>
            </a:pPr>
            <a:r>
              <a:rPr lang="en-US" sz="1800">
                <a:solidFill>
                  <a:schemeClr val="hlink"/>
                </a:solidFill>
                <a:latin typeface="Arial" pitchFamily="34" charset="0"/>
              </a:rPr>
              <a:t>If S is a set and e an element, then </a:t>
            </a:r>
            <a:r>
              <a:rPr lang="en-US" sz="1800">
                <a:solidFill>
                  <a:srgbClr val="CC0000"/>
                </a:solidFill>
                <a:latin typeface="Arial" pitchFamily="34" charset="0"/>
              </a:rPr>
              <a:t>S+e</a:t>
            </a:r>
            <a:r>
              <a:rPr lang="en-US" sz="1800">
                <a:solidFill>
                  <a:schemeClr val="hlink"/>
                </a:solidFill>
                <a:latin typeface="Arial" pitchFamily="34" charset="0"/>
              </a:rPr>
              <a:t> denotes S </a:t>
            </a:r>
            <a:r>
              <a:rPr lang="en-US" sz="1800">
                <a:solidFill>
                  <a:schemeClr val="hlink"/>
                </a:solidFill>
                <a:latin typeface="Arial" pitchFamily="34" charset="0"/>
                <a:sym typeface="Symbol" pitchFamily="18" charset="2"/>
              </a:rPr>
              <a:t> </a:t>
            </a:r>
            <a:r>
              <a:rPr lang="en-US" sz="1800">
                <a:solidFill>
                  <a:schemeClr val="hlink"/>
                </a:solidFill>
                <a:latin typeface="Arial" pitchFamily="34" charset="0"/>
              </a:rPr>
              <a:t>{e}, &amp; </a:t>
            </a:r>
            <a:r>
              <a:rPr lang="en-US" sz="1800">
                <a:solidFill>
                  <a:srgbClr val="CC0000"/>
                </a:solidFill>
                <a:latin typeface="Arial" pitchFamily="34" charset="0"/>
              </a:rPr>
              <a:t>S-e</a:t>
            </a:r>
            <a:r>
              <a:rPr lang="en-US" sz="1800">
                <a:solidFill>
                  <a:schemeClr val="hlink"/>
                </a:solidFill>
                <a:latin typeface="Arial" pitchFamily="34" charset="0"/>
              </a:rPr>
              <a:t> denotes S – {e}.</a:t>
            </a:r>
          </a:p>
          <a:p>
            <a:pPr marL="188913" indent="-188913" defTabSz="1328738" eaLnBrk="1" hangingPunct="1">
              <a:lnSpc>
                <a:spcPct val="110000"/>
              </a:lnSpc>
              <a:spcBef>
                <a:spcPct val="50000"/>
              </a:spcBef>
            </a:pPr>
            <a:r>
              <a:rPr lang="en-US" sz="1800">
                <a:solidFill>
                  <a:schemeClr val="hlink"/>
                </a:solidFill>
                <a:latin typeface="Arial" pitchFamily="34" charset="0"/>
              </a:rPr>
              <a:t>An edge e is </a:t>
            </a:r>
            <a:r>
              <a:rPr lang="en-US" sz="1800">
                <a:solidFill>
                  <a:srgbClr val="CC0000"/>
                </a:solidFill>
                <a:latin typeface="Arial" pitchFamily="34" charset="0"/>
              </a:rPr>
              <a:t>incident</a:t>
            </a:r>
            <a:r>
              <a:rPr lang="en-US" sz="1800">
                <a:solidFill>
                  <a:schemeClr val="hlink"/>
                </a:solidFill>
                <a:latin typeface="Arial" pitchFamily="34" charset="0"/>
              </a:rPr>
              <a:t> to subgraph (or subset of vertices) H, </a:t>
            </a:r>
            <a:br>
              <a:rPr lang="en-US" sz="1800">
                <a:solidFill>
                  <a:schemeClr val="hlink"/>
                </a:solidFill>
                <a:latin typeface="Arial" pitchFamily="34" charset="0"/>
              </a:rPr>
            </a:br>
            <a:r>
              <a:rPr lang="en-US" sz="1800">
                <a:solidFill>
                  <a:schemeClr val="hlink"/>
                </a:solidFill>
                <a:latin typeface="Arial" pitchFamily="34" charset="0"/>
              </a:rPr>
              <a:t>if exactly one end of e is in H.</a:t>
            </a:r>
          </a:p>
          <a:p>
            <a:pPr marL="188913" indent="-188913" defTabSz="1328738" eaLnBrk="1" hangingPunct="1">
              <a:lnSpc>
                <a:spcPct val="110000"/>
              </a:lnSpc>
              <a:spcBef>
                <a:spcPct val="50000"/>
              </a:spcBef>
            </a:pPr>
            <a:r>
              <a:rPr lang="en-US" sz="1800">
                <a:solidFill>
                  <a:schemeClr val="hlink"/>
                </a:solidFill>
                <a:latin typeface="Arial" pitchFamily="34" charset="0"/>
              </a:rPr>
              <a:t>A </a:t>
            </a:r>
            <a:r>
              <a:rPr lang="en-US" sz="1800" b="1">
                <a:solidFill>
                  <a:srgbClr val="CC0000"/>
                </a:solidFill>
                <a:latin typeface="Arial" pitchFamily="34" charset="0"/>
              </a:rPr>
              <a:t>cut</a:t>
            </a:r>
            <a:r>
              <a:rPr lang="en-US" sz="1800">
                <a:solidFill>
                  <a:schemeClr val="hlink"/>
                </a:solidFill>
                <a:latin typeface="Arial" pitchFamily="34" charset="0"/>
              </a:rPr>
              <a:t> C = (X,Y) is a partitioning of V(G) into two non-empty subsets X and Y.</a:t>
            </a:r>
            <a:br>
              <a:rPr lang="en-US" sz="1800">
                <a:solidFill>
                  <a:schemeClr val="hlink"/>
                </a:solidFill>
                <a:latin typeface="Arial" pitchFamily="34" charset="0"/>
              </a:rPr>
            </a:br>
            <a:r>
              <a:rPr lang="en-US" sz="1800">
                <a:solidFill>
                  <a:srgbClr val="CC0000"/>
                </a:solidFill>
                <a:latin typeface="Arial" pitchFamily="34" charset="0"/>
              </a:rPr>
              <a:t>Cross-edges</a:t>
            </a:r>
            <a:r>
              <a:rPr lang="en-US" sz="1800">
                <a:solidFill>
                  <a:schemeClr val="hlink"/>
                </a:solidFill>
                <a:latin typeface="Arial" pitchFamily="34" charset="0"/>
              </a:rPr>
              <a:t> of C are edges in E(G) that are incident to X (and also to Y).</a:t>
            </a:r>
          </a:p>
        </p:txBody>
      </p:sp>
      <p:grpSp>
        <p:nvGrpSpPr>
          <p:cNvPr id="148533" name="Group 53"/>
          <p:cNvGrpSpPr>
            <a:grpSpLocks/>
          </p:cNvGrpSpPr>
          <p:nvPr/>
        </p:nvGrpSpPr>
        <p:grpSpPr bwMode="auto">
          <a:xfrm>
            <a:off x="1036638" y="3124200"/>
            <a:ext cx="6808788" cy="2971800"/>
            <a:chOff x="653" y="2256"/>
            <a:chExt cx="4289" cy="1872"/>
          </a:xfrm>
        </p:grpSpPr>
        <p:sp>
          <p:nvSpPr>
            <p:cNvPr id="74757" name="Oval 22"/>
            <p:cNvSpPr>
              <a:spLocks noChangeArrowheads="1"/>
            </p:cNvSpPr>
            <p:nvPr/>
          </p:nvSpPr>
          <p:spPr bwMode="auto">
            <a:xfrm>
              <a:off x="3312" y="2256"/>
              <a:ext cx="1344" cy="1824"/>
            </a:xfrm>
            <a:prstGeom prst="ellipse">
              <a:avLst/>
            </a:prstGeom>
            <a:solidFill>
              <a:srgbClr val="FFCC99"/>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4758" name="Oval 21"/>
            <p:cNvSpPr>
              <a:spLocks noChangeArrowheads="1"/>
            </p:cNvSpPr>
            <p:nvPr/>
          </p:nvSpPr>
          <p:spPr bwMode="auto">
            <a:xfrm>
              <a:off x="960" y="2304"/>
              <a:ext cx="1344" cy="1824"/>
            </a:xfrm>
            <a:prstGeom prst="ellipse">
              <a:avLst/>
            </a:prstGeom>
            <a:solidFill>
              <a:srgbClr val="CCCCFF"/>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4759" name="Line 38"/>
            <p:cNvSpPr>
              <a:spLocks noChangeShapeType="1"/>
            </p:cNvSpPr>
            <p:nvPr/>
          </p:nvSpPr>
          <p:spPr bwMode="auto">
            <a:xfrm flipV="1">
              <a:off x="1872" y="2400"/>
              <a:ext cx="2112"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4760" name="Line 39"/>
            <p:cNvSpPr>
              <a:spLocks noChangeShapeType="1"/>
            </p:cNvSpPr>
            <p:nvPr/>
          </p:nvSpPr>
          <p:spPr bwMode="auto">
            <a:xfrm>
              <a:off x="1872" y="2496"/>
              <a:ext cx="168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4761" name="Line 40"/>
            <p:cNvSpPr>
              <a:spLocks noChangeShapeType="1"/>
            </p:cNvSpPr>
            <p:nvPr/>
          </p:nvSpPr>
          <p:spPr bwMode="auto">
            <a:xfrm>
              <a:off x="1536" y="2736"/>
              <a:ext cx="2304"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4762" name="Line 41"/>
            <p:cNvSpPr>
              <a:spLocks noChangeShapeType="1"/>
            </p:cNvSpPr>
            <p:nvPr/>
          </p:nvSpPr>
          <p:spPr bwMode="auto">
            <a:xfrm flipV="1">
              <a:off x="1536" y="2688"/>
              <a:ext cx="201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4763" name="Line 42"/>
            <p:cNvSpPr>
              <a:spLocks noChangeShapeType="1"/>
            </p:cNvSpPr>
            <p:nvPr/>
          </p:nvSpPr>
          <p:spPr bwMode="auto">
            <a:xfrm>
              <a:off x="1536" y="2736"/>
              <a:ext cx="2064" cy="7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4764" name="Line 43"/>
            <p:cNvSpPr>
              <a:spLocks noChangeShapeType="1"/>
            </p:cNvSpPr>
            <p:nvPr/>
          </p:nvSpPr>
          <p:spPr bwMode="auto">
            <a:xfrm>
              <a:off x="2064" y="3072"/>
              <a:ext cx="2304"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4765" name="Line 44"/>
            <p:cNvSpPr>
              <a:spLocks noChangeShapeType="1"/>
            </p:cNvSpPr>
            <p:nvPr/>
          </p:nvSpPr>
          <p:spPr bwMode="auto">
            <a:xfrm>
              <a:off x="1536" y="3360"/>
              <a:ext cx="2400" cy="4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4766" name="Line 45"/>
            <p:cNvSpPr>
              <a:spLocks noChangeShapeType="1"/>
            </p:cNvSpPr>
            <p:nvPr/>
          </p:nvSpPr>
          <p:spPr bwMode="auto">
            <a:xfrm flipV="1">
              <a:off x="2016" y="3456"/>
              <a:ext cx="1584" cy="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4767" name="Line 46"/>
            <p:cNvSpPr>
              <a:spLocks noChangeShapeType="1"/>
            </p:cNvSpPr>
            <p:nvPr/>
          </p:nvSpPr>
          <p:spPr bwMode="auto">
            <a:xfrm flipV="1">
              <a:off x="1632" y="3792"/>
              <a:ext cx="2304"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4768" name="Line 47"/>
            <p:cNvSpPr>
              <a:spLocks noChangeShapeType="1"/>
            </p:cNvSpPr>
            <p:nvPr/>
          </p:nvSpPr>
          <p:spPr bwMode="auto">
            <a:xfrm flipV="1">
              <a:off x="1632" y="3456"/>
              <a:ext cx="1968" cy="4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4769" name="Line 48"/>
            <p:cNvSpPr>
              <a:spLocks noChangeShapeType="1"/>
            </p:cNvSpPr>
            <p:nvPr/>
          </p:nvSpPr>
          <p:spPr bwMode="auto">
            <a:xfrm flipV="1">
              <a:off x="2016" y="2688"/>
              <a:ext cx="1536" cy="100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4770" name="Line 49"/>
            <p:cNvSpPr>
              <a:spLocks noChangeShapeType="1"/>
            </p:cNvSpPr>
            <p:nvPr/>
          </p:nvSpPr>
          <p:spPr bwMode="auto">
            <a:xfrm flipV="1">
              <a:off x="1536" y="3168"/>
              <a:ext cx="2832"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4771" name="Line 50"/>
            <p:cNvSpPr>
              <a:spLocks noChangeShapeType="1"/>
            </p:cNvSpPr>
            <p:nvPr/>
          </p:nvSpPr>
          <p:spPr bwMode="auto">
            <a:xfrm>
              <a:off x="2064" y="3072"/>
              <a:ext cx="1536" cy="3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4772" name="Line 51"/>
            <p:cNvSpPr>
              <a:spLocks noChangeShapeType="1"/>
            </p:cNvSpPr>
            <p:nvPr/>
          </p:nvSpPr>
          <p:spPr bwMode="auto">
            <a:xfrm flipV="1">
              <a:off x="2064" y="2688"/>
              <a:ext cx="1488" cy="3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4773" name="Text Box 23"/>
            <p:cNvSpPr txBox="1">
              <a:spLocks noChangeArrowheads="1"/>
            </p:cNvSpPr>
            <p:nvPr/>
          </p:nvSpPr>
          <p:spPr bwMode="auto">
            <a:xfrm>
              <a:off x="653" y="3025"/>
              <a:ext cx="25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400" b="1" dirty="0">
                  <a:solidFill>
                    <a:schemeClr val="tx2"/>
                  </a:solidFill>
                </a:rPr>
                <a:t>X</a:t>
              </a:r>
            </a:p>
          </p:txBody>
        </p:sp>
        <p:sp>
          <p:nvSpPr>
            <p:cNvPr id="74774" name="Oval 26"/>
            <p:cNvSpPr>
              <a:spLocks noChangeArrowheads="1"/>
            </p:cNvSpPr>
            <p:nvPr/>
          </p:nvSpPr>
          <p:spPr bwMode="auto">
            <a:xfrm>
              <a:off x="1488" y="268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4775" name="Oval 28"/>
            <p:cNvSpPr>
              <a:spLocks noChangeArrowheads="1"/>
            </p:cNvSpPr>
            <p:nvPr/>
          </p:nvSpPr>
          <p:spPr bwMode="auto">
            <a:xfrm>
              <a:off x="2016" y="302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4776" name="Oval 30"/>
            <p:cNvSpPr>
              <a:spLocks noChangeArrowheads="1"/>
            </p:cNvSpPr>
            <p:nvPr/>
          </p:nvSpPr>
          <p:spPr bwMode="auto">
            <a:xfrm>
              <a:off x="1824" y="244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4777" name="Oval 31"/>
            <p:cNvSpPr>
              <a:spLocks noChangeArrowheads="1"/>
            </p:cNvSpPr>
            <p:nvPr/>
          </p:nvSpPr>
          <p:spPr bwMode="auto">
            <a:xfrm>
              <a:off x="1488" y="331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4778" name="Oval 32"/>
            <p:cNvSpPr>
              <a:spLocks noChangeArrowheads="1"/>
            </p:cNvSpPr>
            <p:nvPr/>
          </p:nvSpPr>
          <p:spPr bwMode="auto">
            <a:xfrm>
              <a:off x="1968" y="364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4779" name="Oval 33"/>
            <p:cNvSpPr>
              <a:spLocks noChangeArrowheads="1"/>
            </p:cNvSpPr>
            <p:nvPr/>
          </p:nvSpPr>
          <p:spPr bwMode="auto">
            <a:xfrm>
              <a:off x="1584" y="388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4780" name="Text Box 25"/>
            <p:cNvSpPr txBox="1">
              <a:spLocks noChangeArrowheads="1"/>
            </p:cNvSpPr>
            <p:nvPr/>
          </p:nvSpPr>
          <p:spPr bwMode="auto">
            <a:xfrm>
              <a:off x="4685" y="3024"/>
              <a:ext cx="25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400" b="1" dirty="0">
                  <a:solidFill>
                    <a:schemeClr val="tx2"/>
                  </a:solidFill>
                </a:rPr>
                <a:t>Y</a:t>
              </a:r>
            </a:p>
          </p:txBody>
        </p:sp>
        <p:sp>
          <p:nvSpPr>
            <p:cNvPr id="74781" name="Oval 27"/>
            <p:cNvSpPr>
              <a:spLocks noChangeArrowheads="1"/>
            </p:cNvSpPr>
            <p:nvPr/>
          </p:nvSpPr>
          <p:spPr bwMode="auto">
            <a:xfrm>
              <a:off x="4320" y="3120"/>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4782" name="Oval 29"/>
            <p:cNvSpPr>
              <a:spLocks noChangeArrowheads="1"/>
            </p:cNvSpPr>
            <p:nvPr/>
          </p:nvSpPr>
          <p:spPr bwMode="auto">
            <a:xfrm>
              <a:off x="3504" y="2640"/>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4783" name="Oval 34"/>
            <p:cNvSpPr>
              <a:spLocks noChangeArrowheads="1"/>
            </p:cNvSpPr>
            <p:nvPr/>
          </p:nvSpPr>
          <p:spPr bwMode="auto">
            <a:xfrm>
              <a:off x="3552" y="340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4784" name="Oval 35"/>
            <p:cNvSpPr>
              <a:spLocks noChangeArrowheads="1"/>
            </p:cNvSpPr>
            <p:nvPr/>
          </p:nvSpPr>
          <p:spPr bwMode="auto">
            <a:xfrm>
              <a:off x="3792" y="2928"/>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4785" name="Oval 36"/>
            <p:cNvSpPr>
              <a:spLocks noChangeArrowheads="1"/>
            </p:cNvSpPr>
            <p:nvPr/>
          </p:nvSpPr>
          <p:spPr bwMode="auto">
            <a:xfrm>
              <a:off x="3888" y="3744"/>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74786" name="Oval 37"/>
            <p:cNvSpPr>
              <a:spLocks noChangeArrowheads="1"/>
            </p:cNvSpPr>
            <p:nvPr/>
          </p:nvSpPr>
          <p:spPr bwMode="auto">
            <a:xfrm>
              <a:off x="3936" y="2352"/>
              <a:ext cx="96" cy="96"/>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72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8500">
                                            <p:txEl>
                                              <p:pRg st="0" end="0"/>
                                            </p:txEl>
                                          </p:spTgt>
                                        </p:tgtEl>
                                        <p:attrNameLst>
                                          <p:attrName>style.visibility</p:attrName>
                                        </p:attrNameLst>
                                      </p:cBhvr>
                                      <p:to>
                                        <p:strVal val="visible"/>
                                      </p:to>
                                    </p:set>
                                    <p:animEffect transition="in" filter="wipe(left)">
                                      <p:cBhvr>
                                        <p:cTn id="7" dur="500"/>
                                        <p:tgtEl>
                                          <p:spTgt spid="14850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8500">
                                            <p:txEl>
                                              <p:pRg st="1" end="1"/>
                                            </p:txEl>
                                          </p:spTgt>
                                        </p:tgtEl>
                                        <p:attrNameLst>
                                          <p:attrName>style.visibility</p:attrName>
                                        </p:attrNameLst>
                                      </p:cBhvr>
                                      <p:to>
                                        <p:strVal val="visible"/>
                                      </p:to>
                                    </p:set>
                                    <p:animEffect transition="in" filter="wipe(left)">
                                      <p:cBhvr>
                                        <p:cTn id="11" dur="500"/>
                                        <p:tgtEl>
                                          <p:spTgt spid="14850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48500">
                                            <p:txEl>
                                              <p:pRg st="2" end="2"/>
                                            </p:txEl>
                                          </p:spTgt>
                                        </p:tgtEl>
                                        <p:attrNameLst>
                                          <p:attrName>style.visibility</p:attrName>
                                        </p:attrNameLst>
                                      </p:cBhvr>
                                      <p:to>
                                        <p:strVal val="visible"/>
                                      </p:to>
                                    </p:set>
                                    <p:animEffect transition="in" filter="wipe(left)">
                                      <p:cBhvr>
                                        <p:cTn id="15" dur="500"/>
                                        <p:tgtEl>
                                          <p:spTgt spid="148500">
                                            <p:txEl>
                                              <p:pRg st="2" end="2"/>
                                            </p:txEl>
                                          </p:spTgt>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48533"/>
                                        </p:tgtEl>
                                        <p:attrNameLst>
                                          <p:attrName>style.visibility</p:attrName>
                                        </p:attrNameLst>
                                      </p:cBhvr>
                                      <p:to>
                                        <p:strVal val="visible"/>
                                      </p:to>
                                    </p:set>
                                    <p:animEffect transition="in" filter="wipe(up)">
                                      <p:cBhvr>
                                        <p:cTn id="19" dur="500"/>
                                        <p:tgtEl>
                                          <p:spTgt spid="148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00" grpId="0" build="p" autoUpdateAnimBg="0" advAuto="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52884" name="Group 308"/>
          <p:cNvGrpSpPr>
            <a:grpSpLocks/>
          </p:cNvGrpSpPr>
          <p:nvPr/>
        </p:nvGrpSpPr>
        <p:grpSpPr bwMode="auto">
          <a:xfrm>
            <a:off x="193676" y="904877"/>
            <a:ext cx="4078288" cy="2905126"/>
            <a:chOff x="2774" y="2437"/>
            <a:chExt cx="2569" cy="1830"/>
          </a:xfrm>
        </p:grpSpPr>
        <p:sp>
          <p:nvSpPr>
            <p:cNvPr id="75871" name="Freeform 247"/>
            <p:cNvSpPr>
              <a:spLocks/>
            </p:cNvSpPr>
            <p:nvPr/>
          </p:nvSpPr>
          <p:spPr bwMode="auto">
            <a:xfrm>
              <a:off x="4241" y="2496"/>
              <a:ext cx="1102" cy="1736"/>
            </a:xfrm>
            <a:custGeom>
              <a:avLst/>
              <a:gdLst>
                <a:gd name="T0" fmla="*/ 690 w 1126"/>
                <a:gd name="T1" fmla="*/ 142 h 1720"/>
                <a:gd name="T2" fmla="*/ 642 w 1126"/>
                <a:gd name="T3" fmla="*/ 286 h 1720"/>
                <a:gd name="T4" fmla="*/ 450 w 1126"/>
                <a:gd name="T5" fmla="*/ 382 h 1720"/>
                <a:gd name="T6" fmla="*/ 258 w 1126"/>
                <a:gd name="T7" fmla="*/ 574 h 1720"/>
                <a:gd name="T8" fmla="*/ 114 w 1126"/>
                <a:gd name="T9" fmla="*/ 622 h 1720"/>
                <a:gd name="T10" fmla="*/ 18 w 1126"/>
                <a:gd name="T11" fmla="*/ 766 h 1720"/>
                <a:gd name="T12" fmla="*/ 63 w 1126"/>
                <a:gd name="T13" fmla="*/ 961 h 1720"/>
                <a:gd name="T14" fmla="*/ 66 w 1126"/>
                <a:gd name="T15" fmla="*/ 1102 h 1720"/>
                <a:gd name="T16" fmla="*/ 36 w 1126"/>
                <a:gd name="T17" fmla="*/ 1292 h 1720"/>
                <a:gd name="T18" fmla="*/ 76 w 1126"/>
                <a:gd name="T19" fmla="*/ 1610 h 1720"/>
                <a:gd name="T20" fmla="*/ 493 w 1126"/>
                <a:gd name="T21" fmla="*/ 1670 h 1720"/>
                <a:gd name="T22" fmla="*/ 1016 w 1126"/>
                <a:gd name="T23" fmla="*/ 1643 h 1720"/>
                <a:gd name="T24" fmla="*/ 1102 w 1126"/>
                <a:gd name="T25" fmla="*/ 1206 h 1720"/>
                <a:gd name="T26" fmla="*/ 1082 w 1126"/>
                <a:gd name="T27" fmla="*/ 538 h 1720"/>
                <a:gd name="T28" fmla="*/ 1089 w 1126"/>
                <a:gd name="T29" fmla="*/ 134 h 1720"/>
                <a:gd name="T30" fmla="*/ 857 w 1126"/>
                <a:gd name="T31" fmla="*/ 1 h 1720"/>
                <a:gd name="T32" fmla="*/ 690 w 1126"/>
                <a:gd name="T33" fmla="*/ 142 h 17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connsiteX0" fmla="*/ 5757 w 9658"/>
                <a:gd name="connsiteY0" fmla="*/ 535 h 9810"/>
                <a:gd name="connsiteX1" fmla="*/ 5551 w 9658"/>
                <a:gd name="connsiteY1" fmla="*/ 1660 h 9810"/>
                <a:gd name="connsiteX2" fmla="*/ 3845 w 9658"/>
                <a:gd name="connsiteY2" fmla="*/ 2218 h 9810"/>
                <a:gd name="connsiteX3" fmla="*/ 2140 w 9658"/>
                <a:gd name="connsiteY3" fmla="*/ 3334 h 9810"/>
                <a:gd name="connsiteX4" fmla="*/ 861 w 9658"/>
                <a:gd name="connsiteY4" fmla="*/ 3613 h 9810"/>
                <a:gd name="connsiteX5" fmla="*/ 9 w 9658"/>
                <a:gd name="connsiteY5" fmla="*/ 4450 h 9810"/>
                <a:gd name="connsiteX6" fmla="*/ 409 w 9658"/>
                <a:gd name="connsiteY6" fmla="*/ 5584 h 9810"/>
                <a:gd name="connsiteX7" fmla="*/ 435 w 9658"/>
                <a:gd name="connsiteY7" fmla="*/ 6404 h 9810"/>
                <a:gd name="connsiteX8" fmla="*/ 169 w 9658"/>
                <a:gd name="connsiteY8" fmla="*/ 7509 h 9810"/>
                <a:gd name="connsiteX9" fmla="*/ 524 w 9658"/>
                <a:gd name="connsiteY9" fmla="*/ 9357 h 9810"/>
                <a:gd name="connsiteX10" fmla="*/ 4227 w 9658"/>
                <a:gd name="connsiteY10" fmla="*/ 9706 h 9810"/>
                <a:gd name="connsiteX11" fmla="*/ 8872 w 9658"/>
                <a:gd name="connsiteY11" fmla="*/ 9549 h 9810"/>
                <a:gd name="connsiteX12" fmla="*/ 9636 w 9658"/>
                <a:gd name="connsiteY12" fmla="*/ 7009 h 9810"/>
                <a:gd name="connsiteX13" fmla="*/ 9458 w 9658"/>
                <a:gd name="connsiteY13" fmla="*/ 3125 h 9810"/>
                <a:gd name="connsiteX14" fmla="*/ 9520 w 9658"/>
                <a:gd name="connsiteY14" fmla="*/ 776 h 9810"/>
                <a:gd name="connsiteX15" fmla="*/ 7460 w 9658"/>
                <a:gd name="connsiteY15" fmla="*/ 3 h 9810"/>
                <a:gd name="connsiteX16" fmla="*/ 5757 w 9658"/>
                <a:gd name="connsiteY16" fmla="*/ 535 h 9810"/>
                <a:gd name="connsiteX0" fmla="*/ 5961 w 10000"/>
                <a:gd name="connsiteY0" fmla="*/ 545 h 10000"/>
                <a:gd name="connsiteX1" fmla="*/ 5178 w 10000"/>
                <a:gd name="connsiteY1" fmla="*/ 1729 h 10000"/>
                <a:gd name="connsiteX2" fmla="*/ 3981 w 10000"/>
                <a:gd name="connsiteY2" fmla="*/ 2261 h 10000"/>
                <a:gd name="connsiteX3" fmla="*/ 2216 w 10000"/>
                <a:gd name="connsiteY3" fmla="*/ 3399 h 10000"/>
                <a:gd name="connsiteX4" fmla="*/ 891 w 10000"/>
                <a:gd name="connsiteY4" fmla="*/ 3683 h 10000"/>
                <a:gd name="connsiteX5" fmla="*/ 9 w 10000"/>
                <a:gd name="connsiteY5" fmla="*/ 4536 h 10000"/>
                <a:gd name="connsiteX6" fmla="*/ 423 w 10000"/>
                <a:gd name="connsiteY6" fmla="*/ 5692 h 10000"/>
                <a:gd name="connsiteX7" fmla="*/ 450 w 10000"/>
                <a:gd name="connsiteY7" fmla="*/ 6528 h 10000"/>
                <a:gd name="connsiteX8" fmla="*/ 175 w 10000"/>
                <a:gd name="connsiteY8" fmla="*/ 7654 h 10000"/>
                <a:gd name="connsiteX9" fmla="*/ 543 w 10000"/>
                <a:gd name="connsiteY9" fmla="*/ 9538 h 10000"/>
                <a:gd name="connsiteX10" fmla="*/ 4377 w 10000"/>
                <a:gd name="connsiteY10" fmla="*/ 9894 h 10000"/>
                <a:gd name="connsiteX11" fmla="*/ 9186 w 10000"/>
                <a:gd name="connsiteY11" fmla="*/ 9734 h 10000"/>
                <a:gd name="connsiteX12" fmla="*/ 9977 w 10000"/>
                <a:gd name="connsiteY12" fmla="*/ 7145 h 10000"/>
                <a:gd name="connsiteX13" fmla="*/ 9793 w 10000"/>
                <a:gd name="connsiteY13" fmla="*/ 3186 h 10000"/>
                <a:gd name="connsiteX14" fmla="*/ 9857 w 10000"/>
                <a:gd name="connsiteY14" fmla="*/ 791 h 10000"/>
                <a:gd name="connsiteX15" fmla="*/ 7724 w 10000"/>
                <a:gd name="connsiteY15" fmla="*/ 3 h 10000"/>
                <a:gd name="connsiteX16" fmla="*/ 5961 w 10000"/>
                <a:gd name="connsiteY16" fmla="*/ 545 h 10000"/>
                <a:gd name="connsiteX0" fmla="*/ 5961 w 10000"/>
                <a:gd name="connsiteY0" fmla="*/ 837 h 10292"/>
                <a:gd name="connsiteX1" fmla="*/ 5178 w 10000"/>
                <a:gd name="connsiteY1" fmla="*/ 2021 h 10292"/>
                <a:gd name="connsiteX2" fmla="*/ 3981 w 10000"/>
                <a:gd name="connsiteY2" fmla="*/ 2553 h 10292"/>
                <a:gd name="connsiteX3" fmla="*/ 2216 w 10000"/>
                <a:gd name="connsiteY3" fmla="*/ 3691 h 10292"/>
                <a:gd name="connsiteX4" fmla="*/ 891 w 10000"/>
                <a:gd name="connsiteY4" fmla="*/ 3975 h 10292"/>
                <a:gd name="connsiteX5" fmla="*/ 9 w 10000"/>
                <a:gd name="connsiteY5" fmla="*/ 4828 h 10292"/>
                <a:gd name="connsiteX6" fmla="*/ 423 w 10000"/>
                <a:gd name="connsiteY6" fmla="*/ 5984 h 10292"/>
                <a:gd name="connsiteX7" fmla="*/ 450 w 10000"/>
                <a:gd name="connsiteY7" fmla="*/ 6820 h 10292"/>
                <a:gd name="connsiteX8" fmla="*/ 175 w 10000"/>
                <a:gd name="connsiteY8" fmla="*/ 7946 h 10292"/>
                <a:gd name="connsiteX9" fmla="*/ 543 w 10000"/>
                <a:gd name="connsiteY9" fmla="*/ 9830 h 10292"/>
                <a:gd name="connsiteX10" fmla="*/ 4377 w 10000"/>
                <a:gd name="connsiteY10" fmla="*/ 10186 h 10292"/>
                <a:gd name="connsiteX11" fmla="*/ 9186 w 10000"/>
                <a:gd name="connsiteY11" fmla="*/ 10026 h 10292"/>
                <a:gd name="connsiteX12" fmla="*/ 9977 w 10000"/>
                <a:gd name="connsiteY12" fmla="*/ 7437 h 10292"/>
                <a:gd name="connsiteX13" fmla="*/ 9793 w 10000"/>
                <a:gd name="connsiteY13" fmla="*/ 3478 h 10292"/>
                <a:gd name="connsiteX14" fmla="*/ 9857 w 10000"/>
                <a:gd name="connsiteY14" fmla="*/ 1083 h 10292"/>
                <a:gd name="connsiteX15" fmla="*/ 7439 w 10000"/>
                <a:gd name="connsiteY15" fmla="*/ 1 h 10292"/>
                <a:gd name="connsiteX16" fmla="*/ 5961 w 10000"/>
                <a:gd name="connsiteY16" fmla="*/ 837 h 10292"/>
                <a:gd name="connsiteX0" fmla="*/ 5961 w 10137"/>
                <a:gd name="connsiteY0" fmla="*/ 837 h 10292"/>
                <a:gd name="connsiteX1" fmla="*/ 5178 w 10137"/>
                <a:gd name="connsiteY1" fmla="*/ 2021 h 10292"/>
                <a:gd name="connsiteX2" fmla="*/ 3981 w 10137"/>
                <a:gd name="connsiteY2" fmla="*/ 2553 h 10292"/>
                <a:gd name="connsiteX3" fmla="*/ 2216 w 10137"/>
                <a:gd name="connsiteY3" fmla="*/ 3691 h 10292"/>
                <a:gd name="connsiteX4" fmla="*/ 891 w 10137"/>
                <a:gd name="connsiteY4" fmla="*/ 3975 h 10292"/>
                <a:gd name="connsiteX5" fmla="*/ 9 w 10137"/>
                <a:gd name="connsiteY5" fmla="*/ 4828 h 10292"/>
                <a:gd name="connsiteX6" fmla="*/ 423 w 10137"/>
                <a:gd name="connsiteY6" fmla="*/ 5984 h 10292"/>
                <a:gd name="connsiteX7" fmla="*/ 450 w 10137"/>
                <a:gd name="connsiteY7" fmla="*/ 6820 h 10292"/>
                <a:gd name="connsiteX8" fmla="*/ 175 w 10137"/>
                <a:gd name="connsiteY8" fmla="*/ 7946 h 10292"/>
                <a:gd name="connsiteX9" fmla="*/ 543 w 10137"/>
                <a:gd name="connsiteY9" fmla="*/ 9830 h 10292"/>
                <a:gd name="connsiteX10" fmla="*/ 4377 w 10137"/>
                <a:gd name="connsiteY10" fmla="*/ 10186 h 10292"/>
                <a:gd name="connsiteX11" fmla="*/ 9186 w 10137"/>
                <a:gd name="connsiteY11" fmla="*/ 10026 h 10292"/>
                <a:gd name="connsiteX12" fmla="*/ 9977 w 10137"/>
                <a:gd name="connsiteY12" fmla="*/ 7437 h 10292"/>
                <a:gd name="connsiteX13" fmla="*/ 9793 w 10137"/>
                <a:gd name="connsiteY13" fmla="*/ 3478 h 10292"/>
                <a:gd name="connsiteX14" fmla="*/ 10028 w 10137"/>
                <a:gd name="connsiteY14" fmla="*/ 863 h 10292"/>
                <a:gd name="connsiteX15" fmla="*/ 7439 w 10137"/>
                <a:gd name="connsiteY15" fmla="*/ 1 h 10292"/>
                <a:gd name="connsiteX16" fmla="*/ 5961 w 10137"/>
                <a:gd name="connsiteY16" fmla="*/ 837 h 10292"/>
                <a:gd name="connsiteX0" fmla="*/ 5961 w 10137"/>
                <a:gd name="connsiteY0" fmla="*/ 837 h 10292"/>
                <a:gd name="connsiteX1" fmla="*/ 5178 w 10137"/>
                <a:gd name="connsiteY1" fmla="*/ 2021 h 10292"/>
                <a:gd name="connsiteX2" fmla="*/ 3981 w 10137"/>
                <a:gd name="connsiteY2" fmla="*/ 2553 h 10292"/>
                <a:gd name="connsiteX3" fmla="*/ 2216 w 10137"/>
                <a:gd name="connsiteY3" fmla="*/ 3691 h 10292"/>
                <a:gd name="connsiteX4" fmla="*/ 891 w 10137"/>
                <a:gd name="connsiteY4" fmla="*/ 3975 h 10292"/>
                <a:gd name="connsiteX5" fmla="*/ 9 w 10137"/>
                <a:gd name="connsiteY5" fmla="*/ 4828 h 10292"/>
                <a:gd name="connsiteX6" fmla="*/ 423 w 10137"/>
                <a:gd name="connsiteY6" fmla="*/ 5984 h 10292"/>
                <a:gd name="connsiteX7" fmla="*/ 450 w 10137"/>
                <a:gd name="connsiteY7" fmla="*/ 6820 h 10292"/>
                <a:gd name="connsiteX8" fmla="*/ 175 w 10137"/>
                <a:gd name="connsiteY8" fmla="*/ 7946 h 10292"/>
                <a:gd name="connsiteX9" fmla="*/ 543 w 10137"/>
                <a:gd name="connsiteY9" fmla="*/ 9830 h 10292"/>
                <a:gd name="connsiteX10" fmla="*/ 4377 w 10137"/>
                <a:gd name="connsiteY10" fmla="*/ 10186 h 10292"/>
                <a:gd name="connsiteX11" fmla="*/ 9186 w 10137"/>
                <a:gd name="connsiteY11" fmla="*/ 10026 h 10292"/>
                <a:gd name="connsiteX12" fmla="*/ 9977 w 10137"/>
                <a:gd name="connsiteY12" fmla="*/ 7437 h 10292"/>
                <a:gd name="connsiteX13" fmla="*/ 9793 w 10137"/>
                <a:gd name="connsiteY13" fmla="*/ 3478 h 10292"/>
                <a:gd name="connsiteX14" fmla="*/ 10028 w 10137"/>
                <a:gd name="connsiteY14" fmla="*/ 863 h 10292"/>
                <a:gd name="connsiteX15" fmla="*/ 7895 w 10137"/>
                <a:gd name="connsiteY15" fmla="*/ 1 h 10292"/>
                <a:gd name="connsiteX16" fmla="*/ 5961 w 10137"/>
                <a:gd name="connsiteY16" fmla="*/ 837 h 1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37" h="10292">
                  <a:moveTo>
                    <a:pt x="5961" y="837"/>
                  </a:moveTo>
                  <a:cubicBezTo>
                    <a:pt x="5446" y="1217"/>
                    <a:pt x="5508" y="1736"/>
                    <a:pt x="5178" y="2021"/>
                  </a:cubicBezTo>
                  <a:cubicBezTo>
                    <a:pt x="4847" y="2308"/>
                    <a:pt x="4475" y="2275"/>
                    <a:pt x="3981" y="2553"/>
                  </a:cubicBezTo>
                  <a:cubicBezTo>
                    <a:pt x="3487" y="2831"/>
                    <a:pt x="2731" y="3454"/>
                    <a:pt x="2216" y="3691"/>
                  </a:cubicBezTo>
                  <a:cubicBezTo>
                    <a:pt x="1701" y="3928"/>
                    <a:pt x="1260" y="3785"/>
                    <a:pt x="891" y="3975"/>
                  </a:cubicBezTo>
                  <a:cubicBezTo>
                    <a:pt x="524" y="4165"/>
                    <a:pt x="83" y="4497"/>
                    <a:pt x="9" y="4828"/>
                  </a:cubicBezTo>
                  <a:cubicBezTo>
                    <a:pt x="-64" y="5161"/>
                    <a:pt x="349" y="5653"/>
                    <a:pt x="423" y="5984"/>
                  </a:cubicBezTo>
                  <a:cubicBezTo>
                    <a:pt x="497" y="6316"/>
                    <a:pt x="488" y="6494"/>
                    <a:pt x="450" y="6820"/>
                  </a:cubicBezTo>
                  <a:cubicBezTo>
                    <a:pt x="414" y="7146"/>
                    <a:pt x="156" y="7442"/>
                    <a:pt x="175" y="7946"/>
                  </a:cubicBezTo>
                  <a:cubicBezTo>
                    <a:pt x="193" y="8450"/>
                    <a:pt x="-156" y="9457"/>
                    <a:pt x="543" y="9830"/>
                  </a:cubicBezTo>
                  <a:cubicBezTo>
                    <a:pt x="1241" y="10204"/>
                    <a:pt x="2933" y="10150"/>
                    <a:pt x="4377" y="10186"/>
                  </a:cubicBezTo>
                  <a:cubicBezTo>
                    <a:pt x="5821" y="10222"/>
                    <a:pt x="8257" y="10483"/>
                    <a:pt x="9186" y="10026"/>
                  </a:cubicBezTo>
                  <a:cubicBezTo>
                    <a:pt x="10115" y="9570"/>
                    <a:pt x="9876" y="8526"/>
                    <a:pt x="9977" y="7437"/>
                  </a:cubicBezTo>
                  <a:cubicBezTo>
                    <a:pt x="10079" y="6346"/>
                    <a:pt x="9785" y="4574"/>
                    <a:pt x="9793" y="3478"/>
                  </a:cubicBezTo>
                  <a:cubicBezTo>
                    <a:pt x="9802" y="2382"/>
                    <a:pt x="10369" y="1391"/>
                    <a:pt x="10028" y="863"/>
                  </a:cubicBezTo>
                  <a:cubicBezTo>
                    <a:pt x="9688" y="336"/>
                    <a:pt x="8573" y="5"/>
                    <a:pt x="7895" y="1"/>
                  </a:cubicBezTo>
                  <a:cubicBezTo>
                    <a:pt x="7217" y="-3"/>
                    <a:pt x="6283" y="665"/>
                    <a:pt x="5961" y="837"/>
                  </a:cubicBezTo>
                  <a:close/>
                </a:path>
              </a:pathLst>
            </a:custGeom>
            <a:solidFill>
              <a:srgbClr val="FFCC99"/>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endParaRPr lang="en-CA"/>
            </a:p>
          </p:txBody>
        </p:sp>
        <p:sp>
          <p:nvSpPr>
            <p:cNvPr id="75872" name="Freeform 248"/>
            <p:cNvSpPr>
              <a:spLocks/>
            </p:cNvSpPr>
            <p:nvPr/>
          </p:nvSpPr>
          <p:spPr bwMode="auto">
            <a:xfrm>
              <a:off x="2774" y="2437"/>
              <a:ext cx="1902" cy="1830"/>
            </a:xfrm>
            <a:custGeom>
              <a:avLst/>
              <a:gdLst>
                <a:gd name="T0" fmla="*/ 254 w 1930"/>
                <a:gd name="T1" fmla="*/ 253 h 1990"/>
                <a:gd name="T2" fmla="*/ 1605 w 1930"/>
                <a:gd name="T3" fmla="*/ 193 h 1990"/>
                <a:gd name="T4" fmla="*/ 1903 w 1930"/>
                <a:gd name="T5" fmla="*/ 452 h 1990"/>
                <a:gd name="T6" fmla="*/ 1770 w 1930"/>
                <a:gd name="T7" fmla="*/ 610 h 1990"/>
                <a:gd name="T8" fmla="*/ 1552 w 1930"/>
                <a:gd name="T9" fmla="*/ 637 h 1990"/>
                <a:gd name="T10" fmla="*/ 1406 w 1930"/>
                <a:gd name="T11" fmla="*/ 756 h 1990"/>
                <a:gd name="T12" fmla="*/ 1208 w 1930"/>
                <a:gd name="T13" fmla="*/ 1087 h 1990"/>
                <a:gd name="T14" fmla="*/ 1168 w 1930"/>
                <a:gd name="T15" fmla="*/ 1815 h 1990"/>
                <a:gd name="T16" fmla="*/ 797 w 1930"/>
                <a:gd name="T17" fmla="*/ 1941 h 1990"/>
                <a:gd name="T18" fmla="*/ 135 w 1930"/>
                <a:gd name="T19" fmla="*/ 1709 h 1990"/>
                <a:gd name="T20" fmla="*/ 254 w 1930"/>
                <a:gd name="T21" fmla="*/ 253 h 199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connsiteX0" fmla="*/ 985 w 9676"/>
                <a:gd name="connsiteY0" fmla="*/ 704 h 9226"/>
                <a:gd name="connsiteX1" fmla="*/ 7985 w 9676"/>
                <a:gd name="connsiteY1" fmla="*/ 403 h 9226"/>
                <a:gd name="connsiteX2" fmla="*/ 9657 w 9676"/>
                <a:gd name="connsiteY2" fmla="*/ 1673 h 9226"/>
                <a:gd name="connsiteX3" fmla="*/ 8840 w 9676"/>
                <a:gd name="connsiteY3" fmla="*/ 2498 h 9226"/>
                <a:gd name="connsiteX4" fmla="*/ 7710 w 9676"/>
                <a:gd name="connsiteY4" fmla="*/ 2634 h 9226"/>
                <a:gd name="connsiteX5" fmla="*/ 6954 w 9676"/>
                <a:gd name="connsiteY5" fmla="*/ 3232 h 9226"/>
                <a:gd name="connsiteX6" fmla="*/ 5928 w 9676"/>
                <a:gd name="connsiteY6" fmla="*/ 4895 h 9226"/>
                <a:gd name="connsiteX7" fmla="*/ 5721 w 9676"/>
                <a:gd name="connsiteY7" fmla="*/ 8554 h 9226"/>
                <a:gd name="connsiteX8" fmla="*/ 3799 w 9676"/>
                <a:gd name="connsiteY8" fmla="*/ 9187 h 9226"/>
                <a:gd name="connsiteX9" fmla="*/ 368 w 9676"/>
                <a:gd name="connsiteY9" fmla="*/ 8021 h 9226"/>
                <a:gd name="connsiteX10" fmla="*/ 985 w 9676"/>
                <a:gd name="connsiteY10" fmla="*/ 704 h 9226"/>
                <a:gd name="connsiteX0" fmla="*/ 1018 w 9982"/>
                <a:gd name="connsiteY0" fmla="*/ 692 h 9929"/>
                <a:gd name="connsiteX1" fmla="*/ 8252 w 9982"/>
                <a:gd name="connsiteY1" fmla="*/ 366 h 9929"/>
                <a:gd name="connsiteX2" fmla="*/ 8863 w 9982"/>
                <a:gd name="connsiteY2" fmla="*/ 300 h 9929"/>
                <a:gd name="connsiteX3" fmla="*/ 9980 w 9982"/>
                <a:gd name="connsiteY3" fmla="*/ 1742 h 9929"/>
                <a:gd name="connsiteX4" fmla="*/ 9136 w 9982"/>
                <a:gd name="connsiteY4" fmla="*/ 2637 h 9929"/>
                <a:gd name="connsiteX5" fmla="*/ 7968 w 9982"/>
                <a:gd name="connsiteY5" fmla="*/ 2784 h 9929"/>
                <a:gd name="connsiteX6" fmla="*/ 7187 w 9982"/>
                <a:gd name="connsiteY6" fmla="*/ 3432 h 9929"/>
                <a:gd name="connsiteX7" fmla="*/ 6126 w 9982"/>
                <a:gd name="connsiteY7" fmla="*/ 5235 h 9929"/>
                <a:gd name="connsiteX8" fmla="*/ 5913 w 9982"/>
                <a:gd name="connsiteY8" fmla="*/ 9201 h 9929"/>
                <a:gd name="connsiteX9" fmla="*/ 3926 w 9982"/>
                <a:gd name="connsiteY9" fmla="*/ 9887 h 9929"/>
                <a:gd name="connsiteX10" fmla="*/ 380 w 9982"/>
                <a:gd name="connsiteY10" fmla="*/ 8623 h 9929"/>
                <a:gd name="connsiteX11" fmla="*/ 1018 w 9982"/>
                <a:gd name="connsiteY11" fmla="*/ 692 h 9929"/>
                <a:gd name="connsiteX0" fmla="*/ 1020 w 10000"/>
                <a:gd name="connsiteY0" fmla="*/ 697 h 10000"/>
                <a:gd name="connsiteX1" fmla="*/ 8267 w 10000"/>
                <a:gd name="connsiteY1" fmla="*/ 369 h 10000"/>
                <a:gd name="connsiteX2" fmla="*/ 8879 w 10000"/>
                <a:gd name="connsiteY2" fmla="*/ 302 h 10000"/>
                <a:gd name="connsiteX3" fmla="*/ 9998 w 10000"/>
                <a:gd name="connsiteY3" fmla="*/ 1754 h 10000"/>
                <a:gd name="connsiteX4" fmla="*/ 9152 w 10000"/>
                <a:gd name="connsiteY4" fmla="*/ 2656 h 10000"/>
                <a:gd name="connsiteX5" fmla="*/ 7982 w 10000"/>
                <a:gd name="connsiteY5" fmla="*/ 2804 h 10000"/>
                <a:gd name="connsiteX6" fmla="*/ 7200 w 10000"/>
                <a:gd name="connsiteY6" fmla="*/ 3457 h 10000"/>
                <a:gd name="connsiteX7" fmla="*/ 6137 w 10000"/>
                <a:gd name="connsiteY7" fmla="*/ 5272 h 10000"/>
                <a:gd name="connsiteX8" fmla="*/ 5924 w 10000"/>
                <a:gd name="connsiteY8" fmla="*/ 9267 h 10000"/>
                <a:gd name="connsiteX9" fmla="*/ 3933 w 10000"/>
                <a:gd name="connsiteY9" fmla="*/ 9958 h 10000"/>
                <a:gd name="connsiteX10" fmla="*/ 381 w 10000"/>
                <a:gd name="connsiteY10" fmla="*/ 8685 h 10000"/>
                <a:gd name="connsiteX11" fmla="*/ 1020 w 10000"/>
                <a:gd name="connsiteY11" fmla="*/ 697 h 10000"/>
                <a:gd name="connsiteX0" fmla="*/ 1020 w 10000"/>
                <a:gd name="connsiteY0" fmla="*/ 697 h 10000"/>
                <a:gd name="connsiteX1" fmla="*/ 8267 w 10000"/>
                <a:gd name="connsiteY1" fmla="*/ 369 h 10000"/>
                <a:gd name="connsiteX2" fmla="*/ 8879 w 10000"/>
                <a:gd name="connsiteY2" fmla="*/ 302 h 10000"/>
                <a:gd name="connsiteX3" fmla="*/ 9998 w 10000"/>
                <a:gd name="connsiteY3" fmla="*/ 1754 h 10000"/>
                <a:gd name="connsiteX4" fmla="*/ 9152 w 10000"/>
                <a:gd name="connsiteY4" fmla="*/ 2656 h 10000"/>
                <a:gd name="connsiteX5" fmla="*/ 7982 w 10000"/>
                <a:gd name="connsiteY5" fmla="*/ 2804 h 10000"/>
                <a:gd name="connsiteX6" fmla="*/ 7200 w 10000"/>
                <a:gd name="connsiteY6" fmla="*/ 3457 h 10000"/>
                <a:gd name="connsiteX7" fmla="*/ 6137 w 10000"/>
                <a:gd name="connsiteY7" fmla="*/ 5272 h 10000"/>
                <a:gd name="connsiteX8" fmla="*/ 5924 w 10000"/>
                <a:gd name="connsiteY8" fmla="*/ 9267 h 10000"/>
                <a:gd name="connsiteX9" fmla="*/ 3933 w 10000"/>
                <a:gd name="connsiteY9" fmla="*/ 9958 h 10000"/>
                <a:gd name="connsiteX10" fmla="*/ 381 w 10000"/>
                <a:gd name="connsiteY10" fmla="*/ 8685 h 10000"/>
                <a:gd name="connsiteX11" fmla="*/ 1020 w 10000"/>
                <a:gd name="connsiteY11" fmla="*/ 697 h 10000"/>
                <a:gd name="connsiteX0" fmla="*/ 1020 w 10000"/>
                <a:gd name="connsiteY0" fmla="*/ 797 h 10100"/>
                <a:gd name="connsiteX1" fmla="*/ 8879 w 10000"/>
                <a:gd name="connsiteY1" fmla="*/ 402 h 10100"/>
                <a:gd name="connsiteX2" fmla="*/ 9998 w 10000"/>
                <a:gd name="connsiteY2" fmla="*/ 1854 h 10100"/>
                <a:gd name="connsiteX3" fmla="*/ 9152 w 10000"/>
                <a:gd name="connsiteY3" fmla="*/ 2756 h 10100"/>
                <a:gd name="connsiteX4" fmla="*/ 7982 w 10000"/>
                <a:gd name="connsiteY4" fmla="*/ 2904 h 10100"/>
                <a:gd name="connsiteX5" fmla="*/ 7200 w 10000"/>
                <a:gd name="connsiteY5" fmla="*/ 3557 h 10100"/>
                <a:gd name="connsiteX6" fmla="*/ 6137 w 10000"/>
                <a:gd name="connsiteY6" fmla="*/ 5372 h 10100"/>
                <a:gd name="connsiteX7" fmla="*/ 5924 w 10000"/>
                <a:gd name="connsiteY7" fmla="*/ 9367 h 10100"/>
                <a:gd name="connsiteX8" fmla="*/ 3933 w 10000"/>
                <a:gd name="connsiteY8" fmla="*/ 10058 h 10100"/>
                <a:gd name="connsiteX9" fmla="*/ 381 w 10000"/>
                <a:gd name="connsiteY9" fmla="*/ 8785 h 10100"/>
                <a:gd name="connsiteX10" fmla="*/ 1020 w 10000"/>
                <a:gd name="connsiteY10" fmla="*/ 797 h 10100"/>
                <a:gd name="connsiteX0" fmla="*/ 1020 w 9998"/>
                <a:gd name="connsiteY0" fmla="*/ 771 h 10074"/>
                <a:gd name="connsiteX1" fmla="*/ 9112 w 9998"/>
                <a:gd name="connsiteY1" fmla="*/ 444 h 10074"/>
                <a:gd name="connsiteX2" fmla="*/ 9998 w 9998"/>
                <a:gd name="connsiteY2" fmla="*/ 1828 h 10074"/>
                <a:gd name="connsiteX3" fmla="*/ 9152 w 9998"/>
                <a:gd name="connsiteY3" fmla="*/ 2730 h 10074"/>
                <a:gd name="connsiteX4" fmla="*/ 7982 w 9998"/>
                <a:gd name="connsiteY4" fmla="*/ 2878 h 10074"/>
                <a:gd name="connsiteX5" fmla="*/ 7200 w 9998"/>
                <a:gd name="connsiteY5" fmla="*/ 3531 h 10074"/>
                <a:gd name="connsiteX6" fmla="*/ 6137 w 9998"/>
                <a:gd name="connsiteY6" fmla="*/ 5346 h 10074"/>
                <a:gd name="connsiteX7" fmla="*/ 5924 w 9998"/>
                <a:gd name="connsiteY7" fmla="*/ 9341 h 10074"/>
                <a:gd name="connsiteX8" fmla="*/ 3933 w 9998"/>
                <a:gd name="connsiteY8" fmla="*/ 10032 h 10074"/>
                <a:gd name="connsiteX9" fmla="*/ 381 w 9998"/>
                <a:gd name="connsiteY9" fmla="*/ 8759 h 10074"/>
                <a:gd name="connsiteX10" fmla="*/ 1020 w 9998"/>
                <a:gd name="connsiteY10" fmla="*/ 771 h 10074"/>
                <a:gd name="connsiteX0" fmla="*/ 831 w 10243"/>
                <a:gd name="connsiteY0" fmla="*/ 866 h 9865"/>
                <a:gd name="connsiteX1" fmla="*/ 9357 w 10243"/>
                <a:gd name="connsiteY1" fmla="*/ 306 h 9865"/>
                <a:gd name="connsiteX2" fmla="*/ 10243 w 10243"/>
                <a:gd name="connsiteY2" fmla="*/ 1680 h 9865"/>
                <a:gd name="connsiteX3" fmla="*/ 9397 w 10243"/>
                <a:gd name="connsiteY3" fmla="*/ 2575 h 9865"/>
                <a:gd name="connsiteX4" fmla="*/ 8227 w 10243"/>
                <a:gd name="connsiteY4" fmla="*/ 2722 h 9865"/>
                <a:gd name="connsiteX5" fmla="*/ 7444 w 10243"/>
                <a:gd name="connsiteY5" fmla="*/ 3370 h 9865"/>
                <a:gd name="connsiteX6" fmla="*/ 6381 w 10243"/>
                <a:gd name="connsiteY6" fmla="*/ 5172 h 9865"/>
                <a:gd name="connsiteX7" fmla="*/ 6168 w 10243"/>
                <a:gd name="connsiteY7" fmla="*/ 9137 h 9865"/>
                <a:gd name="connsiteX8" fmla="*/ 4177 w 10243"/>
                <a:gd name="connsiteY8" fmla="*/ 9823 h 9865"/>
                <a:gd name="connsiteX9" fmla="*/ 624 w 10243"/>
                <a:gd name="connsiteY9" fmla="*/ 8560 h 9865"/>
                <a:gd name="connsiteX10" fmla="*/ 831 w 10243"/>
                <a:gd name="connsiteY10" fmla="*/ 866 h 9865"/>
                <a:gd name="connsiteX0" fmla="*/ 772 w 9961"/>
                <a:gd name="connsiteY0" fmla="*/ 878 h 10104"/>
                <a:gd name="connsiteX1" fmla="*/ 9096 w 9961"/>
                <a:gd name="connsiteY1" fmla="*/ 310 h 10104"/>
                <a:gd name="connsiteX2" fmla="*/ 9961 w 9961"/>
                <a:gd name="connsiteY2" fmla="*/ 1703 h 10104"/>
                <a:gd name="connsiteX3" fmla="*/ 9135 w 9961"/>
                <a:gd name="connsiteY3" fmla="*/ 2610 h 10104"/>
                <a:gd name="connsiteX4" fmla="*/ 7993 w 9961"/>
                <a:gd name="connsiteY4" fmla="*/ 2759 h 10104"/>
                <a:gd name="connsiteX5" fmla="*/ 7228 w 9961"/>
                <a:gd name="connsiteY5" fmla="*/ 3416 h 10104"/>
                <a:gd name="connsiteX6" fmla="*/ 6191 w 9961"/>
                <a:gd name="connsiteY6" fmla="*/ 5243 h 10104"/>
                <a:gd name="connsiteX7" fmla="*/ 5983 w 9961"/>
                <a:gd name="connsiteY7" fmla="*/ 9262 h 10104"/>
                <a:gd name="connsiteX8" fmla="*/ 4039 w 9961"/>
                <a:gd name="connsiteY8" fmla="*/ 9957 h 10104"/>
                <a:gd name="connsiteX9" fmla="*/ 667 w 9961"/>
                <a:gd name="connsiteY9" fmla="*/ 9190 h 10104"/>
                <a:gd name="connsiteX10" fmla="*/ 772 w 9961"/>
                <a:gd name="connsiteY10" fmla="*/ 878 h 10104"/>
                <a:gd name="connsiteX0" fmla="*/ 775 w 10000"/>
                <a:gd name="connsiteY0" fmla="*/ 869 h 10000"/>
                <a:gd name="connsiteX1" fmla="*/ 9132 w 10000"/>
                <a:gd name="connsiteY1" fmla="*/ 307 h 10000"/>
                <a:gd name="connsiteX2" fmla="*/ 10000 w 10000"/>
                <a:gd name="connsiteY2" fmla="*/ 1685 h 10000"/>
                <a:gd name="connsiteX3" fmla="*/ 9171 w 10000"/>
                <a:gd name="connsiteY3" fmla="*/ 2583 h 10000"/>
                <a:gd name="connsiteX4" fmla="*/ 8024 w 10000"/>
                <a:gd name="connsiteY4" fmla="*/ 2731 h 10000"/>
                <a:gd name="connsiteX5" fmla="*/ 7256 w 10000"/>
                <a:gd name="connsiteY5" fmla="*/ 3381 h 10000"/>
                <a:gd name="connsiteX6" fmla="*/ 6215 w 10000"/>
                <a:gd name="connsiteY6" fmla="*/ 5189 h 10000"/>
                <a:gd name="connsiteX7" fmla="*/ 6136 w 10000"/>
                <a:gd name="connsiteY7" fmla="*/ 9235 h 10000"/>
                <a:gd name="connsiteX8" fmla="*/ 4055 w 10000"/>
                <a:gd name="connsiteY8" fmla="*/ 9855 h 10000"/>
                <a:gd name="connsiteX9" fmla="*/ 670 w 10000"/>
                <a:gd name="connsiteY9" fmla="*/ 9095 h 10000"/>
                <a:gd name="connsiteX10" fmla="*/ 775 w 10000"/>
                <a:gd name="connsiteY10" fmla="*/ 869 h 10000"/>
                <a:gd name="connsiteX0" fmla="*/ 775 w 10000"/>
                <a:gd name="connsiteY0" fmla="*/ 869 h 10000"/>
                <a:gd name="connsiteX1" fmla="*/ 9132 w 10000"/>
                <a:gd name="connsiteY1" fmla="*/ 307 h 10000"/>
                <a:gd name="connsiteX2" fmla="*/ 10000 w 10000"/>
                <a:gd name="connsiteY2" fmla="*/ 1685 h 10000"/>
                <a:gd name="connsiteX3" fmla="*/ 9171 w 10000"/>
                <a:gd name="connsiteY3" fmla="*/ 2583 h 10000"/>
                <a:gd name="connsiteX4" fmla="*/ 8024 w 10000"/>
                <a:gd name="connsiteY4" fmla="*/ 2731 h 10000"/>
                <a:gd name="connsiteX5" fmla="*/ 6930 w 10000"/>
                <a:gd name="connsiteY5" fmla="*/ 3719 h 10000"/>
                <a:gd name="connsiteX6" fmla="*/ 6215 w 10000"/>
                <a:gd name="connsiteY6" fmla="*/ 5189 h 10000"/>
                <a:gd name="connsiteX7" fmla="*/ 6136 w 10000"/>
                <a:gd name="connsiteY7" fmla="*/ 9235 h 10000"/>
                <a:gd name="connsiteX8" fmla="*/ 4055 w 10000"/>
                <a:gd name="connsiteY8" fmla="*/ 9855 h 10000"/>
                <a:gd name="connsiteX9" fmla="*/ 670 w 10000"/>
                <a:gd name="connsiteY9" fmla="*/ 9095 h 10000"/>
                <a:gd name="connsiteX10" fmla="*/ 775 w 10000"/>
                <a:gd name="connsiteY10" fmla="*/ 869 h 10000"/>
                <a:gd name="connsiteX0" fmla="*/ 775 w 10000"/>
                <a:gd name="connsiteY0" fmla="*/ 869 h 10000"/>
                <a:gd name="connsiteX1" fmla="*/ 9132 w 10000"/>
                <a:gd name="connsiteY1" fmla="*/ 307 h 10000"/>
                <a:gd name="connsiteX2" fmla="*/ 10000 w 10000"/>
                <a:gd name="connsiteY2" fmla="*/ 1685 h 10000"/>
                <a:gd name="connsiteX3" fmla="*/ 9171 w 10000"/>
                <a:gd name="connsiteY3" fmla="*/ 2583 h 10000"/>
                <a:gd name="connsiteX4" fmla="*/ 7698 w 10000"/>
                <a:gd name="connsiteY4" fmla="*/ 2968 h 10000"/>
                <a:gd name="connsiteX5" fmla="*/ 6930 w 10000"/>
                <a:gd name="connsiteY5" fmla="*/ 3719 h 10000"/>
                <a:gd name="connsiteX6" fmla="*/ 6215 w 10000"/>
                <a:gd name="connsiteY6" fmla="*/ 5189 h 10000"/>
                <a:gd name="connsiteX7" fmla="*/ 6136 w 10000"/>
                <a:gd name="connsiteY7" fmla="*/ 9235 h 10000"/>
                <a:gd name="connsiteX8" fmla="*/ 4055 w 10000"/>
                <a:gd name="connsiteY8" fmla="*/ 9855 h 10000"/>
                <a:gd name="connsiteX9" fmla="*/ 670 w 10000"/>
                <a:gd name="connsiteY9" fmla="*/ 9095 h 10000"/>
                <a:gd name="connsiteX10" fmla="*/ 775 w 10000"/>
                <a:gd name="connsiteY10" fmla="*/ 869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00" h="10000">
                  <a:moveTo>
                    <a:pt x="775" y="869"/>
                  </a:moveTo>
                  <a:cubicBezTo>
                    <a:pt x="2163" y="-522"/>
                    <a:pt x="7666" y="132"/>
                    <a:pt x="9132" y="307"/>
                  </a:cubicBezTo>
                  <a:cubicBezTo>
                    <a:pt x="9708" y="571"/>
                    <a:pt x="9993" y="1305"/>
                    <a:pt x="10000" y="1685"/>
                  </a:cubicBezTo>
                  <a:cubicBezTo>
                    <a:pt x="10007" y="2065"/>
                    <a:pt x="9555" y="2369"/>
                    <a:pt x="9171" y="2583"/>
                  </a:cubicBezTo>
                  <a:cubicBezTo>
                    <a:pt x="8787" y="2797"/>
                    <a:pt x="8071" y="2779"/>
                    <a:pt x="7698" y="2968"/>
                  </a:cubicBezTo>
                  <a:cubicBezTo>
                    <a:pt x="7325" y="3157"/>
                    <a:pt x="7177" y="3349"/>
                    <a:pt x="6930" y="3719"/>
                  </a:cubicBezTo>
                  <a:cubicBezTo>
                    <a:pt x="6683" y="4089"/>
                    <a:pt x="6347" y="4270"/>
                    <a:pt x="6215" y="5189"/>
                  </a:cubicBezTo>
                  <a:cubicBezTo>
                    <a:pt x="6083" y="6108"/>
                    <a:pt x="6492" y="8458"/>
                    <a:pt x="6136" y="9235"/>
                  </a:cubicBezTo>
                  <a:cubicBezTo>
                    <a:pt x="5777" y="10010"/>
                    <a:pt x="4959" y="9952"/>
                    <a:pt x="4055" y="9855"/>
                  </a:cubicBezTo>
                  <a:cubicBezTo>
                    <a:pt x="3149" y="9756"/>
                    <a:pt x="1217" y="10594"/>
                    <a:pt x="670" y="9095"/>
                  </a:cubicBezTo>
                  <a:cubicBezTo>
                    <a:pt x="122" y="7598"/>
                    <a:pt x="-560" y="2273"/>
                    <a:pt x="775" y="869"/>
                  </a:cubicBezTo>
                  <a:close/>
                </a:path>
              </a:pathLst>
            </a:custGeom>
            <a:solidFill>
              <a:srgbClr val="FFCC99"/>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endParaRPr lang="en-CA"/>
            </a:p>
          </p:txBody>
        </p:sp>
      </p:grpSp>
      <p:sp>
        <p:nvSpPr>
          <p:cNvPr id="152820" name="Line 244"/>
          <p:cNvSpPr>
            <a:spLocks noChangeShapeType="1"/>
          </p:cNvSpPr>
          <p:nvPr/>
        </p:nvSpPr>
        <p:spPr bwMode="auto">
          <a:xfrm>
            <a:off x="6324600" y="3352800"/>
            <a:ext cx="1066800"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5257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MST Properties</a:t>
            </a:r>
          </a:p>
        </p:txBody>
      </p:sp>
      <p:sp>
        <p:nvSpPr>
          <p:cNvPr id="152885" name="Text Box 309"/>
          <p:cNvSpPr txBox="1">
            <a:spLocks noChangeArrowheads="1"/>
          </p:cNvSpPr>
          <p:nvPr/>
        </p:nvSpPr>
        <p:spPr bwMode="auto">
          <a:xfrm>
            <a:off x="1600200" y="5410200"/>
            <a:ext cx="6259513" cy="11906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188913" indent="-188913">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pPr>
            <a:r>
              <a:rPr lang="en-US" sz="1800" b="1">
                <a:solidFill>
                  <a:srgbClr val="CC0000"/>
                </a:solidFill>
              </a:rPr>
              <a:t>T – (f,g)</a:t>
            </a:r>
            <a:r>
              <a:rPr lang="en-US" sz="1800">
                <a:solidFill>
                  <a:schemeClr val="tx2"/>
                </a:solidFill>
              </a:rPr>
              <a:t> is disconnected. </a:t>
            </a:r>
            <a:br>
              <a:rPr lang="en-US" sz="1800">
                <a:solidFill>
                  <a:schemeClr val="tx2"/>
                </a:solidFill>
              </a:rPr>
            </a:br>
            <a:r>
              <a:rPr lang="en-US" sz="1800">
                <a:solidFill>
                  <a:schemeClr val="tx2"/>
                </a:solidFill>
              </a:rPr>
              <a:t>Its two connected components induce a cut in G.</a:t>
            </a:r>
            <a:br>
              <a:rPr lang="en-US" sz="1800">
                <a:solidFill>
                  <a:schemeClr val="tx2"/>
                </a:solidFill>
              </a:rPr>
            </a:br>
            <a:r>
              <a:rPr lang="en-US" sz="1800">
                <a:solidFill>
                  <a:schemeClr val="tx2"/>
                </a:solidFill>
              </a:rPr>
              <a:t>What is the minimum weight cross-edge of that cut?</a:t>
            </a:r>
            <a:br>
              <a:rPr lang="en-US" sz="1800">
                <a:solidFill>
                  <a:schemeClr val="tx2"/>
                </a:solidFill>
              </a:rPr>
            </a:br>
            <a:r>
              <a:rPr lang="en-US" sz="1800">
                <a:solidFill>
                  <a:schemeClr val="tx2"/>
                </a:solidFill>
              </a:rPr>
              <a:t>What is the range of values for w(f,g) while T remains an MST?</a:t>
            </a:r>
          </a:p>
        </p:txBody>
      </p:sp>
      <p:grpSp>
        <p:nvGrpSpPr>
          <p:cNvPr id="152890" name="Group 314"/>
          <p:cNvGrpSpPr>
            <a:grpSpLocks/>
          </p:cNvGrpSpPr>
          <p:nvPr/>
        </p:nvGrpSpPr>
        <p:grpSpPr bwMode="auto">
          <a:xfrm>
            <a:off x="381000" y="990600"/>
            <a:ext cx="3790950" cy="3186113"/>
            <a:chOff x="240" y="624"/>
            <a:chExt cx="2388" cy="2007"/>
          </a:xfrm>
        </p:grpSpPr>
        <p:grpSp>
          <p:nvGrpSpPr>
            <p:cNvPr id="75811" name="Group 243"/>
            <p:cNvGrpSpPr>
              <a:grpSpLocks/>
            </p:cNvGrpSpPr>
            <p:nvPr/>
          </p:nvGrpSpPr>
          <p:grpSpPr bwMode="auto">
            <a:xfrm>
              <a:off x="240" y="624"/>
              <a:ext cx="2388" cy="1700"/>
              <a:chOff x="1536" y="624"/>
              <a:chExt cx="2388" cy="1700"/>
            </a:xfrm>
          </p:grpSpPr>
          <p:sp>
            <p:nvSpPr>
              <p:cNvPr id="75813" name="Line 40"/>
              <p:cNvSpPr>
                <a:spLocks noChangeShapeType="1"/>
              </p:cNvSpPr>
              <p:nvPr/>
            </p:nvSpPr>
            <p:spPr bwMode="auto">
              <a:xfrm flipH="1">
                <a:off x="1728" y="864"/>
                <a:ext cx="672"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14" name="Line 41"/>
              <p:cNvSpPr>
                <a:spLocks noChangeShapeType="1"/>
              </p:cNvSpPr>
              <p:nvPr/>
            </p:nvSpPr>
            <p:spPr bwMode="auto">
              <a:xfrm flipH="1">
                <a:off x="2400" y="864"/>
                <a:ext cx="672"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15" name="Line 42"/>
              <p:cNvSpPr>
                <a:spLocks noChangeShapeType="1"/>
              </p:cNvSpPr>
              <p:nvPr/>
            </p:nvSpPr>
            <p:spPr bwMode="auto">
              <a:xfrm flipH="1">
                <a:off x="3072" y="864"/>
                <a:ext cx="672"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16" name="Line 43"/>
              <p:cNvSpPr>
                <a:spLocks noChangeShapeType="1"/>
              </p:cNvSpPr>
              <p:nvPr/>
            </p:nvSpPr>
            <p:spPr bwMode="auto">
              <a:xfrm>
                <a:off x="1728" y="1488"/>
                <a:ext cx="672"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17" name="Line 44"/>
              <p:cNvSpPr>
                <a:spLocks noChangeShapeType="1"/>
              </p:cNvSpPr>
              <p:nvPr/>
            </p:nvSpPr>
            <p:spPr bwMode="auto">
              <a:xfrm>
                <a:off x="2400" y="1488"/>
                <a:ext cx="672"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18" name="Line 45"/>
              <p:cNvSpPr>
                <a:spLocks noChangeShapeType="1"/>
              </p:cNvSpPr>
              <p:nvPr/>
            </p:nvSpPr>
            <p:spPr bwMode="auto">
              <a:xfrm>
                <a:off x="3072" y="1488"/>
                <a:ext cx="672"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19" name="Line 46"/>
              <p:cNvSpPr>
                <a:spLocks noChangeShapeType="1"/>
              </p:cNvSpPr>
              <p:nvPr/>
            </p:nvSpPr>
            <p:spPr bwMode="auto">
              <a:xfrm>
                <a:off x="1728" y="864"/>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20" name="Line 47"/>
              <p:cNvSpPr>
                <a:spLocks noChangeShapeType="1"/>
              </p:cNvSpPr>
              <p:nvPr/>
            </p:nvSpPr>
            <p:spPr bwMode="auto">
              <a:xfrm>
                <a:off x="1728" y="148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21" name="Line 48"/>
              <p:cNvSpPr>
                <a:spLocks noChangeShapeType="1"/>
              </p:cNvSpPr>
              <p:nvPr/>
            </p:nvSpPr>
            <p:spPr bwMode="auto">
              <a:xfrm>
                <a:off x="2400" y="864"/>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22" name="Line 49"/>
              <p:cNvSpPr>
                <a:spLocks noChangeShapeType="1"/>
              </p:cNvSpPr>
              <p:nvPr/>
            </p:nvSpPr>
            <p:spPr bwMode="auto">
              <a:xfrm>
                <a:off x="2400" y="148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23" name="Line 50"/>
              <p:cNvSpPr>
                <a:spLocks noChangeShapeType="1"/>
              </p:cNvSpPr>
              <p:nvPr/>
            </p:nvSpPr>
            <p:spPr bwMode="auto">
              <a:xfrm>
                <a:off x="3072" y="864"/>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24" name="Line 51"/>
              <p:cNvSpPr>
                <a:spLocks noChangeShapeType="1"/>
              </p:cNvSpPr>
              <p:nvPr/>
            </p:nvSpPr>
            <p:spPr bwMode="auto">
              <a:xfrm>
                <a:off x="3072" y="148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25" name="Line 52"/>
              <p:cNvSpPr>
                <a:spLocks noChangeShapeType="1"/>
              </p:cNvSpPr>
              <p:nvPr/>
            </p:nvSpPr>
            <p:spPr bwMode="auto">
              <a:xfrm>
                <a:off x="3744" y="864"/>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26" name="Line 53"/>
              <p:cNvSpPr>
                <a:spLocks noChangeShapeType="1"/>
              </p:cNvSpPr>
              <p:nvPr/>
            </p:nvSpPr>
            <p:spPr bwMode="auto">
              <a:xfrm>
                <a:off x="3744" y="1488"/>
                <a:ext cx="0" cy="6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27" name="Line 54"/>
              <p:cNvSpPr>
                <a:spLocks noChangeShapeType="1"/>
              </p:cNvSpPr>
              <p:nvPr/>
            </p:nvSpPr>
            <p:spPr bwMode="auto">
              <a:xfrm>
                <a:off x="3072" y="864"/>
                <a:ext cx="6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28" name="Line 55"/>
              <p:cNvSpPr>
                <a:spLocks noChangeShapeType="1"/>
              </p:cNvSpPr>
              <p:nvPr/>
            </p:nvSpPr>
            <p:spPr bwMode="auto">
              <a:xfrm>
                <a:off x="2400" y="864"/>
                <a:ext cx="6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29" name="Line 56"/>
              <p:cNvSpPr>
                <a:spLocks noChangeShapeType="1"/>
              </p:cNvSpPr>
              <p:nvPr/>
            </p:nvSpPr>
            <p:spPr bwMode="auto">
              <a:xfrm>
                <a:off x="1728" y="864"/>
                <a:ext cx="6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30" name="Oval 58"/>
              <p:cNvSpPr>
                <a:spLocks noChangeArrowheads="1"/>
              </p:cNvSpPr>
              <p:nvPr/>
            </p:nvSpPr>
            <p:spPr bwMode="auto">
              <a:xfrm>
                <a:off x="1584" y="722"/>
                <a:ext cx="288"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a</a:t>
                </a:r>
              </a:p>
            </p:txBody>
          </p:sp>
          <p:sp>
            <p:nvSpPr>
              <p:cNvPr id="75831" name="Line 61"/>
              <p:cNvSpPr>
                <a:spLocks noChangeShapeType="1"/>
              </p:cNvSpPr>
              <p:nvPr/>
            </p:nvSpPr>
            <p:spPr bwMode="auto">
              <a:xfrm>
                <a:off x="3072" y="1488"/>
                <a:ext cx="6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32" name="Line 62"/>
              <p:cNvSpPr>
                <a:spLocks noChangeShapeType="1"/>
              </p:cNvSpPr>
              <p:nvPr/>
            </p:nvSpPr>
            <p:spPr bwMode="auto">
              <a:xfrm>
                <a:off x="2400" y="1488"/>
                <a:ext cx="6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33" name="Line 63"/>
              <p:cNvSpPr>
                <a:spLocks noChangeShapeType="1"/>
              </p:cNvSpPr>
              <p:nvPr/>
            </p:nvSpPr>
            <p:spPr bwMode="auto">
              <a:xfrm>
                <a:off x="1728" y="1488"/>
                <a:ext cx="6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34" name="Line 68"/>
              <p:cNvSpPr>
                <a:spLocks noChangeShapeType="1"/>
              </p:cNvSpPr>
              <p:nvPr/>
            </p:nvSpPr>
            <p:spPr bwMode="auto">
              <a:xfrm>
                <a:off x="3072" y="2112"/>
                <a:ext cx="6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35" name="Line 69"/>
              <p:cNvSpPr>
                <a:spLocks noChangeShapeType="1"/>
              </p:cNvSpPr>
              <p:nvPr/>
            </p:nvSpPr>
            <p:spPr bwMode="auto">
              <a:xfrm>
                <a:off x="2400" y="2112"/>
                <a:ext cx="6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36" name="Line 70"/>
              <p:cNvSpPr>
                <a:spLocks noChangeShapeType="1"/>
              </p:cNvSpPr>
              <p:nvPr/>
            </p:nvSpPr>
            <p:spPr bwMode="auto">
              <a:xfrm>
                <a:off x="1728" y="2112"/>
                <a:ext cx="6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37" name="Text Box 89"/>
              <p:cNvSpPr txBox="1">
                <a:spLocks noChangeArrowheads="1"/>
              </p:cNvSpPr>
              <p:nvPr/>
            </p:nvSpPr>
            <p:spPr bwMode="auto">
              <a:xfrm>
                <a:off x="1965" y="624"/>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2</a:t>
                </a:r>
              </a:p>
            </p:txBody>
          </p:sp>
          <p:sp>
            <p:nvSpPr>
              <p:cNvPr id="75838" name="Text Box 90"/>
              <p:cNvSpPr txBox="1">
                <a:spLocks noChangeArrowheads="1"/>
              </p:cNvSpPr>
              <p:nvPr/>
            </p:nvSpPr>
            <p:spPr bwMode="auto">
              <a:xfrm>
                <a:off x="2640" y="624"/>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3</a:t>
                </a:r>
              </a:p>
            </p:txBody>
          </p:sp>
          <p:sp>
            <p:nvSpPr>
              <p:cNvPr id="75839" name="Text Box 91"/>
              <p:cNvSpPr txBox="1">
                <a:spLocks noChangeArrowheads="1"/>
              </p:cNvSpPr>
              <p:nvPr/>
            </p:nvSpPr>
            <p:spPr bwMode="auto">
              <a:xfrm>
                <a:off x="3312" y="624"/>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4</a:t>
                </a:r>
              </a:p>
            </p:txBody>
          </p:sp>
          <p:sp>
            <p:nvSpPr>
              <p:cNvPr id="75840" name="Text Box 92"/>
              <p:cNvSpPr txBox="1">
                <a:spLocks noChangeArrowheads="1"/>
              </p:cNvSpPr>
              <p:nvPr/>
            </p:nvSpPr>
            <p:spPr bwMode="auto">
              <a:xfrm>
                <a:off x="1536" y="1056"/>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5</a:t>
                </a:r>
              </a:p>
            </p:txBody>
          </p:sp>
          <p:sp>
            <p:nvSpPr>
              <p:cNvPr id="75841" name="Text Box 93"/>
              <p:cNvSpPr txBox="1">
                <a:spLocks noChangeArrowheads="1"/>
              </p:cNvSpPr>
              <p:nvPr/>
            </p:nvSpPr>
            <p:spPr bwMode="auto">
              <a:xfrm>
                <a:off x="1920" y="1008"/>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4</a:t>
                </a:r>
              </a:p>
            </p:txBody>
          </p:sp>
          <p:sp>
            <p:nvSpPr>
              <p:cNvPr id="75842" name="Text Box 94"/>
              <p:cNvSpPr txBox="1">
                <a:spLocks noChangeArrowheads="1"/>
              </p:cNvSpPr>
              <p:nvPr/>
            </p:nvSpPr>
            <p:spPr bwMode="auto">
              <a:xfrm>
                <a:off x="2256" y="1056"/>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3</a:t>
                </a:r>
              </a:p>
            </p:txBody>
          </p:sp>
          <p:sp>
            <p:nvSpPr>
              <p:cNvPr id="75843" name="Text Box 95"/>
              <p:cNvSpPr txBox="1">
                <a:spLocks noChangeArrowheads="1"/>
              </p:cNvSpPr>
              <p:nvPr/>
            </p:nvSpPr>
            <p:spPr bwMode="auto">
              <a:xfrm>
                <a:off x="2592" y="1008"/>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8</a:t>
                </a:r>
              </a:p>
            </p:txBody>
          </p:sp>
          <p:sp>
            <p:nvSpPr>
              <p:cNvPr id="75844" name="Text Box 96"/>
              <p:cNvSpPr txBox="1">
                <a:spLocks noChangeArrowheads="1"/>
              </p:cNvSpPr>
              <p:nvPr/>
            </p:nvSpPr>
            <p:spPr bwMode="auto">
              <a:xfrm>
                <a:off x="2928" y="1056"/>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6</a:t>
                </a:r>
              </a:p>
            </p:txBody>
          </p:sp>
          <p:sp>
            <p:nvSpPr>
              <p:cNvPr id="75845" name="Text Box 97"/>
              <p:cNvSpPr txBox="1">
                <a:spLocks noChangeArrowheads="1"/>
              </p:cNvSpPr>
              <p:nvPr/>
            </p:nvSpPr>
            <p:spPr bwMode="auto">
              <a:xfrm>
                <a:off x="3264" y="1008"/>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3</a:t>
                </a:r>
              </a:p>
            </p:txBody>
          </p:sp>
          <p:sp>
            <p:nvSpPr>
              <p:cNvPr id="75846" name="Text Box 98"/>
              <p:cNvSpPr txBox="1">
                <a:spLocks noChangeArrowheads="1"/>
              </p:cNvSpPr>
              <p:nvPr/>
            </p:nvSpPr>
            <p:spPr bwMode="auto">
              <a:xfrm>
                <a:off x="3744" y="1056"/>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7</a:t>
                </a:r>
              </a:p>
            </p:txBody>
          </p:sp>
          <p:sp>
            <p:nvSpPr>
              <p:cNvPr id="75847" name="Text Box 99"/>
              <p:cNvSpPr txBox="1">
                <a:spLocks noChangeArrowheads="1"/>
              </p:cNvSpPr>
              <p:nvPr/>
            </p:nvSpPr>
            <p:spPr bwMode="auto">
              <a:xfrm>
                <a:off x="1536" y="1680"/>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8</a:t>
                </a:r>
              </a:p>
            </p:txBody>
          </p:sp>
          <p:sp>
            <p:nvSpPr>
              <p:cNvPr id="75848" name="Text Box 100"/>
              <p:cNvSpPr txBox="1">
                <a:spLocks noChangeArrowheads="1"/>
              </p:cNvSpPr>
              <p:nvPr/>
            </p:nvSpPr>
            <p:spPr bwMode="auto">
              <a:xfrm>
                <a:off x="1920" y="1776"/>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4</a:t>
                </a:r>
              </a:p>
            </p:txBody>
          </p:sp>
          <p:sp>
            <p:nvSpPr>
              <p:cNvPr id="75849" name="Text Box 101"/>
              <p:cNvSpPr txBox="1">
                <a:spLocks noChangeArrowheads="1"/>
              </p:cNvSpPr>
              <p:nvPr/>
            </p:nvSpPr>
            <p:spPr bwMode="auto">
              <a:xfrm>
                <a:off x="2256" y="1680"/>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7</a:t>
                </a:r>
              </a:p>
            </p:txBody>
          </p:sp>
          <p:sp>
            <p:nvSpPr>
              <p:cNvPr id="75850" name="Text Box 102"/>
              <p:cNvSpPr txBox="1">
                <a:spLocks noChangeArrowheads="1"/>
              </p:cNvSpPr>
              <p:nvPr/>
            </p:nvSpPr>
            <p:spPr bwMode="auto">
              <a:xfrm>
                <a:off x="2592" y="1776"/>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5</a:t>
                </a:r>
              </a:p>
            </p:txBody>
          </p:sp>
          <p:sp>
            <p:nvSpPr>
              <p:cNvPr id="75851" name="Text Box 103"/>
              <p:cNvSpPr txBox="1">
                <a:spLocks noChangeArrowheads="1"/>
              </p:cNvSpPr>
              <p:nvPr/>
            </p:nvSpPr>
            <p:spPr bwMode="auto">
              <a:xfrm>
                <a:off x="2928" y="1680"/>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3</a:t>
                </a:r>
              </a:p>
            </p:txBody>
          </p:sp>
          <p:sp>
            <p:nvSpPr>
              <p:cNvPr id="75852" name="Text Box 104"/>
              <p:cNvSpPr txBox="1">
                <a:spLocks noChangeArrowheads="1"/>
              </p:cNvSpPr>
              <p:nvPr/>
            </p:nvSpPr>
            <p:spPr bwMode="auto">
              <a:xfrm>
                <a:off x="3264" y="1776"/>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5</a:t>
                </a:r>
              </a:p>
            </p:txBody>
          </p:sp>
          <p:sp>
            <p:nvSpPr>
              <p:cNvPr id="75853" name="Text Box 105"/>
              <p:cNvSpPr txBox="1">
                <a:spLocks noChangeArrowheads="1"/>
              </p:cNvSpPr>
              <p:nvPr/>
            </p:nvSpPr>
            <p:spPr bwMode="auto">
              <a:xfrm>
                <a:off x="3744" y="1680"/>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9</a:t>
                </a:r>
              </a:p>
            </p:txBody>
          </p:sp>
          <p:sp>
            <p:nvSpPr>
              <p:cNvPr id="75854" name="Text Box 106"/>
              <p:cNvSpPr txBox="1">
                <a:spLocks noChangeArrowheads="1"/>
              </p:cNvSpPr>
              <p:nvPr/>
            </p:nvSpPr>
            <p:spPr bwMode="auto">
              <a:xfrm>
                <a:off x="1917" y="2112"/>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9</a:t>
                </a:r>
              </a:p>
            </p:txBody>
          </p:sp>
          <p:sp>
            <p:nvSpPr>
              <p:cNvPr id="75855" name="Text Box 107"/>
              <p:cNvSpPr txBox="1">
                <a:spLocks noChangeArrowheads="1"/>
              </p:cNvSpPr>
              <p:nvPr/>
            </p:nvSpPr>
            <p:spPr bwMode="auto">
              <a:xfrm>
                <a:off x="2592" y="2112"/>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8</a:t>
                </a:r>
              </a:p>
            </p:txBody>
          </p:sp>
          <p:sp>
            <p:nvSpPr>
              <p:cNvPr id="75856" name="Text Box 108"/>
              <p:cNvSpPr txBox="1">
                <a:spLocks noChangeArrowheads="1"/>
              </p:cNvSpPr>
              <p:nvPr/>
            </p:nvSpPr>
            <p:spPr bwMode="auto">
              <a:xfrm>
                <a:off x="3264" y="2112"/>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6</a:t>
                </a:r>
              </a:p>
            </p:txBody>
          </p:sp>
          <p:sp>
            <p:nvSpPr>
              <p:cNvPr id="75857" name="Text Box 109"/>
              <p:cNvSpPr txBox="1">
                <a:spLocks noChangeArrowheads="1"/>
              </p:cNvSpPr>
              <p:nvPr/>
            </p:nvSpPr>
            <p:spPr bwMode="auto">
              <a:xfrm>
                <a:off x="2016" y="1488"/>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6</a:t>
                </a:r>
              </a:p>
            </p:txBody>
          </p:sp>
          <p:sp>
            <p:nvSpPr>
              <p:cNvPr id="75858" name="Text Box 110"/>
              <p:cNvSpPr txBox="1">
                <a:spLocks noChangeArrowheads="1"/>
              </p:cNvSpPr>
              <p:nvPr/>
            </p:nvSpPr>
            <p:spPr bwMode="auto">
              <a:xfrm>
                <a:off x="2691" y="1488"/>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2</a:t>
                </a:r>
              </a:p>
            </p:txBody>
          </p:sp>
          <p:sp>
            <p:nvSpPr>
              <p:cNvPr id="75859" name="Text Box 111"/>
              <p:cNvSpPr txBox="1">
                <a:spLocks noChangeArrowheads="1"/>
              </p:cNvSpPr>
              <p:nvPr/>
            </p:nvSpPr>
            <p:spPr bwMode="auto">
              <a:xfrm>
                <a:off x="3363" y="1488"/>
                <a:ext cx="1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a:solidFill>
                      <a:schemeClr val="tx2"/>
                    </a:solidFill>
                  </a:rPr>
                  <a:t>6</a:t>
                </a:r>
              </a:p>
            </p:txBody>
          </p:sp>
          <p:sp>
            <p:nvSpPr>
              <p:cNvPr id="75860" name="Oval 137"/>
              <p:cNvSpPr>
                <a:spLocks noChangeArrowheads="1"/>
              </p:cNvSpPr>
              <p:nvPr/>
            </p:nvSpPr>
            <p:spPr bwMode="auto">
              <a:xfrm>
                <a:off x="2256" y="720"/>
                <a:ext cx="288"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b</a:t>
                </a:r>
              </a:p>
            </p:txBody>
          </p:sp>
          <p:sp>
            <p:nvSpPr>
              <p:cNvPr id="75861" name="Oval 138"/>
              <p:cNvSpPr>
                <a:spLocks noChangeArrowheads="1"/>
              </p:cNvSpPr>
              <p:nvPr/>
            </p:nvSpPr>
            <p:spPr bwMode="auto">
              <a:xfrm>
                <a:off x="2928" y="720"/>
                <a:ext cx="288"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c</a:t>
                </a:r>
              </a:p>
            </p:txBody>
          </p:sp>
          <p:sp>
            <p:nvSpPr>
              <p:cNvPr id="75862" name="Oval 139"/>
              <p:cNvSpPr>
                <a:spLocks noChangeArrowheads="1"/>
              </p:cNvSpPr>
              <p:nvPr/>
            </p:nvSpPr>
            <p:spPr bwMode="auto">
              <a:xfrm>
                <a:off x="3600" y="720"/>
                <a:ext cx="288"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d</a:t>
                </a:r>
              </a:p>
            </p:txBody>
          </p:sp>
          <p:sp>
            <p:nvSpPr>
              <p:cNvPr id="75863" name="Oval 140"/>
              <p:cNvSpPr>
                <a:spLocks noChangeArrowheads="1"/>
              </p:cNvSpPr>
              <p:nvPr/>
            </p:nvSpPr>
            <p:spPr bwMode="auto">
              <a:xfrm>
                <a:off x="1584" y="1344"/>
                <a:ext cx="288"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e</a:t>
                </a:r>
              </a:p>
            </p:txBody>
          </p:sp>
          <p:sp>
            <p:nvSpPr>
              <p:cNvPr id="75864" name="Oval 141"/>
              <p:cNvSpPr>
                <a:spLocks noChangeArrowheads="1"/>
              </p:cNvSpPr>
              <p:nvPr/>
            </p:nvSpPr>
            <p:spPr bwMode="auto">
              <a:xfrm>
                <a:off x="2256" y="1344"/>
                <a:ext cx="288"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f</a:t>
                </a:r>
              </a:p>
            </p:txBody>
          </p:sp>
          <p:sp>
            <p:nvSpPr>
              <p:cNvPr id="75865" name="Oval 142"/>
              <p:cNvSpPr>
                <a:spLocks noChangeArrowheads="1"/>
              </p:cNvSpPr>
              <p:nvPr/>
            </p:nvSpPr>
            <p:spPr bwMode="auto">
              <a:xfrm>
                <a:off x="2928" y="1344"/>
                <a:ext cx="288"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g</a:t>
                </a:r>
              </a:p>
            </p:txBody>
          </p:sp>
          <p:sp>
            <p:nvSpPr>
              <p:cNvPr id="75866" name="Oval 143"/>
              <p:cNvSpPr>
                <a:spLocks noChangeArrowheads="1"/>
              </p:cNvSpPr>
              <p:nvPr/>
            </p:nvSpPr>
            <p:spPr bwMode="auto">
              <a:xfrm>
                <a:off x="3600" y="1344"/>
                <a:ext cx="288"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h</a:t>
                </a:r>
              </a:p>
            </p:txBody>
          </p:sp>
          <p:sp>
            <p:nvSpPr>
              <p:cNvPr id="75867" name="Oval 144"/>
              <p:cNvSpPr>
                <a:spLocks noChangeArrowheads="1"/>
              </p:cNvSpPr>
              <p:nvPr/>
            </p:nvSpPr>
            <p:spPr bwMode="auto">
              <a:xfrm>
                <a:off x="1584" y="1968"/>
                <a:ext cx="288"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i</a:t>
                </a:r>
              </a:p>
            </p:txBody>
          </p:sp>
          <p:sp>
            <p:nvSpPr>
              <p:cNvPr id="75868" name="Oval 145"/>
              <p:cNvSpPr>
                <a:spLocks noChangeArrowheads="1"/>
              </p:cNvSpPr>
              <p:nvPr/>
            </p:nvSpPr>
            <p:spPr bwMode="auto">
              <a:xfrm>
                <a:off x="2256" y="1968"/>
                <a:ext cx="288"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j</a:t>
                </a:r>
              </a:p>
            </p:txBody>
          </p:sp>
          <p:sp>
            <p:nvSpPr>
              <p:cNvPr id="75869" name="Oval 146"/>
              <p:cNvSpPr>
                <a:spLocks noChangeArrowheads="1"/>
              </p:cNvSpPr>
              <p:nvPr/>
            </p:nvSpPr>
            <p:spPr bwMode="auto">
              <a:xfrm>
                <a:off x="2928" y="1968"/>
                <a:ext cx="288"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k</a:t>
                </a:r>
              </a:p>
            </p:txBody>
          </p:sp>
          <p:sp>
            <p:nvSpPr>
              <p:cNvPr id="75870" name="Oval 147"/>
              <p:cNvSpPr>
                <a:spLocks noChangeArrowheads="1"/>
              </p:cNvSpPr>
              <p:nvPr/>
            </p:nvSpPr>
            <p:spPr bwMode="auto">
              <a:xfrm>
                <a:off x="3600" y="1968"/>
                <a:ext cx="288"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l</a:t>
                </a:r>
              </a:p>
            </p:txBody>
          </p:sp>
        </p:grpSp>
        <p:sp>
          <p:nvSpPr>
            <p:cNvPr id="75812" name="Rectangle 310"/>
            <p:cNvSpPr>
              <a:spLocks noChangeArrowheads="1"/>
            </p:cNvSpPr>
            <p:nvPr/>
          </p:nvSpPr>
          <p:spPr bwMode="auto">
            <a:xfrm>
              <a:off x="1392" y="2400"/>
              <a:ext cx="220" cy="231"/>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G</a:t>
              </a:r>
            </a:p>
          </p:txBody>
        </p:sp>
      </p:grpSp>
      <p:grpSp>
        <p:nvGrpSpPr>
          <p:cNvPr id="152891" name="Group 315"/>
          <p:cNvGrpSpPr>
            <a:grpSpLocks/>
          </p:cNvGrpSpPr>
          <p:nvPr/>
        </p:nvGrpSpPr>
        <p:grpSpPr bwMode="auto">
          <a:xfrm>
            <a:off x="5029200" y="1143000"/>
            <a:ext cx="3654425" cy="3033713"/>
            <a:chOff x="3168" y="720"/>
            <a:chExt cx="2302" cy="1911"/>
          </a:xfrm>
        </p:grpSpPr>
        <p:grpSp>
          <p:nvGrpSpPr>
            <p:cNvPr id="75786" name="Group 242"/>
            <p:cNvGrpSpPr>
              <a:grpSpLocks/>
            </p:cNvGrpSpPr>
            <p:nvPr/>
          </p:nvGrpSpPr>
          <p:grpSpPr bwMode="auto">
            <a:xfrm>
              <a:off x="3168" y="720"/>
              <a:ext cx="2302" cy="1532"/>
              <a:chOff x="481" y="2640"/>
              <a:chExt cx="2302" cy="1532"/>
            </a:xfrm>
          </p:grpSpPr>
          <p:sp>
            <p:nvSpPr>
              <p:cNvPr id="75788" name="Line 148"/>
              <p:cNvSpPr>
                <a:spLocks noChangeShapeType="1"/>
              </p:cNvSpPr>
              <p:nvPr/>
            </p:nvSpPr>
            <p:spPr bwMode="auto">
              <a:xfrm flipH="1">
                <a:off x="624" y="2784"/>
                <a:ext cx="672" cy="624"/>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789" name="Line 150"/>
              <p:cNvSpPr>
                <a:spLocks noChangeShapeType="1"/>
              </p:cNvSpPr>
              <p:nvPr/>
            </p:nvSpPr>
            <p:spPr bwMode="auto">
              <a:xfrm flipH="1">
                <a:off x="1968" y="2784"/>
                <a:ext cx="672" cy="624"/>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790" name="Line 151"/>
              <p:cNvSpPr>
                <a:spLocks noChangeShapeType="1"/>
              </p:cNvSpPr>
              <p:nvPr/>
            </p:nvSpPr>
            <p:spPr bwMode="auto">
              <a:xfrm>
                <a:off x="624" y="3408"/>
                <a:ext cx="672" cy="624"/>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791" name="Line 153"/>
              <p:cNvSpPr>
                <a:spLocks noChangeShapeType="1"/>
              </p:cNvSpPr>
              <p:nvPr/>
            </p:nvSpPr>
            <p:spPr bwMode="auto">
              <a:xfrm>
                <a:off x="1968" y="3408"/>
                <a:ext cx="672" cy="624"/>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792" name="Line 155"/>
              <p:cNvSpPr>
                <a:spLocks noChangeShapeType="1"/>
              </p:cNvSpPr>
              <p:nvPr/>
            </p:nvSpPr>
            <p:spPr bwMode="auto">
              <a:xfrm>
                <a:off x="624" y="3408"/>
                <a:ext cx="0" cy="624"/>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793" name="Line 156"/>
              <p:cNvSpPr>
                <a:spLocks noChangeShapeType="1"/>
              </p:cNvSpPr>
              <p:nvPr/>
            </p:nvSpPr>
            <p:spPr bwMode="auto">
              <a:xfrm>
                <a:off x="1296" y="2784"/>
                <a:ext cx="0" cy="624"/>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794" name="Line 159"/>
              <p:cNvSpPr>
                <a:spLocks noChangeShapeType="1"/>
              </p:cNvSpPr>
              <p:nvPr/>
            </p:nvSpPr>
            <p:spPr bwMode="auto">
              <a:xfrm>
                <a:off x="1968" y="3408"/>
                <a:ext cx="0" cy="624"/>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795" name="Line 163"/>
              <p:cNvSpPr>
                <a:spLocks noChangeShapeType="1"/>
              </p:cNvSpPr>
              <p:nvPr/>
            </p:nvSpPr>
            <p:spPr bwMode="auto">
              <a:xfrm>
                <a:off x="1296" y="2784"/>
                <a:ext cx="672"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796" name="Line 164"/>
              <p:cNvSpPr>
                <a:spLocks noChangeShapeType="1"/>
              </p:cNvSpPr>
              <p:nvPr/>
            </p:nvSpPr>
            <p:spPr bwMode="auto">
              <a:xfrm>
                <a:off x="624" y="2784"/>
                <a:ext cx="672"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797" name="Oval 165"/>
              <p:cNvSpPr>
                <a:spLocks noChangeArrowheads="1"/>
              </p:cNvSpPr>
              <p:nvPr/>
            </p:nvSpPr>
            <p:spPr bwMode="auto">
              <a:xfrm>
                <a:off x="481" y="2642"/>
                <a:ext cx="286"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a</a:t>
                </a:r>
              </a:p>
            </p:txBody>
          </p:sp>
          <p:sp>
            <p:nvSpPr>
              <p:cNvPr id="75798" name="Line 166"/>
              <p:cNvSpPr>
                <a:spLocks noChangeShapeType="1"/>
              </p:cNvSpPr>
              <p:nvPr/>
            </p:nvSpPr>
            <p:spPr bwMode="auto">
              <a:xfrm>
                <a:off x="1968" y="3408"/>
                <a:ext cx="672"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799" name="Line 167"/>
              <p:cNvSpPr>
                <a:spLocks noChangeShapeType="1"/>
              </p:cNvSpPr>
              <p:nvPr/>
            </p:nvSpPr>
            <p:spPr bwMode="auto">
              <a:xfrm>
                <a:off x="1296" y="3408"/>
                <a:ext cx="672"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5800" name="Oval 195"/>
              <p:cNvSpPr>
                <a:spLocks noChangeArrowheads="1"/>
              </p:cNvSpPr>
              <p:nvPr/>
            </p:nvSpPr>
            <p:spPr bwMode="auto">
              <a:xfrm>
                <a:off x="1153" y="2640"/>
                <a:ext cx="286"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b</a:t>
                </a:r>
              </a:p>
            </p:txBody>
          </p:sp>
          <p:sp>
            <p:nvSpPr>
              <p:cNvPr id="75801" name="Oval 196"/>
              <p:cNvSpPr>
                <a:spLocks noChangeArrowheads="1"/>
              </p:cNvSpPr>
              <p:nvPr/>
            </p:nvSpPr>
            <p:spPr bwMode="auto">
              <a:xfrm>
                <a:off x="1825" y="2640"/>
                <a:ext cx="286"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c</a:t>
                </a:r>
              </a:p>
            </p:txBody>
          </p:sp>
          <p:sp>
            <p:nvSpPr>
              <p:cNvPr id="75802" name="Oval 197"/>
              <p:cNvSpPr>
                <a:spLocks noChangeArrowheads="1"/>
              </p:cNvSpPr>
              <p:nvPr/>
            </p:nvSpPr>
            <p:spPr bwMode="auto">
              <a:xfrm>
                <a:off x="2497" y="2640"/>
                <a:ext cx="286"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d</a:t>
                </a:r>
              </a:p>
            </p:txBody>
          </p:sp>
          <p:sp>
            <p:nvSpPr>
              <p:cNvPr id="75803" name="Oval 198"/>
              <p:cNvSpPr>
                <a:spLocks noChangeArrowheads="1"/>
              </p:cNvSpPr>
              <p:nvPr/>
            </p:nvSpPr>
            <p:spPr bwMode="auto">
              <a:xfrm>
                <a:off x="481" y="3264"/>
                <a:ext cx="286"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e</a:t>
                </a:r>
              </a:p>
            </p:txBody>
          </p:sp>
          <p:sp>
            <p:nvSpPr>
              <p:cNvPr id="75805" name="Oval 200"/>
              <p:cNvSpPr>
                <a:spLocks noChangeArrowheads="1"/>
              </p:cNvSpPr>
              <p:nvPr/>
            </p:nvSpPr>
            <p:spPr bwMode="auto">
              <a:xfrm>
                <a:off x="1825" y="3264"/>
                <a:ext cx="286"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g</a:t>
                </a:r>
              </a:p>
            </p:txBody>
          </p:sp>
          <p:sp>
            <p:nvSpPr>
              <p:cNvPr id="75806" name="Oval 201"/>
              <p:cNvSpPr>
                <a:spLocks noChangeArrowheads="1"/>
              </p:cNvSpPr>
              <p:nvPr/>
            </p:nvSpPr>
            <p:spPr bwMode="auto">
              <a:xfrm>
                <a:off x="2497" y="3264"/>
                <a:ext cx="286"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h</a:t>
                </a:r>
              </a:p>
            </p:txBody>
          </p:sp>
          <p:sp>
            <p:nvSpPr>
              <p:cNvPr id="75807" name="Oval 202"/>
              <p:cNvSpPr>
                <a:spLocks noChangeArrowheads="1"/>
              </p:cNvSpPr>
              <p:nvPr/>
            </p:nvSpPr>
            <p:spPr bwMode="auto">
              <a:xfrm>
                <a:off x="481" y="3888"/>
                <a:ext cx="286"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i</a:t>
                </a:r>
              </a:p>
            </p:txBody>
          </p:sp>
          <p:sp>
            <p:nvSpPr>
              <p:cNvPr id="75808" name="Oval 203"/>
              <p:cNvSpPr>
                <a:spLocks noChangeArrowheads="1"/>
              </p:cNvSpPr>
              <p:nvPr/>
            </p:nvSpPr>
            <p:spPr bwMode="auto">
              <a:xfrm>
                <a:off x="1153" y="3888"/>
                <a:ext cx="286"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j</a:t>
                </a:r>
              </a:p>
            </p:txBody>
          </p:sp>
          <p:sp>
            <p:nvSpPr>
              <p:cNvPr id="75809" name="Oval 204"/>
              <p:cNvSpPr>
                <a:spLocks noChangeArrowheads="1"/>
              </p:cNvSpPr>
              <p:nvPr/>
            </p:nvSpPr>
            <p:spPr bwMode="auto">
              <a:xfrm>
                <a:off x="1825" y="3888"/>
                <a:ext cx="286"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k</a:t>
                </a:r>
              </a:p>
            </p:txBody>
          </p:sp>
          <p:sp>
            <p:nvSpPr>
              <p:cNvPr id="75810" name="Oval 205"/>
              <p:cNvSpPr>
                <a:spLocks noChangeArrowheads="1"/>
              </p:cNvSpPr>
              <p:nvPr/>
            </p:nvSpPr>
            <p:spPr bwMode="auto">
              <a:xfrm>
                <a:off x="2497" y="3888"/>
                <a:ext cx="286"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l</a:t>
                </a:r>
              </a:p>
            </p:txBody>
          </p:sp>
          <p:sp>
            <p:nvSpPr>
              <p:cNvPr id="75804" name="Oval 199"/>
              <p:cNvSpPr>
                <a:spLocks noChangeArrowheads="1"/>
              </p:cNvSpPr>
              <p:nvPr/>
            </p:nvSpPr>
            <p:spPr bwMode="auto">
              <a:xfrm>
                <a:off x="1153" y="3264"/>
                <a:ext cx="286" cy="284"/>
              </a:xfrm>
              <a:prstGeom prst="ellipse">
                <a:avLst/>
              </a:prstGeom>
              <a:solidFill>
                <a:schemeClr val="accent3">
                  <a:lumMod val="75000"/>
                </a:schemeClr>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f</a:t>
                </a:r>
              </a:p>
            </p:txBody>
          </p:sp>
        </p:grpSp>
        <p:sp>
          <p:nvSpPr>
            <p:cNvPr id="75787" name="Rectangle 311"/>
            <p:cNvSpPr>
              <a:spLocks noChangeArrowheads="1"/>
            </p:cNvSpPr>
            <p:nvPr/>
          </p:nvSpPr>
          <p:spPr bwMode="auto">
            <a:xfrm>
              <a:off x="3956" y="2400"/>
              <a:ext cx="949" cy="231"/>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T = MST of G</a:t>
              </a:r>
            </a:p>
          </p:txBody>
        </p:sp>
      </p:grpSp>
      <p:sp>
        <p:nvSpPr>
          <p:cNvPr id="152888" name="Rectangle 312"/>
          <p:cNvSpPr>
            <a:spLocks noChangeArrowheads="1"/>
          </p:cNvSpPr>
          <p:nvPr/>
        </p:nvSpPr>
        <p:spPr bwMode="auto">
          <a:xfrm>
            <a:off x="1600200" y="4343400"/>
            <a:ext cx="6246813" cy="91598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188913" indent="-188913" eaLnBrk="1" hangingPunct="1">
              <a:spcBef>
                <a:spcPct val="50000"/>
              </a:spcBef>
            </a:pPr>
            <a:r>
              <a:rPr lang="en-US" sz="1800" b="1">
                <a:solidFill>
                  <a:srgbClr val="CC0000"/>
                </a:solidFill>
              </a:rPr>
              <a:t>T + (j,k)</a:t>
            </a:r>
            <a:r>
              <a:rPr lang="en-US" sz="1800">
                <a:solidFill>
                  <a:schemeClr val="tx2"/>
                </a:solidFill>
              </a:rPr>
              <a:t>  has a unique simple cycle.   </a:t>
            </a:r>
            <a:br>
              <a:rPr lang="en-US" sz="1800">
                <a:solidFill>
                  <a:schemeClr val="tx2"/>
                </a:solidFill>
              </a:rPr>
            </a:br>
            <a:r>
              <a:rPr lang="en-US" sz="1800">
                <a:solidFill>
                  <a:schemeClr val="tx2"/>
                </a:solidFill>
              </a:rPr>
              <a:t>What is the maximum edge weight on that cycle?</a:t>
            </a:r>
            <a:br>
              <a:rPr lang="en-US" sz="1800">
                <a:solidFill>
                  <a:schemeClr val="tx2"/>
                </a:solidFill>
              </a:rPr>
            </a:br>
            <a:r>
              <a:rPr lang="en-US" sz="1800">
                <a:solidFill>
                  <a:schemeClr val="tx2"/>
                </a:solidFill>
              </a:rPr>
              <a:t>What is the range of values for w(j,k) while T remains an MST?</a:t>
            </a:r>
          </a:p>
        </p:txBody>
      </p:sp>
      <p:sp>
        <p:nvSpPr>
          <p:cNvPr id="152889" name="Freeform 313"/>
          <p:cNvSpPr>
            <a:spLocks/>
          </p:cNvSpPr>
          <p:nvPr/>
        </p:nvSpPr>
        <p:spPr bwMode="auto">
          <a:xfrm>
            <a:off x="6579533" y="2361179"/>
            <a:ext cx="559456" cy="10955"/>
          </a:xfrm>
          <a:custGeom>
            <a:avLst/>
            <a:gdLst>
              <a:gd name="T0" fmla="*/ 0 w 371"/>
              <a:gd name="T1" fmla="*/ 9525 h 6"/>
              <a:gd name="T2" fmla="*/ 588963 w 371"/>
              <a:gd name="T3" fmla="*/ 0 h 6"/>
              <a:gd name="T4" fmla="*/ 0 60000 65536"/>
              <a:gd name="T5" fmla="*/ 0 60000 65536"/>
              <a:gd name="connsiteX0" fmla="*/ 0 w 9499"/>
              <a:gd name="connsiteY0" fmla="*/ 428 h 11501"/>
              <a:gd name="connsiteX1" fmla="*/ 9499 w 9499"/>
              <a:gd name="connsiteY1" fmla="*/ 11073 h 11501"/>
            </a:gdLst>
            <a:ahLst/>
            <a:cxnLst>
              <a:cxn ang="0">
                <a:pos x="connsiteX0" y="connsiteY0"/>
              </a:cxn>
              <a:cxn ang="0">
                <a:pos x="connsiteX1" y="connsiteY1"/>
              </a:cxn>
            </a:cxnLst>
            <a:rect l="l" t="t" r="r" b="b"/>
            <a:pathLst>
              <a:path w="9499" h="11501">
                <a:moveTo>
                  <a:pt x="0" y="428"/>
                </a:moveTo>
                <a:cubicBezTo>
                  <a:pt x="3333" y="-2905"/>
                  <a:pt x="6166" y="14406"/>
                  <a:pt x="9499" y="11073"/>
                </a:cubicBezTo>
              </a:path>
            </a:pathLst>
          </a:custGeom>
          <a:noFill/>
          <a:ln w="76200" cap="flat" cmpd="sng">
            <a:solidFill>
              <a:srgbClr val="FFCCFF"/>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73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52578"/>
                                        </p:tgtEl>
                                        <p:attrNameLst>
                                          <p:attrName>style.visibility</p:attrName>
                                        </p:attrNameLst>
                                      </p:cBhvr>
                                      <p:to>
                                        <p:strVal val="visible"/>
                                      </p:to>
                                    </p:set>
                                    <p:anim calcmode="lin" valueType="num">
                                      <p:cBhvr>
                                        <p:cTn id="7" dur="500" fill="hold"/>
                                        <p:tgtEl>
                                          <p:spTgt spid="152578"/>
                                        </p:tgtEl>
                                        <p:attrNameLst>
                                          <p:attrName>ppt_w</p:attrName>
                                        </p:attrNameLst>
                                      </p:cBhvr>
                                      <p:tavLst>
                                        <p:tav tm="0">
                                          <p:val>
                                            <p:fltVal val="0"/>
                                          </p:val>
                                        </p:tav>
                                        <p:tav tm="100000">
                                          <p:val>
                                            <p:strVal val="#ppt_w"/>
                                          </p:val>
                                        </p:tav>
                                      </p:tavLst>
                                    </p:anim>
                                    <p:anim calcmode="lin" valueType="num">
                                      <p:cBhvr>
                                        <p:cTn id="8" dur="500" fill="hold"/>
                                        <p:tgtEl>
                                          <p:spTgt spid="152578"/>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152890"/>
                                        </p:tgtEl>
                                        <p:attrNameLst>
                                          <p:attrName>style.visibility</p:attrName>
                                        </p:attrNameLst>
                                      </p:cBhvr>
                                      <p:to>
                                        <p:strVal val="visible"/>
                                      </p:to>
                                    </p:set>
                                    <p:animEffect transition="in" filter="wipe(up)">
                                      <p:cBhvr>
                                        <p:cTn id="12" dur="500"/>
                                        <p:tgtEl>
                                          <p:spTgt spid="152890"/>
                                        </p:tgtEl>
                                      </p:cBhvr>
                                    </p:animEffect>
                                  </p:childTnLst>
                                </p:cTn>
                              </p:par>
                            </p:childTnLst>
                          </p:cTn>
                        </p:par>
                        <p:par>
                          <p:cTn id="13" fill="hold" nodeType="afterGroup">
                            <p:stCondLst>
                              <p:cond delay="1000"/>
                            </p:stCondLst>
                            <p:childTnLst>
                              <p:par>
                                <p:cTn id="14" presetID="22" presetClass="entr" presetSubtype="1" fill="hold" nodeType="afterEffect">
                                  <p:stCondLst>
                                    <p:cond delay="1000"/>
                                  </p:stCondLst>
                                  <p:childTnLst>
                                    <p:set>
                                      <p:cBhvr>
                                        <p:cTn id="15" dur="1" fill="hold">
                                          <p:stCondLst>
                                            <p:cond delay="0"/>
                                          </p:stCondLst>
                                        </p:cTn>
                                        <p:tgtEl>
                                          <p:spTgt spid="152891"/>
                                        </p:tgtEl>
                                        <p:attrNameLst>
                                          <p:attrName>style.visibility</p:attrName>
                                        </p:attrNameLst>
                                      </p:cBhvr>
                                      <p:to>
                                        <p:strVal val="visible"/>
                                      </p:to>
                                    </p:set>
                                    <p:animEffect transition="in" filter="wipe(up)">
                                      <p:cBhvr>
                                        <p:cTn id="16" dur="500"/>
                                        <p:tgtEl>
                                          <p:spTgt spid="15289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52888"/>
                                        </p:tgtEl>
                                        <p:attrNameLst>
                                          <p:attrName>style.visibility</p:attrName>
                                        </p:attrNameLst>
                                      </p:cBhvr>
                                      <p:to>
                                        <p:strVal val="visible"/>
                                      </p:to>
                                    </p:set>
                                    <p:animEffect transition="in" filter="wipe(up)">
                                      <p:cBhvr>
                                        <p:cTn id="21" dur="500"/>
                                        <p:tgtEl>
                                          <p:spTgt spid="152888"/>
                                        </p:tgtEl>
                                      </p:cBhvr>
                                    </p:animEffect>
                                  </p:childTnLst>
                                </p:cTn>
                              </p:par>
                            </p:childTnLst>
                          </p:cTn>
                        </p:par>
                        <p:par>
                          <p:cTn id="22" fill="hold" nodeType="afterGroup">
                            <p:stCondLst>
                              <p:cond delay="500"/>
                            </p:stCondLst>
                            <p:childTnLst>
                              <p:par>
                                <p:cTn id="23" presetID="17" presetClass="entr" presetSubtype="10" fill="hold" grpId="0" nodeType="afterEffect">
                                  <p:stCondLst>
                                    <p:cond delay="1000"/>
                                  </p:stCondLst>
                                  <p:childTnLst>
                                    <p:set>
                                      <p:cBhvr>
                                        <p:cTn id="24" dur="1" fill="hold">
                                          <p:stCondLst>
                                            <p:cond delay="0"/>
                                          </p:stCondLst>
                                        </p:cTn>
                                        <p:tgtEl>
                                          <p:spTgt spid="152820"/>
                                        </p:tgtEl>
                                        <p:attrNameLst>
                                          <p:attrName>style.visibility</p:attrName>
                                        </p:attrNameLst>
                                      </p:cBhvr>
                                      <p:to>
                                        <p:strVal val="visible"/>
                                      </p:to>
                                    </p:set>
                                    <p:anim calcmode="lin" valueType="num">
                                      <p:cBhvr>
                                        <p:cTn id="25" dur="500" fill="hold"/>
                                        <p:tgtEl>
                                          <p:spTgt spid="152820"/>
                                        </p:tgtEl>
                                        <p:attrNameLst>
                                          <p:attrName>ppt_w</p:attrName>
                                        </p:attrNameLst>
                                      </p:cBhvr>
                                      <p:tavLst>
                                        <p:tav tm="0">
                                          <p:val>
                                            <p:fltVal val="0"/>
                                          </p:val>
                                        </p:tav>
                                        <p:tav tm="100000">
                                          <p:val>
                                            <p:strVal val="#ppt_w"/>
                                          </p:val>
                                        </p:tav>
                                      </p:tavLst>
                                    </p:anim>
                                    <p:anim calcmode="lin" valueType="num">
                                      <p:cBhvr>
                                        <p:cTn id="26" dur="500" fill="hold"/>
                                        <p:tgtEl>
                                          <p:spTgt spid="152820"/>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52820"/>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52885"/>
                                        </p:tgtEl>
                                        <p:attrNameLst>
                                          <p:attrName>style.visibility</p:attrName>
                                        </p:attrNameLst>
                                      </p:cBhvr>
                                      <p:to>
                                        <p:strVal val="visible"/>
                                      </p:to>
                                    </p:set>
                                    <p:animEffect transition="in" filter="wipe(up)">
                                      <p:cBhvr>
                                        <p:cTn id="31" dur="500"/>
                                        <p:tgtEl>
                                          <p:spTgt spid="152885"/>
                                        </p:tgtEl>
                                      </p:cBhvr>
                                    </p:animEffect>
                                  </p:childTnLst>
                                </p:cTn>
                              </p:par>
                            </p:childTnLst>
                          </p:cTn>
                        </p:par>
                        <p:par>
                          <p:cTn id="32" fill="hold" nodeType="afterGroup">
                            <p:stCondLst>
                              <p:cond delay="500"/>
                            </p:stCondLst>
                            <p:childTnLst>
                              <p:par>
                                <p:cTn id="33" presetID="17" presetClass="entr" presetSubtype="10" fill="hold" grpId="0" nodeType="afterEffect">
                                  <p:stCondLst>
                                    <p:cond delay="1000"/>
                                  </p:stCondLst>
                                  <p:childTnLst>
                                    <p:set>
                                      <p:cBhvr>
                                        <p:cTn id="34" dur="1" fill="hold">
                                          <p:stCondLst>
                                            <p:cond delay="0"/>
                                          </p:stCondLst>
                                        </p:cTn>
                                        <p:tgtEl>
                                          <p:spTgt spid="152889"/>
                                        </p:tgtEl>
                                        <p:attrNameLst>
                                          <p:attrName>style.visibility</p:attrName>
                                        </p:attrNameLst>
                                      </p:cBhvr>
                                      <p:to>
                                        <p:strVal val="visible"/>
                                      </p:to>
                                    </p:set>
                                    <p:anim calcmode="lin" valueType="num">
                                      <p:cBhvr>
                                        <p:cTn id="35" dur="500" fill="hold"/>
                                        <p:tgtEl>
                                          <p:spTgt spid="152889"/>
                                        </p:tgtEl>
                                        <p:attrNameLst>
                                          <p:attrName>ppt_w</p:attrName>
                                        </p:attrNameLst>
                                      </p:cBhvr>
                                      <p:tavLst>
                                        <p:tav tm="0">
                                          <p:val>
                                            <p:fltVal val="0"/>
                                          </p:val>
                                        </p:tav>
                                        <p:tav tm="100000">
                                          <p:val>
                                            <p:strVal val="#ppt_w"/>
                                          </p:val>
                                        </p:tav>
                                      </p:tavLst>
                                    </p:anim>
                                    <p:anim calcmode="lin" valueType="num">
                                      <p:cBhvr>
                                        <p:cTn id="36" dur="500" fill="hold"/>
                                        <p:tgtEl>
                                          <p:spTgt spid="152889"/>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nodeType="afterGroup">
                            <p:stCondLst>
                              <p:cond delay="0"/>
                            </p:stCondLst>
                            <p:childTnLst>
                              <p:par>
                                <p:cTn id="39" presetID="9" presetClass="entr" presetSubtype="0" fill="hold" nodeType="clickEffect">
                                  <p:stCondLst>
                                    <p:cond delay="0"/>
                                  </p:stCondLst>
                                  <p:childTnLst>
                                    <p:set>
                                      <p:cBhvr>
                                        <p:cTn id="40" dur="1" fill="hold">
                                          <p:stCondLst>
                                            <p:cond delay="0"/>
                                          </p:stCondLst>
                                        </p:cTn>
                                        <p:tgtEl>
                                          <p:spTgt spid="152884"/>
                                        </p:tgtEl>
                                        <p:attrNameLst>
                                          <p:attrName>style.visibility</p:attrName>
                                        </p:attrNameLst>
                                      </p:cBhvr>
                                      <p:to>
                                        <p:strVal val="visible"/>
                                      </p:to>
                                    </p:set>
                                    <p:animEffect transition="in" filter="dissolve">
                                      <p:cBhvr>
                                        <p:cTn id="41" dur="500"/>
                                        <p:tgtEl>
                                          <p:spTgt spid="1528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820" grpId="0" animBg="1"/>
      <p:bldP spid="152578" grpId="0" animBg="1" autoUpdateAnimBg="0"/>
      <p:bldP spid="152885" grpId="0" autoUpdateAnimBg="0"/>
      <p:bldP spid="152888" grpId="0" autoUpdateAnimBg="0"/>
      <p:bldP spid="152889" grpId="0" animBg="1"/>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hlink"/>
                </a:solidFill>
                <a:latin typeface="Arial Rounded MT Bold" pitchFamily="34" charset="0"/>
              </a:rPr>
              <a:t>A Generic </a:t>
            </a:r>
            <a:r>
              <a:rPr lang="en-US" sz="2800" dirty="0" smtClean="0">
                <a:solidFill>
                  <a:srgbClr val="CC0000"/>
                </a:solidFill>
                <a:latin typeface="Arial Rounded MT Bold" pitchFamily="34" charset="0"/>
              </a:rPr>
              <a:t>Greedy</a:t>
            </a:r>
            <a:r>
              <a:rPr lang="en-US" sz="2800" dirty="0" smtClean="0">
                <a:solidFill>
                  <a:schemeClr val="hlink"/>
                </a:solidFill>
                <a:latin typeface="Arial Rounded MT Bold" pitchFamily="34" charset="0"/>
              </a:rPr>
              <a:t> Strategy</a:t>
            </a:r>
          </a:p>
        </p:txBody>
      </p:sp>
      <p:sp>
        <p:nvSpPr>
          <p:cNvPr id="147459" name="Text Box 3"/>
          <p:cNvSpPr txBox="1">
            <a:spLocks noChangeArrowheads="1"/>
          </p:cNvSpPr>
          <p:nvPr/>
        </p:nvSpPr>
        <p:spPr bwMode="auto">
          <a:xfrm>
            <a:off x="152400" y="762000"/>
            <a:ext cx="8839200" cy="58705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2575" indent="-282575" defTabSz="1433513">
              <a:defRPr sz="1600">
                <a:solidFill>
                  <a:schemeClr val="tx1"/>
                </a:solidFill>
                <a:latin typeface="Times New Roman" pitchFamily="18" charset="0"/>
              </a:defRPr>
            </a:lvl1pPr>
            <a:lvl2pPr marL="742950" indent="-285750" defTabSz="1433513">
              <a:defRPr sz="1600">
                <a:solidFill>
                  <a:schemeClr val="tx1"/>
                </a:solidFill>
                <a:latin typeface="Times New Roman" pitchFamily="18" charset="0"/>
              </a:defRPr>
            </a:lvl2pPr>
            <a:lvl3pPr marL="1143000" indent="-228600" defTabSz="1433513">
              <a:defRPr sz="1600">
                <a:solidFill>
                  <a:schemeClr val="tx1"/>
                </a:solidFill>
                <a:latin typeface="Times New Roman" pitchFamily="18" charset="0"/>
              </a:defRPr>
            </a:lvl3pPr>
            <a:lvl4pPr marL="1600200" indent="-228600" defTabSz="1433513">
              <a:defRPr sz="1600">
                <a:solidFill>
                  <a:schemeClr val="tx1"/>
                </a:solidFill>
                <a:latin typeface="Times New Roman" pitchFamily="18" charset="0"/>
              </a:defRPr>
            </a:lvl4pPr>
            <a:lvl5pPr marL="2057400" indent="-228600" defTabSz="1433513">
              <a:defRPr sz="1600">
                <a:solidFill>
                  <a:schemeClr val="tx1"/>
                </a:solidFill>
                <a:latin typeface="Times New Roman" pitchFamily="18" charset="0"/>
              </a:defRPr>
            </a:lvl5pPr>
            <a:lvl6pPr marL="2514600" indent="-228600" defTabSz="1433513" eaLnBrk="0" fontAlgn="base" hangingPunct="0">
              <a:spcBef>
                <a:spcPct val="0"/>
              </a:spcBef>
              <a:spcAft>
                <a:spcPct val="0"/>
              </a:spcAft>
              <a:buChar char="•"/>
              <a:defRPr sz="1600">
                <a:solidFill>
                  <a:schemeClr val="tx1"/>
                </a:solidFill>
                <a:latin typeface="Times New Roman" pitchFamily="18" charset="0"/>
              </a:defRPr>
            </a:lvl6pPr>
            <a:lvl7pPr marL="2971800" indent="-228600" defTabSz="1433513" eaLnBrk="0" fontAlgn="base" hangingPunct="0">
              <a:spcBef>
                <a:spcPct val="0"/>
              </a:spcBef>
              <a:spcAft>
                <a:spcPct val="0"/>
              </a:spcAft>
              <a:buChar char="•"/>
              <a:defRPr sz="1600">
                <a:solidFill>
                  <a:schemeClr val="tx1"/>
                </a:solidFill>
                <a:latin typeface="Times New Roman" pitchFamily="18" charset="0"/>
              </a:defRPr>
            </a:lvl7pPr>
            <a:lvl8pPr marL="3429000" indent="-228600" defTabSz="1433513" eaLnBrk="0" fontAlgn="base" hangingPunct="0">
              <a:spcBef>
                <a:spcPct val="0"/>
              </a:spcBef>
              <a:spcAft>
                <a:spcPct val="0"/>
              </a:spcAft>
              <a:buChar char="•"/>
              <a:defRPr sz="1600">
                <a:solidFill>
                  <a:schemeClr val="tx1"/>
                </a:solidFill>
                <a:latin typeface="Times New Roman" pitchFamily="18" charset="0"/>
              </a:defRPr>
            </a:lvl8pPr>
            <a:lvl9pPr marL="3886200" indent="-228600" defTabSz="1433513"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05000"/>
              </a:lnSpc>
              <a:buFont typeface="Wingdings" pitchFamily="2" charset="2"/>
              <a:buChar char="§"/>
            </a:pPr>
            <a:r>
              <a:rPr lang="en-US" sz="1800" dirty="0">
                <a:solidFill>
                  <a:schemeClr val="hlink"/>
                </a:solidFill>
                <a:latin typeface="Arial" pitchFamily="34" charset="0"/>
              </a:rPr>
              <a:t>Assume initially all edges of G are </a:t>
            </a:r>
            <a:r>
              <a:rPr lang="en-US" sz="1800" b="1" u="sng" dirty="0">
                <a:latin typeface="Arial" pitchFamily="34" charset="0"/>
              </a:rPr>
              <a:t>white</a:t>
            </a:r>
            <a:r>
              <a:rPr lang="en-US" sz="1800" dirty="0">
                <a:solidFill>
                  <a:schemeClr val="hlink"/>
                </a:solidFill>
                <a:latin typeface="Arial" pitchFamily="34" charset="0"/>
              </a:rPr>
              <a:t> (undecided). </a:t>
            </a:r>
          </a:p>
          <a:p>
            <a:pPr eaLnBrk="1" hangingPunct="1">
              <a:lnSpc>
                <a:spcPct val="105000"/>
              </a:lnSpc>
              <a:buFont typeface="Wingdings" pitchFamily="2" charset="2"/>
              <a:buChar char="§"/>
            </a:pPr>
            <a:r>
              <a:rPr lang="en-US" sz="1800" dirty="0">
                <a:solidFill>
                  <a:schemeClr val="hlink"/>
                </a:solidFill>
                <a:latin typeface="Arial" pitchFamily="34" charset="0"/>
              </a:rPr>
              <a:t>We will iteratively select a white edge and make a permanent greedy decision,</a:t>
            </a:r>
            <a:br>
              <a:rPr lang="en-US" sz="1800" dirty="0">
                <a:solidFill>
                  <a:schemeClr val="hlink"/>
                </a:solidFill>
                <a:latin typeface="Arial" pitchFamily="34" charset="0"/>
              </a:rPr>
            </a:br>
            <a:r>
              <a:rPr lang="en-US" sz="1800" dirty="0">
                <a:solidFill>
                  <a:schemeClr val="hlink"/>
                </a:solidFill>
                <a:latin typeface="Arial" pitchFamily="34" charset="0"/>
              </a:rPr>
              <a:t>either coloring it </a:t>
            </a:r>
            <a:r>
              <a:rPr lang="en-US" sz="1800" b="1" u="sng" dirty="0">
                <a:solidFill>
                  <a:schemeClr val="hlink"/>
                </a:solidFill>
                <a:latin typeface="Arial" pitchFamily="34" charset="0"/>
              </a:rPr>
              <a:t>blue</a:t>
            </a:r>
            <a:r>
              <a:rPr lang="en-US" sz="1800" dirty="0">
                <a:solidFill>
                  <a:schemeClr val="hlink"/>
                </a:solidFill>
                <a:latin typeface="Arial" pitchFamily="34" charset="0"/>
              </a:rPr>
              <a:t> (accepted) or </a:t>
            </a:r>
            <a:r>
              <a:rPr lang="en-US" sz="1800" b="1" u="sng" dirty="0">
                <a:solidFill>
                  <a:srgbClr val="CC0000"/>
                </a:solidFill>
                <a:latin typeface="Arial" pitchFamily="34" charset="0"/>
              </a:rPr>
              <a:t>red</a:t>
            </a:r>
            <a:r>
              <a:rPr lang="en-US" sz="1800" dirty="0">
                <a:solidFill>
                  <a:schemeClr val="hlink"/>
                </a:solidFill>
                <a:latin typeface="Arial" pitchFamily="34" charset="0"/>
              </a:rPr>
              <a:t> (rejected).</a:t>
            </a:r>
          </a:p>
          <a:p>
            <a:pPr eaLnBrk="1" hangingPunct="1">
              <a:lnSpc>
                <a:spcPct val="105000"/>
              </a:lnSpc>
              <a:buFont typeface="Wingdings" pitchFamily="2" charset="2"/>
              <a:buChar char="§"/>
            </a:pPr>
            <a:r>
              <a:rPr lang="en-US" sz="1800" dirty="0">
                <a:solidFill>
                  <a:schemeClr val="hlink"/>
                </a:solidFill>
                <a:latin typeface="Arial" pitchFamily="34" charset="0"/>
              </a:rPr>
              <a:t>This is done according to the following two rules, whichever applies:</a:t>
            </a:r>
          </a:p>
          <a:p>
            <a:pPr eaLnBrk="1" hangingPunct="1">
              <a:lnSpc>
                <a:spcPct val="105000"/>
              </a:lnSpc>
              <a:buFont typeface="Wingdings" pitchFamily="2" charset="2"/>
              <a:buChar char="§"/>
            </a:pPr>
            <a:endParaRPr lang="en-US" sz="1800" b="1" dirty="0">
              <a:solidFill>
                <a:schemeClr val="hlink"/>
              </a:solidFill>
              <a:latin typeface="Arial" pitchFamily="34" charset="0"/>
            </a:endParaRPr>
          </a:p>
          <a:p>
            <a:pPr eaLnBrk="1" hangingPunct="1">
              <a:lnSpc>
                <a:spcPct val="105000"/>
              </a:lnSpc>
              <a:buFont typeface="Wingdings" pitchFamily="2" charset="2"/>
              <a:buChar char="§"/>
            </a:pPr>
            <a:r>
              <a:rPr lang="en-US" sz="1800" b="1" u="sng" dirty="0">
                <a:solidFill>
                  <a:schemeClr val="hlink"/>
                </a:solidFill>
                <a:latin typeface="Arial" pitchFamily="34" charset="0"/>
              </a:rPr>
              <a:t>BLUE Rule</a:t>
            </a:r>
            <a:r>
              <a:rPr lang="en-US" sz="1800" b="1" dirty="0">
                <a:solidFill>
                  <a:schemeClr val="hlink"/>
                </a:solidFill>
                <a:latin typeface="Arial" pitchFamily="34" charset="0"/>
              </a:rPr>
              <a:t>:</a:t>
            </a:r>
            <a:r>
              <a:rPr lang="en-US" sz="1800" dirty="0">
                <a:solidFill>
                  <a:schemeClr val="hlink"/>
                </a:solidFill>
                <a:latin typeface="Arial" pitchFamily="34" charset="0"/>
              </a:rPr>
              <a:t>    Consider a cut C with no blue cross-edges.</a:t>
            </a:r>
            <a:br>
              <a:rPr lang="en-US" sz="1800" dirty="0">
                <a:solidFill>
                  <a:schemeClr val="hlink"/>
                </a:solidFill>
                <a:latin typeface="Arial" pitchFamily="34" charset="0"/>
              </a:rPr>
            </a:br>
            <a:r>
              <a:rPr lang="en-US" sz="1800" dirty="0">
                <a:solidFill>
                  <a:schemeClr val="hlink"/>
                </a:solidFill>
                <a:latin typeface="Arial" pitchFamily="34" charset="0"/>
              </a:rPr>
              <a:t>Then select a minimum weight white cross edge of C and color it blue.</a:t>
            </a:r>
          </a:p>
          <a:p>
            <a:pPr eaLnBrk="1" hangingPunct="1">
              <a:lnSpc>
                <a:spcPct val="105000"/>
              </a:lnSpc>
              <a:buFont typeface="Wingdings" pitchFamily="2" charset="2"/>
              <a:buChar char="§"/>
            </a:pPr>
            <a:endParaRPr lang="en-US" sz="1800" b="1" dirty="0">
              <a:solidFill>
                <a:srgbClr val="CC0000"/>
              </a:solidFill>
              <a:latin typeface="Arial" pitchFamily="34" charset="0"/>
            </a:endParaRPr>
          </a:p>
          <a:p>
            <a:pPr eaLnBrk="1" hangingPunct="1">
              <a:lnSpc>
                <a:spcPct val="105000"/>
              </a:lnSpc>
              <a:buFont typeface="Wingdings" pitchFamily="2" charset="2"/>
              <a:buChar char="§"/>
            </a:pPr>
            <a:r>
              <a:rPr lang="en-US" sz="1800" b="1" u="sng" dirty="0">
                <a:solidFill>
                  <a:srgbClr val="CC0000"/>
                </a:solidFill>
                <a:latin typeface="Arial" pitchFamily="34" charset="0"/>
              </a:rPr>
              <a:t>RED Rule</a:t>
            </a:r>
            <a:r>
              <a:rPr lang="en-US" sz="1800" b="1" dirty="0">
                <a:solidFill>
                  <a:srgbClr val="CC0000"/>
                </a:solidFill>
                <a:latin typeface="Arial" pitchFamily="34" charset="0"/>
              </a:rPr>
              <a:t>:</a:t>
            </a:r>
            <a:r>
              <a:rPr lang="en-US" sz="1800" dirty="0">
                <a:solidFill>
                  <a:srgbClr val="CC0000"/>
                </a:solidFill>
                <a:latin typeface="Arial" pitchFamily="34" charset="0"/>
              </a:rPr>
              <a:t>      </a:t>
            </a:r>
            <a:r>
              <a:rPr lang="en-US" sz="1800" dirty="0">
                <a:solidFill>
                  <a:schemeClr val="hlink"/>
                </a:solidFill>
                <a:latin typeface="Arial" pitchFamily="34" charset="0"/>
              </a:rPr>
              <a:t>Consider a </a:t>
            </a:r>
            <a:r>
              <a:rPr lang="en-US" sz="1800" dirty="0" smtClean="0">
                <a:solidFill>
                  <a:schemeClr val="hlink"/>
                </a:solidFill>
                <a:latin typeface="Arial" pitchFamily="34" charset="0"/>
              </a:rPr>
              <a:t>cycle </a:t>
            </a:r>
            <a:r>
              <a:rPr lang="en-US" sz="1800" dirty="0">
                <a:solidFill>
                  <a:schemeClr val="hlink"/>
                </a:solidFill>
                <a:latin typeface="Arial" pitchFamily="34" charset="0"/>
              </a:rPr>
              <a:t>C with no red edges.</a:t>
            </a:r>
            <a:br>
              <a:rPr lang="en-US" sz="1800" dirty="0">
                <a:solidFill>
                  <a:schemeClr val="hlink"/>
                </a:solidFill>
                <a:latin typeface="Arial" pitchFamily="34" charset="0"/>
              </a:rPr>
            </a:br>
            <a:r>
              <a:rPr lang="en-US" sz="1800" dirty="0">
                <a:solidFill>
                  <a:schemeClr val="hlink"/>
                </a:solidFill>
                <a:latin typeface="Arial" pitchFamily="34" charset="0"/>
              </a:rPr>
              <a:t>Then select a maximum weight white edge of C and color it red.</a:t>
            </a:r>
          </a:p>
          <a:p>
            <a:pPr eaLnBrk="1" hangingPunct="1">
              <a:lnSpc>
                <a:spcPct val="105000"/>
              </a:lnSpc>
              <a:buFont typeface="Wingdings" pitchFamily="2" charset="2"/>
              <a:buChar char="§"/>
            </a:pPr>
            <a:endParaRPr lang="en-US" sz="1800" b="1" dirty="0">
              <a:solidFill>
                <a:srgbClr val="CC0000"/>
              </a:solidFill>
              <a:latin typeface="Arial" pitchFamily="34" charset="0"/>
            </a:endParaRPr>
          </a:p>
          <a:p>
            <a:pPr eaLnBrk="1" hangingPunct="1">
              <a:lnSpc>
                <a:spcPct val="105000"/>
              </a:lnSpc>
              <a:buFont typeface="Wingdings" pitchFamily="2" charset="2"/>
              <a:buChar char="§"/>
            </a:pPr>
            <a:r>
              <a:rPr lang="en-US" sz="1800" b="1" u="sng" dirty="0">
                <a:solidFill>
                  <a:srgbClr val="CC0000"/>
                </a:solidFill>
                <a:latin typeface="Arial" pitchFamily="34" charset="0"/>
              </a:rPr>
              <a:t>Red</a:t>
            </a:r>
            <a:r>
              <a:rPr lang="en-US" sz="1800" b="1" u="sng" dirty="0">
                <a:solidFill>
                  <a:schemeClr val="hlink"/>
                </a:solidFill>
                <a:latin typeface="Arial" pitchFamily="34" charset="0"/>
              </a:rPr>
              <a:t>-Blue </a:t>
            </a:r>
            <a:r>
              <a:rPr lang="en-US" sz="1800" b="1" u="sng" dirty="0">
                <a:latin typeface="Arial" pitchFamily="34" charset="0"/>
              </a:rPr>
              <a:t>Invariant</a:t>
            </a:r>
            <a:r>
              <a:rPr lang="en-US" sz="1800" b="1" dirty="0">
                <a:latin typeface="Arial" pitchFamily="34" charset="0"/>
              </a:rPr>
              <a:t>:</a:t>
            </a:r>
            <a:r>
              <a:rPr lang="en-US" sz="1800" dirty="0">
                <a:solidFill>
                  <a:schemeClr val="hlink"/>
                </a:solidFill>
                <a:latin typeface="Arial" pitchFamily="34" charset="0"/>
              </a:rPr>
              <a:t>     At all times, there is an MST of G that </a:t>
            </a:r>
            <a:br>
              <a:rPr lang="en-US" sz="1800" dirty="0">
                <a:solidFill>
                  <a:schemeClr val="hlink"/>
                </a:solidFill>
                <a:latin typeface="Arial" pitchFamily="34" charset="0"/>
              </a:rPr>
            </a:br>
            <a:r>
              <a:rPr lang="en-US" sz="1800" dirty="0">
                <a:solidFill>
                  <a:schemeClr val="hlink"/>
                </a:solidFill>
                <a:latin typeface="Arial" pitchFamily="34" charset="0"/>
              </a:rPr>
              <a:t>includes all blue edges and excludes all red edges.</a:t>
            </a:r>
          </a:p>
          <a:p>
            <a:pPr eaLnBrk="1" hangingPunct="1">
              <a:lnSpc>
                <a:spcPct val="105000"/>
              </a:lnSpc>
              <a:buFont typeface="Wingdings" pitchFamily="2" charset="2"/>
              <a:buChar char="§"/>
            </a:pPr>
            <a:endParaRPr lang="en-US" sz="1800" dirty="0">
              <a:solidFill>
                <a:schemeClr val="hlink"/>
              </a:solidFill>
              <a:latin typeface="Arial" pitchFamily="34" charset="0"/>
            </a:endParaRPr>
          </a:p>
          <a:p>
            <a:pPr eaLnBrk="1" hangingPunct="1">
              <a:lnSpc>
                <a:spcPct val="105000"/>
              </a:lnSpc>
              <a:buFont typeface="Wingdings" pitchFamily="2" charset="2"/>
              <a:buChar char="§"/>
            </a:pPr>
            <a:r>
              <a:rPr lang="en-US" sz="1800" b="1" u="sng" dirty="0">
                <a:latin typeface="Arial" pitchFamily="34" charset="0"/>
              </a:rPr>
              <a:t>Progress</a:t>
            </a:r>
            <a:r>
              <a:rPr lang="en-US" sz="1800" b="1" dirty="0">
                <a:latin typeface="Arial" pitchFamily="34" charset="0"/>
              </a:rPr>
              <a:t>:</a:t>
            </a:r>
            <a:r>
              <a:rPr lang="en-US" sz="1800" dirty="0">
                <a:solidFill>
                  <a:schemeClr val="hlink"/>
                </a:solidFill>
                <a:latin typeface="Arial" pitchFamily="34" charset="0"/>
              </a:rPr>
              <a:t> either no white edge remains, or at least one of the two rules applies.</a:t>
            </a:r>
          </a:p>
          <a:p>
            <a:pPr eaLnBrk="1" hangingPunct="1">
              <a:lnSpc>
                <a:spcPct val="105000"/>
              </a:lnSpc>
              <a:buFont typeface="Wingdings" pitchFamily="2" charset="2"/>
              <a:buChar char="§"/>
            </a:pPr>
            <a:endParaRPr lang="en-US" sz="1800" dirty="0">
              <a:solidFill>
                <a:schemeClr val="hlink"/>
              </a:solidFill>
              <a:latin typeface="Arial" pitchFamily="34" charset="0"/>
            </a:endParaRPr>
          </a:p>
          <a:p>
            <a:pPr eaLnBrk="1" hangingPunct="1">
              <a:lnSpc>
                <a:spcPct val="105000"/>
              </a:lnSpc>
              <a:buFont typeface="Wingdings" pitchFamily="2" charset="2"/>
              <a:buChar char="§"/>
            </a:pPr>
            <a:r>
              <a:rPr lang="en-US" sz="1800" dirty="0">
                <a:solidFill>
                  <a:schemeClr val="hlink"/>
                </a:solidFill>
                <a:latin typeface="Arial" pitchFamily="34" charset="0"/>
              </a:rPr>
              <a:t>In |E(G)| iterations all edges are colored blue/red. The blue edges form the MST.</a:t>
            </a:r>
            <a:br>
              <a:rPr lang="en-US" sz="1800" dirty="0">
                <a:solidFill>
                  <a:schemeClr val="hlink"/>
                </a:solidFill>
                <a:latin typeface="Arial" pitchFamily="34" charset="0"/>
              </a:rPr>
            </a:br>
            <a:endParaRPr lang="en-US" sz="1800" dirty="0">
              <a:solidFill>
                <a:schemeClr val="hlink"/>
              </a:solidFill>
              <a:latin typeface="Arial" pitchFamily="34" charset="0"/>
            </a:endParaRPr>
          </a:p>
          <a:p>
            <a:pPr eaLnBrk="1" hangingPunct="1">
              <a:lnSpc>
                <a:spcPct val="105000"/>
              </a:lnSpc>
              <a:buFont typeface="Wingdings" pitchFamily="2" charset="2"/>
              <a:buChar char="§"/>
            </a:pPr>
            <a:r>
              <a:rPr lang="en-US" sz="1800" dirty="0">
                <a:solidFill>
                  <a:schemeClr val="hlink"/>
                </a:solidFill>
                <a:latin typeface="Arial" pitchFamily="34" charset="0"/>
              </a:rPr>
              <a:t>There are many MST algorithms, and virtually all of them are specializations of</a:t>
            </a:r>
            <a:br>
              <a:rPr lang="en-US" sz="1800" dirty="0">
                <a:solidFill>
                  <a:schemeClr val="hlink"/>
                </a:solidFill>
                <a:latin typeface="Arial" pitchFamily="34" charset="0"/>
              </a:rPr>
            </a:br>
            <a:r>
              <a:rPr lang="en-US" sz="1800" dirty="0">
                <a:solidFill>
                  <a:schemeClr val="hlink"/>
                </a:solidFill>
                <a:latin typeface="Arial" pitchFamily="34" charset="0"/>
              </a:rPr>
              <a:t>this generic greedy strategy depending on how the two rules are applied.</a:t>
            </a:r>
          </a:p>
        </p:txBody>
      </p:sp>
      <p:sp>
        <p:nvSpPr>
          <p:cNvPr id="147479" name="AutoShape 23"/>
          <p:cNvSpPr>
            <a:spLocks noChangeArrowheads="1"/>
          </p:cNvSpPr>
          <p:nvPr/>
        </p:nvSpPr>
        <p:spPr bwMode="auto">
          <a:xfrm>
            <a:off x="7391400" y="3048000"/>
            <a:ext cx="1447800" cy="1295400"/>
          </a:xfrm>
          <a:prstGeom prst="wedgeRectCallout">
            <a:avLst>
              <a:gd name="adj1" fmla="val -73574"/>
              <a:gd name="adj2" fmla="val 30639"/>
            </a:avLst>
          </a:prstGeom>
          <a:gradFill rotWithShape="0">
            <a:gsLst>
              <a:gs pos="0">
                <a:srgbClr val="FFFFCC"/>
              </a:gs>
              <a:gs pos="100000">
                <a:srgbClr val="C9C9A1"/>
              </a:gs>
            </a:gsLst>
            <a:lin ang="0" scaled="1"/>
          </a:grad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lstStyle/>
          <a:p>
            <a:pPr algn="ctr" eaLnBrk="1" hangingPunct="1">
              <a:spcBef>
                <a:spcPct val="50000"/>
              </a:spcBef>
              <a:buFontTx/>
              <a:buNone/>
            </a:pPr>
            <a:r>
              <a:rPr lang="en-US" sz="2400" dirty="0">
                <a:solidFill>
                  <a:schemeClr val="tx2"/>
                </a:solidFill>
                <a:latin typeface="Arial" pitchFamily="34" charset="0"/>
              </a:rPr>
              <a:t>Proofs coming up</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74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47458"/>
                                        </p:tgtEl>
                                        <p:attrNameLst>
                                          <p:attrName>style.visibility</p:attrName>
                                        </p:attrNameLst>
                                      </p:cBhvr>
                                      <p:to>
                                        <p:strVal val="visible"/>
                                      </p:to>
                                    </p:set>
                                    <p:anim calcmode="lin" valueType="num">
                                      <p:cBhvr>
                                        <p:cTn id="7" dur="500" fill="hold"/>
                                        <p:tgtEl>
                                          <p:spTgt spid="147458"/>
                                        </p:tgtEl>
                                        <p:attrNameLst>
                                          <p:attrName>ppt_w</p:attrName>
                                        </p:attrNameLst>
                                      </p:cBhvr>
                                      <p:tavLst>
                                        <p:tav tm="0">
                                          <p:val>
                                            <p:fltVal val="0"/>
                                          </p:val>
                                        </p:tav>
                                        <p:tav tm="100000">
                                          <p:val>
                                            <p:strVal val="#ppt_w"/>
                                          </p:val>
                                        </p:tav>
                                      </p:tavLst>
                                    </p:anim>
                                    <p:anim calcmode="lin" valueType="num">
                                      <p:cBhvr>
                                        <p:cTn id="8" dur="500" fill="hold"/>
                                        <p:tgtEl>
                                          <p:spTgt spid="14745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47459">
                                            <p:txEl>
                                              <p:pRg st="0" end="0"/>
                                            </p:txEl>
                                          </p:spTgt>
                                        </p:tgtEl>
                                        <p:attrNameLst>
                                          <p:attrName>style.visibility</p:attrName>
                                        </p:attrNameLst>
                                      </p:cBhvr>
                                      <p:to>
                                        <p:strVal val="visible"/>
                                      </p:to>
                                    </p:set>
                                    <p:animEffect transition="in" filter="wipe(left)">
                                      <p:cBhvr>
                                        <p:cTn id="13" dur="500"/>
                                        <p:tgtEl>
                                          <p:spTgt spid="147459">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47459">
                                            <p:txEl>
                                              <p:pRg st="1" end="1"/>
                                            </p:txEl>
                                          </p:spTgt>
                                        </p:tgtEl>
                                        <p:attrNameLst>
                                          <p:attrName>style.visibility</p:attrName>
                                        </p:attrNameLst>
                                      </p:cBhvr>
                                      <p:to>
                                        <p:strVal val="visible"/>
                                      </p:to>
                                    </p:set>
                                    <p:animEffect transition="in" filter="wipe(left)">
                                      <p:cBhvr>
                                        <p:cTn id="18" dur="500"/>
                                        <p:tgtEl>
                                          <p:spTgt spid="147459">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7459">
                                            <p:txEl>
                                              <p:pRg st="2" end="2"/>
                                            </p:txEl>
                                          </p:spTgt>
                                        </p:tgtEl>
                                        <p:attrNameLst>
                                          <p:attrName>style.visibility</p:attrName>
                                        </p:attrNameLst>
                                      </p:cBhvr>
                                      <p:to>
                                        <p:strVal val="visible"/>
                                      </p:to>
                                    </p:set>
                                    <p:animEffect transition="in" filter="wipe(left)">
                                      <p:cBhvr>
                                        <p:cTn id="23" dur="500"/>
                                        <p:tgtEl>
                                          <p:spTgt spid="147459">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7459">
                                            <p:txEl>
                                              <p:pRg st="4" end="4"/>
                                            </p:txEl>
                                          </p:spTgt>
                                        </p:tgtEl>
                                        <p:attrNameLst>
                                          <p:attrName>style.visibility</p:attrName>
                                        </p:attrNameLst>
                                      </p:cBhvr>
                                      <p:to>
                                        <p:strVal val="visible"/>
                                      </p:to>
                                    </p:set>
                                    <p:animEffect transition="in" filter="wipe(left)">
                                      <p:cBhvr>
                                        <p:cTn id="28" dur="500"/>
                                        <p:tgtEl>
                                          <p:spTgt spid="147459">
                                            <p:txEl>
                                              <p:pRg st="4" end="4"/>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7459">
                                            <p:txEl>
                                              <p:pRg st="6" end="6"/>
                                            </p:txEl>
                                          </p:spTgt>
                                        </p:tgtEl>
                                        <p:attrNameLst>
                                          <p:attrName>style.visibility</p:attrName>
                                        </p:attrNameLst>
                                      </p:cBhvr>
                                      <p:to>
                                        <p:strVal val="visible"/>
                                      </p:to>
                                    </p:set>
                                    <p:animEffect transition="in" filter="wipe(left)">
                                      <p:cBhvr>
                                        <p:cTn id="33" dur="500"/>
                                        <p:tgtEl>
                                          <p:spTgt spid="147459">
                                            <p:txEl>
                                              <p:pRg st="6" end="6"/>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47459">
                                            <p:txEl>
                                              <p:pRg st="8" end="8"/>
                                            </p:txEl>
                                          </p:spTgt>
                                        </p:tgtEl>
                                        <p:attrNameLst>
                                          <p:attrName>style.visibility</p:attrName>
                                        </p:attrNameLst>
                                      </p:cBhvr>
                                      <p:to>
                                        <p:strVal val="visible"/>
                                      </p:to>
                                    </p:set>
                                    <p:animEffect transition="in" filter="wipe(left)">
                                      <p:cBhvr>
                                        <p:cTn id="38" dur="500"/>
                                        <p:tgtEl>
                                          <p:spTgt spid="147459">
                                            <p:txEl>
                                              <p:pRg st="8" end="8"/>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47459">
                                            <p:txEl>
                                              <p:pRg st="10" end="10"/>
                                            </p:txEl>
                                          </p:spTgt>
                                        </p:tgtEl>
                                        <p:attrNameLst>
                                          <p:attrName>style.visibility</p:attrName>
                                        </p:attrNameLst>
                                      </p:cBhvr>
                                      <p:to>
                                        <p:strVal val="visible"/>
                                      </p:to>
                                    </p:set>
                                    <p:animEffect transition="in" filter="wipe(left)">
                                      <p:cBhvr>
                                        <p:cTn id="43" dur="500"/>
                                        <p:tgtEl>
                                          <p:spTgt spid="147459">
                                            <p:txEl>
                                              <p:pRg st="10" end="10"/>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47459">
                                            <p:txEl>
                                              <p:pRg st="12" end="12"/>
                                            </p:txEl>
                                          </p:spTgt>
                                        </p:tgtEl>
                                        <p:attrNameLst>
                                          <p:attrName>style.visibility</p:attrName>
                                        </p:attrNameLst>
                                      </p:cBhvr>
                                      <p:to>
                                        <p:strVal val="visible"/>
                                      </p:to>
                                    </p:set>
                                    <p:animEffect transition="in" filter="wipe(left)">
                                      <p:cBhvr>
                                        <p:cTn id="48" dur="500"/>
                                        <p:tgtEl>
                                          <p:spTgt spid="147459">
                                            <p:txEl>
                                              <p:pRg st="12" end="12"/>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47459">
                                            <p:txEl>
                                              <p:pRg st="13" end="13"/>
                                            </p:txEl>
                                          </p:spTgt>
                                        </p:tgtEl>
                                        <p:attrNameLst>
                                          <p:attrName>style.visibility</p:attrName>
                                        </p:attrNameLst>
                                      </p:cBhvr>
                                      <p:to>
                                        <p:strVal val="visible"/>
                                      </p:to>
                                    </p:set>
                                    <p:animEffect transition="in" filter="wipe(left)">
                                      <p:cBhvr>
                                        <p:cTn id="53" dur="500"/>
                                        <p:tgtEl>
                                          <p:spTgt spid="147459">
                                            <p:txEl>
                                              <p:pRg st="13" end="13"/>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2" fill="hold" grpId="0" nodeType="clickEffect">
                                  <p:stCondLst>
                                    <p:cond delay="0"/>
                                  </p:stCondLst>
                                  <p:childTnLst>
                                    <p:set>
                                      <p:cBhvr>
                                        <p:cTn id="57" dur="1" fill="hold">
                                          <p:stCondLst>
                                            <p:cond delay="0"/>
                                          </p:stCondLst>
                                        </p:cTn>
                                        <p:tgtEl>
                                          <p:spTgt spid="147479"/>
                                        </p:tgtEl>
                                        <p:attrNameLst>
                                          <p:attrName>style.visibility</p:attrName>
                                        </p:attrNameLst>
                                      </p:cBhvr>
                                      <p:to>
                                        <p:strVal val="visible"/>
                                      </p:to>
                                    </p:set>
                                    <p:anim calcmode="lin" valueType="num">
                                      <p:cBhvr additive="base">
                                        <p:cTn id="58" dur="500" fill="hold"/>
                                        <p:tgtEl>
                                          <p:spTgt spid="147479"/>
                                        </p:tgtEl>
                                        <p:attrNameLst>
                                          <p:attrName>ppt_x</p:attrName>
                                        </p:attrNameLst>
                                      </p:cBhvr>
                                      <p:tavLst>
                                        <p:tav tm="0">
                                          <p:val>
                                            <p:strVal val="1+#ppt_w/2"/>
                                          </p:val>
                                        </p:tav>
                                        <p:tav tm="100000">
                                          <p:val>
                                            <p:strVal val="#ppt_x"/>
                                          </p:val>
                                        </p:tav>
                                      </p:tavLst>
                                    </p:anim>
                                    <p:anim calcmode="lin" valueType="num">
                                      <p:cBhvr additive="base">
                                        <p:cTn id="59" dur="500" fill="hold"/>
                                        <p:tgtEl>
                                          <p:spTgt spid="1474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8" grpId="0" animBg="1" autoUpdateAnimBg="0"/>
      <p:bldP spid="147459" grpId="0" build="p" autoUpdateAnimBg="0"/>
      <p:bldP spid="147479" grpId="0" animBg="1"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Line 2"/>
          <p:cNvSpPr>
            <a:spLocks noChangeShapeType="1"/>
          </p:cNvSpPr>
          <p:nvPr/>
        </p:nvSpPr>
        <p:spPr bwMode="auto">
          <a:xfrm>
            <a:off x="3352800" y="4191000"/>
            <a:ext cx="0" cy="6096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77827" name="Line 3"/>
          <p:cNvSpPr>
            <a:spLocks noChangeShapeType="1"/>
          </p:cNvSpPr>
          <p:nvPr/>
        </p:nvSpPr>
        <p:spPr bwMode="auto">
          <a:xfrm>
            <a:off x="3352800" y="5638800"/>
            <a:ext cx="0" cy="685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77828" name="Line 4"/>
          <p:cNvSpPr>
            <a:spLocks noChangeShapeType="1"/>
          </p:cNvSpPr>
          <p:nvPr/>
        </p:nvSpPr>
        <p:spPr bwMode="auto">
          <a:xfrm>
            <a:off x="3332163" y="5029200"/>
            <a:ext cx="0" cy="5334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77829" name="Freeform 5"/>
          <p:cNvSpPr>
            <a:spLocks/>
          </p:cNvSpPr>
          <p:nvPr/>
        </p:nvSpPr>
        <p:spPr bwMode="auto">
          <a:xfrm>
            <a:off x="3352800" y="3048000"/>
            <a:ext cx="1588" cy="661988"/>
          </a:xfrm>
          <a:custGeom>
            <a:avLst/>
            <a:gdLst>
              <a:gd name="T0" fmla="*/ 0 w 1"/>
              <a:gd name="T1" fmla="*/ 0 h 417"/>
              <a:gd name="T2" fmla="*/ 0 w 1"/>
              <a:gd name="T3" fmla="*/ 661988 h 417"/>
              <a:gd name="T4" fmla="*/ 0 60000 65536"/>
              <a:gd name="T5" fmla="*/ 0 60000 65536"/>
            </a:gdLst>
            <a:ahLst/>
            <a:cxnLst>
              <a:cxn ang="T4">
                <a:pos x="T0" y="T1"/>
              </a:cxn>
              <a:cxn ang="T5">
                <a:pos x="T2" y="T3"/>
              </a:cxn>
            </a:cxnLst>
            <a:rect l="0" t="0" r="r" b="b"/>
            <a:pathLst>
              <a:path w="1" h="417">
                <a:moveTo>
                  <a:pt x="0" y="0"/>
                </a:moveTo>
                <a:lnTo>
                  <a:pt x="0" y="417"/>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77830" name="Line 6"/>
          <p:cNvSpPr>
            <a:spLocks noChangeShapeType="1"/>
          </p:cNvSpPr>
          <p:nvPr/>
        </p:nvSpPr>
        <p:spPr bwMode="auto">
          <a:xfrm>
            <a:off x="3352800" y="2667000"/>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77831" name="Line 7"/>
          <p:cNvSpPr>
            <a:spLocks noChangeShapeType="1"/>
          </p:cNvSpPr>
          <p:nvPr/>
        </p:nvSpPr>
        <p:spPr bwMode="auto">
          <a:xfrm>
            <a:off x="3352800" y="990600"/>
            <a:ext cx="0" cy="4572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77832" name="Freeform 8"/>
          <p:cNvSpPr>
            <a:spLocks/>
          </p:cNvSpPr>
          <p:nvPr/>
        </p:nvSpPr>
        <p:spPr bwMode="auto">
          <a:xfrm>
            <a:off x="3352800" y="1828800"/>
            <a:ext cx="1588" cy="749300"/>
          </a:xfrm>
          <a:custGeom>
            <a:avLst/>
            <a:gdLst>
              <a:gd name="T0" fmla="*/ 0 w 1"/>
              <a:gd name="T1" fmla="*/ 0 h 472"/>
              <a:gd name="T2" fmla="*/ 0 w 1"/>
              <a:gd name="T3" fmla="*/ 749300 h 472"/>
              <a:gd name="T4" fmla="*/ 0 60000 65536"/>
              <a:gd name="T5" fmla="*/ 0 60000 65536"/>
            </a:gdLst>
            <a:ahLst/>
            <a:cxnLst>
              <a:cxn ang="T4">
                <a:pos x="T0" y="T1"/>
              </a:cxn>
              <a:cxn ang="T5">
                <a:pos x="T2" y="T3"/>
              </a:cxn>
            </a:cxnLst>
            <a:rect l="0" t="0" r="r" b="b"/>
            <a:pathLst>
              <a:path w="1" h="472">
                <a:moveTo>
                  <a:pt x="0" y="0"/>
                </a:moveTo>
                <a:lnTo>
                  <a:pt x="0" y="472"/>
                </a:lnTo>
              </a:path>
            </a:pathLst>
          </a:custGeom>
          <a:noFill/>
          <a:ln w="19050">
            <a:solidFill>
              <a:schemeClr val="tx1"/>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77833" name="AutoShape 9"/>
          <p:cNvSpPr>
            <a:spLocks noChangeArrowheads="1"/>
          </p:cNvSpPr>
          <p:nvPr/>
        </p:nvSpPr>
        <p:spPr bwMode="auto">
          <a:xfrm>
            <a:off x="177800" y="685800"/>
            <a:ext cx="6378575" cy="417513"/>
          </a:xfrm>
          <a:prstGeom prst="roundRect">
            <a:avLst>
              <a:gd name="adj" fmla="val 16667"/>
            </a:avLst>
          </a:prstGeom>
          <a:solidFill>
            <a:srgbClr val="CCFF99"/>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buFontTx/>
              <a:buNone/>
            </a:pPr>
            <a:r>
              <a:rPr lang="en-US" sz="1800" dirty="0">
                <a:solidFill>
                  <a:srgbClr val="CC0000"/>
                </a:solidFill>
                <a:latin typeface="Arial" pitchFamily="34" charset="0"/>
              </a:rPr>
              <a:t>Pre-Cond: input is a connected undirected weighted graph G</a:t>
            </a:r>
          </a:p>
        </p:txBody>
      </p:sp>
      <p:sp>
        <p:nvSpPr>
          <p:cNvPr id="155658" name="AutoShape 10"/>
          <p:cNvSpPr>
            <a:spLocks noChangeArrowheads="1"/>
          </p:cNvSpPr>
          <p:nvPr/>
        </p:nvSpPr>
        <p:spPr bwMode="auto">
          <a:xfrm>
            <a:off x="1530350" y="6324600"/>
            <a:ext cx="3673475" cy="417513"/>
          </a:xfrm>
          <a:prstGeom prst="roundRect">
            <a:avLst>
              <a:gd name="adj" fmla="val 16667"/>
            </a:avLst>
          </a:prstGeom>
          <a:solidFill>
            <a:srgbClr val="CCFF99"/>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buFontTx/>
              <a:buNone/>
            </a:pPr>
            <a:r>
              <a:rPr lang="en-US" sz="1800" dirty="0">
                <a:solidFill>
                  <a:srgbClr val="CC0000"/>
                </a:solidFill>
                <a:latin typeface="Arial" pitchFamily="34" charset="0"/>
              </a:rPr>
              <a:t>Post-Cond: output is an MST of G</a:t>
            </a:r>
            <a:endParaRPr lang="en-US" sz="1800" dirty="0">
              <a:solidFill>
                <a:srgbClr val="CC0000"/>
              </a:solidFill>
              <a:latin typeface="Arial" pitchFamily="34" charset="0"/>
              <a:sym typeface="Symbol" pitchFamily="18" charset="2"/>
            </a:endParaRPr>
          </a:p>
        </p:txBody>
      </p:sp>
      <p:sp>
        <p:nvSpPr>
          <p:cNvPr id="155659" name="AutoShape 11"/>
          <p:cNvSpPr>
            <a:spLocks noChangeArrowheads="1"/>
          </p:cNvSpPr>
          <p:nvPr/>
        </p:nvSpPr>
        <p:spPr bwMode="auto">
          <a:xfrm>
            <a:off x="2438400" y="1447800"/>
            <a:ext cx="1905000" cy="723900"/>
          </a:xfrm>
          <a:prstGeom prst="foldedCorner">
            <a:avLst>
              <a:gd name="adj" fmla="val 12500"/>
            </a:avLst>
          </a:prstGeom>
          <a:solidFill>
            <a:schemeClr val="bg1"/>
          </a:solidFill>
          <a:ln w="19050">
            <a:noFill/>
            <a:round/>
            <a:headEnd/>
            <a:tailEnd/>
          </a:ln>
          <a:effectLst>
            <a:outerShdw blurRad="127000" dist="38100" dir="2700000" algn="ctr" rotWithShape="0">
              <a:schemeClr val="bg2"/>
            </a:outerShdw>
          </a:effectLst>
          <a:extLst/>
        </p:spPr>
        <p:txBody>
          <a:bodyPr anchor="ctr">
            <a:spAutoFit/>
          </a:bodyPr>
          <a:lstStyle/>
          <a:p>
            <a:pPr algn="ctr" eaLnBrk="1" hangingPunct="1">
              <a:buFontTx/>
              <a:buNone/>
            </a:pPr>
            <a:r>
              <a:rPr lang="en-US" sz="1800" dirty="0">
                <a:solidFill>
                  <a:schemeClr val="hlink"/>
                </a:solidFill>
                <a:latin typeface="Arial" pitchFamily="34" charset="0"/>
              </a:rPr>
              <a:t>color all edges of G white</a:t>
            </a:r>
            <a:r>
              <a:rPr lang="en-US" sz="1800" dirty="0">
                <a:solidFill>
                  <a:schemeClr val="hlink"/>
                </a:solidFill>
                <a:latin typeface="Arial" pitchFamily="34" charset="0"/>
                <a:sym typeface="Symbol" pitchFamily="18" charset="2"/>
              </a:rPr>
              <a:t> </a:t>
            </a:r>
          </a:p>
        </p:txBody>
      </p:sp>
      <p:sp>
        <p:nvSpPr>
          <p:cNvPr id="155660" name="AutoShape 12"/>
          <p:cNvSpPr>
            <a:spLocks noChangeArrowheads="1"/>
          </p:cNvSpPr>
          <p:nvPr/>
        </p:nvSpPr>
        <p:spPr bwMode="auto">
          <a:xfrm>
            <a:off x="2071688" y="2971800"/>
            <a:ext cx="2562225" cy="417513"/>
          </a:xfrm>
          <a:prstGeom prst="roundRect">
            <a:avLst>
              <a:gd name="adj" fmla="val 16667"/>
            </a:avLst>
          </a:prstGeom>
          <a:solidFill>
            <a:srgbClr val="CCFF99"/>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eaLnBrk="1" hangingPunct="1">
              <a:buFontTx/>
              <a:buNone/>
            </a:pPr>
            <a:r>
              <a:rPr lang="en-US" sz="1800" dirty="0">
                <a:solidFill>
                  <a:srgbClr val="CC0000"/>
                </a:solidFill>
                <a:latin typeface="Arial" pitchFamily="34" charset="0"/>
              </a:rPr>
              <a:t>LI:  Red-Blue-Invariant</a:t>
            </a:r>
            <a:endParaRPr lang="en-US" sz="1800" dirty="0">
              <a:solidFill>
                <a:srgbClr val="CC0000"/>
              </a:solidFill>
              <a:latin typeface="Arial" pitchFamily="34" charset="0"/>
              <a:sym typeface="Symbol" pitchFamily="18" charset="2"/>
            </a:endParaRPr>
          </a:p>
        </p:txBody>
      </p:sp>
      <p:sp>
        <p:nvSpPr>
          <p:cNvPr id="77837" name="Oval 13"/>
          <p:cNvSpPr>
            <a:spLocks noChangeArrowheads="1"/>
          </p:cNvSpPr>
          <p:nvPr/>
        </p:nvSpPr>
        <p:spPr bwMode="auto">
          <a:xfrm>
            <a:off x="3276600" y="2590800"/>
            <a:ext cx="152400" cy="152400"/>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55662" name="AutoShape 14"/>
          <p:cNvSpPr>
            <a:spLocks noChangeArrowheads="1"/>
          </p:cNvSpPr>
          <p:nvPr/>
        </p:nvSpPr>
        <p:spPr bwMode="auto">
          <a:xfrm>
            <a:off x="2286000" y="5562600"/>
            <a:ext cx="2133600" cy="417513"/>
          </a:xfrm>
          <a:prstGeom prst="foldedCorner">
            <a:avLst>
              <a:gd name="adj" fmla="val 12500"/>
            </a:avLst>
          </a:prstGeom>
          <a:solidFill>
            <a:schemeClr val="bg1"/>
          </a:solidFill>
          <a:ln w="19050">
            <a:noFill/>
            <a:round/>
            <a:headEnd/>
            <a:tailEnd/>
          </a:ln>
          <a:effectLst>
            <a:outerShdw blurRad="127000" dist="38100" dir="2700000" algn="tl" rotWithShape="0">
              <a:schemeClr val="bg2"/>
            </a:outerShdw>
          </a:effectLst>
          <a:extLst/>
        </p:spPr>
        <p:txBody>
          <a:bodyPr anchor="ctr">
            <a:spAutoFit/>
          </a:bodyPr>
          <a:lstStyle/>
          <a:p>
            <a:pPr algn="ctr" eaLnBrk="1" hangingPunct="1">
              <a:buFontTx/>
              <a:buNone/>
            </a:pPr>
            <a:r>
              <a:rPr lang="en-US" sz="1800" b="1" dirty="0">
                <a:latin typeface="Arial" pitchFamily="34" charset="0"/>
                <a:sym typeface="Symbol" pitchFamily="18" charset="2"/>
              </a:rPr>
              <a:t>return</a:t>
            </a:r>
            <a:r>
              <a:rPr lang="en-US" sz="1800" dirty="0">
                <a:solidFill>
                  <a:schemeClr val="hlink"/>
                </a:solidFill>
                <a:latin typeface="Arial" pitchFamily="34" charset="0"/>
                <a:sym typeface="Symbol" pitchFamily="18" charset="2"/>
              </a:rPr>
              <a:t> blue edges</a:t>
            </a:r>
          </a:p>
        </p:txBody>
      </p:sp>
      <p:sp>
        <p:nvSpPr>
          <p:cNvPr id="155663" name="AutoShape 15"/>
          <p:cNvSpPr>
            <a:spLocks noChangeArrowheads="1"/>
          </p:cNvSpPr>
          <p:nvPr/>
        </p:nvSpPr>
        <p:spPr bwMode="auto">
          <a:xfrm>
            <a:off x="5257800" y="3048000"/>
            <a:ext cx="3276600" cy="2249488"/>
          </a:xfrm>
          <a:prstGeom prst="foldedCorner">
            <a:avLst>
              <a:gd name="adj" fmla="val 12500"/>
            </a:avLst>
          </a:prstGeom>
          <a:solidFill>
            <a:schemeClr val="bg1"/>
          </a:solidFill>
          <a:ln w="19050">
            <a:noFill/>
            <a:round/>
            <a:headEnd/>
            <a:tailEnd/>
          </a:ln>
          <a:effectLst>
            <a:outerShdw blurRad="127000" dist="38100" dir="2700000" algn="ctr" rotWithShape="0">
              <a:schemeClr val="bg2"/>
            </a:outerShdw>
          </a:effectLst>
          <a:extLst/>
        </p:spPr>
        <p:txBody>
          <a:bodyPr anchor="ctr">
            <a:spAutoFit/>
          </a:bodyPr>
          <a:lstStyle/>
          <a:p>
            <a:pPr algn="ctr" eaLnBrk="1" hangingPunct="1">
              <a:lnSpc>
                <a:spcPct val="140000"/>
              </a:lnSpc>
              <a:buFontTx/>
              <a:buNone/>
            </a:pPr>
            <a:r>
              <a:rPr lang="en-US" sz="1800" dirty="0">
                <a:solidFill>
                  <a:schemeClr val="hlink"/>
                </a:solidFill>
                <a:latin typeface="Arial" pitchFamily="34" charset="0"/>
                <a:sym typeface="Symbol" pitchFamily="18" charset="2"/>
              </a:rPr>
              <a:t>Color one more edge red/blue</a:t>
            </a:r>
            <a:br>
              <a:rPr lang="en-US" sz="1800" dirty="0">
                <a:solidFill>
                  <a:schemeClr val="hlink"/>
                </a:solidFill>
                <a:latin typeface="Arial" pitchFamily="34" charset="0"/>
                <a:sym typeface="Symbol" pitchFamily="18" charset="2"/>
              </a:rPr>
            </a:br>
            <a:r>
              <a:rPr lang="en-US" sz="1800" dirty="0">
                <a:solidFill>
                  <a:schemeClr val="hlink"/>
                </a:solidFill>
                <a:latin typeface="Arial" pitchFamily="34" charset="0"/>
                <a:sym typeface="Symbol" pitchFamily="18" charset="2"/>
              </a:rPr>
              <a:t>by applying either</a:t>
            </a:r>
            <a:br>
              <a:rPr lang="en-US" sz="1800" dirty="0">
                <a:solidFill>
                  <a:schemeClr val="hlink"/>
                </a:solidFill>
                <a:latin typeface="Arial" pitchFamily="34" charset="0"/>
                <a:sym typeface="Symbol" pitchFamily="18" charset="2"/>
              </a:rPr>
            </a:br>
            <a:r>
              <a:rPr lang="en-US" sz="1800" dirty="0">
                <a:solidFill>
                  <a:schemeClr val="hlink"/>
                </a:solidFill>
                <a:latin typeface="Arial" pitchFamily="34" charset="0"/>
                <a:sym typeface="Symbol" pitchFamily="18" charset="2"/>
              </a:rPr>
              <a:t>the Red-Rule or </a:t>
            </a:r>
            <a:br>
              <a:rPr lang="en-US" sz="1800" dirty="0">
                <a:solidFill>
                  <a:schemeClr val="hlink"/>
                </a:solidFill>
                <a:latin typeface="Arial" pitchFamily="34" charset="0"/>
                <a:sym typeface="Symbol" pitchFamily="18" charset="2"/>
              </a:rPr>
            </a:br>
            <a:r>
              <a:rPr lang="en-US" sz="1800" dirty="0">
                <a:solidFill>
                  <a:schemeClr val="hlink"/>
                </a:solidFill>
                <a:latin typeface="Arial" pitchFamily="34" charset="0"/>
                <a:sym typeface="Symbol" pitchFamily="18" charset="2"/>
              </a:rPr>
              <a:t>the Blue-Rule, </a:t>
            </a:r>
            <a:br>
              <a:rPr lang="en-US" sz="1800" dirty="0">
                <a:solidFill>
                  <a:schemeClr val="hlink"/>
                </a:solidFill>
                <a:latin typeface="Arial" pitchFamily="34" charset="0"/>
                <a:sym typeface="Symbol" pitchFamily="18" charset="2"/>
              </a:rPr>
            </a:br>
            <a:r>
              <a:rPr lang="en-US" sz="1800" dirty="0">
                <a:solidFill>
                  <a:schemeClr val="hlink"/>
                </a:solidFill>
                <a:latin typeface="Arial" pitchFamily="34" charset="0"/>
                <a:sym typeface="Symbol" pitchFamily="18" charset="2"/>
              </a:rPr>
              <a:t>whichever applies.</a:t>
            </a:r>
            <a:endParaRPr lang="en-US" dirty="0">
              <a:solidFill>
                <a:srgbClr val="CC0000"/>
              </a:solidFill>
              <a:latin typeface="Arial" pitchFamily="34" charset="0"/>
              <a:sym typeface="Symbol" pitchFamily="18" charset="2"/>
            </a:endParaRPr>
          </a:p>
        </p:txBody>
      </p:sp>
      <p:sp>
        <p:nvSpPr>
          <p:cNvPr id="77840" name="Text Box 16"/>
          <p:cNvSpPr txBox="1">
            <a:spLocks noChangeArrowheads="1"/>
          </p:cNvSpPr>
          <p:nvPr/>
        </p:nvSpPr>
        <p:spPr bwMode="auto">
          <a:xfrm>
            <a:off x="3352800" y="4419600"/>
            <a:ext cx="5413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400" b="1">
                <a:solidFill>
                  <a:schemeClr val="hlink"/>
                </a:solidFill>
                <a:latin typeface="Arial" pitchFamily="34" charset="0"/>
              </a:rPr>
              <a:t>YES</a:t>
            </a:r>
          </a:p>
        </p:txBody>
      </p:sp>
      <p:sp>
        <p:nvSpPr>
          <p:cNvPr id="77841" name="Text Box 17"/>
          <p:cNvSpPr txBox="1">
            <a:spLocks noChangeArrowheads="1"/>
          </p:cNvSpPr>
          <p:nvPr/>
        </p:nvSpPr>
        <p:spPr bwMode="auto">
          <a:xfrm>
            <a:off x="3886200" y="3810000"/>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400" b="1">
                <a:solidFill>
                  <a:schemeClr val="hlink"/>
                </a:solidFill>
                <a:latin typeface="Arial" pitchFamily="34" charset="0"/>
              </a:rPr>
              <a:t>NO</a:t>
            </a:r>
          </a:p>
        </p:txBody>
      </p:sp>
      <p:cxnSp>
        <p:nvCxnSpPr>
          <p:cNvPr id="77842" name="AutoShape 18"/>
          <p:cNvCxnSpPr>
            <a:cxnSpLocks noChangeShapeType="1"/>
            <a:stCxn id="155663" idx="0"/>
            <a:endCxn id="77837" idx="6"/>
          </p:cNvCxnSpPr>
          <p:nvPr/>
        </p:nvCxnSpPr>
        <p:spPr bwMode="auto">
          <a:xfrm rot="5400000" flipH="1">
            <a:off x="4981575" y="1123950"/>
            <a:ext cx="371475" cy="3457575"/>
          </a:xfrm>
          <a:prstGeom prst="bentConnector2">
            <a:avLst/>
          </a:prstGeom>
          <a:noFill/>
          <a:ln w="190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667" name="AutoShape 19"/>
          <p:cNvSpPr>
            <a:spLocks noChangeArrowheads="1"/>
          </p:cNvSpPr>
          <p:nvPr/>
        </p:nvSpPr>
        <p:spPr bwMode="auto">
          <a:xfrm>
            <a:off x="1752600" y="4800600"/>
            <a:ext cx="3302000" cy="417513"/>
          </a:xfrm>
          <a:prstGeom prst="roundRect">
            <a:avLst>
              <a:gd name="adj" fmla="val 16667"/>
            </a:avLst>
          </a:prstGeom>
          <a:solidFill>
            <a:srgbClr val="CCFF99"/>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buFontTx/>
              <a:buNone/>
            </a:pPr>
            <a:r>
              <a:rPr lang="en-US" sz="1800" dirty="0">
                <a:solidFill>
                  <a:srgbClr val="CC0000"/>
                </a:solidFill>
                <a:latin typeface="Arial" pitchFamily="34" charset="0"/>
              </a:rPr>
              <a:t>blue edges form an MST of G </a:t>
            </a:r>
          </a:p>
        </p:txBody>
      </p:sp>
      <p:sp>
        <p:nvSpPr>
          <p:cNvPr id="155668" name="AutoShape 20"/>
          <p:cNvSpPr>
            <a:spLocks noChangeArrowheads="1"/>
          </p:cNvSpPr>
          <p:nvPr/>
        </p:nvSpPr>
        <p:spPr bwMode="auto">
          <a:xfrm>
            <a:off x="2743200" y="3733800"/>
            <a:ext cx="1219200" cy="685800"/>
          </a:xfrm>
          <a:prstGeom prst="hexagon">
            <a:avLst>
              <a:gd name="adj" fmla="val 44444"/>
              <a:gd name="vf" fmla="val 115470"/>
            </a:avLst>
          </a:prstGeom>
          <a:solidFill>
            <a:schemeClr val="bg1"/>
          </a:solid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lstStyle/>
          <a:p>
            <a:pPr algn="ctr" eaLnBrk="1" hangingPunct="1">
              <a:buFontTx/>
              <a:buNone/>
            </a:pPr>
            <a:r>
              <a:rPr lang="en-US" sz="1800" dirty="0">
                <a:solidFill>
                  <a:schemeClr val="hlink"/>
                </a:solidFill>
                <a:latin typeface="Arial" pitchFamily="34" charset="0"/>
                <a:sym typeface="Symbol" pitchFamily="18" charset="2"/>
              </a:rPr>
              <a:t> white</a:t>
            </a:r>
            <a:br>
              <a:rPr lang="en-US" sz="1800" dirty="0">
                <a:solidFill>
                  <a:schemeClr val="hlink"/>
                </a:solidFill>
                <a:latin typeface="Arial" pitchFamily="34" charset="0"/>
                <a:sym typeface="Symbol" pitchFamily="18" charset="2"/>
              </a:rPr>
            </a:br>
            <a:r>
              <a:rPr lang="en-US" sz="1800" dirty="0">
                <a:solidFill>
                  <a:schemeClr val="hlink"/>
                </a:solidFill>
                <a:latin typeface="Arial" pitchFamily="34" charset="0"/>
                <a:sym typeface="Symbol" pitchFamily="18" charset="2"/>
              </a:rPr>
              <a:t>edge</a:t>
            </a:r>
          </a:p>
        </p:txBody>
      </p:sp>
      <p:cxnSp>
        <p:nvCxnSpPr>
          <p:cNvPr id="77845" name="AutoShape 21"/>
          <p:cNvCxnSpPr>
            <a:cxnSpLocks noChangeShapeType="1"/>
            <a:stCxn id="155668" idx="1"/>
            <a:endCxn id="155663" idx="1"/>
          </p:cNvCxnSpPr>
          <p:nvPr/>
        </p:nvCxnSpPr>
        <p:spPr bwMode="auto">
          <a:xfrm>
            <a:off x="3971925" y="4076700"/>
            <a:ext cx="1276350" cy="96838"/>
          </a:xfrm>
          <a:prstGeom prst="bentConnector3">
            <a:avLst>
              <a:gd name="adj1" fmla="val 50000"/>
            </a:avLst>
          </a:prstGeom>
          <a:noFill/>
          <a:ln w="190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846" name="AutoShape 22"/>
          <p:cNvSpPr>
            <a:spLocks noChangeArrowheads="1"/>
          </p:cNvSpPr>
          <p:nvPr/>
        </p:nvSpPr>
        <p:spPr bwMode="auto">
          <a:xfrm>
            <a:off x="7162800" y="228600"/>
            <a:ext cx="1752600" cy="1600200"/>
          </a:xfrm>
          <a:prstGeom prst="cloudCallout">
            <a:avLst>
              <a:gd name="adj1" fmla="val -42662"/>
              <a:gd name="adj2" fmla="val 54861"/>
            </a:avLst>
          </a:prstGeom>
          <a:gradFill rotWithShape="0">
            <a:gsLst>
              <a:gs pos="0">
                <a:srgbClr val="767693"/>
              </a:gs>
              <a:gs pos="50000">
                <a:srgbClr val="CCCCFF"/>
              </a:gs>
              <a:gs pos="100000">
                <a:srgbClr val="767693"/>
              </a:gs>
            </a:gsLst>
            <a:lin ang="5400000" scaled="1"/>
          </a:gradFill>
          <a:ln w="9525">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lstStyle/>
          <a:p>
            <a:pPr algn="ctr" eaLnBrk="1" hangingPunct="1">
              <a:buFontTx/>
              <a:buNone/>
            </a:pPr>
            <a:endParaRPr lang="en-US" sz="2000">
              <a:solidFill>
                <a:schemeClr val="tx2"/>
              </a:solidFill>
              <a:latin typeface="Arial" pitchFamily="34" charset="0"/>
            </a:endParaRPr>
          </a:p>
        </p:txBody>
      </p:sp>
      <p:sp>
        <p:nvSpPr>
          <p:cNvPr id="155671" name="Rectangle 23"/>
          <p:cNvSpPr>
            <a:spLocks noChangeArrowheads="1"/>
          </p:cNvSpPr>
          <p:nvPr/>
        </p:nvSpPr>
        <p:spPr bwMode="auto">
          <a:xfrm>
            <a:off x="5257800" y="5410200"/>
            <a:ext cx="3276600" cy="841375"/>
          </a:xfrm>
          <a:prstGeom prst="rect">
            <a:avLst/>
          </a:prstGeom>
          <a:gradFill rotWithShape="0">
            <a:gsLst>
              <a:gs pos="0">
                <a:srgbClr val="99CCFF"/>
              </a:gs>
              <a:gs pos="100000">
                <a:srgbClr val="79A1C9"/>
              </a:gs>
            </a:gsLst>
            <a:lin ang="0" scaled="1"/>
          </a:grad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nchorCtr="1">
            <a:spAutoFit/>
          </a:bodyPr>
          <a:lstStyle/>
          <a:p>
            <a:pPr algn="ctr" eaLnBrk="1" hangingPunct="1">
              <a:buFontTx/>
              <a:buNone/>
            </a:pPr>
            <a:r>
              <a:rPr lang="en-US" sz="2400" dirty="0">
                <a:latin typeface="Arial" pitchFamily="34" charset="0"/>
                <a:sym typeface="Symbol" pitchFamily="18" charset="2"/>
              </a:rPr>
              <a:t>MP = # white edges</a:t>
            </a:r>
            <a:br>
              <a:rPr lang="en-US" sz="2400" dirty="0">
                <a:latin typeface="Arial" pitchFamily="34" charset="0"/>
                <a:sym typeface="Symbol" pitchFamily="18" charset="2"/>
              </a:rPr>
            </a:br>
            <a:r>
              <a:rPr lang="en-US" sz="2400" b="1" dirty="0">
                <a:solidFill>
                  <a:srgbClr val="CC0000"/>
                </a:solidFill>
                <a:latin typeface="Arial" pitchFamily="34" charset="0"/>
                <a:sym typeface="Symbol" pitchFamily="18" charset="2"/>
              </a:rPr>
              <a:t>???</a:t>
            </a:r>
          </a:p>
        </p:txBody>
      </p:sp>
      <p:sp>
        <p:nvSpPr>
          <p:cNvPr id="155672" name="AutoShape 24"/>
          <p:cNvSpPr>
            <a:spLocks noChangeArrowheads="1"/>
          </p:cNvSpPr>
          <p:nvPr/>
        </p:nvSpPr>
        <p:spPr bwMode="auto">
          <a:xfrm>
            <a:off x="152400" y="3429000"/>
            <a:ext cx="1828800" cy="838200"/>
          </a:xfrm>
          <a:prstGeom prst="wedgeRectCallout">
            <a:avLst>
              <a:gd name="adj1" fmla="val 54949"/>
              <a:gd name="adj2" fmla="val 67991"/>
            </a:avLst>
          </a:prstGeom>
          <a:gradFill rotWithShape="0">
            <a:gsLst>
              <a:gs pos="0">
                <a:srgbClr val="CCFFCC"/>
              </a:gs>
              <a:gs pos="100000">
                <a:srgbClr val="A1C9A1"/>
              </a:gs>
            </a:gsLst>
            <a:lin ang="0" scaled="1"/>
          </a:gra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lstStyle/>
          <a:p>
            <a:pPr algn="ctr" eaLnBrk="1" hangingPunct="1">
              <a:lnSpc>
                <a:spcPct val="75000"/>
              </a:lnSpc>
              <a:buFontTx/>
              <a:buNone/>
            </a:pPr>
            <a:r>
              <a:rPr lang="en-US" dirty="0">
                <a:solidFill>
                  <a:srgbClr val="CC0000"/>
                </a:solidFill>
                <a:latin typeface="Arial" pitchFamily="34" charset="0"/>
              </a:rPr>
              <a:t>LI</a:t>
            </a:r>
            <a:r>
              <a:rPr lang="en-US" dirty="0">
                <a:solidFill>
                  <a:schemeClr val="tx2"/>
                </a:solidFill>
                <a:latin typeface="Arial" pitchFamily="34" charset="0"/>
              </a:rPr>
              <a:t>  &amp;  </a:t>
            </a:r>
            <a:r>
              <a:rPr lang="en-US" dirty="0">
                <a:solidFill>
                  <a:schemeClr val="tx2"/>
                </a:solidFill>
                <a:latin typeface="Arial" pitchFamily="34" charset="0"/>
                <a:sym typeface="Symbol" pitchFamily="18" charset="2"/>
              </a:rPr>
              <a:t></a:t>
            </a:r>
            <a:r>
              <a:rPr lang="en-US" dirty="0">
                <a:solidFill>
                  <a:schemeClr val="hlink"/>
                </a:solidFill>
                <a:latin typeface="Arial" pitchFamily="34" charset="0"/>
              </a:rPr>
              <a:t>exit-</a:t>
            </a:r>
            <a:r>
              <a:rPr lang="en-US" dirty="0" err="1">
                <a:solidFill>
                  <a:schemeClr val="hlink"/>
                </a:solidFill>
                <a:latin typeface="Arial" pitchFamily="34" charset="0"/>
              </a:rPr>
              <a:t>cond</a:t>
            </a:r>
            <a:r>
              <a:rPr lang="en-US" dirty="0">
                <a:solidFill>
                  <a:schemeClr val="tx2"/>
                </a:solidFill>
                <a:latin typeface="Arial" pitchFamily="34" charset="0"/>
                <a:sym typeface="Symbol" pitchFamily="18" charset="2"/>
              </a:rPr>
              <a:t></a:t>
            </a:r>
            <a:r>
              <a:rPr lang="en-US" dirty="0">
                <a:solidFill>
                  <a:schemeClr val="tx2"/>
                </a:solidFill>
                <a:latin typeface="Arial" pitchFamily="34" charset="0"/>
              </a:rPr>
              <a:t> </a:t>
            </a:r>
            <a:r>
              <a:rPr lang="en-US" sz="1800" dirty="0">
                <a:solidFill>
                  <a:schemeClr val="tx2"/>
                </a:solidFill>
                <a:latin typeface="Arial" pitchFamily="34" charset="0"/>
                <a:sym typeface="Symbol" pitchFamily="18" charset="2"/>
              </a:rPr>
              <a:t></a:t>
            </a:r>
            <a:r>
              <a:rPr lang="en-US" dirty="0">
                <a:solidFill>
                  <a:schemeClr val="tx2"/>
                </a:solidFill>
                <a:latin typeface="Arial" pitchFamily="34" charset="0"/>
              </a:rPr>
              <a:t>  </a:t>
            </a:r>
          </a:p>
          <a:p>
            <a:pPr algn="ctr" eaLnBrk="1" hangingPunct="1">
              <a:lnSpc>
                <a:spcPct val="75000"/>
              </a:lnSpc>
              <a:buFontTx/>
              <a:buNone/>
            </a:pPr>
            <a:r>
              <a:rPr lang="en-US" dirty="0" err="1">
                <a:solidFill>
                  <a:srgbClr val="CC0000"/>
                </a:solidFill>
                <a:latin typeface="Arial" pitchFamily="34" charset="0"/>
              </a:rPr>
              <a:t>PostLoopCond</a:t>
            </a:r>
            <a:endParaRPr lang="en-US" dirty="0">
              <a:solidFill>
                <a:srgbClr val="CC0000"/>
              </a:solidFill>
              <a:latin typeface="Arial" pitchFamily="34" charset="0"/>
            </a:endParaRPr>
          </a:p>
        </p:txBody>
      </p:sp>
      <p:sp>
        <p:nvSpPr>
          <p:cNvPr id="155673" name="AutoShape 25"/>
          <p:cNvSpPr>
            <a:spLocks noChangeArrowheads="1"/>
          </p:cNvSpPr>
          <p:nvPr/>
        </p:nvSpPr>
        <p:spPr bwMode="auto">
          <a:xfrm>
            <a:off x="152400" y="1600200"/>
            <a:ext cx="1752600" cy="838200"/>
          </a:xfrm>
          <a:prstGeom prst="wedgeRectCallout">
            <a:avLst>
              <a:gd name="adj1" fmla="val 57606"/>
              <a:gd name="adj2" fmla="val 72917"/>
            </a:avLst>
          </a:prstGeom>
          <a:gradFill rotWithShape="0">
            <a:gsLst>
              <a:gs pos="0">
                <a:srgbClr val="CCFFCC"/>
              </a:gs>
              <a:gs pos="100000">
                <a:srgbClr val="A7D1A7"/>
              </a:gs>
            </a:gsLst>
            <a:lin ang="0" scaled="1"/>
          </a:gra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lstStyle/>
          <a:p>
            <a:pPr algn="ctr" eaLnBrk="1" hangingPunct="1">
              <a:buFontTx/>
              <a:buNone/>
            </a:pPr>
            <a:r>
              <a:rPr lang="en-US" sz="1800" dirty="0">
                <a:solidFill>
                  <a:srgbClr val="CC0000"/>
                </a:solidFill>
                <a:latin typeface="Arial" pitchFamily="34" charset="0"/>
              </a:rPr>
              <a:t>Pre-Cond</a:t>
            </a:r>
            <a:r>
              <a:rPr lang="en-US" sz="1800" dirty="0">
                <a:solidFill>
                  <a:schemeClr val="tx2"/>
                </a:solidFill>
                <a:latin typeface="Arial" pitchFamily="34" charset="0"/>
              </a:rPr>
              <a:t>  &amp;  </a:t>
            </a:r>
            <a:br>
              <a:rPr lang="en-US" sz="1800" dirty="0">
                <a:solidFill>
                  <a:schemeClr val="tx2"/>
                </a:solidFill>
                <a:latin typeface="Arial" pitchFamily="34" charset="0"/>
              </a:rPr>
            </a:br>
            <a:r>
              <a:rPr lang="en-US" sz="1800" dirty="0" err="1">
                <a:solidFill>
                  <a:schemeClr val="hlink"/>
                </a:solidFill>
                <a:latin typeface="Arial" pitchFamily="34" charset="0"/>
                <a:sym typeface="Symbol" pitchFamily="18" charset="2"/>
              </a:rPr>
              <a:t>PreLoopCode</a:t>
            </a:r>
            <a:r>
              <a:rPr lang="en-US" sz="1800" dirty="0">
                <a:solidFill>
                  <a:schemeClr val="tx2"/>
                </a:solidFill>
                <a:latin typeface="Arial" pitchFamily="34" charset="0"/>
              </a:rPr>
              <a:t> </a:t>
            </a:r>
            <a:br>
              <a:rPr lang="en-US" sz="1800" dirty="0">
                <a:solidFill>
                  <a:schemeClr val="tx2"/>
                </a:solidFill>
                <a:latin typeface="Arial" pitchFamily="34" charset="0"/>
              </a:rPr>
            </a:br>
            <a:r>
              <a:rPr lang="en-US" sz="1800" dirty="0">
                <a:solidFill>
                  <a:schemeClr val="tx2"/>
                </a:solidFill>
                <a:latin typeface="Arial" pitchFamily="34" charset="0"/>
                <a:sym typeface="Symbol" pitchFamily="18" charset="2"/>
              </a:rPr>
              <a:t></a:t>
            </a:r>
            <a:r>
              <a:rPr lang="en-US" sz="1800" dirty="0">
                <a:solidFill>
                  <a:schemeClr val="tx2"/>
                </a:solidFill>
                <a:latin typeface="Arial" pitchFamily="34" charset="0"/>
              </a:rPr>
              <a:t>  </a:t>
            </a:r>
            <a:r>
              <a:rPr lang="en-US" sz="1800" dirty="0">
                <a:solidFill>
                  <a:srgbClr val="CC0000"/>
                </a:solidFill>
                <a:latin typeface="Arial" pitchFamily="34" charset="0"/>
              </a:rPr>
              <a:t>LI</a:t>
            </a:r>
          </a:p>
        </p:txBody>
      </p:sp>
      <p:sp>
        <p:nvSpPr>
          <p:cNvPr id="155674" name="AutoShape 26"/>
          <p:cNvSpPr>
            <a:spLocks noChangeArrowheads="1"/>
          </p:cNvSpPr>
          <p:nvPr/>
        </p:nvSpPr>
        <p:spPr bwMode="auto">
          <a:xfrm>
            <a:off x="152400" y="5334000"/>
            <a:ext cx="1752600" cy="914400"/>
          </a:xfrm>
          <a:prstGeom prst="wedgeRectCallout">
            <a:avLst>
              <a:gd name="adj1" fmla="val 59690"/>
              <a:gd name="adj2" fmla="val 42708"/>
            </a:avLst>
          </a:prstGeom>
          <a:gradFill rotWithShape="0">
            <a:gsLst>
              <a:gs pos="0">
                <a:srgbClr val="CCFFCC"/>
              </a:gs>
              <a:gs pos="100000">
                <a:srgbClr val="A1C9A1"/>
              </a:gs>
            </a:gsLst>
            <a:lin ang="0" scaled="1"/>
          </a:gra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lstStyle/>
          <a:p>
            <a:pPr algn="ctr" eaLnBrk="1" hangingPunct="1">
              <a:buFontTx/>
              <a:buNone/>
            </a:pPr>
            <a:r>
              <a:rPr lang="en-US">
                <a:solidFill>
                  <a:srgbClr val="CC0000"/>
                </a:solidFill>
                <a:latin typeface="Arial" pitchFamily="34" charset="0"/>
              </a:rPr>
              <a:t>PostLoopCond</a:t>
            </a:r>
            <a:r>
              <a:rPr lang="en-US">
                <a:solidFill>
                  <a:schemeClr val="tx2"/>
                </a:solidFill>
                <a:latin typeface="Arial" pitchFamily="34" charset="0"/>
              </a:rPr>
              <a:t>  &amp; </a:t>
            </a:r>
            <a:r>
              <a:rPr lang="en-US">
                <a:solidFill>
                  <a:schemeClr val="hlink"/>
                </a:solidFill>
                <a:latin typeface="Arial" pitchFamily="34" charset="0"/>
                <a:sym typeface="Symbol" pitchFamily="18" charset="2"/>
              </a:rPr>
              <a:t>PostLoopCode</a:t>
            </a:r>
            <a:r>
              <a:rPr lang="en-US">
                <a:solidFill>
                  <a:schemeClr val="tx2"/>
                </a:solidFill>
                <a:latin typeface="Arial" pitchFamily="34" charset="0"/>
              </a:rPr>
              <a:t> </a:t>
            </a:r>
            <a:br>
              <a:rPr lang="en-US">
                <a:solidFill>
                  <a:schemeClr val="tx2"/>
                </a:solidFill>
                <a:latin typeface="Arial" pitchFamily="34" charset="0"/>
              </a:rPr>
            </a:br>
            <a:r>
              <a:rPr lang="en-US">
                <a:solidFill>
                  <a:schemeClr val="tx2"/>
                </a:solidFill>
                <a:latin typeface="Arial" pitchFamily="34" charset="0"/>
                <a:sym typeface="Symbol" pitchFamily="18" charset="2"/>
              </a:rPr>
              <a:t></a:t>
            </a:r>
            <a:r>
              <a:rPr lang="en-US">
                <a:solidFill>
                  <a:schemeClr val="tx2"/>
                </a:solidFill>
                <a:latin typeface="Arial" pitchFamily="34" charset="0"/>
              </a:rPr>
              <a:t>  </a:t>
            </a:r>
            <a:r>
              <a:rPr lang="en-US">
                <a:solidFill>
                  <a:srgbClr val="CC0000"/>
                </a:solidFill>
                <a:latin typeface="Arial" pitchFamily="34" charset="0"/>
              </a:rPr>
              <a:t>Post-Cond</a:t>
            </a:r>
          </a:p>
        </p:txBody>
      </p:sp>
      <p:sp>
        <p:nvSpPr>
          <p:cNvPr id="155675" name="AutoShape 27"/>
          <p:cNvSpPr>
            <a:spLocks noChangeArrowheads="1"/>
          </p:cNvSpPr>
          <p:nvPr/>
        </p:nvSpPr>
        <p:spPr bwMode="auto">
          <a:xfrm>
            <a:off x="4495800" y="1295400"/>
            <a:ext cx="2438400" cy="1143000"/>
          </a:xfrm>
          <a:prstGeom prst="wedgeRectCallout">
            <a:avLst>
              <a:gd name="adj1" fmla="val -16926"/>
              <a:gd name="adj2" fmla="val 90833"/>
            </a:avLst>
          </a:prstGeom>
          <a:gradFill rotWithShape="0">
            <a:gsLst>
              <a:gs pos="0">
                <a:srgbClr val="CCFFCC"/>
              </a:gs>
              <a:gs pos="100000">
                <a:srgbClr val="A1C9A1"/>
              </a:gs>
            </a:gsLst>
            <a:lin ang="0" scaled="1"/>
          </a:gra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lstStyle/>
          <a:p>
            <a:pPr algn="ctr" eaLnBrk="1" hangingPunct="1">
              <a:buFontTx/>
              <a:buNone/>
            </a:pPr>
            <a:r>
              <a:rPr lang="en-US" sz="2000" dirty="0">
                <a:solidFill>
                  <a:srgbClr val="CC0000"/>
                </a:solidFill>
                <a:latin typeface="Arial" pitchFamily="34" charset="0"/>
              </a:rPr>
              <a:t>LI</a:t>
            </a:r>
            <a:r>
              <a:rPr lang="en-US" sz="2000" dirty="0">
                <a:solidFill>
                  <a:schemeClr val="tx2"/>
                </a:solidFill>
                <a:latin typeface="Arial" pitchFamily="34" charset="0"/>
              </a:rPr>
              <a:t>  &amp;  </a:t>
            </a:r>
            <a:r>
              <a:rPr lang="en-US" sz="2000" dirty="0">
                <a:solidFill>
                  <a:schemeClr val="tx2"/>
                </a:solidFill>
                <a:latin typeface="Arial" pitchFamily="34" charset="0"/>
                <a:sym typeface="Symbol" pitchFamily="18" charset="2"/>
              </a:rPr>
              <a:t></a:t>
            </a:r>
            <a:r>
              <a:rPr lang="en-US" sz="2000" dirty="0">
                <a:solidFill>
                  <a:schemeClr val="hlink"/>
                </a:solidFill>
                <a:latin typeface="Arial" pitchFamily="34" charset="0"/>
              </a:rPr>
              <a:t>exit-</a:t>
            </a:r>
            <a:r>
              <a:rPr lang="en-US" sz="2000" dirty="0" err="1">
                <a:solidFill>
                  <a:schemeClr val="hlink"/>
                </a:solidFill>
                <a:latin typeface="Arial" pitchFamily="34" charset="0"/>
              </a:rPr>
              <a:t>cond</a:t>
            </a:r>
            <a:r>
              <a:rPr lang="en-US" sz="2000" dirty="0">
                <a:solidFill>
                  <a:schemeClr val="tx2"/>
                </a:solidFill>
                <a:latin typeface="Arial" pitchFamily="34" charset="0"/>
                <a:sym typeface="Symbol" pitchFamily="18" charset="2"/>
              </a:rPr>
              <a:t></a:t>
            </a:r>
            <a:r>
              <a:rPr lang="en-US" sz="2000" dirty="0">
                <a:solidFill>
                  <a:schemeClr val="tx2"/>
                </a:solidFill>
                <a:latin typeface="Arial" pitchFamily="34" charset="0"/>
              </a:rPr>
              <a:t> </a:t>
            </a:r>
            <a:br>
              <a:rPr lang="en-US" sz="2000" dirty="0">
                <a:solidFill>
                  <a:schemeClr val="tx2"/>
                </a:solidFill>
                <a:latin typeface="Arial" pitchFamily="34" charset="0"/>
              </a:rPr>
            </a:br>
            <a:r>
              <a:rPr lang="en-US" sz="2000" dirty="0">
                <a:solidFill>
                  <a:schemeClr val="tx2"/>
                </a:solidFill>
                <a:latin typeface="Arial" pitchFamily="34" charset="0"/>
              </a:rPr>
              <a:t>&amp;  </a:t>
            </a:r>
            <a:r>
              <a:rPr lang="en-US" sz="2000" dirty="0" err="1">
                <a:solidFill>
                  <a:schemeClr val="hlink"/>
                </a:solidFill>
                <a:latin typeface="Arial" pitchFamily="34" charset="0"/>
              </a:rPr>
              <a:t>LoopCode</a:t>
            </a:r>
            <a:r>
              <a:rPr lang="en-US" sz="2000" dirty="0">
                <a:solidFill>
                  <a:schemeClr val="tx2"/>
                </a:solidFill>
                <a:latin typeface="Arial" pitchFamily="34" charset="0"/>
              </a:rPr>
              <a:t> </a:t>
            </a:r>
            <a:r>
              <a:rPr lang="en-US" sz="2000" dirty="0">
                <a:solidFill>
                  <a:schemeClr val="tx2"/>
                </a:solidFill>
                <a:latin typeface="Arial" pitchFamily="34" charset="0"/>
                <a:sym typeface="Symbol" pitchFamily="18" charset="2"/>
              </a:rPr>
              <a:t> </a:t>
            </a:r>
            <a:r>
              <a:rPr lang="en-US" sz="2000" dirty="0">
                <a:solidFill>
                  <a:srgbClr val="CC0000"/>
                </a:solidFill>
                <a:latin typeface="Arial" pitchFamily="34" charset="0"/>
                <a:sym typeface="Symbol" pitchFamily="18" charset="2"/>
              </a:rPr>
              <a:t>LI </a:t>
            </a:r>
            <a:r>
              <a:rPr lang="en-US" sz="2400" b="1" dirty="0">
                <a:solidFill>
                  <a:srgbClr val="CC0000"/>
                </a:solidFill>
                <a:latin typeface="Arial" pitchFamily="34" charset="0"/>
                <a:sym typeface="Symbol" pitchFamily="18" charset="2"/>
              </a:rPr>
              <a:t>???</a:t>
            </a:r>
            <a:endParaRPr lang="en-US" sz="2400" b="1" dirty="0">
              <a:solidFill>
                <a:srgbClr val="CC0000"/>
              </a:solidFill>
              <a:latin typeface="Arial" pitchFamily="34" charset="0"/>
            </a:endParaRPr>
          </a:p>
        </p:txBody>
      </p:sp>
      <p:sp>
        <p:nvSpPr>
          <p:cNvPr id="77852" name="Rectangle 28"/>
          <p:cNvSpPr>
            <a:spLocks noGrp="1" noChangeArrowheads="1"/>
          </p:cNvSpPr>
          <p:nvPr>
            <p:ph type="title"/>
          </p:nvPr>
        </p:nvSpPr>
        <p:spPr>
          <a:xfrm>
            <a:off x="7086600" y="381000"/>
            <a:ext cx="1828800" cy="1143000"/>
          </a:xfrm>
        </p:spPr>
        <p:txBody>
          <a:bodyPr/>
          <a:lstStyle/>
          <a:p>
            <a:pPr eaLnBrk="1" hangingPunct="1"/>
            <a:r>
              <a:rPr lang="en-US" sz="2000" dirty="0" smtClean="0">
                <a:latin typeface="Arial" pitchFamily="34" charset="0"/>
              </a:rPr>
              <a:t>Greedy  </a:t>
            </a:r>
            <a:br>
              <a:rPr lang="en-US" sz="2000" dirty="0" smtClean="0">
                <a:latin typeface="Arial" pitchFamily="34" charset="0"/>
              </a:rPr>
            </a:br>
            <a:r>
              <a:rPr lang="en-US" sz="2000" dirty="0" smtClean="0">
                <a:latin typeface="Arial" pitchFamily="34" charset="0"/>
              </a:rPr>
              <a:t>method</a:t>
            </a:r>
          </a:p>
        </p:txBody>
      </p:sp>
      <p:sp>
        <p:nvSpPr>
          <p:cNvPr id="77853" name="Rectangle 29"/>
          <p:cNvSpPr>
            <a:spLocks noChangeArrowheads="1"/>
          </p:cNvSpPr>
          <p:nvPr/>
        </p:nvSpPr>
        <p:spPr bwMode="auto">
          <a:xfrm>
            <a:off x="914400" y="152400"/>
            <a:ext cx="4800600" cy="4572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2400">
                <a:latin typeface="Arial Rounded MT Bold" pitchFamily="34" charset="0"/>
              </a:rPr>
              <a:t>Generic MST Algorithm</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75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60">
                                            <p:txEl>
                                              <p:charRg st="4294967295" end="4294967295"/>
                                            </p:txEl>
                                          </p:spTgt>
                                        </p:tgtEl>
                                        <p:attrNameLst>
                                          <p:attrName>style.visibility</p:attrName>
                                        </p:attrNameLst>
                                      </p:cBhvr>
                                      <p:to>
                                        <p:strVal val="visible"/>
                                      </p:to>
                                    </p:set>
                                    <p:animEffect transition="in" filter="wipe(left)">
                                      <p:cBhvr>
                                        <p:cTn id="7" dur="500"/>
                                        <p:tgtEl>
                                          <p:spTgt spid="155660">
                                            <p:txEl>
                                              <p:charRg st="4294967295" end="429496729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5659">
                                            <p:txEl>
                                              <p:charRg st="4294967295" end="4294967295"/>
                                            </p:txEl>
                                          </p:spTgt>
                                        </p:tgtEl>
                                        <p:attrNameLst>
                                          <p:attrName>style.visibility</p:attrName>
                                        </p:attrNameLst>
                                      </p:cBhvr>
                                      <p:to>
                                        <p:strVal val="visible"/>
                                      </p:to>
                                    </p:set>
                                    <p:animEffect transition="in" filter="wipe(up)">
                                      <p:cBhvr>
                                        <p:cTn id="12" dur="500"/>
                                        <p:tgtEl>
                                          <p:spTgt spid="155659">
                                            <p:txEl>
                                              <p:charRg st="4294967295" end="4294967295"/>
                                            </p:txEl>
                                          </p:spTgt>
                                        </p:tgtEl>
                                      </p:cBhvr>
                                    </p:animEffect>
                                  </p:childTnLst>
                                </p:cTn>
                              </p:par>
                            </p:childTnLst>
                          </p:cTn>
                        </p:par>
                        <p:par>
                          <p:cTn id="13" fill="hold" nodeType="afterGroup">
                            <p:stCondLst>
                              <p:cond delay="500"/>
                            </p:stCondLst>
                            <p:childTnLst>
                              <p:par>
                                <p:cTn id="14" presetID="2" presetClass="entr" presetSubtype="8" fill="hold" grpId="0" nodeType="afterEffect">
                                  <p:stCondLst>
                                    <p:cond delay="1000"/>
                                  </p:stCondLst>
                                  <p:childTnLst>
                                    <p:set>
                                      <p:cBhvr>
                                        <p:cTn id="15" dur="1" fill="hold">
                                          <p:stCondLst>
                                            <p:cond delay="0"/>
                                          </p:stCondLst>
                                        </p:cTn>
                                        <p:tgtEl>
                                          <p:spTgt spid="155673"/>
                                        </p:tgtEl>
                                        <p:attrNameLst>
                                          <p:attrName>style.visibility</p:attrName>
                                        </p:attrNameLst>
                                      </p:cBhvr>
                                      <p:to>
                                        <p:strVal val="visible"/>
                                      </p:to>
                                    </p:set>
                                    <p:anim calcmode="lin" valueType="num">
                                      <p:cBhvr additive="base">
                                        <p:cTn id="16" dur="500" fill="hold"/>
                                        <p:tgtEl>
                                          <p:spTgt spid="155673"/>
                                        </p:tgtEl>
                                        <p:attrNameLst>
                                          <p:attrName>ppt_x</p:attrName>
                                        </p:attrNameLst>
                                      </p:cBhvr>
                                      <p:tavLst>
                                        <p:tav tm="0">
                                          <p:val>
                                            <p:strVal val="0-#ppt_w/2"/>
                                          </p:val>
                                        </p:tav>
                                        <p:tav tm="100000">
                                          <p:val>
                                            <p:strVal val="#ppt_x"/>
                                          </p:val>
                                        </p:tav>
                                      </p:tavLst>
                                    </p:anim>
                                    <p:anim calcmode="lin" valueType="num">
                                      <p:cBhvr additive="base">
                                        <p:cTn id="17" dur="500" fill="hold"/>
                                        <p:tgtEl>
                                          <p:spTgt spid="155673"/>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55668">
                                            <p:txEl>
                                              <p:charRg st="4294967295" end="4294967295"/>
                                            </p:txEl>
                                          </p:spTgt>
                                        </p:tgtEl>
                                        <p:attrNameLst>
                                          <p:attrName>style.visibility</p:attrName>
                                        </p:attrNameLst>
                                      </p:cBhvr>
                                      <p:to>
                                        <p:strVal val="visible"/>
                                      </p:to>
                                    </p:set>
                                    <p:animEffect transition="in" filter="wipe(up)">
                                      <p:cBhvr>
                                        <p:cTn id="22" dur="500"/>
                                        <p:tgtEl>
                                          <p:spTgt spid="155668">
                                            <p:txEl>
                                              <p:charRg st="4294967295" end="429496729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5667">
                                            <p:txEl>
                                              <p:charRg st="4294967295" end="4294967295"/>
                                            </p:txEl>
                                          </p:spTgt>
                                        </p:tgtEl>
                                        <p:attrNameLst>
                                          <p:attrName>style.visibility</p:attrName>
                                        </p:attrNameLst>
                                      </p:cBhvr>
                                      <p:to>
                                        <p:strVal val="visible"/>
                                      </p:to>
                                    </p:set>
                                    <p:animEffect transition="in" filter="wipe(left)">
                                      <p:cBhvr>
                                        <p:cTn id="27" dur="500"/>
                                        <p:tgtEl>
                                          <p:spTgt spid="155667">
                                            <p:txEl>
                                              <p:charRg st="4294967295" end="4294967295"/>
                                            </p:txEl>
                                          </p:spTgt>
                                        </p:tgtEl>
                                      </p:cBhvr>
                                    </p:animEffect>
                                  </p:childTnLst>
                                </p:cTn>
                              </p:par>
                            </p:childTnLst>
                          </p:cTn>
                        </p:par>
                        <p:par>
                          <p:cTn id="28" fill="hold" nodeType="afterGroup">
                            <p:stCondLst>
                              <p:cond delay="500"/>
                            </p:stCondLst>
                            <p:childTnLst>
                              <p:par>
                                <p:cTn id="29" presetID="2" presetClass="entr" presetSubtype="8" fill="hold" grpId="0" nodeType="afterEffect">
                                  <p:stCondLst>
                                    <p:cond delay="1000"/>
                                  </p:stCondLst>
                                  <p:childTnLst>
                                    <p:set>
                                      <p:cBhvr>
                                        <p:cTn id="30" dur="1" fill="hold">
                                          <p:stCondLst>
                                            <p:cond delay="0"/>
                                          </p:stCondLst>
                                        </p:cTn>
                                        <p:tgtEl>
                                          <p:spTgt spid="155672"/>
                                        </p:tgtEl>
                                        <p:attrNameLst>
                                          <p:attrName>style.visibility</p:attrName>
                                        </p:attrNameLst>
                                      </p:cBhvr>
                                      <p:to>
                                        <p:strVal val="visible"/>
                                      </p:to>
                                    </p:set>
                                    <p:anim calcmode="lin" valueType="num">
                                      <p:cBhvr additive="base">
                                        <p:cTn id="31" dur="500" fill="hold"/>
                                        <p:tgtEl>
                                          <p:spTgt spid="155672"/>
                                        </p:tgtEl>
                                        <p:attrNameLst>
                                          <p:attrName>ppt_x</p:attrName>
                                        </p:attrNameLst>
                                      </p:cBhvr>
                                      <p:tavLst>
                                        <p:tav tm="0">
                                          <p:val>
                                            <p:strVal val="0-#ppt_w/2"/>
                                          </p:val>
                                        </p:tav>
                                        <p:tav tm="100000">
                                          <p:val>
                                            <p:strVal val="#ppt_x"/>
                                          </p:val>
                                        </p:tav>
                                      </p:tavLst>
                                    </p:anim>
                                    <p:anim calcmode="lin" valueType="num">
                                      <p:cBhvr additive="base">
                                        <p:cTn id="32" dur="500" fill="hold"/>
                                        <p:tgtEl>
                                          <p:spTgt spid="155672"/>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5662">
                                            <p:txEl>
                                              <p:charRg st="4294967295" end="4294967295"/>
                                            </p:txEl>
                                          </p:spTgt>
                                        </p:tgtEl>
                                        <p:attrNameLst>
                                          <p:attrName>style.visibility</p:attrName>
                                        </p:attrNameLst>
                                      </p:cBhvr>
                                      <p:to>
                                        <p:strVal val="visible"/>
                                      </p:to>
                                    </p:set>
                                    <p:animEffect transition="in" filter="wipe(left)">
                                      <p:cBhvr>
                                        <p:cTn id="37" dur="500"/>
                                        <p:tgtEl>
                                          <p:spTgt spid="155662">
                                            <p:txEl>
                                              <p:charRg st="4294967295" end="429496729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5658">
                                            <p:txEl>
                                              <p:charRg st="4294967295" end="4294967295"/>
                                            </p:txEl>
                                          </p:spTgt>
                                        </p:tgtEl>
                                        <p:attrNameLst>
                                          <p:attrName>style.visibility</p:attrName>
                                        </p:attrNameLst>
                                      </p:cBhvr>
                                      <p:to>
                                        <p:strVal val="visible"/>
                                      </p:to>
                                    </p:set>
                                    <p:animEffect transition="in" filter="wipe(left)">
                                      <p:cBhvr>
                                        <p:cTn id="42" dur="500"/>
                                        <p:tgtEl>
                                          <p:spTgt spid="155658">
                                            <p:txEl>
                                              <p:charRg st="4294967295" end="4294967295"/>
                                            </p:txEl>
                                          </p:spTgt>
                                        </p:tgtEl>
                                      </p:cBhvr>
                                    </p:animEffect>
                                  </p:childTnLst>
                                </p:cTn>
                              </p:par>
                            </p:childTnLst>
                          </p:cTn>
                        </p:par>
                        <p:par>
                          <p:cTn id="43" fill="hold" nodeType="afterGroup">
                            <p:stCondLst>
                              <p:cond delay="500"/>
                            </p:stCondLst>
                            <p:childTnLst>
                              <p:par>
                                <p:cTn id="44" presetID="2" presetClass="entr" presetSubtype="8" fill="hold" grpId="0" nodeType="afterEffect">
                                  <p:stCondLst>
                                    <p:cond delay="1000"/>
                                  </p:stCondLst>
                                  <p:childTnLst>
                                    <p:set>
                                      <p:cBhvr>
                                        <p:cTn id="45" dur="1" fill="hold">
                                          <p:stCondLst>
                                            <p:cond delay="0"/>
                                          </p:stCondLst>
                                        </p:cTn>
                                        <p:tgtEl>
                                          <p:spTgt spid="155674"/>
                                        </p:tgtEl>
                                        <p:attrNameLst>
                                          <p:attrName>style.visibility</p:attrName>
                                        </p:attrNameLst>
                                      </p:cBhvr>
                                      <p:to>
                                        <p:strVal val="visible"/>
                                      </p:to>
                                    </p:set>
                                    <p:anim calcmode="lin" valueType="num">
                                      <p:cBhvr additive="base">
                                        <p:cTn id="46" dur="500" fill="hold"/>
                                        <p:tgtEl>
                                          <p:spTgt spid="155674"/>
                                        </p:tgtEl>
                                        <p:attrNameLst>
                                          <p:attrName>ppt_x</p:attrName>
                                        </p:attrNameLst>
                                      </p:cBhvr>
                                      <p:tavLst>
                                        <p:tav tm="0">
                                          <p:val>
                                            <p:strVal val="0-#ppt_w/2"/>
                                          </p:val>
                                        </p:tav>
                                        <p:tav tm="100000">
                                          <p:val>
                                            <p:strVal val="#ppt_x"/>
                                          </p:val>
                                        </p:tav>
                                      </p:tavLst>
                                    </p:anim>
                                    <p:anim calcmode="lin" valueType="num">
                                      <p:cBhvr additive="base">
                                        <p:cTn id="47" dur="500" fill="hold"/>
                                        <p:tgtEl>
                                          <p:spTgt spid="155674"/>
                                        </p:tgtEl>
                                        <p:attrNameLst>
                                          <p:attrName>ppt_y</p:attrName>
                                        </p:attrNameLst>
                                      </p:cBhvr>
                                      <p:tavLst>
                                        <p:tav tm="0">
                                          <p:val>
                                            <p:strVal val="#ppt_y"/>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55663">
                                            <p:txEl>
                                              <p:charRg st="4294967295" end="4294967295"/>
                                            </p:txEl>
                                          </p:spTgt>
                                        </p:tgtEl>
                                        <p:attrNameLst>
                                          <p:attrName>style.visibility</p:attrName>
                                        </p:attrNameLst>
                                      </p:cBhvr>
                                      <p:to>
                                        <p:strVal val="visible"/>
                                      </p:to>
                                    </p:set>
                                    <p:animEffect transition="in" filter="wipe(up)">
                                      <p:cBhvr>
                                        <p:cTn id="52" dur="500"/>
                                        <p:tgtEl>
                                          <p:spTgt spid="155663">
                                            <p:txEl>
                                              <p:charRg st="4294967295" end="4294967295"/>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9" fill="hold" grpId="0" nodeType="clickEffect">
                                  <p:stCondLst>
                                    <p:cond delay="0"/>
                                  </p:stCondLst>
                                  <p:childTnLst>
                                    <p:set>
                                      <p:cBhvr>
                                        <p:cTn id="56" dur="1" fill="hold">
                                          <p:stCondLst>
                                            <p:cond delay="0"/>
                                          </p:stCondLst>
                                        </p:cTn>
                                        <p:tgtEl>
                                          <p:spTgt spid="155671"/>
                                        </p:tgtEl>
                                        <p:attrNameLst>
                                          <p:attrName>style.visibility</p:attrName>
                                        </p:attrNameLst>
                                      </p:cBhvr>
                                      <p:to>
                                        <p:strVal val="visible"/>
                                      </p:to>
                                    </p:set>
                                    <p:anim calcmode="lin" valueType="num">
                                      <p:cBhvr additive="base">
                                        <p:cTn id="57" dur="500" fill="hold"/>
                                        <p:tgtEl>
                                          <p:spTgt spid="155671"/>
                                        </p:tgtEl>
                                        <p:attrNameLst>
                                          <p:attrName>ppt_x</p:attrName>
                                        </p:attrNameLst>
                                      </p:cBhvr>
                                      <p:tavLst>
                                        <p:tav tm="0">
                                          <p:val>
                                            <p:strVal val="0-#ppt_w/2"/>
                                          </p:val>
                                        </p:tav>
                                        <p:tav tm="100000">
                                          <p:val>
                                            <p:strVal val="#ppt_x"/>
                                          </p:val>
                                        </p:tav>
                                      </p:tavLst>
                                    </p:anim>
                                    <p:anim calcmode="lin" valueType="num">
                                      <p:cBhvr additive="base">
                                        <p:cTn id="58" dur="500" fill="hold"/>
                                        <p:tgtEl>
                                          <p:spTgt spid="155671"/>
                                        </p:tgtEl>
                                        <p:attrNameLst>
                                          <p:attrName>ppt_y</p:attrName>
                                        </p:attrNameLst>
                                      </p:cBhvr>
                                      <p:tavLst>
                                        <p:tav tm="0">
                                          <p:val>
                                            <p:strVal val="0-#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1" fill="hold" grpId="0" nodeType="clickEffect">
                                  <p:stCondLst>
                                    <p:cond delay="0"/>
                                  </p:stCondLst>
                                  <p:childTnLst>
                                    <p:set>
                                      <p:cBhvr>
                                        <p:cTn id="62" dur="1" fill="hold">
                                          <p:stCondLst>
                                            <p:cond delay="0"/>
                                          </p:stCondLst>
                                        </p:cTn>
                                        <p:tgtEl>
                                          <p:spTgt spid="155675"/>
                                        </p:tgtEl>
                                        <p:attrNameLst>
                                          <p:attrName>style.visibility</p:attrName>
                                        </p:attrNameLst>
                                      </p:cBhvr>
                                      <p:to>
                                        <p:strVal val="visible"/>
                                      </p:to>
                                    </p:set>
                                    <p:anim calcmode="lin" valueType="num">
                                      <p:cBhvr additive="base">
                                        <p:cTn id="63" dur="500" fill="hold"/>
                                        <p:tgtEl>
                                          <p:spTgt spid="155675"/>
                                        </p:tgtEl>
                                        <p:attrNameLst>
                                          <p:attrName>ppt_x</p:attrName>
                                        </p:attrNameLst>
                                      </p:cBhvr>
                                      <p:tavLst>
                                        <p:tav tm="0">
                                          <p:val>
                                            <p:strVal val="#ppt_x"/>
                                          </p:val>
                                        </p:tav>
                                        <p:tav tm="100000">
                                          <p:val>
                                            <p:strVal val="#ppt_x"/>
                                          </p:val>
                                        </p:tav>
                                      </p:tavLst>
                                    </p:anim>
                                    <p:anim calcmode="lin" valueType="num">
                                      <p:cBhvr additive="base">
                                        <p:cTn id="64" dur="500" fill="hold"/>
                                        <p:tgtEl>
                                          <p:spTgt spid="15567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8" grpId="0" autoUpdateAnimBg="0"/>
      <p:bldP spid="155659" grpId="0" autoUpdateAnimBg="0"/>
      <p:bldP spid="155660" grpId="0" autoUpdateAnimBg="0"/>
      <p:bldP spid="155662" grpId="0" autoUpdateAnimBg="0"/>
      <p:bldP spid="155663" grpId="0" autoUpdateAnimBg="0"/>
      <p:bldP spid="155667" grpId="0" autoUpdateAnimBg="0"/>
      <p:bldP spid="155668" grpId="0" autoUpdateAnimBg="0"/>
      <p:bldP spid="155671" grpId="0" animBg="1" autoUpdateAnimBg="0"/>
      <p:bldP spid="155672" grpId="0" animBg="1" autoUpdateAnimBg="0"/>
      <p:bldP spid="155673" grpId="0" animBg="1" autoUpdateAnimBg="0"/>
      <p:bldP spid="155674" grpId="0" animBg="1" autoUpdateAnimBg="0"/>
      <p:bldP spid="155675" grpId="0" animBg="1"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82" name="AutoShape 10"/>
          <p:cNvSpPr>
            <a:spLocks noChangeArrowheads="1"/>
          </p:cNvSpPr>
          <p:nvPr/>
        </p:nvSpPr>
        <p:spPr bwMode="auto">
          <a:xfrm>
            <a:off x="152400" y="3352800"/>
            <a:ext cx="8763000" cy="685800"/>
          </a:xfrm>
          <a:prstGeom prst="wedgeRectCallout">
            <a:avLst>
              <a:gd name="adj1" fmla="val -11741"/>
              <a:gd name="adj2" fmla="val -34259"/>
            </a:avLst>
          </a:prstGeom>
          <a:gradFill rotWithShape="0">
            <a:gsLst>
              <a:gs pos="0">
                <a:srgbClr val="9AC19A"/>
              </a:gs>
              <a:gs pos="50000">
                <a:srgbClr val="CCFFCC"/>
              </a:gs>
              <a:gs pos="100000">
                <a:srgbClr val="9AC19A"/>
              </a:gs>
            </a:gsLst>
            <a:lin ang="0" scaled="1"/>
          </a:gra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lstStyle/>
          <a:p>
            <a:pPr algn="ctr" eaLnBrk="1" hangingPunct="1">
              <a:buFontTx/>
              <a:buNone/>
            </a:pPr>
            <a:r>
              <a:rPr lang="en-US" sz="3600" b="1" dirty="0">
                <a:solidFill>
                  <a:srgbClr val="CC0000"/>
                </a:solidFill>
                <a:latin typeface="Arial" pitchFamily="34" charset="0"/>
              </a:rPr>
              <a:t>LI</a:t>
            </a:r>
            <a:r>
              <a:rPr lang="en-US" sz="2800" dirty="0">
                <a:solidFill>
                  <a:schemeClr val="tx2"/>
                </a:solidFill>
                <a:latin typeface="Arial" pitchFamily="34" charset="0"/>
              </a:rPr>
              <a:t>   &amp;   </a:t>
            </a:r>
            <a:r>
              <a:rPr lang="en-US" sz="2800" dirty="0">
                <a:solidFill>
                  <a:schemeClr val="tx2"/>
                </a:solidFill>
                <a:latin typeface="Arial" pitchFamily="34" charset="0"/>
                <a:sym typeface="Symbol" pitchFamily="18" charset="2"/>
              </a:rPr>
              <a:t></a:t>
            </a:r>
            <a:r>
              <a:rPr lang="en-US" sz="2800" dirty="0">
                <a:solidFill>
                  <a:schemeClr val="hlink"/>
                </a:solidFill>
                <a:latin typeface="Arial" pitchFamily="34" charset="0"/>
              </a:rPr>
              <a:t>exit-</a:t>
            </a:r>
            <a:r>
              <a:rPr lang="en-US" sz="2800" dirty="0" err="1">
                <a:solidFill>
                  <a:schemeClr val="hlink"/>
                </a:solidFill>
                <a:latin typeface="Arial" pitchFamily="34" charset="0"/>
              </a:rPr>
              <a:t>cond</a:t>
            </a:r>
            <a:r>
              <a:rPr lang="en-US" sz="2800" dirty="0">
                <a:solidFill>
                  <a:schemeClr val="tx2"/>
                </a:solidFill>
                <a:latin typeface="Arial" pitchFamily="34" charset="0"/>
                <a:sym typeface="Symbol" pitchFamily="18" charset="2"/>
              </a:rPr>
              <a:t></a:t>
            </a:r>
            <a:r>
              <a:rPr lang="en-US" sz="2800" dirty="0">
                <a:solidFill>
                  <a:schemeClr val="tx2"/>
                </a:solidFill>
                <a:latin typeface="Arial" pitchFamily="34" charset="0"/>
              </a:rPr>
              <a:t> &amp;  </a:t>
            </a:r>
            <a:r>
              <a:rPr lang="en-US" sz="2800" dirty="0">
                <a:solidFill>
                  <a:srgbClr val="CC0000"/>
                </a:solidFill>
                <a:latin typeface="Arial" pitchFamily="34" charset="0"/>
              </a:rPr>
              <a:t>Red-Rule</a:t>
            </a:r>
            <a:r>
              <a:rPr lang="en-US" sz="2800" dirty="0">
                <a:solidFill>
                  <a:schemeClr val="hlink"/>
                </a:solidFill>
                <a:latin typeface="Arial" pitchFamily="34" charset="0"/>
              </a:rPr>
              <a:t> applied</a:t>
            </a:r>
            <a:r>
              <a:rPr lang="en-US" sz="2800" dirty="0">
                <a:solidFill>
                  <a:schemeClr val="tx2"/>
                </a:solidFill>
                <a:latin typeface="Arial" pitchFamily="34" charset="0"/>
              </a:rPr>
              <a:t>  </a:t>
            </a:r>
            <a:r>
              <a:rPr lang="en-US" sz="3200" dirty="0">
                <a:solidFill>
                  <a:schemeClr val="tx2"/>
                </a:solidFill>
                <a:latin typeface="Arial" pitchFamily="34" charset="0"/>
                <a:sym typeface="Symbol" pitchFamily="18" charset="2"/>
              </a:rPr>
              <a:t></a:t>
            </a:r>
            <a:r>
              <a:rPr lang="en-US" sz="3600" dirty="0">
                <a:solidFill>
                  <a:schemeClr val="tx2"/>
                </a:solidFill>
                <a:latin typeface="Arial" pitchFamily="34" charset="0"/>
                <a:sym typeface="Symbol" pitchFamily="18" charset="2"/>
              </a:rPr>
              <a:t> </a:t>
            </a:r>
            <a:r>
              <a:rPr lang="en-US" sz="3200" dirty="0">
                <a:solidFill>
                  <a:schemeClr val="tx2"/>
                </a:solidFill>
                <a:latin typeface="Arial" pitchFamily="34" charset="0"/>
              </a:rPr>
              <a:t> </a:t>
            </a:r>
            <a:r>
              <a:rPr lang="en-US" sz="3600" b="1" dirty="0">
                <a:solidFill>
                  <a:srgbClr val="CC0000"/>
                </a:solidFill>
                <a:latin typeface="Arial" pitchFamily="34" charset="0"/>
              </a:rPr>
              <a:t>LI</a:t>
            </a:r>
          </a:p>
        </p:txBody>
      </p:sp>
      <p:sp>
        <p:nvSpPr>
          <p:cNvPr id="156683" name="AutoShape 11"/>
          <p:cNvSpPr>
            <a:spLocks noChangeArrowheads="1"/>
          </p:cNvSpPr>
          <p:nvPr/>
        </p:nvSpPr>
        <p:spPr bwMode="auto">
          <a:xfrm>
            <a:off x="152400" y="1981200"/>
            <a:ext cx="8763000" cy="685800"/>
          </a:xfrm>
          <a:prstGeom prst="wedgeRectCallout">
            <a:avLst>
              <a:gd name="adj1" fmla="val -11741"/>
              <a:gd name="adj2" fmla="val -34259"/>
            </a:avLst>
          </a:prstGeom>
          <a:gradFill rotWithShape="0">
            <a:gsLst>
              <a:gs pos="0">
                <a:srgbClr val="9AC19A"/>
              </a:gs>
              <a:gs pos="50000">
                <a:srgbClr val="CCFFCC"/>
              </a:gs>
              <a:gs pos="100000">
                <a:srgbClr val="9AC19A"/>
              </a:gs>
            </a:gsLst>
            <a:lin ang="0" scaled="1"/>
          </a:gra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lstStyle/>
          <a:p>
            <a:pPr algn="ctr" eaLnBrk="1" hangingPunct="1">
              <a:buFontTx/>
              <a:buNone/>
            </a:pPr>
            <a:r>
              <a:rPr lang="en-US" sz="3600" b="1" dirty="0">
                <a:solidFill>
                  <a:srgbClr val="CC0000"/>
                </a:solidFill>
                <a:latin typeface="Arial" pitchFamily="34" charset="0"/>
              </a:rPr>
              <a:t>LI</a:t>
            </a:r>
            <a:r>
              <a:rPr lang="en-US" sz="2800" dirty="0">
                <a:solidFill>
                  <a:schemeClr val="tx2"/>
                </a:solidFill>
                <a:latin typeface="Arial" pitchFamily="34" charset="0"/>
              </a:rPr>
              <a:t>   &amp;   </a:t>
            </a:r>
            <a:r>
              <a:rPr lang="en-US" sz="2800" dirty="0">
                <a:solidFill>
                  <a:schemeClr val="tx2"/>
                </a:solidFill>
                <a:latin typeface="Arial" pitchFamily="34" charset="0"/>
                <a:sym typeface="Symbol" pitchFamily="18" charset="2"/>
              </a:rPr>
              <a:t></a:t>
            </a:r>
            <a:r>
              <a:rPr lang="en-US" sz="2800" dirty="0">
                <a:solidFill>
                  <a:schemeClr val="hlink"/>
                </a:solidFill>
                <a:latin typeface="Arial" pitchFamily="34" charset="0"/>
              </a:rPr>
              <a:t>exit-</a:t>
            </a:r>
            <a:r>
              <a:rPr lang="en-US" sz="2800" dirty="0" err="1">
                <a:solidFill>
                  <a:schemeClr val="hlink"/>
                </a:solidFill>
                <a:latin typeface="Arial" pitchFamily="34" charset="0"/>
              </a:rPr>
              <a:t>cond</a:t>
            </a:r>
            <a:r>
              <a:rPr lang="en-US" sz="2800" dirty="0">
                <a:solidFill>
                  <a:schemeClr val="tx2"/>
                </a:solidFill>
                <a:latin typeface="Arial" pitchFamily="34" charset="0"/>
                <a:sym typeface="Symbol" pitchFamily="18" charset="2"/>
              </a:rPr>
              <a:t></a:t>
            </a:r>
            <a:r>
              <a:rPr lang="en-US" sz="2800" dirty="0">
                <a:solidFill>
                  <a:schemeClr val="tx2"/>
                </a:solidFill>
                <a:latin typeface="Arial" pitchFamily="34" charset="0"/>
              </a:rPr>
              <a:t> &amp;  </a:t>
            </a:r>
            <a:r>
              <a:rPr lang="en-US" sz="2800" dirty="0">
                <a:solidFill>
                  <a:schemeClr val="hlink"/>
                </a:solidFill>
                <a:latin typeface="Arial" pitchFamily="34" charset="0"/>
              </a:rPr>
              <a:t>Blue-Rule applied</a:t>
            </a:r>
            <a:r>
              <a:rPr lang="en-US" sz="2800" dirty="0">
                <a:solidFill>
                  <a:schemeClr val="tx2"/>
                </a:solidFill>
                <a:latin typeface="Arial" pitchFamily="34" charset="0"/>
              </a:rPr>
              <a:t>  </a:t>
            </a:r>
            <a:r>
              <a:rPr lang="en-US" sz="3200" dirty="0">
                <a:solidFill>
                  <a:schemeClr val="tx2"/>
                </a:solidFill>
                <a:latin typeface="Arial" pitchFamily="34" charset="0"/>
                <a:sym typeface="Symbol" pitchFamily="18" charset="2"/>
              </a:rPr>
              <a:t></a:t>
            </a:r>
            <a:r>
              <a:rPr lang="en-US" sz="3600" dirty="0">
                <a:solidFill>
                  <a:schemeClr val="tx2"/>
                </a:solidFill>
                <a:latin typeface="Arial" pitchFamily="34" charset="0"/>
                <a:sym typeface="Symbol" pitchFamily="18" charset="2"/>
              </a:rPr>
              <a:t> </a:t>
            </a:r>
            <a:r>
              <a:rPr lang="en-US" sz="3200" dirty="0">
                <a:solidFill>
                  <a:schemeClr val="tx2"/>
                </a:solidFill>
                <a:latin typeface="Arial" pitchFamily="34" charset="0"/>
              </a:rPr>
              <a:t> </a:t>
            </a:r>
            <a:r>
              <a:rPr lang="en-US" sz="3600" b="1" dirty="0">
                <a:solidFill>
                  <a:srgbClr val="CC0000"/>
                </a:solidFill>
                <a:latin typeface="Arial" pitchFamily="34" charset="0"/>
              </a:rPr>
              <a:t>LI</a:t>
            </a:r>
          </a:p>
        </p:txBody>
      </p:sp>
      <p:sp>
        <p:nvSpPr>
          <p:cNvPr id="156690" name="Text Box 18"/>
          <p:cNvSpPr txBox="1">
            <a:spLocks noChangeArrowheads="1"/>
          </p:cNvSpPr>
          <p:nvPr/>
        </p:nvSpPr>
        <p:spPr bwMode="auto">
          <a:xfrm>
            <a:off x="152400" y="4572000"/>
            <a:ext cx="8763000" cy="1138238"/>
          </a:xfrm>
          <a:prstGeom prst="rect">
            <a:avLst/>
          </a:prstGeom>
          <a:gradFill rotWithShape="0">
            <a:gsLst>
              <a:gs pos="0">
                <a:srgbClr val="FFCCFF"/>
              </a:gs>
              <a:gs pos="100000">
                <a:srgbClr val="D8ADD8"/>
              </a:gs>
            </a:gsLst>
            <a:lin ang="0" scaled="1"/>
          </a:gra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82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Tx/>
              <a:buNone/>
            </a:pPr>
            <a:r>
              <a:rPr lang="en-US" sz="2800" b="1" dirty="0">
                <a:latin typeface="Arial Rounded MT Bold" pitchFamily="34" charset="0"/>
              </a:rPr>
              <a:t>Progress:  </a:t>
            </a:r>
            <a:r>
              <a:rPr lang="en-US" sz="2800" dirty="0">
                <a:latin typeface="Arial" pitchFamily="34" charset="0"/>
              </a:rPr>
              <a:t>If there is a white edge, then </a:t>
            </a:r>
            <a:br>
              <a:rPr lang="en-US" sz="2800" dirty="0">
                <a:latin typeface="Arial" pitchFamily="34" charset="0"/>
              </a:rPr>
            </a:br>
            <a:r>
              <a:rPr lang="en-US" sz="2800" dirty="0">
                <a:latin typeface="Arial" pitchFamily="34" charset="0"/>
              </a:rPr>
              <a:t>		 at least one of the 2 rules is applicable</a:t>
            </a:r>
          </a:p>
        </p:txBody>
      </p:sp>
      <p:sp>
        <p:nvSpPr>
          <p:cNvPr id="6" name="AutoShape 23"/>
          <p:cNvSpPr>
            <a:spLocks noChangeArrowheads="1"/>
          </p:cNvSpPr>
          <p:nvPr/>
        </p:nvSpPr>
        <p:spPr bwMode="auto">
          <a:xfrm>
            <a:off x="1600200" y="302342"/>
            <a:ext cx="5562600" cy="914400"/>
          </a:xfrm>
          <a:prstGeom prst="wedgeRectCallout">
            <a:avLst>
              <a:gd name="adj1" fmla="val -19710"/>
              <a:gd name="adj2" fmla="val 84149"/>
            </a:avLst>
          </a:prstGeom>
          <a:gradFill rotWithShape="0">
            <a:gsLst>
              <a:gs pos="0">
                <a:srgbClr val="FFFFCC"/>
              </a:gs>
              <a:gs pos="100000">
                <a:srgbClr val="C9C9A1"/>
              </a:gs>
            </a:gsLst>
            <a:lin ang="0" scaled="1"/>
          </a:grad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nchorCtr="1"/>
          <a:lstStyle/>
          <a:p>
            <a:pPr algn="ctr" eaLnBrk="1" hangingPunct="1">
              <a:spcBef>
                <a:spcPct val="50000"/>
              </a:spcBef>
              <a:buFontTx/>
              <a:buNone/>
            </a:pPr>
            <a:r>
              <a:rPr lang="en-US" sz="2800" b="1" dirty="0" smtClean="0">
                <a:solidFill>
                  <a:schemeClr val="tx2"/>
                </a:solidFill>
                <a:latin typeface="Arial" pitchFamily="34" charset="0"/>
              </a:rPr>
              <a:t>Must prove 3 things:</a:t>
            </a:r>
            <a:endParaRPr lang="en-US" sz="2800" b="1" dirty="0">
              <a:solidFill>
                <a:schemeClr val="tx2"/>
              </a:solidFill>
              <a:latin typeface="Arial" pitchFamily="34" charset="0"/>
            </a:endParaRP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76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8" fill="hold" grpId="0" nodeType="afterEffect">
                                  <p:stCondLst>
                                    <p:cond delay="1000"/>
                                  </p:stCondLst>
                                  <p:childTnLst>
                                    <p:set>
                                      <p:cBhvr>
                                        <p:cTn id="12" dur="1" fill="hold">
                                          <p:stCondLst>
                                            <p:cond delay="0"/>
                                          </p:stCondLst>
                                        </p:cTn>
                                        <p:tgtEl>
                                          <p:spTgt spid="156683"/>
                                        </p:tgtEl>
                                        <p:attrNameLst>
                                          <p:attrName>style.visibility</p:attrName>
                                        </p:attrNameLst>
                                      </p:cBhvr>
                                      <p:to>
                                        <p:strVal val="visible"/>
                                      </p:to>
                                    </p:set>
                                    <p:animEffect transition="in" filter="wipe(left)">
                                      <p:cBhvr>
                                        <p:cTn id="13" dur="500"/>
                                        <p:tgtEl>
                                          <p:spTgt spid="156683"/>
                                        </p:tgtEl>
                                      </p:cBhvr>
                                    </p:animEffect>
                                  </p:childTnLst>
                                </p:cTn>
                              </p:par>
                            </p:childTnLst>
                          </p:cTn>
                        </p:par>
                        <p:par>
                          <p:cTn id="14" fill="hold">
                            <p:stCondLst>
                              <p:cond delay="2000"/>
                            </p:stCondLst>
                            <p:childTnLst>
                              <p:par>
                                <p:cTn id="15" presetID="22" presetClass="entr" presetSubtype="8" fill="hold" grpId="0" nodeType="afterEffect">
                                  <p:stCondLst>
                                    <p:cond delay="1000"/>
                                  </p:stCondLst>
                                  <p:childTnLst>
                                    <p:set>
                                      <p:cBhvr>
                                        <p:cTn id="16" dur="1" fill="hold">
                                          <p:stCondLst>
                                            <p:cond delay="0"/>
                                          </p:stCondLst>
                                        </p:cTn>
                                        <p:tgtEl>
                                          <p:spTgt spid="156682"/>
                                        </p:tgtEl>
                                        <p:attrNameLst>
                                          <p:attrName>style.visibility</p:attrName>
                                        </p:attrNameLst>
                                      </p:cBhvr>
                                      <p:to>
                                        <p:strVal val="visible"/>
                                      </p:to>
                                    </p:set>
                                    <p:animEffect transition="in" filter="wipe(left)">
                                      <p:cBhvr>
                                        <p:cTn id="17" dur="500"/>
                                        <p:tgtEl>
                                          <p:spTgt spid="156682"/>
                                        </p:tgtEl>
                                      </p:cBhvr>
                                    </p:animEffect>
                                  </p:childTnLst>
                                </p:cTn>
                              </p:par>
                            </p:childTnLst>
                          </p:cTn>
                        </p:par>
                        <p:par>
                          <p:cTn id="18" fill="hold">
                            <p:stCondLst>
                              <p:cond delay="3500"/>
                            </p:stCondLst>
                            <p:childTnLst>
                              <p:par>
                                <p:cTn id="19" presetID="22" presetClass="entr" presetSubtype="8" fill="hold" grpId="0" nodeType="afterEffect">
                                  <p:stCondLst>
                                    <p:cond delay="1000"/>
                                  </p:stCondLst>
                                  <p:childTnLst>
                                    <p:set>
                                      <p:cBhvr>
                                        <p:cTn id="20" dur="1" fill="hold">
                                          <p:stCondLst>
                                            <p:cond delay="0"/>
                                          </p:stCondLst>
                                        </p:cTn>
                                        <p:tgtEl>
                                          <p:spTgt spid="156690"/>
                                        </p:tgtEl>
                                        <p:attrNameLst>
                                          <p:attrName>style.visibility</p:attrName>
                                        </p:attrNameLst>
                                      </p:cBhvr>
                                      <p:to>
                                        <p:strVal val="visible"/>
                                      </p:to>
                                    </p:set>
                                    <p:animEffect transition="in" filter="wipe(left)">
                                      <p:cBhvr>
                                        <p:cTn id="21" dur="500"/>
                                        <p:tgtEl>
                                          <p:spTgt spid="156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82" grpId="0" animBg="1" autoUpdateAnimBg="0"/>
      <p:bldP spid="156683" grpId="0" animBg="1" autoUpdateAnimBg="0"/>
      <p:bldP spid="156690" grpId="0" animBg="1" autoUpdateAnimBg="0"/>
      <p:bldP spid="6"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AutoShape 3"/>
          <p:cNvSpPr>
            <a:spLocks noChangeArrowheads="1"/>
          </p:cNvSpPr>
          <p:nvPr/>
        </p:nvSpPr>
        <p:spPr bwMode="auto">
          <a:xfrm>
            <a:off x="152400" y="152400"/>
            <a:ext cx="8763000" cy="685800"/>
          </a:xfrm>
          <a:prstGeom prst="wedgeRectCallout">
            <a:avLst>
              <a:gd name="adj1" fmla="val -12606"/>
              <a:gd name="adj2" fmla="val -34259"/>
            </a:avLst>
          </a:prstGeom>
          <a:gradFill rotWithShape="0">
            <a:gsLst>
              <a:gs pos="0">
                <a:srgbClr val="9AC19A"/>
              </a:gs>
              <a:gs pos="50000">
                <a:srgbClr val="CCFFCC"/>
              </a:gs>
              <a:gs pos="100000">
                <a:srgbClr val="9AC19A"/>
              </a:gs>
            </a:gsLst>
            <a:lin ang="0" scaled="1"/>
          </a:gra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lstStyle/>
          <a:p>
            <a:pPr algn="ctr" eaLnBrk="1" hangingPunct="1">
              <a:buFontTx/>
              <a:buNone/>
            </a:pPr>
            <a:r>
              <a:rPr lang="en-US" sz="3600" b="1" dirty="0">
                <a:solidFill>
                  <a:srgbClr val="CC0000"/>
                </a:solidFill>
                <a:latin typeface="Arial" pitchFamily="34" charset="0"/>
              </a:rPr>
              <a:t>LI</a:t>
            </a:r>
            <a:r>
              <a:rPr lang="en-US" sz="2800" dirty="0">
                <a:solidFill>
                  <a:schemeClr val="tx2"/>
                </a:solidFill>
                <a:latin typeface="Arial" pitchFamily="34" charset="0"/>
              </a:rPr>
              <a:t>   &amp;   </a:t>
            </a:r>
            <a:r>
              <a:rPr lang="en-US" sz="2800" dirty="0">
                <a:solidFill>
                  <a:schemeClr val="tx2"/>
                </a:solidFill>
                <a:latin typeface="Arial" pitchFamily="34" charset="0"/>
                <a:sym typeface="Symbol" pitchFamily="18" charset="2"/>
              </a:rPr>
              <a:t></a:t>
            </a:r>
            <a:r>
              <a:rPr lang="en-US" sz="2800" dirty="0">
                <a:solidFill>
                  <a:schemeClr val="hlink"/>
                </a:solidFill>
                <a:latin typeface="Arial" pitchFamily="34" charset="0"/>
              </a:rPr>
              <a:t>exit-</a:t>
            </a:r>
            <a:r>
              <a:rPr lang="en-US" sz="2800" dirty="0" err="1">
                <a:solidFill>
                  <a:schemeClr val="hlink"/>
                </a:solidFill>
                <a:latin typeface="Arial" pitchFamily="34" charset="0"/>
              </a:rPr>
              <a:t>cond</a:t>
            </a:r>
            <a:r>
              <a:rPr lang="en-US" sz="2800" dirty="0">
                <a:solidFill>
                  <a:schemeClr val="tx2"/>
                </a:solidFill>
                <a:latin typeface="Arial" pitchFamily="34" charset="0"/>
                <a:sym typeface="Symbol" pitchFamily="18" charset="2"/>
              </a:rPr>
              <a:t></a:t>
            </a:r>
            <a:r>
              <a:rPr lang="en-US" sz="2800" dirty="0">
                <a:solidFill>
                  <a:schemeClr val="tx2"/>
                </a:solidFill>
                <a:latin typeface="Arial" pitchFamily="34" charset="0"/>
              </a:rPr>
              <a:t> &amp;  </a:t>
            </a:r>
            <a:r>
              <a:rPr lang="en-US" sz="2800" dirty="0">
                <a:solidFill>
                  <a:schemeClr val="hlink"/>
                </a:solidFill>
                <a:latin typeface="Arial" pitchFamily="34" charset="0"/>
              </a:rPr>
              <a:t>Blue-Rule applied</a:t>
            </a:r>
            <a:r>
              <a:rPr lang="en-US" sz="2800" dirty="0">
                <a:solidFill>
                  <a:schemeClr val="tx2"/>
                </a:solidFill>
                <a:latin typeface="Arial" pitchFamily="34" charset="0"/>
              </a:rPr>
              <a:t>  </a:t>
            </a:r>
            <a:r>
              <a:rPr lang="en-US" sz="3200" dirty="0">
                <a:solidFill>
                  <a:schemeClr val="tx2"/>
                </a:solidFill>
                <a:latin typeface="Arial" pitchFamily="34" charset="0"/>
                <a:sym typeface="Symbol" pitchFamily="18" charset="2"/>
              </a:rPr>
              <a:t></a:t>
            </a:r>
            <a:r>
              <a:rPr lang="en-US" sz="3600" dirty="0">
                <a:solidFill>
                  <a:schemeClr val="tx2"/>
                </a:solidFill>
                <a:latin typeface="Arial" pitchFamily="34" charset="0"/>
                <a:sym typeface="Symbol" pitchFamily="18" charset="2"/>
              </a:rPr>
              <a:t> </a:t>
            </a:r>
            <a:r>
              <a:rPr lang="en-US" sz="3200" dirty="0">
                <a:solidFill>
                  <a:schemeClr val="tx2"/>
                </a:solidFill>
                <a:latin typeface="Arial" pitchFamily="34" charset="0"/>
              </a:rPr>
              <a:t> </a:t>
            </a:r>
            <a:r>
              <a:rPr lang="en-US" sz="3600" b="1" dirty="0">
                <a:solidFill>
                  <a:srgbClr val="CC0000"/>
                </a:solidFill>
                <a:latin typeface="Arial" pitchFamily="34" charset="0"/>
              </a:rPr>
              <a:t>LI</a:t>
            </a:r>
          </a:p>
        </p:txBody>
      </p:sp>
      <p:sp>
        <p:nvSpPr>
          <p:cNvPr id="158725" name="Text Box 5"/>
          <p:cNvSpPr txBox="1">
            <a:spLocks noChangeArrowheads="1"/>
          </p:cNvSpPr>
          <p:nvPr/>
        </p:nvSpPr>
        <p:spPr bwMode="auto">
          <a:xfrm>
            <a:off x="152400" y="914400"/>
            <a:ext cx="8686800" cy="41275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8913" indent="-188913">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Tx/>
              <a:buNone/>
            </a:pPr>
            <a:r>
              <a:rPr lang="en-US" sz="2000" b="1">
                <a:solidFill>
                  <a:schemeClr val="tx2"/>
                </a:solidFill>
              </a:rPr>
              <a:t>Proof:</a:t>
            </a:r>
            <a:r>
              <a:rPr lang="en-US" sz="2000">
                <a:solidFill>
                  <a:schemeClr val="tx2"/>
                </a:solidFill>
              </a:rPr>
              <a:t>  </a:t>
            </a:r>
          </a:p>
          <a:p>
            <a:pPr eaLnBrk="1" hangingPunct="1">
              <a:spcBef>
                <a:spcPct val="50000"/>
              </a:spcBef>
            </a:pPr>
            <a:r>
              <a:rPr lang="en-US" sz="2000">
                <a:solidFill>
                  <a:schemeClr val="tx2"/>
                </a:solidFill>
              </a:rPr>
              <a:t>There is an MST T that includes all blue edges and excludes all red edges.</a:t>
            </a:r>
          </a:p>
          <a:p>
            <a:pPr eaLnBrk="1" hangingPunct="1">
              <a:spcBef>
                <a:spcPct val="50000"/>
              </a:spcBef>
            </a:pPr>
            <a:r>
              <a:rPr lang="en-US" sz="2000">
                <a:solidFill>
                  <a:schemeClr val="tx2"/>
                </a:solidFill>
              </a:rPr>
              <a:t>Suppose Blue-Rule is applied to cut (X,Y) that contains no blue cross-edges, </a:t>
            </a:r>
            <a:br>
              <a:rPr lang="en-US" sz="2000">
                <a:solidFill>
                  <a:schemeClr val="tx2"/>
                </a:solidFill>
              </a:rPr>
            </a:br>
            <a:r>
              <a:rPr lang="en-US" sz="2000">
                <a:solidFill>
                  <a:schemeClr val="tx2"/>
                </a:solidFill>
              </a:rPr>
              <a:t>and minimum weight white edge e of cut (X,Y) is colored blue. </a:t>
            </a:r>
          </a:p>
          <a:p>
            <a:pPr eaLnBrk="1" hangingPunct="1">
              <a:spcBef>
                <a:spcPct val="50000"/>
              </a:spcBef>
            </a:pPr>
            <a:r>
              <a:rPr lang="en-US" sz="2000">
                <a:solidFill>
                  <a:schemeClr val="tx2"/>
                </a:solidFill>
              </a:rPr>
              <a:t>If e</a:t>
            </a:r>
            <a:r>
              <a:rPr lang="en-US" sz="2000">
                <a:solidFill>
                  <a:schemeClr val="tx2"/>
                </a:solidFill>
                <a:sym typeface="Symbol" pitchFamily="18" charset="2"/>
              </a:rPr>
              <a:t>  </a:t>
            </a:r>
            <a:r>
              <a:rPr lang="en-US" sz="2000">
                <a:solidFill>
                  <a:schemeClr val="tx2"/>
                </a:solidFill>
              </a:rPr>
              <a:t>T, then T still satisfies the LI.</a:t>
            </a:r>
          </a:p>
          <a:p>
            <a:pPr eaLnBrk="1" hangingPunct="1">
              <a:spcBef>
                <a:spcPct val="50000"/>
              </a:spcBef>
            </a:pPr>
            <a:r>
              <a:rPr lang="en-US" sz="2000">
                <a:solidFill>
                  <a:schemeClr val="tx2"/>
                </a:solidFill>
              </a:rPr>
              <a:t>Suppose e </a:t>
            </a:r>
            <a:r>
              <a:rPr lang="en-US" sz="2000">
                <a:solidFill>
                  <a:schemeClr val="tx2"/>
                </a:solidFill>
                <a:sym typeface="Symbol" pitchFamily="18" charset="2"/>
              </a:rPr>
              <a:t></a:t>
            </a:r>
            <a:r>
              <a:rPr lang="en-US" sz="2000">
                <a:solidFill>
                  <a:schemeClr val="tx2"/>
                </a:solidFill>
              </a:rPr>
              <a:t> T.</a:t>
            </a:r>
          </a:p>
          <a:p>
            <a:pPr eaLnBrk="1" hangingPunct="1">
              <a:lnSpc>
                <a:spcPct val="95000"/>
              </a:lnSpc>
              <a:spcBef>
                <a:spcPct val="50000"/>
              </a:spcBef>
            </a:pPr>
            <a:r>
              <a:rPr lang="en-US" sz="2000">
                <a:solidFill>
                  <a:schemeClr val="tx2"/>
                </a:solidFill>
              </a:rPr>
              <a:t>T + e contains a unique simple cycle C.</a:t>
            </a:r>
            <a:br>
              <a:rPr lang="en-US" sz="2000">
                <a:solidFill>
                  <a:schemeClr val="tx2"/>
                </a:solidFill>
              </a:rPr>
            </a:br>
            <a:r>
              <a:rPr lang="en-US" sz="2000">
                <a:solidFill>
                  <a:schemeClr val="tx2"/>
                </a:solidFill>
              </a:rPr>
              <a:t>There must be at least one other (white) edge </a:t>
            </a:r>
            <a:br>
              <a:rPr lang="en-US" sz="2000">
                <a:solidFill>
                  <a:schemeClr val="tx2"/>
                </a:solidFill>
              </a:rPr>
            </a:br>
            <a:r>
              <a:rPr lang="en-US" sz="2000">
                <a:solidFill>
                  <a:schemeClr val="tx2"/>
                </a:solidFill>
              </a:rPr>
              <a:t>e’ </a:t>
            </a:r>
            <a:r>
              <a:rPr lang="en-US" sz="2000">
                <a:solidFill>
                  <a:schemeClr val="tx2"/>
                </a:solidFill>
                <a:sym typeface="Symbol" pitchFamily="18" charset="2"/>
              </a:rPr>
              <a:t> </a:t>
            </a:r>
            <a:r>
              <a:rPr lang="en-US" sz="2000">
                <a:solidFill>
                  <a:schemeClr val="tx2"/>
                </a:solidFill>
              </a:rPr>
              <a:t>T</a:t>
            </a:r>
            <a:r>
              <a:rPr lang="en-US" sz="2000">
                <a:solidFill>
                  <a:schemeClr val="tx2"/>
                </a:solidFill>
                <a:sym typeface="Symbol" pitchFamily="18" charset="2"/>
              </a:rPr>
              <a:t></a:t>
            </a:r>
            <a:r>
              <a:rPr lang="en-US" sz="2000">
                <a:solidFill>
                  <a:schemeClr val="tx2"/>
                </a:solidFill>
              </a:rPr>
              <a:t>C that crosses the cut (X,Y).</a:t>
            </a:r>
            <a:br>
              <a:rPr lang="en-US" sz="2000">
                <a:solidFill>
                  <a:schemeClr val="tx2"/>
                </a:solidFill>
              </a:rPr>
            </a:br>
            <a:r>
              <a:rPr lang="en-US" sz="2000">
                <a:solidFill>
                  <a:srgbClr val="CC0000"/>
                </a:solidFill>
              </a:rPr>
              <a:t>(Why does e’ exist &amp; is white?)</a:t>
            </a:r>
            <a:r>
              <a:rPr lang="en-US" sz="2000">
                <a:solidFill>
                  <a:schemeClr val="tx2"/>
                </a:solidFill>
              </a:rPr>
              <a:t/>
            </a:r>
            <a:br>
              <a:rPr lang="en-US" sz="2000">
                <a:solidFill>
                  <a:schemeClr val="tx2"/>
                </a:solidFill>
              </a:rPr>
            </a:br>
            <a:r>
              <a:rPr lang="en-US" sz="2000">
                <a:solidFill>
                  <a:schemeClr val="tx2"/>
                </a:solidFill>
              </a:rPr>
              <a:t>So,  w(e) </a:t>
            </a:r>
            <a:r>
              <a:rPr lang="en-US" sz="2000">
                <a:solidFill>
                  <a:schemeClr val="tx2"/>
                </a:solidFill>
                <a:sym typeface="Symbol" pitchFamily="18" charset="2"/>
              </a:rPr>
              <a:t></a:t>
            </a:r>
            <a:r>
              <a:rPr lang="en-US" sz="2000">
                <a:solidFill>
                  <a:schemeClr val="tx2"/>
                </a:solidFill>
              </a:rPr>
              <a:t> w(e’).</a:t>
            </a:r>
          </a:p>
        </p:txBody>
      </p:sp>
      <p:grpSp>
        <p:nvGrpSpPr>
          <p:cNvPr id="158726" name="Group 6"/>
          <p:cNvGrpSpPr>
            <a:grpSpLocks/>
          </p:cNvGrpSpPr>
          <p:nvPr/>
        </p:nvGrpSpPr>
        <p:grpSpPr bwMode="auto">
          <a:xfrm>
            <a:off x="5791200" y="2971800"/>
            <a:ext cx="2819400" cy="2195513"/>
            <a:chOff x="3648" y="1872"/>
            <a:chExt cx="1776" cy="1383"/>
          </a:xfrm>
        </p:grpSpPr>
        <p:sp>
          <p:nvSpPr>
            <p:cNvPr id="79878" name="Oval 7"/>
            <p:cNvSpPr>
              <a:spLocks noChangeArrowheads="1"/>
            </p:cNvSpPr>
            <p:nvPr/>
          </p:nvSpPr>
          <p:spPr bwMode="auto">
            <a:xfrm>
              <a:off x="3648" y="1872"/>
              <a:ext cx="720" cy="1248"/>
            </a:xfrm>
            <a:prstGeom prst="ellipse">
              <a:avLst/>
            </a:prstGeom>
            <a:solidFill>
              <a:srgbClr val="DDDDDD"/>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endParaRPr lang="en-CA"/>
            </a:p>
          </p:txBody>
        </p:sp>
        <p:sp>
          <p:nvSpPr>
            <p:cNvPr id="79879" name="Oval 8"/>
            <p:cNvSpPr>
              <a:spLocks noChangeArrowheads="1"/>
            </p:cNvSpPr>
            <p:nvPr/>
          </p:nvSpPr>
          <p:spPr bwMode="auto">
            <a:xfrm>
              <a:off x="4608" y="1872"/>
              <a:ext cx="816" cy="1248"/>
            </a:xfrm>
            <a:prstGeom prst="ellipse">
              <a:avLst/>
            </a:prstGeom>
            <a:solidFill>
              <a:srgbClr val="DDDDDD"/>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endParaRPr lang="en-CA"/>
            </a:p>
          </p:txBody>
        </p:sp>
        <p:sp>
          <p:nvSpPr>
            <p:cNvPr id="79880" name="Line 9"/>
            <p:cNvSpPr>
              <a:spLocks noChangeShapeType="1"/>
            </p:cNvSpPr>
            <p:nvPr/>
          </p:nvSpPr>
          <p:spPr bwMode="auto">
            <a:xfrm>
              <a:off x="4032" y="2736"/>
              <a:ext cx="912" cy="0"/>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81" name="Line 10"/>
            <p:cNvSpPr>
              <a:spLocks noChangeShapeType="1"/>
            </p:cNvSpPr>
            <p:nvPr/>
          </p:nvSpPr>
          <p:spPr bwMode="auto">
            <a:xfrm flipV="1">
              <a:off x="4032" y="2592"/>
              <a:ext cx="96"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82" name="Line 11"/>
            <p:cNvSpPr>
              <a:spLocks noChangeShapeType="1"/>
            </p:cNvSpPr>
            <p:nvPr/>
          </p:nvSpPr>
          <p:spPr bwMode="auto">
            <a:xfrm flipH="1" flipV="1">
              <a:off x="3984" y="2496"/>
              <a:ext cx="144"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83" name="Line 12"/>
            <p:cNvSpPr>
              <a:spLocks noChangeShapeType="1"/>
            </p:cNvSpPr>
            <p:nvPr/>
          </p:nvSpPr>
          <p:spPr bwMode="auto">
            <a:xfrm flipV="1">
              <a:off x="3984" y="2352"/>
              <a:ext cx="48"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84" name="Line 13"/>
            <p:cNvSpPr>
              <a:spLocks noChangeShapeType="1"/>
            </p:cNvSpPr>
            <p:nvPr/>
          </p:nvSpPr>
          <p:spPr bwMode="auto">
            <a:xfrm flipH="1" flipV="1">
              <a:off x="3984" y="2160"/>
              <a:ext cx="48"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85" name="Line 14"/>
            <p:cNvSpPr>
              <a:spLocks noChangeShapeType="1"/>
            </p:cNvSpPr>
            <p:nvPr/>
          </p:nvSpPr>
          <p:spPr bwMode="auto">
            <a:xfrm>
              <a:off x="3984" y="2160"/>
              <a:ext cx="960" cy="0"/>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86" name="Line 15"/>
            <p:cNvSpPr>
              <a:spLocks noChangeShapeType="1"/>
            </p:cNvSpPr>
            <p:nvPr/>
          </p:nvSpPr>
          <p:spPr bwMode="auto">
            <a:xfrm>
              <a:off x="4944" y="2160"/>
              <a:ext cx="24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87" name="Line 16"/>
            <p:cNvSpPr>
              <a:spLocks noChangeShapeType="1"/>
            </p:cNvSpPr>
            <p:nvPr/>
          </p:nvSpPr>
          <p:spPr bwMode="auto">
            <a:xfrm flipH="1">
              <a:off x="4944" y="2256"/>
              <a:ext cx="24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88" name="Line 17"/>
            <p:cNvSpPr>
              <a:spLocks noChangeShapeType="1"/>
            </p:cNvSpPr>
            <p:nvPr/>
          </p:nvSpPr>
          <p:spPr bwMode="auto">
            <a:xfrm>
              <a:off x="4944" y="2400"/>
              <a:ext cx="192"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89" name="Line 18"/>
            <p:cNvSpPr>
              <a:spLocks noChangeShapeType="1"/>
            </p:cNvSpPr>
            <p:nvPr/>
          </p:nvSpPr>
          <p:spPr bwMode="auto">
            <a:xfrm flipH="1">
              <a:off x="4944" y="2544"/>
              <a:ext cx="192"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90" name="Freeform 19"/>
            <p:cNvSpPr>
              <a:spLocks/>
            </p:cNvSpPr>
            <p:nvPr/>
          </p:nvSpPr>
          <p:spPr bwMode="auto">
            <a:xfrm>
              <a:off x="4128" y="2443"/>
              <a:ext cx="50" cy="149"/>
            </a:xfrm>
            <a:custGeom>
              <a:avLst/>
              <a:gdLst>
                <a:gd name="T0" fmla="*/ 0 w 50"/>
                <a:gd name="T1" fmla="*/ 149 h 149"/>
                <a:gd name="T2" fmla="*/ 50 w 50"/>
                <a:gd name="T3" fmla="*/ 0 h 149"/>
                <a:gd name="T4" fmla="*/ 0 60000 65536"/>
                <a:gd name="T5" fmla="*/ 0 60000 65536"/>
              </a:gdLst>
              <a:ahLst/>
              <a:cxnLst>
                <a:cxn ang="T4">
                  <a:pos x="T0" y="T1"/>
                </a:cxn>
                <a:cxn ang="T5">
                  <a:pos x="T2" y="T3"/>
                </a:cxn>
              </a:cxnLst>
              <a:rect l="0" t="0" r="r" b="b"/>
              <a:pathLst>
                <a:path w="50" h="149">
                  <a:moveTo>
                    <a:pt x="0" y="149"/>
                  </a:moveTo>
                  <a:lnTo>
                    <a:pt x="50"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91" name="Freeform 20"/>
            <p:cNvSpPr>
              <a:spLocks/>
            </p:cNvSpPr>
            <p:nvPr/>
          </p:nvSpPr>
          <p:spPr bwMode="auto">
            <a:xfrm>
              <a:off x="3820" y="2430"/>
              <a:ext cx="164" cy="66"/>
            </a:xfrm>
            <a:custGeom>
              <a:avLst/>
              <a:gdLst>
                <a:gd name="T0" fmla="*/ 164 w 164"/>
                <a:gd name="T1" fmla="*/ 66 h 66"/>
                <a:gd name="T2" fmla="*/ 0 w 164"/>
                <a:gd name="T3" fmla="*/ 0 h 66"/>
                <a:gd name="T4" fmla="*/ 0 60000 65536"/>
                <a:gd name="T5" fmla="*/ 0 60000 65536"/>
              </a:gdLst>
              <a:ahLst/>
              <a:cxnLst>
                <a:cxn ang="T4">
                  <a:pos x="T0" y="T1"/>
                </a:cxn>
                <a:cxn ang="T5">
                  <a:pos x="T2" y="T3"/>
                </a:cxn>
              </a:cxnLst>
              <a:rect l="0" t="0" r="r" b="b"/>
              <a:pathLst>
                <a:path w="164" h="66">
                  <a:moveTo>
                    <a:pt x="164" y="66"/>
                  </a:moveTo>
                  <a:lnTo>
                    <a:pt x="0"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92" name="Freeform 21"/>
            <p:cNvSpPr>
              <a:spLocks/>
            </p:cNvSpPr>
            <p:nvPr/>
          </p:nvSpPr>
          <p:spPr bwMode="auto">
            <a:xfrm>
              <a:off x="3827" y="2496"/>
              <a:ext cx="157" cy="86"/>
            </a:xfrm>
            <a:custGeom>
              <a:avLst/>
              <a:gdLst>
                <a:gd name="T0" fmla="*/ 157 w 157"/>
                <a:gd name="T1" fmla="*/ 0 h 86"/>
                <a:gd name="T2" fmla="*/ 0 w 157"/>
                <a:gd name="T3" fmla="*/ 86 h 86"/>
                <a:gd name="T4" fmla="*/ 0 60000 65536"/>
                <a:gd name="T5" fmla="*/ 0 60000 65536"/>
              </a:gdLst>
              <a:ahLst/>
              <a:cxnLst>
                <a:cxn ang="T4">
                  <a:pos x="T0" y="T1"/>
                </a:cxn>
                <a:cxn ang="T5">
                  <a:pos x="T2" y="T3"/>
                </a:cxn>
              </a:cxnLst>
              <a:rect l="0" t="0" r="r" b="b"/>
              <a:pathLst>
                <a:path w="157" h="86">
                  <a:moveTo>
                    <a:pt x="157" y="0"/>
                  </a:moveTo>
                  <a:lnTo>
                    <a:pt x="0" y="86"/>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93" name="Freeform 22"/>
            <p:cNvSpPr>
              <a:spLocks/>
            </p:cNvSpPr>
            <p:nvPr/>
          </p:nvSpPr>
          <p:spPr bwMode="auto">
            <a:xfrm>
              <a:off x="3860" y="2297"/>
              <a:ext cx="172" cy="55"/>
            </a:xfrm>
            <a:custGeom>
              <a:avLst/>
              <a:gdLst>
                <a:gd name="T0" fmla="*/ 172 w 172"/>
                <a:gd name="T1" fmla="*/ 55 h 55"/>
                <a:gd name="T2" fmla="*/ 0 w 172"/>
                <a:gd name="T3" fmla="*/ 0 h 55"/>
                <a:gd name="T4" fmla="*/ 0 60000 65536"/>
                <a:gd name="T5" fmla="*/ 0 60000 65536"/>
              </a:gdLst>
              <a:ahLst/>
              <a:cxnLst>
                <a:cxn ang="T4">
                  <a:pos x="T0" y="T1"/>
                </a:cxn>
                <a:cxn ang="T5">
                  <a:pos x="T2" y="T3"/>
                </a:cxn>
              </a:cxnLst>
              <a:rect l="0" t="0" r="r" b="b"/>
              <a:pathLst>
                <a:path w="172" h="55">
                  <a:moveTo>
                    <a:pt x="172" y="55"/>
                  </a:moveTo>
                  <a:lnTo>
                    <a:pt x="0"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94" name="Freeform 23"/>
            <p:cNvSpPr>
              <a:spLocks/>
            </p:cNvSpPr>
            <p:nvPr/>
          </p:nvSpPr>
          <p:spPr bwMode="auto">
            <a:xfrm>
              <a:off x="4032" y="2284"/>
              <a:ext cx="126" cy="68"/>
            </a:xfrm>
            <a:custGeom>
              <a:avLst/>
              <a:gdLst>
                <a:gd name="T0" fmla="*/ 0 w 126"/>
                <a:gd name="T1" fmla="*/ 68 h 68"/>
                <a:gd name="T2" fmla="*/ 126 w 126"/>
                <a:gd name="T3" fmla="*/ 0 h 68"/>
                <a:gd name="T4" fmla="*/ 0 60000 65536"/>
                <a:gd name="T5" fmla="*/ 0 60000 65536"/>
              </a:gdLst>
              <a:ahLst/>
              <a:cxnLst>
                <a:cxn ang="T4">
                  <a:pos x="T0" y="T1"/>
                </a:cxn>
                <a:cxn ang="T5">
                  <a:pos x="T2" y="T3"/>
                </a:cxn>
              </a:cxnLst>
              <a:rect l="0" t="0" r="r" b="b"/>
              <a:pathLst>
                <a:path w="126" h="68">
                  <a:moveTo>
                    <a:pt x="0" y="68"/>
                  </a:moveTo>
                  <a:lnTo>
                    <a:pt x="126"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95" name="Line 24"/>
            <p:cNvSpPr>
              <a:spLocks noChangeShapeType="1"/>
            </p:cNvSpPr>
            <p:nvPr/>
          </p:nvSpPr>
          <p:spPr bwMode="auto">
            <a:xfrm flipH="1" flipV="1">
              <a:off x="3840" y="2064"/>
              <a:ext cx="144"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96" name="Freeform 25"/>
            <p:cNvSpPr>
              <a:spLocks/>
            </p:cNvSpPr>
            <p:nvPr/>
          </p:nvSpPr>
          <p:spPr bwMode="auto">
            <a:xfrm>
              <a:off x="3984" y="1960"/>
              <a:ext cx="22" cy="200"/>
            </a:xfrm>
            <a:custGeom>
              <a:avLst/>
              <a:gdLst>
                <a:gd name="T0" fmla="*/ 0 w 22"/>
                <a:gd name="T1" fmla="*/ 200 h 200"/>
                <a:gd name="T2" fmla="*/ 22 w 22"/>
                <a:gd name="T3" fmla="*/ 0 h 200"/>
                <a:gd name="T4" fmla="*/ 0 60000 65536"/>
                <a:gd name="T5" fmla="*/ 0 60000 65536"/>
              </a:gdLst>
              <a:ahLst/>
              <a:cxnLst>
                <a:cxn ang="T4">
                  <a:pos x="T0" y="T1"/>
                </a:cxn>
                <a:cxn ang="T5">
                  <a:pos x="T2" y="T3"/>
                </a:cxn>
              </a:cxnLst>
              <a:rect l="0" t="0" r="r" b="b"/>
              <a:pathLst>
                <a:path w="22" h="200">
                  <a:moveTo>
                    <a:pt x="0" y="200"/>
                  </a:moveTo>
                  <a:lnTo>
                    <a:pt x="22"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97" name="Line 26"/>
            <p:cNvSpPr>
              <a:spLocks noChangeShapeType="1"/>
            </p:cNvSpPr>
            <p:nvPr/>
          </p:nvSpPr>
          <p:spPr bwMode="auto">
            <a:xfrm flipH="1">
              <a:off x="3888" y="2736"/>
              <a:ext cx="144"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98" name="Line 27"/>
            <p:cNvSpPr>
              <a:spLocks noChangeShapeType="1"/>
            </p:cNvSpPr>
            <p:nvPr/>
          </p:nvSpPr>
          <p:spPr bwMode="auto">
            <a:xfrm flipH="1">
              <a:off x="3984" y="2736"/>
              <a:ext cx="48"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899" name="Freeform 28"/>
            <p:cNvSpPr>
              <a:spLocks/>
            </p:cNvSpPr>
            <p:nvPr/>
          </p:nvSpPr>
          <p:spPr bwMode="auto">
            <a:xfrm>
              <a:off x="4840" y="2736"/>
              <a:ext cx="104" cy="177"/>
            </a:xfrm>
            <a:custGeom>
              <a:avLst/>
              <a:gdLst>
                <a:gd name="T0" fmla="*/ 104 w 104"/>
                <a:gd name="T1" fmla="*/ 0 h 177"/>
                <a:gd name="T2" fmla="*/ 0 w 104"/>
                <a:gd name="T3" fmla="*/ 177 h 177"/>
                <a:gd name="T4" fmla="*/ 0 60000 65536"/>
                <a:gd name="T5" fmla="*/ 0 60000 65536"/>
              </a:gdLst>
              <a:ahLst/>
              <a:cxnLst>
                <a:cxn ang="T4">
                  <a:pos x="T0" y="T1"/>
                </a:cxn>
                <a:cxn ang="T5">
                  <a:pos x="T2" y="T3"/>
                </a:cxn>
              </a:cxnLst>
              <a:rect l="0" t="0" r="r" b="b"/>
              <a:pathLst>
                <a:path w="104" h="177">
                  <a:moveTo>
                    <a:pt x="104" y="0"/>
                  </a:moveTo>
                  <a:lnTo>
                    <a:pt x="0" y="177"/>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900" name="Freeform 29"/>
            <p:cNvSpPr>
              <a:spLocks/>
            </p:cNvSpPr>
            <p:nvPr/>
          </p:nvSpPr>
          <p:spPr bwMode="auto">
            <a:xfrm>
              <a:off x="4944" y="2736"/>
              <a:ext cx="187" cy="177"/>
            </a:xfrm>
            <a:custGeom>
              <a:avLst/>
              <a:gdLst>
                <a:gd name="T0" fmla="*/ 0 w 187"/>
                <a:gd name="T1" fmla="*/ 0 h 177"/>
                <a:gd name="T2" fmla="*/ 187 w 187"/>
                <a:gd name="T3" fmla="*/ 177 h 177"/>
                <a:gd name="T4" fmla="*/ 0 60000 65536"/>
                <a:gd name="T5" fmla="*/ 0 60000 65536"/>
              </a:gdLst>
              <a:ahLst/>
              <a:cxnLst>
                <a:cxn ang="T4">
                  <a:pos x="T0" y="T1"/>
                </a:cxn>
                <a:cxn ang="T5">
                  <a:pos x="T2" y="T3"/>
                </a:cxn>
              </a:cxnLst>
              <a:rect l="0" t="0" r="r" b="b"/>
              <a:pathLst>
                <a:path w="187" h="177">
                  <a:moveTo>
                    <a:pt x="0" y="0"/>
                  </a:moveTo>
                  <a:lnTo>
                    <a:pt x="187" y="177"/>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901" name="Freeform 30"/>
            <p:cNvSpPr>
              <a:spLocks/>
            </p:cNvSpPr>
            <p:nvPr/>
          </p:nvSpPr>
          <p:spPr bwMode="auto">
            <a:xfrm>
              <a:off x="5136" y="2544"/>
              <a:ext cx="55" cy="223"/>
            </a:xfrm>
            <a:custGeom>
              <a:avLst/>
              <a:gdLst>
                <a:gd name="T0" fmla="*/ 0 w 55"/>
                <a:gd name="T1" fmla="*/ 0 h 223"/>
                <a:gd name="T2" fmla="*/ 55 w 55"/>
                <a:gd name="T3" fmla="*/ 223 h 223"/>
                <a:gd name="T4" fmla="*/ 0 60000 65536"/>
                <a:gd name="T5" fmla="*/ 0 60000 65536"/>
              </a:gdLst>
              <a:ahLst/>
              <a:cxnLst>
                <a:cxn ang="T4">
                  <a:pos x="T0" y="T1"/>
                </a:cxn>
                <a:cxn ang="T5">
                  <a:pos x="T2" y="T3"/>
                </a:cxn>
              </a:cxnLst>
              <a:rect l="0" t="0" r="r" b="b"/>
              <a:pathLst>
                <a:path w="55" h="223">
                  <a:moveTo>
                    <a:pt x="0" y="0"/>
                  </a:moveTo>
                  <a:lnTo>
                    <a:pt x="55" y="223"/>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902" name="Freeform 31"/>
            <p:cNvSpPr>
              <a:spLocks/>
            </p:cNvSpPr>
            <p:nvPr/>
          </p:nvSpPr>
          <p:spPr bwMode="auto">
            <a:xfrm>
              <a:off x="5136" y="2544"/>
              <a:ext cx="174" cy="84"/>
            </a:xfrm>
            <a:custGeom>
              <a:avLst/>
              <a:gdLst>
                <a:gd name="T0" fmla="*/ 0 w 174"/>
                <a:gd name="T1" fmla="*/ 0 h 84"/>
                <a:gd name="T2" fmla="*/ 174 w 174"/>
                <a:gd name="T3" fmla="*/ 84 h 84"/>
                <a:gd name="T4" fmla="*/ 0 60000 65536"/>
                <a:gd name="T5" fmla="*/ 0 60000 65536"/>
              </a:gdLst>
              <a:ahLst/>
              <a:cxnLst>
                <a:cxn ang="T4">
                  <a:pos x="T0" y="T1"/>
                </a:cxn>
                <a:cxn ang="T5">
                  <a:pos x="T2" y="T3"/>
                </a:cxn>
              </a:cxnLst>
              <a:rect l="0" t="0" r="r" b="b"/>
              <a:pathLst>
                <a:path w="174" h="84">
                  <a:moveTo>
                    <a:pt x="0" y="0"/>
                  </a:moveTo>
                  <a:lnTo>
                    <a:pt x="174" y="84"/>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903" name="Freeform 32"/>
            <p:cNvSpPr>
              <a:spLocks/>
            </p:cNvSpPr>
            <p:nvPr/>
          </p:nvSpPr>
          <p:spPr bwMode="auto">
            <a:xfrm>
              <a:off x="5136" y="2450"/>
              <a:ext cx="114" cy="94"/>
            </a:xfrm>
            <a:custGeom>
              <a:avLst/>
              <a:gdLst>
                <a:gd name="T0" fmla="*/ 0 w 114"/>
                <a:gd name="T1" fmla="*/ 94 h 94"/>
                <a:gd name="T2" fmla="*/ 114 w 114"/>
                <a:gd name="T3" fmla="*/ 0 h 94"/>
                <a:gd name="T4" fmla="*/ 0 60000 65536"/>
                <a:gd name="T5" fmla="*/ 0 60000 65536"/>
              </a:gdLst>
              <a:ahLst/>
              <a:cxnLst>
                <a:cxn ang="T4">
                  <a:pos x="T0" y="T1"/>
                </a:cxn>
                <a:cxn ang="T5">
                  <a:pos x="T2" y="T3"/>
                </a:cxn>
              </a:cxnLst>
              <a:rect l="0" t="0" r="r" b="b"/>
              <a:pathLst>
                <a:path w="114" h="94">
                  <a:moveTo>
                    <a:pt x="0" y="94"/>
                  </a:moveTo>
                  <a:lnTo>
                    <a:pt x="114"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904" name="Freeform 33"/>
            <p:cNvSpPr>
              <a:spLocks/>
            </p:cNvSpPr>
            <p:nvPr/>
          </p:nvSpPr>
          <p:spPr bwMode="auto">
            <a:xfrm>
              <a:off x="4848" y="2305"/>
              <a:ext cx="118" cy="237"/>
            </a:xfrm>
            <a:custGeom>
              <a:avLst/>
              <a:gdLst>
                <a:gd name="T0" fmla="*/ 25 w 118"/>
                <a:gd name="T1" fmla="*/ 237 h 237"/>
                <a:gd name="T2" fmla="*/ 118 w 118"/>
                <a:gd name="T3" fmla="*/ 92 h 237"/>
                <a:gd name="T4" fmla="*/ 0 w 118"/>
                <a:gd name="T5" fmla="*/ 0 h 237"/>
                <a:gd name="T6" fmla="*/ 0 60000 65536"/>
                <a:gd name="T7" fmla="*/ 0 60000 65536"/>
                <a:gd name="T8" fmla="*/ 0 60000 65536"/>
              </a:gdLst>
              <a:ahLst/>
              <a:cxnLst>
                <a:cxn ang="T6">
                  <a:pos x="T0" y="T1"/>
                </a:cxn>
                <a:cxn ang="T7">
                  <a:pos x="T2" y="T3"/>
                </a:cxn>
                <a:cxn ang="T8">
                  <a:pos x="T4" y="T5"/>
                </a:cxn>
              </a:cxnLst>
              <a:rect l="0" t="0" r="r" b="b"/>
              <a:pathLst>
                <a:path w="118" h="237">
                  <a:moveTo>
                    <a:pt x="25" y="237"/>
                  </a:moveTo>
                  <a:lnTo>
                    <a:pt x="118" y="92"/>
                  </a:lnTo>
                  <a:lnTo>
                    <a:pt x="0"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905" name="Freeform 34"/>
            <p:cNvSpPr>
              <a:spLocks/>
            </p:cNvSpPr>
            <p:nvPr/>
          </p:nvSpPr>
          <p:spPr bwMode="auto">
            <a:xfrm>
              <a:off x="4944" y="2397"/>
              <a:ext cx="220" cy="3"/>
            </a:xfrm>
            <a:custGeom>
              <a:avLst/>
              <a:gdLst>
                <a:gd name="T0" fmla="*/ 0 w 220"/>
                <a:gd name="T1" fmla="*/ 3 h 3"/>
                <a:gd name="T2" fmla="*/ 220 w 220"/>
                <a:gd name="T3" fmla="*/ 0 h 3"/>
                <a:gd name="T4" fmla="*/ 0 60000 65536"/>
                <a:gd name="T5" fmla="*/ 0 60000 65536"/>
              </a:gdLst>
              <a:ahLst/>
              <a:cxnLst>
                <a:cxn ang="T4">
                  <a:pos x="T0" y="T1"/>
                </a:cxn>
                <a:cxn ang="T5">
                  <a:pos x="T2" y="T3"/>
                </a:cxn>
              </a:cxnLst>
              <a:rect l="0" t="0" r="r" b="b"/>
              <a:pathLst>
                <a:path w="220" h="3">
                  <a:moveTo>
                    <a:pt x="0" y="3"/>
                  </a:moveTo>
                  <a:lnTo>
                    <a:pt x="220"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906" name="Line 35"/>
            <p:cNvSpPr>
              <a:spLocks noChangeShapeType="1"/>
            </p:cNvSpPr>
            <p:nvPr/>
          </p:nvSpPr>
          <p:spPr bwMode="auto">
            <a:xfrm flipV="1">
              <a:off x="5184" y="2160"/>
              <a:ext cx="48"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907" name="Line 36"/>
            <p:cNvSpPr>
              <a:spLocks noChangeShapeType="1"/>
            </p:cNvSpPr>
            <p:nvPr/>
          </p:nvSpPr>
          <p:spPr bwMode="auto">
            <a:xfrm>
              <a:off x="5184" y="2256"/>
              <a:ext cx="144"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908" name="Line 37"/>
            <p:cNvSpPr>
              <a:spLocks noChangeShapeType="1"/>
            </p:cNvSpPr>
            <p:nvPr/>
          </p:nvSpPr>
          <p:spPr bwMode="auto">
            <a:xfrm flipV="1">
              <a:off x="4944" y="2064"/>
              <a:ext cx="144"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909" name="Line 38"/>
            <p:cNvSpPr>
              <a:spLocks noChangeShapeType="1"/>
            </p:cNvSpPr>
            <p:nvPr/>
          </p:nvSpPr>
          <p:spPr bwMode="auto">
            <a:xfrm flipH="1">
              <a:off x="4944" y="2160"/>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79910" name="Text Box 39"/>
            <p:cNvSpPr txBox="1">
              <a:spLocks noChangeArrowheads="1"/>
            </p:cNvSpPr>
            <p:nvPr/>
          </p:nvSpPr>
          <p:spPr bwMode="auto">
            <a:xfrm>
              <a:off x="4261" y="2709"/>
              <a:ext cx="407"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 e</a:t>
              </a:r>
              <a:r>
                <a:rPr lang="en-US" sz="1800">
                  <a:solidFill>
                    <a:schemeClr val="tx2"/>
                  </a:solidFill>
                  <a:sym typeface="Symbol" pitchFamily="18" charset="2"/>
                </a:rPr>
                <a:t>T</a:t>
              </a:r>
              <a:endParaRPr lang="en-US" sz="1800">
                <a:solidFill>
                  <a:schemeClr val="tx2"/>
                </a:solidFill>
              </a:endParaRPr>
            </a:p>
          </p:txBody>
        </p:sp>
        <p:sp>
          <p:nvSpPr>
            <p:cNvPr id="79911" name="Text Box 40"/>
            <p:cNvSpPr txBox="1">
              <a:spLocks noChangeArrowheads="1"/>
            </p:cNvSpPr>
            <p:nvPr/>
          </p:nvSpPr>
          <p:spPr bwMode="auto">
            <a:xfrm>
              <a:off x="3696" y="3024"/>
              <a:ext cx="22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X</a:t>
              </a:r>
            </a:p>
          </p:txBody>
        </p:sp>
        <p:sp>
          <p:nvSpPr>
            <p:cNvPr id="79912" name="Text Box 41"/>
            <p:cNvSpPr txBox="1">
              <a:spLocks noChangeArrowheads="1"/>
            </p:cNvSpPr>
            <p:nvPr/>
          </p:nvSpPr>
          <p:spPr bwMode="auto">
            <a:xfrm>
              <a:off x="5136" y="3024"/>
              <a:ext cx="22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Y</a:t>
              </a:r>
            </a:p>
          </p:txBody>
        </p:sp>
        <p:sp>
          <p:nvSpPr>
            <p:cNvPr id="79913" name="Text Box 42"/>
            <p:cNvSpPr txBox="1">
              <a:spLocks noChangeArrowheads="1"/>
            </p:cNvSpPr>
            <p:nvPr/>
          </p:nvSpPr>
          <p:spPr bwMode="auto">
            <a:xfrm>
              <a:off x="4232" y="1917"/>
              <a:ext cx="45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 e’</a:t>
              </a:r>
              <a:r>
                <a:rPr lang="en-US" sz="1800">
                  <a:solidFill>
                    <a:schemeClr val="tx2"/>
                  </a:solidFill>
                  <a:sym typeface="Symbol" pitchFamily="18" charset="2"/>
                </a:rPr>
                <a:t>T</a:t>
              </a:r>
            </a:p>
          </p:txBody>
        </p:sp>
      </p:grpSp>
      <p:sp>
        <p:nvSpPr>
          <p:cNvPr id="158763" name="Rectangle 43"/>
          <p:cNvSpPr>
            <a:spLocks noChangeArrowheads="1"/>
          </p:cNvSpPr>
          <p:nvPr/>
        </p:nvSpPr>
        <p:spPr bwMode="auto">
          <a:xfrm>
            <a:off x="152400" y="5118100"/>
            <a:ext cx="8382000" cy="173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88913" indent="-188913" eaLnBrk="1" hangingPunct="1">
              <a:lnSpc>
                <a:spcPct val="80000"/>
              </a:lnSpc>
              <a:spcBef>
                <a:spcPct val="50000"/>
              </a:spcBef>
            </a:pPr>
            <a:r>
              <a:rPr lang="en-US" sz="2000">
                <a:solidFill>
                  <a:schemeClr val="tx2"/>
                </a:solidFill>
              </a:rPr>
              <a:t>T’  </a:t>
            </a:r>
            <a:r>
              <a:rPr lang="en-US" sz="2000">
                <a:solidFill>
                  <a:schemeClr val="tx2"/>
                </a:solidFill>
                <a:sym typeface="Symbol" pitchFamily="18" charset="2"/>
              </a:rPr>
              <a:t> </a:t>
            </a:r>
            <a:r>
              <a:rPr lang="en-US" sz="2000">
                <a:solidFill>
                  <a:schemeClr val="tx2"/>
                </a:solidFill>
              </a:rPr>
              <a:t>(T + e) – e’   now satisfies LI:</a:t>
            </a:r>
          </a:p>
          <a:p>
            <a:pPr marL="763588" lvl="1" indent="-306388" eaLnBrk="1" hangingPunct="1">
              <a:lnSpc>
                <a:spcPct val="80000"/>
              </a:lnSpc>
              <a:spcBef>
                <a:spcPct val="50000"/>
              </a:spcBef>
              <a:buFont typeface="Wingdings" pitchFamily="2" charset="2"/>
              <a:buChar char="Ø"/>
            </a:pPr>
            <a:r>
              <a:rPr lang="en-US" sz="2000">
                <a:solidFill>
                  <a:schemeClr val="tx2"/>
                </a:solidFill>
              </a:rPr>
              <a:t>T’ is also a spanning tree of G.</a:t>
            </a:r>
          </a:p>
          <a:p>
            <a:pPr marL="763588" lvl="1" indent="-306388" eaLnBrk="1" hangingPunct="1">
              <a:lnSpc>
                <a:spcPct val="70000"/>
              </a:lnSpc>
              <a:spcBef>
                <a:spcPct val="50000"/>
              </a:spcBef>
              <a:buFont typeface="Wingdings" pitchFamily="2" charset="2"/>
              <a:buChar char="Ø"/>
            </a:pPr>
            <a:r>
              <a:rPr lang="en-US" sz="2000">
                <a:solidFill>
                  <a:schemeClr val="tx2"/>
                </a:solidFill>
              </a:rPr>
              <a:t>T’ includes all blue edges (e among them) and excludes all red edges.</a:t>
            </a:r>
          </a:p>
          <a:p>
            <a:pPr marL="763588" lvl="1" indent="-306388" eaLnBrk="1" hangingPunct="1">
              <a:lnSpc>
                <a:spcPct val="80000"/>
              </a:lnSpc>
              <a:spcBef>
                <a:spcPct val="50000"/>
              </a:spcBef>
              <a:buFont typeface="Wingdings" pitchFamily="2" charset="2"/>
              <a:buChar char="Ø"/>
            </a:pPr>
            <a:r>
              <a:rPr lang="en-US" sz="2000">
                <a:solidFill>
                  <a:schemeClr val="tx2"/>
                </a:solidFill>
              </a:rPr>
              <a:t>Cost(T’) = Cost(T) + w(e) – w(e’) </a:t>
            </a:r>
            <a:r>
              <a:rPr lang="en-US" sz="2000">
                <a:solidFill>
                  <a:schemeClr val="tx2"/>
                </a:solidFill>
                <a:sym typeface="Symbol" pitchFamily="18" charset="2"/>
              </a:rPr>
              <a:t> </a:t>
            </a:r>
            <a:r>
              <a:rPr lang="en-US" sz="2000">
                <a:solidFill>
                  <a:schemeClr val="tx2"/>
                </a:solidFill>
              </a:rPr>
              <a:t>Cost(T). </a:t>
            </a:r>
            <a:br>
              <a:rPr lang="en-US" sz="2000">
                <a:solidFill>
                  <a:schemeClr val="tx2"/>
                </a:solidFill>
              </a:rPr>
            </a:br>
            <a:r>
              <a:rPr lang="en-US" sz="2000">
                <a:solidFill>
                  <a:schemeClr val="tx2"/>
                </a:solidFill>
              </a:rPr>
              <a:t>So, T’ is also an MST. </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77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8725">
                                            <p:txEl>
                                              <p:pRg st="0" end="0"/>
                                            </p:txEl>
                                          </p:spTgt>
                                        </p:tgtEl>
                                        <p:attrNameLst>
                                          <p:attrName>style.visibility</p:attrName>
                                        </p:attrNameLst>
                                      </p:cBhvr>
                                      <p:to>
                                        <p:strVal val="visible"/>
                                      </p:to>
                                    </p:set>
                                    <p:animEffect transition="in" filter="wipe(up)">
                                      <p:cBhvr>
                                        <p:cTn id="7" dur="500"/>
                                        <p:tgtEl>
                                          <p:spTgt spid="15872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8725">
                                            <p:txEl>
                                              <p:pRg st="1" end="1"/>
                                            </p:txEl>
                                          </p:spTgt>
                                        </p:tgtEl>
                                        <p:attrNameLst>
                                          <p:attrName>style.visibility</p:attrName>
                                        </p:attrNameLst>
                                      </p:cBhvr>
                                      <p:to>
                                        <p:strVal val="visible"/>
                                      </p:to>
                                    </p:set>
                                    <p:animEffect transition="in" filter="wipe(up)">
                                      <p:cBhvr>
                                        <p:cTn id="12" dur="500"/>
                                        <p:tgtEl>
                                          <p:spTgt spid="15872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58725">
                                            <p:txEl>
                                              <p:pRg st="2" end="2"/>
                                            </p:txEl>
                                          </p:spTgt>
                                        </p:tgtEl>
                                        <p:attrNameLst>
                                          <p:attrName>style.visibility</p:attrName>
                                        </p:attrNameLst>
                                      </p:cBhvr>
                                      <p:to>
                                        <p:strVal val="visible"/>
                                      </p:to>
                                    </p:set>
                                    <p:animEffect transition="in" filter="wipe(up)">
                                      <p:cBhvr>
                                        <p:cTn id="17" dur="500"/>
                                        <p:tgtEl>
                                          <p:spTgt spid="15872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58725">
                                            <p:txEl>
                                              <p:pRg st="3" end="3"/>
                                            </p:txEl>
                                          </p:spTgt>
                                        </p:tgtEl>
                                        <p:attrNameLst>
                                          <p:attrName>style.visibility</p:attrName>
                                        </p:attrNameLst>
                                      </p:cBhvr>
                                      <p:to>
                                        <p:strVal val="visible"/>
                                      </p:to>
                                    </p:set>
                                    <p:animEffect transition="in" filter="wipe(up)">
                                      <p:cBhvr>
                                        <p:cTn id="22" dur="500"/>
                                        <p:tgtEl>
                                          <p:spTgt spid="15872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8725">
                                            <p:txEl>
                                              <p:pRg st="4" end="4"/>
                                            </p:txEl>
                                          </p:spTgt>
                                        </p:tgtEl>
                                        <p:attrNameLst>
                                          <p:attrName>style.visibility</p:attrName>
                                        </p:attrNameLst>
                                      </p:cBhvr>
                                      <p:to>
                                        <p:strVal val="visible"/>
                                      </p:to>
                                    </p:set>
                                    <p:animEffect transition="in" filter="wipe(up)">
                                      <p:cBhvr>
                                        <p:cTn id="27" dur="500"/>
                                        <p:tgtEl>
                                          <p:spTgt spid="15872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58725">
                                            <p:txEl>
                                              <p:pRg st="5" end="5"/>
                                            </p:txEl>
                                          </p:spTgt>
                                        </p:tgtEl>
                                        <p:attrNameLst>
                                          <p:attrName>style.visibility</p:attrName>
                                        </p:attrNameLst>
                                      </p:cBhvr>
                                      <p:to>
                                        <p:strVal val="visible"/>
                                      </p:to>
                                    </p:set>
                                    <p:animEffect transition="in" filter="wipe(up)">
                                      <p:cBhvr>
                                        <p:cTn id="32" dur="500"/>
                                        <p:tgtEl>
                                          <p:spTgt spid="158725">
                                            <p:txEl>
                                              <p:pRg st="5" end="5"/>
                                            </p:txEl>
                                          </p:spTgt>
                                        </p:tgtEl>
                                      </p:cBhvr>
                                    </p:animEffect>
                                  </p:childTnLst>
                                </p:cTn>
                              </p:par>
                            </p:childTnLst>
                          </p:cTn>
                        </p:par>
                        <p:par>
                          <p:cTn id="33" fill="hold" nodeType="afterGroup">
                            <p:stCondLst>
                              <p:cond delay="500"/>
                            </p:stCondLst>
                            <p:childTnLst>
                              <p:par>
                                <p:cTn id="34" presetID="22" presetClass="entr" presetSubtype="1" fill="hold" nodeType="afterEffect">
                                  <p:stCondLst>
                                    <p:cond delay="0"/>
                                  </p:stCondLst>
                                  <p:childTnLst>
                                    <p:set>
                                      <p:cBhvr>
                                        <p:cTn id="35" dur="1" fill="hold">
                                          <p:stCondLst>
                                            <p:cond delay="0"/>
                                          </p:stCondLst>
                                        </p:cTn>
                                        <p:tgtEl>
                                          <p:spTgt spid="158726"/>
                                        </p:tgtEl>
                                        <p:attrNameLst>
                                          <p:attrName>style.visibility</p:attrName>
                                        </p:attrNameLst>
                                      </p:cBhvr>
                                      <p:to>
                                        <p:strVal val="visible"/>
                                      </p:to>
                                    </p:set>
                                    <p:animEffect transition="in" filter="wipe(up)">
                                      <p:cBhvr>
                                        <p:cTn id="36" dur="500"/>
                                        <p:tgtEl>
                                          <p:spTgt spid="15872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58763">
                                            <p:txEl>
                                              <p:pRg st="0" end="0"/>
                                            </p:txEl>
                                          </p:spTgt>
                                        </p:tgtEl>
                                        <p:attrNameLst>
                                          <p:attrName>style.visibility</p:attrName>
                                        </p:attrNameLst>
                                      </p:cBhvr>
                                      <p:to>
                                        <p:strVal val="visible"/>
                                      </p:to>
                                    </p:set>
                                    <p:animEffect transition="in" filter="wipe(up)">
                                      <p:cBhvr>
                                        <p:cTn id="41" dur="500"/>
                                        <p:tgtEl>
                                          <p:spTgt spid="158763">
                                            <p:txEl>
                                              <p:pRg st="0" end="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58763">
                                            <p:txEl>
                                              <p:pRg st="1" end="1"/>
                                            </p:txEl>
                                          </p:spTgt>
                                        </p:tgtEl>
                                        <p:attrNameLst>
                                          <p:attrName>style.visibility</p:attrName>
                                        </p:attrNameLst>
                                      </p:cBhvr>
                                      <p:to>
                                        <p:strVal val="visible"/>
                                      </p:to>
                                    </p:set>
                                    <p:animEffect transition="in" filter="wipe(up)">
                                      <p:cBhvr>
                                        <p:cTn id="46" dur="500"/>
                                        <p:tgtEl>
                                          <p:spTgt spid="158763">
                                            <p:txEl>
                                              <p:pRg st="1" end="1"/>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158763">
                                            <p:txEl>
                                              <p:pRg st="2" end="2"/>
                                            </p:txEl>
                                          </p:spTgt>
                                        </p:tgtEl>
                                        <p:attrNameLst>
                                          <p:attrName>style.visibility</p:attrName>
                                        </p:attrNameLst>
                                      </p:cBhvr>
                                      <p:to>
                                        <p:strVal val="visible"/>
                                      </p:to>
                                    </p:set>
                                    <p:animEffect transition="in" filter="wipe(up)">
                                      <p:cBhvr>
                                        <p:cTn id="51" dur="500"/>
                                        <p:tgtEl>
                                          <p:spTgt spid="158763">
                                            <p:txEl>
                                              <p:pRg st="2" end="2"/>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158763">
                                            <p:txEl>
                                              <p:pRg st="3" end="3"/>
                                            </p:txEl>
                                          </p:spTgt>
                                        </p:tgtEl>
                                        <p:attrNameLst>
                                          <p:attrName>style.visibility</p:attrName>
                                        </p:attrNameLst>
                                      </p:cBhvr>
                                      <p:to>
                                        <p:strVal val="visible"/>
                                      </p:to>
                                    </p:set>
                                    <p:animEffect transition="in" filter="wipe(up)">
                                      <p:cBhvr>
                                        <p:cTn id="56" dur="500"/>
                                        <p:tgtEl>
                                          <p:spTgt spid="1587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5" grpId="0" build="p" autoUpdateAnimBg="0"/>
      <p:bldP spid="158763" grpId="0" build="p" bldLvl="2"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0" name="AutoShape 4"/>
          <p:cNvSpPr>
            <a:spLocks noChangeArrowheads="1"/>
          </p:cNvSpPr>
          <p:nvPr/>
        </p:nvSpPr>
        <p:spPr bwMode="auto">
          <a:xfrm>
            <a:off x="152400" y="152400"/>
            <a:ext cx="8763000" cy="685800"/>
          </a:xfrm>
          <a:prstGeom prst="wedgeRectCallout">
            <a:avLst>
              <a:gd name="adj1" fmla="val -12606"/>
              <a:gd name="adj2" fmla="val -34259"/>
            </a:avLst>
          </a:prstGeom>
          <a:gradFill rotWithShape="0">
            <a:gsLst>
              <a:gs pos="0">
                <a:srgbClr val="9AC19A"/>
              </a:gs>
              <a:gs pos="50000">
                <a:srgbClr val="CCFFCC"/>
              </a:gs>
              <a:gs pos="100000">
                <a:srgbClr val="9AC19A"/>
              </a:gs>
            </a:gsLst>
            <a:lin ang="0" scaled="1"/>
          </a:gra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lstStyle/>
          <a:p>
            <a:pPr algn="ctr" eaLnBrk="1" hangingPunct="1">
              <a:buFontTx/>
              <a:buNone/>
            </a:pPr>
            <a:r>
              <a:rPr lang="en-US" sz="3600" b="1" dirty="0">
                <a:solidFill>
                  <a:srgbClr val="CC0000"/>
                </a:solidFill>
                <a:latin typeface="Arial" pitchFamily="34" charset="0"/>
              </a:rPr>
              <a:t>LI</a:t>
            </a:r>
            <a:r>
              <a:rPr lang="en-US" sz="2800" dirty="0">
                <a:solidFill>
                  <a:schemeClr val="tx2"/>
                </a:solidFill>
                <a:latin typeface="Arial" pitchFamily="34" charset="0"/>
              </a:rPr>
              <a:t>   &amp;   </a:t>
            </a:r>
            <a:r>
              <a:rPr lang="en-US" sz="2800" dirty="0">
                <a:solidFill>
                  <a:schemeClr val="tx2"/>
                </a:solidFill>
                <a:latin typeface="Arial" pitchFamily="34" charset="0"/>
                <a:sym typeface="Symbol" pitchFamily="18" charset="2"/>
              </a:rPr>
              <a:t></a:t>
            </a:r>
            <a:r>
              <a:rPr lang="en-US" sz="2800" dirty="0">
                <a:solidFill>
                  <a:schemeClr val="hlink"/>
                </a:solidFill>
                <a:latin typeface="Arial" pitchFamily="34" charset="0"/>
              </a:rPr>
              <a:t>exit-</a:t>
            </a:r>
            <a:r>
              <a:rPr lang="en-US" sz="2800" dirty="0" err="1">
                <a:solidFill>
                  <a:schemeClr val="hlink"/>
                </a:solidFill>
                <a:latin typeface="Arial" pitchFamily="34" charset="0"/>
              </a:rPr>
              <a:t>cond</a:t>
            </a:r>
            <a:r>
              <a:rPr lang="en-US" sz="2800" dirty="0">
                <a:solidFill>
                  <a:schemeClr val="tx2"/>
                </a:solidFill>
                <a:latin typeface="Arial" pitchFamily="34" charset="0"/>
                <a:sym typeface="Symbol" pitchFamily="18" charset="2"/>
              </a:rPr>
              <a:t></a:t>
            </a:r>
            <a:r>
              <a:rPr lang="en-US" sz="2800" dirty="0">
                <a:solidFill>
                  <a:schemeClr val="tx2"/>
                </a:solidFill>
                <a:latin typeface="Arial" pitchFamily="34" charset="0"/>
              </a:rPr>
              <a:t> &amp;  </a:t>
            </a:r>
            <a:r>
              <a:rPr lang="en-US" sz="2800" dirty="0">
                <a:solidFill>
                  <a:srgbClr val="CC0000"/>
                </a:solidFill>
                <a:latin typeface="Arial" pitchFamily="34" charset="0"/>
              </a:rPr>
              <a:t>Red-Rule</a:t>
            </a:r>
            <a:r>
              <a:rPr lang="en-US" sz="2800" dirty="0">
                <a:solidFill>
                  <a:schemeClr val="hlink"/>
                </a:solidFill>
                <a:latin typeface="Arial" pitchFamily="34" charset="0"/>
              </a:rPr>
              <a:t> applied</a:t>
            </a:r>
            <a:r>
              <a:rPr lang="en-US" sz="2800" dirty="0">
                <a:solidFill>
                  <a:schemeClr val="tx2"/>
                </a:solidFill>
                <a:latin typeface="Arial" pitchFamily="34" charset="0"/>
              </a:rPr>
              <a:t>  </a:t>
            </a:r>
            <a:r>
              <a:rPr lang="en-US" sz="3200" dirty="0">
                <a:solidFill>
                  <a:schemeClr val="tx2"/>
                </a:solidFill>
                <a:latin typeface="Arial" pitchFamily="34" charset="0"/>
                <a:sym typeface="Symbol" pitchFamily="18" charset="2"/>
              </a:rPr>
              <a:t></a:t>
            </a:r>
            <a:r>
              <a:rPr lang="en-US" sz="3600" dirty="0">
                <a:solidFill>
                  <a:schemeClr val="tx2"/>
                </a:solidFill>
                <a:latin typeface="Arial" pitchFamily="34" charset="0"/>
                <a:sym typeface="Symbol" pitchFamily="18" charset="2"/>
              </a:rPr>
              <a:t> </a:t>
            </a:r>
            <a:r>
              <a:rPr lang="en-US" sz="3200" dirty="0">
                <a:solidFill>
                  <a:schemeClr val="tx2"/>
                </a:solidFill>
                <a:latin typeface="Arial" pitchFamily="34" charset="0"/>
              </a:rPr>
              <a:t> </a:t>
            </a:r>
            <a:r>
              <a:rPr lang="en-US" sz="3600" b="1" dirty="0">
                <a:solidFill>
                  <a:srgbClr val="CC0000"/>
                </a:solidFill>
                <a:latin typeface="Arial" pitchFamily="34" charset="0"/>
              </a:rPr>
              <a:t>LI</a:t>
            </a:r>
          </a:p>
        </p:txBody>
      </p:sp>
      <p:sp>
        <p:nvSpPr>
          <p:cNvPr id="157705" name="Text Box 9"/>
          <p:cNvSpPr txBox="1">
            <a:spLocks noChangeArrowheads="1"/>
          </p:cNvSpPr>
          <p:nvPr/>
        </p:nvSpPr>
        <p:spPr bwMode="auto">
          <a:xfrm>
            <a:off x="152400" y="914400"/>
            <a:ext cx="8686800" cy="41275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8913" indent="-188913">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Tx/>
              <a:buNone/>
            </a:pPr>
            <a:r>
              <a:rPr lang="en-US" sz="2000" b="1">
                <a:solidFill>
                  <a:schemeClr val="tx2"/>
                </a:solidFill>
              </a:rPr>
              <a:t>Proof:</a:t>
            </a:r>
            <a:r>
              <a:rPr lang="en-US" sz="2000">
                <a:solidFill>
                  <a:schemeClr val="tx2"/>
                </a:solidFill>
              </a:rPr>
              <a:t>  </a:t>
            </a:r>
          </a:p>
          <a:p>
            <a:pPr eaLnBrk="1" hangingPunct="1">
              <a:spcBef>
                <a:spcPct val="50000"/>
              </a:spcBef>
            </a:pPr>
            <a:r>
              <a:rPr lang="en-US" sz="2000">
                <a:solidFill>
                  <a:schemeClr val="tx2"/>
                </a:solidFill>
              </a:rPr>
              <a:t>There is an MST T that includes all blue edges and excludes all red edges.</a:t>
            </a:r>
          </a:p>
          <a:p>
            <a:pPr eaLnBrk="1" hangingPunct="1">
              <a:spcBef>
                <a:spcPct val="50000"/>
              </a:spcBef>
            </a:pPr>
            <a:r>
              <a:rPr lang="en-US" sz="2000">
                <a:solidFill>
                  <a:schemeClr val="tx2"/>
                </a:solidFill>
              </a:rPr>
              <a:t>Suppose Red-Rule is applied to cycle C that contains no red edges, </a:t>
            </a:r>
            <a:br>
              <a:rPr lang="en-US" sz="2000">
                <a:solidFill>
                  <a:schemeClr val="tx2"/>
                </a:solidFill>
              </a:rPr>
            </a:br>
            <a:r>
              <a:rPr lang="en-US" sz="2000">
                <a:solidFill>
                  <a:schemeClr val="tx2"/>
                </a:solidFill>
              </a:rPr>
              <a:t>and maximum weight white edge e of C is colored red. </a:t>
            </a:r>
          </a:p>
          <a:p>
            <a:pPr eaLnBrk="1" hangingPunct="1">
              <a:spcBef>
                <a:spcPct val="50000"/>
              </a:spcBef>
            </a:pPr>
            <a:r>
              <a:rPr lang="en-US" sz="2000">
                <a:solidFill>
                  <a:schemeClr val="tx2"/>
                </a:solidFill>
              </a:rPr>
              <a:t>If e</a:t>
            </a:r>
            <a:r>
              <a:rPr lang="en-US" sz="2000">
                <a:solidFill>
                  <a:schemeClr val="tx2"/>
                </a:solidFill>
                <a:sym typeface="Symbol" pitchFamily="18" charset="2"/>
              </a:rPr>
              <a:t></a:t>
            </a:r>
            <a:r>
              <a:rPr lang="en-US" sz="2000">
                <a:solidFill>
                  <a:schemeClr val="tx2"/>
                </a:solidFill>
              </a:rPr>
              <a:t>T, then T still satisfies the LI.</a:t>
            </a:r>
          </a:p>
          <a:p>
            <a:pPr eaLnBrk="1" hangingPunct="1">
              <a:spcBef>
                <a:spcPct val="50000"/>
              </a:spcBef>
            </a:pPr>
            <a:r>
              <a:rPr lang="en-US" sz="2000">
                <a:solidFill>
                  <a:schemeClr val="tx2"/>
                </a:solidFill>
              </a:rPr>
              <a:t>Suppose e</a:t>
            </a:r>
            <a:r>
              <a:rPr lang="en-US" sz="2000">
                <a:solidFill>
                  <a:schemeClr val="tx2"/>
                </a:solidFill>
                <a:sym typeface="Symbol" pitchFamily="18" charset="2"/>
              </a:rPr>
              <a:t></a:t>
            </a:r>
            <a:r>
              <a:rPr lang="en-US" sz="2000">
                <a:solidFill>
                  <a:schemeClr val="tx2"/>
                </a:solidFill>
              </a:rPr>
              <a:t>T.</a:t>
            </a:r>
          </a:p>
          <a:p>
            <a:pPr eaLnBrk="1" hangingPunct="1">
              <a:lnSpc>
                <a:spcPct val="95000"/>
              </a:lnSpc>
              <a:spcBef>
                <a:spcPct val="50000"/>
              </a:spcBef>
            </a:pPr>
            <a:r>
              <a:rPr lang="en-US" sz="2000">
                <a:solidFill>
                  <a:schemeClr val="tx2"/>
                </a:solidFill>
              </a:rPr>
              <a:t>T – e is disconnected and induces a cut (X,Y).</a:t>
            </a:r>
            <a:br>
              <a:rPr lang="en-US" sz="2000">
                <a:solidFill>
                  <a:schemeClr val="tx2"/>
                </a:solidFill>
              </a:rPr>
            </a:br>
            <a:r>
              <a:rPr lang="en-US" sz="2000">
                <a:solidFill>
                  <a:schemeClr val="tx2"/>
                </a:solidFill>
              </a:rPr>
              <a:t>There must be at least one other (white) edge </a:t>
            </a:r>
            <a:br>
              <a:rPr lang="en-US" sz="2000">
                <a:solidFill>
                  <a:schemeClr val="tx2"/>
                </a:solidFill>
              </a:rPr>
            </a:br>
            <a:r>
              <a:rPr lang="en-US" sz="2000">
                <a:solidFill>
                  <a:schemeClr val="tx2"/>
                </a:solidFill>
              </a:rPr>
              <a:t>e’ </a:t>
            </a:r>
            <a:r>
              <a:rPr lang="en-US" sz="2000">
                <a:solidFill>
                  <a:schemeClr val="tx2"/>
                </a:solidFill>
                <a:sym typeface="Symbol" pitchFamily="18" charset="2"/>
              </a:rPr>
              <a:t></a:t>
            </a:r>
            <a:r>
              <a:rPr lang="en-US" sz="2000">
                <a:solidFill>
                  <a:schemeClr val="tx2"/>
                </a:solidFill>
              </a:rPr>
              <a:t> C that crosses the cut (X,Y).</a:t>
            </a:r>
            <a:br>
              <a:rPr lang="en-US" sz="2000">
                <a:solidFill>
                  <a:schemeClr val="tx2"/>
                </a:solidFill>
              </a:rPr>
            </a:br>
            <a:r>
              <a:rPr lang="en-US" sz="2000">
                <a:solidFill>
                  <a:srgbClr val="CC0000"/>
                </a:solidFill>
              </a:rPr>
              <a:t>(Why does e’ exist &amp; is white?)</a:t>
            </a:r>
            <a:br>
              <a:rPr lang="en-US" sz="2000">
                <a:solidFill>
                  <a:srgbClr val="CC0000"/>
                </a:solidFill>
              </a:rPr>
            </a:br>
            <a:r>
              <a:rPr lang="en-US" sz="2000"/>
              <a:t>So, w(e’) </a:t>
            </a:r>
            <a:r>
              <a:rPr lang="en-US" sz="2000">
                <a:sym typeface="Symbol" pitchFamily="18" charset="2"/>
              </a:rPr>
              <a:t></a:t>
            </a:r>
            <a:r>
              <a:rPr lang="en-US" sz="2000"/>
              <a:t> w(e).</a:t>
            </a:r>
          </a:p>
        </p:txBody>
      </p:sp>
      <p:sp>
        <p:nvSpPr>
          <p:cNvPr id="157746" name="Rectangle 50"/>
          <p:cNvSpPr>
            <a:spLocks noChangeArrowheads="1"/>
          </p:cNvSpPr>
          <p:nvPr/>
        </p:nvSpPr>
        <p:spPr bwMode="auto">
          <a:xfrm>
            <a:off x="152400" y="5165725"/>
            <a:ext cx="8382000" cy="169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88913" indent="-188913" eaLnBrk="1" hangingPunct="1">
              <a:lnSpc>
                <a:spcPct val="75000"/>
              </a:lnSpc>
              <a:spcBef>
                <a:spcPct val="50000"/>
              </a:spcBef>
            </a:pPr>
            <a:r>
              <a:rPr lang="en-US" sz="2000">
                <a:solidFill>
                  <a:schemeClr val="tx2"/>
                </a:solidFill>
              </a:rPr>
              <a:t>T’  </a:t>
            </a:r>
            <a:r>
              <a:rPr lang="en-US" sz="2000">
                <a:solidFill>
                  <a:schemeClr val="tx2"/>
                </a:solidFill>
                <a:sym typeface="Symbol" pitchFamily="18" charset="2"/>
              </a:rPr>
              <a:t> </a:t>
            </a:r>
            <a:r>
              <a:rPr lang="en-US" sz="2000">
                <a:solidFill>
                  <a:schemeClr val="tx2"/>
                </a:solidFill>
              </a:rPr>
              <a:t>(T + e’) – e   now satisfies LI:</a:t>
            </a:r>
          </a:p>
          <a:p>
            <a:pPr marL="763588" lvl="1" indent="-306388" eaLnBrk="1" hangingPunct="1">
              <a:lnSpc>
                <a:spcPct val="75000"/>
              </a:lnSpc>
              <a:spcBef>
                <a:spcPct val="50000"/>
              </a:spcBef>
              <a:buFont typeface="Wingdings" pitchFamily="2" charset="2"/>
              <a:buChar char="Ø"/>
            </a:pPr>
            <a:r>
              <a:rPr lang="en-US" sz="2000">
                <a:solidFill>
                  <a:schemeClr val="tx2"/>
                </a:solidFill>
              </a:rPr>
              <a:t>T’ is also a spanning tree of G.</a:t>
            </a:r>
          </a:p>
          <a:p>
            <a:pPr marL="763588" lvl="1" indent="-306388" eaLnBrk="1" hangingPunct="1">
              <a:lnSpc>
                <a:spcPct val="75000"/>
              </a:lnSpc>
              <a:spcBef>
                <a:spcPct val="50000"/>
              </a:spcBef>
              <a:buFont typeface="Wingdings" pitchFamily="2" charset="2"/>
              <a:buChar char="Ø"/>
            </a:pPr>
            <a:r>
              <a:rPr lang="en-US" sz="2000">
                <a:solidFill>
                  <a:schemeClr val="tx2"/>
                </a:solidFill>
              </a:rPr>
              <a:t>T’ includes all blue edges and excludes all red edges (e among them).</a:t>
            </a:r>
          </a:p>
          <a:p>
            <a:pPr marL="763588" lvl="1" indent="-306388" eaLnBrk="1" hangingPunct="1">
              <a:lnSpc>
                <a:spcPct val="75000"/>
              </a:lnSpc>
              <a:spcBef>
                <a:spcPct val="50000"/>
              </a:spcBef>
              <a:buFont typeface="Wingdings" pitchFamily="2" charset="2"/>
              <a:buChar char="Ø"/>
            </a:pPr>
            <a:r>
              <a:rPr lang="en-US" sz="2000">
                <a:solidFill>
                  <a:schemeClr val="tx2"/>
                </a:solidFill>
              </a:rPr>
              <a:t>Cost(T’) = Cost(T) + w(e’) – w(e) </a:t>
            </a:r>
            <a:r>
              <a:rPr lang="en-US" sz="2000">
                <a:solidFill>
                  <a:schemeClr val="tx2"/>
                </a:solidFill>
                <a:sym typeface="Symbol" pitchFamily="18" charset="2"/>
              </a:rPr>
              <a:t> </a:t>
            </a:r>
            <a:r>
              <a:rPr lang="en-US" sz="2000">
                <a:solidFill>
                  <a:schemeClr val="tx2"/>
                </a:solidFill>
              </a:rPr>
              <a:t>Cost(T). </a:t>
            </a:r>
            <a:br>
              <a:rPr lang="en-US" sz="2000">
                <a:solidFill>
                  <a:schemeClr val="tx2"/>
                </a:solidFill>
              </a:rPr>
            </a:br>
            <a:r>
              <a:rPr lang="en-US" sz="2000">
                <a:solidFill>
                  <a:schemeClr val="tx2"/>
                </a:solidFill>
              </a:rPr>
              <a:t>So, T’ is also an MST. </a:t>
            </a:r>
          </a:p>
        </p:txBody>
      </p:sp>
      <p:grpSp>
        <p:nvGrpSpPr>
          <p:cNvPr id="157755" name="Group 59"/>
          <p:cNvGrpSpPr>
            <a:grpSpLocks/>
          </p:cNvGrpSpPr>
          <p:nvPr/>
        </p:nvGrpSpPr>
        <p:grpSpPr bwMode="auto">
          <a:xfrm>
            <a:off x="5791200" y="2971800"/>
            <a:ext cx="2819400" cy="2195513"/>
            <a:chOff x="3648" y="1872"/>
            <a:chExt cx="1776" cy="1383"/>
          </a:xfrm>
        </p:grpSpPr>
        <p:sp>
          <p:nvSpPr>
            <p:cNvPr id="80902" name="Oval 10"/>
            <p:cNvSpPr>
              <a:spLocks noChangeArrowheads="1"/>
            </p:cNvSpPr>
            <p:nvPr/>
          </p:nvSpPr>
          <p:spPr bwMode="auto">
            <a:xfrm>
              <a:off x="3648" y="1872"/>
              <a:ext cx="720" cy="1248"/>
            </a:xfrm>
            <a:prstGeom prst="ellipse">
              <a:avLst/>
            </a:prstGeom>
            <a:solidFill>
              <a:srgbClr val="DDDDDD"/>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endParaRPr lang="en-CA"/>
            </a:p>
          </p:txBody>
        </p:sp>
        <p:sp>
          <p:nvSpPr>
            <p:cNvPr id="80903" name="Oval 11"/>
            <p:cNvSpPr>
              <a:spLocks noChangeArrowheads="1"/>
            </p:cNvSpPr>
            <p:nvPr/>
          </p:nvSpPr>
          <p:spPr bwMode="auto">
            <a:xfrm>
              <a:off x="4608" y="1872"/>
              <a:ext cx="816" cy="1248"/>
            </a:xfrm>
            <a:prstGeom prst="ellipse">
              <a:avLst/>
            </a:prstGeom>
            <a:solidFill>
              <a:srgbClr val="DDDDDD"/>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endParaRPr lang="en-CA"/>
            </a:p>
          </p:txBody>
        </p:sp>
        <p:sp>
          <p:nvSpPr>
            <p:cNvPr id="80904" name="Line 12"/>
            <p:cNvSpPr>
              <a:spLocks noChangeShapeType="1"/>
            </p:cNvSpPr>
            <p:nvPr/>
          </p:nvSpPr>
          <p:spPr bwMode="auto">
            <a:xfrm>
              <a:off x="4032" y="2736"/>
              <a:ext cx="912" cy="0"/>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0905" name="Line 17"/>
            <p:cNvSpPr>
              <a:spLocks noChangeShapeType="1"/>
            </p:cNvSpPr>
            <p:nvPr/>
          </p:nvSpPr>
          <p:spPr bwMode="auto">
            <a:xfrm>
              <a:off x="3984" y="2160"/>
              <a:ext cx="960" cy="0"/>
            </a:xfrm>
            <a:prstGeom prst="line">
              <a:avLst/>
            </a:prstGeom>
            <a:noFill/>
            <a:ln w="1905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0906" name="Text Box 42"/>
            <p:cNvSpPr txBox="1">
              <a:spLocks noChangeArrowheads="1"/>
            </p:cNvSpPr>
            <p:nvPr/>
          </p:nvSpPr>
          <p:spPr bwMode="auto">
            <a:xfrm>
              <a:off x="4261" y="2709"/>
              <a:ext cx="407"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 e</a:t>
              </a:r>
              <a:r>
                <a:rPr lang="en-US" sz="1800">
                  <a:solidFill>
                    <a:schemeClr val="tx2"/>
                  </a:solidFill>
                  <a:sym typeface="Symbol" pitchFamily="18" charset="2"/>
                </a:rPr>
                <a:t>T</a:t>
              </a:r>
            </a:p>
          </p:txBody>
        </p:sp>
        <p:sp>
          <p:nvSpPr>
            <p:cNvPr id="80907" name="Text Box 47"/>
            <p:cNvSpPr txBox="1">
              <a:spLocks noChangeArrowheads="1"/>
            </p:cNvSpPr>
            <p:nvPr/>
          </p:nvSpPr>
          <p:spPr bwMode="auto">
            <a:xfrm>
              <a:off x="3696" y="3024"/>
              <a:ext cx="22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X</a:t>
              </a:r>
            </a:p>
          </p:txBody>
        </p:sp>
        <p:sp>
          <p:nvSpPr>
            <p:cNvPr id="80908" name="Text Box 48"/>
            <p:cNvSpPr txBox="1">
              <a:spLocks noChangeArrowheads="1"/>
            </p:cNvSpPr>
            <p:nvPr/>
          </p:nvSpPr>
          <p:spPr bwMode="auto">
            <a:xfrm>
              <a:off x="5136" y="3024"/>
              <a:ext cx="22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Y</a:t>
              </a:r>
            </a:p>
          </p:txBody>
        </p:sp>
        <p:sp>
          <p:nvSpPr>
            <p:cNvPr id="80909" name="Text Box 49"/>
            <p:cNvSpPr txBox="1">
              <a:spLocks noChangeArrowheads="1"/>
            </p:cNvSpPr>
            <p:nvPr/>
          </p:nvSpPr>
          <p:spPr bwMode="auto">
            <a:xfrm>
              <a:off x="4232" y="1917"/>
              <a:ext cx="45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 e’</a:t>
              </a:r>
              <a:r>
                <a:rPr lang="en-US" sz="1800">
                  <a:solidFill>
                    <a:schemeClr val="tx2"/>
                  </a:solidFill>
                  <a:sym typeface="Symbol" pitchFamily="18" charset="2"/>
                </a:rPr>
                <a:t>T</a:t>
              </a:r>
            </a:p>
          </p:txBody>
        </p:sp>
        <p:sp>
          <p:nvSpPr>
            <p:cNvPr id="80910" name="Rectangle 53"/>
            <p:cNvSpPr>
              <a:spLocks noChangeArrowheads="1"/>
            </p:cNvSpPr>
            <p:nvPr/>
          </p:nvSpPr>
          <p:spPr bwMode="auto">
            <a:xfrm>
              <a:off x="3840" y="2352"/>
              <a:ext cx="2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C</a:t>
              </a:r>
            </a:p>
          </p:txBody>
        </p:sp>
        <p:sp>
          <p:nvSpPr>
            <p:cNvPr id="80911" name="Freeform 55"/>
            <p:cNvSpPr>
              <a:spLocks/>
            </p:cNvSpPr>
            <p:nvPr/>
          </p:nvSpPr>
          <p:spPr bwMode="auto">
            <a:xfrm>
              <a:off x="4896" y="2160"/>
              <a:ext cx="192" cy="576"/>
            </a:xfrm>
            <a:custGeom>
              <a:avLst/>
              <a:gdLst>
                <a:gd name="T0" fmla="*/ 48 w 192"/>
                <a:gd name="T1" fmla="*/ 0 h 576"/>
                <a:gd name="T2" fmla="*/ 144 w 192"/>
                <a:gd name="T3" fmla="*/ 96 h 576"/>
                <a:gd name="T4" fmla="*/ 0 w 192"/>
                <a:gd name="T5" fmla="*/ 240 h 576"/>
                <a:gd name="T6" fmla="*/ 192 w 192"/>
                <a:gd name="T7" fmla="*/ 384 h 576"/>
                <a:gd name="T8" fmla="*/ 48 w 192"/>
                <a:gd name="T9" fmla="*/ 576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2" h="576">
                  <a:moveTo>
                    <a:pt x="48" y="0"/>
                  </a:moveTo>
                  <a:lnTo>
                    <a:pt x="144" y="96"/>
                  </a:lnTo>
                  <a:lnTo>
                    <a:pt x="0" y="240"/>
                  </a:lnTo>
                  <a:lnTo>
                    <a:pt x="192" y="384"/>
                  </a:lnTo>
                  <a:lnTo>
                    <a:pt x="48" y="576"/>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0912" name="Freeform 57"/>
            <p:cNvSpPr>
              <a:spLocks/>
            </p:cNvSpPr>
            <p:nvPr/>
          </p:nvSpPr>
          <p:spPr bwMode="auto">
            <a:xfrm>
              <a:off x="3840" y="2160"/>
              <a:ext cx="240" cy="576"/>
            </a:xfrm>
            <a:custGeom>
              <a:avLst/>
              <a:gdLst>
                <a:gd name="T0" fmla="*/ 144 w 240"/>
                <a:gd name="T1" fmla="*/ 0 h 576"/>
                <a:gd name="T2" fmla="*/ 0 w 240"/>
                <a:gd name="T3" fmla="*/ 144 h 576"/>
                <a:gd name="T4" fmla="*/ 0 w 240"/>
                <a:gd name="T5" fmla="*/ 384 h 576"/>
                <a:gd name="T6" fmla="*/ 240 w 240"/>
                <a:gd name="T7" fmla="*/ 432 h 576"/>
                <a:gd name="T8" fmla="*/ 192 w 240"/>
                <a:gd name="T9" fmla="*/ 576 h 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576">
                  <a:moveTo>
                    <a:pt x="144" y="0"/>
                  </a:moveTo>
                  <a:lnTo>
                    <a:pt x="0" y="144"/>
                  </a:lnTo>
                  <a:lnTo>
                    <a:pt x="0" y="384"/>
                  </a:lnTo>
                  <a:lnTo>
                    <a:pt x="240" y="432"/>
                  </a:lnTo>
                  <a:lnTo>
                    <a:pt x="192" y="576"/>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78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57700"/>
                                        </p:tgtEl>
                                        <p:attrNameLst>
                                          <p:attrName>style.visibility</p:attrName>
                                        </p:attrNameLst>
                                      </p:cBhvr>
                                      <p:to>
                                        <p:strVal val="visible"/>
                                      </p:to>
                                    </p:set>
                                    <p:anim calcmode="lin" valueType="num">
                                      <p:cBhvr>
                                        <p:cTn id="7" dur="500" fill="hold"/>
                                        <p:tgtEl>
                                          <p:spTgt spid="157700"/>
                                        </p:tgtEl>
                                        <p:attrNameLst>
                                          <p:attrName>ppt_w</p:attrName>
                                        </p:attrNameLst>
                                      </p:cBhvr>
                                      <p:tavLst>
                                        <p:tav tm="0">
                                          <p:val>
                                            <p:fltVal val="0"/>
                                          </p:val>
                                        </p:tav>
                                        <p:tav tm="100000">
                                          <p:val>
                                            <p:strVal val="#ppt_w"/>
                                          </p:val>
                                        </p:tav>
                                      </p:tavLst>
                                    </p:anim>
                                    <p:anim calcmode="lin" valueType="num">
                                      <p:cBhvr>
                                        <p:cTn id="8" dur="500" fill="hold"/>
                                        <p:tgtEl>
                                          <p:spTgt spid="15770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57705">
                                            <p:txEl>
                                              <p:pRg st="0" end="0"/>
                                            </p:txEl>
                                          </p:spTgt>
                                        </p:tgtEl>
                                        <p:attrNameLst>
                                          <p:attrName>style.visibility</p:attrName>
                                        </p:attrNameLst>
                                      </p:cBhvr>
                                      <p:to>
                                        <p:strVal val="visible"/>
                                      </p:to>
                                    </p:set>
                                    <p:animEffect transition="in" filter="wipe(up)">
                                      <p:cBhvr>
                                        <p:cTn id="13" dur="500"/>
                                        <p:tgtEl>
                                          <p:spTgt spid="157705">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57705">
                                            <p:txEl>
                                              <p:pRg st="1" end="1"/>
                                            </p:txEl>
                                          </p:spTgt>
                                        </p:tgtEl>
                                        <p:attrNameLst>
                                          <p:attrName>style.visibility</p:attrName>
                                        </p:attrNameLst>
                                      </p:cBhvr>
                                      <p:to>
                                        <p:strVal val="visible"/>
                                      </p:to>
                                    </p:set>
                                    <p:animEffect transition="in" filter="wipe(up)">
                                      <p:cBhvr>
                                        <p:cTn id="18" dur="500"/>
                                        <p:tgtEl>
                                          <p:spTgt spid="157705">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57705">
                                            <p:txEl>
                                              <p:pRg st="2" end="2"/>
                                            </p:txEl>
                                          </p:spTgt>
                                        </p:tgtEl>
                                        <p:attrNameLst>
                                          <p:attrName>style.visibility</p:attrName>
                                        </p:attrNameLst>
                                      </p:cBhvr>
                                      <p:to>
                                        <p:strVal val="visible"/>
                                      </p:to>
                                    </p:set>
                                    <p:animEffect transition="in" filter="wipe(up)">
                                      <p:cBhvr>
                                        <p:cTn id="23" dur="500"/>
                                        <p:tgtEl>
                                          <p:spTgt spid="157705">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57705">
                                            <p:txEl>
                                              <p:pRg st="3" end="3"/>
                                            </p:txEl>
                                          </p:spTgt>
                                        </p:tgtEl>
                                        <p:attrNameLst>
                                          <p:attrName>style.visibility</p:attrName>
                                        </p:attrNameLst>
                                      </p:cBhvr>
                                      <p:to>
                                        <p:strVal val="visible"/>
                                      </p:to>
                                    </p:set>
                                    <p:animEffect transition="in" filter="wipe(up)">
                                      <p:cBhvr>
                                        <p:cTn id="28" dur="500"/>
                                        <p:tgtEl>
                                          <p:spTgt spid="157705">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57705">
                                            <p:txEl>
                                              <p:pRg st="4" end="4"/>
                                            </p:txEl>
                                          </p:spTgt>
                                        </p:tgtEl>
                                        <p:attrNameLst>
                                          <p:attrName>style.visibility</p:attrName>
                                        </p:attrNameLst>
                                      </p:cBhvr>
                                      <p:to>
                                        <p:strVal val="visible"/>
                                      </p:to>
                                    </p:set>
                                    <p:animEffect transition="in" filter="wipe(up)">
                                      <p:cBhvr>
                                        <p:cTn id="33" dur="500"/>
                                        <p:tgtEl>
                                          <p:spTgt spid="157705">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57705">
                                            <p:txEl>
                                              <p:pRg st="5" end="5"/>
                                            </p:txEl>
                                          </p:spTgt>
                                        </p:tgtEl>
                                        <p:attrNameLst>
                                          <p:attrName>style.visibility</p:attrName>
                                        </p:attrNameLst>
                                      </p:cBhvr>
                                      <p:to>
                                        <p:strVal val="visible"/>
                                      </p:to>
                                    </p:set>
                                    <p:animEffect transition="in" filter="wipe(up)">
                                      <p:cBhvr>
                                        <p:cTn id="38" dur="500"/>
                                        <p:tgtEl>
                                          <p:spTgt spid="157705">
                                            <p:txEl>
                                              <p:pRg st="5" end="5"/>
                                            </p:txEl>
                                          </p:spTgt>
                                        </p:tgtEl>
                                      </p:cBhvr>
                                    </p:animEffect>
                                  </p:childTnLst>
                                </p:cTn>
                              </p:par>
                            </p:childTnLst>
                          </p:cTn>
                        </p:par>
                        <p:par>
                          <p:cTn id="39" fill="hold" nodeType="afterGroup">
                            <p:stCondLst>
                              <p:cond delay="500"/>
                            </p:stCondLst>
                            <p:childTnLst>
                              <p:par>
                                <p:cTn id="40" presetID="22" presetClass="entr" presetSubtype="1" fill="hold" nodeType="afterEffect">
                                  <p:stCondLst>
                                    <p:cond delay="0"/>
                                  </p:stCondLst>
                                  <p:childTnLst>
                                    <p:set>
                                      <p:cBhvr>
                                        <p:cTn id="41" dur="1" fill="hold">
                                          <p:stCondLst>
                                            <p:cond delay="0"/>
                                          </p:stCondLst>
                                        </p:cTn>
                                        <p:tgtEl>
                                          <p:spTgt spid="157755"/>
                                        </p:tgtEl>
                                        <p:attrNameLst>
                                          <p:attrName>style.visibility</p:attrName>
                                        </p:attrNameLst>
                                      </p:cBhvr>
                                      <p:to>
                                        <p:strVal val="visible"/>
                                      </p:to>
                                    </p:set>
                                    <p:animEffect transition="in" filter="wipe(up)">
                                      <p:cBhvr>
                                        <p:cTn id="42" dur="500"/>
                                        <p:tgtEl>
                                          <p:spTgt spid="15775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57746">
                                            <p:txEl>
                                              <p:pRg st="0" end="0"/>
                                            </p:txEl>
                                          </p:spTgt>
                                        </p:tgtEl>
                                        <p:attrNameLst>
                                          <p:attrName>style.visibility</p:attrName>
                                        </p:attrNameLst>
                                      </p:cBhvr>
                                      <p:to>
                                        <p:strVal val="visible"/>
                                      </p:to>
                                    </p:set>
                                    <p:animEffect transition="in" filter="wipe(up)">
                                      <p:cBhvr>
                                        <p:cTn id="47" dur="500"/>
                                        <p:tgtEl>
                                          <p:spTgt spid="157746">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57746">
                                            <p:txEl>
                                              <p:pRg st="1" end="1"/>
                                            </p:txEl>
                                          </p:spTgt>
                                        </p:tgtEl>
                                        <p:attrNameLst>
                                          <p:attrName>style.visibility</p:attrName>
                                        </p:attrNameLst>
                                      </p:cBhvr>
                                      <p:to>
                                        <p:strVal val="visible"/>
                                      </p:to>
                                    </p:set>
                                    <p:animEffect transition="in" filter="wipe(up)">
                                      <p:cBhvr>
                                        <p:cTn id="52" dur="500"/>
                                        <p:tgtEl>
                                          <p:spTgt spid="157746">
                                            <p:txEl>
                                              <p:pRg st="1" end="1"/>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57746">
                                            <p:txEl>
                                              <p:pRg st="2" end="2"/>
                                            </p:txEl>
                                          </p:spTgt>
                                        </p:tgtEl>
                                        <p:attrNameLst>
                                          <p:attrName>style.visibility</p:attrName>
                                        </p:attrNameLst>
                                      </p:cBhvr>
                                      <p:to>
                                        <p:strVal val="visible"/>
                                      </p:to>
                                    </p:set>
                                    <p:animEffect transition="in" filter="wipe(up)">
                                      <p:cBhvr>
                                        <p:cTn id="57" dur="500"/>
                                        <p:tgtEl>
                                          <p:spTgt spid="157746">
                                            <p:txEl>
                                              <p:pRg st="2" end="2"/>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157746">
                                            <p:txEl>
                                              <p:pRg st="3" end="3"/>
                                            </p:txEl>
                                          </p:spTgt>
                                        </p:tgtEl>
                                        <p:attrNameLst>
                                          <p:attrName>style.visibility</p:attrName>
                                        </p:attrNameLst>
                                      </p:cBhvr>
                                      <p:to>
                                        <p:strVal val="visible"/>
                                      </p:to>
                                    </p:set>
                                    <p:animEffect transition="in" filter="wipe(up)">
                                      <p:cBhvr>
                                        <p:cTn id="62" dur="500"/>
                                        <p:tgtEl>
                                          <p:spTgt spid="15774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0" grpId="0" animBg="1" autoUpdateAnimBg="0"/>
      <p:bldP spid="157705" grpId="0" build="p" autoUpdateAnimBg="0"/>
      <p:bldP spid="157746" grpId="0" build="p" bldLvl="2"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8" name="Text Box 4"/>
          <p:cNvSpPr txBox="1">
            <a:spLocks noChangeArrowheads="1"/>
          </p:cNvSpPr>
          <p:nvPr/>
        </p:nvSpPr>
        <p:spPr bwMode="auto">
          <a:xfrm>
            <a:off x="152400" y="152400"/>
            <a:ext cx="8763000" cy="1138238"/>
          </a:xfrm>
          <a:prstGeom prst="rect">
            <a:avLst/>
          </a:prstGeom>
          <a:gradFill rotWithShape="0">
            <a:gsLst>
              <a:gs pos="0">
                <a:srgbClr val="FFCCFF"/>
              </a:gs>
              <a:gs pos="100000">
                <a:srgbClr val="D8ADD8"/>
              </a:gs>
            </a:gsLst>
            <a:lin ang="0" scaled="1"/>
          </a:gra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82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Tx/>
              <a:buNone/>
            </a:pPr>
            <a:r>
              <a:rPr lang="en-US" sz="2800" b="1" dirty="0">
                <a:latin typeface="Arial Rounded MT Bold" pitchFamily="34" charset="0"/>
              </a:rPr>
              <a:t>Progress:  </a:t>
            </a:r>
            <a:r>
              <a:rPr lang="en-US" sz="2800" dirty="0">
                <a:latin typeface="Arial" pitchFamily="34" charset="0"/>
              </a:rPr>
              <a:t>If there is a white edge, then </a:t>
            </a:r>
            <a:br>
              <a:rPr lang="en-US" sz="2800" dirty="0">
                <a:latin typeface="Arial" pitchFamily="34" charset="0"/>
              </a:rPr>
            </a:br>
            <a:r>
              <a:rPr lang="en-US" sz="2800" dirty="0">
                <a:latin typeface="Arial" pitchFamily="34" charset="0"/>
              </a:rPr>
              <a:t>		 at least one of the 2 rules is applicable</a:t>
            </a:r>
          </a:p>
        </p:txBody>
      </p:sp>
      <p:sp>
        <p:nvSpPr>
          <p:cNvPr id="159749" name="Text Box 5"/>
          <p:cNvSpPr txBox="1">
            <a:spLocks noChangeArrowheads="1"/>
          </p:cNvSpPr>
          <p:nvPr/>
        </p:nvSpPr>
        <p:spPr bwMode="auto">
          <a:xfrm>
            <a:off x="152400" y="1524000"/>
            <a:ext cx="8839200" cy="28352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8913" indent="-188913" defTabSz="877888">
              <a:tabLst>
                <a:tab pos="2386013" algn="l"/>
              </a:tabLst>
              <a:defRPr sz="1600">
                <a:solidFill>
                  <a:schemeClr val="tx1"/>
                </a:solidFill>
                <a:latin typeface="Times New Roman" pitchFamily="18" charset="0"/>
              </a:defRPr>
            </a:lvl1pPr>
            <a:lvl2pPr marL="742950" indent="-285750" defTabSz="877888">
              <a:tabLst>
                <a:tab pos="2386013" algn="l"/>
              </a:tabLst>
              <a:defRPr sz="1600">
                <a:solidFill>
                  <a:schemeClr val="tx1"/>
                </a:solidFill>
                <a:latin typeface="Times New Roman" pitchFamily="18" charset="0"/>
              </a:defRPr>
            </a:lvl2pPr>
            <a:lvl3pPr marL="1143000" indent="-228600" defTabSz="877888">
              <a:tabLst>
                <a:tab pos="2386013" algn="l"/>
              </a:tabLst>
              <a:defRPr sz="1600">
                <a:solidFill>
                  <a:schemeClr val="tx1"/>
                </a:solidFill>
                <a:latin typeface="Times New Roman" pitchFamily="18" charset="0"/>
              </a:defRPr>
            </a:lvl3pPr>
            <a:lvl4pPr marL="1600200" indent="-228600" defTabSz="877888">
              <a:tabLst>
                <a:tab pos="2386013" algn="l"/>
              </a:tabLst>
              <a:defRPr sz="1600">
                <a:solidFill>
                  <a:schemeClr val="tx1"/>
                </a:solidFill>
                <a:latin typeface="Times New Roman" pitchFamily="18" charset="0"/>
              </a:defRPr>
            </a:lvl4pPr>
            <a:lvl5pPr marL="2057400" indent="-228600" defTabSz="877888">
              <a:tabLst>
                <a:tab pos="2386013" algn="l"/>
              </a:tabLst>
              <a:defRPr sz="1600">
                <a:solidFill>
                  <a:schemeClr val="tx1"/>
                </a:solidFill>
                <a:latin typeface="Times New Roman" pitchFamily="18" charset="0"/>
              </a:defRPr>
            </a:lvl5pPr>
            <a:lvl6pPr marL="2514600" indent="-228600" defTabSz="877888" eaLnBrk="0" fontAlgn="base" hangingPunct="0">
              <a:spcBef>
                <a:spcPct val="0"/>
              </a:spcBef>
              <a:spcAft>
                <a:spcPct val="0"/>
              </a:spcAft>
              <a:buChar char="•"/>
              <a:tabLst>
                <a:tab pos="2386013" algn="l"/>
              </a:tabLst>
              <a:defRPr sz="1600">
                <a:solidFill>
                  <a:schemeClr val="tx1"/>
                </a:solidFill>
                <a:latin typeface="Times New Roman" pitchFamily="18" charset="0"/>
              </a:defRPr>
            </a:lvl6pPr>
            <a:lvl7pPr marL="2971800" indent="-228600" defTabSz="877888" eaLnBrk="0" fontAlgn="base" hangingPunct="0">
              <a:spcBef>
                <a:spcPct val="0"/>
              </a:spcBef>
              <a:spcAft>
                <a:spcPct val="0"/>
              </a:spcAft>
              <a:buChar char="•"/>
              <a:tabLst>
                <a:tab pos="2386013" algn="l"/>
              </a:tabLst>
              <a:defRPr sz="1600">
                <a:solidFill>
                  <a:schemeClr val="tx1"/>
                </a:solidFill>
                <a:latin typeface="Times New Roman" pitchFamily="18" charset="0"/>
              </a:defRPr>
            </a:lvl7pPr>
            <a:lvl8pPr marL="3429000" indent="-228600" defTabSz="877888" eaLnBrk="0" fontAlgn="base" hangingPunct="0">
              <a:spcBef>
                <a:spcPct val="0"/>
              </a:spcBef>
              <a:spcAft>
                <a:spcPct val="0"/>
              </a:spcAft>
              <a:buChar char="•"/>
              <a:tabLst>
                <a:tab pos="2386013" algn="l"/>
              </a:tabLst>
              <a:defRPr sz="1600">
                <a:solidFill>
                  <a:schemeClr val="tx1"/>
                </a:solidFill>
                <a:latin typeface="Times New Roman" pitchFamily="18" charset="0"/>
              </a:defRPr>
            </a:lvl8pPr>
            <a:lvl9pPr marL="3886200" indent="-228600" defTabSz="877888" eaLnBrk="0" fontAlgn="base" hangingPunct="0">
              <a:spcBef>
                <a:spcPct val="0"/>
              </a:spcBef>
              <a:spcAft>
                <a:spcPct val="0"/>
              </a:spcAft>
              <a:buChar char="•"/>
              <a:tabLst>
                <a:tab pos="2386013" algn="l"/>
              </a:tabLst>
              <a:defRPr sz="1600">
                <a:solidFill>
                  <a:schemeClr val="tx1"/>
                </a:solidFill>
                <a:latin typeface="Times New Roman" pitchFamily="18" charset="0"/>
              </a:defRPr>
            </a:lvl9pPr>
          </a:lstStyle>
          <a:p>
            <a:pPr eaLnBrk="1" hangingPunct="1">
              <a:spcBef>
                <a:spcPct val="50000"/>
              </a:spcBef>
              <a:buFontTx/>
              <a:buNone/>
            </a:pPr>
            <a:r>
              <a:rPr lang="en-US" sz="2000" b="1">
                <a:solidFill>
                  <a:schemeClr val="tx2"/>
                </a:solidFill>
              </a:rPr>
              <a:t>Proof:</a:t>
            </a:r>
            <a:r>
              <a:rPr lang="en-US" sz="2000">
                <a:solidFill>
                  <a:schemeClr val="tx2"/>
                </a:solidFill>
              </a:rPr>
              <a:t>  </a:t>
            </a:r>
          </a:p>
          <a:p>
            <a:pPr eaLnBrk="1" hangingPunct="1">
              <a:spcBef>
                <a:spcPct val="50000"/>
              </a:spcBef>
            </a:pPr>
            <a:r>
              <a:rPr lang="en-US" sz="2000">
                <a:solidFill>
                  <a:schemeClr val="tx2"/>
                </a:solidFill>
              </a:rPr>
              <a:t>Suppose there is a white edge e = (u,v).</a:t>
            </a:r>
          </a:p>
          <a:p>
            <a:pPr eaLnBrk="1" hangingPunct="1">
              <a:spcBef>
                <a:spcPct val="50000"/>
              </a:spcBef>
            </a:pPr>
            <a:r>
              <a:rPr lang="en-US" sz="2000">
                <a:solidFill>
                  <a:schemeClr val="tx2"/>
                </a:solidFill>
              </a:rPr>
              <a:t>If u &amp; v </a:t>
            </a:r>
            <a:r>
              <a:rPr lang="en-US" sz="2000">
                <a:solidFill>
                  <a:schemeClr val="tx2"/>
                </a:solidFill>
                <a:sym typeface="Symbol" pitchFamily="18" charset="2"/>
              </a:rPr>
              <a:t>are connected by </a:t>
            </a:r>
            <a:r>
              <a:rPr lang="en-US" sz="2000">
                <a:solidFill>
                  <a:schemeClr val="tx2"/>
                </a:solidFill>
              </a:rPr>
              <a:t>a blue path, say P, then Red-rule applies to cycle P+e.</a:t>
            </a:r>
          </a:p>
          <a:p>
            <a:pPr eaLnBrk="1" hangingPunct="1">
              <a:spcBef>
                <a:spcPct val="50000"/>
              </a:spcBef>
            </a:pPr>
            <a:r>
              <a:rPr lang="en-US" sz="2000">
                <a:solidFill>
                  <a:schemeClr val="tx2"/>
                </a:solidFill>
              </a:rPr>
              <a:t>Otherwise, define:	X = the set of nodes connected to u by blue paths.</a:t>
            </a:r>
            <a:br>
              <a:rPr lang="en-US" sz="2000">
                <a:solidFill>
                  <a:schemeClr val="tx2"/>
                </a:solidFill>
              </a:rPr>
            </a:br>
            <a:r>
              <a:rPr lang="en-US" sz="2000">
                <a:solidFill>
                  <a:schemeClr val="tx2"/>
                </a:solidFill>
              </a:rPr>
              <a:t>	Y = V(G) – X.</a:t>
            </a:r>
          </a:p>
          <a:p>
            <a:pPr eaLnBrk="1" hangingPunct="1">
              <a:spcBef>
                <a:spcPct val="50000"/>
              </a:spcBef>
            </a:pPr>
            <a:r>
              <a:rPr lang="en-US" sz="2000">
                <a:solidFill>
                  <a:schemeClr val="tx2"/>
                </a:solidFill>
              </a:rPr>
              <a:t>Cut (X,Y) contains at least one white cross-edge (e) &amp; no blue cross-edges. Why? </a:t>
            </a:r>
            <a:br>
              <a:rPr lang="en-US" sz="2000">
                <a:solidFill>
                  <a:schemeClr val="tx2"/>
                </a:solidFill>
              </a:rPr>
            </a:br>
            <a:r>
              <a:rPr lang="en-US" sz="2000">
                <a:solidFill>
                  <a:schemeClr val="tx2"/>
                </a:solidFill>
              </a:rPr>
              <a:t>So, the Blue-rule can be applied to this cut.  </a:t>
            </a:r>
          </a:p>
        </p:txBody>
      </p:sp>
      <p:grpSp>
        <p:nvGrpSpPr>
          <p:cNvPr id="159793" name="Group 49"/>
          <p:cNvGrpSpPr>
            <a:grpSpLocks/>
          </p:cNvGrpSpPr>
          <p:nvPr/>
        </p:nvGrpSpPr>
        <p:grpSpPr bwMode="auto">
          <a:xfrm>
            <a:off x="2209800" y="4343400"/>
            <a:ext cx="3962400" cy="2286000"/>
            <a:chOff x="1536" y="2736"/>
            <a:chExt cx="2496" cy="1440"/>
          </a:xfrm>
        </p:grpSpPr>
        <p:sp>
          <p:nvSpPr>
            <p:cNvPr id="81925" name="Line 6"/>
            <p:cNvSpPr>
              <a:spLocks noChangeShapeType="1"/>
            </p:cNvSpPr>
            <p:nvPr/>
          </p:nvSpPr>
          <p:spPr bwMode="auto">
            <a:xfrm flipV="1">
              <a:off x="2064" y="3024"/>
              <a:ext cx="144" cy="24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26" name="Line 7"/>
            <p:cNvSpPr>
              <a:spLocks noChangeShapeType="1"/>
            </p:cNvSpPr>
            <p:nvPr/>
          </p:nvSpPr>
          <p:spPr bwMode="auto">
            <a:xfrm flipH="1" flipV="1">
              <a:off x="2016" y="2928"/>
              <a:ext cx="192"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27" name="Line 8"/>
            <p:cNvSpPr>
              <a:spLocks noChangeShapeType="1"/>
            </p:cNvSpPr>
            <p:nvPr/>
          </p:nvSpPr>
          <p:spPr bwMode="auto">
            <a:xfrm flipV="1">
              <a:off x="2208" y="2928"/>
              <a:ext cx="96"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28" name="Line 9"/>
            <p:cNvSpPr>
              <a:spLocks noChangeShapeType="1"/>
            </p:cNvSpPr>
            <p:nvPr/>
          </p:nvSpPr>
          <p:spPr bwMode="auto">
            <a:xfrm>
              <a:off x="2208" y="3024"/>
              <a:ext cx="432"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29" name="Line 10"/>
            <p:cNvSpPr>
              <a:spLocks noChangeShapeType="1"/>
            </p:cNvSpPr>
            <p:nvPr/>
          </p:nvSpPr>
          <p:spPr bwMode="auto">
            <a:xfrm>
              <a:off x="2064" y="3264"/>
              <a:ext cx="288"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30" name="Line 11"/>
            <p:cNvSpPr>
              <a:spLocks noChangeShapeType="1"/>
            </p:cNvSpPr>
            <p:nvPr/>
          </p:nvSpPr>
          <p:spPr bwMode="auto">
            <a:xfrm flipH="1" flipV="1">
              <a:off x="1536" y="3216"/>
              <a:ext cx="528"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31" name="Line 12"/>
            <p:cNvSpPr>
              <a:spLocks noChangeShapeType="1"/>
            </p:cNvSpPr>
            <p:nvPr/>
          </p:nvSpPr>
          <p:spPr bwMode="auto">
            <a:xfrm flipH="1">
              <a:off x="1872" y="3264"/>
              <a:ext cx="192" cy="19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32" name="Line 13"/>
            <p:cNvSpPr>
              <a:spLocks noChangeShapeType="1"/>
            </p:cNvSpPr>
            <p:nvPr/>
          </p:nvSpPr>
          <p:spPr bwMode="auto">
            <a:xfrm flipV="1">
              <a:off x="2112" y="3792"/>
              <a:ext cx="336"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33" name="Line 14"/>
            <p:cNvSpPr>
              <a:spLocks noChangeShapeType="1"/>
            </p:cNvSpPr>
            <p:nvPr/>
          </p:nvSpPr>
          <p:spPr bwMode="auto">
            <a:xfrm flipH="1" flipV="1">
              <a:off x="1776" y="3840"/>
              <a:ext cx="336"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34" name="Line 15"/>
            <p:cNvSpPr>
              <a:spLocks noChangeShapeType="1"/>
            </p:cNvSpPr>
            <p:nvPr/>
          </p:nvSpPr>
          <p:spPr bwMode="auto">
            <a:xfrm flipH="1">
              <a:off x="2064" y="3888"/>
              <a:ext cx="48"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35" name="Line 16"/>
            <p:cNvSpPr>
              <a:spLocks noChangeShapeType="1"/>
            </p:cNvSpPr>
            <p:nvPr/>
          </p:nvSpPr>
          <p:spPr bwMode="auto">
            <a:xfrm flipH="1">
              <a:off x="1776" y="4032"/>
              <a:ext cx="288"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36" name="Line 17"/>
            <p:cNvSpPr>
              <a:spLocks noChangeShapeType="1"/>
            </p:cNvSpPr>
            <p:nvPr/>
          </p:nvSpPr>
          <p:spPr bwMode="auto">
            <a:xfrm>
              <a:off x="2064" y="4032"/>
              <a:ext cx="288"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37" name="Line 18"/>
            <p:cNvSpPr>
              <a:spLocks noChangeShapeType="1"/>
            </p:cNvSpPr>
            <p:nvPr/>
          </p:nvSpPr>
          <p:spPr bwMode="auto">
            <a:xfrm flipV="1">
              <a:off x="2352" y="3936"/>
              <a:ext cx="96"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38" name="Line 19"/>
            <p:cNvSpPr>
              <a:spLocks noChangeShapeType="1"/>
            </p:cNvSpPr>
            <p:nvPr/>
          </p:nvSpPr>
          <p:spPr bwMode="auto">
            <a:xfrm>
              <a:off x="2352" y="4080"/>
              <a:ext cx="144"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39" name="Line 20"/>
            <p:cNvSpPr>
              <a:spLocks noChangeShapeType="1"/>
            </p:cNvSpPr>
            <p:nvPr/>
          </p:nvSpPr>
          <p:spPr bwMode="auto">
            <a:xfrm>
              <a:off x="2352" y="4080"/>
              <a:ext cx="48"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40" name="Line 21"/>
            <p:cNvSpPr>
              <a:spLocks noChangeShapeType="1"/>
            </p:cNvSpPr>
            <p:nvPr/>
          </p:nvSpPr>
          <p:spPr bwMode="auto">
            <a:xfrm flipV="1">
              <a:off x="3696" y="2736"/>
              <a:ext cx="96"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41" name="Line 22"/>
            <p:cNvSpPr>
              <a:spLocks noChangeShapeType="1"/>
            </p:cNvSpPr>
            <p:nvPr/>
          </p:nvSpPr>
          <p:spPr bwMode="auto">
            <a:xfrm>
              <a:off x="3696" y="2880"/>
              <a:ext cx="288"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42" name="Line 23"/>
            <p:cNvSpPr>
              <a:spLocks noChangeShapeType="1"/>
            </p:cNvSpPr>
            <p:nvPr/>
          </p:nvSpPr>
          <p:spPr bwMode="auto">
            <a:xfrm>
              <a:off x="3696" y="2880"/>
              <a:ext cx="144" cy="19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43" name="Line 24"/>
            <p:cNvSpPr>
              <a:spLocks noChangeShapeType="1"/>
            </p:cNvSpPr>
            <p:nvPr/>
          </p:nvSpPr>
          <p:spPr bwMode="auto">
            <a:xfrm flipH="1">
              <a:off x="3792" y="3072"/>
              <a:ext cx="48"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44" name="Line 25"/>
            <p:cNvSpPr>
              <a:spLocks noChangeShapeType="1"/>
            </p:cNvSpPr>
            <p:nvPr/>
          </p:nvSpPr>
          <p:spPr bwMode="auto">
            <a:xfrm>
              <a:off x="3840" y="3072"/>
              <a:ext cx="192"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45" name="Line 26"/>
            <p:cNvSpPr>
              <a:spLocks noChangeShapeType="1"/>
            </p:cNvSpPr>
            <p:nvPr/>
          </p:nvSpPr>
          <p:spPr bwMode="auto">
            <a:xfrm flipH="1">
              <a:off x="3456" y="2880"/>
              <a:ext cx="240"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46" name="Line 27"/>
            <p:cNvSpPr>
              <a:spLocks noChangeShapeType="1"/>
            </p:cNvSpPr>
            <p:nvPr/>
          </p:nvSpPr>
          <p:spPr bwMode="auto">
            <a:xfrm flipH="1">
              <a:off x="3648" y="2880"/>
              <a:ext cx="48" cy="24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47" name="Freeform 28"/>
            <p:cNvSpPr>
              <a:spLocks/>
            </p:cNvSpPr>
            <p:nvPr/>
          </p:nvSpPr>
          <p:spPr bwMode="auto">
            <a:xfrm>
              <a:off x="3665" y="3216"/>
              <a:ext cx="127" cy="88"/>
            </a:xfrm>
            <a:custGeom>
              <a:avLst/>
              <a:gdLst>
                <a:gd name="T0" fmla="*/ 127 w 127"/>
                <a:gd name="T1" fmla="*/ 0 h 88"/>
                <a:gd name="T2" fmla="*/ 0 w 127"/>
                <a:gd name="T3" fmla="*/ 88 h 88"/>
                <a:gd name="T4" fmla="*/ 0 60000 65536"/>
                <a:gd name="T5" fmla="*/ 0 60000 65536"/>
              </a:gdLst>
              <a:ahLst/>
              <a:cxnLst>
                <a:cxn ang="T4">
                  <a:pos x="T0" y="T1"/>
                </a:cxn>
                <a:cxn ang="T5">
                  <a:pos x="T2" y="T3"/>
                </a:cxn>
              </a:cxnLst>
              <a:rect l="0" t="0" r="r" b="b"/>
              <a:pathLst>
                <a:path w="127" h="88">
                  <a:moveTo>
                    <a:pt x="127" y="0"/>
                  </a:moveTo>
                  <a:lnTo>
                    <a:pt x="0" y="88"/>
                  </a:lnTo>
                </a:path>
              </a:pathLst>
            </a:custGeom>
            <a:noFill/>
            <a:ln w="19050" cap="flat" cmpd="sng">
              <a:solidFill>
                <a:schemeClr val="hlink"/>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48" name="Freeform 29"/>
            <p:cNvSpPr>
              <a:spLocks/>
            </p:cNvSpPr>
            <p:nvPr/>
          </p:nvSpPr>
          <p:spPr bwMode="auto">
            <a:xfrm>
              <a:off x="3797" y="3218"/>
              <a:ext cx="235" cy="94"/>
            </a:xfrm>
            <a:custGeom>
              <a:avLst/>
              <a:gdLst>
                <a:gd name="T0" fmla="*/ 0 w 235"/>
                <a:gd name="T1" fmla="*/ 0 h 94"/>
                <a:gd name="T2" fmla="*/ 235 w 235"/>
                <a:gd name="T3" fmla="*/ 94 h 94"/>
                <a:gd name="T4" fmla="*/ 0 60000 65536"/>
                <a:gd name="T5" fmla="*/ 0 60000 65536"/>
              </a:gdLst>
              <a:ahLst/>
              <a:cxnLst>
                <a:cxn ang="T4">
                  <a:pos x="T0" y="T1"/>
                </a:cxn>
                <a:cxn ang="T5">
                  <a:pos x="T2" y="T3"/>
                </a:cxn>
              </a:cxnLst>
              <a:rect l="0" t="0" r="r" b="b"/>
              <a:pathLst>
                <a:path w="235" h="94">
                  <a:moveTo>
                    <a:pt x="0" y="0"/>
                  </a:moveTo>
                  <a:lnTo>
                    <a:pt x="235" y="94"/>
                  </a:lnTo>
                </a:path>
              </a:pathLst>
            </a:custGeom>
            <a:noFill/>
            <a:ln w="19050" cap="flat" cmpd="sng">
              <a:solidFill>
                <a:schemeClr val="hlink"/>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49" name="Line 30"/>
            <p:cNvSpPr>
              <a:spLocks noChangeShapeType="1"/>
            </p:cNvSpPr>
            <p:nvPr/>
          </p:nvSpPr>
          <p:spPr bwMode="auto">
            <a:xfrm flipH="1">
              <a:off x="3600" y="3792"/>
              <a:ext cx="48" cy="19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50" name="Line 31"/>
            <p:cNvSpPr>
              <a:spLocks noChangeShapeType="1"/>
            </p:cNvSpPr>
            <p:nvPr/>
          </p:nvSpPr>
          <p:spPr bwMode="auto">
            <a:xfrm flipH="1">
              <a:off x="3312" y="3792"/>
              <a:ext cx="336"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51" name="Line 32"/>
            <p:cNvSpPr>
              <a:spLocks noChangeShapeType="1"/>
            </p:cNvSpPr>
            <p:nvPr/>
          </p:nvSpPr>
          <p:spPr bwMode="auto">
            <a:xfrm>
              <a:off x="3648" y="3792"/>
              <a:ext cx="336"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52" name="Line 33"/>
            <p:cNvSpPr>
              <a:spLocks noChangeShapeType="1"/>
            </p:cNvSpPr>
            <p:nvPr/>
          </p:nvSpPr>
          <p:spPr bwMode="auto">
            <a:xfrm flipH="1">
              <a:off x="3408" y="3984"/>
              <a:ext cx="192"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53" name="Line 34"/>
            <p:cNvSpPr>
              <a:spLocks noChangeShapeType="1"/>
            </p:cNvSpPr>
            <p:nvPr/>
          </p:nvSpPr>
          <p:spPr bwMode="auto">
            <a:xfrm>
              <a:off x="3600" y="3984"/>
              <a:ext cx="240"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54" name="Line 35"/>
            <p:cNvSpPr>
              <a:spLocks noChangeShapeType="1"/>
            </p:cNvSpPr>
            <p:nvPr/>
          </p:nvSpPr>
          <p:spPr bwMode="auto">
            <a:xfrm flipH="1" flipV="1">
              <a:off x="3552" y="3696"/>
              <a:ext cx="96"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55" name="Line 36"/>
            <p:cNvSpPr>
              <a:spLocks noChangeShapeType="1"/>
            </p:cNvSpPr>
            <p:nvPr/>
          </p:nvSpPr>
          <p:spPr bwMode="auto">
            <a:xfrm flipH="1" flipV="1">
              <a:off x="3264" y="3696"/>
              <a:ext cx="48"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56" name="Line 37"/>
            <p:cNvSpPr>
              <a:spLocks noChangeShapeType="1"/>
            </p:cNvSpPr>
            <p:nvPr/>
          </p:nvSpPr>
          <p:spPr bwMode="auto">
            <a:xfrm flipH="1">
              <a:off x="3120" y="3840"/>
              <a:ext cx="192"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57" name="Line 38"/>
            <p:cNvSpPr>
              <a:spLocks noChangeShapeType="1"/>
            </p:cNvSpPr>
            <p:nvPr/>
          </p:nvSpPr>
          <p:spPr bwMode="auto">
            <a:xfrm flipV="1">
              <a:off x="2928" y="3264"/>
              <a:ext cx="144" cy="28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58" name="Line 39"/>
            <p:cNvSpPr>
              <a:spLocks noChangeShapeType="1"/>
            </p:cNvSpPr>
            <p:nvPr/>
          </p:nvSpPr>
          <p:spPr bwMode="auto">
            <a:xfrm>
              <a:off x="3072" y="3264"/>
              <a:ext cx="144"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59" name="Line 40"/>
            <p:cNvSpPr>
              <a:spLocks noChangeShapeType="1"/>
            </p:cNvSpPr>
            <p:nvPr/>
          </p:nvSpPr>
          <p:spPr bwMode="auto">
            <a:xfrm>
              <a:off x="3120" y="3120"/>
              <a:ext cx="384"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60" name="Line 41"/>
            <p:cNvSpPr>
              <a:spLocks noChangeShapeType="1"/>
            </p:cNvSpPr>
            <p:nvPr/>
          </p:nvSpPr>
          <p:spPr bwMode="auto">
            <a:xfrm flipV="1">
              <a:off x="3120" y="2976"/>
              <a:ext cx="0"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61" name="Line 42"/>
            <p:cNvSpPr>
              <a:spLocks noChangeShapeType="1"/>
            </p:cNvSpPr>
            <p:nvPr/>
          </p:nvSpPr>
          <p:spPr bwMode="auto">
            <a:xfrm flipV="1">
              <a:off x="3120" y="3072"/>
              <a:ext cx="144"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62" name="Line 43"/>
            <p:cNvSpPr>
              <a:spLocks noChangeShapeType="1"/>
            </p:cNvSpPr>
            <p:nvPr/>
          </p:nvSpPr>
          <p:spPr bwMode="auto">
            <a:xfrm flipV="1">
              <a:off x="2496" y="3504"/>
              <a:ext cx="336"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1963" name="Oval 45"/>
            <p:cNvSpPr>
              <a:spLocks noChangeArrowheads="1"/>
            </p:cNvSpPr>
            <p:nvPr/>
          </p:nvSpPr>
          <p:spPr bwMode="auto">
            <a:xfrm>
              <a:off x="3744" y="3504"/>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1964" name="Oval 46"/>
            <p:cNvSpPr>
              <a:spLocks noChangeArrowheads="1"/>
            </p:cNvSpPr>
            <p:nvPr/>
          </p:nvSpPr>
          <p:spPr bwMode="auto">
            <a:xfrm>
              <a:off x="3984" y="3552"/>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1965" name="Oval 47"/>
            <p:cNvSpPr>
              <a:spLocks noChangeArrowheads="1"/>
            </p:cNvSpPr>
            <p:nvPr/>
          </p:nvSpPr>
          <p:spPr bwMode="auto">
            <a:xfrm>
              <a:off x="2832" y="3312"/>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1966" name="Oval 48"/>
            <p:cNvSpPr>
              <a:spLocks noChangeArrowheads="1"/>
            </p:cNvSpPr>
            <p:nvPr/>
          </p:nvSpPr>
          <p:spPr bwMode="auto">
            <a:xfrm>
              <a:off x="2784" y="3888"/>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79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9748"/>
                                        </p:tgtEl>
                                        <p:attrNameLst>
                                          <p:attrName>style.visibility</p:attrName>
                                        </p:attrNameLst>
                                      </p:cBhvr>
                                      <p:to>
                                        <p:strVal val="visible"/>
                                      </p:to>
                                    </p:set>
                                    <p:animEffect transition="in" filter="wipe(left)">
                                      <p:cBhvr>
                                        <p:cTn id="7" dur="500"/>
                                        <p:tgtEl>
                                          <p:spTgt spid="1597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9749">
                                            <p:txEl>
                                              <p:pRg st="0" end="0"/>
                                            </p:txEl>
                                          </p:spTgt>
                                        </p:tgtEl>
                                        <p:attrNameLst>
                                          <p:attrName>style.visibility</p:attrName>
                                        </p:attrNameLst>
                                      </p:cBhvr>
                                      <p:to>
                                        <p:strVal val="visible"/>
                                      </p:to>
                                    </p:set>
                                    <p:animEffect transition="in" filter="wipe(up)">
                                      <p:cBhvr>
                                        <p:cTn id="12" dur="500"/>
                                        <p:tgtEl>
                                          <p:spTgt spid="15974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59749">
                                            <p:txEl>
                                              <p:pRg st="1" end="1"/>
                                            </p:txEl>
                                          </p:spTgt>
                                        </p:tgtEl>
                                        <p:attrNameLst>
                                          <p:attrName>style.visibility</p:attrName>
                                        </p:attrNameLst>
                                      </p:cBhvr>
                                      <p:to>
                                        <p:strVal val="visible"/>
                                      </p:to>
                                    </p:set>
                                    <p:animEffect transition="in" filter="wipe(up)">
                                      <p:cBhvr>
                                        <p:cTn id="17" dur="500"/>
                                        <p:tgtEl>
                                          <p:spTgt spid="15974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59749">
                                            <p:txEl>
                                              <p:pRg st="2" end="2"/>
                                            </p:txEl>
                                          </p:spTgt>
                                        </p:tgtEl>
                                        <p:attrNameLst>
                                          <p:attrName>style.visibility</p:attrName>
                                        </p:attrNameLst>
                                      </p:cBhvr>
                                      <p:to>
                                        <p:strVal val="visible"/>
                                      </p:to>
                                    </p:set>
                                    <p:animEffect transition="in" filter="wipe(up)">
                                      <p:cBhvr>
                                        <p:cTn id="22" dur="500"/>
                                        <p:tgtEl>
                                          <p:spTgt spid="15974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9749">
                                            <p:txEl>
                                              <p:pRg st="3" end="3"/>
                                            </p:txEl>
                                          </p:spTgt>
                                        </p:tgtEl>
                                        <p:attrNameLst>
                                          <p:attrName>style.visibility</p:attrName>
                                        </p:attrNameLst>
                                      </p:cBhvr>
                                      <p:to>
                                        <p:strVal val="visible"/>
                                      </p:to>
                                    </p:set>
                                    <p:animEffect transition="in" filter="wipe(up)">
                                      <p:cBhvr>
                                        <p:cTn id="27" dur="500"/>
                                        <p:tgtEl>
                                          <p:spTgt spid="159749">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59749">
                                            <p:txEl>
                                              <p:pRg st="4" end="4"/>
                                            </p:txEl>
                                          </p:spTgt>
                                        </p:tgtEl>
                                        <p:attrNameLst>
                                          <p:attrName>style.visibility</p:attrName>
                                        </p:attrNameLst>
                                      </p:cBhvr>
                                      <p:to>
                                        <p:strVal val="visible"/>
                                      </p:to>
                                    </p:set>
                                    <p:animEffect transition="in" filter="wipe(up)">
                                      <p:cBhvr>
                                        <p:cTn id="32" dur="500"/>
                                        <p:tgtEl>
                                          <p:spTgt spid="159749">
                                            <p:txEl>
                                              <p:pRg st="4" end="4"/>
                                            </p:txEl>
                                          </p:spTgt>
                                        </p:tgtEl>
                                      </p:cBhvr>
                                    </p:animEffect>
                                  </p:childTnLst>
                                </p:cTn>
                              </p:par>
                            </p:childTnLst>
                          </p:cTn>
                        </p:par>
                        <p:par>
                          <p:cTn id="33" fill="hold" nodeType="afterGroup">
                            <p:stCondLst>
                              <p:cond delay="500"/>
                            </p:stCondLst>
                            <p:childTnLst>
                              <p:par>
                                <p:cTn id="34" presetID="22" presetClass="entr" presetSubtype="1" fill="hold" nodeType="afterEffect">
                                  <p:stCondLst>
                                    <p:cond delay="0"/>
                                  </p:stCondLst>
                                  <p:childTnLst>
                                    <p:set>
                                      <p:cBhvr>
                                        <p:cTn id="35" dur="1" fill="hold">
                                          <p:stCondLst>
                                            <p:cond delay="0"/>
                                          </p:stCondLst>
                                        </p:cTn>
                                        <p:tgtEl>
                                          <p:spTgt spid="159793"/>
                                        </p:tgtEl>
                                        <p:attrNameLst>
                                          <p:attrName>style.visibility</p:attrName>
                                        </p:attrNameLst>
                                      </p:cBhvr>
                                      <p:to>
                                        <p:strVal val="visible"/>
                                      </p:to>
                                    </p:set>
                                    <p:animEffect transition="in" filter="wipe(up)">
                                      <p:cBhvr>
                                        <p:cTn id="36" dur="500"/>
                                        <p:tgtEl>
                                          <p:spTgt spid="159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8" grpId="0" animBg="1" autoUpdateAnimBg="0"/>
      <p:bldP spid="159749" grpId="0" build="p"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918" name="Freeform 54"/>
          <p:cNvSpPr>
            <a:spLocks/>
          </p:cNvSpPr>
          <p:nvPr/>
        </p:nvSpPr>
        <p:spPr bwMode="auto">
          <a:xfrm>
            <a:off x="3276600" y="685800"/>
            <a:ext cx="5800725" cy="2070100"/>
          </a:xfrm>
          <a:custGeom>
            <a:avLst/>
            <a:gdLst>
              <a:gd name="T0" fmla="*/ 755650 w 3654"/>
              <a:gd name="T1" fmla="*/ 1811338 h 1304"/>
              <a:gd name="T2" fmla="*/ 723900 w 3654"/>
              <a:gd name="T3" fmla="*/ 276225 h 1304"/>
              <a:gd name="T4" fmla="*/ 5095875 w 3654"/>
              <a:gd name="T5" fmla="*/ 255588 h 1304"/>
              <a:gd name="T6" fmla="*/ 4949825 w 3654"/>
              <a:gd name="T7" fmla="*/ 1811338 h 1304"/>
              <a:gd name="T8" fmla="*/ 755650 w 3654"/>
              <a:gd name="T9" fmla="*/ 1811338 h 13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54" h="1304">
                <a:moveTo>
                  <a:pt x="476" y="1141"/>
                </a:moveTo>
                <a:cubicBezTo>
                  <a:pt x="32" y="980"/>
                  <a:pt x="0" y="337"/>
                  <a:pt x="456" y="174"/>
                </a:cubicBezTo>
                <a:cubicBezTo>
                  <a:pt x="955" y="19"/>
                  <a:pt x="2766" y="0"/>
                  <a:pt x="3210" y="161"/>
                </a:cubicBezTo>
                <a:cubicBezTo>
                  <a:pt x="3654" y="322"/>
                  <a:pt x="3574" y="978"/>
                  <a:pt x="3118" y="1141"/>
                </a:cubicBezTo>
                <a:cubicBezTo>
                  <a:pt x="2662" y="1304"/>
                  <a:pt x="920" y="1302"/>
                  <a:pt x="476" y="1141"/>
                </a:cubicBezTo>
                <a:close/>
              </a:path>
            </a:pathLst>
          </a:custGeom>
          <a:solidFill>
            <a:srgbClr val="CCFFCC"/>
          </a:solidFill>
          <a:ln w="1905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endParaRPr lang="en-CA"/>
          </a:p>
        </p:txBody>
      </p:sp>
      <p:sp>
        <p:nvSpPr>
          <p:cNvPr id="164917" name="Freeform 53"/>
          <p:cNvSpPr>
            <a:spLocks/>
          </p:cNvSpPr>
          <p:nvPr/>
        </p:nvSpPr>
        <p:spPr bwMode="auto">
          <a:xfrm>
            <a:off x="457200" y="1066800"/>
            <a:ext cx="2092325" cy="1724025"/>
          </a:xfrm>
          <a:custGeom>
            <a:avLst/>
            <a:gdLst>
              <a:gd name="T0" fmla="*/ 268288 w 1318"/>
              <a:gd name="T1" fmla="*/ 1497013 h 1086"/>
              <a:gd name="T2" fmla="*/ 249238 w 1318"/>
              <a:gd name="T3" fmla="*/ 277813 h 1086"/>
              <a:gd name="T4" fmla="*/ 1633538 w 1318"/>
              <a:gd name="T5" fmla="*/ 204788 h 1086"/>
              <a:gd name="T6" fmla="*/ 1865313 w 1318"/>
              <a:gd name="T7" fmla="*/ 1508125 h 1086"/>
              <a:gd name="T8" fmla="*/ 268288 w 1318"/>
              <a:gd name="T9" fmla="*/ 1497013 h 10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18" h="1086">
                <a:moveTo>
                  <a:pt x="169" y="943"/>
                </a:moveTo>
                <a:cubicBezTo>
                  <a:pt x="0" y="814"/>
                  <a:pt x="14" y="311"/>
                  <a:pt x="157" y="175"/>
                </a:cubicBezTo>
                <a:cubicBezTo>
                  <a:pt x="297" y="14"/>
                  <a:pt x="860" y="0"/>
                  <a:pt x="1029" y="129"/>
                </a:cubicBezTo>
                <a:cubicBezTo>
                  <a:pt x="1198" y="258"/>
                  <a:pt x="1318" y="814"/>
                  <a:pt x="1175" y="950"/>
                </a:cubicBezTo>
                <a:cubicBezTo>
                  <a:pt x="1032" y="1086"/>
                  <a:pt x="338" y="1072"/>
                  <a:pt x="169" y="943"/>
                </a:cubicBezTo>
                <a:close/>
              </a:path>
            </a:pathLst>
          </a:custGeom>
          <a:solidFill>
            <a:srgbClr val="CCFFCC"/>
          </a:solidFill>
          <a:ln w="1905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endParaRPr lang="en-CA"/>
          </a:p>
        </p:txBody>
      </p:sp>
      <p:sp>
        <p:nvSpPr>
          <p:cNvPr id="16486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hlink"/>
                </a:solidFill>
                <a:latin typeface="Arial Rounded MT Bold" pitchFamily="34" charset="0"/>
              </a:rPr>
              <a:t>Short   Bridge</a:t>
            </a:r>
          </a:p>
        </p:txBody>
      </p:sp>
      <p:sp>
        <p:nvSpPr>
          <p:cNvPr id="164869" name="Text Box 5"/>
          <p:cNvSpPr txBox="1">
            <a:spLocks noChangeArrowheads="1"/>
          </p:cNvSpPr>
          <p:nvPr/>
        </p:nvSpPr>
        <p:spPr bwMode="auto">
          <a:xfrm>
            <a:off x="914400" y="2819400"/>
            <a:ext cx="7162800" cy="13112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877888">
              <a:tabLst>
                <a:tab pos="2386013" algn="l"/>
              </a:tabLst>
              <a:defRPr sz="1600">
                <a:solidFill>
                  <a:schemeClr val="tx1"/>
                </a:solidFill>
                <a:latin typeface="Times New Roman" pitchFamily="18" charset="0"/>
              </a:defRPr>
            </a:lvl1pPr>
            <a:lvl2pPr marL="742950" indent="-285750" defTabSz="877888">
              <a:tabLst>
                <a:tab pos="2386013" algn="l"/>
              </a:tabLst>
              <a:defRPr sz="1600">
                <a:solidFill>
                  <a:schemeClr val="tx1"/>
                </a:solidFill>
                <a:latin typeface="Times New Roman" pitchFamily="18" charset="0"/>
              </a:defRPr>
            </a:lvl2pPr>
            <a:lvl3pPr marL="1143000" indent="-228600" defTabSz="877888">
              <a:tabLst>
                <a:tab pos="2386013" algn="l"/>
              </a:tabLst>
              <a:defRPr sz="1600">
                <a:solidFill>
                  <a:schemeClr val="tx1"/>
                </a:solidFill>
                <a:latin typeface="Times New Roman" pitchFamily="18" charset="0"/>
              </a:defRPr>
            </a:lvl3pPr>
            <a:lvl4pPr marL="1600200" indent="-228600" defTabSz="877888">
              <a:tabLst>
                <a:tab pos="2386013" algn="l"/>
              </a:tabLst>
              <a:defRPr sz="1600">
                <a:solidFill>
                  <a:schemeClr val="tx1"/>
                </a:solidFill>
                <a:latin typeface="Times New Roman" pitchFamily="18" charset="0"/>
              </a:defRPr>
            </a:lvl4pPr>
            <a:lvl5pPr marL="2057400" indent="-228600" defTabSz="877888">
              <a:tabLst>
                <a:tab pos="2386013" algn="l"/>
              </a:tabLst>
              <a:defRPr sz="1600">
                <a:solidFill>
                  <a:schemeClr val="tx1"/>
                </a:solidFill>
                <a:latin typeface="Times New Roman" pitchFamily="18" charset="0"/>
              </a:defRPr>
            </a:lvl5pPr>
            <a:lvl6pPr marL="2514600" indent="-228600" defTabSz="877888" eaLnBrk="0" fontAlgn="base" hangingPunct="0">
              <a:spcBef>
                <a:spcPct val="0"/>
              </a:spcBef>
              <a:spcAft>
                <a:spcPct val="0"/>
              </a:spcAft>
              <a:buChar char="•"/>
              <a:tabLst>
                <a:tab pos="2386013" algn="l"/>
              </a:tabLst>
              <a:defRPr sz="1600">
                <a:solidFill>
                  <a:schemeClr val="tx1"/>
                </a:solidFill>
                <a:latin typeface="Times New Roman" pitchFamily="18" charset="0"/>
              </a:defRPr>
            </a:lvl6pPr>
            <a:lvl7pPr marL="2971800" indent="-228600" defTabSz="877888" eaLnBrk="0" fontAlgn="base" hangingPunct="0">
              <a:spcBef>
                <a:spcPct val="0"/>
              </a:spcBef>
              <a:spcAft>
                <a:spcPct val="0"/>
              </a:spcAft>
              <a:buChar char="•"/>
              <a:tabLst>
                <a:tab pos="2386013" algn="l"/>
              </a:tabLst>
              <a:defRPr sz="1600">
                <a:solidFill>
                  <a:schemeClr val="tx1"/>
                </a:solidFill>
                <a:latin typeface="Times New Roman" pitchFamily="18" charset="0"/>
              </a:defRPr>
            </a:lvl7pPr>
            <a:lvl8pPr marL="3429000" indent="-228600" defTabSz="877888" eaLnBrk="0" fontAlgn="base" hangingPunct="0">
              <a:spcBef>
                <a:spcPct val="0"/>
              </a:spcBef>
              <a:spcAft>
                <a:spcPct val="0"/>
              </a:spcAft>
              <a:buChar char="•"/>
              <a:tabLst>
                <a:tab pos="2386013" algn="l"/>
              </a:tabLst>
              <a:defRPr sz="1600">
                <a:solidFill>
                  <a:schemeClr val="tx1"/>
                </a:solidFill>
                <a:latin typeface="Times New Roman" pitchFamily="18" charset="0"/>
              </a:defRPr>
            </a:lvl8pPr>
            <a:lvl9pPr marL="3886200" indent="-228600" defTabSz="877888" eaLnBrk="0" fontAlgn="base" hangingPunct="0">
              <a:spcBef>
                <a:spcPct val="0"/>
              </a:spcBef>
              <a:spcAft>
                <a:spcPct val="0"/>
              </a:spcAft>
              <a:buChar char="•"/>
              <a:tabLst>
                <a:tab pos="2386013" algn="l"/>
              </a:tabLst>
              <a:defRPr sz="1600">
                <a:solidFill>
                  <a:schemeClr val="tx1"/>
                </a:solidFill>
                <a:latin typeface="Times New Roman" pitchFamily="18" charset="0"/>
              </a:defRPr>
            </a:lvl9pPr>
          </a:lstStyle>
          <a:p>
            <a:pPr eaLnBrk="1" hangingPunct="1">
              <a:spcBef>
                <a:spcPct val="50000"/>
              </a:spcBef>
              <a:buFontTx/>
              <a:buNone/>
            </a:pPr>
            <a:r>
              <a:rPr lang="en-US" sz="2000">
                <a:solidFill>
                  <a:schemeClr val="tx2"/>
                </a:solidFill>
              </a:rPr>
              <a:t>The </a:t>
            </a:r>
            <a:r>
              <a:rPr lang="en-US" sz="2000">
                <a:solidFill>
                  <a:srgbClr val="CC0000"/>
                </a:solidFill>
              </a:rPr>
              <a:t>Blue Spanning Subgraph</a:t>
            </a:r>
            <a:r>
              <a:rPr lang="en-US" sz="2000">
                <a:solidFill>
                  <a:schemeClr val="tx2"/>
                </a:solidFill>
              </a:rPr>
              <a:t> consists of edges colored blue so far.</a:t>
            </a:r>
          </a:p>
          <a:p>
            <a:pPr eaLnBrk="1" hangingPunct="1">
              <a:spcBef>
                <a:spcPct val="50000"/>
              </a:spcBef>
              <a:buFontTx/>
              <a:buNone/>
            </a:pPr>
            <a:r>
              <a:rPr lang="en-US" sz="2000">
                <a:solidFill>
                  <a:schemeClr val="tx2"/>
                </a:solidFill>
              </a:rPr>
              <a:t>This subgraph is a forest (a node-disjoint collection of trees), and</a:t>
            </a:r>
          </a:p>
          <a:p>
            <a:pPr eaLnBrk="1" hangingPunct="1">
              <a:spcBef>
                <a:spcPct val="50000"/>
              </a:spcBef>
              <a:buFontTx/>
              <a:buNone/>
            </a:pPr>
            <a:r>
              <a:rPr lang="en-US" sz="2000">
                <a:solidFill>
                  <a:schemeClr val="tx2"/>
                </a:solidFill>
              </a:rPr>
              <a:t>each connected component of it (a tree) is called a </a:t>
            </a:r>
            <a:r>
              <a:rPr lang="en-US" sz="2000">
                <a:solidFill>
                  <a:srgbClr val="CC0000"/>
                </a:solidFill>
              </a:rPr>
              <a:t>blue component</a:t>
            </a:r>
            <a:r>
              <a:rPr lang="en-US" sz="2000">
                <a:solidFill>
                  <a:schemeClr val="tx2"/>
                </a:solidFill>
              </a:rPr>
              <a:t>.</a:t>
            </a:r>
          </a:p>
        </p:txBody>
      </p:sp>
      <p:grpSp>
        <p:nvGrpSpPr>
          <p:cNvPr id="164921" name="Group 57"/>
          <p:cNvGrpSpPr>
            <a:grpSpLocks/>
          </p:cNvGrpSpPr>
          <p:nvPr/>
        </p:nvGrpSpPr>
        <p:grpSpPr bwMode="auto">
          <a:xfrm>
            <a:off x="992188" y="1073150"/>
            <a:ext cx="7696200" cy="1295400"/>
            <a:chOff x="481" y="1492"/>
            <a:chExt cx="4848" cy="816"/>
          </a:xfrm>
        </p:grpSpPr>
        <p:sp>
          <p:nvSpPr>
            <p:cNvPr id="82957" name="Line 7"/>
            <p:cNvSpPr>
              <a:spLocks noChangeShapeType="1"/>
            </p:cNvSpPr>
            <p:nvPr/>
          </p:nvSpPr>
          <p:spPr bwMode="auto">
            <a:xfrm flipV="1">
              <a:off x="1009" y="1828"/>
              <a:ext cx="144" cy="24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58" name="Line 8"/>
            <p:cNvSpPr>
              <a:spLocks noChangeShapeType="1"/>
            </p:cNvSpPr>
            <p:nvPr/>
          </p:nvSpPr>
          <p:spPr bwMode="auto">
            <a:xfrm flipH="1" flipV="1">
              <a:off x="961" y="1732"/>
              <a:ext cx="192"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59" name="Line 9"/>
            <p:cNvSpPr>
              <a:spLocks noChangeShapeType="1"/>
            </p:cNvSpPr>
            <p:nvPr/>
          </p:nvSpPr>
          <p:spPr bwMode="auto">
            <a:xfrm flipH="1">
              <a:off x="913" y="1828"/>
              <a:ext cx="240"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60" name="Line 10"/>
            <p:cNvSpPr>
              <a:spLocks noChangeShapeType="1"/>
            </p:cNvSpPr>
            <p:nvPr/>
          </p:nvSpPr>
          <p:spPr bwMode="auto">
            <a:xfrm flipV="1">
              <a:off x="529" y="1732"/>
              <a:ext cx="432"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61" name="Line 11"/>
            <p:cNvSpPr>
              <a:spLocks noChangeShapeType="1"/>
            </p:cNvSpPr>
            <p:nvPr/>
          </p:nvSpPr>
          <p:spPr bwMode="auto">
            <a:xfrm>
              <a:off x="1009" y="2068"/>
              <a:ext cx="192" cy="24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62" name="Line 12"/>
            <p:cNvSpPr>
              <a:spLocks noChangeShapeType="1"/>
            </p:cNvSpPr>
            <p:nvPr/>
          </p:nvSpPr>
          <p:spPr bwMode="auto">
            <a:xfrm flipH="1" flipV="1">
              <a:off x="481" y="2020"/>
              <a:ext cx="528"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63" name="Line 13"/>
            <p:cNvSpPr>
              <a:spLocks noChangeShapeType="1"/>
            </p:cNvSpPr>
            <p:nvPr/>
          </p:nvSpPr>
          <p:spPr bwMode="auto">
            <a:xfrm flipH="1">
              <a:off x="817" y="2068"/>
              <a:ext cx="192" cy="19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64" name="Line 14"/>
            <p:cNvSpPr>
              <a:spLocks noChangeShapeType="1"/>
            </p:cNvSpPr>
            <p:nvPr/>
          </p:nvSpPr>
          <p:spPr bwMode="auto">
            <a:xfrm flipV="1">
              <a:off x="2305" y="1732"/>
              <a:ext cx="336"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65" name="Line 15"/>
            <p:cNvSpPr>
              <a:spLocks noChangeShapeType="1"/>
            </p:cNvSpPr>
            <p:nvPr/>
          </p:nvSpPr>
          <p:spPr bwMode="auto">
            <a:xfrm flipV="1">
              <a:off x="2305" y="1540"/>
              <a:ext cx="48" cy="28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66" name="Line 16"/>
            <p:cNvSpPr>
              <a:spLocks noChangeShapeType="1"/>
            </p:cNvSpPr>
            <p:nvPr/>
          </p:nvSpPr>
          <p:spPr bwMode="auto">
            <a:xfrm flipH="1">
              <a:off x="2257" y="1828"/>
              <a:ext cx="48"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67" name="Line 17"/>
            <p:cNvSpPr>
              <a:spLocks noChangeShapeType="1"/>
            </p:cNvSpPr>
            <p:nvPr/>
          </p:nvSpPr>
          <p:spPr bwMode="auto">
            <a:xfrm>
              <a:off x="2257" y="1972"/>
              <a:ext cx="48" cy="24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68" name="Line 18"/>
            <p:cNvSpPr>
              <a:spLocks noChangeShapeType="1"/>
            </p:cNvSpPr>
            <p:nvPr/>
          </p:nvSpPr>
          <p:spPr bwMode="auto">
            <a:xfrm>
              <a:off x="2257" y="1972"/>
              <a:ext cx="288"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69" name="Line 19"/>
            <p:cNvSpPr>
              <a:spLocks noChangeShapeType="1"/>
            </p:cNvSpPr>
            <p:nvPr/>
          </p:nvSpPr>
          <p:spPr bwMode="auto">
            <a:xfrm flipV="1">
              <a:off x="2545" y="1876"/>
              <a:ext cx="96"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70" name="Line 20"/>
            <p:cNvSpPr>
              <a:spLocks noChangeShapeType="1"/>
            </p:cNvSpPr>
            <p:nvPr/>
          </p:nvSpPr>
          <p:spPr bwMode="auto">
            <a:xfrm>
              <a:off x="2545" y="2020"/>
              <a:ext cx="144"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71" name="Line 21"/>
            <p:cNvSpPr>
              <a:spLocks noChangeShapeType="1"/>
            </p:cNvSpPr>
            <p:nvPr/>
          </p:nvSpPr>
          <p:spPr bwMode="auto">
            <a:xfrm>
              <a:off x="2545" y="2020"/>
              <a:ext cx="48"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72" name="Line 22"/>
            <p:cNvSpPr>
              <a:spLocks noChangeShapeType="1"/>
            </p:cNvSpPr>
            <p:nvPr/>
          </p:nvSpPr>
          <p:spPr bwMode="auto">
            <a:xfrm flipV="1">
              <a:off x="3601" y="1492"/>
              <a:ext cx="96"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73" name="Line 23"/>
            <p:cNvSpPr>
              <a:spLocks noChangeShapeType="1"/>
            </p:cNvSpPr>
            <p:nvPr/>
          </p:nvSpPr>
          <p:spPr bwMode="auto">
            <a:xfrm>
              <a:off x="3601" y="1636"/>
              <a:ext cx="288"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74" name="Line 24"/>
            <p:cNvSpPr>
              <a:spLocks noChangeShapeType="1"/>
            </p:cNvSpPr>
            <p:nvPr/>
          </p:nvSpPr>
          <p:spPr bwMode="auto">
            <a:xfrm>
              <a:off x="3601" y="1636"/>
              <a:ext cx="144" cy="19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75" name="Line 25"/>
            <p:cNvSpPr>
              <a:spLocks noChangeShapeType="1"/>
            </p:cNvSpPr>
            <p:nvPr/>
          </p:nvSpPr>
          <p:spPr bwMode="auto">
            <a:xfrm flipH="1">
              <a:off x="3697" y="1828"/>
              <a:ext cx="48"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76" name="Line 26"/>
            <p:cNvSpPr>
              <a:spLocks noChangeShapeType="1"/>
            </p:cNvSpPr>
            <p:nvPr/>
          </p:nvSpPr>
          <p:spPr bwMode="auto">
            <a:xfrm>
              <a:off x="3745" y="1828"/>
              <a:ext cx="192"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77" name="Line 27"/>
            <p:cNvSpPr>
              <a:spLocks noChangeShapeType="1"/>
            </p:cNvSpPr>
            <p:nvPr/>
          </p:nvSpPr>
          <p:spPr bwMode="auto">
            <a:xfrm flipH="1">
              <a:off x="3361" y="1636"/>
              <a:ext cx="240"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78" name="Line 28"/>
            <p:cNvSpPr>
              <a:spLocks noChangeShapeType="1"/>
            </p:cNvSpPr>
            <p:nvPr/>
          </p:nvSpPr>
          <p:spPr bwMode="auto">
            <a:xfrm flipH="1">
              <a:off x="3553" y="1636"/>
              <a:ext cx="48" cy="24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79" name="Freeform 29"/>
            <p:cNvSpPr>
              <a:spLocks/>
            </p:cNvSpPr>
            <p:nvPr/>
          </p:nvSpPr>
          <p:spPr bwMode="auto">
            <a:xfrm>
              <a:off x="3570" y="1972"/>
              <a:ext cx="127" cy="88"/>
            </a:xfrm>
            <a:custGeom>
              <a:avLst/>
              <a:gdLst>
                <a:gd name="T0" fmla="*/ 127 w 127"/>
                <a:gd name="T1" fmla="*/ 0 h 88"/>
                <a:gd name="T2" fmla="*/ 0 w 127"/>
                <a:gd name="T3" fmla="*/ 88 h 88"/>
                <a:gd name="T4" fmla="*/ 0 60000 65536"/>
                <a:gd name="T5" fmla="*/ 0 60000 65536"/>
              </a:gdLst>
              <a:ahLst/>
              <a:cxnLst>
                <a:cxn ang="T4">
                  <a:pos x="T0" y="T1"/>
                </a:cxn>
                <a:cxn ang="T5">
                  <a:pos x="T2" y="T3"/>
                </a:cxn>
              </a:cxnLst>
              <a:rect l="0" t="0" r="r" b="b"/>
              <a:pathLst>
                <a:path w="127" h="88">
                  <a:moveTo>
                    <a:pt x="127" y="0"/>
                  </a:moveTo>
                  <a:lnTo>
                    <a:pt x="0" y="88"/>
                  </a:lnTo>
                </a:path>
              </a:pathLst>
            </a:custGeom>
            <a:noFill/>
            <a:ln w="19050" cap="flat" cmpd="sng">
              <a:solidFill>
                <a:schemeClr val="hlink"/>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80" name="Freeform 30"/>
            <p:cNvSpPr>
              <a:spLocks/>
            </p:cNvSpPr>
            <p:nvPr/>
          </p:nvSpPr>
          <p:spPr bwMode="auto">
            <a:xfrm>
              <a:off x="3702" y="1974"/>
              <a:ext cx="235" cy="94"/>
            </a:xfrm>
            <a:custGeom>
              <a:avLst/>
              <a:gdLst>
                <a:gd name="T0" fmla="*/ 0 w 235"/>
                <a:gd name="T1" fmla="*/ 0 h 94"/>
                <a:gd name="T2" fmla="*/ 235 w 235"/>
                <a:gd name="T3" fmla="*/ 94 h 94"/>
                <a:gd name="T4" fmla="*/ 0 60000 65536"/>
                <a:gd name="T5" fmla="*/ 0 60000 65536"/>
              </a:gdLst>
              <a:ahLst/>
              <a:cxnLst>
                <a:cxn ang="T4">
                  <a:pos x="T0" y="T1"/>
                </a:cxn>
                <a:cxn ang="T5">
                  <a:pos x="T2" y="T3"/>
                </a:cxn>
              </a:cxnLst>
              <a:rect l="0" t="0" r="r" b="b"/>
              <a:pathLst>
                <a:path w="235" h="94">
                  <a:moveTo>
                    <a:pt x="0" y="0"/>
                  </a:moveTo>
                  <a:lnTo>
                    <a:pt x="235" y="94"/>
                  </a:lnTo>
                </a:path>
              </a:pathLst>
            </a:custGeom>
            <a:noFill/>
            <a:ln w="19050" cap="flat" cmpd="sng">
              <a:solidFill>
                <a:schemeClr val="hlink"/>
              </a:solidFill>
              <a:prstDash val="solid"/>
              <a:round/>
              <a:headEnd type="oval" w="med" len="med"/>
              <a:tailEnd type="oval"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81" name="Line 31"/>
            <p:cNvSpPr>
              <a:spLocks noChangeShapeType="1"/>
            </p:cNvSpPr>
            <p:nvPr/>
          </p:nvSpPr>
          <p:spPr bwMode="auto">
            <a:xfrm flipH="1">
              <a:off x="4945" y="1828"/>
              <a:ext cx="48" cy="19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82" name="Line 32"/>
            <p:cNvSpPr>
              <a:spLocks noChangeShapeType="1"/>
            </p:cNvSpPr>
            <p:nvPr/>
          </p:nvSpPr>
          <p:spPr bwMode="auto">
            <a:xfrm flipH="1">
              <a:off x="4657" y="1828"/>
              <a:ext cx="336"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83" name="Line 33"/>
            <p:cNvSpPr>
              <a:spLocks noChangeShapeType="1"/>
            </p:cNvSpPr>
            <p:nvPr/>
          </p:nvSpPr>
          <p:spPr bwMode="auto">
            <a:xfrm>
              <a:off x="4993" y="1828"/>
              <a:ext cx="336"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84" name="Line 34"/>
            <p:cNvSpPr>
              <a:spLocks noChangeShapeType="1"/>
            </p:cNvSpPr>
            <p:nvPr/>
          </p:nvSpPr>
          <p:spPr bwMode="auto">
            <a:xfrm flipH="1">
              <a:off x="4753" y="2020"/>
              <a:ext cx="192"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85" name="Line 35"/>
            <p:cNvSpPr>
              <a:spLocks noChangeShapeType="1"/>
            </p:cNvSpPr>
            <p:nvPr/>
          </p:nvSpPr>
          <p:spPr bwMode="auto">
            <a:xfrm>
              <a:off x="4945" y="2020"/>
              <a:ext cx="240"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86" name="Line 36"/>
            <p:cNvSpPr>
              <a:spLocks noChangeShapeType="1"/>
            </p:cNvSpPr>
            <p:nvPr/>
          </p:nvSpPr>
          <p:spPr bwMode="auto">
            <a:xfrm flipH="1" flipV="1">
              <a:off x="4897" y="1732"/>
              <a:ext cx="96"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87" name="Line 37"/>
            <p:cNvSpPr>
              <a:spLocks noChangeShapeType="1"/>
            </p:cNvSpPr>
            <p:nvPr/>
          </p:nvSpPr>
          <p:spPr bwMode="auto">
            <a:xfrm flipH="1" flipV="1">
              <a:off x="4609" y="1732"/>
              <a:ext cx="48"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88" name="Line 38"/>
            <p:cNvSpPr>
              <a:spLocks noChangeShapeType="1"/>
            </p:cNvSpPr>
            <p:nvPr/>
          </p:nvSpPr>
          <p:spPr bwMode="auto">
            <a:xfrm flipH="1">
              <a:off x="4465" y="1876"/>
              <a:ext cx="192"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89" name="Oval 45"/>
            <p:cNvSpPr>
              <a:spLocks noChangeArrowheads="1"/>
            </p:cNvSpPr>
            <p:nvPr/>
          </p:nvSpPr>
          <p:spPr bwMode="auto">
            <a:xfrm>
              <a:off x="2929" y="1780"/>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2990" name="Oval 46"/>
            <p:cNvSpPr>
              <a:spLocks noChangeArrowheads="1"/>
            </p:cNvSpPr>
            <p:nvPr/>
          </p:nvSpPr>
          <p:spPr bwMode="auto">
            <a:xfrm>
              <a:off x="3217" y="2116"/>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2991" name="Oval 48"/>
            <p:cNvSpPr>
              <a:spLocks noChangeArrowheads="1"/>
            </p:cNvSpPr>
            <p:nvPr/>
          </p:nvSpPr>
          <p:spPr bwMode="auto">
            <a:xfrm>
              <a:off x="4225" y="1540"/>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grpSp>
      <p:grpSp>
        <p:nvGrpSpPr>
          <p:cNvPr id="164922" name="Group 58"/>
          <p:cNvGrpSpPr>
            <a:grpSpLocks/>
          </p:cNvGrpSpPr>
          <p:nvPr/>
        </p:nvGrpSpPr>
        <p:grpSpPr bwMode="auto">
          <a:xfrm>
            <a:off x="1905000" y="1524000"/>
            <a:ext cx="1981200" cy="457200"/>
            <a:chOff x="1200" y="2448"/>
            <a:chExt cx="1248" cy="288"/>
          </a:xfrm>
        </p:grpSpPr>
        <p:sp>
          <p:nvSpPr>
            <p:cNvPr id="82955" name="Line 50"/>
            <p:cNvSpPr>
              <a:spLocks noChangeShapeType="1"/>
            </p:cNvSpPr>
            <p:nvPr/>
          </p:nvSpPr>
          <p:spPr bwMode="auto">
            <a:xfrm flipH="1">
              <a:off x="1200" y="2640"/>
              <a:ext cx="1248" cy="96"/>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2956" name="Rectangle 51"/>
            <p:cNvSpPr>
              <a:spLocks noChangeArrowheads="1"/>
            </p:cNvSpPr>
            <p:nvPr/>
          </p:nvSpPr>
          <p:spPr bwMode="auto">
            <a:xfrm>
              <a:off x="1728" y="2448"/>
              <a:ext cx="1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solidFill>
                    <a:schemeClr val="tx2"/>
                  </a:solidFill>
                </a:rPr>
                <a:t>e</a:t>
              </a:r>
            </a:p>
          </p:txBody>
        </p:sp>
      </p:grpSp>
      <p:sp>
        <p:nvSpPr>
          <p:cNvPr id="164919" name="Rectangle 55" descr="Recycled paper"/>
          <p:cNvSpPr>
            <a:spLocks noChangeArrowheads="1"/>
          </p:cNvSpPr>
          <p:nvPr/>
        </p:nvSpPr>
        <p:spPr bwMode="auto">
          <a:xfrm>
            <a:off x="381000" y="5791200"/>
            <a:ext cx="8382000" cy="903288"/>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spcBef>
                <a:spcPct val="50000"/>
              </a:spcBef>
              <a:buFontTx/>
              <a:buNone/>
            </a:pPr>
            <a:r>
              <a:rPr lang="en-US" sz="2800" b="1" dirty="0">
                <a:solidFill>
                  <a:srgbClr val="CC0000"/>
                </a:solidFill>
              </a:rPr>
              <a:t>Short Bridge Rule:  </a:t>
            </a:r>
            <a:r>
              <a:rPr lang="en-US" sz="2400" dirty="0">
                <a:solidFill>
                  <a:schemeClr val="hlink"/>
                </a:solidFill>
              </a:rPr>
              <a:t>A short bridge of any blue component 				     can be colored blue. </a:t>
            </a:r>
          </a:p>
        </p:txBody>
      </p:sp>
      <p:sp>
        <p:nvSpPr>
          <p:cNvPr id="164920" name="Rectangle 56"/>
          <p:cNvSpPr>
            <a:spLocks noChangeArrowheads="1"/>
          </p:cNvSpPr>
          <p:nvPr/>
        </p:nvSpPr>
        <p:spPr bwMode="auto">
          <a:xfrm>
            <a:off x="914400" y="4267200"/>
            <a:ext cx="7239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buFontTx/>
              <a:buNone/>
            </a:pPr>
            <a:r>
              <a:rPr lang="en-US" sz="2000">
                <a:solidFill>
                  <a:schemeClr val="tx2"/>
                </a:solidFill>
              </a:rPr>
              <a:t>A white edge e is the </a:t>
            </a:r>
            <a:r>
              <a:rPr lang="en-US" sz="2000">
                <a:solidFill>
                  <a:srgbClr val="CC0000"/>
                </a:solidFill>
              </a:rPr>
              <a:t>short bridge</a:t>
            </a:r>
            <a:r>
              <a:rPr lang="en-US" sz="2000">
                <a:solidFill>
                  <a:schemeClr val="tx2"/>
                </a:solidFill>
              </a:rPr>
              <a:t> of a blue component B if:</a:t>
            </a:r>
          </a:p>
          <a:p>
            <a:pPr marL="669925" lvl="1" indent="-293688" eaLnBrk="1" hangingPunct="1">
              <a:spcBef>
                <a:spcPct val="50000"/>
              </a:spcBef>
            </a:pPr>
            <a:r>
              <a:rPr lang="en-US" sz="2000">
                <a:solidFill>
                  <a:schemeClr val="tx2"/>
                </a:solidFill>
              </a:rPr>
              <a:t>e is incident to blue component B, and </a:t>
            </a:r>
          </a:p>
          <a:p>
            <a:pPr marL="669925" lvl="1" indent="-293688" eaLnBrk="1" hangingPunct="1">
              <a:spcBef>
                <a:spcPct val="50000"/>
              </a:spcBef>
            </a:pPr>
            <a:r>
              <a:rPr lang="en-US" sz="2000">
                <a:solidFill>
                  <a:schemeClr val="tx2"/>
                </a:solidFill>
              </a:rPr>
              <a:t>among all (white) edges incident to B, e has minimum weight.</a:t>
            </a:r>
          </a:p>
        </p:txBody>
      </p:sp>
      <p:sp>
        <p:nvSpPr>
          <p:cNvPr id="164923" name="Rectangle 59"/>
          <p:cNvSpPr>
            <a:spLocks noChangeArrowheads="1"/>
          </p:cNvSpPr>
          <p:nvPr/>
        </p:nvSpPr>
        <p:spPr bwMode="auto">
          <a:xfrm>
            <a:off x="1219200" y="1524000"/>
            <a:ext cx="354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solidFill>
                  <a:schemeClr val="tx2"/>
                </a:solidFill>
              </a:rPr>
              <a:t>B</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80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64866"/>
                                        </p:tgtEl>
                                        <p:attrNameLst>
                                          <p:attrName>style.visibility</p:attrName>
                                        </p:attrNameLst>
                                      </p:cBhvr>
                                      <p:to>
                                        <p:strVal val="visible"/>
                                      </p:to>
                                    </p:set>
                                    <p:anim calcmode="lin" valueType="num">
                                      <p:cBhvr>
                                        <p:cTn id="7" dur="500" fill="hold"/>
                                        <p:tgtEl>
                                          <p:spTgt spid="164866"/>
                                        </p:tgtEl>
                                        <p:attrNameLst>
                                          <p:attrName>ppt_w</p:attrName>
                                        </p:attrNameLst>
                                      </p:cBhvr>
                                      <p:tavLst>
                                        <p:tav tm="0">
                                          <p:val>
                                            <p:fltVal val="0"/>
                                          </p:val>
                                        </p:tav>
                                        <p:tav tm="100000">
                                          <p:val>
                                            <p:strVal val="#ppt_w"/>
                                          </p:val>
                                        </p:tav>
                                      </p:tavLst>
                                    </p:anim>
                                    <p:anim calcmode="lin" valueType="num">
                                      <p:cBhvr>
                                        <p:cTn id="8" dur="500" fill="hold"/>
                                        <p:tgtEl>
                                          <p:spTgt spid="164866"/>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nodeType="afterEffect">
                                  <p:stCondLst>
                                    <p:cond delay="1000"/>
                                  </p:stCondLst>
                                  <p:childTnLst>
                                    <p:set>
                                      <p:cBhvr>
                                        <p:cTn id="11" dur="1" fill="hold">
                                          <p:stCondLst>
                                            <p:cond delay="0"/>
                                          </p:stCondLst>
                                        </p:cTn>
                                        <p:tgtEl>
                                          <p:spTgt spid="164921"/>
                                        </p:tgtEl>
                                        <p:attrNameLst>
                                          <p:attrName>style.visibility</p:attrName>
                                        </p:attrNameLst>
                                      </p:cBhvr>
                                      <p:to>
                                        <p:strVal val="visible"/>
                                      </p:to>
                                    </p:set>
                                    <p:animEffect transition="in" filter="wipe(up)">
                                      <p:cBhvr>
                                        <p:cTn id="12" dur="500"/>
                                        <p:tgtEl>
                                          <p:spTgt spid="1649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64869">
                                            <p:txEl>
                                              <p:pRg st="0" end="0"/>
                                            </p:txEl>
                                          </p:spTgt>
                                        </p:tgtEl>
                                        <p:attrNameLst>
                                          <p:attrName>style.visibility</p:attrName>
                                        </p:attrNameLst>
                                      </p:cBhvr>
                                      <p:to>
                                        <p:strVal val="visible"/>
                                      </p:to>
                                    </p:set>
                                    <p:animEffect transition="in" filter="wipe(up)">
                                      <p:cBhvr>
                                        <p:cTn id="17" dur="500"/>
                                        <p:tgtEl>
                                          <p:spTgt spid="16486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4869">
                                            <p:txEl>
                                              <p:pRg st="1" end="1"/>
                                            </p:txEl>
                                          </p:spTgt>
                                        </p:tgtEl>
                                        <p:attrNameLst>
                                          <p:attrName>style.visibility</p:attrName>
                                        </p:attrNameLst>
                                      </p:cBhvr>
                                      <p:to>
                                        <p:strVal val="visible"/>
                                      </p:to>
                                    </p:set>
                                    <p:animEffect transition="in" filter="wipe(up)">
                                      <p:cBhvr>
                                        <p:cTn id="22" dur="500"/>
                                        <p:tgtEl>
                                          <p:spTgt spid="164869">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64869">
                                            <p:txEl>
                                              <p:pRg st="2" end="2"/>
                                            </p:txEl>
                                          </p:spTgt>
                                        </p:tgtEl>
                                        <p:attrNameLst>
                                          <p:attrName>style.visibility</p:attrName>
                                        </p:attrNameLst>
                                      </p:cBhvr>
                                      <p:to>
                                        <p:strVal val="visible"/>
                                      </p:to>
                                    </p:set>
                                    <p:animEffect transition="in" filter="wipe(up)">
                                      <p:cBhvr>
                                        <p:cTn id="27" dur="500"/>
                                        <p:tgtEl>
                                          <p:spTgt spid="164869">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64920"/>
                                        </p:tgtEl>
                                        <p:attrNameLst>
                                          <p:attrName>style.visibility</p:attrName>
                                        </p:attrNameLst>
                                      </p:cBhvr>
                                      <p:to>
                                        <p:strVal val="visible"/>
                                      </p:to>
                                    </p:set>
                                    <p:animEffect transition="in" filter="wipe(up)">
                                      <p:cBhvr>
                                        <p:cTn id="32" dur="500"/>
                                        <p:tgtEl>
                                          <p:spTgt spid="164920"/>
                                        </p:tgtEl>
                                      </p:cBhvr>
                                    </p:animEffect>
                                  </p:childTnLst>
                                </p:cTn>
                              </p:par>
                            </p:childTnLst>
                          </p:cTn>
                        </p:par>
                        <p:par>
                          <p:cTn id="33" fill="hold" nodeType="afterGroup">
                            <p:stCondLst>
                              <p:cond delay="500"/>
                            </p:stCondLst>
                            <p:childTnLst>
                              <p:par>
                                <p:cTn id="34" presetID="22" presetClass="entr" presetSubtype="8" fill="hold" nodeType="afterEffect">
                                  <p:stCondLst>
                                    <p:cond delay="1000"/>
                                  </p:stCondLst>
                                  <p:childTnLst>
                                    <p:set>
                                      <p:cBhvr>
                                        <p:cTn id="35" dur="1" fill="hold">
                                          <p:stCondLst>
                                            <p:cond delay="0"/>
                                          </p:stCondLst>
                                        </p:cTn>
                                        <p:tgtEl>
                                          <p:spTgt spid="164922"/>
                                        </p:tgtEl>
                                        <p:attrNameLst>
                                          <p:attrName>style.visibility</p:attrName>
                                        </p:attrNameLst>
                                      </p:cBhvr>
                                      <p:to>
                                        <p:strVal val="visible"/>
                                      </p:to>
                                    </p:set>
                                    <p:animEffect transition="in" filter="wipe(left)">
                                      <p:cBhvr>
                                        <p:cTn id="36" dur="500"/>
                                        <p:tgtEl>
                                          <p:spTgt spid="164922"/>
                                        </p:tgtEl>
                                      </p:cBhvr>
                                    </p:animEffect>
                                  </p:childTnLst>
                                </p:cTn>
                              </p:par>
                            </p:childTnLst>
                          </p:cTn>
                        </p:par>
                        <p:par>
                          <p:cTn id="37" fill="hold" nodeType="afterGroup">
                            <p:stCondLst>
                              <p:cond delay="2000"/>
                            </p:stCondLst>
                            <p:childTnLst>
                              <p:par>
                                <p:cTn id="38" presetID="9" presetClass="entr" presetSubtype="0" fill="hold" grpId="0" nodeType="afterEffect">
                                  <p:stCondLst>
                                    <p:cond delay="0"/>
                                  </p:stCondLst>
                                  <p:childTnLst>
                                    <p:set>
                                      <p:cBhvr>
                                        <p:cTn id="39" dur="1" fill="hold">
                                          <p:stCondLst>
                                            <p:cond delay="0"/>
                                          </p:stCondLst>
                                        </p:cTn>
                                        <p:tgtEl>
                                          <p:spTgt spid="164923"/>
                                        </p:tgtEl>
                                        <p:attrNameLst>
                                          <p:attrName>style.visibility</p:attrName>
                                        </p:attrNameLst>
                                      </p:cBhvr>
                                      <p:to>
                                        <p:strVal val="visible"/>
                                      </p:to>
                                    </p:set>
                                    <p:animEffect transition="in" filter="dissolve">
                                      <p:cBhvr>
                                        <p:cTn id="40" dur="500"/>
                                        <p:tgtEl>
                                          <p:spTgt spid="16492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64919"/>
                                        </p:tgtEl>
                                        <p:attrNameLst>
                                          <p:attrName>style.visibility</p:attrName>
                                        </p:attrNameLst>
                                      </p:cBhvr>
                                      <p:to>
                                        <p:strVal val="visible"/>
                                      </p:to>
                                    </p:set>
                                    <p:animEffect transition="in" filter="wipe(left)">
                                      <p:cBhvr>
                                        <p:cTn id="45" dur="500"/>
                                        <p:tgtEl>
                                          <p:spTgt spid="164919"/>
                                        </p:tgtEl>
                                      </p:cBhvr>
                                    </p:animEffect>
                                  </p:childTnLst>
                                </p:cTn>
                              </p:par>
                            </p:childTnLst>
                          </p:cTn>
                        </p:par>
                        <p:par>
                          <p:cTn id="46" fill="hold" nodeType="afterGroup">
                            <p:stCondLst>
                              <p:cond delay="500"/>
                            </p:stCondLst>
                            <p:childTnLst>
                              <p:par>
                                <p:cTn id="47" presetID="9" presetClass="entr" presetSubtype="0" fill="hold" grpId="0" nodeType="afterEffect">
                                  <p:stCondLst>
                                    <p:cond delay="2000"/>
                                  </p:stCondLst>
                                  <p:childTnLst>
                                    <p:set>
                                      <p:cBhvr>
                                        <p:cTn id="48" dur="1" fill="hold">
                                          <p:stCondLst>
                                            <p:cond delay="0"/>
                                          </p:stCondLst>
                                        </p:cTn>
                                        <p:tgtEl>
                                          <p:spTgt spid="164917"/>
                                        </p:tgtEl>
                                        <p:attrNameLst>
                                          <p:attrName>style.visibility</p:attrName>
                                        </p:attrNameLst>
                                      </p:cBhvr>
                                      <p:to>
                                        <p:strVal val="visible"/>
                                      </p:to>
                                    </p:set>
                                    <p:animEffect transition="in" filter="dissolve">
                                      <p:cBhvr>
                                        <p:cTn id="49" dur="500"/>
                                        <p:tgtEl>
                                          <p:spTgt spid="164917"/>
                                        </p:tgtEl>
                                      </p:cBhvr>
                                    </p:animEffect>
                                  </p:childTnLst>
                                </p:cTn>
                              </p:par>
                            </p:childTnLst>
                          </p:cTn>
                        </p:par>
                        <p:par>
                          <p:cTn id="50" fill="hold" nodeType="afterGroup">
                            <p:stCondLst>
                              <p:cond delay="3000"/>
                            </p:stCondLst>
                            <p:childTnLst>
                              <p:par>
                                <p:cTn id="51" presetID="9" presetClass="entr" presetSubtype="0" fill="hold" grpId="0" nodeType="afterEffect">
                                  <p:stCondLst>
                                    <p:cond delay="0"/>
                                  </p:stCondLst>
                                  <p:childTnLst>
                                    <p:set>
                                      <p:cBhvr>
                                        <p:cTn id="52" dur="1" fill="hold">
                                          <p:stCondLst>
                                            <p:cond delay="0"/>
                                          </p:stCondLst>
                                        </p:cTn>
                                        <p:tgtEl>
                                          <p:spTgt spid="164918"/>
                                        </p:tgtEl>
                                        <p:attrNameLst>
                                          <p:attrName>style.visibility</p:attrName>
                                        </p:attrNameLst>
                                      </p:cBhvr>
                                      <p:to>
                                        <p:strVal val="visible"/>
                                      </p:to>
                                    </p:set>
                                    <p:animEffect transition="in" filter="dissolve">
                                      <p:cBhvr>
                                        <p:cTn id="53" dur="500"/>
                                        <p:tgtEl>
                                          <p:spTgt spid="164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918" grpId="0" animBg="1"/>
      <p:bldP spid="164917" grpId="0" animBg="1"/>
      <p:bldP spid="164866" grpId="0" animBg="1" autoUpdateAnimBg="0"/>
      <p:bldP spid="164869" grpId="0" build="p" autoUpdateAnimBg="0"/>
      <p:bldP spid="164919" grpId="0" animBg="1" autoUpdateAnimBg="0"/>
      <p:bldP spid="164920" grpId="0" autoUpdateAnimBg="0"/>
      <p:bldP spid="164923"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MST Construction: </a:t>
            </a:r>
            <a:r>
              <a:rPr lang="en-US" sz="2800" dirty="0" smtClean="0">
                <a:solidFill>
                  <a:srgbClr val="CC0000"/>
                </a:solidFill>
                <a:latin typeface="Arial Rounded MT Bold" pitchFamily="34" charset="0"/>
              </a:rPr>
              <a:t>Two Classic Algorithms</a:t>
            </a:r>
          </a:p>
        </p:txBody>
      </p:sp>
      <p:sp>
        <p:nvSpPr>
          <p:cNvPr id="160771" name="Text Box 3"/>
          <p:cNvSpPr txBox="1">
            <a:spLocks noChangeArrowheads="1"/>
          </p:cNvSpPr>
          <p:nvPr/>
        </p:nvSpPr>
        <p:spPr bwMode="auto">
          <a:xfrm>
            <a:off x="152400" y="838200"/>
            <a:ext cx="5943600" cy="1857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1905000">
              <a:defRPr sz="1600">
                <a:solidFill>
                  <a:schemeClr val="tx1"/>
                </a:solidFill>
                <a:latin typeface="Times New Roman" pitchFamily="18" charset="0"/>
              </a:defRPr>
            </a:lvl1pPr>
            <a:lvl2pPr marL="481013" indent="-290513" defTabSz="1905000">
              <a:defRPr sz="1600">
                <a:solidFill>
                  <a:schemeClr val="tx1"/>
                </a:solidFill>
                <a:latin typeface="Times New Roman" pitchFamily="18" charset="0"/>
              </a:defRPr>
            </a:lvl2pPr>
            <a:lvl3pPr marL="1143000" indent="-228600" defTabSz="1905000">
              <a:defRPr sz="1600">
                <a:solidFill>
                  <a:schemeClr val="tx1"/>
                </a:solidFill>
                <a:latin typeface="Times New Roman" pitchFamily="18" charset="0"/>
              </a:defRPr>
            </a:lvl3pPr>
            <a:lvl4pPr marL="1600200" indent="-228600" defTabSz="1905000">
              <a:defRPr sz="1600">
                <a:solidFill>
                  <a:schemeClr val="tx1"/>
                </a:solidFill>
                <a:latin typeface="Times New Roman" pitchFamily="18" charset="0"/>
              </a:defRPr>
            </a:lvl4pPr>
            <a:lvl5pPr marL="2057400" indent="-228600" defTabSz="1905000">
              <a:defRPr sz="1600">
                <a:solidFill>
                  <a:schemeClr val="tx1"/>
                </a:solidFill>
                <a:latin typeface="Times New Roman" pitchFamily="18" charset="0"/>
              </a:defRPr>
            </a:lvl5pPr>
            <a:lvl6pPr marL="2514600" indent="-228600" defTabSz="1905000" eaLnBrk="0" fontAlgn="base" hangingPunct="0">
              <a:spcBef>
                <a:spcPct val="0"/>
              </a:spcBef>
              <a:spcAft>
                <a:spcPct val="0"/>
              </a:spcAft>
              <a:buChar char="•"/>
              <a:defRPr sz="1600">
                <a:solidFill>
                  <a:schemeClr val="tx1"/>
                </a:solidFill>
                <a:latin typeface="Times New Roman" pitchFamily="18" charset="0"/>
              </a:defRPr>
            </a:lvl6pPr>
            <a:lvl7pPr marL="2971800" indent="-228600" defTabSz="1905000" eaLnBrk="0" fontAlgn="base" hangingPunct="0">
              <a:spcBef>
                <a:spcPct val="0"/>
              </a:spcBef>
              <a:spcAft>
                <a:spcPct val="0"/>
              </a:spcAft>
              <a:buChar char="•"/>
              <a:defRPr sz="1600">
                <a:solidFill>
                  <a:schemeClr val="tx1"/>
                </a:solidFill>
                <a:latin typeface="Times New Roman" pitchFamily="18" charset="0"/>
              </a:defRPr>
            </a:lvl7pPr>
            <a:lvl8pPr marL="3429000" indent="-228600" defTabSz="1905000" eaLnBrk="0" fontAlgn="base" hangingPunct="0">
              <a:spcBef>
                <a:spcPct val="0"/>
              </a:spcBef>
              <a:spcAft>
                <a:spcPct val="0"/>
              </a:spcAft>
              <a:buChar char="•"/>
              <a:defRPr sz="1600">
                <a:solidFill>
                  <a:schemeClr val="tx1"/>
                </a:solidFill>
                <a:latin typeface="Times New Roman" pitchFamily="18" charset="0"/>
              </a:defRPr>
            </a:lvl8pPr>
            <a:lvl9pPr marL="3886200" indent="-228600" defTabSz="19050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05000"/>
              </a:lnSpc>
              <a:buFont typeface="Wingdings" pitchFamily="2" charset="2"/>
              <a:buNone/>
            </a:pPr>
            <a:r>
              <a:rPr lang="en-US" sz="2000" b="1" dirty="0" err="1">
                <a:solidFill>
                  <a:srgbClr val="CC0000"/>
                </a:solidFill>
                <a:latin typeface="Arial" pitchFamily="34" charset="0"/>
              </a:rPr>
              <a:t>Kruskal</a:t>
            </a:r>
            <a:r>
              <a:rPr lang="en-US" sz="2000" b="1" dirty="0">
                <a:solidFill>
                  <a:srgbClr val="CC0000"/>
                </a:solidFill>
                <a:latin typeface="Arial" pitchFamily="34" charset="0"/>
              </a:rPr>
              <a:t> [1956] </a:t>
            </a:r>
            <a:r>
              <a:rPr lang="en-US" sz="2000" dirty="0">
                <a:solidFill>
                  <a:schemeClr val="hlink"/>
                </a:solidFill>
                <a:latin typeface="Arial" pitchFamily="34" charset="0"/>
              </a:rPr>
              <a:t>based on</a:t>
            </a:r>
            <a:r>
              <a:rPr lang="en-US" sz="2000" b="1" dirty="0">
                <a:solidFill>
                  <a:srgbClr val="CC0000"/>
                </a:solidFill>
                <a:latin typeface="Arial" pitchFamily="34" charset="0"/>
              </a:rPr>
              <a:t> </a:t>
            </a:r>
            <a:r>
              <a:rPr lang="en-US" sz="2000" b="1" dirty="0" err="1">
                <a:solidFill>
                  <a:srgbClr val="CC0000"/>
                </a:solidFill>
                <a:latin typeface="Arial" pitchFamily="34" charset="0"/>
              </a:rPr>
              <a:t>Bor</a:t>
            </a:r>
            <a:r>
              <a:rPr lang="en-US" sz="2000" b="1" dirty="0" err="1">
                <a:solidFill>
                  <a:srgbClr val="CC0000"/>
                </a:solidFill>
                <a:latin typeface="Arial" pitchFamily="34" charset="0"/>
                <a:cs typeface="Arial" pitchFamily="34" charset="0"/>
              </a:rPr>
              <a:t>ů</a:t>
            </a:r>
            <a:r>
              <a:rPr lang="en-US" sz="2000" b="1" dirty="0" err="1">
                <a:solidFill>
                  <a:srgbClr val="CC0000"/>
                </a:solidFill>
                <a:latin typeface="Arial" pitchFamily="34" charset="0"/>
              </a:rPr>
              <a:t>vka</a:t>
            </a:r>
            <a:r>
              <a:rPr lang="en-US" sz="2000" b="1" dirty="0">
                <a:solidFill>
                  <a:srgbClr val="CC0000"/>
                </a:solidFill>
                <a:latin typeface="Arial" pitchFamily="34" charset="0"/>
              </a:rPr>
              <a:t> [1926]:</a:t>
            </a:r>
            <a:r>
              <a:rPr lang="en-US" sz="1800" dirty="0">
                <a:solidFill>
                  <a:schemeClr val="hlink"/>
                </a:solidFill>
                <a:latin typeface="Arial" pitchFamily="34" charset="0"/>
              </a:rPr>
              <a:t> </a:t>
            </a:r>
          </a:p>
          <a:p>
            <a:pPr eaLnBrk="1" hangingPunct="1">
              <a:lnSpc>
                <a:spcPct val="105000"/>
              </a:lnSpc>
              <a:buFont typeface="Wingdings" pitchFamily="2" charset="2"/>
              <a:buChar char="§"/>
            </a:pPr>
            <a:endParaRPr lang="en-US" sz="1800" dirty="0">
              <a:solidFill>
                <a:schemeClr val="hlink"/>
              </a:solidFill>
              <a:latin typeface="Arial" pitchFamily="34" charset="0"/>
            </a:endParaRPr>
          </a:p>
          <a:p>
            <a:pPr lvl="1" eaLnBrk="1" hangingPunct="1">
              <a:lnSpc>
                <a:spcPct val="105000"/>
              </a:lnSpc>
              <a:buFont typeface="Wingdings" pitchFamily="2" charset="2"/>
              <a:buChar char="§"/>
            </a:pPr>
            <a:r>
              <a:rPr lang="en-US" sz="1800" dirty="0">
                <a:solidFill>
                  <a:schemeClr val="hlink"/>
                </a:solidFill>
                <a:latin typeface="Arial" pitchFamily="34" charset="0"/>
              </a:rPr>
              <a:t>e = min weight white edge.</a:t>
            </a:r>
          </a:p>
          <a:p>
            <a:pPr lvl="1" eaLnBrk="1" hangingPunct="1">
              <a:lnSpc>
                <a:spcPct val="105000"/>
              </a:lnSpc>
              <a:buFont typeface="Wingdings" pitchFamily="2" charset="2"/>
              <a:buChar char="§"/>
            </a:pPr>
            <a:r>
              <a:rPr lang="en-US" sz="1800" b="1" dirty="0">
                <a:latin typeface="Arial" pitchFamily="34" charset="0"/>
              </a:rPr>
              <a:t>If</a:t>
            </a:r>
            <a:r>
              <a:rPr lang="en-US" sz="1800" dirty="0">
                <a:solidFill>
                  <a:schemeClr val="hlink"/>
                </a:solidFill>
                <a:latin typeface="Arial" pitchFamily="34" charset="0"/>
              </a:rPr>
              <a:t>   both ends of e are in the same blue component </a:t>
            </a:r>
            <a:br>
              <a:rPr lang="en-US" sz="1800" dirty="0">
                <a:solidFill>
                  <a:schemeClr val="hlink"/>
                </a:solidFill>
                <a:latin typeface="Arial" pitchFamily="34" charset="0"/>
              </a:rPr>
            </a:br>
            <a:r>
              <a:rPr lang="en-US" sz="1800" b="1" dirty="0">
                <a:latin typeface="Arial" pitchFamily="34" charset="0"/>
              </a:rPr>
              <a:t>then</a:t>
            </a:r>
            <a:r>
              <a:rPr lang="en-US" sz="1800" dirty="0">
                <a:solidFill>
                  <a:schemeClr val="hlink"/>
                </a:solidFill>
                <a:latin typeface="Arial" pitchFamily="34" charset="0"/>
              </a:rPr>
              <a:t> color e red    </a:t>
            </a:r>
            <a:r>
              <a:rPr lang="en-US" sz="1800" dirty="0">
                <a:solidFill>
                  <a:srgbClr val="CC0000"/>
                </a:solidFill>
                <a:latin typeface="Arial" pitchFamily="34" charset="0"/>
              </a:rPr>
              <a:t>(by the Red-Rule),</a:t>
            </a:r>
            <a:r>
              <a:rPr lang="en-US" sz="1800" dirty="0">
                <a:solidFill>
                  <a:schemeClr val="hlink"/>
                </a:solidFill>
                <a:latin typeface="Arial" pitchFamily="34" charset="0"/>
              </a:rPr>
              <a:t>   </a:t>
            </a:r>
            <a:br>
              <a:rPr lang="en-US" sz="1800" dirty="0">
                <a:solidFill>
                  <a:schemeClr val="hlink"/>
                </a:solidFill>
                <a:latin typeface="Arial" pitchFamily="34" charset="0"/>
              </a:rPr>
            </a:br>
            <a:r>
              <a:rPr lang="en-US" sz="1800" b="1" dirty="0">
                <a:latin typeface="Arial" pitchFamily="34" charset="0"/>
              </a:rPr>
              <a:t>else</a:t>
            </a:r>
            <a:r>
              <a:rPr lang="en-US" sz="1800" dirty="0">
                <a:solidFill>
                  <a:schemeClr val="hlink"/>
                </a:solidFill>
                <a:latin typeface="Arial" pitchFamily="34" charset="0"/>
              </a:rPr>
              <a:t> color e blue   </a:t>
            </a:r>
            <a:r>
              <a:rPr lang="en-US" sz="1800" dirty="0">
                <a:solidFill>
                  <a:srgbClr val="CC0000"/>
                </a:solidFill>
                <a:latin typeface="Arial" pitchFamily="34" charset="0"/>
              </a:rPr>
              <a:t>(e is a short bridge).</a:t>
            </a:r>
          </a:p>
        </p:txBody>
      </p:sp>
      <p:grpSp>
        <p:nvGrpSpPr>
          <p:cNvPr id="160821" name="Group 53"/>
          <p:cNvGrpSpPr>
            <a:grpSpLocks/>
          </p:cNvGrpSpPr>
          <p:nvPr/>
        </p:nvGrpSpPr>
        <p:grpSpPr bwMode="auto">
          <a:xfrm>
            <a:off x="6096000" y="1143000"/>
            <a:ext cx="2438400" cy="1600200"/>
            <a:chOff x="4032" y="576"/>
            <a:chExt cx="1536" cy="1008"/>
          </a:xfrm>
        </p:grpSpPr>
        <p:sp>
          <p:nvSpPr>
            <p:cNvPr id="84006" name="Line 7"/>
            <p:cNvSpPr>
              <a:spLocks noChangeShapeType="1"/>
            </p:cNvSpPr>
            <p:nvPr/>
          </p:nvSpPr>
          <p:spPr bwMode="auto">
            <a:xfrm flipV="1">
              <a:off x="4944" y="1152"/>
              <a:ext cx="144" cy="24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07" name="Line 8"/>
            <p:cNvSpPr>
              <a:spLocks noChangeShapeType="1"/>
            </p:cNvSpPr>
            <p:nvPr/>
          </p:nvSpPr>
          <p:spPr bwMode="auto">
            <a:xfrm flipH="1" flipV="1">
              <a:off x="4896" y="1056"/>
              <a:ext cx="192"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08" name="Line 9"/>
            <p:cNvSpPr>
              <a:spLocks noChangeShapeType="1"/>
            </p:cNvSpPr>
            <p:nvPr/>
          </p:nvSpPr>
          <p:spPr bwMode="auto">
            <a:xfrm flipV="1">
              <a:off x="5088" y="1056"/>
              <a:ext cx="96"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09" name="Line 10"/>
            <p:cNvSpPr>
              <a:spLocks noChangeShapeType="1"/>
            </p:cNvSpPr>
            <p:nvPr/>
          </p:nvSpPr>
          <p:spPr bwMode="auto">
            <a:xfrm>
              <a:off x="5088" y="1152"/>
              <a:ext cx="432"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10" name="Line 11"/>
            <p:cNvSpPr>
              <a:spLocks noChangeShapeType="1"/>
            </p:cNvSpPr>
            <p:nvPr/>
          </p:nvSpPr>
          <p:spPr bwMode="auto">
            <a:xfrm>
              <a:off x="4944" y="1392"/>
              <a:ext cx="288"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11" name="Line 12"/>
            <p:cNvSpPr>
              <a:spLocks noChangeShapeType="1"/>
            </p:cNvSpPr>
            <p:nvPr/>
          </p:nvSpPr>
          <p:spPr bwMode="auto">
            <a:xfrm flipH="1" flipV="1">
              <a:off x="4416" y="1344"/>
              <a:ext cx="528"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12" name="Line 13"/>
            <p:cNvSpPr>
              <a:spLocks noChangeShapeType="1"/>
            </p:cNvSpPr>
            <p:nvPr/>
          </p:nvSpPr>
          <p:spPr bwMode="auto">
            <a:xfrm flipH="1">
              <a:off x="4752" y="1392"/>
              <a:ext cx="192" cy="19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13" name="Line 14"/>
            <p:cNvSpPr>
              <a:spLocks noChangeShapeType="1"/>
            </p:cNvSpPr>
            <p:nvPr/>
          </p:nvSpPr>
          <p:spPr bwMode="auto">
            <a:xfrm flipV="1">
              <a:off x="4368" y="672"/>
              <a:ext cx="336"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14" name="Line 15"/>
            <p:cNvSpPr>
              <a:spLocks noChangeShapeType="1"/>
            </p:cNvSpPr>
            <p:nvPr/>
          </p:nvSpPr>
          <p:spPr bwMode="auto">
            <a:xfrm flipH="1" flipV="1">
              <a:off x="4032" y="720"/>
              <a:ext cx="336"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15" name="Line 16"/>
            <p:cNvSpPr>
              <a:spLocks noChangeShapeType="1"/>
            </p:cNvSpPr>
            <p:nvPr/>
          </p:nvSpPr>
          <p:spPr bwMode="auto">
            <a:xfrm flipH="1">
              <a:off x="4320" y="768"/>
              <a:ext cx="48"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16" name="Line 17"/>
            <p:cNvSpPr>
              <a:spLocks noChangeShapeType="1"/>
            </p:cNvSpPr>
            <p:nvPr/>
          </p:nvSpPr>
          <p:spPr bwMode="auto">
            <a:xfrm flipH="1">
              <a:off x="4032" y="912"/>
              <a:ext cx="288"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17" name="Line 18"/>
            <p:cNvSpPr>
              <a:spLocks noChangeShapeType="1"/>
            </p:cNvSpPr>
            <p:nvPr/>
          </p:nvSpPr>
          <p:spPr bwMode="auto">
            <a:xfrm>
              <a:off x="4320" y="912"/>
              <a:ext cx="288"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18" name="Line 19"/>
            <p:cNvSpPr>
              <a:spLocks noChangeShapeType="1"/>
            </p:cNvSpPr>
            <p:nvPr/>
          </p:nvSpPr>
          <p:spPr bwMode="auto">
            <a:xfrm flipV="1">
              <a:off x="4608" y="816"/>
              <a:ext cx="96"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19" name="Line 20"/>
            <p:cNvSpPr>
              <a:spLocks noChangeShapeType="1"/>
            </p:cNvSpPr>
            <p:nvPr/>
          </p:nvSpPr>
          <p:spPr bwMode="auto">
            <a:xfrm>
              <a:off x="4608" y="960"/>
              <a:ext cx="144"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20" name="Line 21"/>
            <p:cNvSpPr>
              <a:spLocks noChangeShapeType="1"/>
            </p:cNvSpPr>
            <p:nvPr/>
          </p:nvSpPr>
          <p:spPr bwMode="auto">
            <a:xfrm>
              <a:off x="4608" y="960"/>
              <a:ext cx="48"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21" name="Line 39"/>
            <p:cNvSpPr>
              <a:spLocks noChangeShapeType="1"/>
            </p:cNvSpPr>
            <p:nvPr/>
          </p:nvSpPr>
          <p:spPr bwMode="auto">
            <a:xfrm flipV="1">
              <a:off x="5280" y="576"/>
              <a:ext cx="144" cy="28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22" name="Line 40"/>
            <p:cNvSpPr>
              <a:spLocks noChangeShapeType="1"/>
            </p:cNvSpPr>
            <p:nvPr/>
          </p:nvSpPr>
          <p:spPr bwMode="auto">
            <a:xfrm>
              <a:off x="5424" y="576"/>
              <a:ext cx="144"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23" name="Line 44"/>
            <p:cNvSpPr>
              <a:spLocks noChangeShapeType="1"/>
            </p:cNvSpPr>
            <p:nvPr/>
          </p:nvSpPr>
          <p:spPr bwMode="auto">
            <a:xfrm flipV="1">
              <a:off x="5232" y="912"/>
              <a:ext cx="336"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24" name="Oval 47"/>
            <p:cNvSpPr>
              <a:spLocks noChangeArrowheads="1"/>
            </p:cNvSpPr>
            <p:nvPr/>
          </p:nvSpPr>
          <p:spPr bwMode="auto">
            <a:xfrm>
              <a:off x="5184" y="624"/>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4025" name="Line 51"/>
            <p:cNvSpPr>
              <a:spLocks noChangeShapeType="1"/>
            </p:cNvSpPr>
            <p:nvPr/>
          </p:nvSpPr>
          <p:spPr bwMode="auto">
            <a:xfrm flipV="1">
              <a:off x="4944" y="1200"/>
              <a:ext cx="576" cy="192"/>
            </a:xfrm>
            <a:prstGeom prst="line">
              <a:avLst/>
            </a:prstGeom>
            <a:noFill/>
            <a:ln w="19050">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26" name="Line 52"/>
            <p:cNvSpPr>
              <a:spLocks noChangeShapeType="1"/>
            </p:cNvSpPr>
            <p:nvPr/>
          </p:nvSpPr>
          <p:spPr bwMode="auto">
            <a:xfrm>
              <a:off x="4320" y="912"/>
              <a:ext cx="96" cy="432"/>
            </a:xfrm>
            <a:prstGeom prst="line">
              <a:avLst/>
            </a:prstGeom>
            <a:noFill/>
            <a:ln w="19050">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grpSp>
      <p:grpSp>
        <p:nvGrpSpPr>
          <p:cNvPr id="160849" name="Group 81"/>
          <p:cNvGrpSpPr>
            <a:grpSpLocks/>
          </p:cNvGrpSpPr>
          <p:nvPr/>
        </p:nvGrpSpPr>
        <p:grpSpPr bwMode="auto">
          <a:xfrm>
            <a:off x="2667000" y="4411663"/>
            <a:ext cx="5176838" cy="2143125"/>
            <a:chOff x="1680" y="2779"/>
            <a:chExt cx="3261" cy="1350"/>
          </a:xfrm>
        </p:grpSpPr>
        <p:sp>
          <p:nvSpPr>
            <p:cNvPr id="83975" name="Freeform 74"/>
            <p:cNvSpPr>
              <a:spLocks/>
            </p:cNvSpPr>
            <p:nvPr/>
          </p:nvSpPr>
          <p:spPr bwMode="auto">
            <a:xfrm>
              <a:off x="3655" y="2779"/>
              <a:ext cx="1286" cy="1297"/>
            </a:xfrm>
            <a:custGeom>
              <a:avLst/>
              <a:gdLst>
                <a:gd name="T0" fmla="*/ 119 w 1286"/>
                <a:gd name="T1" fmla="*/ 187 h 1297"/>
                <a:gd name="T2" fmla="*/ 946 w 1286"/>
                <a:gd name="T3" fmla="*/ 127 h 1297"/>
                <a:gd name="T4" fmla="*/ 1167 w 1286"/>
                <a:gd name="T5" fmla="*/ 951 h 1297"/>
                <a:gd name="T6" fmla="*/ 230 w 1286"/>
                <a:gd name="T7" fmla="*/ 1170 h 1297"/>
                <a:gd name="T8" fmla="*/ 119 w 1286"/>
                <a:gd name="T9" fmla="*/ 187 h 12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6" h="1297">
                  <a:moveTo>
                    <a:pt x="119" y="187"/>
                  </a:moveTo>
                  <a:cubicBezTo>
                    <a:pt x="238" y="13"/>
                    <a:pt x="771" y="0"/>
                    <a:pt x="946" y="127"/>
                  </a:cubicBezTo>
                  <a:cubicBezTo>
                    <a:pt x="1122" y="244"/>
                    <a:pt x="1286" y="777"/>
                    <a:pt x="1167" y="951"/>
                  </a:cubicBezTo>
                  <a:cubicBezTo>
                    <a:pt x="1048" y="1125"/>
                    <a:pt x="405" y="1297"/>
                    <a:pt x="230" y="1170"/>
                  </a:cubicBezTo>
                  <a:cubicBezTo>
                    <a:pt x="55" y="1043"/>
                    <a:pt x="0" y="361"/>
                    <a:pt x="119" y="187"/>
                  </a:cubicBezTo>
                  <a:close/>
                </a:path>
              </a:pathLst>
            </a:custGeom>
            <a:solidFill>
              <a:srgbClr val="DDDDDD"/>
            </a:solidFill>
            <a:ln w="1905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endParaRPr lang="en-CA"/>
            </a:p>
          </p:txBody>
        </p:sp>
        <p:sp>
          <p:nvSpPr>
            <p:cNvPr id="83976" name="Freeform 73"/>
            <p:cNvSpPr>
              <a:spLocks/>
            </p:cNvSpPr>
            <p:nvPr/>
          </p:nvSpPr>
          <p:spPr bwMode="auto">
            <a:xfrm>
              <a:off x="1680" y="2908"/>
              <a:ext cx="1902" cy="1221"/>
            </a:xfrm>
            <a:custGeom>
              <a:avLst/>
              <a:gdLst>
                <a:gd name="T0" fmla="*/ 253 w 1902"/>
                <a:gd name="T1" fmla="*/ 104 h 1221"/>
                <a:gd name="T2" fmla="*/ 1279 w 1902"/>
                <a:gd name="T3" fmla="*/ 45 h 1221"/>
                <a:gd name="T4" fmla="*/ 1616 w 1902"/>
                <a:gd name="T5" fmla="*/ 373 h 1221"/>
                <a:gd name="T6" fmla="*/ 1679 w 1902"/>
                <a:gd name="T7" fmla="*/ 1020 h 1221"/>
                <a:gd name="T8" fmla="*/ 276 w 1902"/>
                <a:gd name="T9" fmla="*/ 1126 h 1221"/>
                <a:gd name="T10" fmla="*/ 21 w 1902"/>
                <a:gd name="T11" fmla="*/ 452 h 1221"/>
                <a:gd name="T12" fmla="*/ 253 w 1902"/>
                <a:gd name="T13" fmla="*/ 104 h 12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02" h="1221">
                  <a:moveTo>
                    <a:pt x="253" y="104"/>
                  </a:moveTo>
                  <a:cubicBezTo>
                    <a:pt x="463" y="36"/>
                    <a:pt x="1052" y="0"/>
                    <a:pt x="1279" y="45"/>
                  </a:cubicBezTo>
                  <a:cubicBezTo>
                    <a:pt x="1506" y="90"/>
                    <a:pt x="1549" y="210"/>
                    <a:pt x="1616" y="373"/>
                  </a:cubicBezTo>
                  <a:cubicBezTo>
                    <a:pt x="1683" y="536"/>
                    <a:pt x="1902" y="894"/>
                    <a:pt x="1679" y="1020"/>
                  </a:cubicBezTo>
                  <a:cubicBezTo>
                    <a:pt x="1456" y="1146"/>
                    <a:pt x="552" y="1221"/>
                    <a:pt x="276" y="1126"/>
                  </a:cubicBezTo>
                  <a:cubicBezTo>
                    <a:pt x="0" y="1031"/>
                    <a:pt x="25" y="622"/>
                    <a:pt x="21" y="452"/>
                  </a:cubicBezTo>
                  <a:cubicBezTo>
                    <a:pt x="17" y="282"/>
                    <a:pt x="43" y="172"/>
                    <a:pt x="253" y="104"/>
                  </a:cubicBezTo>
                  <a:close/>
                </a:path>
              </a:pathLst>
            </a:custGeom>
            <a:solidFill>
              <a:srgbClr val="DDDDDD"/>
            </a:solidFill>
            <a:ln w="1905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endParaRPr lang="en-CA"/>
            </a:p>
          </p:txBody>
        </p:sp>
        <p:sp>
          <p:nvSpPr>
            <p:cNvPr id="83977" name="Line 31"/>
            <p:cNvSpPr>
              <a:spLocks noChangeShapeType="1"/>
            </p:cNvSpPr>
            <p:nvPr/>
          </p:nvSpPr>
          <p:spPr bwMode="auto">
            <a:xfrm flipH="1">
              <a:off x="2808" y="3301"/>
              <a:ext cx="48" cy="19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3978" name="Line 32"/>
            <p:cNvSpPr>
              <a:spLocks noChangeShapeType="1"/>
            </p:cNvSpPr>
            <p:nvPr/>
          </p:nvSpPr>
          <p:spPr bwMode="auto">
            <a:xfrm flipH="1">
              <a:off x="2520" y="3301"/>
              <a:ext cx="336"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3979" name="Line 33"/>
            <p:cNvSpPr>
              <a:spLocks noChangeShapeType="1"/>
            </p:cNvSpPr>
            <p:nvPr/>
          </p:nvSpPr>
          <p:spPr bwMode="auto">
            <a:xfrm>
              <a:off x="2856" y="3301"/>
              <a:ext cx="336"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3980" name="Line 34"/>
            <p:cNvSpPr>
              <a:spLocks noChangeShapeType="1"/>
            </p:cNvSpPr>
            <p:nvPr/>
          </p:nvSpPr>
          <p:spPr bwMode="auto">
            <a:xfrm flipH="1">
              <a:off x="2616" y="3493"/>
              <a:ext cx="192"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3981" name="Line 35"/>
            <p:cNvSpPr>
              <a:spLocks noChangeShapeType="1"/>
            </p:cNvSpPr>
            <p:nvPr/>
          </p:nvSpPr>
          <p:spPr bwMode="auto">
            <a:xfrm>
              <a:off x="2808" y="3493"/>
              <a:ext cx="240"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3982" name="Line 36"/>
            <p:cNvSpPr>
              <a:spLocks noChangeShapeType="1"/>
            </p:cNvSpPr>
            <p:nvPr/>
          </p:nvSpPr>
          <p:spPr bwMode="auto">
            <a:xfrm flipV="1">
              <a:off x="2856" y="3061"/>
              <a:ext cx="48" cy="24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3983" name="Line 37"/>
            <p:cNvSpPr>
              <a:spLocks noChangeShapeType="1"/>
            </p:cNvSpPr>
            <p:nvPr/>
          </p:nvSpPr>
          <p:spPr bwMode="auto">
            <a:xfrm flipH="1" flipV="1">
              <a:off x="2472" y="3205"/>
              <a:ext cx="48"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3984" name="Line 38"/>
            <p:cNvSpPr>
              <a:spLocks noChangeShapeType="1"/>
            </p:cNvSpPr>
            <p:nvPr/>
          </p:nvSpPr>
          <p:spPr bwMode="auto">
            <a:xfrm flipH="1">
              <a:off x="2328" y="3349"/>
              <a:ext cx="192"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3985" name="Oval 46"/>
            <p:cNvSpPr>
              <a:spLocks noChangeArrowheads="1"/>
            </p:cNvSpPr>
            <p:nvPr/>
          </p:nvSpPr>
          <p:spPr bwMode="auto">
            <a:xfrm>
              <a:off x="3912" y="3013"/>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3986" name="Oval 54"/>
            <p:cNvSpPr>
              <a:spLocks noChangeArrowheads="1"/>
            </p:cNvSpPr>
            <p:nvPr/>
          </p:nvSpPr>
          <p:spPr bwMode="auto">
            <a:xfrm>
              <a:off x="4584" y="3589"/>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3987" name="Oval 55"/>
            <p:cNvSpPr>
              <a:spLocks noChangeArrowheads="1"/>
            </p:cNvSpPr>
            <p:nvPr/>
          </p:nvSpPr>
          <p:spPr bwMode="auto">
            <a:xfrm>
              <a:off x="3960" y="3781"/>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3988" name="Oval 56"/>
            <p:cNvSpPr>
              <a:spLocks noChangeArrowheads="1"/>
            </p:cNvSpPr>
            <p:nvPr/>
          </p:nvSpPr>
          <p:spPr bwMode="auto">
            <a:xfrm>
              <a:off x="4296" y="3253"/>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3989" name="Oval 57"/>
            <p:cNvSpPr>
              <a:spLocks noChangeArrowheads="1"/>
            </p:cNvSpPr>
            <p:nvPr/>
          </p:nvSpPr>
          <p:spPr bwMode="auto">
            <a:xfrm>
              <a:off x="3912" y="3493"/>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3990" name="Oval 58"/>
            <p:cNvSpPr>
              <a:spLocks noChangeArrowheads="1"/>
            </p:cNvSpPr>
            <p:nvPr/>
          </p:nvSpPr>
          <p:spPr bwMode="auto">
            <a:xfrm>
              <a:off x="4440" y="2965"/>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3991" name="Oval 59"/>
            <p:cNvSpPr>
              <a:spLocks noChangeArrowheads="1"/>
            </p:cNvSpPr>
            <p:nvPr/>
          </p:nvSpPr>
          <p:spPr bwMode="auto">
            <a:xfrm>
              <a:off x="4200" y="3541"/>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3992" name="Oval 60"/>
            <p:cNvSpPr>
              <a:spLocks noChangeArrowheads="1"/>
            </p:cNvSpPr>
            <p:nvPr/>
          </p:nvSpPr>
          <p:spPr bwMode="auto">
            <a:xfrm>
              <a:off x="4632" y="3301"/>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3993" name="Line 61"/>
            <p:cNvSpPr>
              <a:spLocks noChangeShapeType="1"/>
            </p:cNvSpPr>
            <p:nvPr/>
          </p:nvSpPr>
          <p:spPr bwMode="auto">
            <a:xfrm flipH="1">
              <a:off x="2904" y="3637"/>
              <a:ext cx="144" cy="24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3994" name="Line 62"/>
            <p:cNvSpPr>
              <a:spLocks noChangeShapeType="1"/>
            </p:cNvSpPr>
            <p:nvPr/>
          </p:nvSpPr>
          <p:spPr bwMode="auto">
            <a:xfrm>
              <a:off x="3048" y="3637"/>
              <a:ext cx="192" cy="24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3995" name="Line 63"/>
            <p:cNvSpPr>
              <a:spLocks noChangeShapeType="1"/>
            </p:cNvSpPr>
            <p:nvPr/>
          </p:nvSpPr>
          <p:spPr bwMode="auto">
            <a:xfrm flipH="1">
              <a:off x="2664" y="3637"/>
              <a:ext cx="384" cy="19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3996" name="Line 64"/>
            <p:cNvSpPr>
              <a:spLocks noChangeShapeType="1"/>
            </p:cNvSpPr>
            <p:nvPr/>
          </p:nvSpPr>
          <p:spPr bwMode="auto">
            <a:xfrm flipH="1" flipV="1">
              <a:off x="2376" y="3781"/>
              <a:ext cx="288"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3997" name="Line 65"/>
            <p:cNvSpPr>
              <a:spLocks noChangeShapeType="1"/>
            </p:cNvSpPr>
            <p:nvPr/>
          </p:nvSpPr>
          <p:spPr bwMode="auto">
            <a:xfrm>
              <a:off x="2664" y="3829"/>
              <a:ext cx="0"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3998" name="Line 66"/>
            <p:cNvSpPr>
              <a:spLocks noChangeShapeType="1"/>
            </p:cNvSpPr>
            <p:nvPr/>
          </p:nvSpPr>
          <p:spPr bwMode="auto">
            <a:xfrm flipH="1" flipV="1">
              <a:off x="1992" y="3301"/>
              <a:ext cx="336" cy="19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3999" name="Line 67"/>
            <p:cNvSpPr>
              <a:spLocks noChangeShapeType="1"/>
            </p:cNvSpPr>
            <p:nvPr/>
          </p:nvSpPr>
          <p:spPr bwMode="auto">
            <a:xfrm flipH="1">
              <a:off x="1992" y="3493"/>
              <a:ext cx="336"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00" name="Line 68"/>
            <p:cNvSpPr>
              <a:spLocks noChangeShapeType="1"/>
            </p:cNvSpPr>
            <p:nvPr/>
          </p:nvSpPr>
          <p:spPr bwMode="auto">
            <a:xfrm flipH="1">
              <a:off x="1944" y="3493"/>
              <a:ext cx="384" cy="28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01" name="Line 69"/>
            <p:cNvSpPr>
              <a:spLocks noChangeShapeType="1"/>
            </p:cNvSpPr>
            <p:nvPr/>
          </p:nvSpPr>
          <p:spPr bwMode="auto">
            <a:xfrm flipV="1">
              <a:off x="1992" y="3157"/>
              <a:ext cx="96"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02" name="Line 70"/>
            <p:cNvSpPr>
              <a:spLocks noChangeShapeType="1"/>
            </p:cNvSpPr>
            <p:nvPr/>
          </p:nvSpPr>
          <p:spPr bwMode="auto">
            <a:xfrm flipH="1">
              <a:off x="1800" y="3301"/>
              <a:ext cx="192"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03" name="Text Box 71"/>
            <p:cNvSpPr txBox="1">
              <a:spLocks noChangeArrowheads="1"/>
            </p:cNvSpPr>
            <p:nvPr/>
          </p:nvSpPr>
          <p:spPr bwMode="auto">
            <a:xfrm>
              <a:off x="2232" y="3253"/>
              <a:ext cx="17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hlink"/>
                  </a:solidFill>
                </a:rPr>
                <a:t>s</a:t>
              </a:r>
            </a:p>
          </p:txBody>
        </p:sp>
        <p:sp>
          <p:nvSpPr>
            <p:cNvPr id="84004" name="Line 75"/>
            <p:cNvSpPr>
              <a:spLocks noChangeShapeType="1"/>
            </p:cNvSpPr>
            <p:nvPr/>
          </p:nvSpPr>
          <p:spPr bwMode="auto">
            <a:xfrm flipV="1">
              <a:off x="3048" y="3541"/>
              <a:ext cx="864" cy="96"/>
            </a:xfrm>
            <a:prstGeom prst="line">
              <a:avLst/>
            </a:prstGeom>
            <a:noFill/>
            <a:ln w="19050">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005" name="Text Box 76"/>
            <p:cNvSpPr txBox="1">
              <a:spLocks noChangeArrowheads="1"/>
            </p:cNvSpPr>
            <p:nvPr/>
          </p:nvSpPr>
          <p:spPr bwMode="auto">
            <a:xfrm>
              <a:off x="3486" y="3325"/>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e</a:t>
              </a:r>
            </a:p>
          </p:txBody>
        </p:sp>
      </p:grpSp>
      <p:sp>
        <p:nvSpPr>
          <p:cNvPr id="160846" name="Rectangle 78"/>
          <p:cNvSpPr>
            <a:spLocks noChangeArrowheads="1"/>
          </p:cNvSpPr>
          <p:nvPr/>
        </p:nvSpPr>
        <p:spPr bwMode="auto">
          <a:xfrm>
            <a:off x="152400" y="3048000"/>
            <a:ext cx="7620000" cy="163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buFont typeface="Wingdings" pitchFamily="2" charset="2"/>
              <a:buNone/>
            </a:pPr>
            <a:r>
              <a:rPr lang="en-US" sz="2000" b="1" dirty="0">
                <a:solidFill>
                  <a:srgbClr val="CC0000"/>
                </a:solidFill>
                <a:latin typeface="Arial" pitchFamily="34" charset="0"/>
              </a:rPr>
              <a:t>Prim [1957] </a:t>
            </a:r>
            <a:r>
              <a:rPr lang="en-US" sz="2000" dirty="0">
                <a:solidFill>
                  <a:schemeClr val="hlink"/>
                </a:solidFill>
                <a:latin typeface="Arial" pitchFamily="34" charset="0"/>
              </a:rPr>
              <a:t>based on</a:t>
            </a:r>
            <a:r>
              <a:rPr lang="en-US" sz="2000" b="1" dirty="0">
                <a:solidFill>
                  <a:srgbClr val="CC0000"/>
                </a:solidFill>
                <a:latin typeface="Arial" pitchFamily="34" charset="0"/>
              </a:rPr>
              <a:t> </a:t>
            </a:r>
            <a:r>
              <a:rPr lang="en-US" sz="2000" b="1" dirty="0" err="1">
                <a:solidFill>
                  <a:srgbClr val="CC0000"/>
                </a:solidFill>
                <a:latin typeface="Arial" pitchFamily="34" charset="0"/>
              </a:rPr>
              <a:t>Jarn</a:t>
            </a:r>
            <a:r>
              <a:rPr lang="en-US" sz="2000" b="1" dirty="0" err="1">
                <a:solidFill>
                  <a:srgbClr val="CC0000"/>
                </a:solidFill>
                <a:latin typeface="Arial" pitchFamily="34" charset="0"/>
                <a:cs typeface="Arial" pitchFamily="34" charset="0"/>
              </a:rPr>
              <a:t>í</a:t>
            </a:r>
            <a:r>
              <a:rPr lang="en-US" sz="2000" b="1" dirty="0" err="1">
                <a:solidFill>
                  <a:srgbClr val="CC0000"/>
                </a:solidFill>
                <a:latin typeface="Arial" pitchFamily="34" charset="0"/>
              </a:rPr>
              <a:t>k</a:t>
            </a:r>
            <a:r>
              <a:rPr lang="en-US" sz="2000" b="1" dirty="0">
                <a:solidFill>
                  <a:srgbClr val="CC0000"/>
                </a:solidFill>
                <a:latin typeface="Arial" pitchFamily="34" charset="0"/>
              </a:rPr>
              <a:t> [1930]:</a:t>
            </a:r>
          </a:p>
          <a:p>
            <a:pPr marL="481013" lvl="1" indent="-290513" eaLnBrk="1" hangingPunct="1">
              <a:spcBef>
                <a:spcPct val="50000"/>
              </a:spcBef>
              <a:buFont typeface="Wingdings" pitchFamily="2" charset="2"/>
              <a:buChar char="§"/>
            </a:pPr>
            <a:r>
              <a:rPr lang="en-US" sz="1800" dirty="0">
                <a:solidFill>
                  <a:schemeClr val="hlink"/>
                </a:solidFill>
                <a:latin typeface="Arial" pitchFamily="34" charset="0"/>
              </a:rPr>
              <a:t>s =  an initially selected starting vertex.   </a:t>
            </a:r>
          </a:p>
          <a:p>
            <a:pPr marL="481013" lvl="1" indent="-290513" eaLnBrk="1" hangingPunct="1">
              <a:spcBef>
                <a:spcPct val="50000"/>
              </a:spcBef>
              <a:buFont typeface="Wingdings" pitchFamily="2" charset="2"/>
              <a:buChar char="§"/>
            </a:pPr>
            <a:r>
              <a:rPr lang="en-US" sz="1800" dirty="0">
                <a:solidFill>
                  <a:schemeClr val="hlink"/>
                </a:solidFill>
                <a:latin typeface="Arial" pitchFamily="34" charset="0"/>
              </a:rPr>
              <a:t>e =  the short bridge incident to the blue component that contains s.</a:t>
            </a:r>
          </a:p>
          <a:p>
            <a:pPr marL="481013" lvl="1" indent="-290513" eaLnBrk="1" hangingPunct="1">
              <a:spcBef>
                <a:spcPct val="50000"/>
              </a:spcBef>
              <a:buFont typeface="Wingdings" pitchFamily="2" charset="2"/>
              <a:buChar char="§"/>
            </a:pPr>
            <a:r>
              <a:rPr lang="en-US" sz="1800" dirty="0">
                <a:solidFill>
                  <a:schemeClr val="hlink"/>
                </a:solidFill>
                <a:latin typeface="Arial" pitchFamily="34" charset="0"/>
              </a:rPr>
              <a:t>Color e blue.</a:t>
            </a:r>
            <a:endParaRPr lang="en-US" sz="1800" dirty="0">
              <a:solidFill>
                <a:srgbClr val="CC0000"/>
              </a:solidFill>
              <a:latin typeface="Arial" pitchFamily="34" charset="0"/>
            </a:endParaRP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81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60770"/>
                                        </p:tgtEl>
                                        <p:attrNameLst>
                                          <p:attrName>style.visibility</p:attrName>
                                        </p:attrNameLst>
                                      </p:cBhvr>
                                      <p:to>
                                        <p:strVal val="visible"/>
                                      </p:to>
                                    </p:set>
                                    <p:anim calcmode="lin" valueType="num">
                                      <p:cBhvr>
                                        <p:cTn id="7" dur="500" fill="hold"/>
                                        <p:tgtEl>
                                          <p:spTgt spid="160770"/>
                                        </p:tgtEl>
                                        <p:attrNameLst>
                                          <p:attrName>ppt_w</p:attrName>
                                        </p:attrNameLst>
                                      </p:cBhvr>
                                      <p:tavLst>
                                        <p:tav tm="0">
                                          <p:val>
                                            <p:fltVal val="0"/>
                                          </p:val>
                                        </p:tav>
                                        <p:tav tm="100000">
                                          <p:val>
                                            <p:strVal val="#ppt_w"/>
                                          </p:val>
                                        </p:tav>
                                      </p:tavLst>
                                    </p:anim>
                                    <p:anim calcmode="lin" valueType="num">
                                      <p:cBhvr>
                                        <p:cTn id="8" dur="500" fill="hold"/>
                                        <p:tgtEl>
                                          <p:spTgt spid="16077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60771">
                                            <p:txEl>
                                              <p:pRg st="0" end="0"/>
                                            </p:txEl>
                                          </p:spTgt>
                                        </p:tgtEl>
                                        <p:attrNameLst>
                                          <p:attrName>style.visibility</p:attrName>
                                        </p:attrNameLst>
                                      </p:cBhvr>
                                      <p:to>
                                        <p:strVal val="visible"/>
                                      </p:to>
                                    </p:set>
                                    <p:animEffect transition="in" filter="wipe(up)">
                                      <p:cBhvr>
                                        <p:cTn id="13" dur="500"/>
                                        <p:tgtEl>
                                          <p:spTgt spid="160771">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60771">
                                            <p:txEl>
                                              <p:pRg st="2" end="2"/>
                                            </p:txEl>
                                          </p:spTgt>
                                        </p:tgtEl>
                                        <p:attrNameLst>
                                          <p:attrName>style.visibility</p:attrName>
                                        </p:attrNameLst>
                                      </p:cBhvr>
                                      <p:to>
                                        <p:strVal val="visible"/>
                                      </p:to>
                                    </p:set>
                                    <p:animEffect transition="in" filter="wipe(up)">
                                      <p:cBhvr>
                                        <p:cTn id="18" dur="500"/>
                                        <p:tgtEl>
                                          <p:spTgt spid="160771">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60771">
                                            <p:txEl>
                                              <p:pRg st="3" end="3"/>
                                            </p:txEl>
                                          </p:spTgt>
                                        </p:tgtEl>
                                        <p:attrNameLst>
                                          <p:attrName>style.visibility</p:attrName>
                                        </p:attrNameLst>
                                      </p:cBhvr>
                                      <p:to>
                                        <p:strVal val="visible"/>
                                      </p:to>
                                    </p:set>
                                    <p:animEffect transition="in" filter="wipe(up)">
                                      <p:cBhvr>
                                        <p:cTn id="23" dur="500"/>
                                        <p:tgtEl>
                                          <p:spTgt spid="160771">
                                            <p:txEl>
                                              <p:pRg st="3" end="3"/>
                                            </p:txEl>
                                          </p:spTgt>
                                        </p:tgtEl>
                                      </p:cBhvr>
                                    </p:animEffect>
                                  </p:childTnLst>
                                </p:cTn>
                              </p:par>
                            </p:childTnLst>
                          </p:cTn>
                        </p:par>
                        <p:par>
                          <p:cTn id="24" fill="hold" nodeType="afterGroup">
                            <p:stCondLst>
                              <p:cond delay="500"/>
                            </p:stCondLst>
                            <p:childTnLst>
                              <p:par>
                                <p:cTn id="25" presetID="22" presetClass="entr" presetSubtype="1" fill="hold" nodeType="afterEffect">
                                  <p:stCondLst>
                                    <p:cond delay="0"/>
                                  </p:stCondLst>
                                  <p:childTnLst>
                                    <p:set>
                                      <p:cBhvr>
                                        <p:cTn id="26" dur="1" fill="hold">
                                          <p:stCondLst>
                                            <p:cond delay="0"/>
                                          </p:stCondLst>
                                        </p:cTn>
                                        <p:tgtEl>
                                          <p:spTgt spid="160821"/>
                                        </p:tgtEl>
                                        <p:attrNameLst>
                                          <p:attrName>style.visibility</p:attrName>
                                        </p:attrNameLst>
                                      </p:cBhvr>
                                      <p:to>
                                        <p:strVal val="visible"/>
                                      </p:to>
                                    </p:set>
                                    <p:animEffect transition="in" filter="wipe(up)">
                                      <p:cBhvr>
                                        <p:cTn id="27" dur="500"/>
                                        <p:tgtEl>
                                          <p:spTgt spid="1608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60846">
                                            <p:txEl>
                                              <p:pRg st="0" end="0"/>
                                            </p:txEl>
                                          </p:spTgt>
                                        </p:tgtEl>
                                        <p:attrNameLst>
                                          <p:attrName>style.visibility</p:attrName>
                                        </p:attrNameLst>
                                      </p:cBhvr>
                                      <p:to>
                                        <p:strVal val="visible"/>
                                      </p:to>
                                    </p:set>
                                    <p:animEffect transition="in" filter="wipe(up)">
                                      <p:cBhvr>
                                        <p:cTn id="32" dur="500"/>
                                        <p:tgtEl>
                                          <p:spTgt spid="160846">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60846">
                                            <p:txEl>
                                              <p:pRg st="1" end="1"/>
                                            </p:txEl>
                                          </p:spTgt>
                                        </p:tgtEl>
                                        <p:attrNameLst>
                                          <p:attrName>style.visibility</p:attrName>
                                        </p:attrNameLst>
                                      </p:cBhvr>
                                      <p:to>
                                        <p:strVal val="visible"/>
                                      </p:to>
                                    </p:set>
                                    <p:animEffect transition="in" filter="wipe(up)">
                                      <p:cBhvr>
                                        <p:cTn id="37" dur="500"/>
                                        <p:tgtEl>
                                          <p:spTgt spid="160846">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60846">
                                            <p:txEl>
                                              <p:pRg st="2" end="2"/>
                                            </p:txEl>
                                          </p:spTgt>
                                        </p:tgtEl>
                                        <p:attrNameLst>
                                          <p:attrName>style.visibility</p:attrName>
                                        </p:attrNameLst>
                                      </p:cBhvr>
                                      <p:to>
                                        <p:strVal val="visible"/>
                                      </p:to>
                                    </p:set>
                                    <p:animEffect transition="in" filter="wipe(up)">
                                      <p:cBhvr>
                                        <p:cTn id="42" dur="500"/>
                                        <p:tgtEl>
                                          <p:spTgt spid="160846">
                                            <p:txEl>
                                              <p:pRg st="2" end="2"/>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60846">
                                            <p:txEl>
                                              <p:pRg st="3" end="3"/>
                                            </p:txEl>
                                          </p:spTgt>
                                        </p:tgtEl>
                                        <p:attrNameLst>
                                          <p:attrName>style.visibility</p:attrName>
                                        </p:attrNameLst>
                                      </p:cBhvr>
                                      <p:to>
                                        <p:strVal val="visible"/>
                                      </p:to>
                                    </p:set>
                                    <p:animEffect transition="in" filter="wipe(up)">
                                      <p:cBhvr>
                                        <p:cTn id="47" dur="500"/>
                                        <p:tgtEl>
                                          <p:spTgt spid="160846">
                                            <p:txEl>
                                              <p:pRg st="3" end="3"/>
                                            </p:txEl>
                                          </p:spTgt>
                                        </p:tgtEl>
                                      </p:cBhvr>
                                    </p:animEffect>
                                  </p:childTnLst>
                                </p:cTn>
                              </p:par>
                            </p:childTnLst>
                          </p:cTn>
                        </p:par>
                        <p:par>
                          <p:cTn id="48" fill="hold" nodeType="afterGroup">
                            <p:stCondLst>
                              <p:cond delay="500"/>
                            </p:stCondLst>
                            <p:childTnLst>
                              <p:par>
                                <p:cTn id="49" presetID="22" presetClass="entr" presetSubtype="8" fill="hold" nodeType="afterEffect">
                                  <p:stCondLst>
                                    <p:cond delay="0"/>
                                  </p:stCondLst>
                                  <p:childTnLst>
                                    <p:set>
                                      <p:cBhvr>
                                        <p:cTn id="50" dur="1" fill="hold">
                                          <p:stCondLst>
                                            <p:cond delay="0"/>
                                          </p:stCondLst>
                                        </p:cTn>
                                        <p:tgtEl>
                                          <p:spTgt spid="160849"/>
                                        </p:tgtEl>
                                        <p:attrNameLst>
                                          <p:attrName>style.visibility</p:attrName>
                                        </p:attrNameLst>
                                      </p:cBhvr>
                                      <p:to>
                                        <p:strVal val="visible"/>
                                      </p:to>
                                    </p:set>
                                    <p:animEffect transition="in" filter="wipe(left)">
                                      <p:cBhvr>
                                        <p:cTn id="51" dur="500"/>
                                        <p:tgtEl>
                                          <p:spTgt spid="1608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animBg="1" autoUpdateAnimBg="0"/>
      <p:bldP spid="160771" grpId="0" build="p" bldLvl="2" autoUpdateAnimBg="0"/>
      <p:bldP spid="160846" grpId="0" build="p" bldLvl="2"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err="1" smtClean="0">
                <a:solidFill>
                  <a:srgbClr val="FF0000"/>
                </a:solidFill>
                <a:latin typeface="Arial Rounded MT Bold" pitchFamily="34" charset="0"/>
              </a:rPr>
              <a:t>Kruskal’s</a:t>
            </a:r>
            <a:r>
              <a:rPr lang="en-US" sz="2800" b="1" dirty="0" smtClean="0">
                <a:solidFill>
                  <a:schemeClr val="tx1"/>
                </a:solidFill>
                <a:latin typeface="Arial Rounded MT Bold" pitchFamily="34" charset="0"/>
              </a:rPr>
              <a:t>   MST Algorithm</a:t>
            </a:r>
          </a:p>
        </p:txBody>
      </p:sp>
      <p:sp>
        <p:nvSpPr>
          <p:cNvPr id="166915" name="Text Box 3"/>
          <p:cNvSpPr txBox="1">
            <a:spLocks noChangeArrowheads="1"/>
          </p:cNvSpPr>
          <p:nvPr/>
        </p:nvSpPr>
        <p:spPr bwMode="auto">
          <a:xfrm>
            <a:off x="152400" y="838200"/>
            <a:ext cx="5943600" cy="12477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defTabSz="1905000">
              <a:defRPr sz="1600">
                <a:solidFill>
                  <a:schemeClr val="tx1"/>
                </a:solidFill>
                <a:latin typeface="Times New Roman" pitchFamily="18" charset="0"/>
              </a:defRPr>
            </a:lvl1pPr>
            <a:lvl2pPr marL="481013" indent="-290513" defTabSz="1905000">
              <a:defRPr sz="1600">
                <a:solidFill>
                  <a:schemeClr val="tx1"/>
                </a:solidFill>
                <a:latin typeface="Times New Roman" pitchFamily="18" charset="0"/>
              </a:defRPr>
            </a:lvl2pPr>
            <a:lvl3pPr marL="1143000" indent="-228600" defTabSz="1905000">
              <a:defRPr sz="1600">
                <a:solidFill>
                  <a:schemeClr val="tx1"/>
                </a:solidFill>
                <a:latin typeface="Times New Roman" pitchFamily="18" charset="0"/>
              </a:defRPr>
            </a:lvl3pPr>
            <a:lvl4pPr marL="1600200" indent="-228600" defTabSz="1905000">
              <a:defRPr sz="1600">
                <a:solidFill>
                  <a:schemeClr val="tx1"/>
                </a:solidFill>
                <a:latin typeface="Times New Roman" pitchFamily="18" charset="0"/>
              </a:defRPr>
            </a:lvl4pPr>
            <a:lvl5pPr marL="2057400" indent="-228600" defTabSz="1905000">
              <a:defRPr sz="1600">
                <a:solidFill>
                  <a:schemeClr val="tx1"/>
                </a:solidFill>
                <a:latin typeface="Times New Roman" pitchFamily="18" charset="0"/>
              </a:defRPr>
            </a:lvl5pPr>
            <a:lvl6pPr marL="2514600" indent="-228600" defTabSz="1905000" eaLnBrk="0" fontAlgn="base" hangingPunct="0">
              <a:spcBef>
                <a:spcPct val="0"/>
              </a:spcBef>
              <a:spcAft>
                <a:spcPct val="0"/>
              </a:spcAft>
              <a:buChar char="•"/>
              <a:defRPr sz="1600">
                <a:solidFill>
                  <a:schemeClr val="tx1"/>
                </a:solidFill>
                <a:latin typeface="Times New Roman" pitchFamily="18" charset="0"/>
              </a:defRPr>
            </a:lvl6pPr>
            <a:lvl7pPr marL="2971800" indent="-228600" defTabSz="1905000" eaLnBrk="0" fontAlgn="base" hangingPunct="0">
              <a:spcBef>
                <a:spcPct val="0"/>
              </a:spcBef>
              <a:spcAft>
                <a:spcPct val="0"/>
              </a:spcAft>
              <a:buChar char="•"/>
              <a:defRPr sz="1600">
                <a:solidFill>
                  <a:schemeClr val="tx1"/>
                </a:solidFill>
                <a:latin typeface="Times New Roman" pitchFamily="18" charset="0"/>
              </a:defRPr>
            </a:lvl7pPr>
            <a:lvl8pPr marL="3429000" indent="-228600" defTabSz="1905000" eaLnBrk="0" fontAlgn="base" hangingPunct="0">
              <a:spcBef>
                <a:spcPct val="0"/>
              </a:spcBef>
              <a:spcAft>
                <a:spcPct val="0"/>
              </a:spcAft>
              <a:buChar char="•"/>
              <a:defRPr sz="1600">
                <a:solidFill>
                  <a:schemeClr val="tx1"/>
                </a:solidFill>
                <a:latin typeface="Times New Roman" pitchFamily="18" charset="0"/>
              </a:defRPr>
            </a:lvl8pPr>
            <a:lvl9pPr marL="3886200" indent="-228600" defTabSz="1905000" eaLnBrk="0" fontAlgn="base" hangingPunct="0">
              <a:spcBef>
                <a:spcPct val="0"/>
              </a:spcBef>
              <a:spcAft>
                <a:spcPct val="0"/>
              </a:spcAft>
              <a:buChar char="•"/>
              <a:defRPr sz="1600">
                <a:solidFill>
                  <a:schemeClr val="tx1"/>
                </a:solidFill>
                <a:latin typeface="Times New Roman" pitchFamily="18" charset="0"/>
              </a:defRPr>
            </a:lvl9pPr>
          </a:lstStyle>
          <a:p>
            <a:pPr lvl="1" eaLnBrk="1" hangingPunct="1">
              <a:lnSpc>
                <a:spcPct val="105000"/>
              </a:lnSpc>
              <a:buFont typeface="Wingdings" pitchFamily="2" charset="2"/>
              <a:buChar char="§"/>
            </a:pPr>
            <a:r>
              <a:rPr lang="en-US" sz="1800">
                <a:solidFill>
                  <a:schemeClr val="hlink"/>
                </a:solidFill>
                <a:latin typeface="Arial" pitchFamily="34" charset="0"/>
              </a:rPr>
              <a:t>e = min weight white edge.</a:t>
            </a:r>
          </a:p>
          <a:p>
            <a:pPr lvl="1" eaLnBrk="1" hangingPunct="1">
              <a:lnSpc>
                <a:spcPct val="105000"/>
              </a:lnSpc>
              <a:buFont typeface="Wingdings" pitchFamily="2" charset="2"/>
              <a:buChar char="§"/>
            </a:pPr>
            <a:r>
              <a:rPr lang="en-US" sz="1800" b="1">
                <a:latin typeface="Arial" pitchFamily="34" charset="0"/>
              </a:rPr>
              <a:t>If</a:t>
            </a:r>
            <a:r>
              <a:rPr lang="en-US" sz="1800">
                <a:solidFill>
                  <a:schemeClr val="hlink"/>
                </a:solidFill>
                <a:latin typeface="Arial" pitchFamily="34" charset="0"/>
              </a:rPr>
              <a:t>   both ends of e are in the same blue component </a:t>
            </a:r>
            <a:br>
              <a:rPr lang="en-US" sz="1800">
                <a:solidFill>
                  <a:schemeClr val="hlink"/>
                </a:solidFill>
                <a:latin typeface="Arial" pitchFamily="34" charset="0"/>
              </a:rPr>
            </a:br>
            <a:r>
              <a:rPr lang="en-US" sz="1800" b="1">
                <a:latin typeface="Arial" pitchFamily="34" charset="0"/>
              </a:rPr>
              <a:t>then</a:t>
            </a:r>
            <a:r>
              <a:rPr lang="en-US" sz="1800">
                <a:solidFill>
                  <a:schemeClr val="hlink"/>
                </a:solidFill>
                <a:latin typeface="Arial" pitchFamily="34" charset="0"/>
              </a:rPr>
              <a:t> color e red    </a:t>
            </a:r>
            <a:r>
              <a:rPr lang="en-US" sz="1800">
                <a:solidFill>
                  <a:srgbClr val="CC0000"/>
                </a:solidFill>
                <a:latin typeface="Arial" pitchFamily="34" charset="0"/>
              </a:rPr>
              <a:t>(by the Red-Rule),</a:t>
            </a:r>
            <a:r>
              <a:rPr lang="en-US" sz="1800">
                <a:solidFill>
                  <a:schemeClr val="hlink"/>
                </a:solidFill>
                <a:latin typeface="Arial" pitchFamily="34" charset="0"/>
              </a:rPr>
              <a:t>   </a:t>
            </a:r>
            <a:br>
              <a:rPr lang="en-US" sz="1800">
                <a:solidFill>
                  <a:schemeClr val="hlink"/>
                </a:solidFill>
                <a:latin typeface="Arial" pitchFamily="34" charset="0"/>
              </a:rPr>
            </a:br>
            <a:r>
              <a:rPr lang="en-US" sz="1800" b="1">
                <a:latin typeface="Arial" pitchFamily="34" charset="0"/>
              </a:rPr>
              <a:t>else</a:t>
            </a:r>
            <a:r>
              <a:rPr lang="en-US" sz="1800">
                <a:solidFill>
                  <a:schemeClr val="hlink"/>
                </a:solidFill>
                <a:latin typeface="Arial" pitchFamily="34" charset="0"/>
              </a:rPr>
              <a:t> color e blue   </a:t>
            </a:r>
            <a:r>
              <a:rPr lang="en-US" sz="1800">
                <a:solidFill>
                  <a:srgbClr val="CC0000"/>
                </a:solidFill>
                <a:latin typeface="Arial" pitchFamily="34" charset="0"/>
              </a:rPr>
              <a:t>(e is a short bridge).</a:t>
            </a:r>
          </a:p>
        </p:txBody>
      </p:sp>
      <p:grpSp>
        <p:nvGrpSpPr>
          <p:cNvPr id="166916" name="Group 4"/>
          <p:cNvGrpSpPr>
            <a:grpSpLocks/>
          </p:cNvGrpSpPr>
          <p:nvPr/>
        </p:nvGrpSpPr>
        <p:grpSpPr bwMode="auto">
          <a:xfrm>
            <a:off x="6019800" y="914400"/>
            <a:ext cx="2438400" cy="1600200"/>
            <a:chOff x="4032" y="576"/>
            <a:chExt cx="1536" cy="1008"/>
          </a:xfrm>
        </p:grpSpPr>
        <p:sp>
          <p:nvSpPr>
            <p:cNvPr id="84998" name="Line 5"/>
            <p:cNvSpPr>
              <a:spLocks noChangeShapeType="1"/>
            </p:cNvSpPr>
            <p:nvPr/>
          </p:nvSpPr>
          <p:spPr bwMode="auto">
            <a:xfrm flipV="1">
              <a:off x="4944" y="1152"/>
              <a:ext cx="144" cy="24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4999" name="Line 6"/>
            <p:cNvSpPr>
              <a:spLocks noChangeShapeType="1"/>
            </p:cNvSpPr>
            <p:nvPr/>
          </p:nvSpPr>
          <p:spPr bwMode="auto">
            <a:xfrm flipH="1" flipV="1">
              <a:off x="4896" y="1056"/>
              <a:ext cx="192"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00" name="Line 7"/>
            <p:cNvSpPr>
              <a:spLocks noChangeShapeType="1"/>
            </p:cNvSpPr>
            <p:nvPr/>
          </p:nvSpPr>
          <p:spPr bwMode="auto">
            <a:xfrm flipV="1">
              <a:off x="5088" y="1056"/>
              <a:ext cx="96"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01" name="Line 8"/>
            <p:cNvSpPr>
              <a:spLocks noChangeShapeType="1"/>
            </p:cNvSpPr>
            <p:nvPr/>
          </p:nvSpPr>
          <p:spPr bwMode="auto">
            <a:xfrm>
              <a:off x="5088" y="1152"/>
              <a:ext cx="432"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02" name="Line 9"/>
            <p:cNvSpPr>
              <a:spLocks noChangeShapeType="1"/>
            </p:cNvSpPr>
            <p:nvPr/>
          </p:nvSpPr>
          <p:spPr bwMode="auto">
            <a:xfrm>
              <a:off x="4944" y="1392"/>
              <a:ext cx="288"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03" name="Line 10"/>
            <p:cNvSpPr>
              <a:spLocks noChangeShapeType="1"/>
            </p:cNvSpPr>
            <p:nvPr/>
          </p:nvSpPr>
          <p:spPr bwMode="auto">
            <a:xfrm flipH="1" flipV="1">
              <a:off x="4416" y="1344"/>
              <a:ext cx="528"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04" name="Line 11"/>
            <p:cNvSpPr>
              <a:spLocks noChangeShapeType="1"/>
            </p:cNvSpPr>
            <p:nvPr/>
          </p:nvSpPr>
          <p:spPr bwMode="auto">
            <a:xfrm flipH="1">
              <a:off x="4752" y="1392"/>
              <a:ext cx="192" cy="192"/>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05" name="Line 12"/>
            <p:cNvSpPr>
              <a:spLocks noChangeShapeType="1"/>
            </p:cNvSpPr>
            <p:nvPr/>
          </p:nvSpPr>
          <p:spPr bwMode="auto">
            <a:xfrm flipV="1">
              <a:off x="4368" y="672"/>
              <a:ext cx="336"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06" name="Line 13"/>
            <p:cNvSpPr>
              <a:spLocks noChangeShapeType="1"/>
            </p:cNvSpPr>
            <p:nvPr/>
          </p:nvSpPr>
          <p:spPr bwMode="auto">
            <a:xfrm flipH="1" flipV="1">
              <a:off x="4032" y="720"/>
              <a:ext cx="336"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07" name="Line 14"/>
            <p:cNvSpPr>
              <a:spLocks noChangeShapeType="1"/>
            </p:cNvSpPr>
            <p:nvPr/>
          </p:nvSpPr>
          <p:spPr bwMode="auto">
            <a:xfrm flipH="1">
              <a:off x="4320" y="768"/>
              <a:ext cx="48"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08" name="Line 15"/>
            <p:cNvSpPr>
              <a:spLocks noChangeShapeType="1"/>
            </p:cNvSpPr>
            <p:nvPr/>
          </p:nvSpPr>
          <p:spPr bwMode="auto">
            <a:xfrm flipH="1">
              <a:off x="4032" y="912"/>
              <a:ext cx="288"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09" name="Line 16"/>
            <p:cNvSpPr>
              <a:spLocks noChangeShapeType="1"/>
            </p:cNvSpPr>
            <p:nvPr/>
          </p:nvSpPr>
          <p:spPr bwMode="auto">
            <a:xfrm>
              <a:off x="4320" y="912"/>
              <a:ext cx="288"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10" name="Line 17"/>
            <p:cNvSpPr>
              <a:spLocks noChangeShapeType="1"/>
            </p:cNvSpPr>
            <p:nvPr/>
          </p:nvSpPr>
          <p:spPr bwMode="auto">
            <a:xfrm flipV="1">
              <a:off x="4608" y="816"/>
              <a:ext cx="96"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11" name="Line 18"/>
            <p:cNvSpPr>
              <a:spLocks noChangeShapeType="1"/>
            </p:cNvSpPr>
            <p:nvPr/>
          </p:nvSpPr>
          <p:spPr bwMode="auto">
            <a:xfrm>
              <a:off x="4608" y="960"/>
              <a:ext cx="144"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12" name="Line 19"/>
            <p:cNvSpPr>
              <a:spLocks noChangeShapeType="1"/>
            </p:cNvSpPr>
            <p:nvPr/>
          </p:nvSpPr>
          <p:spPr bwMode="auto">
            <a:xfrm>
              <a:off x="4608" y="960"/>
              <a:ext cx="48" cy="9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13" name="Line 20"/>
            <p:cNvSpPr>
              <a:spLocks noChangeShapeType="1"/>
            </p:cNvSpPr>
            <p:nvPr/>
          </p:nvSpPr>
          <p:spPr bwMode="auto">
            <a:xfrm flipV="1">
              <a:off x="5280" y="576"/>
              <a:ext cx="144" cy="28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14" name="Line 21"/>
            <p:cNvSpPr>
              <a:spLocks noChangeShapeType="1"/>
            </p:cNvSpPr>
            <p:nvPr/>
          </p:nvSpPr>
          <p:spPr bwMode="auto">
            <a:xfrm>
              <a:off x="5424" y="576"/>
              <a:ext cx="144" cy="14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15" name="Line 22"/>
            <p:cNvSpPr>
              <a:spLocks noChangeShapeType="1"/>
            </p:cNvSpPr>
            <p:nvPr/>
          </p:nvSpPr>
          <p:spPr bwMode="auto">
            <a:xfrm flipV="1">
              <a:off x="5232" y="912"/>
              <a:ext cx="336" cy="4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16" name="Oval 23"/>
            <p:cNvSpPr>
              <a:spLocks noChangeArrowheads="1"/>
            </p:cNvSpPr>
            <p:nvPr/>
          </p:nvSpPr>
          <p:spPr bwMode="auto">
            <a:xfrm>
              <a:off x="5184" y="624"/>
              <a:ext cx="48" cy="48"/>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5017" name="Line 24"/>
            <p:cNvSpPr>
              <a:spLocks noChangeShapeType="1"/>
            </p:cNvSpPr>
            <p:nvPr/>
          </p:nvSpPr>
          <p:spPr bwMode="auto">
            <a:xfrm flipV="1">
              <a:off x="4944" y="1200"/>
              <a:ext cx="576" cy="192"/>
            </a:xfrm>
            <a:prstGeom prst="line">
              <a:avLst/>
            </a:prstGeom>
            <a:noFill/>
            <a:ln w="19050">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5018" name="Line 25"/>
            <p:cNvSpPr>
              <a:spLocks noChangeShapeType="1"/>
            </p:cNvSpPr>
            <p:nvPr/>
          </p:nvSpPr>
          <p:spPr bwMode="auto">
            <a:xfrm>
              <a:off x="4320" y="912"/>
              <a:ext cx="96" cy="432"/>
            </a:xfrm>
            <a:prstGeom prst="line">
              <a:avLst/>
            </a:prstGeom>
            <a:noFill/>
            <a:ln w="19050">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grpSp>
      <p:sp>
        <p:nvSpPr>
          <p:cNvPr id="166971" name="Rectangle 59"/>
          <p:cNvSpPr>
            <a:spLocks noChangeArrowheads="1"/>
          </p:cNvSpPr>
          <p:nvPr/>
        </p:nvSpPr>
        <p:spPr bwMode="auto">
          <a:xfrm>
            <a:off x="304800" y="2667000"/>
            <a:ext cx="8286750" cy="366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188913" indent="-188913" defTabSz="1905000" eaLnBrk="1" hangingPunct="1">
              <a:spcBef>
                <a:spcPct val="50000"/>
              </a:spcBef>
              <a:buFontTx/>
              <a:buNone/>
            </a:pPr>
            <a:r>
              <a:rPr lang="en-US" sz="1800" b="1">
                <a:solidFill>
                  <a:srgbClr val="CC0000"/>
                </a:solidFill>
                <a:latin typeface="Arial" pitchFamily="34" charset="0"/>
              </a:rPr>
              <a:t>Disjoint Set Union Data Structure:</a:t>
            </a:r>
            <a:r>
              <a:rPr lang="en-US" sz="1800">
                <a:solidFill>
                  <a:schemeClr val="hlink"/>
                </a:solidFill>
                <a:latin typeface="Arial" pitchFamily="34" charset="0"/>
              </a:rPr>
              <a:t> </a:t>
            </a:r>
            <a:br>
              <a:rPr lang="en-US" sz="1800">
                <a:solidFill>
                  <a:schemeClr val="hlink"/>
                </a:solidFill>
                <a:latin typeface="Arial" pitchFamily="34" charset="0"/>
              </a:rPr>
            </a:br>
            <a:r>
              <a:rPr lang="en-US" sz="1800">
                <a:solidFill>
                  <a:schemeClr val="hlink"/>
                </a:solidFill>
                <a:latin typeface="Arial" pitchFamily="34" charset="0"/>
              </a:rPr>
              <a:t>Maintains the partitioning of V(G) into vertex sets of blue components under </a:t>
            </a:r>
            <a:br>
              <a:rPr lang="en-US" sz="1800">
                <a:solidFill>
                  <a:schemeClr val="hlink"/>
                </a:solidFill>
                <a:latin typeface="Arial" pitchFamily="34" charset="0"/>
              </a:rPr>
            </a:br>
            <a:r>
              <a:rPr lang="en-US" sz="1800">
                <a:solidFill>
                  <a:schemeClr val="hlink"/>
                </a:solidFill>
                <a:latin typeface="Arial" pitchFamily="34" charset="0"/>
              </a:rPr>
              <a:t>the following operations:</a:t>
            </a:r>
          </a:p>
          <a:p>
            <a:pPr marL="576263" lvl="1" indent="-196850" defTabSz="1905000" eaLnBrk="1" hangingPunct="1">
              <a:spcBef>
                <a:spcPct val="50000"/>
              </a:spcBef>
              <a:buFont typeface="Wingdings" pitchFamily="2" charset="2"/>
              <a:buChar char="Ø"/>
            </a:pPr>
            <a:r>
              <a:rPr lang="en-US" sz="1800">
                <a:solidFill>
                  <a:srgbClr val="CC0000"/>
                </a:solidFill>
                <a:latin typeface="Arial" pitchFamily="34" charset="0"/>
              </a:rPr>
              <a:t>MakeSet(v)	</a:t>
            </a:r>
            <a:r>
              <a:rPr lang="en-US" sz="1800">
                <a:solidFill>
                  <a:schemeClr val="hlink"/>
                </a:solidFill>
                <a:latin typeface="Arial" pitchFamily="34" charset="0"/>
              </a:rPr>
              <a:t>Create a singleton blue component set {v}. </a:t>
            </a:r>
          </a:p>
          <a:p>
            <a:pPr marL="576263" lvl="1" indent="-196850" defTabSz="1905000" eaLnBrk="1" hangingPunct="1">
              <a:spcBef>
                <a:spcPct val="50000"/>
              </a:spcBef>
              <a:buFont typeface="Wingdings" pitchFamily="2" charset="2"/>
              <a:buChar char="Ø"/>
            </a:pPr>
            <a:r>
              <a:rPr lang="en-US" sz="1800">
                <a:solidFill>
                  <a:srgbClr val="CC0000"/>
                </a:solidFill>
                <a:latin typeface="Arial" pitchFamily="34" charset="0"/>
              </a:rPr>
              <a:t>FindSet(v)	</a:t>
            </a:r>
            <a:r>
              <a:rPr lang="en-US" sz="1800">
                <a:solidFill>
                  <a:schemeClr val="hlink"/>
                </a:solidFill>
                <a:latin typeface="Arial" pitchFamily="34" charset="0"/>
              </a:rPr>
              <a:t>Return the name of the blue component that contains node v.</a:t>
            </a:r>
          </a:p>
          <a:p>
            <a:pPr marL="576263" lvl="1" indent="-196850" defTabSz="1905000" eaLnBrk="1" hangingPunct="1">
              <a:spcBef>
                <a:spcPct val="50000"/>
              </a:spcBef>
              <a:buFont typeface="Wingdings" pitchFamily="2" charset="2"/>
              <a:buChar char="Ø"/>
            </a:pPr>
            <a:r>
              <a:rPr lang="en-US" sz="1800">
                <a:solidFill>
                  <a:srgbClr val="CC0000"/>
                </a:solidFill>
                <a:latin typeface="Arial" pitchFamily="34" charset="0"/>
              </a:rPr>
              <a:t>Union(A,B)</a:t>
            </a:r>
            <a:r>
              <a:rPr lang="en-US" sz="1800">
                <a:solidFill>
                  <a:schemeClr val="hlink"/>
                </a:solidFill>
                <a:latin typeface="Arial" pitchFamily="34" charset="0"/>
              </a:rPr>
              <a:t> 	Replace the two component sets A and B by A</a:t>
            </a:r>
            <a:r>
              <a:rPr lang="en-US" sz="1800">
                <a:solidFill>
                  <a:schemeClr val="hlink"/>
                </a:solidFill>
                <a:latin typeface="Arial" pitchFamily="34" charset="0"/>
                <a:sym typeface="Symbol" pitchFamily="18" charset="2"/>
              </a:rPr>
              <a:t></a:t>
            </a:r>
            <a:r>
              <a:rPr lang="en-US" sz="1800">
                <a:solidFill>
                  <a:schemeClr val="hlink"/>
                </a:solidFill>
                <a:latin typeface="Arial" pitchFamily="34" charset="0"/>
              </a:rPr>
              <a:t>B.</a:t>
            </a:r>
          </a:p>
          <a:p>
            <a:pPr marL="188913" indent="-188913" defTabSz="1905000" eaLnBrk="1" hangingPunct="1">
              <a:spcBef>
                <a:spcPct val="50000"/>
              </a:spcBef>
              <a:buFont typeface="Wingdings" pitchFamily="2" charset="2"/>
              <a:buChar char="§"/>
            </a:pPr>
            <a:r>
              <a:rPr lang="en-US" sz="1800">
                <a:solidFill>
                  <a:schemeClr val="hlink"/>
                </a:solidFill>
                <a:latin typeface="Arial" pitchFamily="34" charset="0"/>
              </a:rPr>
              <a:t>This data structure is studied in </a:t>
            </a:r>
            <a:r>
              <a:rPr lang="en-US" sz="1800">
                <a:solidFill>
                  <a:srgbClr val="CC0000"/>
                </a:solidFill>
                <a:latin typeface="Arial" pitchFamily="34" charset="0"/>
              </a:rPr>
              <a:t>CSE 4101</a:t>
            </a:r>
            <a:r>
              <a:rPr lang="en-US" sz="1800">
                <a:solidFill>
                  <a:schemeClr val="hlink"/>
                </a:solidFill>
                <a:latin typeface="Arial" pitchFamily="34" charset="0"/>
              </a:rPr>
              <a:t> and  </a:t>
            </a:r>
            <a:r>
              <a:rPr lang="en-US" sz="1800">
                <a:solidFill>
                  <a:srgbClr val="CC0000"/>
                </a:solidFill>
                <a:latin typeface="Arial" pitchFamily="34" charset="0"/>
              </a:rPr>
              <a:t>[CLRS 21].</a:t>
            </a:r>
          </a:p>
          <a:p>
            <a:pPr marL="188913" indent="-188913" defTabSz="1905000" eaLnBrk="1" hangingPunct="1">
              <a:spcBef>
                <a:spcPct val="50000"/>
              </a:spcBef>
              <a:buFont typeface="Wingdings" pitchFamily="2" charset="2"/>
              <a:buChar char="§"/>
            </a:pPr>
            <a:r>
              <a:rPr lang="en-US" sz="1800">
                <a:solidFill>
                  <a:srgbClr val="CC0000"/>
                </a:solidFill>
                <a:latin typeface="Arial" pitchFamily="34" charset="0"/>
              </a:rPr>
              <a:t>O(E)</a:t>
            </a:r>
            <a:r>
              <a:rPr lang="en-US" sz="1800">
                <a:solidFill>
                  <a:schemeClr val="hlink"/>
                </a:solidFill>
                <a:latin typeface="Arial" pitchFamily="34" charset="0"/>
              </a:rPr>
              <a:t> such operations on V elements take </a:t>
            </a:r>
            <a:r>
              <a:rPr lang="en-US" sz="1800">
                <a:solidFill>
                  <a:srgbClr val="CC0000"/>
                </a:solidFill>
                <a:latin typeface="Arial" pitchFamily="34" charset="0"/>
              </a:rPr>
              <a:t>O( E </a:t>
            </a:r>
            <a:r>
              <a:rPr lang="en-US" sz="1800">
                <a:solidFill>
                  <a:srgbClr val="CC0000"/>
                </a:solidFill>
                <a:latin typeface="Symbol" pitchFamily="18" charset="2"/>
              </a:rPr>
              <a:t>a</a:t>
            </a:r>
            <a:r>
              <a:rPr lang="en-US" sz="1800">
                <a:solidFill>
                  <a:srgbClr val="CC0000"/>
                </a:solidFill>
                <a:latin typeface="Arial" pitchFamily="34" charset="0"/>
              </a:rPr>
              <a:t>(E,V) )</a:t>
            </a:r>
            <a:r>
              <a:rPr lang="en-US" sz="1800">
                <a:solidFill>
                  <a:schemeClr val="hlink"/>
                </a:solidFill>
                <a:latin typeface="Arial" pitchFamily="34" charset="0"/>
              </a:rPr>
              <a:t> time in total.</a:t>
            </a:r>
          </a:p>
          <a:p>
            <a:pPr marL="188913" indent="-188913" defTabSz="1905000" eaLnBrk="1" hangingPunct="1">
              <a:spcBef>
                <a:spcPct val="50000"/>
              </a:spcBef>
              <a:buFont typeface="Wingdings" pitchFamily="2" charset="2"/>
              <a:buChar char="§"/>
            </a:pPr>
            <a:r>
              <a:rPr lang="en-US" sz="1800">
                <a:solidFill>
                  <a:schemeClr val="hlink"/>
                </a:solidFill>
                <a:latin typeface="Symbol" pitchFamily="18" charset="2"/>
              </a:rPr>
              <a:t>a</a:t>
            </a:r>
            <a:r>
              <a:rPr lang="en-US" sz="1800">
                <a:solidFill>
                  <a:schemeClr val="hlink"/>
                </a:solidFill>
                <a:latin typeface="Arial" pitchFamily="34" charset="0"/>
              </a:rPr>
              <a:t> is inverse of Ackermann’s function and is very very slow growing.</a:t>
            </a:r>
            <a:br>
              <a:rPr lang="en-US" sz="1800">
                <a:solidFill>
                  <a:schemeClr val="hlink"/>
                </a:solidFill>
                <a:latin typeface="Arial" pitchFamily="34" charset="0"/>
              </a:rPr>
            </a:br>
            <a:r>
              <a:rPr lang="en-US" sz="1800">
                <a:solidFill>
                  <a:schemeClr val="hlink"/>
                </a:solidFill>
                <a:latin typeface="Arial" pitchFamily="34" charset="0"/>
              </a:rPr>
              <a:t>On practical instances  </a:t>
            </a:r>
            <a:r>
              <a:rPr lang="en-US" sz="1800">
                <a:solidFill>
                  <a:schemeClr val="hlink"/>
                </a:solidFill>
                <a:latin typeface="Symbol" pitchFamily="18" charset="2"/>
              </a:rPr>
              <a:t>a</a:t>
            </a:r>
            <a:r>
              <a:rPr lang="en-US" sz="1800">
                <a:solidFill>
                  <a:schemeClr val="hlink"/>
                </a:solidFill>
                <a:latin typeface="Arial" pitchFamily="34" charset="0"/>
              </a:rPr>
              <a:t> &lt; 5   (but it eventually increases to </a:t>
            </a:r>
            <a:r>
              <a:rPr lang="en-US" sz="1800">
                <a:solidFill>
                  <a:schemeClr val="hlink"/>
                </a:solidFill>
                <a:latin typeface="Arial" pitchFamily="34" charset="0"/>
                <a:sym typeface="Symbol" pitchFamily="18" charset="2"/>
              </a:rPr>
              <a:t></a:t>
            </a:r>
            <a:r>
              <a:rPr lang="en-US" sz="1800">
                <a:solidFill>
                  <a:schemeClr val="hlink"/>
                </a:solidFill>
                <a:latin typeface="Arial" pitchFamily="34" charset="0"/>
              </a:rPr>
              <a:t>).</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82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66914"/>
                                        </p:tgtEl>
                                        <p:attrNameLst>
                                          <p:attrName>style.visibility</p:attrName>
                                        </p:attrNameLst>
                                      </p:cBhvr>
                                      <p:to>
                                        <p:strVal val="visible"/>
                                      </p:to>
                                    </p:set>
                                    <p:anim calcmode="lin" valueType="num">
                                      <p:cBhvr>
                                        <p:cTn id="7" dur="500" fill="hold"/>
                                        <p:tgtEl>
                                          <p:spTgt spid="166914"/>
                                        </p:tgtEl>
                                        <p:attrNameLst>
                                          <p:attrName>ppt_w</p:attrName>
                                        </p:attrNameLst>
                                      </p:cBhvr>
                                      <p:tavLst>
                                        <p:tav tm="0">
                                          <p:val>
                                            <p:fltVal val="0"/>
                                          </p:val>
                                        </p:tav>
                                        <p:tav tm="100000">
                                          <p:val>
                                            <p:strVal val="#ppt_w"/>
                                          </p:val>
                                        </p:tav>
                                      </p:tavLst>
                                    </p:anim>
                                    <p:anim calcmode="lin" valueType="num">
                                      <p:cBhvr>
                                        <p:cTn id="8" dur="500" fill="hold"/>
                                        <p:tgtEl>
                                          <p:spTgt spid="166914"/>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66915"/>
                                        </p:tgtEl>
                                        <p:attrNameLst>
                                          <p:attrName>style.visibility</p:attrName>
                                        </p:attrNameLst>
                                      </p:cBhvr>
                                      <p:to>
                                        <p:strVal val="visible"/>
                                      </p:to>
                                    </p:set>
                                    <p:animEffect transition="in" filter="wipe(up)">
                                      <p:cBhvr>
                                        <p:cTn id="12" dur="500"/>
                                        <p:tgtEl>
                                          <p:spTgt spid="166915"/>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66916"/>
                                        </p:tgtEl>
                                        <p:attrNameLst>
                                          <p:attrName>style.visibility</p:attrName>
                                        </p:attrNameLst>
                                      </p:cBhvr>
                                      <p:to>
                                        <p:strVal val="visible"/>
                                      </p:to>
                                    </p:set>
                                    <p:animEffect transition="in" filter="wipe(up)">
                                      <p:cBhvr>
                                        <p:cTn id="16" dur="500"/>
                                        <p:tgtEl>
                                          <p:spTgt spid="1669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66971">
                                            <p:txEl>
                                              <p:pRg st="0" end="0"/>
                                            </p:txEl>
                                          </p:spTgt>
                                        </p:tgtEl>
                                        <p:attrNameLst>
                                          <p:attrName>style.visibility</p:attrName>
                                        </p:attrNameLst>
                                      </p:cBhvr>
                                      <p:to>
                                        <p:strVal val="visible"/>
                                      </p:to>
                                    </p:set>
                                    <p:animEffect transition="in" filter="wipe(left)">
                                      <p:cBhvr>
                                        <p:cTn id="21" dur="500"/>
                                        <p:tgtEl>
                                          <p:spTgt spid="166971">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6971">
                                            <p:txEl>
                                              <p:pRg st="1" end="1"/>
                                            </p:txEl>
                                          </p:spTgt>
                                        </p:tgtEl>
                                        <p:attrNameLst>
                                          <p:attrName>style.visibility</p:attrName>
                                        </p:attrNameLst>
                                      </p:cBhvr>
                                      <p:to>
                                        <p:strVal val="visible"/>
                                      </p:to>
                                    </p:set>
                                    <p:animEffect transition="in" filter="wipe(left)">
                                      <p:cBhvr>
                                        <p:cTn id="26" dur="500"/>
                                        <p:tgtEl>
                                          <p:spTgt spid="166971">
                                            <p:txEl>
                                              <p:pRg st="1" end="1"/>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6971">
                                            <p:txEl>
                                              <p:pRg st="2" end="2"/>
                                            </p:txEl>
                                          </p:spTgt>
                                        </p:tgtEl>
                                        <p:attrNameLst>
                                          <p:attrName>style.visibility</p:attrName>
                                        </p:attrNameLst>
                                      </p:cBhvr>
                                      <p:to>
                                        <p:strVal val="visible"/>
                                      </p:to>
                                    </p:set>
                                    <p:animEffect transition="in" filter="wipe(left)">
                                      <p:cBhvr>
                                        <p:cTn id="31" dur="500"/>
                                        <p:tgtEl>
                                          <p:spTgt spid="166971">
                                            <p:txEl>
                                              <p:pRg st="2" end="2"/>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6971">
                                            <p:txEl>
                                              <p:pRg st="3" end="3"/>
                                            </p:txEl>
                                          </p:spTgt>
                                        </p:tgtEl>
                                        <p:attrNameLst>
                                          <p:attrName>style.visibility</p:attrName>
                                        </p:attrNameLst>
                                      </p:cBhvr>
                                      <p:to>
                                        <p:strVal val="visible"/>
                                      </p:to>
                                    </p:set>
                                    <p:animEffect transition="in" filter="wipe(left)">
                                      <p:cBhvr>
                                        <p:cTn id="36" dur="500"/>
                                        <p:tgtEl>
                                          <p:spTgt spid="166971">
                                            <p:txEl>
                                              <p:pRg st="3" end="3"/>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66971">
                                            <p:txEl>
                                              <p:pRg st="4" end="4"/>
                                            </p:txEl>
                                          </p:spTgt>
                                        </p:tgtEl>
                                        <p:attrNameLst>
                                          <p:attrName>style.visibility</p:attrName>
                                        </p:attrNameLst>
                                      </p:cBhvr>
                                      <p:to>
                                        <p:strVal val="visible"/>
                                      </p:to>
                                    </p:set>
                                    <p:animEffect transition="in" filter="wipe(left)">
                                      <p:cBhvr>
                                        <p:cTn id="41" dur="500"/>
                                        <p:tgtEl>
                                          <p:spTgt spid="166971">
                                            <p:txEl>
                                              <p:pRg st="4" end="4"/>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66971">
                                            <p:txEl>
                                              <p:pRg st="5" end="5"/>
                                            </p:txEl>
                                          </p:spTgt>
                                        </p:tgtEl>
                                        <p:attrNameLst>
                                          <p:attrName>style.visibility</p:attrName>
                                        </p:attrNameLst>
                                      </p:cBhvr>
                                      <p:to>
                                        <p:strVal val="visible"/>
                                      </p:to>
                                    </p:set>
                                    <p:animEffect transition="in" filter="wipe(left)">
                                      <p:cBhvr>
                                        <p:cTn id="46" dur="500"/>
                                        <p:tgtEl>
                                          <p:spTgt spid="166971">
                                            <p:txEl>
                                              <p:pRg st="5" end="5"/>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66971">
                                            <p:txEl>
                                              <p:pRg st="6" end="6"/>
                                            </p:txEl>
                                          </p:spTgt>
                                        </p:tgtEl>
                                        <p:attrNameLst>
                                          <p:attrName>style.visibility</p:attrName>
                                        </p:attrNameLst>
                                      </p:cBhvr>
                                      <p:to>
                                        <p:strVal val="visible"/>
                                      </p:to>
                                    </p:set>
                                    <p:animEffect transition="in" filter="wipe(left)">
                                      <p:cBhvr>
                                        <p:cTn id="51" dur="500"/>
                                        <p:tgtEl>
                                          <p:spTgt spid="1669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animBg="1" autoUpdateAnimBg="0"/>
      <p:bldP spid="166915" grpId="0" autoUpdateAnimBg="0"/>
      <p:bldP spid="166971" grpId="0" build="p" bldLvl="2"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Text Box 3"/>
          <p:cNvSpPr txBox="1">
            <a:spLocks noChangeArrowheads="1"/>
          </p:cNvSpPr>
          <p:nvPr/>
        </p:nvSpPr>
        <p:spPr bwMode="auto">
          <a:xfrm>
            <a:off x="152400" y="228600"/>
            <a:ext cx="8839200" cy="5070475"/>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376238" indent="-376238" defTabSz="374650">
              <a:defRPr sz="1600">
                <a:solidFill>
                  <a:schemeClr val="tx1"/>
                </a:solidFill>
                <a:latin typeface="Times New Roman" pitchFamily="18" charset="0"/>
              </a:defRPr>
            </a:lvl1pPr>
            <a:lvl2pPr marL="742950" indent="-285750" defTabSz="374650">
              <a:defRPr sz="1600">
                <a:solidFill>
                  <a:schemeClr val="tx1"/>
                </a:solidFill>
                <a:latin typeface="Times New Roman" pitchFamily="18" charset="0"/>
              </a:defRPr>
            </a:lvl2pPr>
            <a:lvl3pPr marL="1143000" indent="-228600" defTabSz="374650">
              <a:defRPr sz="1600">
                <a:solidFill>
                  <a:schemeClr val="tx1"/>
                </a:solidFill>
                <a:latin typeface="Times New Roman" pitchFamily="18" charset="0"/>
              </a:defRPr>
            </a:lvl3pPr>
            <a:lvl4pPr marL="1600200" indent="-228600" defTabSz="374650">
              <a:defRPr sz="1600">
                <a:solidFill>
                  <a:schemeClr val="tx1"/>
                </a:solidFill>
                <a:latin typeface="Times New Roman" pitchFamily="18" charset="0"/>
              </a:defRPr>
            </a:lvl4pPr>
            <a:lvl5pPr marL="2057400" indent="-228600" defTabSz="374650">
              <a:defRPr sz="1600">
                <a:solidFill>
                  <a:schemeClr val="tx1"/>
                </a:solidFill>
                <a:latin typeface="Times New Roman" pitchFamily="18" charset="0"/>
              </a:defRPr>
            </a:lvl5pPr>
            <a:lvl6pPr marL="2514600" indent="-228600" defTabSz="374650" eaLnBrk="0" fontAlgn="base" hangingPunct="0">
              <a:spcBef>
                <a:spcPct val="0"/>
              </a:spcBef>
              <a:spcAft>
                <a:spcPct val="0"/>
              </a:spcAft>
              <a:buChar char="•"/>
              <a:defRPr sz="1600">
                <a:solidFill>
                  <a:schemeClr val="tx1"/>
                </a:solidFill>
                <a:latin typeface="Times New Roman" pitchFamily="18" charset="0"/>
              </a:defRPr>
            </a:lvl6pPr>
            <a:lvl7pPr marL="2971800" indent="-228600" defTabSz="374650" eaLnBrk="0" fontAlgn="base" hangingPunct="0">
              <a:spcBef>
                <a:spcPct val="0"/>
              </a:spcBef>
              <a:spcAft>
                <a:spcPct val="0"/>
              </a:spcAft>
              <a:buChar char="•"/>
              <a:defRPr sz="1600">
                <a:solidFill>
                  <a:schemeClr val="tx1"/>
                </a:solidFill>
                <a:latin typeface="Times New Roman" pitchFamily="18" charset="0"/>
              </a:defRPr>
            </a:lvl7pPr>
            <a:lvl8pPr marL="3429000" indent="-228600" defTabSz="374650" eaLnBrk="0" fontAlgn="base" hangingPunct="0">
              <a:spcBef>
                <a:spcPct val="0"/>
              </a:spcBef>
              <a:spcAft>
                <a:spcPct val="0"/>
              </a:spcAft>
              <a:buChar char="•"/>
              <a:defRPr sz="1600">
                <a:solidFill>
                  <a:schemeClr val="tx1"/>
                </a:solidFill>
                <a:latin typeface="Times New Roman" pitchFamily="18" charset="0"/>
              </a:defRPr>
            </a:lvl8pPr>
            <a:lvl9pPr marL="3886200" indent="-228600" defTabSz="37465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2000" b="1" dirty="0"/>
              <a:t>Algorithm</a:t>
            </a:r>
            <a:r>
              <a:rPr lang="en-US" sz="2000" dirty="0">
                <a:solidFill>
                  <a:schemeClr val="hlink"/>
                </a:solidFill>
              </a:rPr>
              <a:t>  </a:t>
            </a:r>
            <a:r>
              <a:rPr lang="en-US" sz="2000" b="1" dirty="0" err="1">
                <a:solidFill>
                  <a:schemeClr val="hlink"/>
                </a:solidFill>
              </a:rPr>
              <a:t>KruskalMST</a:t>
            </a:r>
            <a:r>
              <a:rPr lang="en-US" sz="2000" dirty="0">
                <a:solidFill>
                  <a:schemeClr val="hlink"/>
                </a:solidFill>
              </a:rPr>
              <a:t>( </a:t>
            </a:r>
            <a:r>
              <a:rPr lang="en-US" sz="2000" dirty="0">
                <a:solidFill>
                  <a:schemeClr val="hlink"/>
                </a:solidFill>
                <a:sym typeface="Symbol" pitchFamily="18" charset="2"/>
              </a:rPr>
              <a:t>G </a:t>
            </a:r>
            <a:r>
              <a:rPr lang="en-US" sz="2000" dirty="0">
                <a:solidFill>
                  <a:schemeClr val="hlink"/>
                </a:solidFill>
              </a:rPr>
              <a:t>)</a:t>
            </a:r>
            <a:r>
              <a:rPr lang="en-US" sz="2000" dirty="0">
                <a:solidFill>
                  <a:schemeClr val="tx2"/>
                </a:solidFill>
              </a:rPr>
              <a:t> </a:t>
            </a:r>
          </a:p>
          <a:p>
            <a:pPr eaLnBrk="1" hangingPunct="1">
              <a:buFontTx/>
              <a:buAutoNum type="arabicPeriod"/>
            </a:pPr>
            <a:r>
              <a:rPr lang="en-US" sz="2000" dirty="0">
                <a:solidFill>
                  <a:srgbClr val="CC0000"/>
                </a:solidFill>
              </a:rPr>
              <a:t> </a:t>
            </a:r>
            <a:r>
              <a:rPr lang="en-US" sz="2000" b="1" dirty="0"/>
              <a:t>for</a:t>
            </a:r>
            <a:r>
              <a:rPr lang="en-US" sz="2000" dirty="0">
                <a:solidFill>
                  <a:schemeClr val="hlink"/>
                </a:solidFill>
              </a:rPr>
              <a:t>  each vertex </a:t>
            </a:r>
            <a:r>
              <a:rPr lang="en-US" sz="2000" dirty="0">
                <a:solidFill>
                  <a:schemeClr val="hlink"/>
                </a:solidFill>
                <a:sym typeface="Symbol" pitchFamily="18" charset="2"/>
              </a:rPr>
              <a:t>v  V(G)  </a:t>
            </a:r>
            <a:r>
              <a:rPr lang="en-US" sz="2000" b="1" dirty="0"/>
              <a:t>do  </a:t>
            </a:r>
            <a:r>
              <a:rPr lang="en-US" sz="2000" dirty="0" err="1">
                <a:solidFill>
                  <a:schemeClr val="hlink"/>
                </a:solidFill>
              </a:rPr>
              <a:t>MakeSet</a:t>
            </a:r>
            <a:r>
              <a:rPr lang="en-US" sz="2000" dirty="0">
                <a:solidFill>
                  <a:schemeClr val="hlink"/>
                </a:solidFill>
              </a:rPr>
              <a:t>(v)  			</a:t>
            </a:r>
            <a:r>
              <a:rPr lang="en-US" sz="2000" dirty="0">
                <a:solidFill>
                  <a:srgbClr val="CC0000"/>
                </a:solidFill>
                <a:cs typeface="Arial" pitchFamily="34" charset="0"/>
              </a:rPr>
              <a:t>§ </a:t>
            </a:r>
            <a:r>
              <a:rPr lang="en-US" sz="2000" dirty="0">
                <a:solidFill>
                  <a:srgbClr val="CC0000"/>
                </a:solidFill>
              </a:rPr>
              <a:t>initialize blue forest </a:t>
            </a:r>
            <a:endParaRPr lang="en-US" sz="2000" dirty="0">
              <a:solidFill>
                <a:srgbClr val="CC0000"/>
              </a:solidFill>
              <a:cs typeface="Arial" pitchFamily="34" charset="0"/>
            </a:endParaRPr>
          </a:p>
          <a:p>
            <a:pPr eaLnBrk="1" hangingPunct="1">
              <a:buFontTx/>
              <a:buAutoNum type="arabicPeriod"/>
            </a:pPr>
            <a:r>
              <a:rPr lang="en-US" sz="2000" dirty="0">
                <a:solidFill>
                  <a:srgbClr val="CC0000"/>
                </a:solidFill>
                <a:cs typeface="Arial" pitchFamily="34" charset="0"/>
              </a:rPr>
              <a:t> </a:t>
            </a:r>
            <a:r>
              <a:rPr lang="en-US" sz="2000" b="1" dirty="0">
                <a:solidFill>
                  <a:schemeClr val="hlink"/>
                </a:solidFill>
                <a:sym typeface="Symbol" pitchFamily="18" charset="2"/>
              </a:rPr>
              <a:t>SORT</a:t>
            </a:r>
            <a:r>
              <a:rPr lang="en-US" sz="2000" dirty="0">
                <a:solidFill>
                  <a:schemeClr val="hlink"/>
                </a:solidFill>
                <a:sym typeface="Symbol" pitchFamily="18" charset="2"/>
              </a:rPr>
              <a:t> edges E(G) in non-decreasing order of weight 	</a:t>
            </a:r>
            <a:r>
              <a:rPr lang="en-US" sz="2000" dirty="0">
                <a:solidFill>
                  <a:srgbClr val="CC0000"/>
                </a:solidFill>
                <a:cs typeface="Arial" pitchFamily="34" charset="0"/>
              </a:rPr>
              <a:t>§ </a:t>
            </a:r>
            <a:r>
              <a:rPr lang="en-US" sz="2000" dirty="0">
                <a:solidFill>
                  <a:srgbClr val="CC0000"/>
                </a:solidFill>
              </a:rPr>
              <a:t>all edges white </a:t>
            </a: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T   													</a:t>
            </a:r>
            <a:r>
              <a:rPr lang="en-US" sz="2000" dirty="0">
                <a:solidFill>
                  <a:srgbClr val="CC0000"/>
                </a:solidFill>
                <a:cs typeface="Arial" pitchFamily="34" charset="0"/>
              </a:rPr>
              <a:t>§ MST </a:t>
            </a:r>
            <a:r>
              <a:rPr lang="en-US" sz="2000" dirty="0">
                <a:solidFill>
                  <a:srgbClr val="CC0000"/>
                </a:solidFill>
              </a:rPr>
              <a:t>blue edges </a:t>
            </a:r>
            <a:r>
              <a:rPr lang="en-US" sz="2000" dirty="0">
                <a:solidFill>
                  <a:schemeClr val="hlink"/>
                </a:solidFill>
                <a:sym typeface="Symbol" pitchFamily="18" charset="2"/>
              </a:rPr>
              <a:t> </a:t>
            </a:r>
            <a:br>
              <a:rPr lang="en-US" sz="2000" dirty="0">
                <a:solidFill>
                  <a:schemeClr val="hlink"/>
                </a:solidFill>
                <a:sym typeface="Symbol" pitchFamily="18" charset="2"/>
              </a:rPr>
            </a:br>
            <a:endParaRPr lang="en-US" sz="2000" dirty="0">
              <a:solidFill>
                <a:srgbClr val="CC0000"/>
              </a:solidFill>
              <a:sym typeface="Symbol" pitchFamily="18" charset="2"/>
            </a:endParaRPr>
          </a:p>
          <a:p>
            <a:pPr eaLnBrk="1" hangingPunct="1">
              <a:buFontTx/>
              <a:buAutoNum type="arabicPeriod"/>
            </a:pPr>
            <a:r>
              <a:rPr lang="en-US" sz="2000" dirty="0">
                <a:solidFill>
                  <a:srgbClr val="CC0000"/>
                </a:solidFill>
              </a:rPr>
              <a:t> </a:t>
            </a:r>
            <a:r>
              <a:rPr lang="en-US" sz="2000" b="1" dirty="0"/>
              <a:t>for</a:t>
            </a:r>
            <a:r>
              <a:rPr lang="en-US" sz="2000" dirty="0">
                <a:solidFill>
                  <a:schemeClr val="hlink"/>
                </a:solidFill>
              </a:rPr>
              <a:t> </a:t>
            </a:r>
            <a:r>
              <a:rPr lang="en-US" sz="2000" dirty="0">
                <a:solidFill>
                  <a:schemeClr val="hlink"/>
                </a:solidFill>
                <a:sym typeface="Symbol" pitchFamily="18" charset="2"/>
              </a:rPr>
              <a:t>each edge (</a:t>
            </a:r>
            <a:r>
              <a:rPr lang="en-US" sz="2000" dirty="0" err="1">
                <a:solidFill>
                  <a:schemeClr val="hlink"/>
                </a:solidFill>
                <a:sym typeface="Symbol" pitchFamily="18" charset="2"/>
              </a:rPr>
              <a:t>u,v</a:t>
            </a:r>
            <a:r>
              <a:rPr lang="en-US" sz="2000" dirty="0">
                <a:solidFill>
                  <a:schemeClr val="hlink"/>
                </a:solidFill>
                <a:sym typeface="Symbol" pitchFamily="18" charset="2"/>
              </a:rPr>
              <a:t>)  E(G), in sorted order </a:t>
            </a:r>
            <a:r>
              <a:rPr lang="en-US" sz="2000" b="1" dirty="0"/>
              <a:t>do</a:t>
            </a:r>
            <a:r>
              <a:rPr lang="en-US" sz="2000" dirty="0">
                <a:solidFill>
                  <a:srgbClr val="CC0000"/>
                </a:solidFill>
                <a:cs typeface="Arial" pitchFamily="34" charset="0"/>
              </a:rPr>
              <a:t> 		      § </a:t>
            </a:r>
            <a:r>
              <a:rPr lang="en-US" sz="2000" dirty="0">
                <a:solidFill>
                  <a:srgbClr val="CC0000"/>
                </a:solidFill>
              </a:rPr>
              <a:t>min weight white edge </a:t>
            </a: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A  </a:t>
            </a:r>
            <a:r>
              <a:rPr lang="en-US" sz="2000" dirty="0" err="1">
                <a:solidFill>
                  <a:schemeClr val="hlink"/>
                </a:solidFill>
                <a:sym typeface="Symbol" pitchFamily="18" charset="2"/>
              </a:rPr>
              <a:t>FindSet</a:t>
            </a:r>
            <a:r>
              <a:rPr lang="en-US" sz="2000" dirty="0">
                <a:solidFill>
                  <a:schemeClr val="hlink"/>
                </a:solidFill>
                <a:sym typeface="Symbol" pitchFamily="18" charset="2"/>
              </a:rPr>
              <a:t>(u)</a:t>
            </a:r>
            <a:r>
              <a:rPr lang="en-US" sz="2000" dirty="0">
                <a:solidFill>
                  <a:schemeClr val="hlink"/>
                </a:solidFill>
              </a:rPr>
              <a:t> 				</a:t>
            </a:r>
            <a:r>
              <a:rPr lang="en-US" sz="2000" dirty="0">
                <a:solidFill>
                  <a:srgbClr val="CC0000"/>
                </a:solidFill>
                <a:cs typeface="Arial" pitchFamily="34" charset="0"/>
              </a:rPr>
              <a:t>§ </a:t>
            </a:r>
            <a:r>
              <a:rPr lang="en-US" sz="2000" dirty="0">
                <a:solidFill>
                  <a:srgbClr val="CC0000"/>
                </a:solidFill>
              </a:rPr>
              <a:t>find blue components that contain u &amp; v </a:t>
            </a:r>
            <a:r>
              <a:rPr lang="en-US" sz="2000" dirty="0">
                <a:solidFill>
                  <a:schemeClr val="hlink"/>
                </a:solidFill>
              </a:rPr>
              <a:t> </a:t>
            </a:r>
            <a:br>
              <a:rPr lang="en-US" sz="2000" dirty="0">
                <a:solidFill>
                  <a:schemeClr val="hlink"/>
                </a:solidFill>
              </a:rPr>
            </a:br>
            <a:r>
              <a:rPr lang="en-US" sz="2000" dirty="0">
                <a:solidFill>
                  <a:schemeClr val="hlink"/>
                </a:solidFill>
              </a:rPr>
              <a:t>  	</a:t>
            </a:r>
            <a:r>
              <a:rPr lang="en-US" sz="2000" dirty="0">
                <a:solidFill>
                  <a:schemeClr val="hlink"/>
                </a:solidFill>
                <a:sym typeface="Symbol" pitchFamily="18" charset="2"/>
              </a:rPr>
              <a:t>B  </a:t>
            </a:r>
            <a:r>
              <a:rPr lang="en-US" sz="2000" dirty="0" err="1">
                <a:solidFill>
                  <a:schemeClr val="hlink"/>
                </a:solidFill>
                <a:sym typeface="Symbol" pitchFamily="18" charset="2"/>
              </a:rPr>
              <a:t>FindSet</a:t>
            </a:r>
            <a:r>
              <a:rPr lang="en-US" sz="2000" dirty="0">
                <a:solidFill>
                  <a:schemeClr val="hlink"/>
                </a:solidFill>
                <a:sym typeface="Symbol" pitchFamily="18" charset="2"/>
              </a:rPr>
              <a:t>(v)</a:t>
            </a:r>
            <a:r>
              <a:rPr lang="en-US" sz="2000" dirty="0">
                <a:solidFill>
                  <a:schemeClr val="hlink"/>
                </a:solidFill>
              </a:rPr>
              <a:t> </a:t>
            </a:r>
            <a:endParaRPr lang="en-US" sz="2000" dirty="0">
              <a:solidFill>
                <a:srgbClr val="CC0000"/>
              </a:solidFill>
              <a:cs typeface="Arial" pitchFamily="34" charset="0"/>
            </a:endParaRPr>
          </a:p>
          <a:p>
            <a:pPr eaLnBrk="1" hangingPunct="1">
              <a:buFontTx/>
              <a:buAutoNum type="arabicPeriod"/>
            </a:pPr>
            <a:r>
              <a:rPr lang="en-US" sz="2000" dirty="0">
                <a:solidFill>
                  <a:srgbClr val="CC0000"/>
                </a:solidFill>
              </a:rPr>
              <a:t>	</a:t>
            </a:r>
            <a:r>
              <a:rPr lang="en-US" sz="2000" b="1" dirty="0">
                <a:solidFill>
                  <a:schemeClr val="tx2"/>
                </a:solidFill>
              </a:rPr>
              <a:t>if</a:t>
            </a:r>
            <a:r>
              <a:rPr lang="en-US" sz="2000" dirty="0">
                <a:solidFill>
                  <a:schemeClr val="tx2"/>
                </a:solidFill>
              </a:rPr>
              <a:t>  </a:t>
            </a:r>
            <a:r>
              <a:rPr lang="en-US" sz="2000" dirty="0">
                <a:solidFill>
                  <a:schemeClr val="hlink"/>
                </a:solidFill>
              </a:rPr>
              <a:t>A </a:t>
            </a:r>
            <a:r>
              <a:rPr lang="en-US" sz="2000" dirty="0">
                <a:solidFill>
                  <a:schemeClr val="hlink"/>
                </a:solidFill>
                <a:sym typeface="Symbol" pitchFamily="18" charset="2"/>
              </a:rPr>
              <a:t> </a:t>
            </a:r>
            <a:r>
              <a:rPr lang="en-US" sz="2000" dirty="0">
                <a:solidFill>
                  <a:schemeClr val="hlink"/>
                </a:solidFill>
              </a:rPr>
              <a:t>B  </a:t>
            </a:r>
            <a:r>
              <a:rPr lang="en-US" sz="2000" b="1" dirty="0">
                <a:solidFill>
                  <a:schemeClr val="tx2"/>
                </a:solidFill>
              </a:rPr>
              <a:t>then do 			</a:t>
            </a:r>
            <a:r>
              <a:rPr lang="en-US" sz="2000" dirty="0">
                <a:solidFill>
                  <a:srgbClr val="CC0000"/>
                </a:solidFill>
                <a:cs typeface="Arial" pitchFamily="34" charset="0"/>
              </a:rPr>
              <a:t>§ </a:t>
            </a:r>
            <a:r>
              <a:rPr lang="en-US" sz="2000" dirty="0">
                <a:solidFill>
                  <a:srgbClr val="CC0000"/>
                </a:solidFill>
              </a:rPr>
              <a:t>if A = B, then color (</a:t>
            </a:r>
            <a:r>
              <a:rPr lang="en-US" sz="2000" dirty="0" err="1">
                <a:solidFill>
                  <a:srgbClr val="CC0000"/>
                </a:solidFill>
              </a:rPr>
              <a:t>u,v</a:t>
            </a:r>
            <a:r>
              <a:rPr lang="en-US" sz="2000" dirty="0">
                <a:solidFill>
                  <a:srgbClr val="CC0000"/>
                </a:solidFill>
              </a:rPr>
              <a:t>) red </a:t>
            </a:r>
            <a:endParaRPr lang="en-US" sz="2000" dirty="0">
              <a:solidFill>
                <a:schemeClr val="tx2"/>
              </a:solidFill>
            </a:endParaRP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T</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T  {(</a:t>
            </a:r>
            <a:r>
              <a:rPr lang="en-US" sz="2000" dirty="0" err="1">
                <a:solidFill>
                  <a:schemeClr val="hlink"/>
                </a:solidFill>
                <a:sym typeface="Symbol" pitchFamily="18" charset="2"/>
              </a:rPr>
              <a:t>u,v</a:t>
            </a:r>
            <a:r>
              <a:rPr lang="en-US" sz="2000" dirty="0">
                <a:solidFill>
                  <a:schemeClr val="hlink"/>
                </a:solidFill>
                <a:sym typeface="Symbol" pitchFamily="18" charset="2"/>
              </a:rPr>
              <a:t>)} 			</a:t>
            </a:r>
            <a:r>
              <a:rPr lang="en-US" sz="2000" dirty="0">
                <a:solidFill>
                  <a:srgbClr val="CC0000"/>
                </a:solidFill>
                <a:cs typeface="Arial" pitchFamily="34" charset="0"/>
              </a:rPr>
              <a:t>§ </a:t>
            </a:r>
            <a:r>
              <a:rPr lang="en-US" sz="2000" dirty="0">
                <a:solidFill>
                  <a:srgbClr val="CC0000"/>
                </a:solidFill>
              </a:rPr>
              <a:t>color (</a:t>
            </a:r>
            <a:r>
              <a:rPr lang="en-US" sz="2000" dirty="0" err="1">
                <a:solidFill>
                  <a:srgbClr val="CC0000"/>
                </a:solidFill>
              </a:rPr>
              <a:t>u,v</a:t>
            </a:r>
            <a:r>
              <a:rPr lang="en-US" sz="2000" dirty="0">
                <a:solidFill>
                  <a:srgbClr val="CC0000"/>
                </a:solidFill>
              </a:rPr>
              <a:t>) blue; it is short bridge of A (&amp; B)</a:t>
            </a:r>
            <a:r>
              <a:rPr lang="en-US" sz="2000" dirty="0">
                <a:solidFill>
                  <a:schemeClr val="hlink"/>
                </a:solidFill>
                <a:sym typeface="Symbol" pitchFamily="18" charset="2"/>
              </a:rPr>
              <a:t> </a:t>
            </a: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Union(A,B)</a:t>
            </a:r>
            <a:r>
              <a:rPr lang="en-US" sz="2000" dirty="0">
                <a:solidFill>
                  <a:schemeClr val="tx2"/>
                </a:solidFill>
              </a:rPr>
              <a:t> 	 			</a:t>
            </a:r>
            <a:r>
              <a:rPr lang="en-US" sz="2000" dirty="0">
                <a:solidFill>
                  <a:srgbClr val="CC0000"/>
                </a:solidFill>
                <a:cs typeface="Arial" pitchFamily="34" charset="0"/>
              </a:rPr>
              <a:t>§ unite components A &amp; B </a:t>
            </a:r>
          </a:p>
          <a:p>
            <a:pPr eaLnBrk="1" hangingPunct="1">
              <a:buFontTx/>
              <a:buAutoNum type="arabicPeriod"/>
            </a:pPr>
            <a:r>
              <a:rPr lang="en-US" sz="2000" dirty="0">
                <a:solidFill>
                  <a:srgbClr val="CC0000"/>
                </a:solidFill>
              </a:rPr>
              <a:t> 	</a:t>
            </a:r>
            <a:r>
              <a:rPr lang="en-US" sz="2000" b="1" dirty="0"/>
              <a:t>end-if  </a:t>
            </a:r>
          </a:p>
          <a:p>
            <a:pPr eaLnBrk="1" hangingPunct="1">
              <a:buFontTx/>
              <a:buAutoNum type="arabicPeriod"/>
            </a:pPr>
            <a:r>
              <a:rPr lang="en-US" sz="2000" dirty="0">
                <a:solidFill>
                  <a:srgbClr val="CC0000"/>
                </a:solidFill>
              </a:rPr>
              <a:t> </a:t>
            </a:r>
            <a:r>
              <a:rPr lang="en-US" sz="2000" b="1" dirty="0"/>
              <a:t>end-for</a:t>
            </a:r>
            <a:br>
              <a:rPr lang="en-US" sz="2000" b="1" dirty="0"/>
            </a:br>
            <a:r>
              <a:rPr lang="en-US" sz="2000" b="1" dirty="0"/>
              <a:t> </a:t>
            </a:r>
          </a:p>
          <a:p>
            <a:pPr eaLnBrk="1" hangingPunct="1">
              <a:buFontTx/>
              <a:buAutoNum type="arabicPeriod"/>
            </a:pPr>
            <a:r>
              <a:rPr lang="en-US" sz="2000" dirty="0">
                <a:solidFill>
                  <a:srgbClr val="CC0000"/>
                </a:solidFill>
              </a:rPr>
              <a:t> </a:t>
            </a:r>
            <a:r>
              <a:rPr lang="en-US" sz="2000" b="1" dirty="0"/>
              <a:t>return</a:t>
            </a:r>
            <a:r>
              <a:rPr lang="en-US" sz="2000" dirty="0">
                <a:solidFill>
                  <a:srgbClr val="CC0000"/>
                </a:solidFill>
              </a:rPr>
              <a:t> </a:t>
            </a:r>
            <a:r>
              <a:rPr lang="en-US" sz="2000" dirty="0">
                <a:solidFill>
                  <a:schemeClr val="hlink"/>
                </a:solidFill>
              </a:rPr>
              <a:t>T</a:t>
            </a:r>
            <a:r>
              <a:rPr lang="en-US" sz="1800" dirty="0">
                <a:solidFill>
                  <a:schemeClr val="hlink"/>
                </a:solidFill>
              </a:rPr>
              <a:t> 							</a:t>
            </a:r>
            <a:r>
              <a:rPr lang="en-US" sz="2000" dirty="0">
                <a:solidFill>
                  <a:srgbClr val="CC0000"/>
                </a:solidFill>
                <a:cs typeface="Arial" pitchFamily="34" charset="0"/>
              </a:rPr>
              <a:t>§ </a:t>
            </a:r>
            <a:r>
              <a:rPr lang="en-US" sz="2000" dirty="0">
                <a:solidFill>
                  <a:srgbClr val="CC0000"/>
                </a:solidFill>
              </a:rPr>
              <a:t>The MST blue edges </a:t>
            </a:r>
            <a:endParaRPr lang="en-US" sz="2000" b="1" dirty="0"/>
          </a:p>
          <a:p>
            <a:pPr eaLnBrk="1" hangingPunct="1">
              <a:buFontTx/>
              <a:buNone/>
            </a:pPr>
            <a:r>
              <a:rPr lang="en-US" sz="2000" b="1" dirty="0"/>
              <a:t>end</a:t>
            </a:r>
            <a:r>
              <a:rPr lang="en-US" sz="2000" dirty="0">
                <a:solidFill>
                  <a:schemeClr val="hlink"/>
                </a:solidFill>
              </a:rPr>
              <a:t> </a:t>
            </a:r>
          </a:p>
        </p:txBody>
      </p:sp>
      <p:sp>
        <p:nvSpPr>
          <p:cNvPr id="167941" name="Text Box 5"/>
          <p:cNvSpPr txBox="1">
            <a:spLocks noChangeArrowheads="1"/>
          </p:cNvSpPr>
          <p:nvPr/>
        </p:nvSpPr>
        <p:spPr bwMode="auto">
          <a:xfrm>
            <a:off x="212725" y="5448300"/>
            <a:ext cx="8778875" cy="131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Tx/>
              <a:buNone/>
            </a:pPr>
            <a:r>
              <a:rPr lang="en-US" sz="1800">
                <a:solidFill>
                  <a:srgbClr val="CC0000"/>
                </a:solidFill>
              </a:rPr>
              <a:t>Step 2 Sort:</a:t>
            </a:r>
            <a:r>
              <a:rPr lang="en-US" sz="1800">
                <a:solidFill>
                  <a:schemeClr val="tx2"/>
                </a:solidFill>
              </a:rPr>
              <a:t>    O(E log E) = O(E log V</a:t>
            </a:r>
            <a:r>
              <a:rPr lang="en-US" sz="1800" baseline="30000">
                <a:solidFill>
                  <a:schemeClr val="tx2"/>
                </a:solidFill>
              </a:rPr>
              <a:t>2</a:t>
            </a:r>
            <a:r>
              <a:rPr lang="en-US" sz="1800">
                <a:solidFill>
                  <a:schemeClr val="tx2"/>
                </a:solidFill>
              </a:rPr>
              <a:t>) = O(E log V) time.</a:t>
            </a:r>
          </a:p>
          <a:p>
            <a:pPr eaLnBrk="1" hangingPunct="1">
              <a:lnSpc>
                <a:spcPct val="115000"/>
              </a:lnSpc>
              <a:spcBef>
                <a:spcPct val="50000"/>
              </a:spcBef>
              <a:buFontTx/>
              <a:buNone/>
            </a:pPr>
            <a:r>
              <a:rPr lang="en-US" sz="1800">
                <a:solidFill>
                  <a:srgbClr val="CC0000"/>
                </a:solidFill>
              </a:rPr>
              <a:t>Disjoint Set Union operations:</a:t>
            </a:r>
            <a:r>
              <a:rPr lang="en-US" sz="1800">
                <a:solidFill>
                  <a:schemeClr val="tx2"/>
                </a:solidFill>
              </a:rPr>
              <a:t>   V MakeSets,  2E  FindSets,  V–1 Unions:  O(E</a:t>
            </a:r>
            <a:r>
              <a:rPr lang="en-US" sz="1800">
                <a:solidFill>
                  <a:schemeClr val="tx2"/>
                </a:solidFill>
                <a:latin typeface="Symbol" pitchFamily="18" charset="2"/>
              </a:rPr>
              <a:t>a</a:t>
            </a:r>
            <a:r>
              <a:rPr lang="en-US" sz="1800">
                <a:solidFill>
                  <a:schemeClr val="tx2"/>
                </a:solidFill>
              </a:rPr>
              <a:t>(E,V)) time.</a:t>
            </a:r>
          </a:p>
          <a:p>
            <a:pPr eaLnBrk="1" hangingPunct="1">
              <a:lnSpc>
                <a:spcPct val="115000"/>
              </a:lnSpc>
              <a:spcBef>
                <a:spcPct val="50000"/>
              </a:spcBef>
              <a:buFontTx/>
              <a:buNone/>
            </a:pPr>
            <a:r>
              <a:rPr lang="en-US" sz="1800">
                <a:solidFill>
                  <a:srgbClr val="CC0000"/>
                </a:solidFill>
              </a:rPr>
              <a:t>Total Time</a:t>
            </a:r>
            <a:r>
              <a:rPr lang="en-US" sz="1800">
                <a:solidFill>
                  <a:schemeClr val="tx2"/>
                </a:solidFill>
              </a:rPr>
              <a:t>  =  O(E log V).</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83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39">
                                            <p:bg/>
                                          </p:spTgt>
                                        </p:tgtEl>
                                        <p:attrNameLst>
                                          <p:attrName>style.visibility</p:attrName>
                                        </p:attrNameLst>
                                      </p:cBhvr>
                                      <p:to>
                                        <p:strVal val="visible"/>
                                      </p:to>
                                    </p:set>
                                    <p:animEffect transition="in" filter="wipe(left)">
                                      <p:cBhvr>
                                        <p:cTn id="7" dur="1000"/>
                                        <p:tgtEl>
                                          <p:spTgt spid="167939">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7939">
                                            <p:txEl>
                                              <p:pRg st="0" end="0"/>
                                            </p:txEl>
                                          </p:spTgt>
                                        </p:tgtEl>
                                        <p:attrNameLst>
                                          <p:attrName>style.visibility</p:attrName>
                                        </p:attrNameLst>
                                      </p:cBhvr>
                                      <p:to>
                                        <p:strVal val="visible"/>
                                      </p:to>
                                    </p:set>
                                    <p:animEffect transition="in" filter="wipe(left)">
                                      <p:cBhvr>
                                        <p:cTn id="12" dur="1000"/>
                                        <p:tgtEl>
                                          <p:spTgt spid="16793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7939">
                                            <p:txEl>
                                              <p:pRg st="1" end="1"/>
                                            </p:txEl>
                                          </p:spTgt>
                                        </p:tgtEl>
                                        <p:attrNameLst>
                                          <p:attrName>style.visibility</p:attrName>
                                        </p:attrNameLst>
                                      </p:cBhvr>
                                      <p:to>
                                        <p:strVal val="visible"/>
                                      </p:to>
                                    </p:set>
                                    <p:animEffect transition="in" filter="wipe(left)">
                                      <p:cBhvr>
                                        <p:cTn id="17" dur="1000"/>
                                        <p:tgtEl>
                                          <p:spTgt spid="16793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7939">
                                            <p:txEl>
                                              <p:pRg st="2" end="2"/>
                                            </p:txEl>
                                          </p:spTgt>
                                        </p:tgtEl>
                                        <p:attrNameLst>
                                          <p:attrName>style.visibility</p:attrName>
                                        </p:attrNameLst>
                                      </p:cBhvr>
                                      <p:to>
                                        <p:strVal val="visible"/>
                                      </p:to>
                                    </p:set>
                                    <p:animEffect transition="in" filter="wipe(left)">
                                      <p:cBhvr>
                                        <p:cTn id="22" dur="1000"/>
                                        <p:tgtEl>
                                          <p:spTgt spid="16793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7939">
                                            <p:txEl>
                                              <p:pRg st="3" end="3"/>
                                            </p:txEl>
                                          </p:spTgt>
                                        </p:tgtEl>
                                        <p:attrNameLst>
                                          <p:attrName>style.visibility</p:attrName>
                                        </p:attrNameLst>
                                      </p:cBhvr>
                                      <p:to>
                                        <p:strVal val="visible"/>
                                      </p:to>
                                    </p:set>
                                    <p:animEffect transition="in" filter="wipe(left)">
                                      <p:cBhvr>
                                        <p:cTn id="27" dur="1000"/>
                                        <p:tgtEl>
                                          <p:spTgt spid="167939">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7939">
                                            <p:txEl>
                                              <p:pRg st="4" end="4"/>
                                            </p:txEl>
                                          </p:spTgt>
                                        </p:tgtEl>
                                        <p:attrNameLst>
                                          <p:attrName>style.visibility</p:attrName>
                                        </p:attrNameLst>
                                      </p:cBhvr>
                                      <p:to>
                                        <p:strVal val="visible"/>
                                      </p:to>
                                    </p:set>
                                    <p:animEffect transition="in" filter="wipe(left)">
                                      <p:cBhvr>
                                        <p:cTn id="32" dur="1000"/>
                                        <p:tgtEl>
                                          <p:spTgt spid="167939">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7939">
                                            <p:txEl>
                                              <p:pRg st="5" end="5"/>
                                            </p:txEl>
                                          </p:spTgt>
                                        </p:tgtEl>
                                        <p:attrNameLst>
                                          <p:attrName>style.visibility</p:attrName>
                                        </p:attrNameLst>
                                      </p:cBhvr>
                                      <p:to>
                                        <p:strVal val="visible"/>
                                      </p:to>
                                    </p:set>
                                    <p:animEffect transition="in" filter="wipe(left)">
                                      <p:cBhvr>
                                        <p:cTn id="37" dur="1000"/>
                                        <p:tgtEl>
                                          <p:spTgt spid="167939">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7939">
                                            <p:txEl>
                                              <p:pRg st="6" end="6"/>
                                            </p:txEl>
                                          </p:spTgt>
                                        </p:tgtEl>
                                        <p:attrNameLst>
                                          <p:attrName>style.visibility</p:attrName>
                                        </p:attrNameLst>
                                      </p:cBhvr>
                                      <p:to>
                                        <p:strVal val="visible"/>
                                      </p:to>
                                    </p:set>
                                    <p:animEffect transition="in" filter="wipe(left)">
                                      <p:cBhvr>
                                        <p:cTn id="42" dur="1000"/>
                                        <p:tgtEl>
                                          <p:spTgt spid="167939">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7939">
                                            <p:txEl>
                                              <p:pRg st="7" end="7"/>
                                            </p:txEl>
                                          </p:spTgt>
                                        </p:tgtEl>
                                        <p:attrNameLst>
                                          <p:attrName>style.visibility</p:attrName>
                                        </p:attrNameLst>
                                      </p:cBhvr>
                                      <p:to>
                                        <p:strVal val="visible"/>
                                      </p:to>
                                    </p:set>
                                    <p:animEffect transition="in" filter="wipe(left)">
                                      <p:cBhvr>
                                        <p:cTn id="47" dur="1000"/>
                                        <p:tgtEl>
                                          <p:spTgt spid="167939">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7939">
                                            <p:txEl>
                                              <p:pRg st="8" end="8"/>
                                            </p:txEl>
                                          </p:spTgt>
                                        </p:tgtEl>
                                        <p:attrNameLst>
                                          <p:attrName>style.visibility</p:attrName>
                                        </p:attrNameLst>
                                      </p:cBhvr>
                                      <p:to>
                                        <p:strVal val="visible"/>
                                      </p:to>
                                    </p:set>
                                    <p:animEffect transition="in" filter="wipe(left)">
                                      <p:cBhvr>
                                        <p:cTn id="52" dur="1000"/>
                                        <p:tgtEl>
                                          <p:spTgt spid="167939">
                                            <p:txEl>
                                              <p:pRg st="8" end="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7939">
                                            <p:txEl>
                                              <p:pRg st="9" end="9"/>
                                            </p:txEl>
                                          </p:spTgt>
                                        </p:tgtEl>
                                        <p:attrNameLst>
                                          <p:attrName>style.visibility</p:attrName>
                                        </p:attrNameLst>
                                      </p:cBhvr>
                                      <p:to>
                                        <p:strVal val="visible"/>
                                      </p:to>
                                    </p:set>
                                    <p:animEffect transition="in" filter="wipe(left)">
                                      <p:cBhvr>
                                        <p:cTn id="57" dur="1000"/>
                                        <p:tgtEl>
                                          <p:spTgt spid="167939">
                                            <p:txEl>
                                              <p:pRg st="9" end="9"/>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67939">
                                            <p:txEl>
                                              <p:pRg st="10" end="10"/>
                                            </p:txEl>
                                          </p:spTgt>
                                        </p:tgtEl>
                                        <p:attrNameLst>
                                          <p:attrName>style.visibility</p:attrName>
                                        </p:attrNameLst>
                                      </p:cBhvr>
                                      <p:to>
                                        <p:strVal val="visible"/>
                                      </p:to>
                                    </p:set>
                                    <p:animEffect transition="in" filter="wipe(left)">
                                      <p:cBhvr>
                                        <p:cTn id="62" dur="1000"/>
                                        <p:tgtEl>
                                          <p:spTgt spid="167939">
                                            <p:txEl>
                                              <p:pRg st="10" end="1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67939">
                                            <p:txEl>
                                              <p:pRg st="11" end="11"/>
                                            </p:txEl>
                                          </p:spTgt>
                                        </p:tgtEl>
                                        <p:attrNameLst>
                                          <p:attrName>style.visibility</p:attrName>
                                        </p:attrNameLst>
                                      </p:cBhvr>
                                      <p:to>
                                        <p:strVal val="visible"/>
                                      </p:to>
                                    </p:set>
                                    <p:animEffect transition="in" filter="wipe(left)">
                                      <p:cBhvr>
                                        <p:cTn id="67" dur="1000"/>
                                        <p:tgtEl>
                                          <p:spTgt spid="167939">
                                            <p:txEl>
                                              <p:pRg st="11" end="11"/>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67939">
                                            <p:txEl>
                                              <p:pRg st="12" end="12"/>
                                            </p:txEl>
                                          </p:spTgt>
                                        </p:tgtEl>
                                        <p:attrNameLst>
                                          <p:attrName>style.visibility</p:attrName>
                                        </p:attrNameLst>
                                      </p:cBhvr>
                                      <p:to>
                                        <p:strVal val="visible"/>
                                      </p:to>
                                    </p:set>
                                    <p:animEffect transition="in" filter="wipe(left)">
                                      <p:cBhvr>
                                        <p:cTn id="72" dur="1000"/>
                                        <p:tgtEl>
                                          <p:spTgt spid="167939">
                                            <p:txEl>
                                              <p:pRg st="12" end="12"/>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67941">
                                            <p:txEl>
                                              <p:pRg st="0" end="0"/>
                                            </p:txEl>
                                          </p:spTgt>
                                        </p:tgtEl>
                                        <p:attrNameLst>
                                          <p:attrName>style.visibility</p:attrName>
                                        </p:attrNameLst>
                                      </p:cBhvr>
                                      <p:to>
                                        <p:strVal val="visible"/>
                                      </p:to>
                                    </p:set>
                                    <p:animEffect transition="in" filter="wipe(left)">
                                      <p:cBhvr>
                                        <p:cTn id="77" dur="500"/>
                                        <p:tgtEl>
                                          <p:spTgt spid="167941">
                                            <p:txEl>
                                              <p:pRg st="0" end="0"/>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67941">
                                            <p:txEl>
                                              <p:pRg st="1" end="1"/>
                                            </p:txEl>
                                          </p:spTgt>
                                        </p:tgtEl>
                                        <p:attrNameLst>
                                          <p:attrName>style.visibility</p:attrName>
                                        </p:attrNameLst>
                                      </p:cBhvr>
                                      <p:to>
                                        <p:strVal val="visible"/>
                                      </p:to>
                                    </p:set>
                                    <p:animEffect transition="in" filter="wipe(left)">
                                      <p:cBhvr>
                                        <p:cTn id="82" dur="500"/>
                                        <p:tgtEl>
                                          <p:spTgt spid="167941">
                                            <p:txEl>
                                              <p:pRg st="1" end="1"/>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67941">
                                            <p:txEl>
                                              <p:pRg st="2" end="2"/>
                                            </p:txEl>
                                          </p:spTgt>
                                        </p:tgtEl>
                                        <p:attrNameLst>
                                          <p:attrName>style.visibility</p:attrName>
                                        </p:attrNameLst>
                                      </p:cBhvr>
                                      <p:to>
                                        <p:strVal val="visible"/>
                                      </p:to>
                                    </p:set>
                                    <p:animEffect transition="in" filter="wipe(left)">
                                      <p:cBhvr>
                                        <p:cTn id="87" dur="500"/>
                                        <p:tgtEl>
                                          <p:spTgt spid="16794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animBg="1" autoUpdateAnimBg="0"/>
      <p:bldP spid="167941"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1014" name="Rectangle 6"/>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Example</a:t>
            </a:r>
          </a:p>
        </p:txBody>
      </p:sp>
      <p:grpSp>
        <p:nvGrpSpPr>
          <p:cNvPr id="171123" name="Group 115"/>
          <p:cNvGrpSpPr>
            <a:grpSpLocks/>
          </p:cNvGrpSpPr>
          <p:nvPr/>
        </p:nvGrpSpPr>
        <p:grpSpPr bwMode="auto">
          <a:xfrm>
            <a:off x="1808163" y="1435100"/>
            <a:ext cx="5251450" cy="4511675"/>
            <a:chOff x="1139" y="904"/>
            <a:chExt cx="3308" cy="2842"/>
          </a:xfrm>
        </p:grpSpPr>
        <p:sp>
          <p:nvSpPr>
            <p:cNvPr id="87073" name="Line 10"/>
            <p:cNvSpPr>
              <a:spLocks noChangeShapeType="1"/>
            </p:cNvSpPr>
            <p:nvPr/>
          </p:nvSpPr>
          <p:spPr bwMode="auto">
            <a:xfrm flipH="1">
              <a:off x="1360" y="1152"/>
              <a:ext cx="1424"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74" name="Line 11"/>
            <p:cNvSpPr>
              <a:spLocks noChangeShapeType="1"/>
            </p:cNvSpPr>
            <p:nvPr/>
          </p:nvSpPr>
          <p:spPr bwMode="auto">
            <a:xfrm flipH="1">
              <a:off x="2784" y="1152"/>
              <a:ext cx="1424"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75" name="Line 13"/>
            <p:cNvSpPr>
              <a:spLocks noChangeShapeType="1"/>
            </p:cNvSpPr>
            <p:nvPr/>
          </p:nvSpPr>
          <p:spPr bwMode="auto">
            <a:xfrm>
              <a:off x="1360" y="2343"/>
              <a:ext cx="1424"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76" name="Line 14"/>
            <p:cNvSpPr>
              <a:spLocks noChangeShapeType="1"/>
            </p:cNvSpPr>
            <p:nvPr/>
          </p:nvSpPr>
          <p:spPr bwMode="auto">
            <a:xfrm>
              <a:off x="2784" y="2343"/>
              <a:ext cx="1424"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77" name="Line 16"/>
            <p:cNvSpPr>
              <a:spLocks noChangeShapeType="1"/>
            </p:cNvSpPr>
            <p:nvPr/>
          </p:nvSpPr>
          <p:spPr bwMode="auto">
            <a:xfrm>
              <a:off x="1360" y="1152"/>
              <a:ext cx="0"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78" name="Line 17"/>
            <p:cNvSpPr>
              <a:spLocks noChangeShapeType="1"/>
            </p:cNvSpPr>
            <p:nvPr/>
          </p:nvSpPr>
          <p:spPr bwMode="auto">
            <a:xfrm>
              <a:off x="1360" y="2343"/>
              <a:ext cx="0"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79" name="Line 18"/>
            <p:cNvSpPr>
              <a:spLocks noChangeShapeType="1"/>
            </p:cNvSpPr>
            <p:nvPr/>
          </p:nvSpPr>
          <p:spPr bwMode="auto">
            <a:xfrm>
              <a:off x="2784" y="1152"/>
              <a:ext cx="0"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80" name="Line 19"/>
            <p:cNvSpPr>
              <a:spLocks noChangeShapeType="1"/>
            </p:cNvSpPr>
            <p:nvPr/>
          </p:nvSpPr>
          <p:spPr bwMode="auto">
            <a:xfrm>
              <a:off x="2784" y="2343"/>
              <a:ext cx="0"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81" name="Line 20"/>
            <p:cNvSpPr>
              <a:spLocks noChangeShapeType="1"/>
            </p:cNvSpPr>
            <p:nvPr/>
          </p:nvSpPr>
          <p:spPr bwMode="auto">
            <a:xfrm>
              <a:off x="4208" y="1152"/>
              <a:ext cx="0"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82" name="Line 21"/>
            <p:cNvSpPr>
              <a:spLocks noChangeShapeType="1"/>
            </p:cNvSpPr>
            <p:nvPr/>
          </p:nvSpPr>
          <p:spPr bwMode="auto">
            <a:xfrm>
              <a:off x="4208" y="2343"/>
              <a:ext cx="0"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83" name="Line 25"/>
            <p:cNvSpPr>
              <a:spLocks noChangeShapeType="1"/>
            </p:cNvSpPr>
            <p:nvPr/>
          </p:nvSpPr>
          <p:spPr bwMode="auto">
            <a:xfrm>
              <a:off x="2784" y="1152"/>
              <a:ext cx="14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84" name="Line 26"/>
            <p:cNvSpPr>
              <a:spLocks noChangeShapeType="1"/>
            </p:cNvSpPr>
            <p:nvPr/>
          </p:nvSpPr>
          <p:spPr bwMode="auto">
            <a:xfrm>
              <a:off x="1360" y="1152"/>
              <a:ext cx="1424" cy="0"/>
            </a:xfrm>
            <a:prstGeom prst="line">
              <a:avLst/>
            </a:prstGeom>
            <a:noFill/>
            <a:ln w="127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85" name="Oval 27"/>
            <p:cNvSpPr>
              <a:spLocks noChangeArrowheads="1"/>
            </p:cNvSpPr>
            <p:nvPr/>
          </p:nvSpPr>
          <p:spPr bwMode="auto">
            <a:xfrm>
              <a:off x="1187" y="1003"/>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a</a:t>
              </a:r>
            </a:p>
          </p:txBody>
        </p:sp>
        <p:sp>
          <p:nvSpPr>
            <p:cNvPr id="87086" name="Line 29"/>
            <p:cNvSpPr>
              <a:spLocks noChangeShapeType="1"/>
            </p:cNvSpPr>
            <p:nvPr/>
          </p:nvSpPr>
          <p:spPr bwMode="auto">
            <a:xfrm>
              <a:off x="2784" y="2343"/>
              <a:ext cx="14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87" name="Line 30"/>
            <p:cNvSpPr>
              <a:spLocks noChangeShapeType="1"/>
            </p:cNvSpPr>
            <p:nvPr/>
          </p:nvSpPr>
          <p:spPr bwMode="auto">
            <a:xfrm>
              <a:off x="1360" y="2343"/>
              <a:ext cx="14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88" name="Line 32"/>
            <p:cNvSpPr>
              <a:spLocks noChangeShapeType="1"/>
            </p:cNvSpPr>
            <p:nvPr/>
          </p:nvSpPr>
          <p:spPr bwMode="auto">
            <a:xfrm>
              <a:off x="2784" y="3534"/>
              <a:ext cx="14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89" name="Line 33"/>
            <p:cNvSpPr>
              <a:spLocks noChangeShapeType="1"/>
            </p:cNvSpPr>
            <p:nvPr/>
          </p:nvSpPr>
          <p:spPr bwMode="auto">
            <a:xfrm>
              <a:off x="1360" y="3534"/>
              <a:ext cx="14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7090" name="Text Box 34"/>
            <p:cNvSpPr txBox="1">
              <a:spLocks noChangeArrowheads="1"/>
            </p:cNvSpPr>
            <p:nvPr/>
          </p:nvSpPr>
          <p:spPr bwMode="auto">
            <a:xfrm>
              <a:off x="1995" y="90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2</a:t>
              </a:r>
            </a:p>
          </p:txBody>
        </p:sp>
        <p:sp>
          <p:nvSpPr>
            <p:cNvPr id="87091" name="Text Box 35"/>
            <p:cNvSpPr txBox="1">
              <a:spLocks noChangeArrowheads="1"/>
            </p:cNvSpPr>
            <p:nvPr/>
          </p:nvSpPr>
          <p:spPr bwMode="auto">
            <a:xfrm>
              <a:off x="3387" y="90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3</a:t>
              </a:r>
            </a:p>
          </p:txBody>
        </p:sp>
        <p:sp>
          <p:nvSpPr>
            <p:cNvPr id="87092" name="Text Box 37"/>
            <p:cNvSpPr txBox="1">
              <a:spLocks noChangeArrowheads="1"/>
            </p:cNvSpPr>
            <p:nvPr/>
          </p:nvSpPr>
          <p:spPr bwMode="auto">
            <a:xfrm>
              <a:off x="1179" y="162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5</a:t>
              </a:r>
            </a:p>
          </p:txBody>
        </p:sp>
        <p:sp>
          <p:nvSpPr>
            <p:cNvPr id="87093" name="Text Box 38"/>
            <p:cNvSpPr txBox="1">
              <a:spLocks noChangeArrowheads="1"/>
            </p:cNvSpPr>
            <p:nvPr/>
          </p:nvSpPr>
          <p:spPr bwMode="auto">
            <a:xfrm>
              <a:off x="1899" y="1528"/>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4</a:t>
              </a:r>
            </a:p>
          </p:txBody>
        </p:sp>
        <p:sp>
          <p:nvSpPr>
            <p:cNvPr id="87094" name="Text Box 39"/>
            <p:cNvSpPr txBox="1">
              <a:spLocks noChangeArrowheads="1"/>
            </p:cNvSpPr>
            <p:nvPr/>
          </p:nvSpPr>
          <p:spPr bwMode="auto">
            <a:xfrm>
              <a:off x="2619" y="162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3</a:t>
              </a:r>
            </a:p>
          </p:txBody>
        </p:sp>
        <p:sp>
          <p:nvSpPr>
            <p:cNvPr id="87095" name="Text Box 40"/>
            <p:cNvSpPr txBox="1">
              <a:spLocks noChangeArrowheads="1"/>
            </p:cNvSpPr>
            <p:nvPr/>
          </p:nvSpPr>
          <p:spPr bwMode="auto">
            <a:xfrm>
              <a:off x="3491" y="1462"/>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8</a:t>
              </a:r>
            </a:p>
          </p:txBody>
        </p:sp>
        <p:sp>
          <p:nvSpPr>
            <p:cNvPr id="87096" name="Text Box 41"/>
            <p:cNvSpPr txBox="1">
              <a:spLocks noChangeArrowheads="1"/>
            </p:cNvSpPr>
            <p:nvPr/>
          </p:nvSpPr>
          <p:spPr bwMode="auto">
            <a:xfrm>
              <a:off x="4251" y="162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6</a:t>
              </a:r>
            </a:p>
          </p:txBody>
        </p:sp>
        <p:sp>
          <p:nvSpPr>
            <p:cNvPr id="87097" name="Text Box 44"/>
            <p:cNvSpPr txBox="1">
              <a:spLocks noChangeArrowheads="1"/>
            </p:cNvSpPr>
            <p:nvPr/>
          </p:nvSpPr>
          <p:spPr bwMode="auto">
            <a:xfrm>
              <a:off x="1179" y="282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8</a:t>
              </a:r>
            </a:p>
          </p:txBody>
        </p:sp>
        <p:sp>
          <p:nvSpPr>
            <p:cNvPr id="87098" name="Text Box 45"/>
            <p:cNvSpPr txBox="1">
              <a:spLocks noChangeArrowheads="1"/>
            </p:cNvSpPr>
            <p:nvPr/>
          </p:nvSpPr>
          <p:spPr bwMode="auto">
            <a:xfrm>
              <a:off x="1858" y="286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4</a:t>
              </a:r>
            </a:p>
          </p:txBody>
        </p:sp>
        <p:sp>
          <p:nvSpPr>
            <p:cNvPr id="87099" name="Text Box 46"/>
            <p:cNvSpPr txBox="1">
              <a:spLocks noChangeArrowheads="1"/>
            </p:cNvSpPr>
            <p:nvPr/>
          </p:nvSpPr>
          <p:spPr bwMode="auto">
            <a:xfrm>
              <a:off x="2572" y="2680"/>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7</a:t>
              </a:r>
            </a:p>
          </p:txBody>
        </p:sp>
        <p:sp>
          <p:nvSpPr>
            <p:cNvPr id="87100" name="Text Box 47"/>
            <p:cNvSpPr txBox="1">
              <a:spLocks noChangeArrowheads="1"/>
            </p:cNvSpPr>
            <p:nvPr/>
          </p:nvSpPr>
          <p:spPr bwMode="auto">
            <a:xfrm>
              <a:off x="3282" y="286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5</a:t>
              </a:r>
            </a:p>
          </p:txBody>
        </p:sp>
        <p:sp>
          <p:nvSpPr>
            <p:cNvPr id="87101" name="Text Box 48"/>
            <p:cNvSpPr txBox="1">
              <a:spLocks noChangeArrowheads="1"/>
            </p:cNvSpPr>
            <p:nvPr/>
          </p:nvSpPr>
          <p:spPr bwMode="auto">
            <a:xfrm>
              <a:off x="4251" y="277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3</a:t>
              </a:r>
            </a:p>
          </p:txBody>
        </p:sp>
        <p:sp>
          <p:nvSpPr>
            <p:cNvPr id="87102" name="Text Box 51"/>
            <p:cNvSpPr txBox="1">
              <a:spLocks noChangeArrowheads="1"/>
            </p:cNvSpPr>
            <p:nvPr/>
          </p:nvSpPr>
          <p:spPr bwMode="auto">
            <a:xfrm>
              <a:off x="1899" y="349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9</a:t>
              </a:r>
            </a:p>
          </p:txBody>
        </p:sp>
        <p:sp>
          <p:nvSpPr>
            <p:cNvPr id="87103" name="Text Box 52"/>
            <p:cNvSpPr txBox="1">
              <a:spLocks noChangeArrowheads="1"/>
            </p:cNvSpPr>
            <p:nvPr/>
          </p:nvSpPr>
          <p:spPr bwMode="auto">
            <a:xfrm>
              <a:off x="3339" y="349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8</a:t>
              </a:r>
            </a:p>
          </p:txBody>
        </p:sp>
        <p:sp>
          <p:nvSpPr>
            <p:cNvPr id="87104" name="Text Box 54"/>
            <p:cNvSpPr txBox="1">
              <a:spLocks noChangeArrowheads="1"/>
            </p:cNvSpPr>
            <p:nvPr/>
          </p:nvSpPr>
          <p:spPr bwMode="auto">
            <a:xfrm>
              <a:off x="2062" y="231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6</a:t>
              </a:r>
            </a:p>
          </p:txBody>
        </p:sp>
        <p:sp>
          <p:nvSpPr>
            <p:cNvPr id="87105" name="Text Box 55"/>
            <p:cNvSpPr txBox="1">
              <a:spLocks noChangeArrowheads="1"/>
            </p:cNvSpPr>
            <p:nvPr/>
          </p:nvSpPr>
          <p:spPr bwMode="auto">
            <a:xfrm>
              <a:off x="3492" y="231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2</a:t>
              </a:r>
            </a:p>
          </p:txBody>
        </p:sp>
        <p:sp>
          <p:nvSpPr>
            <p:cNvPr id="87106" name="Oval 98"/>
            <p:cNvSpPr>
              <a:spLocks noChangeArrowheads="1"/>
            </p:cNvSpPr>
            <p:nvPr/>
          </p:nvSpPr>
          <p:spPr bwMode="auto">
            <a:xfrm>
              <a:off x="2628" y="1003"/>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b</a:t>
              </a:r>
            </a:p>
          </p:txBody>
        </p:sp>
        <p:sp>
          <p:nvSpPr>
            <p:cNvPr id="87107" name="Oval 99"/>
            <p:cNvSpPr>
              <a:spLocks noChangeArrowheads="1"/>
            </p:cNvSpPr>
            <p:nvPr/>
          </p:nvSpPr>
          <p:spPr bwMode="auto">
            <a:xfrm>
              <a:off x="4068" y="1003"/>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c</a:t>
              </a:r>
            </a:p>
          </p:txBody>
        </p:sp>
        <p:sp>
          <p:nvSpPr>
            <p:cNvPr id="87108" name="Oval 100"/>
            <p:cNvSpPr>
              <a:spLocks noChangeArrowheads="1"/>
            </p:cNvSpPr>
            <p:nvPr/>
          </p:nvSpPr>
          <p:spPr bwMode="auto">
            <a:xfrm>
              <a:off x="1187" y="2155"/>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d</a:t>
              </a:r>
            </a:p>
          </p:txBody>
        </p:sp>
        <p:sp>
          <p:nvSpPr>
            <p:cNvPr id="87109" name="Oval 101"/>
            <p:cNvSpPr>
              <a:spLocks noChangeArrowheads="1"/>
            </p:cNvSpPr>
            <p:nvPr/>
          </p:nvSpPr>
          <p:spPr bwMode="auto">
            <a:xfrm>
              <a:off x="2628" y="2155"/>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e</a:t>
              </a:r>
            </a:p>
          </p:txBody>
        </p:sp>
        <p:sp>
          <p:nvSpPr>
            <p:cNvPr id="87110" name="Oval 102"/>
            <p:cNvSpPr>
              <a:spLocks noChangeArrowheads="1"/>
            </p:cNvSpPr>
            <p:nvPr/>
          </p:nvSpPr>
          <p:spPr bwMode="auto">
            <a:xfrm>
              <a:off x="4068" y="2155"/>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f</a:t>
              </a:r>
            </a:p>
          </p:txBody>
        </p:sp>
        <p:sp>
          <p:nvSpPr>
            <p:cNvPr id="87111" name="Oval 103"/>
            <p:cNvSpPr>
              <a:spLocks noChangeArrowheads="1"/>
            </p:cNvSpPr>
            <p:nvPr/>
          </p:nvSpPr>
          <p:spPr bwMode="auto">
            <a:xfrm>
              <a:off x="1139" y="3355"/>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g</a:t>
              </a:r>
            </a:p>
          </p:txBody>
        </p:sp>
        <p:sp>
          <p:nvSpPr>
            <p:cNvPr id="87112" name="Oval 104"/>
            <p:cNvSpPr>
              <a:spLocks noChangeArrowheads="1"/>
            </p:cNvSpPr>
            <p:nvPr/>
          </p:nvSpPr>
          <p:spPr bwMode="auto">
            <a:xfrm>
              <a:off x="2628" y="3355"/>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h</a:t>
              </a:r>
            </a:p>
          </p:txBody>
        </p:sp>
        <p:sp>
          <p:nvSpPr>
            <p:cNvPr id="87113" name="Oval 105"/>
            <p:cNvSpPr>
              <a:spLocks noChangeArrowheads="1"/>
            </p:cNvSpPr>
            <p:nvPr/>
          </p:nvSpPr>
          <p:spPr bwMode="auto">
            <a:xfrm>
              <a:off x="4068" y="3355"/>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i</a:t>
              </a:r>
            </a:p>
          </p:txBody>
        </p:sp>
      </p:grpSp>
      <p:sp>
        <p:nvSpPr>
          <p:cNvPr id="171124" name="Line 116"/>
          <p:cNvSpPr>
            <a:spLocks noChangeShapeType="1"/>
          </p:cNvSpPr>
          <p:nvPr/>
        </p:nvSpPr>
        <p:spPr bwMode="auto">
          <a:xfrm flipH="1">
            <a:off x="2159000" y="1828800"/>
            <a:ext cx="2260600" cy="1890713"/>
          </a:xfrm>
          <a:prstGeom prst="line">
            <a:avLst/>
          </a:prstGeom>
          <a:no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171125" name="Line 117"/>
          <p:cNvSpPr>
            <a:spLocks noChangeShapeType="1"/>
          </p:cNvSpPr>
          <p:nvPr/>
        </p:nvSpPr>
        <p:spPr bwMode="auto">
          <a:xfrm flipH="1">
            <a:off x="4419600" y="1828800"/>
            <a:ext cx="2260600" cy="1890713"/>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71126" name="Line 118"/>
          <p:cNvSpPr>
            <a:spLocks noChangeShapeType="1"/>
          </p:cNvSpPr>
          <p:nvPr/>
        </p:nvSpPr>
        <p:spPr bwMode="auto">
          <a:xfrm>
            <a:off x="2159000" y="3719513"/>
            <a:ext cx="2260600" cy="1890712"/>
          </a:xfrm>
          <a:prstGeom prst="line">
            <a:avLst/>
          </a:prstGeom>
          <a:no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171127" name="Line 119"/>
          <p:cNvSpPr>
            <a:spLocks noChangeShapeType="1"/>
          </p:cNvSpPr>
          <p:nvPr/>
        </p:nvSpPr>
        <p:spPr bwMode="auto">
          <a:xfrm>
            <a:off x="4419600" y="3719513"/>
            <a:ext cx="2260600" cy="1890712"/>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71128" name="Line 120"/>
          <p:cNvSpPr>
            <a:spLocks noChangeShapeType="1"/>
          </p:cNvSpPr>
          <p:nvPr/>
        </p:nvSpPr>
        <p:spPr bwMode="auto">
          <a:xfrm>
            <a:off x="2159000" y="1828800"/>
            <a:ext cx="0" cy="1890713"/>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71129" name="Line 121"/>
          <p:cNvSpPr>
            <a:spLocks noChangeShapeType="1"/>
          </p:cNvSpPr>
          <p:nvPr/>
        </p:nvSpPr>
        <p:spPr bwMode="auto">
          <a:xfrm>
            <a:off x="2159000" y="3719513"/>
            <a:ext cx="0" cy="1890712"/>
          </a:xfrm>
          <a:prstGeom prst="line">
            <a:avLst/>
          </a:prstGeom>
          <a:no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171130" name="Line 122"/>
          <p:cNvSpPr>
            <a:spLocks noChangeShapeType="1"/>
          </p:cNvSpPr>
          <p:nvPr/>
        </p:nvSpPr>
        <p:spPr bwMode="auto">
          <a:xfrm>
            <a:off x="4419600" y="1828800"/>
            <a:ext cx="0" cy="1890713"/>
          </a:xfrm>
          <a:prstGeom prst="line">
            <a:avLst/>
          </a:prstGeom>
          <a:no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171131" name="Line 123"/>
          <p:cNvSpPr>
            <a:spLocks noChangeShapeType="1"/>
          </p:cNvSpPr>
          <p:nvPr/>
        </p:nvSpPr>
        <p:spPr bwMode="auto">
          <a:xfrm>
            <a:off x="4419600" y="3719513"/>
            <a:ext cx="0" cy="1890712"/>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71132" name="Line 124"/>
          <p:cNvSpPr>
            <a:spLocks noChangeShapeType="1"/>
          </p:cNvSpPr>
          <p:nvPr/>
        </p:nvSpPr>
        <p:spPr bwMode="auto">
          <a:xfrm>
            <a:off x="6680200" y="1828800"/>
            <a:ext cx="0" cy="1890713"/>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71133" name="Line 125"/>
          <p:cNvSpPr>
            <a:spLocks noChangeShapeType="1"/>
          </p:cNvSpPr>
          <p:nvPr/>
        </p:nvSpPr>
        <p:spPr bwMode="auto">
          <a:xfrm>
            <a:off x="6680200" y="3719513"/>
            <a:ext cx="0" cy="1890712"/>
          </a:xfrm>
          <a:prstGeom prst="line">
            <a:avLst/>
          </a:prstGeom>
          <a:no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171134" name="Line 126"/>
          <p:cNvSpPr>
            <a:spLocks noChangeShapeType="1"/>
          </p:cNvSpPr>
          <p:nvPr/>
        </p:nvSpPr>
        <p:spPr bwMode="auto">
          <a:xfrm>
            <a:off x="4419600" y="1828800"/>
            <a:ext cx="2260600" cy="0"/>
          </a:xfrm>
          <a:prstGeom prst="line">
            <a:avLst/>
          </a:prstGeom>
          <a:no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171135" name="Line 127"/>
          <p:cNvSpPr>
            <a:spLocks noChangeShapeType="1"/>
          </p:cNvSpPr>
          <p:nvPr/>
        </p:nvSpPr>
        <p:spPr bwMode="auto">
          <a:xfrm>
            <a:off x="2159000" y="1828800"/>
            <a:ext cx="2260600" cy="0"/>
          </a:xfrm>
          <a:prstGeom prst="line">
            <a:avLst/>
          </a:prstGeom>
          <a:no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171136" name="Line 128"/>
          <p:cNvSpPr>
            <a:spLocks noChangeShapeType="1"/>
          </p:cNvSpPr>
          <p:nvPr/>
        </p:nvSpPr>
        <p:spPr bwMode="auto">
          <a:xfrm>
            <a:off x="4419600" y="3719513"/>
            <a:ext cx="2260600" cy="0"/>
          </a:xfrm>
          <a:prstGeom prst="line">
            <a:avLst/>
          </a:prstGeom>
          <a:no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a:spAutoFit/>
          </a:bodyPr>
          <a:lstStyle/>
          <a:p>
            <a:endParaRPr lang="en-CA"/>
          </a:p>
        </p:txBody>
      </p:sp>
      <p:sp>
        <p:nvSpPr>
          <p:cNvPr id="171137" name="Line 129"/>
          <p:cNvSpPr>
            <a:spLocks noChangeShapeType="1"/>
          </p:cNvSpPr>
          <p:nvPr/>
        </p:nvSpPr>
        <p:spPr bwMode="auto">
          <a:xfrm>
            <a:off x="2159000" y="3719513"/>
            <a:ext cx="2260600" cy="0"/>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71138" name="Line 130"/>
          <p:cNvSpPr>
            <a:spLocks noChangeShapeType="1"/>
          </p:cNvSpPr>
          <p:nvPr/>
        </p:nvSpPr>
        <p:spPr bwMode="auto">
          <a:xfrm>
            <a:off x="4419600" y="5610225"/>
            <a:ext cx="2260600" cy="0"/>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71139" name="Line 131"/>
          <p:cNvSpPr>
            <a:spLocks noChangeShapeType="1"/>
          </p:cNvSpPr>
          <p:nvPr/>
        </p:nvSpPr>
        <p:spPr bwMode="auto">
          <a:xfrm>
            <a:off x="2159000" y="5610225"/>
            <a:ext cx="2260600" cy="0"/>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grpSp>
        <p:nvGrpSpPr>
          <p:cNvPr id="171140" name="Group 132"/>
          <p:cNvGrpSpPr>
            <a:grpSpLocks/>
          </p:cNvGrpSpPr>
          <p:nvPr/>
        </p:nvGrpSpPr>
        <p:grpSpPr bwMode="auto">
          <a:xfrm>
            <a:off x="1808163" y="1592263"/>
            <a:ext cx="5181600" cy="4270375"/>
            <a:chOff x="1139" y="1003"/>
            <a:chExt cx="3264" cy="2690"/>
          </a:xfrm>
        </p:grpSpPr>
        <p:sp>
          <p:nvSpPr>
            <p:cNvPr id="87064" name="Oval 133"/>
            <p:cNvSpPr>
              <a:spLocks noChangeArrowheads="1"/>
            </p:cNvSpPr>
            <p:nvPr/>
          </p:nvSpPr>
          <p:spPr bwMode="auto">
            <a:xfrm>
              <a:off x="1187" y="1003"/>
              <a:ext cx="335" cy="338"/>
            </a:xfrm>
            <a:prstGeom prst="ellipse">
              <a:avLst/>
            </a:prstGeom>
            <a:solidFill>
              <a:schemeClr val="hlink"/>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sz="2000">
                  <a:solidFill>
                    <a:schemeClr val="bg1"/>
                  </a:solidFill>
                </a:rPr>
                <a:t>a</a:t>
              </a:r>
            </a:p>
          </p:txBody>
        </p:sp>
        <p:sp>
          <p:nvSpPr>
            <p:cNvPr id="87065" name="Oval 134"/>
            <p:cNvSpPr>
              <a:spLocks noChangeArrowheads="1"/>
            </p:cNvSpPr>
            <p:nvPr/>
          </p:nvSpPr>
          <p:spPr bwMode="auto">
            <a:xfrm>
              <a:off x="2628" y="1003"/>
              <a:ext cx="335" cy="338"/>
            </a:xfrm>
            <a:prstGeom prst="ellipse">
              <a:avLst/>
            </a:prstGeom>
            <a:solidFill>
              <a:schemeClr val="hlink"/>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sz="2000">
                  <a:solidFill>
                    <a:schemeClr val="bg1"/>
                  </a:solidFill>
                </a:rPr>
                <a:t>b</a:t>
              </a:r>
            </a:p>
          </p:txBody>
        </p:sp>
        <p:sp>
          <p:nvSpPr>
            <p:cNvPr id="87066" name="Oval 135"/>
            <p:cNvSpPr>
              <a:spLocks noChangeArrowheads="1"/>
            </p:cNvSpPr>
            <p:nvPr/>
          </p:nvSpPr>
          <p:spPr bwMode="auto">
            <a:xfrm>
              <a:off x="4068" y="1003"/>
              <a:ext cx="335" cy="338"/>
            </a:xfrm>
            <a:prstGeom prst="ellipse">
              <a:avLst/>
            </a:prstGeom>
            <a:solidFill>
              <a:schemeClr val="hlink"/>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sz="2000">
                  <a:solidFill>
                    <a:schemeClr val="bg1"/>
                  </a:solidFill>
                </a:rPr>
                <a:t>c</a:t>
              </a:r>
            </a:p>
          </p:txBody>
        </p:sp>
        <p:sp>
          <p:nvSpPr>
            <p:cNvPr id="87067" name="Oval 136"/>
            <p:cNvSpPr>
              <a:spLocks noChangeArrowheads="1"/>
            </p:cNvSpPr>
            <p:nvPr/>
          </p:nvSpPr>
          <p:spPr bwMode="auto">
            <a:xfrm>
              <a:off x="1187" y="2155"/>
              <a:ext cx="335" cy="338"/>
            </a:xfrm>
            <a:prstGeom prst="ellipse">
              <a:avLst/>
            </a:prstGeom>
            <a:solidFill>
              <a:schemeClr val="hlink"/>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sz="2000">
                  <a:solidFill>
                    <a:schemeClr val="bg1"/>
                  </a:solidFill>
                </a:rPr>
                <a:t>d</a:t>
              </a:r>
            </a:p>
          </p:txBody>
        </p:sp>
        <p:sp>
          <p:nvSpPr>
            <p:cNvPr id="87068" name="Oval 137"/>
            <p:cNvSpPr>
              <a:spLocks noChangeArrowheads="1"/>
            </p:cNvSpPr>
            <p:nvPr/>
          </p:nvSpPr>
          <p:spPr bwMode="auto">
            <a:xfrm>
              <a:off x="2628" y="2155"/>
              <a:ext cx="335" cy="338"/>
            </a:xfrm>
            <a:prstGeom prst="ellipse">
              <a:avLst/>
            </a:prstGeom>
            <a:solidFill>
              <a:schemeClr val="hlink"/>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sz="2000" dirty="0">
                  <a:solidFill>
                    <a:schemeClr val="bg1"/>
                  </a:solidFill>
                </a:rPr>
                <a:t>e</a:t>
              </a:r>
            </a:p>
          </p:txBody>
        </p:sp>
        <p:sp>
          <p:nvSpPr>
            <p:cNvPr id="87069" name="Oval 138"/>
            <p:cNvSpPr>
              <a:spLocks noChangeArrowheads="1"/>
            </p:cNvSpPr>
            <p:nvPr/>
          </p:nvSpPr>
          <p:spPr bwMode="auto">
            <a:xfrm>
              <a:off x="4068" y="2155"/>
              <a:ext cx="335" cy="338"/>
            </a:xfrm>
            <a:prstGeom prst="ellipse">
              <a:avLst/>
            </a:prstGeom>
            <a:solidFill>
              <a:schemeClr val="hlink"/>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sz="2000">
                  <a:solidFill>
                    <a:schemeClr val="bg1"/>
                  </a:solidFill>
                </a:rPr>
                <a:t>f</a:t>
              </a:r>
            </a:p>
          </p:txBody>
        </p:sp>
        <p:sp>
          <p:nvSpPr>
            <p:cNvPr id="87070" name="Oval 139"/>
            <p:cNvSpPr>
              <a:spLocks noChangeArrowheads="1"/>
            </p:cNvSpPr>
            <p:nvPr/>
          </p:nvSpPr>
          <p:spPr bwMode="auto">
            <a:xfrm>
              <a:off x="1139" y="3355"/>
              <a:ext cx="335" cy="338"/>
            </a:xfrm>
            <a:prstGeom prst="ellipse">
              <a:avLst/>
            </a:prstGeom>
            <a:solidFill>
              <a:schemeClr val="hlink"/>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sz="2000">
                  <a:solidFill>
                    <a:schemeClr val="bg1"/>
                  </a:solidFill>
                </a:rPr>
                <a:t>g</a:t>
              </a:r>
            </a:p>
          </p:txBody>
        </p:sp>
        <p:sp>
          <p:nvSpPr>
            <p:cNvPr id="87071" name="Oval 140"/>
            <p:cNvSpPr>
              <a:spLocks noChangeArrowheads="1"/>
            </p:cNvSpPr>
            <p:nvPr/>
          </p:nvSpPr>
          <p:spPr bwMode="auto">
            <a:xfrm>
              <a:off x="2628" y="3355"/>
              <a:ext cx="335" cy="338"/>
            </a:xfrm>
            <a:prstGeom prst="ellipse">
              <a:avLst/>
            </a:prstGeom>
            <a:solidFill>
              <a:schemeClr val="hlink"/>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sz="2000">
                  <a:solidFill>
                    <a:schemeClr val="bg1"/>
                  </a:solidFill>
                </a:rPr>
                <a:t>h</a:t>
              </a:r>
            </a:p>
          </p:txBody>
        </p:sp>
        <p:sp>
          <p:nvSpPr>
            <p:cNvPr id="87072" name="Oval 141"/>
            <p:cNvSpPr>
              <a:spLocks noChangeArrowheads="1"/>
            </p:cNvSpPr>
            <p:nvPr/>
          </p:nvSpPr>
          <p:spPr bwMode="auto">
            <a:xfrm>
              <a:off x="4068" y="3355"/>
              <a:ext cx="335" cy="338"/>
            </a:xfrm>
            <a:prstGeom prst="ellipse">
              <a:avLst/>
            </a:prstGeom>
            <a:solidFill>
              <a:schemeClr val="hlink"/>
            </a:solidFill>
            <a:ln w="1270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sz="2000">
                  <a:solidFill>
                    <a:schemeClr val="bg1"/>
                  </a:solidFill>
                </a:rPr>
                <a:t>i</a:t>
              </a:r>
            </a:p>
          </p:txBody>
        </p:sp>
      </p:grpSp>
      <p:grpSp>
        <p:nvGrpSpPr>
          <p:cNvPr id="171152" name="Group 144"/>
          <p:cNvGrpSpPr>
            <a:grpSpLocks/>
          </p:cNvGrpSpPr>
          <p:nvPr/>
        </p:nvGrpSpPr>
        <p:grpSpPr bwMode="auto">
          <a:xfrm>
            <a:off x="230188" y="762000"/>
            <a:ext cx="1152524" cy="5848350"/>
            <a:chOff x="145" y="480"/>
            <a:chExt cx="726" cy="3684"/>
          </a:xfrm>
        </p:grpSpPr>
        <p:sp>
          <p:nvSpPr>
            <p:cNvPr id="87062" name="Text Box 142"/>
            <p:cNvSpPr txBox="1">
              <a:spLocks noChangeArrowheads="1"/>
            </p:cNvSpPr>
            <p:nvPr/>
          </p:nvSpPr>
          <p:spPr bwMode="auto">
            <a:xfrm>
              <a:off x="432" y="480"/>
              <a:ext cx="439" cy="3684"/>
            </a:xfrm>
            <a:prstGeom prst="rect">
              <a:avLst/>
            </a:prstGeom>
            <a:solidFill>
              <a:srgbClr val="FFFFFF"/>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70000"/>
                </a:lnSpc>
                <a:spcBef>
                  <a:spcPct val="50000"/>
                </a:spcBef>
                <a:buFontTx/>
                <a:buNone/>
              </a:pPr>
              <a:r>
                <a:rPr lang="en-US" sz="2000" dirty="0">
                  <a:solidFill>
                    <a:schemeClr val="tx2"/>
                  </a:solidFill>
                </a:rPr>
                <a:t>2 </a:t>
              </a:r>
              <a:r>
                <a:rPr lang="en-US" sz="2000" dirty="0" smtClean="0">
                  <a:solidFill>
                    <a:schemeClr val="tx2"/>
                  </a:solidFill>
                </a:rPr>
                <a:t> </a:t>
              </a:r>
              <a:r>
                <a:rPr lang="en-US" sz="2000" dirty="0" err="1" smtClean="0">
                  <a:solidFill>
                    <a:schemeClr val="tx2"/>
                  </a:solidFill>
                </a:rPr>
                <a:t>ab</a:t>
              </a:r>
              <a:endParaRPr lang="en-US" sz="2000" dirty="0">
                <a:solidFill>
                  <a:schemeClr val="tx2"/>
                </a:solidFill>
              </a:endParaRPr>
            </a:p>
            <a:p>
              <a:pPr eaLnBrk="1" hangingPunct="1">
                <a:lnSpc>
                  <a:spcPct val="70000"/>
                </a:lnSpc>
                <a:spcBef>
                  <a:spcPct val="50000"/>
                </a:spcBef>
                <a:buFontTx/>
                <a:buNone/>
              </a:pPr>
              <a:r>
                <a:rPr lang="en-US" sz="2000" dirty="0">
                  <a:solidFill>
                    <a:schemeClr val="tx2"/>
                  </a:solidFill>
                </a:rPr>
                <a:t>2 </a:t>
              </a:r>
              <a:r>
                <a:rPr lang="en-US" sz="2000" dirty="0" smtClean="0">
                  <a:solidFill>
                    <a:schemeClr val="tx2"/>
                  </a:solidFill>
                </a:rPr>
                <a:t> </a:t>
              </a:r>
              <a:r>
                <a:rPr lang="en-US" sz="2000" dirty="0" err="1" smtClean="0">
                  <a:solidFill>
                    <a:schemeClr val="tx2"/>
                  </a:solidFill>
                </a:rPr>
                <a:t>ef</a:t>
              </a:r>
              <a:endParaRPr lang="en-US" sz="2000" dirty="0">
                <a:solidFill>
                  <a:schemeClr val="tx2"/>
                </a:solidFill>
              </a:endParaRPr>
            </a:p>
            <a:p>
              <a:pPr eaLnBrk="1" hangingPunct="1">
                <a:lnSpc>
                  <a:spcPct val="70000"/>
                </a:lnSpc>
                <a:spcBef>
                  <a:spcPct val="50000"/>
                </a:spcBef>
                <a:buFontTx/>
                <a:buNone/>
              </a:pPr>
              <a:r>
                <a:rPr lang="en-US" sz="2000" dirty="0">
                  <a:solidFill>
                    <a:schemeClr val="tx2"/>
                  </a:solidFill>
                </a:rPr>
                <a:t>3 </a:t>
              </a:r>
              <a:r>
                <a:rPr lang="en-US" sz="2000" dirty="0" smtClean="0">
                  <a:solidFill>
                    <a:schemeClr val="tx2"/>
                  </a:solidFill>
                </a:rPr>
                <a:t> </a:t>
              </a:r>
              <a:r>
                <a:rPr lang="en-US" sz="2000" dirty="0" err="1" smtClean="0">
                  <a:solidFill>
                    <a:schemeClr val="tx2"/>
                  </a:solidFill>
                </a:rPr>
                <a:t>bc</a:t>
              </a:r>
              <a:endParaRPr lang="en-US" sz="2000" dirty="0">
                <a:solidFill>
                  <a:schemeClr val="tx2"/>
                </a:solidFill>
              </a:endParaRPr>
            </a:p>
            <a:p>
              <a:pPr eaLnBrk="1" hangingPunct="1">
                <a:lnSpc>
                  <a:spcPct val="70000"/>
                </a:lnSpc>
                <a:spcBef>
                  <a:spcPct val="50000"/>
                </a:spcBef>
                <a:buFontTx/>
                <a:buNone/>
              </a:pPr>
              <a:r>
                <a:rPr lang="en-US" sz="2000" dirty="0">
                  <a:solidFill>
                    <a:schemeClr val="tx2"/>
                  </a:solidFill>
                </a:rPr>
                <a:t>3 </a:t>
              </a:r>
              <a:r>
                <a:rPr lang="en-US" sz="2000" dirty="0" smtClean="0">
                  <a:solidFill>
                    <a:schemeClr val="tx2"/>
                  </a:solidFill>
                </a:rPr>
                <a:t> be</a:t>
              </a:r>
              <a:endParaRPr lang="en-US" sz="2000" dirty="0">
                <a:solidFill>
                  <a:schemeClr val="tx2"/>
                </a:solidFill>
              </a:endParaRPr>
            </a:p>
            <a:p>
              <a:pPr eaLnBrk="1" hangingPunct="1">
                <a:lnSpc>
                  <a:spcPct val="70000"/>
                </a:lnSpc>
                <a:spcBef>
                  <a:spcPct val="50000"/>
                </a:spcBef>
                <a:buFontTx/>
                <a:buNone/>
              </a:pPr>
              <a:r>
                <a:rPr lang="en-US" sz="2000" dirty="0">
                  <a:solidFill>
                    <a:schemeClr val="tx2"/>
                  </a:solidFill>
                </a:rPr>
                <a:t>3 </a:t>
              </a:r>
              <a:r>
                <a:rPr lang="en-US" sz="2000" dirty="0" smtClean="0">
                  <a:solidFill>
                    <a:schemeClr val="tx2"/>
                  </a:solidFill>
                </a:rPr>
                <a:t> fi</a:t>
              </a:r>
              <a:endParaRPr lang="en-US" sz="2000" dirty="0">
                <a:solidFill>
                  <a:schemeClr val="tx2"/>
                </a:solidFill>
              </a:endParaRPr>
            </a:p>
            <a:p>
              <a:pPr eaLnBrk="1" hangingPunct="1">
                <a:lnSpc>
                  <a:spcPct val="70000"/>
                </a:lnSpc>
                <a:spcBef>
                  <a:spcPct val="50000"/>
                </a:spcBef>
                <a:buFontTx/>
                <a:buNone/>
              </a:pPr>
              <a:r>
                <a:rPr lang="en-US" sz="2000" dirty="0">
                  <a:solidFill>
                    <a:schemeClr val="tx2"/>
                  </a:solidFill>
                </a:rPr>
                <a:t>4 </a:t>
              </a:r>
              <a:r>
                <a:rPr lang="en-US" sz="2000" dirty="0" smtClean="0">
                  <a:solidFill>
                    <a:schemeClr val="tx2"/>
                  </a:solidFill>
                </a:rPr>
                <a:t> </a:t>
              </a:r>
              <a:r>
                <a:rPr lang="en-US" sz="2000" dirty="0" err="1" smtClean="0">
                  <a:solidFill>
                    <a:schemeClr val="tx2"/>
                  </a:solidFill>
                </a:rPr>
                <a:t>bd</a:t>
              </a:r>
              <a:endParaRPr lang="en-US" sz="2000" dirty="0">
                <a:solidFill>
                  <a:schemeClr val="tx2"/>
                </a:solidFill>
              </a:endParaRPr>
            </a:p>
            <a:p>
              <a:pPr eaLnBrk="1" hangingPunct="1">
                <a:lnSpc>
                  <a:spcPct val="70000"/>
                </a:lnSpc>
                <a:spcBef>
                  <a:spcPct val="50000"/>
                </a:spcBef>
                <a:buFontTx/>
                <a:buNone/>
              </a:pPr>
              <a:r>
                <a:rPr lang="en-US" sz="2000" dirty="0">
                  <a:solidFill>
                    <a:schemeClr val="tx2"/>
                  </a:solidFill>
                </a:rPr>
                <a:t>4 </a:t>
              </a:r>
              <a:r>
                <a:rPr lang="en-US" sz="2000" dirty="0" smtClean="0">
                  <a:solidFill>
                    <a:schemeClr val="tx2"/>
                  </a:solidFill>
                </a:rPr>
                <a:t> dh</a:t>
              </a:r>
              <a:endParaRPr lang="en-US" sz="2000" dirty="0">
                <a:solidFill>
                  <a:schemeClr val="tx2"/>
                </a:solidFill>
              </a:endParaRPr>
            </a:p>
            <a:p>
              <a:pPr eaLnBrk="1" hangingPunct="1">
                <a:lnSpc>
                  <a:spcPct val="70000"/>
                </a:lnSpc>
                <a:spcBef>
                  <a:spcPct val="50000"/>
                </a:spcBef>
                <a:buFontTx/>
                <a:buNone/>
              </a:pPr>
              <a:r>
                <a:rPr lang="en-US" sz="2000" dirty="0">
                  <a:solidFill>
                    <a:schemeClr val="tx2"/>
                  </a:solidFill>
                </a:rPr>
                <a:t>5 </a:t>
              </a:r>
              <a:r>
                <a:rPr lang="en-US" sz="2000" dirty="0" smtClean="0">
                  <a:solidFill>
                    <a:schemeClr val="tx2"/>
                  </a:solidFill>
                </a:rPr>
                <a:t> ad</a:t>
              </a:r>
              <a:endParaRPr lang="en-US" sz="2000" dirty="0">
                <a:solidFill>
                  <a:schemeClr val="tx2"/>
                </a:solidFill>
              </a:endParaRPr>
            </a:p>
            <a:p>
              <a:pPr eaLnBrk="1" hangingPunct="1">
                <a:lnSpc>
                  <a:spcPct val="70000"/>
                </a:lnSpc>
                <a:spcBef>
                  <a:spcPct val="50000"/>
                </a:spcBef>
                <a:buFontTx/>
                <a:buNone/>
              </a:pPr>
              <a:r>
                <a:rPr lang="en-US" sz="2000" dirty="0">
                  <a:solidFill>
                    <a:schemeClr val="tx2"/>
                  </a:solidFill>
                </a:rPr>
                <a:t>5 </a:t>
              </a:r>
              <a:r>
                <a:rPr lang="en-US" sz="2000" dirty="0" smtClean="0">
                  <a:solidFill>
                    <a:schemeClr val="tx2"/>
                  </a:solidFill>
                </a:rPr>
                <a:t> </a:t>
              </a:r>
              <a:r>
                <a:rPr lang="en-US" sz="2000" dirty="0" err="1" smtClean="0">
                  <a:solidFill>
                    <a:schemeClr val="tx2"/>
                  </a:solidFill>
                </a:rPr>
                <a:t>ei</a:t>
              </a:r>
              <a:endParaRPr lang="en-US" sz="2000" dirty="0">
                <a:solidFill>
                  <a:schemeClr val="tx2"/>
                </a:solidFill>
              </a:endParaRPr>
            </a:p>
            <a:p>
              <a:pPr eaLnBrk="1" hangingPunct="1">
                <a:lnSpc>
                  <a:spcPct val="70000"/>
                </a:lnSpc>
                <a:spcBef>
                  <a:spcPct val="50000"/>
                </a:spcBef>
                <a:buFontTx/>
                <a:buNone/>
              </a:pPr>
              <a:r>
                <a:rPr lang="en-US" sz="2000" dirty="0">
                  <a:solidFill>
                    <a:schemeClr val="tx2"/>
                  </a:solidFill>
                </a:rPr>
                <a:t>6 </a:t>
              </a:r>
              <a:r>
                <a:rPr lang="en-US" sz="2000" dirty="0" smtClean="0">
                  <a:solidFill>
                    <a:schemeClr val="tx2"/>
                  </a:solidFill>
                </a:rPr>
                <a:t> </a:t>
              </a:r>
              <a:r>
                <a:rPr lang="en-US" sz="2000" dirty="0" err="1" smtClean="0">
                  <a:solidFill>
                    <a:schemeClr val="tx2"/>
                  </a:solidFill>
                </a:rPr>
                <a:t>cf</a:t>
              </a:r>
              <a:endParaRPr lang="en-US" sz="2000" dirty="0">
                <a:solidFill>
                  <a:schemeClr val="tx2"/>
                </a:solidFill>
              </a:endParaRPr>
            </a:p>
            <a:p>
              <a:pPr eaLnBrk="1" hangingPunct="1">
                <a:lnSpc>
                  <a:spcPct val="70000"/>
                </a:lnSpc>
                <a:spcBef>
                  <a:spcPct val="50000"/>
                </a:spcBef>
                <a:buFontTx/>
                <a:buNone/>
              </a:pPr>
              <a:r>
                <a:rPr lang="en-US" sz="2000" dirty="0">
                  <a:solidFill>
                    <a:schemeClr val="tx2"/>
                  </a:solidFill>
                </a:rPr>
                <a:t>6 </a:t>
              </a:r>
              <a:r>
                <a:rPr lang="en-US" sz="2000" dirty="0" smtClean="0">
                  <a:solidFill>
                    <a:schemeClr val="tx2"/>
                  </a:solidFill>
                </a:rPr>
                <a:t> de</a:t>
              </a:r>
              <a:endParaRPr lang="en-US" sz="2000" dirty="0">
                <a:solidFill>
                  <a:schemeClr val="tx2"/>
                </a:solidFill>
              </a:endParaRPr>
            </a:p>
            <a:p>
              <a:pPr eaLnBrk="1" hangingPunct="1">
                <a:lnSpc>
                  <a:spcPct val="70000"/>
                </a:lnSpc>
                <a:spcBef>
                  <a:spcPct val="50000"/>
                </a:spcBef>
                <a:buFontTx/>
                <a:buNone/>
              </a:pPr>
              <a:r>
                <a:rPr lang="en-US" sz="2000" dirty="0">
                  <a:solidFill>
                    <a:schemeClr val="tx2"/>
                  </a:solidFill>
                </a:rPr>
                <a:t>7 </a:t>
              </a:r>
              <a:r>
                <a:rPr lang="en-US" sz="2000" dirty="0" smtClean="0">
                  <a:solidFill>
                    <a:schemeClr val="tx2"/>
                  </a:solidFill>
                </a:rPr>
                <a:t> eh</a:t>
              </a:r>
              <a:endParaRPr lang="en-US" sz="2000" dirty="0">
                <a:solidFill>
                  <a:schemeClr val="tx2"/>
                </a:solidFill>
              </a:endParaRPr>
            </a:p>
            <a:p>
              <a:pPr eaLnBrk="1" hangingPunct="1">
                <a:lnSpc>
                  <a:spcPct val="70000"/>
                </a:lnSpc>
                <a:spcBef>
                  <a:spcPct val="50000"/>
                </a:spcBef>
                <a:buFontTx/>
                <a:buNone/>
              </a:pPr>
              <a:r>
                <a:rPr lang="en-US" sz="2000" dirty="0" smtClean="0">
                  <a:solidFill>
                    <a:schemeClr val="tx2"/>
                  </a:solidFill>
                </a:rPr>
                <a:t>8  </a:t>
              </a:r>
              <a:r>
                <a:rPr lang="en-US" sz="2000" dirty="0" err="1">
                  <a:solidFill>
                    <a:schemeClr val="tx2"/>
                  </a:solidFill>
                </a:rPr>
                <a:t>ce</a:t>
              </a:r>
              <a:endParaRPr lang="en-US" sz="2000" dirty="0">
                <a:solidFill>
                  <a:schemeClr val="tx2"/>
                </a:solidFill>
              </a:endParaRPr>
            </a:p>
            <a:p>
              <a:pPr eaLnBrk="1" hangingPunct="1">
                <a:lnSpc>
                  <a:spcPct val="70000"/>
                </a:lnSpc>
                <a:spcBef>
                  <a:spcPct val="50000"/>
                </a:spcBef>
                <a:buFontTx/>
                <a:buNone/>
              </a:pPr>
              <a:r>
                <a:rPr lang="en-US" sz="2000" dirty="0">
                  <a:solidFill>
                    <a:schemeClr val="tx2"/>
                  </a:solidFill>
                </a:rPr>
                <a:t>8 </a:t>
              </a:r>
              <a:r>
                <a:rPr lang="en-US" sz="2000" dirty="0" smtClean="0">
                  <a:solidFill>
                    <a:schemeClr val="tx2"/>
                  </a:solidFill>
                </a:rPr>
                <a:t> dg</a:t>
              </a:r>
              <a:endParaRPr lang="en-US" sz="2000" dirty="0">
                <a:solidFill>
                  <a:schemeClr val="tx2"/>
                </a:solidFill>
              </a:endParaRPr>
            </a:p>
            <a:p>
              <a:pPr eaLnBrk="1" hangingPunct="1">
                <a:lnSpc>
                  <a:spcPct val="70000"/>
                </a:lnSpc>
                <a:spcBef>
                  <a:spcPct val="50000"/>
                </a:spcBef>
                <a:buFontTx/>
                <a:buNone/>
              </a:pPr>
              <a:r>
                <a:rPr lang="en-US" sz="2000" dirty="0" smtClean="0">
                  <a:solidFill>
                    <a:schemeClr val="tx2"/>
                  </a:solidFill>
                </a:rPr>
                <a:t>8  </a:t>
              </a:r>
              <a:r>
                <a:rPr lang="en-US" sz="2000" dirty="0">
                  <a:solidFill>
                    <a:schemeClr val="tx2"/>
                  </a:solidFill>
                </a:rPr>
                <a:t>hi</a:t>
              </a:r>
            </a:p>
            <a:p>
              <a:pPr eaLnBrk="1" hangingPunct="1">
                <a:lnSpc>
                  <a:spcPct val="70000"/>
                </a:lnSpc>
                <a:spcBef>
                  <a:spcPct val="50000"/>
                </a:spcBef>
                <a:buFontTx/>
                <a:buNone/>
              </a:pPr>
              <a:r>
                <a:rPr lang="en-US" sz="2000" dirty="0" smtClean="0">
                  <a:solidFill>
                    <a:schemeClr val="tx2"/>
                  </a:solidFill>
                </a:rPr>
                <a:t>9  </a:t>
              </a:r>
              <a:r>
                <a:rPr lang="en-US" sz="2000" dirty="0" err="1">
                  <a:solidFill>
                    <a:schemeClr val="tx2"/>
                  </a:solidFill>
                </a:rPr>
                <a:t>gh</a:t>
              </a:r>
              <a:endParaRPr lang="en-US" sz="2000" dirty="0">
                <a:solidFill>
                  <a:schemeClr val="tx2"/>
                </a:solidFill>
              </a:endParaRPr>
            </a:p>
          </p:txBody>
        </p:sp>
        <p:sp>
          <p:nvSpPr>
            <p:cNvPr id="87063" name="Text Box 143"/>
            <p:cNvSpPr txBox="1">
              <a:spLocks noChangeArrowheads="1"/>
            </p:cNvSpPr>
            <p:nvPr/>
          </p:nvSpPr>
          <p:spPr bwMode="auto">
            <a:xfrm rot="-5400000">
              <a:off x="-592" y="2056"/>
              <a:ext cx="173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None/>
              </a:pPr>
              <a:r>
                <a:rPr lang="en-US" sz="2000"/>
                <a:t>Edges  sorted  by  weight</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84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71014"/>
                                        </p:tgtEl>
                                        <p:attrNameLst>
                                          <p:attrName>style.visibility</p:attrName>
                                        </p:attrNameLst>
                                      </p:cBhvr>
                                      <p:to>
                                        <p:strVal val="visible"/>
                                      </p:to>
                                    </p:set>
                                    <p:anim calcmode="lin" valueType="num">
                                      <p:cBhvr>
                                        <p:cTn id="7" dur="500" fill="hold"/>
                                        <p:tgtEl>
                                          <p:spTgt spid="171014"/>
                                        </p:tgtEl>
                                        <p:attrNameLst>
                                          <p:attrName>ppt_w</p:attrName>
                                        </p:attrNameLst>
                                      </p:cBhvr>
                                      <p:tavLst>
                                        <p:tav tm="0">
                                          <p:val>
                                            <p:fltVal val="0"/>
                                          </p:val>
                                        </p:tav>
                                        <p:tav tm="100000">
                                          <p:val>
                                            <p:strVal val="#ppt_w"/>
                                          </p:val>
                                        </p:tav>
                                      </p:tavLst>
                                    </p:anim>
                                    <p:anim calcmode="lin" valueType="num">
                                      <p:cBhvr>
                                        <p:cTn id="8" dur="500" fill="hold"/>
                                        <p:tgtEl>
                                          <p:spTgt spid="171014"/>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171123"/>
                                        </p:tgtEl>
                                        <p:attrNameLst>
                                          <p:attrName>style.visibility</p:attrName>
                                        </p:attrNameLst>
                                      </p:cBhvr>
                                      <p:to>
                                        <p:strVal val="visible"/>
                                      </p:to>
                                    </p:set>
                                    <p:animEffect transition="in" filter="wipe(up)">
                                      <p:cBhvr>
                                        <p:cTn id="12" dur="500"/>
                                        <p:tgtEl>
                                          <p:spTgt spid="1711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71140"/>
                                        </p:tgtEl>
                                        <p:attrNameLst>
                                          <p:attrName>style.visibility</p:attrName>
                                        </p:attrNameLst>
                                      </p:cBhvr>
                                      <p:to>
                                        <p:strVal val="visible"/>
                                      </p:to>
                                    </p:set>
                                    <p:animEffect transition="in" filter="dissolve">
                                      <p:cBhvr>
                                        <p:cTn id="17" dur="500"/>
                                        <p:tgtEl>
                                          <p:spTgt spid="1711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71152"/>
                                        </p:tgtEl>
                                        <p:attrNameLst>
                                          <p:attrName>style.visibility</p:attrName>
                                        </p:attrNameLst>
                                      </p:cBhvr>
                                      <p:to>
                                        <p:strVal val="visible"/>
                                      </p:to>
                                    </p:set>
                                    <p:animEffect transition="in" filter="wipe(up)">
                                      <p:cBhvr>
                                        <p:cTn id="22" dur="500"/>
                                        <p:tgtEl>
                                          <p:spTgt spid="17115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1135"/>
                                        </p:tgtEl>
                                        <p:attrNameLst>
                                          <p:attrName>style.visibility</p:attrName>
                                        </p:attrNameLst>
                                      </p:cBhvr>
                                      <p:to>
                                        <p:strVal val="visible"/>
                                      </p:to>
                                    </p:set>
                                    <p:animEffect transition="in" filter="wipe(left)">
                                      <p:cBhvr>
                                        <p:cTn id="27" dur="500"/>
                                        <p:tgtEl>
                                          <p:spTgt spid="1711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1136"/>
                                        </p:tgtEl>
                                        <p:attrNameLst>
                                          <p:attrName>style.visibility</p:attrName>
                                        </p:attrNameLst>
                                      </p:cBhvr>
                                      <p:to>
                                        <p:strVal val="visible"/>
                                      </p:to>
                                    </p:set>
                                    <p:animEffect transition="in" filter="wipe(left)">
                                      <p:cBhvr>
                                        <p:cTn id="32" dur="500"/>
                                        <p:tgtEl>
                                          <p:spTgt spid="1711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1134"/>
                                        </p:tgtEl>
                                        <p:attrNameLst>
                                          <p:attrName>style.visibility</p:attrName>
                                        </p:attrNameLst>
                                      </p:cBhvr>
                                      <p:to>
                                        <p:strVal val="visible"/>
                                      </p:to>
                                    </p:set>
                                    <p:animEffect transition="in" filter="wipe(left)">
                                      <p:cBhvr>
                                        <p:cTn id="37" dur="500"/>
                                        <p:tgtEl>
                                          <p:spTgt spid="1711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71130"/>
                                        </p:tgtEl>
                                        <p:attrNameLst>
                                          <p:attrName>style.visibility</p:attrName>
                                        </p:attrNameLst>
                                      </p:cBhvr>
                                      <p:to>
                                        <p:strVal val="visible"/>
                                      </p:to>
                                    </p:set>
                                    <p:animEffect transition="in" filter="wipe(up)">
                                      <p:cBhvr>
                                        <p:cTn id="42" dur="500"/>
                                        <p:tgtEl>
                                          <p:spTgt spid="17113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71133"/>
                                        </p:tgtEl>
                                        <p:attrNameLst>
                                          <p:attrName>style.visibility</p:attrName>
                                        </p:attrNameLst>
                                      </p:cBhvr>
                                      <p:to>
                                        <p:strVal val="visible"/>
                                      </p:to>
                                    </p:set>
                                    <p:animEffect transition="in" filter="wipe(up)">
                                      <p:cBhvr>
                                        <p:cTn id="47" dur="500"/>
                                        <p:tgtEl>
                                          <p:spTgt spid="17113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71124"/>
                                        </p:tgtEl>
                                        <p:attrNameLst>
                                          <p:attrName>style.visibility</p:attrName>
                                        </p:attrNameLst>
                                      </p:cBhvr>
                                      <p:to>
                                        <p:strVal val="visible"/>
                                      </p:to>
                                    </p:set>
                                    <p:animEffect transition="in" filter="wipe(up)">
                                      <p:cBhvr>
                                        <p:cTn id="52" dur="500"/>
                                        <p:tgtEl>
                                          <p:spTgt spid="17112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71126"/>
                                        </p:tgtEl>
                                        <p:attrNameLst>
                                          <p:attrName>style.visibility</p:attrName>
                                        </p:attrNameLst>
                                      </p:cBhvr>
                                      <p:to>
                                        <p:strVal val="visible"/>
                                      </p:to>
                                    </p:set>
                                    <p:animEffect transition="in" filter="wipe(up)">
                                      <p:cBhvr>
                                        <p:cTn id="57" dur="500"/>
                                        <p:tgtEl>
                                          <p:spTgt spid="17112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171128"/>
                                        </p:tgtEl>
                                        <p:attrNameLst>
                                          <p:attrName>style.visibility</p:attrName>
                                        </p:attrNameLst>
                                      </p:cBhvr>
                                      <p:to>
                                        <p:strVal val="visible"/>
                                      </p:to>
                                    </p:set>
                                    <p:animEffect transition="in" filter="wipe(up)">
                                      <p:cBhvr>
                                        <p:cTn id="62" dur="500"/>
                                        <p:tgtEl>
                                          <p:spTgt spid="17112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171127"/>
                                        </p:tgtEl>
                                        <p:attrNameLst>
                                          <p:attrName>style.visibility</p:attrName>
                                        </p:attrNameLst>
                                      </p:cBhvr>
                                      <p:to>
                                        <p:strVal val="visible"/>
                                      </p:to>
                                    </p:set>
                                    <p:animEffect transition="in" filter="wipe(up)">
                                      <p:cBhvr>
                                        <p:cTn id="67" dur="500"/>
                                        <p:tgtEl>
                                          <p:spTgt spid="17112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171132"/>
                                        </p:tgtEl>
                                        <p:attrNameLst>
                                          <p:attrName>style.visibility</p:attrName>
                                        </p:attrNameLst>
                                      </p:cBhvr>
                                      <p:to>
                                        <p:strVal val="visible"/>
                                      </p:to>
                                    </p:set>
                                    <p:animEffect transition="in" filter="wipe(up)">
                                      <p:cBhvr>
                                        <p:cTn id="72" dur="500"/>
                                        <p:tgtEl>
                                          <p:spTgt spid="17113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71137"/>
                                        </p:tgtEl>
                                        <p:attrNameLst>
                                          <p:attrName>style.visibility</p:attrName>
                                        </p:attrNameLst>
                                      </p:cBhvr>
                                      <p:to>
                                        <p:strVal val="visible"/>
                                      </p:to>
                                    </p:set>
                                    <p:animEffect transition="in" filter="wipe(left)">
                                      <p:cBhvr>
                                        <p:cTn id="77" dur="500"/>
                                        <p:tgtEl>
                                          <p:spTgt spid="17113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171131"/>
                                        </p:tgtEl>
                                        <p:attrNameLst>
                                          <p:attrName>style.visibility</p:attrName>
                                        </p:attrNameLst>
                                      </p:cBhvr>
                                      <p:to>
                                        <p:strVal val="visible"/>
                                      </p:to>
                                    </p:set>
                                    <p:animEffect transition="in" filter="wipe(up)">
                                      <p:cBhvr>
                                        <p:cTn id="82" dur="500"/>
                                        <p:tgtEl>
                                          <p:spTgt spid="17113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171125"/>
                                        </p:tgtEl>
                                        <p:attrNameLst>
                                          <p:attrName>style.visibility</p:attrName>
                                        </p:attrNameLst>
                                      </p:cBhvr>
                                      <p:to>
                                        <p:strVal val="visible"/>
                                      </p:to>
                                    </p:set>
                                    <p:animEffect transition="in" filter="wipe(up)">
                                      <p:cBhvr>
                                        <p:cTn id="87" dur="500"/>
                                        <p:tgtEl>
                                          <p:spTgt spid="171125"/>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171129"/>
                                        </p:tgtEl>
                                        <p:attrNameLst>
                                          <p:attrName>style.visibility</p:attrName>
                                        </p:attrNameLst>
                                      </p:cBhvr>
                                      <p:to>
                                        <p:strVal val="visible"/>
                                      </p:to>
                                    </p:set>
                                    <p:animEffect transition="in" filter="wipe(up)">
                                      <p:cBhvr>
                                        <p:cTn id="92" dur="500"/>
                                        <p:tgtEl>
                                          <p:spTgt spid="17112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71138"/>
                                        </p:tgtEl>
                                        <p:attrNameLst>
                                          <p:attrName>style.visibility</p:attrName>
                                        </p:attrNameLst>
                                      </p:cBhvr>
                                      <p:to>
                                        <p:strVal val="visible"/>
                                      </p:to>
                                    </p:set>
                                    <p:animEffect transition="in" filter="wipe(left)">
                                      <p:cBhvr>
                                        <p:cTn id="97" dur="500"/>
                                        <p:tgtEl>
                                          <p:spTgt spid="171138"/>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71139"/>
                                        </p:tgtEl>
                                        <p:attrNameLst>
                                          <p:attrName>style.visibility</p:attrName>
                                        </p:attrNameLst>
                                      </p:cBhvr>
                                      <p:to>
                                        <p:strVal val="visible"/>
                                      </p:to>
                                    </p:set>
                                    <p:animEffect transition="in" filter="wipe(left)">
                                      <p:cBhvr>
                                        <p:cTn id="102" dur="500"/>
                                        <p:tgtEl>
                                          <p:spTgt spid="171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4" grpId="0" animBg="1" autoUpdateAnimBg="0"/>
      <p:bldP spid="171124" grpId="0" animBg="1"/>
      <p:bldP spid="171125" grpId="0" animBg="1"/>
      <p:bldP spid="171126" grpId="0" animBg="1"/>
      <p:bldP spid="171127" grpId="0" animBg="1"/>
      <p:bldP spid="171128" grpId="0" animBg="1"/>
      <p:bldP spid="171129" grpId="0" animBg="1"/>
      <p:bldP spid="171130" grpId="0" animBg="1"/>
      <p:bldP spid="171131" grpId="0" animBg="1"/>
      <p:bldP spid="171132" grpId="0" animBg="1"/>
      <p:bldP spid="171133" grpId="0" animBg="1"/>
      <p:bldP spid="171134" grpId="0" animBg="1"/>
      <p:bldP spid="171135" grpId="0" animBg="1"/>
      <p:bldP spid="171136" grpId="0" animBg="1"/>
      <p:bldP spid="171137" grpId="0" animBg="1"/>
      <p:bldP spid="171138" grpId="0" animBg="1"/>
      <p:bldP spid="171139" grpId="0" animBg="1"/>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rgbClr val="FF0000"/>
                </a:solidFill>
                <a:latin typeface="Arial Rounded MT Bold" pitchFamily="34" charset="0"/>
              </a:rPr>
              <a:t>Prim’s</a:t>
            </a:r>
            <a:r>
              <a:rPr lang="en-US" sz="2800" b="1" dirty="0" smtClean="0">
                <a:solidFill>
                  <a:schemeClr val="tx1"/>
                </a:solidFill>
                <a:latin typeface="Arial Rounded MT Bold" pitchFamily="34" charset="0"/>
              </a:rPr>
              <a:t>  MST Algorithm</a:t>
            </a:r>
          </a:p>
        </p:txBody>
      </p:sp>
      <p:sp>
        <p:nvSpPr>
          <p:cNvPr id="168986" name="Rectangle 26"/>
          <p:cNvSpPr>
            <a:spLocks noChangeArrowheads="1"/>
          </p:cNvSpPr>
          <p:nvPr/>
        </p:nvSpPr>
        <p:spPr bwMode="auto">
          <a:xfrm>
            <a:off x="304800" y="3429000"/>
            <a:ext cx="8513763" cy="322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188913" indent="-188913" defTabSz="1905000" eaLnBrk="1" hangingPunct="1">
              <a:lnSpc>
                <a:spcPct val="85000"/>
              </a:lnSpc>
              <a:spcBef>
                <a:spcPct val="50000"/>
              </a:spcBef>
              <a:buFontTx/>
              <a:buNone/>
            </a:pPr>
            <a:r>
              <a:rPr lang="en-US" sz="2000">
                <a:solidFill>
                  <a:schemeClr val="hlink"/>
                </a:solidFill>
                <a:latin typeface="Arial" pitchFamily="34" charset="0"/>
              </a:rPr>
              <a:t>Each blue component other that B is a singleton node in Q = V(G) – B. </a:t>
            </a:r>
          </a:p>
          <a:p>
            <a:pPr marL="188913" indent="-188913" defTabSz="1905000" eaLnBrk="1" hangingPunct="1">
              <a:lnSpc>
                <a:spcPct val="85000"/>
              </a:lnSpc>
              <a:spcBef>
                <a:spcPct val="50000"/>
              </a:spcBef>
              <a:buFontTx/>
              <a:buNone/>
            </a:pPr>
            <a:r>
              <a:rPr lang="en-US" sz="2000">
                <a:solidFill>
                  <a:srgbClr val="CC0000"/>
                </a:solidFill>
                <a:latin typeface="Arial" pitchFamily="34" charset="0"/>
              </a:rPr>
              <a:t>Q =</a:t>
            </a:r>
            <a:r>
              <a:rPr lang="en-US" sz="2000">
                <a:solidFill>
                  <a:schemeClr val="hlink"/>
                </a:solidFill>
                <a:latin typeface="Arial" pitchFamily="34" charset="0"/>
              </a:rPr>
              <a:t> min priority queue of nodes.  </a:t>
            </a:r>
          </a:p>
          <a:p>
            <a:pPr marL="188913" indent="-188913" defTabSz="1905000" eaLnBrk="1" hangingPunct="1">
              <a:lnSpc>
                <a:spcPct val="85000"/>
              </a:lnSpc>
              <a:spcBef>
                <a:spcPct val="50000"/>
              </a:spcBef>
              <a:buFontTx/>
              <a:buNone/>
            </a:pPr>
            <a:r>
              <a:rPr lang="en-US" sz="2000">
                <a:solidFill>
                  <a:schemeClr val="hlink"/>
                </a:solidFill>
                <a:latin typeface="Arial" pitchFamily="34" charset="0"/>
              </a:rPr>
              <a:t>For each u </a:t>
            </a:r>
            <a:r>
              <a:rPr lang="en-US" sz="2000">
                <a:solidFill>
                  <a:schemeClr val="hlink"/>
                </a:solidFill>
                <a:latin typeface="Arial" pitchFamily="34" charset="0"/>
                <a:sym typeface="Symbol" pitchFamily="18" charset="2"/>
              </a:rPr>
              <a:t> </a:t>
            </a:r>
            <a:r>
              <a:rPr lang="en-US" sz="2000">
                <a:solidFill>
                  <a:schemeClr val="hlink"/>
                </a:solidFill>
                <a:latin typeface="Arial" pitchFamily="34" charset="0"/>
              </a:rPr>
              <a:t>Q  define:</a:t>
            </a:r>
          </a:p>
          <a:p>
            <a:pPr marL="188913" indent="-188913" defTabSz="1905000" eaLnBrk="1" hangingPunct="1">
              <a:lnSpc>
                <a:spcPct val="85000"/>
              </a:lnSpc>
              <a:spcBef>
                <a:spcPct val="50000"/>
              </a:spcBef>
              <a:buFontTx/>
              <a:buNone/>
            </a:pPr>
            <a:r>
              <a:rPr lang="en-US" sz="2000">
                <a:solidFill>
                  <a:srgbClr val="CC0000"/>
                </a:solidFill>
                <a:latin typeface="Arial" pitchFamily="34" charset="0"/>
              </a:rPr>
              <a:t>bridge(u,B) =</a:t>
            </a:r>
            <a:r>
              <a:rPr lang="en-US" sz="2000">
                <a:solidFill>
                  <a:schemeClr val="hlink"/>
                </a:solidFill>
                <a:latin typeface="Arial" pitchFamily="34" charset="0"/>
              </a:rPr>
              <a:t> min weight white edge incident to both u and B</a:t>
            </a:r>
          </a:p>
          <a:p>
            <a:pPr marL="188913" indent="-188913" defTabSz="1905000" eaLnBrk="1" hangingPunct="1">
              <a:lnSpc>
                <a:spcPct val="85000"/>
              </a:lnSpc>
              <a:spcBef>
                <a:spcPct val="50000"/>
              </a:spcBef>
              <a:buFontTx/>
              <a:buNone/>
            </a:pPr>
            <a:r>
              <a:rPr lang="en-US" sz="2000">
                <a:solidFill>
                  <a:srgbClr val="CC0000"/>
                </a:solidFill>
                <a:latin typeface="Symbol" pitchFamily="18" charset="2"/>
              </a:rPr>
              <a:t>p</a:t>
            </a:r>
            <a:r>
              <a:rPr lang="en-US" sz="2000">
                <a:solidFill>
                  <a:srgbClr val="CC0000"/>
                </a:solidFill>
                <a:latin typeface="Arial" pitchFamily="34" charset="0"/>
              </a:rPr>
              <a:t>(u)  =</a:t>
            </a:r>
            <a:r>
              <a:rPr lang="en-US" sz="2000">
                <a:solidFill>
                  <a:schemeClr val="hlink"/>
                </a:solidFill>
                <a:latin typeface="Arial" pitchFamily="34" charset="0"/>
              </a:rPr>
              <a:t> the end node of bridge(u,B) in B   </a:t>
            </a:r>
            <a:r>
              <a:rPr lang="en-US" sz="2000">
                <a:solidFill>
                  <a:srgbClr val="CC0000"/>
                </a:solidFill>
                <a:latin typeface="Arial" pitchFamily="34" charset="0"/>
              </a:rPr>
              <a:t>(nil if no such edge)</a:t>
            </a:r>
          </a:p>
          <a:p>
            <a:pPr marL="188913" indent="-188913" defTabSz="1905000" eaLnBrk="1" hangingPunct="1">
              <a:lnSpc>
                <a:spcPct val="85000"/>
              </a:lnSpc>
              <a:spcBef>
                <a:spcPct val="50000"/>
              </a:spcBef>
              <a:buFontTx/>
              <a:buNone/>
            </a:pPr>
            <a:r>
              <a:rPr lang="en-US" sz="2000">
                <a:solidFill>
                  <a:srgbClr val="CC0000"/>
                </a:solidFill>
                <a:latin typeface="Arial" pitchFamily="34" charset="0"/>
              </a:rPr>
              <a:t>key[u] = priority of u =</a:t>
            </a:r>
            <a:r>
              <a:rPr lang="en-US" sz="2000">
                <a:solidFill>
                  <a:schemeClr val="hlink"/>
                </a:solidFill>
                <a:latin typeface="Arial" pitchFamily="34" charset="0"/>
              </a:rPr>
              <a:t>  w( bridge(u,B) )  =  w(</a:t>
            </a:r>
            <a:r>
              <a:rPr lang="en-US" sz="2000">
                <a:solidFill>
                  <a:schemeClr val="hlink"/>
                </a:solidFill>
                <a:latin typeface="Symbol" pitchFamily="18" charset="2"/>
              </a:rPr>
              <a:t>p</a:t>
            </a:r>
            <a:r>
              <a:rPr lang="en-US" sz="2000">
                <a:solidFill>
                  <a:schemeClr val="hlink"/>
                </a:solidFill>
                <a:latin typeface="Arial" pitchFamily="34" charset="0"/>
              </a:rPr>
              <a:t>(u), u)   </a:t>
            </a:r>
            <a:r>
              <a:rPr lang="en-US" sz="2000">
                <a:solidFill>
                  <a:srgbClr val="CC0000"/>
                </a:solidFill>
                <a:latin typeface="Arial" pitchFamily="34" charset="0"/>
              </a:rPr>
              <a:t>(+</a:t>
            </a:r>
            <a:r>
              <a:rPr lang="en-US" sz="2000">
                <a:solidFill>
                  <a:srgbClr val="CC0000"/>
                </a:solidFill>
                <a:latin typeface="Arial" pitchFamily="34" charset="0"/>
                <a:sym typeface="Symbol" pitchFamily="18" charset="2"/>
              </a:rPr>
              <a:t></a:t>
            </a:r>
            <a:r>
              <a:rPr lang="en-US" sz="2000">
                <a:solidFill>
                  <a:srgbClr val="CC0000"/>
                </a:solidFill>
                <a:latin typeface="Arial" pitchFamily="34" charset="0"/>
              </a:rPr>
              <a:t> if no such edge)</a:t>
            </a:r>
          </a:p>
          <a:p>
            <a:pPr marL="188913" indent="-188913" defTabSz="1905000" eaLnBrk="1" hangingPunct="1">
              <a:lnSpc>
                <a:spcPct val="85000"/>
              </a:lnSpc>
              <a:spcBef>
                <a:spcPct val="50000"/>
              </a:spcBef>
              <a:buFontTx/>
              <a:buNone/>
            </a:pPr>
            <a:r>
              <a:rPr lang="en-US" sz="2000">
                <a:solidFill>
                  <a:srgbClr val="CC0000"/>
                </a:solidFill>
                <a:latin typeface="Arial" pitchFamily="34" charset="0"/>
              </a:rPr>
              <a:t>u*  =</a:t>
            </a:r>
            <a:r>
              <a:rPr lang="en-US" sz="2000">
                <a:solidFill>
                  <a:schemeClr val="hlink"/>
                </a:solidFill>
                <a:latin typeface="Arial" pitchFamily="34" charset="0"/>
              </a:rPr>
              <a:t>   argmin </a:t>
            </a:r>
            <a:r>
              <a:rPr lang="en-US" sz="2400" baseline="-25000">
                <a:solidFill>
                  <a:schemeClr val="hlink"/>
                </a:solidFill>
                <a:latin typeface="Arial" pitchFamily="34" charset="0"/>
              </a:rPr>
              <a:t>u</a:t>
            </a:r>
            <a:r>
              <a:rPr lang="en-US" sz="2000">
                <a:solidFill>
                  <a:schemeClr val="hlink"/>
                </a:solidFill>
                <a:latin typeface="Arial" pitchFamily="34" charset="0"/>
              </a:rPr>
              <a:t>  {  w(bridge(u,B))  |  u </a:t>
            </a:r>
            <a:r>
              <a:rPr lang="en-US" sz="2000">
                <a:solidFill>
                  <a:schemeClr val="hlink"/>
                </a:solidFill>
                <a:latin typeface="Arial" pitchFamily="34" charset="0"/>
                <a:sym typeface="Symbol" pitchFamily="18" charset="2"/>
              </a:rPr>
              <a:t></a:t>
            </a:r>
            <a:r>
              <a:rPr lang="en-US" sz="2000">
                <a:solidFill>
                  <a:schemeClr val="hlink"/>
                </a:solidFill>
                <a:latin typeface="Arial" pitchFamily="34" charset="0"/>
              </a:rPr>
              <a:t> Q }</a:t>
            </a:r>
          </a:p>
          <a:p>
            <a:pPr marL="188913" indent="-188913" defTabSz="1905000" eaLnBrk="1" hangingPunct="1">
              <a:lnSpc>
                <a:spcPct val="85000"/>
              </a:lnSpc>
              <a:spcBef>
                <a:spcPct val="50000"/>
              </a:spcBef>
              <a:buFontTx/>
              <a:buNone/>
            </a:pPr>
            <a:r>
              <a:rPr lang="en-US" sz="2000">
                <a:solidFill>
                  <a:srgbClr val="CC0000"/>
                </a:solidFill>
                <a:latin typeface="Arial" pitchFamily="34" charset="0"/>
              </a:rPr>
              <a:t>e  = bridge(B) = (</a:t>
            </a:r>
            <a:r>
              <a:rPr lang="en-US" sz="2000">
                <a:solidFill>
                  <a:srgbClr val="CC0000"/>
                </a:solidFill>
                <a:latin typeface="Symbol" pitchFamily="18" charset="2"/>
              </a:rPr>
              <a:t>p</a:t>
            </a:r>
            <a:r>
              <a:rPr lang="en-US" sz="2000">
                <a:solidFill>
                  <a:srgbClr val="CC0000"/>
                </a:solidFill>
                <a:latin typeface="Arial" pitchFamily="34" charset="0"/>
              </a:rPr>
              <a:t>(u*), u*) = the short bridge incident to B. </a:t>
            </a:r>
          </a:p>
        </p:txBody>
      </p:sp>
      <p:sp>
        <p:nvSpPr>
          <p:cNvPr id="168987" name="Rectangle 27"/>
          <p:cNvSpPr>
            <a:spLocks noChangeArrowheads="1"/>
          </p:cNvSpPr>
          <p:nvPr/>
        </p:nvSpPr>
        <p:spPr bwMode="auto">
          <a:xfrm>
            <a:off x="152400" y="685800"/>
            <a:ext cx="7239000" cy="1192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81013" lvl="1" indent="-290513" eaLnBrk="1" hangingPunct="1">
              <a:spcBef>
                <a:spcPct val="50000"/>
              </a:spcBef>
              <a:buFont typeface="Wingdings" pitchFamily="2" charset="2"/>
              <a:buChar char="§"/>
            </a:pPr>
            <a:r>
              <a:rPr lang="en-US" sz="1800">
                <a:solidFill>
                  <a:schemeClr val="hlink"/>
                </a:solidFill>
                <a:latin typeface="Arial" pitchFamily="34" charset="0"/>
              </a:rPr>
              <a:t>B  =  blue component that contains the selected starting node s.</a:t>
            </a:r>
          </a:p>
          <a:p>
            <a:pPr marL="481013" lvl="1" indent="-290513" eaLnBrk="1" hangingPunct="1">
              <a:spcBef>
                <a:spcPct val="50000"/>
              </a:spcBef>
              <a:buFont typeface="Wingdings" pitchFamily="2" charset="2"/>
              <a:buChar char="§"/>
            </a:pPr>
            <a:r>
              <a:rPr lang="en-US" sz="1800">
                <a:solidFill>
                  <a:schemeClr val="hlink"/>
                </a:solidFill>
                <a:latin typeface="Arial" pitchFamily="34" charset="0"/>
              </a:rPr>
              <a:t>e  =  the short bridge of B.</a:t>
            </a:r>
          </a:p>
          <a:p>
            <a:pPr marL="481013" lvl="1" indent="-290513" eaLnBrk="1" hangingPunct="1">
              <a:spcBef>
                <a:spcPct val="50000"/>
              </a:spcBef>
              <a:buFont typeface="Wingdings" pitchFamily="2" charset="2"/>
              <a:buChar char="§"/>
            </a:pPr>
            <a:r>
              <a:rPr lang="en-US" sz="1800">
                <a:solidFill>
                  <a:schemeClr val="hlink"/>
                </a:solidFill>
                <a:latin typeface="Arial" pitchFamily="34" charset="0"/>
              </a:rPr>
              <a:t>Color e blue.</a:t>
            </a:r>
            <a:endParaRPr lang="en-US" sz="1800">
              <a:solidFill>
                <a:srgbClr val="CC0000"/>
              </a:solidFill>
              <a:latin typeface="Arial" pitchFamily="34" charset="0"/>
            </a:endParaRPr>
          </a:p>
        </p:txBody>
      </p:sp>
      <p:grpSp>
        <p:nvGrpSpPr>
          <p:cNvPr id="169027" name="Group 67"/>
          <p:cNvGrpSpPr>
            <a:grpSpLocks/>
          </p:cNvGrpSpPr>
          <p:nvPr/>
        </p:nvGrpSpPr>
        <p:grpSpPr bwMode="auto">
          <a:xfrm>
            <a:off x="2092325" y="1219200"/>
            <a:ext cx="6586538" cy="2089150"/>
            <a:chOff x="1318" y="768"/>
            <a:chExt cx="4149" cy="1316"/>
          </a:xfrm>
        </p:grpSpPr>
        <p:sp>
          <p:nvSpPr>
            <p:cNvPr id="88070" name="Freeform 29"/>
            <p:cNvSpPr>
              <a:spLocks/>
            </p:cNvSpPr>
            <p:nvPr/>
          </p:nvSpPr>
          <p:spPr bwMode="auto">
            <a:xfrm>
              <a:off x="4464" y="768"/>
              <a:ext cx="1003" cy="1245"/>
            </a:xfrm>
            <a:custGeom>
              <a:avLst/>
              <a:gdLst>
                <a:gd name="T0" fmla="*/ 93 w 1286"/>
                <a:gd name="T1" fmla="*/ 180 h 1297"/>
                <a:gd name="T2" fmla="*/ 738 w 1286"/>
                <a:gd name="T3" fmla="*/ 122 h 1297"/>
                <a:gd name="T4" fmla="*/ 910 w 1286"/>
                <a:gd name="T5" fmla="*/ 913 h 1297"/>
                <a:gd name="T6" fmla="*/ 179 w 1286"/>
                <a:gd name="T7" fmla="*/ 1123 h 1297"/>
                <a:gd name="T8" fmla="*/ 93 w 1286"/>
                <a:gd name="T9" fmla="*/ 180 h 12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6" h="1297">
                  <a:moveTo>
                    <a:pt x="119" y="187"/>
                  </a:moveTo>
                  <a:cubicBezTo>
                    <a:pt x="238" y="13"/>
                    <a:pt x="771" y="0"/>
                    <a:pt x="946" y="127"/>
                  </a:cubicBezTo>
                  <a:cubicBezTo>
                    <a:pt x="1122" y="244"/>
                    <a:pt x="1286" y="777"/>
                    <a:pt x="1167" y="951"/>
                  </a:cubicBezTo>
                  <a:cubicBezTo>
                    <a:pt x="1048" y="1125"/>
                    <a:pt x="405" y="1297"/>
                    <a:pt x="230" y="1170"/>
                  </a:cubicBezTo>
                  <a:cubicBezTo>
                    <a:pt x="55" y="1043"/>
                    <a:pt x="0" y="361"/>
                    <a:pt x="119" y="187"/>
                  </a:cubicBezTo>
                  <a:close/>
                </a:path>
              </a:pathLst>
            </a:custGeom>
            <a:solidFill>
              <a:srgbClr val="DDDDDD"/>
            </a:solidFill>
            <a:ln w="1905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endParaRPr lang="en-CA"/>
            </a:p>
          </p:txBody>
        </p:sp>
        <p:sp>
          <p:nvSpPr>
            <p:cNvPr id="88071" name="Freeform 30"/>
            <p:cNvSpPr>
              <a:spLocks/>
            </p:cNvSpPr>
            <p:nvPr/>
          </p:nvSpPr>
          <p:spPr bwMode="auto">
            <a:xfrm>
              <a:off x="2112" y="912"/>
              <a:ext cx="1484" cy="1172"/>
            </a:xfrm>
            <a:custGeom>
              <a:avLst/>
              <a:gdLst>
                <a:gd name="T0" fmla="*/ 197 w 1902"/>
                <a:gd name="T1" fmla="*/ 100 h 1221"/>
                <a:gd name="T2" fmla="*/ 998 w 1902"/>
                <a:gd name="T3" fmla="*/ 43 h 1221"/>
                <a:gd name="T4" fmla="*/ 1261 w 1902"/>
                <a:gd name="T5" fmla="*/ 358 h 1221"/>
                <a:gd name="T6" fmla="*/ 1310 w 1902"/>
                <a:gd name="T7" fmla="*/ 979 h 1221"/>
                <a:gd name="T8" fmla="*/ 215 w 1902"/>
                <a:gd name="T9" fmla="*/ 1081 h 1221"/>
                <a:gd name="T10" fmla="*/ 16 w 1902"/>
                <a:gd name="T11" fmla="*/ 434 h 1221"/>
                <a:gd name="T12" fmla="*/ 197 w 1902"/>
                <a:gd name="T13" fmla="*/ 100 h 12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02" h="1221">
                  <a:moveTo>
                    <a:pt x="253" y="104"/>
                  </a:moveTo>
                  <a:cubicBezTo>
                    <a:pt x="463" y="36"/>
                    <a:pt x="1052" y="0"/>
                    <a:pt x="1279" y="45"/>
                  </a:cubicBezTo>
                  <a:cubicBezTo>
                    <a:pt x="1506" y="90"/>
                    <a:pt x="1549" y="210"/>
                    <a:pt x="1616" y="373"/>
                  </a:cubicBezTo>
                  <a:cubicBezTo>
                    <a:pt x="1683" y="536"/>
                    <a:pt x="1902" y="894"/>
                    <a:pt x="1679" y="1020"/>
                  </a:cubicBezTo>
                  <a:cubicBezTo>
                    <a:pt x="1456" y="1146"/>
                    <a:pt x="552" y="1221"/>
                    <a:pt x="276" y="1126"/>
                  </a:cubicBezTo>
                  <a:cubicBezTo>
                    <a:pt x="0" y="1031"/>
                    <a:pt x="25" y="622"/>
                    <a:pt x="21" y="452"/>
                  </a:cubicBezTo>
                  <a:cubicBezTo>
                    <a:pt x="17" y="282"/>
                    <a:pt x="43" y="172"/>
                    <a:pt x="253" y="104"/>
                  </a:cubicBezTo>
                  <a:close/>
                </a:path>
              </a:pathLst>
            </a:custGeom>
            <a:solidFill>
              <a:srgbClr val="DDDDDD"/>
            </a:solidFill>
            <a:ln w="1905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endParaRPr lang="en-CA"/>
            </a:p>
          </p:txBody>
        </p:sp>
        <p:sp>
          <p:nvSpPr>
            <p:cNvPr id="88072" name="Line 31"/>
            <p:cNvSpPr>
              <a:spLocks noChangeShapeType="1"/>
            </p:cNvSpPr>
            <p:nvPr/>
          </p:nvSpPr>
          <p:spPr bwMode="auto">
            <a:xfrm flipH="1">
              <a:off x="2992" y="1289"/>
              <a:ext cx="37" cy="18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73" name="Line 32"/>
            <p:cNvSpPr>
              <a:spLocks noChangeShapeType="1"/>
            </p:cNvSpPr>
            <p:nvPr/>
          </p:nvSpPr>
          <p:spPr bwMode="auto">
            <a:xfrm flipH="1">
              <a:off x="2767" y="1289"/>
              <a:ext cx="262" cy="4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74" name="Line 33"/>
            <p:cNvSpPr>
              <a:spLocks noChangeShapeType="1"/>
            </p:cNvSpPr>
            <p:nvPr/>
          </p:nvSpPr>
          <p:spPr bwMode="auto">
            <a:xfrm>
              <a:off x="3029" y="1289"/>
              <a:ext cx="263"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75" name="Line 34"/>
            <p:cNvSpPr>
              <a:spLocks noChangeShapeType="1"/>
            </p:cNvSpPr>
            <p:nvPr/>
          </p:nvSpPr>
          <p:spPr bwMode="auto">
            <a:xfrm flipH="1">
              <a:off x="2842" y="1473"/>
              <a:ext cx="150" cy="93"/>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76" name="Line 35"/>
            <p:cNvSpPr>
              <a:spLocks noChangeShapeType="1"/>
            </p:cNvSpPr>
            <p:nvPr/>
          </p:nvSpPr>
          <p:spPr bwMode="auto">
            <a:xfrm>
              <a:off x="2992" y="1473"/>
              <a:ext cx="187" cy="139"/>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77" name="Line 36"/>
            <p:cNvSpPr>
              <a:spLocks noChangeShapeType="1"/>
            </p:cNvSpPr>
            <p:nvPr/>
          </p:nvSpPr>
          <p:spPr bwMode="auto">
            <a:xfrm flipV="1">
              <a:off x="3029" y="1059"/>
              <a:ext cx="38" cy="23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78" name="Line 37"/>
            <p:cNvSpPr>
              <a:spLocks noChangeShapeType="1"/>
            </p:cNvSpPr>
            <p:nvPr/>
          </p:nvSpPr>
          <p:spPr bwMode="auto">
            <a:xfrm flipH="1" flipV="1">
              <a:off x="2730" y="1197"/>
              <a:ext cx="37" cy="13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79" name="Line 38"/>
            <p:cNvSpPr>
              <a:spLocks noChangeShapeType="1"/>
            </p:cNvSpPr>
            <p:nvPr/>
          </p:nvSpPr>
          <p:spPr bwMode="auto">
            <a:xfrm flipH="1">
              <a:off x="2618" y="1335"/>
              <a:ext cx="149" cy="13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80" name="Oval 39"/>
            <p:cNvSpPr>
              <a:spLocks noChangeArrowheads="1"/>
            </p:cNvSpPr>
            <p:nvPr/>
          </p:nvSpPr>
          <p:spPr bwMode="auto">
            <a:xfrm>
              <a:off x="4664" y="993"/>
              <a:ext cx="38"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8081" name="Oval 40"/>
            <p:cNvSpPr>
              <a:spLocks noChangeArrowheads="1"/>
            </p:cNvSpPr>
            <p:nvPr/>
          </p:nvSpPr>
          <p:spPr bwMode="auto">
            <a:xfrm>
              <a:off x="5188" y="1546"/>
              <a:ext cx="38"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8082" name="Oval 41"/>
            <p:cNvSpPr>
              <a:spLocks noChangeArrowheads="1"/>
            </p:cNvSpPr>
            <p:nvPr/>
          </p:nvSpPr>
          <p:spPr bwMode="auto">
            <a:xfrm>
              <a:off x="4702" y="1730"/>
              <a:ext cx="37"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8083" name="Oval 42"/>
            <p:cNvSpPr>
              <a:spLocks noChangeArrowheads="1"/>
            </p:cNvSpPr>
            <p:nvPr/>
          </p:nvSpPr>
          <p:spPr bwMode="auto">
            <a:xfrm>
              <a:off x="4964" y="1223"/>
              <a:ext cx="37"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8084" name="Oval 43"/>
            <p:cNvSpPr>
              <a:spLocks noChangeArrowheads="1"/>
            </p:cNvSpPr>
            <p:nvPr/>
          </p:nvSpPr>
          <p:spPr bwMode="auto">
            <a:xfrm>
              <a:off x="4664" y="1453"/>
              <a:ext cx="38" cy="47"/>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8085" name="Oval 44"/>
            <p:cNvSpPr>
              <a:spLocks noChangeArrowheads="1"/>
            </p:cNvSpPr>
            <p:nvPr/>
          </p:nvSpPr>
          <p:spPr bwMode="auto">
            <a:xfrm>
              <a:off x="5076" y="947"/>
              <a:ext cx="38"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8086" name="Oval 45"/>
            <p:cNvSpPr>
              <a:spLocks noChangeArrowheads="1"/>
            </p:cNvSpPr>
            <p:nvPr/>
          </p:nvSpPr>
          <p:spPr bwMode="auto">
            <a:xfrm>
              <a:off x="4889" y="1500"/>
              <a:ext cx="37"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8087" name="Oval 46"/>
            <p:cNvSpPr>
              <a:spLocks noChangeArrowheads="1"/>
            </p:cNvSpPr>
            <p:nvPr/>
          </p:nvSpPr>
          <p:spPr bwMode="auto">
            <a:xfrm>
              <a:off x="5226" y="1269"/>
              <a:ext cx="37"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8088" name="Line 47"/>
            <p:cNvSpPr>
              <a:spLocks noChangeShapeType="1"/>
            </p:cNvSpPr>
            <p:nvPr/>
          </p:nvSpPr>
          <p:spPr bwMode="auto">
            <a:xfrm flipH="1">
              <a:off x="3067" y="1612"/>
              <a:ext cx="112" cy="23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89" name="Line 48"/>
            <p:cNvSpPr>
              <a:spLocks noChangeShapeType="1"/>
            </p:cNvSpPr>
            <p:nvPr/>
          </p:nvSpPr>
          <p:spPr bwMode="auto">
            <a:xfrm>
              <a:off x="3179" y="1612"/>
              <a:ext cx="150" cy="23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90" name="Line 49"/>
            <p:cNvSpPr>
              <a:spLocks noChangeShapeType="1"/>
            </p:cNvSpPr>
            <p:nvPr/>
          </p:nvSpPr>
          <p:spPr bwMode="auto">
            <a:xfrm flipH="1">
              <a:off x="2880" y="1612"/>
              <a:ext cx="299" cy="18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91" name="Line 50"/>
            <p:cNvSpPr>
              <a:spLocks noChangeShapeType="1"/>
            </p:cNvSpPr>
            <p:nvPr/>
          </p:nvSpPr>
          <p:spPr bwMode="auto">
            <a:xfrm flipH="1" flipV="1">
              <a:off x="2655" y="1750"/>
              <a:ext cx="225" cy="4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92" name="Line 51"/>
            <p:cNvSpPr>
              <a:spLocks noChangeShapeType="1"/>
            </p:cNvSpPr>
            <p:nvPr/>
          </p:nvSpPr>
          <p:spPr bwMode="auto">
            <a:xfrm>
              <a:off x="2880" y="1796"/>
              <a:ext cx="0" cy="13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93" name="Line 52"/>
            <p:cNvSpPr>
              <a:spLocks noChangeShapeType="1"/>
            </p:cNvSpPr>
            <p:nvPr/>
          </p:nvSpPr>
          <p:spPr bwMode="auto">
            <a:xfrm flipH="1" flipV="1">
              <a:off x="2355" y="1289"/>
              <a:ext cx="263" cy="18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94" name="Line 53"/>
            <p:cNvSpPr>
              <a:spLocks noChangeShapeType="1"/>
            </p:cNvSpPr>
            <p:nvPr/>
          </p:nvSpPr>
          <p:spPr bwMode="auto">
            <a:xfrm flipH="1">
              <a:off x="2355" y="1473"/>
              <a:ext cx="263" cy="47"/>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95" name="Line 54"/>
            <p:cNvSpPr>
              <a:spLocks noChangeShapeType="1"/>
            </p:cNvSpPr>
            <p:nvPr/>
          </p:nvSpPr>
          <p:spPr bwMode="auto">
            <a:xfrm flipH="1">
              <a:off x="2318" y="1473"/>
              <a:ext cx="300" cy="277"/>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96" name="Line 55"/>
            <p:cNvSpPr>
              <a:spLocks noChangeShapeType="1"/>
            </p:cNvSpPr>
            <p:nvPr/>
          </p:nvSpPr>
          <p:spPr bwMode="auto">
            <a:xfrm flipV="1">
              <a:off x="2355" y="1151"/>
              <a:ext cx="75" cy="13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97" name="Line 56"/>
            <p:cNvSpPr>
              <a:spLocks noChangeShapeType="1"/>
            </p:cNvSpPr>
            <p:nvPr/>
          </p:nvSpPr>
          <p:spPr bwMode="auto">
            <a:xfrm flipH="1">
              <a:off x="2206" y="1289"/>
              <a:ext cx="149" cy="4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098" name="Text Box 57"/>
            <p:cNvSpPr txBox="1">
              <a:spLocks noChangeArrowheads="1"/>
            </p:cNvSpPr>
            <p:nvPr/>
          </p:nvSpPr>
          <p:spPr bwMode="auto">
            <a:xfrm>
              <a:off x="2524" y="1243"/>
              <a:ext cx="17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hlink"/>
                  </a:solidFill>
                </a:rPr>
                <a:t>s</a:t>
              </a:r>
            </a:p>
          </p:txBody>
        </p:sp>
        <p:sp>
          <p:nvSpPr>
            <p:cNvPr id="88099" name="Line 58"/>
            <p:cNvSpPr>
              <a:spLocks noChangeShapeType="1"/>
            </p:cNvSpPr>
            <p:nvPr/>
          </p:nvSpPr>
          <p:spPr bwMode="auto">
            <a:xfrm flipV="1">
              <a:off x="3168" y="1488"/>
              <a:ext cx="1536" cy="144"/>
            </a:xfrm>
            <a:prstGeom prst="line">
              <a:avLst/>
            </a:prstGeom>
            <a:noFill/>
            <a:ln w="19050">
              <a:solidFill>
                <a:schemeClr va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8100" name="Text Box 59"/>
            <p:cNvSpPr txBox="1">
              <a:spLocks noChangeArrowheads="1"/>
            </p:cNvSpPr>
            <p:nvPr/>
          </p:nvSpPr>
          <p:spPr bwMode="auto">
            <a:xfrm>
              <a:off x="3600" y="1248"/>
              <a:ext cx="78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bridge(u,B)</a:t>
              </a:r>
            </a:p>
          </p:txBody>
        </p:sp>
        <p:sp>
          <p:nvSpPr>
            <p:cNvPr id="88101" name="Rectangle 60"/>
            <p:cNvSpPr>
              <a:spLocks noChangeArrowheads="1"/>
            </p:cNvSpPr>
            <p:nvPr/>
          </p:nvSpPr>
          <p:spPr bwMode="auto">
            <a:xfrm>
              <a:off x="4560" y="124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u</a:t>
              </a:r>
            </a:p>
          </p:txBody>
        </p:sp>
        <p:sp>
          <p:nvSpPr>
            <p:cNvPr id="88102" name="Rectangle 61"/>
            <p:cNvSpPr>
              <a:spLocks noChangeArrowheads="1"/>
            </p:cNvSpPr>
            <p:nvPr/>
          </p:nvSpPr>
          <p:spPr bwMode="auto">
            <a:xfrm>
              <a:off x="3072" y="1392"/>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latin typeface="Symbol" pitchFamily="18" charset="2"/>
                </a:rPr>
                <a:t>p</a:t>
              </a:r>
              <a:r>
                <a:rPr lang="en-US" sz="1800">
                  <a:solidFill>
                    <a:schemeClr val="tx2"/>
                  </a:solidFill>
                </a:rPr>
                <a:t>(u)</a:t>
              </a:r>
            </a:p>
          </p:txBody>
        </p:sp>
        <p:sp>
          <p:nvSpPr>
            <p:cNvPr id="88103" name="Rectangle 62"/>
            <p:cNvSpPr>
              <a:spLocks noChangeArrowheads="1"/>
            </p:cNvSpPr>
            <p:nvPr/>
          </p:nvSpPr>
          <p:spPr bwMode="auto">
            <a:xfrm>
              <a:off x="4320" y="1632"/>
              <a:ext cx="26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400">
                  <a:solidFill>
                    <a:schemeClr val="hlink"/>
                  </a:solidFill>
                  <a:latin typeface="Arial" pitchFamily="34" charset="0"/>
                </a:rPr>
                <a:t>Q</a:t>
              </a:r>
            </a:p>
          </p:txBody>
        </p:sp>
        <p:sp>
          <p:nvSpPr>
            <p:cNvPr id="88104" name="Rectangle 63"/>
            <p:cNvSpPr>
              <a:spLocks noChangeArrowheads="1"/>
            </p:cNvSpPr>
            <p:nvPr/>
          </p:nvSpPr>
          <p:spPr bwMode="auto">
            <a:xfrm>
              <a:off x="3456" y="1728"/>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400">
                  <a:solidFill>
                    <a:schemeClr val="hlink"/>
                  </a:solidFill>
                  <a:latin typeface="Arial" pitchFamily="34" charset="0"/>
                </a:rPr>
                <a:t>B</a:t>
              </a:r>
            </a:p>
          </p:txBody>
        </p:sp>
        <p:sp>
          <p:nvSpPr>
            <p:cNvPr id="88105" name="Rectangle 65"/>
            <p:cNvSpPr>
              <a:spLocks noChangeArrowheads="1"/>
            </p:cNvSpPr>
            <p:nvPr/>
          </p:nvSpPr>
          <p:spPr bwMode="auto">
            <a:xfrm>
              <a:off x="1318" y="1392"/>
              <a:ext cx="71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solidFill>
                    <a:srgbClr val="CC0000"/>
                  </a:solidFill>
                  <a:latin typeface="Arial" pitchFamily="34" charset="0"/>
                </a:rPr>
                <a:t>key = -</a:t>
              </a:r>
              <a:r>
                <a:rPr lang="en-US" sz="2000">
                  <a:solidFill>
                    <a:srgbClr val="CC0000"/>
                  </a:solidFill>
                  <a:latin typeface="Arial" pitchFamily="34" charset="0"/>
                  <a:sym typeface="Symbol" pitchFamily="18" charset="2"/>
                </a:rPr>
                <a:t></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85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68962"/>
                                        </p:tgtEl>
                                        <p:attrNameLst>
                                          <p:attrName>style.visibility</p:attrName>
                                        </p:attrNameLst>
                                      </p:cBhvr>
                                      <p:to>
                                        <p:strVal val="visible"/>
                                      </p:to>
                                    </p:set>
                                    <p:anim calcmode="lin" valueType="num">
                                      <p:cBhvr>
                                        <p:cTn id="7" dur="500" fill="hold"/>
                                        <p:tgtEl>
                                          <p:spTgt spid="168962"/>
                                        </p:tgtEl>
                                        <p:attrNameLst>
                                          <p:attrName>ppt_w</p:attrName>
                                        </p:attrNameLst>
                                      </p:cBhvr>
                                      <p:tavLst>
                                        <p:tav tm="0">
                                          <p:val>
                                            <p:fltVal val="0"/>
                                          </p:val>
                                        </p:tav>
                                        <p:tav tm="100000">
                                          <p:val>
                                            <p:strVal val="#ppt_w"/>
                                          </p:val>
                                        </p:tav>
                                      </p:tavLst>
                                    </p:anim>
                                    <p:anim calcmode="lin" valueType="num">
                                      <p:cBhvr>
                                        <p:cTn id="8" dur="500" fill="hold"/>
                                        <p:tgtEl>
                                          <p:spTgt spid="16896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68987"/>
                                        </p:tgtEl>
                                        <p:attrNameLst>
                                          <p:attrName>style.visibility</p:attrName>
                                        </p:attrNameLst>
                                      </p:cBhvr>
                                      <p:to>
                                        <p:strVal val="visible"/>
                                      </p:to>
                                    </p:set>
                                    <p:animEffect transition="in" filter="wipe(left)">
                                      <p:cBhvr>
                                        <p:cTn id="13" dur="500"/>
                                        <p:tgtEl>
                                          <p:spTgt spid="168987"/>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169027"/>
                                        </p:tgtEl>
                                        <p:attrNameLst>
                                          <p:attrName>style.visibility</p:attrName>
                                        </p:attrNameLst>
                                      </p:cBhvr>
                                      <p:to>
                                        <p:strVal val="visible"/>
                                      </p:to>
                                    </p:set>
                                    <p:animEffect transition="in" filter="wipe(left)">
                                      <p:cBhvr>
                                        <p:cTn id="17" dur="500"/>
                                        <p:tgtEl>
                                          <p:spTgt spid="1690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8986">
                                            <p:txEl>
                                              <p:pRg st="0" end="0"/>
                                            </p:txEl>
                                          </p:spTgt>
                                        </p:tgtEl>
                                        <p:attrNameLst>
                                          <p:attrName>style.visibility</p:attrName>
                                        </p:attrNameLst>
                                      </p:cBhvr>
                                      <p:to>
                                        <p:strVal val="visible"/>
                                      </p:to>
                                    </p:set>
                                    <p:animEffect transition="in" filter="wipe(left)">
                                      <p:cBhvr>
                                        <p:cTn id="22" dur="500"/>
                                        <p:tgtEl>
                                          <p:spTgt spid="16898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8986">
                                            <p:txEl>
                                              <p:pRg st="1" end="1"/>
                                            </p:txEl>
                                          </p:spTgt>
                                        </p:tgtEl>
                                        <p:attrNameLst>
                                          <p:attrName>style.visibility</p:attrName>
                                        </p:attrNameLst>
                                      </p:cBhvr>
                                      <p:to>
                                        <p:strVal val="visible"/>
                                      </p:to>
                                    </p:set>
                                    <p:animEffect transition="in" filter="wipe(left)">
                                      <p:cBhvr>
                                        <p:cTn id="27" dur="500"/>
                                        <p:tgtEl>
                                          <p:spTgt spid="168986">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8986">
                                            <p:txEl>
                                              <p:pRg st="2" end="2"/>
                                            </p:txEl>
                                          </p:spTgt>
                                        </p:tgtEl>
                                        <p:attrNameLst>
                                          <p:attrName>style.visibility</p:attrName>
                                        </p:attrNameLst>
                                      </p:cBhvr>
                                      <p:to>
                                        <p:strVal val="visible"/>
                                      </p:to>
                                    </p:set>
                                    <p:animEffect transition="in" filter="wipe(left)">
                                      <p:cBhvr>
                                        <p:cTn id="32" dur="500"/>
                                        <p:tgtEl>
                                          <p:spTgt spid="168986">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8986">
                                            <p:txEl>
                                              <p:pRg st="3" end="3"/>
                                            </p:txEl>
                                          </p:spTgt>
                                        </p:tgtEl>
                                        <p:attrNameLst>
                                          <p:attrName>style.visibility</p:attrName>
                                        </p:attrNameLst>
                                      </p:cBhvr>
                                      <p:to>
                                        <p:strVal val="visible"/>
                                      </p:to>
                                    </p:set>
                                    <p:animEffect transition="in" filter="wipe(left)">
                                      <p:cBhvr>
                                        <p:cTn id="37" dur="500"/>
                                        <p:tgtEl>
                                          <p:spTgt spid="168986">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8986">
                                            <p:txEl>
                                              <p:pRg st="4" end="4"/>
                                            </p:txEl>
                                          </p:spTgt>
                                        </p:tgtEl>
                                        <p:attrNameLst>
                                          <p:attrName>style.visibility</p:attrName>
                                        </p:attrNameLst>
                                      </p:cBhvr>
                                      <p:to>
                                        <p:strVal val="visible"/>
                                      </p:to>
                                    </p:set>
                                    <p:animEffect transition="in" filter="wipe(left)">
                                      <p:cBhvr>
                                        <p:cTn id="42" dur="500"/>
                                        <p:tgtEl>
                                          <p:spTgt spid="168986">
                                            <p:txEl>
                                              <p:pRg st="4" end="4"/>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8986">
                                            <p:txEl>
                                              <p:pRg st="5" end="5"/>
                                            </p:txEl>
                                          </p:spTgt>
                                        </p:tgtEl>
                                        <p:attrNameLst>
                                          <p:attrName>style.visibility</p:attrName>
                                        </p:attrNameLst>
                                      </p:cBhvr>
                                      <p:to>
                                        <p:strVal val="visible"/>
                                      </p:to>
                                    </p:set>
                                    <p:animEffect transition="in" filter="wipe(left)">
                                      <p:cBhvr>
                                        <p:cTn id="47" dur="500"/>
                                        <p:tgtEl>
                                          <p:spTgt spid="168986">
                                            <p:txEl>
                                              <p:pRg st="5" end="5"/>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8986">
                                            <p:txEl>
                                              <p:pRg st="6" end="6"/>
                                            </p:txEl>
                                          </p:spTgt>
                                        </p:tgtEl>
                                        <p:attrNameLst>
                                          <p:attrName>style.visibility</p:attrName>
                                        </p:attrNameLst>
                                      </p:cBhvr>
                                      <p:to>
                                        <p:strVal val="visible"/>
                                      </p:to>
                                    </p:set>
                                    <p:animEffect transition="in" filter="wipe(left)">
                                      <p:cBhvr>
                                        <p:cTn id="52" dur="500"/>
                                        <p:tgtEl>
                                          <p:spTgt spid="168986">
                                            <p:txEl>
                                              <p:pRg st="6" end="6"/>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8986">
                                            <p:txEl>
                                              <p:pRg st="7" end="7"/>
                                            </p:txEl>
                                          </p:spTgt>
                                        </p:tgtEl>
                                        <p:attrNameLst>
                                          <p:attrName>style.visibility</p:attrName>
                                        </p:attrNameLst>
                                      </p:cBhvr>
                                      <p:to>
                                        <p:strVal val="visible"/>
                                      </p:to>
                                    </p:set>
                                    <p:animEffect transition="in" filter="wipe(left)">
                                      <p:cBhvr>
                                        <p:cTn id="57" dur="500"/>
                                        <p:tgtEl>
                                          <p:spTgt spid="16898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2" grpId="0" animBg="1" autoUpdateAnimBg="0"/>
      <p:bldP spid="168986" grpId="0" build="p" bldLvl="2" autoUpdateAnimBg="0"/>
      <p:bldP spid="168987"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chemeClr val="tx1"/>
                </a:solidFill>
                <a:latin typeface="Arial Rounded MT Bold" pitchFamily="34" charset="0"/>
              </a:rPr>
              <a:t>One  Prim  Step</a:t>
            </a:r>
          </a:p>
        </p:txBody>
      </p:sp>
      <p:grpSp>
        <p:nvGrpSpPr>
          <p:cNvPr id="176294" name="Group 166"/>
          <p:cNvGrpSpPr>
            <a:grpSpLocks/>
          </p:cNvGrpSpPr>
          <p:nvPr/>
        </p:nvGrpSpPr>
        <p:grpSpPr bwMode="auto">
          <a:xfrm>
            <a:off x="990600" y="825500"/>
            <a:ext cx="6897688" cy="2101850"/>
            <a:chOff x="624" y="520"/>
            <a:chExt cx="4345" cy="1324"/>
          </a:xfrm>
        </p:grpSpPr>
        <p:sp>
          <p:nvSpPr>
            <p:cNvPr id="89135" name="Freeform 6"/>
            <p:cNvSpPr>
              <a:spLocks/>
            </p:cNvSpPr>
            <p:nvPr/>
          </p:nvSpPr>
          <p:spPr bwMode="auto">
            <a:xfrm>
              <a:off x="3105" y="520"/>
              <a:ext cx="1766" cy="1287"/>
            </a:xfrm>
            <a:custGeom>
              <a:avLst/>
              <a:gdLst>
                <a:gd name="T0" fmla="*/ 0 w 1766"/>
                <a:gd name="T1" fmla="*/ 142 h 1287"/>
                <a:gd name="T2" fmla="*/ 1403 w 1766"/>
                <a:gd name="T3" fmla="*/ 130 h 1287"/>
                <a:gd name="T4" fmla="*/ 1575 w 1766"/>
                <a:gd name="T5" fmla="*/ 921 h 1287"/>
                <a:gd name="T6" fmla="*/ 258 w 1766"/>
                <a:gd name="T7" fmla="*/ 1241 h 1287"/>
                <a:gd name="T8" fmla="*/ 424 w 1766"/>
                <a:gd name="T9" fmla="*/ 645 h 1287"/>
                <a:gd name="T10" fmla="*/ 0 w 1766"/>
                <a:gd name="T11" fmla="*/ 142 h 12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66" h="1287">
                  <a:moveTo>
                    <a:pt x="0" y="142"/>
                  </a:moveTo>
                  <a:cubicBezTo>
                    <a:pt x="239" y="36"/>
                    <a:pt x="1140" y="0"/>
                    <a:pt x="1403" y="130"/>
                  </a:cubicBezTo>
                  <a:cubicBezTo>
                    <a:pt x="1540" y="242"/>
                    <a:pt x="1766" y="736"/>
                    <a:pt x="1575" y="921"/>
                  </a:cubicBezTo>
                  <a:cubicBezTo>
                    <a:pt x="1384" y="1106"/>
                    <a:pt x="450" y="1287"/>
                    <a:pt x="258" y="1241"/>
                  </a:cubicBezTo>
                  <a:cubicBezTo>
                    <a:pt x="66" y="1195"/>
                    <a:pt x="467" y="828"/>
                    <a:pt x="424" y="645"/>
                  </a:cubicBezTo>
                  <a:cubicBezTo>
                    <a:pt x="381" y="462"/>
                    <a:pt x="88" y="247"/>
                    <a:pt x="0" y="142"/>
                  </a:cubicBezTo>
                  <a:close/>
                </a:path>
              </a:pathLst>
            </a:custGeom>
            <a:solidFill>
              <a:srgbClr val="DDDDDD"/>
            </a:solidFill>
            <a:ln w="1905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endParaRPr lang="en-CA"/>
            </a:p>
          </p:txBody>
        </p:sp>
        <p:sp>
          <p:nvSpPr>
            <p:cNvPr id="89136" name="Freeform 7"/>
            <p:cNvSpPr>
              <a:spLocks/>
            </p:cNvSpPr>
            <p:nvPr/>
          </p:nvSpPr>
          <p:spPr bwMode="auto">
            <a:xfrm>
              <a:off x="1418" y="672"/>
              <a:ext cx="1484" cy="1172"/>
            </a:xfrm>
            <a:custGeom>
              <a:avLst/>
              <a:gdLst>
                <a:gd name="T0" fmla="*/ 197 w 1902"/>
                <a:gd name="T1" fmla="*/ 100 h 1221"/>
                <a:gd name="T2" fmla="*/ 998 w 1902"/>
                <a:gd name="T3" fmla="*/ 43 h 1221"/>
                <a:gd name="T4" fmla="*/ 1261 w 1902"/>
                <a:gd name="T5" fmla="*/ 358 h 1221"/>
                <a:gd name="T6" fmla="*/ 1310 w 1902"/>
                <a:gd name="T7" fmla="*/ 979 h 1221"/>
                <a:gd name="T8" fmla="*/ 215 w 1902"/>
                <a:gd name="T9" fmla="*/ 1081 h 1221"/>
                <a:gd name="T10" fmla="*/ 16 w 1902"/>
                <a:gd name="T11" fmla="*/ 434 h 1221"/>
                <a:gd name="T12" fmla="*/ 197 w 1902"/>
                <a:gd name="T13" fmla="*/ 100 h 12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02" h="1221">
                  <a:moveTo>
                    <a:pt x="253" y="104"/>
                  </a:moveTo>
                  <a:cubicBezTo>
                    <a:pt x="463" y="36"/>
                    <a:pt x="1052" y="0"/>
                    <a:pt x="1279" y="45"/>
                  </a:cubicBezTo>
                  <a:cubicBezTo>
                    <a:pt x="1506" y="90"/>
                    <a:pt x="1549" y="210"/>
                    <a:pt x="1616" y="373"/>
                  </a:cubicBezTo>
                  <a:cubicBezTo>
                    <a:pt x="1683" y="536"/>
                    <a:pt x="1902" y="894"/>
                    <a:pt x="1679" y="1020"/>
                  </a:cubicBezTo>
                  <a:cubicBezTo>
                    <a:pt x="1456" y="1146"/>
                    <a:pt x="552" y="1221"/>
                    <a:pt x="276" y="1126"/>
                  </a:cubicBezTo>
                  <a:cubicBezTo>
                    <a:pt x="0" y="1031"/>
                    <a:pt x="25" y="622"/>
                    <a:pt x="21" y="452"/>
                  </a:cubicBezTo>
                  <a:cubicBezTo>
                    <a:pt x="17" y="282"/>
                    <a:pt x="43" y="172"/>
                    <a:pt x="253" y="104"/>
                  </a:cubicBezTo>
                  <a:close/>
                </a:path>
              </a:pathLst>
            </a:custGeom>
            <a:solidFill>
              <a:srgbClr val="DDDDDD"/>
            </a:solidFill>
            <a:ln w="1905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endParaRPr lang="en-CA"/>
            </a:p>
          </p:txBody>
        </p:sp>
        <p:sp>
          <p:nvSpPr>
            <p:cNvPr id="89137" name="Line 8"/>
            <p:cNvSpPr>
              <a:spLocks noChangeShapeType="1"/>
            </p:cNvSpPr>
            <p:nvPr/>
          </p:nvSpPr>
          <p:spPr bwMode="auto">
            <a:xfrm flipH="1">
              <a:off x="2298" y="1049"/>
              <a:ext cx="37" cy="18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38" name="Line 9"/>
            <p:cNvSpPr>
              <a:spLocks noChangeShapeType="1"/>
            </p:cNvSpPr>
            <p:nvPr/>
          </p:nvSpPr>
          <p:spPr bwMode="auto">
            <a:xfrm flipH="1">
              <a:off x="2073" y="1049"/>
              <a:ext cx="262" cy="4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39" name="Line 10"/>
            <p:cNvSpPr>
              <a:spLocks noChangeShapeType="1"/>
            </p:cNvSpPr>
            <p:nvPr/>
          </p:nvSpPr>
          <p:spPr bwMode="auto">
            <a:xfrm>
              <a:off x="2335" y="1049"/>
              <a:ext cx="263"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40" name="Line 11"/>
            <p:cNvSpPr>
              <a:spLocks noChangeShapeType="1"/>
            </p:cNvSpPr>
            <p:nvPr/>
          </p:nvSpPr>
          <p:spPr bwMode="auto">
            <a:xfrm flipH="1">
              <a:off x="2148" y="1233"/>
              <a:ext cx="150" cy="93"/>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41" name="Line 12"/>
            <p:cNvSpPr>
              <a:spLocks noChangeShapeType="1"/>
            </p:cNvSpPr>
            <p:nvPr/>
          </p:nvSpPr>
          <p:spPr bwMode="auto">
            <a:xfrm>
              <a:off x="2298" y="1233"/>
              <a:ext cx="187" cy="139"/>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42" name="Line 13"/>
            <p:cNvSpPr>
              <a:spLocks noChangeShapeType="1"/>
            </p:cNvSpPr>
            <p:nvPr/>
          </p:nvSpPr>
          <p:spPr bwMode="auto">
            <a:xfrm flipV="1">
              <a:off x="2335" y="819"/>
              <a:ext cx="38" cy="23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43" name="Line 14"/>
            <p:cNvSpPr>
              <a:spLocks noChangeShapeType="1"/>
            </p:cNvSpPr>
            <p:nvPr/>
          </p:nvSpPr>
          <p:spPr bwMode="auto">
            <a:xfrm flipH="1" flipV="1">
              <a:off x="2036" y="957"/>
              <a:ext cx="37" cy="13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44" name="Line 15"/>
            <p:cNvSpPr>
              <a:spLocks noChangeShapeType="1"/>
            </p:cNvSpPr>
            <p:nvPr/>
          </p:nvSpPr>
          <p:spPr bwMode="auto">
            <a:xfrm flipH="1">
              <a:off x="1924" y="1095"/>
              <a:ext cx="149" cy="13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45" name="Oval 16"/>
            <p:cNvSpPr>
              <a:spLocks noChangeArrowheads="1"/>
            </p:cNvSpPr>
            <p:nvPr/>
          </p:nvSpPr>
          <p:spPr bwMode="auto">
            <a:xfrm>
              <a:off x="3970" y="753"/>
              <a:ext cx="38"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46" name="Oval 17"/>
            <p:cNvSpPr>
              <a:spLocks noChangeArrowheads="1"/>
            </p:cNvSpPr>
            <p:nvPr/>
          </p:nvSpPr>
          <p:spPr bwMode="auto">
            <a:xfrm>
              <a:off x="4494" y="1306"/>
              <a:ext cx="38"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47" name="Oval 18"/>
            <p:cNvSpPr>
              <a:spLocks noChangeArrowheads="1"/>
            </p:cNvSpPr>
            <p:nvPr/>
          </p:nvSpPr>
          <p:spPr bwMode="auto">
            <a:xfrm>
              <a:off x="4008" y="1490"/>
              <a:ext cx="37"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48" name="Oval 19"/>
            <p:cNvSpPr>
              <a:spLocks noChangeArrowheads="1"/>
            </p:cNvSpPr>
            <p:nvPr/>
          </p:nvSpPr>
          <p:spPr bwMode="auto">
            <a:xfrm>
              <a:off x="4270" y="983"/>
              <a:ext cx="37"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49" name="Oval 20"/>
            <p:cNvSpPr>
              <a:spLocks noChangeArrowheads="1"/>
            </p:cNvSpPr>
            <p:nvPr/>
          </p:nvSpPr>
          <p:spPr bwMode="auto">
            <a:xfrm>
              <a:off x="3648" y="1248"/>
              <a:ext cx="38" cy="47"/>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50" name="Oval 21"/>
            <p:cNvSpPr>
              <a:spLocks noChangeArrowheads="1"/>
            </p:cNvSpPr>
            <p:nvPr/>
          </p:nvSpPr>
          <p:spPr bwMode="auto">
            <a:xfrm>
              <a:off x="4382" y="707"/>
              <a:ext cx="38"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51" name="Oval 22"/>
            <p:cNvSpPr>
              <a:spLocks noChangeArrowheads="1"/>
            </p:cNvSpPr>
            <p:nvPr/>
          </p:nvSpPr>
          <p:spPr bwMode="auto">
            <a:xfrm>
              <a:off x="4195" y="1260"/>
              <a:ext cx="37"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52" name="Oval 23"/>
            <p:cNvSpPr>
              <a:spLocks noChangeArrowheads="1"/>
            </p:cNvSpPr>
            <p:nvPr/>
          </p:nvSpPr>
          <p:spPr bwMode="auto">
            <a:xfrm>
              <a:off x="4532" y="1029"/>
              <a:ext cx="37"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53" name="Line 24"/>
            <p:cNvSpPr>
              <a:spLocks noChangeShapeType="1"/>
            </p:cNvSpPr>
            <p:nvPr/>
          </p:nvSpPr>
          <p:spPr bwMode="auto">
            <a:xfrm flipH="1">
              <a:off x="2373" y="1372"/>
              <a:ext cx="112" cy="23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54" name="Line 25"/>
            <p:cNvSpPr>
              <a:spLocks noChangeShapeType="1"/>
            </p:cNvSpPr>
            <p:nvPr/>
          </p:nvSpPr>
          <p:spPr bwMode="auto">
            <a:xfrm>
              <a:off x="2485" y="1372"/>
              <a:ext cx="150" cy="23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55" name="Line 26"/>
            <p:cNvSpPr>
              <a:spLocks noChangeShapeType="1"/>
            </p:cNvSpPr>
            <p:nvPr/>
          </p:nvSpPr>
          <p:spPr bwMode="auto">
            <a:xfrm flipH="1">
              <a:off x="2186" y="1372"/>
              <a:ext cx="299" cy="18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56" name="Line 27"/>
            <p:cNvSpPr>
              <a:spLocks noChangeShapeType="1"/>
            </p:cNvSpPr>
            <p:nvPr/>
          </p:nvSpPr>
          <p:spPr bwMode="auto">
            <a:xfrm flipH="1" flipV="1">
              <a:off x="1961" y="1510"/>
              <a:ext cx="225" cy="4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57" name="Line 28"/>
            <p:cNvSpPr>
              <a:spLocks noChangeShapeType="1"/>
            </p:cNvSpPr>
            <p:nvPr/>
          </p:nvSpPr>
          <p:spPr bwMode="auto">
            <a:xfrm>
              <a:off x="2186" y="1556"/>
              <a:ext cx="0" cy="13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58" name="Line 29"/>
            <p:cNvSpPr>
              <a:spLocks noChangeShapeType="1"/>
            </p:cNvSpPr>
            <p:nvPr/>
          </p:nvSpPr>
          <p:spPr bwMode="auto">
            <a:xfrm flipH="1" flipV="1">
              <a:off x="1661" y="1049"/>
              <a:ext cx="263" cy="18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59" name="Line 30"/>
            <p:cNvSpPr>
              <a:spLocks noChangeShapeType="1"/>
            </p:cNvSpPr>
            <p:nvPr/>
          </p:nvSpPr>
          <p:spPr bwMode="auto">
            <a:xfrm flipH="1">
              <a:off x="1661" y="1233"/>
              <a:ext cx="263" cy="47"/>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60" name="Line 31"/>
            <p:cNvSpPr>
              <a:spLocks noChangeShapeType="1"/>
            </p:cNvSpPr>
            <p:nvPr/>
          </p:nvSpPr>
          <p:spPr bwMode="auto">
            <a:xfrm flipH="1">
              <a:off x="1624" y="1233"/>
              <a:ext cx="300" cy="277"/>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61" name="Line 32"/>
            <p:cNvSpPr>
              <a:spLocks noChangeShapeType="1"/>
            </p:cNvSpPr>
            <p:nvPr/>
          </p:nvSpPr>
          <p:spPr bwMode="auto">
            <a:xfrm flipV="1">
              <a:off x="1661" y="911"/>
              <a:ext cx="75" cy="13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62" name="Line 33"/>
            <p:cNvSpPr>
              <a:spLocks noChangeShapeType="1"/>
            </p:cNvSpPr>
            <p:nvPr/>
          </p:nvSpPr>
          <p:spPr bwMode="auto">
            <a:xfrm flipH="1">
              <a:off x="1512" y="1049"/>
              <a:ext cx="149" cy="4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63" name="Text Box 34"/>
            <p:cNvSpPr txBox="1">
              <a:spLocks noChangeArrowheads="1"/>
            </p:cNvSpPr>
            <p:nvPr/>
          </p:nvSpPr>
          <p:spPr bwMode="auto">
            <a:xfrm>
              <a:off x="1830" y="1003"/>
              <a:ext cx="17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hlink"/>
                  </a:solidFill>
                </a:rPr>
                <a:t>s</a:t>
              </a:r>
            </a:p>
          </p:txBody>
        </p:sp>
        <p:sp>
          <p:nvSpPr>
            <p:cNvPr id="89164" name="Freeform 35"/>
            <p:cNvSpPr>
              <a:spLocks/>
            </p:cNvSpPr>
            <p:nvPr/>
          </p:nvSpPr>
          <p:spPr bwMode="auto">
            <a:xfrm>
              <a:off x="2474" y="1284"/>
              <a:ext cx="1167" cy="108"/>
            </a:xfrm>
            <a:custGeom>
              <a:avLst/>
              <a:gdLst>
                <a:gd name="T0" fmla="*/ 0 w 1167"/>
                <a:gd name="T1" fmla="*/ 108 h 108"/>
                <a:gd name="T2" fmla="*/ 1167 w 1167"/>
                <a:gd name="T3" fmla="*/ 0 h 108"/>
                <a:gd name="T4" fmla="*/ 0 60000 65536"/>
                <a:gd name="T5" fmla="*/ 0 60000 65536"/>
              </a:gdLst>
              <a:ahLst/>
              <a:cxnLst>
                <a:cxn ang="T4">
                  <a:pos x="T0" y="T1"/>
                </a:cxn>
                <a:cxn ang="T5">
                  <a:pos x="T2" y="T3"/>
                </a:cxn>
              </a:cxnLst>
              <a:rect l="0" t="0" r="r" b="b"/>
              <a:pathLst>
                <a:path w="1167" h="108">
                  <a:moveTo>
                    <a:pt x="0" y="108"/>
                  </a:moveTo>
                  <a:lnTo>
                    <a:pt x="1167" y="0"/>
                  </a:lnTo>
                </a:path>
              </a:pathLst>
            </a:custGeom>
            <a:noFill/>
            <a:ln w="19050">
              <a:solidFill>
                <a:schemeClr val="hlink"/>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65" name="Text Box 36"/>
            <p:cNvSpPr txBox="1">
              <a:spLocks noChangeArrowheads="1"/>
            </p:cNvSpPr>
            <p:nvPr/>
          </p:nvSpPr>
          <p:spPr bwMode="auto">
            <a:xfrm>
              <a:off x="2832" y="1056"/>
              <a:ext cx="6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bridge(B)</a:t>
              </a:r>
            </a:p>
          </p:txBody>
        </p:sp>
        <p:sp>
          <p:nvSpPr>
            <p:cNvPr id="89166" name="Rectangle 37"/>
            <p:cNvSpPr>
              <a:spLocks noChangeArrowheads="1"/>
            </p:cNvSpPr>
            <p:nvPr/>
          </p:nvSpPr>
          <p:spPr bwMode="auto">
            <a:xfrm>
              <a:off x="3552" y="105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u</a:t>
              </a:r>
            </a:p>
          </p:txBody>
        </p:sp>
        <p:sp>
          <p:nvSpPr>
            <p:cNvPr id="89167" name="Rectangle 38"/>
            <p:cNvSpPr>
              <a:spLocks noChangeArrowheads="1"/>
            </p:cNvSpPr>
            <p:nvPr/>
          </p:nvSpPr>
          <p:spPr bwMode="auto">
            <a:xfrm>
              <a:off x="2378" y="1152"/>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latin typeface="Symbol" pitchFamily="18" charset="2"/>
                </a:rPr>
                <a:t>p</a:t>
              </a:r>
              <a:r>
                <a:rPr lang="en-US" sz="1800">
                  <a:solidFill>
                    <a:schemeClr val="tx2"/>
                  </a:solidFill>
                </a:rPr>
                <a:t>(u)</a:t>
              </a:r>
            </a:p>
          </p:txBody>
        </p:sp>
        <p:sp>
          <p:nvSpPr>
            <p:cNvPr id="89168" name="Rectangle 39"/>
            <p:cNvSpPr>
              <a:spLocks noChangeArrowheads="1"/>
            </p:cNvSpPr>
            <p:nvPr/>
          </p:nvSpPr>
          <p:spPr bwMode="auto">
            <a:xfrm>
              <a:off x="4704" y="624"/>
              <a:ext cx="26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400">
                  <a:solidFill>
                    <a:schemeClr val="hlink"/>
                  </a:solidFill>
                  <a:latin typeface="Arial" pitchFamily="34" charset="0"/>
                </a:rPr>
                <a:t>Q</a:t>
              </a:r>
            </a:p>
          </p:txBody>
        </p:sp>
        <p:sp>
          <p:nvSpPr>
            <p:cNvPr id="89169" name="Rectangle 40"/>
            <p:cNvSpPr>
              <a:spLocks noChangeArrowheads="1"/>
            </p:cNvSpPr>
            <p:nvPr/>
          </p:nvSpPr>
          <p:spPr bwMode="auto">
            <a:xfrm>
              <a:off x="1104" y="672"/>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400">
                  <a:solidFill>
                    <a:schemeClr val="hlink"/>
                  </a:solidFill>
                  <a:latin typeface="Arial" pitchFamily="34" charset="0"/>
                </a:rPr>
                <a:t>B</a:t>
              </a:r>
            </a:p>
          </p:txBody>
        </p:sp>
        <p:sp>
          <p:nvSpPr>
            <p:cNvPr id="89170" name="Rectangle 41"/>
            <p:cNvSpPr>
              <a:spLocks noChangeArrowheads="1"/>
            </p:cNvSpPr>
            <p:nvPr/>
          </p:nvSpPr>
          <p:spPr bwMode="auto">
            <a:xfrm>
              <a:off x="624" y="1152"/>
              <a:ext cx="71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solidFill>
                    <a:srgbClr val="CC0000"/>
                  </a:solidFill>
                  <a:latin typeface="Arial" pitchFamily="34" charset="0"/>
                </a:rPr>
                <a:t>key = -</a:t>
              </a:r>
              <a:r>
                <a:rPr lang="en-US" sz="2000">
                  <a:solidFill>
                    <a:srgbClr val="CC0000"/>
                  </a:solidFill>
                  <a:latin typeface="Arial" pitchFamily="34" charset="0"/>
                  <a:sym typeface="Symbol" pitchFamily="18" charset="2"/>
                </a:rPr>
                <a:t></a:t>
              </a:r>
            </a:p>
          </p:txBody>
        </p:sp>
        <p:sp>
          <p:nvSpPr>
            <p:cNvPr id="89171" name="Freeform 79"/>
            <p:cNvSpPr>
              <a:spLocks/>
            </p:cNvSpPr>
            <p:nvPr/>
          </p:nvSpPr>
          <p:spPr bwMode="auto">
            <a:xfrm>
              <a:off x="3628" y="1284"/>
              <a:ext cx="596" cy="1"/>
            </a:xfrm>
            <a:custGeom>
              <a:avLst/>
              <a:gdLst>
                <a:gd name="T0" fmla="*/ 0 w 596"/>
                <a:gd name="T1" fmla="*/ 0 h 1"/>
                <a:gd name="T2" fmla="*/ 596 w 596"/>
                <a:gd name="T3" fmla="*/ 0 h 1"/>
                <a:gd name="T4" fmla="*/ 0 60000 65536"/>
                <a:gd name="T5" fmla="*/ 0 60000 65536"/>
              </a:gdLst>
              <a:ahLst/>
              <a:cxnLst>
                <a:cxn ang="T4">
                  <a:pos x="T0" y="T1"/>
                </a:cxn>
                <a:cxn ang="T5">
                  <a:pos x="T2" y="T3"/>
                </a:cxn>
              </a:cxnLst>
              <a:rect l="0" t="0" r="r" b="b"/>
              <a:pathLst>
                <a:path w="596" h="1">
                  <a:moveTo>
                    <a:pt x="0" y="0"/>
                  </a:moveTo>
                  <a:lnTo>
                    <a:pt x="596" y="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72" name="Freeform 80"/>
            <p:cNvSpPr>
              <a:spLocks/>
            </p:cNvSpPr>
            <p:nvPr/>
          </p:nvSpPr>
          <p:spPr bwMode="auto">
            <a:xfrm>
              <a:off x="3648" y="1284"/>
              <a:ext cx="384" cy="226"/>
            </a:xfrm>
            <a:custGeom>
              <a:avLst/>
              <a:gdLst>
                <a:gd name="T0" fmla="*/ 0 w 384"/>
                <a:gd name="T1" fmla="*/ 0 h 226"/>
                <a:gd name="T2" fmla="*/ 384 w 384"/>
                <a:gd name="T3" fmla="*/ 226 h 226"/>
                <a:gd name="T4" fmla="*/ 0 60000 65536"/>
                <a:gd name="T5" fmla="*/ 0 60000 65536"/>
              </a:gdLst>
              <a:ahLst/>
              <a:cxnLst>
                <a:cxn ang="T4">
                  <a:pos x="T0" y="T1"/>
                </a:cxn>
                <a:cxn ang="T5">
                  <a:pos x="T2" y="T3"/>
                </a:cxn>
              </a:cxnLst>
              <a:rect l="0" t="0" r="r" b="b"/>
              <a:pathLst>
                <a:path w="384" h="226">
                  <a:moveTo>
                    <a:pt x="0" y="0"/>
                  </a:moveTo>
                  <a:lnTo>
                    <a:pt x="384" y="226"/>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73" name="Freeform 81"/>
            <p:cNvSpPr>
              <a:spLocks/>
            </p:cNvSpPr>
            <p:nvPr/>
          </p:nvSpPr>
          <p:spPr bwMode="auto">
            <a:xfrm>
              <a:off x="3641" y="1000"/>
              <a:ext cx="656" cy="284"/>
            </a:xfrm>
            <a:custGeom>
              <a:avLst/>
              <a:gdLst>
                <a:gd name="T0" fmla="*/ 0 w 656"/>
                <a:gd name="T1" fmla="*/ 284 h 284"/>
                <a:gd name="T2" fmla="*/ 656 w 656"/>
                <a:gd name="T3" fmla="*/ 0 h 284"/>
                <a:gd name="T4" fmla="*/ 0 60000 65536"/>
                <a:gd name="T5" fmla="*/ 0 60000 65536"/>
              </a:gdLst>
              <a:ahLst/>
              <a:cxnLst>
                <a:cxn ang="T4">
                  <a:pos x="T0" y="T1"/>
                </a:cxn>
                <a:cxn ang="T5">
                  <a:pos x="T2" y="T3"/>
                </a:cxn>
              </a:cxnLst>
              <a:rect l="0" t="0" r="r" b="b"/>
              <a:pathLst>
                <a:path w="656" h="284">
                  <a:moveTo>
                    <a:pt x="0" y="284"/>
                  </a:moveTo>
                  <a:lnTo>
                    <a:pt x="656" y="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74" name="Rectangle 82"/>
            <p:cNvSpPr>
              <a:spLocks noChangeArrowheads="1"/>
            </p:cNvSpPr>
            <p:nvPr/>
          </p:nvSpPr>
          <p:spPr bwMode="auto">
            <a:xfrm>
              <a:off x="4032" y="139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v</a:t>
              </a:r>
            </a:p>
          </p:txBody>
        </p:sp>
      </p:grpSp>
      <p:grpSp>
        <p:nvGrpSpPr>
          <p:cNvPr id="176297" name="Group 169"/>
          <p:cNvGrpSpPr>
            <a:grpSpLocks/>
          </p:cNvGrpSpPr>
          <p:nvPr/>
        </p:nvGrpSpPr>
        <p:grpSpPr bwMode="auto">
          <a:xfrm>
            <a:off x="990600" y="3727450"/>
            <a:ext cx="6897688" cy="2135188"/>
            <a:chOff x="624" y="2348"/>
            <a:chExt cx="4345" cy="1345"/>
          </a:xfrm>
        </p:grpSpPr>
        <p:sp>
          <p:nvSpPr>
            <p:cNvPr id="89096" name="Freeform 126"/>
            <p:cNvSpPr>
              <a:spLocks/>
            </p:cNvSpPr>
            <p:nvPr/>
          </p:nvSpPr>
          <p:spPr bwMode="auto">
            <a:xfrm>
              <a:off x="3794" y="2348"/>
              <a:ext cx="980" cy="1194"/>
            </a:xfrm>
            <a:custGeom>
              <a:avLst/>
              <a:gdLst>
                <a:gd name="T0" fmla="*/ 79 w 980"/>
                <a:gd name="T1" fmla="*/ 122 h 1194"/>
                <a:gd name="T2" fmla="*/ 714 w 980"/>
                <a:gd name="T3" fmla="*/ 134 h 1194"/>
                <a:gd name="T4" fmla="*/ 886 w 980"/>
                <a:gd name="T5" fmla="*/ 925 h 1194"/>
                <a:gd name="T6" fmla="*/ 152 w 980"/>
                <a:gd name="T7" fmla="*/ 1154 h 1194"/>
                <a:gd name="T8" fmla="*/ 238 w 980"/>
                <a:gd name="T9" fmla="*/ 684 h 1194"/>
                <a:gd name="T10" fmla="*/ 79 w 980"/>
                <a:gd name="T11" fmla="*/ 122 h 11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80" h="1194">
                  <a:moveTo>
                    <a:pt x="79" y="122"/>
                  </a:moveTo>
                  <a:cubicBezTo>
                    <a:pt x="158" y="30"/>
                    <a:pt x="580" y="0"/>
                    <a:pt x="714" y="134"/>
                  </a:cubicBezTo>
                  <a:cubicBezTo>
                    <a:pt x="848" y="268"/>
                    <a:pt x="980" y="755"/>
                    <a:pt x="886" y="925"/>
                  </a:cubicBezTo>
                  <a:cubicBezTo>
                    <a:pt x="792" y="1095"/>
                    <a:pt x="260" y="1194"/>
                    <a:pt x="152" y="1154"/>
                  </a:cubicBezTo>
                  <a:cubicBezTo>
                    <a:pt x="44" y="1114"/>
                    <a:pt x="250" y="856"/>
                    <a:pt x="238" y="684"/>
                  </a:cubicBezTo>
                  <a:cubicBezTo>
                    <a:pt x="226" y="512"/>
                    <a:pt x="0" y="214"/>
                    <a:pt x="79" y="122"/>
                  </a:cubicBezTo>
                  <a:close/>
                </a:path>
              </a:pathLst>
            </a:custGeom>
            <a:solidFill>
              <a:srgbClr val="DDDDDD"/>
            </a:solidFill>
            <a:ln w="1905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endParaRPr lang="en-CA"/>
            </a:p>
          </p:txBody>
        </p:sp>
        <p:sp>
          <p:nvSpPr>
            <p:cNvPr id="89097" name="Freeform 127"/>
            <p:cNvSpPr>
              <a:spLocks/>
            </p:cNvSpPr>
            <p:nvPr/>
          </p:nvSpPr>
          <p:spPr bwMode="auto">
            <a:xfrm>
              <a:off x="1358" y="2395"/>
              <a:ext cx="2540" cy="1298"/>
            </a:xfrm>
            <a:custGeom>
              <a:avLst/>
              <a:gdLst>
                <a:gd name="T0" fmla="*/ 257 w 2540"/>
                <a:gd name="T1" fmla="*/ 209 h 1298"/>
                <a:gd name="T2" fmla="*/ 1575 w 2540"/>
                <a:gd name="T3" fmla="*/ 81 h 1298"/>
                <a:gd name="T4" fmla="*/ 2515 w 2540"/>
                <a:gd name="T5" fmla="*/ 697 h 1298"/>
                <a:gd name="T6" fmla="*/ 1727 w 2540"/>
                <a:gd name="T7" fmla="*/ 1193 h 1298"/>
                <a:gd name="T8" fmla="*/ 275 w 2540"/>
                <a:gd name="T9" fmla="*/ 1190 h 1298"/>
                <a:gd name="T10" fmla="*/ 76 w 2540"/>
                <a:gd name="T11" fmla="*/ 543 h 1298"/>
                <a:gd name="T12" fmla="*/ 257 w 2540"/>
                <a:gd name="T13" fmla="*/ 209 h 12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40" h="1298">
                  <a:moveTo>
                    <a:pt x="257" y="209"/>
                  </a:moveTo>
                  <a:cubicBezTo>
                    <a:pt x="507" y="132"/>
                    <a:pt x="1199" y="0"/>
                    <a:pt x="1575" y="81"/>
                  </a:cubicBezTo>
                  <a:cubicBezTo>
                    <a:pt x="1951" y="162"/>
                    <a:pt x="2490" y="512"/>
                    <a:pt x="2515" y="697"/>
                  </a:cubicBezTo>
                  <a:cubicBezTo>
                    <a:pt x="2540" y="882"/>
                    <a:pt x="2100" y="1111"/>
                    <a:pt x="1727" y="1193"/>
                  </a:cubicBezTo>
                  <a:cubicBezTo>
                    <a:pt x="1354" y="1275"/>
                    <a:pt x="550" y="1298"/>
                    <a:pt x="275" y="1190"/>
                  </a:cubicBezTo>
                  <a:cubicBezTo>
                    <a:pt x="0" y="1082"/>
                    <a:pt x="80" y="706"/>
                    <a:pt x="76" y="543"/>
                  </a:cubicBezTo>
                  <a:cubicBezTo>
                    <a:pt x="73" y="380"/>
                    <a:pt x="94" y="274"/>
                    <a:pt x="257" y="209"/>
                  </a:cubicBezTo>
                  <a:close/>
                </a:path>
              </a:pathLst>
            </a:custGeom>
            <a:solidFill>
              <a:srgbClr val="DDDDDD"/>
            </a:solidFill>
            <a:ln w="1905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endParaRPr lang="en-CA"/>
            </a:p>
          </p:txBody>
        </p:sp>
        <p:sp>
          <p:nvSpPr>
            <p:cNvPr id="89098" name="Line 128"/>
            <p:cNvSpPr>
              <a:spLocks noChangeShapeType="1"/>
            </p:cNvSpPr>
            <p:nvPr/>
          </p:nvSpPr>
          <p:spPr bwMode="auto">
            <a:xfrm flipH="1">
              <a:off x="2298" y="2881"/>
              <a:ext cx="37" cy="18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099" name="Line 129"/>
            <p:cNvSpPr>
              <a:spLocks noChangeShapeType="1"/>
            </p:cNvSpPr>
            <p:nvPr/>
          </p:nvSpPr>
          <p:spPr bwMode="auto">
            <a:xfrm flipH="1">
              <a:off x="2073" y="2881"/>
              <a:ext cx="262" cy="4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00" name="Line 130"/>
            <p:cNvSpPr>
              <a:spLocks noChangeShapeType="1"/>
            </p:cNvSpPr>
            <p:nvPr/>
          </p:nvSpPr>
          <p:spPr bwMode="auto">
            <a:xfrm>
              <a:off x="2335" y="2881"/>
              <a:ext cx="263" cy="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01" name="Line 131"/>
            <p:cNvSpPr>
              <a:spLocks noChangeShapeType="1"/>
            </p:cNvSpPr>
            <p:nvPr/>
          </p:nvSpPr>
          <p:spPr bwMode="auto">
            <a:xfrm flipH="1">
              <a:off x="2148" y="3065"/>
              <a:ext cx="150" cy="93"/>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02" name="Line 132"/>
            <p:cNvSpPr>
              <a:spLocks noChangeShapeType="1"/>
            </p:cNvSpPr>
            <p:nvPr/>
          </p:nvSpPr>
          <p:spPr bwMode="auto">
            <a:xfrm>
              <a:off x="2298" y="3065"/>
              <a:ext cx="187" cy="139"/>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03" name="Line 133"/>
            <p:cNvSpPr>
              <a:spLocks noChangeShapeType="1"/>
            </p:cNvSpPr>
            <p:nvPr/>
          </p:nvSpPr>
          <p:spPr bwMode="auto">
            <a:xfrm flipV="1">
              <a:off x="2335" y="2651"/>
              <a:ext cx="38" cy="23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04" name="Line 134"/>
            <p:cNvSpPr>
              <a:spLocks noChangeShapeType="1"/>
            </p:cNvSpPr>
            <p:nvPr/>
          </p:nvSpPr>
          <p:spPr bwMode="auto">
            <a:xfrm flipH="1" flipV="1">
              <a:off x="2036" y="2789"/>
              <a:ext cx="37" cy="13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05" name="Line 135"/>
            <p:cNvSpPr>
              <a:spLocks noChangeShapeType="1"/>
            </p:cNvSpPr>
            <p:nvPr/>
          </p:nvSpPr>
          <p:spPr bwMode="auto">
            <a:xfrm flipH="1">
              <a:off x="1924" y="2927"/>
              <a:ext cx="149" cy="13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06" name="Oval 136"/>
            <p:cNvSpPr>
              <a:spLocks noChangeArrowheads="1"/>
            </p:cNvSpPr>
            <p:nvPr/>
          </p:nvSpPr>
          <p:spPr bwMode="auto">
            <a:xfrm>
              <a:off x="3970" y="2585"/>
              <a:ext cx="38"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07" name="Oval 137"/>
            <p:cNvSpPr>
              <a:spLocks noChangeArrowheads="1"/>
            </p:cNvSpPr>
            <p:nvPr/>
          </p:nvSpPr>
          <p:spPr bwMode="auto">
            <a:xfrm>
              <a:off x="4494" y="3138"/>
              <a:ext cx="38"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08" name="Oval 138"/>
            <p:cNvSpPr>
              <a:spLocks noChangeArrowheads="1"/>
            </p:cNvSpPr>
            <p:nvPr/>
          </p:nvSpPr>
          <p:spPr bwMode="auto">
            <a:xfrm>
              <a:off x="4008" y="3322"/>
              <a:ext cx="37"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09" name="Oval 139"/>
            <p:cNvSpPr>
              <a:spLocks noChangeArrowheads="1"/>
            </p:cNvSpPr>
            <p:nvPr/>
          </p:nvSpPr>
          <p:spPr bwMode="auto">
            <a:xfrm>
              <a:off x="4270" y="2815"/>
              <a:ext cx="37"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10" name="Oval 140"/>
            <p:cNvSpPr>
              <a:spLocks noChangeArrowheads="1"/>
            </p:cNvSpPr>
            <p:nvPr/>
          </p:nvSpPr>
          <p:spPr bwMode="auto">
            <a:xfrm>
              <a:off x="3648" y="3080"/>
              <a:ext cx="38" cy="47"/>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11" name="Oval 141"/>
            <p:cNvSpPr>
              <a:spLocks noChangeArrowheads="1"/>
            </p:cNvSpPr>
            <p:nvPr/>
          </p:nvSpPr>
          <p:spPr bwMode="auto">
            <a:xfrm>
              <a:off x="4382" y="2539"/>
              <a:ext cx="38"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12" name="Oval 142"/>
            <p:cNvSpPr>
              <a:spLocks noChangeArrowheads="1"/>
            </p:cNvSpPr>
            <p:nvPr/>
          </p:nvSpPr>
          <p:spPr bwMode="auto">
            <a:xfrm>
              <a:off x="4195" y="3092"/>
              <a:ext cx="37"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13" name="Oval 143"/>
            <p:cNvSpPr>
              <a:spLocks noChangeArrowheads="1"/>
            </p:cNvSpPr>
            <p:nvPr/>
          </p:nvSpPr>
          <p:spPr bwMode="auto">
            <a:xfrm>
              <a:off x="4532" y="2861"/>
              <a:ext cx="37" cy="46"/>
            </a:xfrm>
            <a:prstGeom prst="ellipse">
              <a:avLst/>
            </a:prstGeom>
            <a:solidFill>
              <a:schemeClr val="hlink"/>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14" name="Line 144"/>
            <p:cNvSpPr>
              <a:spLocks noChangeShapeType="1"/>
            </p:cNvSpPr>
            <p:nvPr/>
          </p:nvSpPr>
          <p:spPr bwMode="auto">
            <a:xfrm flipH="1">
              <a:off x="2373" y="3204"/>
              <a:ext cx="112" cy="23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15" name="Line 145"/>
            <p:cNvSpPr>
              <a:spLocks noChangeShapeType="1"/>
            </p:cNvSpPr>
            <p:nvPr/>
          </p:nvSpPr>
          <p:spPr bwMode="auto">
            <a:xfrm>
              <a:off x="2485" y="3204"/>
              <a:ext cx="150" cy="230"/>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16" name="Line 146"/>
            <p:cNvSpPr>
              <a:spLocks noChangeShapeType="1"/>
            </p:cNvSpPr>
            <p:nvPr/>
          </p:nvSpPr>
          <p:spPr bwMode="auto">
            <a:xfrm flipH="1">
              <a:off x="2186" y="3204"/>
              <a:ext cx="299" cy="18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17" name="Line 147"/>
            <p:cNvSpPr>
              <a:spLocks noChangeShapeType="1"/>
            </p:cNvSpPr>
            <p:nvPr/>
          </p:nvSpPr>
          <p:spPr bwMode="auto">
            <a:xfrm flipH="1" flipV="1">
              <a:off x="1961" y="3342"/>
              <a:ext cx="225" cy="4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18" name="Line 148"/>
            <p:cNvSpPr>
              <a:spLocks noChangeShapeType="1"/>
            </p:cNvSpPr>
            <p:nvPr/>
          </p:nvSpPr>
          <p:spPr bwMode="auto">
            <a:xfrm>
              <a:off x="2186" y="3388"/>
              <a:ext cx="0" cy="13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19" name="Line 149"/>
            <p:cNvSpPr>
              <a:spLocks noChangeShapeType="1"/>
            </p:cNvSpPr>
            <p:nvPr/>
          </p:nvSpPr>
          <p:spPr bwMode="auto">
            <a:xfrm flipH="1" flipV="1">
              <a:off x="1661" y="2881"/>
              <a:ext cx="263" cy="184"/>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20" name="Line 150"/>
            <p:cNvSpPr>
              <a:spLocks noChangeShapeType="1"/>
            </p:cNvSpPr>
            <p:nvPr/>
          </p:nvSpPr>
          <p:spPr bwMode="auto">
            <a:xfrm flipH="1">
              <a:off x="1661" y="3065"/>
              <a:ext cx="263" cy="47"/>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21" name="Line 151"/>
            <p:cNvSpPr>
              <a:spLocks noChangeShapeType="1"/>
            </p:cNvSpPr>
            <p:nvPr/>
          </p:nvSpPr>
          <p:spPr bwMode="auto">
            <a:xfrm flipH="1">
              <a:off x="1624" y="3065"/>
              <a:ext cx="300" cy="277"/>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22" name="Line 152"/>
            <p:cNvSpPr>
              <a:spLocks noChangeShapeType="1"/>
            </p:cNvSpPr>
            <p:nvPr/>
          </p:nvSpPr>
          <p:spPr bwMode="auto">
            <a:xfrm flipV="1">
              <a:off x="1661" y="2743"/>
              <a:ext cx="75" cy="138"/>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23" name="Line 153"/>
            <p:cNvSpPr>
              <a:spLocks noChangeShapeType="1"/>
            </p:cNvSpPr>
            <p:nvPr/>
          </p:nvSpPr>
          <p:spPr bwMode="auto">
            <a:xfrm flipH="1">
              <a:off x="1512" y="2881"/>
              <a:ext cx="149" cy="46"/>
            </a:xfrm>
            <a:prstGeom prst="line">
              <a:avLst/>
            </a:prstGeom>
            <a:noFill/>
            <a:ln w="19050">
              <a:solidFill>
                <a:schemeClr val="hlink"/>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24" name="Text Box 154"/>
            <p:cNvSpPr txBox="1">
              <a:spLocks noChangeArrowheads="1"/>
            </p:cNvSpPr>
            <p:nvPr/>
          </p:nvSpPr>
          <p:spPr bwMode="auto">
            <a:xfrm>
              <a:off x="1830" y="2835"/>
              <a:ext cx="17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hlink"/>
                  </a:solidFill>
                </a:rPr>
                <a:t>s</a:t>
              </a:r>
            </a:p>
          </p:txBody>
        </p:sp>
        <p:sp>
          <p:nvSpPr>
            <p:cNvPr id="89125" name="Freeform 155"/>
            <p:cNvSpPr>
              <a:spLocks/>
            </p:cNvSpPr>
            <p:nvPr/>
          </p:nvSpPr>
          <p:spPr bwMode="auto">
            <a:xfrm>
              <a:off x="2474" y="3116"/>
              <a:ext cx="1167" cy="108"/>
            </a:xfrm>
            <a:custGeom>
              <a:avLst/>
              <a:gdLst>
                <a:gd name="T0" fmla="*/ 0 w 1167"/>
                <a:gd name="T1" fmla="*/ 108 h 108"/>
                <a:gd name="T2" fmla="*/ 1167 w 1167"/>
                <a:gd name="T3" fmla="*/ 0 h 108"/>
                <a:gd name="T4" fmla="*/ 0 60000 65536"/>
                <a:gd name="T5" fmla="*/ 0 60000 65536"/>
              </a:gdLst>
              <a:ahLst/>
              <a:cxnLst>
                <a:cxn ang="T4">
                  <a:pos x="T0" y="T1"/>
                </a:cxn>
                <a:cxn ang="T5">
                  <a:pos x="T2" y="T3"/>
                </a:cxn>
              </a:cxnLst>
              <a:rect l="0" t="0" r="r" b="b"/>
              <a:pathLst>
                <a:path w="1167" h="108">
                  <a:moveTo>
                    <a:pt x="0" y="108"/>
                  </a:moveTo>
                  <a:lnTo>
                    <a:pt x="1167" y="0"/>
                  </a:lnTo>
                </a:path>
              </a:pathLst>
            </a:custGeom>
            <a:noFill/>
            <a:ln w="19050" cap="flat">
              <a:solidFill>
                <a:schemeClr val="hlink"/>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89126" name="Rectangle 157"/>
            <p:cNvSpPr>
              <a:spLocks noChangeArrowheads="1"/>
            </p:cNvSpPr>
            <p:nvPr/>
          </p:nvSpPr>
          <p:spPr bwMode="auto">
            <a:xfrm>
              <a:off x="3552" y="288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u</a:t>
              </a:r>
            </a:p>
          </p:txBody>
        </p:sp>
        <p:sp>
          <p:nvSpPr>
            <p:cNvPr id="89127" name="Rectangle 158"/>
            <p:cNvSpPr>
              <a:spLocks noChangeArrowheads="1"/>
            </p:cNvSpPr>
            <p:nvPr/>
          </p:nvSpPr>
          <p:spPr bwMode="auto">
            <a:xfrm>
              <a:off x="2378" y="2984"/>
              <a:ext cx="36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latin typeface="Symbol" pitchFamily="18" charset="2"/>
                </a:rPr>
                <a:t>p</a:t>
              </a:r>
              <a:r>
                <a:rPr lang="en-US" sz="1800">
                  <a:solidFill>
                    <a:schemeClr val="tx2"/>
                  </a:solidFill>
                </a:rPr>
                <a:t>(u)</a:t>
              </a:r>
            </a:p>
          </p:txBody>
        </p:sp>
        <p:sp>
          <p:nvSpPr>
            <p:cNvPr id="89128" name="Rectangle 159"/>
            <p:cNvSpPr>
              <a:spLocks noChangeArrowheads="1"/>
            </p:cNvSpPr>
            <p:nvPr/>
          </p:nvSpPr>
          <p:spPr bwMode="auto">
            <a:xfrm>
              <a:off x="4704" y="2456"/>
              <a:ext cx="26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400">
                  <a:solidFill>
                    <a:schemeClr val="hlink"/>
                  </a:solidFill>
                  <a:latin typeface="Arial" pitchFamily="34" charset="0"/>
                </a:rPr>
                <a:t>Q</a:t>
              </a:r>
            </a:p>
          </p:txBody>
        </p:sp>
        <p:sp>
          <p:nvSpPr>
            <p:cNvPr id="89129" name="Rectangle 160"/>
            <p:cNvSpPr>
              <a:spLocks noChangeArrowheads="1"/>
            </p:cNvSpPr>
            <p:nvPr/>
          </p:nvSpPr>
          <p:spPr bwMode="auto">
            <a:xfrm>
              <a:off x="1104" y="2504"/>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400">
                  <a:solidFill>
                    <a:schemeClr val="hlink"/>
                  </a:solidFill>
                  <a:latin typeface="Arial" pitchFamily="34" charset="0"/>
                </a:rPr>
                <a:t>B</a:t>
              </a:r>
            </a:p>
          </p:txBody>
        </p:sp>
        <p:sp>
          <p:nvSpPr>
            <p:cNvPr id="89130" name="Rectangle 161"/>
            <p:cNvSpPr>
              <a:spLocks noChangeArrowheads="1"/>
            </p:cNvSpPr>
            <p:nvPr/>
          </p:nvSpPr>
          <p:spPr bwMode="auto">
            <a:xfrm>
              <a:off x="624" y="2984"/>
              <a:ext cx="71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solidFill>
                    <a:srgbClr val="CC0000"/>
                  </a:solidFill>
                  <a:latin typeface="Arial" pitchFamily="34" charset="0"/>
                </a:rPr>
                <a:t>key = -</a:t>
              </a:r>
              <a:r>
                <a:rPr lang="en-US" sz="2000">
                  <a:solidFill>
                    <a:srgbClr val="CC0000"/>
                  </a:solidFill>
                  <a:latin typeface="Arial" pitchFamily="34" charset="0"/>
                  <a:sym typeface="Symbol" pitchFamily="18" charset="2"/>
                </a:rPr>
                <a:t></a:t>
              </a:r>
            </a:p>
          </p:txBody>
        </p:sp>
        <p:sp>
          <p:nvSpPr>
            <p:cNvPr id="89131" name="Freeform 162"/>
            <p:cNvSpPr>
              <a:spLocks/>
            </p:cNvSpPr>
            <p:nvPr/>
          </p:nvSpPr>
          <p:spPr bwMode="auto">
            <a:xfrm>
              <a:off x="3628" y="3116"/>
              <a:ext cx="596" cy="1"/>
            </a:xfrm>
            <a:custGeom>
              <a:avLst/>
              <a:gdLst>
                <a:gd name="T0" fmla="*/ 0 w 596"/>
                <a:gd name="T1" fmla="*/ 0 h 1"/>
                <a:gd name="T2" fmla="*/ 596 w 596"/>
                <a:gd name="T3" fmla="*/ 0 h 1"/>
                <a:gd name="T4" fmla="*/ 0 60000 65536"/>
                <a:gd name="T5" fmla="*/ 0 60000 65536"/>
              </a:gdLst>
              <a:ahLst/>
              <a:cxnLst>
                <a:cxn ang="T4">
                  <a:pos x="T0" y="T1"/>
                </a:cxn>
                <a:cxn ang="T5">
                  <a:pos x="T2" y="T3"/>
                </a:cxn>
              </a:cxnLst>
              <a:rect l="0" t="0" r="r" b="b"/>
              <a:pathLst>
                <a:path w="596" h="1">
                  <a:moveTo>
                    <a:pt x="0" y="0"/>
                  </a:moveTo>
                  <a:lnTo>
                    <a:pt x="596" y="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32" name="Freeform 163"/>
            <p:cNvSpPr>
              <a:spLocks/>
            </p:cNvSpPr>
            <p:nvPr/>
          </p:nvSpPr>
          <p:spPr bwMode="auto">
            <a:xfrm>
              <a:off x="3648" y="3116"/>
              <a:ext cx="384" cy="226"/>
            </a:xfrm>
            <a:custGeom>
              <a:avLst/>
              <a:gdLst>
                <a:gd name="T0" fmla="*/ 0 w 384"/>
                <a:gd name="T1" fmla="*/ 0 h 226"/>
                <a:gd name="T2" fmla="*/ 384 w 384"/>
                <a:gd name="T3" fmla="*/ 226 h 226"/>
                <a:gd name="T4" fmla="*/ 0 60000 65536"/>
                <a:gd name="T5" fmla="*/ 0 60000 65536"/>
              </a:gdLst>
              <a:ahLst/>
              <a:cxnLst>
                <a:cxn ang="T4">
                  <a:pos x="T0" y="T1"/>
                </a:cxn>
                <a:cxn ang="T5">
                  <a:pos x="T2" y="T3"/>
                </a:cxn>
              </a:cxnLst>
              <a:rect l="0" t="0" r="r" b="b"/>
              <a:pathLst>
                <a:path w="384" h="226">
                  <a:moveTo>
                    <a:pt x="0" y="0"/>
                  </a:moveTo>
                  <a:lnTo>
                    <a:pt x="384" y="226"/>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33" name="Freeform 164"/>
            <p:cNvSpPr>
              <a:spLocks/>
            </p:cNvSpPr>
            <p:nvPr/>
          </p:nvSpPr>
          <p:spPr bwMode="auto">
            <a:xfrm>
              <a:off x="3641" y="2832"/>
              <a:ext cx="656" cy="284"/>
            </a:xfrm>
            <a:custGeom>
              <a:avLst/>
              <a:gdLst>
                <a:gd name="T0" fmla="*/ 0 w 656"/>
                <a:gd name="T1" fmla="*/ 284 h 284"/>
                <a:gd name="T2" fmla="*/ 656 w 656"/>
                <a:gd name="T3" fmla="*/ 0 h 284"/>
                <a:gd name="T4" fmla="*/ 0 60000 65536"/>
                <a:gd name="T5" fmla="*/ 0 60000 65536"/>
              </a:gdLst>
              <a:ahLst/>
              <a:cxnLst>
                <a:cxn ang="T4">
                  <a:pos x="T0" y="T1"/>
                </a:cxn>
                <a:cxn ang="T5">
                  <a:pos x="T2" y="T3"/>
                </a:cxn>
              </a:cxnLst>
              <a:rect l="0" t="0" r="r" b="b"/>
              <a:pathLst>
                <a:path w="656" h="284">
                  <a:moveTo>
                    <a:pt x="0" y="284"/>
                  </a:moveTo>
                  <a:lnTo>
                    <a:pt x="656" y="0"/>
                  </a:lnTo>
                </a:path>
              </a:pathLst>
            </a:custGeom>
            <a:noFill/>
            <a:ln w="127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89134" name="Rectangle 165"/>
            <p:cNvSpPr>
              <a:spLocks noChangeArrowheads="1"/>
            </p:cNvSpPr>
            <p:nvPr/>
          </p:nvSpPr>
          <p:spPr bwMode="auto">
            <a:xfrm>
              <a:off x="4032" y="321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v</a:t>
              </a:r>
            </a:p>
          </p:txBody>
        </p:sp>
      </p:grpSp>
      <p:sp>
        <p:nvSpPr>
          <p:cNvPr id="176295" name="Text Box 167"/>
          <p:cNvSpPr txBox="1">
            <a:spLocks noChangeArrowheads="1"/>
          </p:cNvSpPr>
          <p:nvPr/>
        </p:nvSpPr>
        <p:spPr bwMode="auto">
          <a:xfrm>
            <a:off x="990600" y="6096000"/>
            <a:ext cx="70453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Tx/>
              <a:buNone/>
            </a:pPr>
            <a:r>
              <a:rPr lang="en-US" sz="2000">
                <a:solidFill>
                  <a:schemeClr val="hlink"/>
                </a:solidFill>
              </a:rPr>
              <a:t>Update key[v] , </a:t>
            </a:r>
            <a:r>
              <a:rPr lang="en-US" sz="2000">
                <a:solidFill>
                  <a:schemeClr val="hlink"/>
                </a:solidFill>
                <a:latin typeface="Symbol" pitchFamily="18" charset="2"/>
              </a:rPr>
              <a:t>p</a:t>
            </a:r>
            <a:r>
              <a:rPr lang="en-US" sz="2000">
                <a:solidFill>
                  <a:schemeClr val="hlink"/>
                </a:solidFill>
              </a:rPr>
              <a:t>[v] ;  and UpHeap(v,Q) ,   </a:t>
            </a:r>
            <a:r>
              <a:rPr lang="en-US" sz="2000">
                <a:solidFill>
                  <a:srgbClr val="CC0000"/>
                </a:solidFill>
              </a:rPr>
              <a:t>for each v </a:t>
            </a:r>
            <a:r>
              <a:rPr lang="en-US" sz="2000">
                <a:solidFill>
                  <a:srgbClr val="CC0000"/>
                </a:solidFill>
                <a:sym typeface="Symbol" pitchFamily="18" charset="2"/>
              </a:rPr>
              <a:t> </a:t>
            </a:r>
            <a:r>
              <a:rPr lang="en-US" sz="2000">
                <a:solidFill>
                  <a:srgbClr val="CC0000"/>
                </a:solidFill>
              </a:rPr>
              <a:t>Adj[u]</a:t>
            </a:r>
            <a:r>
              <a:rPr lang="en-US" sz="2000">
                <a:solidFill>
                  <a:srgbClr val="CC0000"/>
                </a:solidFill>
                <a:sym typeface="Symbol" pitchFamily="18" charset="2"/>
              </a:rPr>
              <a:t>Q</a:t>
            </a:r>
            <a:endParaRPr lang="en-US" sz="2000">
              <a:solidFill>
                <a:srgbClr val="CC0000"/>
              </a:solidFill>
            </a:endParaRPr>
          </a:p>
        </p:txBody>
      </p:sp>
      <p:sp>
        <p:nvSpPr>
          <p:cNvPr id="176296" name="AutoShape 168"/>
          <p:cNvSpPr>
            <a:spLocks noChangeArrowheads="1"/>
          </p:cNvSpPr>
          <p:nvPr/>
        </p:nvSpPr>
        <p:spPr bwMode="auto">
          <a:xfrm>
            <a:off x="4724400" y="2895600"/>
            <a:ext cx="381000" cy="990600"/>
          </a:xfrm>
          <a:prstGeom prst="downArrow">
            <a:avLst>
              <a:gd name="adj1" fmla="val 50000"/>
              <a:gd name="adj2" fmla="val 65000"/>
            </a:avLst>
          </a:prstGeom>
          <a:solidFill>
            <a:srgbClr val="CC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endParaRPr lang="en-CA"/>
          </a:p>
        </p:txBody>
      </p:sp>
      <p:sp>
        <p:nvSpPr>
          <p:cNvPr id="176298" name="Rectangle 170"/>
          <p:cNvSpPr>
            <a:spLocks noChangeArrowheads="1"/>
          </p:cNvSpPr>
          <p:nvPr/>
        </p:nvSpPr>
        <p:spPr bwMode="auto">
          <a:xfrm>
            <a:off x="5029200" y="2971800"/>
            <a:ext cx="2125663" cy="669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70000"/>
              </a:lnSpc>
              <a:spcBef>
                <a:spcPct val="50000"/>
              </a:spcBef>
              <a:buFontTx/>
              <a:buNone/>
            </a:pPr>
            <a:r>
              <a:rPr lang="en-US" sz="2000">
                <a:solidFill>
                  <a:schemeClr val="hlink"/>
                </a:solidFill>
                <a:sym typeface="Symbol" pitchFamily="18" charset="2"/>
              </a:rPr>
              <a:t>u  DeleteMin(Q)</a:t>
            </a:r>
          </a:p>
          <a:p>
            <a:pPr eaLnBrk="1" hangingPunct="1">
              <a:lnSpc>
                <a:spcPct val="70000"/>
              </a:lnSpc>
              <a:spcBef>
                <a:spcPct val="50000"/>
              </a:spcBef>
              <a:buFontTx/>
              <a:buNone/>
            </a:pPr>
            <a:r>
              <a:rPr lang="en-US" sz="2000">
                <a:solidFill>
                  <a:schemeClr val="hlink"/>
                </a:solidFill>
                <a:sym typeface="Symbol" pitchFamily="18" charset="2"/>
              </a:rPr>
              <a:t>key[u]  - </a:t>
            </a:r>
            <a:r>
              <a:rPr lang="en-US" sz="2000">
                <a:solidFill>
                  <a:schemeClr val="hlink"/>
                </a:solidFill>
                <a:latin typeface="Arial" pitchFamily="34" charset="0"/>
                <a:sym typeface="Symbol" pitchFamily="18" charset="2"/>
              </a:rPr>
              <a:t></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86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76130"/>
                                        </p:tgtEl>
                                        <p:attrNameLst>
                                          <p:attrName>style.visibility</p:attrName>
                                        </p:attrNameLst>
                                      </p:cBhvr>
                                      <p:to>
                                        <p:strVal val="visible"/>
                                      </p:to>
                                    </p:set>
                                    <p:anim calcmode="lin" valueType="num">
                                      <p:cBhvr>
                                        <p:cTn id="7" dur="500" fill="hold"/>
                                        <p:tgtEl>
                                          <p:spTgt spid="176130"/>
                                        </p:tgtEl>
                                        <p:attrNameLst>
                                          <p:attrName>ppt_w</p:attrName>
                                        </p:attrNameLst>
                                      </p:cBhvr>
                                      <p:tavLst>
                                        <p:tav tm="0">
                                          <p:val>
                                            <p:fltVal val="0"/>
                                          </p:val>
                                        </p:tav>
                                        <p:tav tm="100000">
                                          <p:val>
                                            <p:strVal val="#ppt_w"/>
                                          </p:val>
                                        </p:tav>
                                      </p:tavLst>
                                    </p:anim>
                                    <p:anim calcmode="lin" valueType="num">
                                      <p:cBhvr>
                                        <p:cTn id="8" dur="500" fill="hold"/>
                                        <p:tgtEl>
                                          <p:spTgt spid="176130"/>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176294"/>
                                        </p:tgtEl>
                                        <p:attrNameLst>
                                          <p:attrName>style.visibility</p:attrName>
                                        </p:attrNameLst>
                                      </p:cBhvr>
                                      <p:to>
                                        <p:strVal val="visible"/>
                                      </p:to>
                                    </p:set>
                                    <p:animEffect transition="in" filter="wipe(up)">
                                      <p:cBhvr>
                                        <p:cTn id="12" dur="500"/>
                                        <p:tgtEl>
                                          <p:spTgt spid="1762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6298"/>
                                        </p:tgtEl>
                                        <p:attrNameLst>
                                          <p:attrName>style.visibility</p:attrName>
                                        </p:attrNameLst>
                                      </p:cBhvr>
                                      <p:to>
                                        <p:strVal val="visible"/>
                                      </p:to>
                                    </p:set>
                                    <p:animEffect transition="in" filter="wipe(left)">
                                      <p:cBhvr>
                                        <p:cTn id="17" dur="500"/>
                                        <p:tgtEl>
                                          <p:spTgt spid="176298"/>
                                        </p:tgtEl>
                                      </p:cBhvr>
                                    </p:animEffect>
                                  </p:childTnLst>
                                </p:cTn>
                              </p:par>
                            </p:childTnLst>
                          </p:cTn>
                        </p:par>
                        <p:par>
                          <p:cTn id="18" fill="hold" nodeType="afterGroup">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176296"/>
                                        </p:tgtEl>
                                        <p:attrNameLst>
                                          <p:attrName>style.visibility</p:attrName>
                                        </p:attrNameLst>
                                      </p:cBhvr>
                                      <p:to>
                                        <p:strVal val="visible"/>
                                      </p:to>
                                    </p:set>
                                    <p:animEffect transition="in" filter="wipe(up)">
                                      <p:cBhvr>
                                        <p:cTn id="21" dur="500"/>
                                        <p:tgtEl>
                                          <p:spTgt spid="176296"/>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176297"/>
                                        </p:tgtEl>
                                        <p:attrNameLst>
                                          <p:attrName>style.visibility</p:attrName>
                                        </p:attrNameLst>
                                      </p:cBhvr>
                                      <p:to>
                                        <p:strVal val="visible"/>
                                      </p:to>
                                    </p:set>
                                    <p:animEffect transition="in" filter="wipe(up)">
                                      <p:cBhvr>
                                        <p:cTn id="25" dur="500"/>
                                        <p:tgtEl>
                                          <p:spTgt spid="17629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76295"/>
                                        </p:tgtEl>
                                        <p:attrNameLst>
                                          <p:attrName>style.visibility</p:attrName>
                                        </p:attrNameLst>
                                      </p:cBhvr>
                                      <p:to>
                                        <p:strVal val="visible"/>
                                      </p:to>
                                    </p:set>
                                    <p:animEffect transition="in" filter="wipe(left)">
                                      <p:cBhvr>
                                        <p:cTn id="30" dur="500"/>
                                        <p:tgtEl>
                                          <p:spTgt spid="176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animBg="1" autoUpdateAnimBg="0"/>
      <p:bldP spid="176295" grpId="0" autoUpdateAnimBg="0"/>
      <p:bldP spid="176296" grpId="0" animBg="1"/>
      <p:bldP spid="176298"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2"/>
          <p:cNvSpPr txBox="1">
            <a:spLocks noChangeArrowheads="1"/>
          </p:cNvSpPr>
          <p:nvPr/>
        </p:nvSpPr>
        <p:spPr bwMode="auto">
          <a:xfrm>
            <a:off x="152400" y="228600"/>
            <a:ext cx="8839200" cy="5375275"/>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457200" indent="-457200" defTabSz="374650">
              <a:defRPr sz="1600">
                <a:solidFill>
                  <a:schemeClr val="tx1"/>
                </a:solidFill>
                <a:latin typeface="Times New Roman" pitchFamily="18" charset="0"/>
              </a:defRPr>
            </a:lvl1pPr>
            <a:lvl2pPr marL="742950" indent="-285750" defTabSz="374650">
              <a:defRPr sz="1600">
                <a:solidFill>
                  <a:schemeClr val="tx1"/>
                </a:solidFill>
                <a:latin typeface="Times New Roman" pitchFamily="18" charset="0"/>
              </a:defRPr>
            </a:lvl2pPr>
            <a:lvl3pPr marL="1143000" indent="-228600" defTabSz="374650">
              <a:defRPr sz="1600">
                <a:solidFill>
                  <a:schemeClr val="tx1"/>
                </a:solidFill>
                <a:latin typeface="Times New Roman" pitchFamily="18" charset="0"/>
              </a:defRPr>
            </a:lvl3pPr>
            <a:lvl4pPr marL="1600200" indent="-228600" defTabSz="374650">
              <a:defRPr sz="1600">
                <a:solidFill>
                  <a:schemeClr val="tx1"/>
                </a:solidFill>
                <a:latin typeface="Times New Roman" pitchFamily="18" charset="0"/>
              </a:defRPr>
            </a:lvl4pPr>
            <a:lvl5pPr marL="2057400" indent="-228600" defTabSz="374650">
              <a:defRPr sz="1600">
                <a:solidFill>
                  <a:schemeClr val="tx1"/>
                </a:solidFill>
                <a:latin typeface="Times New Roman" pitchFamily="18" charset="0"/>
              </a:defRPr>
            </a:lvl5pPr>
            <a:lvl6pPr marL="2514600" indent="-228600" defTabSz="374650" eaLnBrk="0" fontAlgn="base" hangingPunct="0">
              <a:spcBef>
                <a:spcPct val="0"/>
              </a:spcBef>
              <a:spcAft>
                <a:spcPct val="0"/>
              </a:spcAft>
              <a:buChar char="•"/>
              <a:defRPr sz="1600">
                <a:solidFill>
                  <a:schemeClr val="tx1"/>
                </a:solidFill>
                <a:latin typeface="Times New Roman" pitchFamily="18" charset="0"/>
              </a:defRPr>
            </a:lvl6pPr>
            <a:lvl7pPr marL="2971800" indent="-228600" defTabSz="374650" eaLnBrk="0" fontAlgn="base" hangingPunct="0">
              <a:spcBef>
                <a:spcPct val="0"/>
              </a:spcBef>
              <a:spcAft>
                <a:spcPct val="0"/>
              </a:spcAft>
              <a:buChar char="•"/>
              <a:defRPr sz="1600">
                <a:solidFill>
                  <a:schemeClr val="tx1"/>
                </a:solidFill>
                <a:latin typeface="Times New Roman" pitchFamily="18" charset="0"/>
              </a:defRPr>
            </a:lvl7pPr>
            <a:lvl8pPr marL="3429000" indent="-228600" defTabSz="374650" eaLnBrk="0" fontAlgn="base" hangingPunct="0">
              <a:spcBef>
                <a:spcPct val="0"/>
              </a:spcBef>
              <a:spcAft>
                <a:spcPct val="0"/>
              </a:spcAft>
              <a:buChar char="•"/>
              <a:defRPr sz="1600">
                <a:solidFill>
                  <a:schemeClr val="tx1"/>
                </a:solidFill>
                <a:latin typeface="Times New Roman" pitchFamily="18" charset="0"/>
              </a:defRPr>
            </a:lvl8pPr>
            <a:lvl9pPr marL="3886200" indent="-228600" defTabSz="37465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2000" b="1" dirty="0"/>
              <a:t>Algorithm</a:t>
            </a:r>
            <a:r>
              <a:rPr lang="en-US" sz="2000" dirty="0">
                <a:solidFill>
                  <a:schemeClr val="hlink"/>
                </a:solidFill>
              </a:rPr>
              <a:t>  </a:t>
            </a:r>
            <a:r>
              <a:rPr lang="en-US" sz="2000" b="1" dirty="0" err="1">
                <a:solidFill>
                  <a:schemeClr val="hlink"/>
                </a:solidFill>
              </a:rPr>
              <a:t>PrimMST</a:t>
            </a:r>
            <a:r>
              <a:rPr lang="en-US" sz="2000" dirty="0">
                <a:solidFill>
                  <a:schemeClr val="hlink"/>
                </a:solidFill>
              </a:rPr>
              <a:t>( </a:t>
            </a:r>
            <a:r>
              <a:rPr lang="en-US" sz="2000" dirty="0">
                <a:solidFill>
                  <a:schemeClr val="hlink"/>
                </a:solidFill>
                <a:sym typeface="Symbol" pitchFamily="18" charset="2"/>
              </a:rPr>
              <a:t>G , </a:t>
            </a:r>
            <a:r>
              <a:rPr lang="en-US" sz="2000" dirty="0" err="1">
                <a:solidFill>
                  <a:schemeClr val="hlink"/>
                </a:solidFill>
                <a:sym typeface="Symbol" pitchFamily="18" charset="2"/>
              </a:rPr>
              <a:t>sV</a:t>
            </a:r>
            <a:r>
              <a:rPr lang="en-US" sz="2000" dirty="0">
                <a:solidFill>
                  <a:schemeClr val="hlink"/>
                </a:solidFill>
                <a:sym typeface="Symbol" pitchFamily="18" charset="2"/>
              </a:rPr>
              <a:t>(G)</a:t>
            </a:r>
            <a:r>
              <a:rPr lang="en-US" sz="2000" dirty="0">
                <a:solidFill>
                  <a:schemeClr val="hlink"/>
                </a:solidFill>
              </a:rPr>
              <a:t>)</a:t>
            </a:r>
            <a:r>
              <a:rPr lang="en-US" sz="2000" dirty="0">
                <a:solidFill>
                  <a:schemeClr val="tx2"/>
                </a:solidFill>
              </a:rPr>
              <a:t> </a:t>
            </a:r>
          </a:p>
          <a:p>
            <a:pPr eaLnBrk="1" hangingPunct="1">
              <a:buFontTx/>
              <a:buAutoNum type="arabicPeriod"/>
            </a:pPr>
            <a:r>
              <a:rPr lang="en-US" sz="2000" dirty="0">
                <a:solidFill>
                  <a:srgbClr val="CC0000"/>
                </a:solidFill>
              </a:rPr>
              <a:t> </a:t>
            </a:r>
            <a:r>
              <a:rPr lang="en-US" sz="2000" b="1" dirty="0"/>
              <a:t>for</a:t>
            </a:r>
            <a:r>
              <a:rPr lang="en-US" sz="2000" dirty="0">
                <a:solidFill>
                  <a:schemeClr val="hlink"/>
                </a:solidFill>
              </a:rPr>
              <a:t>  each vertex </a:t>
            </a:r>
            <a:r>
              <a:rPr lang="en-US" sz="2000" dirty="0">
                <a:solidFill>
                  <a:schemeClr val="hlink"/>
                </a:solidFill>
                <a:sym typeface="Symbol" pitchFamily="18" charset="2"/>
              </a:rPr>
              <a:t>u  V(G)  </a:t>
            </a:r>
            <a:r>
              <a:rPr lang="en-US" sz="2000" b="1" dirty="0"/>
              <a:t>do  </a:t>
            </a:r>
            <a:r>
              <a:rPr lang="en-US" sz="2000" dirty="0">
                <a:solidFill>
                  <a:schemeClr val="hlink"/>
                </a:solidFill>
              </a:rPr>
              <a:t>key[u]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endParaRPr lang="en-US" sz="2000" dirty="0">
              <a:solidFill>
                <a:srgbClr val="CC0000"/>
              </a:solidFill>
              <a:cs typeface="Arial" pitchFamily="34" charset="0"/>
            </a:endParaRPr>
          </a:p>
          <a:p>
            <a:pPr eaLnBrk="1" hangingPunct="1">
              <a:buFontTx/>
              <a:buAutoNum type="arabicPeriod"/>
            </a:pPr>
            <a:r>
              <a:rPr lang="en-US" sz="2000" dirty="0">
                <a:solidFill>
                  <a:srgbClr val="CC0000"/>
                </a:solidFill>
                <a:cs typeface="Arial" pitchFamily="34" charset="0"/>
              </a:rPr>
              <a:t> </a:t>
            </a:r>
            <a:r>
              <a:rPr lang="en-US" sz="2000" dirty="0">
                <a:solidFill>
                  <a:schemeClr val="hlink"/>
                </a:solidFill>
                <a:sym typeface="Symbol" pitchFamily="18" charset="2"/>
              </a:rPr>
              <a:t>key[s]  0 ;   </a:t>
            </a:r>
            <a:r>
              <a:rPr lang="en-US" sz="2000" dirty="0">
                <a:solidFill>
                  <a:schemeClr val="hlink"/>
                </a:solidFill>
                <a:latin typeface="Symbol" pitchFamily="18" charset="2"/>
                <a:sym typeface="Symbol" pitchFamily="18" charset="2"/>
              </a:rPr>
              <a:t>p</a:t>
            </a:r>
            <a:r>
              <a:rPr lang="en-US" sz="2000" dirty="0">
                <a:solidFill>
                  <a:schemeClr val="hlink"/>
                </a:solidFill>
                <a:sym typeface="Symbol" pitchFamily="18" charset="2"/>
              </a:rPr>
              <a:t>[s]  nil 							</a:t>
            </a:r>
            <a:r>
              <a:rPr lang="en-US" sz="2000" dirty="0">
                <a:solidFill>
                  <a:srgbClr val="CC0000"/>
                </a:solidFill>
                <a:cs typeface="Arial" pitchFamily="34" charset="0"/>
              </a:rPr>
              <a:t>§ </a:t>
            </a:r>
            <a:r>
              <a:rPr lang="en-US" sz="2000" dirty="0">
                <a:solidFill>
                  <a:srgbClr val="CC0000"/>
                </a:solidFill>
              </a:rPr>
              <a:t>first node to be selected</a:t>
            </a: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Q  </a:t>
            </a:r>
            <a:r>
              <a:rPr lang="en-US" sz="2000" dirty="0" err="1">
                <a:solidFill>
                  <a:schemeClr val="hlink"/>
                </a:solidFill>
                <a:sym typeface="Symbol" pitchFamily="18" charset="2"/>
              </a:rPr>
              <a:t>ConstructMinHeap</a:t>
            </a:r>
            <a:r>
              <a:rPr lang="en-US" sz="2000" dirty="0">
                <a:solidFill>
                  <a:schemeClr val="hlink"/>
                </a:solidFill>
                <a:sym typeface="Symbol" pitchFamily="18" charset="2"/>
              </a:rPr>
              <a:t>(V(G), key) 				</a:t>
            </a:r>
            <a:r>
              <a:rPr lang="en-US" sz="2000" dirty="0">
                <a:solidFill>
                  <a:srgbClr val="CC0000"/>
                </a:solidFill>
                <a:cs typeface="Arial" pitchFamily="34" charset="0"/>
              </a:rPr>
              <a:t>§ key[u] = priority(u) </a:t>
            </a:r>
            <a:endParaRPr lang="en-US" sz="2000" dirty="0">
              <a:solidFill>
                <a:srgbClr val="CC0000"/>
              </a:solidFill>
              <a:sym typeface="Symbol" pitchFamily="18" charset="2"/>
            </a:endParaRPr>
          </a:p>
          <a:p>
            <a:pPr eaLnBrk="1" hangingPunct="1">
              <a:buFontTx/>
              <a:buAutoNum type="arabicPeriod"/>
            </a:pPr>
            <a:r>
              <a:rPr lang="en-US" sz="2000" dirty="0">
                <a:solidFill>
                  <a:srgbClr val="CC0000"/>
                </a:solidFill>
              </a:rPr>
              <a:t> </a:t>
            </a:r>
            <a:r>
              <a:rPr lang="en-US" sz="2000" b="1" dirty="0"/>
              <a:t>while</a:t>
            </a:r>
            <a:r>
              <a:rPr lang="en-US" sz="2000" dirty="0">
                <a:solidFill>
                  <a:schemeClr val="hlink"/>
                </a:solidFill>
              </a:rPr>
              <a:t> Q </a:t>
            </a:r>
            <a:r>
              <a:rPr lang="en-US" sz="2000" dirty="0">
                <a:solidFill>
                  <a:schemeClr val="hlink"/>
                </a:solidFill>
                <a:sym typeface="Symbol" pitchFamily="18" charset="2"/>
              </a:rPr>
              <a:t>  </a:t>
            </a:r>
            <a:r>
              <a:rPr lang="en-US" sz="2000" b="1" dirty="0"/>
              <a:t>do</a:t>
            </a:r>
            <a:r>
              <a:rPr lang="en-US" sz="2000" dirty="0">
                <a:solidFill>
                  <a:srgbClr val="CC0000"/>
                </a:solidFill>
                <a:cs typeface="Arial" pitchFamily="34" charset="0"/>
              </a:rPr>
              <a:t> 		</a:t>
            </a:r>
            <a:r>
              <a:rPr lang="en-US" sz="2000" dirty="0">
                <a:solidFill>
                  <a:srgbClr val="CC0000"/>
                </a:solidFill>
              </a:rPr>
              <a:t>	 							</a:t>
            </a:r>
            <a:r>
              <a:rPr lang="en-US" sz="2000" dirty="0">
                <a:solidFill>
                  <a:srgbClr val="CC0000"/>
                </a:solidFill>
                <a:cs typeface="Arial" pitchFamily="34" charset="0"/>
              </a:rPr>
              <a:t>§ |V| iterations</a:t>
            </a:r>
            <a:endParaRPr lang="en-US" sz="2000" dirty="0">
              <a:solidFill>
                <a:srgbClr val="CC0000"/>
              </a:solidFill>
            </a:endParaRP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u  </a:t>
            </a:r>
            <a:r>
              <a:rPr lang="en-US" sz="2000" dirty="0" err="1">
                <a:solidFill>
                  <a:schemeClr val="hlink"/>
                </a:solidFill>
                <a:sym typeface="Symbol" pitchFamily="18" charset="2"/>
              </a:rPr>
              <a:t>DeleteMin</a:t>
            </a:r>
            <a:r>
              <a:rPr lang="en-US" sz="2000" dirty="0">
                <a:solidFill>
                  <a:schemeClr val="hlink"/>
                </a:solidFill>
                <a:sym typeface="Symbol" pitchFamily="18" charset="2"/>
              </a:rPr>
              <a:t>(Q);   </a:t>
            </a:r>
            <a:r>
              <a:rPr lang="en-US" sz="2000" dirty="0">
                <a:solidFill>
                  <a:schemeClr val="hlink"/>
                </a:solidFill>
              </a:rPr>
              <a:t>key[u]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r>
              <a:rPr lang="en-US" sz="2000" dirty="0">
                <a:solidFill>
                  <a:srgbClr val="CC0000"/>
                </a:solidFill>
                <a:cs typeface="Arial" pitchFamily="34" charset="0"/>
              </a:rPr>
              <a:t>§ O(log V) time</a:t>
            </a:r>
          </a:p>
          <a:p>
            <a:pPr eaLnBrk="1" hangingPunct="1">
              <a:buFontTx/>
              <a:buAutoNum type="arabicPeriod"/>
            </a:pPr>
            <a:r>
              <a:rPr lang="en-US" sz="2000" dirty="0">
                <a:solidFill>
                  <a:srgbClr val="CC0000"/>
                </a:solidFill>
              </a:rPr>
              <a:t>	</a:t>
            </a:r>
            <a:r>
              <a:rPr lang="en-US" sz="2000" b="1" dirty="0">
                <a:solidFill>
                  <a:schemeClr val="tx2"/>
                </a:solidFill>
              </a:rPr>
              <a:t>for</a:t>
            </a:r>
            <a:r>
              <a:rPr lang="en-US" sz="2000" dirty="0">
                <a:solidFill>
                  <a:schemeClr val="tx2"/>
                </a:solidFill>
              </a:rPr>
              <a:t>  </a:t>
            </a:r>
            <a:r>
              <a:rPr lang="en-US" sz="2000" dirty="0">
                <a:solidFill>
                  <a:schemeClr val="hlink"/>
                </a:solidFill>
              </a:rPr>
              <a:t>each v </a:t>
            </a:r>
            <a:r>
              <a:rPr lang="en-US" sz="2000" dirty="0">
                <a:solidFill>
                  <a:schemeClr val="hlink"/>
                </a:solidFill>
                <a:sym typeface="Symbol" pitchFamily="18" charset="2"/>
              </a:rPr>
              <a:t></a:t>
            </a:r>
            <a:r>
              <a:rPr lang="en-US" sz="2000" dirty="0">
                <a:solidFill>
                  <a:schemeClr val="hlink"/>
                </a:solidFill>
              </a:rPr>
              <a:t> </a:t>
            </a:r>
            <a:r>
              <a:rPr lang="en-US" sz="2000" dirty="0" err="1">
                <a:solidFill>
                  <a:schemeClr val="hlink"/>
                </a:solidFill>
              </a:rPr>
              <a:t>Adj</a:t>
            </a:r>
            <a:r>
              <a:rPr lang="en-US" sz="2000" dirty="0">
                <a:solidFill>
                  <a:schemeClr val="hlink"/>
                </a:solidFill>
              </a:rPr>
              <a:t>[u] </a:t>
            </a:r>
            <a:r>
              <a:rPr lang="en-US" sz="2000" b="1" dirty="0">
                <a:solidFill>
                  <a:schemeClr val="tx2"/>
                </a:solidFill>
              </a:rPr>
              <a:t> do 							</a:t>
            </a:r>
            <a:endParaRPr lang="en-US" sz="2000" dirty="0">
              <a:solidFill>
                <a:schemeClr val="tx2"/>
              </a:solidFill>
            </a:endParaRPr>
          </a:p>
          <a:p>
            <a:pPr eaLnBrk="1" hangingPunct="1">
              <a:buFontTx/>
              <a:buAutoNum type="arabicPeriod"/>
            </a:pPr>
            <a:r>
              <a:rPr lang="en-US" sz="2000" dirty="0">
                <a:solidFill>
                  <a:srgbClr val="CC0000"/>
                </a:solidFill>
              </a:rPr>
              <a:t> 		 </a:t>
            </a:r>
            <a:r>
              <a:rPr lang="en-US" sz="2000" b="1" dirty="0"/>
              <a:t>if</a:t>
            </a:r>
            <a:r>
              <a:rPr lang="en-US" sz="2000" dirty="0">
                <a:solidFill>
                  <a:srgbClr val="CC0000"/>
                </a:solidFill>
              </a:rPr>
              <a:t>   </a:t>
            </a:r>
            <a:r>
              <a:rPr lang="en-US" sz="2000" dirty="0">
                <a:solidFill>
                  <a:schemeClr val="hlink"/>
                </a:solidFill>
                <a:sym typeface="Symbol" pitchFamily="18" charset="2"/>
              </a:rPr>
              <a:t>key[v] &gt;  w(</a:t>
            </a:r>
            <a:r>
              <a:rPr lang="en-US" sz="2000" dirty="0" err="1">
                <a:solidFill>
                  <a:schemeClr val="hlink"/>
                </a:solidFill>
                <a:sym typeface="Symbol" pitchFamily="18" charset="2"/>
              </a:rPr>
              <a:t>u,v</a:t>
            </a:r>
            <a:r>
              <a:rPr lang="en-US" sz="2000" dirty="0">
                <a:solidFill>
                  <a:schemeClr val="hlink"/>
                </a:solidFill>
                <a:sym typeface="Symbol" pitchFamily="18" charset="2"/>
              </a:rPr>
              <a:t>)  </a:t>
            </a:r>
            <a:r>
              <a:rPr lang="en-US" sz="2000" b="1" dirty="0">
                <a:sym typeface="Symbol" pitchFamily="18" charset="2"/>
              </a:rPr>
              <a:t>then do 				</a:t>
            </a:r>
            <a:r>
              <a:rPr lang="en-US" sz="2000" dirty="0">
                <a:solidFill>
                  <a:srgbClr val="CC0000"/>
                </a:solidFill>
                <a:cs typeface="Arial" pitchFamily="34" charset="0"/>
              </a:rPr>
              <a:t>§</a:t>
            </a:r>
            <a:r>
              <a:rPr lang="en-US" sz="2000" b="1" dirty="0">
                <a:sym typeface="Symbol" pitchFamily="18" charset="2"/>
              </a:rPr>
              <a:t> </a:t>
            </a:r>
            <a:r>
              <a:rPr lang="en-US" sz="2000" dirty="0">
                <a:solidFill>
                  <a:srgbClr val="CC0000"/>
                </a:solidFill>
                <a:sym typeface="Symbol" pitchFamily="18" charset="2"/>
              </a:rPr>
              <a:t>key[v]  </a:t>
            </a:r>
            <a:r>
              <a:rPr lang="en-US" sz="2000" dirty="0">
                <a:solidFill>
                  <a:srgbClr val="CC0000"/>
                </a:solidFill>
              </a:rPr>
              <a:t>-</a:t>
            </a:r>
            <a:r>
              <a:rPr lang="en-US" sz="2000" dirty="0">
                <a:solidFill>
                  <a:srgbClr val="CC0000"/>
                </a:solidFill>
                <a:sym typeface="Symbol" pitchFamily="18" charset="2"/>
              </a:rPr>
              <a:t></a:t>
            </a:r>
            <a:r>
              <a:rPr lang="en-US" sz="2000" dirty="0">
                <a:solidFill>
                  <a:schemeClr val="hlink"/>
                </a:solidFill>
                <a:sym typeface="Symbol" pitchFamily="18" charset="2"/>
              </a:rPr>
              <a:t> </a:t>
            </a: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		 </a:t>
            </a:r>
            <a:r>
              <a:rPr lang="en-US" sz="2000" dirty="0">
                <a:solidFill>
                  <a:schemeClr val="hlink"/>
                </a:solidFill>
              </a:rPr>
              <a:t> 	key[v]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w(</a:t>
            </a:r>
            <a:r>
              <a:rPr lang="en-US" sz="2000" dirty="0" err="1">
                <a:solidFill>
                  <a:schemeClr val="hlink"/>
                </a:solidFill>
                <a:sym typeface="Symbol" pitchFamily="18" charset="2"/>
              </a:rPr>
              <a:t>u,v</a:t>
            </a:r>
            <a:r>
              <a:rPr lang="en-US" sz="2000" dirty="0">
                <a:solidFill>
                  <a:schemeClr val="hlink"/>
                </a:solidFill>
                <a:sym typeface="Symbol" pitchFamily="18" charset="2"/>
              </a:rPr>
              <a:t>) 			</a:t>
            </a:r>
            <a:endParaRPr lang="en-US" sz="2000" dirty="0">
              <a:solidFill>
                <a:srgbClr val="CC0000"/>
              </a:solidFill>
            </a:endParaRP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	 </a:t>
            </a:r>
            <a:r>
              <a:rPr lang="en-US" sz="2000" dirty="0">
                <a:solidFill>
                  <a:schemeClr val="hlink"/>
                </a:solidFill>
              </a:rPr>
              <a:t> 	</a:t>
            </a:r>
            <a:r>
              <a:rPr lang="en-US" sz="2000" dirty="0">
                <a:solidFill>
                  <a:schemeClr val="hlink"/>
                </a:solidFill>
                <a:latin typeface="Symbol" pitchFamily="18" charset="2"/>
              </a:rPr>
              <a:t>p</a:t>
            </a:r>
            <a:r>
              <a:rPr lang="en-US" sz="2000" dirty="0">
                <a:solidFill>
                  <a:schemeClr val="hlink"/>
                </a:solidFill>
              </a:rPr>
              <a:t>[v]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u 			 						</a:t>
            </a: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 </a:t>
            </a:r>
            <a:r>
              <a:rPr lang="en-US" sz="2000" dirty="0">
                <a:solidFill>
                  <a:schemeClr val="hlink"/>
                </a:solidFill>
              </a:rPr>
              <a:t> 	</a:t>
            </a:r>
            <a:r>
              <a:rPr lang="en-US" sz="2000" dirty="0" err="1">
                <a:solidFill>
                  <a:schemeClr val="hlink"/>
                </a:solidFill>
              </a:rPr>
              <a:t>UpHeap</a:t>
            </a:r>
            <a:r>
              <a:rPr lang="en-US" sz="2000" dirty="0">
                <a:solidFill>
                  <a:schemeClr val="hlink"/>
                </a:solidFill>
              </a:rPr>
              <a:t>(</a:t>
            </a:r>
            <a:r>
              <a:rPr lang="en-US" sz="2000" dirty="0" err="1">
                <a:solidFill>
                  <a:schemeClr val="hlink"/>
                </a:solidFill>
              </a:rPr>
              <a:t>v,Q</a:t>
            </a:r>
            <a:r>
              <a:rPr lang="en-US" sz="2000" dirty="0">
                <a:solidFill>
                  <a:schemeClr val="hlink"/>
                </a:solidFill>
              </a:rPr>
              <a:t>)</a:t>
            </a:r>
            <a:r>
              <a:rPr lang="en-US" sz="2000" dirty="0">
                <a:solidFill>
                  <a:schemeClr val="hlink"/>
                </a:solidFill>
                <a:sym typeface="Symbol" pitchFamily="18" charset="2"/>
              </a:rPr>
              <a:t> 			</a:t>
            </a:r>
          </a:p>
          <a:p>
            <a:pPr eaLnBrk="1" hangingPunct="1">
              <a:buFontTx/>
              <a:buAutoNum type="arabicPeriod"/>
            </a:pPr>
            <a:r>
              <a:rPr lang="en-US" sz="2000" dirty="0">
                <a:solidFill>
                  <a:srgbClr val="CC0000"/>
                </a:solidFill>
              </a:rPr>
              <a:t> 		</a:t>
            </a:r>
            <a:r>
              <a:rPr lang="en-US" sz="2000" b="1" dirty="0"/>
              <a:t>end-if</a:t>
            </a:r>
          </a:p>
          <a:p>
            <a:pPr eaLnBrk="1" hangingPunct="1">
              <a:buFontTx/>
              <a:buAutoNum type="arabicPeriod"/>
            </a:pPr>
            <a:r>
              <a:rPr lang="en-US" sz="2000" dirty="0">
                <a:solidFill>
                  <a:srgbClr val="CC0000"/>
                </a:solidFill>
              </a:rPr>
              <a:t> 	</a:t>
            </a:r>
            <a:r>
              <a:rPr lang="en-US" sz="2000" b="1" dirty="0"/>
              <a:t>end-for</a:t>
            </a:r>
          </a:p>
          <a:p>
            <a:pPr eaLnBrk="1" hangingPunct="1">
              <a:buFontTx/>
              <a:buAutoNum type="arabicPeriod"/>
            </a:pPr>
            <a:r>
              <a:rPr lang="en-US" sz="2000" dirty="0">
                <a:solidFill>
                  <a:srgbClr val="CC0000"/>
                </a:solidFill>
              </a:rPr>
              <a:t> </a:t>
            </a:r>
            <a:r>
              <a:rPr lang="en-US" sz="2000" b="1" dirty="0"/>
              <a:t>end-while</a:t>
            </a: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T   { (u, </a:t>
            </a:r>
            <a:r>
              <a:rPr lang="en-US" sz="2000" dirty="0">
                <a:solidFill>
                  <a:schemeClr val="hlink"/>
                </a:solidFill>
                <a:latin typeface="Symbol" pitchFamily="18" charset="2"/>
                <a:sym typeface="Symbol" pitchFamily="18" charset="2"/>
              </a:rPr>
              <a:t>p</a:t>
            </a:r>
            <a:r>
              <a:rPr lang="en-US" sz="2000" dirty="0">
                <a:solidFill>
                  <a:schemeClr val="hlink"/>
                </a:solidFill>
                <a:sym typeface="Symbol" pitchFamily="18" charset="2"/>
              </a:rPr>
              <a:t>[u])  |   u  V(G) –{s} } 				</a:t>
            </a:r>
            <a:r>
              <a:rPr lang="en-US" sz="2000" dirty="0">
                <a:solidFill>
                  <a:srgbClr val="CC0000"/>
                </a:solidFill>
                <a:cs typeface="Arial" pitchFamily="34" charset="0"/>
              </a:rPr>
              <a:t>§ </a:t>
            </a:r>
            <a:r>
              <a:rPr lang="en-US" sz="2000" dirty="0">
                <a:solidFill>
                  <a:srgbClr val="CC0000"/>
                </a:solidFill>
              </a:rPr>
              <a:t>MST edges </a:t>
            </a:r>
            <a:endParaRPr lang="en-US" sz="2000" b="1" dirty="0"/>
          </a:p>
          <a:p>
            <a:pPr eaLnBrk="1" hangingPunct="1">
              <a:buFontTx/>
              <a:buAutoNum type="arabicPeriod"/>
            </a:pPr>
            <a:r>
              <a:rPr lang="en-US" sz="2000" dirty="0">
                <a:solidFill>
                  <a:srgbClr val="CC0000"/>
                </a:solidFill>
              </a:rPr>
              <a:t> </a:t>
            </a:r>
            <a:r>
              <a:rPr lang="en-US" sz="2000" b="1" dirty="0"/>
              <a:t>return</a:t>
            </a:r>
            <a:r>
              <a:rPr lang="en-US" sz="2000" dirty="0">
                <a:solidFill>
                  <a:srgbClr val="CC0000"/>
                </a:solidFill>
              </a:rPr>
              <a:t> </a:t>
            </a:r>
            <a:r>
              <a:rPr lang="en-US" sz="2000" dirty="0">
                <a:solidFill>
                  <a:schemeClr val="hlink"/>
                </a:solidFill>
              </a:rPr>
              <a:t>T</a:t>
            </a:r>
            <a:r>
              <a:rPr lang="en-US" sz="1800" dirty="0">
                <a:solidFill>
                  <a:schemeClr val="hlink"/>
                </a:solidFill>
              </a:rPr>
              <a:t> 							</a:t>
            </a:r>
            <a:endParaRPr lang="en-US" sz="2000" b="1" dirty="0"/>
          </a:p>
          <a:p>
            <a:pPr eaLnBrk="1" hangingPunct="1">
              <a:buFontTx/>
              <a:buNone/>
            </a:pPr>
            <a:r>
              <a:rPr lang="en-US" sz="2000" b="1" dirty="0"/>
              <a:t>end</a:t>
            </a:r>
            <a:r>
              <a:rPr lang="en-US" sz="2000" dirty="0">
                <a:solidFill>
                  <a:schemeClr val="hlink"/>
                </a:solidFill>
              </a:rPr>
              <a:t> </a:t>
            </a:r>
          </a:p>
        </p:txBody>
      </p:sp>
      <p:grpSp>
        <p:nvGrpSpPr>
          <p:cNvPr id="169991" name="Group 7"/>
          <p:cNvGrpSpPr>
            <a:grpSpLocks/>
          </p:cNvGrpSpPr>
          <p:nvPr/>
        </p:nvGrpSpPr>
        <p:grpSpPr bwMode="auto">
          <a:xfrm>
            <a:off x="381000" y="5638800"/>
            <a:ext cx="8153400" cy="1066800"/>
            <a:chOff x="240" y="3552"/>
            <a:chExt cx="5136" cy="672"/>
          </a:xfrm>
        </p:grpSpPr>
        <p:sp>
          <p:nvSpPr>
            <p:cNvPr id="90119" name="Text Box 3"/>
            <p:cNvSpPr txBox="1">
              <a:spLocks noChangeArrowheads="1"/>
            </p:cNvSpPr>
            <p:nvPr/>
          </p:nvSpPr>
          <p:spPr bwMode="auto">
            <a:xfrm>
              <a:off x="1296" y="3552"/>
              <a:ext cx="4080" cy="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45000"/>
                </a:lnSpc>
                <a:spcBef>
                  <a:spcPct val="50000"/>
                </a:spcBef>
                <a:buFontTx/>
                <a:buNone/>
              </a:pPr>
              <a:r>
                <a:rPr lang="en-US" sz="1800" dirty="0">
                  <a:solidFill>
                    <a:schemeClr val="tx2"/>
                  </a:solidFill>
                </a:rPr>
                <a:t>O(E log V</a:t>
              </a:r>
              <a:r>
                <a:rPr lang="en-US" sz="1800" dirty="0" smtClean="0">
                  <a:solidFill>
                    <a:schemeClr val="tx2"/>
                  </a:solidFill>
                </a:rPr>
                <a:t>)        with standard binary heap </a:t>
              </a:r>
              <a:endParaRPr lang="en-US" sz="1800" dirty="0">
                <a:solidFill>
                  <a:schemeClr val="tx2"/>
                </a:solidFill>
              </a:endParaRPr>
            </a:p>
            <a:p>
              <a:pPr eaLnBrk="1" hangingPunct="1">
                <a:lnSpc>
                  <a:spcPct val="145000"/>
                </a:lnSpc>
                <a:spcBef>
                  <a:spcPct val="50000"/>
                </a:spcBef>
                <a:buFontTx/>
                <a:buNone/>
              </a:pPr>
              <a:r>
                <a:rPr lang="en-US" sz="1800" dirty="0">
                  <a:solidFill>
                    <a:srgbClr val="CC0000"/>
                  </a:solidFill>
                </a:rPr>
                <a:t>O(E + V log V)  with Fibonacci Heaps   (CSE 4101  &amp; [CLRS 20]).</a:t>
              </a:r>
            </a:p>
          </p:txBody>
        </p:sp>
        <p:sp>
          <p:nvSpPr>
            <p:cNvPr id="90120" name="Rectangle 5"/>
            <p:cNvSpPr>
              <a:spLocks noChangeArrowheads="1"/>
            </p:cNvSpPr>
            <p:nvPr/>
          </p:nvSpPr>
          <p:spPr bwMode="auto">
            <a:xfrm>
              <a:off x="240" y="3792"/>
              <a:ext cx="8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Total time =</a:t>
              </a:r>
            </a:p>
          </p:txBody>
        </p:sp>
        <p:sp>
          <p:nvSpPr>
            <p:cNvPr id="90121" name="AutoShape 6"/>
            <p:cNvSpPr>
              <a:spLocks/>
            </p:cNvSpPr>
            <p:nvPr/>
          </p:nvSpPr>
          <p:spPr bwMode="auto">
            <a:xfrm>
              <a:off x="1152" y="3600"/>
              <a:ext cx="144" cy="624"/>
            </a:xfrm>
            <a:prstGeom prst="leftBrace">
              <a:avLst>
                <a:gd name="adj1" fmla="val 36111"/>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grpSp>
      <p:grpSp>
        <p:nvGrpSpPr>
          <p:cNvPr id="169993" name="Group 9"/>
          <p:cNvGrpSpPr>
            <a:grpSpLocks/>
          </p:cNvGrpSpPr>
          <p:nvPr/>
        </p:nvGrpSpPr>
        <p:grpSpPr bwMode="auto">
          <a:xfrm>
            <a:off x="5638800" y="2362200"/>
            <a:ext cx="2882900" cy="1828800"/>
            <a:chOff x="3552" y="1488"/>
            <a:chExt cx="1816" cy="1152"/>
          </a:xfrm>
        </p:grpSpPr>
        <p:sp>
          <p:nvSpPr>
            <p:cNvPr id="90117" name="AutoShape 4"/>
            <p:cNvSpPr>
              <a:spLocks/>
            </p:cNvSpPr>
            <p:nvPr/>
          </p:nvSpPr>
          <p:spPr bwMode="auto">
            <a:xfrm>
              <a:off x="3552" y="1488"/>
              <a:ext cx="96" cy="1152"/>
            </a:xfrm>
            <a:prstGeom prst="rightBrace">
              <a:avLst>
                <a:gd name="adj1" fmla="val 100000"/>
                <a:gd name="adj2" fmla="val 50000"/>
              </a:avLst>
            </a:prstGeom>
            <a:noFill/>
            <a:ln w="1905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90118" name="Rectangle 8"/>
            <p:cNvSpPr>
              <a:spLocks noChangeArrowheads="1"/>
            </p:cNvSpPr>
            <p:nvPr/>
          </p:nvSpPr>
          <p:spPr bwMode="auto">
            <a:xfrm>
              <a:off x="3648" y="1920"/>
              <a:ext cx="1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solidFill>
                    <a:srgbClr val="CC0000"/>
                  </a:solidFill>
                  <a:cs typeface="Arial" pitchFamily="34" charset="0"/>
                </a:rPr>
                <a:t>§ </a:t>
              </a:r>
              <a:r>
                <a:rPr lang="en-US" sz="2000">
                  <a:solidFill>
                    <a:srgbClr val="CC0000"/>
                  </a:solidFill>
                </a:rPr>
                <a:t>O( |Adj[u]| log V) time</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87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9986">
                                            <p:bg/>
                                          </p:spTgt>
                                        </p:tgtEl>
                                        <p:attrNameLst>
                                          <p:attrName>style.visibility</p:attrName>
                                        </p:attrNameLst>
                                      </p:cBhvr>
                                      <p:to>
                                        <p:strVal val="visible"/>
                                      </p:to>
                                    </p:set>
                                    <p:animEffect transition="in" filter="wipe(left)">
                                      <p:cBhvr>
                                        <p:cTn id="7" dur="500"/>
                                        <p:tgtEl>
                                          <p:spTgt spid="169986">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9986">
                                            <p:txEl>
                                              <p:pRg st="0" end="0"/>
                                            </p:txEl>
                                          </p:spTgt>
                                        </p:tgtEl>
                                        <p:attrNameLst>
                                          <p:attrName>style.visibility</p:attrName>
                                        </p:attrNameLst>
                                      </p:cBhvr>
                                      <p:to>
                                        <p:strVal val="visible"/>
                                      </p:to>
                                    </p:set>
                                    <p:animEffect transition="in" filter="wipe(left)">
                                      <p:cBhvr>
                                        <p:cTn id="12" dur="500"/>
                                        <p:tgtEl>
                                          <p:spTgt spid="16998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9986">
                                            <p:txEl>
                                              <p:pRg st="1" end="1"/>
                                            </p:txEl>
                                          </p:spTgt>
                                        </p:tgtEl>
                                        <p:attrNameLst>
                                          <p:attrName>style.visibility</p:attrName>
                                        </p:attrNameLst>
                                      </p:cBhvr>
                                      <p:to>
                                        <p:strVal val="visible"/>
                                      </p:to>
                                    </p:set>
                                    <p:animEffect transition="in" filter="wipe(left)">
                                      <p:cBhvr>
                                        <p:cTn id="17" dur="500"/>
                                        <p:tgtEl>
                                          <p:spTgt spid="16998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9986">
                                            <p:txEl>
                                              <p:pRg st="2" end="2"/>
                                            </p:txEl>
                                          </p:spTgt>
                                        </p:tgtEl>
                                        <p:attrNameLst>
                                          <p:attrName>style.visibility</p:attrName>
                                        </p:attrNameLst>
                                      </p:cBhvr>
                                      <p:to>
                                        <p:strVal val="visible"/>
                                      </p:to>
                                    </p:set>
                                    <p:animEffect transition="in" filter="wipe(left)">
                                      <p:cBhvr>
                                        <p:cTn id="22" dur="500"/>
                                        <p:tgtEl>
                                          <p:spTgt spid="16998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9986">
                                            <p:txEl>
                                              <p:pRg st="3" end="3"/>
                                            </p:txEl>
                                          </p:spTgt>
                                        </p:tgtEl>
                                        <p:attrNameLst>
                                          <p:attrName>style.visibility</p:attrName>
                                        </p:attrNameLst>
                                      </p:cBhvr>
                                      <p:to>
                                        <p:strVal val="visible"/>
                                      </p:to>
                                    </p:set>
                                    <p:animEffect transition="in" filter="wipe(left)">
                                      <p:cBhvr>
                                        <p:cTn id="27" dur="500"/>
                                        <p:tgtEl>
                                          <p:spTgt spid="169986">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9986">
                                            <p:txEl>
                                              <p:pRg st="4" end="4"/>
                                            </p:txEl>
                                          </p:spTgt>
                                        </p:tgtEl>
                                        <p:attrNameLst>
                                          <p:attrName>style.visibility</p:attrName>
                                        </p:attrNameLst>
                                      </p:cBhvr>
                                      <p:to>
                                        <p:strVal val="visible"/>
                                      </p:to>
                                    </p:set>
                                    <p:animEffect transition="in" filter="wipe(left)">
                                      <p:cBhvr>
                                        <p:cTn id="32" dur="500"/>
                                        <p:tgtEl>
                                          <p:spTgt spid="169986">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9986">
                                            <p:txEl>
                                              <p:pRg st="5" end="5"/>
                                            </p:txEl>
                                          </p:spTgt>
                                        </p:tgtEl>
                                        <p:attrNameLst>
                                          <p:attrName>style.visibility</p:attrName>
                                        </p:attrNameLst>
                                      </p:cBhvr>
                                      <p:to>
                                        <p:strVal val="visible"/>
                                      </p:to>
                                    </p:set>
                                    <p:animEffect transition="in" filter="wipe(left)">
                                      <p:cBhvr>
                                        <p:cTn id="37" dur="500"/>
                                        <p:tgtEl>
                                          <p:spTgt spid="169986">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9986">
                                            <p:txEl>
                                              <p:pRg st="6" end="6"/>
                                            </p:txEl>
                                          </p:spTgt>
                                        </p:tgtEl>
                                        <p:attrNameLst>
                                          <p:attrName>style.visibility</p:attrName>
                                        </p:attrNameLst>
                                      </p:cBhvr>
                                      <p:to>
                                        <p:strVal val="visible"/>
                                      </p:to>
                                    </p:set>
                                    <p:animEffect transition="in" filter="wipe(left)">
                                      <p:cBhvr>
                                        <p:cTn id="42" dur="500"/>
                                        <p:tgtEl>
                                          <p:spTgt spid="169986">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9986">
                                            <p:txEl>
                                              <p:pRg st="7" end="7"/>
                                            </p:txEl>
                                          </p:spTgt>
                                        </p:tgtEl>
                                        <p:attrNameLst>
                                          <p:attrName>style.visibility</p:attrName>
                                        </p:attrNameLst>
                                      </p:cBhvr>
                                      <p:to>
                                        <p:strVal val="visible"/>
                                      </p:to>
                                    </p:set>
                                    <p:animEffect transition="in" filter="wipe(left)">
                                      <p:cBhvr>
                                        <p:cTn id="47" dur="500"/>
                                        <p:tgtEl>
                                          <p:spTgt spid="169986">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9986">
                                            <p:txEl>
                                              <p:pRg st="8" end="8"/>
                                            </p:txEl>
                                          </p:spTgt>
                                        </p:tgtEl>
                                        <p:attrNameLst>
                                          <p:attrName>style.visibility</p:attrName>
                                        </p:attrNameLst>
                                      </p:cBhvr>
                                      <p:to>
                                        <p:strVal val="visible"/>
                                      </p:to>
                                    </p:set>
                                    <p:animEffect transition="in" filter="wipe(left)">
                                      <p:cBhvr>
                                        <p:cTn id="52" dur="500"/>
                                        <p:tgtEl>
                                          <p:spTgt spid="169986">
                                            <p:txEl>
                                              <p:pRg st="8" end="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9986">
                                            <p:txEl>
                                              <p:pRg st="9" end="9"/>
                                            </p:txEl>
                                          </p:spTgt>
                                        </p:tgtEl>
                                        <p:attrNameLst>
                                          <p:attrName>style.visibility</p:attrName>
                                        </p:attrNameLst>
                                      </p:cBhvr>
                                      <p:to>
                                        <p:strVal val="visible"/>
                                      </p:to>
                                    </p:set>
                                    <p:animEffect transition="in" filter="wipe(left)">
                                      <p:cBhvr>
                                        <p:cTn id="57" dur="500"/>
                                        <p:tgtEl>
                                          <p:spTgt spid="169986">
                                            <p:txEl>
                                              <p:pRg st="9" end="9"/>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69986">
                                            <p:txEl>
                                              <p:pRg st="10" end="10"/>
                                            </p:txEl>
                                          </p:spTgt>
                                        </p:tgtEl>
                                        <p:attrNameLst>
                                          <p:attrName>style.visibility</p:attrName>
                                        </p:attrNameLst>
                                      </p:cBhvr>
                                      <p:to>
                                        <p:strVal val="visible"/>
                                      </p:to>
                                    </p:set>
                                    <p:animEffect transition="in" filter="wipe(left)">
                                      <p:cBhvr>
                                        <p:cTn id="62" dur="500"/>
                                        <p:tgtEl>
                                          <p:spTgt spid="169986">
                                            <p:txEl>
                                              <p:pRg st="10" end="1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69986">
                                            <p:txEl>
                                              <p:pRg st="11" end="11"/>
                                            </p:txEl>
                                          </p:spTgt>
                                        </p:tgtEl>
                                        <p:attrNameLst>
                                          <p:attrName>style.visibility</p:attrName>
                                        </p:attrNameLst>
                                      </p:cBhvr>
                                      <p:to>
                                        <p:strVal val="visible"/>
                                      </p:to>
                                    </p:set>
                                    <p:animEffect transition="in" filter="wipe(left)">
                                      <p:cBhvr>
                                        <p:cTn id="67" dur="500"/>
                                        <p:tgtEl>
                                          <p:spTgt spid="169986">
                                            <p:txEl>
                                              <p:pRg st="11" end="11"/>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69986">
                                            <p:txEl>
                                              <p:pRg st="12" end="12"/>
                                            </p:txEl>
                                          </p:spTgt>
                                        </p:tgtEl>
                                        <p:attrNameLst>
                                          <p:attrName>style.visibility</p:attrName>
                                        </p:attrNameLst>
                                      </p:cBhvr>
                                      <p:to>
                                        <p:strVal val="visible"/>
                                      </p:to>
                                    </p:set>
                                    <p:animEffect transition="in" filter="wipe(left)">
                                      <p:cBhvr>
                                        <p:cTn id="72" dur="500"/>
                                        <p:tgtEl>
                                          <p:spTgt spid="169986">
                                            <p:txEl>
                                              <p:pRg st="12" end="12"/>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69986">
                                            <p:txEl>
                                              <p:pRg st="13" end="13"/>
                                            </p:txEl>
                                          </p:spTgt>
                                        </p:tgtEl>
                                        <p:attrNameLst>
                                          <p:attrName>style.visibility</p:attrName>
                                        </p:attrNameLst>
                                      </p:cBhvr>
                                      <p:to>
                                        <p:strVal val="visible"/>
                                      </p:to>
                                    </p:set>
                                    <p:animEffect transition="in" filter="wipe(left)">
                                      <p:cBhvr>
                                        <p:cTn id="77" dur="500"/>
                                        <p:tgtEl>
                                          <p:spTgt spid="169986">
                                            <p:txEl>
                                              <p:pRg st="13" end="13"/>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69986">
                                            <p:txEl>
                                              <p:pRg st="14" end="14"/>
                                            </p:txEl>
                                          </p:spTgt>
                                        </p:tgtEl>
                                        <p:attrNameLst>
                                          <p:attrName>style.visibility</p:attrName>
                                        </p:attrNameLst>
                                      </p:cBhvr>
                                      <p:to>
                                        <p:strVal val="visible"/>
                                      </p:to>
                                    </p:set>
                                    <p:animEffect transition="in" filter="wipe(left)">
                                      <p:cBhvr>
                                        <p:cTn id="82" dur="500"/>
                                        <p:tgtEl>
                                          <p:spTgt spid="169986">
                                            <p:txEl>
                                              <p:pRg st="14" end="14"/>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69986">
                                            <p:txEl>
                                              <p:pRg st="15" end="15"/>
                                            </p:txEl>
                                          </p:spTgt>
                                        </p:tgtEl>
                                        <p:attrNameLst>
                                          <p:attrName>style.visibility</p:attrName>
                                        </p:attrNameLst>
                                      </p:cBhvr>
                                      <p:to>
                                        <p:strVal val="visible"/>
                                      </p:to>
                                    </p:set>
                                    <p:animEffect transition="in" filter="wipe(left)">
                                      <p:cBhvr>
                                        <p:cTn id="87" dur="500"/>
                                        <p:tgtEl>
                                          <p:spTgt spid="169986">
                                            <p:txEl>
                                              <p:pRg st="15" end="15"/>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69986">
                                            <p:txEl>
                                              <p:pRg st="16" end="16"/>
                                            </p:txEl>
                                          </p:spTgt>
                                        </p:tgtEl>
                                        <p:attrNameLst>
                                          <p:attrName>style.visibility</p:attrName>
                                        </p:attrNameLst>
                                      </p:cBhvr>
                                      <p:to>
                                        <p:strVal val="visible"/>
                                      </p:to>
                                    </p:set>
                                    <p:animEffect transition="in" filter="wipe(left)">
                                      <p:cBhvr>
                                        <p:cTn id="92" dur="500"/>
                                        <p:tgtEl>
                                          <p:spTgt spid="169986">
                                            <p:txEl>
                                              <p:pRg st="16" end="16"/>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169993"/>
                                        </p:tgtEl>
                                        <p:attrNameLst>
                                          <p:attrName>style.visibility</p:attrName>
                                        </p:attrNameLst>
                                      </p:cBhvr>
                                      <p:to>
                                        <p:strVal val="visible"/>
                                      </p:to>
                                    </p:set>
                                    <p:animEffect transition="in" filter="wipe(left)">
                                      <p:cBhvr>
                                        <p:cTn id="97" dur="500"/>
                                        <p:tgtEl>
                                          <p:spTgt spid="169993"/>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169991"/>
                                        </p:tgtEl>
                                        <p:attrNameLst>
                                          <p:attrName>style.visibility</p:attrName>
                                        </p:attrNameLst>
                                      </p:cBhvr>
                                      <p:to>
                                        <p:strVal val="visible"/>
                                      </p:to>
                                    </p:set>
                                    <p:animEffect transition="in" filter="wipe(left)">
                                      <p:cBhvr>
                                        <p:cTn id="102" dur="500"/>
                                        <p:tgtEl>
                                          <p:spTgt spid="169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build="p" animBg="1"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Example</a:t>
            </a:r>
          </a:p>
        </p:txBody>
      </p:sp>
      <p:grpSp>
        <p:nvGrpSpPr>
          <p:cNvPr id="172085" name="Group 53"/>
          <p:cNvGrpSpPr>
            <a:grpSpLocks/>
          </p:cNvGrpSpPr>
          <p:nvPr/>
        </p:nvGrpSpPr>
        <p:grpSpPr bwMode="auto">
          <a:xfrm>
            <a:off x="436563" y="873125"/>
            <a:ext cx="7926387" cy="5773738"/>
            <a:chOff x="275" y="550"/>
            <a:chExt cx="4993" cy="3637"/>
          </a:xfrm>
        </p:grpSpPr>
        <p:sp>
          <p:nvSpPr>
            <p:cNvPr id="91178" name="Line 3"/>
            <p:cNvSpPr>
              <a:spLocks noChangeShapeType="1"/>
            </p:cNvSpPr>
            <p:nvPr/>
          </p:nvSpPr>
          <p:spPr bwMode="auto">
            <a:xfrm flipH="1">
              <a:off x="1360" y="1152"/>
              <a:ext cx="1424"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79" name="Line 4"/>
            <p:cNvSpPr>
              <a:spLocks noChangeShapeType="1"/>
            </p:cNvSpPr>
            <p:nvPr/>
          </p:nvSpPr>
          <p:spPr bwMode="auto">
            <a:xfrm flipH="1">
              <a:off x="2784" y="1152"/>
              <a:ext cx="1424"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80" name="Line 5"/>
            <p:cNvSpPr>
              <a:spLocks noChangeShapeType="1"/>
            </p:cNvSpPr>
            <p:nvPr/>
          </p:nvSpPr>
          <p:spPr bwMode="auto">
            <a:xfrm>
              <a:off x="1360" y="2343"/>
              <a:ext cx="1424"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81" name="Line 6"/>
            <p:cNvSpPr>
              <a:spLocks noChangeShapeType="1"/>
            </p:cNvSpPr>
            <p:nvPr/>
          </p:nvSpPr>
          <p:spPr bwMode="auto">
            <a:xfrm>
              <a:off x="2784" y="2343"/>
              <a:ext cx="1424"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82" name="Line 7"/>
            <p:cNvSpPr>
              <a:spLocks noChangeShapeType="1"/>
            </p:cNvSpPr>
            <p:nvPr/>
          </p:nvSpPr>
          <p:spPr bwMode="auto">
            <a:xfrm>
              <a:off x="1360" y="1152"/>
              <a:ext cx="0"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83" name="Line 8"/>
            <p:cNvSpPr>
              <a:spLocks noChangeShapeType="1"/>
            </p:cNvSpPr>
            <p:nvPr/>
          </p:nvSpPr>
          <p:spPr bwMode="auto">
            <a:xfrm>
              <a:off x="1360" y="2343"/>
              <a:ext cx="0"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84" name="Line 9"/>
            <p:cNvSpPr>
              <a:spLocks noChangeShapeType="1"/>
            </p:cNvSpPr>
            <p:nvPr/>
          </p:nvSpPr>
          <p:spPr bwMode="auto">
            <a:xfrm>
              <a:off x="2784" y="1152"/>
              <a:ext cx="0"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85" name="Line 10"/>
            <p:cNvSpPr>
              <a:spLocks noChangeShapeType="1"/>
            </p:cNvSpPr>
            <p:nvPr/>
          </p:nvSpPr>
          <p:spPr bwMode="auto">
            <a:xfrm>
              <a:off x="2784" y="2343"/>
              <a:ext cx="0"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86" name="Line 11"/>
            <p:cNvSpPr>
              <a:spLocks noChangeShapeType="1"/>
            </p:cNvSpPr>
            <p:nvPr/>
          </p:nvSpPr>
          <p:spPr bwMode="auto">
            <a:xfrm>
              <a:off x="4208" y="1152"/>
              <a:ext cx="0"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87" name="Line 12"/>
            <p:cNvSpPr>
              <a:spLocks noChangeShapeType="1"/>
            </p:cNvSpPr>
            <p:nvPr/>
          </p:nvSpPr>
          <p:spPr bwMode="auto">
            <a:xfrm>
              <a:off x="4208" y="2343"/>
              <a:ext cx="0" cy="11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88" name="Line 13"/>
            <p:cNvSpPr>
              <a:spLocks noChangeShapeType="1"/>
            </p:cNvSpPr>
            <p:nvPr/>
          </p:nvSpPr>
          <p:spPr bwMode="auto">
            <a:xfrm>
              <a:off x="2784" y="1152"/>
              <a:ext cx="14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89" name="Line 14"/>
            <p:cNvSpPr>
              <a:spLocks noChangeShapeType="1"/>
            </p:cNvSpPr>
            <p:nvPr/>
          </p:nvSpPr>
          <p:spPr bwMode="auto">
            <a:xfrm>
              <a:off x="1360" y="1152"/>
              <a:ext cx="14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90" name="Oval 15"/>
            <p:cNvSpPr>
              <a:spLocks noChangeArrowheads="1"/>
            </p:cNvSpPr>
            <p:nvPr/>
          </p:nvSpPr>
          <p:spPr bwMode="auto">
            <a:xfrm>
              <a:off x="1187" y="1003"/>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a</a:t>
              </a:r>
            </a:p>
          </p:txBody>
        </p:sp>
        <p:sp>
          <p:nvSpPr>
            <p:cNvPr id="91191" name="Line 16"/>
            <p:cNvSpPr>
              <a:spLocks noChangeShapeType="1"/>
            </p:cNvSpPr>
            <p:nvPr/>
          </p:nvSpPr>
          <p:spPr bwMode="auto">
            <a:xfrm>
              <a:off x="2784" y="2343"/>
              <a:ext cx="14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92" name="Line 17"/>
            <p:cNvSpPr>
              <a:spLocks noChangeShapeType="1"/>
            </p:cNvSpPr>
            <p:nvPr/>
          </p:nvSpPr>
          <p:spPr bwMode="auto">
            <a:xfrm>
              <a:off x="1360" y="2343"/>
              <a:ext cx="14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93" name="Line 18"/>
            <p:cNvSpPr>
              <a:spLocks noChangeShapeType="1"/>
            </p:cNvSpPr>
            <p:nvPr/>
          </p:nvSpPr>
          <p:spPr bwMode="auto">
            <a:xfrm>
              <a:off x="2784" y="3534"/>
              <a:ext cx="14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94" name="Line 19"/>
            <p:cNvSpPr>
              <a:spLocks noChangeShapeType="1"/>
            </p:cNvSpPr>
            <p:nvPr/>
          </p:nvSpPr>
          <p:spPr bwMode="auto">
            <a:xfrm>
              <a:off x="1360" y="3534"/>
              <a:ext cx="14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1195" name="Text Box 20"/>
            <p:cNvSpPr txBox="1">
              <a:spLocks noChangeArrowheads="1"/>
            </p:cNvSpPr>
            <p:nvPr/>
          </p:nvSpPr>
          <p:spPr bwMode="auto">
            <a:xfrm>
              <a:off x="1995" y="90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2</a:t>
              </a:r>
            </a:p>
          </p:txBody>
        </p:sp>
        <p:sp>
          <p:nvSpPr>
            <p:cNvPr id="91196" name="Text Box 21"/>
            <p:cNvSpPr txBox="1">
              <a:spLocks noChangeArrowheads="1"/>
            </p:cNvSpPr>
            <p:nvPr/>
          </p:nvSpPr>
          <p:spPr bwMode="auto">
            <a:xfrm>
              <a:off x="3387" y="90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3</a:t>
              </a:r>
            </a:p>
          </p:txBody>
        </p:sp>
        <p:sp>
          <p:nvSpPr>
            <p:cNvPr id="91197" name="Text Box 22"/>
            <p:cNvSpPr txBox="1">
              <a:spLocks noChangeArrowheads="1"/>
            </p:cNvSpPr>
            <p:nvPr/>
          </p:nvSpPr>
          <p:spPr bwMode="auto">
            <a:xfrm>
              <a:off x="1179" y="162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5</a:t>
              </a:r>
            </a:p>
          </p:txBody>
        </p:sp>
        <p:sp>
          <p:nvSpPr>
            <p:cNvPr id="91198" name="Text Box 23"/>
            <p:cNvSpPr txBox="1">
              <a:spLocks noChangeArrowheads="1"/>
            </p:cNvSpPr>
            <p:nvPr/>
          </p:nvSpPr>
          <p:spPr bwMode="auto">
            <a:xfrm>
              <a:off x="1899" y="1528"/>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4</a:t>
              </a:r>
            </a:p>
          </p:txBody>
        </p:sp>
        <p:sp>
          <p:nvSpPr>
            <p:cNvPr id="91199" name="Text Box 24"/>
            <p:cNvSpPr txBox="1">
              <a:spLocks noChangeArrowheads="1"/>
            </p:cNvSpPr>
            <p:nvPr/>
          </p:nvSpPr>
          <p:spPr bwMode="auto">
            <a:xfrm>
              <a:off x="2619" y="162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3</a:t>
              </a:r>
            </a:p>
          </p:txBody>
        </p:sp>
        <p:sp>
          <p:nvSpPr>
            <p:cNvPr id="91200" name="Text Box 25"/>
            <p:cNvSpPr txBox="1">
              <a:spLocks noChangeArrowheads="1"/>
            </p:cNvSpPr>
            <p:nvPr/>
          </p:nvSpPr>
          <p:spPr bwMode="auto">
            <a:xfrm>
              <a:off x="3491" y="1462"/>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8</a:t>
              </a:r>
            </a:p>
          </p:txBody>
        </p:sp>
        <p:sp>
          <p:nvSpPr>
            <p:cNvPr id="91201" name="Text Box 26"/>
            <p:cNvSpPr txBox="1">
              <a:spLocks noChangeArrowheads="1"/>
            </p:cNvSpPr>
            <p:nvPr/>
          </p:nvSpPr>
          <p:spPr bwMode="auto">
            <a:xfrm>
              <a:off x="4251" y="162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6</a:t>
              </a:r>
            </a:p>
          </p:txBody>
        </p:sp>
        <p:sp>
          <p:nvSpPr>
            <p:cNvPr id="91202" name="Text Box 27"/>
            <p:cNvSpPr txBox="1">
              <a:spLocks noChangeArrowheads="1"/>
            </p:cNvSpPr>
            <p:nvPr/>
          </p:nvSpPr>
          <p:spPr bwMode="auto">
            <a:xfrm>
              <a:off x="1179" y="282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8</a:t>
              </a:r>
            </a:p>
          </p:txBody>
        </p:sp>
        <p:sp>
          <p:nvSpPr>
            <p:cNvPr id="91203" name="Text Box 28"/>
            <p:cNvSpPr txBox="1">
              <a:spLocks noChangeArrowheads="1"/>
            </p:cNvSpPr>
            <p:nvPr/>
          </p:nvSpPr>
          <p:spPr bwMode="auto">
            <a:xfrm>
              <a:off x="1858" y="286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4</a:t>
              </a:r>
            </a:p>
          </p:txBody>
        </p:sp>
        <p:sp>
          <p:nvSpPr>
            <p:cNvPr id="91204" name="Text Box 29"/>
            <p:cNvSpPr txBox="1">
              <a:spLocks noChangeArrowheads="1"/>
            </p:cNvSpPr>
            <p:nvPr/>
          </p:nvSpPr>
          <p:spPr bwMode="auto">
            <a:xfrm>
              <a:off x="2572" y="2680"/>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7</a:t>
              </a:r>
            </a:p>
          </p:txBody>
        </p:sp>
        <p:sp>
          <p:nvSpPr>
            <p:cNvPr id="91205" name="Text Box 30"/>
            <p:cNvSpPr txBox="1">
              <a:spLocks noChangeArrowheads="1"/>
            </p:cNvSpPr>
            <p:nvPr/>
          </p:nvSpPr>
          <p:spPr bwMode="auto">
            <a:xfrm>
              <a:off x="3282" y="286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5</a:t>
              </a:r>
            </a:p>
          </p:txBody>
        </p:sp>
        <p:sp>
          <p:nvSpPr>
            <p:cNvPr id="91206" name="Text Box 31"/>
            <p:cNvSpPr txBox="1">
              <a:spLocks noChangeArrowheads="1"/>
            </p:cNvSpPr>
            <p:nvPr/>
          </p:nvSpPr>
          <p:spPr bwMode="auto">
            <a:xfrm>
              <a:off x="4251" y="277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3</a:t>
              </a:r>
            </a:p>
          </p:txBody>
        </p:sp>
        <p:sp>
          <p:nvSpPr>
            <p:cNvPr id="91207" name="Text Box 32"/>
            <p:cNvSpPr txBox="1">
              <a:spLocks noChangeArrowheads="1"/>
            </p:cNvSpPr>
            <p:nvPr/>
          </p:nvSpPr>
          <p:spPr bwMode="auto">
            <a:xfrm>
              <a:off x="1899" y="349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9</a:t>
              </a:r>
            </a:p>
          </p:txBody>
        </p:sp>
        <p:sp>
          <p:nvSpPr>
            <p:cNvPr id="91208" name="Text Box 33"/>
            <p:cNvSpPr txBox="1">
              <a:spLocks noChangeArrowheads="1"/>
            </p:cNvSpPr>
            <p:nvPr/>
          </p:nvSpPr>
          <p:spPr bwMode="auto">
            <a:xfrm>
              <a:off x="3339" y="349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8</a:t>
              </a:r>
            </a:p>
          </p:txBody>
        </p:sp>
        <p:sp>
          <p:nvSpPr>
            <p:cNvPr id="91209" name="Text Box 34"/>
            <p:cNvSpPr txBox="1">
              <a:spLocks noChangeArrowheads="1"/>
            </p:cNvSpPr>
            <p:nvPr/>
          </p:nvSpPr>
          <p:spPr bwMode="auto">
            <a:xfrm>
              <a:off x="2062" y="231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6</a:t>
              </a:r>
            </a:p>
          </p:txBody>
        </p:sp>
        <p:sp>
          <p:nvSpPr>
            <p:cNvPr id="91210" name="Text Box 35"/>
            <p:cNvSpPr txBox="1">
              <a:spLocks noChangeArrowheads="1"/>
            </p:cNvSpPr>
            <p:nvPr/>
          </p:nvSpPr>
          <p:spPr bwMode="auto">
            <a:xfrm>
              <a:off x="3492" y="2313"/>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2</a:t>
              </a:r>
            </a:p>
          </p:txBody>
        </p:sp>
        <p:sp>
          <p:nvSpPr>
            <p:cNvPr id="91211" name="Oval 36"/>
            <p:cNvSpPr>
              <a:spLocks noChangeArrowheads="1"/>
            </p:cNvSpPr>
            <p:nvPr/>
          </p:nvSpPr>
          <p:spPr bwMode="auto">
            <a:xfrm>
              <a:off x="2628" y="1003"/>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b</a:t>
              </a:r>
            </a:p>
          </p:txBody>
        </p:sp>
        <p:sp>
          <p:nvSpPr>
            <p:cNvPr id="91212" name="Oval 37"/>
            <p:cNvSpPr>
              <a:spLocks noChangeArrowheads="1"/>
            </p:cNvSpPr>
            <p:nvPr/>
          </p:nvSpPr>
          <p:spPr bwMode="auto">
            <a:xfrm>
              <a:off x="4068" y="1003"/>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c</a:t>
              </a:r>
            </a:p>
          </p:txBody>
        </p:sp>
        <p:sp>
          <p:nvSpPr>
            <p:cNvPr id="91213" name="Oval 38"/>
            <p:cNvSpPr>
              <a:spLocks noChangeArrowheads="1"/>
            </p:cNvSpPr>
            <p:nvPr/>
          </p:nvSpPr>
          <p:spPr bwMode="auto">
            <a:xfrm>
              <a:off x="1187" y="2155"/>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d</a:t>
              </a:r>
            </a:p>
          </p:txBody>
        </p:sp>
        <p:sp>
          <p:nvSpPr>
            <p:cNvPr id="91214" name="Oval 39"/>
            <p:cNvSpPr>
              <a:spLocks noChangeArrowheads="1"/>
            </p:cNvSpPr>
            <p:nvPr/>
          </p:nvSpPr>
          <p:spPr bwMode="auto">
            <a:xfrm>
              <a:off x="2628" y="2155"/>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e</a:t>
              </a:r>
            </a:p>
          </p:txBody>
        </p:sp>
        <p:sp>
          <p:nvSpPr>
            <p:cNvPr id="91215" name="Oval 40"/>
            <p:cNvSpPr>
              <a:spLocks noChangeArrowheads="1"/>
            </p:cNvSpPr>
            <p:nvPr/>
          </p:nvSpPr>
          <p:spPr bwMode="auto">
            <a:xfrm>
              <a:off x="4068" y="2155"/>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f</a:t>
              </a:r>
            </a:p>
          </p:txBody>
        </p:sp>
        <p:sp>
          <p:nvSpPr>
            <p:cNvPr id="91216" name="Oval 41"/>
            <p:cNvSpPr>
              <a:spLocks noChangeArrowheads="1"/>
            </p:cNvSpPr>
            <p:nvPr/>
          </p:nvSpPr>
          <p:spPr bwMode="auto">
            <a:xfrm>
              <a:off x="1139" y="3355"/>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g</a:t>
              </a:r>
            </a:p>
          </p:txBody>
        </p:sp>
        <p:sp>
          <p:nvSpPr>
            <p:cNvPr id="91217" name="Oval 42"/>
            <p:cNvSpPr>
              <a:spLocks noChangeArrowheads="1"/>
            </p:cNvSpPr>
            <p:nvPr/>
          </p:nvSpPr>
          <p:spPr bwMode="auto">
            <a:xfrm>
              <a:off x="2628" y="3355"/>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h</a:t>
              </a:r>
            </a:p>
          </p:txBody>
        </p:sp>
        <p:sp>
          <p:nvSpPr>
            <p:cNvPr id="91218" name="Oval 43"/>
            <p:cNvSpPr>
              <a:spLocks noChangeArrowheads="1"/>
            </p:cNvSpPr>
            <p:nvPr/>
          </p:nvSpPr>
          <p:spPr bwMode="auto">
            <a:xfrm>
              <a:off x="4068" y="3355"/>
              <a:ext cx="335" cy="338"/>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sz="2000">
                  <a:solidFill>
                    <a:schemeClr val="tx2"/>
                  </a:solidFill>
                </a:rPr>
                <a:t>i</a:t>
              </a:r>
            </a:p>
          </p:txBody>
        </p:sp>
        <p:sp>
          <p:nvSpPr>
            <p:cNvPr id="91219" name="Text Box 44"/>
            <p:cNvSpPr txBox="1">
              <a:spLocks noChangeArrowheads="1"/>
            </p:cNvSpPr>
            <p:nvPr/>
          </p:nvSpPr>
          <p:spPr bwMode="auto">
            <a:xfrm>
              <a:off x="423" y="649"/>
              <a:ext cx="765" cy="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r" eaLnBrk="1" hangingPunct="1">
                <a:lnSpc>
                  <a:spcPct val="80000"/>
                </a:lnSpc>
                <a:spcBef>
                  <a:spcPct val="50000"/>
                </a:spcBef>
                <a:buFontTx/>
                <a:buNone/>
              </a:pPr>
              <a:r>
                <a:rPr lang="en-US" sz="1800">
                  <a:solidFill>
                    <a:srgbClr val="CC0000"/>
                  </a:solidFill>
                </a:rPr>
                <a:t>key =  0     </a:t>
              </a:r>
            </a:p>
            <a:p>
              <a:pPr algn="r" eaLnBrk="1" hangingPunct="1">
                <a:lnSpc>
                  <a:spcPct val="80000"/>
                </a:lnSpc>
                <a:spcBef>
                  <a:spcPct val="50000"/>
                </a:spcBef>
                <a:buFont typeface="Symbol" pitchFamily="18" charset="2"/>
                <a:buChar char="p"/>
              </a:pPr>
              <a:r>
                <a:rPr lang="en-US" sz="1800">
                  <a:solidFill>
                    <a:srgbClr val="CC0000"/>
                  </a:solidFill>
                </a:rPr>
                <a:t> = nil</a:t>
              </a:r>
              <a:r>
                <a:rPr lang="en-US" sz="1800">
                  <a:solidFill>
                    <a:schemeClr val="hlink"/>
                  </a:solidFill>
                </a:rPr>
                <a:t>    </a:t>
              </a:r>
            </a:p>
            <a:p>
              <a:pPr algn="r" eaLnBrk="1" hangingPunct="1">
                <a:lnSpc>
                  <a:spcPct val="80000"/>
                </a:lnSpc>
                <a:spcBef>
                  <a:spcPct val="50000"/>
                </a:spcBef>
                <a:buFont typeface="Symbol" pitchFamily="18" charset="2"/>
                <a:buNone/>
              </a:pPr>
              <a:r>
                <a:rPr lang="en-US" sz="1800" b="1"/>
                <a:t>s =</a:t>
              </a:r>
            </a:p>
          </p:txBody>
        </p:sp>
        <p:sp>
          <p:nvSpPr>
            <p:cNvPr id="91220" name="Text Box 45"/>
            <p:cNvSpPr txBox="1">
              <a:spLocks noChangeArrowheads="1"/>
            </p:cNvSpPr>
            <p:nvPr/>
          </p:nvSpPr>
          <p:spPr bwMode="auto">
            <a:xfrm>
              <a:off x="2435" y="550"/>
              <a:ext cx="769"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r" eaLnBrk="1" hangingPunct="1">
                <a:lnSpc>
                  <a:spcPct val="80000"/>
                </a:lnSpc>
                <a:spcBef>
                  <a:spcPct val="50000"/>
                </a:spcBef>
                <a:buFontTx/>
                <a:buNone/>
              </a:pPr>
              <a:r>
                <a:rPr lang="en-US" sz="1800">
                  <a:solidFill>
                    <a:srgbClr val="CC0000"/>
                  </a:solidFill>
                </a:rPr>
                <a:t>key =   + </a:t>
              </a:r>
              <a:r>
                <a:rPr lang="en-US" sz="1800">
                  <a:solidFill>
                    <a:srgbClr val="CC0000"/>
                  </a:solidFill>
                  <a:sym typeface="Symbol" pitchFamily="18" charset="2"/>
                </a:rPr>
                <a:t></a:t>
              </a:r>
              <a:endParaRPr lang="en-US" sz="1800">
                <a:solidFill>
                  <a:srgbClr val="CC0000"/>
                </a:solidFill>
              </a:endParaRPr>
            </a:p>
            <a:p>
              <a:pPr algn="r" eaLnBrk="1" hangingPunct="1">
                <a:lnSpc>
                  <a:spcPct val="80000"/>
                </a:lnSpc>
                <a:spcBef>
                  <a:spcPct val="50000"/>
                </a:spcBef>
                <a:buFontTx/>
                <a:buNone/>
              </a:pPr>
              <a:r>
                <a:rPr lang="en-US" sz="1800">
                  <a:solidFill>
                    <a:srgbClr val="CC0000"/>
                  </a:solidFill>
                  <a:latin typeface="Symbol" pitchFamily="18" charset="2"/>
                </a:rPr>
                <a:t>p</a:t>
              </a:r>
              <a:r>
                <a:rPr lang="en-US" sz="1800">
                  <a:solidFill>
                    <a:srgbClr val="CC0000"/>
                  </a:solidFill>
                </a:rPr>
                <a:t> =</a:t>
              </a:r>
              <a:r>
                <a:rPr lang="en-US" sz="1800">
                  <a:solidFill>
                    <a:schemeClr val="hlink"/>
                  </a:solidFill>
                </a:rPr>
                <a:t>         </a:t>
              </a:r>
            </a:p>
          </p:txBody>
        </p:sp>
        <p:sp>
          <p:nvSpPr>
            <p:cNvPr id="91221" name="Text Box 46"/>
            <p:cNvSpPr txBox="1">
              <a:spLocks noChangeArrowheads="1"/>
            </p:cNvSpPr>
            <p:nvPr/>
          </p:nvSpPr>
          <p:spPr bwMode="auto">
            <a:xfrm>
              <a:off x="4307" y="550"/>
              <a:ext cx="769"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r" eaLnBrk="1" hangingPunct="1">
                <a:lnSpc>
                  <a:spcPct val="80000"/>
                </a:lnSpc>
                <a:spcBef>
                  <a:spcPct val="50000"/>
                </a:spcBef>
                <a:buFontTx/>
                <a:buNone/>
              </a:pPr>
              <a:r>
                <a:rPr lang="en-US" sz="1800">
                  <a:solidFill>
                    <a:srgbClr val="CC0000"/>
                  </a:solidFill>
                </a:rPr>
                <a:t>key =   + </a:t>
              </a:r>
              <a:r>
                <a:rPr lang="en-US" sz="1800">
                  <a:solidFill>
                    <a:srgbClr val="CC0000"/>
                  </a:solidFill>
                  <a:sym typeface="Symbol" pitchFamily="18" charset="2"/>
                </a:rPr>
                <a:t></a:t>
              </a:r>
              <a:endParaRPr lang="en-US" sz="1800">
                <a:solidFill>
                  <a:srgbClr val="CC0000"/>
                </a:solidFill>
              </a:endParaRPr>
            </a:p>
            <a:p>
              <a:pPr algn="r" eaLnBrk="1" hangingPunct="1">
                <a:lnSpc>
                  <a:spcPct val="80000"/>
                </a:lnSpc>
                <a:spcBef>
                  <a:spcPct val="50000"/>
                </a:spcBef>
                <a:buFontTx/>
                <a:buNone/>
              </a:pPr>
              <a:r>
                <a:rPr lang="en-US" sz="1800">
                  <a:solidFill>
                    <a:srgbClr val="CC0000"/>
                  </a:solidFill>
                  <a:latin typeface="Symbol" pitchFamily="18" charset="2"/>
                </a:rPr>
                <a:t>p</a:t>
              </a:r>
              <a:r>
                <a:rPr lang="en-US" sz="1800">
                  <a:solidFill>
                    <a:srgbClr val="CC0000"/>
                  </a:solidFill>
                </a:rPr>
                <a:t> =</a:t>
              </a:r>
              <a:r>
                <a:rPr lang="en-US" sz="1800">
                  <a:solidFill>
                    <a:schemeClr val="hlink"/>
                  </a:solidFill>
                </a:rPr>
                <a:t>         </a:t>
              </a:r>
            </a:p>
          </p:txBody>
        </p:sp>
        <p:sp>
          <p:nvSpPr>
            <p:cNvPr id="91222" name="Text Box 47"/>
            <p:cNvSpPr txBox="1">
              <a:spLocks noChangeArrowheads="1"/>
            </p:cNvSpPr>
            <p:nvPr/>
          </p:nvSpPr>
          <p:spPr bwMode="auto">
            <a:xfrm>
              <a:off x="323" y="2086"/>
              <a:ext cx="769"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r" eaLnBrk="1" hangingPunct="1">
                <a:lnSpc>
                  <a:spcPct val="80000"/>
                </a:lnSpc>
                <a:spcBef>
                  <a:spcPct val="50000"/>
                </a:spcBef>
                <a:buFontTx/>
                <a:buNone/>
              </a:pPr>
              <a:r>
                <a:rPr lang="en-US" sz="1800">
                  <a:solidFill>
                    <a:srgbClr val="CC0000"/>
                  </a:solidFill>
                </a:rPr>
                <a:t>key =   + </a:t>
              </a:r>
              <a:r>
                <a:rPr lang="en-US" sz="1800">
                  <a:solidFill>
                    <a:srgbClr val="CC0000"/>
                  </a:solidFill>
                  <a:sym typeface="Symbol" pitchFamily="18" charset="2"/>
                </a:rPr>
                <a:t></a:t>
              </a:r>
              <a:endParaRPr lang="en-US" sz="1800">
                <a:solidFill>
                  <a:srgbClr val="CC0000"/>
                </a:solidFill>
              </a:endParaRPr>
            </a:p>
            <a:p>
              <a:pPr algn="r" eaLnBrk="1" hangingPunct="1">
                <a:lnSpc>
                  <a:spcPct val="80000"/>
                </a:lnSpc>
                <a:spcBef>
                  <a:spcPct val="50000"/>
                </a:spcBef>
                <a:buFontTx/>
                <a:buNone/>
              </a:pPr>
              <a:r>
                <a:rPr lang="en-US" sz="1800">
                  <a:solidFill>
                    <a:srgbClr val="CC0000"/>
                  </a:solidFill>
                  <a:latin typeface="Symbol" pitchFamily="18" charset="2"/>
                </a:rPr>
                <a:t>p</a:t>
              </a:r>
              <a:r>
                <a:rPr lang="en-US" sz="1800">
                  <a:solidFill>
                    <a:srgbClr val="CC0000"/>
                  </a:solidFill>
                </a:rPr>
                <a:t> =</a:t>
              </a:r>
              <a:r>
                <a:rPr lang="en-US" sz="1800">
                  <a:solidFill>
                    <a:schemeClr val="hlink"/>
                  </a:solidFill>
                </a:rPr>
                <a:t>         </a:t>
              </a:r>
            </a:p>
          </p:txBody>
        </p:sp>
        <p:sp>
          <p:nvSpPr>
            <p:cNvPr id="91223" name="Text Box 48"/>
            <p:cNvSpPr txBox="1">
              <a:spLocks noChangeArrowheads="1"/>
            </p:cNvSpPr>
            <p:nvPr/>
          </p:nvSpPr>
          <p:spPr bwMode="auto">
            <a:xfrm>
              <a:off x="275" y="3286"/>
              <a:ext cx="769"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r" eaLnBrk="1" hangingPunct="1">
                <a:lnSpc>
                  <a:spcPct val="80000"/>
                </a:lnSpc>
                <a:spcBef>
                  <a:spcPct val="50000"/>
                </a:spcBef>
                <a:buFontTx/>
                <a:buNone/>
              </a:pPr>
              <a:r>
                <a:rPr lang="en-US" sz="1800">
                  <a:solidFill>
                    <a:srgbClr val="CC0000"/>
                  </a:solidFill>
                </a:rPr>
                <a:t>key =   + </a:t>
              </a:r>
              <a:r>
                <a:rPr lang="en-US" sz="1800">
                  <a:solidFill>
                    <a:srgbClr val="CC0000"/>
                  </a:solidFill>
                  <a:sym typeface="Symbol" pitchFamily="18" charset="2"/>
                </a:rPr>
                <a:t></a:t>
              </a:r>
              <a:endParaRPr lang="en-US" sz="1800">
                <a:solidFill>
                  <a:srgbClr val="CC0000"/>
                </a:solidFill>
              </a:endParaRPr>
            </a:p>
            <a:p>
              <a:pPr algn="r" eaLnBrk="1" hangingPunct="1">
                <a:lnSpc>
                  <a:spcPct val="80000"/>
                </a:lnSpc>
                <a:spcBef>
                  <a:spcPct val="50000"/>
                </a:spcBef>
                <a:buFontTx/>
                <a:buNone/>
              </a:pPr>
              <a:r>
                <a:rPr lang="en-US" sz="1800">
                  <a:solidFill>
                    <a:srgbClr val="CC0000"/>
                  </a:solidFill>
                  <a:latin typeface="Symbol" pitchFamily="18" charset="2"/>
                </a:rPr>
                <a:t>p</a:t>
              </a:r>
              <a:r>
                <a:rPr lang="en-US" sz="1800">
                  <a:solidFill>
                    <a:srgbClr val="CC0000"/>
                  </a:solidFill>
                </a:rPr>
                <a:t> =</a:t>
              </a:r>
              <a:r>
                <a:rPr lang="en-US" sz="1800">
                  <a:solidFill>
                    <a:schemeClr val="hlink"/>
                  </a:solidFill>
                </a:rPr>
                <a:t>         </a:t>
              </a:r>
            </a:p>
          </p:txBody>
        </p:sp>
        <p:sp>
          <p:nvSpPr>
            <p:cNvPr id="91224" name="Text Box 49"/>
            <p:cNvSpPr txBox="1">
              <a:spLocks noChangeArrowheads="1"/>
            </p:cNvSpPr>
            <p:nvPr/>
          </p:nvSpPr>
          <p:spPr bwMode="auto">
            <a:xfrm>
              <a:off x="2435" y="3766"/>
              <a:ext cx="769"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r" eaLnBrk="1" hangingPunct="1">
                <a:lnSpc>
                  <a:spcPct val="80000"/>
                </a:lnSpc>
                <a:spcBef>
                  <a:spcPct val="50000"/>
                </a:spcBef>
                <a:buFontTx/>
                <a:buNone/>
              </a:pPr>
              <a:r>
                <a:rPr lang="en-US" sz="1800">
                  <a:solidFill>
                    <a:srgbClr val="CC0000"/>
                  </a:solidFill>
                </a:rPr>
                <a:t>key =   + </a:t>
              </a:r>
              <a:r>
                <a:rPr lang="en-US" sz="1800">
                  <a:solidFill>
                    <a:srgbClr val="CC0000"/>
                  </a:solidFill>
                  <a:sym typeface="Symbol" pitchFamily="18" charset="2"/>
                </a:rPr>
                <a:t></a:t>
              </a:r>
              <a:endParaRPr lang="en-US" sz="1800">
                <a:solidFill>
                  <a:srgbClr val="CC0000"/>
                </a:solidFill>
              </a:endParaRPr>
            </a:p>
            <a:p>
              <a:pPr algn="r" eaLnBrk="1" hangingPunct="1">
                <a:lnSpc>
                  <a:spcPct val="80000"/>
                </a:lnSpc>
                <a:spcBef>
                  <a:spcPct val="50000"/>
                </a:spcBef>
                <a:buFontTx/>
                <a:buNone/>
              </a:pPr>
              <a:r>
                <a:rPr lang="en-US" sz="1800">
                  <a:solidFill>
                    <a:srgbClr val="CC0000"/>
                  </a:solidFill>
                  <a:latin typeface="Symbol" pitchFamily="18" charset="2"/>
                </a:rPr>
                <a:t>p</a:t>
              </a:r>
              <a:r>
                <a:rPr lang="en-US" sz="1800">
                  <a:solidFill>
                    <a:srgbClr val="CC0000"/>
                  </a:solidFill>
                </a:rPr>
                <a:t> =</a:t>
              </a:r>
              <a:r>
                <a:rPr lang="en-US" sz="1800">
                  <a:solidFill>
                    <a:schemeClr val="hlink"/>
                  </a:solidFill>
                </a:rPr>
                <a:t>         </a:t>
              </a:r>
            </a:p>
          </p:txBody>
        </p:sp>
        <p:sp>
          <p:nvSpPr>
            <p:cNvPr id="91225" name="Text Box 50"/>
            <p:cNvSpPr txBox="1">
              <a:spLocks noChangeArrowheads="1"/>
            </p:cNvSpPr>
            <p:nvPr/>
          </p:nvSpPr>
          <p:spPr bwMode="auto">
            <a:xfrm>
              <a:off x="4451" y="3670"/>
              <a:ext cx="769"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r" eaLnBrk="1" hangingPunct="1">
                <a:lnSpc>
                  <a:spcPct val="80000"/>
                </a:lnSpc>
                <a:spcBef>
                  <a:spcPct val="50000"/>
                </a:spcBef>
                <a:buFontTx/>
                <a:buNone/>
              </a:pPr>
              <a:r>
                <a:rPr lang="en-US" sz="1800">
                  <a:solidFill>
                    <a:srgbClr val="CC0000"/>
                  </a:solidFill>
                </a:rPr>
                <a:t>key =   + </a:t>
              </a:r>
              <a:r>
                <a:rPr lang="en-US" sz="1800">
                  <a:solidFill>
                    <a:srgbClr val="CC0000"/>
                  </a:solidFill>
                  <a:sym typeface="Symbol" pitchFamily="18" charset="2"/>
                </a:rPr>
                <a:t></a:t>
              </a:r>
              <a:endParaRPr lang="en-US" sz="1800">
                <a:solidFill>
                  <a:srgbClr val="CC0000"/>
                </a:solidFill>
              </a:endParaRPr>
            </a:p>
            <a:p>
              <a:pPr algn="r" eaLnBrk="1" hangingPunct="1">
                <a:lnSpc>
                  <a:spcPct val="80000"/>
                </a:lnSpc>
                <a:spcBef>
                  <a:spcPct val="50000"/>
                </a:spcBef>
                <a:buFontTx/>
                <a:buNone/>
              </a:pPr>
              <a:r>
                <a:rPr lang="en-US" sz="1800">
                  <a:solidFill>
                    <a:srgbClr val="CC0000"/>
                  </a:solidFill>
                  <a:latin typeface="Symbol" pitchFamily="18" charset="2"/>
                </a:rPr>
                <a:t>p</a:t>
              </a:r>
              <a:r>
                <a:rPr lang="en-US" sz="1800">
                  <a:solidFill>
                    <a:srgbClr val="CC0000"/>
                  </a:solidFill>
                </a:rPr>
                <a:t> =</a:t>
              </a:r>
              <a:r>
                <a:rPr lang="en-US" sz="1800">
                  <a:solidFill>
                    <a:schemeClr val="hlink"/>
                  </a:solidFill>
                </a:rPr>
                <a:t>         </a:t>
              </a:r>
            </a:p>
          </p:txBody>
        </p:sp>
        <p:sp>
          <p:nvSpPr>
            <p:cNvPr id="91226" name="Text Box 51"/>
            <p:cNvSpPr txBox="1">
              <a:spLocks noChangeArrowheads="1"/>
            </p:cNvSpPr>
            <p:nvPr/>
          </p:nvSpPr>
          <p:spPr bwMode="auto">
            <a:xfrm>
              <a:off x="4499" y="2086"/>
              <a:ext cx="769"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r" eaLnBrk="1" hangingPunct="1">
                <a:lnSpc>
                  <a:spcPct val="80000"/>
                </a:lnSpc>
                <a:spcBef>
                  <a:spcPct val="50000"/>
                </a:spcBef>
                <a:buFontTx/>
                <a:buNone/>
              </a:pPr>
              <a:r>
                <a:rPr lang="en-US" sz="1800">
                  <a:solidFill>
                    <a:srgbClr val="CC0000"/>
                  </a:solidFill>
                </a:rPr>
                <a:t>key =   + </a:t>
              </a:r>
              <a:r>
                <a:rPr lang="en-US" sz="1800">
                  <a:solidFill>
                    <a:srgbClr val="CC0000"/>
                  </a:solidFill>
                  <a:sym typeface="Symbol" pitchFamily="18" charset="2"/>
                </a:rPr>
                <a:t></a:t>
              </a:r>
              <a:endParaRPr lang="en-US" sz="1800">
                <a:solidFill>
                  <a:srgbClr val="CC0000"/>
                </a:solidFill>
              </a:endParaRPr>
            </a:p>
            <a:p>
              <a:pPr algn="r" eaLnBrk="1" hangingPunct="1">
                <a:lnSpc>
                  <a:spcPct val="80000"/>
                </a:lnSpc>
                <a:spcBef>
                  <a:spcPct val="50000"/>
                </a:spcBef>
                <a:buFontTx/>
                <a:buNone/>
              </a:pPr>
              <a:r>
                <a:rPr lang="en-US" sz="1800">
                  <a:solidFill>
                    <a:srgbClr val="CC0000"/>
                  </a:solidFill>
                  <a:latin typeface="Symbol" pitchFamily="18" charset="2"/>
                </a:rPr>
                <a:t>p</a:t>
              </a:r>
              <a:r>
                <a:rPr lang="en-US" sz="1800">
                  <a:solidFill>
                    <a:srgbClr val="CC0000"/>
                  </a:solidFill>
                </a:rPr>
                <a:t> =</a:t>
              </a:r>
              <a:r>
                <a:rPr lang="en-US" sz="1800">
                  <a:solidFill>
                    <a:schemeClr val="hlink"/>
                  </a:solidFill>
                </a:rPr>
                <a:t>         </a:t>
              </a:r>
            </a:p>
          </p:txBody>
        </p:sp>
        <p:sp>
          <p:nvSpPr>
            <p:cNvPr id="91227" name="Text Box 52"/>
            <p:cNvSpPr txBox="1">
              <a:spLocks noChangeArrowheads="1"/>
            </p:cNvSpPr>
            <p:nvPr/>
          </p:nvSpPr>
          <p:spPr bwMode="auto">
            <a:xfrm>
              <a:off x="2831" y="1894"/>
              <a:ext cx="913"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80000"/>
                </a:lnSpc>
                <a:spcBef>
                  <a:spcPct val="50000"/>
                </a:spcBef>
                <a:buFontTx/>
                <a:buNone/>
              </a:pPr>
              <a:r>
                <a:rPr lang="en-US" sz="1800">
                  <a:solidFill>
                    <a:srgbClr val="CC0000"/>
                  </a:solidFill>
                </a:rPr>
                <a:t>   key =    + </a:t>
              </a:r>
              <a:r>
                <a:rPr lang="en-US" sz="1800">
                  <a:solidFill>
                    <a:srgbClr val="CC0000"/>
                  </a:solidFill>
                  <a:sym typeface="Symbol" pitchFamily="18" charset="2"/>
                </a:rPr>
                <a:t></a:t>
              </a:r>
              <a:endParaRPr lang="en-US" sz="1800">
                <a:solidFill>
                  <a:srgbClr val="CC0000"/>
                </a:solidFill>
              </a:endParaRPr>
            </a:p>
            <a:p>
              <a:pPr eaLnBrk="1" hangingPunct="1">
                <a:lnSpc>
                  <a:spcPct val="80000"/>
                </a:lnSpc>
                <a:spcBef>
                  <a:spcPct val="50000"/>
                </a:spcBef>
                <a:buFontTx/>
                <a:buNone/>
              </a:pPr>
              <a:r>
                <a:rPr lang="en-US" sz="1800">
                  <a:solidFill>
                    <a:srgbClr val="CC0000"/>
                  </a:solidFill>
                  <a:latin typeface="Symbol" pitchFamily="18" charset="2"/>
                </a:rPr>
                <a:t>       p</a:t>
              </a:r>
              <a:r>
                <a:rPr lang="en-US" sz="1800">
                  <a:solidFill>
                    <a:srgbClr val="CC0000"/>
                  </a:solidFill>
                </a:rPr>
                <a:t> =</a:t>
              </a:r>
              <a:r>
                <a:rPr lang="en-US" sz="1800">
                  <a:solidFill>
                    <a:schemeClr val="hlink"/>
                  </a:solidFill>
                </a:rPr>
                <a:t>         </a:t>
              </a:r>
            </a:p>
          </p:txBody>
        </p:sp>
      </p:grpSp>
      <p:sp>
        <p:nvSpPr>
          <p:cNvPr id="172086" name="Rectangle 54"/>
          <p:cNvSpPr>
            <a:spLocks noChangeArrowheads="1"/>
          </p:cNvSpPr>
          <p:nvPr/>
        </p:nvSpPr>
        <p:spPr bwMode="auto">
          <a:xfrm>
            <a:off x="1322388" y="931863"/>
            <a:ext cx="579437" cy="384175"/>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2400">
                <a:solidFill>
                  <a:srgbClr val="CC0000"/>
                </a:solidFill>
              </a:rPr>
              <a:t>- </a:t>
            </a:r>
            <a:r>
              <a:rPr lang="en-US" sz="2400">
                <a:solidFill>
                  <a:srgbClr val="CC0000"/>
                </a:solidFill>
                <a:sym typeface="Symbol" pitchFamily="18" charset="2"/>
              </a:rPr>
              <a:t></a:t>
            </a:r>
          </a:p>
        </p:txBody>
      </p:sp>
      <p:sp>
        <p:nvSpPr>
          <p:cNvPr id="172091" name="Rectangle 59"/>
          <p:cNvSpPr>
            <a:spLocks noChangeArrowheads="1"/>
          </p:cNvSpPr>
          <p:nvPr/>
        </p:nvSpPr>
        <p:spPr bwMode="auto">
          <a:xfrm>
            <a:off x="4495800" y="838200"/>
            <a:ext cx="527050" cy="668338"/>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1800">
                <a:solidFill>
                  <a:srgbClr val="CC0000"/>
                </a:solidFill>
              </a:rPr>
              <a:t> 2   </a:t>
            </a:r>
          </a:p>
          <a:p>
            <a:pPr algn="ctr" eaLnBrk="1" hangingPunct="1">
              <a:lnSpc>
                <a:spcPct val="80000"/>
              </a:lnSpc>
              <a:spcBef>
                <a:spcPct val="50000"/>
              </a:spcBef>
              <a:buFontTx/>
              <a:buNone/>
            </a:pPr>
            <a:r>
              <a:rPr lang="en-US" sz="1800">
                <a:solidFill>
                  <a:srgbClr val="CC0000"/>
                </a:solidFill>
              </a:rPr>
              <a:t>a</a:t>
            </a:r>
            <a:r>
              <a:rPr lang="en-US" sz="1800">
                <a:solidFill>
                  <a:schemeClr val="hlink"/>
                </a:solidFill>
              </a:rPr>
              <a:t> </a:t>
            </a:r>
            <a:endParaRPr lang="en-US" sz="1800">
              <a:solidFill>
                <a:schemeClr val="hlink"/>
              </a:solidFill>
              <a:sym typeface="Symbol" pitchFamily="18" charset="2"/>
            </a:endParaRPr>
          </a:p>
        </p:txBody>
      </p:sp>
      <p:sp>
        <p:nvSpPr>
          <p:cNvPr id="172097" name="Rectangle 65"/>
          <p:cNvSpPr>
            <a:spLocks noChangeArrowheads="1"/>
          </p:cNvSpPr>
          <p:nvPr/>
        </p:nvSpPr>
        <p:spPr bwMode="auto">
          <a:xfrm>
            <a:off x="1219200" y="3276600"/>
            <a:ext cx="527050" cy="668338"/>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1800">
                <a:solidFill>
                  <a:srgbClr val="CC0000"/>
                </a:solidFill>
              </a:rPr>
              <a:t> 5   </a:t>
            </a:r>
          </a:p>
          <a:p>
            <a:pPr algn="ctr" eaLnBrk="1" hangingPunct="1">
              <a:lnSpc>
                <a:spcPct val="80000"/>
              </a:lnSpc>
              <a:spcBef>
                <a:spcPct val="50000"/>
              </a:spcBef>
              <a:buFontTx/>
              <a:buNone/>
            </a:pPr>
            <a:r>
              <a:rPr lang="en-US" sz="1800">
                <a:solidFill>
                  <a:srgbClr val="CC0000"/>
                </a:solidFill>
              </a:rPr>
              <a:t>a</a:t>
            </a:r>
            <a:r>
              <a:rPr lang="en-US" sz="1800">
                <a:solidFill>
                  <a:schemeClr val="hlink"/>
                </a:solidFill>
              </a:rPr>
              <a:t> </a:t>
            </a:r>
            <a:endParaRPr lang="en-US" sz="1800">
              <a:solidFill>
                <a:schemeClr val="hlink"/>
              </a:solidFill>
              <a:sym typeface="Symbol" pitchFamily="18" charset="2"/>
            </a:endParaRPr>
          </a:p>
        </p:txBody>
      </p:sp>
      <p:sp>
        <p:nvSpPr>
          <p:cNvPr id="172098" name="Rectangle 66"/>
          <p:cNvSpPr>
            <a:spLocks noChangeArrowheads="1"/>
          </p:cNvSpPr>
          <p:nvPr/>
        </p:nvSpPr>
        <p:spPr bwMode="auto">
          <a:xfrm>
            <a:off x="7543800" y="838200"/>
            <a:ext cx="527050" cy="668338"/>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1800">
                <a:solidFill>
                  <a:srgbClr val="CC0000"/>
                </a:solidFill>
              </a:rPr>
              <a:t> 3   </a:t>
            </a:r>
          </a:p>
          <a:p>
            <a:pPr algn="ctr" eaLnBrk="1" hangingPunct="1">
              <a:lnSpc>
                <a:spcPct val="80000"/>
              </a:lnSpc>
              <a:spcBef>
                <a:spcPct val="50000"/>
              </a:spcBef>
              <a:buFontTx/>
              <a:buNone/>
            </a:pPr>
            <a:r>
              <a:rPr lang="en-US" sz="1800">
                <a:solidFill>
                  <a:srgbClr val="CC0000"/>
                </a:solidFill>
              </a:rPr>
              <a:t>b</a:t>
            </a:r>
            <a:r>
              <a:rPr lang="en-US" sz="1800">
                <a:solidFill>
                  <a:schemeClr val="hlink"/>
                </a:solidFill>
              </a:rPr>
              <a:t> </a:t>
            </a:r>
            <a:endParaRPr lang="en-US" sz="1800">
              <a:solidFill>
                <a:schemeClr val="hlink"/>
              </a:solidFill>
              <a:sym typeface="Symbol" pitchFamily="18" charset="2"/>
            </a:endParaRPr>
          </a:p>
        </p:txBody>
      </p:sp>
      <p:sp>
        <p:nvSpPr>
          <p:cNvPr id="172099" name="Rectangle 67"/>
          <p:cNvSpPr>
            <a:spLocks noChangeArrowheads="1"/>
          </p:cNvSpPr>
          <p:nvPr/>
        </p:nvSpPr>
        <p:spPr bwMode="auto">
          <a:xfrm>
            <a:off x="5410200" y="2971800"/>
            <a:ext cx="527050" cy="668338"/>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1800">
                <a:solidFill>
                  <a:srgbClr val="CC0000"/>
                </a:solidFill>
              </a:rPr>
              <a:t> 3   </a:t>
            </a:r>
          </a:p>
          <a:p>
            <a:pPr algn="ctr" eaLnBrk="1" hangingPunct="1">
              <a:lnSpc>
                <a:spcPct val="80000"/>
              </a:lnSpc>
              <a:spcBef>
                <a:spcPct val="50000"/>
              </a:spcBef>
              <a:buFontTx/>
              <a:buNone/>
            </a:pPr>
            <a:r>
              <a:rPr lang="en-US" sz="1800">
                <a:solidFill>
                  <a:srgbClr val="CC0000"/>
                </a:solidFill>
              </a:rPr>
              <a:t>b</a:t>
            </a:r>
            <a:r>
              <a:rPr lang="en-US" sz="1800">
                <a:solidFill>
                  <a:schemeClr val="hlink"/>
                </a:solidFill>
              </a:rPr>
              <a:t> </a:t>
            </a:r>
            <a:endParaRPr lang="en-US" sz="1800">
              <a:solidFill>
                <a:schemeClr val="hlink"/>
              </a:solidFill>
              <a:sym typeface="Symbol" pitchFamily="18" charset="2"/>
            </a:endParaRPr>
          </a:p>
        </p:txBody>
      </p:sp>
      <p:sp>
        <p:nvSpPr>
          <p:cNvPr id="172100" name="Rectangle 68"/>
          <p:cNvSpPr>
            <a:spLocks noChangeArrowheads="1"/>
          </p:cNvSpPr>
          <p:nvPr/>
        </p:nvSpPr>
        <p:spPr bwMode="auto">
          <a:xfrm>
            <a:off x="1143000" y="3276600"/>
            <a:ext cx="527050" cy="668338"/>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1800">
                <a:solidFill>
                  <a:srgbClr val="CC0000"/>
                </a:solidFill>
              </a:rPr>
              <a:t> 4   </a:t>
            </a:r>
          </a:p>
          <a:p>
            <a:pPr algn="ctr" eaLnBrk="1" hangingPunct="1">
              <a:lnSpc>
                <a:spcPct val="80000"/>
              </a:lnSpc>
              <a:spcBef>
                <a:spcPct val="50000"/>
              </a:spcBef>
              <a:buFontTx/>
              <a:buNone/>
            </a:pPr>
            <a:r>
              <a:rPr lang="en-US" sz="1800">
                <a:solidFill>
                  <a:srgbClr val="CC0000"/>
                </a:solidFill>
              </a:rPr>
              <a:t>b</a:t>
            </a:r>
            <a:r>
              <a:rPr lang="en-US" sz="1800">
                <a:solidFill>
                  <a:schemeClr val="hlink"/>
                </a:solidFill>
              </a:rPr>
              <a:t> </a:t>
            </a:r>
            <a:endParaRPr lang="en-US" sz="1800">
              <a:solidFill>
                <a:schemeClr val="hlink"/>
              </a:solidFill>
              <a:sym typeface="Symbol" pitchFamily="18" charset="2"/>
            </a:endParaRPr>
          </a:p>
        </p:txBody>
      </p:sp>
      <p:sp>
        <p:nvSpPr>
          <p:cNvPr id="172101" name="Rectangle 69"/>
          <p:cNvSpPr>
            <a:spLocks noChangeArrowheads="1"/>
          </p:cNvSpPr>
          <p:nvPr/>
        </p:nvSpPr>
        <p:spPr bwMode="auto">
          <a:xfrm>
            <a:off x="4437063" y="779463"/>
            <a:ext cx="655637" cy="384175"/>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2400">
                <a:solidFill>
                  <a:srgbClr val="CC0000"/>
                </a:solidFill>
              </a:rPr>
              <a:t>- </a:t>
            </a:r>
            <a:r>
              <a:rPr lang="en-US" sz="2400">
                <a:solidFill>
                  <a:srgbClr val="CC0000"/>
                </a:solidFill>
                <a:sym typeface="Symbol" pitchFamily="18" charset="2"/>
              </a:rPr>
              <a:t></a:t>
            </a:r>
            <a:r>
              <a:rPr lang="en-US" sz="2400">
                <a:solidFill>
                  <a:schemeClr val="hlink"/>
                </a:solidFill>
              </a:rPr>
              <a:t> </a:t>
            </a:r>
          </a:p>
        </p:txBody>
      </p:sp>
      <p:sp>
        <p:nvSpPr>
          <p:cNvPr id="172102" name="Rectangle 70"/>
          <p:cNvSpPr>
            <a:spLocks noChangeArrowheads="1"/>
          </p:cNvSpPr>
          <p:nvPr/>
        </p:nvSpPr>
        <p:spPr bwMode="auto">
          <a:xfrm>
            <a:off x="7848600" y="3276600"/>
            <a:ext cx="527050" cy="668338"/>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1800">
                <a:solidFill>
                  <a:srgbClr val="CC0000"/>
                </a:solidFill>
              </a:rPr>
              <a:t> 6   </a:t>
            </a:r>
          </a:p>
          <a:p>
            <a:pPr algn="ctr" eaLnBrk="1" hangingPunct="1">
              <a:lnSpc>
                <a:spcPct val="80000"/>
              </a:lnSpc>
              <a:spcBef>
                <a:spcPct val="50000"/>
              </a:spcBef>
              <a:buFontTx/>
              <a:buNone/>
            </a:pPr>
            <a:r>
              <a:rPr lang="en-US" sz="1800">
                <a:solidFill>
                  <a:srgbClr val="CC0000"/>
                </a:solidFill>
              </a:rPr>
              <a:t>c</a:t>
            </a:r>
            <a:r>
              <a:rPr lang="en-US" sz="1800">
                <a:solidFill>
                  <a:schemeClr val="hlink"/>
                </a:solidFill>
              </a:rPr>
              <a:t> </a:t>
            </a:r>
            <a:endParaRPr lang="en-US" sz="1800">
              <a:solidFill>
                <a:schemeClr val="hlink"/>
              </a:solidFill>
              <a:sym typeface="Symbol" pitchFamily="18" charset="2"/>
            </a:endParaRPr>
          </a:p>
        </p:txBody>
      </p:sp>
      <p:sp>
        <p:nvSpPr>
          <p:cNvPr id="172103" name="Rectangle 71"/>
          <p:cNvSpPr>
            <a:spLocks noChangeArrowheads="1"/>
          </p:cNvSpPr>
          <p:nvPr/>
        </p:nvSpPr>
        <p:spPr bwMode="auto">
          <a:xfrm>
            <a:off x="7408863" y="779463"/>
            <a:ext cx="655637" cy="384175"/>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2400">
                <a:solidFill>
                  <a:srgbClr val="CC0000"/>
                </a:solidFill>
              </a:rPr>
              <a:t>- </a:t>
            </a:r>
            <a:r>
              <a:rPr lang="en-US" sz="2400">
                <a:solidFill>
                  <a:srgbClr val="CC0000"/>
                </a:solidFill>
                <a:sym typeface="Symbol" pitchFamily="18" charset="2"/>
              </a:rPr>
              <a:t></a:t>
            </a:r>
            <a:r>
              <a:rPr lang="en-US" sz="2400">
                <a:solidFill>
                  <a:schemeClr val="hlink"/>
                </a:solidFill>
              </a:rPr>
              <a:t> </a:t>
            </a:r>
          </a:p>
        </p:txBody>
      </p:sp>
      <p:sp>
        <p:nvSpPr>
          <p:cNvPr id="172104" name="Rectangle 72"/>
          <p:cNvSpPr>
            <a:spLocks noChangeArrowheads="1"/>
          </p:cNvSpPr>
          <p:nvPr/>
        </p:nvSpPr>
        <p:spPr bwMode="auto">
          <a:xfrm>
            <a:off x="5410200" y="2895600"/>
            <a:ext cx="655638" cy="384175"/>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2400">
                <a:solidFill>
                  <a:srgbClr val="CC0000"/>
                </a:solidFill>
              </a:rPr>
              <a:t>- </a:t>
            </a:r>
            <a:r>
              <a:rPr lang="en-US" sz="2400">
                <a:solidFill>
                  <a:srgbClr val="CC0000"/>
                </a:solidFill>
                <a:sym typeface="Symbol" pitchFamily="18" charset="2"/>
              </a:rPr>
              <a:t></a:t>
            </a:r>
            <a:r>
              <a:rPr lang="en-US" sz="2400">
                <a:solidFill>
                  <a:schemeClr val="hlink"/>
                </a:solidFill>
              </a:rPr>
              <a:t> </a:t>
            </a:r>
          </a:p>
        </p:txBody>
      </p:sp>
      <p:sp>
        <p:nvSpPr>
          <p:cNvPr id="172105" name="Rectangle 73"/>
          <p:cNvSpPr>
            <a:spLocks noChangeArrowheads="1"/>
          </p:cNvSpPr>
          <p:nvPr/>
        </p:nvSpPr>
        <p:spPr bwMode="auto">
          <a:xfrm>
            <a:off x="7848600" y="3276600"/>
            <a:ext cx="527050" cy="668338"/>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1800">
                <a:solidFill>
                  <a:srgbClr val="CC0000"/>
                </a:solidFill>
              </a:rPr>
              <a:t> 2   </a:t>
            </a:r>
          </a:p>
          <a:p>
            <a:pPr algn="ctr" eaLnBrk="1" hangingPunct="1">
              <a:lnSpc>
                <a:spcPct val="80000"/>
              </a:lnSpc>
              <a:spcBef>
                <a:spcPct val="50000"/>
              </a:spcBef>
              <a:buFontTx/>
              <a:buNone/>
            </a:pPr>
            <a:r>
              <a:rPr lang="en-US" sz="1800">
                <a:solidFill>
                  <a:srgbClr val="CC0000"/>
                </a:solidFill>
              </a:rPr>
              <a:t>e</a:t>
            </a:r>
            <a:r>
              <a:rPr lang="en-US" sz="1800">
                <a:solidFill>
                  <a:schemeClr val="hlink"/>
                </a:solidFill>
              </a:rPr>
              <a:t> </a:t>
            </a:r>
            <a:endParaRPr lang="en-US" sz="1800">
              <a:solidFill>
                <a:schemeClr val="hlink"/>
              </a:solidFill>
              <a:sym typeface="Symbol" pitchFamily="18" charset="2"/>
            </a:endParaRPr>
          </a:p>
        </p:txBody>
      </p:sp>
      <p:sp>
        <p:nvSpPr>
          <p:cNvPr id="172106" name="Rectangle 74"/>
          <p:cNvSpPr>
            <a:spLocks noChangeArrowheads="1"/>
          </p:cNvSpPr>
          <p:nvPr/>
        </p:nvSpPr>
        <p:spPr bwMode="auto">
          <a:xfrm>
            <a:off x="7772400" y="5791200"/>
            <a:ext cx="527050" cy="668338"/>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1800">
                <a:solidFill>
                  <a:srgbClr val="CC0000"/>
                </a:solidFill>
              </a:rPr>
              <a:t> 5   </a:t>
            </a:r>
          </a:p>
          <a:p>
            <a:pPr algn="ctr" eaLnBrk="1" hangingPunct="1">
              <a:lnSpc>
                <a:spcPct val="80000"/>
              </a:lnSpc>
              <a:spcBef>
                <a:spcPct val="50000"/>
              </a:spcBef>
              <a:buFontTx/>
              <a:buNone/>
            </a:pPr>
            <a:r>
              <a:rPr lang="en-US" sz="1800">
                <a:solidFill>
                  <a:srgbClr val="CC0000"/>
                </a:solidFill>
              </a:rPr>
              <a:t>e</a:t>
            </a:r>
            <a:endParaRPr lang="en-US" sz="1800">
              <a:solidFill>
                <a:srgbClr val="CC0000"/>
              </a:solidFill>
              <a:sym typeface="Symbol" pitchFamily="18" charset="2"/>
            </a:endParaRPr>
          </a:p>
        </p:txBody>
      </p:sp>
      <p:sp>
        <p:nvSpPr>
          <p:cNvPr id="172107" name="Rectangle 75"/>
          <p:cNvSpPr>
            <a:spLocks noChangeArrowheads="1"/>
          </p:cNvSpPr>
          <p:nvPr/>
        </p:nvSpPr>
        <p:spPr bwMode="auto">
          <a:xfrm>
            <a:off x="4572000" y="5943600"/>
            <a:ext cx="527050" cy="668338"/>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1800">
                <a:solidFill>
                  <a:srgbClr val="CC0000"/>
                </a:solidFill>
              </a:rPr>
              <a:t> 7   </a:t>
            </a:r>
          </a:p>
          <a:p>
            <a:pPr algn="ctr" eaLnBrk="1" hangingPunct="1">
              <a:lnSpc>
                <a:spcPct val="80000"/>
              </a:lnSpc>
              <a:spcBef>
                <a:spcPct val="50000"/>
              </a:spcBef>
              <a:buFontTx/>
              <a:buNone/>
            </a:pPr>
            <a:r>
              <a:rPr lang="en-US" sz="1800">
                <a:solidFill>
                  <a:srgbClr val="CC0000"/>
                </a:solidFill>
              </a:rPr>
              <a:t>e</a:t>
            </a:r>
            <a:r>
              <a:rPr lang="en-US" sz="1800">
                <a:solidFill>
                  <a:schemeClr val="hlink"/>
                </a:solidFill>
              </a:rPr>
              <a:t> </a:t>
            </a:r>
            <a:endParaRPr lang="en-US" sz="1800">
              <a:solidFill>
                <a:schemeClr val="hlink"/>
              </a:solidFill>
              <a:sym typeface="Symbol" pitchFamily="18" charset="2"/>
            </a:endParaRPr>
          </a:p>
        </p:txBody>
      </p:sp>
      <p:sp>
        <p:nvSpPr>
          <p:cNvPr id="172108" name="Rectangle 76"/>
          <p:cNvSpPr>
            <a:spLocks noChangeArrowheads="1"/>
          </p:cNvSpPr>
          <p:nvPr/>
        </p:nvSpPr>
        <p:spPr bwMode="auto">
          <a:xfrm>
            <a:off x="7789863" y="3217863"/>
            <a:ext cx="655637" cy="384175"/>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2400">
                <a:solidFill>
                  <a:srgbClr val="CC0000"/>
                </a:solidFill>
              </a:rPr>
              <a:t>- </a:t>
            </a:r>
            <a:r>
              <a:rPr lang="en-US" sz="2400">
                <a:solidFill>
                  <a:srgbClr val="CC0000"/>
                </a:solidFill>
                <a:sym typeface="Symbol" pitchFamily="18" charset="2"/>
              </a:rPr>
              <a:t></a:t>
            </a:r>
            <a:r>
              <a:rPr lang="en-US" sz="2400">
                <a:solidFill>
                  <a:schemeClr val="hlink"/>
                </a:solidFill>
              </a:rPr>
              <a:t> </a:t>
            </a:r>
          </a:p>
        </p:txBody>
      </p:sp>
      <p:sp>
        <p:nvSpPr>
          <p:cNvPr id="172109" name="Rectangle 77"/>
          <p:cNvSpPr>
            <a:spLocks noChangeArrowheads="1"/>
          </p:cNvSpPr>
          <p:nvPr/>
        </p:nvSpPr>
        <p:spPr bwMode="auto">
          <a:xfrm>
            <a:off x="7772400" y="5791200"/>
            <a:ext cx="527050" cy="668338"/>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1800">
                <a:solidFill>
                  <a:srgbClr val="CC0000"/>
                </a:solidFill>
              </a:rPr>
              <a:t> 3   </a:t>
            </a:r>
          </a:p>
          <a:p>
            <a:pPr algn="ctr" eaLnBrk="1" hangingPunct="1">
              <a:lnSpc>
                <a:spcPct val="80000"/>
              </a:lnSpc>
              <a:spcBef>
                <a:spcPct val="50000"/>
              </a:spcBef>
              <a:buFontTx/>
              <a:buNone/>
            </a:pPr>
            <a:r>
              <a:rPr lang="en-US" sz="1800">
                <a:solidFill>
                  <a:srgbClr val="CC0000"/>
                </a:solidFill>
              </a:rPr>
              <a:t>f</a:t>
            </a:r>
            <a:r>
              <a:rPr lang="en-US" sz="1800">
                <a:solidFill>
                  <a:schemeClr val="hlink"/>
                </a:solidFill>
              </a:rPr>
              <a:t> </a:t>
            </a:r>
            <a:endParaRPr lang="en-US" sz="1800">
              <a:solidFill>
                <a:schemeClr val="hlink"/>
              </a:solidFill>
              <a:sym typeface="Symbol" pitchFamily="18" charset="2"/>
            </a:endParaRPr>
          </a:p>
        </p:txBody>
      </p:sp>
      <p:sp>
        <p:nvSpPr>
          <p:cNvPr id="172110" name="Rectangle 78"/>
          <p:cNvSpPr>
            <a:spLocks noChangeArrowheads="1"/>
          </p:cNvSpPr>
          <p:nvPr/>
        </p:nvSpPr>
        <p:spPr bwMode="auto">
          <a:xfrm>
            <a:off x="7713663" y="5732463"/>
            <a:ext cx="655637" cy="384175"/>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2400">
                <a:solidFill>
                  <a:srgbClr val="CC0000"/>
                </a:solidFill>
              </a:rPr>
              <a:t>- </a:t>
            </a:r>
            <a:r>
              <a:rPr lang="en-US" sz="2400">
                <a:solidFill>
                  <a:srgbClr val="CC0000"/>
                </a:solidFill>
                <a:sym typeface="Symbol" pitchFamily="18" charset="2"/>
              </a:rPr>
              <a:t></a:t>
            </a:r>
            <a:r>
              <a:rPr lang="en-US" sz="2400">
                <a:solidFill>
                  <a:schemeClr val="hlink"/>
                </a:solidFill>
              </a:rPr>
              <a:t> </a:t>
            </a:r>
          </a:p>
        </p:txBody>
      </p:sp>
      <p:sp>
        <p:nvSpPr>
          <p:cNvPr id="172111" name="Rectangle 79"/>
          <p:cNvSpPr>
            <a:spLocks noChangeArrowheads="1"/>
          </p:cNvSpPr>
          <p:nvPr/>
        </p:nvSpPr>
        <p:spPr bwMode="auto">
          <a:xfrm>
            <a:off x="1160463" y="3217863"/>
            <a:ext cx="655637" cy="384175"/>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2400">
                <a:solidFill>
                  <a:srgbClr val="CC0000"/>
                </a:solidFill>
              </a:rPr>
              <a:t>- </a:t>
            </a:r>
            <a:r>
              <a:rPr lang="en-US" sz="2400">
                <a:solidFill>
                  <a:srgbClr val="CC0000"/>
                </a:solidFill>
                <a:sym typeface="Symbol" pitchFamily="18" charset="2"/>
              </a:rPr>
              <a:t></a:t>
            </a:r>
            <a:r>
              <a:rPr lang="en-US" sz="2400">
                <a:solidFill>
                  <a:schemeClr val="hlink"/>
                </a:solidFill>
              </a:rPr>
              <a:t> </a:t>
            </a:r>
          </a:p>
        </p:txBody>
      </p:sp>
      <p:sp>
        <p:nvSpPr>
          <p:cNvPr id="172114" name="Rectangle 82"/>
          <p:cNvSpPr>
            <a:spLocks noChangeArrowheads="1"/>
          </p:cNvSpPr>
          <p:nvPr/>
        </p:nvSpPr>
        <p:spPr bwMode="auto">
          <a:xfrm>
            <a:off x="1143000" y="5257800"/>
            <a:ext cx="527050" cy="668338"/>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1800">
                <a:solidFill>
                  <a:srgbClr val="CC0000"/>
                </a:solidFill>
              </a:rPr>
              <a:t> 8   </a:t>
            </a:r>
          </a:p>
          <a:p>
            <a:pPr algn="ctr" eaLnBrk="1" hangingPunct="1">
              <a:lnSpc>
                <a:spcPct val="80000"/>
              </a:lnSpc>
              <a:spcBef>
                <a:spcPct val="50000"/>
              </a:spcBef>
              <a:buFontTx/>
              <a:buNone/>
            </a:pPr>
            <a:r>
              <a:rPr lang="en-US" sz="1800">
                <a:solidFill>
                  <a:srgbClr val="CC0000"/>
                </a:solidFill>
              </a:rPr>
              <a:t>d</a:t>
            </a:r>
            <a:r>
              <a:rPr lang="en-US" sz="1800">
                <a:solidFill>
                  <a:schemeClr val="hlink"/>
                </a:solidFill>
              </a:rPr>
              <a:t> </a:t>
            </a:r>
            <a:endParaRPr lang="en-US" sz="1800">
              <a:solidFill>
                <a:schemeClr val="hlink"/>
              </a:solidFill>
              <a:sym typeface="Symbol" pitchFamily="18" charset="2"/>
            </a:endParaRPr>
          </a:p>
        </p:txBody>
      </p:sp>
      <p:sp>
        <p:nvSpPr>
          <p:cNvPr id="172115" name="Rectangle 83"/>
          <p:cNvSpPr>
            <a:spLocks noChangeArrowheads="1"/>
          </p:cNvSpPr>
          <p:nvPr/>
        </p:nvSpPr>
        <p:spPr bwMode="auto">
          <a:xfrm>
            <a:off x="4572000" y="5943600"/>
            <a:ext cx="527050" cy="668338"/>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1800">
                <a:solidFill>
                  <a:srgbClr val="CC0000"/>
                </a:solidFill>
              </a:rPr>
              <a:t> 4   </a:t>
            </a:r>
          </a:p>
          <a:p>
            <a:pPr algn="ctr" eaLnBrk="1" hangingPunct="1">
              <a:lnSpc>
                <a:spcPct val="80000"/>
              </a:lnSpc>
              <a:spcBef>
                <a:spcPct val="50000"/>
              </a:spcBef>
              <a:buFontTx/>
              <a:buNone/>
            </a:pPr>
            <a:r>
              <a:rPr lang="en-US" sz="1800">
                <a:solidFill>
                  <a:srgbClr val="CC0000"/>
                </a:solidFill>
              </a:rPr>
              <a:t>d</a:t>
            </a:r>
            <a:r>
              <a:rPr lang="en-US" sz="1800">
                <a:solidFill>
                  <a:schemeClr val="hlink"/>
                </a:solidFill>
              </a:rPr>
              <a:t> </a:t>
            </a:r>
            <a:endParaRPr lang="en-US" sz="1800">
              <a:solidFill>
                <a:schemeClr val="hlink"/>
              </a:solidFill>
              <a:sym typeface="Symbol" pitchFamily="18" charset="2"/>
            </a:endParaRPr>
          </a:p>
        </p:txBody>
      </p:sp>
      <p:sp>
        <p:nvSpPr>
          <p:cNvPr id="172112" name="Rectangle 80"/>
          <p:cNvSpPr>
            <a:spLocks noChangeArrowheads="1"/>
          </p:cNvSpPr>
          <p:nvPr/>
        </p:nvSpPr>
        <p:spPr bwMode="auto">
          <a:xfrm>
            <a:off x="4513263" y="5884863"/>
            <a:ext cx="655637" cy="384175"/>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2400">
                <a:solidFill>
                  <a:srgbClr val="CC0000"/>
                </a:solidFill>
              </a:rPr>
              <a:t>- </a:t>
            </a:r>
            <a:r>
              <a:rPr lang="en-US" sz="2400">
                <a:solidFill>
                  <a:srgbClr val="CC0000"/>
                </a:solidFill>
                <a:sym typeface="Symbol" pitchFamily="18" charset="2"/>
              </a:rPr>
              <a:t></a:t>
            </a:r>
            <a:r>
              <a:rPr lang="en-US" sz="2400">
                <a:solidFill>
                  <a:schemeClr val="hlink"/>
                </a:solidFill>
              </a:rPr>
              <a:t> </a:t>
            </a:r>
          </a:p>
        </p:txBody>
      </p:sp>
      <p:sp>
        <p:nvSpPr>
          <p:cNvPr id="172117" name="Rectangle 85"/>
          <p:cNvSpPr>
            <a:spLocks noChangeArrowheads="1"/>
          </p:cNvSpPr>
          <p:nvPr/>
        </p:nvSpPr>
        <p:spPr bwMode="auto">
          <a:xfrm>
            <a:off x="1084263" y="5199063"/>
            <a:ext cx="655637" cy="384175"/>
          </a:xfrm>
          <a:prstGeom prst="rect">
            <a:avLst/>
          </a:prstGeom>
          <a:solidFill>
            <a:srgbClr val="FFCCFF"/>
          </a:solidFill>
          <a:ln>
            <a:noFill/>
          </a:ln>
          <a:effectLst/>
          <a:extLs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lnSpc>
                <a:spcPct val="80000"/>
              </a:lnSpc>
              <a:spcBef>
                <a:spcPct val="50000"/>
              </a:spcBef>
              <a:buFontTx/>
              <a:buNone/>
            </a:pPr>
            <a:r>
              <a:rPr lang="en-US" sz="2400">
                <a:solidFill>
                  <a:srgbClr val="CC0000"/>
                </a:solidFill>
              </a:rPr>
              <a:t>- </a:t>
            </a:r>
            <a:r>
              <a:rPr lang="en-US" sz="2400">
                <a:solidFill>
                  <a:srgbClr val="CC0000"/>
                </a:solidFill>
                <a:sym typeface="Symbol" pitchFamily="18" charset="2"/>
              </a:rPr>
              <a:t></a:t>
            </a:r>
            <a:r>
              <a:rPr lang="en-US" sz="2400">
                <a:solidFill>
                  <a:schemeClr val="hlink"/>
                </a:solidFill>
              </a:rPr>
              <a:t> </a:t>
            </a:r>
          </a:p>
        </p:txBody>
      </p:sp>
      <p:sp>
        <p:nvSpPr>
          <p:cNvPr id="172119" name="Line 87"/>
          <p:cNvSpPr>
            <a:spLocks noChangeShapeType="1"/>
          </p:cNvSpPr>
          <p:nvPr/>
        </p:nvSpPr>
        <p:spPr bwMode="auto">
          <a:xfrm>
            <a:off x="2438400" y="1828800"/>
            <a:ext cx="1752600" cy="0"/>
          </a:xfrm>
          <a:prstGeom prst="line">
            <a:avLst/>
          </a:prstGeom>
          <a:noFill/>
          <a:ln w="3810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nchor="ctr">
            <a:spAutoFit/>
          </a:bodyPr>
          <a:lstStyle/>
          <a:p>
            <a:endParaRPr lang="en-CA"/>
          </a:p>
        </p:txBody>
      </p:sp>
      <p:sp>
        <p:nvSpPr>
          <p:cNvPr id="172120" name="Line 88"/>
          <p:cNvSpPr>
            <a:spLocks noChangeShapeType="1"/>
          </p:cNvSpPr>
          <p:nvPr/>
        </p:nvSpPr>
        <p:spPr bwMode="auto">
          <a:xfrm flipH="1">
            <a:off x="4724400" y="1828800"/>
            <a:ext cx="1752600" cy="0"/>
          </a:xfrm>
          <a:prstGeom prst="line">
            <a:avLst/>
          </a:prstGeom>
          <a:noFill/>
          <a:ln w="3810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nchor="ctr">
            <a:spAutoFit/>
          </a:bodyPr>
          <a:lstStyle/>
          <a:p>
            <a:endParaRPr lang="en-CA"/>
          </a:p>
        </p:txBody>
      </p:sp>
      <p:sp>
        <p:nvSpPr>
          <p:cNvPr id="172121" name="Line 89"/>
          <p:cNvSpPr>
            <a:spLocks noChangeShapeType="1"/>
          </p:cNvSpPr>
          <p:nvPr/>
        </p:nvSpPr>
        <p:spPr bwMode="auto">
          <a:xfrm flipH="1">
            <a:off x="4724400" y="3733800"/>
            <a:ext cx="1752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72122" name="Line 90"/>
          <p:cNvSpPr>
            <a:spLocks noChangeShapeType="1"/>
          </p:cNvSpPr>
          <p:nvPr/>
        </p:nvSpPr>
        <p:spPr bwMode="auto">
          <a:xfrm flipV="1">
            <a:off x="4419600" y="2133600"/>
            <a:ext cx="0" cy="1295400"/>
          </a:xfrm>
          <a:prstGeom prst="line">
            <a:avLst/>
          </a:prstGeom>
          <a:noFill/>
          <a:ln w="3810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wrap="none" anchor="ctr">
            <a:spAutoFit/>
          </a:bodyPr>
          <a:lstStyle/>
          <a:p>
            <a:endParaRPr lang="en-CA"/>
          </a:p>
        </p:txBody>
      </p:sp>
      <p:sp>
        <p:nvSpPr>
          <p:cNvPr id="172123" name="Freeform 91"/>
          <p:cNvSpPr>
            <a:spLocks/>
          </p:cNvSpPr>
          <p:nvPr/>
        </p:nvSpPr>
        <p:spPr bwMode="auto">
          <a:xfrm>
            <a:off x="2374900" y="2017713"/>
            <a:ext cx="1851025" cy="1514475"/>
          </a:xfrm>
          <a:custGeom>
            <a:avLst/>
            <a:gdLst>
              <a:gd name="T0" fmla="*/ 0 w 1166"/>
              <a:gd name="T1" fmla="*/ 1514475 h 954"/>
              <a:gd name="T2" fmla="*/ 1851025 w 1166"/>
              <a:gd name="T3" fmla="*/ 0 h 954"/>
              <a:gd name="T4" fmla="*/ 0 60000 65536"/>
              <a:gd name="T5" fmla="*/ 0 60000 65536"/>
            </a:gdLst>
            <a:ahLst/>
            <a:cxnLst>
              <a:cxn ang="T4">
                <a:pos x="T0" y="T1"/>
              </a:cxn>
              <a:cxn ang="T5">
                <a:pos x="T2" y="T3"/>
              </a:cxn>
            </a:cxnLst>
            <a:rect l="0" t="0" r="r" b="b"/>
            <a:pathLst>
              <a:path w="1166" h="954">
                <a:moveTo>
                  <a:pt x="0" y="954"/>
                </a:moveTo>
                <a:lnTo>
                  <a:pt x="1166" y="0"/>
                </a:lnTo>
              </a:path>
            </a:pathLst>
          </a:custGeom>
          <a:noFill/>
          <a:ln w="38100" cap="flat" cmpd="sng">
            <a:solidFill>
              <a:srgbClr val="003399"/>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nchor="ctr">
            <a:spAutoFit/>
          </a:bodyPr>
          <a:lstStyle/>
          <a:p>
            <a:endParaRPr lang="en-CA"/>
          </a:p>
        </p:txBody>
      </p:sp>
      <p:sp>
        <p:nvSpPr>
          <p:cNvPr id="172124" name="Freeform 92"/>
          <p:cNvSpPr>
            <a:spLocks/>
          </p:cNvSpPr>
          <p:nvPr/>
        </p:nvSpPr>
        <p:spPr bwMode="auto">
          <a:xfrm>
            <a:off x="2154238" y="3962400"/>
            <a:ext cx="1587" cy="1376363"/>
          </a:xfrm>
          <a:custGeom>
            <a:avLst/>
            <a:gdLst>
              <a:gd name="T0" fmla="*/ 0 w 1"/>
              <a:gd name="T1" fmla="*/ 1376363 h 867"/>
              <a:gd name="T2" fmla="*/ 0 w 1"/>
              <a:gd name="T3" fmla="*/ 0 h 867"/>
              <a:gd name="T4" fmla="*/ 0 60000 65536"/>
              <a:gd name="T5" fmla="*/ 0 60000 65536"/>
            </a:gdLst>
            <a:ahLst/>
            <a:cxnLst>
              <a:cxn ang="T4">
                <a:pos x="T0" y="T1"/>
              </a:cxn>
              <a:cxn ang="T5">
                <a:pos x="T2" y="T3"/>
              </a:cxn>
            </a:cxnLst>
            <a:rect l="0" t="0" r="r" b="b"/>
            <a:pathLst>
              <a:path w="1" h="867">
                <a:moveTo>
                  <a:pt x="0" y="867"/>
                </a:moveTo>
                <a:lnTo>
                  <a:pt x="0" y="0"/>
                </a:lnTo>
              </a:path>
            </a:pathLst>
          </a:custGeom>
          <a:noFill/>
          <a:ln w="38100" cap="flat" cmpd="sng">
            <a:solidFill>
              <a:srgbClr val="003399"/>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nchor="ctr">
            <a:spAutoFit/>
          </a:bodyPr>
          <a:lstStyle/>
          <a:p>
            <a:endParaRPr lang="en-CA"/>
          </a:p>
        </p:txBody>
      </p:sp>
      <p:sp>
        <p:nvSpPr>
          <p:cNvPr id="172125" name="Freeform 93"/>
          <p:cNvSpPr>
            <a:spLocks/>
          </p:cNvSpPr>
          <p:nvPr/>
        </p:nvSpPr>
        <p:spPr bwMode="auto">
          <a:xfrm>
            <a:off x="2354263" y="3867150"/>
            <a:ext cx="1860550" cy="1577975"/>
          </a:xfrm>
          <a:custGeom>
            <a:avLst/>
            <a:gdLst>
              <a:gd name="T0" fmla="*/ 1860550 w 1172"/>
              <a:gd name="T1" fmla="*/ 1577975 h 994"/>
              <a:gd name="T2" fmla="*/ 0 w 1172"/>
              <a:gd name="T3" fmla="*/ 0 h 994"/>
              <a:gd name="T4" fmla="*/ 0 60000 65536"/>
              <a:gd name="T5" fmla="*/ 0 60000 65536"/>
            </a:gdLst>
            <a:ahLst/>
            <a:cxnLst>
              <a:cxn ang="T4">
                <a:pos x="T0" y="T1"/>
              </a:cxn>
              <a:cxn ang="T5">
                <a:pos x="T2" y="T3"/>
              </a:cxn>
            </a:cxnLst>
            <a:rect l="0" t="0" r="r" b="b"/>
            <a:pathLst>
              <a:path w="1172" h="994">
                <a:moveTo>
                  <a:pt x="1172" y="994"/>
                </a:moveTo>
                <a:lnTo>
                  <a:pt x="0" y="0"/>
                </a:lnTo>
              </a:path>
            </a:pathLst>
          </a:custGeom>
          <a:noFill/>
          <a:ln w="38100" cap="flat" cmpd="sng">
            <a:solidFill>
              <a:srgbClr val="003399"/>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nchor="ctr">
            <a:spAutoFit/>
          </a:bodyPr>
          <a:lstStyle/>
          <a:p>
            <a:endParaRPr lang="en-CA"/>
          </a:p>
        </p:txBody>
      </p:sp>
      <p:sp>
        <p:nvSpPr>
          <p:cNvPr id="172126" name="Freeform 94"/>
          <p:cNvSpPr>
            <a:spLocks/>
          </p:cNvSpPr>
          <p:nvPr/>
        </p:nvSpPr>
        <p:spPr bwMode="auto">
          <a:xfrm>
            <a:off x="6673850" y="3951288"/>
            <a:ext cx="1588" cy="1387475"/>
          </a:xfrm>
          <a:custGeom>
            <a:avLst/>
            <a:gdLst>
              <a:gd name="T0" fmla="*/ 0 w 1"/>
              <a:gd name="T1" fmla="*/ 1387475 h 874"/>
              <a:gd name="T2" fmla="*/ 0 w 1"/>
              <a:gd name="T3" fmla="*/ 0 h 874"/>
              <a:gd name="T4" fmla="*/ 0 60000 65536"/>
              <a:gd name="T5" fmla="*/ 0 60000 65536"/>
            </a:gdLst>
            <a:ahLst/>
            <a:cxnLst>
              <a:cxn ang="T4">
                <a:pos x="T0" y="T1"/>
              </a:cxn>
              <a:cxn ang="T5">
                <a:pos x="T2" y="T3"/>
              </a:cxn>
            </a:cxnLst>
            <a:rect l="0" t="0" r="r" b="b"/>
            <a:pathLst>
              <a:path w="1" h="874">
                <a:moveTo>
                  <a:pt x="0" y="874"/>
                </a:moveTo>
                <a:lnTo>
                  <a:pt x="0" y="0"/>
                </a:lnTo>
              </a:path>
            </a:pathLst>
          </a:custGeom>
          <a:noFill/>
          <a:ln w="38100" cap="flat" cmpd="sng">
            <a:solidFill>
              <a:srgbClr val="003399"/>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txBody>
          <a:bodyPr wrap="none" anchor="ctr">
            <a:spAutoFit/>
          </a:bodyPr>
          <a:lstStyle/>
          <a:p>
            <a:endParaRPr lang="en-CA"/>
          </a:p>
        </p:txBody>
      </p:sp>
      <p:sp>
        <p:nvSpPr>
          <p:cNvPr id="172127" name="Oval 95"/>
          <p:cNvSpPr>
            <a:spLocks noChangeArrowheads="1"/>
          </p:cNvSpPr>
          <p:nvPr/>
        </p:nvSpPr>
        <p:spPr bwMode="auto">
          <a:xfrm>
            <a:off x="1905000" y="1587500"/>
            <a:ext cx="531813" cy="558800"/>
          </a:xfrm>
          <a:prstGeom prst="ellipse">
            <a:avLst/>
          </a:prstGeom>
          <a:solidFill>
            <a:schemeClr val="hlink"/>
          </a:solid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lnSpc>
                <a:spcPct val="95000"/>
              </a:lnSpc>
              <a:spcBef>
                <a:spcPct val="50000"/>
              </a:spcBef>
              <a:buFont typeface="Wingdings" pitchFamily="2" charset="2"/>
              <a:buNone/>
            </a:pPr>
            <a:r>
              <a:rPr lang="en-US" sz="2000">
                <a:solidFill>
                  <a:schemeClr val="bg1"/>
                </a:solidFill>
              </a:rPr>
              <a:t>a</a:t>
            </a:r>
          </a:p>
        </p:txBody>
      </p:sp>
      <p:sp>
        <p:nvSpPr>
          <p:cNvPr id="172128" name="Oval 96"/>
          <p:cNvSpPr>
            <a:spLocks noChangeArrowheads="1"/>
          </p:cNvSpPr>
          <p:nvPr/>
        </p:nvSpPr>
        <p:spPr bwMode="auto">
          <a:xfrm>
            <a:off x="4192588" y="1587500"/>
            <a:ext cx="530225" cy="558800"/>
          </a:xfrm>
          <a:prstGeom prst="ellipse">
            <a:avLst/>
          </a:prstGeom>
          <a:solidFill>
            <a:schemeClr val="hlink"/>
          </a:solid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lnSpc>
                <a:spcPct val="95000"/>
              </a:lnSpc>
              <a:spcBef>
                <a:spcPct val="50000"/>
              </a:spcBef>
              <a:buFont typeface="Wingdings" pitchFamily="2" charset="2"/>
              <a:buNone/>
            </a:pPr>
            <a:r>
              <a:rPr lang="en-US" sz="2000">
                <a:solidFill>
                  <a:schemeClr val="bg1"/>
                </a:solidFill>
              </a:rPr>
              <a:t>b</a:t>
            </a:r>
          </a:p>
        </p:txBody>
      </p:sp>
      <p:sp>
        <p:nvSpPr>
          <p:cNvPr id="172129" name="Oval 97"/>
          <p:cNvSpPr>
            <a:spLocks noChangeArrowheads="1"/>
          </p:cNvSpPr>
          <p:nvPr/>
        </p:nvSpPr>
        <p:spPr bwMode="auto">
          <a:xfrm>
            <a:off x="6478588" y="1587500"/>
            <a:ext cx="530225" cy="558800"/>
          </a:xfrm>
          <a:prstGeom prst="ellipse">
            <a:avLst/>
          </a:prstGeom>
          <a:solidFill>
            <a:schemeClr val="hlink"/>
          </a:solid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lnSpc>
                <a:spcPct val="95000"/>
              </a:lnSpc>
              <a:spcBef>
                <a:spcPct val="50000"/>
              </a:spcBef>
              <a:buFont typeface="Wingdings" pitchFamily="2" charset="2"/>
              <a:buNone/>
            </a:pPr>
            <a:r>
              <a:rPr lang="en-US" sz="2000">
                <a:solidFill>
                  <a:schemeClr val="bg1"/>
                </a:solidFill>
              </a:rPr>
              <a:t>c</a:t>
            </a:r>
          </a:p>
        </p:txBody>
      </p:sp>
      <p:sp>
        <p:nvSpPr>
          <p:cNvPr id="172130" name="Oval 98"/>
          <p:cNvSpPr>
            <a:spLocks noChangeArrowheads="1"/>
          </p:cNvSpPr>
          <p:nvPr/>
        </p:nvSpPr>
        <p:spPr bwMode="auto">
          <a:xfrm>
            <a:off x="4192588" y="3416300"/>
            <a:ext cx="530225" cy="558800"/>
          </a:xfrm>
          <a:prstGeom prst="ellipse">
            <a:avLst/>
          </a:prstGeom>
          <a:solidFill>
            <a:schemeClr val="hlink"/>
          </a:solid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lnSpc>
                <a:spcPct val="95000"/>
              </a:lnSpc>
              <a:spcBef>
                <a:spcPct val="50000"/>
              </a:spcBef>
              <a:buFont typeface="Wingdings" pitchFamily="2" charset="2"/>
              <a:buNone/>
            </a:pPr>
            <a:r>
              <a:rPr lang="en-US" sz="2000">
                <a:solidFill>
                  <a:schemeClr val="bg1"/>
                </a:solidFill>
              </a:rPr>
              <a:t>e</a:t>
            </a:r>
          </a:p>
        </p:txBody>
      </p:sp>
      <p:sp>
        <p:nvSpPr>
          <p:cNvPr id="172131" name="Oval 99"/>
          <p:cNvSpPr>
            <a:spLocks noChangeArrowheads="1"/>
          </p:cNvSpPr>
          <p:nvPr/>
        </p:nvSpPr>
        <p:spPr bwMode="auto">
          <a:xfrm>
            <a:off x="6478588" y="3416300"/>
            <a:ext cx="530225" cy="558800"/>
          </a:xfrm>
          <a:prstGeom prst="ellipse">
            <a:avLst/>
          </a:prstGeom>
          <a:solidFill>
            <a:schemeClr val="hlink"/>
          </a:solid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lnSpc>
                <a:spcPct val="95000"/>
              </a:lnSpc>
              <a:spcBef>
                <a:spcPct val="50000"/>
              </a:spcBef>
              <a:buFont typeface="Wingdings" pitchFamily="2" charset="2"/>
              <a:buNone/>
            </a:pPr>
            <a:r>
              <a:rPr lang="en-US" sz="2000">
                <a:solidFill>
                  <a:schemeClr val="bg1"/>
                </a:solidFill>
              </a:rPr>
              <a:t>f</a:t>
            </a:r>
          </a:p>
        </p:txBody>
      </p:sp>
      <p:sp>
        <p:nvSpPr>
          <p:cNvPr id="172132" name="Oval 100"/>
          <p:cNvSpPr>
            <a:spLocks noChangeArrowheads="1"/>
          </p:cNvSpPr>
          <p:nvPr/>
        </p:nvSpPr>
        <p:spPr bwMode="auto">
          <a:xfrm>
            <a:off x="6477000" y="5321300"/>
            <a:ext cx="533400" cy="558800"/>
          </a:xfrm>
          <a:prstGeom prst="ellipse">
            <a:avLst/>
          </a:prstGeom>
          <a:solidFill>
            <a:schemeClr val="hlink"/>
          </a:solid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lnSpc>
                <a:spcPct val="95000"/>
              </a:lnSpc>
              <a:spcBef>
                <a:spcPct val="50000"/>
              </a:spcBef>
              <a:buFont typeface="Wingdings" pitchFamily="2" charset="2"/>
              <a:buNone/>
            </a:pPr>
            <a:r>
              <a:rPr lang="en-US" sz="2000">
                <a:solidFill>
                  <a:schemeClr val="bg1"/>
                </a:solidFill>
              </a:rPr>
              <a:t>i</a:t>
            </a:r>
          </a:p>
        </p:txBody>
      </p:sp>
      <p:sp>
        <p:nvSpPr>
          <p:cNvPr id="172133" name="Oval 101"/>
          <p:cNvSpPr>
            <a:spLocks noChangeArrowheads="1"/>
          </p:cNvSpPr>
          <p:nvPr/>
        </p:nvSpPr>
        <p:spPr bwMode="auto">
          <a:xfrm>
            <a:off x="1906588" y="3416300"/>
            <a:ext cx="530225" cy="558800"/>
          </a:xfrm>
          <a:prstGeom prst="ellipse">
            <a:avLst/>
          </a:prstGeom>
          <a:solidFill>
            <a:schemeClr val="hlink"/>
          </a:solid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lnSpc>
                <a:spcPct val="95000"/>
              </a:lnSpc>
              <a:spcBef>
                <a:spcPct val="50000"/>
              </a:spcBef>
              <a:buFont typeface="Wingdings" pitchFamily="2" charset="2"/>
              <a:buNone/>
            </a:pPr>
            <a:r>
              <a:rPr lang="en-US" sz="2000">
                <a:solidFill>
                  <a:schemeClr val="bg1"/>
                </a:solidFill>
              </a:rPr>
              <a:t>d</a:t>
            </a:r>
          </a:p>
        </p:txBody>
      </p:sp>
      <p:sp>
        <p:nvSpPr>
          <p:cNvPr id="172134" name="Oval 102"/>
          <p:cNvSpPr>
            <a:spLocks noChangeArrowheads="1"/>
          </p:cNvSpPr>
          <p:nvPr/>
        </p:nvSpPr>
        <p:spPr bwMode="auto">
          <a:xfrm>
            <a:off x="4191000" y="5321300"/>
            <a:ext cx="533400" cy="558800"/>
          </a:xfrm>
          <a:prstGeom prst="ellipse">
            <a:avLst/>
          </a:prstGeom>
          <a:solidFill>
            <a:schemeClr val="hlink"/>
          </a:solid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lnSpc>
                <a:spcPct val="95000"/>
              </a:lnSpc>
              <a:spcBef>
                <a:spcPct val="50000"/>
              </a:spcBef>
              <a:buFont typeface="Wingdings" pitchFamily="2" charset="2"/>
              <a:buNone/>
            </a:pPr>
            <a:r>
              <a:rPr lang="en-US" sz="2000">
                <a:solidFill>
                  <a:schemeClr val="bg1"/>
                </a:solidFill>
              </a:rPr>
              <a:t>h</a:t>
            </a:r>
          </a:p>
        </p:txBody>
      </p:sp>
      <p:sp>
        <p:nvSpPr>
          <p:cNvPr id="172135" name="Oval 103"/>
          <p:cNvSpPr>
            <a:spLocks noChangeArrowheads="1"/>
          </p:cNvSpPr>
          <p:nvPr/>
        </p:nvSpPr>
        <p:spPr bwMode="auto">
          <a:xfrm>
            <a:off x="1828800" y="5321300"/>
            <a:ext cx="533400" cy="558800"/>
          </a:xfrm>
          <a:prstGeom prst="ellipse">
            <a:avLst/>
          </a:prstGeom>
          <a:solidFill>
            <a:schemeClr val="hlink"/>
          </a:solidFill>
          <a:ln w="57150">
            <a:solidFill>
              <a:srgbClr val="003399"/>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lnSpc>
                <a:spcPct val="95000"/>
              </a:lnSpc>
              <a:spcBef>
                <a:spcPct val="50000"/>
              </a:spcBef>
              <a:buFont typeface="Wingdings" pitchFamily="2" charset="2"/>
              <a:buNone/>
            </a:pPr>
            <a:r>
              <a:rPr lang="en-US" sz="2000">
                <a:solidFill>
                  <a:schemeClr val="bg1"/>
                </a:solidFill>
              </a:rPr>
              <a:t>g</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88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72034"/>
                                        </p:tgtEl>
                                        <p:attrNameLst>
                                          <p:attrName>style.visibility</p:attrName>
                                        </p:attrNameLst>
                                      </p:cBhvr>
                                      <p:to>
                                        <p:strVal val="visible"/>
                                      </p:to>
                                    </p:set>
                                    <p:anim calcmode="lin" valueType="num">
                                      <p:cBhvr>
                                        <p:cTn id="7" dur="500" fill="hold"/>
                                        <p:tgtEl>
                                          <p:spTgt spid="172034"/>
                                        </p:tgtEl>
                                        <p:attrNameLst>
                                          <p:attrName>ppt_w</p:attrName>
                                        </p:attrNameLst>
                                      </p:cBhvr>
                                      <p:tavLst>
                                        <p:tav tm="0">
                                          <p:val>
                                            <p:fltVal val="0"/>
                                          </p:val>
                                        </p:tav>
                                        <p:tav tm="100000">
                                          <p:val>
                                            <p:strVal val="#ppt_w"/>
                                          </p:val>
                                        </p:tav>
                                      </p:tavLst>
                                    </p:anim>
                                    <p:anim calcmode="lin" valueType="num">
                                      <p:cBhvr>
                                        <p:cTn id="8" dur="500" fill="hold"/>
                                        <p:tgtEl>
                                          <p:spTgt spid="17203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172085"/>
                                        </p:tgtEl>
                                        <p:attrNameLst>
                                          <p:attrName>style.visibility</p:attrName>
                                        </p:attrNameLst>
                                      </p:cBhvr>
                                      <p:to>
                                        <p:strVal val="visible"/>
                                      </p:to>
                                    </p:set>
                                    <p:animEffect transition="in" filter="wipe(up)">
                                      <p:cBhvr>
                                        <p:cTn id="13" dur="500"/>
                                        <p:tgtEl>
                                          <p:spTgt spid="17208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72127"/>
                                        </p:tgtEl>
                                        <p:attrNameLst>
                                          <p:attrName>style.visibility</p:attrName>
                                        </p:attrNameLst>
                                      </p:cBhvr>
                                      <p:to>
                                        <p:strVal val="visible"/>
                                      </p:to>
                                    </p:set>
                                    <p:animEffect transition="in" filter="dissolve">
                                      <p:cBhvr>
                                        <p:cTn id="18" dur="500"/>
                                        <p:tgtEl>
                                          <p:spTgt spid="172127"/>
                                        </p:tgtEl>
                                      </p:cBhvr>
                                    </p:animEffect>
                                  </p:childTnLst>
                                </p:cTn>
                              </p:par>
                            </p:childTnLst>
                          </p:cTn>
                        </p:par>
                        <p:par>
                          <p:cTn id="19" fill="hold" nodeType="afterGroup">
                            <p:stCondLst>
                              <p:cond delay="500"/>
                            </p:stCondLst>
                            <p:childTnLst>
                              <p:par>
                                <p:cTn id="20" presetID="12" presetClass="entr" presetSubtype="2" fill="hold" grpId="0" nodeType="afterEffect">
                                  <p:stCondLst>
                                    <p:cond delay="0"/>
                                  </p:stCondLst>
                                  <p:childTnLst>
                                    <p:set>
                                      <p:cBhvr>
                                        <p:cTn id="21" dur="1" fill="hold">
                                          <p:stCondLst>
                                            <p:cond delay="0"/>
                                          </p:stCondLst>
                                        </p:cTn>
                                        <p:tgtEl>
                                          <p:spTgt spid="172086"/>
                                        </p:tgtEl>
                                        <p:attrNameLst>
                                          <p:attrName>style.visibility</p:attrName>
                                        </p:attrNameLst>
                                      </p:cBhvr>
                                      <p:to>
                                        <p:strVal val="visible"/>
                                      </p:to>
                                    </p:set>
                                    <p:animEffect transition="in" filter="slide(fromRight)">
                                      <p:cBhvr>
                                        <p:cTn id="22" dur="500"/>
                                        <p:tgtEl>
                                          <p:spTgt spid="17208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2" fill="hold" grpId="0" nodeType="clickEffect">
                                  <p:stCondLst>
                                    <p:cond delay="0"/>
                                  </p:stCondLst>
                                  <p:childTnLst>
                                    <p:set>
                                      <p:cBhvr>
                                        <p:cTn id="26" dur="1" fill="hold">
                                          <p:stCondLst>
                                            <p:cond delay="0"/>
                                          </p:stCondLst>
                                        </p:cTn>
                                        <p:tgtEl>
                                          <p:spTgt spid="172091"/>
                                        </p:tgtEl>
                                        <p:attrNameLst>
                                          <p:attrName>style.visibility</p:attrName>
                                        </p:attrNameLst>
                                      </p:cBhvr>
                                      <p:to>
                                        <p:strVal val="visible"/>
                                      </p:to>
                                    </p:set>
                                    <p:animEffect transition="in" filter="slide(fromRight)">
                                      <p:cBhvr>
                                        <p:cTn id="27" dur="500"/>
                                        <p:tgtEl>
                                          <p:spTgt spid="1720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2" fill="hold" grpId="0" nodeType="clickEffect">
                                  <p:stCondLst>
                                    <p:cond delay="0"/>
                                  </p:stCondLst>
                                  <p:childTnLst>
                                    <p:set>
                                      <p:cBhvr>
                                        <p:cTn id="31" dur="1" fill="hold">
                                          <p:stCondLst>
                                            <p:cond delay="0"/>
                                          </p:stCondLst>
                                        </p:cTn>
                                        <p:tgtEl>
                                          <p:spTgt spid="172097"/>
                                        </p:tgtEl>
                                        <p:attrNameLst>
                                          <p:attrName>style.visibility</p:attrName>
                                        </p:attrNameLst>
                                      </p:cBhvr>
                                      <p:to>
                                        <p:strVal val="visible"/>
                                      </p:to>
                                    </p:set>
                                    <p:animEffect transition="in" filter="slide(fromRight)">
                                      <p:cBhvr>
                                        <p:cTn id="32" dur="500"/>
                                        <p:tgtEl>
                                          <p:spTgt spid="17209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2128"/>
                                        </p:tgtEl>
                                        <p:attrNameLst>
                                          <p:attrName>style.visibility</p:attrName>
                                        </p:attrNameLst>
                                      </p:cBhvr>
                                      <p:to>
                                        <p:strVal val="visible"/>
                                      </p:to>
                                    </p:set>
                                    <p:animEffect transition="in" filter="dissolve">
                                      <p:cBhvr>
                                        <p:cTn id="37" dur="500"/>
                                        <p:tgtEl>
                                          <p:spTgt spid="172128"/>
                                        </p:tgtEl>
                                      </p:cBhvr>
                                    </p:animEffect>
                                  </p:childTnLst>
                                </p:cTn>
                              </p:par>
                            </p:childTnLst>
                          </p:cTn>
                        </p:par>
                        <p:par>
                          <p:cTn id="38" fill="hold" nodeType="afterGroup">
                            <p:stCondLst>
                              <p:cond delay="500"/>
                            </p:stCondLst>
                            <p:childTnLst>
                              <p:par>
                                <p:cTn id="39" presetID="12" presetClass="entr" presetSubtype="2" fill="hold" grpId="0" nodeType="afterEffect">
                                  <p:stCondLst>
                                    <p:cond delay="0"/>
                                  </p:stCondLst>
                                  <p:childTnLst>
                                    <p:set>
                                      <p:cBhvr>
                                        <p:cTn id="40" dur="1" fill="hold">
                                          <p:stCondLst>
                                            <p:cond delay="0"/>
                                          </p:stCondLst>
                                        </p:cTn>
                                        <p:tgtEl>
                                          <p:spTgt spid="172101"/>
                                        </p:tgtEl>
                                        <p:attrNameLst>
                                          <p:attrName>style.visibility</p:attrName>
                                        </p:attrNameLst>
                                      </p:cBhvr>
                                      <p:to>
                                        <p:strVal val="visible"/>
                                      </p:to>
                                    </p:set>
                                    <p:animEffect transition="in" filter="slide(fromRight)">
                                      <p:cBhvr>
                                        <p:cTn id="41" dur="500"/>
                                        <p:tgtEl>
                                          <p:spTgt spid="172101"/>
                                        </p:tgtEl>
                                      </p:cBhvr>
                                    </p:animEffect>
                                  </p:childTnLst>
                                </p:cTn>
                              </p:par>
                            </p:childTnLst>
                          </p:cTn>
                        </p:par>
                        <p:par>
                          <p:cTn id="42" fill="hold" nodeType="afterGroup">
                            <p:stCondLst>
                              <p:cond delay="1000"/>
                            </p:stCondLst>
                            <p:childTnLst>
                              <p:par>
                                <p:cTn id="43" presetID="22" presetClass="entr" presetSubtype="2" fill="hold" grpId="0" nodeType="afterEffect">
                                  <p:stCondLst>
                                    <p:cond delay="0"/>
                                  </p:stCondLst>
                                  <p:childTnLst>
                                    <p:set>
                                      <p:cBhvr>
                                        <p:cTn id="44" dur="1" fill="hold">
                                          <p:stCondLst>
                                            <p:cond delay="0"/>
                                          </p:stCondLst>
                                        </p:cTn>
                                        <p:tgtEl>
                                          <p:spTgt spid="172119"/>
                                        </p:tgtEl>
                                        <p:attrNameLst>
                                          <p:attrName>style.visibility</p:attrName>
                                        </p:attrNameLst>
                                      </p:cBhvr>
                                      <p:to>
                                        <p:strVal val="visible"/>
                                      </p:to>
                                    </p:set>
                                    <p:animEffect transition="in" filter="wipe(right)">
                                      <p:cBhvr>
                                        <p:cTn id="45" dur="500"/>
                                        <p:tgtEl>
                                          <p:spTgt spid="17211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2" presetClass="entr" presetSubtype="2" fill="hold" grpId="0" nodeType="clickEffect">
                                  <p:stCondLst>
                                    <p:cond delay="0"/>
                                  </p:stCondLst>
                                  <p:childTnLst>
                                    <p:set>
                                      <p:cBhvr>
                                        <p:cTn id="49" dur="1" fill="hold">
                                          <p:stCondLst>
                                            <p:cond delay="0"/>
                                          </p:stCondLst>
                                        </p:cTn>
                                        <p:tgtEl>
                                          <p:spTgt spid="172098"/>
                                        </p:tgtEl>
                                        <p:attrNameLst>
                                          <p:attrName>style.visibility</p:attrName>
                                        </p:attrNameLst>
                                      </p:cBhvr>
                                      <p:to>
                                        <p:strVal val="visible"/>
                                      </p:to>
                                    </p:set>
                                    <p:animEffect transition="in" filter="slide(fromRight)">
                                      <p:cBhvr>
                                        <p:cTn id="50" dur="500"/>
                                        <p:tgtEl>
                                          <p:spTgt spid="17209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2" presetClass="entr" presetSubtype="2" fill="hold" grpId="0" nodeType="clickEffect">
                                  <p:stCondLst>
                                    <p:cond delay="0"/>
                                  </p:stCondLst>
                                  <p:childTnLst>
                                    <p:set>
                                      <p:cBhvr>
                                        <p:cTn id="54" dur="1" fill="hold">
                                          <p:stCondLst>
                                            <p:cond delay="0"/>
                                          </p:stCondLst>
                                        </p:cTn>
                                        <p:tgtEl>
                                          <p:spTgt spid="172100"/>
                                        </p:tgtEl>
                                        <p:attrNameLst>
                                          <p:attrName>style.visibility</p:attrName>
                                        </p:attrNameLst>
                                      </p:cBhvr>
                                      <p:to>
                                        <p:strVal val="visible"/>
                                      </p:to>
                                    </p:set>
                                    <p:animEffect transition="in" filter="slide(fromRight)">
                                      <p:cBhvr>
                                        <p:cTn id="55" dur="500"/>
                                        <p:tgtEl>
                                          <p:spTgt spid="17210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2" presetClass="entr" presetSubtype="2" fill="hold" grpId="0" nodeType="clickEffect">
                                  <p:stCondLst>
                                    <p:cond delay="0"/>
                                  </p:stCondLst>
                                  <p:childTnLst>
                                    <p:set>
                                      <p:cBhvr>
                                        <p:cTn id="59" dur="1" fill="hold">
                                          <p:stCondLst>
                                            <p:cond delay="0"/>
                                          </p:stCondLst>
                                        </p:cTn>
                                        <p:tgtEl>
                                          <p:spTgt spid="172099"/>
                                        </p:tgtEl>
                                        <p:attrNameLst>
                                          <p:attrName>style.visibility</p:attrName>
                                        </p:attrNameLst>
                                      </p:cBhvr>
                                      <p:to>
                                        <p:strVal val="visible"/>
                                      </p:to>
                                    </p:set>
                                    <p:animEffect transition="in" filter="slide(fromRight)">
                                      <p:cBhvr>
                                        <p:cTn id="60" dur="500"/>
                                        <p:tgtEl>
                                          <p:spTgt spid="17209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172129"/>
                                        </p:tgtEl>
                                        <p:attrNameLst>
                                          <p:attrName>style.visibility</p:attrName>
                                        </p:attrNameLst>
                                      </p:cBhvr>
                                      <p:to>
                                        <p:strVal val="visible"/>
                                      </p:to>
                                    </p:set>
                                    <p:animEffect transition="in" filter="dissolve">
                                      <p:cBhvr>
                                        <p:cTn id="65" dur="500"/>
                                        <p:tgtEl>
                                          <p:spTgt spid="172129"/>
                                        </p:tgtEl>
                                      </p:cBhvr>
                                    </p:animEffect>
                                  </p:childTnLst>
                                </p:cTn>
                              </p:par>
                            </p:childTnLst>
                          </p:cTn>
                        </p:par>
                        <p:par>
                          <p:cTn id="66" fill="hold" nodeType="afterGroup">
                            <p:stCondLst>
                              <p:cond delay="500"/>
                            </p:stCondLst>
                            <p:childTnLst>
                              <p:par>
                                <p:cTn id="67" presetID="12" presetClass="entr" presetSubtype="2" fill="hold" grpId="0" nodeType="afterEffect">
                                  <p:stCondLst>
                                    <p:cond delay="0"/>
                                  </p:stCondLst>
                                  <p:childTnLst>
                                    <p:set>
                                      <p:cBhvr>
                                        <p:cTn id="68" dur="1" fill="hold">
                                          <p:stCondLst>
                                            <p:cond delay="0"/>
                                          </p:stCondLst>
                                        </p:cTn>
                                        <p:tgtEl>
                                          <p:spTgt spid="172103"/>
                                        </p:tgtEl>
                                        <p:attrNameLst>
                                          <p:attrName>style.visibility</p:attrName>
                                        </p:attrNameLst>
                                      </p:cBhvr>
                                      <p:to>
                                        <p:strVal val="visible"/>
                                      </p:to>
                                    </p:set>
                                    <p:animEffect transition="in" filter="slide(fromRight)">
                                      <p:cBhvr>
                                        <p:cTn id="69" dur="500"/>
                                        <p:tgtEl>
                                          <p:spTgt spid="172103"/>
                                        </p:tgtEl>
                                      </p:cBhvr>
                                    </p:animEffect>
                                  </p:childTnLst>
                                </p:cTn>
                              </p:par>
                            </p:childTnLst>
                          </p:cTn>
                        </p:par>
                        <p:par>
                          <p:cTn id="70" fill="hold" nodeType="afterGroup">
                            <p:stCondLst>
                              <p:cond delay="1000"/>
                            </p:stCondLst>
                            <p:childTnLst>
                              <p:par>
                                <p:cTn id="71" presetID="22" presetClass="entr" presetSubtype="2" fill="hold" grpId="0" nodeType="afterEffect">
                                  <p:stCondLst>
                                    <p:cond delay="0"/>
                                  </p:stCondLst>
                                  <p:childTnLst>
                                    <p:set>
                                      <p:cBhvr>
                                        <p:cTn id="72" dur="1" fill="hold">
                                          <p:stCondLst>
                                            <p:cond delay="0"/>
                                          </p:stCondLst>
                                        </p:cTn>
                                        <p:tgtEl>
                                          <p:spTgt spid="172120"/>
                                        </p:tgtEl>
                                        <p:attrNameLst>
                                          <p:attrName>style.visibility</p:attrName>
                                        </p:attrNameLst>
                                      </p:cBhvr>
                                      <p:to>
                                        <p:strVal val="visible"/>
                                      </p:to>
                                    </p:set>
                                    <p:animEffect transition="in" filter="wipe(right)">
                                      <p:cBhvr>
                                        <p:cTn id="73" dur="500"/>
                                        <p:tgtEl>
                                          <p:spTgt spid="172120"/>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2" presetClass="entr" presetSubtype="2" fill="hold" grpId="0" nodeType="clickEffect">
                                  <p:stCondLst>
                                    <p:cond delay="0"/>
                                  </p:stCondLst>
                                  <p:childTnLst>
                                    <p:set>
                                      <p:cBhvr>
                                        <p:cTn id="77" dur="1" fill="hold">
                                          <p:stCondLst>
                                            <p:cond delay="0"/>
                                          </p:stCondLst>
                                        </p:cTn>
                                        <p:tgtEl>
                                          <p:spTgt spid="172102"/>
                                        </p:tgtEl>
                                        <p:attrNameLst>
                                          <p:attrName>style.visibility</p:attrName>
                                        </p:attrNameLst>
                                      </p:cBhvr>
                                      <p:to>
                                        <p:strVal val="visible"/>
                                      </p:to>
                                    </p:set>
                                    <p:animEffect transition="in" filter="slide(fromRight)">
                                      <p:cBhvr>
                                        <p:cTn id="78" dur="500"/>
                                        <p:tgtEl>
                                          <p:spTgt spid="17210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9" presetClass="entr" presetSubtype="0" fill="hold" grpId="0" nodeType="clickEffect">
                                  <p:stCondLst>
                                    <p:cond delay="0"/>
                                  </p:stCondLst>
                                  <p:childTnLst>
                                    <p:set>
                                      <p:cBhvr>
                                        <p:cTn id="82" dur="1" fill="hold">
                                          <p:stCondLst>
                                            <p:cond delay="0"/>
                                          </p:stCondLst>
                                        </p:cTn>
                                        <p:tgtEl>
                                          <p:spTgt spid="172130"/>
                                        </p:tgtEl>
                                        <p:attrNameLst>
                                          <p:attrName>style.visibility</p:attrName>
                                        </p:attrNameLst>
                                      </p:cBhvr>
                                      <p:to>
                                        <p:strVal val="visible"/>
                                      </p:to>
                                    </p:set>
                                    <p:animEffect transition="in" filter="dissolve">
                                      <p:cBhvr>
                                        <p:cTn id="83" dur="500"/>
                                        <p:tgtEl>
                                          <p:spTgt spid="172130"/>
                                        </p:tgtEl>
                                      </p:cBhvr>
                                    </p:animEffect>
                                  </p:childTnLst>
                                </p:cTn>
                              </p:par>
                            </p:childTnLst>
                          </p:cTn>
                        </p:par>
                        <p:par>
                          <p:cTn id="84" fill="hold" nodeType="afterGroup">
                            <p:stCondLst>
                              <p:cond delay="500"/>
                            </p:stCondLst>
                            <p:childTnLst>
                              <p:par>
                                <p:cTn id="85" presetID="12" presetClass="entr" presetSubtype="2" fill="hold" grpId="0" nodeType="afterEffect">
                                  <p:stCondLst>
                                    <p:cond delay="0"/>
                                  </p:stCondLst>
                                  <p:childTnLst>
                                    <p:set>
                                      <p:cBhvr>
                                        <p:cTn id="86" dur="1" fill="hold">
                                          <p:stCondLst>
                                            <p:cond delay="0"/>
                                          </p:stCondLst>
                                        </p:cTn>
                                        <p:tgtEl>
                                          <p:spTgt spid="172104"/>
                                        </p:tgtEl>
                                        <p:attrNameLst>
                                          <p:attrName>style.visibility</p:attrName>
                                        </p:attrNameLst>
                                      </p:cBhvr>
                                      <p:to>
                                        <p:strVal val="visible"/>
                                      </p:to>
                                    </p:set>
                                    <p:animEffect transition="in" filter="slide(fromRight)">
                                      <p:cBhvr>
                                        <p:cTn id="87" dur="500"/>
                                        <p:tgtEl>
                                          <p:spTgt spid="172104"/>
                                        </p:tgtEl>
                                      </p:cBhvr>
                                    </p:animEffect>
                                  </p:childTnLst>
                                </p:cTn>
                              </p:par>
                            </p:childTnLst>
                          </p:cTn>
                        </p:par>
                        <p:par>
                          <p:cTn id="88" fill="hold" nodeType="afterGroup">
                            <p:stCondLst>
                              <p:cond delay="1000"/>
                            </p:stCondLst>
                            <p:childTnLst>
                              <p:par>
                                <p:cTn id="89" presetID="22" presetClass="entr" presetSubtype="4" fill="hold" grpId="0" nodeType="afterEffect">
                                  <p:stCondLst>
                                    <p:cond delay="0"/>
                                  </p:stCondLst>
                                  <p:childTnLst>
                                    <p:set>
                                      <p:cBhvr>
                                        <p:cTn id="90" dur="1" fill="hold">
                                          <p:stCondLst>
                                            <p:cond delay="0"/>
                                          </p:stCondLst>
                                        </p:cTn>
                                        <p:tgtEl>
                                          <p:spTgt spid="172122"/>
                                        </p:tgtEl>
                                        <p:attrNameLst>
                                          <p:attrName>style.visibility</p:attrName>
                                        </p:attrNameLst>
                                      </p:cBhvr>
                                      <p:to>
                                        <p:strVal val="visible"/>
                                      </p:to>
                                    </p:set>
                                    <p:animEffect transition="in" filter="wipe(down)">
                                      <p:cBhvr>
                                        <p:cTn id="91" dur="500"/>
                                        <p:tgtEl>
                                          <p:spTgt spid="172122"/>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12" presetClass="entr" presetSubtype="2" fill="hold" grpId="0" nodeType="clickEffect">
                                  <p:stCondLst>
                                    <p:cond delay="0"/>
                                  </p:stCondLst>
                                  <p:childTnLst>
                                    <p:set>
                                      <p:cBhvr>
                                        <p:cTn id="95" dur="1" fill="hold">
                                          <p:stCondLst>
                                            <p:cond delay="0"/>
                                          </p:stCondLst>
                                        </p:cTn>
                                        <p:tgtEl>
                                          <p:spTgt spid="172105"/>
                                        </p:tgtEl>
                                        <p:attrNameLst>
                                          <p:attrName>style.visibility</p:attrName>
                                        </p:attrNameLst>
                                      </p:cBhvr>
                                      <p:to>
                                        <p:strVal val="visible"/>
                                      </p:to>
                                    </p:set>
                                    <p:animEffect transition="in" filter="slide(fromRight)">
                                      <p:cBhvr>
                                        <p:cTn id="96" dur="500"/>
                                        <p:tgtEl>
                                          <p:spTgt spid="172105"/>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12" presetClass="entr" presetSubtype="2" fill="hold" grpId="0" nodeType="clickEffect">
                                  <p:stCondLst>
                                    <p:cond delay="0"/>
                                  </p:stCondLst>
                                  <p:childTnLst>
                                    <p:set>
                                      <p:cBhvr>
                                        <p:cTn id="100" dur="1" fill="hold">
                                          <p:stCondLst>
                                            <p:cond delay="0"/>
                                          </p:stCondLst>
                                        </p:cTn>
                                        <p:tgtEl>
                                          <p:spTgt spid="172107"/>
                                        </p:tgtEl>
                                        <p:attrNameLst>
                                          <p:attrName>style.visibility</p:attrName>
                                        </p:attrNameLst>
                                      </p:cBhvr>
                                      <p:to>
                                        <p:strVal val="visible"/>
                                      </p:to>
                                    </p:set>
                                    <p:animEffect transition="in" filter="slide(fromRight)">
                                      <p:cBhvr>
                                        <p:cTn id="101" dur="500"/>
                                        <p:tgtEl>
                                          <p:spTgt spid="172107"/>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2" presetClass="entr" presetSubtype="2" fill="hold" grpId="0" nodeType="clickEffect">
                                  <p:stCondLst>
                                    <p:cond delay="0"/>
                                  </p:stCondLst>
                                  <p:childTnLst>
                                    <p:set>
                                      <p:cBhvr>
                                        <p:cTn id="105" dur="1" fill="hold">
                                          <p:stCondLst>
                                            <p:cond delay="0"/>
                                          </p:stCondLst>
                                        </p:cTn>
                                        <p:tgtEl>
                                          <p:spTgt spid="172106"/>
                                        </p:tgtEl>
                                        <p:attrNameLst>
                                          <p:attrName>style.visibility</p:attrName>
                                        </p:attrNameLst>
                                      </p:cBhvr>
                                      <p:to>
                                        <p:strVal val="visible"/>
                                      </p:to>
                                    </p:set>
                                    <p:animEffect transition="in" filter="slide(fromRight)">
                                      <p:cBhvr>
                                        <p:cTn id="106" dur="500"/>
                                        <p:tgtEl>
                                          <p:spTgt spid="172106"/>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9" presetClass="entr" presetSubtype="0" fill="hold" grpId="0" nodeType="clickEffect">
                                  <p:stCondLst>
                                    <p:cond delay="0"/>
                                  </p:stCondLst>
                                  <p:childTnLst>
                                    <p:set>
                                      <p:cBhvr>
                                        <p:cTn id="110" dur="1" fill="hold">
                                          <p:stCondLst>
                                            <p:cond delay="0"/>
                                          </p:stCondLst>
                                        </p:cTn>
                                        <p:tgtEl>
                                          <p:spTgt spid="172131"/>
                                        </p:tgtEl>
                                        <p:attrNameLst>
                                          <p:attrName>style.visibility</p:attrName>
                                        </p:attrNameLst>
                                      </p:cBhvr>
                                      <p:to>
                                        <p:strVal val="visible"/>
                                      </p:to>
                                    </p:set>
                                    <p:animEffect transition="in" filter="dissolve">
                                      <p:cBhvr>
                                        <p:cTn id="111" dur="500"/>
                                        <p:tgtEl>
                                          <p:spTgt spid="172131"/>
                                        </p:tgtEl>
                                      </p:cBhvr>
                                    </p:animEffect>
                                  </p:childTnLst>
                                </p:cTn>
                              </p:par>
                            </p:childTnLst>
                          </p:cTn>
                        </p:par>
                        <p:par>
                          <p:cTn id="112" fill="hold" nodeType="afterGroup">
                            <p:stCondLst>
                              <p:cond delay="500"/>
                            </p:stCondLst>
                            <p:childTnLst>
                              <p:par>
                                <p:cTn id="113" presetID="12" presetClass="entr" presetSubtype="2" fill="hold" grpId="0" nodeType="afterEffect">
                                  <p:stCondLst>
                                    <p:cond delay="0"/>
                                  </p:stCondLst>
                                  <p:childTnLst>
                                    <p:set>
                                      <p:cBhvr>
                                        <p:cTn id="114" dur="1" fill="hold">
                                          <p:stCondLst>
                                            <p:cond delay="0"/>
                                          </p:stCondLst>
                                        </p:cTn>
                                        <p:tgtEl>
                                          <p:spTgt spid="172108"/>
                                        </p:tgtEl>
                                        <p:attrNameLst>
                                          <p:attrName>style.visibility</p:attrName>
                                        </p:attrNameLst>
                                      </p:cBhvr>
                                      <p:to>
                                        <p:strVal val="visible"/>
                                      </p:to>
                                    </p:set>
                                    <p:animEffect transition="in" filter="slide(fromRight)">
                                      <p:cBhvr>
                                        <p:cTn id="115" dur="500"/>
                                        <p:tgtEl>
                                          <p:spTgt spid="172108"/>
                                        </p:tgtEl>
                                      </p:cBhvr>
                                    </p:animEffect>
                                  </p:childTnLst>
                                </p:cTn>
                              </p:par>
                            </p:childTnLst>
                          </p:cTn>
                        </p:par>
                        <p:par>
                          <p:cTn id="116" fill="hold" nodeType="afterGroup">
                            <p:stCondLst>
                              <p:cond delay="1000"/>
                            </p:stCondLst>
                            <p:childTnLst>
                              <p:par>
                                <p:cTn id="117" presetID="22" presetClass="entr" presetSubtype="2" fill="hold" grpId="0" nodeType="afterEffect">
                                  <p:stCondLst>
                                    <p:cond delay="0"/>
                                  </p:stCondLst>
                                  <p:childTnLst>
                                    <p:set>
                                      <p:cBhvr>
                                        <p:cTn id="118" dur="1" fill="hold">
                                          <p:stCondLst>
                                            <p:cond delay="0"/>
                                          </p:stCondLst>
                                        </p:cTn>
                                        <p:tgtEl>
                                          <p:spTgt spid="172121"/>
                                        </p:tgtEl>
                                        <p:attrNameLst>
                                          <p:attrName>style.visibility</p:attrName>
                                        </p:attrNameLst>
                                      </p:cBhvr>
                                      <p:to>
                                        <p:strVal val="visible"/>
                                      </p:to>
                                    </p:set>
                                    <p:animEffect transition="in" filter="wipe(right)">
                                      <p:cBhvr>
                                        <p:cTn id="119" dur="500"/>
                                        <p:tgtEl>
                                          <p:spTgt spid="172121"/>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2" presetClass="entr" presetSubtype="2" fill="hold" grpId="0" nodeType="clickEffect">
                                  <p:stCondLst>
                                    <p:cond delay="0"/>
                                  </p:stCondLst>
                                  <p:childTnLst>
                                    <p:set>
                                      <p:cBhvr>
                                        <p:cTn id="123" dur="1" fill="hold">
                                          <p:stCondLst>
                                            <p:cond delay="0"/>
                                          </p:stCondLst>
                                        </p:cTn>
                                        <p:tgtEl>
                                          <p:spTgt spid="172109"/>
                                        </p:tgtEl>
                                        <p:attrNameLst>
                                          <p:attrName>style.visibility</p:attrName>
                                        </p:attrNameLst>
                                      </p:cBhvr>
                                      <p:to>
                                        <p:strVal val="visible"/>
                                      </p:to>
                                    </p:set>
                                    <p:animEffect transition="in" filter="slide(fromRight)">
                                      <p:cBhvr>
                                        <p:cTn id="124" dur="500"/>
                                        <p:tgtEl>
                                          <p:spTgt spid="172109"/>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9" presetClass="entr" presetSubtype="0" fill="hold" grpId="0" nodeType="clickEffect">
                                  <p:stCondLst>
                                    <p:cond delay="0"/>
                                  </p:stCondLst>
                                  <p:childTnLst>
                                    <p:set>
                                      <p:cBhvr>
                                        <p:cTn id="128" dur="1" fill="hold">
                                          <p:stCondLst>
                                            <p:cond delay="0"/>
                                          </p:stCondLst>
                                        </p:cTn>
                                        <p:tgtEl>
                                          <p:spTgt spid="172132"/>
                                        </p:tgtEl>
                                        <p:attrNameLst>
                                          <p:attrName>style.visibility</p:attrName>
                                        </p:attrNameLst>
                                      </p:cBhvr>
                                      <p:to>
                                        <p:strVal val="visible"/>
                                      </p:to>
                                    </p:set>
                                    <p:animEffect transition="in" filter="dissolve">
                                      <p:cBhvr>
                                        <p:cTn id="129" dur="500"/>
                                        <p:tgtEl>
                                          <p:spTgt spid="172132"/>
                                        </p:tgtEl>
                                      </p:cBhvr>
                                    </p:animEffect>
                                  </p:childTnLst>
                                </p:cTn>
                              </p:par>
                            </p:childTnLst>
                          </p:cTn>
                        </p:par>
                        <p:par>
                          <p:cTn id="130" fill="hold" nodeType="afterGroup">
                            <p:stCondLst>
                              <p:cond delay="500"/>
                            </p:stCondLst>
                            <p:childTnLst>
                              <p:par>
                                <p:cTn id="131" presetID="12" presetClass="entr" presetSubtype="2" fill="hold" grpId="0" nodeType="afterEffect">
                                  <p:stCondLst>
                                    <p:cond delay="0"/>
                                  </p:stCondLst>
                                  <p:childTnLst>
                                    <p:set>
                                      <p:cBhvr>
                                        <p:cTn id="132" dur="1" fill="hold">
                                          <p:stCondLst>
                                            <p:cond delay="0"/>
                                          </p:stCondLst>
                                        </p:cTn>
                                        <p:tgtEl>
                                          <p:spTgt spid="172110"/>
                                        </p:tgtEl>
                                        <p:attrNameLst>
                                          <p:attrName>style.visibility</p:attrName>
                                        </p:attrNameLst>
                                      </p:cBhvr>
                                      <p:to>
                                        <p:strVal val="visible"/>
                                      </p:to>
                                    </p:set>
                                    <p:animEffect transition="in" filter="slide(fromRight)">
                                      <p:cBhvr>
                                        <p:cTn id="133" dur="500"/>
                                        <p:tgtEl>
                                          <p:spTgt spid="172110"/>
                                        </p:tgtEl>
                                      </p:cBhvr>
                                    </p:animEffect>
                                  </p:childTnLst>
                                </p:cTn>
                              </p:par>
                            </p:childTnLst>
                          </p:cTn>
                        </p:par>
                        <p:par>
                          <p:cTn id="134" fill="hold" nodeType="afterGroup">
                            <p:stCondLst>
                              <p:cond delay="1000"/>
                            </p:stCondLst>
                            <p:childTnLst>
                              <p:par>
                                <p:cTn id="135" presetID="22" presetClass="entr" presetSubtype="4" fill="hold" grpId="0" nodeType="afterEffect">
                                  <p:stCondLst>
                                    <p:cond delay="0"/>
                                  </p:stCondLst>
                                  <p:childTnLst>
                                    <p:set>
                                      <p:cBhvr>
                                        <p:cTn id="136" dur="1" fill="hold">
                                          <p:stCondLst>
                                            <p:cond delay="0"/>
                                          </p:stCondLst>
                                        </p:cTn>
                                        <p:tgtEl>
                                          <p:spTgt spid="172126"/>
                                        </p:tgtEl>
                                        <p:attrNameLst>
                                          <p:attrName>style.visibility</p:attrName>
                                        </p:attrNameLst>
                                      </p:cBhvr>
                                      <p:to>
                                        <p:strVal val="visible"/>
                                      </p:to>
                                    </p:set>
                                    <p:animEffect transition="in" filter="wipe(down)">
                                      <p:cBhvr>
                                        <p:cTn id="137" dur="500"/>
                                        <p:tgtEl>
                                          <p:spTgt spid="172126"/>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9" presetClass="entr" presetSubtype="0" fill="hold" grpId="0" nodeType="clickEffect">
                                  <p:stCondLst>
                                    <p:cond delay="0"/>
                                  </p:stCondLst>
                                  <p:childTnLst>
                                    <p:set>
                                      <p:cBhvr>
                                        <p:cTn id="141" dur="1" fill="hold">
                                          <p:stCondLst>
                                            <p:cond delay="0"/>
                                          </p:stCondLst>
                                        </p:cTn>
                                        <p:tgtEl>
                                          <p:spTgt spid="172133"/>
                                        </p:tgtEl>
                                        <p:attrNameLst>
                                          <p:attrName>style.visibility</p:attrName>
                                        </p:attrNameLst>
                                      </p:cBhvr>
                                      <p:to>
                                        <p:strVal val="visible"/>
                                      </p:to>
                                    </p:set>
                                    <p:animEffect transition="in" filter="dissolve">
                                      <p:cBhvr>
                                        <p:cTn id="142" dur="500"/>
                                        <p:tgtEl>
                                          <p:spTgt spid="172133"/>
                                        </p:tgtEl>
                                      </p:cBhvr>
                                    </p:animEffect>
                                  </p:childTnLst>
                                </p:cTn>
                              </p:par>
                            </p:childTnLst>
                          </p:cTn>
                        </p:par>
                        <p:par>
                          <p:cTn id="143" fill="hold" nodeType="afterGroup">
                            <p:stCondLst>
                              <p:cond delay="500"/>
                            </p:stCondLst>
                            <p:childTnLst>
                              <p:par>
                                <p:cTn id="144" presetID="12" presetClass="entr" presetSubtype="2" fill="hold" grpId="0" nodeType="afterEffect">
                                  <p:stCondLst>
                                    <p:cond delay="0"/>
                                  </p:stCondLst>
                                  <p:childTnLst>
                                    <p:set>
                                      <p:cBhvr>
                                        <p:cTn id="145" dur="1" fill="hold">
                                          <p:stCondLst>
                                            <p:cond delay="0"/>
                                          </p:stCondLst>
                                        </p:cTn>
                                        <p:tgtEl>
                                          <p:spTgt spid="172111"/>
                                        </p:tgtEl>
                                        <p:attrNameLst>
                                          <p:attrName>style.visibility</p:attrName>
                                        </p:attrNameLst>
                                      </p:cBhvr>
                                      <p:to>
                                        <p:strVal val="visible"/>
                                      </p:to>
                                    </p:set>
                                    <p:animEffect transition="in" filter="slide(fromRight)">
                                      <p:cBhvr>
                                        <p:cTn id="146" dur="500"/>
                                        <p:tgtEl>
                                          <p:spTgt spid="172111"/>
                                        </p:tgtEl>
                                      </p:cBhvr>
                                    </p:animEffect>
                                  </p:childTnLst>
                                </p:cTn>
                              </p:par>
                            </p:childTnLst>
                          </p:cTn>
                        </p:par>
                        <p:par>
                          <p:cTn id="147" fill="hold" nodeType="afterGroup">
                            <p:stCondLst>
                              <p:cond delay="1000"/>
                            </p:stCondLst>
                            <p:childTnLst>
                              <p:par>
                                <p:cTn id="148" presetID="22" presetClass="entr" presetSubtype="4" fill="hold" grpId="0" nodeType="afterEffect">
                                  <p:stCondLst>
                                    <p:cond delay="0"/>
                                  </p:stCondLst>
                                  <p:childTnLst>
                                    <p:set>
                                      <p:cBhvr>
                                        <p:cTn id="149" dur="1" fill="hold">
                                          <p:stCondLst>
                                            <p:cond delay="0"/>
                                          </p:stCondLst>
                                        </p:cTn>
                                        <p:tgtEl>
                                          <p:spTgt spid="172123"/>
                                        </p:tgtEl>
                                        <p:attrNameLst>
                                          <p:attrName>style.visibility</p:attrName>
                                        </p:attrNameLst>
                                      </p:cBhvr>
                                      <p:to>
                                        <p:strVal val="visible"/>
                                      </p:to>
                                    </p:set>
                                    <p:animEffect transition="in" filter="wipe(down)">
                                      <p:cBhvr>
                                        <p:cTn id="150" dur="500"/>
                                        <p:tgtEl>
                                          <p:spTgt spid="172123"/>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12" presetClass="entr" presetSubtype="2" fill="hold" grpId="0" nodeType="clickEffect">
                                  <p:stCondLst>
                                    <p:cond delay="0"/>
                                  </p:stCondLst>
                                  <p:childTnLst>
                                    <p:set>
                                      <p:cBhvr>
                                        <p:cTn id="154" dur="1" fill="hold">
                                          <p:stCondLst>
                                            <p:cond delay="0"/>
                                          </p:stCondLst>
                                        </p:cTn>
                                        <p:tgtEl>
                                          <p:spTgt spid="172114"/>
                                        </p:tgtEl>
                                        <p:attrNameLst>
                                          <p:attrName>style.visibility</p:attrName>
                                        </p:attrNameLst>
                                      </p:cBhvr>
                                      <p:to>
                                        <p:strVal val="visible"/>
                                      </p:to>
                                    </p:set>
                                    <p:animEffect transition="in" filter="slide(fromRight)">
                                      <p:cBhvr>
                                        <p:cTn id="155" dur="500"/>
                                        <p:tgtEl>
                                          <p:spTgt spid="172114"/>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12" presetClass="entr" presetSubtype="2" fill="hold" grpId="0" nodeType="clickEffect">
                                  <p:stCondLst>
                                    <p:cond delay="0"/>
                                  </p:stCondLst>
                                  <p:childTnLst>
                                    <p:set>
                                      <p:cBhvr>
                                        <p:cTn id="159" dur="1" fill="hold">
                                          <p:stCondLst>
                                            <p:cond delay="0"/>
                                          </p:stCondLst>
                                        </p:cTn>
                                        <p:tgtEl>
                                          <p:spTgt spid="172115"/>
                                        </p:tgtEl>
                                        <p:attrNameLst>
                                          <p:attrName>style.visibility</p:attrName>
                                        </p:attrNameLst>
                                      </p:cBhvr>
                                      <p:to>
                                        <p:strVal val="visible"/>
                                      </p:to>
                                    </p:set>
                                    <p:animEffect transition="in" filter="slide(fromRight)">
                                      <p:cBhvr>
                                        <p:cTn id="160" dur="500"/>
                                        <p:tgtEl>
                                          <p:spTgt spid="172115"/>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9" presetClass="entr" presetSubtype="0" fill="hold" grpId="0" nodeType="clickEffect">
                                  <p:stCondLst>
                                    <p:cond delay="0"/>
                                  </p:stCondLst>
                                  <p:childTnLst>
                                    <p:set>
                                      <p:cBhvr>
                                        <p:cTn id="164" dur="1" fill="hold">
                                          <p:stCondLst>
                                            <p:cond delay="0"/>
                                          </p:stCondLst>
                                        </p:cTn>
                                        <p:tgtEl>
                                          <p:spTgt spid="172134"/>
                                        </p:tgtEl>
                                        <p:attrNameLst>
                                          <p:attrName>style.visibility</p:attrName>
                                        </p:attrNameLst>
                                      </p:cBhvr>
                                      <p:to>
                                        <p:strVal val="visible"/>
                                      </p:to>
                                    </p:set>
                                    <p:animEffect transition="in" filter="dissolve">
                                      <p:cBhvr>
                                        <p:cTn id="165" dur="500"/>
                                        <p:tgtEl>
                                          <p:spTgt spid="172134"/>
                                        </p:tgtEl>
                                      </p:cBhvr>
                                    </p:animEffect>
                                  </p:childTnLst>
                                </p:cTn>
                              </p:par>
                            </p:childTnLst>
                          </p:cTn>
                        </p:par>
                        <p:par>
                          <p:cTn id="166" fill="hold" nodeType="afterGroup">
                            <p:stCondLst>
                              <p:cond delay="500"/>
                            </p:stCondLst>
                            <p:childTnLst>
                              <p:par>
                                <p:cTn id="167" presetID="12" presetClass="entr" presetSubtype="2" fill="hold" grpId="0" nodeType="afterEffect">
                                  <p:stCondLst>
                                    <p:cond delay="0"/>
                                  </p:stCondLst>
                                  <p:childTnLst>
                                    <p:set>
                                      <p:cBhvr>
                                        <p:cTn id="168" dur="1" fill="hold">
                                          <p:stCondLst>
                                            <p:cond delay="0"/>
                                          </p:stCondLst>
                                        </p:cTn>
                                        <p:tgtEl>
                                          <p:spTgt spid="172112"/>
                                        </p:tgtEl>
                                        <p:attrNameLst>
                                          <p:attrName>style.visibility</p:attrName>
                                        </p:attrNameLst>
                                      </p:cBhvr>
                                      <p:to>
                                        <p:strVal val="visible"/>
                                      </p:to>
                                    </p:set>
                                    <p:animEffect transition="in" filter="slide(fromRight)">
                                      <p:cBhvr>
                                        <p:cTn id="169" dur="500"/>
                                        <p:tgtEl>
                                          <p:spTgt spid="172112"/>
                                        </p:tgtEl>
                                      </p:cBhvr>
                                    </p:animEffect>
                                  </p:childTnLst>
                                </p:cTn>
                              </p:par>
                            </p:childTnLst>
                          </p:cTn>
                        </p:par>
                        <p:par>
                          <p:cTn id="170" fill="hold" nodeType="afterGroup">
                            <p:stCondLst>
                              <p:cond delay="1000"/>
                            </p:stCondLst>
                            <p:childTnLst>
                              <p:par>
                                <p:cTn id="171" presetID="22" presetClass="entr" presetSubtype="4" fill="hold" grpId="0" nodeType="afterEffect">
                                  <p:stCondLst>
                                    <p:cond delay="0"/>
                                  </p:stCondLst>
                                  <p:childTnLst>
                                    <p:set>
                                      <p:cBhvr>
                                        <p:cTn id="172" dur="1" fill="hold">
                                          <p:stCondLst>
                                            <p:cond delay="0"/>
                                          </p:stCondLst>
                                        </p:cTn>
                                        <p:tgtEl>
                                          <p:spTgt spid="172125"/>
                                        </p:tgtEl>
                                        <p:attrNameLst>
                                          <p:attrName>style.visibility</p:attrName>
                                        </p:attrNameLst>
                                      </p:cBhvr>
                                      <p:to>
                                        <p:strVal val="visible"/>
                                      </p:to>
                                    </p:set>
                                    <p:animEffect transition="in" filter="wipe(down)">
                                      <p:cBhvr>
                                        <p:cTn id="173" dur="500"/>
                                        <p:tgtEl>
                                          <p:spTgt spid="172125"/>
                                        </p:tgtEl>
                                      </p:cBhvr>
                                    </p:animEffect>
                                  </p:childTnLst>
                                </p:cTn>
                              </p:par>
                            </p:childTnLst>
                          </p:cTn>
                        </p:par>
                      </p:childTnLst>
                    </p:cTn>
                  </p:par>
                  <p:par>
                    <p:cTn id="174" fill="hold" nodeType="clickPar">
                      <p:stCondLst>
                        <p:cond delay="indefinite"/>
                      </p:stCondLst>
                      <p:childTnLst>
                        <p:par>
                          <p:cTn id="175" fill="hold" nodeType="withGroup">
                            <p:stCondLst>
                              <p:cond delay="0"/>
                            </p:stCondLst>
                            <p:childTnLst>
                              <p:par>
                                <p:cTn id="176" presetID="9" presetClass="entr" presetSubtype="0" fill="hold" grpId="0" nodeType="clickEffect">
                                  <p:stCondLst>
                                    <p:cond delay="0"/>
                                  </p:stCondLst>
                                  <p:childTnLst>
                                    <p:set>
                                      <p:cBhvr>
                                        <p:cTn id="177" dur="1" fill="hold">
                                          <p:stCondLst>
                                            <p:cond delay="0"/>
                                          </p:stCondLst>
                                        </p:cTn>
                                        <p:tgtEl>
                                          <p:spTgt spid="172135"/>
                                        </p:tgtEl>
                                        <p:attrNameLst>
                                          <p:attrName>style.visibility</p:attrName>
                                        </p:attrNameLst>
                                      </p:cBhvr>
                                      <p:to>
                                        <p:strVal val="visible"/>
                                      </p:to>
                                    </p:set>
                                    <p:animEffect transition="in" filter="dissolve">
                                      <p:cBhvr>
                                        <p:cTn id="178" dur="500"/>
                                        <p:tgtEl>
                                          <p:spTgt spid="172135"/>
                                        </p:tgtEl>
                                      </p:cBhvr>
                                    </p:animEffect>
                                  </p:childTnLst>
                                </p:cTn>
                              </p:par>
                            </p:childTnLst>
                          </p:cTn>
                        </p:par>
                        <p:par>
                          <p:cTn id="179" fill="hold" nodeType="afterGroup">
                            <p:stCondLst>
                              <p:cond delay="500"/>
                            </p:stCondLst>
                            <p:childTnLst>
                              <p:par>
                                <p:cTn id="180" presetID="12" presetClass="entr" presetSubtype="2" fill="hold" grpId="0" nodeType="afterEffect">
                                  <p:stCondLst>
                                    <p:cond delay="0"/>
                                  </p:stCondLst>
                                  <p:childTnLst>
                                    <p:set>
                                      <p:cBhvr>
                                        <p:cTn id="181" dur="1" fill="hold">
                                          <p:stCondLst>
                                            <p:cond delay="0"/>
                                          </p:stCondLst>
                                        </p:cTn>
                                        <p:tgtEl>
                                          <p:spTgt spid="172117"/>
                                        </p:tgtEl>
                                        <p:attrNameLst>
                                          <p:attrName>style.visibility</p:attrName>
                                        </p:attrNameLst>
                                      </p:cBhvr>
                                      <p:to>
                                        <p:strVal val="visible"/>
                                      </p:to>
                                    </p:set>
                                    <p:animEffect transition="in" filter="slide(fromRight)">
                                      <p:cBhvr>
                                        <p:cTn id="182" dur="500"/>
                                        <p:tgtEl>
                                          <p:spTgt spid="172117"/>
                                        </p:tgtEl>
                                      </p:cBhvr>
                                    </p:animEffect>
                                  </p:childTnLst>
                                </p:cTn>
                              </p:par>
                            </p:childTnLst>
                          </p:cTn>
                        </p:par>
                        <p:par>
                          <p:cTn id="183" fill="hold" nodeType="afterGroup">
                            <p:stCondLst>
                              <p:cond delay="1000"/>
                            </p:stCondLst>
                            <p:childTnLst>
                              <p:par>
                                <p:cTn id="184" presetID="22" presetClass="entr" presetSubtype="4" fill="hold" grpId="0" nodeType="afterEffect">
                                  <p:stCondLst>
                                    <p:cond delay="0"/>
                                  </p:stCondLst>
                                  <p:childTnLst>
                                    <p:set>
                                      <p:cBhvr>
                                        <p:cTn id="185" dur="1" fill="hold">
                                          <p:stCondLst>
                                            <p:cond delay="0"/>
                                          </p:stCondLst>
                                        </p:cTn>
                                        <p:tgtEl>
                                          <p:spTgt spid="172124"/>
                                        </p:tgtEl>
                                        <p:attrNameLst>
                                          <p:attrName>style.visibility</p:attrName>
                                        </p:attrNameLst>
                                      </p:cBhvr>
                                      <p:to>
                                        <p:strVal val="visible"/>
                                      </p:to>
                                    </p:set>
                                    <p:animEffect transition="in" filter="wipe(down)">
                                      <p:cBhvr>
                                        <p:cTn id="186" dur="500"/>
                                        <p:tgtEl>
                                          <p:spTgt spid="172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animBg="1" autoUpdateAnimBg="0"/>
      <p:bldP spid="172086" grpId="0" animBg="1" autoUpdateAnimBg="0"/>
      <p:bldP spid="172091" grpId="0" animBg="1" autoUpdateAnimBg="0"/>
      <p:bldP spid="172097" grpId="0" animBg="1" autoUpdateAnimBg="0"/>
      <p:bldP spid="172098" grpId="0" animBg="1" autoUpdateAnimBg="0"/>
      <p:bldP spid="172099" grpId="0" animBg="1" autoUpdateAnimBg="0"/>
      <p:bldP spid="172100" grpId="0" animBg="1" autoUpdateAnimBg="0"/>
      <p:bldP spid="172101" grpId="0" animBg="1" autoUpdateAnimBg="0"/>
      <p:bldP spid="172102" grpId="0" animBg="1" autoUpdateAnimBg="0"/>
      <p:bldP spid="172103" grpId="0" animBg="1" autoUpdateAnimBg="0"/>
      <p:bldP spid="172104" grpId="0" animBg="1" autoUpdateAnimBg="0"/>
      <p:bldP spid="172105" grpId="0" animBg="1" autoUpdateAnimBg="0"/>
      <p:bldP spid="172106" grpId="0" animBg="1" autoUpdateAnimBg="0"/>
      <p:bldP spid="172107" grpId="0" animBg="1" autoUpdateAnimBg="0"/>
      <p:bldP spid="172108" grpId="0" animBg="1" autoUpdateAnimBg="0"/>
      <p:bldP spid="172109" grpId="0" animBg="1" autoUpdateAnimBg="0"/>
      <p:bldP spid="172110" grpId="0" animBg="1" autoUpdateAnimBg="0"/>
      <p:bldP spid="172111" grpId="0" animBg="1" autoUpdateAnimBg="0"/>
      <p:bldP spid="172114" grpId="0" animBg="1" autoUpdateAnimBg="0"/>
      <p:bldP spid="172115" grpId="0" animBg="1" autoUpdateAnimBg="0"/>
      <p:bldP spid="172112" grpId="0" animBg="1" autoUpdateAnimBg="0"/>
      <p:bldP spid="172117" grpId="0" animBg="1" autoUpdateAnimBg="0"/>
      <p:bldP spid="172119" grpId="0" animBg="1"/>
      <p:bldP spid="172120" grpId="0" animBg="1"/>
      <p:bldP spid="172121" grpId="0" animBg="1"/>
      <p:bldP spid="172122" grpId="0" animBg="1"/>
      <p:bldP spid="172123" grpId="0" animBg="1"/>
      <p:bldP spid="172124" grpId="0" animBg="1"/>
      <p:bldP spid="172125" grpId="0" animBg="1"/>
      <p:bldP spid="172126" grpId="0" animBg="1"/>
      <p:bldP spid="172127" grpId="0" animBg="1" autoUpdateAnimBg="0"/>
      <p:bldP spid="172128" grpId="0" animBg="1" autoUpdateAnimBg="0"/>
      <p:bldP spid="172129" grpId="0" animBg="1" autoUpdateAnimBg="0"/>
      <p:bldP spid="172130" grpId="0" animBg="1" autoUpdateAnimBg="0"/>
      <p:bldP spid="172131" grpId="0" animBg="1" autoUpdateAnimBg="0"/>
      <p:bldP spid="172132" grpId="0" animBg="1" autoUpdateAnimBg="0"/>
      <p:bldP spid="172133" grpId="0" animBg="1" autoUpdateAnimBg="0"/>
      <p:bldP spid="172134" grpId="0" animBg="1" autoUpdateAnimBg="0"/>
      <p:bldP spid="172135" grpId="0" animBg="1"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rgbClr val="FF0000"/>
                </a:solidFill>
                <a:latin typeface="Arial Rounded MT Bold" pitchFamily="34" charset="0"/>
              </a:rPr>
              <a:t>MST</a:t>
            </a:r>
            <a:r>
              <a:rPr lang="en-US" sz="2800" dirty="0" smtClean="0">
                <a:solidFill>
                  <a:schemeClr val="tx1"/>
                </a:solidFill>
                <a:latin typeface="Arial Rounded MT Bold" pitchFamily="34" charset="0"/>
              </a:rPr>
              <a:t>   Verification</a:t>
            </a:r>
            <a:endParaRPr lang="en-US" sz="2800" dirty="0" smtClean="0">
              <a:solidFill>
                <a:srgbClr val="CC0000"/>
              </a:solidFill>
              <a:latin typeface="Arial Rounded MT Bold" pitchFamily="34" charset="0"/>
            </a:endParaRPr>
          </a:p>
        </p:txBody>
      </p:sp>
      <p:sp>
        <p:nvSpPr>
          <p:cNvPr id="161795" name="Text Box 3"/>
          <p:cNvSpPr txBox="1">
            <a:spLocks noChangeArrowheads="1"/>
          </p:cNvSpPr>
          <p:nvPr/>
        </p:nvSpPr>
        <p:spPr bwMode="auto">
          <a:xfrm>
            <a:off x="152400" y="1066800"/>
            <a:ext cx="8839200" cy="17589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8913" indent="-188913" defTabSz="1235075">
              <a:defRPr sz="1600">
                <a:solidFill>
                  <a:schemeClr val="tx1"/>
                </a:solidFill>
                <a:latin typeface="Times New Roman" pitchFamily="18" charset="0"/>
              </a:defRPr>
            </a:lvl1pPr>
            <a:lvl2pPr marL="742950" indent="-285750" defTabSz="1235075">
              <a:defRPr sz="1600">
                <a:solidFill>
                  <a:schemeClr val="tx1"/>
                </a:solidFill>
                <a:latin typeface="Times New Roman" pitchFamily="18" charset="0"/>
              </a:defRPr>
            </a:lvl2pPr>
            <a:lvl3pPr marL="1143000" indent="-228600" defTabSz="1235075">
              <a:defRPr sz="1600">
                <a:solidFill>
                  <a:schemeClr val="tx1"/>
                </a:solidFill>
                <a:latin typeface="Times New Roman" pitchFamily="18" charset="0"/>
              </a:defRPr>
            </a:lvl3pPr>
            <a:lvl4pPr marL="1600200" indent="-228600" defTabSz="1235075">
              <a:defRPr sz="1600">
                <a:solidFill>
                  <a:schemeClr val="tx1"/>
                </a:solidFill>
                <a:latin typeface="Times New Roman" pitchFamily="18" charset="0"/>
              </a:defRPr>
            </a:lvl4pPr>
            <a:lvl5pPr marL="2057400" indent="-228600" defTabSz="1235075">
              <a:defRPr sz="1600">
                <a:solidFill>
                  <a:schemeClr val="tx1"/>
                </a:solidFill>
                <a:latin typeface="Times New Roman" pitchFamily="18" charset="0"/>
              </a:defRPr>
            </a:lvl5pPr>
            <a:lvl6pPr marL="2514600" indent="-228600" defTabSz="1235075" eaLnBrk="0" fontAlgn="base" hangingPunct="0">
              <a:spcBef>
                <a:spcPct val="0"/>
              </a:spcBef>
              <a:spcAft>
                <a:spcPct val="0"/>
              </a:spcAft>
              <a:buChar char="•"/>
              <a:defRPr sz="1600">
                <a:solidFill>
                  <a:schemeClr val="tx1"/>
                </a:solidFill>
                <a:latin typeface="Times New Roman" pitchFamily="18" charset="0"/>
              </a:defRPr>
            </a:lvl6pPr>
            <a:lvl7pPr marL="2971800" indent="-228600" defTabSz="1235075" eaLnBrk="0" fontAlgn="base" hangingPunct="0">
              <a:spcBef>
                <a:spcPct val="0"/>
              </a:spcBef>
              <a:spcAft>
                <a:spcPct val="0"/>
              </a:spcAft>
              <a:buChar char="•"/>
              <a:defRPr sz="1600">
                <a:solidFill>
                  <a:schemeClr val="tx1"/>
                </a:solidFill>
                <a:latin typeface="Times New Roman" pitchFamily="18" charset="0"/>
              </a:defRPr>
            </a:lvl7pPr>
            <a:lvl8pPr marL="3429000" indent="-228600" defTabSz="1235075" eaLnBrk="0" fontAlgn="base" hangingPunct="0">
              <a:spcBef>
                <a:spcPct val="0"/>
              </a:spcBef>
              <a:spcAft>
                <a:spcPct val="0"/>
              </a:spcAft>
              <a:buChar char="•"/>
              <a:defRPr sz="1600">
                <a:solidFill>
                  <a:schemeClr val="tx1"/>
                </a:solidFill>
                <a:latin typeface="Times New Roman" pitchFamily="18" charset="0"/>
              </a:defRPr>
            </a:lvl8pPr>
            <a:lvl9pPr marL="3886200" indent="-228600" defTabSz="1235075"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05000"/>
              </a:lnSpc>
              <a:buFont typeface="Wingdings" pitchFamily="2" charset="2"/>
              <a:buNone/>
            </a:pPr>
            <a:r>
              <a:rPr lang="en-US" sz="2400" b="1">
                <a:solidFill>
                  <a:srgbClr val="CC0000"/>
                </a:solidFill>
                <a:latin typeface="Arial" pitchFamily="34" charset="0"/>
              </a:rPr>
              <a:t>FACT:</a:t>
            </a:r>
            <a:r>
              <a:rPr lang="en-US" sz="2000">
                <a:solidFill>
                  <a:schemeClr val="hlink"/>
                </a:solidFill>
                <a:latin typeface="Arial" pitchFamily="34" charset="0"/>
              </a:rPr>
              <a:t>     Let T be a spanning tree of G = (V,E,w).</a:t>
            </a:r>
            <a:br>
              <a:rPr lang="en-US" sz="2000">
                <a:solidFill>
                  <a:schemeClr val="hlink"/>
                </a:solidFill>
                <a:latin typeface="Arial" pitchFamily="34" charset="0"/>
              </a:rPr>
            </a:br>
            <a:r>
              <a:rPr lang="en-US" sz="2000">
                <a:solidFill>
                  <a:schemeClr val="hlink"/>
                </a:solidFill>
                <a:latin typeface="Arial" pitchFamily="34" charset="0"/>
              </a:rPr>
              <a:t>	T is an MST of G </a:t>
            </a:r>
            <a:r>
              <a:rPr lang="en-US" sz="2000">
                <a:solidFill>
                  <a:srgbClr val="CC0000"/>
                </a:solidFill>
                <a:latin typeface="Arial" pitchFamily="34" charset="0"/>
              </a:rPr>
              <a:t>if and only if</a:t>
            </a:r>
            <a:r>
              <a:rPr lang="en-US" sz="2000">
                <a:solidFill>
                  <a:schemeClr val="hlink"/>
                </a:solidFill>
                <a:latin typeface="Arial" pitchFamily="34" charset="0"/>
              </a:rPr>
              <a:t> </a:t>
            </a:r>
            <a:br>
              <a:rPr lang="en-US" sz="2000">
                <a:solidFill>
                  <a:schemeClr val="hlink"/>
                </a:solidFill>
                <a:latin typeface="Arial" pitchFamily="34" charset="0"/>
              </a:rPr>
            </a:br>
            <a:r>
              <a:rPr lang="en-US" sz="2000">
                <a:solidFill>
                  <a:schemeClr val="hlink"/>
                </a:solidFill>
                <a:latin typeface="Arial" pitchFamily="34" charset="0"/>
              </a:rPr>
              <a:t>	for every edge (u,v) </a:t>
            </a:r>
            <a:r>
              <a:rPr lang="en-US" sz="2000">
                <a:solidFill>
                  <a:schemeClr val="hlink"/>
                </a:solidFill>
                <a:latin typeface="Arial" pitchFamily="34" charset="0"/>
                <a:sym typeface="Symbol" pitchFamily="18" charset="2"/>
              </a:rPr>
              <a:t> </a:t>
            </a:r>
            <a:r>
              <a:rPr lang="en-US" sz="2000">
                <a:solidFill>
                  <a:schemeClr val="hlink"/>
                </a:solidFill>
                <a:latin typeface="Arial" pitchFamily="34" charset="0"/>
              </a:rPr>
              <a:t>E – T, </a:t>
            </a:r>
            <a:br>
              <a:rPr lang="en-US" sz="2000">
                <a:solidFill>
                  <a:schemeClr val="hlink"/>
                </a:solidFill>
                <a:latin typeface="Arial" pitchFamily="34" charset="0"/>
              </a:rPr>
            </a:br>
            <a:r>
              <a:rPr lang="en-US" sz="2000">
                <a:solidFill>
                  <a:schemeClr val="hlink"/>
                </a:solidFill>
                <a:latin typeface="Arial" pitchFamily="34" charset="0"/>
              </a:rPr>
              <a:t>		w(u,v)   </a:t>
            </a:r>
            <a:r>
              <a:rPr lang="en-US" sz="2000">
                <a:solidFill>
                  <a:schemeClr val="hlink"/>
                </a:solidFill>
                <a:latin typeface="Arial" pitchFamily="34" charset="0"/>
                <a:sym typeface="Symbol" pitchFamily="18" charset="2"/>
              </a:rPr>
              <a:t>   weight of every edge along the unique</a:t>
            </a:r>
            <a:br>
              <a:rPr lang="en-US" sz="2000">
                <a:solidFill>
                  <a:schemeClr val="hlink"/>
                </a:solidFill>
                <a:latin typeface="Arial" pitchFamily="34" charset="0"/>
                <a:sym typeface="Symbol" pitchFamily="18" charset="2"/>
              </a:rPr>
            </a:br>
            <a:r>
              <a:rPr lang="en-US" sz="2000">
                <a:solidFill>
                  <a:schemeClr val="hlink"/>
                </a:solidFill>
                <a:latin typeface="Arial" pitchFamily="34" charset="0"/>
                <a:sym typeface="Symbol" pitchFamily="18" charset="2"/>
              </a:rPr>
              <a:t>		 	simple path in T between u &amp; v.</a:t>
            </a:r>
          </a:p>
        </p:txBody>
      </p:sp>
      <p:grpSp>
        <p:nvGrpSpPr>
          <p:cNvPr id="161805" name="Group 13"/>
          <p:cNvGrpSpPr>
            <a:grpSpLocks/>
          </p:cNvGrpSpPr>
          <p:nvPr/>
        </p:nvGrpSpPr>
        <p:grpSpPr bwMode="auto">
          <a:xfrm>
            <a:off x="2057400" y="3276600"/>
            <a:ext cx="4419600" cy="2743200"/>
            <a:chOff x="1296" y="2064"/>
            <a:chExt cx="2784" cy="1728"/>
          </a:xfrm>
        </p:grpSpPr>
        <p:sp>
          <p:nvSpPr>
            <p:cNvPr id="92165" name="AutoShape 5"/>
            <p:cNvSpPr>
              <a:spLocks noChangeArrowheads="1"/>
            </p:cNvSpPr>
            <p:nvPr/>
          </p:nvSpPr>
          <p:spPr bwMode="auto">
            <a:xfrm>
              <a:off x="1296" y="2064"/>
              <a:ext cx="2784" cy="1728"/>
            </a:xfrm>
            <a:prstGeom prst="triangle">
              <a:avLst>
                <a:gd name="adj" fmla="val 50000"/>
              </a:avLst>
            </a:prstGeom>
            <a:solidFill>
              <a:schemeClr val="bg1"/>
            </a:solidFill>
            <a:ln w="190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92166" name="Freeform 6"/>
            <p:cNvSpPr>
              <a:spLocks/>
            </p:cNvSpPr>
            <p:nvPr/>
          </p:nvSpPr>
          <p:spPr bwMode="auto">
            <a:xfrm>
              <a:off x="2240" y="2701"/>
              <a:ext cx="420" cy="814"/>
            </a:xfrm>
            <a:custGeom>
              <a:avLst/>
              <a:gdLst>
                <a:gd name="T0" fmla="*/ 420 w 193"/>
                <a:gd name="T1" fmla="*/ 0 h 430"/>
                <a:gd name="T2" fmla="*/ 268 w 193"/>
                <a:gd name="T3" fmla="*/ 97 h 430"/>
                <a:gd name="T4" fmla="*/ 355 w 193"/>
                <a:gd name="T5" fmla="*/ 248 h 430"/>
                <a:gd name="T6" fmla="*/ 196 w 193"/>
                <a:gd name="T7" fmla="*/ 286 h 430"/>
                <a:gd name="T8" fmla="*/ 255 w 193"/>
                <a:gd name="T9" fmla="*/ 435 h 430"/>
                <a:gd name="T10" fmla="*/ 111 w 193"/>
                <a:gd name="T11" fmla="*/ 435 h 430"/>
                <a:gd name="T12" fmla="*/ 168 w 193"/>
                <a:gd name="T13" fmla="*/ 587 h 430"/>
                <a:gd name="T14" fmla="*/ 9 w 193"/>
                <a:gd name="T15" fmla="*/ 598 h 430"/>
                <a:gd name="T16" fmla="*/ 111 w 193"/>
                <a:gd name="T17" fmla="*/ 723 h 430"/>
                <a:gd name="T18" fmla="*/ 2 w 193"/>
                <a:gd name="T19" fmla="*/ 814 h 4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3" h="430">
                  <a:moveTo>
                    <a:pt x="193" y="0"/>
                  </a:moveTo>
                  <a:cubicBezTo>
                    <a:pt x="181" y="9"/>
                    <a:pt x="128" y="29"/>
                    <a:pt x="123" y="51"/>
                  </a:cubicBezTo>
                  <a:cubicBezTo>
                    <a:pt x="118" y="73"/>
                    <a:pt x="168" y="114"/>
                    <a:pt x="163" y="131"/>
                  </a:cubicBezTo>
                  <a:cubicBezTo>
                    <a:pt x="158" y="148"/>
                    <a:pt x="98" y="135"/>
                    <a:pt x="90" y="151"/>
                  </a:cubicBezTo>
                  <a:cubicBezTo>
                    <a:pt x="82" y="167"/>
                    <a:pt x="123" y="217"/>
                    <a:pt x="117" y="230"/>
                  </a:cubicBezTo>
                  <a:cubicBezTo>
                    <a:pt x="111" y="243"/>
                    <a:pt x="58" y="217"/>
                    <a:pt x="51" y="230"/>
                  </a:cubicBezTo>
                  <a:cubicBezTo>
                    <a:pt x="44" y="243"/>
                    <a:pt x="85" y="296"/>
                    <a:pt x="77" y="310"/>
                  </a:cubicBezTo>
                  <a:cubicBezTo>
                    <a:pt x="69" y="324"/>
                    <a:pt x="8" y="304"/>
                    <a:pt x="4" y="316"/>
                  </a:cubicBezTo>
                  <a:cubicBezTo>
                    <a:pt x="0" y="328"/>
                    <a:pt x="51" y="363"/>
                    <a:pt x="51" y="382"/>
                  </a:cubicBezTo>
                  <a:cubicBezTo>
                    <a:pt x="51" y="401"/>
                    <a:pt x="12" y="420"/>
                    <a:pt x="1" y="430"/>
                  </a:cubicBezTo>
                </a:path>
              </a:pathLst>
            </a:custGeom>
            <a:noFill/>
            <a:ln w="12700" cap="flat" cmpd="sng">
              <a:solidFill>
                <a:schemeClr val="tx1"/>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2167" name="Freeform 7"/>
            <p:cNvSpPr>
              <a:spLocks/>
            </p:cNvSpPr>
            <p:nvPr/>
          </p:nvSpPr>
          <p:spPr bwMode="auto">
            <a:xfrm>
              <a:off x="2660" y="2701"/>
              <a:ext cx="485" cy="818"/>
            </a:xfrm>
            <a:custGeom>
              <a:avLst/>
              <a:gdLst>
                <a:gd name="T0" fmla="*/ 0 w 223"/>
                <a:gd name="T1" fmla="*/ 0 h 432"/>
                <a:gd name="T2" fmla="*/ 152 w 223"/>
                <a:gd name="T3" fmla="*/ 110 h 432"/>
                <a:gd name="T4" fmla="*/ 94 w 223"/>
                <a:gd name="T5" fmla="*/ 248 h 432"/>
                <a:gd name="T6" fmla="*/ 237 w 223"/>
                <a:gd name="T7" fmla="*/ 311 h 432"/>
                <a:gd name="T8" fmla="*/ 194 w 223"/>
                <a:gd name="T9" fmla="*/ 449 h 432"/>
                <a:gd name="T10" fmla="*/ 352 w 223"/>
                <a:gd name="T11" fmla="*/ 511 h 432"/>
                <a:gd name="T12" fmla="*/ 309 w 223"/>
                <a:gd name="T13" fmla="*/ 623 h 432"/>
                <a:gd name="T14" fmla="*/ 468 w 223"/>
                <a:gd name="T15" fmla="*/ 674 h 432"/>
                <a:gd name="T16" fmla="*/ 418 w 223"/>
                <a:gd name="T17" fmla="*/ 818 h 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3" h="432">
                  <a:moveTo>
                    <a:pt x="0" y="0"/>
                  </a:moveTo>
                  <a:cubicBezTo>
                    <a:pt x="12" y="10"/>
                    <a:pt x="63" y="36"/>
                    <a:pt x="70" y="58"/>
                  </a:cubicBezTo>
                  <a:cubicBezTo>
                    <a:pt x="77" y="80"/>
                    <a:pt x="37" y="114"/>
                    <a:pt x="43" y="131"/>
                  </a:cubicBezTo>
                  <a:cubicBezTo>
                    <a:pt x="49" y="148"/>
                    <a:pt x="101" y="146"/>
                    <a:pt x="109" y="164"/>
                  </a:cubicBezTo>
                  <a:cubicBezTo>
                    <a:pt x="117" y="182"/>
                    <a:pt x="80" y="219"/>
                    <a:pt x="89" y="237"/>
                  </a:cubicBezTo>
                  <a:cubicBezTo>
                    <a:pt x="98" y="255"/>
                    <a:pt x="153" y="255"/>
                    <a:pt x="162" y="270"/>
                  </a:cubicBezTo>
                  <a:cubicBezTo>
                    <a:pt x="171" y="285"/>
                    <a:pt x="133" y="315"/>
                    <a:pt x="142" y="329"/>
                  </a:cubicBezTo>
                  <a:cubicBezTo>
                    <a:pt x="151" y="343"/>
                    <a:pt x="207" y="339"/>
                    <a:pt x="215" y="356"/>
                  </a:cubicBezTo>
                  <a:cubicBezTo>
                    <a:pt x="223" y="373"/>
                    <a:pt x="197" y="416"/>
                    <a:pt x="192" y="432"/>
                  </a:cubicBezTo>
                </a:path>
              </a:pathLst>
            </a:custGeom>
            <a:noFill/>
            <a:ln w="12700" cap="flat" cmpd="sng">
              <a:solidFill>
                <a:schemeClr val="tx1"/>
              </a:solidFill>
              <a:prstDash val="solid"/>
              <a:round/>
              <a:headEnd type="none"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2168" name="Freeform 8"/>
            <p:cNvSpPr>
              <a:spLocks/>
            </p:cNvSpPr>
            <p:nvPr/>
          </p:nvSpPr>
          <p:spPr bwMode="auto">
            <a:xfrm>
              <a:off x="2242" y="3519"/>
              <a:ext cx="836" cy="95"/>
            </a:xfrm>
            <a:custGeom>
              <a:avLst/>
              <a:gdLst>
                <a:gd name="T0" fmla="*/ 0 w 384"/>
                <a:gd name="T1" fmla="*/ 0 h 50"/>
                <a:gd name="T2" fmla="*/ 396 w 384"/>
                <a:gd name="T3" fmla="*/ 95 h 50"/>
                <a:gd name="T4" fmla="*/ 836 w 384"/>
                <a:gd name="T5" fmla="*/ 2 h 50"/>
                <a:gd name="T6" fmla="*/ 0 60000 65536"/>
                <a:gd name="T7" fmla="*/ 0 60000 65536"/>
                <a:gd name="T8" fmla="*/ 0 60000 65536"/>
              </a:gdLst>
              <a:ahLst/>
              <a:cxnLst>
                <a:cxn ang="T6">
                  <a:pos x="T0" y="T1"/>
                </a:cxn>
                <a:cxn ang="T7">
                  <a:pos x="T2" y="T3"/>
                </a:cxn>
                <a:cxn ang="T8">
                  <a:pos x="T4" y="T5"/>
                </a:cxn>
              </a:cxnLst>
              <a:rect l="0" t="0" r="r" b="b"/>
              <a:pathLst>
                <a:path w="384" h="50">
                  <a:moveTo>
                    <a:pt x="0" y="0"/>
                  </a:moveTo>
                  <a:lnTo>
                    <a:pt x="182" y="50"/>
                  </a:lnTo>
                  <a:cubicBezTo>
                    <a:pt x="246" y="50"/>
                    <a:pt x="342" y="11"/>
                    <a:pt x="384" y="1"/>
                  </a:cubicBezTo>
                </a:path>
              </a:pathLst>
            </a:custGeom>
            <a:noFill/>
            <a:ln w="12700" cap="flat"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92169" name="Text Box 9"/>
            <p:cNvSpPr txBox="1">
              <a:spLocks noChangeArrowheads="1"/>
            </p:cNvSpPr>
            <p:nvPr/>
          </p:nvSpPr>
          <p:spPr bwMode="auto">
            <a:xfrm>
              <a:off x="2025" y="3398"/>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u</a:t>
              </a:r>
            </a:p>
          </p:txBody>
        </p:sp>
        <p:sp>
          <p:nvSpPr>
            <p:cNvPr id="92170" name="Text Box 10"/>
            <p:cNvSpPr txBox="1">
              <a:spLocks noChangeArrowheads="1"/>
            </p:cNvSpPr>
            <p:nvPr/>
          </p:nvSpPr>
          <p:spPr bwMode="auto">
            <a:xfrm>
              <a:off x="3174" y="330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v</a:t>
              </a:r>
            </a:p>
          </p:txBody>
        </p:sp>
        <p:sp>
          <p:nvSpPr>
            <p:cNvPr id="92171" name="Rectangle 11"/>
            <p:cNvSpPr>
              <a:spLocks noChangeArrowheads="1"/>
            </p:cNvSpPr>
            <p:nvPr/>
          </p:nvSpPr>
          <p:spPr bwMode="auto">
            <a:xfrm>
              <a:off x="2386" y="2466"/>
              <a:ext cx="7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solidFill>
                    <a:schemeClr val="tx2"/>
                  </a:solidFill>
                </a:rPr>
                <a:t>LCA(u,v)</a:t>
              </a:r>
            </a:p>
          </p:txBody>
        </p:sp>
        <p:sp>
          <p:nvSpPr>
            <p:cNvPr id="92172" name="Rectangle 12"/>
            <p:cNvSpPr>
              <a:spLocks noChangeArrowheads="1"/>
            </p:cNvSpPr>
            <p:nvPr/>
          </p:nvSpPr>
          <p:spPr bwMode="auto">
            <a:xfrm>
              <a:off x="1954" y="2274"/>
              <a:ext cx="25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solidFill>
                    <a:schemeClr val="tx2"/>
                  </a:solidFill>
                </a:rPr>
                <a:t>T:</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89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61794"/>
                                        </p:tgtEl>
                                        <p:attrNameLst>
                                          <p:attrName>style.visibility</p:attrName>
                                        </p:attrNameLst>
                                      </p:cBhvr>
                                      <p:to>
                                        <p:strVal val="visible"/>
                                      </p:to>
                                    </p:set>
                                    <p:anim calcmode="lin" valueType="num">
                                      <p:cBhvr>
                                        <p:cTn id="7" dur="500" fill="hold"/>
                                        <p:tgtEl>
                                          <p:spTgt spid="161794"/>
                                        </p:tgtEl>
                                        <p:attrNameLst>
                                          <p:attrName>ppt_w</p:attrName>
                                        </p:attrNameLst>
                                      </p:cBhvr>
                                      <p:tavLst>
                                        <p:tav tm="0">
                                          <p:val>
                                            <p:fltVal val="0"/>
                                          </p:val>
                                        </p:tav>
                                        <p:tav tm="100000">
                                          <p:val>
                                            <p:strVal val="#ppt_w"/>
                                          </p:val>
                                        </p:tav>
                                      </p:tavLst>
                                    </p:anim>
                                    <p:anim calcmode="lin" valueType="num">
                                      <p:cBhvr>
                                        <p:cTn id="8" dur="500" fill="hold"/>
                                        <p:tgtEl>
                                          <p:spTgt spid="16179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61795">
                                            <p:txEl>
                                              <p:pRg st="0" end="0"/>
                                            </p:txEl>
                                          </p:spTgt>
                                        </p:tgtEl>
                                        <p:attrNameLst>
                                          <p:attrName>style.visibility</p:attrName>
                                        </p:attrNameLst>
                                      </p:cBhvr>
                                      <p:to>
                                        <p:strVal val="visible"/>
                                      </p:to>
                                    </p:set>
                                    <p:animEffect transition="in" filter="wipe(left)">
                                      <p:cBhvr>
                                        <p:cTn id="13" dur="500"/>
                                        <p:tgtEl>
                                          <p:spTgt spid="161795">
                                            <p:txEl>
                                              <p:pRg st="0" end="0"/>
                                            </p:txEl>
                                          </p:spTgt>
                                        </p:tgtEl>
                                      </p:cBhvr>
                                    </p:animEffect>
                                  </p:childTnLst>
                                </p:cTn>
                              </p:par>
                            </p:childTnLst>
                          </p:cTn>
                        </p:par>
                        <p:par>
                          <p:cTn id="14" fill="hold" nodeType="afterGroup">
                            <p:stCondLst>
                              <p:cond delay="500"/>
                            </p:stCondLst>
                            <p:childTnLst>
                              <p:par>
                                <p:cTn id="15" presetID="22" presetClass="entr" presetSubtype="1" fill="hold" nodeType="afterEffect">
                                  <p:stCondLst>
                                    <p:cond delay="1000"/>
                                  </p:stCondLst>
                                  <p:childTnLst>
                                    <p:set>
                                      <p:cBhvr>
                                        <p:cTn id="16" dur="1" fill="hold">
                                          <p:stCondLst>
                                            <p:cond delay="0"/>
                                          </p:stCondLst>
                                        </p:cTn>
                                        <p:tgtEl>
                                          <p:spTgt spid="161805"/>
                                        </p:tgtEl>
                                        <p:attrNameLst>
                                          <p:attrName>style.visibility</p:attrName>
                                        </p:attrNameLst>
                                      </p:cBhvr>
                                      <p:to>
                                        <p:strVal val="visible"/>
                                      </p:to>
                                    </p:set>
                                    <p:animEffect transition="in" filter="wipe(up)">
                                      <p:cBhvr>
                                        <p:cTn id="17" dur="500"/>
                                        <p:tgtEl>
                                          <p:spTgt spid="1618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animBg="1" autoUpdateAnimBg="0"/>
      <p:bldP spid="161795" grpId="0" build="p"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152400" y="152400"/>
            <a:ext cx="8839200" cy="4572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Bibliography:  </a:t>
            </a:r>
            <a:r>
              <a:rPr lang="en-US" sz="2800" dirty="0" smtClean="0">
                <a:solidFill>
                  <a:srgbClr val="FF0000"/>
                </a:solidFill>
                <a:latin typeface="Arial Rounded MT Bold" pitchFamily="34" charset="0"/>
              </a:rPr>
              <a:t>MST</a:t>
            </a:r>
            <a:r>
              <a:rPr lang="en-US" sz="2800" dirty="0" smtClean="0">
                <a:solidFill>
                  <a:schemeClr val="tx1"/>
                </a:solidFill>
                <a:latin typeface="Arial Rounded MT Bold" pitchFamily="34" charset="0"/>
              </a:rPr>
              <a:t> </a:t>
            </a:r>
          </a:p>
        </p:txBody>
      </p:sp>
      <p:sp>
        <p:nvSpPr>
          <p:cNvPr id="149507" name="Text Box 3"/>
          <p:cNvSpPr txBox="1">
            <a:spLocks noChangeArrowheads="1"/>
          </p:cNvSpPr>
          <p:nvPr/>
        </p:nvSpPr>
        <p:spPr bwMode="auto">
          <a:xfrm>
            <a:off x="152400" y="762000"/>
            <a:ext cx="8839200" cy="1857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2575" indent="-282575" defTabSz="1038225">
              <a:defRPr sz="1600">
                <a:solidFill>
                  <a:schemeClr val="tx1"/>
                </a:solidFill>
                <a:latin typeface="Times New Roman" pitchFamily="18" charset="0"/>
              </a:defRPr>
            </a:lvl1pPr>
            <a:lvl2pPr marL="742950" indent="-285750" defTabSz="1038225">
              <a:defRPr sz="1600">
                <a:solidFill>
                  <a:schemeClr val="tx1"/>
                </a:solidFill>
                <a:latin typeface="Times New Roman" pitchFamily="18" charset="0"/>
              </a:defRPr>
            </a:lvl2pPr>
            <a:lvl3pPr marL="1143000" indent="-228600" defTabSz="1038225">
              <a:defRPr sz="1600">
                <a:solidFill>
                  <a:schemeClr val="tx1"/>
                </a:solidFill>
                <a:latin typeface="Times New Roman" pitchFamily="18" charset="0"/>
              </a:defRPr>
            </a:lvl3pPr>
            <a:lvl4pPr marL="1600200" indent="-228600" defTabSz="1038225">
              <a:defRPr sz="1600">
                <a:solidFill>
                  <a:schemeClr val="tx1"/>
                </a:solidFill>
                <a:latin typeface="Times New Roman" pitchFamily="18" charset="0"/>
              </a:defRPr>
            </a:lvl4pPr>
            <a:lvl5pPr marL="2057400" indent="-228600" defTabSz="1038225">
              <a:defRPr sz="1600">
                <a:solidFill>
                  <a:schemeClr val="tx1"/>
                </a:solidFill>
                <a:latin typeface="Times New Roman" pitchFamily="18" charset="0"/>
              </a:defRPr>
            </a:lvl5pPr>
            <a:lvl6pPr marL="2514600" indent="-228600" defTabSz="1038225" eaLnBrk="0" fontAlgn="base" hangingPunct="0">
              <a:spcBef>
                <a:spcPct val="0"/>
              </a:spcBef>
              <a:spcAft>
                <a:spcPct val="0"/>
              </a:spcAft>
              <a:buChar char="•"/>
              <a:defRPr sz="1600">
                <a:solidFill>
                  <a:schemeClr val="tx1"/>
                </a:solidFill>
                <a:latin typeface="Times New Roman" pitchFamily="18" charset="0"/>
              </a:defRPr>
            </a:lvl6pPr>
            <a:lvl7pPr marL="2971800" indent="-228600" defTabSz="1038225" eaLnBrk="0" fontAlgn="base" hangingPunct="0">
              <a:spcBef>
                <a:spcPct val="0"/>
              </a:spcBef>
              <a:spcAft>
                <a:spcPct val="0"/>
              </a:spcAft>
              <a:buChar char="•"/>
              <a:defRPr sz="1600">
                <a:solidFill>
                  <a:schemeClr val="tx1"/>
                </a:solidFill>
                <a:latin typeface="Times New Roman" pitchFamily="18" charset="0"/>
              </a:defRPr>
            </a:lvl7pPr>
            <a:lvl8pPr marL="3429000" indent="-228600" defTabSz="1038225" eaLnBrk="0" fontAlgn="base" hangingPunct="0">
              <a:spcBef>
                <a:spcPct val="0"/>
              </a:spcBef>
              <a:spcAft>
                <a:spcPct val="0"/>
              </a:spcAft>
              <a:buChar char="•"/>
              <a:defRPr sz="1600">
                <a:solidFill>
                  <a:schemeClr val="tx1"/>
                </a:solidFill>
                <a:latin typeface="Times New Roman" pitchFamily="18" charset="0"/>
              </a:defRPr>
            </a:lvl8pPr>
            <a:lvl9pPr marL="3886200" indent="-228600" defTabSz="1038225"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05000"/>
              </a:lnSpc>
              <a:buFont typeface="Wingdings" pitchFamily="2" charset="2"/>
              <a:buChar char="§"/>
            </a:pPr>
            <a:r>
              <a:rPr lang="en-US" sz="1800" b="1">
                <a:solidFill>
                  <a:srgbClr val="CC0000"/>
                </a:solidFill>
                <a:latin typeface="Arial" pitchFamily="34" charset="0"/>
              </a:rPr>
              <a:t>Kruskal [1956]</a:t>
            </a:r>
            <a:r>
              <a:rPr lang="en-US" sz="1800">
                <a:solidFill>
                  <a:schemeClr val="hlink"/>
                </a:solidFill>
                <a:latin typeface="Arial" pitchFamily="34" charset="0"/>
              </a:rPr>
              <a:t>  (Bor</a:t>
            </a:r>
            <a:r>
              <a:rPr lang="en-US" sz="1800">
                <a:solidFill>
                  <a:schemeClr val="hlink"/>
                </a:solidFill>
                <a:latin typeface="Arial" pitchFamily="34" charset="0"/>
                <a:cs typeface="Arial" pitchFamily="34" charset="0"/>
              </a:rPr>
              <a:t>ů</a:t>
            </a:r>
            <a:r>
              <a:rPr lang="en-US" sz="1800">
                <a:solidFill>
                  <a:schemeClr val="hlink"/>
                </a:solidFill>
                <a:latin typeface="Arial" pitchFamily="34" charset="0"/>
              </a:rPr>
              <a:t>vka [1926]):   O(E log V)  time</a:t>
            </a:r>
          </a:p>
          <a:p>
            <a:pPr eaLnBrk="1" hangingPunct="1">
              <a:lnSpc>
                <a:spcPct val="105000"/>
              </a:lnSpc>
              <a:buFont typeface="Wingdings" pitchFamily="2" charset="2"/>
              <a:buChar char="§"/>
            </a:pPr>
            <a:r>
              <a:rPr lang="en-US" sz="1800" b="1">
                <a:solidFill>
                  <a:srgbClr val="CC0000"/>
                </a:solidFill>
                <a:latin typeface="Arial" pitchFamily="34" charset="0"/>
              </a:rPr>
              <a:t>Prim[1957]</a:t>
            </a:r>
            <a:r>
              <a:rPr lang="en-US" sz="1800">
                <a:solidFill>
                  <a:schemeClr val="hlink"/>
                </a:solidFill>
                <a:latin typeface="Arial" pitchFamily="34" charset="0"/>
              </a:rPr>
              <a:t>  (Jarn</a:t>
            </a:r>
            <a:r>
              <a:rPr lang="en-US" sz="2000">
                <a:solidFill>
                  <a:schemeClr val="hlink"/>
                </a:solidFill>
                <a:latin typeface="Arial" pitchFamily="34" charset="0"/>
                <a:cs typeface="Arial" pitchFamily="34" charset="0"/>
              </a:rPr>
              <a:t>í</a:t>
            </a:r>
            <a:r>
              <a:rPr lang="en-US" sz="1800">
                <a:solidFill>
                  <a:schemeClr val="hlink"/>
                </a:solidFill>
                <a:latin typeface="Arial" pitchFamily="34" charset="0"/>
              </a:rPr>
              <a:t>k [1930]):  O(E log V) ,  O(E + V log V) with Fib.Heap</a:t>
            </a:r>
          </a:p>
          <a:p>
            <a:pPr eaLnBrk="1" hangingPunct="1">
              <a:lnSpc>
                <a:spcPct val="105000"/>
              </a:lnSpc>
              <a:buFont typeface="Wingdings" pitchFamily="2" charset="2"/>
              <a:buChar char="§"/>
            </a:pPr>
            <a:r>
              <a:rPr lang="en-US" sz="1800" b="1">
                <a:solidFill>
                  <a:srgbClr val="CC0000"/>
                </a:solidFill>
                <a:latin typeface="Arial" pitchFamily="34" charset="0"/>
              </a:rPr>
              <a:t>Cheriton-Tarjan [1976]</a:t>
            </a:r>
            <a:r>
              <a:rPr lang="en-US" sz="1800">
                <a:solidFill>
                  <a:schemeClr val="hlink"/>
                </a:solidFill>
                <a:latin typeface="Arial" pitchFamily="34" charset="0"/>
              </a:rPr>
              <a:t>            	</a:t>
            </a:r>
            <a:br>
              <a:rPr lang="en-US" sz="1800">
                <a:solidFill>
                  <a:schemeClr val="hlink"/>
                </a:solidFill>
                <a:latin typeface="Arial" pitchFamily="34" charset="0"/>
              </a:rPr>
            </a:br>
            <a:r>
              <a:rPr lang="en-US" sz="1800">
                <a:solidFill>
                  <a:schemeClr val="hlink"/>
                </a:solidFill>
                <a:latin typeface="Arial" pitchFamily="34" charset="0"/>
              </a:rPr>
              <a:t>	O(E log log V) time on general graphs,</a:t>
            </a:r>
            <a:br>
              <a:rPr lang="en-US" sz="1800">
                <a:solidFill>
                  <a:schemeClr val="hlink"/>
                </a:solidFill>
                <a:latin typeface="Arial" pitchFamily="34" charset="0"/>
              </a:rPr>
            </a:br>
            <a:r>
              <a:rPr lang="en-US" sz="1800">
                <a:solidFill>
                  <a:schemeClr val="hlink"/>
                </a:solidFill>
                <a:latin typeface="Arial" pitchFamily="34" charset="0"/>
              </a:rPr>
              <a:t>	O(V) time on planar graphs with arbitrary edge weights</a:t>
            </a:r>
            <a:br>
              <a:rPr lang="en-US" sz="1800">
                <a:solidFill>
                  <a:schemeClr val="hlink"/>
                </a:solidFill>
                <a:latin typeface="Arial" pitchFamily="34" charset="0"/>
              </a:rPr>
            </a:br>
            <a:r>
              <a:rPr lang="en-US" sz="1800">
                <a:solidFill>
                  <a:schemeClr val="hlink"/>
                </a:solidFill>
                <a:latin typeface="Arial" pitchFamily="34" charset="0"/>
              </a:rPr>
              <a:t>	</a:t>
            </a:r>
            <a:r>
              <a:rPr lang="en-US" sz="1800">
                <a:latin typeface="Arial" pitchFamily="34" charset="0"/>
              </a:rPr>
              <a:t>[studied in CSE 6114]</a:t>
            </a:r>
            <a:endParaRPr lang="en-US" sz="1800">
              <a:latin typeface="Arial" pitchFamily="34" charset="0"/>
              <a:sym typeface="Wingdings" pitchFamily="2" charset="2"/>
            </a:endParaRPr>
          </a:p>
        </p:txBody>
      </p:sp>
      <p:grpSp>
        <p:nvGrpSpPr>
          <p:cNvPr id="149512" name="Group 8"/>
          <p:cNvGrpSpPr>
            <a:grpSpLocks/>
          </p:cNvGrpSpPr>
          <p:nvPr/>
        </p:nvGrpSpPr>
        <p:grpSpPr bwMode="auto">
          <a:xfrm>
            <a:off x="7848600" y="838200"/>
            <a:ext cx="1022350" cy="1600200"/>
            <a:chOff x="4944" y="528"/>
            <a:chExt cx="644" cy="1008"/>
          </a:xfrm>
        </p:grpSpPr>
        <p:sp>
          <p:nvSpPr>
            <p:cNvPr id="93190" name="AutoShape 5"/>
            <p:cNvSpPr>
              <a:spLocks/>
            </p:cNvSpPr>
            <p:nvPr/>
          </p:nvSpPr>
          <p:spPr bwMode="auto">
            <a:xfrm>
              <a:off x="4944" y="528"/>
              <a:ext cx="144" cy="1008"/>
            </a:xfrm>
            <a:prstGeom prst="rightBrace">
              <a:avLst>
                <a:gd name="adj1" fmla="val 58333"/>
                <a:gd name="adj2" fmla="val 50000"/>
              </a:avLst>
            </a:prstGeom>
            <a:noFill/>
            <a:ln w="1905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93191" name="Rectangle 6"/>
            <p:cNvSpPr>
              <a:spLocks noChangeArrowheads="1"/>
            </p:cNvSpPr>
            <p:nvPr/>
          </p:nvSpPr>
          <p:spPr bwMode="auto">
            <a:xfrm>
              <a:off x="5136" y="912"/>
              <a:ext cx="452" cy="239"/>
            </a:xfrm>
            <a:prstGeom prst="rect">
              <a:avLst/>
            </a:prstGeom>
            <a:noFill/>
            <a:ln w="12700">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CC0000"/>
                  </a:solidFill>
                  <a:latin typeface="Arial" pitchFamily="34" charset="0"/>
                </a:rPr>
                <a:t>AAW</a:t>
              </a:r>
            </a:p>
          </p:txBody>
        </p:sp>
      </p:grpSp>
      <p:sp>
        <p:nvSpPr>
          <p:cNvPr id="149513" name="Rectangle 9"/>
          <p:cNvSpPr>
            <a:spLocks noChangeArrowheads="1"/>
          </p:cNvSpPr>
          <p:nvPr/>
        </p:nvSpPr>
        <p:spPr bwMode="auto">
          <a:xfrm>
            <a:off x="152400" y="3200400"/>
            <a:ext cx="8763000" cy="338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282575" indent="-282575" eaLnBrk="1" hangingPunct="1">
              <a:lnSpc>
                <a:spcPct val="105000"/>
              </a:lnSpc>
              <a:spcBef>
                <a:spcPct val="50000"/>
              </a:spcBef>
              <a:buFont typeface="Wingdings" pitchFamily="2" charset="2"/>
              <a:buChar char="§"/>
            </a:pPr>
            <a:r>
              <a:rPr lang="en-US" sz="1800" b="1">
                <a:solidFill>
                  <a:srgbClr val="CC0000"/>
                </a:solidFill>
                <a:latin typeface="Arial" pitchFamily="34" charset="0"/>
              </a:rPr>
              <a:t>Karger, Klein, Tarjan [1995]</a:t>
            </a:r>
            <a:r>
              <a:rPr lang="en-US" sz="1800">
                <a:solidFill>
                  <a:schemeClr val="hlink"/>
                </a:solidFill>
                <a:latin typeface="Arial" pitchFamily="34" charset="0"/>
              </a:rPr>
              <a:t>   O(E) expected-time randomized MST algorithm</a:t>
            </a:r>
          </a:p>
          <a:p>
            <a:pPr marL="282575" indent="-282575" eaLnBrk="1" hangingPunct="1">
              <a:lnSpc>
                <a:spcPct val="105000"/>
              </a:lnSpc>
              <a:spcBef>
                <a:spcPct val="50000"/>
              </a:spcBef>
              <a:buFont typeface="Wingdings" pitchFamily="2" charset="2"/>
              <a:buChar char="§"/>
            </a:pPr>
            <a:r>
              <a:rPr lang="en-US" sz="1800" b="1">
                <a:solidFill>
                  <a:srgbClr val="CC0000"/>
                </a:solidFill>
                <a:latin typeface="Arial" pitchFamily="34" charset="0"/>
              </a:rPr>
              <a:t>Chazelle [2000]:</a:t>
            </a:r>
            <a:r>
              <a:rPr lang="en-US" sz="1800">
                <a:solidFill>
                  <a:schemeClr val="hlink"/>
                </a:solidFill>
                <a:latin typeface="Arial" pitchFamily="34" charset="0"/>
              </a:rPr>
              <a:t>  O( E </a:t>
            </a:r>
            <a:r>
              <a:rPr lang="en-US" sz="1800">
                <a:solidFill>
                  <a:schemeClr val="hlink"/>
                </a:solidFill>
                <a:latin typeface="Symbol" pitchFamily="18" charset="2"/>
              </a:rPr>
              <a:t>a</a:t>
            </a:r>
            <a:r>
              <a:rPr lang="en-US" sz="1800">
                <a:solidFill>
                  <a:schemeClr val="hlink"/>
                </a:solidFill>
                <a:latin typeface="Arial" pitchFamily="34" charset="0"/>
              </a:rPr>
              <a:t>(E,V) ) time deterministic MST algorithm</a:t>
            </a:r>
          </a:p>
          <a:p>
            <a:pPr marL="282575" indent="-282575" eaLnBrk="1" hangingPunct="1">
              <a:lnSpc>
                <a:spcPct val="105000"/>
              </a:lnSpc>
              <a:spcBef>
                <a:spcPct val="50000"/>
              </a:spcBef>
              <a:buFont typeface="Wingdings" pitchFamily="2" charset="2"/>
              <a:buChar char="§"/>
            </a:pPr>
            <a:r>
              <a:rPr lang="en-US" sz="1800" b="1">
                <a:solidFill>
                  <a:srgbClr val="CC0000"/>
                </a:solidFill>
                <a:latin typeface="Arial" pitchFamily="34" charset="0"/>
              </a:rPr>
              <a:t>Pettie-Ramachandran [200</a:t>
            </a:r>
            <a:r>
              <a:rPr lang="en-US" sz="1800" b="1">
                <a:solidFill>
                  <a:srgbClr val="CC0000"/>
                </a:solidFill>
                <a:latin typeface="Arial" pitchFamily="34" charset="0"/>
                <a:sym typeface="Wingdings" pitchFamily="2" charset="2"/>
              </a:rPr>
              <a:t>2]:</a:t>
            </a:r>
            <a:r>
              <a:rPr lang="en-US" sz="1800">
                <a:solidFill>
                  <a:schemeClr val="hlink"/>
                </a:solidFill>
                <a:latin typeface="Arial" pitchFamily="34" charset="0"/>
                <a:sym typeface="Wingdings" pitchFamily="2" charset="2"/>
              </a:rPr>
              <a:t> Decision tree optimal MST algorithm</a:t>
            </a:r>
          </a:p>
          <a:p>
            <a:pPr marL="282575" indent="-282575" eaLnBrk="1" hangingPunct="1">
              <a:lnSpc>
                <a:spcPct val="105000"/>
              </a:lnSpc>
              <a:spcBef>
                <a:spcPct val="50000"/>
              </a:spcBef>
              <a:buFont typeface="Wingdings" pitchFamily="2" charset="2"/>
              <a:buChar char="§"/>
            </a:pPr>
            <a:endParaRPr lang="en-US" sz="1800" b="1">
              <a:solidFill>
                <a:srgbClr val="CC0000"/>
              </a:solidFill>
              <a:latin typeface="Arial" pitchFamily="34" charset="0"/>
            </a:endParaRPr>
          </a:p>
          <a:p>
            <a:pPr marL="282575" indent="-282575" eaLnBrk="1" hangingPunct="1">
              <a:lnSpc>
                <a:spcPct val="105000"/>
              </a:lnSpc>
              <a:spcBef>
                <a:spcPct val="50000"/>
              </a:spcBef>
              <a:buFont typeface="Wingdings" pitchFamily="2" charset="2"/>
              <a:buChar char="§"/>
            </a:pPr>
            <a:r>
              <a:rPr lang="en-US" sz="1800" b="1">
                <a:solidFill>
                  <a:srgbClr val="CC0000"/>
                </a:solidFill>
                <a:latin typeface="Arial" pitchFamily="34" charset="0"/>
              </a:rPr>
              <a:t>Buchsbaum et al. [2006],  King [1997]</a:t>
            </a:r>
            <a:r>
              <a:rPr lang="en-US" sz="1800">
                <a:solidFill>
                  <a:schemeClr val="hlink"/>
                </a:solidFill>
                <a:latin typeface="Arial" pitchFamily="34" charset="0"/>
              </a:rPr>
              <a:t>:  O(E) time MST </a:t>
            </a:r>
            <a:r>
              <a:rPr lang="en-US" sz="1800">
                <a:solidFill>
                  <a:srgbClr val="CC0000"/>
                </a:solidFill>
                <a:latin typeface="Arial" pitchFamily="34" charset="0"/>
              </a:rPr>
              <a:t>verification</a:t>
            </a:r>
            <a:r>
              <a:rPr lang="en-US" sz="1800">
                <a:solidFill>
                  <a:schemeClr val="hlink"/>
                </a:solidFill>
                <a:latin typeface="Arial" pitchFamily="34" charset="0"/>
              </a:rPr>
              <a:t> algorithm.</a:t>
            </a:r>
          </a:p>
          <a:p>
            <a:pPr marL="282575" indent="-282575" eaLnBrk="1" hangingPunct="1">
              <a:lnSpc>
                <a:spcPct val="105000"/>
              </a:lnSpc>
              <a:spcBef>
                <a:spcPct val="50000"/>
              </a:spcBef>
              <a:buFont typeface="Wingdings" pitchFamily="2" charset="2"/>
              <a:buChar char="§"/>
            </a:pPr>
            <a:r>
              <a:rPr lang="en-US" sz="1800" b="1">
                <a:solidFill>
                  <a:srgbClr val="CC0000"/>
                </a:solidFill>
                <a:latin typeface="Arial" pitchFamily="34" charset="0"/>
                <a:sym typeface="Wingdings" pitchFamily="2" charset="2"/>
              </a:rPr>
              <a:t>Euclidean MST</a:t>
            </a:r>
            <a:r>
              <a:rPr lang="en-US" sz="1800">
                <a:solidFill>
                  <a:schemeClr val="hlink"/>
                </a:solidFill>
                <a:latin typeface="Arial" pitchFamily="34" charset="0"/>
                <a:sym typeface="Wingdings" pitchFamily="2" charset="2"/>
              </a:rPr>
              <a:t> of n points in the plane: </a:t>
            </a:r>
            <a:br>
              <a:rPr lang="en-US" sz="1800">
                <a:solidFill>
                  <a:schemeClr val="hlink"/>
                </a:solidFill>
                <a:latin typeface="Arial" pitchFamily="34" charset="0"/>
                <a:sym typeface="Wingdings" pitchFamily="2" charset="2"/>
              </a:rPr>
            </a:br>
            <a:r>
              <a:rPr lang="en-US" sz="1800">
                <a:solidFill>
                  <a:schemeClr val="hlink"/>
                </a:solidFill>
                <a:latin typeface="Arial" pitchFamily="34" charset="0"/>
                <a:sym typeface="Wingdings" pitchFamily="2" charset="2"/>
              </a:rPr>
              <a:t>O(n log n) time via Voronoi-Delaunay structures  </a:t>
            </a:r>
            <a:r>
              <a:rPr lang="en-US" sz="1800">
                <a:latin typeface="Arial" pitchFamily="34" charset="0"/>
                <a:sym typeface="Wingdings" pitchFamily="2" charset="2"/>
              </a:rPr>
              <a:t>[studied in CSE 6114]</a:t>
            </a:r>
            <a:br>
              <a:rPr lang="en-US" sz="1800">
                <a:latin typeface="Arial" pitchFamily="34" charset="0"/>
                <a:sym typeface="Wingdings" pitchFamily="2" charset="2"/>
              </a:rPr>
            </a:br>
            <a:r>
              <a:rPr lang="en-US" sz="1800">
                <a:latin typeface="Arial" pitchFamily="34" charset="0"/>
                <a:sym typeface="Wingdings" pitchFamily="2" charset="2"/>
              </a:rPr>
              <a:t/>
            </a:r>
            <a:br>
              <a:rPr lang="en-US" sz="1800">
                <a:latin typeface="Arial" pitchFamily="34" charset="0"/>
                <a:sym typeface="Wingdings" pitchFamily="2" charset="2"/>
              </a:rPr>
            </a:br>
            <a:r>
              <a:rPr lang="en-US" sz="1800">
                <a:latin typeface="Arial" pitchFamily="34" charset="0"/>
                <a:sym typeface="Wingdings" pitchFamily="2" charset="2"/>
              </a:rPr>
              <a:t>								</a:t>
            </a:r>
            <a:r>
              <a:rPr lang="en-US" sz="1800">
                <a:solidFill>
                  <a:srgbClr val="CC0000"/>
                </a:solidFill>
                <a:latin typeface="Arial" pitchFamily="34" charset="0"/>
                <a:sym typeface="Wingdings" pitchFamily="2" charset="2"/>
              </a:rPr>
              <a:t>P.T.O.</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90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49506"/>
                                        </p:tgtEl>
                                        <p:attrNameLst>
                                          <p:attrName>style.visibility</p:attrName>
                                        </p:attrNameLst>
                                      </p:cBhvr>
                                      <p:to>
                                        <p:strVal val="visible"/>
                                      </p:to>
                                    </p:set>
                                    <p:anim calcmode="lin" valueType="num">
                                      <p:cBhvr>
                                        <p:cTn id="7" dur="500" fill="hold"/>
                                        <p:tgtEl>
                                          <p:spTgt spid="149506"/>
                                        </p:tgtEl>
                                        <p:attrNameLst>
                                          <p:attrName>ppt_w</p:attrName>
                                        </p:attrNameLst>
                                      </p:cBhvr>
                                      <p:tavLst>
                                        <p:tav tm="0">
                                          <p:val>
                                            <p:fltVal val="0"/>
                                          </p:val>
                                        </p:tav>
                                        <p:tav tm="100000">
                                          <p:val>
                                            <p:strVal val="#ppt_w"/>
                                          </p:val>
                                        </p:tav>
                                      </p:tavLst>
                                    </p:anim>
                                    <p:anim calcmode="lin" valueType="num">
                                      <p:cBhvr>
                                        <p:cTn id="8" dur="500" fill="hold"/>
                                        <p:tgtEl>
                                          <p:spTgt spid="14950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49507">
                                            <p:txEl>
                                              <p:pRg st="0" end="0"/>
                                            </p:txEl>
                                          </p:spTgt>
                                        </p:tgtEl>
                                        <p:attrNameLst>
                                          <p:attrName>style.visibility</p:attrName>
                                        </p:attrNameLst>
                                      </p:cBhvr>
                                      <p:to>
                                        <p:strVal val="visible"/>
                                      </p:to>
                                    </p:set>
                                    <p:animEffect transition="in" filter="wipe(left)">
                                      <p:cBhvr>
                                        <p:cTn id="13" dur="500"/>
                                        <p:tgtEl>
                                          <p:spTgt spid="149507">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49507">
                                            <p:txEl>
                                              <p:pRg st="1" end="1"/>
                                            </p:txEl>
                                          </p:spTgt>
                                        </p:tgtEl>
                                        <p:attrNameLst>
                                          <p:attrName>style.visibility</p:attrName>
                                        </p:attrNameLst>
                                      </p:cBhvr>
                                      <p:to>
                                        <p:strVal val="visible"/>
                                      </p:to>
                                    </p:set>
                                    <p:animEffect transition="in" filter="wipe(left)">
                                      <p:cBhvr>
                                        <p:cTn id="18" dur="500"/>
                                        <p:tgtEl>
                                          <p:spTgt spid="149507">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9507">
                                            <p:txEl>
                                              <p:pRg st="2" end="2"/>
                                            </p:txEl>
                                          </p:spTgt>
                                        </p:tgtEl>
                                        <p:attrNameLst>
                                          <p:attrName>style.visibility</p:attrName>
                                        </p:attrNameLst>
                                      </p:cBhvr>
                                      <p:to>
                                        <p:strVal val="visible"/>
                                      </p:to>
                                    </p:set>
                                    <p:animEffect transition="in" filter="wipe(left)">
                                      <p:cBhvr>
                                        <p:cTn id="23" dur="500"/>
                                        <p:tgtEl>
                                          <p:spTgt spid="149507">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149512"/>
                                        </p:tgtEl>
                                        <p:attrNameLst>
                                          <p:attrName>style.visibility</p:attrName>
                                        </p:attrNameLst>
                                      </p:cBhvr>
                                      <p:to>
                                        <p:strVal val="visible"/>
                                      </p:to>
                                    </p:set>
                                    <p:animEffect transition="in" filter="wipe(up)">
                                      <p:cBhvr>
                                        <p:cTn id="28" dur="500"/>
                                        <p:tgtEl>
                                          <p:spTgt spid="14951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9513">
                                            <p:txEl>
                                              <p:pRg st="0" end="0"/>
                                            </p:txEl>
                                          </p:spTgt>
                                        </p:tgtEl>
                                        <p:attrNameLst>
                                          <p:attrName>style.visibility</p:attrName>
                                        </p:attrNameLst>
                                      </p:cBhvr>
                                      <p:to>
                                        <p:strVal val="visible"/>
                                      </p:to>
                                    </p:set>
                                    <p:animEffect transition="in" filter="wipe(left)">
                                      <p:cBhvr>
                                        <p:cTn id="33" dur="500"/>
                                        <p:tgtEl>
                                          <p:spTgt spid="149513">
                                            <p:txEl>
                                              <p:pRg st="0" end="0"/>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49513">
                                            <p:txEl>
                                              <p:pRg st="1" end="1"/>
                                            </p:txEl>
                                          </p:spTgt>
                                        </p:tgtEl>
                                        <p:attrNameLst>
                                          <p:attrName>style.visibility</p:attrName>
                                        </p:attrNameLst>
                                      </p:cBhvr>
                                      <p:to>
                                        <p:strVal val="visible"/>
                                      </p:to>
                                    </p:set>
                                    <p:animEffect transition="in" filter="wipe(left)">
                                      <p:cBhvr>
                                        <p:cTn id="38" dur="500"/>
                                        <p:tgtEl>
                                          <p:spTgt spid="149513">
                                            <p:txEl>
                                              <p:pRg st="1" end="1"/>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49513">
                                            <p:txEl>
                                              <p:pRg st="2" end="2"/>
                                            </p:txEl>
                                          </p:spTgt>
                                        </p:tgtEl>
                                        <p:attrNameLst>
                                          <p:attrName>style.visibility</p:attrName>
                                        </p:attrNameLst>
                                      </p:cBhvr>
                                      <p:to>
                                        <p:strVal val="visible"/>
                                      </p:to>
                                    </p:set>
                                    <p:animEffect transition="in" filter="wipe(left)">
                                      <p:cBhvr>
                                        <p:cTn id="43" dur="500"/>
                                        <p:tgtEl>
                                          <p:spTgt spid="149513">
                                            <p:txEl>
                                              <p:pRg st="2" end="2"/>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49513">
                                            <p:txEl>
                                              <p:pRg st="4" end="4"/>
                                            </p:txEl>
                                          </p:spTgt>
                                        </p:tgtEl>
                                        <p:attrNameLst>
                                          <p:attrName>style.visibility</p:attrName>
                                        </p:attrNameLst>
                                      </p:cBhvr>
                                      <p:to>
                                        <p:strVal val="visible"/>
                                      </p:to>
                                    </p:set>
                                    <p:animEffect transition="in" filter="wipe(left)">
                                      <p:cBhvr>
                                        <p:cTn id="48" dur="500"/>
                                        <p:tgtEl>
                                          <p:spTgt spid="149513">
                                            <p:txEl>
                                              <p:pRg st="4" end="4"/>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49513">
                                            <p:txEl>
                                              <p:pRg st="5" end="5"/>
                                            </p:txEl>
                                          </p:spTgt>
                                        </p:tgtEl>
                                        <p:attrNameLst>
                                          <p:attrName>style.visibility</p:attrName>
                                        </p:attrNameLst>
                                      </p:cBhvr>
                                      <p:to>
                                        <p:strVal val="visible"/>
                                      </p:to>
                                    </p:set>
                                    <p:animEffect transition="in" filter="wipe(left)">
                                      <p:cBhvr>
                                        <p:cTn id="53" dur="500"/>
                                        <p:tgtEl>
                                          <p:spTgt spid="1495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animBg="1" autoUpdateAnimBg="0"/>
      <p:bldP spid="149507" grpId="0" build="p" autoUpdateAnimBg="0"/>
      <p:bldP spid="149513" grpId="0" build="p"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4"/>
          <p:cNvSpPr>
            <a:spLocks noChangeArrowheads="1"/>
          </p:cNvSpPr>
          <p:nvPr/>
        </p:nvSpPr>
        <p:spPr bwMode="auto">
          <a:xfrm>
            <a:off x="304800" y="762000"/>
            <a:ext cx="8686800" cy="51038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571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282575" indent="-282575" eaLnBrk="1" hangingPunct="1">
              <a:spcBef>
                <a:spcPct val="50000"/>
              </a:spcBef>
              <a:buFont typeface="Wingdings" pitchFamily="2" charset="2"/>
              <a:buChar char="§"/>
            </a:pPr>
            <a:r>
              <a:rPr lang="en-US" dirty="0"/>
              <a:t>A.L. </a:t>
            </a:r>
            <a:r>
              <a:rPr lang="en-US" dirty="0" err="1"/>
              <a:t>Buchsbaum</a:t>
            </a:r>
            <a:r>
              <a:rPr lang="en-US" dirty="0"/>
              <a:t>, L. </a:t>
            </a:r>
            <a:r>
              <a:rPr lang="en-US" dirty="0" err="1"/>
              <a:t>Georgiadis</a:t>
            </a:r>
            <a:r>
              <a:rPr lang="en-US" dirty="0"/>
              <a:t>, H. Kaplan, A. Rogers, R.E. </a:t>
            </a:r>
            <a:r>
              <a:rPr lang="en-US" dirty="0" err="1"/>
              <a:t>Tarjan</a:t>
            </a:r>
            <a:r>
              <a:rPr lang="en-US" dirty="0"/>
              <a:t>, J.R. Westbrook, </a:t>
            </a:r>
            <a:br>
              <a:rPr lang="en-US" dirty="0"/>
            </a:br>
            <a:r>
              <a:rPr lang="en-US" dirty="0">
                <a:solidFill>
                  <a:srgbClr val="CC0000"/>
                </a:solidFill>
              </a:rPr>
              <a:t>“Linear-time pointer-machine algorithms for path evaluation problems on trees and graphs,” </a:t>
            </a:r>
            <a:r>
              <a:rPr lang="en-US" dirty="0"/>
              <a:t> </a:t>
            </a:r>
            <a:r>
              <a:rPr lang="en-US" b="1" smtClean="0">
                <a:hlinkClick r:id="rId2" tooltip="http://arxiv.org/PS_cache/cs/pdf/0207/0207061v2.pdf"/>
              </a:rPr>
              <a:t>arXiv:cs.DS</a:t>
            </a:r>
            <a:r>
              <a:rPr lang="en-US" b="1" dirty="0" smtClean="0">
                <a:hlinkClick r:id="rId2" tooltip="http://arxiv.org/PS_cache/cs/pdf/0207/0207061v2.pdf"/>
              </a:rPr>
              <a:t>/0207061v2</a:t>
            </a:r>
            <a:r>
              <a:rPr lang="en-US" b="1" dirty="0" smtClean="0"/>
              <a:t>, </a:t>
            </a:r>
            <a:r>
              <a:rPr lang="en-US" dirty="0"/>
              <a:t>October 2006.           </a:t>
            </a:r>
            <a:r>
              <a:rPr lang="en-US" dirty="0">
                <a:solidFill>
                  <a:schemeClr val="accent2"/>
                </a:solidFill>
              </a:rPr>
              <a:t>[An earlier version in STOC’88, </a:t>
            </a:r>
            <a:r>
              <a:rPr lang="en-US" dirty="0" err="1">
                <a:solidFill>
                  <a:schemeClr val="accent2"/>
                </a:solidFill>
              </a:rPr>
              <a:t>pp</a:t>
            </a:r>
            <a:r>
              <a:rPr lang="en-US" dirty="0">
                <a:solidFill>
                  <a:schemeClr val="accent2"/>
                </a:solidFill>
              </a:rPr>
              <a:t>: 279-288.]</a:t>
            </a:r>
          </a:p>
          <a:p>
            <a:pPr marL="282575" indent="-282575" eaLnBrk="1" hangingPunct="1">
              <a:spcBef>
                <a:spcPct val="50000"/>
              </a:spcBef>
              <a:buFont typeface="Wingdings" pitchFamily="2" charset="2"/>
              <a:buChar char="§"/>
            </a:pPr>
            <a:r>
              <a:rPr lang="en-US" dirty="0"/>
              <a:t>B. </a:t>
            </a:r>
            <a:r>
              <a:rPr lang="en-US" dirty="0" err="1"/>
              <a:t>Chazelle</a:t>
            </a:r>
            <a:r>
              <a:rPr lang="en-US" dirty="0"/>
              <a:t>,</a:t>
            </a:r>
            <a:r>
              <a:rPr lang="en-US" dirty="0">
                <a:solidFill>
                  <a:schemeClr val="hlink"/>
                </a:solidFill>
              </a:rPr>
              <a:t> </a:t>
            </a:r>
            <a:r>
              <a:rPr lang="en-US" dirty="0">
                <a:solidFill>
                  <a:srgbClr val="CC0000"/>
                </a:solidFill>
              </a:rPr>
              <a:t>“The Soft Heap: an approximate priority queue with optimal error rate,”</a:t>
            </a:r>
            <a:r>
              <a:rPr lang="en-US" dirty="0"/>
              <a:t> </a:t>
            </a:r>
            <a:br>
              <a:rPr lang="en-US" dirty="0"/>
            </a:br>
            <a:r>
              <a:rPr lang="en-US" dirty="0"/>
              <a:t>J. ACM, 47(6):1012-1027, 2000.</a:t>
            </a:r>
          </a:p>
          <a:p>
            <a:pPr marL="282575" indent="-282575" eaLnBrk="1" hangingPunct="1">
              <a:spcBef>
                <a:spcPct val="50000"/>
              </a:spcBef>
              <a:buFont typeface="Wingdings" pitchFamily="2" charset="2"/>
              <a:buChar char="§"/>
            </a:pPr>
            <a:r>
              <a:rPr lang="en-US" dirty="0"/>
              <a:t>B. </a:t>
            </a:r>
            <a:r>
              <a:rPr lang="en-US" dirty="0" err="1"/>
              <a:t>Chazelle</a:t>
            </a:r>
            <a:r>
              <a:rPr lang="en-US" dirty="0"/>
              <a:t>,</a:t>
            </a:r>
            <a:r>
              <a:rPr lang="en-US" dirty="0">
                <a:solidFill>
                  <a:schemeClr val="hlink"/>
                </a:solidFill>
              </a:rPr>
              <a:t> </a:t>
            </a:r>
            <a:r>
              <a:rPr lang="en-US" dirty="0">
                <a:solidFill>
                  <a:srgbClr val="CC0000"/>
                </a:solidFill>
              </a:rPr>
              <a:t>“A minimum spanning tree algorithm with inverse Ackermann type complexity,”</a:t>
            </a:r>
            <a:r>
              <a:rPr lang="en-US" dirty="0"/>
              <a:t> </a:t>
            </a:r>
            <a:br>
              <a:rPr lang="en-US" dirty="0"/>
            </a:br>
            <a:r>
              <a:rPr lang="en-US" dirty="0"/>
              <a:t>J. ACM, 47(6):1028-1047, 2000.</a:t>
            </a:r>
          </a:p>
          <a:p>
            <a:pPr marL="282575" indent="-282575" eaLnBrk="1" hangingPunct="1">
              <a:spcBef>
                <a:spcPct val="50000"/>
              </a:spcBef>
              <a:buFont typeface="Wingdings" pitchFamily="2" charset="2"/>
              <a:buChar char="§"/>
            </a:pPr>
            <a:r>
              <a:rPr lang="en-US" dirty="0"/>
              <a:t>D. </a:t>
            </a:r>
            <a:r>
              <a:rPr lang="en-US" dirty="0" err="1"/>
              <a:t>Cheriton</a:t>
            </a:r>
            <a:r>
              <a:rPr lang="en-US" dirty="0"/>
              <a:t>, R.E. </a:t>
            </a:r>
            <a:r>
              <a:rPr lang="en-US" dirty="0" err="1"/>
              <a:t>Tarjan</a:t>
            </a:r>
            <a:r>
              <a:rPr lang="en-US" dirty="0">
                <a:solidFill>
                  <a:schemeClr val="hlink"/>
                </a:solidFill>
              </a:rPr>
              <a:t> </a:t>
            </a:r>
            <a:r>
              <a:rPr lang="en-US" dirty="0">
                <a:solidFill>
                  <a:srgbClr val="CC0000"/>
                </a:solidFill>
              </a:rPr>
              <a:t>“Finding minimum spanning trees,”</a:t>
            </a:r>
            <a:r>
              <a:rPr lang="en-US" dirty="0"/>
              <a:t> </a:t>
            </a:r>
            <a:br>
              <a:rPr lang="en-US" dirty="0"/>
            </a:br>
            <a:r>
              <a:rPr lang="en-US" dirty="0"/>
              <a:t>SIAM J. Computing (5):725-742, 1976.</a:t>
            </a:r>
          </a:p>
          <a:p>
            <a:pPr marL="282575" indent="-282575" eaLnBrk="1" hangingPunct="1">
              <a:spcBef>
                <a:spcPct val="50000"/>
              </a:spcBef>
              <a:buFont typeface="Wingdings" pitchFamily="2" charset="2"/>
              <a:buChar char="§"/>
            </a:pPr>
            <a:r>
              <a:rPr lang="en-US" dirty="0"/>
              <a:t>H. Kaplan, U. </a:t>
            </a:r>
            <a:r>
              <a:rPr lang="en-US" dirty="0" err="1"/>
              <a:t>Zwick</a:t>
            </a:r>
            <a:r>
              <a:rPr lang="en-US" dirty="0"/>
              <a:t>, </a:t>
            </a:r>
            <a:r>
              <a:rPr lang="en-US" dirty="0">
                <a:solidFill>
                  <a:srgbClr val="CC0000"/>
                </a:solidFill>
              </a:rPr>
              <a:t>“A simpler implementation and analysis of </a:t>
            </a:r>
            <a:r>
              <a:rPr lang="en-US" dirty="0" err="1">
                <a:solidFill>
                  <a:srgbClr val="CC0000"/>
                </a:solidFill>
              </a:rPr>
              <a:t>Chazelle’s</a:t>
            </a:r>
            <a:r>
              <a:rPr lang="en-US" dirty="0">
                <a:solidFill>
                  <a:srgbClr val="CC0000"/>
                </a:solidFill>
              </a:rPr>
              <a:t> Soft Heaps,”</a:t>
            </a:r>
            <a:r>
              <a:rPr lang="en-US" dirty="0"/>
              <a:t> </a:t>
            </a:r>
            <a:br>
              <a:rPr lang="en-US" dirty="0"/>
            </a:br>
            <a:r>
              <a:rPr lang="en-US" dirty="0"/>
              <a:t>SODA, pp:477-485, 2009.</a:t>
            </a:r>
          </a:p>
          <a:p>
            <a:pPr marL="282575" indent="-282575" eaLnBrk="1" hangingPunct="1">
              <a:spcBef>
                <a:spcPct val="50000"/>
              </a:spcBef>
              <a:buFont typeface="Wingdings" pitchFamily="2" charset="2"/>
              <a:buChar char="§"/>
            </a:pPr>
            <a:r>
              <a:rPr lang="en-US" dirty="0"/>
              <a:t>D.R. </a:t>
            </a:r>
            <a:r>
              <a:rPr lang="en-US" dirty="0" err="1"/>
              <a:t>Karger</a:t>
            </a:r>
            <a:r>
              <a:rPr lang="en-US" dirty="0"/>
              <a:t>, P.N. Klein, R.E. </a:t>
            </a:r>
            <a:r>
              <a:rPr lang="en-US" dirty="0" err="1"/>
              <a:t>Tarjan</a:t>
            </a:r>
            <a:r>
              <a:rPr lang="en-US" dirty="0"/>
              <a:t>, </a:t>
            </a:r>
            <a:r>
              <a:rPr lang="en-US" dirty="0">
                <a:solidFill>
                  <a:srgbClr val="CC0000"/>
                </a:solidFill>
              </a:rPr>
              <a:t>“A randomized linear-time algorithm to find minimum spanning trees,” </a:t>
            </a:r>
            <a:r>
              <a:rPr lang="en-US" dirty="0"/>
              <a:t>J. ACM (42):321-328, 1995.</a:t>
            </a:r>
          </a:p>
          <a:p>
            <a:pPr marL="282575" indent="-282575" eaLnBrk="1" hangingPunct="1">
              <a:spcBef>
                <a:spcPct val="50000"/>
              </a:spcBef>
              <a:buFont typeface="Wingdings" pitchFamily="2" charset="2"/>
              <a:buChar char="§"/>
            </a:pPr>
            <a:r>
              <a:rPr lang="en-US" dirty="0">
                <a:sym typeface="Symbol" pitchFamily="18" charset="2"/>
              </a:rPr>
              <a:t>V. King</a:t>
            </a:r>
            <a:r>
              <a:rPr lang="en-US" dirty="0"/>
              <a:t>,</a:t>
            </a:r>
            <a:r>
              <a:rPr lang="en-US" dirty="0">
                <a:solidFill>
                  <a:schemeClr val="hlink"/>
                </a:solidFill>
              </a:rPr>
              <a:t> </a:t>
            </a:r>
            <a:r>
              <a:rPr lang="en-US" dirty="0">
                <a:solidFill>
                  <a:srgbClr val="CC0000"/>
                </a:solidFill>
              </a:rPr>
              <a:t>“A simpler linear time algorithm for minimum spanning tree verification,”</a:t>
            </a:r>
            <a:r>
              <a:rPr lang="en-US" dirty="0">
                <a:solidFill>
                  <a:schemeClr val="hlink"/>
                </a:solidFill>
              </a:rPr>
              <a:t> </a:t>
            </a:r>
            <a:br>
              <a:rPr lang="en-US" dirty="0">
                <a:solidFill>
                  <a:schemeClr val="hlink"/>
                </a:solidFill>
              </a:rPr>
            </a:br>
            <a:r>
              <a:rPr lang="en-US" dirty="0" err="1"/>
              <a:t>Algorithmica</a:t>
            </a:r>
            <a:r>
              <a:rPr lang="en-US" dirty="0"/>
              <a:t>, 18: 263-270, 1997. </a:t>
            </a:r>
          </a:p>
          <a:p>
            <a:pPr marL="282575" indent="-282575" eaLnBrk="1" hangingPunct="1">
              <a:spcBef>
                <a:spcPct val="50000"/>
              </a:spcBef>
              <a:buFont typeface="Wingdings" pitchFamily="2" charset="2"/>
              <a:buChar char="§"/>
            </a:pPr>
            <a:r>
              <a:rPr lang="en-US" dirty="0"/>
              <a:t>S. </a:t>
            </a:r>
            <a:r>
              <a:rPr lang="en-US" dirty="0" err="1"/>
              <a:t>Pettie</a:t>
            </a:r>
            <a:r>
              <a:rPr lang="en-US" dirty="0"/>
              <a:t>, V. </a:t>
            </a:r>
            <a:r>
              <a:rPr lang="en-US" dirty="0" err="1"/>
              <a:t>Ramachandran</a:t>
            </a:r>
            <a:r>
              <a:rPr lang="en-US" dirty="0">
                <a:solidFill>
                  <a:schemeClr val="hlink"/>
                </a:solidFill>
              </a:rPr>
              <a:t> </a:t>
            </a:r>
            <a:r>
              <a:rPr lang="en-US" dirty="0">
                <a:solidFill>
                  <a:srgbClr val="CC0000"/>
                </a:solidFill>
              </a:rPr>
              <a:t>“An optimal minimum spanning tree algorithm,”</a:t>
            </a:r>
            <a:r>
              <a:rPr lang="en-US" dirty="0"/>
              <a:t> </a:t>
            </a:r>
            <a:br>
              <a:rPr lang="en-US" dirty="0"/>
            </a:br>
            <a:r>
              <a:rPr lang="en-US" dirty="0"/>
              <a:t>J. ACM 49(1):16-34, 2002.</a:t>
            </a:r>
            <a:r>
              <a:rPr lang="en-US" dirty="0">
                <a:sym typeface="Symbol" pitchFamily="18" charset="2"/>
              </a:rPr>
              <a:t> </a:t>
            </a:r>
          </a:p>
        </p:txBody>
      </p:sp>
      <p:sp>
        <p:nvSpPr>
          <p:cNvPr id="94211" name="Rectangle 7"/>
          <p:cNvSpPr>
            <a:spLocks noGrp="1" noChangeArrowheads="1"/>
          </p:cNvSpPr>
          <p:nvPr>
            <p:ph type="title"/>
          </p:nvPr>
        </p:nvSpPr>
        <p:spPr>
          <a:xfrm>
            <a:off x="152400" y="152400"/>
            <a:ext cx="8839200" cy="4572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Bibliography:  </a:t>
            </a:r>
            <a:r>
              <a:rPr lang="en-US" sz="2800" dirty="0" smtClean="0">
                <a:solidFill>
                  <a:srgbClr val="FF0000"/>
                </a:solidFill>
                <a:latin typeface="Arial Rounded MT Bold" pitchFamily="34" charset="0"/>
              </a:rPr>
              <a:t>MST</a:t>
            </a:r>
            <a:r>
              <a:rPr lang="en-US" sz="2800" dirty="0" smtClean="0">
                <a:solidFill>
                  <a:schemeClr val="tx1"/>
                </a:solidFill>
                <a:latin typeface="Arial Rounded MT Bold" pitchFamily="34" charset="0"/>
              </a:rPr>
              <a:t> </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91</a:t>
            </a:fld>
            <a:endParaRPr lang="en-US"/>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2" name="Rectangle 2"/>
          <p:cNvSpPr>
            <a:spLocks noGrp="1" noChangeArrowheads="1"/>
          </p:cNvSpPr>
          <p:nvPr>
            <p:ph type="ctrTitle"/>
          </p:nvPr>
        </p:nvSpPr>
        <p:spPr>
          <a:xfrm>
            <a:off x="685800" y="2286000"/>
            <a:ext cx="7772400" cy="1447800"/>
          </a:xfrm>
          <a:solidFill>
            <a:srgbClr val="FFCCCC"/>
          </a:solidFill>
          <a:ln w="762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lstStyle/>
          <a:p>
            <a:pPr eaLnBrk="1" hangingPunct="1"/>
            <a:r>
              <a:rPr lang="en-US" sz="6000" dirty="0" smtClean="0">
                <a:solidFill>
                  <a:schemeClr val="accent2"/>
                </a:solidFill>
                <a:latin typeface="Arial Rounded MT Bold" pitchFamily="34" charset="0"/>
              </a:rPr>
              <a:t>SHORTEST  PATHS</a:t>
            </a:r>
          </a:p>
        </p:txBody>
      </p:sp>
      <p:sp>
        <p:nvSpPr>
          <p:cNvPr id="2" name="Slide Number Placeholder 1"/>
          <p:cNvSpPr>
            <a:spLocks noGrp="1"/>
          </p:cNvSpPr>
          <p:nvPr>
            <p:ph type="sldNum" sz="quarter" idx="12"/>
          </p:nvPr>
        </p:nvSpPr>
        <p:spPr/>
        <p:txBody>
          <a:bodyPr/>
          <a:lstStyle/>
          <a:p>
            <a:pPr>
              <a:defRPr/>
            </a:pPr>
            <a:fld id="{90683EDB-7658-49F0-B96C-482436AB937A}" type="slidenum">
              <a:rPr lang="en-US" smtClean="0"/>
              <a:pPr>
                <a:defRPr/>
              </a:pPr>
              <a:t>92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92162"/>
                                        </p:tgtEl>
                                        <p:attrNameLst>
                                          <p:attrName>style.visibility</p:attrName>
                                        </p:attrNameLst>
                                      </p:cBhvr>
                                      <p:to>
                                        <p:strVal val="visible"/>
                                      </p:to>
                                    </p:set>
                                    <p:anim calcmode="lin" valueType="num">
                                      <p:cBhvr>
                                        <p:cTn id="7" dur="500" fill="hold"/>
                                        <p:tgtEl>
                                          <p:spTgt spid="92162"/>
                                        </p:tgtEl>
                                        <p:attrNameLst>
                                          <p:attrName>ppt_w</p:attrName>
                                        </p:attrNameLst>
                                      </p:cBhvr>
                                      <p:tavLst>
                                        <p:tav tm="0">
                                          <p:val>
                                            <p:fltVal val="0"/>
                                          </p:val>
                                        </p:tav>
                                        <p:tav tm="100000">
                                          <p:val>
                                            <p:strVal val="#ppt_w"/>
                                          </p:val>
                                        </p:tav>
                                      </p:tavLst>
                                    </p:anim>
                                    <p:anim calcmode="lin" valueType="num">
                                      <p:cBhvr>
                                        <p:cTn id="8" dur="500" fill="hold"/>
                                        <p:tgtEl>
                                          <p:spTgt spid="9216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animBg="1"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The Shortest Path Problem</a:t>
            </a:r>
          </a:p>
        </p:txBody>
      </p:sp>
      <p:sp>
        <p:nvSpPr>
          <p:cNvPr id="86019" name="Text Box 3"/>
          <p:cNvSpPr txBox="1">
            <a:spLocks noChangeArrowheads="1"/>
          </p:cNvSpPr>
          <p:nvPr/>
        </p:nvSpPr>
        <p:spPr bwMode="auto">
          <a:xfrm>
            <a:off x="152400" y="685800"/>
            <a:ext cx="8839200" cy="437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8913" indent="-188913" defTabSz="515938">
              <a:defRPr sz="1600">
                <a:solidFill>
                  <a:schemeClr val="tx1"/>
                </a:solidFill>
                <a:latin typeface="Times New Roman" pitchFamily="18" charset="0"/>
              </a:defRPr>
            </a:lvl1pPr>
            <a:lvl2pPr marL="379413" defTabSz="515938">
              <a:defRPr sz="1600">
                <a:solidFill>
                  <a:schemeClr val="tx1"/>
                </a:solidFill>
                <a:latin typeface="Times New Roman" pitchFamily="18" charset="0"/>
              </a:defRPr>
            </a:lvl2pPr>
            <a:lvl3pPr marL="1143000" indent="-228600" defTabSz="515938">
              <a:defRPr sz="1600">
                <a:solidFill>
                  <a:schemeClr val="tx1"/>
                </a:solidFill>
                <a:latin typeface="Times New Roman" pitchFamily="18" charset="0"/>
              </a:defRPr>
            </a:lvl3pPr>
            <a:lvl4pPr marL="1600200" indent="-228600" defTabSz="515938">
              <a:defRPr sz="1600">
                <a:solidFill>
                  <a:schemeClr val="tx1"/>
                </a:solidFill>
                <a:latin typeface="Times New Roman" pitchFamily="18" charset="0"/>
              </a:defRPr>
            </a:lvl4pPr>
            <a:lvl5pPr marL="2057400" indent="-228600" defTabSz="515938">
              <a:defRPr sz="1600">
                <a:solidFill>
                  <a:schemeClr val="tx1"/>
                </a:solidFill>
                <a:latin typeface="Times New Roman" pitchFamily="18" charset="0"/>
              </a:defRPr>
            </a:lvl5pPr>
            <a:lvl6pPr marL="2514600" indent="-228600" defTabSz="515938" eaLnBrk="0" fontAlgn="base" hangingPunct="0">
              <a:spcBef>
                <a:spcPct val="0"/>
              </a:spcBef>
              <a:spcAft>
                <a:spcPct val="0"/>
              </a:spcAft>
              <a:buChar char="•"/>
              <a:defRPr sz="1600">
                <a:solidFill>
                  <a:schemeClr val="tx1"/>
                </a:solidFill>
                <a:latin typeface="Times New Roman" pitchFamily="18" charset="0"/>
              </a:defRPr>
            </a:lvl6pPr>
            <a:lvl7pPr marL="2971800" indent="-228600" defTabSz="515938" eaLnBrk="0" fontAlgn="base" hangingPunct="0">
              <a:spcBef>
                <a:spcPct val="0"/>
              </a:spcBef>
              <a:spcAft>
                <a:spcPct val="0"/>
              </a:spcAft>
              <a:buChar char="•"/>
              <a:defRPr sz="1600">
                <a:solidFill>
                  <a:schemeClr val="tx1"/>
                </a:solidFill>
                <a:latin typeface="Times New Roman" pitchFamily="18" charset="0"/>
              </a:defRPr>
            </a:lvl7pPr>
            <a:lvl8pPr marL="3429000" indent="-228600" defTabSz="515938" eaLnBrk="0" fontAlgn="base" hangingPunct="0">
              <a:spcBef>
                <a:spcPct val="0"/>
              </a:spcBef>
              <a:spcAft>
                <a:spcPct val="0"/>
              </a:spcAft>
              <a:buChar char="•"/>
              <a:defRPr sz="1600">
                <a:solidFill>
                  <a:schemeClr val="tx1"/>
                </a:solidFill>
                <a:latin typeface="Times New Roman" pitchFamily="18" charset="0"/>
              </a:defRPr>
            </a:lvl8pPr>
            <a:lvl9pPr marL="3886200" indent="-228600" defTabSz="515938"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95000"/>
              </a:lnSpc>
              <a:spcBef>
                <a:spcPct val="50000"/>
              </a:spcBef>
              <a:buFont typeface="Wingdings" pitchFamily="2" charset="2"/>
              <a:buChar char="§"/>
            </a:pPr>
            <a:r>
              <a:rPr lang="en-US" sz="2000">
                <a:solidFill>
                  <a:schemeClr val="tx2"/>
                </a:solidFill>
              </a:rPr>
              <a:t>Given </a:t>
            </a:r>
            <a:r>
              <a:rPr lang="en-US" sz="2000" b="1">
                <a:solidFill>
                  <a:srgbClr val="CC0000"/>
                </a:solidFill>
              </a:rPr>
              <a:t>weighted digraph</a:t>
            </a:r>
            <a:r>
              <a:rPr lang="en-US" sz="2000">
                <a:solidFill>
                  <a:schemeClr val="tx2"/>
                </a:solidFill>
              </a:rPr>
              <a:t> G = (V,E,w)   with   w: E</a:t>
            </a:r>
            <a:r>
              <a:rPr lang="en-US" sz="1800" b="1">
                <a:solidFill>
                  <a:schemeClr val="tx2"/>
                </a:solidFill>
                <a:latin typeface="Arial" pitchFamily="34" charset="0"/>
              </a:rPr>
              <a:t> </a:t>
            </a:r>
            <a:r>
              <a:rPr lang="en-US" sz="1000" b="1" baseline="26000">
                <a:solidFill>
                  <a:schemeClr val="tx2"/>
                </a:solidFill>
                <a:latin typeface="Arial" pitchFamily="34" charset="0"/>
              </a:rPr>
              <a:t>|</a:t>
            </a:r>
            <a:r>
              <a:rPr lang="en-US" sz="1800">
                <a:solidFill>
                  <a:schemeClr val="tx2"/>
                </a:solidFill>
                <a:latin typeface="Arial" pitchFamily="34" charset="0"/>
                <a:sym typeface="Symbol" pitchFamily="18" charset="2"/>
              </a:rPr>
              <a:t> </a:t>
            </a:r>
            <a:r>
              <a:rPr lang="en-US" sz="2400">
                <a:solidFill>
                  <a:schemeClr val="tx2"/>
                </a:solidFill>
                <a:latin typeface="Arial" pitchFamily="34" charset="0"/>
                <a:sym typeface="Symbol" pitchFamily="18" charset="2"/>
              </a:rPr>
              <a:t> </a:t>
            </a:r>
            <a:r>
              <a:rPr lang="en-US" sz="2000">
                <a:solidFill>
                  <a:schemeClr val="tx2"/>
                </a:solidFill>
                <a:sym typeface="Symbol" pitchFamily="18" charset="2"/>
              </a:rPr>
              <a:t>(possibly &lt; 0).</a:t>
            </a:r>
          </a:p>
          <a:p>
            <a:pPr eaLnBrk="1" hangingPunct="1">
              <a:lnSpc>
                <a:spcPct val="95000"/>
              </a:lnSpc>
              <a:spcBef>
                <a:spcPct val="50000"/>
              </a:spcBef>
              <a:buFont typeface="Wingdings" pitchFamily="2" charset="2"/>
              <a:buChar char="§"/>
            </a:pPr>
            <a:r>
              <a:rPr lang="en-US" sz="2000" b="1">
                <a:solidFill>
                  <a:srgbClr val="CC0000"/>
                </a:solidFill>
                <a:sym typeface="Symbol" pitchFamily="18" charset="2"/>
              </a:rPr>
              <a:t>Cost or distance</a:t>
            </a:r>
            <a:r>
              <a:rPr lang="en-US" sz="2000">
                <a:solidFill>
                  <a:schemeClr val="tx2"/>
                </a:solidFill>
                <a:sym typeface="Symbol" pitchFamily="18" charset="2"/>
              </a:rPr>
              <a:t> of a path P in G:   </a:t>
            </a:r>
            <a:r>
              <a:rPr lang="en-US" sz="2000" b="1">
                <a:solidFill>
                  <a:srgbClr val="CC0000"/>
                </a:solidFill>
                <a:sym typeface="Symbol" pitchFamily="18" charset="2"/>
              </a:rPr>
              <a:t>d(P)</a:t>
            </a:r>
            <a:r>
              <a:rPr lang="en-US" sz="2000">
                <a:solidFill>
                  <a:schemeClr val="tx2"/>
                </a:solidFill>
                <a:sym typeface="Symbol" pitchFamily="18" charset="2"/>
              </a:rPr>
              <a:t> = sum of weights of edges on P.</a:t>
            </a:r>
          </a:p>
          <a:p>
            <a:pPr eaLnBrk="1" hangingPunct="1">
              <a:lnSpc>
                <a:spcPct val="95000"/>
              </a:lnSpc>
              <a:spcBef>
                <a:spcPct val="50000"/>
              </a:spcBef>
              <a:buFont typeface="Wingdings" pitchFamily="2" charset="2"/>
              <a:buChar char="§"/>
            </a:pPr>
            <a:r>
              <a:rPr lang="en-US" sz="2000" b="1">
                <a:solidFill>
                  <a:srgbClr val="CC0000"/>
                </a:solidFill>
                <a:sym typeface="Symbol" pitchFamily="18" charset="2"/>
              </a:rPr>
              <a:t>A shortest (s,t) path:</a:t>
            </a:r>
            <a:r>
              <a:rPr lang="en-US" sz="2000">
                <a:solidFill>
                  <a:schemeClr val="tx2"/>
                </a:solidFill>
                <a:sym typeface="Symbol" pitchFamily="18" charset="2"/>
              </a:rPr>
              <a:t>      a path from vertex s to vertex t in G, whose cost is 						    minimum among all paths in G from s to t.</a:t>
            </a:r>
          </a:p>
          <a:p>
            <a:pPr eaLnBrk="1" hangingPunct="1">
              <a:lnSpc>
                <a:spcPct val="95000"/>
              </a:lnSpc>
              <a:spcBef>
                <a:spcPct val="50000"/>
              </a:spcBef>
              <a:buFont typeface="Wingdings" pitchFamily="2" charset="2"/>
              <a:buChar char="§"/>
            </a:pPr>
            <a:r>
              <a:rPr lang="en-US" sz="2000" b="1">
                <a:solidFill>
                  <a:srgbClr val="CC0000"/>
                </a:solidFill>
                <a:sym typeface="Symbol" pitchFamily="18" charset="2"/>
              </a:rPr>
              <a:t>Shortest Path Problem:</a:t>
            </a:r>
            <a:r>
              <a:rPr lang="en-US" sz="2000">
                <a:solidFill>
                  <a:schemeClr val="tx2"/>
                </a:solidFill>
                <a:sym typeface="Symbol" pitchFamily="18" charset="2"/>
              </a:rPr>
              <a:t> Find a shortest path from s to t in G for each member </a:t>
            </a:r>
            <a:br>
              <a:rPr lang="en-US" sz="2000">
                <a:solidFill>
                  <a:schemeClr val="tx2"/>
                </a:solidFill>
                <a:sym typeface="Symbol" pitchFamily="18" charset="2"/>
              </a:rPr>
            </a:br>
            <a:r>
              <a:rPr lang="en-US" sz="2000">
                <a:solidFill>
                  <a:schemeClr val="tx2"/>
                </a:solidFill>
                <a:sym typeface="Symbol" pitchFamily="18" charset="2"/>
              </a:rPr>
              <a:t>					    (s,t) of a given collection of vertex pairs.</a:t>
            </a:r>
          </a:p>
          <a:p>
            <a:pPr eaLnBrk="1" hangingPunct="1">
              <a:lnSpc>
                <a:spcPct val="95000"/>
              </a:lnSpc>
              <a:spcBef>
                <a:spcPct val="50000"/>
              </a:spcBef>
              <a:buFont typeface="Wingdings" pitchFamily="2" charset="2"/>
              <a:buChar char="§"/>
            </a:pPr>
            <a:r>
              <a:rPr lang="en-US" sz="2000" b="1" u="sng">
                <a:solidFill>
                  <a:schemeClr val="hlink"/>
                </a:solidFill>
                <a:sym typeface="Symbol" pitchFamily="18" charset="2"/>
              </a:rPr>
              <a:t>Four versions of the Shortest Path Problem</a:t>
            </a:r>
            <a:r>
              <a:rPr lang="en-US" sz="2000" b="1">
                <a:solidFill>
                  <a:schemeClr val="hlink"/>
                </a:solidFill>
                <a:sym typeface="Symbol" pitchFamily="18" charset="2"/>
              </a:rPr>
              <a:t>:</a:t>
            </a:r>
            <a:endParaRPr lang="en-US" sz="2000">
              <a:solidFill>
                <a:schemeClr val="hlink"/>
              </a:solidFill>
              <a:sym typeface="Symbol" pitchFamily="18" charset="2"/>
            </a:endParaRPr>
          </a:p>
          <a:p>
            <a:pPr lvl="1" eaLnBrk="1" hangingPunct="1">
              <a:lnSpc>
                <a:spcPct val="95000"/>
              </a:lnSpc>
              <a:spcBef>
                <a:spcPct val="50000"/>
              </a:spcBef>
              <a:buFont typeface="Wingdings" pitchFamily="2" charset="2"/>
              <a:buNone/>
            </a:pPr>
            <a:r>
              <a:rPr lang="en-US" sz="1800" b="1">
                <a:solidFill>
                  <a:srgbClr val="CC0000"/>
                </a:solidFill>
              </a:rPr>
              <a:t>Single-Pair:</a:t>
            </a:r>
            <a:r>
              <a:rPr lang="en-US" sz="1800">
                <a:solidFill>
                  <a:schemeClr val="tx2"/>
                </a:solidFill>
              </a:rPr>
              <a:t>  	Find a shortest path from a given vertex s to a given vertex t in G.</a:t>
            </a:r>
          </a:p>
          <a:p>
            <a:pPr lvl="1" eaLnBrk="1" hangingPunct="1">
              <a:lnSpc>
                <a:spcPct val="95000"/>
              </a:lnSpc>
              <a:spcBef>
                <a:spcPct val="50000"/>
              </a:spcBef>
              <a:buFont typeface="Wingdings" pitchFamily="2" charset="2"/>
              <a:buNone/>
            </a:pPr>
            <a:r>
              <a:rPr lang="en-US" sz="1800" b="1">
                <a:solidFill>
                  <a:srgbClr val="CC0000"/>
                </a:solidFill>
              </a:rPr>
              <a:t>Single-Source:	</a:t>
            </a:r>
            <a:r>
              <a:rPr lang="en-US" sz="1800">
                <a:solidFill>
                  <a:schemeClr val="tx2"/>
                </a:solidFill>
              </a:rPr>
              <a:t>Given a source vertex s, find a shortest path from s to v, </a:t>
            </a:r>
            <a:r>
              <a:rPr lang="en-US" sz="1800">
                <a:solidFill>
                  <a:schemeClr val="tx2"/>
                </a:solidFill>
                <a:sym typeface="Symbol" pitchFamily="18" charset="2"/>
              </a:rPr>
              <a:t>vV(</a:t>
            </a:r>
            <a:r>
              <a:rPr lang="en-US" sz="1800">
                <a:solidFill>
                  <a:schemeClr val="tx2"/>
                </a:solidFill>
              </a:rPr>
              <a:t>G).</a:t>
            </a:r>
          </a:p>
          <a:p>
            <a:pPr lvl="1" eaLnBrk="1" hangingPunct="1">
              <a:lnSpc>
                <a:spcPct val="95000"/>
              </a:lnSpc>
              <a:spcBef>
                <a:spcPct val="50000"/>
              </a:spcBef>
              <a:buFont typeface="Wingdings" pitchFamily="2" charset="2"/>
              <a:buNone/>
            </a:pPr>
            <a:r>
              <a:rPr lang="en-US" sz="1800" b="1">
                <a:solidFill>
                  <a:srgbClr val="CC0000"/>
                </a:solidFill>
              </a:rPr>
              <a:t>Single-Sink:</a:t>
            </a:r>
            <a:r>
              <a:rPr lang="en-US" sz="1800">
                <a:solidFill>
                  <a:schemeClr val="tx2"/>
                </a:solidFill>
              </a:rPr>
              <a:t>  	Given a sink vertex t, find a shortest path from v to t,  </a:t>
            </a:r>
            <a:r>
              <a:rPr lang="en-US" sz="1800">
                <a:solidFill>
                  <a:schemeClr val="tx2"/>
                </a:solidFill>
                <a:sym typeface="Symbol" pitchFamily="18" charset="2"/>
              </a:rPr>
              <a:t>vV(</a:t>
            </a:r>
            <a:r>
              <a:rPr lang="en-US" sz="1800">
                <a:solidFill>
                  <a:schemeClr val="tx2"/>
                </a:solidFill>
              </a:rPr>
              <a:t>G). </a:t>
            </a:r>
          </a:p>
          <a:p>
            <a:pPr lvl="1" eaLnBrk="1" hangingPunct="1">
              <a:lnSpc>
                <a:spcPct val="95000"/>
              </a:lnSpc>
              <a:spcBef>
                <a:spcPct val="50000"/>
              </a:spcBef>
              <a:buFont typeface="Wingdings" pitchFamily="2" charset="2"/>
              <a:buNone/>
            </a:pPr>
            <a:r>
              <a:rPr lang="en-US" sz="1800" b="1">
                <a:solidFill>
                  <a:srgbClr val="CC0000"/>
                </a:solidFill>
              </a:rPr>
              <a:t>All-Pairs:</a:t>
            </a:r>
            <a:r>
              <a:rPr lang="en-US" sz="1800">
                <a:solidFill>
                  <a:schemeClr val="tx2"/>
                </a:solidFill>
              </a:rPr>
              <a:t> 		For every pair of vertices s and t, find a shortest path from s to t in G.</a:t>
            </a:r>
          </a:p>
        </p:txBody>
      </p:sp>
      <p:sp>
        <p:nvSpPr>
          <p:cNvPr id="86020" name="Rectangle 4"/>
          <p:cNvSpPr>
            <a:spLocks noChangeArrowheads="1"/>
          </p:cNvSpPr>
          <p:nvPr/>
        </p:nvSpPr>
        <p:spPr bwMode="auto">
          <a:xfrm>
            <a:off x="533400" y="5105400"/>
            <a:ext cx="8458200" cy="160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70000"/>
              </a:lnSpc>
              <a:spcBef>
                <a:spcPct val="50000"/>
              </a:spcBef>
              <a:buFont typeface="Wingdings" pitchFamily="2" charset="2"/>
              <a:buNone/>
            </a:pPr>
            <a:r>
              <a:rPr lang="en-US" sz="1800" dirty="0">
                <a:solidFill>
                  <a:schemeClr val="hlink"/>
                </a:solidFill>
                <a:cs typeface="Times New Roman" pitchFamily="18" charset="0"/>
              </a:rPr>
              <a:t>° </a:t>
            </a:r>
            <a:r>
              <a:rPr lang="en-US" sz="1800" dirty="0">
                <a:solidFill>
                  <a:schemeClr val="hlink"/>
                </a:solidFill>
              </a:rPr>
              <a:t>Single-Source and Single-Sink are </a:t>
            </a:r>
            <a:r>
              <a:rPr lang="en-US" sz="1800" dirty="0" smtClean="0">
                <a:solidFill>
                  <a:schemeClr val="hlink"/>
                </a:solidFill>
              </a:rPr>
              <a:t>directional </a:t>
            </a:r>
            <a:r>
              <a:rPr lang="en-US" sz="1800" dirty="0">
                <a:solidFill>
                  <a:schemeClr val="hlink"/>
                </a:solidFill>
              </a:rPr>
              <a:t>duals of each other.</a:t>
            </a:r>
          </a:p>
          <a:p>
            <a:pPr eaLnBrk="1" hangingPunct="1">
              <a:lnSpc>
                <a:spcPct val="70000"/>
              </a:lnSpc>
              <a:spcBef>
                <a:spcPct val="50000"/>
              </a:spcBef>
              <a:buFont typeface="Wingdings" pitchFamily="2" charset="2"/>
              <a:buNone/>
            </a:pPr>
            <a:r>
              <a:rPr lang="en-US" sz="1800" dirty="0">
                <a:solidFill>
                  <a:schemeClr val="hlink"/>
                </a:solidFill>
                <a:cs typeface="Times New Roman" pitchFamily="18" charset="0"/>
              </a:rPr>
              <a:t>°</a:t>
            </a:r>
            <a:r>
              <a:rPr lang="en-US" sz="1800" dirty="0">
                <a:solidFill>
                  <a:schemeClr val="hlink"/>
                </a:solidFill>
              </a:rPr>
              <a:t> Single-Pair algorithms typically solve (at least partially) Single-Source or Single-Sink.</a:t>
            </a:r>
          </a:p>
          <a:p>
            <a:pPr eaLnBrk="1" hangingPunct="1">
              <a:lnSpc>
                <a:spcPct val="70000"/>
              </a:lnSpc>
              <a:spcBef>
                <a:spcPct val="50000"/>
              </a:spcBef>
              <a:buFont typeface="Wingdings" pitchFamily="2" charset="2"/>
              <a:buNone/>
            </a:pPr>
            <a:r>
              <a:rPr lang="en-US" sz="1800" dirty="0">
                <a:solidFill>
                  <a:schemeClr val="hlink"/>
                </a:solidFill>
                <a:cs typeface="Times New Roman" pitchFamily="18" charset="0"/>
              </a:rPr>
              <a:t>°</a:t>
            </a:r>
            <a:r>
              <a:rPr lang="en-US" sz="1800" dirty="0">
                <a:solidFill>
                  <a:schemeClr val="hlink"/>
                </a:solidFill>
              </a:rPr>
              <a:t> All-Pairs can be solved by |V(G)| iterations of Single-Source.</a:t>
            </a:r>
          </a:p>
          <a:p>
            <a:pPr eaLnBrk="1" hangingPunct="1">
              <a:lnSpc>
                <a:spcPct val="70000"/>
              </a:lnSpc>
              <a:spcBef>
                <a:spcPct val="50000"/>
              </a:spcBef>
              <a:buFont typeface="Wingdings" pitchFamily="2" charset="2"/>
              <a:buNone/>
            </a:pPr>
            <a:r>
              <a:rPr lang="en-US" sz="1800" dirty="0">
                <a:solidFill>
                  <a:schemeClr val="hlink"/>
                </a:solidFill>
                <a:cs typeface="Times New Roman" pitchFamily="18" charset="0"/>
              </a:rPr>
              <a:t>°</a:t>
            </a:r>
            <a:r>
              <a:rPr lang="en-US" sz="1800" dirty="0">
                <a:solidFill>
                  <a:schemeClr val="hlink"/>
                </a:solidFill>
              </a:rPr>
              <a:t> So, Single-Source is a fundamental problem on which we will concentrate.</a:t>
            </a:r>
          </a:p>
          <a:p>
            <a:pPr eaLnBrk="1" hangingPunct="1">
              <a:lnSpc>
                <a:spcPct val="70000"/>
              </a:lnSpc>
              <a:spcBef>
                <a:spcPct val="50000"/>
              </a:spcBef>
              <a:buFont typeface="Wingdings" pitchFamily="2" charset="2"/>
              <a:buNone/>
            </a:pPr>
            <a:r>
              <a:rPr lang="en-US" sz="1800" dirty="0">
                <a:solidFill>
                  <a:schemeClr val="hlink"/>
                </a:solidFill>
                <a:cs typeface="Times New Roman" pitchFamily="18" charset="0"/>
              </a:rPr>
              <a:t>°</a:t>
            </a:r>
            <a:r>
              <a:rPr lang="en-US" sz="1800" dirty="0">
                <a:solidFill>
                  <a:schemeClr val="hlink"/>
                </a:solidFill>
              </a:rPr>
              <a:t> However, we will also discuss All-Pairs separately.</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93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86018"/>
                                        </p:tgtEl>
                                        <p:attrNameLst>
                                          <p:attrName>style.visibility</p:attrName>
                                        </p:attrNameLst>
                                      </p:cBhvr>
                                      <p:to>
                                        <p:strVal val="visible"/>
                                      </p:to>
                                    </p:set>
                                    <p:anim calcmode="lin" valueType="num">
                                      <p:cBhvr>
                                        <p:cTn id="7" dur="500" fill="hold"/>
                                        <p:tgtEl>
                                          <p:spTgt spid="86018"/>
                                        </p:tgtEl>
                                        <p:attrNameLst>
                                          <p:attrName>ppt_w</p:attrName>
                                        </p:attrNameLst>
                                      </p:cBhvr>
                                      <p:tavLst>
                                        <p:tav tm="0">
                                          <p:val>
                                            <p:fltVal val="0"/>
                                          </p:val>
                                        </p:tav>
                                        <p:tav tm="100000">
                                          <p:val>
                                            <p:strVal val="#ppt_w"/>
                                          </p:val>
                                        </p:tav>
                                      </p:tavLst>
                                    </p:anim>
                                    <p:anim calcmode="lin" valueType="num">
                                      <p:cBhvr>
                                        <p:cTn id="8" dur="500" fill="hold"/>
                                        <p:tgtEl>
                                          <p:spTgt spid="8601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86019">
                                            <p:txEl>
                                              <p:pRg st="0" end="0"/>
                                            </p:txEl>
                                          </p:spTgt>
                                        </p:tgtEl>
                                        <p:attrNameLst>
                                          <p:attrName>style.visibility</p:attrName>
                                        </p:attrNameLst>
                                      </p:cBhvr>
                                      <p:to>
                                        <p:strVal val="visible"/>
                                      </p:to>
                                    </p:set>
                                    <p:animEffect transition="in" filter="wipe(up)">
                                      <p:cBhvr>
                                        <p:cTn id="13" dur="500"/>
                                        <p:tgtEl>
                                          <p:spTgt spid="86019">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86019">
                                            <p:txEl>
                                              <p:pRg st="1" end="1"/>
                                            </p:txEl>
                                          </p:spTgt>
                                        </p:tgtEl>
                                        <p:attrNameLst>
                                          <p:attrName>style.visibility</p:attrName>
                                        </p:attrNameLst>
                                      </p:cBhvr>
                                      <p:to>
                                        <p:strVal val="visible"/>
                                      </p:to>
                                    </p:set>
                                    <p:animEffect transition="in" filter="wipe(up)">
                                      <p:cBhvr>
                                        <p:cTn id="18" dur="500"/>
                                        <p:tgtEl>
                                          <p:spTgt spid="86019">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86019">
                                            <p:txEl>
                                              <p:pRg st="2" end="2"/>
                                            </p:txEl>
                                          </p:spTgt>
                                        </p:tgtEl>
                                        <p:attrNameLst>
                                          <p:attrName>style.visibility</p:attrName>
                                        </p:attrNameLst>
                                      </p:cBhvr>
                                      <p:to>
                                        <p:strVal val="visible"/>
                                      </p:to>
                                    </p:set>
                                    <p:animEffect transition="in" filter="wipe(up)">
                                      <p:cBhvr>
                                        <p:cTn id="23" dur="500"/>
                                        <p:tgtEl>
                                          <p:spTgt spid="86019">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86019">
                                            <p:txEl>
                                              <p:pRg st="3" end="3"/>
                                            </p:txEl>
                                          </p:spTgt>
                                        </p:tgtEl>
                                        <p:attrNameLst>
                                          <p:attrName>style.visibility</p:attrName>
                                        </p:attrNameLst>
                                      </p:cBhvr>
                                      <p:to>
                                        <p:strVal val="visible"/>
                                      </p:to>
                                    </p:set>
                                    <p:animEffect transition="in" filter="wipe(up)">
                                      <p:cBhvr>
                                        <p:cTn id="28" dur="500"/>
                                        <p:tgtEl>
                                          <p:spTgt spid="86019">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86019">
                                            <p:txEl>
                                              <p:pRg st="4" end="4"/>
                                            </p:txEl>
                                          </p:spTgt>
                                        </p:tgtEl>
                                        <p:attrNameLst>
                                          <p:attrName>style.visibility</p:attrName>
                                        </p:attrNameLst>
                                      </p:cBhvr>
                                      <p:to>
                                        <p:strVal val="visible"/>
                                      </p:to>
                                    </p:set>
                                    <p:animEffect transition="in" filter="wipe(up)">
                                      <p:cBhvr>
                                        <p:cTn id="33" dur="500"/>
                                        <p:tgtEl>
                                          <p:spTgt spid="86019">
                                            <p:txEl>
                                              <p:pRg st="4" end="4"/>
                                            </p:txEl>
                                          </p:spTgt>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86019">
                                            <p:txEl>
                                              <p:pRg st="5" end="5"/>
                                            </p:txEl>
                                          </p:spTgt>
                                        </p:tgtEl>
                                        <p:attrNameLst>
                                          <p:attrName>style.visibility</p:attrName>
                                        </p:attrNameLst>
                                      </p:cBhvr>
                                      <p:to>
                                        <p:strVal val="visible"/>
                                      </p:to>
                                    </p:set>
                                    <p:animEffect transition="in" filter="wipe(up)">
                                      <p:cBhvr>
                                        <p:cTn id="36" dur="500"/>
                                        <p:tgtEl>
                                          <p:spTgt spid="86019">
                                            <p:txEl>
                                              <p:pRg st="5" end="5"/>
                                            </p:txEl>
                                          </p:spTgt>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86019">
                                            <p:txEl>
                                              <p:pRg st="6" end="6"/>
                                            </p:txEl>
                                          </p:spTgt>
                                        </p:tgtEl>
                                        <p:attrNameLst>
                                          <p:attrName>style.visibility</p:attrName>
                                        </p:attrNameLst>
                                      </p:cBhvr>
                                      <p:to>
                                        <p:strVal val="visible"/>
                                      </p:to>
                                    </p:set>
                                    <p:animEffect transition="in" filter="wipe(up)">
                                      <p:cBhvr>
                                        <p:cTn id="39" dur="500"/>
                                        <p:tgtEl>
                                          <p:spTgt spid="86019">
                                            <p:txEl>
                                              <p:pRg st="6" end="6"/>
                                            </p:txEl>
                                          </p:spTgt>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86019">
                                            <p:txEl>
                                              <p:pRg st="7" end="7"/>
                                            </p:txEl>
                                          </p:spTgt>
                                        </p:tgtEl>
                                        <p:attrNameLst>
                                          <p:attrName>style.visibility</p:attrName>
                                        </p:attrNameLst>
                                      </p:cBhvr>
                                      <p:to>
                                        <p:strVal val="visible"/>
                                      </p:to>
                                    </p:set>
                                    <p:animEffect transition="in" filter="wipe(up)">
                                      <p:cBhvr>
                                        <p:cTn id="42" dur="500"/>
                                        <p:tgtEl>
                                          <p:spTgt spid="86019">
                                            <p:txEl>
                                              <p:pRg st="7" end="7"/>
                                            </p:txEl>
                                          </p:spTgt>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86019">
                                            <p:txEl>
                                              <p:pRg st="8" end="8"/>
                                            </p:txEl>
                                          </p:spTgt>
                                        </p:tgtEl>
                                        <p:attrNameLst>
                                          <p:attrName>style.visibility</p:attrName>
                                        </p:attrNameLst>
                                      </p:cBhvr>
                                      <p:to>
                                        <p:strVal val="visible"/>
                                      </p:to>
                                    </p:set>
                                    <p:animEffect transition="in" filter="wipe(up)">
                                      <p:cBhvr>
                                        <p:cTn id="45" dur="500"/>
                                        <p:tgtEl>
                                          <p:spTgt spid="86019">
                                            <p:txEl>
                                              <p:pRg st="8" end="8"/>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86020"/>
                                        </p:tgtEl>
                                        <p:attrNameLst>
                                          <p:attrName>style.visibility</p:attrName>
                                        </p:attrNameLst>
                                      </p:cBhvr>
                                      <p:to>
                                        <p:strVal val="visible"/>
                                      </p:to>
                                    </p:set>
                                    <p:animEffect transition="in" filter="wipe(up)">
                                      <p:cBhvr>
                                        <p:cTn id="50" dur="500"/>
                                        <p:tgtEl>
                                          <p:spTgt spid="86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8" grpId="0" animBg="1" autoUpdateAnimBg="0"/>
      <p:bldP spid="86019" grpId="0" build="p" autoUpdateAnimBg="0"/>
      <p:bldP spid="86020" grpId="0"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442" name="Rectangle 2"/>
          <p:cNvSpPr>
            <a:spLocks noGrp="1" noChangeArrowheads="1"/>
          </p:cNvSpPr>
          <p:nvPr>
            <p:ph type="ctrTitle"/>
          </p:nvPr>
        </p:nvSpPr>
        <p:spPr>
          <a:xfrm>
            <a:off x="685800" y="1981200"/>
            <a:ext cx="7772400" cy="2209800"/>
          </a:xfrm>
          <a:solidFill>
            <a:srgbClr val="FFCCCC"/>
          </a:solidFill>
          <a:ln w="762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lstStyle/>
          <a:p>
            <a:pPr eaLnBrk="1" hangingPunct="1"/>
            <a:r>
              <a:rPr lang="en-US" sz="6000" dirty="0" smtClean="0">
                <a:solidFill>
                  <a:schemeClr val="accent2"/>
                </a:solidFill>
                <a:latin typeface="Arial Rounded MT Bold" pitchFamily="34" charset="0"/>
              </a:rPr>
              <a:t>Single-Source Shortest Paths</a:t>
            </a:r>
          </a:p>
        </p:txBody>
      </p:sp>
      <p:sp>
        <p:nvSpPr>
          <p:cNvPr id="2" name="Slide Number Placeholder 1"/>
          <p:cNvSpPr>
            <a:spLocks noGrp="1"/>
          </p:cNvSpPr>
          <p:nvPr>
            <p:ph type="sldNum" sz="quarter" idx="12"/>
          </p:nvPr>
        </p:nvSpPr>
        <p:spPr/>
        <p:txBody>
          <a:bodyPr/>
          <a:lstStyle/>
          <a:p>
            <a:pPr>
              <a:defRPr/>
            </a:pPr>
            <a:fld id="{90683EDB-7658-49F0-B96C-482436AB937A}" type="slidenum">
              <a:rPr lang="en-US" smtClean="0"/>
              <a:pPr>
                <a:defRPr/>
              </a:pPr>
              <a:t>94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89442"/>
                                        </p:tgtEl>
                                        <p:attrNameLst>
                                          <p:attrName>style.visibility</p:attrName>
                                        </p:attrNameLst>
                                      </p:cBhvr>
                                      <p:to>
                                        <p:strVal val="visible"/>
                                      </p:to>
                                    </p:set>
                                    <p:anim calcmode="lin" valueType="num">
                                      <p:cBhvr>
                                        <p:cTn id="7" dur="500" fill="hold"/>
                                        <p:tgtEl>
                                          <p:spTgt spid="189442"/>
                                        </p:tgtEl>
                                        <p:attrNameLst>
                                          <p:attrName>ppt_w</p:attrName>
                                        </p:attrNameLst>
                                      </p:cBhvr>
                                      <p:tavLst>
                                        <p:tav tm="0">
                                          <p:val>
                                            <p:fltVal val="0"/>
                                          </p:val>
                                        </p:tav>
                                        <p:tav tm="100000">
                                          <p:val>
                                            <p:strVal val="#ppt_w"/>
                                          </p:val>
                                        </p:tav>
                                      </p:tavLst>
                                    </p:anim>
                                    <p:anim calcmode="lin" valueType="num">
                                      <p:cBhvr>
                                        <p:cTn id="8" dur="500" fill="hold"/>
                                        <p:tgtEl>
                                          <p:spTgt spid="18944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2" grpId="0" animBg="1"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chemeClr val="tx1"/>
                </a:solidFill>
                <a:latin typeface="Arial Rounded MT Bold" pitchFamily="34" charset="0"/>
              </a:rPr>
              <a:t>Negative Cost Cycles</a:t>
            </a:r>
          </a:p>
        </p:txBody>
      </p:sp>
      <p:sp>
        <p:nvSpPr>
          <p:cNvPr id="178179" name="Text Box 3"/>
          <p:cNvSpPr txBox="1">
            <a:spLocks noChangeArrowheads="1"/>
          </p:cNvSpPr>
          <p:nvPr/>
        </p:nvSpPr>
        <p:spPr bwMode="auto">
          <a:xfrm>
            <a:off x="152400" y="4191000"/>
            <a:ext cx="8763000" cy="935038"/>
          </a:xfrm>
          <a:prstGeom prst="rect">
            <a:avLst/>
          </a:prstGeom>
          <a:solidFill>
            <a:schemeClr val="accent3">
              <a:lumMod val="85000"/>
            </a:schemeClr>
          </a:solid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 typeface="Wingdings" pitchFamily="2" charset="2"/>
              <a:buNone/>
            </a:pPr>
            <a:r>
              <a:rPr lang="en-US" sz="1800" dirty="0">
                <a:solidFill>
                  <a:schemeClr val="tx2"/>
                </a:solidFill>
              </a:rPr>
              <a:t>In the presence of </a:t>
            </a:r>
            <a:r>
              <a:rPr lang="en-US" sz="1800" b="1" dirty="0">
                <a:solidFill>
                  <a:srgbClr val="CC0000"/>
                </a:solidFill>
              </a:rPr>
              <a:t>negative cycles</a:t>
            </a:r>
            <a:r>
              <a:rPr lang="en-US" sz="1800" dirty="0">
                <a:solidFill>
                  <a:schemeClr val="tx2"/>
                </a:solidFill>
              </a:rPr>
              <a:t>, asking for a </a:t>
            </a:r>
            <a:r>
              <a:rPr lang="en-US" sz="1800" b="1" dirty="0">
                <a:solidFill>
                  <a:srgbClr val="CC0000"/>
                </a:solidFill>
              </a:rPr>
              <a:t>simple</a:t>
            </a:r>
            <a:r>
              <a:rPr lang="en-US" sz="1800" dirty="0">
                <a:solidFill>
                  <a:schemeClr val="tx2"/>
                </a:solidFill>
              </a:rPr>
              <a:t> shortest path is NP-Complete. </a:t>
            </a:r>
          </a:p>
          <a:p>
            <a:pPr eaLnBrk="1" hangingPunct="1">
              <a:buFont typeface="Wingdings" pitchFamily="2" charset="2"/>
              <a:buNone/>
            </a:pPr>
            <a:endParaRPr lang="en-US" sz="1800" dirty="0">
              <a:solidFill>
                <a:schemeClr val="tx2"/>
              </a:solidFill>
            </a:endParaRPr>
          </a:p>
          <a:p>
            <a:pPr eaLnBrk="1" hangingPunct="1">
              <a:buFont typeface="Wingdings" pitchFamily="2" charset="2"/>
              <a:buNone/>
            </a:pPr>
            <a:r>
              <a:rPr lang="en-US" sz="1800" b="1" dirty="0">
                <a:solidFill>
                  <a:srgbClr val="CC0000"/>
                </a:solidFill>
              </a:rPr>
              <a:t>Optimum Sub-Structure Property (OSSP)</a:t>
            </a:r>
            <a:r>
              <a:rPr lang="en-US" sz="1800" dirty="0">
                <a:solidFill>
                  <a:schemeClr val="tx2"/>
                </a:solidFill>
              </a:rPr>
              <a:t> of dynamic programming  </a:t>
            </a:r>
            <a:r>
              <a:rPr lang="en-US" sz="1800" b="1" dirty="0">
                <a:solidFill>
                  <a:srgbClr val="CC0000"/>
                </a:solidFill>
              </a:rPr>
              <a:t>does NOT hold</a:t>
            </a:r>
            <a:r>
              <a:rPr lang="en-US" sz="1800" dirty="0">
                <a:solidFill>
                  <a:schemeClr val="tx2"/>
                </a:solidFill>
              </a:rPr>
              <a:t>.</a:t>
            </a:r>
          </a:p>
        </p:txBody>
      </p:sp>
      <p:sp>
        <p:nvSpPr>
          <p:cNvPr id="178180" name="Rectangle 4" descr="Recycled paper"/>
          <p:cNvSpPr>
            <a:spLocks noChangeArrowheads="1"/>
          </p:cNvSpPr>
          <p:nvPr/>
        </p:nvSpPr>
        <p:spPr bwMode="auto">
          <a:xfrm>
            <a:off x="152400" y="838200"/>
            <a:ext cx="8839200" cy="10858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eaLnBrk="1" hangingPunct="1">
              <a:spcBef>
                <a:spcPct val="50000"/>
              </a:spcBef>
              <a:buFontTx/>
              <a:buNone/>
              <a:tabLst>
                <a:tab pos="376238" algn="l"/>
              </a:tabLst>
            </a:pPr>
            <a:r>
              <a:rPr lang="en-US" sz="2400" b="1" dirty="0">
                <a:solidFill>
                  <a:srgbClr val="CC0000"/>
                </a:solidFill>
              </a:rPr>
              <a:t>FACT 1:  </a:t>
            </a:r>
            <a:r>
              <a:rPr lang="en-US" sz="2000" dirty="0">
                <a:solidFill>
                  <a:schemeClr val="hlink"/>
                </a:solidFill>
              </a:rPr>
              <a:t>Suppose node t is reachable from node s. </a:t>
            </a:r>
            <a:br>
              <a:rPr lang="en-US" sz="2000" dirty="0">
                <a:solidFill>
                  <a:schemeClr val="hlink"/>
                </a:solidFill>
              </a:rPr>
            </a:b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 shortest path from s to t if no path from s to t contains a negative cost cycle.	If there is any shortest path from s to t, there is one that is simple.</a:t>
            </a:r>
            <a:endParaRPr lang="en-US" sz="2000" dirty="0">
              <a:solidFill>
                <a:srgbClr val="CC0000"/>
              </a:solidFill>
            </a:endParaRPr>
          </a:p>
        </p:txBody>
      </p:sp>
      <p:sp>
        <p:nvSpPr>
          <p:cNvPr id="178275" name="Text Box 99"/>
          <p:cNvSpPr txBox="1">
            <a:spLocks noChangeArrowheads="1"/>
          </p:cNvSpPr>
          <p:nvPr/>
        </p:nvSpPr>
        <p:spPr bwMode="auto">
          <a:xfrm>
            <a:off x="212725" y="2095500"/>
            <a:ext cx="8778875" cy="1603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Tx/>
              <a:buNone/>
            </a:pPr>
            <a:r>
              <a:rPr lang="en-US" sz="1800" b="1">
                <a:solidFill>
                  <a:schemeClr val="tx2"/>
                </a:solidFill>
              </a:rPr>
              <a:t>Proof:</a:t>
            </a:r>
            <a:br>
              <a:rPr lang="en-US" sz="1800" b="1">
                <a:solidFill>
                  <a:schemeClr val="tx2"/>
                </a:solidFill>
              </a:rPr>
            </a:br>
            <a:r>
              <a:rPr lang="en-US" sz="1800">
                <a:solidFill>
                  <a:schemeClr val="tx2"/>
                </a:solidFill>
              </a:rPr>
              <a:t>If some s-t path contains a negative cycle, we can produce an arbitrarily short s-t path by repeating the cycle enough times.</a:t>
            </a:r>
          </a:p>
          <a:p>
            <a:pPr eaLnBrk="1" hangingPunct="1">
              <a:spcBef>
                <a:spcPct val="50000"/>
              </a:spcBef>
              <a:buFontTx/>
              <a:buNone/>
            </a:pPr>
            <a:r>
              <a:rPr lang="en-US" sz="1800">
                <a:solidFill>
                  <a:schemeClr val="tx2"/>
                </a:solidFill>
              </a:rPr>
              <a:t>If no s-t path contains a negative cycle, we can make any s-t path simple, without increasing its cost, by removing (or bypassing) the cycles on the path.</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95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78178"/>
                                        </p:tgtEl>
                                        <p:attrNameLst>
                                          <p:attrName>style.visibility</p:attrName>
                                        </p:attrNameLst>
                                      </p:cBhvr>
                                      <p:to>
                                        <p:strVal val="visible"/>
                                      </p:to>
                                    </p:set>
                                    <p:anim calcmode="lin" valueType="num">
                                      <p:cBhvr>
                                        <p:cTn id="7" dur="500" fill="hold"/>
                                        <p:tgtEl>
                                          <p:spTgt spid="178178"/>
                                        </p:tgtEl>
                                        <p:attrNameLst>
                                          <p:attrName>ppt_w</p:attrName>
                                        </p:attrNameLst>
                                      </p:cBhvr>
                                      <p:tavLst>
                                        <p:tav tm="0">
                                          <p:val>
                                            <p:fltVal val="0"/>
                                          </p:val>
                                        </p:tav>
                                        <p:tav tm="100000">
                                          <p:val>
                                            <p:strVal val="#ppt_w"/>
                                          </p:val>
                                        </p:tav>
                                      </p:tavLst>
                                    </p:anim>
                                    <p:anim calcmode="lin" valueType="num">
                                      <p:cBhvr>
                                        <p:cTn id="8" dur="500" fill="hold"/>
                                        <p:tgtEl>
                                          <p:spTgt spid="17817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78180"/>
                                        </p:tgtEl>
                                        <p:attrNameLst>
                                          <p:attrName>style.visibility</p:attrName>
                                        </p:attrNameLst>
                                      </p:cBhvr>
                                      <p:to>
                                        <p:strVal val="visible"/>
                                      </p:to>
                                    </p:set>
                                    <p:animEffect transition="in" filter="wipe(up)">
                                      <p:cBhvr>
                                        <p:cTn id="13" dur="500"/>
                                        <p:tgtEl>
                                          <p:spTgt spid="17818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78275">
                                            <p:txEl>
                                              <p:pRg st="0" end="0"/>
                                            </p:txEl>
                                          </p:spTgt>
                                        </p:tgtEl>
                                        <p:attrNameLst>
                                          <p:attrName>style.visibility</p:attrName>
                                        </p:attrNameLst>
                                      </p:cBhvr>
                                      <p:to>
                                        <p:strVal val="visible"/>
                                      </p:to>
                                    </p:set>
                                    <p:animEffect transition="in" filter="wipe(up)">
                                      <p:cBhvr>
                                        <p:cTn id="18" dur="500"/>
                                        <p:tgtEl>
                                          <p:spTgt spid="178275">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78275">
                                            <p:txEl>
                                              <p:pRg st="1" end="1"/>
                                            </p:txEl>
                                          </p:spTgt>
                                        </p:tgtEl>
                                        <p:attrNameLst>
                                          <p:attrName>style.visibility</p:attrName>
                                        </p:attrNameLst>
                                      </p:cBhvr>
                                      <p:to>
                                        <p:strVal val="visible"/>
                                      </p:to>
                                    </p:set>
                                    <p:animEffect transition="in" filter="wipe(up)">
                                      <p:cBhvr>
                                        <p:cTn id="23" dur="500"/>
                                        <p:tgtEl>
                                          <p:spTgt spid="178275">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78179"/>
                                        </p:tgtEl>
                                        <p:attrNameLst>
                                          <p:attrName>style.visibility</p:attrName>
                                        </p:attrNameLst>
                                      </p:cBhvr>
                                      <p:to>
                                        <p:strVal val="visible"/>
                                      </p:to>
                                    </p:set>
                                    <p:animEffect transition="in" filter="wipe(up)">
                                      <p:cBhvr>
                                        <p:cTn id="28" dur="500"/>
                                        <p:tgtEl>
                                          <p:spTgt spid="178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8" grpId="0" animBg="1" autoUpdateAnimBg="0"/>
      <p:bldP spid="178179" grpId="0" animBg="1" autoUpdateAnimBg="0"/>
      <p:bldP spid="178180" grpId="0" animBg="1" autoUpdateAnimBg="0"/>
      <p:bldP spid="178275" grpId="0" build="p"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smtClean="0">
                <a:solidFill>
                  <a:schemeClr val="tx1"/>
                </a:solidFill>
                <a:latin typeface="Arial Rounded MT Bold" pitchFamily="34" charset="0"/>
              </a:rPr>
              <a:t>Shortest Path Trees</a:t>
            </a:r>
          </a:p>
        </p:txBody>
      </p:sp>
      <p:sp>
        <p:nvSpPr>
          <p:cNvPr id="179203" name="Text Box 3"/>
          <p:cNvSpPr txBox="1">
            <a:spLocks noChangeArrowheads="1"/>
          </p:cNvSpPr>
          <p:nvPr/>
        </p:nvSpPr>
        <p:spPr bwMode="auto">
          <a:xfrm>
            <a:off x="152400" y="762000"/>
            <a:ext cx="8763000" cy="91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 typeface="Wingdings" pitchFamily="2" charset="2"/>
              <a:buNone/>
            </a:pPr>
            <a:r>
              <a:rPr lang="en-US" sz="1800" b="1" dirty="0">
                <a:solidFill>
                  <a:srgbClr val="CC0000"/>
                </a:solidFill>
              </a:rPr>
              <a:t>Shortest Path Tree T:</a:t>
            </a:r>
            <a:r>
              <a:rPr lang="en-US" sz="1800" dirty="0">
                <a:solidFill>
                  <a:schemeClr val="tx2"/>
                </a:solidFill>
              </a:rPr>
              <a:t>             A compact way </a:t>
            </a:r>
            <a:r>
              <a:rPr lang="en-US" sz="1800" dirty="0" smtClean="0">
                <a:solidFill>
                  <a:schemeClr val="tx2"/>
                </a:solidFill>
              </a:rPr>
              <a:t>to represent </a:t>
            </a:r>
            <a:r>
              <a:rPr lang="en-US" sz="1800" dirty="0">
                <a:solidFill>
                  <a:schemeClr val="tx2"/>
                </a:solidFill>
              </a:rPr>
              <a:t>single-source shortest paths.</a:t>
            </a:r>
            <a:br>
              <a:rPr lang="en-US" sz="1800" dirty="0">
                <a:solidFill>
                  <a:schemeClr val="tx2"/>
                </a:solidFill>
              </a:rPr>
            </a:br>
            <a:r>
              <a:rPr lang="en-US" sz="1800" dirty="0" smtClean="0">
                <a:solidFill>
                  <a:schemeClr val="tx2"/>
                </a:solidFill>
              </a:rPr>
              <a:t>		This </a:t>
            </a:r>
            <a:r>
              <a:rPr lang="en-US" sz="1800" dirty="0">
                <a:solidFill>
                  <a:schemeClr val="tx2"/>
                </a:solidFill>
              </a:rPr>
              <a:t>is a tree rooted at the source s and spans all nodes reachable from s, </a:t>
            </a:r>
            <a:r>
              <a:rPr lang="en-US" sz="1800" dirty="0" smtClean="0">
                <a:solidFill>
                  <a:schemeClr val="tx2"/>
                </a:solidFill>
              </a:rPr>
              <a:t/>
            </a:r>
            <a:br>
              <a:rPr lang="en-US" sz="1800" dirty="0" smtClean="0">
                <a:solidFill>
                  <a:schemeClr val="tx2"/>
                </a:solidFill>
              </a:rPr>
            </a:br>
            <a:r>
              <a:rPr lang="en-US" sz="1800" dirty="0" smtClean="0">
                <a:solidFill>
                  <a:schemeClr val="tx2"/>
                </a:solidFill>
              </a:rPr>
              <a:t>		all </a:t>
            </a:r>
            <a:r>
              <a:rPr lang="en-US" sz="1800" dirty="0">
                <a:solidFill>
                  <a:schemeClr val="tx2"/>
                </a:solidFill>
              </a:rPr>
              <a:t>of whose paths are shortest paths in G.</a:t>
            </a:r>
            <a:endParaRPr lang="en-US" sz="1800" dirty="0">
              <a:solidFill>
                <a:srgbClr val="CC0000"/>
              </a:solidFill>
            </a:endParaRPr>
          </a:p>
        </p:txBody>
      </p:sp>
      <p:grpSp>
        <p:nvGrpSpPr>
          <p:cNvPr id="179205" name="Group 5"/>
          <p:cNvGrpSpPr>
            <a:grpSpLocks/>
          </p:cNvGrpSpPr>
          <p:nvPr/>
        </p:nvGrpSpPr>
        <p:grpSpPr bwMode="auto">
          <a:xfrm>
            <a:off x="533400" y="1752600"/>
            <a:ext cx="3308350" cy="3155950"/>
            <a:chOff x="336" y="2256"/>
            <a:chExt cx="2084" cy="1988"/>
          </a:xfrm>
        </p:grpSpPr>
        <p:sp>
          <p:nvSpPr>
            <p:cNvPr id="99363" name="Text Box 6"/>
            <p:cNvSpPr txBox="1">
              <a:spLocks noChangeArrowheads="1"/>
            </p:cNvSpPr>
            <p:nvPr/>
          </p:nvSpPr>
          <p:spPr bwMode="auto">
            <a:xfrm>
              <a:off x="360" y="2304"/>
              <a:ext cx="2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a:solidFill>
                    <a:schemeClr val="tx2"/>
                  </a:solidFill>
                  <a:latin typeface="Arial" pitchFamily="34" charset="0"/>
                </a:rPr>
                <a:t>G:</a:t>
              </a:r>
            </a:p>
          </p:txBody>
        </p:sp>
        <p:sp>
          <p:nvSpPr>
            <p:cNvPr id="99364" name="Freeform 7"/>
            <p:cNvSpPr>
              <a:spLocks/>
            </p:cNvSpPr>
            <p:nvPr/>
          </p:nvSpPr>
          <p:spPr bwMode="auto">
            <a:xfrm>
              <a:off x="1440" y="3694"/>
              <a:ext cx="606" cy="338"/>
            </a:xfrm>
            <a:custGeom>
              <a:avLst/>
              <a:gdLst>
                <a:gd name="T0" fmla="*/ 0 w 606"/>
                <a:gd name="T1" fmla="*/ 338 h 338"/>
                <a:gd name="T2" fmla="*/ 606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65" name="Line 8"/>
            <p:cNvSpPr>
              <a:spLocks noChangeShapeType="1"/>
            </p:cNvSpPr>
            <p:nvPr/>
          </p:nvSpPr>
          <p:spPr bwMode="auto">
            <a:xfrm flipV="1">
              <a:off x="1392" y="3360"/>
              <a:ext cx="0"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66" name="Freeform 9"/>
            <p:cNvSpPr>
              <a:spLocks/>
            </p:cNvSpPr>
            <p:nvPr/>
          </p:nvSpPr>
          <p:spPr bwMode="auto">
            <a:xfrm>
              <a:off x="624" y="3600"/>
              <a:ext cx="627" cy="399"/>
            </a:xfrm>
            <a:custGeom>
              <a:avLst/>
              <a:gdLst>
                <a:gd name="T0" fmla="*/ 0 w 627"/>
                <a:gd name="T1" fmla="*/ 0 h 399"/>
                <a:gd name="T2" fmla="*/ 627 w 627"/>
                <a:gd name="T3" fmla="*/ 399 h 399"/>
                <a:gd name="T4" fmla="*/ 0 60000 65536"/>
                <a:gd name="T5" fmla="*/ 0 60000 65536"/>
              </a:gdLst>
              <a:ahLst/>
              <a:cxnLst>
                <a:cxn ang="T4">
                  <a:pos x="T0" y="T1"/>
                </a:cxn>
                <a:cxn ang="T5">
                  <a:pos x="T2" y="T3"/>
                </a:cxn>
              </a:cxnLst>
              <a:rect l="0" t="0" r="r" b="b"/>
              <a:pathLst>
                <a:path w="627" h="399">
                  <a:moveTo>
                    <a:pt x="0" y="0"/>
                  </a:moveTo>
                  <a:lnTo>
                    <a:pt x="627" y="399"/>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67" name="Line 10"/>
            <p:cNvSpPr>
              <a:spLocks noChangeShapeType="1"/>
            </p:cNvSpPr>
            <p:nvPr/>
          </p:nvSpPr>
          <p:spPr bwMode="auto">
            <a:xfrm>
              <a:off x="1392" y="3216"/>
              <a:ext cx="672"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68" name="Line 11"/>
            <p:cNvSpPr>
              <a:spLocks noChangeShapeType="1"/>
            </p:cNvSpPr>
            <p:nvPr/>
          </p:nvSpPr>
          <p:spPr bwMode="auto">
            <a:xfrm flipV="1">
              <a:off x="2160" y="2976"/>
              <a:ext cx="0" cy="57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69" name="Line 12"/>
            <p:cNvSpPr>
              <a:spLocks noChangeShapeType="1"/>
            </p:cNvSpPr>
            <p:nvPr/>
          </p:nvSpPr>
          <p:spPr bwMode="auto">
            <a:xfrm>
              <a:off x="624" y="2832"/>
              <a:ext cx="0"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70" name="Freeform 13"/>
            <p:cNvSpPr>
              <a:spLocks/>
            </p:cNvSpPr>
            <p:nvPr/>
          </p:nvSpPr>
          <p:spPr bwMode="auto">
            <a:xfrm>
              <a:off x="624" y="3290"/>
              <a:ext cx="647" cy="310"/>
            </a:xfrm>
            <a:custGeom>
              <a:avLst/>
              <a:gdLst>
                <a:gd name="T0" fmla="*/ 0 w 647"/>
                <a:gd name="T1" fmla="*/ 310 h 310"/>
                <a:gd name="T2" fmla="*/ 647 w 647"/>
                <a:gd name="T3" fmla="*/ 0 h 310"/>
                <a:gd name="T4" fmla="*/ 0 60000 65536"/>
                <a:gd name="T5" fmla="*/ 0 60000 65536"/>
              </a:gdLst>
              <a:ahLst/>
              <a:cxnLst>
                <a:cxn ang="T4">
                  <a:pos x="T0" y="T1"/>
                </a:cxn>
                <a:cxn ang="T5">
                  <a:pos x="T2" y="T3"/>
                </a:cxn>
              </a:cxnLst>
              <a:rect l="0" t="0" r="r" b="b"/>
              <a:pathLst>
                <a:path w="647" h="310">
                  <a:moveTo>
                    <a:pt x="0" y="310"/>
                  </a:moveTo>
                  <a:lnTo>
                    <a:pt x="647"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71" name="Freeform 14"/>
            <p:cNvSpPr>
              <a:spLocks/>
            </p:cNvSpPr>
            <p:nvPr/>
          </p:nvSpPr>
          <p:spPr bwMode="auto">
            <a:xfrm>
              <a:off x="748" y="2913"/>
              <a:ext cx="644" cy="303"/>
            </a:xfrm>
            <a:custGeom>
              <a:avLst/>
              <a:gdLst>
                <a:gd name="T0" fmla="*/ 644 w 644"/>
                <a:gd name="T1" fmla="*/ 303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72" name="Freeform 15"/>
            <p:cNvSpPr>
              <a:spLocks/>
            </p:cNvSpPr>
            <p:nvPr/>
          </p:nvSpPr>
          <p:spPr bwMode="auto">
            <a:xfrm>
              <a:off x="1392" y="2906"/>
              <a:ext cx="641" cy="310"/>
            </a:xfrm>
            <a:custGeom>
              <a:avLst/>
              <a:gdLst>
                <a:gd name="T0" fmla="*/ 0 w 641"/>
                <a:gd name="T1" fmla="*/ 310 h 310"/>
                <a:gd name="T2" fmla="*/ 641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73" name="Freeform 16"/>
            <p:cNvSpPr>
              <a:spLocks/>
            </p:cNvSpPr>
            <p:nvPr/>
          </p:nvSpPr>
          <p:spPr bwMode="auto">
            <a:xfrm>
              <a:off x="624" y="2443"/>
              <a:ext cx="641" cy="389"/>
            </a:xfrm>
            <a:custGeom>
              <a:avLst/>
              <a:gdLst>
                <a:gd name="T0" fmla="*/ 0 w 641"/>
                <a:gd name="T1" fmla="*/ 389 h 389"/>
                <a:gd name="T2" fmla="*/ 641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74" name="Freeform 17"/>
            <p:cNvSpPr>
              <a:spLocks/>
            </p:cNvSpPr>
            <p:nvPr/>
          </p:nvSpPr>
          <p:spPr bwMode="auto">
            <a:xfrm>
              <a:off x="1529" y="2450"/>
              <a:ext cx="631" cy="382"/>
            </a:xfrm>
            <a:custGeom>
              <a:avLst/>
              <a:gdLst>
                <a:gd name="T0" fmla="*/ 631 w 631"/>
                <a:gd name="T1" fmla="*/ 382 h 382"/>
                <a:gd name="T2" fmla="*/ 0 w 631"/>
                <a:gd name="T3" fmla="*/ 0 h 382"/>
                <a:gd name="T4" fmla="*/ 0 60000 65536"/>
                <a:gd name="T5" fmla="*/ 0 60000 65536"/>
              </a:gdLst>
              <a:ahLst/>
              <a:cxnLst>
                <a:cxn ang="T4">
                  <a:pos x="T0" y="T1"/>
                </a:cxn>
                <a:cxn ang="T5">
                  <a:pos x="T2" y="T3"/>
                </a:cxn>
              </a:cxnLst>
              <a:rect l="0" t="0" r="r" b="b"/>
              <a:pathLst>
                <a:path w="631" h="382">
                  <a:moveTo>
                    <a:pt x="631" y="382"/>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75" name="Oval 18"/>
            <p:cNvSpPr>
              <a:spLocks noChangeArrowheads="1"/>
            </p:cNvSpPr>
            <p:nvPr/>
          </p:nvSpPr>
          <p:spPr bwMode="auto">
            <a:xfrm>
              <a:off x="1248" y="3888"/>
              <a:ext cx="288" cy="288"/>
            </a:xfrm>
            <a:prstGeom prst="ellipse">
              <a:avLst/>
            </a:prstGeom>
            <a:solidFill>
              <a:srgbClr val="C0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a</a:t>
              </a:r>
            </a:p>
          </p:txBody>
        </p:sp>
        <p:sp>
          <p:nvSpPr>
            <p:cNvPr id="99376" name="Oval 19"/>
            <p:cNvSpPr>
              <a:spLocks noChangeArrowheads="1"/>
            </p:cNvSpPr>
            <p:nvPr/>
          </p:nvSpPr>
          <p:spPr bwMode="auto">
            <a:xfrm>
              <a:off x="480" y="3456"/>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b</a:t>
              </a:r>
            </a:p>
          </p:txBody>
        </p:sp>
        <p:sp>
          <p:nvSpPr>
            <p:cNvPr id="99377" name="Oval 20"/>
            <p:cNvSpPr>
              <a:spLocks noChangeArrowheads="1"/>
            </p:cNvSpPr>
            <p:nvPr/>
          </p:nvSpPr>
          <p:spPr bwMode="auto">
            <a:xfrm>
              <a:off x="2016" y="3456"/>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c</a:t>
              </a:r>
            </a:p>
          </p:txBody>
        </p:sp>
        <p:sp>
          <p:nvSpPr>
            <p:cNvPr id="99378" name="Oval 21"/>
            <p:cNvSpPr>
              <a:spLocks noChangeArrowheads="1"/>
            </p:cNvSpPr>
            <p:nvPr/>
          </p:nvSpPr>
          <p:spPr bwMode="auto">
            <a:xfrm>
              <a:off x="1248" y="3072"/>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d</a:t>
              </a:r>
            </a:p>
          </p:txBody>
        </p:sp>
        <p:sp>
          <p:nvSpPr>
            <p:cNvPr id="99379" name="Oval 22"/>
            <p:cNvSpPr>
              <a:spLocks noChangeArrowheads="1"/>
            </p:cNvSpPr>
            <p:nvPr/>
          </p:nvSpPr>
          <p:spPr bwMode="auto">
            <a:xfrm>
              <a:off x="480" y="2688"/>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e</a:t>
              </a:r>
            </a:p>
          </p:txBody>
        </p:sp>
        <p:sp>
          <p:nvSpPr>
            <p:cNvPr id="99380" name="Line 23"/>
            <p:cNvSpPr>
              <a:spLocks noChangeShapeType="1"/>
            </p:cNvSpPr>
            <p:nvPr/>
          </p:nvSpPr>
          <p:spPr bwMode="auto">
            <a:xfrm flipH="1">
              <a:off x="768" y="2832"/>
              <a:ext cx="13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81" name="Oval 24"/>
            <p:cNvSpPr>
              <a:spLocks noChangeArrowheads="1"/>
            </p:cNvSpPr>
            <p:nvPr/>
          </p:nvSpPr>
          <p:spPr bwMode="auto">
            <a:xfrm>
              <a:off x="1248" y="2256"/>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g</a:t>
              </a:r>
            </a:p>
          </p:txBody>
        </p:sp>
        <p:sp>
          <p:nvSpPr>
            <p:cNvPr id="99382" name="Oval 25"/>
            <p:cNvSpPr>
              <a:spLocks noChangeArrowheads="1"/>
            </p:cNvSpPr>
            <p:nvPr/>
          </p:nvSpPr>
          <p:spPr bwMode="auto">
            <a:xfrm>
              <a:off x="2016" y="2688"/>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f</a:t>
              </a:r>
            </a:p>
          </p:txBody>
        </p:sp>
        <p:sp>
          <p:nvSpPr>
            <p:cNvPr id="99383" name="Rectangle 26"/>
            <p:cNvSpPr>
              <a:spLocks noChangeArrowheads="1"/>
            </p:cNvSpPr>
            <p:nvPr/>
          </p:nvSpPr>
          <p:spPr bwMode="auto">
            <a:xfrm>
              <a:off x="864" y="240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99384" name="Rectangle 27"/>
            <p:cNvSpPr>
              <a:spLocks noChangeArrowheads="1"/>
            </p:cNvSpPr>
            <p:nvPr/>
          </p:nvSpPr>
          <p:spPr bwMode="auto">
            <a:xfrm>
              <a:off x="1728" y="240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2</a:t>
              </a:r>
            </a:p>
          </p:txBody>
        </p:sp>
        <p:sp>
          <p:nvSpPr>
            <p:cNvPr id="99385" name="Rectangle 28"/>
            <p:cNvSpPr>
              <a:spLocks noChangeArrowheads="1"/>
            </p:cNvSpPr>
            <p:nvPr/>
          </p:nvSpPr>
          <p:spPr bwMode="auto">
            <a:xfrm>
              <a:off x="1272" y="2640"/>
              <a:ext cx="23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-2</a:t>
              </a:r>
            </a:p>
          </p:txBody>
        </p:sp>
        <p:sp>
          <p:nvSpPr>
            <p:cNvPr id="99386" name="Rectangle 29"/>
            <p:cNvSpPr>
              <a:spLocks noChangeArrowheads="1"/>
            </p:cNvSpPr>
            <p:nvPr/>
          </p:nvSpPr>
          <p:spPr bwMode="auto">
            <a:xfrm>
              <a:off x="336" y="3072"/>
              <a:ext cx="2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solidFill>
                    <a:schemeClr val="tx2"/>
                  </a:solidFill>
                </a:rPr>
                <a:t>10</a:t>
              </a:r>
            </a:p>
          </p:txBody>
        </p:sp>
        <p:sp>
          <p:nvSpPr>
            <p:cNvPr id="99387" name="Rectangle 30"/>
            <p:cNvSpPr>
              <a:spLocks noChangeArrowheads="1"/>
            </p:cNvSpPr>
            <p:nvPr/>
          </p:nvSpPr>
          <p:spPr bwMode="auto">
            <a:xfrm>
              <a:off x="792" y="2976"/>
              <a:ext cx="23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-1</a:t>
              </a:r>
            </a:p>
          </p:txBody>
        </p:sp>
        <p:sp>
          <p:nvSpPr>
            <p:cNvPr id="99388" name="Rectangle 31"/>
            <p:cNvSpPr>
              <a:spLocks noChangeArrowheads="1"/>
            </p:cNvSpPr>
            <p:nvPr/>
          </p:nvSpPr>
          <p:spPr bwMode="auto">
            <a:xfrm>
              <a:off x="1728" y="2976"/>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5</a:t>
              </a:r>
            </a:p>
          </p:txBody>
        </p:sp>
        <p:sp>
          <p:nvSpPr>
            <p:cNvPr id="99389" name="Rectangle 32"/>
            <p:cNvSpPr>
              <a:spLocks noChangeArrowheads="1"/>
            </p:cNvSpPr>
            <p:nvPr/>
          </p:nvSpPr>
          <p:spPr bwMode="auto">
            <a:xfrm>
              <a:off x="2160" y="3120"/>
              <a:ext cx="2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12</a:t>
              </a:r>
            </a:p>
          </p:txBody>
        </p:sp>
        <p:sp>
          <p:nvSpPr>
            <p:cNvPr id="99390" name="Rectangle 33"/>
            <p:cNvSpPr>
              <a:spLocks noChangeArrowheads="1"/>
            </p:cNvSpPr>
            <p:nvPr/>
          </p:nvSpPr>
          <p:spPr bwMode="auto">
            <a:xfrm>
              <a:off x="936" y="3360"/>
              <a:ext cx="23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-6</a:t>
              </a:r>
            </a:p>
          </p:txBody>
        </p:sp>
        <p:sp>
          <p:nvSpPr>
            <p:cNvPr id="99391" name="Rectangle 34"/>
            <p:cNvSpPr>
              <a:spLocks noChangeArrowheads="1"/>
            </p:cNvSpPr>
            <p:nvPr/>
          </p:nvSpPr>
          <p:spPr bwMode="auto">
            <a:xfrm>
              <a:off x="1344" y="350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4</a:t>
              </a:r>
            </a:p>
          </p:txBody>
        </p:sp>
        <p:sp>
          <p:nvSpPr>
            <p:cNvPr id="99392" name="Rectangle 35"/>
            <p:cNvSpPr>
              <a:spLocks noChangeArrowheads="1"/>
            </p:cNvSpPr>
            <p:nvPr/>
          </p:nvSpPr>
          <p:spPr bwMode="auto">
            <a:xfrm>
              <a:off x="1632" y="331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7</a:t>
              </a:r>
            </a:p>
          </p:txBody>
        </p:sp>
        <p:sp>
          <p:nvSpPr>
            <p:cNvPr id="99393" name="Rectangle 36"/>
            <p:cNvSpPr>
              <a:spLocks noChangeArrowheads="1"/>
            </p:cNvSpPr>
            <p:nvPr/>
          </p:nvSpPr>
          <p:spPr bwMode="auto">
            <a:xfrm>
              <a:off x="816" y="374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8</a:t>
              </a:r>
            </a:p>
          </p:txBody>
        </p:sp>
        <p:sp>
          <p:nvSpPr>
            <p:cNvPr id="99394" name="Rectangle 37"/>
            <p:cNvSpPr>
              <a:spLocks noChangeArrowheads="1"/>
            </p:cNvSpPr>
            <p:nvPr/>
          </p:nvSpPr>
          <p:spPr bwMode="auto">
            <a:xfrm>
              <a:off x="1728" y="379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99395" name="Rectangle 38"/>
            <p:cNvSpPr>
              <a:spLocks noChangeArrowheads="1"/>
            </p:cNvSpPr>
            <p:nvPr/>
          </p:nvSpPr>
          <p:spPr bwMode="auto">
            <a:xfrm>
              <a:off x="1488" y="4032"/>
              <a:ext cx="47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b="1">
                  <a:solidFill>
                    <a:schemeClr val="tx2"/>
                  </a:solidFill>
                </a:rPr>
                <a:t>source</a:t>
              </a:r>
            </a:p>
          </p:txBody>
        </p:sp>
      </p:grpSp>
      <p:grpSp>
        <p:nvGrpSpPr>
          <p:cNvPr id="179239" name="Group 39"/>
          <p:cNvGrpSpPr>
            <a:grpSpLocks/>
          </p:cNvGrpSpPr>
          <p:nvPr/>
        </p:nvGrpSpPr>
        <p:grpSpPr bwMode="auto">
          <a:xfrm>
            <a:off x="4648200" y="1600200"/>
            <a:ext cx="3511550" cy="3368675"/>
            <a:chOff x="3024" y="2112"/>
            <a:chExt cx="2212" cy="2122"/>
          </a:xfrm>
        </p:grpSpPr>
        <p:sp>
          <p:nvSpPr>
            <p:cNvPr id="99336" name="Text Box 40"/>
            <p:cNvSpPr txBox="1">
              <a:spLocks noChangeArrowheads="1"/>
            </p:cNvSpPr>
            <p:nvPr/>
          </p:nvSpPr>
          <p:spPr bwMode="auto">
            <a:xfrm>
              <a:off x="3108" y="2208"/>
              <a:ext cx="25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a:solidFill>
                    <a:schemeClr val="tx2"/>
                  </a:solidFill>
                  <a:latin typeface="Arial" pitchFamily="34" charset="0"/>
                </a:rPr>
                <a:t>T:</a:t>
              </a:r>
            </a:p>
          </p:txBody>
        </p:sp>
        <p:sp>
          <p:nvSpPr>
            <p:cNvPr id="99337" name="Freeform 41"/>
            <p:cNvSpPr>
              <a:spLocks/>
            </p:cNvSpPr>
            <p:nvPr/>
          </p:nvSpPr>
          <p:spPr bwMode="auto">
            <a:xfrm>
              <a:off x="4176" y="3598"/>
              <a:ext cx="606" cy="338"/>
            </a:xfrm>
            <a:custGeom>
              <a:avLst/>
              <a:gdLst>
                <a:gd name="T0" fmla="*/ 0 w 606"/>
                <a:gd name="T1" fmla="*/ 338 h 338"/>
                <a:gd name="T2" fmla="*/ 606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38" name="Line 42"/>
            <p:cNvSpPr>
              <a:spLocks noChangeShapeType="1"/>
            </p:cNvSpPr>
            <p:nvPr/>
          </p:nvSpPr>
          <p:spPr bwMode="auto">
            <a:xfrm flipV="1">
              <a:off x="4128" y="3264"/>
              <a:ext cx="0"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39" name="Line 43"/>
            <p:cNvSpPr>
              <a:spLocks noChangeShapeType="1"/>
            </p:cNvSpPr>
            <p:nvPr/>
          </p:nvSpPr>
          <p:spPr bwMode="auto">
            <a:xfrm>
              <a:off x="3360" y="2736"/>
              <a:ext cx="0"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40" name="Freeform 44"/>
            <p:cNvSpPr>
              <a:spLocks/>
            </p:cNvSpPr>
            <p:nvPr/>
          </p:nvSpPr>
          <p:spPr bwMode="auto">
            <a:xfrm>
              <a:off x="3484" y="2817"/>
              <a:ext cx="644" cy="303"/>
            </a:xfrm>
            <a:custGeom>
              <a:avLst/>
              <a:gdLst>
                <a:gd name="T0" fmla="*/ 644 w 644"/>
                <a:gd name="T1" fmla="*/ 303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41" name="Freeform 45"/>
            <p:cNvSpPr>
              <a:spLocks/>
            </p:cNvSpPr>
            <p:nvPr/>
          </p:nvSpPr>
          <p:spPr bwMode="auto">
            <a:xfrm>
              <a:off x="4128" y="2810"/>
              <a:ext cx="641" cy="310"/>
            </a:xfrm>
            <a:custGeom>
              <a:avLst/>
              <a:gdLst>
                <a:gd name="T0" fmla="*/ 0 w 641"/>
                <a:gd name="T1" fmla="*/ 310 h 310"/>
                <a:gd name="T2" fmla="*/ 641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42" name="Freeform 46"/>
            <p:cNvSpPr>
              <a:spLocks/>
            </p:cNvSpPr>
            <p:nvPr/>
          </p:nvSpPr>
          <p:spPr bwMode="auto">
            <a:xfrm>
              <a:off x="3360" y="2347"/>
              <a:ext cx="641" cy="389"/>
            </a:xfrm>
            <a:custGeom>
              <a:avLst/>
              <a:gdLst>
                <a:gd name="T0" fmla="*/ 0 w 641"/>
                <a:gd name="T1" fmla="*/ 389 h 389"/>
                <a:gd name="T2" fmla="*/ 641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99343" name="Oval 47"/>
            <p:cNvSpPr>
              <a:spLocks noChangeArrowheads="1"/>
            </p:cNvSpPr>
            <p:nvPr/>
          </p:nvSpPr>
          <p:spPr bwMode="auto">
            <a:xfrm>
              <a:off x="3984" y="3792"/>
              <a:ext cx="288" cy="288"/>
            </a:xfrm>
            <a:prstGeom prst="ellipse">
              <a:avLst/>
            </a:prstGeom>
            <a:solidFill>
              <a:srgbClr val="C0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a</a:t>
              </a:r>
            </a:p>
          </p:txBody>
        </p:sp>
        <p:sp>
          <p:nvSpPr>
            <p:cNvPr id="99344" name="Oval 48"/>
            <p:cNvSpPr>
              <a:spLocks noChangeArrowheads="1"/>
            </p:cNvSpPr>
            <p:nvPr/>
          </p:nvSpPr>
          <p:spPr bwMode="auto">
            <a:xfrm>
              <a:off x="3216" y="3360"/>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b</a:t>
              </a:r>
            </a:p>
          </p:txBody>
        </p:sp>
        <p:sp>
          <p:nvSpPr>
            <p:cNvPr id="99345" name="Oval 49"/>
            <p:cNvSpPr>
              <a:spLocks noChangeArrowheads="1"/>
            </p:cNvSpPr>
            <p:nvPr/>
          </p:nvSpPr>
          <p:spPr bwMode="auto">
            <a:xfrm>
              <a:off x="4752" y="3360"/>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c</a:t>
              </a:r>
            </a:p>
          </p:txBody>
        </p:sp>
        <p:sp>
          <p:nvSpPr>
            <p:cNvPr id="99346" name="Oval 50"/>
            <p:cNvSpPr>
              <a:spLocks noChangeArrowheads="1"/>
            </p:cNvSpPr>
            <p:nvPr/>
          </p:nvSpPr>
          <p:spPr bwMode="auto">
            <a:xfrm>
              <a:off x="3984" y="2976"/>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d</a:t>
              </a:r>
            </a:p>
          </p:txBody>
        </p:sp>
        <p:sp>
          <p:nvSpPr>
            <p:cNvPr id="99347" name="Oval 51"/>
            <p:cNvSpPr>
              <a:spLocks noChangeArrowheads="1"/>
            </p:cNvSpPr>
            <p:nvPr/>
          </p:nvSpPr>
          <p:spPr bwMode="auto">
            <a:xfrm>
              <a:off x="3216" y="2592"/>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e</a:t>
              </a:r>
            </a:p>
          </p:txBody>
        </p:sp>
        <p:sp>
          <p:nvSpPr>
            <p:cNvPr id="99348" name="Oval 52"/>
            <p:cNvSpPr>
              <a:spLocks noChangeArrowheads="1"/>
            </p:cNvSpPr>
            <p:nvPr/>
          </p:nvSpPr>
          <p:spPr bwMode="auto">
            <a:xfrm>
              <a:off x="3984" y="2160"/>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g</a:t>
              </a:r>
            </a:p>
          </p:txBody>
        </p:sp>
        <p:sp>
          <p:nvSpPr>
            <p:cNvPr id="99349" name="Oval 53"/>
            <p:cNvSpPr>
              <a:spLocks noChangeArrowheads="1"/>
            </p:cNvSpPr>
            <p:nvPr/>
          </p:nvSpPr>
          <p:spPr bwMode="auto">
            <a:xfrm>
              <a:off x="4752" y="2592"/>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f</a:t>
              </a:r>
            </a:p>
          </p:txBody>
        </p:sp>
        <p:sp>
          <p:nvSpPr>
            <p:cNvPr id="99350" name="Rectangle 54"/>
            <p:cNvSpPr>
              <a:spLocks noChangeArrowheads="1"/>
            </p:cNvSpPr>
            <p:nvPr/>
          </p:nvSpPr>
          <p:spPr bwMode="auto">
            <a:xfrm>
              <a:off x="3600" y="230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99351" name="Rectangle 55"/>
            <p:cNvSpPr>
              <a:spLocks noChangeArrowheads="1"/>
            </p:cNvSpPr>
            <p:nvPr/>
          </p:nvSpPr>
          <p:spPr bwMode="auto">
            <a:xfrm>
              <a:off x="3072" y="2976"/>
              <a:ext cx="2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solidFill>
                    <a:schemeClr val="tx2"/>
                  </a:solidFill>
                </a:rPr>
                <a:t>10</a:t>
              </a:r>
            </a:p>
          </p:txBody>
        </p:sp>
        <p:sp>
          <p:nvSpPr>
            <p:cNvPr id="99352" name="Rectangle 56"/>
            <p:cNvSpPr>
              <a:spLocks noChangeArrowheads="1"/>
            </p:cNvSpPr>
            <p:nvPr/>
          </p:nvSpPr>
          <p:spPr bwMode="auto">
            <a:xfrm>
              <a:off x="3528" y="2880"/>
              <a:ext cx="23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-1</a:t>
              </a:r>
            </a:p>
          </p:txBody>
        </p:sp>
        <p:sp>
          <p:nvSpPr>
            <p:cNvPr id="99353" name="Rectangle 57"/>
            <p:cNvSpPr>
              <a:spLocks noChangeArrowheads="1"/>
            </p:cNvSpPr>
            <p:nvPr/>
          </p:nvSpPr>
          <p:spPr bwMode="auto">
            <a:xfrm>
              <a:off x="4464" y="288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5</a:t>
              </a:r>
            </a:p>
          </p:txBody>
        </p:sp>
        <p:sp>
          <p:nvSpPr>
            <p:cNvPr id="99354" name="Rectangle 58"/>
            <p:cNvSpPr>
              <a:spLocks noChangeArrowheads="1"/>
            </p:cNvSpPr>
            <p:nvPr/>
          </p:nvSpPr>
          <p:spPr bwMode="auto">
            <a:xfrm>
              <a:off x="4080" y="340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4</a:t>
              </a:r>
            </a:p>
          </p:txBody>
        </p:sp>
        <p:sp>
          <p:nvSpPr>
            <p:cNvPr id="99355" name="Rectangle 59"/>
            <p:cNvSpPr>
              <a:spLocks noChangeArrowheads="1"/>
            </p:cNvSpPr>
            <p:nvPr/>
          </p:nvSpPr>
          <p:spPr bwMode="auto">
            <a:xfrm>
              <a:off x="4464" y="3696"/>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99356" name="Rectangle 60"/>
            <p:cNvSpPr>
              <a:spLocks noChangeArrowheads="1"/>
            </p:cNvSpPr>
            <p:nvPr/>
          </p:nvSpPr>
          <p:spPr bwMode="auto">
            <a:xfrm>
              <a:off x="5040" y="3360"/>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b="1">
                  <a:solidFill>
                    <a:schemeClr val="hlink"/>
                  </a:solidFill>
                </a:rPr>
                <a:t>3</a:t>
              </a:r>
            </a:p>
          </p:txBody>
        </p:sp>
        <p:sp>
          <p:nvSpPr>
            <p:cNvPr id="99357" name="Rectangle 61"/>
            <p:cNvSpPr>
              <a:spLocks noChangeArrowheads="1"/>
            </p:cNvSpPr>
            <p:nvPr/>
          </p:nvSpPr>
          <p:spPr bwMode="auto">
            <a:xfrm>
              <a:off x="4176" y="398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b="1">
                  <a:solidFill>
                    <a:schemeClr val="hlink"/>
                  </a:solidFill>
                </a:rPr>
                <a:t>0</a:t>
              </a:r>
            </a:p>
          </p:txBody>
        </p:sp>
        <p:sp>
          <p:nvSpPr>
            <p:cNvPr id="99358" name="Rectangle 62"/>
            <p:cNvSpPr>
              <a:spLocks noChangeArrowheads="1"/>
            </p:cNvSpPr>
            <p:nvPr/>
          </p:nvSpPr>
          <p:spPr bwMode="auto">
            <a:xfrm>
              <a:off x="4032" y="2736"/>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b="1">
                  <a:solidFill>
                    <a:schemeClr val="hlink"/>
                  </a:solidFill>
                </a:rPr>
                <a:t>4</a:t>
              </a:r>
            </a:p>
          </p:txBody>
        </p:sp>
        <p:sp>
          <p:nvSpPr>
            <p:cNvPr id="99359" name="Rectangle 63"/>
            <p:cNvSpPr>
              <a:spLocks noChangeArrowheads="1"/>
            </p:cNvSpPr>
            <p:nvPr/>
          </p:nvSpPr>
          <p:spPr bwMode="auto">
            <a:xfrm>
              <a:off x="5040" y="2592"/>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b="1">
                  <a:solidFill>
                    <a:schemeClr val="hlink"/>
                  </a:solidFill>
                </a:rPr>
                <a:t>9</a:t>
              </a:r>
            </a:p>
          </p:txBody>
        </p:sp>
        <p:sp>
          <p:nvSpPr>
            <p:cNvPr id="99360" name="Rectangle 64"/>
            <p:cNvSpPr>
              <a:spLocks noChangeArrowheads="1"/>
            </p:cNvSpPr>
            <p:nvPr/>
          </p:nvSpPr>
          <p:spPr bwMode="auto">
            <a:xfrm>
              <a:off x="4272" y="2112"/>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b="1">
                  <a:solidFill>
                    <a:schemeClr val="hlink"/>
                  </a:solidFill>
                </a:rPr>
                <a:t>6</a:t>
              </a:r>
            </a:p>
          </p:txBody>
        </p:sp>
        <p:sp>
          <p:nvSpPr>
            <p:cNvPr id="99361" name="Rectangle 65"/>
            <p:cNvSpPr>
              <a:spLocks noChangeArrowheads="1"/>
            </p:cNvSpPr>
            <p:nvPr/>
          </p:nvSpPr>
          <p:spPr bwMode="auto">
            <a:xfrm>
              <a:off x="3024" y="254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b="1">
                  <a:solidFill>
                    <a:schemeClr val="hlink"/>
                  </a:solidFill>
                </a:rPr>
                <a:t>3</a:t>
              </a:r>
            </a:p>
          </p:txBody>
        </p:sp>
        <p:sp>
          <p:nvSpPr>
            <p:cNvPr id="99362" name="Rectangle 66"/>
            <p:cNvSpPr>
              <a:spLocks noChangeArrowheads="1"/>
            </p:cNvSpPr>
            <p:nvPr/>
          </p:nvSpPr>
          <p:spPr bwMode="auto">
            <a:xfrm>
              <a:off x="3224" y="3600"/>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b="1">
                  <a:solidFill>
                    <a:schemeClr val="hlink"/>
                  </a:solidFill>
                </a:rPr>
                <a:t>13</a:t>
              </a:r>
            </a:p>
          </p:txBody>
        </p:sp>
      </p:grpSp>
      <p:sp>
        <p:nvSpPr>
          <p:cNvPr id="179267" name="Rectangle 67" descr="Recycled paper"/>
          <p:cNvSpPr>
            <a:spLocks noChangeArrowheads="1"/>
          </p:cNvSpPr>
          <p:nvPr/>
        </p:nvSpPr>
        <p:spPr bwMode="auto">
          <a:xfrm>
            <a:off x="152400" y="5181600"/>
            <a:ext cx="8839200" cy="7810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defTabSz="1328738" eaLnBrk="1" hangingPunct="1">
              <a:spcBef>
                <a:spcPct val="50000"/>
              </a:spcBef>
              <a:buFontTx/>
              <a:buNone/>
              <a:tabLst>
                <a:tab pos="1328738" algn="l"/>
              </a:tabLst>
            </a:pPr>
            <a:r>
              <a:rPr lang="en-US" sz="2400" b="1" dirty="0">
                <a:solidFill>
                  <a:srgbClr val="CC0000"/>
                </a:solidFill>
              </a:rPr>
              <a:t>FACT 2:  </a:t>
            </a:r>
            <a:r>
              <a:rPr lang="en-US" sz="2000" dirty="0">
                <a:solidFill>
                  <a:schemeClr val="hlink"/>
                </a:solidFill>
              </a:rPr>
              <a:t>G contains shortest paths from source s to all reachable nodes </a:t>
            </a:r>
            <a:br>
              <a:rPr lang="en-US" sz="2000" dirty="0">
                <a:solidFill>
                  <a:schemeClr val="hlink"/>
                </a:solidFill>
              </a:rPr>
            </a:br>
            <a:r>
              <a:rPr lang="en-US" sz="2000" dirty="0">
                <a:solidFill>
                  <a:schemeClr val="hlink"/>
                </a:solidFill>
              </a:rPr>
              <a:t>	</a:t>
            </a:r>
            <a:r>
              <a:rPr lang="en-US" sz="2000" dirty="0">
                <a:solidFill>
                  <a:srgbClr val="CC0000"/>
                </a:solidFill>
              </a:rPr>
              <a:t>if and only if</a:t>
            </a:r>
            <a:r>
              <a:rPr lang="en-US" sz="2000" dirty="0">
                <a:solidFill>
                  <a:schemeClr val="hlink"/>
                </a:solidFill>
              </a:rPr>
              <a:t> G contains a shortest path tree rooted at s.</a:t>
            </a:r>
            <a:endParaRPr lang="en-US" sz="2000" dirty="0">
              <a:solidFill>
                <a:srgbClr val="CC0000"/>
              </a:solidFill>
            </a:endParaRPr>
          </a:p>
        </p:txBody>
      </p:sp>
      <p:sp>
        <p:nvSpPr>
          <p:cNvPr id="179268" name="Rectangle 68"/>
          <p:cNvSpPr>
            <a:spLocks noChangeArrowheads="1"/>
          </p:cNvSpPr>
          <p:nvPr/>
        </p:nvSpPr>
        <p:spPr bwMode="auto">
          <a:xfrm>
            <a:off x="228600" y="6019800"/>
            <a:ext cx="87630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763588" eaLnBrk="1" hangingPunct="1">
              <a:spcBef>
                <a:spcPct val="50000"/>
              </a:spcBef>
              <a:buFontTx/>
              <a:buNone/>
            </a:pPr>
            <a:r>
              <a:rPr lang="en-US" sz="1800" b="1">
                <a:solidFill>
                  <a:schemeClr val="tx2"/>
                </a:solidFill>
              </a:rPr>
              <a:t>Proof:  </a:t>
            </a:r>
            <a:r>
              <a:rPr lang="en-US" sz="1800">
                <a:solidFill>
                  <a:schemeClr val="tx2"/>
                </a:solidFill>
              </a:rPr>
              <a:t>Completed later, by giving an algorithm that finds either a shortest path tree or a 	negative cycle reachable from s. </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96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79202"/>
                                        </p:tgtEl>
                                        <p:attrNameLst>
                                          <p:attrName>style.visibility</p:attrName>
                                        </p:attrNameLst>
                                      </p:cBhvr>
                                      <p:to>
                                        <p:strVal val="visible"/>
                                      </p:to>
                                    </p:set>
                                    <p:anim calcmode="lin" valueType="num">
                                      <p:cBhvr>
                                        <p:cTn id="7" dur="500" fill="hold"/>
                                        <p:tgtEl>
                                          <p:spTgt spid="179202"/>
                                        </p:tgtEl>
                                        <p:attrNameLst>
                                          <p:attrName>ppt_w</p:attrName>
                                        </p:attrNameLst>
                                      </p:cBhvr>
                                      <p:tavLst>
                                        <p:tav tm="0">
                                          <p:val>
                                            <p:fltVal val="0"/>
                                          </p:val>
                                        </p:tav>
                                        <p:tav tm="100000">
                                          <p:val>
                                            <p:strVal val="#ppt_w"/>
                                          </p:val>
                                        </p:tav>
                                      </p:tavLst>
                                    </p:anim>
                                    <p:anim calcmode="lin" valueType="num">
                                      <p:cBhvr>
                                        <p:cTn id="8" dur="500" fill="hold"/>
                                        <p:tgtEl>
                                          <p:spTgt spid="17920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79203">
                                            <p:txEl>
                                              <p:pRg st="0" end="0"/>
                                            </p:txEl>
                                          </p:spTgt>
                                        </p:tgtEl>
                                        <p:attrNameLst>
                                          <p:attrName>style.visibility</p:attrName>
                                        </p:attrNameLst>
                                      </p:cBhvr>
                                      <p:to>
                                        <p:strVal val="visible"/>
                                      </p:to>
                                    </p:set>
                                    <p:animEffect transition="in" filter="wipe(up)">
                                      <p:cBhvr>
                                        <p:cTn id="13" dur="500"/>
                                        <p:tgtEl>
                                          <p:spTgt spid="179203">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79205"/>
                                        </p:tgtEl>
                                        <p:attrNameLst>
                                          <p:attrName>style.visibility</p:attrName>
                                        </p:attrNameLst>
                                      </p:cBhvr>
                                      <p:to>
                                        <p:strVal val="visible"/>
                                      </p:to>
                                    </p:set>
                                    <p:animEffect transition="in" filter="wipe(up)">
                                      <p:cBhvr>
                                        <p:cTn id="18" dur="500"/>
                                        <p:tgtEl>
                                          <p:spTgt spid="17920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179239"/>
                                        </p:tgtEl>
                                        <p:attrNameLst>
                                          <p:attrName>style.visibility</p:attrName>
                                        </p:attrNameLst>
                                      </p:cBhvr>
                                      <p:to>
                                        <p:strVal val="visible"/>
                                      </p:to>
                                    </p:set>
                                    <p:animEffect transition="in" filter="wipe(up)">
                                      <p:cBhvr>
                                        <p:cTn id="23" dur="500"/>
                                        <p:tgtEl>
                                          <p:spTgt spid="17923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79267"/>
                                        </p:tgtEl>
                                        <p:attrNameLst>
                                          <p:attrName>style.visibility</p:attrName>
                                        </p:attrNameLst>
                                      </p:cBhvr>
                                      <p:to>
                                        <p:strVal val="visible"/>
                                      </p:to>
                                    </p:set>
                                    <p:animEffect transition="in" filter="wipe(up)">
                                      <p:cBhvr>
                                        <p:cTn id="28" dur="500"/>
                                        <p:tgtEl>
                                          <p:spTgt spid="17926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79268"/>
                                        </p:tgtEl>
                                        <p:attrNameLst>
                                          <p:attrName>style.visibility</p:attrName>
                                        </p:attrNameLst>
                                      </p:cBhvr>
                                      <p:to>
                                        <p:strVal val="visible"/>
                                      </p:to>
                                    </p:set>
                                    <p:animEffect transition="in" filter="wipe(up)">
                                      <p:cBhvr>
                                        <p:cTn id="33" dur="500"/>
                                        <p:tgtEl>
                                          <p:spTgt spid="179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2" grpId="0" animBg="1" autoUpdateAnimBg="0"/>
      <p:bldP spid="179203" grpId="0" build="p" autoUpdateAnimBg="0"/>
      <p:bldP spid="179267" grpId="0" animBg="1" autoUpdateAnimBg="0"/>
      <p:bldP spid="179268"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rgbClr val="FF0000"/>
                </a:solidFill>
                <a:latin typeface="Arial Rounded MT Bold" pitchFamily="34" charset="0"/>
              </a:rPr>
              <a:t>Characterizing</a:t>
            </a:r>
            <a:r>
              <a:rPr lang="en-US" sz="2800" b="1" dirty="0" smtClean="0">
                <a:solidFill>
                  <a:schemeClr val="tx1"/>
                </a:solidFill>
                <a:latin typeface="Arial Rounded MT Bold" pitchFamily="34" charset="0"/>
              </a:rPr>
              <a:t>  Shortest Path Trees</a:t>
            </a:r>
          </a:p>
        </p:txBody>
      </p:sp>
      <p:sp>
        <p:nvSpPr>
          <p:cNvPr id="180227" name="Text Box 3"/>
          <p:cNvSpPr txBox="1">
            <a:spLocks noChangeArrowheads="1"/>
          </p:cNvSpPr>
          <p:nvPr/>
        </p:nvSpPr>
        <p:spPr bwMode="auto">
          <a:xfrm>
            <a:off x="152400" y="762000"/>
            <a:ext cx="87630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 typeface="Wingdings" pitchFamily="2" charset="2"/>
              <a:buNone/>
            </a:pPr>
            <a:r>
              <a:rPr lang="en-US" sz="1800" b="1">
                <a:solidFill>
                  <a:srgbClr val="CC0000"/>
                </a:solidFill>
              </a:rPr>
              <a:t>T</a:t>
            </a:r>
            <a:r>
              <a:rPr lang="en-US" sz="1800">
                <a:solidFill>
                  <a:schemeClr val="tx2"/>
                </a:solidFill>
              </a:rPr>
              <a:t> = a subgraph of G that is a tree rooted at source s and spans all nodes reachable from s.</a:t>
            </a:r>
          </a:p>
          <a:p>
            <a:pPr eaLnBrk="1" hangingPunct="1">
              <a:buFont typeface="Wingdings" pitchFamily="2" charset="2"/>
              <a:buNone/>
            </a:pPr>
            <a:r>
              <a:rPr lang="en-US" sz="1800" b="1">
                <a:solidFill>
                  <a:srgbClr val="CC0000"/>
                </a:solidFill>
              </a:rPr>
              <a:t>dist(v)</a:t>
            </a:r>
            <a:r>
              <a:rPr lang="en-US" sz="1800">
                <a:solidFill>
                  <a:schemeClr val="tx2"/>
                </a:solidFill>
              </a:rPr>
              <a:t> = cost of the unique path in T from s to v. </a:t>
            </a:r>
            <a:endParaRPr lang="en-US" sz="1800">
              <a:solidFill>
                <a:srgbClr val="CC0000"/>
              </a:solidFill>
            </a:endParaRPr>
          </a:p>
        </p:txBody>
      </p:sp>
      <p:grpSp>
        <p:nvGrpSpPr>
          <p:cNvPr id="180228" name="Group 4"/>
          <p:cNvGrpSpPr>
            <a:grpSpLocks/>
          </p:cNvGrpSpPr>
          <p:nvPr/>
        </p:nvGrpSpPr>
        <p:grpSpPr bwMode="auto">
          <a:xfrm>
            <a:off x="533400" y="3581400"/>
            <a:ext cx="3308350" cy="3155950"/>
            <a:chOff x="336" y="2256"/>
            <a:chExt cx="2084" cy="1988"/>
          </a:xfrm>
        </p:grpSpPr>
        <p:sp>
          <p:nvSpPr>
            <p:cNvPr id="100387" name="Text Box 5"/>
            <p:cNvSpPr txBox="1">
              <a:spLocks noChangeArrowheads="1"/>
            </p:cNvSpPr>
            <p:nvPr/>
          </p:nvSpPr>
          <p:spPr bwMode="auto">
            <a:xfrm>
              <a:off x="360" y="2304"/>
              <a:ext cx="27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a:solidFill>
                    <a:schemeClr val="tx2"/>
                  </a:solidFill>
                  <a:latin typeface="Arial" pitchFamily="34" charset="0"/>
                </a:rPr>
                <a:t>G:</a:t>
              </a:r>
            </a:p>
          </p:txBody>
        </p:sp>
        <p:sp>
          <p:nvSpPr>
            <p:cNvPr id="100388" name="Freeform 6"/>
            <p:cNvSpPr>
              <a:spLocks/>
            </p:cNvSpPr>
            <p:nvPr/>
          </p:nvSpPr>
          <p:spPr bwMode="auto">
            <a:xfrm>
              <a:off x="1440" y="3694"/>
              <a:ext cx="606" cy="338"/>
            </a:xfrm>
            <a:custGeom>
              <a:avLst/>
              <a:gdLst>
                <a:gd name="T0" fmla="*/ 0 w 606"/>
                <a:gd name="T1" fmla="*/ 338 h 338"/>
                <a:gd name="T2" fmla="*/ 606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89" name="Line 7"/>
            <p:cNvSpPr>
              <a:spLocks noChangeShapeType="1"/>
            </p:cNvSpPr>
            <p:nvPr/>
          </p:nvSpPr>
          <p:spPr bwMode="auto">
            <a:xfrm flipV="1">
              <a:off x="1392" y="3360"/>
              <a:ext cx="0"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90" name="Freeform 8"/>
            <p:cNvSpPr>
              <a:spLocks/>
            </p:cNvSpPr>
            <p:nvPr/>
          </p:nvSpPr>
          <p:spPr bwMode="auto">
            <a:xfrm>
              <a:off x="624" y="3600"/>
              <a:ext cx="627" cy="399"/>
            </a:xfrm>
            <a:custGeom>
              <a:avLst/>
              <a:gdLst>
                <a:gd name="T0" fmla="*/ 0 w 627"/>
                <a:gd name="T1" fmla="*/ 0 h 399"/>
                <a:gd name="T2" fmla="*/ 627 w 627"/>
                <a:gd name="T3" fmla="*/ 399 h 399"/>
                <a:gd name="T4" fmla="*/ 0 60000 65536"/>
                <a:gd name="T5" fmla="*/ 0 60000 65536"/>
              </a:gdLst>
              <a:ahLst/>
              <a:cxnLst>
                <a:cxn ang="T4">
                  <a:pos x="T0" y="T1"/>
                </a:cxn>
                <a:cxn ang="T5">
                  <a:pos x="T2" y="T3"/>
                </a:cxn>
              </a:cxnLst>
              <a:rect l="0" t="0" r="r" b="b"/>
              <a:pathLst>
                <a:path w="627" h="399">
                  <a:moveTo>
                    <a:pt x="0" y="0"/>
                  </a:moveTo>
                  <a:lnTo>
                    <a:pt x="627" y="399"/>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91" name="Line 9"/>
            <p:cNvSpPr>
              <a:spLocks noChangeShapeType="1"/>
            </p:cNvSpPr>
            <p:nvPr/>
          </p:nvSpPr>
          <p:spPr bwMode="auto">
            <a:xfrm>
              <a:off x="1392" y="3216"/>
              <a:ext cx="672"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92" name="Line 10"/>
            <p:cNvSpPr>
              <a:spLocks noChangeShapeType="1"/>
            </p:cNvSpPr>
            <p:nvPr/>
          </p:nvSpPr>
          <p:spPr bwMode="auto">
            <a:xfrm flipV="1">
              <a:off x="2160" y="2976"/>
              <a:ext cx="0" cy="57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93" name="Line 11"/>
            <p:cNvSpPr>
              <a:spLocks noChangeShapeType="1"/>
            </p:cNvSpPr>
            <p:nvPr/>
          </p:nvSpPr>
          <p:spPr bwMode="auto">
            <a:xfrm>
              <a:off x="624" y="2832"/>
              <a:ext cx="0"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94" name="Freeform 12"/>
            <p:cNvSpPr>
              <a:spLocks/>
            </p:cNvSpPr>
            <p:nvPr/>
          </p:nvSpPr>
          <p:spPr bwMode="auto">
            <a:xfrm>
              <a:off x="624" y="3290"/>
              <a:ext cx="647" cy="310"/>
            </a:xfrm>
            <a:custGeom>
              <a:avLst/>
              <a:gdLst>
                <a:gd name="T0" fmla="*/ 0 w 647"/>
                <a:gd name="T1" fmla="*/ 310 h 310"/>
                <a:gd name="T2" fmla="*/ 647 w 647"/>
                <a:gd name="T3" fmla="*/ 0 h 310"/>
                <a:gd name="T4" fmla="*/ 0 60000 65536"/>
                <a:gd name="T5" fmla="*/ 0 60000 65536"/>
              </a:gdLst>
              <a:ahLst/>
              <a:cxnLst>
                <a:cxn ang="T4">
                  <a:pos x="T0" y="T1"/>
                </a:cxn>
                <a:cxn ang="T5">
                  <a:pos x="T2" y="T3"/>
                </a:cxn>
              </a:cxnLst>
              <a:rect l="0" t="0" r="r" b="b"/>
              <a:pathLst>
                <a:path w="647" h="310">
                  <a:moveTo>
                    <a:pt x="0" y="310"/>
                  </a:moveTo>
                  <a:lnTo>
                    <a:pt x="647"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95" name="Freeform 13"/>
            <p:cNvSpPr>
              <a:spLocks/>
            </p:cNvSpPr>
            <p:nvPr/>
          </p:nvSpPr>
          <p:spPr bwMode="auto">
            <a:xfrm>
              <a:off x="748" y="2913"/>
              <a:ext cx="644" cy="303"/>
            </a:xfrm>
            <a:custGeom>
              <a:avLst/>
              <a:gdLst>
                <a:gd name="T0" fmla="*/ 644 w 644"/>
                <a:gd name="T1" fmla="*/ 303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96" name="Freeform 14"/>
            <p:cNvSpPr>
              <a:spLocks/>
            </p:cNvSpPr>
            <p:nvPr/>
          </p:nvSpPr>
          <p:spPr bwMode="auto">
            <a:xfrm>
              <a:off x="1392" y="2906"/>
              <a:ext cx="641" cy="310"/>
            </a:xfrm>
            <a:custGeom>
              <a:avLst/>
              <a:gdLst>
                <a:gd name="T0" fmla="*/ 0 w 641"/>
                <a:gd name="T1" fmla="*/ 310 h 310"/>
                <a:gd name="T2" fmla="*/ 641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97" name="Freeform 15"/>
            <p:cNvSpPr>
              <a:spLocks/>
            </p:cNvSpPr>
            <p:nvPr/>
          </p:nvSpPr>
          <p:spPr bwMode="auto">
            <a:xfrm>
              <a:off x="624" y="2443"/>
              <a:ext cx="641" cy="389"/>
            </a:xfrm>
            <a:custGeom>
              <a:avLst/>
              <a:gdLst>
                <a:gd name="T0" fmla="*/ 0 w 641"/>
                <a:gd name="T1" fmla="*/ 389 h 389"/>
                <a:gd name="T2" fmla="*/ 641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98" name="Freeform 16"/>
            <p:cNvSpPr>
              <a:spLocks/>
            </p:cNvSpPr>
            <p:nvPr/>
          </p:nvSpPr>
          <p:spPr bwMode="auto">
            <a:xfrm>
              <a:off x="1529" y="2450"/>
              <a:ext cx="631" cy="382"/>
            </a:xfrm>
            <a:custGeom>
              <a:avLst/>
              <a:gdLst>
                <a:gd name="T0" fmla="*/ 631 w 631"/>
                <a:gd name="T1" fmla="*/ 382 h 382"/>
                <a:gd name="T2" fmla="*/ 0 w 631"/>
                <a:gd name="T3" fmla="*/ 0 h 382"/>
                <a:gd name="T4" fmla="*/ 0 60000 65536"/>
                <a:gd name="T5" fmla="*/ 0 60000 65536"/>
              </a:gdLst>
              <a:ahLst/>
              <a:cxnLst>
                <a:cxn ang="T4">
                  <a:pos x="T0" y="T1"/>
                </a:cxn>
                <a:cxn ang="T5">
                  <a:pos x="T2" y="T3"/>
                </a:cxn>
              </a:cxnLst>
              <a:rect l="0" t="0" r="r" b="b"/>
              <a:pathLst>
                <a:path w="631" h="382">
                  <a:moveTo>
                    <a:pt x="631" y="382"/>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99" name="Oval 17"/>
            <p:cNvSpPr>
              <a:spLocks noChangeArrowheads="1"/>
            </p:cNvSpPr>
            <p:nvPr/>
          </p:nvSpPr>
          <p:spPr bwMode="auto">
            <a:xfrm>
              <a:off x="1248" y="3888"/>
              <a:ext cx="288" cy="288"/>
            </a:xfrm>
            <a:prstGeom prst="ellipse">
              <a:avLst/>
            </a:prstGeom>
            <a:solidFill>
              <a:srgbClr val="C0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a</a:t>
              </a:r>
            </a:p>
          </p:txBody>
        </p:sp>
        <p:sp>
          <p:nvSpPr>
            <p:cNvPr id="100400" name="Oval 18"/>
            <p:cNvSpPr>
              <a:spLocks noChangeArrowheads="1"/>
            </p:cNvSpPr>
            <p:nvPr/>
          </p:nvSpPr>
          <p:spPr bwMode="auto">
            <a:xfrm>
              <a:off x="480" y="3456"/>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b</a:t>
              </a:r>
            </a:p>
          </p:txBody>
        </p:sp>
        <p:sp>
          <p:nvSpPr>
            <p:cNvPr id="100401" name="Oval 19"/>
            <p:cNvSpPr>
              <a:spLocks noChangeArrowheads="1"/>
            </p:cNvSpPr>
            <p:nvPr/>
          </p:nvSpPr>
          <p:spPr bwMode="auto">
            <a:xfrm>
              <a:off x="2016" y="3456"/>
              <a:ext cx="28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c</a:t>
              </a:r>
            </a:p>
          </p:txBody>
        </p:sp>
        <p:sp>
          <p:nvSpPr>
            <p:cNvPr id="100402" name="Oval 20"/>
            <p:cNvSpPr>
              <a:spLocks noChangeArrowheads="1"/>
            </p:cNvSpPr>
            <p:nvPr/>
          </p:nvSpPr>
          <p:spPr bwMode="auto">
            <a:xfrm>
              <a:off x="1248" y="3072"/>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d</a:t>
              </a:r>
            </a:p>
          </p:txBody>
        </p:sp>
        <p:sp>
          <p:nvSpPr>
            <p:cNvPr id="100403" name="Oval 21"/>
            <p:cNvSpPr>
              <a:spLocks noChangeArrowheads="1"/>
            </p:cNvSpPr>
            <p:nvPr/>
          </p:nvSpPr>
          <p:spPr bwMode="auto">
            <a:xfrm>
              <a:off x="480" y="2688"/>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e</a:t>
              </a:r>
            </a:p>
          </p:txBody>
        </p:sp>
        <p:sp>
          <p:nvSpPr>
            <p:cNvPr id="100404" name="Line 22"/>
            <p:cNvSpPr>
              <a:spLocks noChangeShapeType="1"/>
            </p:cNvSpPr>
            <p:nvPr/>
          </p:nvSpPr>
          <p:spPr bwMode="auto">
            <a:xfrm flipH="1">
              <a:off x="768" y="2832"/>
              <a:ext cx="139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405" name="Oval 23"/>
            <p:cNvSpPr>
              <a:spLocks noChangeArrowheads="1"/>
            </p:cNvSpPr>
            <p:nvPr/>
          </p:nvSpPr>
          <p:spPr bwMode="auto">
            <a:xfrm>
              <a:off x="1248" y="2256"/>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g</a:t>
              </a:r>
            </a:p>
          </p:txBody>
        </p:sp>
        <p:sp>
          <p:nvSpPr>
            <p:cNvPr id="100406" name="Oval 24"/>
            <p:cNvSpPr>
              <a:spLocks noChangeArrowheads="1"/>
            </p:cNvSpPr>
            <p:nvPr/>
          </p:nvSpPr>
          <p:spPr bwMode="auto">
            <a:xfrm>
              <a:off x="2016" y="2688"/>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f</a:t>
              </a:r>
            </a:p>
          </p:txBody>
        </p:sp>
        <p:sp>
          <p:nvSpPr>
            <p:cNvPr id="100407" name="Rectangle 25"/>
            <p:cNvSpPr>
              <a:spLocks noChangeArrowheads="1"/>
            </p:cNvSpPr>
            <p:nvPr/>
          </p:nvSpPr>
          <p:spPr bwMode="auto">
            <a:xfrm>
              <a:off x="864" y="240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00408" name="Rectangle 26"/>
            <p:cNvSpPr>
              <a:spLocks noChangeArrowheads="1"/>
            </p:cNvSpPr>
            <p:nvPr/>
          </p:nvSpPr>
          <p:spPr bwMode="auto">
            <a:xfrm>
              <a:off x="1728" y="240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2</a:t>
              </a:r>
            </a:p>
          </p:txBody>
        </p:sp>
        <p:sp>
          <p:nvSpPr>
            <p:cNvPr id="100409" name="Rectangle 27"/>
            <p:cNvSpPr>
              <a:spLocks noChangeArrowheads="1"/>
            </p:cNvSpPr>
            <p:nvPr/>
          </p:nvSpPr>
          <p:spPr bwMode="auto">
            <a:xfrm>
              <a:off x="1272" y="2640"/>
              <a:ext cx="23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-2</a:t>
              </a:r>
            </a:p>
          </p:txBody>
        </p:sp>
        <p:sp>
          <p:nvSpPr>
            <p:cNvPr id="100410" name="Rectangle 28"/>
            <p:cNvSpPr>
              <a:spLocks noChangeArrowheads="1"/>
            </p:cNvSpPr>
            <p:nvPr/>
          </p:nvSpPr>
          <p:spPr bwMode="auto">
            <a:xfrm>
              <a:off x="336" y="3072"/>
              <a:ext cx="2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solidFill>
                    <a:schemeClr val="tx2"/>
                  </a:solidFill>
                </a:rPr>
                <a:t>10</a:t>
              </a:r>
            </a:p>
          </p:txBody>
        </p:sp>
        <p:sp>
          <p:nvSpPr>
            <p:cNvPr id="100411" name="Rectangle 29"/>
            <p:cNvSpPr>
              <a:spLocks noChangeArrowheads="1"/>
            </p:cNvSpPr>
            <p:nvPr/>
          </p:nvSpPr>
          <p:spPr bwMode="auto">
            <a:xfrm>
              <a:off x="792" y="2976"/>
              <a:ext cx="23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-1</a:t>
              </a:r>
            </a:p>
          </p:txBody>
        </p:sp>
        <p:sp>
          <p:nvSpPr>
            <p:cNvPr id="100412" name="Rectangle 30"/>
            <p:cNvSpPr>
              <a:spLocks noChangeArrowheads="1"/>
            </p:cNvSpPr>
            <p:nvPr/>
          </p:nvSpPr>
          <p:spPr bwMode="auto">
            <a:xfrm>
              <a:off x="1728" y="2976"/>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5</a:t>
              </a:r>
            </a:p>
          </p:txBody>
        </p:sp>
        <p:sp>
          <p:nvSpPr>
            <p:cNvPr id="100413" name="Rectangle 31"/>
            <p:cNvSpPr>
              <a:spLocks noChangeArrowheads="1"/>
            </p:cNvSpPr>
            <p:nvPr/>
          </p:nvSpPr>
          <p:spPr bwMode="auto">
            <a:xfrm>
              <a:off x="2160" y="3120"/>
              <a:ext cx="2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12</a:t>
              </a:r>
            </a:p>
          </p:txBody>
        </p:sp>
        <p:sp>
          <p:nvSpPr>
            <p:cNvPr id="100414" name="Rectangle 32"/>
            <p:cNvSpPr>
              <a:spLocks noChangeArrowheads="1"/>
            </p:cNvSpPr>
            <p:nvPr/>
          </p:nvSpPr>
          <p:spPr bwMode="auto">
            <a:xfrm>
              <a:off x="936" y="3360"/>
              <a:ext cx="23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dirty="0">
                  <a:solidFill>
                    <a:schemeClr val="tx2"/>
                  </a:solidFill>
                </a:rPr>
                <a:t>-6</a:t>
              </a:r>
            </a:p>
          </p:txBody>
        </p:sp>
        <p:sp>
          <p:nvSpPr>
            <p:cNvPr id="100415" name="Rectangle 33"/>
            <p:cNvSpPr>
              <a:spLocks noChangeArrowheads="1"/>
            </p:cNvSpPr>
            <p:nvPr/>
          </p:nvSpPr>
          <p:spPr bwMode="auto">
            <a:xfrm>
              <a:off x="1344" y="350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4</a:t>
              </a:r>
            </a:p>
          </p:txBody>
        </p:sp>
        <p:sp>
          <p:nvSpPr>
            <p:cNvPr id="100416" name="Rectangle 34"/>
            <p:cNvSpPr>
              <a:spLocks noChangeArrowheads="1"/>
            </p:cNvSpPr>
            <p:nvPr/>
          </p:nvSpPr>
          <p:spPr bwMode="auto">
            <a:xfrm>
              <a:off x="1632" y="331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7</a:t>
              </a:r>
            </a:p>
          </p:txBody>
        </p:sp>
        <p:sp>
          <p:nvSpPr>
            <p:cNvPr id="100417" name="Rectangle 35"/>
            <p:cNvSpPr>
              <a:spLocks noChangeArrowheads="1"/>
            </p:cNvSpPr>
            <p:nvPr/>
          </p:nvSpPr>
          <p:spPr bwMode="auto">
            <a:xfrm>
              <a:off x="816" y="374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8</a:t>
              </a:r>
            </a:p>
          </p:txBody>
        </p:sp>
        <p:sp>
          <p:nvSpPr>
            <p:cNvPr id="100418" name="Rectangle 36"/>
            <p:cNvSpPr>
              <a:spLocks noChangeArrowheads="1"/>
            </p:cNvSpPr>
            <p:nvPr/>
          </p:nvSpPr>
          <p:spPr bwMode="auto">
            <a:xfrm>
              <a:off x="1728" y="379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00419" name="Rectangle 37"/>
            <p:cNvSpPr>
              <a:spLocks noChangeArrowheads="1"/>
            </p:cNvSpPr>
            <p:nvPr/>
          </p:nvSpPr>
          <p:spPr bwMode="auto">
            <a:xfrm>
              <a:off x="1488" y="4032"/>
              <a:ext cx="47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b="1">
                  <a:solidFill>
                    <a:schemeClr val="tx2"/>
                  </a:solidFill>
                </a:rPr>
                <a:t>source</a:t>
              </a:r>
            </a:p>
          </p:txBody>
        </p:sp>
      </p:grpSp>
      <p:grpSp>
        <p:nvGrpSpPr>
          <p:cNvPr id="180262" name="Group 38"/>
          <p:cNvGrpSpPr>
            <a:grpSpLocks/>
          </p:cNvGrpSpPr>
          <p:nvPr/>
        </p:nvGrpSpPr>
        <p:grpSpPr bwMode="auto">
          <a:xfrm>
            <a:off x="4648200" y="3489325"/>
            <a:ext cx="3511550" cy="3368675"/>
            <a:chOff x="3024" y="2112"/>
            <a:chExt cx="2212" cy="2122"/>
          </a:xfrm>
        </p:grpSpPr>
        <p:sp>
          <p:nvSpPr>
            <p:cNvPr id="100360" name="Text Box 39"/>
            <p:cNvSpPr txBox="1">
              <a:spLocks noChangeArrowheads="1"/>
            </p:cNvSpPr>
            <p:nvPr/>
          </p:nvSpPr>
          <p:spPr bwMode="auto">
            <a:xfrm>
              <a:off x="3108" y="2208"/>
              <a:ext cx="25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b="1">
                  <a:solidFill>
                    <a:schemeClr val="tx2"/>
                  </a:solidFill>
                  <a:latin typeface="Arial" pitchFamily="34" charset="0"/>
                </a:rPr>
                <a:t>T:</a:t>
              </a:r>
            </a:p>
          </p:txBody>
        </p:sp>
        <p:sp>
          <p:nvSpPr>
            <p:cNvPr id="100361" name="Freeform 40"/>
            <p:cNvSpPr>
              <a:spLocks/>
            </p:cNvSpPr>
            <p:nvPr/>
          </p:nvSpPr>
          <p:spPr bwMode="auto">
            <a:xfrm>
              <a:off x="4176" y="3598"/>
              <a:ext cx="606" cy="338"/>
            </a:xfrm>
            <a:custGeom>
              <a:avLst/>
              <a:gdLst>
                <a:gd name="T0" fmla="*/ 0 w 606"/>
                <a:gd name="T1" fmla="*/ 338 h 338"/>
                <a:gd name="T2" fmla="*/ 606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62" name="Line 41"/>
            <p:cNvSpPr>
              <a:spLocks noChangeShapeType="1"/>
            </p:cNvSpPr>
            <p:nvPr/>
          </p:nvSpPr>
          <p:spPr bwMode="auto">
            <a:xfrm flipV="1">
              <a:off x="4128" y="3264"/>
              <a:ext cx="0"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63" name="Line 42"/>
            <p:cNvSpPr>
              <a:spLocks noChangeShapeType="1"/>
            </p:cNvSpPr>
            <p:nvPr/>
          </p:nvSpPr>
          <p:spPr bwMode="auto">
            <a:xfrm>
              <a:off x="3360" y="2736"/>
              <a:ext cx="0"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64" name="Freeform 43"/>
            <p:cNvSpPr>
              <a:spLocks/>
            </p:cNvSpPr>
            <p:nvPr/>
          </p:nvSpPr>
          <p:spPr bwMode="auto">
            <a:xfrm>
              <a:off x="3484" y="2817"/>
              <a:ext cx="644" cy="303"/>
            </a:xfrm>
            <a:custGeom>
              <a:avLst/>
              <a:gdLst>
                <a:gd name="T0" fmla="*/ 644 w 644"/>
                <a:gd name="T1" fmla="*/ 303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65" name="Freeform 44"/>
            <p:cNvSpPr>
              <a:spLocks/>
            </p:cNvSpPr>
            <p:nvPr/>
          </p:nvSpPr>
          <p:spPr bwMode="auto">
            <a:xfrm>
              <a:off x="4128" y="2810"/>
              <a:ext cx="641" cy="310"/>
            </a:xfrm>
            <a:custGeom>
              <a:avLst/>
              <a:gdLst>
                <a:gd name="T0" fmla="*/ 0 w 641"/>
                <a:gd name="T1" fmla="*/ 310 h 310"/>
                <a:gd name="T2" fmla="*/ 641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66" name="Freeform 45"/>
            <p:cNvSpPr>
              <a:spLocks/>
            </p:cNvSpPr>
            <p:nvPr/>
          </p:nvSpPr>
          <p:spPr bwMode="auto">
            <a:xfrm>
              <a:off x="3360" y="2347"/>
              <a:ext cx="641" cy="389"/>
            </a:xfrm>
            <a:custGeom>
              <a:avLst/>
              <a:gdLst>
                <a:gd name="T0" fmla="*/ 0 w 641"/>
                <a:gd name="T1" fmla="*/ 389 h 389"/>
                <a:gd name="T2" fmla="*/ 641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0367" name="Oval 46"/>
            <p:cNvSpPr>
              <a:spLocks noChangeArrowheads="1"/>
            </p:cNvSpPr>
            <p:nvPr/>
          </p:nvSpPr>
          <p:spPr bwMode="auto">
            <a:xfrm>
              <a:off x="3984" y="3792"/>
              <a:ext cx="288" cy="288"/>
            </a:xfrm>
            <a:prstGeom prst="ellipse">
              <a:avLst/>
            </a:prstGeom>
            <a:solidFill>
              <a:srgbClr val="C0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a</a:t>
              </a:r>
            </a:p>
          </p:txBody>
        </p:sp>
        <p:sp>
          <p:nvSpPr>
            <p:cNvPr id="100368" name="Oval 47"/>
            <p:cNvSpPr>
              <a:spLocks noChangeArrowheads="1"/>
            </p:cNvSpPr>
            <p:nvPr/>
          </p:nvSpPr>
          <p:spPr bwMode="auto">
            <a:xfrm>
              <a:off x="3216" y="3360"/>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b</a:t>
              </a:r>
            </a:p>
          </p:txBody>
        </p:sp>
        <p:sp>
          <p:nvSpPr>
            <p:cNvPr id="100369" name="Oval 48"/>
            <p:cNvSpPr>
              <a:spLocks noChangeArrowheads="1"/>
            </p:cNvSpPr>
            <p:nvPr/>
          </p:nvSpPr>
          <p:spPr bwMode="auto">
            <a:xfrm>
              <a:off x="4752" y="3360"/>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c</a:t>
              </a:r>
            </a:p>
          </p:txBody>
        </p:sp>
        <p:sp>
          <p:nvSpPr>
            <p:cNvPr id="100370" name="Oval 49"/>
            <p:cNvSpPr>
              <a:spLocks noChangeArrowheads="1"/>
            </p:cNvSpPr>
            <p:nvPr/>
          </p:nvSpPr>
          <p:spPr bwMode="auto">
            <a:xfrm>
              <a:off x="3984" y="2976"/>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d</a:t>
              </a:r>
            </a:p>
          </p:txBody>
        </p:sp>
        <p:sp>
          <p:nvSpPr>
            <p:cNvPr id="100371" name="Oval 50"/>
            <p:cNvSpPr>
              <a:spLocks noChangeArrowheads="1"/>
            </p:cNvSpPr>
            <p:nvPr/>
          </p:nvSpPr>
          <p:spPr bwMode="auto">
            <a:xfrm>
              <a:off x="3216" y="2592"/>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e</a:t>
              </a:r>
            </a:p>
          </p:txBody>
        </p:sp>
        <p:sp>
          <p:nvSpPr>
            <p:cNvPr id="100372" name="Oval 51"/>
            <p:cNvSpPr>
              <a:spLocks noChangeArrowheads="1"/>
            </p:cNvSpPr>
            <p:nvPr/>
          </p:nvSpPr>
          <p:spPr bwMode="auto">
            <a:xfrm>
              <a:off x="3984" y="2160"/>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g</a:t>
              </a:r>
            </a:p>
          </p:txBody>
        </p:sp>
        <p:sp>
          <p:nvSpPr>
            <p:cNvPr id="100373" name="Oval 52"/>
            <p:cNvSpPr>
              <a:spLocks noChangeArrowheads="1"/>
            </p:cNvSpPr>
            <p:nvPr/>
          </p:nvSpPr>
          <p:spPr bwMode="auto">
            <a:xfrm>
              <a:off x="4752" y="2592"/>
              <a:ext cx="28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f</a:t>
              </a:r>
            </a:p>
          </p:txBody>
        </p:sp>
        <p:sp>
          <p:nvSpPr>
            <p:cNvPr id="100374" name="Rectangle 53"/>
            <p:cNvSpPr>
              <a:spLocks noChangeArrowheads="1"/>
            </p:cNvSpPr>
            <p:nvPr/>
          </p:nvSpPr>
          <p:spPr bwMode="auto">
            <a:xfrm>
              <a:off x="3600" y="230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00375" name="Rectangle 54"/>
            <p:cNvSpPr>
              <a:spLocks noChangeArrowheads="1"/>
            </p:cNvSpPr>
            <p:nvPr/>
          </p:nvSpPr>
          <p:spPr bwMode="auto">
            <a:xfrm>
              <a:off x="3072" y="2976"/>
              <a:ext cx="2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solidFill>
                    <a:schemeClr val="tx2"/>
                  </a:solidFill>
                </a:rPr>
                <a:t>10</a:t>
              </a:r>
            </a:p>
          </p:txBody>
        </p:sp>
        <p:sp>
          <p:nvSpPr>
            <p:cNvPr id="100376" name="Rectangle 55"/>
            <p:cNvSpPr>
              <a:spLocks noChangeArrowheads="1"/>
            </p:cNvSpPr>
            <p:nvPr/>
          </p:nvSpPr>
          <p:spPr bwMode="auto">
            <a:xfrm>
              <a:off x="3528" y="2880"/>
              <a:ext cx="23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-1</a:t>
              </a:r>
            </a:p>
          </p:txBody>
        </p:sp>
        <p:sp>
          <p:nvSpPr>
            <p:cNvPr id="100377" name="Rectangle 56"/>
            <p:cNvSpPr>
              <a:spLocks noChangeArrowheads="1"/>
            </p:cNvSpPr>
            <p:nvPr/>
          </p:nvSpPr>
          <p:spPr bwMode="auto">
            <a:xfrm>
              <a:off x="4464" y="288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5</a:t>
              </a:r>
            </a:p>
          </p:txBody>
        </p:sp>
        <p:sp>
          <p:nvSpPr>
            <p:cNvPr id="100378" name="Rectangle 57"/>
            <p:cNvSpPr>
              <a:spLocks noChangeArrowheads="1"/>
            </p:cNvSpPr>
            <p:nvPr/>
          </p:nvSpPr>
          <p:spPr bwMode="auto">
            <a:xfrm>
              <a:off x="4080" y="340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4</a:t>
              </a:r>
            </a:p>
          </p:txBody>
        </p:sp>
        <p:sp>
          <p:nvSpPr>
            <p:cNvPr id="100379" name="Rectangle 58"/>
            <p:cNvSpPr>
              <a:spLocks noChangeArrowheads="1"/>
            </p:cNvSpPr>
            <p:nvPr/>
          </p:nvSpPr>
          <p:spPr bwMode="auto">
            <a:xfrm>
              <a:off x="4464" y="3696"/>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00380" name="Rectangle 59"/>
            <p:cNvSpPr>
              <a:spLocks noChangeArrowheads="1"/>
            </p:cNvSpPr>
            <p:nvPr/>
          </p:nvSpPr>
          <p:spPr bwMode="auto">
            <a:xfrm>
              <a:off x="5040" y="3360"/>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b="1">
                  <a:solidFill>
                    <a:schemeClr val="hlink"/>
                  </a:solidFill>
                </a:rPr>
                <a:t>3</a:t>
              </a:r>
            </a:p>
          </p:txBody>
        </p:sp>
        <p:sp>
          <p:nvSpPr>
            <p:cNvPr id="100381" name="Rectangle 60"/>
            <p:cNvSpPr>
              <a:spLocks noChangeArrowheads="1"/>
            </p:cNvSpPr>
            <p:nvPr/>
          </p:nvSpPr>
          <p:spPr bwMode="auto">
            <a:xfrm>
              <a:off x="4176" y="398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b="1">
                  <a:solidFill>
                    <a:schemeClr val="hlink"/>
                  </a:solidFill>
                </a:rPr>
                <a:t>0</a:t>
              </a:r>
            </a:p>
          </p:txBody>
        </p:sp>
        <p:sp>
          <p:nvSpPr>
            <p:cNvPr id="100382" name="Rectangle 61"/>
            <p:cNvSpPr>
              <a:spLocks noChangeArrowheads="1"/>
            </p:cNvSpPr>
            <p:nvPr/>
          </p:nvSpPr>
          <p:spPr bwMode="auto">
            <a:xfrm>
              <a:off x="4032" y="2736"/>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b="1">
                  <a:solidFill>
                    <a:schemeClr val="hlink"/>
                  </a:solidFill>
                </a:rPr>
                <a:t>4</a:t>
              </a:r>
            </a:p>
          </p:txBody>
        </p:sp>
        <p:sp>
          <p:nvSpPr>
            <p:cNvPr id="100383" name="Rectangle 62"/>
            <p:cNvSpPr>
              <a:spLocks noChangeArrowheads="1"/>
            </p:cNvSpPr>
            <p:nvPr/>
          </p:nvSpPr>
          <p:spPr bwMode="auto">
            <a:xfrm>
              <a:off x="5040" y="2592"/>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b="1">
                  <a:solidFill>
                    <a:schemeClr val="hlink"/>
                  </a:solidFill>
                </a:rPr>
                <a:t>9</a:t>
              </a:r>
            </a:p>
          </p:txBody>
        </p:sp>
        <p:sp>
          <p:nvSpPr>
            <p:cNvPr id="100384" name="Rectangle 63"/>
            <p:cNvSpPr>
              <a:spLocks noChangeArrowheads="1"/>
            </p:cNvSpPr>
            <p:nvPr/>
          </p:nvSpPr>
          <p:spPr bwMode="auto">
            <a:xfrm>
              <a:off x="4272" y="2112"/>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b="1">
                  <a:solidFill>
                    <a:schemeClr val="hlink"/>
                  </a:solidFill>
                </a:rPr>
                <a:t>6</a:t>
              </a:r>
            </a:p>
          </p:txBody>
        </p:sp>
        <p:sp>
          <p:nvSpPr>
            <p:cNvPr id="100385" name="Rectangle 64"/>
            <p:cNvSpPr>
              <a:spLocks noChangeArrowheads="1"/>
            </p:cNvSpPr>
            <p:nvPr/>
          </p:nvSpPr>
          <p:spPr bwMode="auto">
            <a:xfrm>
              <a:off x="3024" y="2544"/>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b="1">
                  <a:solidFill>
                    <a:schemeClr val="hlink"/>
                  </a:solidFill>
                </a:rPr>
                <a:t>3</a:t>
              </a:r>
            </a:p>
          </p:txBody>
        </p:sp>
        <p:sp>
          <p:nvSpPr>
            <p:cNvPr id="100386" name="Rectangle 65"/>
            <p:cNvSpPr>
              <a:spLocks noChangeArrowheads="1"/>
            </p:cNvSpPr>
            <p:nvPr/>
          </p:nvSpPr>
          <p:spPr bwMode="auto">
            <a:xfrm>
              <a:off x="3224" y="3600"/>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b="1">
                  <a:solidFill>
                    <a:schemeClr val="hlink"/>
                  </a:solidFill>
                </a:rPr>
                <a:t>13</a:t>
              </a:r>
            </a:p>
          </p:txBody>
        </p:sp>
      </p:grpSp>
      <p:sp>
        <p:nvSpPr>
          <p:cNvPr id="180290" name="Rectangle 66" descr="Recycled paper"/>
          <p:cNvSpPr>
            <a:spLocks noChangeArrowheads="1"/>
          </p:cNvSpPr>
          <p:nvPr/>
        </p:nvSpPr>
        <p:spPr bwMode="auto">
          <a:xfrm>
            <a:off x="152400" y="1447800"/>
            <a:ext cx="8839200" cy="7810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defTabSz="1328738" eaLnBrk="1" hangingPunct="1">
              <a:spcBef>
                <a:spcPct val="50000"/>
              </a:spcBef>
              <a:buFontTx/>
              <a:buNone/>
              <a:tabLst>
                <a:tab pos="1328738" algn="l"/>
              </a:tabLst>
            </a:pPr>
            <a:r>
              <a:rPr lang="en-US" sz="2400" b="1" dirty="0">
                <a:solidFill>
                  <a:srgbClr val="CC0000"/>
                </a:solidFill>
              </a:rPr>
              <a:t>FACT 3:  </a:t>
            </a:r>
            <a:r>
              <a:rPr lang="en-US" sz="2000" dirty="0">
                <a:solidFill>
                  <a:schemeClr val="hlink"/>
                </a:solidFill>
              </a:rPr>
              <a:t>T is a shortest path tree </a:t>
            </a:r>
            <a:r>
              <a:rPr lang="en-US" sz="2000" dirty="0">
                <a:solidFill>
                  <a:srgbClr val="CC0000"/>
                </a:solidFill>
              </a:rPr>
              <a:t>if and only if</a:t>
            </a:r>
            <a:r>
              <a:rPr lang="en-US" sz="2000" dirty="0">
                <a:solidFill>
                  <a:schemeClr val="hlink"/>
                </a:solidFill>
              </a:rPr>
              <a:t> for every edge (</a:t>
            </a:r>
            <a:r>
              <a:rPr lang="en-US" sz="2000" dirty="0" err="1">
                <a:solidFill>
                  <a:schemeClr val="hlink"/>
                </a:solidFill>
              </a:rPr>
              <a:t>u,v</a:t>
            </a:r>
            <a:r>
              <a:rPr lang="en-US" sz="2000" dirty="0">
                <a:solidFill>
                  <a:schemeClr val="hlink"/>
                </a:solidFill>
              </a:rPr>
              <a:t>) of G,</a:t>
            </a:r>
            <a:br>
              <a:rPr lang="en-US" sz="2000" dirty="0">
                <a:solidFill>
                  <a:schemeClr val="hlink"/>
                </a:solidFill>
              </a:rPr>
            </a:br>
            <a:r>
              <a:rPr lang="en-US" sz="2000" dirty="0">
                <a:solidFill>
                  <a:schemeClr val="hlink"/>
                </a:solidFill>
              </a:rPr>
              <a:t>	</a:t>
            </a:r>
            <a:r>
              <a:rPr lang="en-US" sz="2000" dirty="0" err="1">
                <a:solidFill>
                  <a:schemeClr val="hlink"/>
                </a:solidFill>
              </a:rPr>
              <a:t>dist</a:t>
            </a:r>
            <a:r>
              <a:rPr lang="en-US" sz="2000" dirty="0">
                <a:solidFill>
                  <a:schemeClr val="hlink"/>
                </a:solidFill>
              </a:rPr>
              <a:t>(u) + w(</a:t>
            </a:r>
            <a:r>
              <a:rPr lang="en-US" sz="2000" dirty="0" err="1">
                <a:solidFill>
                  <a:schemeClr val="hlink"/>
                </a:solidFill>
              </a:rPr>
              <a:t>u,v</a:t>
            </a:r>
            <a:r>
              <a:rPr lang="en-US" sz="2000" dirty="0">
                <a:solidFill>
                  <a:schemeClr val="hlink"/>
                </a:solidFill>
              </a:rPr>
              <a:t>) </a:t>
            </a:r>
            <a:r>
              <a:rPr lang="en-US" sz="2000" dirty="0">
                <a:solidFill>
                  <a:schemeClr val="hlink"/>
                </a:solidFill>
                <a:sym typeface="Symbol" pitchFamily="18" charset="2"/>
              </a:rPr>
              <a:t> </a:t>
            </a:r>
            <a:r>
              <a:rPr lang="en-US" sz="2000" dirty="0" err="1">
                <a:solidFill>
                  <a:schemeClr val="hlink"/>
                </a:solidFill>
              </a:rPr>
              <a:t>dist</a:t>
            </a:r>
            <a:r>
              <a:rPr lang="en-US" sz="2000" dirty="0">
                <a:solidFill>
                  <a:schemeClr val="hlink"/>
                </a:solidFill>
              </a:rPr>
              <a:t>(v).              </a:t>
            </a:r>
            <a:r>
              <a:rPr lang="en-US" sz="2000" dirty="0"/>
              <a:t>[Verifiable in O(V+E) </a:t>
            </a:r>
            <a:r>
              <a:rPr lang="en-US" sz="2000" dirty="0" smtClean="0"/>
              <a:t>time.]</a:t>
            </a:r>
            <a:endParaRPr lang="en-US" sz="2000" dirty="0"/>
          </a:p>
        </p:txBody>
      </p:sp>
      <p:sp>
        <p:nvSpPr>
          <p:cNvPr id="180291" name="Rectangle 67"/>
          <p:cNvSpPr>
            <a:spLocks noChangeArrowheads="1"/>
          </p:cNvSpPr>
          <p:nvPr/>
        </p:nvSpPr>
        <p:spPr bwMode="auto">
          <a:xfrm>
            <a:off x="152400" y="2286000"/>
            <a:ext cx="8763000"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763588" eaLnBrk="1" hangingPunct="1">
              <a:spcBef>
                <a:spcPct val="50000"/>
              </a:spcBef>
              <a:buFontTx/>
              <a:buNone/>
            </a:pPr>
            <a:r>
              <a:rPr lang="en-US" sz="2000" b="1"/>
              <a:t>Proof:  </a:t>
            </a:r>
            <a:r>
              <a:rPr lang="en-US" sz="2000"/>
              <a:t>dist(u) + w(u,v) &lt; dist(v)  </a:t>
            </a:r>
            <a:r>
              <a:rPr lang="en-US" sz="2000">
                <a:sym typeface="Symbol" pitchFamily="18" charset="2"/>
              </a:rPr>
              <a:t> </a:t>
            </a:r>
            <a:r>
              <a:rPr lang="en-US" sz="2000"/>
              <a:t> the path in T from s to v is not shortest.</a:t>
            </a:r>
            <a:br>
              <a:rPr lang="en-US" sz="2000"/>
            </a:br>
            <a:r>
              <a:rPr lang="en-US" sz="2000"/>
              <a:t>Conversely, suppose dist(u) + w(u,v) </a:t>
            </a:r>
            <a:r>
              <a:rPr lang="en-US" sz="2000">
                <a:sym typeface="Symbol" pitchFamily="18" charset="2"/>
              </a:rPr>
              <a:t> </a:t>
            </a:r>
            <a:r>
              <a:rPr lang="en-US" sz="2000"/>
              <a:t>dist(v) for every edge (u,v) in G.</a:t>
            </a:r>
            <a:br>
              <a:rPr lang="en-US" sz="2000"/>
            </a:br>
            <a:r>
              <a:rPr lang="en-US" sz="2000"/>
              <a:t>Let P be any path from s to any node v. By induction on the # edges on P, we can show d(P) </a:t>
            </a:r>
            <a:r>
              <a:rPr lang="en-US" sz="2000">
                <a:sym typeface="Symbol" pitchFamily="18" charset="2"/>
              </a:rPr>
              <a:t></a:t>
            </a:r>
            <a:r>
              <a:rPr lang="en-US" sz="2000"/>
              <a:t> dist(v). Hence, T is a shortest path tree.</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97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80226"/>
                                        </p:tgtEl>
                                        <p:attrNameLst>
                                          <p:attrName>style.visibility</p:attrName>
                                        </p:attrNameLst>
                                      </p:cBhvr>
                                      <p:to>
                                        <p:strVal val="visible"/>
                                      </p:to>
                                    </p:set>
                                    <p:anim calcmode="lin" valueType="num">
                                      <p:cBhvr>
                                        <p:cTn id="7" dur="500" fill="hold"/>
                                        <p:tgtEl>
                                          <p:spTgt spid="180226"/>
                                        </p:tgtEl>
                                        <p:attrNameLst>
                                          <p:attrName>ppt_w</p:attrName>
                                        </p:attrNameLst>
                                      </p:cBhvr>
                                      <p:tavLst>
                                        <p:tav tm="0">
                                          <p:val>
                                            <p:fltVal val="0"/>
                                          </p:val>
                                        </p:tav>
                                        <p:tav tm="100000">
                                          <p:val>
                                            <p:strVal val="#ppt_w"/>
                                          </p:val>
                                        </p:tav>
                                      </p:tavLst>
                                    </p:anim>
                                    <p:anim calcmode="lin" valueType="num">
                                      <p:cBhvr>
                                        <p:cTn id="8" dur="500" fill="hold"/>
                                        <p:tgtEl>
                                          <p:spTgt spid="18022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80227">
                                            <p:txEl>
                                              <p:pRg st="0" end="0"/>
                                            </p:txEl>
                                          </p:spTgt>
                                        </p:tgtEl>
                                        <p:attrNameLst>
                                          <p:attrName>style.visibility</p:attrName>
                                        </p:attrNameLst>
                                      </p:cBhvr>
                                      <p:to>
                                        <p:strVal val="visible"/>
                                      </p:to>
                                    </p:set>
                                    <p:animEffect transition="in" filter="wipe(up)">
                                      <p:cBhvr>
                                        <p:cTn id="13" dur="500"/>
                                        <p:tgtEl>
                                          <p:spTgt spid="180227">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80227">
                                            <p:txEl>
                                              <p:pRg st="1" end="1"/>
                                            </p:txEl>
                                          </p:spTgt>
                                        </p:tgtEl>
                                        <p:attrNameLst>
                                          <p:attrName>style.visibility</p:attrName>
                                        </p:attrNameLst>
                                      </p:cBhvr>
                                      <p:to>
                                        <p:strVal val="visible"/>
                                      </p:to>
                                    </p:set>
                                    <p:animEffect transition="in" filter="wipe(up)">
                                      <p:cBhvr>
                                        <p:cTn id="18" dur="500"/>
                                        <p:tgtEl>
                                          <p:spTgt spid="180227">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80290"/>
                                        </p:tgtEl>
                                        <p:attrNameLst>
                                          <p:attrName>style.visibility</p:attrName>
                                        </p:attrNameLst>
                                      </p:cBhvr>
                                      <p:to>
                                        <p:strVal val="visible"/>
                                      </p:to>
                                    </p:set>
                                    <p:animEffect transition="in" filter="wipe(up)">
                                      <p:cBhvr>
                                        <p:cTn id="23" dur="500"/>
                                        <p:tgtEl>
                                          <p:spTgt spid="18029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80291"/>
                                        </p:tgtEl>
                                        <p:attrNameLst>
                                          <p:attrName>style.visibility</p:attrName>
                                        </p:attrNameLst>
                                      </p:cBhvr>
                                      <p:to>
                                        <p:strVal val="visible"/>
                                      </p:to>
                                    </p:set>
                                    <p:animEffect transition="in" filter="wipe(up)">
                                      <p:cBhvr>
                                        <p:cTn id="28" dur="500"/>
                                        <p:tgtEl>
                                          <p:spTgt spid="180291"/>
                                        </p:tgtEl>
                                      </p:cBhvr>
                                    </p:animEffect>
                                  </p:childTnLst>
                                </p:cTn>
                              </p:par>
                            </p:childTnLst>
                          </p:cTn>
                        </p:par>
                        <p:par>
                          <p:cTn id="29" fill="hold" nodeType="withGroup">
                            <p:stCondLst>
                              <p:cond delay="500"/>
                            </p:stCondLst>
                            <p:childTnLst>
                              <p:par>
                                <p:cTn id="30" presetID="22" presetClass="entr" presetSubtype="4" fill="hold" nodeType="afterEffect">
                                  <p:stCondLst>
                                    <p:cond delay="250"/>
                                  </p:stCondLst>
                                  <p:childTnLst>
                                    <p:set>
                                      <p:cBhvr>
                                        <p:cTn id="31" dur="1" fill="hold">
                                          <p:stCondLst>
                                            <p:cond delay="0"/>
                                          </p:stCondLst>
                                        </p:cTn>
                                        <p:tgtEl>
                                          <p:spTgt spid="180228"/>
                                        </p:tgtEl>
                                        <p:attrNameLst>
                                          <p:attrName>style.visibility</p:attrName>
                                        </p:attrNameLst>
                                      </p:cBhvr>
                                      <p:to>
                                        <p:strVal val="visible"/>
                                      </p:to>
                                    </p:set>
                                    <p:animEffect transition="in" filter="wipe(down)">
                                      <p:cBhvr>
                                        <p:cTn id="32" dur="1000"/>
                                        <p:tgtEl>
                                          <p:spTgt spid="180228"/>
                                        </p:tgtEl>
                                      </p:cBhvr>
                                    </p:animEffect>
                                  </p:childTnLst>
                                </p:cTn>
                              </p:par>
                            </p:childTnLst>
                          </p:cTn>
                        </p:par>
                        <p:par>
                          <p:cTn id="33" fill="hold" nodeType="afterGroup">
                            <p:stCondLst>
                              <p:cond delay="1750"/>
                            </p:stCondLst>
                            <p:childTnLst>
                              <p:par>
                                <p:cTn id="34" presetID="22" presetClass="entr" presetSubtype="4" fill="hold" nodeType="afterEffect">
                                  <p:stCondLst>
                                    <p:cond delay="250"/>
                                  </p:stCondLst>
                                  <p:childTnLst>
                                    <p:set>
                                      <p:cBhvr>
                                        <p:cTn id="35" dur="1" fill="hold">
                                          <p:stCondLst>
                                            <p:cond delay="0"/>
                                          </p:stCondLst>
                                        </p:cTn>
                                        <p:tgtEl>
                                          <p:spTgt spid="180262"/>
                                        </p:tgtEl>
                                        <p:attrNameLst>
                                          <p:attrName>style.visibility</p:attrName>
                                        </p:attrNameLst>
                                      </p:cBhvr>
                                      <p:to>
                                        <p:strVal val="visible"/>
                                      </p:to>
                                    </p:set>
                                    <p:animEffect transition="in" filter="wipe(down)">
                                      <p:cBhvr>
                                        <p:cTn id="36" dur="1000"/>
                                        <p:tgtEl>
                                          <p:spTgt spid="180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6" grpId="0" animBg="1" autoUpdateAnimBg="0"/>
      <p:bldP spid="180227" grpId="0" build="p" autoUpdateAnimBg="0"/>
      <p:bldP spid="180290" grpId="0" animBg="1" autoUpdateAnimBg="0"/>
      <p:bldP spid="180291" grpId="0"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chemeClr val="tx1"/>
                </a:solidFill>
                <a:latin typeface="Arial Rounded MT Bold" pitchFamily="34" charset="0"/>
              </a:rPr>
              <a:t>The Recurrence  </a:t>
            </a:r>
            <a:r>
              <a:rPr lang="en-US" sz="2800" dirty="0" smtClean="0">
                <a:solidFill>
                  <a:srgbClr val="CC0000"/>
                </a:solidFill>
                <a:latin typeface="Arial Rounded MT Bold" pitchFamily="34" charset="0"/>
              </a:rPr>
              <a:t>[Bellman 1958]</a:t>
            </a:r>
            <a:r>
              <a:rPr lang="en-US" sz="2800" dirty="0" smtClean="0">
                <a:solidFill>
                  <a:schemeClr val="tx1"/>
                </a:solidFill>
                <a:latin typeface="Arial Rounded MT Bold" pitchFamily="34" charset="0"/>
              </a:rPr>
              <a:t> </a:t>
            </a:r>
          </a:p>
        </p:txBody>
      </p:sp>
      <p:sp>
        <p:nvSpPr>
          <p:cNvPr id="181251" name="Text Box 3"/>
          <p:cNvSpPr txBox="1">
            <a:spLocks noChangeArrowheads="1"/>
          </p:cNvSpPr>
          <p:nvPr/>
        </p:nvSpPr>
        <p:spPr bwMode="auto">
          <a:xfrm>
            <a:off x="152400" y="762000"/>
            <a:ext cx="8763000"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 typeface="Wingdings" pitchFamily="2" charset="2"/>
              <a:buNone/>
            </a:pPr>
            <a:r>
              <a:rPr lang="en-US" sz="1800" b="1">
                <a:solidFill>
                  <a:srgbClr val="CC0000"/>
                </a:solidFill>
              </a:rPr>
              <a:t>T</a:t>
            </a:r>
            <a:r>
              <a:rPr lang="en-US" sz="1800">
                <a:solidFill>
                  <a:schemeClr val="tx2"/>
                </a:solidFill>
              </a:rPr>
              <a:t> = shortest path tree rooted at s.</a:t>
            </a:r>
          </a:p>
          <a:p>
            <a:pPr eaLnBrk="1" hangingPunct="1">
              <a:buFont typeface="Wingdings" pitchFamily="2" charset="2"/>
              <a:buNone/>
            </a:pPr>
            <a:r>
              <a:rPr lang="en-US" sz="1800" b="1">
                <a:solidFill>
                  <a:srgbClr val="CC0000"/>
                </a:solidFill>
              </a:rPr>
              <a:t>dist(v)</a:t>
            </a:r>
            <a:r>
              <a:rPr lang="en-US" sz="1800">
                <a:solidFill>
                  <a:schemeClr val="tx2"/>
                </a:solidFill>
              </a:rPr>
              <a:t> = cost of the unique path in T from s to v. </a:t>
            </a:r>
            <a:br>
              <a:rPr lang="en-US" sz="1800">
                <a:solidFill>
                  <a:schemeClr val="tx2"/>
                </a:solidFill>
              </a:rPr>
            </a:br>
            <a:r>
              <a:rPr lang="en-US" sz="1800" b="1">
                <a:solidFill>
                  <a:srgbClr val="CC0000"/>
                </a:solidFill>
                <a:latin typeface="Symbol" pitchFamily="18" charset="2"/>
              </a:rPr>
              <a:t>p</a:t>
            </a:r>
            <a:r>
              <a:rPr lang="en-US" sz="1800" b="1">
                <a:solidFill>
                  <a:srgbClr val="CC0000"/>
                </a:solidFill>
              </a:rPr>
              <a:t>(v)</a:t>
            </a:r>
            <a:r>
              <a:rPr lang="en-US" sz="1800">
                <a:solidFill>
                  <a:schemeClr val="tx2"/>
                </a:solidFill>
              </a:rPr>
              <a:t> = parent of v in T  (nil if no parent).</a:t>
            </a:r>
            <a:br>
              <a:rPr lang="en-US" sz="1800">
                <a:solidFill>
                  <a:schemeClr val="tx2"/>
                </a:solidFill>
              </a:rPr>
            </a:br>
            <a:r>
              <a:rPr lang="en-US" sz="1800" b="1">
                <a:solidFill>
                  <a:srgbClr val="CC0000"/>
                </a:solidFill>
              </a:rPr>
              <a:t>R(s)</a:t>
            </a:r>
            <a:r>
              <a:rPr lang="en-US" sz="1800">
                <a:solidFill>
                  <a:schemeClr val="tx2"/>
                </a:solidFill>
              </a:rPr>
              <a:t> = the set of nodes in G that are reachable from s.</a:t>
            </a:r>
            <a:endParaRPr lang="en-US" sz="1800">
              <a:solidFill>
                <a:srgbClr val="CC0000"/>
              </a:solidFill>
            </a:endParaRPr>
          </a:p>
        </p:txBody>
      </p:sp>
      <p:sp>
        <p:nvSpPr>
          <p:cNvPr id="181314" name="Rectangle 66" descr="Recycled paper"/>
          <p:cNvSpPr>
            <a:spLocks noChangeArrowheads="1"/>
          </p:cNvSpPr>
          <p:nvPr/>
        </p:nvSpPr>
        <p:spPr bwMode="auto">
          <a:xfrm>
            <a:off x="152400" y="2286000"/>
            <a:ext cx="8839200" cy="39814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defTabSz="1328738" eaLnBrk="1" hangingPunct="1">
              <a:spcBef>
                <a:spcPct val="50000"/>
              </a:spcBef>
              <a:buFontTx/>
              <a:buNone/>
              <a:tabLst>
                <a:tab pos="1328738" algn="l"/>
              </a:tabLst>
            </a:pPr>
            <a:r>
              <a:rPr lang="en-US" sz="2400" b="1" dirty="0">
                <a:solidFill>
                  <a:srgbClr val="CC0000"/>
                </a:solidFill>
              </a:rPr>
              <a:t>FACT 4:  </a:t>
            </a:r>
            <a:r>
              <a:rPr lang="en-US" sz="2000" dirty="0">
                <a:solidFill>
                  <a:schemeClr val="hlink"/>
                </a:solidFill>
              </a:rPr>
              <a:t>G has a shortest path tree rooted at s    </a:t>
            </a:r>
            <a:br>
              <a:rPr lang="en-US" sz="2000" dirty="0">
                <a:solidFill>
                  <a:schemeClr val="hlink"/>
                </a:solidFill>
              </a:rPr>
            </a:br>
            <a:r>
              <a:rPr lang="en-US" sz="2000" dirty="0">
                <a:solidFill>
                  <a:schemeClr val="hlink"/>
                </a:solidFill>
              </a:rPr>
              <a:t>	               </a:t>
            </a:r>
            <a:r>
              <a:rPr lang="en-US" sz="2000" dirty="0">
                <a:solidFill>
                  <a:srgbClr val="CC0000"/>
                </a:solidFill>
              </a:rPr>
              <a:t>if and only if</a:t>
            </a:r>
            <a:r>
              <a:rPr lang="en-US" sz="2000" dirty="0">
                <a:solidFill>
                  <a:schemeClr val="hlink"/>
                </a:solidFill>
              </a:rPr>
              <a:t>    </a:t>
            </a:r>
            <a:br>
              <a:rPr lang="en-US" sz="2000" dirty="0">
                <a:solidFill>
                  <a:schemeClr val="hlink"/>
                </a:solidFill>
              </a:rPr>
            </a:br>
            <a:r>
              <a:rPr lang="en-US" sz="2000" dirty="0">
                <a:solidFill>
                  <a:schemeClr val="hlink"/>
                </a:solidFill>
              </a:rPr>
              <a:t>	the following recurrence has a solution:</a:t>
            </a:r>
          </a:p>
          <a:p>
            <a:pPr marL="457200" indent="-457200" defTabSz="1328738" eaLnBrk="1" hangingPunct="1">
              <a:spcBef>
                <a:spcPct val="50000"/>
              </a:spcBef>
              <a:buFontTx/>
              <a:buAutoNum type="arabicPeriod"/>
              <a:tabLst>
                <a:tab pos="1328738" algn="l"/>
              </a:tabLst>
            </a:pPr>
            <a:r>
              <a:rPr lang="en-US" sz="2000" dirty="0">
                <a:solidFill>
                  <a:schemeClr val="hlink"/>
                </a:solidFill>
                <a:latin typeface="Symbol" pitchFamily="18" charset="2"/>
              </a:rPr>
              <a:t>p</a:t>
            </a:r>
            <a:r>
              <a:rPr lang="en-US" sz="2000" dirty="0">
                <a:solidFill>
                  <a:schemeClr val="hlink"/>
                </a:solidFill>
              </a:rPr>
              <a:t>(s) = nil </a:t>
            </a:r>
            <a:br>
              <a:rPr lang="en-US" sz="2000" dirty="0">
                <a:solidFill>
                  <a:schemeClr val="hlink"/>
                </a:solidFill>
              </a:rPr>
            </a:br>
            <a:r>
              <a:rPr lang="en-US" sz="2000" dirty="0" err="1">
                <a:solidFill>
                  <a:schemeClr val="hlink"/>
                </a:solidFill>
              </a:rPr>
              <a:t>dist</a:t>
            </a:r>
            <a:r>
              <a:rPr lang="en-US" sz="2000" dirty="0">
                <a:solidFill>
                  <a:schemeClr val="hlink"/>
                </a:solidFill>
              </a:rPr>
              <a:t>(s) = 0 </a:t>
            </a:r>
          </a:p>
          <a:p>
            <a:pPr marL="457200" indent="-457200" defTabSz="1328738" eaLnBrk="1" hangingPunct="1">
              <a:spcBef>
                <a:spcPct val="50000"/>
              </a:spcBef>
              <a:buFontTx/>
              <a:buAutoNum type="arabicPeriod"/>
              <a:tabLst>
                <a:tab pos="1328738" algn="l"/>
              </a:tabLst>
            </a:pPr>
            <a:r>
              <a:rPr lang="en-US" sz="2000" dirty="0">
                <a:solidFill>
                  <a:schemeClr val="hlink"/>
                </a:solidFill>
                <a:sym typeface="Symbol" pitchFamily="18" charset="2"/>
              </a:rPr>
              <a:t></a:t>
            </a:r>
            <a:r>
              <a:rPr lang="en-US" sz="2000" dirty="0" err="1">
                <a:solidFill>
                  <a:schemeClr val="hlink"/>
                </a:solidFill>
                <a:sym typeface="Symbol" pitchFamily="18" charset="2"/>
              </a:rPr>
              <a:t>vR</a:t>
            </a:r>
            <a:r>
              <a:rPr lang="en-US" sz="2000" dirty="0">
                <a:solidFill>
                  <a:schemeClr val="hlink"/>
                </a:solidFill>
                <a:sym typeface="Symbol" pitchFamily="18" charset="2"/>
              </a:rPr>
              <a:t>(s) –{s}:</a:t>
            </a:r>
            <a:r>
              <a:rPr lang="en-US" sz="2000" dirty="0">
                <a:solidFill>
                  <a:schemeClr val="hlink"/>
                </a:solidFill>
                <a:latin typeface="Symbol" pitchFamily="18" charset="2"/>
                <a:sym typeface="Symbol" pitchFamily="18" charset="2"/>
              </a:rPr>
              <a:t>  </a:t>
            </a:r>
            <a:br>
              <a:rPr lang="en-US" sz="2000" dirty="0">
                <a:solidFill>
                  <a:schemeClr val="hlink"/>
                </a:solidFill>
                <a:latin typeface="Symbol" pitchFamily="18" charset="2"/>
                <a:sym typeface="Symbol" pitchFamily="18" charset="2"/>
              </a:rPr>
            </a:br>
            <a:r>
              <a:rPr lang="en-US" sz="2000" dirty="0">
                <a:solidFill>
                  <a:schemeClr val="hlink"/>
                </a:solidFill>
                <a:latin typeface="Symbol" pitchFamily="18" charset="2"/>
              </a:rPr>
              <a:t>p</a:t>
            </a:r>
            <a:r>
              <a:rPr lang="en-US" sz="2000" dirty="0">
                <a:solidFill>
                  <a:schemeClr val="hlink"/>
                </a:solidFill>
              </a:rPr>
              <a:t>(v) = </a:t>
            </a:r>
            <a:r>
              <a:rPr lang="en-US" sz="2000" dirty="0" err="1">
                <a:solidFill>
                  <a:schemeClr val="hlink"/>
                </a:solidFill>
              </a:rPr>
              <a:t>argmin</a:t>
            </a:r>
            <a:r>
              <a:rPr lang="en-US" sz="2000" dirty="0">
                <a:solidFill>
                  <a:schemeClr val="hlink"/>
                </a:solidFill>
              </a:rPr>
              <a:t> </a:t>
            </a:r>
            <a:r>
              <a:rPr lang="en-US" sz="2000" baseline="-25000" dirty="0">
                <a:solidFill>
                  <a:schemeClr val="hlink"/>
                </a:solidFill>
              </a:rPr>
              <a:t>u</a:t>
            </a:r>
            <a:r>
              <a:rPr lang="en-US" sz="2000" dirty="0">
                <a:solidFill>
                  <a:schemeClr val="hlink"/>
                </a:solidFill>
              </a:rPr>
              <a:t> { </a:t>
            </a:r>
            <a:r>
              <a:rPr lang="en-US" sz="2000" dirty="0" err="1">
                <a:solidFill>
                  <a:schemeClr val="hlink"/>
                </a:solidFill>
              </a:rPr>
              <a:t>dist</a:t>
            </a:r>
            <a:r>
              <a:rPr lang="en-US" sz="2000" dirty="0">
                <a:solidFill>
                  <a:schemeClr val="hlink"/>
                </a:solidFill>
              </a:rPr>
              <a:t>(u) + w(</a:t>
            </a:r>
            <a:r>
              <a:rPr lang="en-US" sz="2000" dirty="0" err="1">
                <a:solidFill>
                  <a:schemeClr val="hlink"/>
                </a:solidFill>
              </a:rPr>
              <a:t>u,v</a:t>
            </a:r>
            <a:r>
              <a:rPr lang="en-US" sz="2000" dirty="0">
                <a:solidFill>
                  <a:schemeClr val="hlink"/>
                </a:solidFill>
              </a:rPr>
              <a:t>) |  (</a:t>
            </a:r>
            <a:r>
              <a:rPr lang="en-US" sz="2000" dirty="0" err="1">
                <a:solidFill>
                  <a:schemeClr val="hlink"/>
                </a:solidFill>
              </a:rPr>
              <a:t>u,v</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E(G)}  </a:t>
            </a:r>
            <a:br>
              <a:rPr lang="en-US" sz="2000" dirty="0">
                <a:solidFill>
                  <a:schemeClr val="hlink"/>
                </a:solidFill>
              </a:rPr>
            </a:br>
            <a:r>
              <a:rPr lang="en-US" sz="2000" dirty="0" err="1">
                <a:solidFill>
                  <a:schemeClr val="hlink"/>
                </a:solidFill>
              </a:rPr>
              <a:t>dist</a:t>
            </a:r>
            <a:r>
              <a:rPr lang="en-US" sz="2000" dirty="0">
                <a:solidFill>
                  <a:schemeClr val="hlink"/>
                </a:solidFill>
              </a:rPr>
              <a:t>(v) =   min   { </a:t>
            </a:r>
            <a:r>
              <a:rPr lang="en-US" sz="2000" dirty="0" err="1">
                <a:solidFill>
                  <a:schemeClr val="hlink"/>
                </a:solidFill>
              </a:rPr>
              <a:t>dist</a:t>
            </a:r>
            <a:r>
              <a:rPr lang="en-US" sz="2000" dirty="0">
                <a:solidFill>
                  <a:schemeClr val="hlink"/>
                </a:solidFill>
              </a:rPr>
              <a:t>(u) + w(</a:t>
            </a:r>
            <a:r>
              <a:rPr lang="en-US" sz="2000" dirty="0" err="1">
                <a:solidFill>
                  <a:schemeClr val="hlink"/>
                </a:solidFill>
              </a:rPr>
              <a:t>u,v</a:t>
            </a:r>
            <a:r>
              <a:rPr lang="en-US" sz="2000" dirty="0">
                <a:solidFill>
                  <a:schemeClr val="hlink"/>
                </a:solidFill>
              </a:rPr>
              <a:t>) |  (</a:t>
            </a:r>
            <a:r>
              <a:rPr lang="en-US" sz="2000" dirty="0" err="1">
                <a:solidFill>
                  <a:schemeClr val="hlink"/>
                </a:solidFill>
              </a:rPr>
              <a:t>u,v</a:t>
            </a:r>
            <a:r>
              <a:rPr lang="en-US" sz="2000" dirty="0">
                <a:solidFill>
                  <a:schemeClr val="hlink"/>
                </a:solidFill>
              </a:rPr>
              <a:t>) </a:t>
            </a:r>
            <a:r>
              <a:rPr lang="en-US" sz="2000" dirty="0">
                <a:solidFill>
                  <a:schemeClr val="hlink"/>
                </a:solidFill>
                <a:sym typeface="Symbol" pitchFamily="18" charset="2"/>
              </a:rPr>
              <a:t> </a:t>
            </a:r>
            <a:r>
              <a:rPr lang="en-US" sz="2000" dirty="0">
                <a:solidFill>
                  <a:schemeClr val="hlink"/>
                </a:solidFill>
              </a:rPr>
              <a:t>E(G)} = </a:t>
            </a:r>
            <a:r>
              <a:rPr lang="en-US" sz="2000" dirty="0" err="1">
                <a:solidFill>
                  <a:schemeClr val="hlink"/>
                </a:solidFill>
              </a:rPr>
              <a:t>dist</a:t>
            </a:r>
            <a:r>
              <a:rPr lang="en-US" sz="2000" dirty="0">
                <a:solidFill>
                  <a:schemeClr val="hlink"/>
                </a:solidFill>
              </a:rPr>
              <a:t>(</a:t>
            </a:r>
            <a:r>
              <a:rPr lang="en-US" sz="2000" dirty="0">
                <a:solidFill>
                  <a:schemeClr val="hlink"/>
                </a:solidFill>
                <a:latin typeface="Symbol" pitchFamily="18" charset="2"/>
              </a:rPr>
              <a:t>p</a:t>
            </a:r>
            <a:r>
              <a:rPr lang="en-US" sz="2000" dirty="0">
                <a:solidFill>
                  <a:schemeClr val="hlink"/>
                </a:solidFill>
              </a:rPr>
              <a:t>(v)) + w(</a:t>
            </a:r>
            <a:r>
              <a:rPr lang="en-US" sz="2000" dirty="0">
                <a:solidFill>
                  <a:schemeClr val="hlink"/>
                </a:solidFill>
                <a:latin typeface="Symbol" pitchFamily="18" charset="2"/>
              </a:rPr>
              <a:t>p</a:t>
            </a:r>
            <a:r>
              <a:rPr lang="en-US" sz="2000" dirty="0">
                <a:solidFill>
                  <a:schemeClr val="hlink"/>
                </a:solidFill>
              </a:rPr>
              <a:t>(v) ,v) </a:t>
            </a:r>
          </a:p>
          <a:p>
            <a:pPr marL="457200" indent="-457200" defTabSz="1328738" eaLnBrk="1" hangingPunct="1">
              <a:spcBef>
                <a:spcPct val="50000"/>
              </a:spcBef>
              <a:buFontTx/>
              <a:buAutoNum type="arabicPeriod"/>
              <a:tabLst>
                <a:tab pos="1328738" algn="l"/>
              </a:tabLst>
            </a:pPr>
            <a:r>
              <a:rPr lang="en-US" sz="2000" dirty="0">
                <a:solidFill>
                  <a:schemeClr val="hlink"/>
                </a:solidFill>
                <a:sym typeface="Symbol" pitchFamily="18" charset="2"/>
              </a:rPr>
              <a:t></a:t>
            </a:r>
            <a:r>
              <a:rPr lang="en-US" sz="2000" dirty="0" err="1">
                <a:solidFill>
                  <a:schemeClr val="hlink"/>
                </a:solidFill>
                <a:sym typeface="Symbol" pitchFamily="18" charset="2"/>
              </a:rPr>
              <a:t>vV</a:t>
            </a:r>
            <a:r>
              <a:rPr lang="en-US" sz="2000" dirty="0">
                <a:solidFill>
                  <a:schemeClr val="hlink"/>
                </a:solidFill>
                <a:sym typeface="Symbol" pitchFamily="18" charset="2"/>
              </a:rPr>
              <a:t>(G) – R(s):</a:t>
            </a:r>
            <a:r>
              <a:rPr lang="en-US" sz="2000" dirty="0">
                <a:solidFill>
                  <a:schemeClr val="hlink"/>
                </a:solidFill>
                <a:latin typeface="Symbol" pitchFamily="18" charset="2"/>
                <a:sym typeface="Symbol" pitchFamily="18" charset="2"/>
              </a:rPr>
              <a:t>  </a:t>
            </a:r>
            <a:br>
              <a:rPr lang="en-US" sz="2000" dirty="0">
                <a:solidFill>
                  <a:schemeClr val="hlink"/>
                </a:solidFill>
                <a:latin typeface="Symbol" pitchFamily="18" charset="2"/>
                <a:sym typeface="Symbol" pitchFamily="18" charset="2"/>
              </a:rPr>
            </a:br>
            <a:r>
              <a:rPr lang="en-US" sz="2000" dirty="0">
                <a:solidFill>
                  <a:schemeClr val="hlink"/>
                </a:solidFill>
                <a:latin typeface="Symbol" pitchFamily="18" charset="2"/>
              </a:rPr>
              <a:t>p</a:t>
            </a:r>
            <a:r>
              <a:rPr lang="en-US" sz="2000" dirty="0">
                <a:solidFill>
                  <a:schemeClr val="hlink"/>
                </a:solidFill>
              </a:rPr>
              <a:t>(v) = nil</a:t>
            </a:r>
            <a:br>
              <a:rPr lang="en-US" sz="2000" dirty="0">
                <a:solidFill>
                  <a:schemeClr val="hlink"/>
                </a:solidFill>
              </a:rPr>
            </a:br>
            <a:r>
              <a:rPr lang="en-US" sz="2000" dirty="0" err="1">
                <a:solidFill>
                  <a:schemeClr val="hlink"/>
                </a:solidFill>
              </a:rPr>
              <a:t>dist</a:t>
            </a:r>
            <a:r>
              <a:rPr lang="en-US" sz="2000" dirty="0">
                <a:solidFill>
                  <a:schemeClr val="hlink"/>
                </a:solidFill>
              </a:rPr>
              <a:t>(v) = + </a:t>
            </a:r>
            <a:r>
              <a:rPr lang="en-US" sz="2000" dirty="0">
                <a:solidFill>
                  <a:schemeClr val="hlink"/>
                </a:solidFill>
                <a:sym typeface="Symbol" pitchFamily="18" charset="2"/>
              </a:rPr>
              <a:t> </a:t>
            </a:r>
            <a:r>
              <a:rPr lang="en-US" sz="2000" dirty="0">
                <a:solidFill>
                  <a:schemeClr val="hlink"/>
                </a:solidFill>
              </a:rPr>
              <a:t>.</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98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81250"/>
                                        </p:tgtEl>
                                        <p:attrNameLst>
                                          <p:attrName>style.visibility</p:attrName>
                                        </p:attrNameLst>
                                      </p:cBhvr>
                                      <p:to>
                                        <p:strVal val="visible"/>
                                      </p:to>
                                    </p:set>
                                    <p:anim calcmode="lin" valueType="num">
                                      <p:cBhvr>
                                        <p:cTn id="7" dur="500" fill="hold"/>
                                        <p:tgtEl>
                                          <p:spTgt spid="181250"/>
                                        </p:tgtEl>
                                        <p:attrNameLst>
                                          <p:attrName>ppt_w</p:attrName>
                                        </p:attrNameLst>
                                      </p:cBhvr>
                                      <p:tavLst>
                                        <p:tav tm="0">
                                          <p:val>
                                            <p:fltVal val="0"/>
                                          </p:val>
                                        </p:tav>
                                        <p:tav tm="100000">
                                          <p:val>
                                            <p:strVal val="#ppt_w"/>
                                          </p:val>
                                        </p:tav>
                                      </p:tavLst>
                                    </p:anim>
                                    <p:anim calcmode="lin" valueType="num">
                                      <p:cBhvr>
                                        <p:cTn id="8" dur="500" fill="hold"/>
                                        <p:tgtEl>
                                          <p:spTgt spid="18125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81251"/>
                                        </p:tgtEl>
                                        <p:attrNameLst>
                                          <p:attrName>style.visibility</p:attrName>
                                        </p:attrNameLst>
                                      </p:cBhvr>
                                      <p:to>
                                        <p:strVal val="visible"/>
                                      </p:to>
                                    </p:set>
                                    <p:animEffect transition="in" filter="wipe(up)">
                                      <p:cBhvr>
                                        <p:cTn id="13" dur="500"/>
                                        <p:tgtEl>
                                          <p:spTgt spid="18125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81314"/>
                                        </p:tgtEl>
                                        <p:attrNameLst>
                                          <p:attrName>style.visibility</p:attrName>
                                        </p:attrNameLst>
                                      </p:cBhvr>
                                      <p:to>
                                        <p:strVal val="visible"/>
                                      </p:to>
                                    </p:set>
                                    <p:animEffect transition="in" filter="wipe(up)">
                                      <p:cBhvr>
                                        <p:cTn id="18" dur="500"/>
                                        <p:tgtEl>
                                          <p:spTgt spid="181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0" grpId="0" animBg="1" autoUpdateAnimBg="0"/>
      <p:bldP spid="181251" grpId="0" autoUpdateAnimBg="0"/>
      <p:bldP spid="181314" grpId="0" animBg="1"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chemeClr val="tx1"/>
                </a:solidFill>
                <a:latin typeface="Arial Rounded MT Bold" pitchFamily="34" charset="0"/>
              </a:rPr>
              <a:t>Labeling Method  </a:t>
            </a:r>
            <a:r>
              <a:rPr lang="en-US" sz="2800" b="1" dirty="0" smtClean="0">
                <a:solidFill>
                  <a:srgbClr val="CC0000"/>
                </a:solidFill>
                <a:latin typeface="Arial Rounded MT Bold" pitchFamily="34" charset="0"/>
              </a:rPr>
              <a:t>[Ford 1956]</a:t>
            </a:r>
          </a:p>
        </p:txBody>
      </p:sp>
      <p:sp>
        <p:nvSpPr>
          <p:cNvPr id="182275" name="Text Box 3"/>
          <p:cNvSpPr txBox="1">
            <a:spLocks noChangeArrowheads="1"/>
          </p:cNvSpPr>
          <p:nvPr/>
        </p:nvSpPr>
        <p:spPr bwMode="auto">
          <a:xfrm>
            <a:off x="152400" y="762000"/>
            <a:ext cx="8763000" cy="3414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1084263">
              <a:defRPr sz="1600">
                <a:solidFill>
                  <a:schemeClr val="tx1"/>
                </a:solidFill>
                <a:latin typeface="Times New Roman" pitchFamily="18" charset="0"/>
              </a:defRPr>
            </a:lvl1pPr>
            <a:lvl2pPr marL="742950" indent="-285750" defTabSz="1084263">
              <a:defRPr sz="1600">
                <a:solidFill>
                  <a:schemeClr val="tx1"/>
                </a:solidFill>
                <a:latin typeface="Times New Roman" pitchFamily="18" charset="0"/>
              </a:defRPr>
            </a:lvl2pPr>
            <a:lvl3pPr marL="1143000" indent="-228600" defTabSz="1084263">
              <a:defRPr sz="1600">
                <a:solidFill>
                  <a:schemeClr val="tx1"/>
                </a:solidFill>
                <a:latin typeface="Times New Roman" pitchFamily="18" charset="0"/>
              </a:defRPr>
            </a:lvl3pPr>
            <a:lvl4pPr marL="1600200" indent="-228600" defTabSz="1084263">
              <a:defRPr sz="1600">
                <a:solidFill>
                  <a:schemeClr val="tx1"/>
                </a:solidFill>
                <a:latin typeface="Times New Roman" pitchFamily="18" charset="0"/>
              </a:defRPr>
            </a:lvl4pPr>
            <a:lvl5pPr marL="2057400" indent="-228600" defTabSz="1084263">
              <a:defRPr sz="1600">
                <a:solidFill>
                  <a:schemeClr val="tx1"/>
                </a:solidFill>
                <a:latin typeface="Times New Roman" pitchFamily="18" charset="0"/>
              </a:defRPr>
            </a:lvl5pPr>
            <a:lvl6pPr marL="2514600" indent="-228600" defTabSz="1084263" eaLnBrk="0" fontAlgn="base" hangingPunct="0">
              <a:spcBef>
                <a:spcPct val="0"/>
              </a:spcBef>
              <a:spcAft>
                <a:spcPct val="0"/>
              </a:spcAft>
              <a:buChar char="•"/>
              <a:defRPr sz="1600">
                <a:solidFill>
                  <a:schemeClr val="tx1"/>
                </a:solidFill>
                <a:latin typeface="Times New Roman" pitchFamily="18" charset="0"/>
              </a:defRPr>
            </a:lvl6pPr>
            <a:lvl7pPr marL="2971800" indent="-228600" defTabSz="1084263" eaLnBrk="0" fontAlgn="base" hangingPunct="0">
              <a:spcBef>
                <a:spcPct val="0"/>
              </a:spcBef>
              <a:spcAft>
                <a:spcPct val="0"/>
              </a:spcAft>
              <a:buChar char="•"/>
              <a:defRPr sz="1600">
                <a:solidFill>
                  <a:schemeClr val="tx1"/>
                </a:solidFill>
                <a:latin typeface="Times New Roman" pitchFamily="18" charset="0"/>
              </a:defRPr>
            </a:lvl7pPr>
            <a:lvl8pPr marL="3429000" indent="-228600" defTabSz="1084263" eaLnBrk="0" fontAlgn="base" hangingPunct="0">
              <a:spcBef>
                <a:spcPct val="0"/>
              </a:spcBef>
              <a:spcAft>
                <a:spcPct val="0"/>
              </a:spcAft>
              <a:buChar char="•"/>
              <a:defRPr sz="1600">
                <a:solidFill>
                  <a:schemeClr val="tx1"/>
                </a:solidFill>
                <a:latin typeface="Times New Roman" pitchFamily="18" charset="0"/>
              </a:defRPr>
            </a:lvl8pPr>
            <a:lvl9pPr marL="3886200" indent="-228600" defTabSz="1084263"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 typeface="Wingdings" pitchFamily="2" charset="2"/>
              <a:buNone/>
            </a:pPr>
            <a:r>
              <a:rPr lang="en-US" sz="2000" b="1" dirty="0">
                <a:solidFill>
                  <a:srgbClr val="CC0000"/>
                </a:solidFill>
              </a:rPr>
              <a:t>Tentative</a:t>
            </a:r>
            <a:r>
              <a:rPr lang="en-US" sz="1800" dirty="0">
                <a:solidFill>
                  <a:schemeClr val="tx2"/>
                </a:solidFill>
              </a:rPr>
              <a:t> shortest path tree </a:t>
            </a:r>
            <a:r>
              <a:rPr lang="en-US" sz="1800" b="1" dirty="0" err="1">
                <a:solidFill>
                  <a:srgbClr val="CC0000"/>
                </a:solidFill>
              </a:rPr>
              <a:t>dist</a:t>
            </a:r>
            <a:r>
              <a:rPr lang="en-US" sz="1800" dirty="0">
                <a:solidFill>
                  <a:schemeClr val="tx2"/>
                </a:solidFill>
              </a:rPr>
              <a:t> and </a:t>
            </a:r>
            <a:r>
              <a:rPr lang="en-US" sz="1800" b="1" dirty="0">
                <a:solidFill>
                  <a:srgbClr val="CC0000"/>
                </a:solidFill>
                <a:latin typeface="Symbol" pitchFamily="18" charset="2"/>
              </a:rPr>
              <a:t>p</a:t>
            </a:r>
            <a:r>
              <a:rPr lang="en-US" sz="1800" dirty="0">
                <a:solidFill>
                  <a:schemeClr val="tx2"/>
                </a:solidFill>
              </a:rPr>
              <a:t>.     Initialization and iterative improvement:</a:t>
            </a:r>
          </a:p>
          <a:p>
            <a:pPr eaLnBrk="1" hangingPunct="1">
              <a:buFont typeface="Wingdings" pitchFamily="2" charset="2"/>
              <a:buNone/>
            </a:pPr>
            <a:endParaRPr lang="en-US" sz="1800" dirty="0">
              <a:solidFill>
                <a:schemeClr val="tx2"/>
              </a:solidFill>
            </a:endParaRPr>
          </a:p>
          <a:p>
            <a:pPr eaLnBrk="1" hangingPunct="1">
              <a:buFont typeface="Wingdings" pitchFamily="2" charset="2"/>
              <a:buNone/>
            </a:pPr>
            <a:r>
              <a:rPr lang="en-US" sz="2000" b="1" dirty="0">
                <a:solidFill>
                  <a:srgbClr val="CC0000"/>
                </a:solidFill>
              </a:rPr>
              <a:t>Initialize:</a:t>
            </a:r>
            <a:r>
              <a:rPr lang="en-US" sz="1800" dirty="0">
                <a:solidFill>
                  <a:schemeClr val="tx2"/>
                </a:solidFill>
              </a:rPr>
              <a:t> </a:t>
            </a:r>
            <a:br>
              <a:rPr lang="en-US" sz="1800" dirty="0">
                <a:solidFill>
                  <a:schemeClr val="tx2"/>
                </a:solidFill>
              </a:rPr>
            </a:br>
            <a:r>
              <a:rPr lang="en-US" sz="1800" dirty="0">
                <a:solidFill>
                  <a:schemeClr val="tx2"/>
                </a:solidFill>
              </a:rPr>
              <a:t>	</a:t>
            </a:r>
            <a:r>
              <a:rPr lang="en-US" sz="2000" dirty="0" err="1">
                <a:solidFill>
                  <a:schemeClr val="hlink"/>
                </a:solidFill>
              </a:rPr>
              <a:t>dist</a:t>
            </a:r>
            <a:r>
              <a:rPr lang="en-US" sz="2000" dirty="0">
                <a:solidFill>
                  <a:schemeClr val="hlink"/>
                </a:solidFill>
              </a:rPr>
              <a:t>(s) = 0</a:t>
            </a:r>
            <a:br>
              <a:rPr lang="en-US" sz="2000" dirty="0">
                <a:solidFill>
                  <a:schemeClr val="hlink"/>
                </a:solidFill>
              </a:rPr>
            </a:br>
            <a:r>
              <a:rPr lang="en-US" sz="2000" dirty="0">
                <a:solidFill>
                  <a:schemeClr val="hlink"/>
                </a:solidFill>
              </a:rPr>
              <a:t>	</a:t>
            </a:r>
            <a:r>
              <a:rPr lang="en-US" sz="2000" dirty="0" err="1">
                <a:solidFill>
                  <a:schemeClr val="hlink"/>
                </a:solidFill>
              </a:rPr>
              <a:t>dist</a:t>
            </a:r>
            <a:r>
              <a:rPr lang="en-US" sz="2000" dirty="0">
                <a:solidFill>
                  <a:schemeClr val="hlink"/>
                </a:solidFill>
              </a:rPr>
              <a:t>(v) = + </a:t>
            </a:r>
            <a:r>
              <a:rPr lang="en-US" sz="2000" dirty="0">
                <a:solidFill>
                  <a:schemeClr val="hlink"/>
                </a:solidFill>
                <a:sym typeface="Symbol" pitchFamily="18" charset="2"/>
              </a:rPr>
              <a:t>    v V(G) – {s} </a:t>
            </a:r>
            <a:br>
              <a:rPr lang="en-US" sz="2000" dirty="0">
                <a:solidFill>
                  <a:schemeClr val="hlink"/>
                </a:solidFill>
                <a:sym typeface="Symbol" pitchFamily="18" charset="2"/>
              </a:rPr>
            </a:br>
            <a:r>
              <a:rPr lang="en-US" sz="2000" dirty="0">
                <a:solidFill>
                  <a:schemeClr val="hlink"/>
                </a:solidFill>
                <a:sym typeface="Symbol" pitchFamily="18" charset="2"/>
              </a:rPr>
              <a:t>	</a:t>
            </a:r>
            <a:r>
              <a:rPr lang="en-US" sz="2000" dirty="0">
                <a:solidFill>
                  <a:schemeClr val="hlink"/>
                </a:solidFill>
                <a:latin typeface="Symbol" pitchFamily="18" charset="2"/>
              </a:rPr>
              <a:t>p</a:t>
            </a:r>
            <a:r>
              <a:rPr lang="en-US" sz="2000" dirty="0">
                <a:solidFill>
                  <a:schemeClr val="hlink"/>
                </a:solidFill>
              </a:rPr>
              <a:t>(v) = nil          </a:t>
            </a:r>
            <a:r>
              <a:rPr lang="en-US" sz="2000" dirty="0">
                <a:solidFill>
                  <a:schemeClr val="hlink"/>
                </a:solidFill>
                <a:sym typeface="Symbol" pitchFamily="18" charset="2"/>
              </a:rPr>
              <a:t>v V(G) </a:t>
            </a:r>
          </a:p>
          <a:p>
            <a:pPr eaLnBrk="1" hangingPunct="1">
              <a:buFont typeface="Wingdings" pitchFamily="2" charset="2"/>
              <a:buNone/>
            </a:pPr>
            <a:endParaRPr lang="en-US" sz="2000" dirty="0">
              <a:solidFill>
                <a:schemeClr val="hlink"/>
              </a:solidFill>
              <a:sym typeface="Symbol" pitchFamily="18" charset="2"/>
            </a:endParaRPr>
          </a:p>
          <a:p>
            <a:pPr eaLnBrk="1" hangingPunct="1">
              <a:buFont typeface="Wingdings" pitchFamily="2" charset="2"/>
              <a:buNone/>
            </a:pPr>
            <a:r>
              <a:rPr lang="en-US" sz="2000" b="1" dirty="0">
                <a:solidFill>
                  <a:srgbClr val="CC0000"/>
                </a:solidFill>
              </a:rPr>
              <a:t>Labeling Step:</a:t>
            </a:r>
            <a:r>
              <a:rPr lang="en-US" sz="1800" dirty="0">
                <a:solidFill>
                  <a:schemeClr val="tx2"/>
                </a:solidFill>
              </a:rPr>
              <a:t> </a:t>
            </a:r>
            <a:br>
              <a:rPr lang="en-US" sz="1800" dirty="0">
                <a:solidFill>
                  <a:schemeClr val="tx2"/>
                </a:solidFill>
              </a:rPr>
            </a:br>
            <a:r>
              <a:rPr lang="en-US" sz="1800" dirty="0">
                <a:solidFill>
                  <a:schemeClr val="tx2"/>
                </a:solidFill>
              </a:rPr>
              <a:t>	</a:t>
            </a:r>
            <a:r>
              <a:rPr lang="en-US" sz="2000" dirty="0">
                <a:solidFill>
                  <a:schemeClr val="hlink"/>
                </a:solidFill>
              </a:rPr>
              <a:t>Select an edge (</a:t>
            </a:r>
            <a:r>
              <a:rPr lang="en-US" sz="2000" dirty="0" err="1">
                <a:solidFill>
                  <a:schemeClr val="hlink"/>
                </a:solidFill>
              </a:rPr>
              <a:t>u,v</a:t>
            </a:r>
            <a:r>
              <a:rPr lang="en-US" sz="2000" dirty="0">
                <a:solidFill>
                  <a:schemeClr val="hlink"/>
                </a:solidFill>
              </a:rPr>
              <a:t>) </a:t>
            </a:r>
            <a:r>
              <a:rPr lang="en-US" sz="2000" dirty="0">
                <a:solidFill>
                  <a:schemeClr val="hlink"/>
                </a:solidFill>
                <a:sym typeface="Symbol" pitchFamily="18" charset="2"/>
              </a:rPr>
              <a:t> E(G)  such that  </a:t>
            </a:r>
            <a:r>
              <a:rPr lang="en-US" sz="2000" dirty="0" err="1">
                <a:solidFill>
                  <a:schemeClr val="hlink"/>
                </a:solidFill>
                <a:sym typeface="Symbol" pitchFamily="18" charset="2"/>
              </a:rPr>
              <a:t>dist</a:t>
            </a:r>
            <a:r>
              <a:rPr lang="en-US" sz="2000" dirty="0">
                <a:solidFill>
                  <a:schemeClr val="hlink"/>
                </a:solidFill>
                <a:sym typeface="Symbol" pitchFamily="18" charset="2"/>
              </a:rPr>
              <a:t>(u) + w(</a:t>
            </a:r>
            <a:r>
              <a:rPr lang="en-US" sz="2000" dirty="0" err="1">
                <a:solidFill>
                  <a:schemeClr val="hlink"/>
                </a:solidFill>
                <a:sym typeface="Symbol" pitchFamily="18" charset="2"/>
              </a:rPr>
              <a:t>u,v</a:t>
            </a:r>
            <a:r>
              <a:rPr lang="en-US" sz="2000" dirty="0">
                <a:solidFill>
                  <a:schemeClr val="hlink"/>
                </a:solidFill>
                <a:sym typeface="Symbol" pitchFamily="18" charset="2"/>
              </a:rPr>
              <a:t>) &lt; </a:t>
            </a:r>
            <a:r>
              <a:rPr lang="en-US" sz="2000" dirty="0" err="1">
                <a:solidFill>
                  <a:schemeClr val="hlink"/>
                </a:solidFill>
                <a:sym typeface="Symbol" pitchFamily="18" charset="2"/>
              </a:rPr>
              <a:t>dist</a:t>
            </a:r>
            <a:r>
              <a:rPr lang="en-US" sz="2000" dirty="0">
                <a:solidFill>
                  <a:schemeClr val="hlink"/>
                </a:solidFill>
                <a:sym typeface="Symbol" pitchFamily="18" charset="2"/>
              </a:rPr>
              <a:t>(v).</a:t>
            </a:r>
            <a:br>
              <a:rPr lang="en-US" sz="2000" dirty="0">
                <a:solidFill>
                  <a:schemeClr val="hlink"/>
                </a:solidFill>
                <a:sym typeface="Symbol" pitchFamily="18" charset="2"/>
              </a:rPr>
            </a:br>
            <a:r>
              <a:rPr lang="en-US" sz="2000" dirty="0">
                <a:solidFill>
                  <a:schemeClr val="hlink"/>
                </a:solidFill>
                <a:sym typeface="Symbol" pitchFamily="18" charset="2"/>
              </a:rPr>
              <a:t>	Label v:	</a:t>
            </a:r>
            <a:r>
              <a:rPr lang="en-US" sz="2000" dirty="0" smtClean="0">
                <a:solidFill>
                  <a:schemeClr val="hlink"/>
                </a:solidFill>
                <a:sym typeface="Symbol" pitchFamily="18" charset="2"/>
              </a:rPr>
              <a:t>   </a:t>
            </a:r>
            <a:r>
              <a:rPr lang="en-US" sz="2000" dirty="0" err="1" smtClean="0">
                <a:solidFill>
                  <a:schemeClr val="hlink"/>
                </a:solidFill>
                <a:sym typeface="Symbol" pitchFamily="18" charset="2"/>
              </a:rPr>
              <a:t>dist</a:t>
            </a:r>
            <a:r>
              <a:rPr lang="en-US" sz="2000" dirty="0" smtClean="0">
                <a:solidFill>
                  <a:schemeClr val="hlink"/>
                </a:solidFill>
                <a:sym typeface="Symbol" pitchFamily="18" charset="2"/>
              </a:rPr>
              <a:t>(v</a:t>
            </a:r>
            <a:r>
              <a:rPr lang="en-US" sz="2000" dirty="0">
                <a:solidFill>
                  <a:schemeClr val="hlink"/>
                </a:solidFill>
                <a:sym typeface="Symbol" pitchFamily="18" charset="2"/>
              </a:rPr>
              <a:t>)   </a:t>
            </a:r>
            <a:r>
              <a:rPr lang="en-US" sz="2000" dirty="0" err="1">
                <a:solidFill>
                  <a:schemeClr val="hlink"/>
                </a:solidFill>
                <a:sym typeface="Symbol" pitchFamily="18" charset="2"/>
              </a:rPr>
              <a:t>dist</a:t>
            </a:r>
            <a:r>
              <a:rPr lang="en-US" sz="2000" dirty="0">
                <a:solidFill>
                  <a:schemeClr val="hlink"/>
                </a:solidFill>
                <a:sym typeface="Symbol" pitchFamily="18" charset="2"/>
              </a:rPr>
              <a:t>(u) + w(</a:t>
            </a:r>
            <a:r>
              <a:rPr lang="en-US" sz="2000" dirty="0" err="1">
                <a:solidFill>
                  <a:schemeClr val="hlink"/>
                </a:solidFill>
                <a:sym typeface="Symbol" pitchFamily="18" charset="2"/>
              </a:rPr>
              <a:t>u,v</a:t>
            </a:r>
            <a:r>
              <a:rPr lang="en-US" sz="2000" dirty="0">
                <a:solidFill>
                  <a:schemeClr val="hlink"/>
                </a:solidFill>
                <a:sym typeface="Symbol" pitchFamily="18" charset="2"/>
              </a:rPr>
              <a:t>) ;</a:t>
            </a:r>
            <a:br>
              <a:rPr lang="en-US" sz="2000" dirty="0">
                <a:solidFill>
                  <a:schemeClr val="hlink"/>
                </a:solidFill>
                <a:sym typeface="Symbol" pitchFamily="18" charset="2"/>
              </a:rPr>
            </a:br>
            <a:r>
              <a:rPr lang="en-US" sz="2000" dirty="0">
                <a:solidFill>
                  <a:schemeClr val="hlink"/>
                </a:solidFill>
              </a:rPr>
              <a:t> 		   </a:t>
            </a:r>
            <a:r>
              <a:rPr lang="en-US" sz="2000" dirty="0">
                <a:solidFill>
                  <a:schemeClr val="hlink"/>
                </a:solidFill>
                <a:latin typeface="Symbol" pitchFamily="18" charset="2"/>
              </a:rPr>
              <a:t>p</a:t>
            </a:r>
            <a:r>
              <a:rPr lang="en-US" sz="2000" dirty="0">
                <a:solidFill>
                  <a:schemeClr val="hlink"/>
                </a:solidFill>
              </a:rPr>
              <a:t>(v) </a:t>
            </a:r>
            <a:r>
              <a:rPr lang="en-US" sz="2000" dirty="0">
                <a:solidFill>
                  <a:schemeClr val="hlink"/>
                </a:solidFill>
                <a:sym typeface="Symbol" pitchFamily="18" charset="2"/>
              </a:rPr>
              <a:t>  u.</a:t>
            </a:r>
          </a:p>
        </p:txBody>
      </p:sp>
      <p:grpSp>
        <p:nvGrpSpPr>
          <p:cNvPr id="182297" name="Group 25"/>
          <p:cNvGrpSpPr>
            <a:grpSpLocks/>
          </p:cNvGrpSpPr>
          <p:nvPr/>
        </p:nvGrpSpPr>
        <p:grpSpPr bwMode="auto">
          <a:xfrm>
            <a:off x="2819400" y="4038600"/>
            <a:ext cx="4892675" cy="2149475"/>
            <a:chOff x="1776" y="2544"/>
            <a:chExt cx="3082" cy="1354"/>
          </a:xfrm>
        </p:grpSpPr>
        <p:sp>
          <p:nvSpPr>
            <p:cNvPr id="102406" name="Oval 9"/>
            <p:cNvSpPr>
              <a:spLocks noChangeArrowheads="1"/>
            </p:cNvSpPr>
            <p:nvPr/>
          </p:nvSpPr>
          <p:spPr bwMode="auto">
            <a:xfrm>
              <a:off x="1968" y="3216"/>
              <a:ext cx="96" cy="96"/>
            </a:xfrm>
            <a:prstGeom prst="ellipse">
              <a:avLst/>
            </a:prstGeom>
            <a:solidFill>
              <a:schemeClr val="accent3">
                <a:lumMod val="6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2407" name="Oval 11"/>
            <p:cNvSpPr>
              <a:spLocks noChangeArrowheads="1"/>
            </p:cNvSpPr>
            <p:nvPr/>
          </p:nvSpPr>
          <p:spPr bwMode="auto">
            <a:xfrm>
              <a:off x="4608" y="2736"/>
              <a:ext cx="96" cy="96"/>
            </a:xfrm>
            <a:prstGeom prst="ellipse">
              <a:avLst/>
            </a:prstGeom>
            <a:solidFill>
              <a:schemeClr val="accent3">
                <a:lumMod val="6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2408" name="Oval 12"/>
            <p:cNvSpPr>
              <a:spLocks noChangeArrowheads="1"/>
            </p:cNvSpPr>
            <p:nvPr/>
          </p:nvSpPr>
          <p:spPr bwMode="auto">
            <a:xfrm>
              <a:off x="4032" y="3648"/>
              <a:ext cx="96" cy="96"/>
            </a:xfrm>
            <a:prstGeom prst="ellipse">
              <a:avLst/>
            </a:prstGeom>
            <a:solidFill>
              <a:schemeClr val="accent3">
                <a:lumMod val="6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2409" name="Text Box 13"/>
            <p:cNvSpPr txBox="1">
              <a:spLocks noChangeArrowheads="1"/>
            </p:cNvSpPr>
            <p:nvPr/>
          </p:nvSpPr>
          <p:spPr bwMode="auto">
            <a:xfrm>
              <a:off x="1776" y="3120"/>
              <a:ext cx="1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t>s</a:t>
              </a:r>
            </a:p>
          </p:txBody>
        </p:sp>
        <p:sp>
          <p:nvSpPr>
            <p:cNvPr id="102410" name="Rectangle 15"/>
            <p:cNvSpPr>
              <a:spLocks noChangeArrowheads="1"/>
            </p:cNvSpPr>
            <p:nvPr/>
          </p:nvSpPr>
          <p:spPr bwMode="auto">
            <a:xfrm>
              <a:off x="2976" y="2592"/>
              <a:ext cx="5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dist(v)</a:t>
              </a:r>
            </a:p>
          </p:txBody>
        </p:sp>
        <p:sp>
          <p:nvSpPr>
            <p:cNvPr id="102411" name="Rectangle 16"/>
            <p:cNvSpPr>
              <a:spLocks noChangeArrowheads="1"/>
            </p:cNvSpPr>
            <p:nvPr/>
          </p:nvSpPr>
          <p:spPr bwMode="auto">
            <a:xfrm>
              <a:off x="4656" y="254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v</a:t>
              </a:r>
            </a:p>
          </p:txBody>
        </p:sp>
        <p:sp>
          <p:nvSpPr>
            <p:cNvPr id="102412" name="Rectangle 17"/>
            <p:cNvSpPr>
              <a:spLocks noChangeArrowheads="1"/>
            </p:cNvSpPr>
            <p:nvPr/>
          </p:nvSpPr>
          <p:spPr bwMode="auto">
            <a:xfrm>
              <a:off x="4080" y="3648"/>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u</a:t>
              </a:r>
            </a:p>
          </p:txBody>
        </p:sp>
        <p:sp>
          <p:nvSpPr>
            <p:cNvPr id="102413" name="Rectangle 18"/>
            <p:cNvSpPr>
              <a:spLocks noChangeArrowheads="1"/>
            </p:cNvSpPr>
            <p:nvPr/>
          </p:nvSpPr>
          <p:spPr bwMode="auto">
            <a:xfrm>
              <a:off x="2880" y="3600"/>
              <a:ext cx="5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dist(u)</a:t>
              </a:r>
            </a:p>
          </p:txBody>
        </p:sp>
        <p:sp>
          <p:nvSpPr>
            <p:cNvPr id="102414" name="Rectangle 19"/>
            <p:cNvSpPr>
              <a:spLocks noChangeArrowheads="1"/>
            </p:cNvSpPr>
            <p:nvPr/>
          </p:nvSpPr>
          <p:spPr bwMode="auto">
            <a:xfrm>
              <a:off x="4320" y="3168"/>
              <a:ext cx="5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w(u,v)</a:t>
              </a:r>
            </a:p>
          </p:txBody>
        </p:sp>
        <p:sp>
          <p:nvSpPr>
            <p:cNvPr id="102415" name="Freeform 20"/>
            <p:cNvSpPr>
              <a:spLocks/>
            </p:cNvSpPr>
            <p:nvPr/>
          </p:nvSpPr>
          <p:spPr bwMode="auto">
            <a:xfrm>
              <a:off x="4097" y="2820"/>
              <a:ext cx="536" cy="835"/>
            </a:xfrm>
            <a:custGeom>
              <a:avLst/>
              <a:gdLst>
                <a:gd name="T0" fmla="*/ 0 w 536"/>
                <a:gd name="T1" fmla="*/ 835 h 835"/>
                <a:gd name="T2" fmla="*/ 536 w 536"/>
                <a:gd name="T3" fmla="*/ 0 h 835"/>
                <a:gd name="T4" fmla="*/ 0 60000 65536"/>
                <a:gd name="T5" fmla="*/ 0 60000 65536"/>
              </a:gdLst>
              <a:ahLst/>
              <a:cxnLst>
                <a:cxn ang="T4">
                  <a:pos x="T0" y="T1"/>
                </a:cxn>
                <a:cxn ang="T5">
                  <a:pos x="T2" y="T3"/>
                </a:cxn>
              </a:cxnLst>
              <a:rect l="0" t="0" r="r" b="b"/>
              <a:pathLst>
                <a:path w="536" h="835">
                  <a:moveTo>
                    <a:pt x="0" y="835"/>
                  </a:moveTo>
                  <a:lnTo>
                    <a:pt x="53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416" name="Freeform 21"/>
            <p:cNvSpPr>
              <a:spLocks/>
            </p:cNvSpPr>
            <p:nvPr/>
          </p:nvSpPr>
          <p:spPr bwMode="auto">
            <a:xfrm>
              <a:off x="2064" y="3264"/>
              <a:ext cx="1968" cy="436"/>
            </a:xfrm>
            <a:custGeom>
              <a:avLst/>
              <a:gdLst>
                <a:gd name="T0" fmla="*/ 0 w 1968"/>
                <a:gd name="T1" fmla="*/ 0 h 436"/>
                <a:gd name="T2" fmla="*/ 185 w 1968"/>
                <a:gd name="T3" fmla="*/ 66 h 436"/>
                <a:gd name="T4" fmla="*/ 457 w 1968"/>
                <a:gd name="T5" fmla="*/ 225 h 436"/>
                <a:gd name="T6" fmla="*/ 874 w 1968"/>
                <a:gd name="T7" fmla="*/ 185 h 436"/>
                <a:gd name="T8" fmla="*/ 1185 w 1968"/>
                <a:gd name="T9" fmla="*/ 358 h 436"/>
                <a:gd name="T10" fmla="*/ 1510 w 1968"/>
                <a:gd name="T11" fmla="*/ 318 h 436"/>
                <a:gd name="T12" fmla="*/ 1728 w 1968"/>
                <a:gd name="T13" fmla="*/ 417 h 436"/>
                <a:gd name="T14" fmla="*/ 1968 w 1968"/>
                <a:gd name="T15" fmla="*/ 432 h 4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968" h="436">
                  <a:moveTo>
                    <a:pt x="0" y="0"/>
                  </a:moveTo>
                  <a:cubicBezTo>
                    <a:pt x="31" y="11"/>
                    <a:pt x="109" y="29"/>
                    <a:pt x="185" y="66"/>
                  </a:cubicBezTo>
                  <a:cubicBezTo>
                    <a:pt x="261" y="103"/>
                    <a:pt x="342" y="205"/>
                    <a:pt x="457" y="225"/>
                  </a:cubicBezTo>
                  <a:cubicBezTo>
                    <a:pt x="572" y="245"/>
                    <a:pt x="753" y="163"/>
                    <a:pt x="874" y="185"/>
                  </a:cubicBezTo>
                  <a:cubicBezTo>
                    <a:pt x="995" y="207"/>
                    <a:pt x="1079" y="336"/>
                    <a:pt x="1185" y="358"/>
                  </a:cubicBezTo>
                  <a:cubicBezTo>
                    <a:pt x="1291" y="380"/>
                    <a:pt x="1420" y="308"/>
                    <a:pt x="1510" y="318"/>
                  </a:cubicBezTo>
                  <a:cubicBezTo>
                    <a:pt x="1600" y="328"/>
                    <a:pt x="1652" y="398"/>
                    <a:pt x="1728" y="417"/>
                  </a:cubicBezTo>
                  <a:cubicBezTo>
                    <a:pt x="1804" y="436"/>
                    <a:pt x="1918" y="429"/>
                    <a:pt x="1968" y="432"/>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2417" name="Freeform 22"/>
            <p:cNvSpPr>
              <a:spLocks/>
            </p:cNvSpPr>
            <p:nvPr/>
          </p:nvSpPr>
          <p:spPr bwMode="auto">
            <a:xfrm>
              <a:off x="2064" y="2716"/>
              <a:ext cx="2544" cy="548"/>
            </a:xfrm>
            <a:custGeom>
              <a:avLst/>
              <a:gdLst>
                <a:gd name="T0" fmla="*/ 0 w 2544"/>
                <a:gd name="T1" fmla="*/ 548 h 548"/>
                <a:gd name="T2" fmla="*/ 265 w 2544"/>
                <a:gd name="T3" fmla="*/ 488 h 548"/>
                <a:gd name="T4" fmla="*/ 609 w 2544"/>
                <a:gd name="T5" fmla="*/ 283 h 548"/>
                <a:gd name="T6" fmla="*/ 912 w 2544"/>
                <a:gd name="T7" fmla="*/ 356 h 548"/>
                <a:gd name="T8" fmla="*/ 1278 w 2544"/>
                <a:gd name="T9" fmla="*/ 157 h 548"/>
                <a:gd name="T10" fmla="*/ 1702 w 2544"/>
                <a:gd name="T11" fmla="*/ 224 h 548"/>
                <a:gd name="T12" fmla="*/ 1973 w 2544"/>
                <a:gd name="T13" fmla="*/ 18 h 548"/>
                <a:gd name="T14" fmla="*/ 2317 w 2544"/>
                <a:gd name="T15" fmla="*/ 118 h 548"/>
                <a:gd name="T16" fmla="*/ 2544 w 2544"/>
                <a:gd name="T17" fmla="*/ 68 h 5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44" h="548">
                  <a:moveTo>
                    <a:pt x="0" y="548"/>
                  </a:moveTo>
                  <a:cubicBezTo>
                    <a:pt x="44" y="538"/>
                    <a:pt x="163" y="532"/>
                    <a:pt x="265" y="488"/>
                  </a:cubicBezTo>
                  <a:cubicBezTo>
                    <a:pt x="367" y="444"/>
                    <a:pt x="501" y="305"/>
                    <a:pt x="609" y="283"/>
                  </a:cubicBezTo>
                  <a:cubicBezTo>
                    <a:pt x="717" y="261"/>
                    <a:pt x="800" y="377"/>
                    <a:pt x="912" y="356"/>
                  </a:cubicBezTo>
                  <a:cubicBezTo>
                    <a:pt x="1024" y="335"/>
                    <a:pt x="1146" y="179"/>
                    <a:pt x="1278" y="157"/>
                  </a:cubicBezTo>
                  <a:cubicBezTo>
                    <a:pt x="1410" y="135"/>
                    <a:pt x="1586" y="247"/>
                    <a:pt x="1702" y="224"/>
                  </a:cubicBezTo>
                  <a:cubicBezTo>
                    <a:pt x="1818" y="201"/>
                    <a:pt x="1871" y="36"/>
                    <a:pt x="1973" y="18"/>
                  </a:cubicBezTo>
                  <a:cubicBezTo>
                    <a:pt x="2075" y="0"/>
                    <a:pt x="2222" y="110"/>
                    <a:pt x="2317" y="118"/>
                  </a:cubicBezTo>
                  <a:cubicBezTo>
                    <a:pt x="2412" y="126"/>
                    <a:pt x="2497" y="78"/>
                    <a:pt x="2544" y="68"/>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sp>
        <p:nvSpPr>
          <p:cNvPr id="182296" name="Text Box 24"/>
          <p:cNvSpPr txBox="1">
            <a:spLocks noChangeArrowheads="1"/>
          </p:cNvSpPr>
          <p:nvPr/>
        </p:nvSpPr>
        <p:spPr bwMode="auto">
          <a:xfrm>
            <a:off x="1371600" y="6324600"/>
            <a:ext cx="3498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Tx/>
              <a:buNone/>
            </a:pPr>
            <a:r>
              <a:rPr lang="en-US" sz="1800">
                <a:solidFill>
                  <a:srgbClr val="CC0000"/>
                </a:solidFill>
              </a:rPr>
              <a:t>[CLRS] calls this a Relaxation Step.</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99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82274"/>
                                        </p:tgtEl>
                                        <p:attrNameLst>
                                          <p:attrName>style.visibility</p:attrName>
                                        </p:attrNameLst>
                                      </p:cBhvr>
                                      <p:to>
                                        <p:strVal val="visible"/>
                                      </p:to>
                                    </p:set>
                                    <p:anim calcmode="lin" valueType="num">
                                      <p:cBhvr>
                                        <p:cTn id="7" dur="500" fill="hold"/>
                                        <p:tgtEl>
                                          <p:spTgt spid="182274"/>
                                        </p:tgtEl>
                                        <p:attrNameLst>
                                          <p:attrName>ppt_w</p:attrName>
                                        </p:attrNameLst>
                                      </p:cBhvr>
                                      <p:tavLst>
                                        <p:tav tm="0">
                                          <p:val>
                                            <p:fltVal val="0"/>
                                          </p:val>
                                        </p:tav>
                                        <p:tav tm="100000">
                                          <p:val>
                                            <p:strVal val="#ppt_w"/>
                                          </p:val>
                                        </p:tav>
                                      </p:tavLst>
                                    </p:anim>
                                    <p:anim calcmode="lin" valueType="num">
                                      <p:cBhvr>
                                        <p:cTn id="8" dur="500" fill="hold"/>
                                        <p:tgtEl>
                                          <p:spTgt spid="18227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82275">
                                            <p:txEl>
                                              <p:pRg st="0" end="0"/>
                                            </p:txEl>
                                          </p:spTgt>
                                        </p:tgtEl>
                                        <p:attrNameLst>
                                          <p:attrName>style.visibility</p:attrName>
                                        </p:attrNameLst>
                                      </p:cBhvr>
                                      <p:to>
                                        <p:strVal val="visible"/>
                                      </p:to>
                                    </p:set>
                                    <p:animEffect transition="in" filter="wipe(up)">
                                      <p:cBhvr>
                                        <p:cTn id="13" dur="500"/>
                                        <p:tgtEl>
                                          <p:spTgt spid="182275">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82275">
                                            <p:txEl>
                                              <p:pRg st="2" end="2"/>
                                            </p:txEl>
                                          </p:spTgt>
                                        </p:tgtEl>
                                        <p:attrNameLst>
                                          <p:attrName>style.visibility</p:attrName>
                                        </p:attrNameLst>
                                      </p:cBhvr>
                                      <p:to>
                                        <p:strVal val="visible"/>
                                      </p:to>
                                    </p:set>
                                    <p:animEffect transition="in" filter="wipe(up)">
                                      <p:cBhvr>
                                        <p:cTn id="18" dur="500"/>
                                        <p:tgtEl>
                                          <p:spTgt spid="182275">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82275">
                                            <p:txEl>
                                              <p:pRg st="4" end="4"/>
                                            </p:txEl>
                                          </p:spTgt>
                                        </p:tgtEl>
                                        <p:attrNameLst>
                                          <p:attrName>style.visibility</p:attrName>
                                        </p:attrNameLst>
                                      </p:cBhvr>
                                      <p:to>
                                        <p:strVal val="visible"/>
                                      </p:to>
                                    </p:set>
                                    <p:animEffect transition="in" filter="wipe(up)">
                                      <p:cBhvr>
                                        <p:cTn id="23" dur="500"/>
                                        <p:tgtEl>
                                          <p:spTgt spid="182275">
                                            <p:txEl>
                                              <p:pRg st="4" end="4"/>
                                            </p:txEl>
                                          </p:spTgt>
                                        </p:tgtEl>
                                      </p:cBhvr>
                                    </p:animEffect>
                                  </p:childTnLst>
                                </p:cTn>
                              </p:par>
                            </p:childTnLst>
                          </p:cTn>
                        </p:par>
                        <p:par>
                          <p:cTn id="24" fill="hold" nodeType="afterGroup">
                            <p:stCondLst>
                              <p:cond delay="500"/>
                            </p:stCondLst>
                            <p:childTnLst>
                              <p:par>
                                <p:cTn id="25" presetID="22" presetClass="entr" presetSubtype="8" fill="hold" nodeType="afterEffect">
                                  <p:stCondLst>
                                    <p:cond delay="1000"/>
                                  </p:stCondLst>
                                  <p:childTnLst>
                                    <p:set>
                                      <p:cBhvr>
                                        <p:cTn id="26" dur="1" fill="hold">
                                          <p:stCondLst>
                                            <p:cond delay="0"/>
                                          </p:stCondLst>
                                        </p:cTn>
                                        <p:tgtEl>
                                          <p:spTgt spid="182297"/>
                                        </p:tgtEl>
                                        <p:attrNameLst>
                                          <p:attrName>style.visibility</p:attrName>
                                        </p:attrNameLst>
                                      </p:cBhvr>
                                      <p:to>
                                        <p:strVal val="visible"/>
                                      </p:to>
                                    </p:set>
                                    <p:animEffect transition="in" filter="wipe(left)">
                                      <p:cBhvr>
                                        <p:cTn id="27" dur="500"/>
                                        <p:tgtEl>
                                          <p:spTgt spid="18229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182296"/>
                                        </p:tgtEl>
                                        <p:attrNameLst>
                                          <p:attrName>style.visibility</p:attrName>
                                        </p:attrNameLst>
                                      </p:cBhvr>
                                      <p:to>
                                        <p:strVal val="visible"/>
                                      </p:to>
                                    </p:set>
                                    <p:anim calcmode="lin" valueType="num">
                                      <p:cBhvr additive="base">
                                        <p:cTn id="32" dur="500" fill="hold"/>
                                        <p:tgtEl>
                                          <p:spTgt spid="182296"/>
                                        </p:tgtEl>
                                        <p:attrNameLst>
                                          <p:attrName>ppt_x</p:attrName>
                                        </p:attrNameLst>
                                      </p:cBhvr>
                                      <p:tavLst>
                                        <p:tav tm="0">
                                          <p:val>
                                            <p:strVal val="0-#ppt_w/2"/>
                                          </p:val>
                                        </p:tav>
                                        <p:tav tm="100000">
                                          <p:val>
                                            <p:strVal val="#ppt_x"/>
                                          </p:val>
                                        </p:tav>
                                      </p:tavLst>
                                    </p:anim>
                                    <p:anim calcmode="lin" valueType="num">
                                      <p:cBhvr additive="base">
                                        <p:cTn id="33" dur="500" fill="hold"/>
                                        <p:tgtEl>
                                          <p:spTgt spid="1822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4" grpId="0" animBg="1" autoUpdateAnimBg="0"/>
      <p:bldP spid="182275" grpId="0" build="p" autoUpdateAnimBg="0"/>
      <p:bldP spid="182296" grpId="0"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chemeClr val="tx1"/>
                </a:solidFill>
                <a:latin typeface="Arial Rounded MT Bold" pitchFamily="34" charset="0"/>
              </a:rPr>
              <a:t>Labeling Method  </a:t>
            </a:r>
            <a:r>
              <a:rPr lang="en-US" sz="2800" b="1" dirty="0" smtClean="0">
                <a:solidFill>
                  <a:srgbClr val="FF0000"/>
                </a:solidFill>
                <a:latin typeface="Arial Rounded MT Bold" pitchFamily="34" charset="0"/>
              </a:rPr>
              <a:t>Invariants</a:t>
            </a:r>
          </a:p>
        </p:txBody>
      </p:sp>
      <p:grpSp>
        <p:nvGrpSpPr>
          <p:cNvPr id="183300" name="Group 4"/>
          <p:cNvGrpSpPr>
            <a:grpSpLocks/>
          </p:cNvGrpSpPr>
          <p:nvPr/>
        </p:nvGrpSpPr>
        <p:grpSpPr bwMode="auto">
          <a:xfrm>
            <a:off x="5105400" y="2971800"/>
            <a:ext cx="3467100" cy="1636713"/>
            <a:chOff x="1735" y="2544"/>
            <a:chExt cx="3256" cy="1456"/>
          </a:xfrm>
        </p:grpSpPr>
        <p:sp>
          <p:nvSpPr>
            <p:cNvPr id="103431" name="Oval 5"/>
            <p:cNvSpPr>
              <a:spLocks noChangeArrowheads="1"/>
            </p:cNvSpPr>
            <p:nvPr/>
          </p:nvSpPr>
          <p:spPr bwMode="auto">
            <a:xfrm>
              <a:off x="1968" y="3216"/>
              <a:ext cx="96" cy="96"/>
            </a:xfrm>
            <a:prstGeom prst="ellipse">
              <a:avLst/>
            </a:prstGeom>
            <a:solidFill>
              <a:schemeClr val="accent3">
                <a:lumMod val="6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3432" name="Oval 6"/>
            <p:cNvSpPr>
              <a:spLocks noChangeArrowheads="1"/>
            </p:cNvSpPr>
            <p:nvPr/>
          </p:nvSpPr>
          <p:spPr bwMode="auto">
            <a:xfrm>
              <a:off x="4608" y="2736"/>
              <a:ext cx="96" cy="96"/>
            </a:xfrm>
            <a:prstGeom prst="ellipse">
              <a:avLst/>
            </a:prstGeom>
            <a:solidFill>
              <a:schemeClr val="accent3">
                <a:lumMod val="6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3433" name="Oval 7"/>
            <p:cNvSpPr>
              <a:spLocks noChangeArrowheads="1"/>
            </p:cNvSpPr>
            <p:nvPr/>
          </p:nvSpPr>
          <p:spPr bwMode="auto">
            <a:xfrm>
              <a:off x="4032" y="3648"/>
              <a:ext cx="96" cy="96"/>
            </a:xfrm>
            <a:prstGeom prst="ellipse">
              <a:avLst/>
            </a:prstGeom>
            <a:solidFill>
              <a:schemeClr val="accent3">
                <a:lumMod val="6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3434" name="Text Box 8"/>
            <p:cNvSpPr txBox="1">
              <a:spLocks noChangeArrowheads="1"/>
            </p:cNvSpPr>
            <p:nvPr/>
          </p:nvSpPr>
          <p:spPr bwMode="auto">
            <a:xfrm>
              <a:off x="1735" y="3119"/>
              <a:ext cx="256"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t>s</a:t>
              </a:r>
            </a:p>
          </p:txBody>
        </p:sp>
        <p:sp>
          <p:nvSpPr>
            <p:cNvPr id="103435" name="Rectangle 9"/>
            <p:cNvSpPr>
              <a:spLocks noChangeArrowheads="1"/>
            </p:cNvSpPr>
            <p:nvPr/>
          </p:nvSpPr>
          <p:spPr bwMode="auto">
            <a:xfrm>
              <a:off x="2847" y="2591"/>
              <a:ext cx="793"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dist(v)</a:t>
              </a:r>
            </a:p>
          </p:txBody>
        </p:sp>
        <p:sp>
          <p:nvSpPr>
            <p:cNvPr id="103436" name="Rectangle 10"/>
            <p:cNvSpPr>
              <a:spLocks noChangeArrowheads="1"/>
            </p:cNvSpPr>
            <p:nvPr/>
          </p:nvSpPr>
          <p:spPr bwMode="auto">
            <a:xfrm>
              <a:off x="4608" y="2544"/>
              <a:ext cx="292"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v</a:t>
              </a:r>
            </a:p>
          </p:txBody>
        </p:sp>
        <p:sp>
          <p:nvSpPr>
            <p:cNvPr id="103437" name="Rectangle 11"/>
            <p:cNvSpPr>
              <a:spLocks noChangeArrowheads="1"/>
            </p:cNvSpPr>
            <p:nvPr/>
          </p:nvSpPr>
          <p:spPr bwMode="auto">
            <a:xfrm>
              <a:off x="4032" y="3647"/>
              <a:ext cx="293"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u</a:t>
              </a:r>
            </a:p>
          </p:txBody>
        </p:sp>
        <p:sp>
          <p:nvSpPr>
            <p:cNvPr id="103438" name="Rectangle 12"/>
            <p:cNvSpPr>
              <a:spLocks noChangeArrowheads="1"/>
            </p:cNvSpPr>
            <p:nvPr/>
          </p:nvSpPr>
          <p:spPr bwMode="auto">
            <a:xfrm>
              <a:off x="2749" y="3601"/>
              <a:ext cx="793"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dist(u)</a:t>
              </a:r>
            </a:p>
          </p:txBody>
        </p:sp>
        <p:sp>
          <p:nvSpPr>
            <p:cNvPr id="103439" name="Rectangle 13"/>
            <p:cNvSpPr>
              <a:spLocks noChangeArrowheads="1"/>
            </p:cNvSpPr>
            <p:nvPr/>
          </p:nvSpPr>
          <p:spPr bwMode="auto">
            <a:xfrm>
              <a:off x="4189" y="3168"/>
              <a:ext cx="802"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w(u,v)</a:t>
              </a:r>
            </a:p>
          </p:txBody>
        </p:sp>
        <p:sp>
          <p:nvSpPr>
            <p:cNvPr id="103440" name="Freeform 14"/>
            <p:cNvSpPr>
              <a:spLocks/>
            </p:cNvSpPr>
            <p:nvPr/>
          </p:nvSpPr>
          <p:spPr bwMode="auto">
            <a:xfrm>
              <a:off x="4097" y="2820"/>
              <a:ext cx="536" cy="835"/>
            </a:xfrm>
            <a:custGeom>
              <a:avLst/>
              <a:gdLst>
                <a:gd name="T0" fmla="*/ 0 w 536"/>
                <a:gd name="T1" fmla="*/ 835 h 835"/>
                <a:gd name="T2" fmla="*/ 536 w 536"/>
                <a:gd name="T3" fmla="*/ 0 h 835"/>
                <a:gd name="T4" fmla="*/ 0 60000 65536"/>
                <a:gd name="T5" fmla="*/ 0 60000 65536"/>
              </a:gdLst>
              <a:ahLst/>
              <a:cxnLst>
                <a:cxn ang="T4">
                  <a:pos x="T0" y="T1"/>
                </a:cxn>
                <a:cxn ang="T5">
                  <a:pos x="T2" y="T3"/>
                </a:cxn>
              </a:cxnLst>
              <a:rect l="0" t="0" r="r" b="b"/>
              <a:pathLst>
                <a:path w="536" h="835">
                  <a:moveTo>
                    <a:pt x="0" y="835"/>
                  </a:moveTo>
                  <a:lnTo>
                    <a:pt x="53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441" name="Freeform 15"/>
            <p:cNvSpPr>
              <a:spLocks/>
            </p:cNvSpPr>
            <p:nvPr/>
          </p:nvSpPr>
          <p:spPr bwMode="auto">
            <a:xfrm>
              <a:off x="2064" y="3264"/>
              <a:ext cx="1968" cy="436"/>
            </a:xfrm>
            <a:custGeom>
              <a:avLst/>
              <a:gdLst>
                <a:gd name="T0" fmla="*/ 0 w 1968"/>
                <a:gd name="T1" fmla="*/ 0 h 436"/>
                <a:gd name="T2" fmla="*/ 185 w 1968"/>
                <a:gd name="T3" fmla="*/ 66 h 436"/>
                <a:gd name="T4" fmla="*/ 457 w 1968"/>
                <a:gd name="T5" fmla="*/ 225 h 436"/>
                <a:gd name="T6" fmla="*/ 874 w 1968"/>
                <a:gd name="T7" fmla="*/ 185 h 436"/>
                <a:gd name="T8" fmla="*/ 1185 w 1968"/>
                <a:gd name="T9" fmla="*/ 358 h 436"/>
                <a:gd name="T10" fmla="*/ 1510 w 1968"/>
                <a:gd name="T11" fmla="*/ 318 h 436"/>
                <a:gd name="T12" fmla="*/ 1728 w 1968"/>
                <a:gd name="T13" fmla="*/ 417 h 436"/>
                <a:gd name="T14" fmla="*/ 1968 w 1968"/>
                <a:gd name="T15" fmla="*/ 432 h 4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968" h="436">
                  <a:moveTo>
                    <a:pt x="0" y="0"/>
                  </a:moveTo>
                  <a:cubicBezTo>
                    <a:pt x="31" y="11"/>
                    <a:pt x="109" y="29"/>
                    <a:pt x="185" y="66"/>
                  </a:cubicBezTo>
                  <a:cubicBezTo>
                    <a:pt x="261" y="103"/>
                    <a:pt x="342" y="205"/>
                    <a:pt x="457" y="225"/>
                  </a:cubicBezTo>
                  <a:cubicBezTo>
                    <a:pt x="572" y="245"/>
                    <a:pt x="753" y="163"/>
                    <a:pt x="874" y="185"/>
                  </a:cubicBezTo>
                  <a:cubicBezTo>
                    <a:pt x="995" y="207"/>
                    <a:pt x="1079" y="336"/>
                    <a:pt x="1185" y="358"/>
                  </a:cubicBezTo>
                  <a:cubicBezTo>
                    <a:pt x="1291" y="380"/>
                    <a:pt x="1420" y="308"/>
                    <a:pt x="1510" y="318"/>
                  </a:cubicBezTo>
                  <a:cubicBezTo>
                    <a:pt x="1600" y="328"/>
                    <a:pt x="1652" y="398"/>
                    <a:pt x="1728" y="417"/>
                  </a:cubicBezTo>
                  <a:cubicBezTo>
                    <a:pt x="1804" y="436"/>
                    <a:pt x="1918" y="429"/>
                    <a:pt x="1968" y="432"/>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3442" name="Freeform 16"/>
            <p:cNvSpPr>
              <a:spLocks/>
            </p:cNvSpPr>
            <p:nvPr/>
          </p:nvSpPr>
          <p:spPr bwMode="auto">
            <a:xfrm>
              <a:off x="2064" y="2716"/>
              <a:ext cx="2544" cy="548"/>
            </a:xfrm>
            <a:custGeom>
              <a:avLst/>
              <a:gdLst>
                <a:gd name="T0" fmla="*/ 0 w 2544"/>
                <a:gd name="T1" fmla="*/ 548 h 548"/>
                <a:gd name="T2" fmla="*/ 265 w 2544"/>
                <a:gd name="T3" fmla="*/ 488 h 548"/>
                <a:gd name="T4" fmla="*/ 609 w 2544"/>
                <a:gd name="T5" fmla="*/ 283 h 548"/>
                <a:gd name="T6" fmla="*/ 912 w 2544"/>
                <a:gd name="T7" fmla="*/ 356 h 548"/>
                <a:gd name="T8" fmla="*/ 1278 w 2544"/>
                <a:gd name="T9" fmla="*/ 157 h 548"/>
                <a:gd name="T10" fmla="*/ 1702 w 2544"/>
                <a:gd name="T11" fmla="*/ 224 h 548"/>
                <a:gd name="T12" fmla="*/ 1973 w 2544"/>
                <a:gd name="T13" fmla="*/ 18 h 548"/>
                <a:gd name="T14" fmla="*/ 2317 w 2544"/>
                <a:gd name="T15" fmla="*/ 118 h 548"/>
                <a:gd name="T16" fmla="*/ 2544 w 2544"/>
                <a:gd name="T17" fmla="*/ 68 h 5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44" h="548">
                  <a:moveTo>
                    <a:pt x="0" y="548"/>
                  </a:moveTo>
                  <a:cubicBezTo>
                    <a:pt x="44" y="538"/>
                    <a:pt x="163" y="532"/>
                    <a:pt x="265" y="488"/>
                  </a:cubicBezTo>
                  <a:cubicBezTo>
                    <a:pt x="367" y="444"/>
                    <a:pt x="501" y="305"/>
                    <a:pt x="609" y="283"/>
                  </a:cubicBezTo>
                  <a:cubicBezTo>
                    <a:pt x="717" y="261"/>
                    <a:pt x="800" y="377"/>
                    <a:pt x="912" y="356"/>
                  </a:cubicBezTo>
                  <a:cubicBezTo>
                    <a:pt x="1024" y="335"/>
                    <a:pt x="1146" y="179"/>
                    <a:pt x="1278" y="157"/>
                  </a:cubicBezTo>
                  <a:cubicBezTo>
                    <a:pt x="1410" y="135"/>
                    <a:pt x="1586" y="247"/>
                    <a:pt x="1702" y="224"/>
                  </a:cubicBezTo>
                  <a:cubicBezTo>
                    <a:pt x="1818" y="201"/>
                    <a:pt x="1871" y="36"/>
                    <a:pt x="1973" y="18"/>
                  </a:cubicBezTo>
                  <a:cubicBezTo>
                    <a:pt x="2075" y="0"/>
                    <a:pt x="2222" y="110"/>
                    <a:pt x="2317" y="118"/>
                  </a:cubicBezTo>
                  <a:cubicBezTo>
                    <a:pt x="2412" y="126"/>
                    <a:pt x="2497" y="78"/>
                    <a:pt x="2544" y="68"/>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sp>
        <p:nvSpPr>
          <p:cNvPr id="183314" name="Rectangle 18" descr="Recycled paper"/>
          <p:cNvSpPr>
            <a:spLocks noChangeArrowheads="1"/>
          </p:cNvSpPr>
          <p:nvPr/>
        </p:nvSpPr>
        <p:spPr bwMode="auto">
          <a:xfrm>
            <a:off x="152400" y="838200"/>
            <a:ext cx="8839200" cy="208280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defTabSz="1328738" eaLnBrk="1" hangingPunct="1">
              <a:lnSpc>
                <a:spcPct val="80000"/>
              </a:lnSpc>
              <a:spcBef>
                <a:spcPct val="50000"/>
              </a:spcBef>
              <a:buFontTx/>
              <a:buNone/>
              <a:tabLst>
                <a:tab pos="376238" algn="l"/>
              </a:tabLst>
            </a:pPr>
            <a:r>
              <a:rPr lang="en-US" sz="2400" b="1" dirty="0">
                <a:solidFill>
                  <a:srgbClr val="CC0000"/>
                </a:solidFill>
              </a:rPr>
              <a:t>FACT 5:  </a:t>
            </a:r>
            <a:br>
              <a:rPr lang="en-US" sz="2400" b="1" dirty="0">
                <a:solidFill>
                  <a:srgbClr val="CC0000"/>
                </a:solidFill>
              </a:rPr>
            </a:br>
            <a:r>
              <a:rPr lang="en-US" sz="2000" dirty="0">
                <a:solidFill>
                  <a:schemeClr val="hlink"/>
                </a:solidFill>
              </a:rPr>
              <a:t>Ford’s labeling method maintains the following invariants for any </a:t>
            </a:r>
            <a:r>
              <a:rPr lang="en-US" sz="2000" dirty="0" err="1">
                <a:solidFill>
                  <a:schemeClr val="hlink"/>
                </a:solidFill>
              </a:rPr>
              <a:t>v</a:t>
            </a:r>
            <a:r>
              <a:rPr lang="en-US" sz="2000" dirty="0" err="1">
                <a:solidFill>
                  <a:schemeClr val="hlink"/>
                </a:solidFill>
                <a:sym typeface="Symbol" pitchFamily="18" charset="2"/>
              </a:rPr>
              <a:t></a:t>
            </a:r>
            <a:r>
              <a:rPr lang="en-US" sz="2000" dirty="0" err="1">
                <a:solidFill>
                  <a:schemeClr val="hlink"/>
                </a:solidFill>
              </a:rPr>
              <a:t>V</a:t>
            </a:r>
            <a:r>
              <a:rPr lang="en-US" sz="2000" dirty="0">
                <a:solidFill>
                  <a:schemeClr val="hlink"/>
                </a:solidFill>
              </a:rPr>
              <a:t>(G):</a:t>
            </a:r>
          </a:p>
          <a:p>
            <a:pPr marL="457200" indent="-457200" defTabSz="1328738" eaLnBrk="1" hangingPunct="1">
              <a:lnSpc>
                <a:spcPct val="80000"/>
              </a:lnSpc>
              <a:spcBef>
                <a:spcPct val="50000"/>
              </a:spcBef>
              <a:buFontTx/>
              <a:buAutoNum type="arabicParenBoth"/>
              <a:tabLst>
                <a:tab pos="376238" algn="l"/>
              </a:tabLst>
            </a:pPr>
            <a:r>
              <a:rPr lang="en-US" sz="2000" dirty="0">
                <a:solidFill>
                  <a:schemeClr val="hlink"/>
                </a:solidFill>
              </a:rPr>
              <a:t>If </a:t>
            </a:r>
            <a:r>
              <a:rPr lang="en-US" sz="2000" dirty="0" err="1">
                <a:solidFill>
                  <a:schemeClr val="hlink"/>
                </a:solidFill>
              </a:rPr>
              <a:t>dist</a:t>
            </a:r>
            <a:r>
              <a:rPr lang="en-US" sz="2000" dirty="0">
                <a:solidFill>
                  <a:schemeClr val="hlink"/>
                </a:solidFill>
              </a:rPr>
              <a:t>(v) is finite, then there is an s-v path of cost </a:t>
            </a:r>
            <a:r>
              <a:rPr lang="en-US" sz="2000" dirty="0" err="1">
                <a:solidFill>
                  <a:schemeClr val="hlink"/>
                </a:solidFill>
              </a:rPr>
              <a:t>dist</a:t>
            </a:r>
            <a:r>
              <a:rPr lang="en-US" sz="2000" dirty="0">
                <a:solidFill>
                  <a:schemeClr val="hlink"/>
                </a:solidFill>
              </a:rPr>
              <a:t>(v).</a:t>
            </a:r>
          </a:p>
          <a:p>
            <a:pPr marL="457200" indent="-457200" defTabSz="1328738" eaLnBrk="1" hangingPunct="1">
              <a:lnSpc>
                <a:spcPct val="80000"/>
              </a:lnSpc>
              <a:spcBef>
                <a:spcPct val="50000"/>
              </a:spcBef>
              <a:buFontTx/>
              <a:buAutoNum type="arabicParenBoth"/>
              <a:tabLst>
                <a:tab pos="376238" algn="l"/>
              </a:tabLst>
            </a:pPr>
            <a:r>
              <a:rPr lang="en-US" sz="2000" dirty="0">
                <a:solidFill>
                  <a:schemeClr val="hlink"/>
                </a:solidFill>
              </a:rPr>
              <a:t>If </a:t>
            </a:r>
            <a:r>
              <a:rPr lang="en-US" sz="2000" dirty="0">
                <a:solidFill>
                  <a:schemeClr val="hlink"/>
                </a:solidFill>
                <a:latin typeface="Symbol" pitchFamily="18" charset="2"/>
              </a:rPr>
              <a:t>p</a:t>
            </a:r>
            <a:r>
              <a:rPr lang="en-US" sz="2000" dirty="0">
                <a:solidFill>
                  <a:schemeClr val="hlink"/>
                </a:solidFill>
              </a:rPr>
              <a:t>(v) </a:t>
            </a:r>
            <a:r>
              <a:rPr lang="en-US" sz="2000" dirty="0">
                <a:solidFill>
                  <a:schemeClr val="hlink"/>
                </a:solidFill>
                <a:sym typeface="Symbol" pitchFamily="18" charset="2"/>
              </a:rPr>
              <a:t> </a:t>
            </a:r>
            <a:r>
              <a:rPr lang="en-US" sz="2000" dirty="0">
                <a:solidFill>
                  <a:schemeClr val="hlink"/>
                </a:solidFill>
              </a:rPr>
              <a:t>nil, then </a:t>
            </a:r>
            <a:r>
              <a:rPr lang="en-US" sz="2000" dirty="0" err="1">
                <a:solidFill>
                  <a:schemeClr val="hlink"/>
                </a:solidFill>
              </a:rPr>
              <a:t>dist</a:t>
            </a:r>
            <a:r>
              <a:rPr lang="en-US" sz="2000" dirty="0">
                <a:solidFill>
                  <a:schemeClr val="hlink"/>
                </a:solidFill>
              </a:rPr>
              <a:t>(</a:t>
            </a:r>
            <a:r>
              <a:rPr lang="en-US" sz="2000" dirty="0">
                <a:solidFill>
                  <a:schemeClr val="hlink"/>
                </a:solidFill>
                <a:latin typeface="Symbol" pitchFamily="18" charset="2"/>
              </a:rPr>
              <a:t>p</a:t>
            </a:r>
            <a:r>
              <a:rPr lang="en-US" sz="2000" dirty="0">
                <a:solidFill>
                  <a:schemeClr val="hlink"/>
                </a:solidFill>
              </a:rPr>
              <a:t>(v)) + w(</a:t>
            </a:r>
            <a:r>
              <a:rPr lang="en-US" sz="2000" dirty="0">
                <a:solidFill>
                  <a:schemeClr val="hlink"/>
                </a:solidFill>
                <a:latin typeface="Symbol" pitchFamily="18" charset="2"/>
              </a:rPr>
              <a:t>p</a:t>
            </a:r>
            <a:r>
              <a:rPr lang="en-US" sz="2000" dirty="0">
                <a:solidFill>
                  <a:schemeClr val="hlink"/>
                </a:solidFill>
              </a:rPr>
              <a:t>(v) ,v) </a:t>
            </a:r>
            <a:r>
              <a:rPr lang="en-US" sz="2000" dirty="0">
                <a:solidFill>
                  <a:schemeClr val="hlink"/>
                </a:solidFill>
                <a:sym typeface="Symbol" pitchFamily="18" charset="2"/>
              </a:rPr>
              <a:t> </a:t>
            </a:r>
            <a:r>
              <a:rPr lang="en-US" sz="2000" dirty="0" err="1">
                <a:solidFill>
                  <a:schemeClr val="hlink"/>
                </a:solidFill>
              </a:rPr>
              <a:t>dist</a:t>
            </a:r>
            <a:r>
              <a:rPr lang="en-US" sz="2000" dirty="0">
                <a:solidFill>
                  <a:schemeClr val="hlink"/>
                </a:solidFill>
              </a:rPr>
              <a:t>(v) remains true, </a:t>
            </a:r>
            <a:br>
              <a:rPr lang="en-US" sz="2000" dirty="0">
                <a:solidFill>
                  <a:schemeClr val="hlink"/>
                </a:solidFill>
              </a:rPr>
            </a:br>
            <a:r>
              <a:rPr lang="en-US" sz="2000" dirty="0">
                <a:solidFill>
                  <a:schemeClr val="hlink"/>
                </a:solidFill>
              </a:rPr>
              <a:t>and is met with equality when the method terminates.</a:t>
            </a:r>
          </a:p>
          <a:p>
            <a:pPr marL="457200" indent="-457200" defTabSz="1328738" eaLnBrk="1" hangingPunct="1">
              <a:lnSpc>
                <a:spcPct val="80000"/>
              </a:lnSpc>
              <a:spcBef>
                <a:spcPct val="50000"/>
              </a:spcBef>
              <a:buFontTx/>
              <a:buAutoNum type="arabicParenBoth"/>
              <a:tabLst>
                <a:tab pos="376238" algn="l"/>
              </a:tabLst>
            </a:pPr>
            <a:r>
              <a:rPr lang="en-US" sz="2000" dirty="0">
                <a:solidFill>
                  <a:schemeClr val="hlink"/>
                </a:solidFill>
              </a:rPr>
              <a:t>If P is any s-v path, then d(P) </a:t>
            </a:r>
            <a:r>
              <a:rPr lang="en-US" sz="2000" dirty="0">
                <a:solidFill>
                  <a:schemeClr val="hlink"/>
                </a:solidFill>
                <a:sym typeface="Symbol" pitchFamily="18" charset="2"/>
              </a:rPr>
              <a:t></a:t>
            </a:r>
            <a:r>
              <a:rPr lang="en-US" sz="2000" dirty="0">
                <a:solidFill>
                  <a:schemeClr val="hlink"/>
                </a:solidFill>
              </a:rPr>
              <a:t> </a:t>
            </a:r>
            <a:r>
              <a:rPr lang="en-US" sz="2000" dirty="0" err="1">
                <a:solidFill>
                  <a:schemeClr val="hlink"/>
                </a:solidFill>
              </a:rPr>
              <a:t>dist</a:t>
            </a:r>
            <a:r>
              <a:rPr lang="en-US" sz="2000" dirty="0">
                <a:solidFill>
                  <a:schemeClr val="hlink"/>
                </a:solidFill>
              </a:rPr>
              <a:t>(v) when Ford’s method terminates.</a:t>
            </a:r>
          </a:p>
        </p:txBody>
      </p:sp>
      <p:sp>
        <p:nvSpPr>
          <p:cNvPr id="183315" name="Rectangle 19"/>
          <p:cNvSpPr>
            <a:spLocks noChangeArrowheads="1"/>
          </p:cNvSpPr>
          <p:nvPr/>
        </p:nvSpPr>
        <p:spPr bwMode="auto">
          <a:xfrm>
            <a:off x="152400" y="2971800"/>
            <a:ext cx="4257675"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76238" indent="-376238" eaLnBrk="1" hangingPunct="1">
              <a:spcBef>
                <a:spcPct val="50000"/>
              </a:spcBef>
              <a:buFontTx/>
              <a:buNone/>
            </a:pPr>
            <a:r>
              <a:rPr lang="en-US" sz="2000" b="1" dirty="0"/>
              <a:t>Proof sketch:  </a:t>
            </a:r>
            <a:br>
              <a:rPr lang="en-US" sz="2000" b="1" dirty="0"/>
            </a:br>
            <a:r>
              <a:rPr lang="en-US" sz="2000" dirty="0"/>
              <a:t>(1) By induction on # labeling steps.</a:t>
            </a:r>
            <a:br>
              <a:rPr lang="en-US" sz="2000" dirty="0"/>
            </a:br>
            <a:r>
              <a:rPr lang="en-US" sz="2000" dirty="0"/>
              <a:t>(2) By induction on # labeling steps.</a:t>
            </a:r>
            <a:br>
              <a:rPr lang="en-US" sz="2000" dirty="0"/>
            </a:br>
            <a:r>
              <a:rPr lang="en-US" sz="2000" dirty="0"/>
              <a:t>(3) By induction on # edges on P.</a:t>
            </a:r>
            <a:br>
              <a:rPr lang="en-US" sz="2000" dirty="0"/>
            </a:br>
            <a:endParaRPr lang="en-US" sz="2000" dirty="0"/>
          </a:p>
        </p:txBody>
      </p:sp>
      <p:sp>
        <p:nvSpPr>
          <p:cNvPr id="183316" name="Rectangle 20" descr="Recycled paper"/>
          <p:cNvSpPr>
            <a:spLocks noChangeArrowheads="1"/>
          </p:cNvSpPr>
          <p:nvPr/>
        </p:nvSpPr>
        <p:spPr bwMode="auto">
          <a:xfrm>
            <a:off x="152400" y="4800600"/>
            <a:ext cx="8839200" cy="18478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defTabSz="1328738" eaLnBrk="1" hangingPunct="1">
              <a:spcBef>
                <a:spcPct val="50000"/>
              </a:spcBef>
              <a:buFontTx/>
              <a:buNone/>
              <a:tabLst>
                <a:tab pos="376238" algn="l"/>
              </a:tabLst>
            </a:pPr>
            <a:r>
              <a:rPr lang="en-US" sz="2400" b="1" dirty="0">
                <a:solidFill>
                  <a:srgbClr val="CC0000"/>
                </a:solidFill>
              </a:rPr>
              <a:t>FACT 6:  </a:t>
            </a:r>
            <a:br>
              <a:rPr lang="en-US" sz="2400" b="1" dirty="0">
                <a:solidFill>
                  <a:srgbClr val="CC0000"/>
                </a:solidFill>
              </a:rPr>
            </a:br>
            <a:r>
              <a:rPr lang="en-US" sz="2000" dirty="0">
                <a:solidFill>
                  <a:schemeClr val="hlink"/>
                </a:solidFill>
              </a:rPr>
              <a:t>(1) When the labeling method terminates, </a:t>
            </a:r>
            <a:br>
              <a:rPr lang="en-US" sz="2000" dirty="0">
                <a:solidFill>
                  <a:schemeClr val="hlink"/>
                </a:solidFill>
              </a:rPr>
            </a:br>
            <a:r>
              <a:rPr lang="en-US" sz="2000" dirty="0">
                <a:solidFill>
                  <a:schemeClr val="hlink"/>
                </a:solidFill>
              </a:rPr>
              <a:t>	</a:t>
            </a:r>
            <a:r>
              <a:rPr lang="en-US" sz="2000" dirty="0" err="1">
                <a:solidFill>
                  <a:schemeClr val="hlink"/>
                </a:solidFill>
              </a:rPr>
              <a:t>dist</a:t>
            </a:r>
            <a:r>
              <a:rPr lang="en-US" sz="2000" dirty="0">
                <a:solidFill>
                  <a:schemeClr val="hlink"/>
                </a:solidFill>
              </a:rPr>
              <a:t>(v) = cost of a shortest s-v path, if v is reachable from s, and </a:t>
            </a:r>
            <a:br>
              <a:rPr lang="en-US" sz="2000" dirty="0">
                <a:solidFill>
                  <a:schemeClr val="hlink"/>
                </a:solidFill>
              </a:rPr>
            </a:br>
            <a:r>
              <a:rPr lang="en-US" sz="2000" dirty="0">
                <a:solidFill>
                  <a:schemeClr val="hlink"/>
                </a:solidFill>
              </a:rPr>
              <a:t>	</a:t>
            </a:r>
            <a:r>
              <a:rPr lang="en-US" sz="2000" dirty="0" err="1">
                <a:solidFill>
                  <a:schemeClr val="hlink"/>
                </a:solidFill>
              </a:rPr>
              <a:t>dist</a:t>
            </a:r>
            <a:r>
              <a:rPr lang="en-US" sz="2000" dirty="0">
                <a:solidFill>
                  <a:schemeClr val="hlink"/>
                </a:solidFill>
              </a:rPr>
              <a:t>(v) = </a:t>
            </a:r>
            <a:r>
              <a:rPr lang="en-US" sz="2000" dirty="0">
                <a:solidFill>
                  <a:schemeClr val="hlink"/>
                </a:solidFill>
                <a:sym typeface="Symbol" pitchFamily="18" charset="2"/>
              </a:rPr>
              <a:t> </a:t>
            </a:r>
            <a:r>
              <a:rPr lang="en-US" sz="2000" dirty="0">
                <a:solidFill>
                  <a:schemeClr val="hlink"/>
                </a:solidFill>
              </a:rPr>
              <a:t>otherwise.</a:t>
            </a:r>
          </a:p>
          <a:p>
            <a:pPr defTabSz="1328738" eaLnBrk="1" hangingPunct="1">
              <a:spcBef>
                <a:spcPct val="50000"/>
              </a:spcBef>
              <a:buFontTx/>
              <a:buNone/>
              <a:tabLst>
                <a:tab pos="376238" algn="l"/>
              </a:tabLst>
            </a:pPr>
            <a:r>
              <a:rPr lang="en-US" sz="2000" dirty="0">
                <a:solidFill>
                  <a:schemeClr val="hlink"/>
                </a:solidFill>
              </a:rPr>
              <a:t>(2) If there is a negative cycle reachable from s, the method never terminates.</a:t>
            </a:r>
            <a:endParaRPr lang="en-US" sz="2000" dirty="0"/>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100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83298"/>
                                        </p:tgtEl>
                                        <p:attrNameLst>
                                          <p:attrName>style.visibility</p:attrName>
                                        </p:attrNameLst>
                                      </p:cBhvr>
                                      <p:to>
                                        <p:strVal val="visible"/>
                                      </p:to>
                                    </p:set>
                                    <p:anim calcmode="lin" valueType="num">
                                      <p:cBhvr>
                                        <p:cTn id="7" dur="500" fill="hold"/>
                                        <p:tgtEl>
                                          <p:spTgt spid="183298"/>
                                        </p:tgtEl>
                                        <p:attrNameLst>
                                          <p:attrName>ppt_w</p:attrName>
                                        </p:attrNameLst>
                                      </p:cBhvr>
                                      <p:tavLst>
                                        <p:tav tm="0">
                                          <p:val>
                                            <p:fltVal val="0"/>
                                          </p:val>
                                        </p:tav>
                                        <p:tav tm="100000">
                                          <p:val>
                                            <p:strVal val="#ppt_w"/>
                                          </p:val>
                                        </p:tav>
                                      </p:tavLst>
                                    </p:anim>
                                    <p:anim calcmode="lin" valueType="num">
                                      <p:cBhvr>
                                        <p:cTn id="8" dur="500" fill="hold"/>
                                        <p:tgtEl>
                                          <p:spTgt spid="18329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83314">
                                            <p:bg/>
                                          </p:spTgt>
                                        </p:tgtEl>
                                        <p:attrNameLst>
                                          <p:attrName>style.visibility</p:attrName>
                                        </p:attrNameLst>
                                      </p:cBhvr>
                                      <p:to>
                                        <p:strVal val="visible"/>
                                      </p:to>
                                    </p:set>
                                    <p:animEffect transition="in" filter="wipe(left)">
                                      <p:cBhvr>
                                        <p:cTn id="13" dur="500"/>
                                        <p:tgtEl>
                                          <p:spTgt spid="183314">
                                            <p:bg/>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83314">
                                            <p:txEl>
                                              <p:pRg st="0" end="0"/>
                                            </p:txEl>
                                          </p:spTgt>
                                        </p:tgtEl>
                                        <p:attrNameLst>
                                          <p:attrName>style.visibility</p:attrName>
                                        </p:attrNameLst>
                                      </p:cBhvr>
                                      <p:to>
                                        <p:strVal val="visible"/>
                                      </p:to>
                                    </p:set>
                                    <p:animEffect transition="in" filter="wipe(left)">
                                      <p:cBhvr>
                                        <p:cTn id="18" dur="500"/>
                                        <p:tgtEl>
                                          <p:spTgt spid="183314">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83314">
                                            <p:txEl>
                                              <p:pRg st="1" end="1"/>
                                            </p:txEl>
                                          </p:spTgt>
                                        </p:tgtEl>
                                        <p:attrNameLst>
                                          <p:attrName>style.visibility</p:attrName>
                                        </p:attrNameLst>
                                      </p:cBhvr>
                                      <p:to>
                                        <p:strVal val="visible"/>
                                      </p:to>
                                    </p:set>
                                    <p:animEffect transition="in" filter="wipe(left)">
                                      <p:cBhvr>
                                        <p:cTn id="23" dur="500"/>
                                        <p:tgtEl>
                                          <p:spTgt spid="183314">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83314">
                                            <p:txEl>
                                              <p:pRg st="2" end="2"/>
                                            </p:txEl>
                                          </p:spTgt>
                                        </p:tgtEl>
                                        <p:attrNameLst>
                                          <p:attrName>style.visibility</p:attrName>
                                        </p:attrNameLst>
                                      </p:cBhvr>
                                      <p:to>
                                        <p:strVal val="visible"/>
                                      </p:to>
                                    </p:set>
                                    <p:animEffect transition="in" filter="wipe(left)">
                                      <p:cBhvr>
                                        <p:cTn id="28" dur="500"/>
                                        <p:tgtEl>
                                          <p:spTgt spid="183314">
                                            <p:txEl>
                                              <p:pRg st="2" end="2"/>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83314">
                                            <p:txEl>
                                              <p:pRg st="3" end="3"/>
                                            </p:txEl>
                                          </p:spTgt>
                                        </p:tgtEl>
                                        <p:attrNameLst>
                                          <p:attrName>style.visibility</p:attrName>
                                        </p:attrNameLst>
                                      </p:cBhvr>
                                      <p:to>
                                        <p:strVal val="visible"/>
                                      </p:to>
                                    </p:set>
                                    <p:animEffect transition="in" filter="wipe(left)">
                                      <p:cBhvr>
                                        <p:cTn id="33" dur="500"/>
                                        <p:tgtEl>
                                          <p:spTgt spid="183314">
                                            <p:txEl>
                                              <p:pRg st="3" end="3"/>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83315">
                                            <p:txEl>
                                              <p:pRg st="0" end="0"/>
                                            </p:txEl>
                                          </p:spTgt>
                                        </p:tgtEl>
                                        <p:attrNameLst>
                                          <p:attrName>style.visibility</p:attrName>
                                        </p:attrNameLst>
                                      </p:cBhvr>
                                      <p:to>
                                        <p:strVal val="visible"/>
                                      </p:to>
                                    </p:set>
                                    <p:animEffect transition="in" filter="wipe(left)">
                                      <p:cBhvr>
                                        <p:cTn id="38" dur="500"/>
                                        <p:tgtEl>
                                          <p:spTgt spid="183315">
                                            <p:txEl>
                                              <p:pRg st="0" end="0"/>
                                            </p:txEl>
                                          </p:spTgt>
                                        </p:tgtEl>
                                      </p:cBhvr>
                                    </p:animEffect>
                                  </p:childTnLst>
                                </p:cTn>
                              </p:par>
                            </p:childTnLst>
                          </p:cTn>
                        </p:par>
                        <p:par>
                          <p:cTn id="39" fill="hold" nodeType="afterGroup">
                            <p:stCondLst>
                              <p:cond delay="500"/>
                            </p:stCondLst>
                            <p:childTnLst>
                              <p:par>
                                <p:cTn id="40" presetID="22" presetClass="entr" presetSubtype="8" fill="hold" nodeType="afterEffect">
                                  <p:stCondLst>
                                    <p:cond delay="1000"/>
                                  </p:stCondLst>
                                  <p:childTnLst>
                                    <p:set>
                                      <p:cBhvr>
                                        <p:cTn id="41" dur="1" fill="hold">
                                          <p:stCondLst>
                                            <p:cond delay="0"/>
                                          </p:stCondLst>
                                        </p:cTn>
                                        <p:tgtEl>
                                          <p:spTgt spid="183300"/>
                                        </p:tgtEl>
                                        <p:attrNameLst>
                                          <p:attrName>style.visibility</p:attrName>
                                        </p:attrNameLst>
                                      </p:cBhvr>
                                      <p:to>
                                        <p:strVal val="visible"/>
                                      </p:to>
                                    </p:set>
                                    <p:animEffect transition="in" filter="wipe(left)">
                                      <p:cBhvr>
                                        <p:cTn id="42" dur="500"/>
                                        <p:tgtEl>
                                          <p:spTgt spid="18330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3316">
                                            <p:bg/>
                                          </p:spTgt>
                                        </p:tgtEl>
                                        <p:attrNameLst>
                                          <p:attrName>style.visibility</p:attrName>
                                        </p:attrNameLst>
                                      </p:cBhvr>
                                      <p:to>
                                        <p:strVal val="visible"/>
                                      </p:to>
                                    </p:set>
                                    <p:animEffect transition="in" filter="wipe(left)">
                                      <p:cBhvr>
                                        <p:cTn id="47" dur="500"/>
                                        <p:tgtEl>
                                          <p:spTgt spid="183316">
                                            <p:bg/>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3316">
                                            <p:txEl>
                                              <p:pRg st="0" end="0"/>
                                            </p:txEl>
                                          </p:spTgt>
                                        </p:tgtEl>
                                        <p:attrNameLst>
                                          <p:attrName>style.visibility</p:attrName>
                                        </p:attrNameLst>
                                      </p:cBhvr>
                                      <p:to>
                                        <p:strVal val="visible"/>
                                      </p:to>
                                    </p:set>
                                    <p:animEffect transition="in" filter="wipe(left)">
                                      <p:cBhvr>
                                        <p:cTn id="52" dur="500"/>
                                        <p:tgtEl>
                                          <p:spTgt spid="183316">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3316">
                                            <p:txEl>
                                              <p:pRg st="1" end="1"/>
                                            </p:txEl>
                                          </p:spTgt>
                                        </p:tgtEl>
                                        <p:attrNameLst>
                                          <p:attrName>style.visibility</p:attrName>
                                        </p:attrNameLst>
                                      </p:cBhvr>
                                      <p:to>
                                        <p:strVal val="visible"/>
                                      </p:to>
                                    </p:set>
                                    <p:animEffect transition="in" filter="wipe(left)">
                                      <p:cBhvr>
                                        <p:cTn id="57" dur="500"/>
                                        <p:tgtEl>
                                          <p:spTgt spid="1833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8" grpId="0" animBg="1" autoUpdateAnimBg="0"/>
      <p:bldP spid="183314" grpId="0" build="p" animBg="1" autoUpdateAnimBg="0"/>
      <p:bldP spid="183315" grpId="0" build="p" autoUpdateAnimBg="0"/>
      <p:bldP spid="183316" grpId="0" build="p" animBg="1"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rgbClr val="FF0000"/>
                </a:solidFill>
                <a:latin typeface="Arial Rounded MT Bold" pitchFamily="34" charset="0"/>
              </a:rPr>
              <a:t>Tentative</a:t>
            </a:r>
            <a:r>
              <a:rPr lang="en-US" sz="2800" b="1" dirty="0" smtClean="0">
                <a:solidFill>
                  <a:schemeClr val="tx1"/>
                </a:solidFill>
                <a:latin typeface="Arial Rounded MT Bold" pitchFamily="34" charset="0"/>
              </a:rPr>
              <a:t> Shortest Path Tree </a:t>
            </a:r>
            <a:r>
              <a:rPr lang="en-US" sz="2800" b="1" dirty="0" smtClean="0">
                <a:solidFill>
                  <a:srgbClr val="FF0000"/>
                </a:solidFill>
                <a:latin typeface="Arial Rounded MT Bold" pitchFamily="34" charset="0"/>
              </a:rPr>
              <a:t>Invariants</a:t>
            </a:r>
          </a:p>
        </p:txBody>
      </p:sp>
      <p:sp>
        <p:nvSpPr>
          <p:cNvPr id="184336" name="Rectangle 16" descr="Recycled paper"/>
          <p:cNvSpPr>
            <a:spLocks noChangeArrowheads="1"/>
          </p:cNvSpPr>
          <p:nvPr/>
        </p:nvSpPr>
        <p:spPr bwMode="auto">
          <a:xfrm>
            <a:off x="152400" y="1981200"/>
            <a:ext cx="8839200" cy="24193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defTabSz="1328738" eaLnBrk="1" hangingPunct="1">
              <a:lnSpc>
                <a:spcPct val="80000"/>
              </a:lnSpc>
              <a:spcBef>
                <a:spcPct val="50000"/>
              </a:spcBef>
              <a:buFontTx/>
              <a:buNone/>
              <a:tabLst>
                <a:tab pos="376238" algn="l"/>
              </a:tabLst>
            </a:pPr>
            <a:r>
              <a:rPr lang="en-US" sz="2400" b="1" dirty="0">
                <a:solidFill>
                  <a:srgbClr val="CC0000"/>
                </a:solidFill>
              </a:rPr>
              <a:t>FACT 7:  </a:t>
            </a:r>
          </a:p>
          <a:p>
            <a:pPr marL="457200" indent="-457200" defTabSz="1328738" eaLnBrk="1" hangingPunct="1">
              <a:lnSpc>
                <a:spcPct val="80000"/>
              </a:lnSpc>
              <a:spcBef>
                <a:spcPct val="50000"/>
              </a:spcBef>
              <a:buFontTx/>
              <a:buAutoNum type="arabicParenBoth"/>
              <a:tabLst>
                <a:tab pos="376238" algn="l"/>
              </a:tabLst>
            </a:pPr>
            <a:r>
              <a:rPr lang="en-US" sz="2000" dirty="0">
                <a:solidFill>
                  <a:schemeClr val="hlink"/>
                </a:solidFill>
              </a:rPr>
              <a:t>Ford’s labeling method maintains the invariant that</a:t>
            </a:r>
            <a:br>
              <a:rPr lang="en-US" sz="2000" dirty="0">
                <a:solidFill>
                  <a:schemeClr val="hlink"/>
                </a:solidFill>
              </a:rPr>
            </a:br>
            <a:r>
              <a:rPr lang="en-US" sz="2000" dirty="0">
                <a:solidFill>
                  <a:schemeClr val="hlink"/>
                </a:solidFill>
              </a:rPr>
              <a:t>either the edges (</a:t>
            </a:r>
            <a:r>
              <a:rPr lang="en-US" sz="2000" dirty="0">
                <a:solidFill>
                  <a:schemeClr val="hlink"/>
                </a:solidFill>
                <a:latin typeface="Symbol" pitchFamily="18" charset="2"/>
              </a:rPr>
              <a:t>p</a:t>
            </a:r>
            <a:r>
              <a:rPr lang="en-US" sz="2000" dirty="0">
                <a:solidFill>
                  <a:schemeClr val="hlink"/>
                </a:solidFill>
              </a:rPr>
              <a:t>(v) ,v) , for v such that </a:t>
            </a:r>
            <a:r>
              <a:rPr lang="en-US" sz="2000" dirty="0">
                <a:solidFill>
                  <a:schemeClr val="hlink"/>
                </a:solidFill>
                <a:latin typeface="Symbol" pitchFamily="18" charset="2"/>
              </a:rPr>
              <a:t>p</a:t>
            </a:r>
            <a:r>
              <a:rPr lang="en-US" sz="2000" dirty="0">
                <a:solidFill>
                  <a:schemeClr val="hlink"/>
                </a:solidFill>
              </a:rPr>
              <a:t>(v) </a:t>
            </a:r>
            <a:r>
              <a:rPr lang="en-US" sz="2000" dirty="0">
                <a:solidFill>
                  <a:schemeClr val="hlink"/>
                </a:solidFill>
                <a:sym typeface="Symbol" pitchFamily="18" charset="2"/>
              </a:rPr>
              <a:t> </a:t>
            </a:r>
            <a:r>
              <a:rPr lang="en-US" sz="2000" dirty="0">
                <a:solidFill>
                  <a:schemeClr val="hlink"/>
                </a:solidFill>
              </a:rPr>
              <a:t>nil, </a:t>
            </a:r>
            <a:br>
              <a:rPr lang="en-US" sz="2000" dirty="0">
                <a:solidFill>
                  <a:schemeClr val="hlink"/>
                </a:solidFill>
              </a:rPr>
            </a:br>
            <a:r>
              <a:rPr lang="en-US" sz="2000" dirty="0">
                <a:solidFill>
                  <a:schemeClr val="hlink"/>
                </a:solidFill>
              </a:rPr>
              <a:t>	form a tree rooted at s, spanning vertices v such that </a:t>
            </a:r>
            <a:r>
              <a:rPr lang="en-US" sz="2000" dirty="0" err="1">
                <a:solidFill>
                  <a:schemeClr val="hlink"/>
                </a:solidFill>
              </a:rPr>
              <a:t>dist</a:t>
            </a:r>
            <a:r>
              <a:rPr lang="en-US" sz="2000" dirty="0">
                <a:solidFill>
                  <a:schemeClr val="hlink"/>
                </a:solidFill>
              </a:rPr>
              <a:t>(v) &lt; </a:t>
            </a:r>
            <a:r>
              <a:rPr lang="en-US" sz="2000" dirty="0">
                <a:solidFill>
                  <a:schemeClr val="hlink"/>
                </a:solidFill>
                <a:sym typeface="Symbol" pitchFamily="18" charset="2"/>
              </a:rPr>
              <a:t>,</a:t>
            </a:r>
            <a:br>
              <a:rPr lang="en-US" sz="2000" dirty="0">
                <a:solidFill>
                  <a:schemeClr val="hlink"/>
                </a:solidFill>
                <a:sym typeface="Symbol" pitchFamily="18" charset="2"/>
              </a:rPr>
            </a:br>
            <a:r>
              <a:rPr lang="en-US" sz="2000" dirty="0">
                <a:solidFill>
                  <a:schemeClr val="hlink"/>
                </a:solidFill>
                <a:sym typeface="Symbol" pitchFamily="18" charset="2"/>
              </a:rPr>
              <a:t>or there is a vertex v such that </a:t>
            </a:r>
            <a:r>
              <a:rPr lang="en-US" sz="2000" dirty="0" err="1">
                <a:solidFill>
                  <a:schemeClr val="hlink"/>
                </a:solidFill>
                <a:latin typeface="Symbol" pitchFamily="18" charset="2"/>
              </a:rPr>
              <a:t>p</a:t>
            </a:r>
            <a:r>
              <a:rPr lang="en-US" sz="2000" baseline="30000" dirty="0" err="1">
                <a:solidFill>
                  <a:schemeClr val="hlink"/>
                </a:solidFill>
              </a:rPr>
              <a:t>k</a:t>
            </a:r>
            <a:r>
              <a:rPr lang="en-US" sz="2000" dirty="0">
                <a:solidFill>
                  <a:schemeClr val="hlink"/>
                </a:solidFill>
              </a:rPr>
              <a:t>(v) = v for some k &gt; 0.</a:t>
            </a:r>
          </a:p>
          <a:p>
            <a:pPr marL="457200" indent="-457200" defTabSz="1328738" eaLnBrk="1" hangingPunct="1">
              <a:lnSpc>
                <a:spcPct val="80000"/>
              </a:lnSpc>
              <a:spcBef>
                <a:spcPct val="50000"/>
              </a:spcBef>
              <a:buFontTx/>
              <a:buAutoNum type="arabicParenBoth"/>
              <a:tabLst>
                <a:tab pos="376238" algn="l"/>
              </a:tabLst>
            </a:pPr>
            <a:r>
              <a:rPr lang="en-US" sz="2000" dirty="0">
                <a:solidFill>
                  <a:schemeClr val="hlink"/>
                </a:solidFill>
              </a:rPr>
              <a:t>If at some time during the labeling method</a:t>
            </a:r>
            <a:br>
              <a:rPr lang="en-US" sz="2000" dirty="0">
                <a:solidFill>
                  <a:schemeClr val="hlink"/>
                </a:solidFill>
              </a:rPr>
            </a:br>
            <a:r>
              <a:rPr lang="en-US" sz="2000" dirty="0" err="1">
                <a:solidFill>
                  <a:schemeClr val="hlink"/>
                </a:solidFill>
                <a:latin typeface="Symbol" pitchFamily="18" charset="2"/>
              </a:rPr>
              <a:t>p</a:t>
            </a:r>
            <a:r>
              <a:rPr lang="en-US" sz="2000" baseline="30000" dirty="0" err="1">
                <a:solidFill>
                  <a:schemeClr val="hlink"/>
                </a:solidFill>
              </a:rPr>
              <a:t>k</a:t>
            </a:r>
            <a:r>
              <a:rPr lang="en-US" sz="2000" dirty="0">
                <a:solidFill>
                  <a:schemeClr val="hlink"/>
                </a:solidFill>
              </a:rPr>
              <a:t>(v) = v for some vertex v and integer k &gt; 0, </a:t>
            </a:r>
            <a:br>
              <a:rPr lang="en-US" sz="2000" dirty="0">
                <a:solidFill>
                  <a:schemeClr val="hlink"/>
                </a:solidFill>
              </a:rPr>
            </a:br>
            <a:r>
              <a:rPr lang="en-US" sz="2000" dirty="0">
                <a:solidFill>
                  <a:schemeClr val="hlink"/>
                </a:solidFill>
              </a:rPr>
              <a:t>then the corresponding </a:t>
            </a:r>
            <a:r>
              <a:rPr lang="en-US" sz="2000" dirty="0">
                <a:solidFill>
                  <a:srgbClr val="CC0000"/>
                </a:solidFill>
              </a:rPr>
              <a:t>cycle</a:t>
            </a:r>
            <a:r>
              <a:rPr lang="en-US" sz="2000" dirty="0">
                <a:solidFill>
                  <a:schemeClr val="hlink"/>
                </a:solidFill>
              </a:rPr>
              <a:t> in G has </a:t>
            </a:r>
            <a:r>
              <a:rPr lang="en-US" sz="2000" dirty="0">
                <a:solidFill>
                  <a:srgbClr val="CC0000"/>
                </a:solidFill>
              </a:rPr>
              <a:t>negative cost</a:t>
            </a:r>
            <a:r>
              <a:rPr lang="en-US" sz="2000" dirty="0">
                <a:solidFill>
                  <a:schemeClr val="hlink"/>
                </a:solidFill>
              </a:rPr>
              <a:t>.</a:t>
            </a:r>
          </a:p>
        </p:txBody>
      </p:sp>
      <p:sp>
        <p:nvSpPr>
          <p:cNvPr id="184339" name="Rectangle 19"/>
          <p:cNvSpPr>
            <a:spLocks noChangeArrowheads="1"/>
          </p:cNvSpPr>
          <p:nvPr/>
        </p:nvSpPr>
        <p:spPr bwMode="auto">
          <a:xfrm>
            <a:off x="76200" y="838200"/>
            <a:ext cx="8763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buFontTx/>
              <a:buNone/>
            </a:pPr>
            <a:r>
              <a:rPr lang="en-US" sz="2400" b="1">
                <a:solidFill>
                  <a:srgbClr val="CC0000"/>
                </a:solidFill>
              </a:rPr>
              <a:t>Define:</a:t>
            </a:r>
            <a:r>
              <a:rPr lang="en-US" sz="2000">
                <a:solidFill>
                  <a:schemeClr val="hlink"/>
                </a:solidFill>
              </a:rPr>
              <a:t>  </a:t>
            </a:r>
            <a:r>
              <a:rPr lang="en-US" sz="2000">
                <a:solidFill>
                  <a:schemeClr val="hlink"/>
                </a:solidFill>
                <a:latin typeface="Symbol" pitchFamily="18" charset="2"/>
              </a:rPr>
              <a:t>p</a:t>
            </a:r>
            <a:r>
              <a:rPr lang="en-US" sz="2000" baseline="30000">
                <a:solidFill>
                  <a:schemeClr val="hlink"/>
                </a:solidFill>
                <a:latin typeface="Symbol" pitchFamily="18" charset="2"/>
              </a:rPr>
              <a:t>0</a:t>
            </a:r>
            <a:r>
              <a:rPr lang="en-US" sz="2000">
                <a:solidFill>
                  <a:schemeClr val="hlink"/>
                </a:solidFill>
              </a:rPr>
              <a:t>(v) = v, </a:t>
            </a:r>
            <a:r>
              <a:rPr lang="en-US" sz="2000">
                <a:solidFill>
                  <a:schemeClr val="hlink"/>
                </a:solidFill>
                <a:latin typeface="Symbol" pitchFamily="18" charset="2"/>
              </a:rPr>
              <a:t>p</a:t>
            </a:r>
            <a:r>
              <a:rPr lang="en-US" sz="2000" baseline="30000">
                <a:solidFill>
                  <a:schemeClr val="hlink"/>
                </a:solidFill>
              </a:rPr>
              <a:t>k+1 </a:t>
            </a:r>
            <a:r>
              <a:rPr lang="en-US" sz="2000">
                <a:solidFill>
                  <a:schemeClr val="hlink"/>
                </a:solidFill>
              </a:rPr>
              <a:t>(v) = </a:t>
            </a:r>
            <a:r>
              <a:rPr lang="en-US" sz="2000">
                <a:solidFill>
                  <a:schemeClr val="hlink"/>
                </a:solidFill>
                <a:latin typeface="Symbol" pitchFamily="18" charset="2"/>
              </a:rPr>
              <a:t>p</a:t>
            </a:r>
            <a:r>
              <a:rPr lang="en-US" sz="2000">
                <a:solidFill>
                  <a:schemeClr val="hlink"/>
                </a:solidFill>
              </a:rPr>
              <a:t>(</a:t>
            </a:r>
            <a:r>
              <a:rPr lang="en-US" sz="2000">
                <a:solidFill>
                  <a:schemeClr val="hlink"/>
                </a:solidFill>
                <a:latin typeface="Symbol" pitchFamily="18" charset="2"/>
              </a:rPr>
              <a:t>p</a:t>
            </a:r>
            <a:r>
              <a:rPr lang="en-US" sz="2000" baseline="30000">
                <a:solidFill>
                  <a:schemeClr val="hlink"/>
                </a:solidFill>
              </a:rPr>
              <a:t>k</a:t>
            </a:r>
            <a:r>
              <a:rPr lang="en-US" sz="2000">
                <a:solidFill>
                  <a:schemeClr val="hlink"/>
                </a:solidFill>
              </a:rPr>
              <a:t>(v)) for any vertex v and any integer k </a:t>
            </a:r>
            <a:r>
              <a:rPr lang="en-US" sz="2000">
                <a:solidFill>
                  <a:schemeClr val="hlink"/>
                </a:solidFill>
                <a:sym typeface="Symbol" pitchFamily="18" charset="2"/>
              </a:rPr>
              <a:t> </a:t>
            </a:r>
            <a:r>
              <a:rPr lang="en-US" sz="2000">
                <a:solidFill>
                  <a:schemeClr val="hlink"/>
                </a:solidFill>
              </a:rPr>
              <a:t>0.</a:t>
            </a:r>
          </a:p>
          <a:p>
            <a:pPr eaLnBrk="1" hangingPunct="1">
              <a:spcBef>
                <a:spcPct val="50000"/>
              </a:spcBef>
              <a:buFontTx/>
              <a:buNone/>
            </a:pPr>
            <a:r>
              <a:rPr lang="en-US" sz="2000">
                <a:solidFill>
                  <a:schemeClr val="hlink"/>
                </a:solidFill>
              </a:rPr>
              <a:t>	   That is,  </a:t>
            </a:r>
            <a:r>
              <a:rPr lang="en-US" sz="2000">
                <a:solidFill>
                  <a:schemeClr val="hlink"/>
                </a:solidFill>
                <a:latin typeface="Symbol" pitchFamily="18" charset="2"/>
              </a:rPr>
              <a:t>p</a:t>
            </a:r>
            <a:r>
              <a:rPr lang="en-US" sz="2000" baseline="30000">
                <a:solidFill>
                  <a:schemeClr val="hlink"/>
                </a:solidFill>
                <a:latin typeface="Symbol" pitchFamily="18" charset="2"/>
              </a:rPr>
              <a:t>0</a:t>
            </a:r>
            <a:r>
              <a:rPr lang="en-US" sz="2000">
                <a:solidFill>
                  <a:schemeClr val="hlink"/>
                </a:solidFill>
              </a:rPr>
              <a:t>(v), </a:t>
            </a:r>
            <a:r>
              <a:rPr lang="en-US" sz="2000">
                <a:solidFill>
                  <a:schemeClr val="hlink"/>
                </a:solidFill>
                <a:latin typeface="Symbol" pitchFamily="18" charset="2"/>
              </a:rPr>
              <a:t>p</a:t>
            </a:r>
            <a:r>
              <a:rPr lang="en-US" sz="2000" baseline="30000">
                <a:solidFill>
                  <a:schemeClr val="hlink"/>
                </a:solidFill>
                <a:latin typeface="Symbol" pitchFamily="18" charset="2"/>
              </a:rPr>
              <a:t>1</a:t>
            </a:r>
            <a:r>
              <a:rPr lang="en-US" sz="2000">
                <a:solidFill>
                  <a:schemeClr val="hlink"/>
                </a:solidFill>
              </a:rPr>
              <a:t>(v), </a:t>
            </a:r>
            <a:r>
              <a:rPr lang="en-US" sz="2000">
                <a:solidFill>
                  <a:schemeClr val="hlink"/>
                </a:solidFill>
                <a:latin typeface="Symbol" pitchFamily="18" charset="2"/>
              </a:rPr>
              <a:t>p</a:t>
            </a:r>
            <a:r>
              <a:rPr lang="en-US" sz="2000" baseline="30000">
                <a:solidFill>
                  <a:schemeClr val="hlink"/>
                </a:solidFill>
                <a:latin typeface="Symbol" pitchFamily="18" charset="2"/>
              </a:rPr>
              <a:t>2</a:t>
            </a:r>
            <a:r>
              <a:rPr lang="en-US" sz="2000">
                <a:solidFill>
                  <a:schemeClr val="hlink"/>
                </a:solidFill>
              </a:rPr>
              <a:t>(v), … are v, parent of v, grand parent of v, …  </a:t>
            </a:r>
          </a:p>
        </p:txBody>
      </p:sp>
      <p:sp>
        <p:nvSpPr>
          <p:cNvPr id="184340" name="Rectangle 20"/>
          <p:cNvSpPr>
            <a:spLocks noChangeArrowheads="1"/>
          </p:cNvSpPr>
          <p:nvPr/>
        </p:nvSpPr>
        <p:spPr bwMode="auto">
          <a:xfrm>
            <a:off x="152400" y="4648200"/>
            <a:ext cx="3438525"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81013" eaLnBrk="1" hangingPunct="1">
              <a:spcBef>
                <a:spcPct val="50000"/>
              </a:spcBef>
              <a:buFontTx/>
              <a:buNone/>
            </a:pPr>
            <a:r>
              <a:rPr lang="en-US" sz="2000" b="1"/>
              <a:t>Proof sketch:  </a:t>
            </a:r>
            <a:br>
              <a:rPr lang="en-US" sz="2000" b="1"/>
            </a:br>
            <a:r>
              <a:rPr lang="en-US" sz="2000"/>
              <a:t>(1)   By ind. on # labeling steps.</a:t>
            </a:r>
          </a:p>
          <a:p>
            <a:pPr defTabSz="481013" eaLnBrk="1" hangingPunct="1">
              <a:spcBef>
                <a:spcPct val="50000"/>
              </a:spcBef>
              <a:buFontTx/>
              <a:buNone/>
            </a:pPr>
            <a:r>
              <a:rPr lang="en-US" sz="2000"/>
              <a:t>(2)   Consider a labeling step</a:t>
            </a:r>
            <a:br>
              <a:rPr lang="en-US" sz="2000"/>
            </a:br>
            <a:r>
              <a:rPr lang="en-US" sz="2000"/>
              <a:t>	that creates such a cycle </a:t>
            </a:r>
            <a:br>
              <a:rPr lang="en-US" sz="2000"/>
            </a:br>
            <a:r>
              <a:rPr lang="en-US" sz="2000"/>
              <a:t> 	of parent pointers:</a:t>
            </a:r>
          </a:p>
        </p:txBody>
      </p:sp>
      <p:grpSp>
        <p:nvGrpSpPr>
          <p:cNvPr id="184360" name="Group 40"/>
          <p:cNvGrpSpPr>
            <a:grpSpLocks/>
          </p:cNvGrpSpPr>
          <p:nvPr/>
        </p:nvGrpSpPr>
        <p:grpSpPr bwMode="auto">
          <a:xfrm>
            <a:off x="3657600" y="4876800"/>
            <a:ext cx="5340350" cy="1768475"/>
            <a:chOff x="2064" y="3072"/>
            <a:chExt cx="3364" cy="1114"/>
          </a:xfrm>
        </p:grpSpPr>
        <p:sp>
          <p:nvSpPr>
            <p:cNvPr id="104455" name="Oval 22"/>
            <p:cNvSpPr>
              <a:spLocks noChangeArrowheads="1"/>
            </p:cNvSpPr>
            <p:nvPr/>
          </p:nvSpPr>
          <p:spPr bwMode="auto">
            <a:xfrm>
              <a:off x="2112" y="3696"/>
              <a:ext cx="96" cy="96"/>
            </a:xfrm>
            <a:prstGeom prst="ellipse">
              <a:avLst/>
            </a:prstGeom>
            <a:solidFill>
              <a:schemeClr val="accent3">
                <a:lumMod val="6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4456" name="Oval 23"/>
            <p:cNvSpPr>
              <a:spLocks noChangeArrowheads="1"/>
            </p:cNvSpPr>
            <p:nvPr/>
          </p:nvSpPr>
          <p:spPr bwMode="auto">
            <a:xfrm>
              <a:off x="5232" y="3600"/>
              <a:ext cx="96" cy="96"/>
            </a:xfrm>
            <a:prstGeom prst="ellipse">
              <a:avLst/>
            </a:prstGeom>
            <a:solidFill>
              <a:schemeClr val="accent3">
                <a:lumMod val="6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4457" name="Oval 24"/>
            <p:cNvSpPr>
              <a:spLocks noChangeArrowheads="1"/>
            </p:cNvSpPr>
            <p:nvPr/>
          </p:nvSpPr>
          <p:spPr bwMode="auto">
            <a:xfrm>
              <a:off x="3072" y="3648"/>
              <a:ext cx="96" cy="96"/>
            </a:xfrm>
            <a:prstGeom prst="ellipse">
              <a:avLst/>
            </a:prstGeom>
            <a:solidFill>
              <a:schemeClr val="accent3">
                <a:lumMod val="6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4458" name="Text Box 25"/>
            <p:cNvSpPr txBox="1">
              <a:spLocks noChangeArrowheads="1"/>
            </p:cNvSpPr>
            <p:nvPr/>
          </p:nvSpPr>
          <p:spPr bwMode="auto">
            <a:xfrm>
              <a:off x="2064" y="3744"/>
              <a:ext cx="1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t>s</a:t>
              </a:r>
            </a:p>
          </p:txBody>
        </p:sp>
        <p:sp>
          <p:nvSpPr>
            <p:cNvPr id="104459" name="Rectangle 27"/>
            <p:cNvSpPr>
              <a:spLocks noChangeArrowheads="1"/>
            </p:cNvSpPr>
            <p:nvPr/>
          </p:nvSpPr>
          <p:spPr bwMode="auto">
            <a:xfrm>
              <a:off x="2976" y="374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v</a:t>
              </a:r>
            </a:p>
          </p:txBody>
        </p:sp>
        <p:sp>
          <p:nvSpPr>
            <p:cNvPr id="104460" name="Rectangle 28"/>
            <p:cNvSpPr>
              <a:spLocks noChangeArrowheads="1"/>
            </p:cNvSpPr>
            <p:nvPr/>
          </p:nvSpPr>
          <p:spPr bwMode="auto">
            <a:xfrm>
              <a:off x="5184" y="369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u</a:t>
              </a:r>
            </a:p>
          </p:txBody>
        </p:sp>
        <p:sp>
          <p:nvSpPr>
            <p:cNvPr id="104461" name="Rectangle 29"/>
            <p:cNvSpPr>
              <a:spLocks noChangeArrowheads="1"/>
            </p:cNvSpPr>
            <p:nvPr/>
          </p:nvSpPr>
          <p:spPr bwMode="auto">
            <a:xfrm>
              <a:off x="4896" y="3264"/>
              <a:ext cx="5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dist(u)</a:t>
              </a:r>
            </a:p>
          </p:txBody>
        </p:sp>
        <p:sp>
          <p:nvSpPr>
            <p:cNvPr id="104462" name="Rectangle 30"/>
            <p:cNvSpPr>
              <a:spLocks noChangeArrowheads="1"/>
            </p:cNvSpPr>
            <p:nvPr/>
          </p:nvSpPr>
          <p:spPr bwMode="auto">
            <a:xfrm>
              <a:off x="4032" y="3936"/>
              <a:ext cx="53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w(u,v)</a:t>
              </a:r>
            </a:p>
          </p:txBody>
        </p:sp>
        <p:sp>
          <p:nvSpPr>
            <p:cNvPr id="104463" name="Freeform 34"/>
            <p:cNvSpPr>
              <a:spLocks/>
            </p:cNvSpPr>
            <p:nvPr/>
          </p:nvSpPr>
          <p:spPr bwMode="auto">
            <a:xfrm>
              <a:off x="2208" y="3671"/>
              <a:ext cx="864" cy="101"/>
            </a:xfrm>
            <a:custGeom>
              <a:avLst/>
              <a:gdLst>
                <a:gd name="T0" fmla="*/ 0 w 864"/>
                <a:gd name="T1" fmla="*/ 73 h 101"/>
                <a:gd name="T2" fmla="*/ 103 w 864"/>
                <a:gd name="T3" fmla="*/ 75 h 101"/>
                <a:gd name="T4" fmla="*/ 195 w 864"/>
                <a:gd name="T5" fmla="*/ 22 h 101"/>
                <a:gd name="T6" fmla="*/ 314 w 864"/>
                <a:gd name="T7" fmla="*/ 101 h 101"/>
                <a:gd name="T8" fmla="*/ 434 w 864"/>
                <a:gd name="T9" fmla="*/ 22 h 101"/>
                <a:gd name="T10" fmla="*/ 546 w 864"/>
                <a:gd name="T11" fmla="*/ 88 h 101"/>
                <a:gd name="T12" fmla="*/ 632 w 864"/>
                <a:gd name="T13" fmla="*/ 8 h 101"/>
                <a:gd name="T14" fmla="*/ 725 w 864"/>
                <a:gd name="T15" fmla="*/ 42 h 101"/>
                <a:gd name="T16" fmla="*/ 864 w 864"/>
                <a:gd name="T17" fmla="*/ 25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64" h="101">
                  <a:moveTo>
                    <a:pt x="0" y="73"/>
                  </a:moveTo>
                  <a:cubicBezTo>
                    <a:pt x="17" y="73"/>
                    <a:pt x="71" y="83"/>
                    <a:pt x="103" y="75"/>
                  </a:cubicBezTo>
                  <a:cubicBezTo>
                    <a:pt x="135" y="67"/>
                    <a:pt x="160" y="18"/>
                    <a:pt x="195" y="22"/>
                  </a:cubicBezTo>
                  <a:cubicBezTo>
                    <a:pt x="230" y="26"/>
                    <a:pt x="274" y="101"/>
                    <a:pt x="314" y="101"/>
                  </a:cubicBezTo>
                  <a:cubicBezTo>
                    <a:pt x="354" y="101"/>
                    <a:pt x="395" y="24"/>
                    <a:pt x="434" y="22"/>
                  </a:cubicBezTo>
                  <a:cubicBezTo>
                    <a:pt x="473" y="20"/>
                    <a:pt x="513" y="90"/>
                    <a:pt x="546" y="88"/>
                  </a:cubicBezTo>
                  <a:cubicBezTo>
                    <a:pt x="579" y="86"/>
                    <a:pt x="602" y="16"/>
                    <a:pt x="632" y="8"/>
                  </a:cubicBezTo>
                  <a:cubicBezTo>
                    <a:pt x="662" y="0"/>
                    <a:pt x="686" y="39"/>
                    <a:pt x="725" y="42"/>
                  </a:cubicBezTo>
                  <a:cubicBezTo>
                    <a:pt x="764" y="45"/>
                    <a:pt x="835" y="29"/>
                    <a:pt x="864" y="25"/>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4464" name="Freeform 35"/>
            <p:cNvSpPr>
              <a:spLocks/>
            </p:cNvSpPr>
            <p:nvPr/>
          </p:nvSpPr>
          <p:spPr bwMode="auto">
            <a:xfrm>
              <a:off x="3168" y="3571"/>
              <a:ext cx="2064" cy="189"/>
            </a:xfrm>
            <a:custGeom>
              <a:avLst/>
              <a:gdLst>
                <a:gd name="T0" fmla="*/ 0 w 2064"/>
                <a:gd name="T1" fmla="*/ 133 h 189"/>
                <a:gd name="T2" fmla="*/ 229 w 2064"/>
                <a:gd name="T3" fmla="*/ 133 h 189"/>
                <a:gd name="T4" fmla="*/ 473 w 2064"/>
                <a:gd name="T5" fmla="*/ 55 h 189"/>
                <a:gd name="T6" fmla="*/ 758 w 2064"/>
                <a:gd name="T7" fmla="*/ 188 h 189"/>
                <a:gd name="T8" fmla="*/ 1036 w 2064"/>
                <a:gd name="T9" fmla="*/ 49 h 189"/>
                <a:gd name="T10" fmla="*/ 1334 w 2064"/>
                <a:gd name="T11" fmla="*/ 175 h 189"/>
                <a:gd name="T12" fmla="*/ 1612 w 2064"/>
                <a:gd name="T13" fmla="*/ 9 h 189"/>
                <a:gd name="T14" fmla="*/ 1850 w 2064"/>
                <a:gd name="T15" fmla="*/ 122 h 189"/>
                <a:gd name="T16" fmla="*/ 2064 w 2064"/>
                <a:gd name="T17" fmla="*/ 85 h 1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64" h="189">
                  <a:moveTo>
                    <a:pt x="0" y="133"/>
                  </a:moveTo>
                  <a:cubicBezTo>
                    <a:pt x="67" y="137"/>
                    <a:pt x="150" y="146"/>
                    <a:pt x="229" y="133"/>
                  </a:cubicBezTo>
                  <a:cubicBezTo>
                    <a:pt x="308" y="120"/>
                    <a:pt x="385" y="46"/>
                    <a:pt x="473" y="55"/>
                  </a:cubicBezTo>
                  <a:cubicBezTo>
                    <a:pt x="561" y="64"/>
                    <a:pt x="664" y="189"/>
                    <a:pt x="758" y="188"/>
                  </a:cubicBezTo>
                  <a:cubicBezTo>
                    <a:pt x="852" y="187"/>
                    <a:pt x="940" y="51"/>
                    <a:pt x="1036" y="49"/>
                  </a:cubicBezTo>
                  <a:cubicBezTo>
                    <a:pt x="1132" y="47"/>
                    <a:pt x="1238" y="182"/>
                    <a:pt x="1334" y="175"/>
                  </a:cubicBezTo>
                  <a:cubicBezTo>
                    <a:pt x="1430" y="168"/>
                    <a:pt x="1526" y="18"/>
                    <a:pt x="1612" y="9"/>
                  </a:cubicBezTo>
                  <a:cubicBezTo>
                    <a:pt x="1698" y="0"/>
                    <a:pt x="1775" y="109"/>
                    <a:pt x="1850" y="122"/>
                  </a:cubicBezTo>
                  <a:cubicBezTo>
                    <a:pt x="1925" y="135"/>
                    <a:pt x="2020" y="93"/>
                    <a:pt x="2064" y="85"/>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4465" name="Freeform 36"/>
            <p:cNvSpPr>
              <a:spLocks/>
            </p:cNvSpPr>
            <p:nvPr/>
          </p:nvSpPr>
          <p:spPr bwMode="auto">
            <a:xfrm>
              <a:off x="3151" y="3693"/>
              <a:ext cx="2112" cy="279"/>
            </a:xfrm>
            <a:custGeom>
              <a:avLst/>
              <a:gdLst>
                <a:gd name="T0" fmla="*/ 0 w 2112"/>
                <a:gd name="T1" fmla="*/ 46 h 279"/>
                <a:gd name="T2" fmla="*/ 523 w 2112"/>
                <a:gd name="T3" fmla="*/ 251 h 279"/>
                <a:gd name="T4" fmla="*/ 1593 w 2112"/>
                <a:gd name="T5" fmla="*/ 215 h 279"/>
                <a:gd name="T6" fmla="*/ 2112 w 2112"/>
                <a:gd name="T7" fmla="*/ 0 h 2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2" h="279">
                  <a:moveTo>
                    <a:pt x="0" y="46"/>
                  </a:moveTo>
                  <a:cubicBezTo>
                    <a:pt x="87" y="80"/>
                    <a:pt x="258" y="223"/>
                    <a:pt x="523" y="251"/>
                  </a:cubicBezTo>
                  <a:cubicBezTo>
                    <a:pt x="788" y="279"/>
                    <a:pt x="1328" y="257"/>
                    <a:pt x="1593" y="215"/>
                  </a:cubicBezTo>
                  <a:cubicBezTo>
                    <a:pt x="1858" y="173"/>
                    <a:pt x="2004" y="45"/>
                    <a:pt x="2112" y="0"/>
                  </a:cubicBezTo>
                </a:path>
              </a:pathLst>
            </a:custGeom>
            <a:noFill/>
            <a:ln w="1905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4466" name="Rectangle 37"/>
            <p:cNvSpPr>
              <a:spLocks noChangeArrowheads="1"/>
            </p:cNvSpPr>
            <p:nvPr/>
          </p:nvSpPr>
          <p:spPr bwMode="auto">
            <a:xfrm>
              <a:off x="2592" y="3408"/>
              <a:ext cx="5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dist(v)</a:t>
              </a:r>
            </a:p>
          </p:txBody>
        </p:sp>
        <p:sp>
          <p:nvSpPr>
            <p:cNvPr id="104467" name="Rectangle 38"/>
            <p:cNvSpPr>
              <a:spLocks noChangeArrowheads="1"/>
            </p:cNvSpPr>
            <p:nvPr/>
          </p:nvSpPr>
          <p:spPr bwMode="auto">
            <a:xfrm>
              <a:off x="3024" y="3072"/>
              <a:ext cx="177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CC0000"/>
                  </a:solidFill>
                  <a:sym typeface="Symbol" pitchFamily="18" charset="2"/>
                </a:rPr>
                <a:t>dist(u) – dist(v) + w(u,v) &lt; 0</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101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84322"/>
                                        </p:tgtEl>
                                        <p:attrNameLst>
                                          <p:attrName>style.visibility</p:attrName>
                                        </p:attrNameLst>
                                      </p:cBhvr>
                                      <p:to>
                                        <p:strVal val="visible"/>
                                      </p:to>
                                    </p:set>
                                    <p:anim calcmode="lin" valueType="num">
                                      <p:cBhvr>
                                        <p:cTn id="7" dur="500" fill="hold"/>
                                        <p:tgtEl>
                                          <p:spTgt spid="184322"/>
                                        </p:tgtEl>
                                        <p:attrNameLst>
                                          <p:attrName>ppt_w</p:attrName>
                                        </p:attrNameLst>
                                      </p:cBhvr>
                                      <p:tavLst>
                                        <p:tav tm="0">
                                          <p:val>
                                            <p:fltVal val="0"/>
                                          </p:val>
                                        </p:tav>
                                        <p:tav tm="100000">
                                          <p:val>
                                            <p:strVal val="#ppt_w"/>
                                          </p:val>
                                        </p:tav>
                                      </p:tavLst>
                                    </p:anim>
                                    <p:anim calcmode="lin" valueType="num">
                                      <p:cBhvr>
                                        <p:cTn id="8" dur="500" fill="hold"/>
                                        <p:tgtEl>
                                          <p:spTgt spid="18432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84339">
                                            <p:txEl>
                                              <p:pRg st="0" end="0"/>
                                            </p:txEl>
                                          </p:spTgt>
                                        </p:tgtEl>
                                        <p:attrNameLst>
                                          <p:attrName>style.visibility</p:attrName>
                                        </p:attrNameLst>
                                      </p:cBhvr>
                                      <p:to>
                                        <p:strVal val="visible"/>
                                      </p:to>
                                    </p:set>
                                    <p:animEffect transition="in" filter="wipe(left)">
                                      <p:cBhvr>
                                        <p:cTn id="13" dur="500"/>
                                        <p:tgtEl>
                                          <p:spTgt spid="184339">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84339">
                                            <p:txEl>
                                              <p:pRg st="1" end="1"/>
                                            </p:txEl>
                                          </p:spTgt>
                                        </p:tgtEl>
                                        <p:attrNameLst>
                                          <p:attrName>style.visibility</p:attrName>
                                        </p:attrNameLst>
                                      </p:cBhvr>
                                      <p:to>
                                        <p:strVal val="visible"/>
                                      </p:to>
                                    </p:set>
                                    <p:animEffect transition="in" filter="wipe(left)">
                                      <p:cBhvr>
                                        <p:cTn id="18" dur="500"/>
                                        <p:tgtEl>
                                          <p:spTgt spid="184339">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84336">
                                            <p:bg/>
                                          </p:spTgt>
                                        </p:tgtEl>
                                        <p:attrNameLst>
                                          <p:attrName>style.visibility</p:attrName>
                                        </p:attrNameLst>
                                      </p:cBhvr>
                                      <p:to>
                                        <p:strVal val="visible"/>
                                      </p:to>
                                    </p:set>
                                    <p:animEffect transition="in" filter="wipe(left)">
                                      <p:cBhvr>
                                        <p:cTn id="23" dur="500"/>
                                        <p:tgtEl>
                                          <p:spTgt spid="184336">
                                            <p:bg/>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84336">
                                            <p:txEl>
                                              <p:pRg st="0" end="0"/>
                                            </p:txEl>
                                          </p:spTgt>
                                        </p:tgtEl>
                                        <p:attrNameLst>
                                          <p:attrName>style.visibility</p:attrName>
                                        </p:attrNameLst>
                                      </p:cBhvr>
                                      <p:to>
                                        <p:strVal val="visible"/>
                                      </p:to>
                                    </p:set>
                                    <p:animEffect transition="in" filter="wipe(left)">
                                      <p:cBhvr>
                                        <p:cTn id="28" dur="500"/>
                                        <p:tgtEl>
                                          <p:spTgt spid="184336">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84336">
                                            <p:txEl>
                                              <p:pRg st="1" end="1"/>
                                            </p:txEl>
                                          </p:spTgt>
                                        </p:tgtEl>
                                        <p:attrNameLst>
                                          <p:attrName>style.visibility</p:attrName>
                                        </p:attrNameLst>
                                      </p:cBhvr>
                                      <p:to>
                                        <p:strVal val="visible"/>
                                      </p:to>
                                    </p:set>
                                    <p:animEffect transition="in" filter="wipe(left)">
                                      <p:cBhvr>
                                        <p:cTn id="33" dur="500"/>
                                        <p:tgtEl>
                                          <p:spTgt spid="184336">
                                            <p:txEl>
                                              <p:pRg st="1" end="1"/>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84336">
                                            <p:txEl>
                                              <p:pRg st="2" end="2"/>
                                            </p:txEl>
                                          </p:spTgt>
                                        </p:tgtEl>
                                        <p:attrNameLst>
                                          <p:attrName>style.visibility</p:attrName>
                                        </p:attrNameLst>
                                      </p:cBhvr>
                                      <p:to>
                                        <p:strVal val="visible"/>
                                      </p:to>
                                    </p:set>
                                    <p:animEffect transition="in" filter="wipe(left)">
                                      <p:cBhvr>
                                        <p:cTn id="38" dur="500"/>
                                        <p:tgtEl>
                                          <p:spTgt spid="184336">
                                            <p:txEl>
                                              <p:pRg st="2" end="2"/>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184340">
                                            <p:txEl>
                                              <p:pRg st="0" end="0"/>
                                            </p:txEl>
                                          </p:spTgt>
                                        </p:tgtEl>
                                        <p:attrNameLst>
                                          <p:attrName>style.visibility</p:attrName>
                                        </p:attrNameLst>
                                      </p:cBhvr>
                                      <p:to>
                                        <p:strVal val="visible"/>
                                      </p:to>
                                    </p:set>
                                    <p:animEffect transition="in" filter="wipe(up)">
                                      <p:cBhvr>
                                        <p:cTn id="43" dur="500"/>
                                        <p:tgtEl>
                                          <p:spTgt spid="184340">
                                            <p:txEl>
                                              <p:pRg st="0" end="0"/>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184340">
                                            <p:txEl>
                                              <p:pRg st="1" end="1"/>
                                            </p:txEl>
                                          </p:spTgt>
                                        </p:tgtEl>
                                        <p:attrNameLst>
                                          <p:attrName>style.visibility</p:attrName>
                                        </p:attrNameLst>
                                      </p:cBhvr>
                                      <p:to>
                                        <p:strVal val="visible"/>
                                      </p:to>
                                    </p:set>
                                    <p:animEffect transition="in" filter="wipe(up)">
                                      <p:cBhvr>
                                        <p:cTn id="48" dur="500"/>
                                        <p:tgtEl>
                                          <p:spTgt spid="184340">
                                            <p:txEl>
                                              <p:pRg st="1" end="1"/>
                                            </p:txEl>
                                          </p:spTgt>
                                        </p:tgtEl>
                                      </p:cBhvr>
                                    </p:animEffect>
                                  </p:childTnLst>
                                </p:cTn>
                              </p:par>
                            </p:childTnLst>
                          </p:cTn>
                        </p:par>
                        <p:par>
                          <p:cTn id="49" fill="hold" nodeType="afterGroup">
                            <p:stCondLst>
                              <p:cond delay="500"/>
                            </p:stCondLst>
                            <p:childTnLst>
                              <p:par>
                                <p:cTn id="50" presetID="22" presetClass="entr" presetSubtype="8" fill="hold" nodeType="afterEffect">
                                  <p:stCondLst>
                                    <p:cond delay="1000"/>
                                  </p:stCondLst>
                                  <p:childTnLst>
                                    <p:set>
                                      <p:cBhvr>
                                        <p:cTn id="51" dur="1" fill="hold">
                                          <p:stCondLst>
                                            <p:cond delay="0"/>
                                          </p:stCondLst>
                                        </p:cTn>
                                        <p:tgtEl>
                                          <p:spTgt spid="184360"/>
                                        </p:tgtEl>
                                        <p:attrNameLst>
                                          <p:attrName>style.visibility</p:attrName>
                                        </p:attrNameLst>
                                      </p:cBhvr>
                                      <p:to>
                                        <p:strVal val="visible"/>
                                      </p:to>
                                    </p:set>
                                    <p:animEffect transition="in" filter="wipe(left)">
                                      <p:cBhvr>
                                        <p:cTn id="52" dur="500"/>
                                        <p:tgtEl>
                                          <p:spTgt spid="184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2" grpId="0" animBg="1" autoUpdateAnimBg="0"/>
      <p:bldP spid="184336" grpId="0" build="p" animBg="1" autoUpdateAnimBg="0"/>
      <p:bldP spid="184339" grpId="0" build="p" autoUpdateAnimBg="0"/>
      <p:bldP spid="184340" grpId="0" build="p"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chemeClr val="tx1"/>
                </a:solidFill>
                <a:latin typeface="Arial Rounded MT Bold" pitchFamily="34" charset="0"/>
              </a:rPr>
              <a:t>Termination?</a:t>
            </a:r>
          </a:p>
        </p:txBody>
      </p:sp>
      <p:sp>
        <p:nvSpPr>
          <p:cNvPr id="185347" name="Rectangle 3" descr="Recycled paper"/>
          <p:cNvSpPr>
            <a:spLocks noChangeArrowheads="1"/>
          </p:cNvSpPr>
          <p:nvPr/>
        </p:nvSpPr>
        <p:spPr bwMode="auto">
          <a:xfrm>
            <a:off x="152400" y="990600"/>
            <a:ext cx="8839200" cy="1044575"/>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376238" indent="-376238" defTabSz="1328738" eaLnBrk="1" hangingPunct="1">
              <a:lnSpc>
                <a:spcPct val="80000"/>
              </a:lnSpc>
              <a:spcBef>
                <a:spcPct val="50000"/>
              </a:spcBef>
              <a:buFontTx/>
              <a:buNone/>
              <a:tabLst>
                <a:tab pos="376238" algn="l"/>
              </a:tabLst>
            </a:pPr>
            <a:r>
              <a:rPr lang="en-US" sz="2400" b="1" dirty="0">
                <a:solidFill>
                  <a:srgbClr val="CC0000"/>
                </a:solidFill>
              </a:rPr>
              <a:t>FACT 8:  </a:t>
            </a:r>
          </a:p>
          <a:p>
            <a:pPr marL="376238" indent="-376238" defTabSz="1328738" eaLnBrk="1" hangingPunct="1">
              <a:lnSpc>
                <a:spcPct val="80000"/>
              </a:lnSpc>
              <a:spcBef>
                <a:spcPct val="50000"/>
              </a:spcBef>
              <a:buFontTx/>
              <a:buNone/>
              <a:tabLst>
                <a:tab pos="376238" algn="l"/>
              </a:tabLst>
            </a:pPr>
            <a:r>
              <a:rPr lang="en-US" sz="2000" dirty="0">
                <a:solidFill>
                  <a:schemeClr val="hlink"/>
                </a:solidFill>
              </a:rPr>
              <a:t>	If and when Ford’s labeling method terminates, the parent pointers define</a:t>
            </a:r>
            <a:br>
              <a:rPr lang="en-US" sz="2000" dirty="0">
                <a:solidFill>
                  <a:schemeClr val="hlink"/>
                </a:solidFill>
              </a:rPr>
            </a:br>
            <a:r>
              <a:rPr lang="en-US" sz="2000" dirty="0">
                <a:solidFill>
                  <a:schemeClr val="hlink"/>
                </a:solidFill>
              </a:rPr>
              <a:t>a shortest path tree from the source s to all vertices reachable from s.</a:t>
            </a:r>
          </a:p>
        </p:txBody>
      </p:sp>
      <p:sp>
        <p:nvSpPr>
          <p:cNvPr id="185364" name="Text Box 20"/>
          <p:cNvSpPr txBox="1">
            <a:spLocks noChangeArrowheads="1"/>
          </p:cNvSpPr>
          <p:nvPr/>
        </p:nvSpPr>
        <p:spPr bwMode="auto">
          <a:xfrm>
            <a:off x="258762" y="2514600"/>
            <a:ext cx="862647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2575" indent="-282575">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Char char="§"/>
            </a:pPr>
            <a:r>
              <a:rPr lang="en-US" sz="2000" dirty="0">
                <a:solidFill>
                  <a:schemeClr val="tx2"/>
                </a:solidFill>
              </a:rPr>
              <a:t>If there is a negative cycle reachable from s, the method never terminates.</a:t>
            </a:r>
          </a:p>
          <a:p>
            <a:pPr eaLnBrk="1" hangingPunct="1">
              <a:spcBef>
                <a:spcPct val="50000"/>
              </a:spcBef>
              <a:buFont typeface="Wingdings" pitchFamily="2" charset="2"/>
              <a:buChar char="§"/>
            </a:pPr>
            <a:r>
              <a:rPr lang="en-US" sz="2000" dirty="0">
                <a:solidFill>
                  <a:schemeClr val="tx2"/>
                </a:solidFill>
              </a:rPr>
              <a:t>Even if it does terminate, it may require  exponentially many labeling steps </a:t>
            </a:r>
            <a:r>
              <a:rPr lang="en-US" sz="2000" dirty="0" smtClean="0">
                <a:solidFill>
                  <a:schemeClr val="tx2"/>
                </a:solidFill>
              </a:rPr>
              <a:t>  </a:t>
            </a:r>
            <a:br>
              <a:rPr lang="en-US" sz="2000" dirty="0" smtClean="0">
                <a:solidFill>
                  <a:schemeClr val="tx2"/>
                </a:solidFill>
              </a:rPr>
            </a:br>
            <a:r>
              <a:rPr lang="en-US" sz="2000" dirty="0" smtClean="0">
                <a:solidFill>
                  <a:schemeClr val="tx2"/>
                </a:solidFill>
              </a:rPr>
              <a:t>(</a:t>
            </a:r>
            <a:r>
              <a:rPr lang="en-US" sz="2000" dirty="0">
                <a:solidFill>
                  <a:schemeClr val="tx2"/>
                </a:solidFill>
              </a:rPr>
              <a:t>an upper bound of 2</a:t>
            </a:r>
            <a:r>
              <a:rPr lang="en-US" sz="2000" baseline="30000" dirty="0">
                <a:solidFill>
                  <a:schemeClr val="tx2"/>
                </a:solidFill>
              </a:rPr>
              <a:t>|E|</a:t>
            </a:r>
            <a:r>
              <a:rPr lang="en-US" sz="2000" dirty="0">
                <a:solidFill>
                  <a:schemeClr val="tx2"/>
                </a:solidFill>
              </a:rPr>
              <a:t> – 1 steps can be shown). </a:t>
            </a:r>
          </a:p>
          <a:p>
            <a:pPr eaLnBrk="1" hangingPunct="1">
              <a:spcBef>
                <a:spcPct val="50000"/>
              </a:spcBef>
              <a:buFont typeface="Wingdings" pitchFamily="2" charset="2"/>
              <a:buChar char="§"/>
            </a:pPr>
            <a:r>
              <a:rPr lang="en-US" sz="2000" dirty="0">
                <a:solidFill>
                  <a:schemeClr val="tx2"/>
                </a:solidFill>
              </a:rPr>
              <a:t>Instead of verifying that the general labeling method terminates, </a:t>
            </a:r>
            <a:br>
              <a:rPr lang="en-US" sz="2000" dirty="0">
                <a:solidFill>
                  <a:schemeClr val="tx2"/>
                </a:solidFill>
              </a:rPr>
            </a:br>
            <a:r>
              <a:rPr lang="en-US" sz="2000" dirty="0">
                <a:solidFill>
                  <a:schemeClr val="tx2"/>
                </a:solidFill>
              </a:rPr>
              <a:t>we shall study efficient refinements of it.</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102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85346"/>
                                        </p:tgtEl>
                                        <p:attrNameLst>
                                          <p:attrName>style.visibility</p:attrName>
                                        </p:attrNameLst>
                                      </p:cBhvr>
                                      <p:to>
                                        <p:strVal val="visible"/>
                                      </p:to>
                                    </p:set>
                                    <p:anim calcmode="lin" valueType="num">
                                      <p:cBhvr>
                                        <p:cTn id="7" dur="500" fill="hold"/>
                                        <p:tgtEl>
                                          <p:spTgt spid="185346"/>
                                        </p:tgtEl>
                                        <p:attrNameLst>
                                          <p:attrName>ppt_w</p:attrName>
                                        </p:attrNameLst>
                                      </p:cBhvr>
                                      <p:tavLst>
                                        <p:tav tm="0">
                                          <p:val>
                                            <p:fltVal val="0"/>
                                          </p:val>
                                        </p:tav>
                                        <p:tav tm="100000">
                                          <p:val>
                                            <p:strVal val="#ppt_w"/>
                                          </p:val>
                                        </p:tav>
                                      </p:tavLst>
                                    </p:anim>
                                    <p:anim calcmode="lin" valueType="num">
                                      <p:cBhvr>
                                        <p:cTn id="8" dur="500" fill="hold"/>
                                        <p:tgtEl>
                                          <p:spTgt spid="18534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85347"/>
                                        </p:tgtEl>
                                        <p:attrNameLst>
                                          <p:attrName>style.visibility</p:attrName>
                                        </p:attrNameLst>
                                      </p:cBhvr>
                                      <p:to>
                                        <p:strVal val="visible"/>
                                      </p:to>
                                    </p:set>
                                    <p:animEffect transition="in" filter="wipe(left)">
                                      <p:cBhvr>
                                        <p:cTn id="13" dur="500"/>
                                        <p:tgtEl>
                                          <p:spTgt spid="18534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85364">
                                            <p:txEl>
                                              <p:pRg st="0" end="0"/>
                                            </p:txEl>
                                          </p:spTgt>
                                        </p:tgtEl>
                                        <p:attrNameLst>
                                          <p:attrName>style.visibility</p:attrName>
                                        </p:attrNameLst>
                                      </p:cBhvr>
                                      <p:to>
                                        <p:strVal val="visible"/>
                                      </p:to>
                                    </p:set>
                                    <p:animEffect transition="in" filter="wipe(up)">
                                      <p:cBhvr>
                                        <p:cTn id="18" dur="500"/>
                                        <p:tgtEl>
                                          <p:spTgt spid="185364">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85364">
                                            <p:txEl>
                                              <p:pRg st="1" end="1"/>
                                            </p:txEl>
                                          </p:spTgt>
                                        </p:tgtEl>
                                        <p:attrNameLst>
                                          <p:attrName>style.visibility</p:attrName>
                                        </p:attrNameLst>
                                      </p:cBhvr>
                                      <p:to>
                                        <p:strVal val="visible"/>
                                      </p:to>
                                    </p:set>
                                    <p:animEffect transition="in" filter="wipe(up)">
                                      <p:cBhvr>
                                        <p:cTn id="23" dur="500"/>
                                        <p:tgtEl>
                                          <p:spTgt spid="185364">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85364">
                                            <p:txEl>
                                              <p:pRg st="2" end="2"/>
                                            </p:txEl>
                                          </p:spTgt>
                                        </p:tgtEl>
                                        <p:attrNameLst>
                                          <p:attrName>style.visibility</p:attrName>
                                        </p:attrNameLst>
                                      </p:cBhvr>
                                      <p:to>
                                        <p:strVal val="visible"/>
                                      </p:to>
                                    </p:set>
                                    <p:animEffect transition="in" filter="wipe(up)">
                                      <p:cBhvr>
                                        <p:cTn id="28" dur="500"/>
                                        <p:tgtEl>
                                          <p:spTgt spid="18536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6" grpId="0" animBg="1" autoUpdateAnimBg="0"/>
      <p:bldP spid="185347" grpId="0" animBg="1" autoUpdateAnimBg="0"/>
      <p:bldP spid="185364" grpId="0" build="p"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chemeClr val="tx1"/>
                </a:solidFill>
                <a:latin typeface="Arial Rounded MT Bold" pitchFamily="34" charset="0"/>
              </a:rPr>
              <a:t>Labeling &amp; Scanning Method</a:t>
            </a:r>
          </a:p>
        </p:txBody>
      </p:sp>
      <p:sp>
        <p:nvSpPr>
          <p:cNvPr id="186372" name="Text Box 4"/>
          <p:cNvSpPr txBox="1">
            <a:spLocks noChangeArrowheads="1"/>
          </p:cNvSpPr>
          <p:nvPr/>
        </p:nvSpPr>
        <p:spPr bwMode="auto">
          <a:xfrm>
            <a:off x="152400" y="838200"/>
            <a:ext cx="8839200"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2575" indent="-282575">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Char char="§"/>
            </a:pPr>
            <a:r>
              <a:rPr lang="en-US" sz="2000">
                <a:solidFill>
                  <a:schemeClr val="tx2"/>
                </a:solidFill>
              </a:rPr>
              <a:t>This first refinement eliminates unnecessary edge examinations.</a:t>
            </a:r>
          </a:p>
          <a:p>
            <a:pPr eaLnBrk="1" hangingPunct="1">
              <a:spcBef>
                <a:spcPct val="50000"/>
              </a:spcBef>
              <a:buFont typeface="Wingdings" pitchFamily="2" charset="2"/>
              <a:buChar char="§"/>
            </a:pPr>
            <a:r>
              <a:rPr lang="en-US" sz="2000">
                <a:solidFill>
                  <a:schemeClr val="tx2"/>
                </a:solidFill>
              </a:rPr>
              <a:t>Maintains a partition of vertices into 3 states: </a:t>
            </a:r>
            <a:r>
              <a:rPr lang="en-US" sz="2000" b="1">
                <a:solidFill>
                  <a:srgbClr val="CC0000"/>
                </a:solidFill>
              </a:rPr>
              <a:t>unlabeled,  labeled,  scanned</a:t>
            </a:r>
            <a:r>
              <a:rPr lang="en-US" sz="2000">
                <a:solidFill>
                  <a:schemeClr val="tx2"/>
                </a:solidFill>
              </a:rPr>
              <a:t>.</a:t>
            </a:r>
          </a:p>
          <a:p>
            <a:pPr eaLnBrk="1" hangingPunct="1">
              <a:spcBef>
                <a:spcPct val="50000"/>
              </a:spcBef>
              <a:buFont typeface="Wingdings" pitchFamily="2" charset="2"/>
              <a:buChar char="§"/>
            </a:pPr>
            <a:r>
              <a:rPr lang="en-US" sz="2000">
                <a:solidFill>
                  <a:schemeClr val="tx2"/>
                </a:solidFill>
              </a:rPr>
              <a:t>The labeled or scanned vertices are exactly those with finite dist values.</a:t>
            </a:r>
          </a:p>
          <a:p>
            <a:pPr eaLnBrk="1" hangingPunct="1">
              <a:spcBef>
                <a:spcPct val="50000"/>
              </a:spcBef>
              <a:buFont typeface="Wingdings" pitchFamily="2" charset="2"/>
              <a:buChar char="§"/>
            </a:pPr>
            <a:r>
              <a:rPr lang="en-US" sz="2000">
                <a:solidFill>
                  <a:schemeClr val="tx2"/>
                </a:solidFill>
              </a:rPr>
              <a:t>The possible state transitions are:</a:t>
            </a:r>
          </a:p>
        </p:txBody>
      </p:sp>
      <p:grpSp>
        <p:nvGrpSpPr>
          <p:cNvPr id="186380" name="Group 12"/>
          <p:cNvGrpSpPr>
            <a:grpSpLocks/>
          </p:cNvGrpSpPr>
          <p:nvPr/>
        </p:nvGrpSpPr>
        <p:grpSpPr bwMode="auto">
          <a:xfrm>
            <a:off x="1143000" y="2554289"/>
            <a:ext cx="6634163" cy="839788"/>
            <a:chOff x="338" y="2097"/>
            <a:chExt cx="4179" cy="529"/>
          </a:xfrm>
        </p:grpSpPr>
        <p:sp>
          <p:nvSpPr>
            <p:cNvPr id="106518" name="Line 8"/>
            <p:cNvSpPr>
              <a:spLocks noChangeShapeType="1"/>
            </p:cNvSpPr>
            <p:nvPr/>
          </p:nvSpPr>
          <p:spPr bwMode="auto">
            <a:xfrm>
              <a:off x="1152" y="2496"/>
              <a:ext cx="81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6519" name="Freeform 9"/>
            <p:cNvSpPr>
              <a:spLocks/>
            </p:cNvSpPr>
            <p:nvPr/>
          </p:nvSpPr>
          <p:spPr bwMode="auto">
            <a:xfrm>
              <a:off x="2701" y="2362"/>
              <a:ext cx="868" cy="121"/>
            </a:xfrm>
            <a:custGeom>
              <a:avLst/>
              <a:gdLst>
                <a:gd name="T0" fmla="*/ 0 w 868"/>
                <a:gd name="T1" fmla="*/ 121 h 121"/>
                <a:gd name="T2" fmla="*/ 537 w 868"/>
                <a:gd name="T3" fmla="*/ 2 h 121"/>
                <a:gd name="T4" fmla="*/ 868 w 868"/>
                <a:gd name="T5" fmla="*/ 108 h 121"/>
                <a:gd name="T6" fmla="*/ 0 60000 65536"/>
                <a:gd name="T7" fmla="*/ 0 60000 65536"/>
                <a:gd name="T8" fmla="*/ 0 60000 65536"/>
              </a:gdLst>
              <a:ahLst/>
              <a:cxnLst>
                <a:cxn ang="T6">
                  <a:pos x="T0" y="T1"/>
                </a:cxn>
                <a:cxn ang="T7">
                  <a:pos x="T2" y="T3"/>
                </a:cxn>
                <a:cxn ang="T8">
                  <a:pos x="T4" y="T5"/>
                </a:cxn>
              </a:cxnLst>
              <a:rect l="0" t="0" r="r" b="b"/>
              <a:pathLst>
                <a:path w="868" h="121">
                  <a:moveTo>
                    <a:pt x="0" y="121"/>
                  </a:moveTo>
                  <a:cubicBezTo>
                    <a:pt x="89" y="101"/>
                    <a:pt x="392" y="4"/>
                    <a:pt x="537" y="2"/>
                  </a:cubicBezTo>
                  <a:cubicBezTo>
                    <a:pt x="682" y="0"/>
                    <a:pt x="799" y="86"/>
                    <a:pt x="868" y="108"/>
                  </a:cubicBezTo>
                </a:path>
              </a:pathLst>
            </a:custGeom>
            <a:noFill/>
            <a:ln w="381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6520" name="Freeform 10"/>
            <p:cNvSpPr>
              <a:spLocks/>
            </p:cNvSpPr>
            <p:nvPr/>
          </p:nvSpPr>
          <p:spPr bwMode="auto">
            <a:xfrm>
              <a:off x="2880" y="2496"/>
              <a:ext cx="722" cy="120"/>
            </a:xfrm>
            <a:custGeom>
              <a:avLst/>
              <a:gdLst>
                <a:gd name="T0" fmla="*/ 722 w 722"/>
                <a:gd name="T1" fmla="*/ 7 h 120"/>
                <a:gd name="T2" fmla="*/ 364 w 722"/>
                <a:gd name="T3" fmla="*/ 119 h 120"/>
                <a:gd name="T4" fmla="*/ 0 w 722"/>
                <a:gd name="T5" fmla="*/ 0 h 120"/>
                <a:gd name="T6" fmla="*/ 0 60000 65536"/>
                <a:gd name="T7" fmla="*/ 0 60000 65536"/>
                <a:gd name="T8" fmla="*/ 0 60000 65536"/>
              </a:gdLst>
              <a:ahLst/>
              <a:cxnLst>
                <a:cxn ang="T6">
                  <a:pos x="T0" y="T1"/>
                </a:cxn>
                <a:cxn ang="T7">
                  <a:pos x="T2" y="T3"/>
                </a:cxn>
                <a:cxn ang="T8">
                  <a:pos x="T4" y="T5"/>
                </a:cxn>
              </a:cxnLst>
              <a:rect l="0" t="0" r="r" b="b"/>
              <a:pathLst>
                <a:path w="722" h="120">
                  <a:moveTo>
                    <a:pt x="722" y="7"/>
                  </a:moveTo>
                  <a:cubicBezTo>
                    <a:pt x="662" y="26"/>
                    <a:pt x="484" y="120"/>
                    <a:pt x="364" y="119"/>
                  </a:cubicBezTo>
                  <a:cubicBezTo>
                    <a:pt x="244" y="118"/>
                    <a:pt x="76" y="25"/>
                    <a:pt x="0" y="0"/>
                  </a:cubicBezTo>
                </a:path>
              </a:pathLst>
            </a:custGeom>
            <a:noFill/>
            <a:ln w="381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6521" name="Freeform 11"/>
            <p:cNvSpPr>
              <a:spLocks/>
            </p:cNvSpPr>
            <p:nvPr/>
          </p:nvSpPr>
          <p:spPr bwMode="auto">
            <a:xfrm>
              <a:off x="2340" y="2097"/>
              <a:ext cx="232" cy="247"/>
            </a:xfrm>
            <a:custGeom>
              <a:avLst/>
              <a:gdLst>
                <a:gd name="T0" fmla="*/ 85 w 307"/>
                <a:gd name="T1" fmla="*/ 272 h 272"/>
                <a:gd name="T2" fmla="*/ 13 w 307"/>
                <a:gd name="T3" fmla="*/ 106 h 272"/>
                <a:gd name="T4" fmla="*/ 165 w 307"/>
                <a:gd name="T5" fmla="*/ 0 h 272"/>
                <a:gd name="T6" fmla="*/ 297 w 307"/>
                <a:gd name="T7" fmla="*/ 106 h 272"/>
                <a:gd name="T8" fmla="*/ 224 w 307"/>
                <a:gd name="T9" fmla="*/ 258 h 272"/>
                <a:gd name="T10" fmla="*/ 0 60000 65536"/>
                <a:gd name="T11" fmla="*/ 0 60000 65536"/>
                <a:gd name="T12" fmla="*/ 0 60000 65536"/>
                <a:gd name="T13" fmla="*/ 0 60000 65536"/>
                <a:gd name="T14" fmla="*/ 0 60000 65536"/>
                <a:gd name="connsiteX0" fmla="*/ 1611 w 8548"/>
                <a:gd name="connsiteY0" fmla="*/ 10002 h 10002"/>
                <a:gd name="connsiteX1" fmla="*/ 72 w 8548"/>
                <a:gd name="connsiteY1" fmla="*/ 3444 h 10002"/>
                <a:gd name="connsiteX2" fmla="*/ 4217 w 8548"/>
                <a:gd name="connsiteY2" fmla="*/ 2 h 10002"/>
                <a:gd name="connsiteX3" fmla="*/ 8516 w 8548"/>
                <a:gd name="connsiteY3" fmla="*/ 3899 h 10002"/>
                <a:gd name="connsiteX4" fmla="*/ 6138 w 8548"/>
                <a:gd name="connsiteY4" fmla="*/ 9487 h 10002"/>
                <a:gd name="connsiteX0" fmla="*/ 1885 w 9073"/>
                <a:gd name="connsiteY0" fmla="*/ 10002 h 10002"/>
                <a:gd name="connsiteX1" fmla="*/ 84 w 9073"/>
                <a:gd name="connsiteY1" fmla="*/ 3445 h 10002"/>
                <a:gd name="connsiteX2" fmla="*/ 4933 w 9073"/>
                <a:gd name="connsiteY2" fmla="*/ 4 h 10002"/>
                <a:gd name="connsiteX3" fmla="*/ 9017 w 9073"/>
                <a:gd name="connsiteY3" fmla="*/ 4128 h 10002"/>
                <a:gd name="connsiteX4" fmla="*/ 7181 w 9073"/>
                <a:gd name="connsiteY4" fmla="*/ 9487 h 10002"/>
                <a:gd name="connsiteX0" fmla="*/ 2059 w 9981"/>
                <a:gd name="connsiteY0" fmla="*/ 9093 h 9093"/>
                <a:gd name="connsiteX1" fmla="*/ 74 w 9981"/>
                <a:gd name="connsiteY1" fmla="*/ 2537 h 9093"/>
                <a:gd name="connsiteX2" fmla="*/ 4898 w 9981"/>
                <a:gd name="connsiteY2" fmla="*/ 8 h 9093"/>
                <a:gd name="connsiteX3" fmla="*/ 9919 w 9981"/>
                <a:gd name="connsiteY3" fmla="*/ 3220 h 9093"/>
                <a:gd name="connsiteX4" fmla="*/ 7896 w 9981"/>
                <a:gd name="connsiteY4" fmla="*/ 8578 h 9093"/>
                <a:gd name="connsiteX0" fmla="*/ 2824 w 10761"/>
                <a:gd name="connsiteY0" fmla="*/ 9997 h 9997"/>
                <a:gd name="connsiteX1" fmla="*/ 54 w 10761"/>
                <a:gd name="connsiteY1" fmla="*/ 4292 h 9997"/>
                <a:gd name="connsiteX2" fmla="*/ 5668 w 10761"/>
                <a:gd name="connsiteY2" fmla="*/ 6 h 9997"/>
                <a:gd name="connsiteX3" fmla="*/ 10699 w 10761"/>
                <a:gd name="connsiteY3" fmla="*/ 3538 h 9997"/>
                <a:gd name="connsiteX4" fmla="*/ 8672 w 10761"/>
                <a:gd name="connsiteY4" fmla="*/ 9431 h 9997"/>
                <a:gd name="connsiteX0" fmla="*/ 2624 w 10000"/>
                <a:gd name="connsiteY0" fmla="*/ 9994 h 9994"/>
                <a:gd name="connsiteX1" fmla="*/ 50 w 10000"/>
                <a:gd name="connsiteY1" fmla="*/ 3535 h 9994"/>
                <a:gd name="connsiteX2" fmla="*/ 5267 w 10000"/>
                <a:gd name="connsiteY2" fmla="*/ 0 h 9994"/>
                <a:gd name="connsiteX3" fmla="*/ 9942 w 10000"/>
                <a:gd name="connsiteY3" fmla="*/ 3533 h 9994"/>
                <a:gd name="connsiteX4" fmla="*/ 8059 w 10000"/>
                <a:gd name="connsiteY4" fmla="*/ 9428 h 9994"/>
                <a:gd name="connsiteX0" fmla="*/ 1722 w 9098"/>
                <a:gd name="connsiteY0" fmla="*/ 10002 h 10002"/>
                <a:gd name="connsiteX1" fmla="*/ 76 w 9098"/>
                <a:gd name="connsiteY1" fmla="*/ 4020 h 10002"/>
                <a:gd name="connsiteX2" fmla="*/ 4365 w 9098"/>
                <a:gd name="connsiteY2" fmla="*/ 2 h 10002"/>
                <a:gd name="connsiteX3" fmla="*/ 9040 w 9098"/>
                <a:gd name="connsiteY3" fmla="*/ 3537 h 10002"/>
                <a:gd name="connsiteX4" fmla="*/ 7157 w 9098"/>
                <a:gd name="connsiteY4" fmla="*/ 9436 h 10002"/>
                <a:gd name="connsiteX0" fmla="*/ 1863 w 9970"/>
                <a:gd name="connsiteY0" fmla="*/ 10000 h 10000"/>
                <a:gd name="connsiteX1" fmla="*/ 54 w 9970"/>
                <a:gd name="connsiteY1" fmla="*/ 4019 h 10000"/>
                <a:gd name="connsiteX2" fmla="*/ 4768 w 9970"/>
                <a:gd name="connsiteY2" fmla="*/ 2 h 10000"/>
                <a:gd name="connsiteX3" fmla="*/ 9906 w 9970"/>
                <a:gd name="connsiteY3" fmla="*/ 3536 h 10000"/>
                <a:gd name="connsiteX4" fmla="*/ 7837 w 9970"/>
                <a:gd name="connsiteY4" fmla="*/ 9434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70" h="10000">
                  <a:moveTo>
                    <a:pt x="1863" y="10000"/>
                  </a:moveTo>
                  <a:cubicBezTo>
                    <a:pt x="1346" y="8867"/>
                    <a:pt x="589" y="5924"/>
                    <a:pt x="54" y="4019"/>
                  </a:cubicBezTo>
                  <a:cubicBezTo>
                    <a:pt x="-481" y="2114"/>
                    <a:pt x="3126" y="82"/>
                    <a:pt x="4768" y="2"/>
                  </a:cubicBezTo>
                  <a:cubicBezTo>
                    <a:pt x="6410" y="-78"/>
                    <a:pt x="9476" y="1799"/>
                    <a:pt x="9906" y="3536"/>
                  </a:cubicBezTo>
                  <a:cubicBezTo>
                    <a:pt x="10337" y="5277"/>
                    <a:pt x="8481" y="8138"/>
                    <a:pt x="7837" y="9434"/>
                  </a:cubicBezTo>
                </a:path>
              </a:pathLst>
            </a:custGeom>
            <a:noFill/>
            <a:ln w="381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6522" name="AutoShape 5"/>
            <p:cNvSpPr>
              <a:spLocks noChangeArrowheads="1"/>
            </p:cNvSpPr>
            <p:nvPr/>
          </p:nvSpPr>
          <p:spPr bwMode="auto">
            <a:xfrm>
              <a:off x="338" y="2331"/>
              <a:ext cx="1155" cy="284"/>
            </a:xfrm>
            <a:prstGeom prst="roundRect">
              <a:avLst>
                <a:gd name="adj" fmla="val 16667"/>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spcBef>
                  <a:spcPct val="50000"/>
                </a:spcBef>
                <a:buFontTx/>
                <a:buNone/>
              </a:pPr>
              <a:r>
                <a:rPr lang="en-US" sz="2000" b="1" dirty="0">
                  <a:solidFill>
                    <a:schemeClr val="tx2"/>
                  </a:solidFill>
                </a:rPr>
                <a:t>UNLABELED</a:t>
              </a:r>
            </a:p>
          </p:txBody>
        </p:sp>
        <p:sp>
          <p:nvSpPr>
            <p:cNvPr id="106523" name="AutoShape 6"/>
            <p:cNvSpPr>
              <a:spLocks noChangeArrowheads="1"/>
            </p:cNvSpPr>
            <p:nvPr/>
          </p:nvSpPr>
          <p:spPr bwMode="auto">
            <a:xfrm>
              <a:off x="1963" y="2342"/>
              <a:ext cx="919" cy="284"/>
            </a:xfrm>
            <a:prstGeom prst="roundRect">
              <a:avLst>
                <a:gd name="adj" fmla="val 16667"/>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spcBef>
                  <a:spcPct val="50000"/>
                </a:spcBef>
                <a:buFontTx/>
                <a:buNone/>
              </a:pPr>
              <a:r>
                <a:rPr lang="en-US" sz="2000" b="1" dirty="0">
                  <a:solidFill>
                    <a:schemeClr val="tx2"/>
                  </a:solidFill>
                </a:rPr>
                <a:t>LABELED</a:t>
              </a:r>
            </a:p>
          </p:txBody>
        </p:sp>
        <p:sp>
          <p:nvSpPr>
            <p:cNvPr id="106524" name="AutoShape 7"/>
            <p:cNvSpPr>
              <a:spLocks noChangeArrowheads="1"/>
            </p:cNvSpPr>
            <p:nvPr/>
          </p:nvSpPr>
          <p:spPr bwMode="auto">
            <a:xfrm>
              <a:off x="3589" y="2342"/>
              <a:ext cx="928" cy="284"/>
            </a:xfrm>
            <a:prstGeom prst="roundRect">
              <a:avLst>
                <a:gd name="adj" fmla="val 16667"/>
              </a:avLst>
            </a:prstGeom>
            <a:solidFill>
              <a:schemeClr val="tx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spcBef>
                  <a:spcPct val="50000"/>
                </a:spcBef>
                <a:buFontTx/>
                <a:buNone/>
              </a:pPr>
              <a:r>
                <a:rPr lang="en-US" sz="2000" b="1" dirty="0">
                  <a:solidFill>
                    <a:schemeClr val="bg1"/>
                  </a:solidFill>
                </a:rPr>
                <a:t>SCANNED</a:t>
              </a:r>
            </a:p>
          </p:txBody>
        </p:sp>
      </p:grpSp>
      <p:sp>
        <p:nvSpPr>
          <p:cNvPr id="186381" name="Rectangle 13"/>
          <p:cNvSpPr>
            <a:spLocks noChangeArrowheads="1"/>
          </p:cNvSpPr>
          <p:nvPr/>
        </p:nvSpPr>
        <p:spPr bwMode="auto">
          <a:xfrm>
            <a:off x="152400" y="3581400"/>
            <a:ext cx="8839200" cy="161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282575" indent="-282575" eaLnBrk="1" hangingPunct="1">
              <a:spcBef>
                <a:spcPct val="50000"/>
              </a:spcBef>
              <a:buFont typeface="Wingdings" pitchFamily="2" charset="2"/>
              <a:buChar char="§"/>
            </a:pPr>
            <a:r>
              <a:rPr lang="en-US" sz="2400" b="1" dirty="0">
                <a:solidFill>
                  <a:srgbClr val="CC0000"/>
                </a:solidFill>
              </a:rPr>
              <a:t>Initialization:</a:t>
            </a:r>
            <a:r>
              <a:rPr lang="en-US" sz="2000" dirty="0">
                <a:solidFill>
                  <a:schemeClr val="tx2"/>
                </a:solidFill>
              </a:rPr>
              <a:t>  s is labeled and every other vertex is unlabeled.</a:t>
            </a:r>
          </a:p>
          <a:p>
            <a:pPr marL="282575" indent="-282575" eaLnBrk="1" hangingPunct="1">
              <a:spcBef>
                <a:spcPct val="50000"/>
              </a:spcBef>
              <a:buFont typeface="Wingdings" pitchFamily="2" charset="2"/>
              <a:buChar char="§"/>
            </a:pPr>
            <a:r>
              <a:rPr lang="en-US" sz="2400" b="1" dirty="0">
                <a:solidFill>
                  <a:srgbClr val="CC0000"/>
                </a:solidFill>
              </a:rPr>
              <a:t>Scanning Step:</a:t>
            </a:r>
            <a:r>
              <a:rPr lang="en-US" sz="2000" dirty="0">
                <a:solidFill>
                  <a:schemeClr val="tx2"/>
                </a:solidFill>
              </a:rPr>
              <a:t>  Select a labeled vertex u and scan it, thereby converting it to the scanned state, by applying the labeling step to every edge (</a:t>
            </a:r>
            <a:r>
              <a:rPr lang="en-US" sz="2000" dirty="0" err="1">
                <a:solidFill>
                  <a:schemeClr val="tx2"/>
                </a:solidFill>
              </a:rPr>
              <a:t>u,v</a:t>
            </a:r>
            <a:r>
              <a:rPr lang="en-US" sz="2000" dirty="0">
                <a:solidFill>
                  <a:schemeClr val="tx2"/>
                </a:solidFill>
              </a:rPr>
              <a:t>) such that </a:t>
            </a:r>
            <a:r>
              <a:rPr lang="en-US" sz="2000" dirty="0" err="1">
                <a:solidFill>
                  <a:schemeClr val="tx2"/>
                </a:solidFill>
              </a:rPr>
              <a:t>dist</a:t>
            </a:r>
            <a:r>
              <a:rPr lang="en-US" sz="2000" dirty="0">
                <a:solidFill>
                  <a:schemeClr val="tx2"/>
                </a:solidFill>
              </a:rPr>
              <a:t>(u) + w(</a:t>
            </a:r>
            <a:r>
              <a:rPr lang="en-US" sz="2000" dirty="0" err="1">
                <a:solidFill>
                  <a:schemeClr val="tx2"/>
                </a:solidFill>
              </a:rPr>
              <a:t>u,v</a:t>
            </a:r>
            <a:r>
              <a:rPr lang="en-US" sz="2000" dirty="0">
                <a:solidFill>
                  <a:schemeClr val="tx2"/>
                </a:solidFill>
              </a:rPr>
              <a:t>) &lt; </a:t>
            </a:r>
            <a:r>
              <a:rPr lang="en-US" sz="2000" dirty="0" err="1">
                <a:solidFill>
                  <a:schemeClr val="tx2"/>
                </a:solidFill>
              </a:rPr>
              <a:t>dist</a:t>
            </a:r>
            <a:r>
              <a:rPr lang="en-US" sz="2000" dirty="0">
                <a:solidFill>
                  <a:schemeClr val="tx2"/>
                </a:solidFill>
              </a:rPr>
              <a:t>(v), thereby converting v to the labeled state.</a:t>
            </a:r>
          </a:p>
        </p:txBody>
      </p:sp>
      <p:grpSp>
        <p:nvGrpSpPr>
          <p:cNvPr id="186405" name="Group 37"/>
          <p:cNvGrpSpPr>
            <a:grpSpLocks/>
          </p:cNvGrpSpPr>
          <p:nvPr/>
        </p:nvGrpSpPr>
        <p:grpSpPr bwMode="auto">
          <a:xfrm>
            <a:off x="1752600" y="5257800"/>
            <a:ext cx="4273550" cy="1295400"/>
            <a:chOff x="1104" y="3312"/>
            <a:chExt cx="2692" cy="816"/>
          </a:xfrm>
        </p:grpSpPr>
        <p:sp>
          <p:nvSpPr>
            <p:cNvPr id="106503" name="Oval 16"/>
            <p:cNvSpPr>
              <a:spLocks noChangeArrowheads="1"/>
            </p:cNvSpPr>
            <p:nvPr/>
          </p:nvSpPr>
          <p:spPr bwMode="auto">
            <a:xfrm>
              <a:off x="3264" y="3696"/>
              <a:ext cx="96" cy="96"/>
            </a:xfrm>
            <a:prstGeom prst="ellipse">
              <a:avLst/>
            </a:prstGeom>
            <a:solidFill>
              <a:srgbClr val="B2B2B2"/>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6504" name="Text Box 18"/>
            <p:cNvSpPr txBox="1">
              <a:spLocks noChangeArrowheads="1"/>
            </p:cNvSpPr>
            <p:nvPr/>
          </p:nvSpPr>
          <p:spPr bwMode="auto">
            <a:xfrm>
              <a:off x="1104" y="3744"/>
              <a:ext cx="1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t>s</a:t>
              </a:r>
            </a:p>
          </p:txBody>
        </p:sp>
        <p:sp>
          <p:nvSpPr>
            <p:cNvPr id="106505" name="Rectangle 19"/>
            <p:cNvSpPr>
              <a:spLocks noChangeArrowheads="1"/>
            </p:cNvSpPr>
            <p:nvPr/>
          </p:nvSpPr>
          <p:spPr bwMode="auto">
            <a:xfrm>
              <a:off x="2400" y="369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u</a:t>
              </a:r>
            </a:p>
          </p:txBody>
        </p:sp>
        <p:sp>
          <p:nvSpPr>
            <p:cNvPr id="106506" name="Rectangle 20"/>
            <p:cNvSpPr>
              <a:spLocks noChangeArrowheads="1"/>
            </p:cNvSpPr>
            <p:nvPr/>
          </p:nvSpPr>
          <p:spPr bwMode="auto">
            <a:xfrm>
              <a:off x="3216" y="374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dirty="0"/>
                <a:t>v</a:t>
              </a:r>
            </a:p>
          </p:txBody>
        </p:sp>
        <p:sp>
          <p:nvSpPr>
            <p:cNvPr id="106507" name="Rectangle 21"/>
            <p:cNvSpPr>
              <a:spLocks noChangeArrowheads="1"/>
            </p:cNvSpPr>
            <p:nvPr/>
          </p:nvSpPr>
          <p:spPr bwMode="auto">
            <a:xfrm>
              <a:off x="3264" y="3504"/>
              <a:ext cx="5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dist(v)</a:t>
              </a:r>
            </a:p>
          </p:txBody>
        </p:sp>
        <p:sp>
          <p:nvSpPr>
            <p:cNvPr id="106508" name="Rectangle 22"/>
            <p:cNvSpPr>
              <a:spLocks noChangeArrowheads="1"/>
            </p:cNvSpPr>
            <p:nvPr/>
          </p:nvSpPr>
          <p:spPr bwMode="auto">
            <a:xfrm>
              <a:off x="2736" y="3504"/>
              <a:ext cx="4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w(u,v)</a:t>
              </a:r>
            </a:p>
          </p:txBody>
        </p:sp>
        <p:sp>
          <p:nvSpPr>
            <p:cNvPr id="106509" name="Freeform 23"/>
            <p:cNvSpPr>
              <a:spLocks/>
            </p:cNvSpPr>
            <p:nvPr/>
          </p:nvSpPr>
          <p:spPr bwMode="auto">
            <a:xfrm>
              <a:off x="1248" y="3709"/>
              <a:ext cx="1248" cy="53"/>
            </a:xfrm>
            <a:custGeom>
              <a:avLst/>
              <a:gdLst>
                <a:gd name="T0" fmla="*/ 0 w 864"/>
                <a:gd name="T1" fmla="*/ 38 h 101"/>
                <a:gd name="T2" fmla="*/ 149 w 864"/>
                <a:gd name="T3" fmla="*/ 39 h 101"/>
                <a:gd name="T4" fmla="*/ 282 w 864"/>
                <a:gd name="T5" fmla="*/ 12 h 101"/>
                <a:gd name="T6" fmla="*/ 454 w 864"/>
                <a:gd name="T7" fmla="*/ 53 h 101"/>
                <a:gd name="T8" fmla="*/ 627 w 864"/>
                <a:gd name="T9" fmla="*/ 12 h 101"/>
                <a:gd name="T10" fmla="*/ 789 w 864"/>
                <a:gd name="T11" fmla="*/ 46 h 101"/>
                <a:gd name="T12" fmla="*/ 913 w 864"/>
                <a:gd name="T13" fmla="*/ 4 h 101"/>
                <a:gd name="T14" fmla="*/ 1047 w 864"/>
                <a:gd name="T15" fmla="*/ 22 h 101"/>
                <a:gd name="T16" fmla="*/ 1248 w 864"/>
                <a:gd name="T17" fmla="*/ 13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64" h="101">
                  <a:moveTo>
                    <a:pt x="0" y="73"/>
                  </a:moveTo>
                  <a:cubicBezTo>
                    <a:pt x="17" y="73"/>
                    <a:pt x="71" y="83"/>
                    <a:pt x="103" y="75"/>
                  </a:cubicBezTo>
                  <a:cubicBezTo>
                    <a:pt x="135" y="67"/>
                    <a:pt x="160" y="18"/>
                    <a:pt x="195" y="22"/>
                  </a:cubicBezTo>
                  <a:cubicBezTo>
                    <a:pt x="230" y="26"/>
                    <a:pt x="274" y="101"/>
                    <a:pt x="314" y="101"/>
                  </a:cubicBezTo>
                  <a:cubicBezTo>
                    <a:pt x="354" y="101"/>
                    <a:pt x="395" y="24"/>
                    <a:pt x="434" y="22"/>
                  </a:cubicBezTo>
                  <a:cubicBezTo>
                    <a:pt x="473" y="20"/>
                    <a:pt x="513" y="90"/>
                    <a:pt x="546" y="88"/>
                  </a:cubicBezTo>
                  <a:cubicBezTo>
                    <a:pt x="579" y="86"/>
                    <a:pt x="602" y="16"/>
                    <a:pt x="632" y="8"/>
                  </a:cubicBezTo>
                  <a:cubicBezTo>
                    <a:pt x="662" y="0"/>
                    <a:pt x="686" y="39"/>
                    <a:pt x="725" y="42"/>
                  </a:cubicBezTo>
                  <a:cubicBezTo>
                    <a:pt x="764" y="45"/>
                    <a:pt x="835" y="29"/>
                    <a:pt x="864" y="25"/>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6510" name="Rectangle 26"/>
            <p:cNvSpPr>
              <a:spLocks noChangeArrowheads="1"/>
            </p:cNvSpPr>
            <p:nvPr/>
          </p:nvSpPr>
          <p:spPr bwMode="auto">
            <a:xfrm>
              <a:off x="1584" y="3456"/>
              <a:ext cx="5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dist(u)</a:t>
              </a:r>
            </a:p>
          </p:txBody>
        </p:sp>
        <p:sp>
          <p:nvSpPr>
            <p:cNvPr id="106511" name="Line 28"/>
            <p:cNvSpPr>
              <a:spLocks noChangeShapeType="1"/>
            </p:cNvSpPr>
            <p:nvPr/>
          </p:nvSpPr>
          <p:spPr bwMode="auto">
            <a:xfrm>
              <a:off x="2544" y="3744"/>
              <a:ext cx="72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6512" name="Freeform 29"/>
            <p:cNvSpPr>
              <a:spLocks/>
            </p:cNvSpPr>
            <p:nvPr/>
          </p:nvSpPr>
          <p:spPr bwMode="auto">
            <a:xfrm>
              <a:off x="2544" y="3386"/>
              <a:ext cx="452" cy="358"/>
            </a:xfrm>
            <a:custGeom>
              <a:avLst/>
              <a:gdLst>
                <a:gd name="T0" fmla="*/ 0 w 452"/>
                <a:gd name="T1" fmla="*/ 358 h 358"/>
                <a:gd name="T2" fmla="*/ 452 w 452"/>
                <a:gd name="T3" fmla="*/ 0 h 358"/>
                <a:gd name="T4" fmla="*/ 0 60000 65536"/>
                <a:gd name="T5" fmla="*/ 0 60000 65536"/>
              </a:gdLst>
              <a:ahLst/>
              <a:cxnLst>
                <a:cxn ang="T4">
                  <a:pos x="T0" y="T1"/>
                </a:cxn>
                <a:cxn ang="T5">
                  <a:pos x="T2" y="T3"/>
                </a:cxn>
              </a:cxnLst>
              <a:rect l="0" t="0" r="r" b="b"/>
              <a:pathLst>
                <a:path w="452" h="358">
                  <a:moveTo>
                    <a:pt x="0" y="358"/>
                  </a:moveTo>
                  <a:lnTo>
                    <a:pt x="452"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6513" name="Freeform 30"/>
            <p:cNvSpPr>
              <a:spLocks/>
            </p:cNvSpPr>
            <p:nvPr/>
          </p:nvSpPr>
          <p:spPr bwMode="auto">
            <a:xfrm>
              <a:off x="2544" y="3744"/>
              <a:ext cx="439" cy="324"/>
            </a:xfrm>
            <a:custGeom>
              <a:avLst/>
              <a:gdLst>
                <a:gd name="T0" fmla="*/ 0 w 439"/>
                <a:gd name="T1" fmla="*/ 0 h 324"/>
                <a:gd name="T2" fmla="*/ 439 w 439"/>
                <a:gd name="T3" fmla="*/ 324 h 324"/>
                <a:gd name="T4" fmla="*/ 0 60000 65536"/>
                <a:gd name="T5" fmla="*/ 0 60000 65536"/>
              </a:gdLst>
              <a:ahLst/>
              <a:cxnLst>
                <a:cxn ang="T4">
                  <a:pos x="T0" y="T1"/>
                </a:cxn>
                <a:cxn ang="T5">
                  <a:pos x="T2" y="T3"/>
                </a:cxn>
              </a:cxnLst>
              <a:rect l="0" t="0" r="r" b="b"/>
              <a:pathLst>
                <a:path w="439" h="324">
                  <a:moveTo>
                    <a:pt x="0" y="0"/>
                  </a:moveTo>
                  <a:lnTo>
                    <a:pt x="439" y="324"/>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6514" name="Oval 17"/>
            <p:cNvSpPr>
              <a:spLocks noChangeArrowheads="1"/>
            </p:cNvSpPr>
            <p:nvPr/>
          </p:nvSpPr>
          <p:spPr bwMode="auto">
            <a:xfrm>
              <a:off x="2496" y="3686"/>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6515" name="Oval 31"/>
            <p:cNvSpPr>
              <a:spLocks noChangeArrowheads="1"/>
            </p:cNvSpPr>
            <p:nvPr/>
          </p:nvSpPr>
          <p:spPr bwMode="auto">
            <a:xfrm>
              <a:off x="2976" y="4032"/>
              <a:ext cx="96" cy="96"/>
            </a:xfrm>
            <a:prstGeom prst="ellipse">
              <a:avLst/>
            </a:prstGeom>
            <a:solidFill>
              <a:srgbClr val="B2B2B2"/>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6516" name="Oval 32"/>
            <p:cNvSpPr>
              <a:spLocks noChangeArrowheads="1"/>
            </p:cNvSpPr>
            <p:nvPr/>
          </p:nvSpPr>
          <p:spPr bwMode="auto">
            <a:xfrm>
              <a:off x="2976" y="3312"/>
              <a:ext cx="96" cy="96"/>
            </a:xfrm>
            <a:prstGeom prst="ellipse">
              <a:avLst/>
            </a:prstGeom>
            <a:solidFill>
              <a:srgbClr val="B2B2B2"/>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06517" name="Oval 33"/>
            <p:cNvSpPr>
              <a:spLocks noChangeArrowheads="1"/>
            </p:cNvSpPr>
            <p:nvPr/>
          </p:nvSpPr>
          <p:spPr bwMode="auto">
            <a:xfrm>
              <a:off x="1152" y="3696"/>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103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86370"/>
                                        </p:tgtEl>
                                        <p:attrNameLst>
                                          <p:attrName>style.visibility</p:attrName>
                                        </p:attrNameLst>
                                      </p:cBhvr>
                                      <p:to>
                                        <p:strVal val="visible"/>
                                      </p:to>
                                    </p:set>
                                    <p:anim calcmode="lin" valueType="num">
                                      <p:cBhvr>
                                        <p:cTn id="7" dur="500" fill="hold"/>
                                        <p:tgtEl>
                                          <p:spTgt spid="186370"/>
                                        </p:tgtEl>
                                        <p:attrNameLst>
                                          <p:attrName>ppt_w</p:attrName>
                                        </p:attrNameLst>
                                      </p:cBhvr>
                                      <p:tavLst>
                                        <p:tav tm="0">
                                          <p:val>
                                            <p:fltVal val="0"/>
                                          </p:val>
                                        </p:tav>
                                        <p:tav tm="100000">
                                          <p:val>
                                            <p:strVal val="#ppt_w"/>
                                          </p:val>
                                        </p:tav>
                                      </p:tavLst>
                                    </p:anim>
                                    <p:anim calcmode="lin" valueType="num">
                                      <p:cBhvr>
                                        <p:cTn id="8" dur="500" fill="hold"/>
                                        <p:tgtEl>
                                          <p:spTgt spid="186370"/>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86372">
                                            <p:txEl>
                                              <p:pRg st="0" end="0"/>
                                            </p:txEl>
                                          </p:spTgt>
                                        </p:tgtEl>
                                        <p:attrNameLst>
                                          <p:attrName>style.visibility</p:attrName>
                                        </p:attrNameLst>
                                      </p:cBhvr>
                                      <p:to>
                                        <p:strVal val="visible"/>
                                      </p:to>
                                    </p:set>
                                    <p:animEffect transition="in" filter="wipe(left)">
                                      <p:cBhvr>
                                        <p:cTn id="12" dur="500"/>
                                        <p:tgtEl>
                                          <p:spTgt spid="186372">
                                            <p:txEl>
                                              <p:pRg st="0" end="0"/>
                                            </p:txEl>
                                          </p:spTgt>
                                        </p:tgtEl>
                                      </p:cBhvr>
                                    </p:animEffect>
                                  </p:childTnLst>
                                </p:cTn>
                              </p:par>
                            </p:childTnLst>
                          </p:cTn>
                        </p:par>
                        <p:par>
                          <p:cTn id="13" fill="hold" nodeType="afterGroup">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186372">
                                            <p:txEl>
                                              <p:pRg st="1" end="1"/>
                                            </p:txEl>
                                          </p:spTgt>
                                        </p:tgtEl>
                                        <p:attrNameLst>
                                          <p:attrName>style.visibility</p:attrName>
                                        </p:attrNameLst>
                                      </p:cBhvr>
                                      <p:to>
                                        <p:strVal val="visible"/>
                                      </p:to>
                                    </p:set>
                                    <p:animEffect transition="in" filter="wipe(left)">
                                      <p:cBhvr>
                                        <p:cTn id="16" dur="500"/>
                                        <p:tgtEl>
                                          <p:spTgt spid="186372">
                                            <p:txEl>
                                              <p:pRg st="1" end="1"/>
                                            </p:txEl>
                                          </p:spTgt>
                                        </p:tgtEl>
                                      </p:cBhvr>
                                    </p:animEffect>
                                  </p:childTnLst>
                                </p:cTn>
                              </p:par>
                            </p:childTnLst>
                          </p:cTn>
                        </p:par>
                        <p:par>
                          <p:cTn id="17" fill="hold" nodeType="afterGroup">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186372">
                                            <p:txEl>
                                              <p:pRg st="2" end="2"/>
                                            </p:txEl>
                                          </p:spTgt>
                                        </p:tgtEl>
                                        <p:attrNameLst>
                                          <p:attrName>style.visibility</p:attrName>
                                        </p:attrNameLst>
                                      </p:cBhvr>
                                      <p:to>
                                        <p:strVal val="visible"/>
                                      </p:to>
                                    </p:set>
                                    <p:animEffect transition="in" filter="wipe(left)">
                                      <p:cBhvr>
                                        <p:cTn id="20" dur="500"/>
                                        <p:tgtEl>
                                          <p:spTgt spid="186372">
                                            <p:txEl>
                                              <p:pRg st="2" end="2"/>
                                            </p:txEl>
                                          </p:spTgt>
                                        </p:tgtEl>
                                      </p:cBhvr>
                                    </p:animEffect>
                                  </p:childTnLst>
                                </p:cTn>
                              </p:par>
                            </p:childTnLst>
                          </p:cTn>
                        </p:par>
                        <p:par>
                          <p:cTn id="21" fill="hold" nodeType="afterGroup">
                            <p:stCondLst>
                              <p:cond delay="2000"/>
                            </p:stCondLst>
                            <p:childTnLst>
                              <p:par>
                                <p:cTn id="22" presetID="22" presetClass="entr" presetSubtype="8" fill="hold" grpId="0" nodeType="afterEffect">
                                  <p:stCondLst>
                                    <p:cond delay="0"/>
                                  </p:stCondLst>
                                  <p:childTnLst>
                                    <p:set>
                                      <p:cBhvr>
                                        <p:cTn id="23" dur="1" fill="hold">
                                          <p:stCondLst>
                                            <p:cond delay="0"/>
                                          </p:stCondLst>
                                        </p:cTn>
                                        <p:tgtEl>
                                          <p:spTgt spid="186372">
                                            <p:txEl>
                                              <p:pRg st="3" end="3"/>
                                            </p:txEl>
                                          </p:spTgt>
                                        </p:tgtEl>
                                        <p:attrNameLst>
                                          <p:attrName>style.visibility</p:attrName>
                                        </p:attrNameLst>
                                      </p:cBhvr>
                                      <p:to>
                                        <p:strVal val="visible"/>
                                      </p:to>
                                    </p:set>
                                    <p:animEffect transition="in" filter="wipe(left)">
                                      <p:cBhvr>
                                        <p:cTn id="24" dur="500"/>
                                        <p:tgtEl>
                                          <p:spTgt spid="186372">
                                            <p:txEl>
                                              <p:pRg st="3" end="3"/>
                                            </p:txEl>
                                          </p:spTgt>
                                        </p:tgtEl>
                                      </p:cBhvr>
                                    </p:animEffect>
                                  </p:childTnLst>
                                </p:cTn>
                              </p:par>
                            </p:childTnLst>
                          </p:cTn>
                        </p:par>
                        <p:par>
                          <p:cTn id="25" fill="hold" nodeType="afterGroup">
                            <p:stCondLst>
                              <p:cond delay="2500"/>
                            </p:stCondLst>
                            <p:childTnLst>
                              <p:par>
                                <p:cTn id="26" presetID="22" presetClass="entr" presetSubtype="8" fill="hold" nodeType="afterEffect">
                                  <p:stCondLst>
                                    <p:cond delay="1000"/>
                                  </p:stCondLst>
                                  <p:childTnLst>
                                    <p:set>
                                      <p:cBhvr>
                                        <p:cTn id="27" dur="1" fill="hold">
                                          <p:stCondLst>
                                            <p:cond delay="0"/>
                                          </p:stCondLst>
                                        </p:cTn>
                                        <p:tgtEl>
                                          <p:spTgt spid="186380"/>
                                        </p:tgtEl>
                                        <p:attrNameLst>
                                          <p:attrName>style.visibility</p:attrName>
                                        </p:attrNameLst>
                                      </p:cBhvr>
                                      <p:to>
                                        <p:strVal val="visible"/>
                                      </p:to>
                                    </p:set>
                                    <p:animEffect transition="in" filter="wipe(left)">
                                      <p:cBhvr>
                                        <p:cTn id="28" dur="500"/>
                                        <p:tgtEl>
                                          <p:spTgt spid="18638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86381">
                                            <p:txEl>
                                              <p:pRg st="0" end="0"/>
                                            </p:txEl>
                                          </p:spTgt>
                                        </p:tgtEl>
                                        <p:attrNameLst>
                                          <p:attrName>style.visibility</p:attrName>
                                        </p:attrNameLst>
                                      </p:cBhvr>
                                      <p:to>
                                        <p:strVal val="visible"/>
                                      </p:to>
                                    </p:set>
                                    <p:animEffect transition="in" filter="wipe(left)">
                                      <p:cBhvr>
                                        <p:cTn id="33" dur="500"/>
                                        <p:tgtEl>
                                          <p:spTgt spid="186381">
                                            <p:txEl>
                                              <p:pRg st="0" end="0"/>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86381">
                                            <p:txEl>
                                              <p:pRg st="1" end="1"/>
                                            </p:txEl>
                                          </p:spTgt>
                                        </p:tgtEl>
                                        <p:attrNameLst>
                                          <p:attrName>style.visibility</p:attrName>
                                        </p:attrNameLst>
                                      </p:cBhvr>
                                      <p:to>
                                        <p:strVal val="visible"/>
                                      </p:to>
                                    </p:set>
                                    <p:animEffect transition="in" filter="wipe(left)">
                                      <p:cBhvr>
                                        <p:cTn id="38" dur="500"/>
                                        <p:tgtEl>
                                          <p:spTgt spid="186381">
                                            <p:txEl>
                                              <p:pRg st="1" end="1"/>
                                            </p:txEl>
                                          </p:spTgt>
                                        </p:tgtEl>
                                      </p:cBhvr>
                                    </p:animEffect>
                                  </p:childTnLst>
                                </p:cTn>
                              </p:par>
                            </p:childTnLst>
                          </p:cTn>
                        </p:par>
                        <p:par>
                          <p:cTn id="39" fill="hold" nodeType="afterGroup">
                            <p:stCondLst>
                              <p:cond delay="500"/>
                            </p:stCondLst>
                            <p:childTnLst>
                              <p:par>
                                <p:cTn id="40" presetID="22" presetClass="entr" presetSubtype="8" fill="hold" nodeType="afterEffect">
                                  <p:stCondLst>
                                    <p:cond delay="0"/>
                                  </p:stCondLst>
                                  <p:childTnLst>
                                    <p:set>
                                      <p:cBhvr>
                                        <p:cTn id="41" dur="1" fill="hold">
                                          <p:stCondLst>
                                            <p:cond delay="0"/>
                                          </p:stCondLst>
                                        </p:cTn>
                                        <p:tgtEl>
                                          <p:spTgt spid="186405"/>
                                        </p:tgtEl>
                                        <p:attrNameLst>
                                          <p:attrName>style.visibility</p:attrName>
                                        </p:attrNameLst>
                                      </p:cBhvr>
                                      <p:to>
                                        <p:strVal val="visible"/>
                                      </p:to>
                                    </p:set>
                                    <p:animEffect transition="in" filter="wipe(left)">
                                      <p:cBhvr>
                                        <p:cTn id="42" dur="500"/>
                                        <p:tgtEl>
                                          <p:spTgt spid="186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0" grpId="0" animBg="1" autoUpdateAnimBg="0"/>
      <p:bldP spid="186372" grpId="0" build="p" autoUpdateAnimBg="0" advAuto="0"/>
      <p:bldP spid="186381" grpId="0" build="p"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smtClean="0">
                <a:solidFill>
                  <a:schemeClr val="tx1"/>
                </a:solidFill>
                <a:latin typeface="Arial Rounded MT Bold" pitchFamily="34" charset="0"/>
              </a:rPr>
              <a:t>Example</a:t>
            </a:r>
          </a:p>
        </p:txBody>
      </p:sp>
      <p:grpSp>
        <p:nvGrpSpPr>
          <p:cNvPr id="187550" name="Group 158"/>
          <p:cNvGrpSpPr>
            <a:grpSpLocks/>
          </p:cNvGrpSpPr>
          <p:nvPr/>
        </p:nvGrpSpPr>
        <p:grpSpPr bwMode="auto">
          <a:xfrm>
            <a:off x="304800" y="738188"/>
            <a:ext cx="1862138" cy="2354262"/>
            <a:chOff x="192" y="465"/>
            <a:chExt cx="1173" cy="1483"/>
          </a:xfrm>
        </p:grpSpPr>
        <p:sp>
          <p:nvSpPr>
            <p:cNvPr id="107619" name="Line 33"/>
            <p:cNvSpPr>
              <a:spLocks noChangeShapeType="1"/>
            </p:cNvSpPr>
            <p:nvPr/>
          </p:nvSpPr>
          <p:spPr bwMode="auto">
            <a:xfrm>
              <a:off x="528" y="1344"/>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20" name="Line 34"/>
            <p:cNvSpPr>
              <a:spLocks noChangeShapeType="1"/>
            </p:cNvSpPr>
            <p:nvPr/>
          </p:nvSpPr>
          <p:spPr bwMode="auto">
            <a:xfrm flipV="1">
              <a:off x="480" y="912"/>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21" name="Line 35"/>
            <p:cNvSpPr>
              <a:spLocks noChangeShapeType="1"/>
            </p:cNvSpPr>
            <p:nvPr/>
          </p:nvSpPr>
          <p:spPr bwMode="auto">
            <a:xfrm>
              <a:off x="1104" y="768"/>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22" name="Line 36"/>
            <p:cNvSpPr>
              <a:spLocks noChangeShapeType="1"/>
            </p:cNvSpPr>
            <p:nvPr/>
          </p:nvSpPr>
          <p:spPr bwMode="auto">
            <a:xfrm>
              <a:off x="480" y="768"/>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23" name="Line 37"/>
            <p:cNvSpPr>
              <a:spLocks noChangeShapeType="1"/>
            </p:cNvSpPr>
            <p:nvPr/>
          </p:nvSpPr>
          <p:spPr bwMode="auto">
            <a:xfrm flipH="1" flipV="1">
              <a:off x="576" y="864"/>
              <a:ext cx="528"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24" name="Oval 30"/>
            <p:cNvSpPr>
              <a:spLocks noChangeArrowheads="1"/>
            </p:cNvSpPr>
            <p:nvPr/>
          </p:nvSpPr>
          <p:spPr bwMode="auto">
            <a:xfrm>
              <a:off x="960" y="1200"/>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b</a:t>
              </a:r>
            </a:p>
          </p:txBody>
        </p:sp>
        <p:sp>
          <p:nvSpPr>
            <p:cNvPr id="107625" name="Oval 29"/>
            <p:cNvSpPr>
              <a:spLocks noChangeArrowheads="1"/>
            </p:cNvSpPr>
            <p:nvPr/>
          </p:nvSpPr>
          <p:spPr bwMode="auto">
            <a:xfrm>
              <a:off x="346" y="1224"/>
              <a:ext cx="278"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a</a:t>
              </a:r>
            </a:p>
          </p:txBody>
        </p:sp>
        <p:sp>
          <p:nvSpPr>
            <p:cNvPr id="107626" name="Oval 32"/>
            <p:cNvSpPr>
              <a:spLocks noChangeArrowheads="1"/>
            </p:cNvSpPr>
            <p:nvPr/>
          </p:nvSpPr>
          <p:spPr bwMode="auto">
            <a:xfrm>
              <a:off x="960" y="624"/>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d</a:t>
              </a:r>
            </a:p>
          </p:txBody>
        </p:sp>
        <p:sp>
          <p:nvSpPr>
            <p:cNvPr id="107627" name="Oval 31"/>
            <p:cNvSpPr>
              <a:spLocks noChangeArrowheads="1"/>
            </p:cNvSpPr>
            <p:nvPr/>
          </p:nvSpPr>
          <p:spPr bwMode="auto">
            <a:xfrm>
              <a:off x="336" y="624"/>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c</a:t>
              </a:r>
            </a:p>
          </p:txBody>
        </p:sp>
        <p:sp>
          <p:nvSpPr>
            <p:cNvPr id="107628" name="Text Box 38"/>
            <p:cNvSpPr txBox="1">
              <a:spLocks noChangeArrowheads="1"/>
            </p:cNvSpPr>
            <p:nvPr/>
          </p:nvSpPr>
          <p:spPr bwMode="auto">
            <a:xfrm>
              <a:off x="626" y="11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07629" name="Text Box 39"/>
            <p:cNvSpPr txBox="1">
              <a:spLocks noChangeArrowheads="1"/>
            </p:cNvSpPr>
            <p:nvPr/>
          </p:nvSpPr>
          <p:spPr bwMode="auto">
            <a:xfrm>
              <a:off x="740" y="897"/>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07630" name="Text Box 40"/>
            <p:cNvSpPr txBox="1">
              <a:spLocks noChangeArrowheads="1"/>
            </p:cNvSpPr>
            <p:nvPr/>
          </p:nvSpPr>
          <p:spPr bwMode="auto">
            <a:xfrm>
              <a:off x="644" y="513"/>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107631" name="Text Box 41"/>
            <p:cNvSpPr txBox="1">
              <a:spLocks noChangeArrowheads="1"/>
            </p:cNvSpPr>
            <p:nvPr/>
          </p:nvSpPr>
          <p:spPr bwMode="auto">
            <a:xfrm>
              <a:off x="1100" y="897"/>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4</a:t>
              </a:r>
            </a:p>
          </p:txBody>
        </p:sp>
        <p:sp>
          <p:nvSpPr>
            <p:cNvPr id="107632" name="Text Box 42"/>
            <p:cNvSpPr txBox="1">
              <a:spLocks noChangeArrowheads="1"/>
            </p:cNvSpPr>
            <p:nvPr/>
          </p:nvSpPr>
          <p:spPr bwMode="auto">
            <a:xfrm>
              <a:off x="284" y="945"/>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sp>
          <p:nvSpPr>
            <p:cNvPr id="107633" name="Text Box 43"/>
            <p:cNvSpPr txBox="1">
              <a:spLocks noChangeArrowheads="1"/>
            </p:cNvSpPr>
            <p:nvPr/>
          </p:nvSpPr>
          <p:spPr bwMode="auto">
            <a:xfrm>
              <a:off x="380" y="1473"/>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0</a:t>
              </a:r>
            </a:p>
          </p:txBody>
        </p:sp>
        <p:sp>
          <p:nvSpPr>
            <p:cNvPr id="107634" name="Text Box 44"/>
            <p:cNvSpPr txBox="1">
              <a:spLocks noChangeArrowheads="1"/>
            </p:cNvSpPr>
            <p:nvPr/>
          </p:nvSpPr>
          <p:spPr bwMode="auto">
            <a:xfrm>
              <a:off x="192" y="480"/>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a:t>
              </a:r>
              <a:endParaRPr lang="en-US" sz="1800">
                <a:solidFill>
                  <a:schemeClr val="tx2"/>
                </a:solidFill>
              </a:endParaRPr>
            </a:p>
          </p:txBody>
        </p:sp>
        <p:sp>
          <p:nvSpPr>
            <p:cNvPr id="107635" name="Text Box 45"/>
            <p:cNvSpPr txBox="1">
              <a:spLocks noChangeArrowheads="1"/>
            </p:cNvSpPr>
            <p:nvPr/>
          </p:nvSpPr>
          <p:spPr bwMode="auto">
            <a:xfrm>
              <a:off x="1146" y="465"/>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a:t>
              </a:r>
              <a:endParaRPr lang="en-US" sz="1800">
                <a:solidFill>
                  <a:schemeClr val="tx2"/>
                </a:solidFill>
              </a:endParaRPr>
            </a:p>
          </p:txBody>
        </p:sp>
        <p:sp>
          <p:nvSpPr>
            <p:cNvPr id="107636" name="Text Box 46"/>
            <p:cNvSpPr txBox="1">
              <a:spLocks noChangeArrowheads="1"/>
            </p:cNvSpPr>
            <p:nvPr/>
          </p:nvSpPr>
          <p:spPr bwMode="auto">
            <a:xfrm>
              <a:off x="1152" y="1392"/>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a:t>
              </a:r>
              <a:endParaRPr lang="en-US" sz="1800">
                <a:solidFill>
                  <a:schemeClr val="tx2"/>
                </a:solidFill>
              </a:endParaRPr>
            </a:p>
          </p:txBody>
        </p:sp>
        <p:sp>
          <p:nvSpPr>
            <p:cNvPr id="107637" name="Text Box 83"/>
            <p:cNvSpPr txBox="1">
              <a:spLocks noChangeArrowheads="1"/>
            </p:cNvSpPr>
            <p:nvPr/>
          </p:nvSpPr>
          <p:spPr bwMode="auto">
            <a:xfrm>
              <a:off x="418" y="1698"/>
              <a:ext cx="72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(0) Initial</a:t>
              </a:r>
            </a:p>
          </p:txBody>
        </p:sp>
      </p:grpSp>
      <p:grpSp>
        <p:nvGrpSpPr>
          <p:cNvPr id="187551" name="Group 159"/>
          <p:cNvGrpSpPr>
            <a:grpSpLocks/>
          </p:cNvGrpSpPr>
          <p:nvPr/>
        </p:nvGrpSpPr>
        <p:grpSpPr bwMode="auto">
          <a:xfrm>
            <a:off x="3429000" y="738188"/>
            <a:ext cx="1862138" cy="2301875"/>
            <a:chOff x="2160" y="465"/>
            <a:chExt cx="1173" cy="1450"/>
          </a:xfrm>
        </p:grpSpPr>
        <p:sp>
          <p:nvSpPr>
            <p:cNvPr id="107606" name="Line 47"/>
            <p:cNvSpPr>
              <a:spLocks noChangeShapeType="1"/>
            </p:cNvSpPr>
            <p:nvPr/>
          </p:nvSpPr>
          <p:spPr bwMode="auto">
            <a:xfrm>
              <a:off x="2496" y="1344"/>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07" name="Line 48"/>
            <p:cNvSpPr>
              <a:spLocks noChangeShapeType="1"/>
            </p:cNvSpPr>
            <p:nvPr/>
          </p:nvSpPr>
          <p:spPr bwMode="auto">
            <a:xfrm flipV="1">
              <a:off x="2448" y="912"/>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608" name="Oval 52"/>
            <p:cNvSpPr>
              <a:spLocks noChangeArrowheads="1"/>
            </p:cNvSpPr>
            <p:nvPr/>
          </p:nvSpPr>
          <p:spPr bwMode="auto">
            <a:xfrm>
              <a:off x="2928" y="1200"/>
              <a:ext cx="278"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b</a:t>
              </a:r>
            </a:p>
          </p:txBody>
        </p:sp>
        <p:sp>
          <p:nvSpPr>
            <p:cNvPr id="107609" name="Oval 53"/>
            <p:cNvSpPr>
              <a:spLocks noChangeArrowheads="1"/>
            </p:cNvSpPr>
            <p:nvPr/>
          </p:nvSpPr>
          <p:spPr bwMode="auto">
            <a:xfrm>
              <a:off x="2314" y="1224"/>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bg1"/>
                  </a:solidFill>
                </a:rPr>
                <a:t>a</a:t>
              </a:r>
            </a:p>
          </p:txBody>
        </p:sp>
        <p:sp>
          <p:nvSpPr>
            <p:cNvPr id="107610" name="Oval 54"/>
            <p:cNvSpPr>
              <a:spLocks noChangeArrowheads="1"/>
            </p:cNvSpPr>
            <p:nvPr/>
          </p:nvSpPr>
          <p:spPr bwMode="auto">
            <a:xfrm>
              <a:off x="2928" y="624"/>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d</a:t>
              </a:r>
            </a:p>
          </p:txBody>
        </p:sp>
        <p:sp>
          <p:nvSpPr>
            <p:cNvPr id="107611" name="Oval 55"/>
            <p:cNvSpPr>
              <a:spLocks noChangeArrowheads="1"/>
            </p:cNvSpPr>
            <p:nvPr/>
          </p:nvSpPr>
          <p:spPr bwMode="auto">
            <a:xfrm>
              <a:off x="2304" y="624"/>
              <a:ext cx="278"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c</a:t>
              </a:r>
            </a:p>
          </p:txBody>
        </p:sp>
        <p:sp>
          <p:nvSpPr>
            <p:cNvPr id="107612" name="Text Box 56"/>
            <p:cNvSpPr txBox="1">
              <a:spLocks noChangeArrowheads="1"/>
            </p:cNvSpPr>
            <p:nvPr/>
          </p:nvSpPr>
          <p:spPr bwMode="auto">
            <a:xfrm>
              <a:off x="2594" y="11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07613" name="Text Box 60"/>
            <p:cNvSpPr txBox="1">
              <a:spLocks noChangeArrowheads="1"/>
            </p:cNvSpPr>
            <p:nvPr/>
          </p:nvSpPr>
          <p:spPr bwMode="auto">
            <a:xfrm>
              <a:off x="2252" y="945"/>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sp>
          <p:nvSpPr>
            <p:cNvPr id="107614" name="Text Box 61"/>
            <p:cNvSpPr txBox="1">
              <a:spLocks noChangeArrowheads="1"/>
            </p:cNvSpPr>
            <p:nvPr/>
          </p:nvSpPr>
          <p:spPr bwMode="auto">
            <a:xfrm>
              <a:off x="2348" y="1473"/>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0</a:t>
              </a:r>
            </a:p>
          </p:txBody>
        </p:sp>
        <p:sp>
          <p:nvSpPr>
            <p:cNvPr id="107615" name="Text Box 62"/>
            <p:cNvSpPr txBox="1">
              <a:spLocks noChangeArrowheads="1"/>
            </p:cNvSpPr>
            <p:nvPr/>
          </p:nvSpPr>
          <p:spPr bwMode="auto">
            <a:xfrm>
              <a:off x="2160" y="5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3</a:t>
              </a:r>
              <a:endParaRPr lang="en-US" sz="1800">
                <a:solidFill>
                  <a:schemeClr val="tx2"/>
                </a:solidFill>
              </a:endParaRPr>
            </a:p>
          </p:txBody>
        </p:sp>
        <p:sp>
          <p:nvSpPr>
            <p:cNvPr id="107616" name="Text Box 63"/>
            <p:cNvSpPr txBox="1">
              <a:spLocks noChangeArrowheads="1"/>
            </p:cNvSpPr>
            <p:nvPr/>
          </p:nvSpPr>
          <p:spPr bwMode="auto">
            <a:xfrm>
              <a:off x="3114" y="465"/>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a:t>
              </a:r>
              <a:endParaRPr lang="en-US" sz="1800">
                <a:solidFill>
                  <a:schemeClr val="tx2"/>
                </a:solidFill>
              </a:endParaRPr>
            </a:p>
          </p:txBody>
        </p:sp>
        <p:sp>
          <p:nvSpPr>
            <p:cNvPr id="107617" name="Text Box 64"/>
            <p:cNvSpPr txBox="1">
              <a:spLocks noChangeArrowheads="1"/>
            </p:cNvSpPr>
            <p:nvPr/>
          </p:nvSpPr>
          <p:spPr bwMode="auto">
            <a:xfrm>
              <a:off x="3120" y="1392"/>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1</a:t>
              </a:r>
              <a:endParaRPr lang="en-US" sz="1800">
                <a:solidFill>
                  <a:schemeClr val="tx2"/>
                </a:solidFill>
              </a:endParaRPr>
            </a:p>
          </p:txBody>
        </p:sp>
        <p:sp>
          <p:nvSpPr>
            <p:cNvPr id="107618" name="Text Box 84"/>
            <p:cNvSpPr txBox="1">
              <a:spLocks noChangeArrowheads="1"/>
            </p:cNvSpPr>
            <p:nvPr/>
          </p:nvSpPr>
          <p:spPr bwMode="auto">
            <a:xfrm>
              <a:off x="2373" y="1665"/>
              <a:ext cx="8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(1) Scan  a</a:t>
              </a:r>
            </a:p>
          </p:txBody>
        </p:sp>
      </p:grpSp>
      <p:grpSp>
        <p:nvGrpSpPr>
          <p:cNvPr id="187552" name="Group 160"/>
          <p:cNvGrpSpPr>
            <a:grpSpLocks/>
          </p:cNvGrpSpPr>
          <p:nvPr/>
        </p:nvGrpSpPr>
        <p:grpSpPr bwMode="auto">
          <a:xfrm>
            <a:off x="6629400" y="704850"/>
            <a:ext cx="1833563" cy="2259013"/>
            <a:chOff x="4176" y="444"/>
            <a:chExt cx="1155" cy="1423"/>
          </a:xfrm>
        </p:grpSpPr>
        <p:sp>
          <p:nvSpPr>
            <p:cNvPr id="107591" name="Line 65"/>
            <p:cNvSpPr>
              <a:spLocks noChangeShapeType="1"/>
            </p:cNvSpPr>
            <p:nvPr/>
          </p:nvSpPr>
          <p:spPr bwMode="auto">
            <a:xfrm>
              <a:off x="4502" y="1320"/>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92" name="Line 66"/>
            <p:cNvSpPr>
              <a:spLocks noChangeShapeType="1"/>
            </p:cNvSpPr>
            <p:nvPr/>
          </p:nvSpPr>
          <p:spPr bwMode="auto">
            <a:xfrm flipV="1">
              <a:off x="4454" y="888"/>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93" name="Line 68"/>
            <p:cNvSpPr>
              <a:spLocks noChangeShapeType="1"/>
            </p:cNvSpPr>
            <p:nvPr/>
          </p:nvSpPr>
          <p:spPr bwMode="auto">
            <a:xfrm>
              <a:off x="4454" y="744"/>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94" name="Oval 70"/>
            <p:cNvSpPr>
              <a:spLocks noChangeArrowheads="1"/>
            </p:cNvSpPr>
            <p:nvPr/>
          </p:nvSpPr>
          <p:spPr bwMode="auto">
            <a:xfrm>
              <a:off x="4934" y="1176"/>
              <a:ext cx="278"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b</a:t>
              </a:r>
            </a:p>
          </p:txBody>
        </p:sp>
        <p:sp>
          <p:nvSpPr>
            <p:cNvPr id="107595" name="Oval 71"/>
            <p:cNvSpPr>
              <a:spLocks noChangeArrowheads="1"/>
            </p:cNvSpPr>
            <p:nvPr/>
          </p:nvSpPr>
          <p:spPr bwMode="auto">
            <a:xfrm>
              <a:off x="4320" y="1200"/>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bg1"/>
                  </a:solidFill>
                </a:rPr>
                <a:t>a</a:t>
              </a:r>
            </a:p>
          </p:txBody>
        </p:sp>
        <p:sp>
          <p:nvSpPr>
            <p:cNvPr id="107596" name="Oval 72"/>
            <p:cNvSpPr>
              <a:spLocks noChangeArrowheads="1"/>
            </p:cNvSpPr>
            <p:nvPr/>
          </p:nvSpPr>
          <p:spPr bwMode="auto">
            <a:xfrm>
              <a:off x="4934" y="600"/>
              <a:ext cx="278"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d</a:t>
              </a:r>
            </a:p>
          </p:txBody>
        </p:sp>
        <p:sp>
          <p:nvSpPr>
            <p:cNvPr id="107597" name="Oval 73"/>
            <p:cNvSpPr>
              <a:spLocks noChangeArrowheads="1"/>
            </p:cNvSpPr>
            <p:nvPr/>
          </p:nvSpPr>
          <p:spPr bwMode="auto">
            <a:xfrm>
              <a:off x="4310" y="600"/>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bg1"/>
                  </a:solidFill>
                </a:rPr>
                <a:t>c</a:t>
              </a:r>
            </a:p>
          </p:txBody>
        </p:sp>
        <p:sp>
          <p:nvSpPr>
            <p:cNvPr id="107598" name="Text Box 74"/>
            <p:cNvSpPr txBox="1">
              <a:spLocks noChangeArrowheads="1"/>
            </p:cNvSpPr>
            <p:nvPr/>
          </p:nvSpPr>
          <p:spPr bwMode="auto">
            <a:xfrm>
              <a:off x="4600" y="1104"/>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07599" name="Text Box 76"/>
            <p:cNvSpPr txBox="1">
              <a:spLocks noChangeArrowheads="1"/>
            </p:cNvSpPr>
            <p:nvPr/>
          </p:nvSpPr>
          <p:spPr bwMode="auto">
            <a:xfrm>
              <a:off x="4618" y="489"/>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107600" name="Text Box 78"/>
            <p:cNvSpPr txBox="1">
              <a:spLocks noChangeArrowheads="1"/>
            </p:cNvSpPr>
            <p:nvPr/>
          </p:nvSpPr>
          <p:spPr bwMode="auto">
            <a:xfrm>
              <a:off x="4258" y="921"/>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sp>
          <p:nvSpPr>
            <p:cNvPr id="107601" name="Text Box 79"/>
            <p:cNvSpPr txBox="1">
              <a:spLocks noChangeArrowheads="1"/>
            </p:cNvSpPr>
            <p:nvPr/>
          </p:nvSpPr>
          <p:spPr bwMode="auto">
            <a:xfrm>
              <a:off x="4354" y="1449"/>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0</a:t>
              </a:r>
            </a:p>
          </p:txBody>
        </p:sp>
        <p:sp>
          <p:nvSpPr>
            <p:cNvPr id="107602" name="Text Box 80"/>
            <p:cNvSpPr txBox="1">
              <a:spLocks noChangeArrowheads="1"/>
            </p:cNvSpPr>
            <p:nvPr/>
          </p:nvSpPr>
          <p:spPr bwMode="auto">
            <a:xfrm>
              <a:off x="4176" y="48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3</a:t>
              </a:r>
              <a:endParaRPr lang="en-US" sz="1800">
                <a:solidFill>
                  <a:schemeClr val="tx2"/>
                </a:solidFill>
              </a:endParaRPr>
            </a:p>
          </p:txBody>
        </p:sp>
        <p:sp>
          <p:nvSpPr>
            <p:cNvPr id="107603" name="Text Box 81"/>
            <p:cNvSpPr txBox="1">
              <a:spLocks noChangeArrowheads="1"/>
            </p:cNvSpPr>
            <p:nvPr/>
          </p:nvSpPr>
          <p:spPr bwMode="auto">
            <a:xfrm>
              <a:off x="5135" y="444"/>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1</a:t>
              </a:r>
              <a:endParaRPr lang="en-US" sz="1800">
                <a:solidFill>
                  <a:schemeClr val="tx2"/>
                </a:solidFill>
              </a:endParaRPr>
            </a:p>
          </p:txBody>
        </p:sp>
        <p:sp>
          <p:nvSpPr>
            <p:cNvPr id="107604" name="Text Box 82"/>
            <p:cNvSpPr txBox="1">
              <a:spLocks noChangeArrowheads="1"/>
            </p:cNvSpPr>
            <p:nvPr/>
          </p:nvSpPr>
          <p:spPr bwMode="auto">
            <a:xfrm>
              <a:off x="5126" y="1368"/>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1</a:t>
              </a:r>
              <a:endParaRPr lang="en-US" sz="1800">
                <a:solidFill>
                  <a:schemeClr val="tx2"/>
                </a:solidFill>
              </a:endParaRPr>
            </a:p>
          </p:txBody>
        </p:sp>
        <p:sp>
          <p:nvSpPr>
            <p:cNvPr id="107605" name="Text Box 85"/>
            <p:cNvSpPr txBox="1">
              <a:spLocks noChangeArrowheads="1"/>
            </p:cNvSpPr>
            <p:nvPr/>
          </p:nvSpPr>
          <p:spPr bwMode="auto">
            <a:xfrm>
              <a:off x="4377" y="1617"/>
              <a:ext cx="8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(2) Scan  c</a:t>
              </a:r>
            </a:p>
          </p:txBody>
        </p:sp>
      </p:grpSp>
      <p:grpSp>
        <p:nvGrpSpPr>
          <p:cNvPr id="187553" name="Group 161"/>
          <p:cNvGrpSpPr>
            <a:grpSpLocks/>
          </p:cNvGrpSpPr>
          <p:nvPr/>
        </p:nvGrpSpPr>
        <p:grpSpPr bwMode="auto">
          <a:xfrm>
            <a:off x="374650" y="3633788"/>
            <a:ext cx="1703388" cy="2301875"/>
            <a:chOff x="236" y="2289"/>
            <a:chExt cx="1073" cy="1450"/>
          </a:xfrm>
        </p:grpSpPr>
        <p:sp>
          <p:nvSpPr>
            <p:cNvPr id="107576" name="Line 86"/>
            <p:cNvSpPr>
              <a:spLocks noChangeShapeType="1"/>
            </p:cNvSpPr>
            <p:nvPr/>
          </p:nvSpPr>
          <p:spPr bwMode="auto">
            <a:xfrm>
              <a:off x="480" y="3216"/>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77" name="Line 87"/>
            <p:cNvSpPr>
              <a:spLocks noChangeShapeType="1"/>
            </p:cNvSpPr>
            <p:nvPr/>
          </p:nvSpPr>
          <p:spPr bwMode="auto">
            <a:xfrm flipV="1">
              <a:off x="432" y="2784"/>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78" name="Line 89"/>
            <p:cNvSpPr>
              <a:spLocks noChangeShapeType="1"/>
            </p:cNvSpPr>
            <p:nvPr/>
          </p:nvSpPr>
          <p:spPr bwMode="auto">
            <a:xfrm>
              <a:off x="432" y="2640"/>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79" name="Oval 91"/>
            <p:cNvSpPr>
              <a:spLocks noChangeArrowheads="1"/>
            </p:cNvSpPr>
            <p:nvPr/>
          </p:nvSpPr>
          <p:spPr bwMode="auto">
            <a:xfrm>
              <a:off x="912" y="3072"/>
              <a:ext cx="278"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b</a:t>
              </a:r>
            </a:p>
          </p:txBody>
        </p:sp>
        <p:sp>
          <p:nvSpPr>
            <p:cNvPr id="107580" name="Oval 92"/>
            <p:cNvSpPr>
              <a:spLocks noChangeArrowheads="1"/>
            </p:cNvSpPr>
            <p:nvPr/>
          </p:nvSpPr>
          <p:spPr bwMode="auto">
            <a:xfrm>
              <a:off x="298" y="3096"/>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bg1"/>
                  </a:solidFill>
                </a:rPr>
                <a:t>a</a:t>
              </a:r>
            </a:p>
          </p:txBody>
        </p:sp>
        <p:sp>
          <p:nvSpPr>
            <p:cNvPr id="107581" name="Oval 93"/>
            <p:cNvSpPr>
              <a:spLocks noChangeArrowheads="1"/>
            </p:cNvSpPr>
            <p:nvPr/>
          </p:nvSpPr>
          <p:spPr bwMode="auto">
            <a:xfrm>
              <a:off x="912" y="2496"/>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bg1"/>
                  </a:solidFill>
                </a:rPr>
                <a:t>d</a:t>
              </a:r>
            </a:p>
          </p:txBody>
        </p:sp>
        <p:sp>
          <p:nvSpPr>
            <p:cNvPr id="107582" name="Oval 94"/>
            <p:cNvSpPr>
              <a:spLocks noChangeArrowheads="1"/>
            </p:cNvSpPr>
            <p:nvPr/>
          </p:nvSpPr>
          <p:spPr bwMode="auto">
            <a:xfrm>
              <a:off x="288" y="2496"/>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bg1"/>
                  </a:solidFill>
                </a:rPr>
                <a:t>c</a:t>
              </a:r>
            </a:p>
          </p:txBody>
        </p:sp>
        <p:sp>
          <p:nvSpPr>
            <p:cNvPr id="107583" name="Text Box 95"/>
            <p:cNvSpPr txBox="1">
              <a:spLocks noChangeArrowheads="1"/>
            </p:cNvSpPr>
            <p:nvPr/>
          </p:nvSpPr>
          <p:spPr bwMode="auto">
            <a:xfrm>
              <a:off x="578" y="300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07584" name="Text Box 97"/>
            <p:cNvSpPr txBox="1">
              <a:spLocks noChangeArrowheads="1"/>
            </p:cNvSpPr>
            <p:nvPr/>
          </p:nvSpPr>
          <p:spPr bwMode="auto">
            <a:xfrm>
              <a:off x="596" y="2385"/>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107585" name="Text Box 99"/>
            <p:cNvSpPr txBox="1">
              <a:spLocks noChangeArrowheads="1"/>
            </p:cNvSpPr>
            <p:nvPr/>
          </p:nvSpPr>
          <p:spPr bwMode="auto">
            <a:xfrm>
              <a:off x="236" y="2817"/>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sp>
          <p:nvSpPr>
            <p:cNvPr id="107586" name="Text Box 100"/>
            <p:cNvSpPr txBox="1">
              <a:spLocks noChangeArrowheads="1"/>
            </p:cNvSpPr>
            <p:nvPr/>
          </p:nvSpPr>
          <p:spPr bwMode="auto">
            <a:xfrm>
              <a:off x="332" y="3345"/>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0</a:t>
              </a:r>
            </a:p>
          </p:txBody>
        </p:sp>
        <p:sp>
          <p:nvSpPr>
            <p:cNvPr id="107587" name="Text Box 101"/>
            <p:cNvSpPr txBox="1">
              <a:spLocks noChangeArrowheads="1"/>
            </p:cNvSpPr>
            <p:nvPr/>
          </p:nvSpPr>
          <p:spPr bwMode="auto">
            <a:xfrm>
              <a:off x="332" y="2289"/>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3</a:t>
              </a:r>
              <a:endParaRPr lang="en-US" sz="1800">
                <a:solidFill>
                  <a:schemeClr val="tx2"/>
                </a:solidFill>
              </a:endParaRPr>
            </a:p>
          </p:txBody>
        </p:sp>
        <p:sp>
          <p:nvSpPr>
            <p:cNvPr id="107588" name="Text Box 102"/>
            <p:cNvSpPr txBox="1">
              <a:spLocks noChangeArrowheads="1"/>
            </p:cNvSpPr>
            <p:nvPr/>
          </p:nvSpPr>
          <p:spPr bwMode="auto">
            <a:xfrm>
              <a:off x="1113" y="234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1</a:t>
              </a:r>
              <a:endParaRPr lang="en-US" sz="1800">
                <a:solidFill>
                  <a:schemeClr val="tx2"/>
                </a:solidFill>
              </a:endParaRPr>
            </a:p>
          </p:txBody>
        </p:sp>
        <p:sp>
          <p:nvSpPr>
            <p:cNvPr id="107589" name="Text Box 103"/>
            <p:cNvSpPr txBox="1">
              <a:spLocks noChangeArrowheads="1"/>
            </p:cNvSpPr>
            <p:nvPr/>
          </p:nvSpPr>
          <p:spPr bwMode="auto">
            <a:xfrm>
              <a:off x="1104" y="3264"/>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1</a:t>
              </a:r>
              <a:endParaRPr lang="en-US" sz="1800">
                <a:solidFill>
                  <a:schemeClr val="tx2"/>
                </a:solidFill>
              </a:endParaRPr>
            </a:p>
          </p:txBody>
        </p:sp>
        <p:sp>
          <p:nvSpPr>
            <p:cNvPr id="107590" name="Text Box 104"/>
            <p:cNvSpPr txBox="1">
              <a:spLocks noChangeArrowheads="1"/>
            </p:cNvSpPr>
            <p:nvPr/>
          </p:nvSpPr>
          <p:spPr bwMode="auto">
            <a:xfrm>
              <a:off x="344" y="3489"/>
              <a:ext cx="81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(3) Scan  d</a:t>
              </a:r>
            </a:p>
          </p:txBody>
        </p:sp>
      </p:grpSp>
      <p:grpSp>
        <p:nvGrpSpPr>
          <p:cNvPr id="187554" name="Group 162"/>
          <p:cNvGrpSpPr>
            <a:grpSpLocks/>
          </p:cNvGrpSpPr>
          <p:nvPr/>
        </p:nvGrpSpPr>
        <p:grpSpPr bwMode="auto">
          <a:xfrm>
            <a:off x="2895600" y="3633788"/>
            <a:ext cx="1620838" cy="2301875"/>
            <a:chOff x="1824" y="2289"/>
            <a:chExt cx="1021" cy="1450"/>
          </a:xfrm>
        </p:grpSpPr>
        <p:sp>
          <p:nvSpPr>
            <p:cNvPr id="107561" name="Line 105"/>
            <p:cNvSpPr>
              <a:spLocks noChangeShapeType="1"/>
            </p:cNvSpPr>
            <p:nvPr/>
          </p:nvSpPr>
          <p:spPr bwMode="auto">
            <a:xfrm>
              <a:off x="2016" y="3216"/>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62" name="Line 108"/>
            <p:cNvSpPr>
              <a:spLocks noChangeShapeType="1"/>
            </p:cNvSpPr>
            <p:nvPr/>
          </p:nvSpPr>
          <p:spPr bwMode="auto">
            <a:xfrm>
              <a:off x="1968" y="2640"/>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63" name="Line 109"/>
            <p:cNvSpPr>
              <a:spLocks noChangeShapeType="1"/>
            </p:cNvSpPr>
            <p:nvPr/>
          </p:nvSpPr>
          <p:spPr bwMode="auto">
            <a:xfrm flipH="1" flipV="1">
              <a:off x="2064" y="2736"/>
              <a:ext cx="528"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64" name="Oval 110"/>
            <p:cNvSpPr>
              <a:spLocks noChangeArrowheads="1"/>
            </p:cNvSpPr>
            <p:nvPr/>
          </p:nvSpPr>
          <p:spPr bwMode="auto">
            <a:xfrm>
              <a:off x="2448" y="3072"/>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bg1"/>
                  </a:solidFill>
                </a:rPr>
                <a:t>b</a:t>
              </a:r>
            </a:p>
          </p:txBody>
        </p:sp>
        <p:sp>
          <p:nvSpPr>
            <p:cNvPr id="107565" name="Oval 111"/>
            <p:cNvSpPr>
              <a:spLocks noChangeArrowheads="1"/>
            </p:cNvSpPr>
            <p:nvPr/>
          </p:nvSpPr>
          <p:spPr bwMode="auto">
            <a:xfrm>
              <a:off x="1834" y="3096"/>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bg1"/>
                  </a:solidFill>
                </a:rPr>
                <a:t>a</a:t>
              </a:r>
            </a:p>
          </p:txBody>
        </p:sp>
        <p:sp>
          <p:nvSpPr>
            <p:cNvPr id="107566" name="Oval 112"/>
            <p:cNvSpPr>
              <a:spLocks noChangeArrowheads="1"/>
            </p:cNvSpPr>
            <p:nvPr/>
          </p:nvSpPr>
          <p:spPr bwMode="auto">
            <a:xfrm>
              <a:off x="2448" y="2496"/>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bg1"/>
                  </a:solidFill>
                </a:rPr>
                <a:t>d</a:t>
              </a:r>
            </a:p>
          </p:txBody>
        </p:sp>
        <p:sp>
          <p:nvSpPr>
            <p:cNvPr id="107567" name="Oval 113"/>
            <p:cNvSpPr>
              <a:spLocks noChangeArrowheads="1"/>
            </p:cNvSpPr>
            <p:nvPr/>
          </p:nvSpPr>
          <p:spPr bwMode="auto">
            <a:xfrm>
              <a:off x="1824" y="2496"/>
              <a:ext cx="278"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t>c</a:t>
              </a:r>
            </a:p>
          </p:txBody>
        </p:sp>
        <p:sp>
          <p:nvSpPr>
            <p:cNvPr id="107568" name="Text Box 114"/>
            <p:cNvSpPr txBox="1">
              <a:spLocks noChangeArrowheads="1"/>
            </p:cNvSpPr>
            <p:nvPr/>
          </p:nvSpPr>
          <p:spPr bwMode="auto">
            <a:xfrm>
              <a:off x="2114" y="300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07569" name="Text Box 115"/>
            <p:cNvSpPr txBox="1">
              <a:spLocks noChangeArrowheads="1"/>
            </p:cNvSpPr>
            <p:nvPr/>
          </p:nvSpPr>
          <p:spPr bwMode="auto">
            <a:xfrm>
              <a:off x="2228" y="2769"/>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07570" name="Text Box 116"/>
            <p:cNvSpPr txBox="1">
              <a:spLocks noChangeArrowheads="1"/>
            </p:cNvSpPr>
            <p:nvPr/>
          </p:nvSpPr>
          <p:spPr bwMode="auto">
            <a:xfrm>
              <a:off x="2132" y="2385"/>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107571" name="Text Box 119"/>
            <p:cNvSpPr txBox="1">
              <a:spLocks noChangeArrowheads="1"/>
            </p:cNvSpPr>
            <p:nvPr/>
          </p:nvSpPr>
          <p:spPr bwMode="auto">
            <a:xfrm>
              <a:off x="1868" y="3345"/>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0</a:t>
              </a:r>
            </a:p>
          </p:txBody>
        </p:sp>
        <p:sp>
          <p:nvSpPr>
            <p:cNvPr id="107572" name="Text Box 120"/>
            <p:cNvSpPr txBox="1">
              <a:spLocks noChangeArrowheads="1"/>
            </p:cNvSpPr>
            <p:nvPr/>
          </p:nvSpPr>
          <p:spPr bwMode="auto">
            <a:xfrm>
              <a:off x="1868" y="2289"/>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0</a:t>
              </a:r>
              <a:endParaRPr lang="en-US" sz="1800">
                <a:solidFill>
                  <a:schemeClr val="tx2"/>
                </a:solidFill>
              </a:endParaRPr>
            </a:p>
          </p:txBody>
        </p:sp>
        <p:sp>
          <p:nvSpPr>
            <p:cNvPr id="107573" name="Text Box 121"/>
            <p:cNvSpPr txBox="1">
              <a:spLocks noChangeArrowheads="1"/>
            </p:cNvSpPr>
            <p:nvPr/>
          </p:nvSpPr>
          <p:spPr bwMode="auto">
            <a:xfrm>
              <a:off x="2649" y="234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1</a:t>
              </a:r>
              <a:endParaRPr lang="en-US" sz="1800">
                <a:solidFill>
                  <a:schemeClr val="tx2"/>
                </a:solidFill>
              </a:endParaRPr>
            </a:p>
          </p:txBody>
        </p:sp>
        <p:sp>
          <p:nvSpPr>
            <p:cNvPr id="107574" name="Text Box 122"/>
            <p:cNvSpPr txBox="1">
              <a:spLocks noChangeArrowheads="1"/>
            </p:cNvSpPr>
            <p:nvPr/>
          </p:nvSpPr>
          <p:spPr bwMode="auto">
            <a:xfrm>
              <a:off x="2640" y="3264"/>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1</a:t>
              </a:r>
              <a:endParaRPr lang="en-US" sz="1800">
                <a:solidFill>
                  <a:schemeClr val="tx2"/>
                </a:solidFill>
              </a:endParaRPr>
            </a:p>
          </p:txBody>
        </p:sp>
        <p:sp>
          <p:nvSpPr>
            <p:cNvPr id="107575" name="Text Box 123"/>
            <p:cNvSpPr txBox="1">
              <a:spLocks noChangeArrowheads="1"/>
            </p:cNvSpPr>
            <p:nvPr/>
          </p:nvSpPr>
          <p:spPr bwMode="auto">
            <a:xfrm>
              <a:off x="1928" y="3489"/>
              <a:ext cx="81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(4) Scan  b</a:t>
              </a:r>
            </a:p>
          </p:txBody>
        </p:sp>
      </p:grpSp>
      <p:grpSp>
        <p:nvGrpSpPr>
          <p:cNvPr id="187555" name="Group 163"/>
          <p:cNvGrpSpPr>
            <a:grpSpLocks/>
          </p:cNvGrpSpPr>
          <p:nvPr/>
        </p:nvGrpSpPr>
        <p:grpSpPr bwMode="auto">
          <a:xfrm>
            <a:off x="5257800" y="3709988"/>
            <a:ext cx="1646238" cy="2301875"/>
            <a:chOff x="3312" y="2337"/>
            <a:chExt cx="1037" cy="1450"/>
          </a:xfrm>
        </p:grpSpPr>
        <p:sp>
          <p:nvSpPr>
            <p:cNvPr id="107546" name="Line 124"/>
            <p:cNvSpPr>
              <a:spLocks noChangeShapeType="1"/>
            </p:cNvSpPr>
            <p:nvPr/>
          </p:nvSpPr>
          <p:spPr bwMode="auto">
            <a:xfrm>
              <a:off x="3504" y="3264"/>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47" name="Line 127"/>
            <p:cNvSpPr>
              <a:spLocks noChangeShapeType="1"/>
            </p:cNvSpPr>
            <p:nvPr/>
          </p:nvSpPr>
          <p:spPr bwMode="auto">
            <a:xfrm>
              <a:off x="3456" y="2688"/>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48" name="Line 128"/>
            <p:cNvSpPr>
              <a:spLocks noChangeShapeType="1"/>
            </p:cNvSpPr>
            <p:nvPr/>
          </p:nvSpPr>
          <p:spPr bwMode="auto">
            <a:xfrm flipH="1" flipV="1">
              <a:off x="3552" y="2784"/>
              <a:ext cx="528"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49" name="Oval 129"/>
            <p:cNvSpPr>
              <a:spLocks noChangeArrowheads="1"/>
            </p:cNvSpPr>
            <p:nvPr/>
          </p:nvSpPr>
          <p:spPr bwMode="auto">
            <a:xfrm>
              <a:off x="3936" y="3120"/>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bg1"/>
                  </a:solidFill>
                </a:rPr>
                <a:t>b</a:t>
              </a:r>
            </a:p>
          </p:txBody>
        </p:sp>
        <p:sp>
          <p:nvSpPr>
            <p:cNvPr id="107550" name="Oval 130"/>
            <p:cNvSpPr>
              <a:spLocks noChangeArrowheads="1"/>
            </p:cNvSpPr>
            <p:nvPr/>
          </p:nvSpPr>
          <p:spPr bwMode="auto">
            <a:xfrm>
              <a:off x="3322" y="3144"/>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bg1"/>
                  </a:solidFill>
                </a:rPr>
                <a:t>a</a:t>
              </a:r>
            </a:p>
          </p:txBody>
        </p:sp>
        <p:sp>
          <p:nvSpPr>
            <p:cNvPr id="107551" name="Oval 131"/>
            <p:cNvSpPr>
              <a:spLocks noChangeArrowheads="1"/>
            </p:cNvSpPr>
            <p:nvPr/>
          </p:nvSpPr>
          <p:spPr bwMode="auto">
            <a:xfrm>
              <a:off x="3936" y="2544"/>
              <a:ext cx="278"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t>d</a:t>
              </a:r>
            </a:p>
          </p:txBody>
        </p:sp>
        <p:sp>
          <p:nvSpPr>
            <p:cNvPr id="107552" name="Oval 132"/>
            <p:cNvSpPr>
              <a:spLocks noChangeArrowheads="1"/>
            </p:cNvSpPr>
            <p:nvPr/>
          </p:nvSpPr>
          <p:spPr bwMode="auto">
            <a:xfrm>
              <a:off x="3312" y="2544"/>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bg1"/>
                  </a:solidFill>
                </a:rPr>
                <a:t>c</a:t>
              </a:r>
            </a:p>
          </p:txBody>
        </p:sp>
        <p:sp>
          <p:nvSpPr>
            <p:cNvPr id="107553" name="Text Box 133"/>
            <p:cNvSpPr txBox="1">
              <a:spLocks noChangeArrowheads="1"/>
            </p:cNvSpPr>
            <p:nvPr/>
          </p:nvSpPr>
          <p:spPr bwMode="auto">
            <a:xfrm>
              <a:off x="3602" y="304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07554" name="Text Box 134"/>
            <p:cNvSpPr txBox="1">
              <a:spLocks noChangeArrowheads="1"/>
            </p:cNvSpPr>
            <p:nvPr/>
          </p:nvSpPr>
          <p:spPr bwMode="auto">
            <a:xfrm>
              <a:off x="3716" y="2817"/>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07555" name="Text Box 135"/>
            <p:cNvSpPr txBox="1">
              <a:spLocks noChangeArrowheads="1"/>
            </p:cNvSpPr>
            <p:nvPr/>
          </p:nvSpPr>
          <p:spPr bwMode="auto">
            <a:xfrm>
              <a:off x="3620" y="2433"/>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107556" name="Text Box 138"/>
            <p:cNvSpPr txBox="1">
              <a:spLocks noChangeArrowheads="1"/>
            </p:cNvSpPr>
            <p:nvPr/>
          </p:nvSpPr>
          <p:spPr bwMode="auto">
            <a:xfrm>
              <a:off x="3356" y="3393"/>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0</a:t>
              </a:r>
            </a:p>
          </p:txBody>
        </p:sp>
        <p:sp>
          <p:nvSpPr>
            <p:cNvPr id="107557" name="Text Box 139"/>
            <p:cNvSpPr txBox="1">
              <a:spLocks noChangeArrowheads="1"/>
            </p:cNvSpPr>
            <p:nvPr/>
          </p:nvSpPr>
          <p:spPr bwMode="auto">
            <a:xfrm>
              <a:off x="3356" y="2337"/>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0</a:t>
              </a:r>
              <a:endParaRPr lang="en-US" sz="1800">
                <a:solidFill>
                  <a:schemeClr val="tx2"/>
                </a:solidFill>
              </a:endParaRPr>
            </a:p>
          </p:txBody>
        </p:sp>
        <p:sp>
          <p:nvSpPr>
            <p:cNvPr id="107558" name="Text Box 140"/>
            <p:cNvSpPr txBox="1">
              <a:spLocks noChangeArrowheads="1"/>
            </p:cNvSpPr>
            <p:nvPr/>
          </p:nvSpPr>
          <p:spPr bwMode="auto">
            <a:xfrm>
              <a:off x="4113" y="2388"/>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-2</a:t>
              </a:r>
              <a:endParaRPr lang="en-US" sz="1800">
                <a:solidFill>
                  <a:schemeClr val="tx2"/>
                </a:solidFill>
              </a:endParaRPr>
            </a:p>
          </p:txBody>
        </p:sp>
        <p:sp>
          <p:nvSpPr>
            <p:cNvPr id="107559" name="Text Box 141"/>
            <p:cNvSpPr txBox="1">
              <a:spLocks noChangeArrowheads="1"/>
            </p:cNvSpPr>
            <p:nvPr/>
          </p:nvSpPr>
          <p:spPr bwMode="auto">
            <a:xfrm>
              <a:off x="4128" y="3312"/>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1</a:t>
              </a:r>
              <a:endParaRPr lang="en-US" sz="1800">
                <a:solidFill>
                  <a:schemeClr val="tx2"/>
                </a:solidFill>
              </a:endParaRPr>
            </a:p>
          </p:txBody>
        </p:sp>
        <p:sp>
          <p:nvSpPr>
            <p:cNvPr id="107560" name="Text Box 142"/>
            <p:cNvSpPr txBox="1">
              <a:spLocks noChangeArrowheads="1"/>
            </p:cNvSpPr>
            <p:nvPr/>
          </p:nvSpPr>
          <p:spPr bwMode="auto">
            <a:xfrm>
              <a:off x="3369" y="3537"/>
              <a:ext cx="8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(5) Scan  c</a:t>
              </a:r>
            </a:p>
          </p:txBody>
        </p:sp>
      </p:grpSp>
      <p:grpSp>
        <p:nvGrpSpPr>
          <p:cNvPr id="187556" name="Group 164"/>
          <p:cNvGrpSpPr>
            <a:grpSpLocks/>
          </p:cNvGrpSpPr>
          <p:nvPr/>
        </p:nvGrpSpPr>
        <p:grpSpPr bwMode="auto">
          <a:xfrm>
            <a:off x="7391400" y="3709988"/>
            <a:ext cx="1646238" cy="2301875"/>
            <a:chOff x="4656" y="2337"/>
            <a:chExt cx="1037" cy="1450"/>
          </a:xfrm>
        </p:grpSpPr>
        <p:sp>
          <p:nvSpPr>
            <p:cNvPr id="107531" name="Line 143"/>
            <p:cNvSpPr>
              <a:spLocks noChangeShapeType="1"/>
            </p:cNvSpPr>
            <p:nvPr/>
          </p:nvSpPr>
          <p:spPr bwMode="auto">
            <a:xfrm>
              <a:off x="4848" y="3264"/>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32" name="Line 144"/>
            <p:cNvSpPr>
              <a:spLocks noChangeShapeType="1"/>
            </p:cNvSpPr>
            <p:nvPr/>
          </p:nvSpPr>
          <p:spPr bwMode="auto">
            <a:xfrm>
              <a:off x="4800" y="2688"/>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33" name="Line 145"/>
            <p:cNvSpPr>
              <a:spLocks noChangeShapeType="1"/>
            </p:cNvSpPr>
            <p:nvPr/>
          </p:nvSpPr>
          <p:spPr bwMode="auto">
            <a:xfrm flipH="1" flipV="1">
              <a:off x="4896" y="2784"/>
              <a:ext cx="528"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7534" name="Oval 146"/>
            <p:cNvSpPr>
              <a:spLocks noChangeArrowheads="1"/>
            </p:cNvSpPr>
            <p:nvPr/>
          </p:nvSpPr>
          <p:spPr bwMode="auto">
            <a:xfrm>
              <a:off x="5280" y="3120"/>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bg1"/>
                  </a:solidFill>
                </a:rPr>
                <a:t>b</a:t>
              </a:r>
            </a:p>
          </p:txBody>
        </p:sp>
        <p:sp>
          <p:nvSpPr>
            <p:cNvPr id="107535" name="Oval 147"/>
            <p:cNvSpPr>
              <a:spLocks noChangeArrowheads="1"/>
            </p:cNvSpPr>
            <p:nvPr/>
          </p:nvSpPr>
          <p:spPr bwMode="auto">
            <a:xfrm>
              <a:off x="4666" y="3144"/>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bg1"/>
                  </a:solidFill>
                </a:rPr>
                <a:t>a</a:t>
              </a:r>
            </a:p>
          </p:txBody>
        </p:sp>
        <p:sp>
          <p:nvSpPr>
            <p:cNvPr id="107536" name="Oval 148"/>
            <p:cNvSpPr>
              <a:spLocks noChangeArrowheads="1"/>
            </p:cNvSpPr>
            <p:nvPr/>
          </p:nvSpPr>
          <p:spPr bwMode="auto">
            <a:xfrm>
              <a:off x="5280" y="2544"/>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bg1"/>
                  </a:solidFill>
                </a:rPr>
                <a:t>d</a:t>
              </a:r>
            </a:p>
          </p:txBody>
        </p:sp>
        <p:sp>
          <p:nvSpPr>
            <p:cNvPr id="107537" name="Oval 149"/>
            <p:cNvSpPr>
              <a:spLocks noChangeArrowheads="1"/>
            </p:cNvSpPr>
            <p:nvPr/>
          </p:nvSpPr>
          <p:spPr bwMode="auto">
            <a:xfrm>
              <a:off x="4656" y="2544"/>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bg1"/>
                  </a:solidFill>
                </a:rPr>
                <a:t>c</a:t>
              </a:r>
            </a:p>
          </p:txBody>
        </p:sp>
        <p:sp>
          <p:nvSpPr>
            <p:cNvPr id="107538" name="Text Box 150"/>
            <p:cNvSpPr txBox="1">
              <a:spLocks noChangeArrowheads="1"/>
            </p:cNvSpPr>
            <p:nvPr/>
          </p:nvSpPr>
          <p:spPr bwMode="auto">
            <a:xfrm>
              <a:off x="4946" y="304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07539" name="Text Box 151"/>
            <p:cNvSpPr txBox="1">
              <a:spLocks noChangeArrowheads="1"/>
            </p:cNvSpPr>
            <p:nvPr/>
          </p:nvSpPr>
          <p:spPr bwMode="auto">
            <a:xfrm>
              <a:off x="5060" y="2817"/>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07540" name="Text Box 152"/>
            <p:cNvSpPr txBox="1">
              <a:spLocks noChangeArrowheads="1"/>
            </p:cNvSpPr>
            <p:nvPr/>
          </p:nvSpPr>
          <p:spPr bwMode="auto">
            <a:xfrm>
              <a:off x="4964" y="2433"/>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107541" name="Text Box 153"/>
            <p:cNvSpPr txBox="1">
              <a:spLocks noChangeArrowheads="1"/>
            </p:cNvSpPr>
            <p:nvPr/>
          </p:nvSpPr>
          <p:spPr bwMode="auto">
            <a:xfrm>
              <a:off x="4700" y="3393"/>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0</a:t>
              </a:r>
            </a:p>
          </p:txBody>
        </p:sp>
        <p:sp>
          <p:nvSpPr>
            <p:cNvPr id="107542" name="Text Box 154"/>
            <p:cNvSpPr txBox="1">
              <a:spLocks noChangeArrowheads="1"/>
            </p:cNvSpPr>
            <p:nvPr/>
          </p:nvSpPr>
          <p:spPr bwMode="auto">
            <a:xfrm>
              <a:off x="4700" y="2337"/>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0</a:t>
              </a:r>
              <a:endParaRPr lang="en-US" sz="1800">
                <a:solidFill>
                  <a:schemeClr val="tx2"/>
                </a:solidFill>
              </a:endParaRPr>
            </a:p>
          </p:txBody>
        </p:sp>
        <p:sp>
          <p:nvSpPr>
            <p:cNvPr id="107543" name="Text Box 155"/>
            <p:cNvSpPr txBox="1">
              <a:spLocks noChangeArrowheads="1"/>
            </p:cNvSpPr>
            <p:nvPr/>
          </p:nvSpPr>
          <p:spPr bwMode="auto">
            <a:xfrm>
              <a:off x="5457" y="2388"/>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-2</a:t>
              </a:r>
              <a:endParaRPr lang="en-US" sz="1800">
                <a:solidFill>
                  <a:schemeClr val="tx2"/>
                </a:solidFill>
              </a:endParaRPr>
            </a:p>
          </p:txBody>
        </p:sp>
        <p:sp>
          <p:nvSpPr>
            <p:cNvPr id="107544" name="Text Box 156"/>
            <p:cNvSpPr txBox="1">
              <a:spLocks noChangeArrowheads="1"/>
            </p:cNvSpPr>
            <p:nvPr/>
          </p:nvSpPr>
          <p:spPr bwMode="auto">
            <a:xfrm>
              <a:off x="5472" y="3312"/>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1</a:t>
              </a:r>
              <a:endParaRPr lang="en-US" sz="1800">
                <a:solidFill>
                  <a:schemeClr val="tx2"/>
                </a:solidFill>
              </a:endParaRPr>
            </a:p>
          </p:txBody>
        </p:sp>
        <p:sp>
          <p:nvSpPr>
            <p:cNvPr id="107545" name="Text Box 157"/>
            <p:cNvSpPr txBox="1">
              <a:spLocks noChangeArrowheads="1"/>
            </p:cNvSpPr>
            <p:nvPr/>
          </p:nvSpPr>
          <p:spPr bwMode="auto">
            <a:xfrm>
              <a:off x="4712" y="3537"/>
              <a:ext cx="81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(6) Scan  d</a:t>
              </a:r>
            </a:p>
          </p:txBody>
        </p:sp>
      </p:grpSp>
      <p:sp>
        <p:nvSpPr>
          <p:cNvPr id="187557" name="Text Box 165"/>
          <p:cNvSpPr txBox="1">
            <a:spLocks noChangeArrowheads="1"/>
          </p:cNvSpPr>
          <p:nvPr/>
        </p:nvSpPr>
        <p:spPr bwMode="auto">
          <a:xfrm>
            <a:off x="990600" y="6248400"/>
            <a:ext cx="7265988" cy="415925"/>
          </a:xfrm>
          <a:prstGeom prst="rect">
            <a:avLst/>
          </a:prstGeom>
          <a:noFill/>
          <a:ln w="1905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Tx/>
              <a:buNone/>
            </a:pPr>
            <a:r>
              <a:rPr lang="en-US" sz="2000">
                <a:solidFill>
                  <a:schemeClr val="hlink"/>
                </a:solidFill>
              </a:rPr>
              <a:t>No labeled vertex remains.  Scanning &amp; Labeling Method terminates.</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104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87394"/>
                                        </p:tgtEl>
                                        <p:attrNameLst>
                                          <p:attrName>style.visibility</p:attrName>
                                        </p:attrNameLst>
                                      </p:cBhvr>
                                      <p:to>
                                        <p:strVal val="visible"/>
                                      </p:to>
                                    </p:set>
                                    <p:anim calcmode="lin" valueType="num">
                                      <p:cBhvr>
                                        <p:cTn id="7" dur="500" fill="hold"/>
                                        <p:tgtEl>
                                          <p:spTgt spid="187394"/>
                                        </p:tgtEl>
                                        <p:attrNameLst>
                                          <p:attrName>ppt_w</p:attrName>
                                        </p:attrNameLst>
                                      </p:cBhvr>
                                      <p:tavLst>
                                        <p:tav tm="0">
                                          <p:val>
                                            <p:fltVal val="0"/>
                                          </p:val>
                                        </p:tav>
                                        <p:tav tm="100000">
                                          <p:val>
                                            <p:strVal val="#ppt_w"/>
                                          </p:val>
                                        </p:tav>
                                      </p:tavLst>
                                    </p:anim>
                                    <p:anim calcmode="lin" valueType="num">
                                      <p:cBhvr>
                                        <p:cTn id="8" dur="500" fill="hold"/>
                                        <p:tgtEl>
                                          <p:spTgt spid="18739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187550"/>
                                        </p:tgtEl>
                                        <p:attrNameLst>
                                          <p:attrName>style.visibility</p:attrName>
                                        </p:attrNameLst>
                                      </p:cBhvr>
                                      <p:to>
                                        <p:strVal val="visible"/>
                                      </p:to>
                                    </p:set>
                                    <p:animEffect transition="in" filter="wipe(up)">
                                      <p:cBhvr>
                                        <p:cTn id="13" dur="500"/>
                                        <p:tgtEl>
                                          <p:spTgt spid="18755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87551"/>
                                        </p:tgtEl>
                                        <p:attrNameLst>
                                          <p:attrName>style.visibility</p:attrName>
                                        </p:attrNameLst>
                                      </p:cBhvr>
                                      <p:to>
                                        <p:strVal val="visible"/>
                                      </p:to>
                                    </p:set>
                                    <p:animEffect transition="in" filter="wipe(up)">
                                      <p:cBhvr>
                                        <p:cTn id="18" dur="500"/>
                                        <p:tgtEl>
                                          <p:spTgt spid="18755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187552"/>
                                        </p:tgtEl>
                                        <p:attrNameLst>
                                          <p:attrName>style.visibility</p:attrName>
                                        </p:attrNameLst>
                                      </p:cBhvr>
                                      <p:to>
                                        <p:strVal val="visible"/>
                                      </p:to>
                                    </p:set>
                                    <p:animEffect transition="in" filter="wipe(up)">
                                      <p:cBhvr>
                                        <p:cTn id="23" dur="500"/>
                                        <p:tgtEl>
                                          <p:spTgt spid="18755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187553"/>
                                        </p:tgtEl>
                                        <p:attrNameLst>
                                          <p:attrName>style.visibility</p:attrName>
                                        </p:attrNameLst>
                                      </p:cBhvr>
                                      <p:to>
                                        <p:strVal val="visible"/>
                                      </p:to>
                                    </p:set>
                                    <p:animEffect transition="in" filter="wipe(up)">
                                      <p:cBhvr>
                                        <p:cTn id="28" dur="500"/>
                                        <p:tgtEl>
                                          <p:spTgt spid="18755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187554"/>
                                        </p:tgtEl>
                                        <p:attrNameLst>
                                          <p:attrName>style.visibility</p:attrName>
                                        </p:attrNameLst>
                                      </p:cBhvr>
                                      <p:to>
                                        <p:strVal val="visible"/>
                                      </p:to>
                                    </p:set>
                                    <p:animEffect transition="in" filter="wipe(up)">
                                      <p:cBhvr>
                                        <p:cTn id="33" dur="500"/>
                                        <p:tgtEl>
                                          <p:spTgt spid="18755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187555"/>
                                        </p:tgtEl>
                                        <p:attrNameLst>
                                          <p:attrName>style.visibility</p:attrName>
                                        </p:attrNameLst>
                                      </p:cBhvr>
                                      <p:to>
                                        <p:strVal val="visible"/>
                                      </p:to>
                                    </p:set>
                                    <p:animEffect transition="in" filter="wipe(up)">
                                      <p:cBhvr>
                                        <p:cTn id="38" dur="500"/>
                                        <p:tgtEl>
                                          <p:spTgt spid="18755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187556"/>
                                        </p:tgtEl>
                                        <p:attrNameLst>
                                          <p:attrName>style.visibility</p:attrName>
                                        </p:attrNameLst>
                                      </p:cBhvr>
                                      <p:to>
                                        <p:strVal val="visible"/>
                                      </p:to>
                                    </p:set>
                                    <p:animEffect transition="in" filter="wipe(up)">
                                      <p:cBhvr>
                                        <p:cTn id="43" dur="500"/>
                                        <p:tgtEl>
                                          <p:spTgt spid="18755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87557"/>
                                        </p:tgtEl>
                                        <p:attrNameLst>
                                          <p:attrName>style.visibility</p:attrName>
                                        </p:attrNameLst>
                                      </p:cBhvr>
                                      <p:to>
                                        <p:strVal val="visible"/>
                                      </p:to>
                                    </p:set>
                                    <p:animEffect transition="in" filter="wipe(left)">
                                      <p:cBhvr>
                                        <p:cTn id="48" dur="500"/>
                                        <p:tgtEl>
                                          <p:spTgt spid="187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4" grpId="0" animBg="1" autoUpdateAnimBg="0"/>
      <p:bldP spid="187557" grpId="0" animBg="1"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chemeClr val="tx1"/>
                </a:solidFill>
                <a:latin typeface="Arial Rounded MT Bold" pitchFamily="34" charset="0"/>
              </a:rPr>
              <a:t>Efficient Scanning Orders</a:t>
            </a:r>
          </a:p>
        </p:txBody>
      </p:sp>
      <p:sp>
        <p:nvSpPr>
          <p:cNvPr id="188419" name="Text Box 3"/>
          <p:cNvSpPr txBox="1">
            <a:spLocks noChangeArrowheads="1"/>
          </p:cNvSpPr>
          <p:nvPr/>
        </p:nvSpPr>
        <p:spPr bwMode="auto">
          <a:xfrm>
            <a:off x="152400" y="838200"/>
            <a:ext cx="8839200" cy="268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6238" indent="-376238">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None/>
            </a:pPr>
            <a:r>
              <a:rPr lang="en-US" sz="2000" dirty="0">
                <a:solidFill>
                  <a:schemeClr val="tx2"/>
                </a:solidFill>
              </a:rPr>
              <a:t>Three cases considered:</a:t>
            </a:r>
          </a:p>
          <a:p>
            <a:pPr eaLnBrk="1" hangingPunct="1">
              <a:spcBef>
                <a:spcPct val="50000"/>
              </a:spcBef>
              <a:buFont typeface="Wingdings" pitchFamily="2" charset="2"/>
              <a:buAutoNum type="arabicPeriod"/>
            </a:pPr>
            <a:r>
              <a:rPr lang="en-US" sz="2000" dirty="0">
                <a:solidFill>
                  <a:srgbClr val="CC0000"/>
                </a:solidFill>
              </a:rPr>
              <a:t>[DAG]:</a:t>
            </a:r>
            <a:r>
              <a:rPr lang="en-US" sz="2000" dirty="0">
                <a:solidFill>
                  <a:schemeClr val="tx2"/>
                </a:solidFill>
              </a:rPr>
              <a:t> G is a Directed Acyclic Graph,</a:t>
            </a:r>
          </a:p>
          <a:p>
            <a:pPr eaLnBrk="1" hangingPunct="1">
              <a:spcBef>
                <a:spcPct val="50000"/>
              </a:spcBef>
              <a:buFont typeface="Wingdings" pitchFamily="2" charset="2"/>
              <a:buAutoNum type="arabicPeriod"/>
            </a:pPr>
            <a:r>
              <a:rPr lang="en-US" sz="2000" dirty="0">
                <a:solidFill>
                  <a:srgbClr val="CC0000"/>
                </a:solidFill>
              </a:rPr>
              <a:t>[w </a:t>
            </a:r>
            <a:r>
              <a:rPr lang="en-US" sz="2000" dirty="0">
                <a:solidFill>
                  <a:srgbClr val="CC0000"/>
                </a:solidFill>
                <a:sym typeface="Symbol" pitchFamily="18" charset="2"/>
              </a:rPr>
              <a:t> 0]:</a:t>
            </a:r>
            <a:r>
              <a:rPr lang="en-US" sz="2000" dirty="0">
                <a:solidFill>
                  <a:schemeClr val="tx2"/>
                </a:solidFill>
                <a:sym typeface="Symbol" pitchFamily="18" charset="2"/>
              </a:rPr>
              <a:t> </a:t>
            </a:r>
            <a:r>
              <a:rPr lang="en-US" sz="2000" dirty="0">
                <a:solidFill>
                  <a:schemeClr val="tx2"/>
                </a:solidFill>
              </a:rPr>
              <a:t>G may have cycles but all edge weights are non-negative,</a:t>
            </a:r>
          </a:p>
          <a:p>
            <a:pPr eaLnBrk="1" hangingPunct="1">
              <a:spcBef>
                <a:spcPct val="50000"/>
              </a:spcBef>
              <a:buFont typeface="Wingdings" pitchFamily="2" charset="2"/>
              <a:buAutoNum type="arabicPeriod"/>
            </a:pPr>
            <a:r>
              <a:rPr lang="en-US" sz="2000" dirty="0">
                <a:solidFill>
                  <a:srgbClr val="CC0000"/>
                </a:solidFill>
              </a:rPr>
              <a:t>[General]:</a:t>
            </a:r>
            <a:r>
              <a:rPr lang="en-US" sz="2000" dirty="0">
                <a:solidFill>
                  <a:schemeClr val="tx2"/>
                </a:solidFill>
              </a:rPr>
              <a:t>  G may have cycles and edge weights may be negative.</a:t>
            </a:r>
          </a:p>
          <a:p>
            <a:pPr eaLnBrk="1" hangingPunct="1">
              <a:spcBef>
                <a:spcPct val="50000"/>
              </a:spcBef>
              <a:buFont typeface="Wingdings" pitchFamily="2" charset="2"/>
              <a:buAutoNum type="arabicPeriod"/>
            </a:pPr>
            <a:endParaRPr lang="en-US" sz="2000" dirty="0">
              <a:solidFill>
                <a:schemeClr val="tx2"/>
              </a:solidFill>
            </a:endParaRPr>
          </a:p>
          <a:p>
            <a:pPr eaLnBrk="1" hangingPunct="1">
              <a:spcBef>
                <a:spcPct val="50000"/>
              </a:spcBef>
              <a:buFont typeface="Wingdings" pitchFamily="2" charset="2"/>
              <a:buNone/>
            </a:pPr>
            <a:r>
              <a:rPr lang="en-US" sz="2000" dirty="0">
                <a:solidFill>
                  <a:schemeClr val="tx2"/>
                </a:solidFill>
              </a:rPr>
              <a:t>We will consider these 3 cases one by one. ……………………………….. </a:t>
            </a:r>
            <a:r>
              <a:rPr lang="en-US" sz="2000" dirty="0">
                <a:solidFill>
                  <a:srgbClr val="FF0000"/>
                </a:solidFill>
              </a:rPr>
              <a:t>P.T.O.</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105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88418"/>
                                        </p:tgtEl>
                                        <p:attrNameLst>
                                          <p:attrName>style.visibility</p:attrName>
                                        </p:attrNameLst>
                                      </p:cBhvr>
                                      <p:to>
                                        <p:strVal val="visible"/>
                                      </p:to>
                                    </p:set>
                                    <p:anim calcmode="lin" valueType="num">
                                      <p:cBhvr>
                                        <p:cTn id="7" dur="500" fill="hold"/>
                                        <p:tgtEl>
                                          <p:spTgt spid="188418"/>
                                        </p:tgtEl>
                                        <p:attrNameLst>
                                          <p:attrName>ppt_w</p:attrName>
                                        </p:attrNameLst>
                                      </p:cBhvr>
                                      <p:tavLst>
                                        <p:tav tm="0">
                                          <p:val>
                                            <p:fltVal val="0"/>
                                          </p:val>
                                        </p:tav>
                                        <p:tav tm="100000">
                                          <p:val>
                                            <p:strVal val="#ppt_w"/>
                                          </p:val>
                                        </p:tav>
                                      </p:tavLst>
                                    </p:anim>
                                    <p:anim calcmode="lin" valueType="num">
                                      <p:cBhvr>
                                        <p:cTn id="8" dur="500" fill="hold"/>
                                        <p:tgtEl>
                                          <p:spTgt spid="18841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88419">
                                            <p:txEl>
                                              <p:pRg st="0" end="0"/>
                                            </p:txEl>
                                          </p:spTgt>
                                        </p:tgtEl>
                                        <p:attrNameLst>
                                          <p:attrName>style.visibility</p:attrName>
                                        </p:attrNameLst>
                                      </p:cBhvr>
                                      <p:to>
                                        <p:strVal val="visible"/>
                                      </p:to>
                                    </p:set>
                                    <p:animEffect transition="in" filter="wipe(left)">
                                      <p:cBhvr>
                                        <p:cTn id="13" dur="500"/>
                                        <p:tgtEl>
                                          <p:spTgt spid="188419">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88419">
                                            <p:txEl>
                                              <p:pRg st="1" end="1"/>
                                            </p:txEl>
                                          </p:spTgt>
                                        </p:tgtEl>
                                        <p:attrNameLst>
                                          <p:attrName>style.visibility</p:attrName>
                                        </p:attrNameLst>
                                      </p:cBhvr>
                                      <p:to>
                                        <p:strVal val="visible"/>
                                      </p:to>
                                    </p:set>
                                    <p:animEffect transition="in" filter="wipe(left)">
                                      <p:cBhvr>
                                        <p:cTn id="18" dur="500"/>
                                        <p:tgtEl>
                                          <p:spTgt spid="188419">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88419">
                                            <p:txEl>
                                              <p:pRg st="2" end="2"/>
                                            </p:txEl>
                                          </p:spTgt>
                                        </p:tgtEl>
                                        <p:attrNameLst>
                                          <p:attrName>style.visibility</p:attrName>
                                        </p:attrNameLst>
                                      </p:cBhvr>
                                      <p:to>
                                        <p:strVal val="visible"/>
                                      </p:to>
                                    </p:set>
                                    <p:animEffect transition="in" filter="wipe(left)">
                                      <p:cBhvr>
                                        <p:cTn id="23" dur="500"/>
                                        <p:tgtEl>
                                          <p:spTgt spid="188419">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88419">
                                            <p:txEl>
                                              <p:pRg st="3" end="3"/>
                                            </p:txEl>
                                          </p:spTgt>
                                        </p:tgtEl>
                                        <p:attrNameLst>
                                          <p:attrName>style.visibility</p:attrName>
                                        </p:attrNameLst>
                                      </p:cBhvr>
                                      <p:to>
                                        <p:strVal val="visible"/>
                                      </p:to>
                                    </p:set>
                                    <p:animEffect transition="in" filter="wipe(left)">
                                      <p:cBhvr>
                                        <p:cTn id="28" dur="500"/>
                                        <p:tgtEl>
                                          <p:spTgt spid="188419">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88419">
                                            <p:txEl>
                                              <p:pRg st="5" end="5"/>
                                            </p:txEl>
                                          </p:spTgt>
                                        </p:tgtEl>
                                        <p:attrNameLst>
                                          <p:attrName>style.visibility</p:attrName>
                                        </p:attrNameLst>
                                      </p:cBhvr>
                                      <p:to>
                                        <p:strVal val="visible"/>
                                      </p:to>
                                    </p:set>
                                    <p:animEffect transition="in" filter="wipe(left)">
                                      <p:cBhvr>
                                        <p:cTn id="33" dur="500"/>
                                        <p:tgtEl>
                                          <p:spTgt spid="188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8" grpId="0" animBg="1" autoUpdateAnimBg="0"/>
      <p:bldP spid="188419" grpId="0" build="p"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chemeClr val="tx1"/>
                </a:solidFill>
                <a:latin typeface="Arial Rounded MT Bold" pitchFamily="34" charset="0"/>
              </a:rPr>
              <a:t>1. G is a DAG  </a:t>
            </a:r>
            <a:r>
              <a:rPr lang="en-US" sz="2800" b="1" dirty="0" smtClean="0">
                <a:solidFill>
                  <a:srgbClr val="CC0000"/>
                </a:solidFill>
                <a:latin typeface="Arial Rounded MT Bold" pitchFamily="34" charset="0"/>
              </a:rPr>
              <a:t>[Topological]</a:t>
            </a:r>
          </a:p>
        </p:txBody>
      </p:sp>
      <p:sp>
        <p:nvSpPr>
          <p:cNvPr id="191491" name="Text Box 3"/>
          <p:cNvSpPr txBox="1">
            <a:spLocks noChangeArrowheads="1"/>
          </p:cNvSpPr>
          <p:nvPr/>
        </p:nvSpPr>
        <p:spPr bwMode="auto">
          <a:xfrm>
            <a:off x="217380" y="2514600"/>
            <a:ext cx="8839200" cy="375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2575" indent="-282575">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90000"/>
              </a:lnSpc>
              <a:spcBef>
                <a:spcPct val="50000"/>
              </a:spcBef>
              <a:buFont typeface="Wingdings" pitchFamily="2" charset="2"/>
              <a:buChar char="§"/>
            </a:pPr>
            <a:r>
              <a:rPr lang="en-US" sz="2000" dirty="0">
                <a:solidFill>
                  <a:schemeClr val="tx2"/>
                </a:solidFill>
              </a:rPr>
              <a:t>Topological order is an appropriate scanning order.</a:t>
            </a:r>
          </a:p>
          <a:p>
            <a:pPr eaLnBrk="1" hangingPunct="1">
              <a:lnSpc>
                <a:spcPct val="90000"/>
              </a:lnSpc>
              <a:spcBef>
                <a:spcPct val="50000"/>
              </a:spcBef>
              <a:buFont typeface="Wingdings" pitchFamily="2" charset="2"/>
              <a:buChar char="§"/>
            </a:pPr>
            <a:r>
              <a:rPr lang="en-US" sz="2000" dirty="0">
                <a:solidFill>
                  <a:schemeClr val="tx2"/>
                </a:solidFill>
              </a:rPr>
              <a:t>Order the vertices that are reachable from s in G so that if </a:t>
            </a:r>
            <a:r>
              <a:rPr lang="en-US" sz="2000" dirty="0" err="1">
                <a:solidFill>
                  <a:schemeClr val="tx2"/>
                </a:solidFill>
              </a:rPr>
              <a:t>u</a:t>
            </a:r>
            <a:r>
              <a:rPr lang="en-US" sz="2000" dirty="0" err="1">
                <a:solidFill>
                  <a:schemeClr val="tx2"/>
                </a:solidFill>
                <a:sym typeface="Symbol" pitchFamily="18" charset="2"/>
              </a:rPr>
              <a:t></a:t>
            </a:r>
            <a:r>
              <a:rPr lang="en-US" sz="2000" dirty="0" err="1">
                <a:solidFill>
                  <a:schemeClr val="tx2"/>
                </a:solidFill>
              </a:rPr>
              <a:t>v</a:t>
            </a:r>
            <a:r>
              <a:rPr lang="en-US" sz="2000" dirty="0">
                <a:solidFill>
                  <a:schemeClr val="tx2"/>
                </a:solidFill>
              </a:rPr>
              <a:t> is an edge of G,</a:t>
            </a:r>
            <a:br>
              <a:rPr lang="en-US" sz="2000" dirty="0">
                <a:solidFill>
                  <a:schemeClr val="tx2"/>
                </a:solidFill>
              </a:rPr>
            </a:br>
            <a:r>
              <a:rPr lang="en-US" sz="2000" dirty="0">
                <a:solidFill>
                  <a:schemeClr val="tx2"/>
                </a:solidFill>
              </a:rPr>
              <a:t>u appears before v in the order.</a:t>
            </a:r>
          </a:p>
          <a:p>
            <a:pPr eaLnBrk="1" hangingPunct="1">
              <a:lnSpc>
                <a:spcPct val="90000"/>
              </a:lnSpc>
              <a:spcBef>
                <a:spcPct val="50000"/>
              </a:spcBef>
              <a:buFont typeface="Wingdings" pitchFamily="2" charset="2"/>
              <a:buChar char="§"/>
            </a:pPr>
            <a:r>
              <a:rPr lang="en-US" sz="2000" dirty="0">
                <a:solidFill>
                  <a:schemeClr val="tx2"/>
                </a:solidFill>
              </a:rPr>
              <a:t>As we have learned, we can topologically order vertices of DAG G in O(V+E) time by doing a DFS of G and ordering the nodes in reverse-</a:t>
            </a:r>
            <a:r>
              <a:rPr lang="en-US" sz="2000" dirty="0" err="1">
                <a:solidFill>
                  <a:schemeClr val="tx2"/>
                </a:solidFill>
              </a:rPr>
              <a:t>postorder</a:t>
            </a:r>
            <a:r>
              <a:rPr lang="en-US" sz="2000" dirty="0">
                <a:solidFill>
                  <a:schemeClr val="tx2"/>
                </a:solidFill>
              </a:rPr>
              <a:t>.</a:t>
            </a:r>
          </a:p>
          <a:p>
            <a:pPr eaLnBrk="1" hangingPunct="1">
              <a:lnSpc>
                <a:spcPct val="90000"/>
              </a:lnSpc>
              <a:spcBef>
                <a:spcPct val="50000"/>
              </a:spcBef>
              <a:buFont typeface="Wingdings" pitchFamily="2" charset="2"/>
              <a:buChar char="§"/>
            </a:pPr>
            <a:r>
              <a:rPr lang="en-US" sz="2000" dirty="0">
                <a:solidFill>
                  <a:schemeClr val="tx2"/>
                </a:solidFill>
              </a:rPr>
              <a:t>Then apply the scanning step once to each vertex in topological order.</a:t>
            </a:r>
          </a:p>
          <a:p>
            <a:pPr eaLnBrk="1" hangingPunct="1">
              <a:lnSpc>
                <a:spcPct val="90000"/>
              </a:lnSpc>
              <a:spcBef>
                <a:spcPct val="50000"/>
              </a:spcBef>
              <a:buFont typeface="Wingdings" pitchFamily="2" charset="2"/>
              <a:buChar char="§"/>
            </a:pPr>
            <a:r>
              <a:rPr lang="en-US" sz="2000" dirty="0">
                <a:solidFill>
                  <a:schemeClr val="tx2"/>
                </a:solidFill>
              </a:rPr>
              <a:t>Since the scanning order is topological, once a vertex is scanned,</a:t>
            </a:r>
            <a:br>
              <a:rPr lang="en-US" sz="2000" dirty="0">
                <a:solidFill>
                  <a:schemeClr val="tx2"/>
                </a:solidFill>
              </a:rPr>
            </a:br>
            <a:r>
              <a:rPr lang="en-US" sz="2000" dirty="0">
                <a:solidFill>
                  <a:schemeClr val="tx2"/>
                </a:solidFill>
              </a:rPr>
              <a:t>it never returns to the labeled state.</a:t>
            </a:r>
          </a:p>
          <a:p>
            <a:pPr eaLnBrk="1" hangingPunct="1">
              <a:lnSpc>
                <a:spcPct val="90000"/>
              </a:lnSpc>
              <a:spcBef>
                <a:spcPct val="50000"/>
              </a:spcBef>
              <a:buFont typeface="Wingdings" pitchFamily="2" charset="2"/>
              <a:buChar char="§"/>
            </a:pPr>
            <a:r>
              <a:rPr lang="en-US" sz="2000" dirty="0">
                <a:solidFill>
                  <a:schemeClr val="tx2"/>
                </a:solidFill>
              </a:rPr>
              <a:t>So, one scan per vertex reachable from s suffices.</a:t>
            </a:r>
          </a:p>
          <a:p>
            <a:pPr eaLnBrk="1" hangingPunct="1">
              <a:lnSpc>
                <a:spcPct val="90000"/>
              </a:lnSpc>
              <a:spcBef>
                <a:spcPct val="50000"/>
              </a:spcBef>
              <a:buFont typeface="Wingdings" pitchFamily="2" charset="2"/>
              <a:buChar char="§"/>
            </a:pPr>
            <a:r>
              <a:rPr lang="en-US" sz="2000" dirty="0">
                <a:solidFill>
                  <a:schemeClr val="tx2"/>
                </a:solidFill>
              </a:rPr>
              <a:t>The running time of the algorithm is</a:t>
            </a:r>
          </a:p>
        </p:txBody>
      </p:sp>
      <p:graphicFrame>
        <p:nvGraphicFramePr>
          <p:cNvPr id="191493" name="Object 5"/>
          <p:cNvGraphicFramePr>
            <a:graphicFrameLocks noChangeAspect="1"/>
          </p:cNvGraphicFramePr>
          <p:nvPr>
            <p:extLst>
              <p:ext uri="{D42A27DB-BD31-4B8C-83A1-F6EECF244321}">
                <p14:modId xmlns:p14="http://schemas.microsoft.com/office/powerpoint/2010/main" val="2704926260"/>
              </p:ext>
            </p:extLst>
          </p:nvPr>
        </p:nvGraphicFramePr>
        <p:xfrm>
          <a:off x="4485889" y="5791200"/>
          <a:ext cx="3239453" cy="680106"/>
        </p:xfrm>
        <a:graphic>
          <a:graphicData uri="http://schemas.openxmlformats.org/presentationml/2006/ole">
            <mc:AlternateContent xmlns:mc="http://schemas.openxmlformats.org/markup-compatibility/2006">
              <mc:Choice xmlns:v="urn:schemas-microsoft-com:vml" Requires="v">
                <p:oleObj spid="_x0000_s109706" name="Equation" r:id="rId3" imgW="2298700" imgH="482600" progId="Equation.3">
                  <p:embed/>
                </p:oleObj>
              </mc:Choice>
              <mc:Fallback>
                <p:oleObj name="Equation" r:id="rId3" imgW="2298700" imgH="482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5889" y="5791200"/>
                        <a:ext cx="3239453" cy="680106"/>
                      </a:xfrm>
                      <a:prstGeom prst="rect">
                        <a:avLst/>
                      </a:prstGeom>
                      <a:noFill/>
                      <a:ln>
                        <a:noFill/>
                      </a:ln>
                      <a:effectLst/>
                      <a:extLst/>
                    </p:spPr>
                  </p:pic>
                </p:oleObj>
              </mc:Fallback>
            </mc:AlternateContent>
          </a:graphicData>
        </a:graphic>
      </p:graphicFrame>
      <p:grpSp>
        <p:nvGrpSpPr>
          <p:cNvPr id="191494" name="Group 6"/>
          <p:cNvGrpSpPr>
            <a:grpSpLocks/>
          </p:cNvGrpSpPr>
          <p:nvPr/>
        </p:nvGrpSpPr>
        <p:grpSpPr bwMode="auto">
          <a:xfrm>
            <a:off x="599765" y="838200"/>
            <a:ext cx="8001000" cy="1600200"/>
            <a:chOff x="282" y="3216"/>
            <a:chExt cx="5230" cy="990"/>
          </a:xfrm>
        </p:grpSpPr>
        <p:sp>
          <p:nvSpPr>
            <p:cNvPr id="109574" name="Line 7"/>
            <p:cNvSpPr>
              <a:spLocks noChangeShapeType="1"/>
            </p:cNvSpPr>
            <p:nvPr/>
          </p:nvSpPr>
          <p:spPr bwMode="auto">
            <a:xfrm>
              <a:off x="473" y="3614"/>
              <a:ext cx="52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9575" name="Freeform 8"/>
            <p:cNvSpPr>
              <a:spLocks/>
            </p:cNvSpPr>
            <p:nvPr/>
          </p:nvSpPr>
          <p:spPr bwMode="auto">
            <a:xfrm>
              <a:off x="432" y="3216"/>
              <a:ext cx="4217" cy="400"/>
            </a:xfrm>
            <a:custGeom>
              <a:avLst/>
              <a:gdLst>
                <a:gd name="T0" fmla="*/ 0 w 4217"/>
                <a:gd name="T1" fmla="*/ 400 h 400"/>
                <a:gd name="T2" fmla="*/ 801 w 4217"/>
                <a:gd name="T3" fmla="*/ 82 h 400"/>
                <a:gd name="T4" fmla="*/ 3515 w 4217"/>
                <a:gd name="T5" fmla="*/ 29 h 400"/>
                <a:gd name="T6" fmla="*/ 4217 w 4217"/>
                <a:gd name="T7" fmla="*/ 254 h 4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217" h="400">
                  <a:moveTo>
                    <a:pt x="0" y="400"/>
                  </a:moveTo>
                  <a:cubicBezTo>
                    <a:pt x="133" y="347"/>
                    <a:pt x="215" y="144"/>
                    <a:pt x="801" y="82"/>
                  </a:cubicBezTo>
                  <a:cubicBezTo>
                    <a:pt x="1387" y="20"/>
                    <a:pt x="2946" y="0"/>
                    <a:pt x="3515" y="29"/>
                  </a:cubicBezTo>
                  <a:cubicBezTo>
                    <a:pt x="4084" y="58"/>
                    <a:pt x="4071" y="207"/>
                    <a:pt x="4217" y="254"/>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9576" name="Freeform 9"/>
            <p:cNvSpPr>
              <a:spLocks/>
            </p:cNvSpPr>
            <p:nvPr/>
          </p:nvSpPr>
          <p:spPr bwMode="auto">
            <a:xfrm>
              <a:off x="438" y="3629"/>
              <a:ext cx="4886" cy="577"/>
            </a:xfrm>
            <a:custGeom>
              <a:avLst/>
              <a:gdLst>
                <a:gd name="T0" fmla="*/ 0 w 4886"/>
                <a:gd name="T1" fmla="*/ 0 h 577"/>
                <a:gd name="T2" fmla="*/ 556 w 4886"/>
                <a:gd name="T3" fmla="*/ 331 h 577"/>
                <a:gd name="T4" fmla="*/ 2278 w 4886"/>
                <a:gd name="T5" fmla="*/ 563 h 577"/>
                <a:gd name="T6" fmla="*/ 4284 w 4886"/>
                <a:gd name="T7" fmla="*/ 417 h 577"/>
                <a:gd name="T8" fmla="*/ 4886 w 4886"/>
                <a:gd name="T9" fmla="*/ 132 h 5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86" h="577">
                  <a:moveTo>
                    <a:pt x="0" y="0"/>
                  </a:moveTo>
                  <a:cubicBezTo>
                    <a:pt x="93" y="55"/>
                    <a:pt x="176" y="237"/>
                    <a:pt x="556" y="331"/>
                  </a:cubicBezTo>
                  <a:cubicBezTo>
                    <a:pt x="936" y="425"/>
                    <a:pt x="1657" y="549"/>
                    <a:pt x="2278" y="563"/>
                  </a:cubicBezTo>
                  <a:cubicBezTo>
                    <a:pt x="2899" y="577"/>
                    <a:pt x="3849" y="489"/>
                    <a:pt x="4284" y="417"/>
                  </a:cubicBezTo>
                  <a:cubicBezTo>
                    <a:pt x="4719" y="345"/>
                    <a:pt x="4761" y="191"/>
                    <a:pt x="4886" y="132"/>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9577" name="Freeform 10"/>
            <p:cNvSpPr>
              <a:spLocks/>
            </p:cNvSpPr>
            <p:nvPr/>
          </p:nvSpPr>
          <p:spPr bwMode="auto">
            <a:xfrm>
              <a:off x="1147" y="3622"/>
              <a:ext cx="2807" cy="393"/>
            </a:xfrm>
            <a:custGeom>
              <a:avLst/>
              <a:gdLst>
                <a:gd name="T0" fmla="*/ 0 w 2807"/>
                <a:gd name="T1" fmla="*/ 0 h 393"/>
                <a:gd name="T2" fmla="*/ 814 w 2807"/>
                <a:gd name="T3" fmla="*/ 292 h 393"/>
                <a:gd name="T4" fmla="*/ 2165 w 2807"/>
                <a:gd name="T5" fmla="*/ 371 h 393"/>
                <a:gd name="T6" fmla="*/ 2807 w 2807"/>
                <a:gd name="T7" fmla="*/ 159 h 3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7" h="393">
                  <a:moveTo>
                    <a:pt x="0" y="0"/>
                  </a:moveTo>
                  <a:cubicBezTo>
                    <a:pt x="136" y="49"/>
                    <a:pt x="453" y="230"/>
                    <a:pt x="814" y="292"/>
                  </a:cubicBezTo>
                  <a:cubicBezTo>
                    <a:pt x="1175" y="354"/>
                    <a:pt x="1833" y="393"/>
                    <a:pt x="2165" y="371"/>
                  </a:cubicBezTo>
                  <a:cubicBezTo>
                    <a:pt x="2497" y="349"/>
                    <a:pt x="2673" y="203"/>
                    <a:pt x="2807" y="159"/>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9578" name="Freeform 11"/>
            <p:cNvSpPr>
              <a:spLocks/>
            </p:cNvSpPr>
            <p:nvPr/>
          </p:nvSpPr>
          <p:spPr bwMode="auto">
            <a:xfrm>
              <a:off x="1153" y="3337"/>
              <a:ext cx="2126" cy="272"/>
            </a:xfrm>
            <a:custGeom>
              <a:avLst/>
              <a:gdLst>
                <a:gd name="T0" fmla="*/ 0 w 2126"/>
                <a:gd name="T1" fmla="*/ 272 h 272"/>
                <a:gd name="T2" fmla="*/ 503 w 2126"/>
                <a:gd name="T3" fmla="*/ 54 h 272"/>
                <a:gd name="T4" fmla="*/ 1834 w 2126"/>
                <a:gd name="T5" fmla="*/ 14 h 272"/>
                <a:gd name="T6" fmla="*/ 2126 w 2126"/>
                <a:gd name="T7" fmla="*/ 14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26" h="272">
                  <a:moveTo>
                    <a:pt x="0" y="272"/>
                  </a:moveTo>
                  <a:cubicBezTo>
                    <a:pt x="84" y="236"/>
                    <a:pt x="197" y="97"/>
                    <a:pt x="503" y="54"/>
                  </a:cubicBezTo>
                  <a:cubicBezTo>
                    <a:pt x="809" y="11"/>
                    <a:pt x="1564" y="0"/>
                    <a:pt x="1834" y="14"/>
                  </a:cubicBezTo>
                  <a:cubicBezTo>
                    <a:pt x="2104" y="28"/>
                    <a:pt x="2065" y="114"/>
                    <a:pt x="2126" y="14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9579" name="Freeform 12"/>
            <p:cNvSpPr>
              <a:spLocks/>
            </p:cNvSpPr>
            <p:nvPr/>
          </p:nvSpPr>
          <p:spPr bwMode="auto">
            <a:xfrm>
              <a:off x="1153" y="3655"/>
              <a:ext cx="3443" cy="426"/>
            </a:xfrm>
            <a:custGeom>
              <a:avLst/>
              <a:gdLst>
                <a:gd name="T0" fmla="*/ 0 w 3443"/>
                <a:gd name="T1" fmla="*/ 0 h 426"/>
                <a:gd name="T2" fmla="*/ 874 w 3443"/>
                <a:gd name="T3" fmla="*/ 371 h 426"/>
                <a:gd name="T4" fmla="*/ 2894 w 3443"/>
                <a:gd name="T5" fmla="*/ 331 h 426"/>
                <a:gd name="T6" fmla="*/ 3443 w 3443"/>
                <a:gd name="T7" fmla="*/ 73 h 4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43" h="426">
                  <a:moveTo>
                    <a:pt x="0" y="0"/>
                  </a:moveTo>
                  <a:cubicBezTo>
                    <a:pt x="146" y="62"/>
                    <a:pt x="392" y="316"/>
                    <a:pt x="874" y="371"/>
                  </a:cubicBezTo>
                  <a:cubicBezTo>
                    <a:pt x="1356" y="426"/>
                    <a:pt x="2466" y="381"/>
                    <a:pt x="2894" y="331"/>
                  </a:cubicBezTo>
                  <a:cubicBezTo>
                    <a:pt x="3322" y="281"/>
                    <a:pt x="3329" y="127"/>
                    <a:pt x="3443" y="73"/>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9580" name="Freeform 13"/>
            <p:cNvSpPr>
              <a:spLocks/>
            </p:cNvSpPr>
            <p:nvPr/>
          </p:nvSpPr>
          <p:spPr bwMode="auto">
            <a:xfrm>
              <a:off x="1862" y="3655"/>
              <a:ext cx="2039" cy="279"/>
            </a:xfrm>
            <a:custGeom>
              <a:avLst/>
              <a:gdLst>
                <a:gd name="T0" fmla="*/ 0 w 2039"/>
                <a:gd name="T1" fmla="*/ 0 h 279"/>
                <a:gd name="T2" fmla="*/ 556 w 2039"/>
                <a:gd name="T3" fmla="*/ 239 h 279"/>
                <a:gd name="T4" fmla="*/ 1516 w 2039"/>
                <a:gd name="T5" fmla="*/ 239 h 279"/>
                <a:gd name="T6" fmla="*/ 2039 w 2039"/>
                <a:gd name="T7" fmla="*/ 40 h 2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39" h="279">
                  <a:moveTo>
                    <a:pt x="0" y="0"/>
                  </a:moveTo>
                  <a:cubicBezTo>
                    <a:pt x="93" y="40"/>
                    <a:pt x="303" y="199"/>
                    <a:pt x="556" y="239"/>
                  </a:cubicBezTo>
                  <a:cubicBezTo>
                    <a:pt x="809" y="279"/>
                    <a:pt x="1269" y="272"/>
                    <a:pt x="1516" y="239"/>
                  </a:cubicBezTo>
                  <a:cubicBezTo>
                    <a:pt x="1763" y="206"/>
                    <a:pt x="1930" y="81"/>
                    <a:pt x="2039" y="4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9581" name="Freeform 14"/>
            <p:cNvSpPr>
              <a:spLocks/>
            </p:cNvSpPr>
            <p:nvPr/>
          </p:nvSpPr>
          <p:spPr bwMode="auto">
            <a:xfrm>
              <a:off x="1868" y="3655"/>
              <a:ext cx="1338" cy="191"/>
            </a:xfrm>
            <a:custGeom>
              <a:avLst/>
              <a:gdLst>
                <a:gd name="T0" fmla="*/ 0 w 1338"/>
                <a:gd name="T1" fmla="*/ 0 h 191"/>
                <a:gd name="T2" fmla="*/ 828 w 1338"/>
                <a:gd name="T3" fmla="*/ 179 h 191"/>
                <a:gd name="T4" fmla="*/ 1338 w 1338"/>
                <a:gd name="T5" fmla="*/ 73 h 191"/>
                <a:gd name="T6" fmla="*/ 0 60000 65536"/>
                <a:gd name="T7" fmla="*/ 0 60000 65536"/>
                <a:gd name="T8" fmla="*/ 0 60000 65536"/>
              </a:gdLst>
              <a:ahLst/>
              <a:cxnLst>
                <a:cxn ang="T6">
                  <a:pos x="T0" y="T1"/>
                </a:cxn>
                <a:cxn ang="T7">
                  <a:pos x="T2" y="T3"/>
                </a:cxn>
                <a:cxn ang="T8">
                  <a:pos x="T4" y="T5"/>
                </a:cxn>
              </a:cxnLst>
              <a:rect l="0" t="0" r="r" b="b"/>
              <a:pathLst>
                <a:path w="1338" h="191">
                  <a:moveTo>
                    <a:pt x="0" y="0"/>
                  </a:moveTo>
                  <a:cubicBezTo>
                    <a:pt x="138" y="30"/>
                    <a:pt x="605" y="167"/>
                    <a:pt x="828" y="179"/>
                  </a:cubicBezTo>
                  <a:cubicBezTo>
                    <a:pt x="1051" y="191"/>
                    <a:pt x="1232" y="95"/>
                    <a:pt x="1338" y="73"/>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9582" name="Line 15"/>
            <p:cNvSpPr>
              <a:spLocks noChangeShapeType="1"/>
            </p:cNvSpPr>
            <p:nvPr/>
          </p:nvSpPr>
          <p:spPr bwMode="auto">
            <a:xfrm>
              <a:off x="1913" y="3614"/>
              <a:ext cx="57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9583" name="Line 16"/>
            <p:cNvSpPr>
              <a:spLocks noChangeShapeType="1"/>
            </p:cNvSpPr>
            <p:nvPr/>
          </p:nvSpPr>
          <p:spPr bwMode="auto">
            <a:xfrm>
              <a:off x="2681" y="3614"/>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9584" name="Line 17"/>
            <p:cNvSpPr>
              <a:spLocks noChangeShapeType="1"/>
            </p:cNvSpPr>
            <p:nvPr/>
          </p:nvSpPr>
          <p:spPr bwMode="auto">
            <a:xfrm>
              <a:off x="3353" y="3614"/>
              <a:ext cx="52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9585" name="Freeform 18"/>
            <p:cNvSpPr>
              <a:spLocks/>
            </p:cNvSpPr>
            <p:nvPr/>
          </p:nvSpPr>
          <p:spPr bwMode="auto">
            <a:xfrm>
              <a:off x="3305" y="3392"/>
              <a:ext cx="1265" cy="204"/>
            </a:xfrm>
            <a:custGeom>
              <a:avLst/>
              <a:gdLst>
                <a:gd name="T0" fmla="*/ 0 w 1265"/>
                <a:gd name="T1" fmla="*/ 204 h 204"/>
                <a:gd name="T2" fmla="*/ 331 w 1265"/>
                <a:gd name="T3" fmla="*/ 32 h 204"/>
                <a:gd name="T4" fmla="*/ 927 w 1265"/>
                <a:gd name="T5" fmla="*/ 18 h 204"/>
                <a:gd name="T6" fmla="*/ 1265 w 1265"/>
                <a:gd name="T7" fmla="*/ 138 h 2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65" h="204">
                  <a:moveTo>
                    <a:pt x="0" y="204"/>
                  </a:moveTo>
                  <a:cubicBezTo>
                    <a:pt x="55" y="175"/>
                    <a:pt x="177" y="63"/>
                    <a:pt x="331" y="32"/>
                  </a:cubicBezTo>
                  <a:cubicBezTo>
                    <a:pt x="485" y="1"/>
                    <a:pt x="771" y="0"/>
                    <a:pt x="927" y="18"/>
                  </a:cubicBezTo>
                  <a:cubicBezTo>
                    <a:pt x="1083" y="36"/>
                    <a:pt x="1195" y="113"/>
                    <a:pt x="1265" y="138"/>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9586" name="Line 19"/>
            <p:cNvSpPr>
              <a:spLocks noChangeShapeType="1"/>
            </p:cNvSpPr>
            <p:nvPr/>
          </p:nvSpPr>
          <p:spPr bwMode="auto">
            <a:xfrm>
              <a:off x="4745" y="3614"/>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09587" name="Oval 20"/>
            <p:cNvSpPr>
              <a:spLocks noChangeArrowheads="1"/>
            </p:cNvSpPr>
            <p:nvPr/>
          </p:nvSpPr>
          <p:spPr bwMode="auto">
            <a:xfrm>
              <a:off x="282" y="3470"/>
              <a:ext cx="286" cy="283"/>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a</a:t>
              </a:r>
            </a:p>
          </p:txBody>
        </p:sp>
        <p:sp>
          <p:nvSpPr>
            <p:cNvPr id="109588" name="Oval 21"/>
            <p:cNvSpPr>
              <a:spLocks noChangeArrowheads="1"/>
            </p:cNvSpPr>
            <p:nvPr/>
          </p:nvSpPr>
          <p:spPr bwMode="auto">
            <a:xfrm>
              <a:off x="1002" y="3470"/>
              <a:ext cx="286" cy="283"/>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b</a:t>
              </a:r>
            </a:p>
          </p:txBody>
        </p:sp>
        <p:sp>
          <p:nvSpPr>
            <p:cNvPr id="109589" name="Oval 22"/>
            <p:cNvSpPr>
              <a:spLocks noChangeArrowheads="1"/>
            </p:cNvSpPr>
            <p:nvPr/>
          </p:nvSpPr>
          <p:spPr bwMode="auto">
            <a:xfrm>
              <a:off x="1723" y="3470"/>
              <a:ext cx="284" cy="283"/>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d</a:t>
              </a:r>
            </a:p>
          </p:txBody>
        </p:sp>
        <p:sp>
          <p:nvSpPr>
            <p:cNvPr id="109590" name="Oval 23"/>
            <p:cNvSpPr>
              <a:spLocks noChangeArrowheads="1"/>
            </p:cNvSpPr>
            <p:nvPr/>
          </p:nvSpPr>
          <p:spPr bwMode="auto">
            <a:xfrm>
              <a:off x="2490" y="3470"/>
              <a:ext cx="285" cy="283"/>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h</a:t>
              </a:r>
            </a:p>
          </p:txBody>
        </p:sp>
        <p:sp>
          <p:nvSpPr>
            <p:cNvPr id="109591" name="Oval 24"/>
            <p:cNvSpPr>
              <a:spLocks noChangeArrowheads="1"/>
            </p:cNvSpPr>
            <p:nvPr/>
          </p:nvSpPr>
          <p:spPr bwMode="auto">
            <a:xfrm>
              <a:off x="3162" y="3470"/>
              <a:ext cx="286" cy="283"/>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g</a:t>
              </a:r>
            </a:p>
          </p:txBody>
        </p:sp>
        <p:sp>
          <p:nvSpPr>
            <p:cNvPr id="109592" name="Oval 25"/>
            <p:cNvSpPr>
              <a:spLocks noChangeArrowheads="1"/>
            </p:cNvSpPr>
            <p:nvPr/>
          </p:nvSpPr>
          <p:spPr bwMode="auto">
            <a:xfrm>
              <a:off x="3883" y="3470"/>
              <a:ext cx="285" cy="283"/>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c</a:t>
              </a:r>
            </a:p>
          </p:txBody>
        </p:sp>
        <p:sp>
          <p:nvSpPr>
            <p:cNvPr id="109593" name="Oval 26"/>
            <p:cNvSpPr>
              <a:spLocks noChangeArrowheads="1"/>
            </p:cNvSpPr>
            <p:nvPr/>
          </p:nvSpPr>
          <p:spPr bwMode="auto">
            <a:xfrm>
              <a:off x="4554" y="3470"/>
              <a:ext cx="285" cy="283"/>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f</a:t>
              </a:r>
            </a:p>
          </p:txBody>
        </p:sp>
        <p:sp>
          <p:nvSpPr>
            <p:cNvPr id="109594" name="Oval 27"/>
            <p:cNvSpPr>
              <a:spLocks noChangeArrowheads="1"/>
            </p:cNvSpPr>
            <p:nvPr/>
          </p:nvSpPr>
          <p:spPr bwMode="auto">
            <a:xfrm>
              <a:off x="5226" y="3470"/>
              <a:ext cx="286" cy="283"/>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e</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106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91490"/>
                                        </p:tgtEl>
                                        <p:attrNameLst>
                                          <p:attrName>style.visibility</p:attrName>
                                        </p:attrNameLst>
                                      </p:cBhvr>
                                      <p:to>
                                        <p:strVal val="visible"/>
                                      </p:to>
                                    </p:set>
                                    <p:anim calcmode="lin" valueType="num">
                                      <p:cBhvr>
                                        <p:cTn id="7" dur="500" fill="hold"/>
                                        <p:tgtEl>
                                          <p:spTgt spid="191490"/>
                                        </p:tgtEl>
                                        <p:attrNameLst>
                                          <p:attrName>ppt_w</p:attrName>
                                        </p:attrNameLst>
                                      </p:cBhvr>
                                      <p:tavLst>
                                        <p:tav tm="0">
                                          <p:val>
                                            <p:fltVal val="0"/>
                                          </p:val>
                                        </p:tav>
                                        <p:tav tm="100000">
                                          <p:val>
                                            <p:strVal val="#ppt_w"/>
                                          </p:val>
                                        </p:tav>
                                      </p:tavLst>
                                    </p:anim>
                                    <p:anim calcmode="lin" valueType="num">
                                      <p:cBhvr>
                                        <p:cTn id="8" dur="500" fill="hold"/>
                                        <p:tgtEl>
                                          <p:spTgt spid="191490"/>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91494"/>
                                        </p:tgtEl>
                                        <p:attrNameLst>
                                          <p:attrName>style.visibility</p:attrName>
                                        </p:attrNameLst>
                                      </p:cBhvr>
                                      <p:to>
                                        <p:strVal val="visible"/>
                                      </p:to>
                                    </p:set>
                                    <p:animEffect transition="in" filter="wipe(left)">
                                      <p:cBhvr>
                                        <p:cTn id="13" dur="500"/>
                                        <p:tgtEl>
                                          <p:spTgt spid="19149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91491">
                                            <p:txEl>
                                              <p:pRg st="0" end="0"/>
                                            </p:txEl>
                                          </p:spTgt>
                                        </p:tgtEl>
                                        <p:attrNameLst>
                                          <p:attrName>style.visibility</p:attrName>
                                        </p:attrNameLst>
                                      </p:cBhvr>
                                      <p:to>
                                        <p:strVal val="visible"/>
                                      </p:to>
                                    </p:set>
                                    <p:animEffect transition="in" filter="wipe(left)">
                                      <p:cBhvr>
                                        <p:cTn id="18" dur="500"/>
                                        <p:tgtEl>
                                          <p:spTgt spid="191491">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91491">
                                            <p:txEl>
                                              <p:pRg st="1" end="1"/>
                                            </p:txEl>
                                          </p:spTgt>
                                        </p:tgtEl>
                                        <p:attrNameLst>
                                          <p:attrName>style.visibility</p:attrName>
                                        </p:attrNameLst>
                                      </p:cBhvr>
                                      <p:to>
                                        <p:strVal val="visible"/>
                                      </p:to>
                                    </p:set>
                                    <p:animEffect transition="in" filter="wipe(left)">
                                      <p:cBhvr>
                                        <p:cTn id="23" dur="500"/>
                                        <p:tgtEl>
                                          <p:spTgt spid="191491">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1491">
                                            <p:txEl>
                                              <p:pRg st="2" end="2"/>
                                            </p:txEl>
                                          </p:spTgt>
                                        </p:tgtEl>
                                        <p:attrNameLst>
                                          <p:attrName>style.visibility</p:attrName>
                                        </p:attrNameLst>
                                      </p:cBhvr>
                                      <p:to>
                                        <p:strVal val="visible"/>
                                      </p:to>
                                    </p:set>
                                    <p:animEffect transition="in" filter="wipe(left)">
                                      <p:cBhvr>
                                        <p:cTn id="28" dur="500"/>
                                        <p:tgtEl>
                                          <p:spTgt spid="191491">
                                            <p:txEl>
                                              <p:pRg st="2" end="2"/>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91491">
                                            <p:txEl>
                                              <p:pRg st="3" end="3"/>
                                            </p:txEl>
                                          </p:spTgt>
                                        </p:tgtEl>
                                        <p:attrNameLst>
                                          <p:attrName>style.visibility</p:attrName>
                                        </p:attrNameLst>
                                      </p:cBhvr>
                                      <p:to>
                                        <p:strVal val="visible"/>
                                      </p:to>
                                    </p:set>
                                    <p:animEffect transition="in" filter="wipe(left)">
                                      <p:cBhvr>
                                        <p:cTn id="33" dur="500"/>
                                        <p:tgtEl>
                                          <p:spTgt spid="191491">
                                            <p:txEl>
                                              <p:pRg st="3" end="3"/>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91491">
                                            <p:txEl>
                                              <p:pRg st="4" end="4"/>
                                            </p:txEl>
                                          </p:spTgt>
                                        </p:tgtEl>
                                        <p:attrNameLst>
                                          <p:attrName>style.visibility</p:attrName>
                                        </p:attrNameLst>
                                      </p:cBhvr>
                                      <p:to>
                                        <p:strVal val="visible"/>
                                      </p:to>
                                    </p:set>
                                    <p:animEffect transition="in" filter="wipe(left)">
                                      <p:cBhvr>
                                        <p:cTn id="38" dur="500"/>
                                        <p:tgtEl>
                                          <p:spTgt spid="191491">
                                            <p:txEl>
                                              <p:pRg st="4" end="4"/>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91491">
                                            <p:txEl>
                                              <p:pRg st="5" end="5"/>
                                            </p:txEl>
                                          </p:spTgt>
                                        </p:tgtEl>
                                        <p:attrNameLst>
                                          <p:attrName>style.visibility</p:attrName>
                                        </p:attrNameLst>
                                      </p:cBhvr>
                                      <p:to>
                                        <p:strVal val="visible"/>
                                      </p:to>
                                    </p:set>
                                    <p:animEffect transition="in" filter="wipe(left)">
                                      <p:cBhvr>
                                        <p:cTn id="43" dur="500"/>
                                        <p:tgtEl>
                                          <p:spTgt spid="191491">
                                            <p:txEl>
                                              <p:pRg st="5" end="5"/>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91491">
                                            <p:txEl>
                                              <p:pRg st="6" end="6"/>
                                            </p:txEl>
                                          </p:spTgt>
                                        </p:tgtEl>
                                        <p:attrNameLst>
                                          <p:attrName>style.visibility</p:attrName>
                                        </p:attrNameLst>
                                      </p:cBhvr>
                                      <p:to>
                                        <p:strVal val="visible"/>
                                      </p:to>
                                    </p:set>
                                    <p:animEffect transition="in" filter="wipe(left)">
                                      <p:cBhvr>
                                        <p:cTn id="48" dur="500"/>
                                        <p:tgtEl>
                                          <p:spTgt spid="191491">
                                            <p:txEl>
                                              <p:pRg st="6" end="6"/>
                                            </p:txEl>
                                          </p:spTgt>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191493"/>
                                        </p:tgtEl>
                                        <p:attrNameLst>
                                          <p:attrName>style.visibility</p:attrName>
                                        </p:attrNameLst>
                                      </p:cBhvr>
                                      <p:to>
                                        <p:strVal val="visible"/>
                                      </p:to>
                                    </p:set>
                                    <p:animEffect transition="in" filter="wipe(left)">
                                      <p:cBhvr>
                                        <p:cTn id="52" dur="500"/>
                                        <p:tgtEl>
                                          <p:spTgt spid="191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0" grpId="0" animBg="1" autoUpdateAnimBg="0"/>
      <p:bldP spid="191491" grpId="0" build="p"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smtClean="0">
                <a:solidFill>
                  <a:schemeClr val="tx1"/>
                </a:solidFill>
                <a:latin typeface="Arial Rounded MT Bold" pitchFamily="34" charset="0"/>
              </a:rPr>
              <a:t>Example</a:t>
            </a:r>
          </a:p>
        </p:txBody>
      </p:sp>
      <p:grpSp>
        <p:nvGrpSpPr>
          <p:cNvPr id="192630" name="Group 118"/>
          <p:cNvGrpSpPr>
            <a:grpSpLocks/>
          </p:cNvGrpSpPr>
          <p:nvPr/>
        </p:nvGrpSpPr>
        <p:grpSpPr bwMode="auto">
          <a:xfrm>
            <a:off x="304800" y="738188"/>
            <a:ext cx="1862138" cy="2354262"/>
            <a:chOff x="192" y="465"/>
            <a:chExt cx="1173" cy="1483"/>
          </a:xfrm>
        </p:grpSpPr>
        <p:sp>
          <p:nvSpPr>
            <p:cNvPr id="110640" name="Line 4"/>
            <p:cNvSpPr>
              <a:spLocks noChangeShapeType="1"/>
            </p:cNvSpPr>
            <p:nvPr/>
          </p:nvSpPr>
          <p:spPr bwMode="auto">
            <a:xfrm>
              <a:off x="528" y="1344"/>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0641" name="Line 5"/>
            <p:cNvSpPr>
              <a:spLocks noChangeShapeType="1"/>
            </p:cNvSpPr>
            <p:nvPr/>
          </p:nvSpPr>
          <p:spPr bwMode="auto">
            <a:xfrm flipV="1">
              <a:off x="480" y="912"/>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0642" name="Line 6"/>
            <p:cNvSpPr>
              <a:spLocks noChangeShapeType="1"/>
            </p:cNvSpPr>
            <p:nvPr/>
          </p:nvSpPr>
          <p:spPr bwMode="auto">
            <a:xfrm>
              <a:off x="1104" y="912"/>
              <a:ext cx="0" cy="288"/>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0643" name="Line 7"/>
            <p:cNvSpPr>
              <a:spLocks noChangeShapeType="1"/>
            </p:cNvSpPr>
            <p:nvPr/>
          </p:nvSpPr>
          <p:spPr bwMode="auto">
            <a:xfrm>
              <a:off x="480" y="768"/>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0644" name="Line 8"/>
            <p:cNvSpPr>
              <a:spLocks noChangeShapeType="1"/>
            </p:cNvSpPr>
            <p:nvPr/>
          </p:nvSpPr>
          <p:spPr bwMode="auto">
            <a:xfrm flipH="1" flipV="1">
              <a:off x="576" y="864"/>
              <a:ext cx="528"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0645" name="Oval 9"/>
            <p:cNvSpPr>
              <a:spLocks noChangeArrowheads="1"/>
            </p:cNvSpPr>
            <p:nvPr/>
          </p:nvSpPr>
          <p:spPr bwMode="auto">
            <a:xfrm>
              <a:off x="960" y="1200"/>
              <a:ext cx="278"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a</a:t>
              </a:r>
            </a:p>
          </p:txBody>
        </p:sp>
        <p:sp>
          <p:nvSpPr>
            <p:cNvPr id="110646" name="Oval 10"/>
            <p:cNvSpPr>
              <a:spLocks noChangeArrowheads="1"/>
            </p:cNvSpPr>
            <p:nvPr/>
          </p:nvSpPr>
          <p:spPr bwMode="auto">
            <a:xfrm>
              <a:off x="346" y="1224"/>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b</a:t>
              </a:r>
            </a:p>
          </p:txBody>
        </p:sp>
        <p:sp>
          <p:nvSpPr>
            <p:cNvPr id="110647" name="Oval 11"/>
            <p:cNvSpPr>
              <a:spLocks noChangeArrowheads="1"/>
            </p:cNvSpPr>
            <p:nvPr/>
          </p:nvSpPr>
          <p:spPr bwMode="auto">
            <a:xfrm>
              <a:off x="960" y="624"/>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d</a:t>
              </a:r>
            </a:p>
          </p:txBody>
        </p:sp>
        <p:sp>
          <p:nvSpPr>
            <p:cNvPr id="110648" name="Oval 12"/>
            <p:cNvSpPr>
              <a:spLocks noChangeArrowheads="1"/>
            </p:cNvSpPr>
            <p:nvPr/>
          </p:nvSpPr>
          <p:spPr bwMode="auto">
            <a:xfrm>
              <a:off x="336" y="624"/>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c</a:t>
              </a:r>
            </a:p>
          </p:txBody>
        </p:sp>
        <p:sp>
          <p:nvSpPr>
            <p:cNvPr id="110649" name="Text Box 13"/>
            <p:cNvSpPr txBox="1">
              <a:spLocks noChangeArrowheads="1"/>
            </p:cNvSpPr>
            <p:nvPr/>
          </p:nvSpPr>
          <p:spPr bwMode="auto">
            <a:xfrm>
              <a:off x="626" y="11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10650" name="Text Box 14"/>
            <p:cNvSpPr txBox="1">
              <a:spLocks noChangeArrowheads="1"/>
            </p:cNvSpPr>
            <p:nvPr/>
          </p:nvSpPr>
          <p:spPr bwMode="auto">
            <a:xfrm>
              <a:off x="740" y="897"/>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10651" name="Text Box 15"/>
            <p:cNvSpPr txBox="1">
              <a:spLocks noChangeArrowheads="1"/>
            </p:cNvSpPr>
            <p:nvPr/>
          </p:nvSpPr>
          <p:spPr bwMode="auto">
            <a:xfrm>
              <a:off x="644" y="513"/>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110652" name="Text Box 16"/>
            <p:cNvSpPr txBox="1">
              <a:spLocks noChangeArrowheads="1"/>
            </p:cNvSpPr>
            <p:nvPr/>
          </p:nvSpPr>
          <p:spPr bwMode="auto">
            <a:xfrm>
              <a:off x="1100" y="897"/>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4</a:t>
              </a:r>
            </a:p>
          </p:txBody>
        </p:sp>
        <p:sp>
          <p:nvSpPr>
            <p:cNvPr id="110653" name="Text Box 17"/>
            <p:cNvSpPr txBox="1">
              <a:spLocks noChangeArrowheads="1"/>
            </p:cNvSpPr>
            <p:nvPr/>
          </p:nvSpPr>
          <p:spPr bwMode="auto">
            <a:xfrm>
              <a:off x="284" y="945"/>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sp>
          <p:nvSpPr>
            <p:cNvPr id="110654" name="Text Box 18"/>
            <p:cNvSpPr txBox="1">
              <a:spLocks noChangeArrowheads="1"/>
            </p:cNvSpPr>
            <p:nvPr/>
          </p:nvSpPr>
          <p:spPr bwMode="auto">
            <a:xfrm>
              <a:off x="1008" y="144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0</a:t>
              </a:r>
            </a:p>
          </p:txBody>
        </p:sp>
        <p:sp>
          <p:nvSpPr>
            <p:cNvPr id="110655" name="Text Box 19"/>
            <p:cNvSpPr txBox="1">
              <a:spLocks noChangeArrowheads="1"/>
            </p:cNvSpPr>
            <p:nvPr/>
          </p:nvSpPr>
          <p:spPr bwMode="auto">
            <a:xfrm>
              <a:off x="192" y="480"/>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a:t>
              </a:r>
              <a:endParaRPr lang="en-US" sz="1800">
                <a:solidFill>
                  <a:schemeClr val="tx2"/>
                </a:solidFill>
              </a:endParaRPr>
            </a:p>
          </p:txBody>
        </p:sp>
        <p:sp>
          <p:nvSpPr>
            <p:cNvPr id="110656" name="Text Box 20"/>
            <p:cNvSpPr txBox="1">
              <a:spLocks noChangeArrowheads="1"/>
            </p:cNvSpPr>
            <p:nvPr/>
          </p:nvSpPr>
          <p:spPr bwMode="auto">
            <a:xfrm>
              <a:off x="1146" y="465"/>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a:t>
              </a:r>
              <a:endParaRPr lang="en-US" sz="1800">
                <a:solidFill>
                  <a:schemeClr val="tx2"/>
                </a:solidFill>
              </a:endParaRPr>
            </a:p>
          </p:txBody>
        </p:sp>
        <p:sp>
          <p:nvSpPr>
            <p:cNvPr id="110657" name="Text Box 21"/>
            <p:cNvSpPr txBox="1">
              <a:spLocks noChangeArrowheads="1"/>
            </p:cNvSpPr>
            <p:nvPr/>
          </p:nvSpPr>
          <p:spPr bwMode="auto">
            <a:xfrm>
              <a:off x="336" y="1440"/>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a:t>
              </a:r>
              <a:endParaRPr lang="en-US" sz="1800">
                <a:solidFill>
                  <a:schemeClr val="tx2"/>
                </a:solidFill>
              </a:endParaRPr>
            </a:p>
          </p:txBody>
        </p:sp>
        <p:sp>
          <p:nvSpPr>
            <p:cNvPr id="110658" name="Text Box 22"/>
            <p:cNvSpPr txBox="1">
              <a:spLocks noChangeArrowheads="1"/>
            </p:cNvSpPr>
            <p:nvPr/>
          </p:nvSpPr>
          <p:spPr bwMode="auto">
            <a:xfrm>
              <a:off x="418" y="1698"/>
              <a:ext cx="72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(0) Initial</a:t>
              </a:r>
            </a:p>
          </p:txBody>
        </p:sp>
      </p:grpSp>
      <p:sp>
        <p:nvSpPr>
          <p:cNvPr id="192629" name="Text Box 117"/>
          <p:cNvSpPr txBox="1">
            <a:spLocks noChangeArrowheads="1"/>
          </p:cNvSpPr>
          <p:nvPr/>
        </p:nvSpPr>
        <p:spPr bwMode="auto">
          <a:xfrm>
            <a:off x="990600" y="6248400"/>
            <a:ext cx="7265988" cy="415925"/>
          </a:xfrm>
          <a:prstGeom prst="rect">
            <a:avLst/>
          </a:prstGeom>
          <a:noFill/>
          <a:ln w="1905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chemeClr val="accent1"/>
                </a:solidFill>
              </a14:hiddenFill>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Tx/>
              <a:buNone/>
            </a:pPr>
            <a:r>
              <a:rPr lang="en-US" sz="2000" dirty="0">
                <a:solidFill>
                  <a:schemeClr val="hlink"/>
                </a:solidFill>
              </a:rPr>
              <a:t>No labeled vertex remains.  Scanning &amp; Labeling Method terminates.</a:t>
            </a:r>
          </a:p>
        </p:txBody>
      </p:sp>
      <p:grpSp>
        <p:nvGrpSpPr>
          <p:cNvPr id="192672" name="Group 160"/>
          <p:cNvGrpSpPr>
            <a:grpSpLocks/>
          </p:cNvGrpSpPr>
          <p:nvPr/>
        </p:nvGrpSpPr>
        <p:grpSpPr bwMode="auto">
          <a:xfrm>
            <a:off x="6705600" y="762000"/>
            <a:ext cx="1851025" cy="2349500"/>
            <a:chOff x="3936" y="480"/>
            <a:chExt cx="1166" cy="1480"/>
          </a:xfrm>
        </p:grpSpPr>
        <p:sp>
          <p:nvSpPr>
            <p:cNvPr id="110627" name="Line 122"/>
            <p:cNvSpPr>
              <a:spLocks noChangeShapeType="1"/>
            </p:cNvSpPr>
            <p:nvPr/>
          </p:nvSpPr>
          <p:spPr bwMode="auto">
            <a:xfrm>
              <a:off x="4857" y="924"/>
              <a:ext cx="0" cy="288"/>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0628" name="Line 124"/>
            <p:cNvSpPr>
              <a:spLocks noChangeShapeType="1"/>
            </p:cNvSpPr>
            <p:nvPr/>
          </p:nvSpPr>
          <p:spPr bwMode="auto">
            <a:xfrm flipH="1" flipV="1">
              <a:off x="4329" y="876"/>
              <a:ext cx="528"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0629" name="Oval 125"/>
            <p:cNvSpPr>
              <a:spLocks noChangeArrowheads="1"/>
            </p:cNvSpPr>
            <p:nvPr/>
          </p:nvSpPr>
          <p:spPr bwMode="auto">
            <a:xfrm>
              <a:off x="4713" y="1212"/>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bg1"/>
                  </a:solidFill>
                </a:rPr>
                <a:t>a</a:t>
              </a:r>
            </a:p>
          </p:txBody>
        </p:sp>
        <p:sp>
          <p:nvSpPr>
            <p:cNvPr id="110630" name="Oval 126"/>
            <p:cNvSpPr>
              <a:spLocks noChangeArrowheads="1"/>
            </p:cNvSpPr>
            <p:nvPr/>
          </p:nvSpPr>
          <p:spPr bwMode="auto">
            <a:xfrm>
              <a:off x="4099" y="1236"/>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b</a:t>
              </a:r>
            </a:p>
          </p:txBody>
        </p:sp>
        <p:sp>
          <p:nvSpPr>
            <p:cNvPr id="110631" name="Oval 127"/>
            <p:cNvSpPr>
              <a:spLocks noChangeArrowheads="1"/>
            </p:cNvSpPr>
            <p:nvPr/>
          </p:nvSpPr>
          <p:spPr bwMode="auto">
            <a:xfrm>
              <a:off x="4713" y="636"/>
              <a:ext cx="278"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d</a:t>
              </a:r>
            </a:p>
          </p:txBody>
        </p:sp>
        <p:sp>
          <p:nvSpPr>
            <p:cNvPr id="110632" name="Oval 128"/>
            <p:cNvSpPr>
              <a:spLocks noChangeArrowheads="1"/>
            </p:cNvSpPr>
            <p:nvPr/>
          </p:nvSpPr>
          <p:spPr bwMode="auto">
            <a:xfrm>
              <a:off x="4089" y="636"/>
              <a:ext cx="278"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c</a:t>
              </a:r>
            </a:p>
          </p:txBody>
        </p:sp>
        <p:sp>
          <p:nvSpPr>
            <p:cNvPr id="110633" name="Text Box 130"/>
            <p:cNvSpPr txBox="1">
              <a:spLocks noChangeArrowheads="1"/>
            </p:cNvSpPr>
            <p:nvPr/>
          </p:nvSpPr>
          <p:spPr bwMode="auto">
            <a:xfrm>
              <a:off x="4493" y="909"/>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10634" name="Text Box 132"/>
            <p:cNvSpPr txBox="1">
              <a:spLocks noChangeArrowheads="1"/>
            </p:cNvSpPr>
            <p:nvPr/>
          </p:nvSpPr>
          <p:spPr bwMode="auto">
            <a:xfrm>
              <a:off x="4853" y="909"/>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4</a:t>
              </a:r>
            </a:p>
          </p:txBody>
        </p:sp>
        <p:sp>
          <p:nvSpPr>
            <p:cNvPr id="110635" name="Text Box 134"/>
            <p:cNvSpPr txBox="1">
              <a:spLocks noChangeArrowheads="1"/>
            </p:cNvSpPr>
            <p:nvPr/>
          </p:nvSpPr>
          <p:spPr bwMode="auto">
            <a:xfrm>
              <a:off x="4761" y="145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0</a:t>
              </a:r>
            </a:p>
          </p:txBody>
        </p:sp>
        <p:sp>
          <p:nvSpPr>
            <p:cNvPr id="110636" name="Text Box 135"/>
            <p:cNvSpPr txBox="1">
              <a:spLocks noChangeArrowheads="1"/>
            </p:cNvSpPr>
            <p:nvPr/>
          </p:nvSpPr>
          <p:spPr bwMode="auto">
            <a:xfrm>
              <a:off x="3936" y="495"/>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-1</a:t>
              </a:r>
              <a:endParaRPr lang="en-US" sz="1800">
                <a:solidFill>
                  <a:schemeClr val="tx2"/>
                </a:solidFill>
              </a:endParaRPr>
            </a:p>
          </p:txBody>
        </p:sp>
        <p:sp>
          <p:nvSpPr>
            <p:cNvPr id="110637" name="Text Box 136"/>
            <p:cNvSpPr txBox="1">
              <a:spLocks noChangeArrowheads="1"/>
            </p:cNvSpPr>
            <p:nvPr/>
          </p:nvSpPr>
          <p:spPr bwMode="auto">
            <a:xfrm>
              <a:off x="4914" y="48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4</a:t>
              </a:r>
              <a:endParaRPr lang="en-US" sz="1800">
                <a:solidFill>
                  <a:schemeClr val="tx2"/>
                </a:solidFill>
              </a:endParaRPr>
            </a:p>
          </p:txBody>
        </p:sp>
        <p:sp>
          <p:nvSpPr>
            <p:cNvPr id="110638" name="Text Box 137"/>
            <p:cNvSpPr txBox="1">
              <a:spLocks noChangeArrowheads="1"/>
            </p:cNvSpPr>
            <p:nvPr/>
          </p:nvSpPr>
          <p:spPr bwMode="auto">
            <a:xfrm>
              <a:off x="4089" y="1452"/>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a:t>
              </a:r>
              <a:endParaRPr lang="en-US" sz="1800">
                <a:solidFill>
                  <a:schemeClr val="tx2"/>
                </a:solidFill>
              </a:endParaRPr>
            </a:p>
          </p:txBody>
        </p:sp>
        <p:sp>
          <p:nvSpPr>
            <p:cNvPr id="110639" name="Text Box 138"/>
            <p:cNvSpPr txBox="1">
              <a:spLocks noChangeArrowheads="1"/>
            </p:cNvSpPr>
            <p:nvPr/>
          </p:nvSpPr>
          <p:spPr bwMode="auto">
            <a:xfrm>
              <a:off x="4150" y="1710"/>
              <a:ext cx="7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(1) Scan a</a:t>
              </a:r>
            </a:p>
          </p:txBody>
        </p:sp>
      </p:grpSp>
      <p:grpSp>
        <p:nvGrpSpPr>
          <p:cNvPr id="192686" name="Group 174"/>
          <p:cNvGrpSpPr>
            <a:grpSpLocks/>
          </p:cNvGrpSpPr>
          <p:nvPr/>
        </p:nvGrpSpPr>
        <p:grpSpPr bwMode="auto">
          <a:xfrm>
            <a:off x="1752600" y="3352800"/>
            <a:ext cx="1889125" cy="2349500"/>
            <a:chOff x="163" y="2115"/>
            <a:chExt cx="1190" cy="1480"/>
          </a:xfrm>
        </p:grpSpPr>
        <p:sp>
          <p:nvSpPr>
            <p:cNvPr id="110614" name="Line 142"/>
            <p:cNvSpPr>
              <a:spLocks noChangeShapeType="1"/>
            </p:cNvSpPr>
            <p:nvPr/>
          </p:nvSpPr>
          <p:spPr bwMode="auto">
            <a:xfrm>
              <a:off x="460" y="2415"/>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0615" name="Line 143"/>
            <p:cNvSpPr>
              <a:spLocks noChangeShapeType="1"/>
            </p:cNvSpPr>
            <p:nvPr/>
          </p:nvSpPr>
          <p:spPr bwMode="auto">
            <a:xfrm flipH="1" flipV="1">
              <a:off x="556" y="2511"/>
              <a:ext cx="528"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0616" name="Oval 144"/>
            <p:cNvSpPr>
              <a:spLocks noChangeArrowheads="1"/>
            </p:cNvSpPr>
            <p:nvPr/>
          </p:nvSpPr>
          <p:spPr bwMode="auto">
            <a:xfrm>
              <a:off x="940" y="2847"/>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bg1"/>
                  </a:solidFill>
                </a:rPr>
                <a:t>a</a:t>
              </a:r>
            </a:p>
          </p:txBody>
        </p:sp>
        <p:sp>
          <p:nvSpPr>
            <p:cNvPr id="110617" name="Oval 145"/>
            <p:cNvSpPr>
              <a:spLocks noChangeArrowheads="1"/>
            </p:cNvSpPr>
            <p:nvPr/>
          </p:nvSpPr>
          <p:spPr bwMode="auto">
            <a:xfrm>
              <a:off x="326" y="2871"/>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b</a:t>
              </a:r>
            </a:p>
          </p:txBody>
        </p:sp>
        <p:sp>
          <p:nvSpPr>
            <p:cNvPr id="110618" name="Oval 146"/>
            <p:cNvSpPr>
              <a:spLocks noChangeArrowheads="1"/>
            </p:cNvSpPr>
            <p:nvPr/>
          </p:nvSpPr>
          <p:spPr bwMode="auto">
            <a:xfrm>
              <a:off x="940" y="2271"/>
              <a:ext cx="278"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d</a:t>
              </a:r>
            </a:p>
          </p:txBody>
        </p:sp>
        <p:sp>
          <p:nvSpPr>
            <p:cNvPr id="110619" name="Oval 147"/>
            <p:cNvSpPr>
              <a:spLocks noChangeArrowheads="1"/>
            </p:cNvSpPr>
            <p:nvPr/>
          </p:nvSpPr>
          <p:spPr bwMode="auto">
            <a:xfrm>
              <a:off x="316" y="2271"/>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bg1"/>
                  </a:solidFill>
                </a:rPr>
                <a:t>c</a:t>
              </a:r>
            </a:p>
          </p:txBody>
        </p:sp>
        <p:sp>
          <p:nvSpPr>
            <p:cNvPr id="110620" name="Text Box 149"/>
            <p:cNvSpPr txBox="1">
              <a:spLocks noChangeArrowheads="1"/>
            </p:cNvSpPr>
            <p:nvPr/>
          </p:nvSpPr>
          <p:spPr bwMode="auto">
            <a:xfrm>
              <a:off x="720" y="2544"/>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10621" name="Text Box 150"/>
            <p:cNvSpPr txBox="1">
              <a:spLocks noChangeArrowheads="1"/>
            </p:cNvSpPr>
            <p:nvPr/>
          </p:nvSpPr>
          <p:spPr bwMode="auto">
            <a:xfrm>
              <a:off x="624" y="2160"/>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110622" name="Text Box 153"/>
            <p:cNvSpPr txBox="1">
              <a:spLocks noChangeArrowheads="1"/>
            </p:cNvSpPr>
            <p:nvPr/>
          </p:nvSpPr>
          <p:spPr bwMode="auto">
            <a:xfrm>
              <a:off x="988" y="3087"/>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0</a:t>
              </a:r>
            </a:p>
          </p:txBody>
        </p:sp>
        <p:sp>
          <p:nvSpPr>
            <p:cNvPr id="110623" name="Text Box 154"/>
            <p:cNvSpPr txBox="1">
              <a:spLocks noChangeArrowheads="1"/>
            </p:cNvSpPr>
            <p:nvPr/>
          </p:nvSpPr>
          <p:spPr bwMode="auto">
            <a:xfrm>
              <a:off x="163" y="2130"/>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-1</a:t>
              </a:r>
              <a:endParaRPr lang="en-US" sz="1800">
                <a:solidFill>
                  <a:schemeClr val="tx2"/>
                </a:solidFill>
              </a:endParaRPr>
            </a:p>
          </p:txBody>
        </p:sp>
        <p:sp>
          <p:nvSpPr>
            <p:cNvPr id="110624" name="Text Box 155"/>
            <p:cNvSpPr txBox="1">
              <a:spLocks noChangeArrowheads="1"/>
            </p:cNvSpPr>
            <p:nvPr/>
          </p:nvSpPr>
          <p:spPr bwMode="auto">
            <a:xfrm>
              <a:off x="1117" y="2115"/>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-3</a:t>
              </a:r>
              <a:endParaRPr lang="en-US" sz="1800">
                <a:solidFill>
                  <a:schemeClr val="tx2"/>
                </a:solidFill>
              </a:endParaRPr>
            </a:p>
          </p:txBody>
        </p:sp>
        <p:sp>
          <p:nvSpPr>
            <p:cNvPr id="110625" name="Text Box 156"/>
            <p:cNvSpPr txBox="1">
              <a:spLocks noChangeArrowheads="1"/>
            </p:cNvSpPr>
            <p:nvPr/>
          </p:nvSpPr>
          <p:spPr bwMode="auto">
            <a:xfrm>
              <a:off x="316" y="3087"/>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a:t>
              </a:r>
              <a:endParaRPr lang="en-US" sz="1800">
                <a:solidFill>
                  <a:schemeClr val="tx2"/>
                </a:solidFill>
              </a:endParaRPr>
            </a:p>
          </p:txBody>
        </p:sp>
        <p:sp>
          <p:nvSpPr>
            <p:cNvPr id="110626" name="Text Box 157"/>
            <p:cNvSpPr txBox="1">
              <a:spLocks noChangeArrowheads="1"/>
            </p:cNvSpPr>
            <p:nvPr/>
          </p:nvSpPr>
          <p:spPr bwMode="auto">
            <a:xfrm>
              <a:off x="377" y="3345"/>
              <a:ext cx="7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(2) Scan c</a:t>
              </a:r>
            </a:p>
          </p:txBody>
        </p:sp>
      </p:grpSp>
      <p:sp>
        <p:nvSpPr>
          <p:cNvPr id="192671" name="Text Box 159"/>
          <p:cNvSpPr txBox="1">
            <a:spLocks noChangeArrowheads="1"/>
          </p:cNvSpPr>
          <p:nvPr/>
        </p:nvSpPr>
        <p:spPr bwMode="auto">
          <a:xfrm>
            <a:off x="2895600" y="1066800"/>
            <a:ext cx="3205163" cy="1330325"/>
          </a:xfrm>
          <a:prstGeom prst="rect">
            <a:avLst/>
          </a:prstGeom>
          <a:noFill/>
          <a:ln w="1905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chemeClr val="accent1"/>
                </a:solidFill>
              </a14:hiddenFill>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Tx/>
              <a:buNone/>
            </a:pPr>
            <a:r>
              <a:rPr lang="en-US" sz="2000" dirty="0">
                <a:solidFill>
                  <a:schemeClr val="tx2"/>
                </a:solidFill>
              </a:rPr>
              <a:t>source = a.</a:t>
            </a:r>
          </a:p>
          <a:p>
            <a:pPr eaLnBrk="1" hangingPunct="1">
              <a:spcBef>
                <a:spcPct val="50000"/>
              </a:spcBef>
              <a:buFontTx/>
              <a:buNone/>
            </a:pPr>
            <a:r>
              <a:rPr lang="en-US" sz="2000" dirty="0">
                <a:solidFill>
                  <a:schemeClr val="tx2"/>
                </a:solidFill>
              </a:rPr>
              <a:t>Topological Order: </a:t>
            </a:r>
            <a:r>
              <a:rPr lang="en-US" sz="2000" dirty="0">
                <a:solidFill>
                  <a:srgbClr val="CC0000"/>
                </a:solidFill>
              </a:rPr>
              <a:t>b,</a:t>
            </a:r>
            <a:r>
              <a:rPr lang="en-US" sz="2000" dirty="0">
                <a:solidFill>
                  <a:schemeClr val="tx2"/>
                </a:solidFill>
              </a:rPr>
              <a:t> a, c, d. </a:t>
            </a:r>
          </a:p>
          <a:p>
            <a:pPr eaLnBrk="1" hangingPunct="1">
              <a:spcBef>
                <a:spcPct val="50000"/>
              </a:spcBef>
              <a:buFontTx/>
              <a:buNone/>
            </a:pPr>
            <a:r>
              <a:rPr lang="en-US" sz="2000" dirty="0">
                <a:solidFill>
                  <a:srgbClr val="CC0000"/>
                </a:solidFill>
              </a:rPr>
              <a:t>b</a:t>
            </a:r>
            <a:r>
              <a:rPr lang="en-US" sz="2000" dirty="0">
                <a:solidFill>
                  <a:schemeClr val="tx2"/>
                </a:solidFill>
              </a:rPr>
              <a:t> is not reachable from a.</a:t>
            </a:r>
          </a:p>
        </p:txBody>
      </p:sp>
      <p:grpSp>
        <p:nvGrpSpPr>
          <p:cNvPr id="192687" name="Group 175"/>
          <p:cNvGrpSpPr>
            <a:grpSpLocks/>
          </p:cNvGrpSpPr>
          <p:nvPr/>
        </p:nvGrpSpPr>
        <p:grpSpPr bwMode="auto">
          <a:xfrm>
            <a:off x="4786313" y="3333750"/>
            <a:ext cx="1889125" cy="2349500"/>
            <a:chOff x="3015" y="2100"/>
            <a:chExt cx="1190" cy="1480"/>
          </a:xfrm>
        </p:grpSpPr>
        <p:sp>
          <p:nvSpPr>
            <p:cNvPr id="110601" name="Line 161"/>
            <p:cNvSpPr>
              <a:spLocks noChangeShapeType="1"/>
            </p:cNvSpPr>
            <p:nvPr/>
          </p:nvSpPr>
          <p:spPr bwMode="auto">
            <a:xfrm>
              <a:off x="3312" y="2400"/>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0602" name="Line 162"/>
            <p:cNvSpPr>
              <a:spLocks noChangeShapeType="1"/>
            </p:cNvSpPr>
            <p:nvPr/>
          </p:nvSpPr>
          <p:spPr bwMode="auto">
            <a:xfrm flipH="1" flipV="1">
              <a:off x="3408" y="2496"/>
              <a:ext cx="528"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0603" name="Oval 163"/>
            <p:cNvSpPr>
              <a:spLocks noChangeArrowheads="1"/>
            </p:cNvSpPr>
            <p:nvPr/>
          </p:nvSpPr>
          <p:spPr bwMode="auto">
            <a:xfrm>
              <a:off x="3792" y="2832"/>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bg1"/>
                  </a:solidFill>
                </a:rPr>
                <a:t>a</a:t>
              </a:r>
            </a:p>
          </p:txBody>
        </p:sp>
        <p:sp>
          <p:nvSpPr>
            <p:cNvPr id="110604" name="Oval 164"/>
            <p:cNvSpPr>
              <a:spLocks noChangeArrowheads="1"/>
            </p:cNvSpPr>
            <p:nvPr/>
          </p:nvSpPr>
          <p:spPr bwMode="auto">
            <a:xfrm>
              <a:off x="3178" y="2856"/>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b</a:t>
              </a:r>
            </a:p>
          </p:txBody>
        </p:sp>
        <p:sp>
          <p:nvSpPr>
            <p:cNvPr id="110605" name="Oval 165"/>
            <p:cNvSpPr>
              <a:spLocks noChangeArrowheads="1"/>
            </p:cNvSpPr>
            <p:nvPr/>
          </p:nvSpPr>
          <p:spPr bwMode="auto">
            <a:xfrm>
              <a:off x="3792" y="2256"/>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bg1"/>
                  </a:solidFill>
                </a:rPr>
                <a:t>d</a:t>
              </a:r>
            </a:p>
          </p:txBody>
        </p:sp>
        <p:sp>
          <p:nvSpPr>
            <p:cNvPr id="110606" name="Oval 166"/>
            <p:cNvSpPr>
              <a:spLocks noChangeArrowheads="1"/>
            </p:cNvSpPr>
            <p:nvPr/>
          </p:nvSpPr>
          <p:spPr bwMode="auto">
            <a:xfrm>
              <a:off x="3168" y="2256"/>
              <a:ext cx="278"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bg1"/>
                  </a:solidFill>
                </a:rPr>
                <a:t>c</a:t>
              </a:r>
            </a:p>
          </p:txBody>
        </p:sp>
        <p:sp>
          <p:nvSpPr>
            <p:cNvPr id="110607" name="Text Box 167"/>
            <p:cNvSpPr txBox="1">
              <a:spLocks noChangeArrowheads="1"/>
            </p:cNvSpPr>
            <p:nvPr/>
          </p:nvSpPr>
          <p:spPr bwMode="auto">
            <a:xfrm>
              <a:off x="3572" y="2529"/>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10608" name="Text Box 168"/>
            <p:cNvSpPr txBox="1">
              <a:spLocks noChangeArrowheads="1"/>
            </p:cNvSpPr>
            <p:nvPr/>
          </p:nvSpPr>
          <p:spPr bwMode="auto">
            <a:xfrm>
              <a:off x="3476" y="2145"/>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110609" name="Text Box 169"/>
            <p:cNvSpPr txBox="1">
              <a:spLocks noChangeArrowheads="1"/>
            </p:cNvSpPr>
            <p:nvPr/>
          </p:nvSpPr>
          <p:spPr bwMode="auto">
            <a:xfrm>
              <a:off x="3840" y="307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0</a:t>
              </a:r>
            </a:p>
          </p:txBody>
        </p:sp>
        <p:sp>
          <p:nvSpPr>
            <p:cNvPr id="110610" name="Text Box 170"/>
            <p:cNvSpPr txBox="1">
              <a:spLocks noChangeArrowheads="1"/>
            </p:cNvSpPr>
            <p:nvPr/>
          </p:nvSpPr>
          <p:spPr bwMode="auto">
            <a:xfrm>
              <a:off x="3015" y="2115"/>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-1</a:t>
              </a:r>
              <a:endParaRPr lang="en-US" sz="1800">
                <a:solidFill>
                  <a:schemeClr val="tx2"/>
                </a:solidFill>
              </a:endParaRPr>
            </a:p>
          </p:txBody>
        </p:sp>
        <p:sp>
          <p:nvSpPr>
            <p:cNvPr id="110611" name="Text Box 171"/>
            <p:cNvSpPr txBox="1">
              <a:spLocks noChangeArrowheads="1"/>
            </p:cNvSpPr>
            <p:nvPr/>
          </p:nvSpPr>
          <p:spPr bwMode="auto">
            <a:xfrm>
              <a:off x="3969" y="2100"/>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-3</a:t>
              </a:r>
              <a:endParaRPr lang="en-US" sz="1800">
                <a:solidFill>
                  <a:schemeClr val="tx2"/>
                </a:solidFill>
              </a:endParaRPr>
            </a:p>
          </p:txBody>
        </p:sp>
        <p:sp>
          <p:nvSpPr>
            <p:cNvPr id="110612" name="Text Box 172"/>
            <p:cNvSpPr txBox="1">
              <a:spLocks noChangeArrowheads="1"/>
            </p:cNvSpPr>
            <p:nvPr/>
          </p:nvSpPr>
          <p:spPr bwMode="auto">
            <a:xfrm>
              <a:off x="3168" y="3072"/>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sym typeface="Symbol" pitchFamily="18" charset="2"/>
                </a:rPr>
                <a:t></a:t>
              </a:r>
              <a:endParaRPr lang="en-US" sz="1800">
                <a:solidFill>
                  <a:schemeClr val="tx2"/>
                </a:solidFill>
              </a:endParaRPr>
            </a:p>
          </p:txBody>
        </p:sp>
        <p:sp>
          <p:nvSpPr>
            <p:cNvPr id="110613" name="Text Box 173"/>
            <p:cNvSpPr txBox="1">
              <a:spLocks noChangeArrowheads="1"/>
            </p:cNvSpPr>
            <p:nvPr/>
          </p:nvSpPr>
          <p:spPr bwMode="auto">
            <a:xfrm>
              <a:off x="3224" y="3330"/>
              <a:ext cx="77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(3) Scan d</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107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92514"/>
                                        </p:tgtEl>
                                        <p:attrNameLst>
                                          <p:attrName>style.visibility</p:attrName>
                                        </p:attrNameLst>
                                      </p:cBhvr>
                                      <p:to>
                                        <p:strVal val="visible"/>
                                      </p:to>
                                    </p:set>
                                    <p:anim calcmode="lin" valueType="num">
                                      <p:cBhvr>
                                        <p:cTn id="7" dur="500" fill="hold"/>
                                        <p:tgtEl>
                                          <p:spTgt spid="192514"/>
                                        </p:tgtEl>
                                        <p:attrNameLst>
                                          <p:attrName>ppt_w</p:attrName>
                                        </p:attrNameLst>
                                      </p:cBhvr>
                                      <p:tavLst>
                                        <p:tav tm="0">
                                          <p:val>
                                            <p:fltVal val="0"/>
                                          </p:val>
                                        </p:tav>
                                        <p:tav tm="100000">
                                          <p:val>
                                            <p:strVal val="#ppt_w"/>
                                          </p:val>
                                        </p:tav>
                                      </p:tavLst>
                                    </p:anim>
                                    <p:anim calcmode="lin" valueType="num">
                                      <p:cBhvr>
                                        <p:cTn id="8" dur="500" fill="hold"/>
                                        <p:tgtEl>
                                          <p:spTgt spid="19251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192630"/>
                                        </p:tgtEl>
                                        <p:attrNameLst>
                                          <p:attrName>style.visibility</p:attrName>
                                        </p:attrNameLst>
                                      </p:cBhvr>
                                      <p:to>
                                        <p:strVal val="visible"/>
                                      </p:to>
                                    </p:set>
                                    <p:animEffect transition="in" filter="wipe(up)">
                                      <p:cBhvr>
                                        <p:cTn id="13" dur="500"/>
                                        <p:tgtEl>
                                          <p:spTgt spid="19263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92671"/>
                                        </p:tgtEl>
                                        <p:attrNameLst>
                                          <p:attrName>style.visibility</p:attrName>
                                        </p:attrNameLst>
                                      </p:cBhvr>
                                      <p:to>
                                        <p:strVal val="visible"/>
                                      </p:to>
                                    </p:set>
                                    <p:animEffect transition="in" filter="wipe(up)">
                                      <p:cBhvr>
                                        <p:cTn id="18" dur="500"/>
                                        <p:tgtEl>
                                          <p:spTgt spid="19267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192672"/>
                                        </p:tgtEl>
                                        <p:attrNameLst>
                                          <p:attrName>style.visibility</p:attrName>
                                        </p:attrNameLst>
                                      </p:cBhvr>
                                      <p:to>
                                        <p:strVal val="visible"/>
                                      </p:to>
                                    </p:set>
                                    <p:animEffect transition="in" filter="wipe(up)">
                                      <p:cBhvr>
                                        <p:cTn id="23" dur="500"/>
                                        <p:tgtEl>
                                          <p:spTgt spid="19267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192686"/>
                                        </p:tgtEl>
                                        <p:attrNameLst>
                                          <p:attrName>style.visibility</p:attrName>
                                        </p:attrNameLst>
                                      </p:cBhvr>
                                      <p:to>
                                        <p:strVal val="visible"/>
                                      </p:to>
                                    </p:set>
                                    <p:animEffect transition="in" filter="wipe(up)">
                                      <p:cBhvr>
                                        <p:cTn id="28" dur="500"/>
                                        <p:tgtEl>
                                          <p:spTgt spid="19268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192687"/>
                                        </p:tgtEl>
                                        <p:attrNameLst>
                                          <p:attrName>style.visibility</p:attrName>
                                        </p:attrNameLst>
                                      </p:cBhvr>
                                      <p:to>
                                        <p:strVal val="visible"/>
                                      </p:to>
                                    </p:set>
                                    <p:animEffect transition="in" filter="wipe(up)">
                                      <p:cBhvr>
                                        <p:cTn id="33" dur="500"/>
                                        <p:tgtEl>
                                          <p:spTgt spid="19268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92629"/>
                                        </p:tgtEl>
                                        <p:attrNameLst>
                                          <p:attrName>style.visibility</p:attrName>
                                        </p:attrNameLst>
                                      </p:cBhvr>
                                      <p:to>
                                        <p:strVal val="visible"/>
                                      </p:to>
                                    </p:set>
                                    <p:animEffect transition="in" filter="wipe(left)">
                                      <p:cBhvr>
                                        <p:cTn id="38" dur="500"/>
                                        <p:tgtEl>
                                          <p:spTgt spid="192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4" grpId="0" animBg="1" autoUpdateAnimBg="0"/>
      <p:bldP spid="192629" grpId="0" animBg="1" autoUpdateAnimBg="0"/>
      <p:bldP spid="192671" grpId="0" animBg="1"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smtClean="0">
                <a:solidFill>
                  <a:schemeClr val="tx1"/>
                </a:solidFill>
                <a:latin typeface="Arial Rounded MT Bold" pitchFamily="34" charset="0"/>
              </a:rPr>
              <a:t>2. </a:t>
            </a:r>
            <a:r>
              <a:rPr lang="en-US" sz="2800" smtClean="0">
                <a:solidFill>
                  <a:schemeClr val="tx1"/>
                </a:solidFill>
                <a:latin typeface="Arial Rounded MT Bold" pitchFamily="34" charset="0"/>
              </a:rPr>
              <a:t>w </a:t>
            </a:r>
            <a:r>
              <a:rPr lang="en-US" sz="2800" smtClean="0">
                <a:solidFill>
                  <a:schemeClr val="tx1"/>
                </a:solidFill>
                <a:latin typeface="Arial Rounded MT Bold" pitchFamily="34" charset="0"/>
                <a:sym typeface="Symbol" pitchFamily="18" charset="2"/>
              </a:rPr>
              <a:t> 0</a:t>
            </a:r>
            <a:r>
              <a:rPr lang="en-US" sz="2800" smtClean="0">
                <a:sym typeface="Symbol" pitchFamily="18" charset="2"/>
              </a:rPr>
              <a:t>    </a:t>
            </a:r>
            <a:r>
              <a:rPr lang="en-US" sz="2800" smtClean="0">
                <a:solidFill>
                  <a:srgbClr val="CC0000"/>
                </a:solidFill>
                <a:latin typeface="Arial Rounded MT Bold" pitchFamily="34" charset="0"/>
                <a:sym typeface="Symbol" pitchFamily="18" charset="2"/>
              </a:rPr>
              <a:t>[Dijkstra]</a:t>
            </a:r>
          </a:p>
        </p:txBody>
      </p:sp>
      <p:sp>
        <p:nvSpPr>
          <p:cNvPr id="195587" name="Text Box 3"/>
          <p:cNvSpPr txBox="1">
            <a:spLocks noChangeArrowheads="1"/>
          </p:cNvSpPr>
          <p:nvPr/>
        </p:nvSpPr>
        <p:spPr bwMode="auto">
          <a:xfrm>
            <a:off x="152400" y="838200"/>
            <a:ext cx="88392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2575" indent="-282575" defTabSz="746125">
              <a:defRPr sz="1600">
                <a:solidFill>
                  <a:schemeClr val="tx1"/>
                </a:solidFill>
                <a:latin typeface="Times New Roman" pitchFamily="18" charset="0"/>
              </a:defRPr>
            </a:lvl1pPr>
            <a:lvl2pPr marL="742950" indent="-285750" defTabSz="746125">
              <a:defRPr sz="1600">
                <a:solidFill>
                  <a:schemeClr val="tx1"/>
                </a:solidFill>
                <a:latin typeface="Times New Roman" pitchFamily="18" charset="0"/>
              </a:defRPr>
            </a:lvl2pPr>
            <a:lvl3pPr marL="1143000" indent="-228600" defTabSz="746125">
              <a:defRPr sz="1600">
                <a:solidFill>
                  <a:schemeClr val="tx1"/>
                </a:solidFill>
                <a:latin typeface="Times New Roman" pitchFamily="18" charset="0"/>
              </a:defRPr>
            </a:lvl3pPr>
            <a:lvl4pPr marL="1600200" indent="-228600" defTabSz="746125">
              <a:defRPr sz="1600">
                <a:solidFill>
                  <a:schemeClr val="tx1"/>
                </a:solidFill>
                <a:latin typeface="Times New Roman" pitchFamily="18" charset="0"/>
              </a:defRPr>
            </a:lvl4pPr>
            <a:lvl5pPr marL="2057400" indent="-228600" defTabSz="746125">
              <a:defRPr sz="1600">
                <a:solidFill>
                  <a:schemeClr val="tx1"/>
                </a:solidFill>
                <a:latin typeface="Times New Roman" pitchFamily="18" charset="0"/>
              </a:defRPr>
            </a:lvl5pPr>
            <a:lvl6pPr marL="2514600" indent="-228600" defTabSz="746125" eaLnBrk="0" fontAlgn="base" hangingPunct="0">
              <a:spcBef>
                <a:spcPct val="0"/>
              </a:spcBef>
              <a:spcAft>
                <a:spcPct val="0"/>
              </a:spcAft>
              <a:buChar char="•"/>
              <a:defRPr sz="1600">
                <a:solidFill>
                  <a:schemeClr val="tx1"/>
                </a:solidFill>
                <a:latin typeface="Times New Roman" pitchFamily="18" charset="0"/>
              </a:defRPr>
            </a:lvl6pPr>
            <a:lvl7pPr marL="2971800" indent="-228600" defTabSz="746125" eaLnBrk="0" fontAlgn="base" hangingPunct="0">
              <a:spcBef>
                <a:spcPct val="0"/>
              </a:spcBef>
              <a:spcAft>
                <a:spcPct val="0"/>
              </a:spcAft>
              <a:buChar char="•"/>
              <a:defRPr sz="1600">
                <a:solidFill>
                  <a:schemeClr val="tx1"/>
                </a:solidFill>
                <a:latin typeface="Times New Roman" pitchFamily="18" charset="0"/>
              </a:defRPr>
            </a:lvl7pPr>
            <a:lvl8pPr marL="3429000" indent="-228600" defTabSz="746125" eaLnBrk="0" fontAlgn="base" hangingPunct="0">
              <a:spcBef>
                <a:spcPct val="0"/>
              </a:spcBef>
              <a:spcAft>
                <a:spcPct val="0"/>
              </a:spcAft>
              <a:buChar char="•"/>
              <a:defRPr sz="1600">
                <a:solidFill>
                  <a:schemeClr val="tx1"/>
                </a:solidFill>
                <a:latin typeface="Times New Roman" pitchFamily="18" charset="0"/>
              </a:defRPr>
            </a:lvl8pPr>
            <a:lvl9pPr marL="3886200" indent="-228600" defTabSz="746125"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Char char="§"/>
            </a:pPr>
            <a:r>
              <a:rPr lang="en-US" sz="2000">
                <a:solidFill>
                  <a:schemeClr val="tx2"/>
                </a:solidFill>
              </a:rPr>
              <a:t>One scan per vertex also suffices if G is arbitrary (with possible cycles) but has no negative weight edges.</a:t>
            </a:r>
          </a:p>
          <a:p>
            <a:pPr eaLnBrk="1" hangingPunct="1">
              <a:spcBef>
                <a:spcPct val="50000"/>
              </a:spcBef>
              <a:buFont typeface="Wingdings" pitchFamily="2" charset="2"/>
              <a:buChar char="§"/>
            </a:pPr>
            <a:r>
              <a:rPr lang="en-US" sz="2000" b="1">
                <a:solidFill>
                  <a:schemeClr val="tx2"/>
                </a:solidFill>
              </a:rPr>
              <a:t>Dijkstra [1959]</a:t>
            </a:r>
            <a:r>
              <a:rPr lang="en-US" sz="2000">
                <a:solidFill>
                  <a:schemeClr val="tx2"/>
                </a:solidFill>
              </a:rPr>
              <a:t> proposed the appropriate </a:t>
            </a:r>
            <a:r>
              <a:rPr lang="en-US" sz="1800" b="1">
                <a:solidFill>
                  <a:srgbClr val="CC0000"/>
                </a:solidFill>
              </a:rPr>
              <a:t>GREEDY</a:t>
            </a:r>
            <a:r>
              <a:rPr lang="en-US" sz="2000">
                <a:solidFill>
                  <a:schemeClr val="tx2"/>
                </a:solidFill>
              </a:rPr>
              <a:t> scanning order:</a:t>
            </a:r>
            <a:br>
              <a:rPr lang="en-US" sz="2000">
                <a:solidFill>
                  <a:schemeClr val="tx2"/>
                </a:solidFill>
              </a:rPr>
            </a:br>
            <a:r>
              <a:rPr lang="en-US" sz="2400" b="1">
                <a:solidFill>
                  <a:srgbClr val="CC0000"/>
                </a:solidFill>
              </a:rPr>
              <a:t>Shortest First:</a:t>
            </a:r>
            <a:r>
              <a:rPr lang="en-US" sz="2000">
                <a:solidFill>
                  <a:schemeClr val="tx2"/>
                </a:solidFill>
              </a:rPr>
              <a:t>  Among labeled vertices, always scan one whose tentative 				 distance is </a:t>
            </a:r>
            <a:r>
              <a:rPr lang="en-US" sz="2000" b="1">
                <a:solidFill>
                  <a:srgbClr val="CC0000"/>
                </a:solidFill>
              </a:rPr>
              <a:t>minimum</a:t>
            </a:r>
            <a:r>
              <a:rPr lang="en-US" sz="2000">
                <a:solidFill>
                  <a:schemeClr val="tx2"/>
                </a:solidFill>
              </a:rPr>
              <a:t>.</a:t>
            </a:r>
          </a:p>
        </p:txBody>
      </p:sp>
      <p:sp>
        <p:nvSpPr>
          <p:cNvPr id="195589" name="Rectangle 5" descr="Recycled paper"/>
          <p:cNvSpPr>
            <a:spLocks noChangeArrowheads="1"/>
          </p:cNvSpPr>
          <p:nvPr/>
        </p:nvSpPr>
        <p:spPr bwMode="auto">
          <a:xfrm>
            <a:off x="152400" y="2819400"/>
            <a:ext cx="8839200" cy="12890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376238" indent="-376238" defTabSz="1328738" eaLnBrk="1" hangingPunct="1">
              <a:lnSpc>
                <a:spcPct val="80000"/>
              </a:lnSpc>
              <a:spcBef>
                <a:spcPct val="50000"/>
              </a:spcBef>
              <a:buFontTx/>
              <a:buNone/>
              <a:tabLst>
                <a:tab pos="376238" algn="l"/>
              </a:tabLst>
            </a:pPr>
            <a:r>
              <a:rPr lang="en-US" sz="2400" b="1" dirty="0">
                <a:solidFill>
                  <a:srgbClr val="CC0000"/>
                </a:solidFill>
              </a:rPr>
              <a:t>FACT 9:  </a:t>
            </a:r>
          </a:p>
          <a:p>
            <a:pPr marL="376238" indent="-376238" defTabSz="1328738" eaLnBrk="1" hangingPunct="1">
              <a:lnSpc>
                <a:spcPct val="80000"/>
              </a:lnSpc>
              <a:spcBef>
                <a:spcPct val="50000"/>
              </a:spcBef>
              <a:buFontTx/>
              <a:buNone/>
              <a:tabLst>
                <a:tab pos="376238" algn="l"/>
              </a:tabLst>
            </a:pPr>
            <a:r>
              <a:rPr lang="en-US" sz="2000" dirty="0">
                <a:solidFill>
                  <a:schemeClr val="hlink"/>
                </a:solidFill>
              </a:rPr>
              <a:t>	Suppose every edge in G has non-negative weight. </a:t>
            </a:r>
            <a:br>
              <a:rPr lang="en-US" sz="2000" dirty="0">
                <a:solidFill>
                  <a:schemeClr val="hlink"/>
                </a:solidFill>
              </a:rPr>
            </a:br>
            <a:r>
              <a:rPr lang="en-US" sz="2000" dirty="0">
                <a:solidFill>
                  <a:schemeClr val="hlink"/>
                </a:solidFill>
              </a:rPr>
              <a:t>Scanning shortest first maintains the invariant:       </a:t>
            </a:r>
            <a:r>
              <a:rPr lang="en-US" sz="2000" b="1" dirty="0" err="1">
                <a:solidFill>
                  <a:srgbClr val="CC0000"/>
                </a:solidFill>
              </a:rPr>
              <a:t>dist</a:t>
            </a:r>
            <a:r>
              <a:rPr lang="en-US" sz="2000" b="1" dirty="0">
                <a:solidFill>
                  <a:srgbClr val="CC0000"/>
                </a:solidFill>
              </a:rPr>
              <a:t>(u) </a:t>
            </a:r>
            <a:r>
              <a:rPr lang="en-US" sz="2000" b="1" dirty="0">
                <a:solidFill>
                  <a:srgbClr val="CC0000"/>
                </a:solidFill>
                <a:sym typeface="Symbol" pitchFamily="18" charset="2"/>
              </a:rPr>
              <a:t> </a:t>
            </a:r>
            <a:r>
              <a:rPr lang="en-US" sz="2000" b="1" dirty="0" err="1">
                <a:solidFill>
                  <a:srgbClr val="CC0000"/>
                </a:solidFill>
              </a:rPr>
              <a:t>dist</a:t>
            </a:r>
            <a:r>
              <a:rPr lang="en-US" sz="2000" b="1" dirty="0">
                <a:solidFill>
                  <a:srgbClr val="CC0000"/>
                </a:solidFill>
              </a:rPr>
              <a:t>(v)</a:t>
            </a:r>
            <a:r>
              <a:rPr lang="en-US" sz="2000" dirty="0">
                <a:solidFill>
                  <a:schemeClr val="hlink"/>
                </a:solidFill>
              </a:rPr>
              <a:t> </a:t>
            </a:r>
            <a:br>
              <a:rPr lang="en-US" sz="2000" dirty="0">
                <a:solidFill>
                  <a:schemeClr val="hlink"/>
                </a:solidFill>
              </a:rPr>
            </a:br>
            <a:r>
              <a:rPr lang="en-US" sz="2000" dirty="0">
                <a:solidFill>
                  <a:schemeClr val="hlink"/>
                </a:solidFill>
              </a:rPr>
              <a:t>for every scanned vertex u and every non-scanned (labeled/unlabeled) vertex v.</a:t>
            </a:r>
          </a:p>
        </p:txBody>
      </p:sp>
      <p:sp>
        <p:nvSpPr>
          <p:cNvPr id="195590" name="Rectangle 6"/>
          <p:cNvSpPr>
            <a:spLocks noChangeArrowheads="1"/>
          </p:cNvSpPr>
          <p:nvPr/>
        </p:nvSpPr>
        <p:spPr bwMode="auto">
          <a:xfrm>
            <a:off x="147638" y="4267200"/>
            <a:ext cx="55578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50000"/>
              </a:spcBef>
              <a:buFontTx/>
              <a:buNone/>
            </a:pPr>
            <a:r>
              <a:rPr lang="en-US" sz="2000" b="1">
                <a:solidFill>
                  <a:schemeClr val="tx2"/>
                </a:solidFill>
              </a:rPr>
              <a:t>Proof sketch:</a:t>
            </a:r>
            <a:r>
              <a:rPr lang="en-US" sz="2000">
                <a:solidFill>
                  <a:schemeClr val="tx2"/>
                </a:solidFill>
              </a:rPr>
              <a:t> By induction on the # scanning steps, </a:t>
            </a:r>
            <a:br>
              <a:rPr lang="en-US" sz="2000">
                <a:solidFill>
                  <a:schemeClr val="tx2"/>
                </a:solidFill>
              </a:rPr>
            </a:br>
            <a:r>
              <a:rPr lang="en-US" sz="2000">
                <a:solidFill>
                  <a:schemeClr val="tx2"/>
                </a:solidFill>
              </a:rPr>
              <a:t>	          using non-negativity of edge weights.</a:t>
            </a:r>
          </a:p>
        </p:txBody>
      </p:sp>
      <p:grpSp>
        <p:nvGrpSpPr>
          <p:cNvPr id="195591" name="Group 7"/>
          <p:cNvGrpSpPr>
            <a:grpSpLocks/>
          </p:cNvGrpSpPr>
          <p:nvPr/>
        </p:nvGrpSpPr>
        <p:grpSpPr bwMode="auto">
          <a:xfrm>
            <a:off x="2133600" y="5257800"/>
            <a:ext cx="4273550" cy="1295400"/>
            <a:chOff x="1104" y="3312"/>
            <a:chExt cx="2692" cy="816"/>
          </a:xfrm>
        </p:grpSpPr>
        <p:sp>
          <p:nvSpPr>
            <p:cNvPr id="111623" name="Oval 8"/>
            <p:cNvSpPr>
              <a:spLocks noChangeArrowheads="1"/>
            </p:cNvSpPr>
            <p:nvPr/>
          </p:nvSpPr>
          <p:spPr bwMode="auto">
            <a:xfrm>
              <a:off x="3264" y="3696"/>
              <a:ext cx="96" cy="96"/>
            </a:xfrm>
            <a:prstGeom prst="ellipse">
              <a:avLst/>
            </a:prstGeom>
            <a:solidFill>
              <a:srgbClr val="B2B2B2"/>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1624" name="Text Box 9"/>
            <p:cNvSpPr txBox="1">
              <a:spLocks noChangeArrowheads="1"/>
            </p:cNvSpPr>
            <p:nvPr/>
          </p:nvSpPr>
          <p:spPr bwMode="auto">
            <a:xfrm>
              <a:off x="1104" y="3744"/>
              <a:ext cx="1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t>s</a:t>
              </a:r>
            </a:p>
          </p:txBody>
        </p:sp>
        <p:sp>
          <p:nvSpPr>
            <p:cNvPr id="111625" name="Rectangle 10"/>
            <p:cNvSpPr>
              <a:spLocks noChangeArrowheads="1"/>
            </p:cNvSpPr>
            <p:nvPr/>
          </p:nvSpPr>
          <p:spPr bwMode="auto">
            <a:xfrm>
              <a:off x="2400" y="3696"/>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u</a:t>
              </a:r>
            </a:p>
          </p:txBody>
        </p:sp>
        <p:sp>
          <p:nvSpPr>
            <p:cNvPr id="111626" name="Rectangle 11"/>
            <p:cNvSpPr>
              <a:spLocks noChangeArrowheads="1"/>
            </p:cNvSpPr>
            <p:nvPr/>
          </p:nvSpPr>
          <p:spPr bwMode="auto">
            <a:xfrm>
              <a:off x="3216" y="374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v</a:t>
              </a:r>
            </a:p>
          </p:txBody>
        </p:sp>
        <p:sp>
          <p:nvSpPr>
            <p:cNvPr id="111627" name="Rectangle 12"/>
            <p:cNvSpPr>
              <a:spLocks noChangeArrowheads="1"/>
            </p:cNvSpPr>
            <p:nvPr/>
          </p:nvSpPr>
          <p:spPr bwMode="auto">
            <a:xfrm>
              <a:off x="3264" y="3504"/>
              <a:ext cx="5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dirty="0" err="1"/>
                <a:t>dist</a:t>
              </a:r>
              <a:r>
                <a:rPr lang="en-US" sz="2000" dirty="0"/>
                <a:t>(v)</a:t>
              </a:r>
            </a:p>
          </p:txBody>
        </p:sp>
        <p:sp>
          <p:nvSpPr>
            <p:cNvPr id="111628" name="Rectangle 13"/>
            <p:cNvSpPr>
              <a:spLocks noChangeArrowheads="1"/>
            </p:cNvSpPr>
            <p:nvPr/>
          </p:nvSpPr>
          <p:spPr bwMode="auto">
            <a:xfrm>
              <a:off x="2736" y="3504"/>
              <a:ext cx="4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w(u,v)</a:t>
              </a:r>
            </a:p>
          </p:txBody>
        </p:sp>
        <p:sp>
          <p:nvSpPr>
            <p:cNvPr id="111629" name="Freeform 14"/>
            <p:cNvSpPr>
              <a:spLocks/>
            </p:cNvSpPr>
            <p:nvPr/>
          </p:nvSpPr>
          <p:spPr bwMode="auto">
            <a:xfrm>
              <a:off x="1248" y="3709"/>
              <a:ext cx="1248" cy="53"/>
            </a:xfrm>
            <a:custGeom>
              <a:avLst/>
              <a:gdLst>
                <a:gd name="T0" fmla="*/ 0 w 864"/>
                <a:gd name="T1" fmla="*/ 38 h 101"/>
                <a:gd name="T2" fmla="*/ 149 w 864"/>
                <a:gd name="T3" fmla="*/ 39 h 101"/>
                <a:gd name="T4" fmla="*/ 282 w 864"/>
                <a:gd name="T5" fmla="*/ 12 h 101"/>
                <a:gd name="T6" fmla="*/ 454 w 864"/>
                <a:gd name="T7" fmla="*/ 53 h 101"/>
                <a:gd name="T8" fmla="*/ 627 w 864"/>
                <a:gd name="T9" fmla="*/ 12 h 101"/>
                <a:gd name="T10" fmla="*/ 789 w 864"/>
                <a:gd name="T11" fmla="*/ 46 h 101"/>
                <a:gd name="T12" fmla="*/ 913 w 864"/>
                <a:gd name="T13" fmla="*/ 4 h 101"/>
                <a:gd name="T14" fmla="*/ 1047 w 864"/>
                <a:gd name="T15" fmla="*/ 22 h 101"/>
                <a:gd name="T16" fmla="*/ 1248 w 864"/>
                <a:gd name="T17" fmla="*/ 13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64" h="101">
                  <a:moveTo>
                    <a:pt x="0" y="73"/>
                  </a:moveTo>
                  <a:cubicBezTo>
                    <a:pt x="17" y="73"/>
                    <a:pt x="71" y="83"/>
                    <a:pt x="103" y="75"/>
                  </a:cubicBezTo>
                  <a:cubicBezTo>
                    <a:pt x="135" y="67"/>
                    <a:pt x="160" y="18"/>
                    <a:pt x="195" y="22"/>
                  </a:cubicBezTo>
                  <a:cubicBezTo>
                    <a:pt x="230" y="26"/>
                    <a:pt x="274" y="101"/>
                    <a:pt x="314" y="101"/>
                  </a:cubicBezTo>
                  <a:cubicBezTo>
                    <a:pt x="354" y="101"/>
                    <a:pt x="395" y="24"/>
                    <a:pt x="434" y="22"/>
                  </a:cubicBezTo>
                  <a:cubicBezTo>
                    <a:pt x="473" y="20"/>
                    <a:pt x="513" y="90"/>
                    <a:pt x="546" y="88"/>
                  </a:cubicBezTo>
                  <a:cubicBezTo>
                    <a:pt x="579" y="86"/>
                    <a:pt x="602" y="16"/>
                    <a:pt x="632" y="8"/>
                  </a:cubicBezTo>
                  <a:cubicBezTo>
                    <a:pt x="662" y="0"/>
                    <a:pt x="686" y="39"/>
                    <a:pt x="725" y="42"/>
                  </a:cubicBezTo>
                  <a:cubicBezTo>
                    <a:pt x="764" y="45"/>
                    <a:pt x="835" y="29"/>
                    <a:pt x="864" y="25"/>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1630" name="Rectangle 15"/>
            <p:cNvSpPr>
              <a:spLocks noChangeArrowheads="1"/>
            </p:cNvSpPr>
            <p:nvPr/>
          </p:nvSpPr>
          <p:spPr bwMode="auto">
            <a:xfrm>
              <a:off x="1584" y="3456"/>
              <a:ext cx="5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dist(u)</a:t>
              </a:r>
            </a:p>
          </p:txBody>
        </p:sp>
        <p:sp>
          <p:nvSpPr>
            <p:cNvPr id="111631" name="Line 16"/>
            <p:cNvSpPr>
              <a:spLocks noChangeShapeType="1"/>
            </p:cNvSpPr>
            <p:nvPr/>
          </p:nvSpPr>
          <p:spPr bwMode="auto">
            <a:xfrm>
              <a:off x="2544" y="3744"/>
              <a:ext cx="72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1632" name="Freeform 17"/>
            <p:cNvSpPr>
              <a:spLocks/>
            </p:cNvSpPr>
            <p:nvPr/>
          </p:nvSpPr>
          <p:spPr bwMode="auto">
            <a:xfrm>
              <a:off x="2544" y="3386"/>
              <a:ext cx="452" cy="358"/>
            </a:xfrm>
            <a:custGeom>
              <a:avLst/>
              <a:gdLst>
                <a:gd name="T0" fmla="*/ 0 w 452"/>
                <a:gd name="T1" fmla="*/ 358 h 358"/>
                <a:gd name="T2" fmla="*/ 452 w 452"/>
                <a:gd name="T3" fmla="*/ 0 h 358"/>
                <a:gd name="T4" fmla="*/ 0 60000 65536"/>
                <a:gd name="T5" fmla="*/ 0 60000 65536"/>
              </a:gdLst>
              <a:ahLst/>
              <a:cxnLst>
                <a:cxn ang="T4">
                  <a:pos x="T0" y="T1"/>
                </a:cxn>
                <a:cxn ang="T5">
                  <a:pos x="T2" y="T3"/>
                </a:cxn>
              </a:cxnLst>
              <a:rect l="0" t="0" r="r" b="b"/>
              <a:pathLst>
                <a:path w="452" h="358">
                  <a:moveTo>
                    <a:pt x="0" y="358"/>
                  </a:moveTo>
                  <a:lnTo>
                    <a:pt x="452"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1633" name="Freeform 18"/>
            <p:cNvSpPr>
              <a:spLocks/>
            </p:cNvSpPr>
            <p:nvPr/>
          </p:nvSpPr>
          <p:spPr bwMode="auto">
            <a:xfrm>
              <a:off x="2544" y="3744"/>
              <a:ext cx="439" cy="324"/>
            </a:xfrm>
            <a:custGeom>
              <a:avLst/>
              <a:gdLst>
                <a:gd name="T0" fmla="*/ 0 w 439"/>
                <a:gd name="T1" fmla="*/ 0 h 324"/>
                <a:gd name="T2" fmla="*/ 439 w 439"/>
                <a:gd name="T3" fmla="*/ 324 h 324"/>
                <a:gd name="T4" fmla="*/ 0 60000 65536"/>
                <a:gd name="T5" fmla="*/ 0 60000 65536"/>
              </a:gdLst>
              <a:ahLst/>
              <a:cxnLst>
                <a:cxn ang="T4">
                  <a:pos x="T0" y="T1"/>
                </a:cxn>
                <a:cxn ang="T5">
                  <a:pos x="T2" y="T3"/>
                </a:cxn>
              </a:cxnLst>
              <a:rect l="0" t="0" r="r" b="b"/>
              <a:pathLst>
                <a:path w="439" h="324">
                  <a:moveTo>
                    <a:pt x="0" y="0"/>
                  </a:moveTo>
                  <a:lnTo>
                    <a:pt x="439" y="324"/>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1634" name="Oval 19"/>
            <p:cNvSpPr>
              <a:spLocks noChangeArrowheads="1"/>
            </p:cNvSpPr>
            <p:nvPr/>
          </p:nvSpPr>
          <p:spPr bwMode="auto">
            <a:xfrm>
              <a:off x="2496" y="3686"/>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1635" name="Oval 20"/>
            <p:cNvSpPr>
              <a:spLocks noChangeArrowheads="1"/>
            </p:cNvSpPr>
            <p:nvPr/>
          </p:nvSpPr>
          <p:spPr bwMode="auto">
            <a:xfrm>
              <a:off x="2976" y="4032"/>
              <a:ext cx="96" cy="96"/>
            </a:xfrm>
            <a:prstGeom prst="ellipse">
              <a:avLst/>
            </a:prstGeom>
            <a:solidFill>
              <a:srgbClr val="B2B2B2"/>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1636" name="Oval 21"/>
            <p:cNvSpPr>
              <a:spLocks noChangeArrowheads="1"/>
            </p:cNvSpPr>
            <p:nvPr/>
          </p:nvSpPr>
          <p:spPr bwMode="auto">
            <a:xfrm>
              <a:off x="2976" y="3312"/>
              <a:ext cx="96" cy="96"/>
            </a:xfrm>
            <a:prstGeom prst="ellipse">
              <a:avLst/>
            </a:prstGeom>
            <a:solidFill>
              <a:srgbClr val="B2B2B2"/>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1637" name="Oval 22"/>
            <p:cNvSpPr>
              <a:spLocks noChangeArrowheads="1"/>
            </p:cNvSpPr>
            <p:nvPr/>
          </p:nvSpPr>
          <p:spPr bwMode="auto">
            <a:xfrm>
              <a:off x="1152" y="3696"/>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108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95586"/>
                                        </p:tgtEl>
                                        <p:attrNameLst>
                                          <p:attrName>style.visibility</p:attrName>
                                        </p:attrNameLst>
                                      </p:cBhvr>
                                      <p:to>
                                        <p:strVal val="visible"/>
                                      </p:to>
                                    </p:set>
                                    <p:anim calcmode="lin" valueType="num">
                                      <p:cBhvr>
                                        <p:cTn id="7" dur="500" fill="hold"/>
                                        <p:tgtEl>
                                          <p:spTgt spid="195586"/>
                                        </p:tgtEl>
                                        <p:attrNameLst>
                                          <p:attrName>ppt_w</p:attrName>
                                        </p:attrNameLst>
                                      </p:cBhvr>
                                      <p:tavLst>
                                        <p:tav tm="0">
                                          <p:val>
                                            <p:fltVal val="0"/>
                                          </p:val>
                                        </p:tav>
                                        <p:tav tm="100000">
                                          <p:val>
                                            <p:strVal val="#ppt_w"/>
                                          </p:val>
                                        </p:tav>
                                      </p:tavLst>
                                    </p:anim>
                                    <p:anim calcmode="lin" valueType="num">
                                      <p:cBhvr>
                                        <p:cTn id="8" dur="500" fill="hold"/>
                                        <p:tgtEl>
                                          <p:spTgt spid="19558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95587">
                                            <p:txEl>
                                              <p:pRg st="0" end="0"/>
                                            </p:txEl>
                                          </p:spTgt>
                                        </p:tgtEl>
                                        <p:attrNameLst>
                                          <p:attrName>style.visibility</p:attrName>
                                        </p:attrNameLst>
                                      </p:cBhvr>
                                      <p:to>
                                        <p:strVal val="visible"/>
                                      </p:to>
                                    </p:set>
                                    <p:animEffect transition="in" filter="wipe(left)">
                                      <p:cBhvr>
                                        <p:cTn id="13" dur="500"/>
                                        <p:tgtEl>
                                          <p:spTgt spid="195587">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95587">
                                            <p:txEl>
                                              <p:pRg st="1" end="1"/>
                                            </p:txEl>
                                          </p:spTgt>
                                        </p:tgtEl>
                                        <p:attrNameLst>
                                          <p:attrName>style.visibility</p:attrName>
                                        </p:attrNameLst>
                                      </p:cBhvr>
                                      <p:to>
                                        <p:strVal val="visible"/>
                                      </p:to>
                                    </p:set>
                                    <p:animEffect transition="in" filter="wipe(left)">
                                      <p:cBhvr>
                                        <p:cTn id="18" dur="500"/>
                                        <p:tgtEl>
                                          <p:spTgt spid="195587">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95589"/>
                                        </p:tgtEl>
                                        <p:attrNameLst>
                                          <p:attrName>style.visibility</p:attrName>
                                        </p:attrNameLst>
                                      </p:cBhvr>
                                      <p:to>
                                        <p:strVal val="visible"/>
                                      </p:to>
                                    </p:set>
                                    <p:animEffect transition="in" filter="wipe(left)">
                                      <p:cBhvr>
                                        <p:cTn id="23" dur="500"/>
                                        <p:tgtEl>
                                          <p:spTgt spid="19558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5590"/>
                                        </p:tgtEl>
                                        <p:attrNameLst>
                                          <p:attrName>style.visibility</p:attrName>
                                        </p:attrNameLst>
                                      </p:cBhvr>
                                      <p:to>
                                        <p:strVal val="visible"/>
                                      </p:to>
                                    </p:set>
                                    <p:animEffect transition="in" filter="wipe(left)">
                                      <p:cBhvr>
                                        <p:cTn id="28" dur="500"/>
                                        <p:tgtEl>
                                          <p:spTgt spid="195590"/>
                                        </p:tgtEl>
                                      </p:cBhvr>
                                    </p:animEffect>
                                  </p:childTnLst>
                                </p:cTn>
                              </p:par>
                            </p:childTnLst>
                          </p:cTn>
                        </p:par>
                        <p:par>
                          <p:cTn id="29" fill="hold" nodeType="afterGroup">
                            <p:stCondLst>
                              <p:cond delay="500"/>
                            </p:stCondLst>
                            <p:childTnLst>
                              <p:par>
                                <p:cTn id="30" presetID="22" presetClass="entr" presetSubtype="8" fill="hold" nodeType="afterEffect">
                                  <p:stCondLst>
                                    <p:cond delay="0"/>
                                  </p:stCondLst>
                                  <p:childTnLst>
                                    <p:set>
                                      <p:cBhvr>
                                        <p:cTn id="31" dur="1" fill="hold">
                                          <p:stCondLst>
                                            <p:cond delay="0"/>
                                          </p:stCondLst>
                                        </p:cTn>
                                        <p:tgtEl>
                                          <p:spTgt spid="195591"/>
                                        </p:tgtEl>
                                        <p:attrNameLst>
                                          <p:attrName>style.visibility</p:attrName>
                                        </p:attrNameLst>
                                      </p:cBhvr>
                                      <p:to>
                                        <p:strVal val="visible"/>
                                      </p:to>
                                    </p:set>
                                    <p:animEffect transition="in" filter="wipe(left)">
                                      <p:cBhvr>
                                        <p:cTn id="32" dur="500"/>
                                        <p:tgtEl>
                                          <p:spTgt spid="195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6" grpId="0" animBg="1" autoUpdateAnimBg="0"/>
      <p:bldP spid="195587" grpId="0" build="p" autoUpdateAnimBg="0"/>
      <p:bldP spid="195589" grpId="0" animBg="1" autoUpdateAnimBg="0"/>
      <p:bldP spid="195590" grpId="0"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chemeClr val="tx1"/>
                </a:solidFill>
                <a:latin typeface="Arial Rounded MT Bold" pitchFamily="34" charset="0"/>
              </a:rPr>
              <a:t>2. </a:t>
            </a:r>
            <a:r>
              <a:rPr lang="en-US" sz="2800" dirty="0" smtClean="0">
                <a:solidFill>
                  <a:schemeClr val="tx1"/>
                </a:solidFill>
                <a:latin typeface="Arial Rounded MT Bold" pitchFamily="34" charset="0"/>
              </a:rPr>
              <a:t>w </a:t>
            </a:r>
            <a:r>
              <a:rPr lang="en-US" sz="2800" dirty="0" smtClean="0">
                <a:solidFill>
                  <a:schemeClr val="tx1"/>
                </a:solidFill>
                <a:latin typeface="Arial Rounded MT Bold" pitchFamily="34" charset="0"/>
                <a:sym typeface="Symbol" pitchFamily="18" charset="2"/>
              </a:rPr>
              <a:t> 0    </a:t>
            </a:r>
            <a:r>
              <a:rPr lang="en-US" sz="2800" dirty="0" smtClean="0">
                <a:solidFill>
                  <a:srgbClr val="CC0000"/>
                </a:solidFill>
                <a:latin typeface="Arial Rounded MT Bold" pitchFamily="34" charset="0"/>
                <a:sym typeface="Symbol" pitchFamily="18" charset="2"/>
              </a:rPr>
              <a:t>[</a:t>
            </a:r>
            <a:r>
              <a:rPr lang="en-US" sz="2800" dirty="0" err="1" smtClean="0">
                <a:solidFill>
                  <a:srgbClr val="CC0000"/>
                </a:solidFill>
                <a:latin typeface="Arial Rounded MT Bold" pitchFamily="34" charset="0"/>
                <a:sym typeface="Symbol" pitchFamily="18" charset="2"/>
              </a:rPr>
              <a:t>Dijkstra</a:t>
            </a:r>
            <a:r>
              <a:rPr lang="en-US" sz="2800" dirty="0" smtClean="0">
                <a:solidFill>
                  <a:srgbClr val="CC0000"/>
                </a:solidFill>
                <a:latin typeface="Arial Rounded MT Bold" pitchFamily="34" charset="0"/>
                <a:sym typeface="Symbol" pitchFamily="18" charset="2"/>
              </a:rPr>
              <a:t>]</a:t>
            </a:r>
            <a:r>
              <a:rPr lang="en-US" sz="2400" dirty="0" smtClean="0">
                <a:latin typeface="Arial" pitchFamily="34" charset="0"/>
                <a:sym typeface="Symbol" pitchFamily="18" charset="2"/>
              </a:rPr>
              <a:t> </a:t>
            </a:r>
          </a:p>
        </p:txBody>
      </p:sp>
      <p:sp>
        <p:nvSpPr>
          <p:cNvPr id="193541" name="Rectangle 5" descr="Recycled paper"/>
          <p:cNvSpPr>
            <a:spLocks noChangeArrowheads="1"/>
          </p:cNvSpPr>
          <p:nvPr/>
        </p:nvSpPr>
        <p:spPr bwMode="auto">
          <a:xfrm>
            <a:off x="152400" y="838200"/>
            <a:ext cx="8839200" cy="12890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376238" indent="-376238" defTabSz="1328738" eaLnBrk="1" hangingPunct="1">
              <a:lnSpc>
                <a:spcPct val="80000"/>
              </a:lnSpc>
              <a:spcBef>
                <a:spcPct val="50000"/>
              </a:spcBef>
              <a:buFontTx/>
              <a:buNone/>
              <a:tabLst>
                <a:tab pos="376238" algn="l"/>
              </a:tabLst>
            </a:pPr>
            <a:r>
              <a:rPr lang="en-US" sz="2400" b="1" dirty="0">
                <a:solidFill>
                  <a:srgbClr val="CC0000"/>
                </a:solidFill>
              </a:rPr>
              <a:t>FACT 10:  </a:t>
            </a:r>
          </a:p>
          <a:p>
            <a:pPr marL="376238" indent="-376238" defTabSz="1328738" eaLnBrk="1" hangingPunct="1">
              <a:lnSpc>
                <a:spcPct val="80000"/>
              </a:lnSpc>
              <a:spcBef>
                <a:spcPct val="50000"/>
              </a:spcBef>
              <a:buFontTx/>
              <a:buNone/>
              <a:tabLst>
                <a:tab pos="376238" algn="l"/>
              </a:tabLst>
            </a:pPr>
            <a:r>
              <a:rPr lang="en-US" sz="2000" dirty="0">
                <a:solidFill>
                  <a:schemeClr val="hlink"/>
                </a:solidFill>
              </a:rPr>
              <a:t>	Suppose every edge in G has non-negative weight. </a:t>
            </a:r>
            <a:br>
              <a:rPr lang="en-US" sz="2000" dirty="0">
                <a:solidFill>
                  <a:schemeClr val="hlink"/>
                </a:solidFill>
              </a:rPr>
            </a:br>
            <a:r>
              <a:rPr lang="en-US" sz="2000" dirty="0">
                <a:solidFill>
                  <a:schemeClr val="hlink"/>
                </a:solidFill>
              </a:rPr>
              <a:t>Scanning shortest first maintains the invariant that:</a:t>
            </a:r>
            <a:br>
              <a:rPr lang="en-US" sz="2000" dirty="0">
                <a:solidFill>
                  <a:schemeClr val="hlink"/>
                </a:solidFill>
              </a:rPr>
            </a:br>
            <a:r>
              <a:rPr lang="en-US" sz="2000" dirty="0">
                <a:solidFill>
                  <a:schemeClr val="hlink"/>
                </a:solidFill>
              </a:rPr>
              <a:t>once a vertex u is scanned,  </a:t>
            </a:r>
            <a:r>
              <a:rPr lang="en-US" sz="2000" dirty="0" err="1">
                <a:solidFill>
                  <a:schemeClr val="hlink"/>
                </a:solidFill>
              </a:rPr>
              <a:t>dist</a:t>
            </a:r>
            <a:r>
              <a:rPr lang="en-US" sz="2000" dirty="0">
                <a:solidFill>
                  <a:schemeClr val="hlink"/>
                </a:solidFill>
              </a:rPr>
              <a:t>(u) is the cost of a shortest path from s to u.</a:t>
            </a:r>
          </a:p>
        </p:txBody>
      </p:sp>
      <p:sp>
        <p:nvSpPr>
          <p:cNvPr id="193543" name="Rectangle 7"/>
          <p:cNvSpPr>
            <a:spLocks noChangeArrowheads="1"/>
          </p:cNvSpPr>
          <p:nvPr/>
        </p:nvSpPr>
        <p:spPr bwMode="auto">
          <a:xfrm>
            <a:off x="147638" y="2279650"/>
            <a:ext cx="8767762" cy="268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763588" eaLnBrk="1" hangingPunct="1">
              <a:spcBef>
                <a:spcPct val="50000"/>
              </a:spcBef>
              <a:buFontTx/>
              <a:buNone/>
            </a:pPr>
            <a:r>
              <a:rPr lang="en-US" sz="2000" b="1"/>
              <a:t>Proof:</a:t>
            </a:r>
            <a:r>
              <a:rPr lang="en-US" sz="2000"/>
              <a:t> </a:t>
            </a:r>
            <a:br>
              <a:rPr lang="en-US" sz="2000"/>
            </a:br>
            <a:r>
              <a:rPr lang="en-US" sz="2000"/>
              <a:t/>
            </a:r>
            <a:br>
              <a:rPr lang="en-US" sz="2000"/>
            </a:br>
            <a:r>
              <a:rPr lang="en-US" sz="2000"/>
              <a:t>By Fact 9:       dist(u) </a:t>
            </a:r>
            <a:r>
              <a:rPr lang="en-US" sz="2000">
                <a:sym typeface="Symbol" pitchFamily="18" charset="2"/>
              </a:rPr>
              <a:t> </a:t>
            </a:r>
            <a:r>
              <a:rPr lang="en-US" sz="2000"/>
              <a:t>dist(v) </a:t>
            </a:r>
            <a:br>
              <a:rPr lang="en-US" sz="2000"/>
            </a:br>
            <a:r>
              <a:rPr lang="en-US" sz="2000"/>
              <a:t>		for every scanned vertex u and every non-scanned vertex v.</a:t>
            </a:r>
            <a:br>
              <a:rPr lang="en-US" sz="2000"/>
            </a:br>
            <a:endParaRPr lang="en-US" sz="2000"/>
          </a:p>
          <a:p>
            <a:pPr defTabSz="763588" eaLnBrk="1" hangingPunct="1">
              <a:spcBef>
                <a:spcPct val="50000"/>
              </a:spcBef>
              <a:buFontTx/>
              <a:buNone/>
            </a:pPr>
            <a:r>
              <a:rPr lang="en-US" sz="2000"/>
              <a:t>This means that vertices are scanned in non-decreasing order by shortest distance from s, and that a vertex, once scanned, due to non-negativity of edge weights, cannot become labeled. </a:t>
            </a:r>
          </a:p>
        </p:txBody>
      </p:sp>
      <p:grpSp>
        <p:nvGrpSpPr>
          <p:cNvPr id="193544" name="Group 8"/>
          <p:cNvGrpSpPr>
            <a:grpSpLocks/>
          </p:cNvGrpSpPr>
          <p:nvPr/>
        </p:nvGrpSpPr>
        <p:grpSpPr bwMode="auto">
          <a:xfrm>
            <a:off x="2667000" y="4871180"/>
            <a:ext cx="3562350" cy="1642334"/>
            <a:chOff x="1735" y="2539"/>
            <a:chExt cx="3346" cy="1461"/>
          </a:xfrm>
        </p:grpSpPr>
        <p:sp>
          <p:nvSpPr>
            <p:cNvPr id="112646" name="Oval 9"/>
            <p:cNvSpPr>
              <a:spLocks noChangeArrowheads="1"/>
            </p:cNvSpPr>
            <p:nvPr/>
          </p:nvSpPr>
          <p:spPr bwMode="auto">
            <a:xfrm>
              <a:off x="1968" y="3216"/>
              <a:ext cx="96" cy="96"/>
            </a:xfrm>
            <a:prstGeom prst="ellipse">
              <a:avLst/>
            </a:prstGeom>
            <a:solidFill>
              <a:schemeClr val="accent3">
                <a:lumMod val="6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2647" name="Oval 10"/>
            <p:cNvSpPr>
              <a:spLocks noChangeArrowheads="1"/>
            </p:cNvSpPr>
            <p:nvPr/>
          </p:nvSpPr>
          <p:spPr bwMode="auto">
            <a:xfrm>
              <a:off x="4608" y="2736"/>
              <a:ext cx="96" cy="96"/>
            </a:xfrm>
            <a:prstGeom prst="ellipse">
              <a:avLst/>
            </a:prstGeom>
            <a:solidFill>
              <a:schemeClr val="accent3">
                <a:lumMod val="6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2648" name="Oval 11"/>
            <p:cNvSpPr>
              <a:spLocks noChangeArrowheads="1"/>
            </p:cNvSpPr>
            <p:nvPr/>
          </p:nvSpPr>
          <p:spPr bwMode="auto">
            <a:xfrm>
              <a:off x="4032" y="3648"/>
              <a:ext cx="96" cy="96"/>
            </a:xfrm>
            <a:prstGeom prst="ellipse">
              <a:avLst/>
            </a:prstGeom>
            <a:solidFill>
              <a:schemeClr val="accent3">
                <a:lumMod val="6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12649" name="Text Box 12"/>
            <p:cNvSpPr txBox="1">
              <a:spLocks noChangeArrowheads="1"/>
            </p:cNvSpPr>
            <p:nvPr/>
          </p:nvSpPr>
          <p:spPr bwMode="auto">
            <a:xfrm>
              <a:off x="1735" y="3119"/>
              <a:ext cx="256"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t>s</a:t>
              </a:r>
            </a:p>
          </p:txBody>
        </p:sp>
        <p:sp>
          <p:nvSpPr>
            <p:cNvPr id="112650" name="Rectangle 13"/>
            <p:cNvSpPr>
              <a:spLocks noChangeArrowheads="1"/>
            </p:cNvSpPr>
            <p:nvPr/>
          </p:nvSpPr>
          <p:spPr bwMode="auto">
            <a:xfrm>
              <a:off x="2820" y="2539"/>
              <a:ext cx="793"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dirty="0" err="1"/>
                <a:t>dist</a:t>
              </a:r>
              <a:r>
                <a:rPr lang="en-US" sz="2000" dirty="0"/>
                <a:t>(u)</a:t>
              </a:r>
            </a:p>
          </p:txBody>
        </p:sp>
        <p:sp>
          <p:nvSpPr>
            <p:cNvPr id="112651" name="Rectangle 14"/>
            <p:cNvSpPr>
              <a:spLocks noChangeArrowheads="1"/>
            </p:cNvSpPr>
            <p:nvPr/>
          </p:nvSpPr>
          <p:spPr bwMode="auto">
            <a:xfrm>
              <a:off x="4548" y="2544"/>
              <a:ext cx="412"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dirty="0"/>
                <a:t>  u</a:t>
              </a:r>
            </a:p>
          </p:txBody>
        </p:sp>
        <p:sp>
          <p:nvSpPr>
            <p:cNvPr id="112652" name="Rectangle 15"/>
            <p:cNvSpPr>
              <a:spLocks noChangeArrowheads="1"/>
            </p:cNvSpPr>
            <p:nvPr/>
          </p:nvSpPr>
          <p:spPr bwMode="auto">
            <a:xfrm>
              <a:off x="4032" y="3647"/>
              <a:ext cx="293"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v</a:t>
              </a:r>
            </a:p>
          </p:txBody>
        </p:sp>
        <p:sp>
          <p:nvSpPr>
            <p:cNvPr id="112653" name="Rectangle 16"/>
            <p:cNvSpPr>
              <a:spLocks noChangeArrowheads="1"/>
            </p:cNvSpPr>
            <p:nvPr/>
          </p:nvSpPr>
          <p:spPr bwMode="auto">
            <a:xfrm>
              <a:off x="2749" y="3601"/>
              <a:ext cx="793"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dist(v)</a:t>
              </a:r>
            </a:p>
          </p:txBody>
        </p:sp>
        <p:sp>
          <p:nvSpPr>
            <p:cNvPr id="112654" name="Rectangle 17"/>
            <p:cNvSpPr>
              <a:spLocks noChangeArrowheads="1"/>
            </p:cNvSpPr>
            <p:nvPr/>
          </p:nvSpPr>
          <p:spPr bwMode="auto">
            <a:xfrm>
              <a:off x="4100" y="3168"/>
              <a:ext cx="981"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t>   w(v,u)</a:t>
              </a:r>
            </a:p>
          </p:txBody>
        </p:sp>
        <p:sp>
          <p:nvSpPr>
            <p:cNvPr id="112655" name="Freeform 18"/>
            <p:cNvSpPr>
              <a:spLocks/>
            </p:cNvSpPr>
            <p:nvPr/>
          </p:nvSpPr>
          <p:spPr bwMode="auto">
            <a:xfrm>
              <a:off x="4097" y="2820"/>
              <a:ext cx="536" cy="835"/>
            </a:xfrm>
            <a:custGeom>
              <a:avLst/>
              <a:gdLst>
                <a:gd name="T0" fmla="*/ 0 w 536"/>
                <a:gd name="T1" fmla="*/ 835 h 835"/>
                <a:gd name="T2" fmla="*/ 536 w 536"/>
                <a:gd name="T3" fmla="*/ 0 h 835"/>
                <a:gd name="T4" fmla="*/ 0 60000 65536"/>
                <a:gd name="T5" fmla="*/ 0 60000 65536"/>
              </a:gdLst>
              <a:ahLst/>
              <a:cxnLst>
                <a:cxn ang="T4">
                  <a:pos x="T0" y="T1"/>
                </a:cxn>
                <a:cxn ang="T5">
                  <a:pos x="T2" y="T3"/>
                </a:cxn>
              </a:cxnLst>
              <a:rect l="0" t="0" r="r" b="b"/>
              <a:pathLst>
                <a:path w="536" h="835">
                  <a:moveTo>
                    <a:pt x="0" y="835"/>
                  </a:moveTo>
                  <a:lnTo>
                    <a:pt x="53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2656" name="Freeform 19"/>
            <p:cNvSpPr>
              <a:spLocks/>
            </p:cNvSpPr>
            <p:nvPr/>
          </p:nvSpPr>
          <p:spPr bwMode="auto">
            <a:xfrm>
              <a:off x="2064" y="3264"/>
              <a:ext cx="1968" cy="436"/>
            </a:xfrm>
            <a:custGeom>
              <a:avLst/>
              <a:gdLst>
                <a:gd name="T0" fmla="*/ 0 w 1968"/>
                <a:gd name="T1" fmla="*/ 0 h 436"/>
                <a:gd name="T2" fmla="*/ 185 w 1968"/>
                <a:gd name="T3" fmla="*/ 66 h 436"/>
                <a:gd name="T4" fmla="*/ 457 w 1968"/>
                <a:gd name="T5" fmla="*/ 225 h 436"/>
                <a:gd name="T6" fmla="*/ 874 w 1968"/>
                <a:gd name="T7" fmla="*/ 185 h 436"/>
                <a:gd name="T8" fmla="*/ 1185 w 1968"/>
                <a:gd name="T9" fmla="*/ 358 h 436"/>
                <a:gd name="T10" fmla="*/ 1510 w 1968"/>
                <a:gd name="T11" fmla="*/ 318 h 436"/>
                <a:gd name="T12" fmla="*/ 1728 w 1968"/>
                <a:gd name="T13" fmla="*/ 417 h 436"/>
                <a:gd name="T14" fmla="*/ 1968 w 1968"/>
                <a:gd name="T15" fmla="*/ 432 h 4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968" h="436">
                  <a:moveTo>
                    <a:pt x="0" y="0"/>
                  </a:moveTo>
                  <a:cubicBezTo>
                    <a:pt x="31" y="11"/>
                    <a:pt x="109" y="29"/>
                    <a:pt x="185" y="66"/>
                  </a:cubicBezTo>
                  <a:cubicBezTo>
                    <a:pt x="261" y="103"/>
                    <a:pt x="342" y="205"/>
                    <a:pt x="457" y="225"/>
                  </a:cubicBezTo>
                  <a:cubicBezTo>
                    <a:pt x="572" y="245"/>
                    <a:pt x="753" y="163"/>
                    <a:pt x="874" y="185"/>
                  </a:cubicBezTo>
                  <a:cubicBezTo>
                    <a:pt x="995" y="207"/>
                    <a:pt x="1079" y="336"/>
                    <a:pt x="1185" y="358"/>
                  </a:cubicBezTo>
                  <a:cubicBezTo>
                    <a:pt x="1291" y="380"/>
                    <a:pt x="1420" y="308"/>
                    <a:pt x="1510" y="318"/>
                  </a:cubicBezTo>
                  <a:cubicBezTo>
                    <a:pt x="1600" y="328"/>
                    <a:pt x="1652" y="398"/>
                    <a:pt x="1728" y="417"/>
                  </a:cubicBezTo>
                  <a:cubicBezTo>
                    <a:pt x="1804" y="436"/>
                    <a:pt x="1918" y="429"/>
                    <a:pt x="1968" y="432"/>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2657" name="Freeform 20"/>
            <p:cNvSpPr>
              <a:spLocks/>
            </p:cNvSpPr>
            <p:nvPr/>
          </p:nvSpPr>
          <p:spPr bwMode="auto">
            <a:xfrm>
              <a:off x="2064" y="2716"/>
              <a:ext cx="2544" cy="548"/>
            </a:xfrm>
            <a:custGeom>
              <a:avLst/>
              <a:gdLst>
                <a:gd name="T0" fmla="*/ 0 w 2544"/>
                <a:gd name="T1" fmla="*/ 548 h 548"/>
                <a:gd name="T2" fmla="*/ 265 w 2544"/>
                <a:gd name="T3" fmla="*/ 488 h 548"/>
                <a:gd name="T4" fmla="*/ 609 w 2544"/>
                <a:gd name="T5" fmla="*/ 283 h 548"/>
                <a:gd name="T6" fmla="*/ 912 w 2544"/>
                <a:gd name="T7" fmla="*/ 356 h 548"/>
                <a:gd name="T8" fmla="*/ 1278 w 2544"/>
                <a:gd name="T9" fmla="*/ 157 h 548"/>
                <a:gd name="T10" fmla="*/ 1702 w 2544"/>
                <a:gd name="T11" fmla="*/ 224 h 548"/>
                <a:gd name="T12" fmla="*/ 1973 w 2544"/>
                <a:gd name="T13" fmla="*/ 18 h 548"/>
                <a:gd name="T14" fmla="*/ 2317 w 2544"/>
                <a:gd name="T15" fmla="*/ 118 h 548"/>
                <a:gd name="T16" fmla="*/ 2544 w 2544"/>
                <a:gd name="T17" fmla="*/ 68 h 5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44" h="548">
                  <a:moveTo>
                    <a:pt x="0" y="548"/>
                  </a:moveTo>
                  <a:cubicBezTo>
                    <a:pt x="44" y="538"/>
                    <a:pt x="163" y="532"/>
                    <a:pt x="265" y="488"/>
                  </a:cubicBezTo>
                  <a:cubicBezTo>
                    <a:pt x="367" y="444"/>
                    <a:pt x="501" y="305"/>
                    <a:pt x="609" y="283"/>
                  </a:cubicBezTo>
                  <a:cubicBezTo>
                    <a:pt x="717" y="261"/>
                    <a:pt x="800" y="377"/>
                    <a:pt x="912" y="356"/>
                  </a:cubicBezTo>
                  <a:cubicBezTo>
                    <a:pt x="1024" y="335"/>
                    <a:pt x="1146" y="179"/>
                    <a:pt x="1278" y="157"/>
                  </a:cubicBezTo>
                  <a:cubicBezTo>
                    <a:pt x="1410" y="135"/>
                    <a:pt x="1586" y="247"/>
                    <a:pt x="1702" y="224"/>
                  </a:cubicBezTo>
                  <a:cubicBezTo>
                    <a:pt x="1818" y="201"/>
                    <a:pt x="1871" y="36"/>
                    <a:pt x="1973" y="18"/>
                  </a:cubicBezTo>
                  <a:cubicBezTo>
                    <a:pt x="2075" y="0"/>
                    <a:pt x="2222" y="110"/>
                    <a:pt x="2317" y="118"/>
                  </a:cubicBezTo>
                  <a:cubicBezTo>
                    <a:pt x="2412" y="126"/>
                    <a:pt x="2497" y="78"/>
                    <a:pt x="2544" y="68"/>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109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3541"/>
                                        </p:tgtEl>
                                        <p:attrNameLst>
                                          <p:attrName>style.visibility</p:attrName>
                                        </p:attrNameLst>
                                      </p:cBhvr>
                                      <p:to>
                                        <p:strVal val="visible"/>
                                      </p:to>
                                    </p:set>
                                    <p:animEffect transition="in" filter="wipe(left)">
                                      <p:cBhvr>
                                        <p:cTn id="7" dur="500"/>
                                        <p:tgtEl>
                                          <p:spTgt spid="1935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3543">
                                            <p:txEl>
                                              <p:pRg st="0" end="0"/>
                                            </p:txEl>
                                          </p:spTgt>
                                        </p:tgtEl>
                                        <p:attrNameLst>
                                          <p:attrName>style.visibility</p:attrName>
                                        </p:attrNameLst>
                                      </p:cBhvr>
                                      <p:to>
                                        <p:strVal val="visible"/>
                                      </p:to>
                                    </p:set>
                                    <p:animEffect transition="in" filter="wipe(up)">
                                      <p:cBhvr>
                                        <p:cTn id="12" dur="500"/>
                                        <p:tgtEl>
                                          <p:spTgt spid="19354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93543">
                                            <p:txEl>
                                              <p:pRg st="1" end="1"/>
                                            </p:txEl>
                                          </p:spTgt>
                                        </p:tgtEl>
                                        <p:attrNameLst>
                                          <p:attrName>style.visibility</p:attrName>
                                        </p:attrNameLst>
                                      </p:cBhvr>
                                      <p:to>
                                        <p:strVal val="visible"/>
                                      </p:to>
                                    </p:set>
                                    <p:animEffect transition="in" filter="wipe(up)">
                                      <p:cBhvr>
                                        <p:cTn id="17" dur="500"/>
                                        <p:tgtEl>
                                          <p:spTgt spid="193543">
                                            <p:txEl>
                                              <p:pRg st="1" end="1"/>
                                            </p:txEl>
                                          </p:spTgt>
                                        </p:tgtEl>
                                      </p:cBhvr>
                                    </p:animEffect>
                                  </p:childTnLst>
                                </p:cTn>
                              </p:par>
                            </p:childTnLst>
                          </p:cTn>
                        </p:par>
                        <p:par>
                          <p:cTn id="18" fill="hold" nodeType="afterGroup">
                            <p:stCondLst>
                              <p:cond delay="500"/>
                            </p:stCondLst>
                            <p:childTnLst>
                              <p:par>
                                <p:cTn id="19" presetID="22" presetClass="entr" presetSubtype="1" fill="hold" nodeType="afterEffect">
                                  <p:stCondLst>
                                    <p:cond delay="0"/>
                                  </p:stCondLst>
                                  <p:childTnLst>
                                    <p:set>
                                      <p:cBhvr>
                                        <p:cTn id="20" dur="1" fill="hold">
                                          <p:stCondLst>
                                            <p:cond delay="0"/>
                                          </p:stCondLst>
                                        </p:cTn>
                                        <p:tgtEl>
                                          <p:spTgt spid="193544"/>
                                        </p:tgtEl>
                                        <p:attrNameLst>
                                          <p:attrName>style.visibility</p:attrName>
                                        </p:attrNameLst>
                                      </p:cBhvr>
                                      <p:to>
                                        <p:strVal val="visible"/>
                                      </p:to>
                                    </p:set>
                                    <p:animEffect transition="in" filter="wipe(up)">
                                      <p:cBhvr>
                                        <p:cTn id="21" dur="500"/>
                                        <p:tgtEl>
                                          <p:spTgt spid="1935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1" grpId="0" animBg="1" autoUpdateAnimBg="0"/>
      <p:bldP spid="193543" grpId="0" build="p"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chemeClr val="tx1"/>
                </a:solidFill>
                <a:latin typeface="Arial Rounded MT Bold" pitchFamily="34" charset="0"/>
              </a:rPr>
              <a:t>Example</a:t>
            </a:r>
          </a:p>
        </p:txBody>
      </p:sp>
      <p:grpSp>
        <p:nvGrpSpPr>
          <p:cNvPr id="197011" name="Group 403"/>
          <p:cNvGrpSpPr>
            <a:grpSpLocks/>
          </p:cNvGrpSpPr>
          <p:nvPr/>
        </p:nvGrpSpPr>
        <p:grpSpPr bwMode="auto">
          <a:xfrm>
            <a:off x="609600" y="685800"/>
            <a:ext cx="3665538" cy="2874963"/>
            <a:chOff x="96" y="432"/>
            <a:chExt cx="2309" cy="1811"/>
          </a:xfrm>
        </p:grpSpPr>
        <p:sp>
          <p:nvSpPr>
            <p:cNvPr id="113788" name="Freeform 120"/>
            <p:cNvSpPr>
              <a:spLocks/>
            </p:cNvSpPr>
            <p:nvPr/>
          </p:nvSpPr>
          <p:spPr bwMode="auto">
            <a:xfrm>
              <a:off x="1520" y="1743"/>
              <a:ext cx="538" cy="278"/>
            </a:xfrm>
            <a:custGeom>
              <a:avLst/>
              <a:gdLst>
                <a:gd name="T0" fmla="*/ 0 w 606"/>
                <a:gd name="T1" fmla="*/ 278 h 338"/>
                <a:gd name="T2" fmla="*/ 538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89" name="Line 121"/>
            <p:cNvSpPr>
              <a:spLocks noChangeShapeType="1"/>
            </p:cNvSpPr>
            <p:nvPr/>
          </p:nvSpPr>
          <p:spPr bwMode="auto">
            <a:xfrm flipV="1">
              <a:off x="1477" y="1498"/>
              <a:ext cx="0" cy="5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90" name="Freeform 122"/>
            <p:cNvSpPr>
              <a:spLocks/>
            </p:cNvSpPr>
            <p:nvPr/>
          </p:nvSpPr>
          <p:spPr bwMode="auto">
            <a:xfrm>
              <a:off x="796" y="1665"/>
              <a:ext cx="556" cy="329"/>
            </a:xfrm>
            <a:custGeom>
              <a:avLst/>
              <a:gdLst>
                <a:gd name="T0" fmla="*/ 0 w 627"/>
                <a:gd name="T1" fmla="*/ 0 h 399"/>
                <a:gd name="T2" fmla="*/ 556 w 627"/>
                <a:gd name="T3" fmla="*/ 329 h 399"/>
                <a:gd name="T4" fmla="*/ 0 60000 65536"/>
                <a:gd name="T5" fmla="*/ 0 60000 65536"/>
              </a:gdLst>
              <a:ahLst/>
              <a:cxnLst>
                <a:cxn ang="T4">
                  <a:pos x="T0" y="T1"/>
                </a:cxn>
                <a:cxn ang="T5">
                  <a:pos x="T2" y="T3"/>
                </a:cxn>
              </a:cxnLst>
              <a:rect l="0" t="0" r="r" b="b"/>
              <a:pathLst>
                <a:path w="627" h="399">
                  <a:moveTo>
                    <a:pt x="0" y="0"/>
                  </a:moveTo>
                  <a:lnTo>
                    <a:pt x="627" y="399"/>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91" name="Freeform 123"/>
            <p:cNvSpPr>
              <a:spLocks/>
            </p:cNvSpPr>
            <p:nvPr/>
          </p:nvSpPr>
          <p:spPr bwMode="auto">
            <a:xfrm>
              <a:off x="1477" y="1349"/>
              <a:ext cx="572" cy="238"/>
            </a:xfrm>
            <a:custGeom>
              <a:avLst/>
              <a:gdLst>
                <a:gd name="T0" fmla="*/ 0 w 572"/>
                <a:gd name="T1" fmla="*/ 0 h 238"/>
                <a:gd name="T2" fmla="*/ 572 w 572"/>
                <a:gd name="T3" fmla="*/ 238 h 238"/>
                <a:gd name="T4" fmla="*/ 0 60000 65536"/>
                <a:gd name="T5" fmla="*/ 0 60000 65536"/>
              </a:gdLst>
              <a:ahLst/>
              <a:cxnLst>
                <a:cxn ang="T4">
                  <a:pos x="T0" y="T1"/>
                </a:cxn>
                <a:cxn ang="T5">
                  <a:pos x="T2" y="T3"/>
                </a:cxn>
              </a:cxnLst>
              <a:rect l="0" t="0" r="r" b="b"/>
              <a:pathLst>
                <a:path w="572" h="238">
                  <a:moveTo>
                    <a:pt x="0" y="0"/>
                  </a:moveTo>
                  <a:lnTo>
                    <a:pt x="572" y="238"/>
                  </a:lnTo>
                </a:path>
              </a:pathLst>
            </a:custGeom>
            <a:noFill/>
            <a:ln w="19050">
              <a:solidFill>
                <a:schemeClr val="tx1"/>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3792" name="Line 124"/>
            <p:cNvSpPr>
              <a:spLocks noChangeShapeType="1"/>
            </p:cNvSpPr>
            <p:nvPr/>
          </p:nvSpPr>
          <p:spPr bwMode="auto">
            <a:xfrm flipV="1">
              <a:off x="2159" y="1152"/>
              <a:ext cx="0" cy="47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93" name="Line 125"/>
            <p:cNvSpPr>
              <a:spLocks noChangeShapeType="1"/>
            </p:cNvSpPr>
            <p:nvPr/>
          </p:nvSpPr>
          <p:spPr bwMode="auto">
            <a:xfrm>
              <a:off x="796" y="1033"/>
              <a:ext cx="0" cy="51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94" name="Freeform 126"/>
            <p:cNvSpPr>
              <a:spLocks/>
            </p:cNvSpPr>
            <p:nvPr/>
          </p:nvSpPr>
          <p:spPr bwMode="auto">
            <a:xfrm>
              <a:off x="796" y="1410"/>
              <a:ext cx="574" cy="255"/>
            </a:xfrm>
            <a:custGeom>
              <a:avLst/>
              <a:gdLst>
                <a:gd name="T0" fmla="*/ 0 w 647"/>
                <a:gd name="T1" fmla="*/ 255 h 310"/>
                <a:gd name="T2" fmla="*/ 574 w 647"/>
                <a:gd name="T3" fmla="*/ 0 h 310"/>
                <a:gd name="T4" fmla="*/ 0 60000 65536"/>
                <a:gd name="T5" fmla="*/ 0 60000 65536"/>
              </a:gdLst>
              <a:ahLst/>
              <a:cxnLst>
                <a:cxn ang="T4">
                  <a:pos x="T0" y="T1"/>
                </a:cxn>
                <a:cxn ang="T5">
                  <a:pos x="T2" y="T3"/>
                </a:cxn>
              </a:cxnLst>
              <a:rect l="0" t="0" r="r" b="b"/>
              <a:pathLst>
                <a:path w="647" h="310">
                  <a:moveTo>
                    <a:pt x="0" y="310"/>
                  </a:moveTo>
                  <a:lnTo>
                    <a:pt x="647"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95" name="Freeform 127"/>
            <p:cNvSpPr>
              <a:spLocks/>
            </p:cNvSpPr>
            <p:nvPr/>
          </p:nvSpPr>
          <p:spPr bwMode="auto">
            <a:xfrm>
              <a:off x="906" y="1100"/>
              <a:ext cx="571" cy="249"/>
            </a:xfrm>
            <a:custGeom>
              <a:avLst/>
              <a:gdLst>
                <a:gd name="T0" fmla="*/ 571 w 644"/>
                <a:gd name="T1" fmla="*/ 249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96" name="Freeform 128"/>
            <p:cNvSpPr>
              <a:spLocks/>
            </p:cNvSpPr>
            <p:nvPr/>
          </p:nvSpPr>
          <p:spPr bwMode="auto">
            <a:xfrm>
              <a:off x="1477" y="1094"/>
              <a:ext cx="569" cy="255"/>
            </a:xfrm>
            <a:custGeom>
              <a:avLst/>
              <a:gdLst>
                <a:gd name="T0" fmla="*/ 0 w 641"/>
                <a:gd name="T1" fmla="*/ 255 h 310"/>
                <a:gd name="T2" fmla="*/ 569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97" name="Freeform 129"/>
            <p:cNvSpPr>
              <a:spLocks/>
            </p:cNvSpPr>
            <p:nvPr/>
          </p:nvSpPr>
          <p:spPr bwMode="auto">
            <a:xfrm>
              <a:off x="796" y="713"/>
              <a:ext cx="569" cy="320"/>
            </a:xfrm>
            <a:custGeom>
              <a:avLst/>
              <a:gdLst>
                <a:gd name="T0" fmla="*/ 0 w 641"/>
                <a:gd name="T1" fmla="*/ 320 h 389"/>
                <a:gd name="T2" fmla="*/ 569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98" name="Freeform 130"/>
            <p:cNvSpPr>
              <a:spLocks/>
            </p:cNvSpPr>
            <p:nvPr/>
          </p:nvSpPr>
          <p:spPr bwMode="auto">
            <a:xfrm>
              <a:off x="1599" y="719"/>
              <a:ext cx="560" cy="314"/>
            </a:xfrm>
            <a:custGeom>
              <a:avLst/>
              <a:gdLst>
                <a:gd name="T0" fmla="*/ 560 w 631"/>
                <a:gd name="T1" fmla="*/ 314 h 382"/>
                <a:gd name="T2" fmla="*/ 0 w 631"/>
                <a:gd name="T3" fmla="*/ 0 h 382"/>
                <a:gd name="T4" fmla="*/ 0 60000 65536"/>
                <a:gd name="T5" fmla="*/ 0 60000 65536"/>
              </a:gdLst>
              <a:ahLst/>
              <a:cxnLst>
                <a:cxn ang="T4">
                  <a:pos x="T0" y="T1"/>
                </a:cxn>
                <a:cxn ang="T5">
                  <a:pos x="T2" y="T3"/>
                </a:cxn>
              </a:cxnLst>
              <a:rect l="0" t="0" r="r" b="b"/>
              <a:pathLst>
                <a:path w="631" h="382">
                  <a:moveTo>
                    <a:pt x="631" y="382"/>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99" name="Oval 131"/>
            <p:cNvSpPr>
              <a:spLocks noChangeArrowheads="1"/>
            </p:cNvSpPr>
            <p:nvPr/>
          </p:nvSpPr>
          <p:spPr bwMode="auto">
            <a:xfrm>
              <a:off x="1350" y="1877"/>
              <a:ext cx="282"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a</a:t>
              </a:r>
            </a:p>
          </p:txBody>
        </p:sp>
        <p:sp>
          <p:nvSpPr>
            <p:cNvPr id="113800" name="Oval 132"/>
            <p:cNvSpPr>
              <a:spLocks noChangeArrowheads="1"/>
            </p:cNvSpPr>
            <p:nvPr/>
          </p:nvSpPr>
          <p:spPr bwMode="auto">
            <a:xfrm>
              <a:off x="624" y="1521"/>
              <a:ext cx="299"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b</a:t>
              </a:r>
            </a:p>
          </p:txBody>
        </p:sp>
        <p:sp>
          <p:nvSpPr>
            <p:cNvPr id="113801" name="Oval 133"/>
            <p:cNvSpPr>
              <a:spLocks noChangeArrowheads="1"/>
            </p:cNvSpPr>
            <p:nvPr/>
          </p:nvSpPr>
          <p:spPr bwMode="auto">
            <a:xfrm>
              <a:off x="2031" y="1521"/>
              <a:ext cx="273"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c</a:t>
              </a:r>
            </a:p>
          </p:txBody>
        </p:sp>
        <p:sp>
          <p:nvSpPr>
            <p:cNvPr id="113802" name="Oval 134"/>
            <p:cNvSpPr>
              <a:spLocks noChangeArrowheads="1"/>
            </p:cNvSpPr>
            <p:nvPr/>
          </p:nvSpPr>
          <p:spPr bwMode="auto">
            <a:xfrm>
              <a:off x="1350" y="1205"/>
              <a:ext cx="282"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d</a:t>
              </a:r>
            </a:p>
          </p:txBody>
        </p:sp>
        <p:sp>
          <p:nvSpPr>
            <p:cNvPr id="113803" name="Oval 135"/>
            <p:cNvSpPr>
              <a:spLocks noChangeArrowheads="1"/>
            </p:cNvSpPr>
            <p:nvPr/>
          </p:nvSpPr>
          <p:spPr bwMode="auto">
            <a:xfrm>
              <a:off x="624" y="890"/>
              <a:ext cx="299"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e</a:t>
              </a:r>
            </a:p>
          </p:txBody>
        </p:sp>
        <p:sp>
          <p:nvSpPr>
            <p:cNvPr id="113804" name="Line 136"/>
            <p:cNvSpPr>
              <a:spLocks noChangeShapeType="1"/>
            </p:cNvSpPr>
            <p:nvPr/>
          </p:nvSpPr>
          <p:spPr bwMode="auto">
            <a:xfrm flipH="1">
              <a:off x="924" y="1033"/>
              <a:ext cx="1235"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805" name="Oval 137"/>
            <p:cNvSpPr>
              <a:spLocks noChangeArrowheads="1"/>
            </p:cNvSpPr>
            <p:nvPr/>
          </p:nvSpPr>
          <p:spPr bwMode="auto">
            <a:xfrm>
              <a:off x="1350" y="534"/>
              <a:ext cx="282"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g</a:t>
              </a:r>
            </a:p>
          </p:txBody>
        </p:sp>
        <p:sp>
          <p:nvSpPr>
            <p:cNvPr id="113806" name="Oval 138"/>
            <p:cNvSpPr>
              <a:spLocks noChangeArrowheads="1"/>
            </p:cNvSpPr>
            <p:nvPr/>
          </p:nvSpPr>
          <p:spPr bwMode="auto">
            <a:xfrm>
              <a:off x="2031" y="890"/>
              <a:ext cx="273"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f</a:t>
              </a:r>
            </a:p>
          </p:txBody>
        </p:sp>
        <p:sp>
          <p:nvSpPr>
            <p:cNvPr id="113807" name="Rectangle 139"/>
            <p:cNvSpPr>
              <a:spLocks noChangeArrowheads="1"/>
            </p:cNvSpPr>
            <p:nvPr/>
          </p:nvSpPr>
          <p:spPr bwMode="auto">
            <a:xfrm>
              <a:off x="1000" y="67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13808" name="Rectangle 140"/>
            <p:cNvSpPr>
              <a:spLocks noChangeArrowheads="1"/>
            </p:cNvSpPr>
            <p:nvPr/>
          </p:nvSpPr>
          <p:spPr bwMode="auto">
            <a:xfrm>
              <a:off x="1776" y="67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2</a:t>
              </a:r>
            </a:p>
          </p:txBody>
        </p:sp>
        <p:sp>
          <p:nvSpPr>
            <p:cNvPr id="113809" name="Rectangle 141"/>
            <p:cNvSpPr>
              <a:spLocks noChangeArrowheads="1"/>
            </p:cNvSpPr>
            <p:nvPr/>
          </p:nvSpPr>
          <p:spPr bwMode="auto">
            <a:xfrm>
              <a:off x="1392" y="816"/>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1</a:t>
              </a:r>
            </a:p>
          </p:txBody>
        </p:sp>
        <p:sp>
          <p:nvSpPr>
            <p:cNvPr id="113810" name="Rectangle 142"/>
            <p:cNvSpPr>
              <a:spLocks noChangeArrowheads="1"/>
            </p:cNvSpPr>
            <p:nvPr/>
          </p:nvSpPr>
          <p:spPr bwMode="auto">
            <a:xfrm>
              <a:off x="528" y="1200"/>
              <a:ext cx="28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solidFill>
                    <a:schemeClr val="tx2"/>
                  </a:solidFill>
                </a:rPr>
                <a:t>10</a:t>
              </a:r>
            </a:p>
          </p:txBody>
        </p:sp>
        <p:sp>
          <p:nvSpPr>
            <p:cNvPr id="113811" name="Rectangle 143"/>
            <p:cNvSpPr>
              <a:spLocks noChangeArrowheads="1"/>
            </p:cNvSpPr>
            <p:nvPr/>
          </p:nvSpPr>
          <p:spPr bwMode="auto">
            <a:xfrm>
              <a:off x="1000" y="115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0</a:t>
              </a:r>
            </a:p>
          </p:txBody>
        </p:sp>
        <p:sp>
          <p:nvSpPr>
            <p:cNvPr id="113812" name="Rectangle 144"/>
            <p:cNvSpPr>
              <a:spLocks noChangeArrowheads="1"/>
            </p:cNvSpPr>
            <p:nvPr/>
          </p:nvSpPr>
          <p:spPr bwMode="auto">
            <a:xfrm>
              <a:off x="1766" y="115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5</a:t>
              </a:r>
            </a:p>
          </p:txBody>
        </p:sp>
        <p:sp>
          <p:nvSpPr>
            <p:cNvPr id="113813" name="Rectangle 145"/>
            <p:cNvSpPr>
              <a:spLocks noChangeArrowheads="1"/>
            </p:cNvSpPr>
            <p:nvPr/>
          </p:nvSpPr>
          <p:spPr bwMode="auto">
            <a:xfrm>
              <a:off x="2145" y="1270"/>
              <a:ext cx="2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12</a:t>
              </a:r>
            </a:p>
          </p:txBody>
        </p:sp>
        <p:sp>
          <p:nvSpPr>
            <p:cNvPr id="113814" name="Rectangle 146"/>
            <p:cNvSpPr>
              <a:spLocks noChangeArrowheads="1"/>
            </p:cNvSpPr>
            <p:nvPr/>
          </p:nvSpPr>
          <p:spPr bwMode="auto">
            <a:xfrm>
              <a:off x="1084" y="1467"/>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8</a:t>
              </a:r>
            </a:p>
          </p:txBody>
        </p:sp>
        <p:sp>
          <p:nvSpPr>
            <p:cNvPr id="113815" name="Rectangle 147"/>
            <p:cNvSpPr>
              <a:spLocks noChangeArrowheads="1"/>
            </p:cNvSpPr>
            <p:nvPr/>
          </p:nvSpPr>
          <p:spPr bwMode="auto">
            <a:xfrm>
              <a:off x="1426" y="158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4</a:t>
              </a:r>
            </a:p>
          </p:txBody>
        </p:sp>
        <p:sp>
          <p:nvSpPr>
            <p:cNvPr id="113816" name="Rectangle 148"/>
            <p:cNvSpPr>
              <a:spLocks noChangeArrowheads="1"/>
            </p:cNvSpPr>
            <p:nvPr/>
          </p:nvSpPr>
          <p:spPr bwMode="auto">
            <a:xfrm>
              <a:off x="1680" y="142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7</a:t>
              </a:r>
            </a:p>
          </p:txBody>
        </p:sp>
        <p:sp>
          <p:nvSpPr>
            <p:cNvPr id="113817" name="Rectangle 149"/>
            <p:cNvSpPr>
              <a:spLocks noChangeArrowheads="1"/>
            </p:cNvSpPr>
            <p:nvPr/>
          </p:nvSpPr>
          <p:spPr bwMode="auto">
            <a:xfrm>
              <a:off x="956" y="1783"/>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6</a:t>
              </a:r>
            </a:p>
          </p:txBody>
        </p:sp>
        <p:sp>
          <p:nvSpPr>
            <p:cNvPr id="113818" name="Rectangle 150"/>
            <p:cNvSpPr>
              <a:spLocks noChangeArrowheads="1"/>
            </p:cNvSpPr>
            <p:nvPr/>
          </p:nvSpPr>
          <p:spPr bwMode="auto">
            <a:xfrm>
              <a:off x="1766" y="1823"/>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13819" name="Rectangle 152"/>
            <p:cNvSpPr>
              <a:spLocks noChangeArrowheads="1"/>
            </p:cNvSpPr>
            <p:nvPr/>
          </p:nvSpPr>
          <p:spPr bwMode="auto">
            <a:xfrm>
              <a:off x="2058" y="1772"/>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sp>
          <p:nvSpPr>
            <p:cNvPr id="113820" name="Rectangle 153"/>
            <p:cNvSpPr>
              <a:spLocks noChangeArrowheads="1"/>
            </p:cNvSpPr>
            <p:nvPr/>
          </p:nvSpPr>
          <p:spPr bwMode="auto">
            <a:xfrm>
              <a:off x="2106" y="668"/>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sp>
          <p:nvSpPr>
            <p:cNvPr id="113821" name="Rectangle 154"/>
            <p:cNvSpPr>
              <a:spLocks noChangeArrowheads="1"/>
            </p:cNvSpPr>
            <p:nvPr/>
          </p:nvSpPr>
          <p:spPr bwMode="auto">
            <a:xfrm>
              <a:off x="1584" y="432"/>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sp>
          <p:nvSpPr>
            <p:cNvPr id="113822" name="Rectangle 155"/>
            <p:cNvSpPr>
              <a:spLocks noChangeArrowheads="1"/>
            </p:cNvSpPr>
            <p:nvPr/>
          </p:nvSpPr>
          <p:spPr bwMode="auto">
            <a:xfrm>
              <a:off x="528" y="720"/>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sp>
          <p:nvSpPr>
            <p:cNvPr id="113823" name="Rectangle 156"/>
            <p:cNvSpPr>
              <a:spLocks noChangeArrowheads="1"/>
            </p:cNvSpPr>
            <p:nvPr/>
          </p:nvSpPr>
          <p:spPr bwMode="auto">
            <a:xfrm>
              <a:off x="528" y="1776"/>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sp>
          <p:nvSpPr>
            <p:cNvPr id="113824" name="Rectangle 157"/>
            <p:cNvSpPr>
              <a:spLocks noChangeArrowheads="1"/>
            </p:cNvSpPr>
            <p:nvPr/>
          </p:nvSpPr>
          <p:spPr bwMode="auto">
            <a:xfrm>
              <a:off x="1578" y="201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0</a:t>
              </a:r>
            </a:p>
          </p:txBody>
        </p:sp>
        <p:sp>
          <p:nvSpPr>
            <p:cNvPr id="113825" name="Text Box 158"/>
            <p:cNvSpPr txBox="1">
              <a:spLocks noChangeArrowheads="1"/>
            </p:cNvSpPr>
            <p:nvPr/>
          </p:nvSpPr>
          <p:spPr bwMode="auto">
            <a:xfrm>
              <a:off x="96" y="480"/>
              <a:ext cx="71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0) Initial:</a:t>
              </a:r>
            </a:p>
          </p:txBody>
        </p:sp>
        <p:sp>
          <p:nvSpPr>
            <p:cNvPr id="113826" name="Rectangle 199"/>
            <p:cNvSpPr>
              <a:spLocks noChangeArrowheads="1"/>
            </p:cNvSpPr>
            <p:nvPr/>
          </p:nvSpPr>
          <p:spPr bwMode="auto">
            <a:xfrm>
              <a:off x="1440" y="1008"/>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grpSp>
      <p:grpSp>
        <p:nvGrpSpPr>
          <p:cNvPr id="197056" name="Group 448"/>
          <p:cNvGrpSpPr>
            <a:grpSpLocks/>
          </p:cNvGrpSpPr>
          <p:nvPr/>
        </p:nvGrpSpPr>
        <p:grpSpPr bwMode="auto">
          <a:xfrm>
            <a:off x="4724400" y="685800"/>
            <a:ext cx="3970338" cy="2874963"/>
            <a:chOff x="2976" y="432"/>
            <a:chExt cx="2501" cy="1811"/>
          </a:xfrm>
        </p:grpSpPr>
        <p:sp>
          <p:nvSpPr>
            <p:cNvPr id="113749" name="Text Box 354"/>
            <p:cNvSpPr txBox="1">
              <a:spLocks noChangeArrowheads="1"/>
            </p:cNvSpPr>
            <p:nvPr/>
          </p:nvSpPr>
          <p:spPr bwMode="auto">
            <a:xfrm>
              <a:off x="2976" y="480"/>
              <a:ext cx="75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1) Scan a:</a:t>
              </a:r>
            </a:p>
          </p:txBody>
        </p:sp>
        <p:sp>
          <p:nvSpPr>
            <p:cNvPr id="113750" name="Freeform 317"/>
            <p:cNvSpPr>
              <a:spLocks/>
            </p:cNvSpPr>
            <p:nvPr/>
          </p:nvSpPr>
          <p:spPr bwMode="auto">
            <a:xfrm>
              <a:off x="4592" y="1743"/>
              <a:ext cx="538" cy="278"/>
            </a:xfrm>
            <a:custGeom>
              <a:avLst/>
              <a:gdLst>
                <a:gd name="T0" fmla="*/ 0 w 606"/>
                <a:gd name="T1" fmla="*/ 278 h 338"/>
                <a:gd name="T2" fmla="*/ 538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51" name="Line 318"/>
            <p:cNvSpPr>
              <a:spLocks noChangeShapeType="1"/>
            </p:cNvSpPr>
            <p:nvPr/>
          </p:nvSpPr>
          <p:spPr bwMode="auto">
            <a:xfrm flipV="1">
              <a:off x="4549" y="1506"/>
              <a:ext cx="0" cy="5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52" name="Freeform 319"/>
            <p:cNvSpPr>
              <a:spLocks/>
            </p:cNvSpPr>
            <p:nvPr/>
          </p:nvSpPr>
          <p:spPr bwMode="auto">
            <a:xfrm>
              <a:off x="3868" y="1665"/>
              <a:ext cx="556" cy="329"/>
            </a:xfrm>
            <a:custGeom>
              <a:avLst/>
              <a:gdLst>
                <a:gd name="T0" fmla="*/ 0 w 627"/>
                <a:gd name="T1" fmla="*/ 0 h 399"/>
                <a:gd name="T2" fmla="*/ 556 w 627"/>
                <a:gd name="T3" fmla="*/ 329 h 399"/>
                <a:gd name="T4" fmla="*/ 0 60000 65536"/>
                <a:gd name="T5" fmla="*/ 0 60000 65536"/>
              </a:gdLst>
              <a:ahLst/>
              <a:cxnLst>
                <a:cxn ang="T4">
                  <a:pos x="T0" y="T1"/>
                </a:cxn>
                <a:cxn ang="T5">
                  <a:pos x="T2" y="T3"/>
                </a:cxn>
              </a:cxnLst>
              <a:rect l="0" t="0" r="r" b="b"/>
              <a:pathLst>
                <a:path w="627" h="399">
                  <a:moveTo>
                    <a:pt x="0" y="0"/>
                  </a:moveTo>
                  <a:lnTo>
                    <a:pt x="627" y="399"/>
                  </a:lnTo>
                </a:path>
              </a:pathLst>
            </a:custGeom>
            <a:solidFill>
              <a:srgbClr val="B2B2B2"/>
            </a:solidFill>
            <a:ln w="19050" cap="flat" cmpd="sng">
              <a:solidFill>
                <a:srgbClr val="B2B2B2"/>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53" name="Freeform 320"/>
            <p:cNvSpPr>
              <a:spLocks/>
            </p:cNvSpPr>
            <p:nvPr/>
          </p:nvSpPr>
          <p:spPr bwMode="auto">
            <a:xfrm>
              <a:off x="4549" y="1349"/>
              <a:ext cx="572" cy="238"/>
            </a:xfrm>
            <a:custGeom>
              <a:avLst/>
              <a:gdLst>
                <a:gd name="T0" fmla="*/ 0 w 572"/>
                <a:gd name="T1" fmla="*/ 0 h 238"/>
                <a:gd name="T2" fmla="*/ 572 w 572"/>
                <a:gd name="T3" fmla="*/ 238 h 238"/>
                <a:gd name="T4" fmla="*/ 0 60000 65536"/>
                <a:gd name="T5" fmla="*/ 0 60000 65536"/>
              </a:gdLst>
              <a:ahLst/>
              <a:cxnLst>
                <a:cxn ang="T4">
                  <a:pos x="T0" y="T1"/>
                </a:cxn>
                <a:cxn ang="T5">
                  <a:pos x="T2" y="T3"/>
                </a:cxn>
              </a:cxnLst>
              <a:rect l="0" t="0" r="r" b="b"/>
              <a:pathLst>
                <a:path w="572" h="238">
                  <a:moveTo>
                    <a:pt x="0" y="0"/>
                  </a:moveTo>
                  <a:lnTo>
                    <a:pt x="572" y="238"/>
                  </a:lnTo>
                </a:path>
              </a:pathLst>
            </a:custGeom>
            <a:noFill/>
            <a:ln w="19050">
              <a:solidFill>
                <a:srgbClr val="B2B2B2"/>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3754" name="Line 321"/>
            <p:cNvSpPr>
              <a:spLocks noChangeShapeType="1"/>
            </p:cNvSpPr>
            <p:nvPr/>
          </p:nvSpPr>
          <p:spPr bwMode="auto">
            <a:xfrm flipV="1">
              <a:off x="5231" y="1152"/>
              <a:ext cx="0" cy="474"/>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55" name="Line 322"/>
            <p:cNvSpPr>
              <a:spLocks noChangeShapeType="1"/>
            </p:cNvSpPr>
            <p:nvPr/>
          </p:nvSpPr>
          <p:spPr bwMode="auto">
            <a:xfrm>
              <a:off x="3868" y="1033"/>
              <a:ext cx="0" cy="514"/>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56" name="Freeform 323"/>
            <p:cNvSpPr>
              <a:spLocks/>
            </p:cNvSpPr>
            <p:nvPr/>
          </p:nvSpPr>
          <p:spPr bwMode="auto">
            <a:xfrm>
              <a:off x="3868" y="1410"/>
              <a:ext cx="574" cy="255"/>
            </a:xfrm>
            <a:custGeom>
              <a:avLst/>
              <a:gdLst>
                <a:gd name="T0" fmla="*/ 0 w 647"/>
                <a:gd name="T1" fmla="*/ 255 h 310"/>
                <a:gd name="T2" fmla="*/ 574 w 647"/>
                <a:gd name="T3" fmla="*/ 0 h 310"/>
                <a:gd name="T4" fmla="*/ 0 60000 65536"/>
                <a:gd name="T5" fmla="*/ 0 60000 65536"/>
              </a:gdLst>
              <a:ahLst/>
              <a:cxnLst>
                <a:cxn ang="T4">
                  <a:pos x="T0" y="T1"/>
                </a:cxn>
                <a:cxn ang="T5">
                  <a:pos x="T2" y="T3"/>
                </a:cxn>
              </a:cxnLst>
              <a:rect l="0" t="0" r="r" b="b"/>
              <a:pathLst>
                <a:path w="647" h="310">
                  <a:moveTo>
                    <a:pt x="0" y="310"/>
                  </a:moveTo>
                  <a:lnTo>
                    <a:pt x="647"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57" name="Freeform 324"/>
            <p:cNvSpPr>
              <a:spLocks/>
            </p:cNvSpPr>
            <p:nvPr/>
          </p:nvSpPr>
          <p:spPr bwMode="auto">
            <a:xfrm>
              <a:off x="3978" y="1100"/>
              <a:ext cx="571" cy="249"/>
            </a:xfrm>
            <a:custGeom>
              <a:avLst/>
              <a:gdLst>
                <a:gd name="T0" fmla="*/ 571 w 644"/>
                <a:gd name="T1" fmla="*/ 249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58" name="Freeform 325"/>
            <p:cNvSpPr>
              <a:spLocks/>
            </p:cNvSpPr>
            <p:nvPr/>
          </p:nvSpPr>
          <p:spPr bwMode="auto">
            <a:xfrm>
              <a:off x="4549" y="1094"/>
              <a:ext cx="569" cy="255"/>
            </a:xfrm>
            <a:custGeom>
              <a:avLst/>
              <a:gdLst>
                <a:gd name="T0" fmla="*/ 0 w 641"/>
                <a:gd name="T1" fmla="*/ 255 h 310"/>
                <a:gd name="T2" fmla="*/ 569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59" name="Freeform 326"/>
            <p:cNvSpPr>
              <a:spLocks/>
            </p:cNvSpPr>
            <p:nvPr/>
          </p:nvSpPr>
          <p:spPr bwMode="auto">
            <a:xfrm>
              <a:off x="3868" y="713"/>
              <a:ext cx="569" cy="320"/>
            </a:xfrm>
            <a:custGeom>
              <a:avLst/>
              <a:gdLst>
                <a:gd name="T0" fmla="*/ 0 w 641"/>
                <a:gd name="T1" fmla="*/ 320 h 389"/>
                <a:gd name="T2" fmla="*/ 569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60" name="Freeform 327"/>
            <p:cNvSpPr>
              <a:spLocks/>
            </p:cNvSpPr>
            <p:nvPr/>
          </p:nvSpPr>
          <p:spPr bwMode="auto">
            <a:xfrm>
              <a:off x="4671" y="719"/>
              <a:ext cx="560" cy="314"/>
            </a:xfrm>
            <a:custGeom>
              <a:avLst/>
              <a:gdLst>
                <a:gd name="T0" fmla="*/ 560 w 631"/>
                <a:gd name="T1" fmla="*/ 314 h 382"/>
                <a:gd name="T2" fmla="*/ 0 w 631"/>
                <a:gd name="T3" fmla="*/ 0 h 382"/>
                <a:gd name="T4" fmla="*/ 0 60000 65536"/>
                <a:gd name="T5" fmla="*/ 0 60000 65536"/>
              </a:gdLst>
              <a:ahLst/>
              <a:cxnLst>
                <a:cxn ang="T4">
                  <a:pos x="T0" y="T1"/>
                </a:cxn>
                <a:cxn ang="T5">
                  <a:pos x="T2" y="T3"/>
                </a:cxn>
              </a:cxnLst>
              <a:rect l="0" t="0" r="r" b="b"/>
              <a:pathLst>
                <a:path w="631" h="382">
                  <a:moveTo>
                    <a:pt x="631" y="382"/>
                  </a:moveTo>
                  <a:lnTo>
                    <a:pt x="0"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61" name="Oval 328"/>
            <p:cNvSpPr>
              <a:spLocks noChangeArrowheads="1"/>
            </p:cNvSpPr>
            <p:nvPr/>
          </p:nvSpPr>
          <p:spPr bwMode="auto">
            <a:xfrm>
              <a:off x="4422" y="1877"/>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a</a:t>
              </a:r>
            </a:p>
          </p:txBody>
        </p:sp>
        <p:sp>
          <p:nvSpPr>
            <p:cNvPr id="113762" name="Oval 329"/>
            <p:cNvSpPr>
              <a:spLocks noChangeArrowheads="1"/>
            </p:cNvSpPr>
            <p:nvPr/>
          </p:nvSpPr>
          <p:spPr bwMode="auto">
            <a:xfrm>
              <a:off x="3696" y="1521"/>
              <a:ext cx="299"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b</a:t>
              </a:r>
            </a:p>
          </p:txBody>
        </p:sp>
        <p:sp>
          <p:nvSpPr>
            <p:cNvPr id="113763" name="Oval 330"/>
            <p:cNvSpPr>
              <a:spLocks noChangeArrowheads="1"/>
            </p:cNvSpPr>
            <p:nvPr/>
          </p:nvSpPr>
          <p:spPr bwMode="auto">
            <a:xfrm>
              <a:off x="5103" y="1521"/>
              <a:ext cx="273"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c</a:t>
              </a:r>
            </a:p>
          </p:txBody>
        </p:sp>
        <p:sp>
          <p:nvSpPr>
            <p:cNvPr id="113764" name="Oval 331"/>
            <p:cNvSpPr>
              <a:spLocks noChangeArrowheads="1"/>
            </p:cNvSpPr>
            <p:nvPr/>
          </p:nvSpPr>
          <p:spPr bwMode="auto">
            <a:xfrm>
              <a:off x="4422" y="1205"/>
              <a:ext cx="282"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d</a:t>
              </a:r>
            </a:p>
          </p:txBody>
        </p:sp>
        <p:sp>
          <p:nvSpPr>
            <p:cNvPr id="113765" name="Oval 332"/>
            <p:cNvSpPr>
              <a:spLocks noChangeArrowheads="1"/>
            </p:cNvSpPr>
            <p:nvPr/>
          </p:nvSpPr>
          <p:spPr bwMode="auto">
            <a:xfrm>
              <a:off x="3696" y="890"/>
              <a:ext cx="299"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e</a:t>
              </a:r>
            </a:p>
          </p:txBody>
        </p:sp>
        <p:sp>
          <p:nvSpPr>
            <p:cNvPr id="113766" name="Line 333"/>
            <p:cNvSpPr>
              <a:spLocks noChangeShapeType="1"/>
            </p:cNvSpPr>
            <p:nvPr/>
          </p:nvSpPr>
          <p:spPr bwMode="auto">
            <a:xfrm flipH="1">
              <a:off x="3996" y="1033"/>
              <a:ext cx="1235" cy="0"/>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67" name="Oval 334"/>
            <p:cNvSpPr>
              <a:spLocks noChangeArrowheads="1"/>
            </p:cNvSpPr>
            <p:nvPr/>
          </p:nvSpPr>
          <p:spPr bwMode="auto">
            <a:xfrm>
              <a:off x="4422" y="534"/>
              <a:ext cx="282"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g</a:t>
              </a:r>
            </a:p>
          </p:txBody>
        </p:sp>
        <p:sp>
          <p:nvSpPr>
            <p:cNvPr id="113768" name="Oval 335"/>
            <p:cNvSpPr>
              <a:spLocks noChangeArrowheads="1"/>
            </p:cNvSpPr>
            <p:nvPr/>
          </p:nvSpPr>
          <p:spPr bwMode="auto">
            <a:xfrm>
              <a:off x="5103" y="890"/>
              <a:ext cx="273"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f</a:t>
              </a:r>
            </a:p>
          </p:txBody>
        </p:sp>
        <p:sp>
          <p:nvSpPr>
            <p:cNvPr id="113769" name="Rectangle 336"/>
            <p:cNvSpPr>
              <a:spLocks noChangeArrowheads="1"/>
            </p:cNvSpPr>
            <p:nvPr/>
          </p:nvSpPr>
          <p:spPr bwMode="auto">
            <a:xfrm>
              <a:off x="4072" y="67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3</a:t>
              </a:r>
            </a:p>
          </p:txBody>
        </p:sp>
        <p:sp>
          <p:nvSpPr>
            <p:cNvPr id="113770" name="Rectangle 337"/>
            <p:cNvSpPr>
              <a:spLocks noChangeArrowheads="1"/>
            </p:cNvSpPr>
            <p:nvPr/>
          </p:nvSpPr>
          <p:spPr bwMode="auto">
            <a:xfrm>
              <a:off x="4848" y="67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2</a:t>
              </a:r>
            </a:p>
          </p:txBody>
        </p:sp>
        <p:sp>
          <p:nvSpPr>
            <p:cNvPr id="113771" name="Rectangle 338"/>
            <p:cNvSpPr>
              <a:spLocks noChangeArrowheads="1"/>
            </p:cNvSpPr>
            <p:nvPr/>
          </p:nvSpPr>
          <p:spPr bwMode="auto">
            <a:xfrm>
              <a:off x="4464" y="816"/>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a:t>
              </a:r>
            </a:p>
          </p:txBody>
        </p:sp>
        <p:sp>
          <p:nvSpPr>
            <p:cNvPr id="113772" name="Rectangle 339"/>
            <p:cNvSpPr>
              <a:spLocks noChangeArrowheads="1"/>
            </p:cNvSpPr>
            <p:nvPr/>
          </p:nvSpPr>
          <p:spPr bwMode="auto">
            <a:xfrm>
              <a:off x="3600" y="1200"/>
              <a:ext cx="28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solidFill>
                    <a:srgbClr val="B2B2B2"/>
                  </a:solidFill>
                </a:rPr>
                <a:t>10</a:t>
              </a:r>
            </a:p>
          </p:txBody>
        </p:sp>
        <p:sp>
          <p:nvSpPr>
            <p:cNvPr id="113773" name="Rectangle 340"/>
            <p:cNvSpPr>
              <a:spLocks noChangeArrowheads="1"/>
            </p:cNvSpPr>
            <p:nvPr/>
          </p:nvSpPr>
          <p:spPr bwMode="auto">
            <a:xfrm>
              <a:off x="4072" y="115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0</a:t>
              </a:r>
            </a:p>
          </p:txBody>
        </p:sp>
        <p:sp>
          <p:nvSpPr>
            <p:cNvPr id="113774" name="Rectangle 341"/>
            <p:cNvSpPr>
              <a:spLocks noChangeArrowheads="1"/>
            </p:cNvSpPr>
            <p:nvPr/>
          </p:nvSpPr>
          <p:spPr bwMode="auto">
            <a:xfrm>
              <a:off x="4838" y="115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5</a:t>
              </a:r>
            </a:p>
          </p:txBody>
        </p:sp>
        <p:sp>
          <p:nvSpPr>
            <p:cNvPr id="113775" name="Rectangle 342"/>
            <p:cNvSpPr>
              <a:spLocks noChangeArrowheads="1"/>
            </p:cNvSpPr>
            <p:nvPr/>
          </p:nvSpPr>
          <p:spPr bwMode="auto">
            <a:xfrm>
              <a:off x="5217" y="1270"/>
              <a:ext cx="2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12</a:t>
              </a:r>
            </a:p>
          </p:txBody>
        </p:sp>
        <p:sp>
          <p:nvSpPr>
            <p:cNvPr id="113776" name="Rectangle 343"/>
            <p:cNvSpPr>
              <a:spLocks noChangeArrowheads="1"/>
            </p:cNvSpPr>
            <p:nvPr/>
          </p:nvSpPr>
          <p:spPr bwMode="auto">
            <a:xfrm>
              <a:off x="4156" y="1467"/>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8</a:t>
              </a:r>
            </a:p>
          </p:txBody>
        </p:sp>
        <p:sp>
          <p:nvSpPr>
            <p:cNvPr id="113777" name="Rectangle 344"/>
            <p:cNvSpPr>
              <a:spLocks noChangeArrowheads="1"/>
            </p:cNvSpPr>
            <p:nvPr/>
          </p:nvSpPr>
          <p:spPr bwMode="auto">
            <a:xfrm>
              <a:off x="4498" y="158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4</a:t>
              </a:r>
            </a:p>
          </p:txBody>
        </p:sp>
        <p:sp>
          <p:nvSpPr>
            <p:cNvPr id="113778" name="Rectangle 345"/>
            <p:cNvSpPr>
              <a:spLocks noChangeArrowheads="1"/>
            </p:cNvSpPr>
            <p:nvPr/>
          </p:nvSpPr>
          <p:spPr bwMode="auto">
            <a:xfrm>
              <a:off x="4752" y="142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7</a:t>
              </a:r>
            </a:p>
          </p:txBody>
        </p:sp>
        <p:sp>
          <p:nvSpPr>
            <p:cNvPr id="113779" name="Rectangle 347"/>
            <p:cNvSpPr>
              <a:spLocks noChangeArrowheads="1"/>
            </p:cNvSpPr>
            <p:nvPr/>
          </p:nvSpPr>
          <p:spPr bwMode="auto">
            <a:xfrm>
              <a:off x="4838" y="1823"/>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13780" name="Rectangle 348"/>
            <p:cNvSpPr>
              <a:spLocks noChangeArrowheads="1"/>
            </p:cNvSpPr>
            <p:nvPr/>
          </p:nvSpPr>
          <p:spPr bwMode="auto">
            <a:xfrm>
              <a:off x="5145" y="1775"/>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3</a:t>
              </a:r>
            </a:p>
          </p:txBody>
        </p:sp>
        <p:sp>
          <p:nvSpPr>
            <p:cNvPr id="113781" name="Rectangle 349"/>
            <p:cNvSpPr>
              <a:spLocks noChangeArrowheads="1"/>
            </p:cNvSpPr>
            <p:nvPr/>
          </p:nvSpPr>
          <p:spPr bwMode="auto">
            <a:xfrm>
              <a:off x="5178" y="668"/>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sp>
          <p:nvSpPr>
            <p:cNvPr id="113782" name="Rectangle 350"/>
            <p:cNvSpPr>
              <a:spLocks noChangeArrowheads="1"/>
            </p:cNvSpPr>
            <p:nvPr/>
          </p:nvSpPr>
          <p:spPr bwMode="auto">
            <a:xfrm>
              <a:off x="4656" y="432"/>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sp>
          <p:nvSpPr>
            <p:cNvPr id="113783" name="Rectangle 351"/>
            <p:cNvSpPr>
              <a:spLocks noChangeArrowheads="1"/>
            </p:cNvSpPr>
            <p:nvPr/>
          </p:nvSpPr>
          <p:spPr bwMode="auto">
            <a:xfrm>
              <a:off x="3600" y="720"/>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sp>
          <p:nvSpPr>
            <p:cNvPr id="113784" name="Rectangle 353"/>
            <p:cNvSpPr>
              <a:spLocks noChangeArrowheads="1"/>
            </p:cNvSpPr>
            <p:nvPr/>
          </p:nvSpPr>
          <p:spPr bwMode="auto">
            <a:xfrm>
              <a:off x="4650" y="201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0</a:t>
              </a:r>
            </a:p>
          </p:txBody>
        </p:sp>
        <p:sp>
          <p:nvSpPr>
            <p:cNvPr id="113785" name="Rectangle 355"/>
            <p:cNvSpPr>
              <a:spLocks noChangeArrowheads="1"/>
            </p:cNvSpPr>
            <p:nvPr/>
          </p:nvSpPr>
          <p:spPr bwMode="auto">
            <a:xfrm>
              <a:off x="4527" y="1011"/>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sp>
          <p:nvSpPr>
            <p:cNvPr id="113786" name="Rectangle 346"/>
            <p:cNvSpPr>
              <a:spLocks noChangeArrowheads="1"/>
            </p:cNvSpPr>
            <p:nvPr/>
          </p:nvSpPr>
          <p:spPr bwMode="auto">
            <a:xfrm>
              <a:off x="4032" y="1776"/>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6</a:t>
              </a:r>
            </a:p>
          </p:txBody>
        </p:sp>
        <p:sp>
          <p:nvSpPr>
            <p:cNvPr id="113787" name="Rectangle 352"/>
            <p:cNvSpPr>
              <a:spLocks noChangeArrowheads="1"/>
            </p:cNvSpPr>
            <p:nvPr/>
          </p:nvSpPr>
          <p:spPr bwMode="auto">
            <a:xfrm>
              <a:off x="3648" y="1776"/>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grpSp>
      <p:grpSp>
        <p:nvGrpSpPr>
          <p:cNvPr id="197057" name="Group 449"/>
          <p:cNvGrpSpPr>
            <a:grpSpLocks/>
          </p:cNvGrpSpPr>
          <p:nvPr/>
        </p:nvGrpSpPr>
        <p:grpSpPr bwMode="auto">
          <a:xfrm>
            <a:off x="4572000" y="3733800"/>
            <a:ext cx="4122738" cy="2874963"/>
            <a:chOff x="0" y="2304"/>
            <a:chExt cx="2597" cy="1811"/>
          </a:xfrm>
        </p:grpSpPr>
        <p:sp>
          <p:nvSpPr>
            <p:cNvPr id="113710" name="Freeform 360"/>
            <p:cNvSpPr>
              <a:spLocks/>
            </p:cNvSpPr>
            <p:nvPr/>
          </p:nvSpPr>
          <p:spPr bwMode="auto">
            <a:xfrm>
              <a:off x="1712" y="3615"/>
              <a:ext cx="538" cy="278"/>
            </a:xfrm>
            <a:custGeom>
              <a:avLst/>
              <a:gdLst>
                <a:gd name="T0" fmla="*/ 0 w 606"/>
                <a:gd name="T1" fmla="*/ 278 h 338"/>
                <a:gd name="T2" fmla="*/ 538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11" name="Line 361"/>
            <p:cNvSpPr>
              <a:spLocks noChangeShapeType="1"/>
            </p:cNvSpPr>
            <p:nvPr/>
          </p:nvSpPr>
          <p:spPr bwMode="auto">
            <a:xfrm flipV="1">
              <a:off x="1669" y="3370"/>
              <a:ext cx="0" cy="5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12" name="Freeform 362"/>
            <p:cNvSpPr>
              <a:spLocks/>
            </p:cNvSpPr>
            <p:nvPr/>
          </p:nvSpPr>
          <p:spPr bwMode="auto">
            <a:xfrm>
              <a:off x="988" y="3537"/>
              <a:ext cx="556" cy="329"/>
            </a:xfrm>
            <a:custGeom>
              <a:avLst/>
              <a:gdLst>
                <a:gd name="T0" fmla="*/ 0 w 627"/>
                <a:gd name="T1" fmla="*/ 0 h 399"/>
                <a:gd name="T2" fmla="*/ 556 w 627"/>
                <a:gd name="T3" fmla="*/ 329 h 399"/>
                <a:gd name="T4" fmla="*/ 0 60000 65536"/>
                <a:gd name="T5" fmla="*/ 0 60000 65536"/>
              </a:gdLst>
              <a:ahLst/>
              <a:cxnLst>
                <a:cxn ang="T4">
                  <a:pos x="T0" y="T1"/>
                </a:cxn>
                <a:cxn ang="T5">
                  <a:pos x="T2" y="T3"/>
                </a:cxn>
              </a:cxnLst>
              <a:rect l="0" t="0" r="r" b="b"/>
              <a:pathLst>
                <a:path w="627" h="399">
                  <a:moveTo>
                    <a:pt x="0" y="0"/>
                  </a:moveTo>
                  <a:lnTo>
                    <a:pt x="627" y="399"/>
                  </a:lnTo>
                </a:path>
              </a:pathLst>
            </a:custGeom>
            <a:solidFill>
              <a:srgbClr val="B2B2B2"/>
            </a:solidFill>
            <a:ln w="19050" cap="flat" cmpd="sng">
              <a:solidFill>
                <a:srgbClr val="B2B2B2"/>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13" name="Freeform 363"/>
            <p:cNvSpPr>
              <a:spLocks/>
            </p:cNvSpPr>
            <p:nvPr/>
          </p:nvSpPr>
          <p:spPr bwMode="auto">
            <a:xfrm>
              <a:off x="1669" y="3221"/>
              <a:ext cx="572" cy="238"/>
            </a:xfrm>
            <a:custGeom>
              <a:avLst/>
              <a:gdLst>
                <a:gd name="T0" fmla="*/ 0 w 572"/>
                <a:gd name="T1" fmla="*/ 0 h 238"/>
                <a:gd name="T2" fmla="*/ 572 w 572"/>
                <a:gd name="T3" fmla="*/ 238 h 238"/>
                <a:gd name="T4" fmla="*/ 0 60000 65536"/>
                <a:gd name="T5" fmla="*/ 0 60000 65536"/>
              </a:gdLst>
              <a:ahLst/>
              <a:cxnLst>
                <a:cxn ang="T4">
                  <a:pos x="T0" y="T1"/>
                </a:cxn>
                <a:cxn ang="T5">
                  <a:pos x="T2" y="T3"/>
                </a:cxn>
              </a:cxnLst>
              <a:rect l="0" t="0" r="r" b="b"/>
              <a:pathLst>
                <a:path w="572" h="238">
                  <a:moveTo>
                    <a:pt x="0" y="0"/>
                  </a:moveTo>
                  <a:lnTo>
                    <a:pt x="572" y="238"/>
                  </a:lnTo>
                </a:path>
              </a:pathLst>
            </a:custGeom>
            <a:noFill/>
            <a:ln w="19050">
              <a:solidFill>
                <a:srgbClr val="B2B2B2"/>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3714" name="Line 364"/>
            <p:cNvSpPr>
              <a:spLocks noChangeShapeType="1"/>
            </p:cNvSpPr>
            <p:nvPr/>
          </p:nvSpPr>
          <p:spPr bwMode="auto">
            <a:xfrm flipV="1">
              <a:off x="2351" y="3024"/>
              <a:ext cx="0" cy="47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15" name="Line 365"/>
            <p:cNvSpPr>
              <a:spLocks noChangeShapeType="1"/>
            </p:cNvSpPr>
            <p:nvPr/>
          </p:nvSpPr>
          <p:spPr bwMode="auto">
            <a:xfrm>
              <a:off x="988" y="2905"/>
              <a:ext cx="0" cy="514"/>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16" name="Freeform 366"/>
            <p:cNvSpPr>
              <a:spLocks/>
            </p:cNvSpPr>
            <p:nvPr/>
          </p:nvSpPr>
          <p:spPr bwMode="auto">
            <a:xfrm>
              <a:off x="988" y="3282"/>
              <a:ext cx="574" cy="255"/>
            </a:xfrm>
            <a:custGeom>
              <a:avLst/>
              <a:gdLst>
                <a:gd name="T0" fmla="*/ 0 w 647"/>
                <a:gd name="T1" fmla="*/ 255 h 310"/>
                <a:gd name="T2" fmla="*/ 574 w 647"/>
                <a:gd name="T3" fmla="*/ 0 h 310"/>
                <a:gd name="T4" fmla="*/ 0 60000 65536"/>
                <a:gd name="T5" fmla="*/ 0 60000 65536"/>
              </a:gdLst>
              <a:ahLst/>
              <a:cxnLst>
                <a:cxn ang="T4">
                  <a:pos x="T0" y="T1"/>
                </a:cxn>
                <a:cxn ang="T5">
                  <a:pos x="T2" y="T3"/>
                </a:cxn>
              </a:cxnLst>
              <a:rect l="0" t="0" r="r" b="b"/>
              <a:pathLst>
                <a:path w="647" h="310">
                  <a:moveTo>
                    <a:pt x="0" y="310"/>
                  </a:moveTo>
                  <a:lnTo>
                    <a:pt x="647"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17" name="Freeform 367"/>
            <p:cNvSpPr>
              <a:spLocks/>
            </p:cNvSpPr>
            <p:nvPr/>
          </p:nvSpPr>
          <p:spPr bwMode="auto">
            <a:xfrm>
              <a:off x="1098" y="2972"/>
              <a:ext cx="571" cy="249"/>
            </a:xfrm>
            <a:custGeom>
              <a:avLst/>
              <a:gdLst>
                <a:gd name="T0" fmla="*/ 571 w 644"/>
                <a:gd name="T1" fmla="*/ 249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18" name="Freeform 368"/>
            <p:cNvSpPr>
              <a:spLocks/>
            </p:cNvSpPr>
            <p:nvPr/>
          </p:nvSpPr>
          <p:spPr bwMode="auto">
            <a:xfrm>
              <a:off x="1669" y="2966"/>
              <a:ext cx="569" cy="255"/>
            </a:xfrm>
            <a:custGeom>
              <a:avLst/>
              <a:gdLst>
                <a:gd name="T0" fmla="*/ 0 w 641"/>
                <a:gd name="T1" fmla="*/ 255 h 310"/>
                <a:gd name="T2" fmla="*/ 569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19" name="Freeform 369"/>
            <p:cNvSpPr>
              <a:spLocks/>
            </p:cNvSpPr>
            <p:nvPr/>
          </p:nvSpPr>
          <p:spPr bwMode="auto">
            <a:xfrm>
              <a:off x="988" y="2585"/>
              <a:ext cx="569" cy="320"/>
            </a:xfrm>
            <a:custGeom>
              <a:avLst/>
              <a:gdLst>
                <a:gd name="T0" fmla="*/ 0 w 641"/>
                <a:gd name="T1" fmla="*/ 320 h 389"/>
                <a:gd name="T2" fmla="*/ 569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20" name="Freeform 370"/>
            <p:cNvSpPr>
              <a:spLocks/>
            </p:cNvSpPr>
            <p:nvPr/>
          </p:nvSpPr>
          <p:spPr bwMode="auto">
            <a:xfrm>
              <a:off x="1791" y="2591"/>
              <a:ext cx="560" cy="314"/>
            </a:xfrm>
            <a:custGeom>
              <a:avLst/>
              <a:gdLst>
                <a:gd name="T0" fmla="*/ 560 w 631"/>
                <a:gd name="T1" fmla="*/ 314 h 382"/>
                <a:gd name="T2" fmla="*/ 0 w 631"/>
                <a:gd name="T3" fmla="*/ 0 h 382"/>
                <a:gd name="T4" fmla="*/ 0 60000 65536"/>
                <a:gd name="T5" fmla="*/ 0 60000 65536"/>
              </a:gdLst>
              <a:ahLst/>
              <a:cxnLst>
                <a:cxn ang="T4">
                  <a:pos x="T0" y="T1"/>
                </a:cxn>
                <a:cxn ang="T5">
                  <a:pos x="T2" y="T3"/>
                </a:cxn>
              </a:cxnLst>
              <a:rect l="0" t="0" r="r" b="b"/>
              <a:pathLst>
                <a:path w="631" h="382">
                  <a:moveTo>
                    <a:pt x="631" y="382"/>
                  </a:moveTo>
                  <a:lnTo>
                    <a:pt x="0"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21" name="Oval 371"/>
            <p:cNvSpPr>
              <a:spLocks noChangeArrowheads="1"/>
            </p:cNvSpPr>
            <p:nvPr/>
          </p:nvSpPr>
          <p:spPr bwMode="auto">
            <a:xfrm>
              <a:off x="1542" y="3749"/>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a</a:t>
              </a:r>
            </a:p>
          </p:txBody>
        </p:sp>
        <p:sp>
          <p:nvSpPr>
            <p:cNvPr id="113722" name="Oval 372"/>
            <p:cNvSpPr>
              <a:spLocks noChangeArrowheads="1"/>
            </p:cNvSpPr>
            <p:nvPr/>
          </p:nvSpPr>
          <p:spPr bwMode="auto">
            <a:xfrm>
              <a:off x="816" y="3393"/>
              <a:ext cx="299"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b</a:t>
              </a:r>
            </a:p>
          </p:txBody>
        </p:sp>
        <p:sp>
          <p:nvSpPr>
            <p:cNvPr id="113723" name="Oval 373"/>
            <p:cNvSpPr>
              <a:spLocks noChangeArrowheads="1"/>
            </p:cNvSpPr>
            <p:nvPr/>
          </p:nvSpPr>
          <p:spPr bwMode="auto">
            <a:xfrm>
              <a:off x="2223" y="3393"/>
              <a:ext cx="273"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c</a:t>
              </a:r>
            </a:p>
          </p:txBody>
        </p:sp>
        <p:sp>
          <p:nvSpPr>
            <p:cNvPr id="113724" name="Oval 374"/>
            <p:cNvSpPr>
              <a:spLocks noChangeArrowheads="1"/>
            </p:cNvSpPr>
            <p:nvPr/>
          </p:nvSpPr>
          <p:spPr bwMode="auto">
            <a:xfrm>
              <a:off x="1542" y="3077"/>
              <a:ext cx="282"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d</a:t>
              </a:r>
            </a:p>
          </p:txBody>
        </p:sp>
        <p:sp>
          <p:nvSpPr>
            <p:cNvPr id="113725" name="Oval 375"/>
            <p:cNvSpPr>
              <a:spLocks noChangeArrowheads="1"/>
            </p:cNvSpPr>
            <p:nvPr/>
          </p:nvSpPr>
          <p:spPr bwMode="auto">
            <a:xfrm>
              <a:off x="816" y="2762"/>
              <a:ext cx="299"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e</a:t>
              </a:r>
            </a:p>
          </p:txBody>
        </p:sp>
        <p:sp>
          <p:nvSpPr>
            <p:cNvPr id="113726" name="Line 376"/>
            <p:cNvSpPr>
              <a:spLocks noChangeShapeType="1"/>
            </p:cNvSpPr>
            <p:nvPr/>
          </p:nvSpPr>
          <p:spPr bwMode="auto">
            <a:xfrm flipH="1">
              <a:off x="1116" y="2905"/>
              <a:ext cx="1235" cy="0"/>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727" name="Oval 377"/>
            <p:cNvSpPr>
              <a:spLocks noChangeArrowheads="1"/>
            </p:cNvSpPr>
            <p:nvPr/>
          </p:nvSpPr>
          <p:spPr bwMode="auto">
            <a:xfrm>
              <a:off x="1542" y="2406"/>
              <a:ext cx="282"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g</a:t>
              </a:r>
            </a:p>
          </p:txBody>
        </p:sp>
        <p:sp>
          <p:nvSpPr>
            <p:cNvPr id="113728" name="Oval 378"/>
            <p:cNvSpPr>
              <a:spLocks noChangeArrowheads="1"/>
            </p:cNvSpPr>
            <p:nvPr/>
          </p:nvSpPr>
          <p:spPr bwMode="auto">
            <a:xfrm>
              <a:off x="2223" y="2762"/>
              <a:ext cx="273"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f</a:t>
              </a:r>
            </a:p>
          </p:txBody>
        </p:sp>
        <p:sp>
          <p:nvSpPr>
            <p:cNvPr id="113729" name="Rectangle 379"/>
            <p:cNvSpPr>
              <a:spLocks noChangeArrowheads="1"/>
            </p:cNvSpPr>
            <p:nvPr/>
          </p:nvSpPr>
          <p:spPr bwMode="auto">
            <a:xfrm>
              <a:off x="1192" y="255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3</a:t>
              </a:r>
            </a:p>
          </p:txBody>
        </p:sp>
        <p:sp>
          <p:nvSpPr>
            <p:cNvPr id="113730" name="Rectangle 380"/>
            <p:cNvSpPr>
              <a:spLocks noChangeArrowheads="1"/>
            </p:cNvSpPr>
            <p:nvPr/>
          </p:nvSpPr>
          <p:spPr bwMode="auto">
            <a:xfrm>
              <a:off x="1968" y="254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2</a:t>
              </a:r>
            </a:p>
          </p:txBody>
        </p:sp>
        <p:sp>
          <p:nvSpPr>
            <p:cNvPr id="113731" name="Rectangle 381"/>
            <p:cNvSpPr>
              <a:spLocks noChangeArrowheads="1"/>
            </p:cNvSpPr>
            <p:nvPr/>
          </p:nvSpPr>
          <p:spPr bwMode="auto">
            <a:xfrm>
              <a:off x="1584" y="268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a:t>
              </a:r>
            </a:p>
          </p:txBody>
        </p:sp>
        <p:sp>
          <p:nvSpPr>
            <p:cNvPr id="113732" name="Rectangle 382"/>
            <p:cNvSpPr>
              <a:spLocks noChangeArrowheads="1"/>
            </p:cNvSpPr>
            <p:nvPr/>
          </p:nvSpPr>
          <p:spPr bwMode="auto">
            <a:xfrm>
              <a:off x="720" y="3072"/>
              <a:ext cx="28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solidFill>
                    <a:srgbClr val="B2B2B2"/>
                  </a:solidFill>
                </a:rPr>
                <a:t>10</a:t>
              </a:r>
            </a:p>
          </p:txBody>
        </p:sp>
        <p:sp>
          <p:nvSpPr>
            <p:cNvPr id="113733" name="Rectangle 383"/>
            <p:cNvSpPr>
              <a:spLocks noChangeArrowheads="1"/>
            </p:cNvSpPr>
            <p:nvPr/>
          </p:nvSpPr>
          <p:spPr bwMode="auto">
            <a:xfrm>
              <a:off x="1192" y="302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0</a:t>
              </a:r>
            </a:p>
          </p:txBody>
        </p:sp>
        <p:sp>
          <p:nvSpPr>
            <p:cNvPr id="113734" name="Rectangle 384"/>
            <p:cNvSpPr>
              <a:spLocks noChangeArrowheads="1"/>
            </p:cNvSpPr>
            <p:nvPr/>
          </p:nvSpPr>
          <p:spPr bwMode="auto">
            <a:xfrm>
              <a:off x="1958" y="302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5</a:t>
              </a:r>
            </a:p>
          </p:txBody>
        </p:sp>
        <p:sp>
          <p:nvSpPr>
            <p:cNvPr id="113735" name="Rectangle 385"/>
            <p:cNvSpPr>
              <a:spLocks noChangeArrowheads="1"/>
            </p:cNvSpPr>
            <p:nvPr/>
          </p:nvSpPr>
          <p:spPr bwMode="auto">
            <a:xfrm>
              <a:off x="2337" y="3142"/>
              <a:ext cx="2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12</a:t>
              </a:r>
            </a:p>
          </p:txBody>
        </p:sp>
        <p:sp>
          <p:nvSpPr>
            <p:cNvPr id="113736" name="Rectangle 386"/>
            <p:cNvSpPr>
              <a:spLocks noChangeArrowheads="1"/>
            </p:cNvSpPr>
            <p:nvPr/>
          </p:nvSpPr>
          <p:spPr bwMode="auto">
            <a:xfrm>
              <a:off x="1276" y="3339"/>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8</a:t>
              </a:r>
            </a:p>
          </p:txBody>
        </p:sp>
        <p:sp>
          <p:nvSpPr>
            <p:cNvPr id="113737" name="Rectangle 387"/>
            <p:cNvSpPr>
              <a:spLocks noChangeArrowheads="1"/>
            </p:cNvSpPr>
            <p:nvPr/>
          </p:nvSpPr>
          <p:spPr bwMode="auto">
            <a:xfrm>
              <a:off x="1618" y="3457"/>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4</a:t>
              </a:r>
            </a:p>
          </p:txBody>
        </p:sp>
        <p:sp>
          <p:nvSpPr>
            <p:cNvPr id="113738" name="Rectangle 388"/>
            <p:cNvSpPr>
              <a:spLocks noChangeArrowheads="1"/>
            </p:cNvSpPr>
            <p:nvPr/>
          </p:nvSpPr>
          <p:spPr bwMode="auto">
            <a:xfrm>
              <a:off x="1872" y="330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7</a:t>
              </a:r>
            </a:p>
          </p:txBody>
        </p:sp>
        <p:sp>
          <p:nvSpPr>
            <p:cNvPr id="113739" name="Rectangle 389"/>
            <p:cNvSpPr>
              <a:spLocks noChangeArrowheads="1"/>
            </p:cNvSpPr>
            <p:nvPr/>
          </p:nvSpPr>
          <p:spPr bwMode="auto">
            <a:xfrm>
              <a:off x="1148" y="365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6</a:t>
              </a:r>
            </a:p>
          </p:txBody>
        </p:sp>
        <p:sp>
          <p:nvSpPr>
            <p:cNvPr id="113740" name="Rectangle 390"/>
            <p:cNvSpPr>
              <a:spLocks noChangeArrowheads="1"/>
            </p:cNvSpPr>
            <p:nvPr/>
          </p:nvSpPr>
          <p:spPr bwMode="auto">
            <a:xfrm>
              <a:off x="1958" y="369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13741" name="Rectangle 391"/>
            <p:cNvSpPr>
              <a:spLocks noChangeArrowheads="1"/>
            </p:cNvSpPr>
            <p:nvPr/>
          </p:nvSpPr>
          <p:spPr bwMode="auto">
            <a:xfrm>
              <a:off x="2265" y="3647"/>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3</a:t>
              </a:r>
            </a:p>
          </p:txBody>
        </p:sp>
        <p:sp>
          <p:nvSpPr>
            <p:cNvPr id="113742" name="Rectangle 392"/>
            <p:cNvSpPr>
              <a:spLocks noChangeArrowheads="1"/>
            </p:cNvSpPr>
            <p:nvPr/>
          </p:nvSpPr>
          <p:spPr bwMode="auto">
            <a:xfrm>
              <a:off x="2277" y="2543"/>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15</a:t>
              </a:r>
            </a:p>
          </p:txBody>
        </p:sp>
        <p:sp>
          <p:nvSpPr>
            <p:cNvPr id="113743" name="Rectangle 393"/>
            <p:cNvSpPr>
              <a:spLocks noChangeArrowheads="1"/>
            </p:cNvSpPr>
            <p:nvPr/>
          </p:nvSpPr>
          <p:spPr bwMode="auto">
            <a:xfrm>
              <a:off x="1776" y="2304"/>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sp>
          <p:nvSpPr>
            <p:cNvPr id="113744" name="Rectangle 394"/>
            <p:cNvSpPr>
              <a:spLocks noChangeArrowheads="1"/>
            </p:cNvSpPr>
            <p:nvPr/>
          </p:nvSpPr>
          <p:spPr bwMode="auto">
            <a:xfrm>
              <a:off x="720" y="2592"/>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sp>
          <p:nvSpPr>
            <p:cNvPr id="113745" name="Rectangle 395"/>
            <p:cNvSpPr>
              <a:spLocks noChangeArrowheads="1"/>
            </p:cNvSpPr>
            <p:nvPr/>
          </p:nvSpPr>
          <p:spPr bwMode="auto">
            <a:xfrm>
              <a:off x="720" y="3648"/>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sp>
          <p:nvSpPr>
            <p:cNvPr id="113746" name="Rectangle 396"/>
            <p:cNvSpPr>
              <a:spLocks noChangeArrowheads="1"/>
            </p:cNvSpPr>
            <p:nvPr/>
          </p:nvSpPr>
          <p:spPr bwMode="auto">
            <a:xfrm>
              <a:off x="1770" y="3884"/>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0</a:t>
              </a:r>
            </a:p>
          </p:txBody>
        </p:sp>
        <p:sp>
          <p:nvSpPr>
            <p:cNvPr id="113747" name="Text Box 397"/>
            <p:cNvSpPr txBox="1">
              <a:spLocks noChangeArrowheads="1"/>
            </p:cNvSpPr>
            <p:nvPr/>
          </p:nvSpPr>
          <p:spPr bwMode="auto">
            <a:xfrm>
              <a:off x="0" y="2400"/>
              <a:ext cx="75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2) Scan c:</a:t>
              </a:r>
            </a:p>
          </p:txBody>
        </p:sp>
        <p:sp>
          <p:nvSpPr>
            <p:cNvPr id="113748" name="Rectangle 398"/>
            <p:cNvSpPr>
              <a:spLocks noChangeArrowheads="1"/>
            </p:cNvSpPr>
            <p:nvPr/>
          </p:nvSpPr>
          <p:spPr bwMode="auto">
            <a:xfrm>
              <a:off x="1647" y="2883"/>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grpSp>
      <p:grpSp>
        <p:nvGrpSpPr>
          <p:cNvPr id="197058" name="Group 450"/>
          <p:cNvGrpSpPr>
            <a:grpSpLocks/>
          </p:cNvGrpSpPr>
          <p:nvPr/>
        </p:nvGrpSpPr>
        <p:grpSpPr bwMode="auto">
          <a:xfrm>
            <a:off x="152400" y="3733800"/>
            <a:ext cx="4129088" cy="2874963"/>
            <a:chOff x="2924" y="2304"/>
            <a:chExt cx="2601" cy="1811"/>
          </a:xfrm>
        </p:grpSpPr>
        <p:sp>
          <p:nvSpPr>
            <p:cNvPr id="113671" name="Freeform 407"/>
            <p:cNvSpPr>
              <a:spLocks/>
            </p:cNvSpPr>
            <p:nvPr/>
          </p:nvSpPr>
          <p:spPr bwMode="auto">
            <a:xfrm>
              <a:off x="4640" y="3615"/>
              <a:ext cx="538" cy="278"/>
            </a:xfrm>
            <a:custGeom>
              <a:avLst/>
              <a:gdLst>
                <a:gd name="T0" fmla="*/ 0 w 606"/>
                <a:gd name="T1" fmla="*/ 278 h 338"/>
                <a:gd name="T2" fmla="*/ 538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672" name="Line 408"/>
            <p:cNvSpPr>
              <a:spLocks noChangeShapeType="1"/>
            </p:cNvSpPr>
            <p:nvPr/>
          </p:nvSpPr>
          <p:spPr bwMode="auto">
            <a:xfrm flipV="1">
              <a:off x="4593" y="3378"/>
              <a:ext cx="0" cy="5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673" name="Freeform 409"/>
            <p:cNvSpPr>
              <a:spLocks/>
            </p:cNvSpPr>
            <p:nvPr/>
          </p:nvSpPr>
          <p:spPr bwMode="auto">
            <a:xfrm>
              <a:off x="3916" y="3537"/>
              <a:ext cx="556" cy="329"/>
            </a:xfrm>
            <a:custGeom>
              <a:avLst/>
              <a:gdLst>
                <a:gd name="T0" fmla="*/ 0 w 627"/>
                <a:gd name="T1" fmla="*/ 0 h 399"/>
                <a:gd name="T2" fmla="*/ 556 w 627"/>
                <a:gd name="T3" fmla="*/ 329 h 399"/>
                <a:gd name="T4" fmla="*/ 0 60000 65536"/>
                <a:gd name="T5" fmla="*/ 0 60000 65536"/>
              </a:gdLst>
              <a:ahLst/>
              <a:cxnLst>
                <a:cxn ang="T4">
                  <a:pos x="T0" y="T1"/>
                </a:cxn>
                <a:cxn ang="T5">
                  <a:pos x="T2" y="T3"/>
                </a:cxn>
              </a:cxnLst>
              <a:rect l="0" t="0" r="r" b="b"/>
              <a:pathLst>
                <a:path w="627" h="399">
                  <a:moveTo>
                    <a:pt x="0" y="0"/>
                  </a:moveTo>
                  <a:lnTo>
                    <a:pt x="627" y="399"/>
                  </a:lnTo>
                </a:path>
              </a:pathLst>
            </a:custGeom>
            <a:solidFill>
              <a:srgbClr val="B2B2B2"/>
            </a:solidFill>
            <a:ln w="19050" cap="flat" cmpd="sng">
              <a:solidFill>
                <a:srgbClr val="B2B2B2"/>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674" name="Freeform 410"/>
            <p:cNvSpPr>
              <a:spLocks/>
            </p:cNvSpPr>
            <p:nvPr/>
          </p:nvSpPr>
          <p:spPr bwMode="auto">
            <a:xfrm>
              <a:off x="4597" y="3221"/>
              <a:ext cx="572" cy="238"/>
            </a:xfrm>
            <a:custGeom>
              <a:avLst/>
              <a:gdLst>
                <a:gd name="T0" fmla="*/ 0 w 572"/>
                <a:gd name="T1" fmla="*/ 0 h 238"/>
                <a:gd name="T2" fmla="*/ 572 w 572"/>
                <a:gd name="T3" fmla="*/ 238 h 238"/>
                <a:gd name="T4" fmla="*/ 0 60000 65536"/>
                <a:gd name="T5" fmla="*/ 0 60000 65536"/>
              </a:gdLst>
              <a:ahLst/>
              <a:cxnLst>
                <a:cxn ang="T4">
                  <a:pos x="T0" y="T1"/>
                </a:cxn>
                <a:cxn ang="T5">
                  <a:pos x="T2" y="T3"/>
                </a:cxn>
              </a:cxnLst>
              <a:rect l="0" t="0" r="r" b="b"/>
              <a:pathLst>
                <a:path w="572" h="238">
                  <a:moveTo>
                    <a:pt x="0" y="0"/>
                  </a:moveTo>
                  <a:lnTo>
                    <a:pt x="572" y="238"/>
                  </a:lnTo>
                </a:path>
              </a:pathLst>
            </a:custGeom>
            <a:noFill/>
            <a:ln w="19050">
              <a:solidFill>
                <a:srgbClr val="B2B2B2"/>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3675" name="Line 411"/>
            <p:cNvSpPr>
              <a:spLocks noChangeShapeType="1"/>
            </p:cNvSpPr>
            <p:nvPr/>
          </p:nvSpPr>
          <p:spPr bwMode="auto">
            <a:xfrm flipV="1">
              <a:off x="5279" y="3024"/>
              <a:ext cx="0" cy="474"/>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676" name="Line 412"/>
            <p:cNvSpPr>
              <a:spLocks noChangeShapeType="1"/>
            </p:cNvSpPr>
            <p:nvPr/>
          </p:nvSpPr>
          <p:spPr bwMode="auto">
            <a:xfrm>
              <a:off x="3916" y="2905"/>
              <a:ext cx="0" cy="514"/>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677" name="Freeform 413"/>
            <p:cNvSpPr>
              <a:spLocks/>
            </p:cNvSpPr>
            <p:nvPr/>
          </p:nvSpPr>
          <p:spPr bwMode="auto">
            <a:xfrm>
              <a:off x="3916" y="3282"/>
              <a:ext cx="574" cy="255"/>
            </a:xfrm>
            <a:custGeom>
              <a:avLst/>
              <a:gdLst>
                <a:gd name="T0" fmla="*/ 0 w 647"/>
                <a:gd name="T1" fmla="*/ 255 h 310"/>
                <a:gd name="T2" fmla="*/ 574 w 647"/>
                <a:gd name="T3" fmla="*/ 0 h 310"/>
                <a:gd name="T4" fmla="*/ 0 60000 65536"/>
                <a:gd name="T5" fmla="*/ 0 60000 65536"/>
              </a:gdLst>
              <a:ahLst/>
              <a:cxnLst>
                <a:cxn ang="T4">
                  <a:pos x="T0" y="T1"/>
                </a:cxn>
                <a:cxn ang="T5">
                  <a:pos x="T2" y="T3"/>
                </a:cxn>
              </a:cxnLst>
              <a:rect l="0" t="0" r="r" b="b"/>
              <a:pathLst>
                <a:path w="647" h="310">
                  <a:moveTo>
                    <a:pt x="0" y="310"/>
                  </a:moveTo>
                  <a:lnTo>
                    <a:pt x="647"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678" name="Freeform 414"/>
            <p:cNvSpPr>
              <a:spLocks/>
            </p:cNvSpPr>
            <p:nvPr/>
          </p:nvSpPr>
          <p:spPr bwMode="auto">
            <a:xfrm>
              <a:off x="4026" y="2972"/>
              <a:ext cx="571" cy="249"/>
            </a:xfrm>
            <a:custGeom>
              <a:avLst/>
              <a:gdLst>
                <a:gd name="T0" fmla="*/ 571 w 644"/>
                <a:gd name="T1" fmla="*/ 249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679" name="Freeform 415"/>
            <p:cNvSpPr>
              <a:spLocks/>
            </p:cNvSpPr>
            <p:nvPr/>
          </p:nvSpPr>
          <p:spPr bwMode="auto">
            <a:xfrm>
              <a:off x="4597" y="2966"/>
              <a:ext cx="569" cy="255"/>
            </a:xfrm>
            <a:custGeom>
              <a:avLst/>
              <a:gdLst>
                <a:gd name="T0" fmla="*/ 0 w 641"/>
                <a:gd name="T1" fmla="*/ 255 h 310"/>
                <a:gd name="T2" fmla="*/ 569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680" name="Freeform 416"/>
            <p:cNvSpPr>
              <a:spLocks/>
            </p:cNvSpPr>
            <p:nvPr/>
          </p:nvSpPr>
          <p:spPr bwMode="auto">
            <a:xfrm>
              <a:off x="3916" y="2585"/>
              <a:ext cx="569" cy="320"/>
            </a:xfrm>
            <a:custGeom>
              <a:avLst/>
              <a:gdLst>
                <a:gd name="T0" fmla="*/ 0 w 641"/>
                <a:gd name="T1" fmla="*/ 320 h 389"/>
                <a:gd name="T2" fmla="*/ 569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681" name="Freeform 417"/>
            <p:cNvSpPr>
              <a:spLocks/>
            </p:cNvSpPr>
            <p:nvPr/>
          </p:nvSpPr>
          <p:spPr bwMode="auto">
            <a:xfrm>
              <a:off x="4719" y="2591"/>
              <a:ext cx="560" cy="314"/>
            </a:xfrm>
            <a:custGeom>
              <a:avLst/>
              <a:gdLst>
                <a:gd name="T0" fmla="*/ 560 w 631"/>
                <a:gd name="T1" fmla="*/ 314 h 382"/>
                <a:gd name="T2" fmla="*/ 0 w 631"/>
                <a:gd name="T3" fmla="*/ 0 h 382"/>
                <a:gd name="T4" fmla="*/ 0 60000 65536"/>
                <a:gd name="T5" fmla="*/ 0 60000 65536"/>
              </a:gdLst>
              <a:ahLst/>
              <a:cxnLst>
                <a:cxn ang="T4">
                  <a:pos x="T0" y="T1"/>
                </a:cxn>
                <a:cxn ang="T5">
                  <a:pos x="T2" y="T3"/>
                </a:cxn>
              </a:cxnLst>
              <a:rect l="0" t="0" r="r" b="b"/>
              <a:pathLst>
                <a:path w="631" h="382">
                  <a:moveTo>
                    <a:pt x="631" y="382"/>
                  </a:moveTo>
                  <a:lnTo>
                    <a:pt x="0"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682" name="Oval 418"/>
            <p:cNvSpPr>
              <a:spLocks noChangeArrowheads="1"/>
            </p:cNvSpPr>
            <p:nvPr/>
          </p:nvSpPr>
          <p:spPr bwMode="auto">
            <a:xfrm>
              <a:off x="4470" y="3749"/>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a</a:t>
              </a:r>
            </a:p>
          </p:txBody>
        </p:sp>
        <p:sp>
          <p:nvSpPr>
            <p:cNvPr id="113683" name="Oval 419"/>
            <p:cNvSpPr>
              <a:spLocks noChangeArrowheads="1"/>
            </p:cNvSpPr>
            <p:nvPr/>
          </p:nvSpPr>
          <p:spPr bwMode="auto">
            <a:xfrm>
              <a:off x="3744" y="3393"/>
              <a:ext cx="299"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b</a:t>
              </a:r>
            </a:p>
          </p:txBody>
        </p:sp>
        <p:sp>
          <p:nvSpPr>
            <p:cNvPr id="113684" name="Oval 420"/>
            <p:cNvSpPr>
              <a:spLocks noChangeArrowheads="1"/>
            </p:cNvSpPr>
            <p:nvPr/>
          </p:nvSpPr>
          <p:spPr bwMode="auto">
            <a:xfrm>
              <a:off x="5151" y="3393"/>
              <a:ext cx="273"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c</a:t>
              </a:r>
            </a:p>
          </p:txBody>
        </p:sp>
        <p:sp>
          <p:nvSpPr>
            <p:cNvPr id="113685" name="Oval 421"/>
            <p:cNvSpPr>
              <a:spLocks noChangeArrowheads="1"/>
            </p:cNvSpPr>
            <p:nvPr/>
          </p:nvSpPr>
          <p:spPr bwMode="auto">
            <a:xfrm>
              <a:off x="4470" y="3077"/>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d</a:t>
              </a:r>
            </a:p>
          </p:txBody>
        </p:sp>
        <p:sp>
          <p:nvSpPr>
            <p:cNvPr id="113686" name="Oval 422"/>
            <p:cNvSpPr>
              <a:spLocks noChangeArrowheads="1"/>
            </p:cNvSpPr>
            <p:nvPr/>
          </p:nvSpPr>
          <p:spPr bwMode="auto">
            <a:xfrm>
              <a:off x="3744" y="2762"/>
              <a:ext cx="299"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e</a:t>
              </a:r>
            </a:p>
          </p:txBody>
        </p:sp>
        <p:sp>
          <p:nvSpPr>
            <p:cNvPr id="113687" name="Line 423"/>
            <p:cNvSpPr>
              <a:spLocks noChangeShapeType="1"/>
            </p:cNvSpPr>
            <p:nvPr/>
          </p:nvSpPr>
          <p:spPr bwMode="auto">
            <a:xfrm flipH="1">
              <a:off x="4044" y="2905"/>
              <a:ext cx="1235" cy="0"/>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3688" name="Oval 424"/>
            <p:cNvSpPr>
              <a:spLocks noChangeArrowheads="1"/>
            </p:cNvSpPr>
            <p:nvPr/>
          </p:nvSpPr>
          <p:spPr bwMode="auto">
            <a:xfrm>
              <a:off x="4470" y="2406"/>
              <a:ext cx="282"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g</a:t>
              </a:r>
            </a:p>
          </p:txBody>
        </p:sp>
        <p:sp>
          <p:nvSpPr>
            <p:cNvPr id="113689" name="Oval 425"/>
            <p:cNvSpPr>
              <a:spLocks noChangeArrowheads="1"/>
            </p:cNvSpPr>
            <p:nvPr/>
          </p:nvSpPr>
          <p:spPr bwMode="auto">
            <a:xfrm>
              <a:off x="5151" y="2762"/>
              <a:ext cx="273"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f</a:t>
              </a:r>
            </a:p>
          </p:txBody>
        </p:sp>
        <p:sp>
          <p:nvSpPr>
            <p:cNvPr id="113690" name="Rectangle 426"/>
            <p:cNvSpPr>
              <a:spLocks noChangeArrowheads="1"/>
            </p:cNvSpPr>
            <p:nvPr/>
          </p:nvSpPr>
          <p:spPr bwMode="auto">
            <a:xfrm>
              <a:off x="4120" y="255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3</a:t>
              </a:r>
            </a:p>
          </p:txBody>
        </p:sp>
        <p:sp>
          <p:nvSpPr>
            <p:cNvPr id="113691" name="Rectangle 427"/>
            <p:cNvSpPr>
              <a:spLocks noChangeArrowheads="1"/>
            </p:cNvSpPr>
            <p:nvPr/>
          </p:nvSpPr>
          <p:spPr bwMode="auto">
            <a:xfrm>
              <a:off x="4896" y="254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2</a:t>
              </a:r>
            </a:p>
          </p:txBody>
        </p:sp>
        <p:sp>
          <p:nvSpPr>
            <p:cNvPr id="113692" name="Rectangle 428"/>
            <p:cNvSpPr>
              <a:spLocks noChangeArrowheads="1"/>
            </p:cNvSpPr>
            <p:nvPr/>
          </p:nvSpPr>
          <p:spPr bwMode="auto">
            <a:xfrm>
              <a:off x="4512" y="268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a:t>
              </a:r>
            </a:p>
          </p:txBody>
        </p:sp>
        <p:sp>
          <p:nvSpPr>
            <p:cNvPr id="113693" name="Rectangle 429"/>
            <p:cNvSpPr>
              <a:spLocks noChangeArrowheads="1"/>
            </p:cNvSpPr>
            <p:nvPr/>
          </p:nvSpPr>
          <p:spPr bwMode="auto">
            <a:xfrm>
              <a:off x="3648" y="3072"/>
              <a:ext cx="28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solidFill>
                    <a:srgbClr val="B2B2B2"/>
                  </a:solidFill>
                </a:rPr>
                <a:t>10</a:t>
              </a:r>
            </a:p>
          </p:txBody>
        </p:sp>
        <p:sp>
          <p:nvSpPr>
            <p:cNvPr id="113694" name="Rectangle 430"/>
            <p:cNvSpPr>
              <a:spLocks noChangeArrowheads="1"/>
            </p:cNvSpPr>
            <p:nvPr/>
          </p:nvSpPr>
          <p:spPr bwMode="auto">
            <a:xfrm>
              <a:off x="4120" y="302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0</a:t>
              </a:r>
            </a:p>
          </p:txBody>
        </p:sp>
        <p:sp>
          <p:nvSpPr>
            <p:cNvPr id="113695" name="Rectangle 431"/>
            <p:cNvSpPr>
              <a:spLocks noChangeArrowheads="1"/>
            </p:cNvSpPr>
            <p:nvPr/>
          </p:nvSpPr>
          <p:spPr bwMode="auto">
            <a:xfrm>
              <a:off x="4886" y="302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5</a:t>
              </a:r>
            </a:p>
          </p:txBody>
        </p:sp>
        <p:sp>
          <p:nvSpPr>
            <p:cNvPr id="113696" name="Rectangle 432"/>
            <p:cNvSpPr>
              <a:spLocks noChangeArrowheads="1"/>
            </p:cNvSpPr>
            <p:nvPr/>
          </p:nvSpPr>
          <p:spPr bwMode="auto">
            <a:xfrm>
              <a:off x="5265" y="3142"/>
              <a:ext cx="2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12</a:t>
              </a:r>
            </a:p>
          </p:txBody>
        </p:sp>
        <p:sp>
          <p:nvSpPr>
            <p:cNvPr id="113697" name="Rectangle 433"/>
            <p:cNvSpPr>
              <a:spLocks noChangeArrowheads="1"/>
            </p:cNvSpPr>
            <p:nvPr/>
          </p:nvSpPr>
          <p:spPr bwMode="auto">
            <a:xfrm>
              <a:off x="4204" y="3339"/>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8</a:t>
              </a:r>
            </a:p>
          </p:txBody>
        </p:sp>
        <p:sp>
          <p:nvSpPr>
            <p:cNvPr id="113698" name="Rectangle 434"/>
            <p:cNvSpPr>
              <a:spLocks noChangeArrowheads="1"/>
            </p:cNvSpPr>
            <p:nvPr/>
          </p:nvSpPr>
          <p:spPr bwMode="auto">
            <a:xfrm>
              <a:off x="4546" y="3457"/>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4</a:t>
              </a:r>
            </a:p>
          </p:txBody>
        </p:sp>
        <p:sp>
          <p:nvSpPr>
            <p:cNvPr id="113699" name="Rectangle 435"/>
            <p:cNvSpPr>
              <a:spLocks noChangeArrowheads="1"/>
            </p:cNvSpPr>
            <p:nvPr/>
          </p:nvSpPr>
          <p:spPr bwMode="auto">
            <a:xfrm>
              <a:off x="4800" y="330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7</a:t>
              </a:r>
            </a:p>
          </p:txBody>
        </p:sp>
        <p:sp>
          <p:nvSpPr>
            <p:cNvPr id="113700" name="Rectangle 436"/>
            <p:cNvSpPr>
              <a:spLocks noChangeArrowheads="1"/>
            </p:cNvSpPr>
            <p:nvPr/>
          </p:nvSpPr>
          <p:spPr bwMode="auto">
            <a:xfrm>
              <a:off x="4076" y="365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6</a:t>
              </a:r>
            </a:p>
          </p:txBody>
        </p:sp>
        <p:sp>
          <p:nvSpPr>
            <p:cNvPr id="113701" name="Rectangle 437"/>
            <p:cNvSpPr>
              <a:spLocks noChangeArrowheads="1"/>
            </p:cNvSpPr>
            <p:nvPr/>
          </p:nvSpPr>
          <p:spPr bwMode="auto">
            <a:xfrm>
              <a:off x="4886" y="369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13702" name="Rectangle 438"/>
            <p:cNvSpPr>
              <a:spLocks noChangeArrowheads="1"/>
            </p:cNvSpPr>
            <p:nvPr/>
          </p:nvSpPr>
          <p:spPr bwMode="auto">
            <a:xfrm>
              <a:off x="5193" y="3647"/>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3</a:t>
              </a:r>
            </a:p>
          </p:txBody>
        </p:sp>
        <p:sp>
          <p:nvSpPr>
            <p:cNvPr id="113703" name="Rectangle 439"/>
            <p:cNvSpPr>
              <a:spLocks noChangeArrowheads="1"/>
            </p:cNvSpPr>
            <p:nvPr/>
          </p:nvSpPr>
          <p:spPr bwMode="auto">
            <a:xfrm>
              <a:off x="5241" y="2543"/>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9</a:t>
              </a:r>
            </a:p>
          </p:txBody>
        </p:sp>
        <p:sp>
          <p:nvSpPr>
            <p:cNvPr id="113704" name="Rectangle 440"/>
            <p:cNvSpPr>
              <a:spLocks noChangeArrowheads="1"/>
            </p:cNvSpPr>
            <p:nvPr/>
          </p:nvSpPr>
          <p:spPr bwMode="auto">
            <a:xfrm>
              <a:off x="4704" y="2304"/>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sp>
          <p:nvSpPr>
            <p:cNvPr id="113705" name="Rectangle 441"/>
            <p:cNvSpPr>
              <a:spLocks noChangeArrowheads="1"/>
            </p:cNvSpPr>
            <p:nvPr/>
          </p:nvSpPr>
          <p:spPr bwMode="auto">
            <a:xfrm>
              <a:off x="3663" y="2595"/>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sp>
          <p:nvSpPr>
            <p:cNvPr id="113706" name="Rectangle 442"/>
            <p:cNvSpPr>
              <a:spLocks noChangeArrowheads="1"/>
            </p:cNvSpPr>
            <p:nvPr/>
          </p:nvSpPr>
          <p:spPr bwMode="auto">
            <a:xfrm>
              <a:off x="3648" y="3648"/>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sp>
          <p:nvSpPr>
            <p:cNvPr id="113707" name="Rectangle 443"/>
            <p:cNvSpPr>
              <a:spLocks noChangeArrowheads="1"/>
            </p:cNvSpPr>
            <p:nvPr/>
          </p:nvSpPr>
          <p:spPr bwMode="auto">
            <a:xfrm>
              <a:off x="4698" y="3884"/>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0</a:t>
              </a:r>
            </a:p>
          </p:txBody>
        </p:sp>
        <p:sp>
          <p:nvSpPr>
            <p:cNvPr id="113708" name="Text Box 444"/>
            <p:cNvSpPr txBox="1">
              <a:spLocks noChangeArrowheads="1"/>
            </p:cNvSpPr>
            <p:nvPr/>
          </p:nvSpPr>
          <p:spPr bwMode="auto">
            <a:xfrm>
              <a:off x="2924" y="2400"/>
              <a:ext cx="7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3) Scan d:</a:t>
              </a:r>
            </a:p>
          </p:txBody>
        </p:sp>
        <p:sp>
          <p:nvSpPr>
            <p:cNvPr id="113709" name="Rectangle 445"/>
            <p:cNvSpPr>
              <a:spLocks noChangeArrowheads="1"/>
            </p:cNvSpPr>
            <p:nvPr/>
          </p:nvSpPr>
          <p:spPr bwMode="auto">
            <a:xfrm>
              <a:off x="4575" y="2883"/>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96610"/>
                                        </p:tgtEl>
                                        <p:attrNameLst>
                                          <p:attrName>style.visibility</p:attrName>
                                        </p:attrNameLst>
                                      </p:cBhvr>
                                      <p:to>
                                        <p:strVal val="visible"/>
                                      </p:to>
                                    </p:set>
                                    <p:anim calcmode="lin" valueType="num">
                                      <p:cBhvr>
                                        <p:cTn id="7" dur="500" fill="hold"/>
                                        <p:tgtEl>
                                          <p:spTgt spid="196610"/>
                                        </p:tgtEl>
                                        <p:attrNameLst>
                                          <p:attrName>ppt_w</p:attrName>
                                        </p:attrNameLst>
                                      </p:cBhvr>
                                      <p:tavLst>
                                        <p:tav tm="0">
                                          <p:val>
                                            <p:fltVal val="0"/>
                                          </p:val>
                                        </p:tav>
                                        <p:tav tm="100000">
                                          <p:val>
                                            <p:strVal val="#ppt_w"/>
                                          </p:val>
                                        </p:tav>
                                      </p:tavLst>
                                    </p:anim>
                                    <p:anim calcmode="lin" valueType="num">
                                      <p:cBhvr>
                                        <p:cTn id="8" dur="500" fill="hold"/>
                                        <p:tgtEl>
                                          <p:spTgt spid="19661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197011"/>
                                        </p:tgtEl>
                                        <p:attrNameLst>
                                          <p:attrName>style.visibility</p:attrName>
                                        </p:attrNameLst>
                                      </p:cBhvr>
                                      <p:to>
                                        <p:strVal val="visible"/>
                                      </p:to>
                                    </p:set>
                                    <p:animEffect transition="in" filter="wipe(up)">
                                      <p:cBhvr>
                                        <p:cTn id="13" dur="500"/>
                                        <p:tgtEl>
                                          <p:spTgt spid="19701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97056"/>
                                        </p:tgtEl>
                                        <p:attrNameLst>
                                          <p:attrName>style.visibility</p:attrName>
                                        </p:attrNameLst>
                                      </p:cBhvr>
                                      <p:to>
                                        <p:strVal val="visible"/>
                                      </p:to>
                                    </p:set>
                                    <p:animEffect transition="in" filter="wipe(up)">
                                      <p:cBhvr>
                                        <p:cTn id="18" dur="500"/>
                                        <p:tgtEl>
                                          <p:spTgt spid="19705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197057"/>
                                        </p:tgtEl>
                                        <p:attrNameLst>
                                          <p:attrName>style.visibility</p:attrName>
                                        </p:attrNameLst>
                                      </p:cBhvr>
                                      <p:to>
                                        <p:strVal val="visible"/>
                                      </p:to>
                                    </p:set>
                                    <p:animEffect transition="in" filter="wipe(up)">
                                      <p:cBhvr>
                                        <p:cTn id="23" dur="500"/>
                                        <p:tgtEl>
                                          <p:spTgt spid="19705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197058"/>
                                        </p:tgtEl>
                                        <p:attrNameLst>
                                          <p:attrName>style.visibility</p:attrName>
                                        </p:attrNameLst>
                                      </p:cBhvr>
                                      <p:to>
                                        <p:strVal val="visible"/>
                                      </p:to>
                                    </p:set>
                                    <p:animEffect transition="in" filter="wipe(up)">
                                      <p:cBhvr>
                                        <p:cTn id="28" dur="500"/>
                                        <p:tgtEl>
                                          <p:spTgt spid="197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0" grpId="0" animBg="1"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smtClean="0">
                <a:solidFill>
                  <a:schemeClr val="tx1"/>
                </a:solidFill>
                <a:latin typeface="Arial Rounded MT Bold" pitchFamily="34" charset="0"/>
              </a:rPr>
              <a:t>Example</a:t>
            </a:r>
          </a:p>
        </p:txBody>
      </p:sp>
      <p:grpSp>
        <p:nvGrpSpPr>
          <p:cNvPr id="114691" name="Group 203"/>
          <p:cNvGrpSpPr>
            <a:grpSpLocks/>
          </p:cNvGrpSpPr>
          <p:nvPr/>
        </p:nvGrpSpPr>
        <p:grpSpPr bwMode="auto">
          <a:xfrm>
            <a:off x="152400" y="3733800"/>
            <a:ext cx="4129088" cy="2874963"/>
            <a:chOff x="2924" y="2304"/>
            <a:chExt cx="2601" cy="1811"/>
          </a:xfrm>
        </p:grpSpPr>
        <p:sp>
          <p:nvSpPr>
            <p:cNvPr id="114812" name="Freeform 124"/>
            <p:cNvSpPr>
              <a:spLocks/>
            </p:cNvSpPr>
            <p:nvPr/>
          </p:nvSpPr>
          <p:spPr bwMode="auto">
            <a:xfrm>
              <a:off x="4640" y="3615"/>
              <a:ext cx="538" cy="278"/>
            </a:xfrm>
            <a:custGeom>
              <a:avLst/>
              <a:gdLst>
                <a:gd name="T0" fmla="*/ 0 w 606"/>
                <a:gd name="T1" fmla="*/ 278 h 338"/>
                <a:gd name="T2" fmla="*/ 538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813" name="Line 125"/>
            <p:cNvSpPr>
              <a:spLocks noChangeShapeType="1"/>
            </p:cNvSpPr>
            <p:nvPr/>
          </p:nvSpPr>
          <p:spPr bwMode="auto">
            <a:xfrm flipV="1">
              <a:off x="4597" y="3365"/>
              <a:ext cx="0" cy="5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814" name="Freeform 126"/>
            <p:cNvSpPr>
              <a:spLocks/>
            </p:cNvSpPr>
            <p:nvPr/>
          </p:nvSpPr>
          <p:spPr bwMode="auto">
            <a:xfrm>
              <a:off x="3916" y="3537"/>
              <a:ext cx="556" cy="329"/>
            </a:xfrm>
            <a:custGeom>
              <a:avLst/>
              <a:gdLst>
                <a:gd name="T0" fmla="*/ 0 w 627"/>
                <a:gd name="T1" fmla="*/ 0 h 399"/>
                <a:gd name="T2" fmla="*/ 556 w 627"/>
                <a:gd name="T3" fmla="*/ 329 h 399"/>
                <a:gd name="T4" fmla="*/ 0 60000 65536"/>
                <a:gd name="T5" fmla="*/ 0 60000 65536"/>
              </a:gdLst>
              <a:ahLst/>
              <a:cxnLst>
                <a:cxn ang="T4">
                  <a:pos x="T0" y="T1"/>
                </a:cxn>
                <a:cxn ang="T5">
                  <a:pos x="T2" y="T3"/>
                </a:cxn>
              </a:cxnLst>
              <a:rect l="0" t="0" r="r" b="b"/>
              <a:pathLst>
                <a:path w="627" h="399">
                  <a:moveTo>
                    <a:pt x="0" y="0"/>
                  </a:moveTo>
                  <a:lnTo>
                    <a:pt x="627" y="399"/>
                  </a:lnTo>
                </a:path>
              </a:pathLst>
            </a:custGeom>
            <a:solidFill>
              <a:srgbClr val="B2B2B2"/>
            </a:solidFill>
            <a:ln w="19050" cap="flat" cmpd="sng">
              <a:solidFill>
                <a:srgbClr val="B2B2B2"/>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815" name="Freeform 127"/>
            <p:cNvSpPr>
              <a:spLocks/>
            </p:cNvSpPr>
            <p:nvPr/>
          </p:nvSpPr>
          <p:spPr bwMode="auto">
            <a:xfrm>
              <a:off x="4597" y="3221"/>
              <a:ext cx="572" cy="238"/>
            </a:xfrm>
            <a:custGeom>
              <a:avLst/>
              <a:gdLst>
                <a:gd name="T0" fmla="*/ 0 w 572"/>
                <a:gd name="T1" fmla="*/ 0 h 238"/>
                <a:gd name="T2" fmla="*/ 572 w 572"/>
                <a:gd name="T3" fmla="*/ 238 h 238"/>
                <a:gd name="T4" fmla="*/ 0 60000 65536"/>
                <a:gd name="T5" fmla="*/ 0 60000 65536"/>
              </a:gdLst>
              <a:ahLst/>
              <a:cxnLst>
                <a:cxn ang="T4">
                  <a:pos x="T0" y="T1"/>
                </a:cxn>
                <a:cxn ang="T5">
                  <a:pos x="T2" y="T3"/>
                </a:cxn>
              </a:cxnLst>
              <a:rect l="0" t="0" r="r" b="b"/>
              <a:pathLst>
                <a:path w="572" h="238">
                  <a:moveTo>
                    <a:pt x="0" y="0"/>
                  </a:moveTo>
                  <a:lnTo>
                    <a:pt x="572" y="238"/>
                  </a:lnTo>
                </a:path>
              </a:pathLst>
            </a:custGeom>
            <a:noFill/>
            <a:ln w="19050">
              <a:solidFill>
                <a:srgbClr val="B2B2B2"/>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4816" name="Line 128"/>
            <p:cNvSpPr>
              <a:spLocks noChangeShapeType="1"/>
            </p:cNvSpPr>
            <p:nvPr/>
          </p:nvSpPr>
          <p:spPr bwMode="auto">
            <a:xfrm flipV="1">
              <a:off x="5279" y="3024"/>
              <a:ext cx="0" cy="474"/>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817" name="Line 129"/>
            <p:cNvSpPr>
              <a:spLocks noChangeShapeType="1"/>
            </p:cNvSpPr>
            <p:nvPr/>
          </p:nvSpPr>
          <p:spPr bwMode="auto">
            <a:xfrm>
              <a:off x="3916" y="2905"/>
              <a:ext cx="0" cy="514"/>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818" name="Freeform 130"/>
            <p:cNvSpPr>
              <a:spLocks/>
            </p:cNvSpPr>
            <p:nvPr/>
          </p:nvSpPr>
          <p:spPr bwMode="auto">
            <a:xfrm>
              <a:off x="3916" y="3282"/>
              <a:ext cx="574" cy="255"/>
            </a:xfrm>
            <a:custGeom>
              <a:avLst/>
              <a:gdLst>
                <a:gd name="T0" fmla="*/ 0 w 647"/>
                <a:gd name="T1" fmla="*/ 255 h 310"/>
                <a:gd name="T2" fmla="*/ 574 w 647"/>
                <a:gd name="T3" fmla="*/ 0 h 310"/>
                <a:gd name="T4" fmla="*/ 0 60000 65536"/>
                <a:gd name="T5" fmla="*/ 0 60000 65536"/>
              </a:gdLst>
              <a:ahLst/>
              <a:cxnLst>
                <a:cxn ang="T4">
                  <a:pos x="T0" y="T1"/>
                </a:cxn>
                <a:cxn ang="T5">
                  <a:pos x="T2" y="T3"/>
                </a:cxn>
              </a:cxnLst>
              <a:rect l="0" t="0" r="r" b="b"/>
              <a:pathLst>
                <a:path w="647" h="310">
                  <a:moveTo>
                    <a:pt x="0" y="310"/>
                  </a:moveTo>
                  <a:lnTo>
                    <a:pt x="647"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819" name="Freeform 131"/>
            <p:cNvSpPr>
              <a:spLocks/>
            </p:cNvSpPr>
            <p:nvPr/>
          </p:nvSpPr>
          <p:spPr bwMode="auto">
            <a:xfrm>
              <a:off x="4026" y="2972"/>
              <a:ext cx="571" cy="249"/>
            </a:xfrm>
            <a:custGeom>
              <a:avLst/>
              <a:gdLst>
                <a:gd name="T0" fmla="*/ 571 w 644"/>
                <a:gd name="T1" fmla="*/ 249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820" name="Freeform 132"/>
            <p:cNvSpPr>
              <a:spLocks/>
            </p:cNvSpPr>
            <p:nvPr/>
          </p:nvSpPr>
          <p:spPr bwMode="auto">
            <a:xfrm>
              <a:off x="4597" y="2966"/>
              <a:ext cx="569" cy="255"/>
            </a:xfrm>
            <a:custGeom>
              <a:avLst/>
              <a:gdLst>
                <a:gd name="T0" fmla="*/ 0 w 641"/>
                <a:gd name="T1" fmla="*/ 255 h 310"/>
                <a:gd name="T2" fmla="*/ 569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821" name="Freeform 133"/>
            <p:cNvSpPr>
              <a:spLocks/>
            </p:cNvSpPr>
            <p:nvPr/>
          </p:nvSpPr>
          <p:spPr bwMode="auto">
            <a:xfrm>
              <a:off x="3916" y="2585"/>
              <a:ext cx="569" cy="320"/>
            </a:xfrm>
            <a:custGeom>
              <a:avLst/>
              <a:gdLst>
                <a:gd name="T0" fmla="*/ 0 w 641"/>
                <a:gd name="T1" fmla="*/ 320 h 389"/>
                <a:gd name="T2" fmla="*/ 569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822" name="Freeform 134"/>
            <p:cNvSpPr>
              <a:spLocks/>
            </p:cNvSpPr>
            <p:nvPr/>
          </p:nvSpPr>
          <p:spPr bwMode="auto">
            <a:xfrm>
              <a:off x="4719" y="2591"/>
              <a:ext cx="560" cy="314"/>
            </a:xfrm>
            <a:custGeom>
              <a:avLst/>
              <a:gdLst>
                <a:gd name="T0" fmla="*/ 560 w 631"/>
                <a:gd name="T1" fmla="*/ 314 h 382"/>
                <a:gd name="T2" fmla="*/ 0 w 631"/>
                <a:gd name="T3" fmla="*/ 0 h 382"/>
                <a:gd name="T4" fmla="*/ 0 60000 65536"/>
                <a:gd name="T5" fmla="*/ 0 60000 65536"/>
              </a:gdLst>
              <a:ahLst/>
              <a:cxnLst>
                <a:cxn ang="T4">
                  <a:pos x="T0" y="T1"/>
                </a:cxn>
                <a:cxn ang="T5">
                  <a:pos x="T2" y="T3"/>
                </a:cxn>
              </a:cxnLst>
              <a:rect l="0" t="0" r="r" b="b"/>
              <a:pathLst>
                <a:path w="631" h="382">
                  <a:moveTo>
                    <a:pt x="631" y="382"/>
                  </a:moveTo>
                  <a:lnTo>
                    <a:pt x="0"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823" name="Oval 135"/>
            <p:cNvSpPr>
              <a:spLocks noChangeArrowheads="1"/>
            </p:cNvSpPr>
            <p:nvPr/>
          </p:nvSpPr>
          <p:spPr bwMode="auto">
            <a:xfrm>
              <a:off x="4470" y="3749"/>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a</a:t>
              </a:r>
            </a:p>
          </p:txBody>
        </p:sp>
        <p:sp>
          <p:nvSpPr>
            <p:cNvPr id="114824" name="Oval 136"/>
            <p:cNvSpPr>
              <a:spLocks noChangeArrowheads="1"/>
            </p:cNvSpPr>
            <p:nvPr/>
          </p:nvSpPr>
          <p:spPr bwMode="auto">
            <a:xfrm>
              <a:off x="3744" y="3393"/>
              <a:ext cx="299"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b</a:t>
              </a:r>
            </a:p>
          </p:txBody>
        </p:sp>
        <p:sp>
          <p:nvSpPr>
            <p:cNvPr id="114825" name="Oval 137"/>
            <p:cNvSpPr>
              <a:spLocks noChangeArrowheads="1"/>
            </p:cNvSpPr>
            <p:nvPr/>
          </p:nvSpPr>
          <p:spPr bwMode="auto">
            <a:xfrm>
              <a:off x="5151" y="3393"/>
              <a:ext cx="273"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c</a:t>
              </a:r>
            </a:p>
          </p:txBody>
        </p:sp>
        <p:sp>
          <p:nvSpPr>
            <p:cNvPr id="114826" name="Oval 138"/>
            <p:cNvSpPr>
              <a:spLocks noChangeArrowheads="1"/>
            </p:cNvSpPr>
            <p:nvPr/>
          </p:nvSpPr>
          <p:spPr bwMode="auto">
            <a:xfrm>
              <a:off x="4470" y="3077"/>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d</a:t>
              </a:r>
            </a:p>
          </p:txBody>
        </p:sp>
        <p:sp>
          <p:nvSpPr>
            <p:cNvPr id="114827" name="Oval 139"/>
            <p:cNvSpPr>
              <a:spLocks noChangeArrowheads="1"/>
            </p:cNvSpPr>
            <p:nvPr/>
          </p:nvSpPr>
          <p:spPr bwMode="auto">
            <a:xfrm>
              <a:off x="3744" y="2762"/>
              <a:ext cx="299"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e</a:t>
              </a:r>
            </a:p>
          </p:txBody>
        </p:sp>
        <p:sp>
          <p:nvSpPr>
            <p:cNvPr id="114828" name="Line 140"/>
            <p:cNvSpPr>
              <a:spLocks noChangeShapeType="1"/>
            </p:cNvSpPr>
            <p:nvPr/>
          </p:nvSpPr>
          <p:spPr bwMode="auto">
            <a:xfrm flipH="1">
              <a:off x="4044" y="2905"/>
              <a:ext cx="1235" cy="0"/>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829" name="Oval 141"/>
            <p:cNvSpPr>
              <a:spLocks noChangeArrowheads="1"/>
            </p:cNvSpPr>
            <p:nvPr/>
          </p:nvSpPr>
          <p:spPr bwMode="auto">
            <a:xfrm>
              <a:off x="4470" y="2406"/>
              <a:ext cx="282"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g</a:t>
              </a:r>
            </a:p>
          </p:txBody>
        </p:sp>
        <p:sp>
          <p:nvSpPr>
            <p:cNvPr id="114830" name="Oval 142"/>
            <p:cNvSpPr>
              <a:spLocks noChangeArrowheads="1"/>
            </p:cNvSpPr>
            <p:nvPr/>
          </p:nvSpPr>
          <p:spPr bwMode="auto">
            <a:xfrm>
              <a:off x="5151" y="2762"/>
              <a:ext cx="273"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f</a:t>
              </a:r>
            </a:p>
          </p:txBody>
        </p:sp>
        <p:sp>
          <p:nvSpPr>
            <p:cNvPr id="114831" name="Rectangle 143"/>
            <p:cNvSpPr>
              <a:spLocks noChangeArrowheads="1"/>
            </p:cNvSpPr>
            <p:nvPr/>
          </p:nvSpPr>
          <p:spPr bwMode="auto">
            <a:xfrm>
              <a:off x="4120" y="255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3</a:t>
              </a:r>
            </a:p>
          </p:txBody>
        </p:sp>
        <p:sp>
          <p:nvSpPr>
            <p:cNvPr id="114832" name="Rectangle 144"/>
            <p:cNvSpPr>
              <a:spLocks noChangeArrowheads="1"/>
            </p:cNvSpPr>
            <p:nvPr/>
          </p:nvSpPr>
          <p:spPr bwMode="auto">
            <a:xfrm>
              <a:off x="4896" y="254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2</a:t>
              </a:r>
            </a:p>
          </p:txBody>
        </p:sp>
        <p:sp>
          <p:nvSpPr>
            <p:cNvPr id="114833" name="Rectangle 145"/>
            <p:cNvSpPr>
              <a:spLocks noChangeArrowheads="1"/>
            </p:cNvSpPr>
            <p:nvPr/>
          </p:nvSpPr>
          <p:spPr bwMode="auto">
            <a:xfrm>
              <a:off x="4512" y="268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a:t>
              </a:r>
            </a:p>
          </p:txBody>
        </p:sp>
        <p:sp>
          <p:nvSpPr>
            <p:cNvPr id="114834" name="Rectangle 146"/>
            <p:cNvSpPr>
              <a:spLocks noChangeArrowheads="1"/>
            </p:cNvSpPr>
            <p:nvPr/>
          </p:nvSpPr>
          <p:spPr bwMode="auto">
            <a:xfrm>
              <a:off x="3648" y="3072"/>
              <a:ext cx="28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solidFill>
                    <a:srgbClr val="B2B2B2"/>
                  </a:solidFill>
                </a:rPr>
                <a:t>10</a:t>
              </a:r>
            </a:p>
          </p:txBody>
        </p:sp>
        <p:sp>
          <p:nvSpPr>
            <p:cNvPr id="114835" name="Rectangle 147"/>
            <p:cNvSpPr>
              <a:spLocks noChangeArrowheads="1"/>
            </p:cNvSpPr>
            <p:nvPr/>
          </p:nvSpPr>
          <p:spPr bwMode="auto">
            <a:xfrm>
              <a:off x="4120" y="302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0</a:t>
              </a:r>
            </a:p>
          </p:txBody>
        </p:sp>
        <p:sp>
          <p:nvSpPr>
            <p:cNvPr id="114836" name="Rectangle 148"/>
            <p:cNvSpPr>
              <a:spLocks noChangeArrowheads="1"/>
            </p:cNvSpPr>
            <p:nvPr/>
          </p:nvSpPr>
          <p:spPr bwMode="auto">
            <a:xfrm>
              <a:off x="4886" y="302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5</a:t>
              </a:r>
            </a:p>
          </p:txBody>
        </p:sp>
        <p:sp>
          <p:nvSpPr>
            <p:cNvPr id="114837" name="Rectangle 149"/>
            <p:cNvSpPr>
              <a:spLocks noChangeArrowheads="1"/>
            </p:cNvSpPr>
            <p:nvPr/>
          </p:nvSpPr>
          <p:spPr bwMode="auto">
            <a:xfrm>
              <a:off x="5265" y="3142"/>
              <a:ext cx="2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12</a:t>
              </a:r>
            </a:p>
          </p:txBody>
        </p:sp>
        <p:sp>
          <p:nvSpPr>
            <p:cNvPr id="114838" name="Rectangle 150"/>
            <p:cNvSpPr>
              <a:spLocks noChangeArrowheads="1"/>
            </p:cNvSpPr>
            <p:nvPr/>
          </p:nvSpPr>
          <p:spPr bwMode="auto">
            <a:xfrm>
              <a:off x="4204" y="3339"/>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8</a:t>
              </a:r>
            </a:p>
          </p:txBody>
        </p:sp>
        <p:sp>
          <p:nvSpPr>
            <p:cNvPr id="114839" name="Rectangle 151"/>
            <p:cNvSpPr>
              <a:spLocks noChangeArrowheads="1"/>
            </p:cNvSpPr>
            <p:nvPr/>
          </p:nvSpPr>
          <p:spPr bwMode="auto">
            <a:xfrm>
              <a:off x="4546" y="3457"/>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4</a:t>
              </a:r>
            </a:p>
          </p:txBody>
        </p:sp>
        <p:sp>
          <p:nvSpPr>
            <p:cNvPr id="114840" name="Rectangle 152"/>
            <p:cNvSpPr>
              <a:spLocks noChangeArrowheads="1"/>
            </p:cNvSpPr>
            <p:nvPr/>
          </p:nvSpPr>
          <p:spPr bwMode="auto">
            <a:xfrm>
              <a:off x="4800" y="330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7</a:t>
              </a:r>
            </a:p>
          </p:txBody>
        </p:sp>
        <p:sp>
          <p:nvSpPr>
            <p:cNvPr id="114841" name="Rectangle 153"/>
            <p:cNvSpPr>
              <a:spLocks noChangeArrowheads="1"/>
            </p:cNvSpPr>
            <p:nvPr/>
          </p:nvSpPr>
          <p:spPr bwMode="auto">
            <a:xfrm>
              <a:off x="4076" y="365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6</a:t>
              </a:r>
            </a:p>
          </p:txBody>
        </p:sp>
        <p:sp>
          <p:nvSpPr>
            <p:cNvPr id="114842" name="Rectangle 154"/>
            <p:cNvSpPr>
              <a:spLocks noChangeArrowheads="1"/>
            </p:cNvSpPr>
            <p:nvPr/>
          </p:nvSpPr>
          <p:spPr bwMode="auto">
            <a:xfrm>
              <a:off x="4886" y="369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14843" name="Rectangle 155"/>
            <p:cNvSpPr>
              <a:spLocks noChangeArrowheads="1"/>
            </p:cNvSpPr>
            <p:nvPr/>
          </p:nvSpPr>
          <p:spPr bwMode="auto">
            <a:xfrm>
              <a:off x="5193" y="3647"/>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3</a:t>
              </a:r>
            </a:p>
          </p:txBody>
        </p:sp>
        <p:sp>
          <p:nvSpPr>
            <p:cNvPr id="114844" name="Rectangle 156"/>
            <p:cNvSpPr>
              <a:spLocks noChangeArrowheads="1"/>
            </p:cNvSpPr>
            <p:nvPr/>
          </p:nvSpPr>
          <p:spPr bwMode="auto">
            <a:xfrm>
              <a:off x="5241" y="2543"/>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9</a:t>
              </a:r>
            </a:p>
          </p:txBody>
        </p:sp>
        <p:sp>
          <p:nvSpPr>
            <p:cNvPr id="114845" name="Rectangle 157"/>
            <p:cNvSpPr>
              <a:spLocks noChangeArrowheads="1"/>
            </p:cNvSpPr>
            <p:nvPr/>
          </p:nvSpPr>
          <p:spPr bwMode="auto">
            <a:xfrm>
              <a:off x="4704" y="2304"/>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sp>
          <p:nvSpPr>
            <p:cNvPr id="114846" name="Rectangle 158"/>
            <p:cNvSpPr>
              <a:spLocks noChangeArrowheads="1"/>
            </p:cNvSpPr>
            <p:nvPr/>
          </p:nvSpPr>
          <p:spPr bwMode="auto">
            <a:xfrm>
              <a:off x="3663" y="2595"/>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sp>
          <p:nvSpPr>
            <p:cNvPr id="114847" name="Rectangle 159"/>
            <p:cNvSpPr>
              <a:spLocks noChangeArrowheads="1"/>
            </p:cNvSpPr>
            <p:nvPr/>
          </p:nvSpPr>
          <p:spPr bwMode="auto">
            <a:xfrm>
              <a:off x="3648" y="3648"/>
              <a:ext cx="2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a:t>
              </a:r>
            </a:p>
          </p:txBody>
        </p:sp>
        <p:sp>
          <p:nvSpPr>
            <p:cNvPr id="114848" name="Rectangle 160"/>
            <p:cNvSpPr>
              <a:spLocks noChangeArrowheads="1"/>
            </p:cNvSpPr>
            <p:nvPr/>
          </p:nvSpPr>
          <p:spPr bwMode="auto">
            <a:xfrm>
              <a:off x="4698" y="3884"/>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0</a:t>
              </a:r>
            </a:p>
          </p:txBody>
        </p:sp>
        <p:sp>
          <p:nvSpPr>
            <p:cNvPr id="114849" name="Text Box 161"/>
            <p:cNvSpPr txBox="1">
              <a:spLocks noChangeArrowheads="1"/>
            </p:cNvSpPr>
            <p:nvPr/>
          </p:nvSpPr>
          <p:spPr bwMode="auto">
            <a:xfrm>
              <a:off x="2924" y="2400"/>
              <a:ext cx="7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3) Scan d:</a:t>
              </a:r>
            </a:p>
          </p:txBody>
        </p:sp>
        <p:sp>
          <p:nvSpPr>
            <p:cNvPr id="114850" name="Rectangle 162"/>
            <p:cNvSpPr>
              <a:spLocks noChangeArrowheads="1"/>
            </p:cNvSpPr>
            <p:nvPr/>
          </p:nvSpPr>
          <p:spPr bwMode="auto">
            <a:xfrm>
              <a:off x="4575" y="2883"/>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grpSp>
      <p:grpSp>
        <p:nvGrpSpPr>
          <p:cNvPr id="198860" name="Group 204"/>
          <p:cNvGrpSpPr>
            <a:grpSpLocks/>
          </p:cNvGrpSpPr>
          <p:nvPr/>
        </p:nvGrpSpPr>
        <p:grpSpPr bwMode="auto">
          <a:xfrm>
            <a:off x="152400" y="685800"/>
            <a:ext cx="4122738" cy="2870200"/>
            <a:chOff x="100" y="2355"/>
            <a:chExt cx="2597" cy="1808"/>
          </a:xfrm>
        </p:grpSpPr>
        <p:sp>
          <p:nvSpPr>
            <p:cNvPr id="114773" name="Freeform 164"/>
            <p:cNvSpPr>
              <a:spLocks/>
            </p:cNvSpPr>
            <p:nvPr/>
          </p:nvSpPr>
          <p:spPr bwMode="auto">
            <a:xfrm>
              <a:off x="1812" y="3663"/>
              <a:ext cx="538" cy="278"/>
            </a:xfrm>
            <a:custGeom>
              <a:avLst/>
              <a:gdLst>
                <a:gd name="T0" fmla="*/ 0 w 606"/>
                <a:gd name="T1" fmla="*/ 278 h 338"/>
                <a:gd name="T2" fmla="*/ 538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74" name="Line 165"/>
            <p:cNvSpPr>
              <a:spLocks noChangeShapeType="1"/>
            </p:cNvSpPr>
            <p:nvPr/>
          </p:nvSpPr>
          <p:spPr bwMode="auto">
            <a:xfrm flipV="1">
              <a:off x="1769" y="3413"/>
              <a:ext cx="0" cy="5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75" name="Freeform 166"/>
            <p:cNvSpPr>
              <a:spLocks/>
            </p:cNvSpPr>
            <p:nvPr/>
          </p:nvSpPr>
          <p:spPr bwMode="auto">
            <a:xfrm>
              <a:off x="1088" y="3585"/>
              <a:ext cx="556" cy="329"/>
            </a:xfrm>
            <a:custGeom>
              <a:avLst/>
              <a:gdLst>
                <a:gd name="T0" fmla="*/ 0 w 627"/>
                <a:gd name="T1" fmla="*/ 0 h 399"/>
                <a:gd name="T2" fmla="*/ 556 w 627"/>
                <a:gd name="T3" fmla="*/ 329 h 399"/>
                <a:gd name="T4" fmla="*/ 0 60000 65536"/>
                <a:gd name="T5" fmla="*/ 0 60000 65536"/>
              </a:gdLst>
              <a:ahLst/>
              <a:cxnLst>
                <a:cxn ang="T4">
                  <a:pos x="T0" y="T1"/>
                </a:cxn>
                <a:cxn ang="T5">
                  <a:pos x="T2" y="T3"/>
                </a:cxn>
              </a:cxnLst>
              <a:rect l="0" t="0" r="r" b="b"/>
              <a:pathLst>
                <a:path w="627" h="399">
                  <a:moveTo>
                    <a:pt x="0" y="0"/>
                  </a:moveTo>
                  <a:lnTo>
                    <a:pt x="627" y="399"/>
                  </a:lnTo>
                </a:path>
              </a:pathLst>
            </a:custGeom>
            <a:solidFill>
              <a:srgbClr val="B2B2B2"/>
            </a:solidFill>
            <a:ln w="19050" cap="flat" cmpd="sng">
              <a:solidFill>
                <a:srgbClr val="B2B2B2"/>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76" name="Freeform 167"/>
            <p:cNvSpPr>
              <a:spLocks/>
            </p:cNvSpPr>
            <p:nvPr/>
          </p:nvSpPr>
          <p:spPr bwMode="auto">
            <a:xfrm>
              <a:off x="1769" y="3269"/>
              <a:ext cx="572" cy="238"/>
            </a:xfrm>
            <a:custGeom>
              <a:avLst/>
              <a:gdLst>
                <a:gd name="T0" fmla="*/ 0 w 572"/>
                <a:gd name="T1" fmla="*/ 0 h 238"/>
                <a:gd name="T2" fmla="*/ 572 w 572"/>
                <a:gd name="T3" fmla="*/ 238 h 238"/>
                <a:gd name="T4" fmla="*/ 0 60000 65536"/>
                <a:gd name="T5" fmla="*/ 0 60000 65536"/>
              </a:gdLst>
              <a:ahLst/>
              <a:cxnLst>
                <a:cxn ang="T4">
                  <a:pos x="T0" y="T1"/>
                </a:cxn>
                <a:cxn ang="T5">
                  <a:pos x="T2" y="T3"/>
                </a:cxn>
              </a:cxnLst>
              <a:rect l="0" t="0" r="r" b="b"/>
              <a:pathLst>
                <a:path w="572" h="238">
                  <a:moveTo>
                    <a:pt x="0" y="0"/>
                  </a:moveTo>
                  <a:lnTo>
                    <a:pt x="572" y="238"/>
                  </a:lnTo>
                </a:path>
              </a:pathLst>
            </a:custGeom>
            <a:noFill/>
            <a:ln w="19050">
              <a:solidFill>
                <a:srgbClr val="B2B2B2"/>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4777" name="Line 168"/>
            <p:cNvSpPr>
              <a:spLocks noChangeShapeType="1"/>
            </p:cNvSpPr>
            <p:nvPr/>
          </p:nvSpPr>
          <p:spPr bwMode="auto">
            <a:xfrm flipV="1">
              <a:off x="2451" y="3072"/>
              <a:ext cx="0" cy="474"/>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78" name="Line 169"/>
            <p:cNvSpPr>
              <a:spLocks noChangeShapeType="1"/>
            </p:cNvSpPr>
            <p:nvPr/>
          </p:nvSpPr>
          <p:spPr bwMode="auto">
            <a:xfrm>
              <a:off x="1088" y="2953"/>
              <a:ext cx="0" cy="51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79" name="Freeform 170"/>
            <p:cNvSpPr>
              <a:spLocks/>
            </p:cNvSpPr>
            <p:nvPr/>
          </p:nvSpPr>
          <p:spPr bwMode="auto">
            <a:xfrm>
              <a:off x="1088" y="3330"/>
              <a:ext cx="574" cy="255"/>
            </a:xfrm>
            <a:custGeom>
              <a:avLst/>
              <a:gdLst>
                <a:gd name="T0" fmla="*/ 0 w 647"/>
                <a:gd name="T1" fmla="*/ 255 h 310"/>
                <a:gd name="T2" fmla="*/ 574 w 647"/>
                <a:gd name="T3" fmla="*/ 0 h 310"/>
                <a:gd name="T4" fmla="*/ 0 60000 65536"/>
                <a:gd name="T5" fmla="*/ 0 60000 65536"/>
              </a:gdLst>
              <a:ahLst/>
              <a:cxnLst>
                <a:cxn ang="T4">
                  <a:pos x="T0" y="T1"/>
                </a:cxn>
                <a:cxn ang="T5">
                  <a:pos x="T2" y="T3"/>
                </a:cxn>
              </a:cxnLst>
              <a:rect l="0" t="0" r="r" b="b"/>
              <a:pathLst>
                <a:path w="647" h="310">
                  <a:moveTo>
                    <a:pt x="0" y="310"/>
                  </a:moveTo>
                  <a:lnTo>
                    <a:pt x="647"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80" name="Freeform 171"/>
            <p:cNvSpPr>
              <a:spLocks/>
            </p:cNvSpPr>
            <p:nvPr/>
          </p:nvSpPr>
          <p:spPr bwMode="auto">
            <a:xfrm>
              <a:off x="1198" y="3020"/>
              <a:ext cx="571" cy="249"/>
            </a:xfrm>
            <a:custGeom>
              <a:avLst/>
              <a:gdLst>
                <a:gd name="T0" fmla="*/ 571 w 644"/>
                <a:gd name="T1" fmla="*/ 249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81" name="Freeform 172"/>
            <p:cNvSpPr>
              <a:spLocks/>
            </p:cNvSpPr>
            <p:nvPr/>
          </p:nvSpPr>
          <p:spPr bwMode="auto">
            <a:xfrm>
              <a:off x="1769" y="3014"/>
              <a:ext cx="569" cy="255"/>
            </a:xfrm>
            <a:custGeom>
              <a:avLst/>
              <a:gdLst>
                <a:gd name="T0" fmla="*/ 0 w 641"/>
                <a:gd name="T1" fmla="*/ 255 h 310"/>
                <a:gd name="T2" fmla="*/ 569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82" name="Freeform 173"/>
            <p:cNvSpPr>
              <a:spLocks/>
            </p:cNvSpPr>
            <p:nvPr/>
          </p:nvSpPr>
          <p:spPr bwMode="auto">
            <a:xfrm>
              <a:off x="1088" y="2633"/>
              <a:ext cx="569" cy="320"/>
            </a:xfrm>
            <a:custGeom>
              <a:avLst/>
              <a:gdLst>
                <a:gd name="T0" fmla="*/ 0 w 641"/>
                <a:gd name="T1" fmla="*/ 320 h 389"/>
                <a:gd name="T2" fmla="*/ 569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83" name="Freeform 174"/>
            <p:cNvSpPr>
              <a:spLocks/>
            </p:cNvSpPr>
            <p:nvPr/>
          </p:nvSpPr>
          <p:spPr bwMode="auto">
            <a:xfrm>
              <a:off x="1891" y="2639"/>
              <a:ext cx="560" cy="314"/>
            </a:xfrm>
            <a:custGeom>
              <a:avLst/>
              <a:gdLst>
                <a:gd name="T0" fmla="*/ 560 w 631"/>
                <a:gd name="T1" fmla="*/ 314 h 382"/>
                <a:gd name="T2" fmla="*/ 0 w 631"/>
                <a:gd name="T3" fmla="*/ 0 h 382"/>
                <a:gd name="T4" fmla="*/ 0 60000 65536"/>
                <a:gd name="T5" fmla="*/ 0 60000 65536"/>
              </a:gdLst>
              <a:ahLst/>
              <a:cxnLst>
                <a:cxn ang="T4">
                  <a:pos x="T0" y="T1"/>
                </a:cxn>
                <a:cxn ang="T5">
                  <a:pos x="T2" y="T3"/>
                </a:cxn>
              </a:cxnLst>
              <a:rect l="0" t="0" r="r" b="b"/>
              <a:pathLst>
                <a:path w="631" h="382">
                  <a:moveTo>
                    <a:pt x="631" y="382"/>
                  </a:moveTo>
                  <a:lnTo>
                    <a:pt x="0"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84" name="Oval 175"/>
            <p:cNvSpPr>
              <a:spLocks noChangeArrowheads="1"/>
            </p:cNvSpPr>
            <p:nvPr/>
          </p:nvSpPr>
          <p:spPr bwMode="auto">
            <a:xfrm>
              <a:off x="1642" y="3797"/>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a</a:t>
              </a:r>
            </a:p>
          </p:txBody>
        </p:sp>
        <p:sp>
          <p:nvSpPr>
            <p:cNvPr id="114785" name="Oval 176"/>
            <p:cNvSpPr>
              <a:spLocks noChangeArrowheads="1"/>
            </p:cNvSpPr>
            <p:nvPr/>
          </p:nvSpPr>
          <p:spPr bwMode="auto">
            <a:xfrm>
              <a:off x="916" y="3441"/>
              <a:ext cx="299"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b</a:t>
              </a:r>
            </a:p>
          </p:txBody>
        </p:sp>
        <p:sp>
          <p:nvSpPr>
            <p:cNvPr id="114786" name="Oval 177"/>
            <p:cNvSpPr>
              <a:spLocks noChangeArrowheads="1"/>
            </p:cNvSpPr>
            <p:nvPr/>
          </p:nvSpPr>
          <p:spPr bwMode="auto">
            <a:xfrm>
              <a:off x="2323" y="3441"/>
              <a:ext cx="273"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c</a:t>
              </a:r>
            </a:p>
          </p:txBody>
        </p:sp>
        <p:sp>
          <p:nvSpPr>
            <p:cNvPr id="114787" name="Oval 178"/>
            <p:cNvSpPr>
              <a:spLocks noChangeArrowheads="1"/>
            </p:cNvSpPr>
            <p:nvPr/>
          </p:nvSpPr>
          <p:spPr bwMode="auto">
            <a:xfrm>
              <a:off x="1642" y="3125"/>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d</a:t>
              </a:r>
            </a:p>
          </p:txBody>
        </p:sp>
        <p:sp>
          <p:nvSpPr>
            <p:cNvPr id="114788" name="Oval 179"/>
            <p:cNvSpPr>
              <a:spLocks noChangeArrowheads="1"/>
            </p:cNvSpPr>
            <p:nvPr/>
          </p:nvSpPr>
          <p:spPr bwMode="auto">
            <a:xfrm>
              <a:off x="916" y="2810"/>
              <a:ext cx="299"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e</a:t>
              </a:r>
            </a:p>
          </p:txBody>
        </p:sp>
        <p:sp>
          <p:nvSpPr>
            <p:cNvPr id="114789" name="Line 180"/>
            <p:cNvSpPr>
              <a:spLocks noChangeShapeType="1"/>
            </p:cNvSpPr>
            <p:nvPr/>
          </p:nvSpPr>
          <p:spPr bwMode="auto">
            <a:xfrm flipH="1">
              <a:off x="1216" y="2953"/>
              <a:ext cx="1235" cy="0"/>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90" name="Oval 181"/>
            <p:cNvSpPr>
              <a:spLocks noChangeArrowheads="1"/>
            </p:cNvSpPr>
            <p:nvPr/>
          </p:nvSpPr>
          <p:spPr bwMode="auto">
            <a:xfrm>
              <a:off x="1642" y="2454"/>
              <a:ext cx="282"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g</a:t>
              </a:r>
            </a:p>
          </p:txBody>
        </p:sp>
        <p:sp>
          <p:nvSpPr>
            <p:cNvPr id="114791" name="Oval 182"/>
            <p:cNvSpPr>
              <a:spLocks noChangeArrowheads="1"/>
            </p:cNvSpPr>
            <p:nvPr/>
          </p:nvSpPr>
          <p:spPr bwMode="auto">
            <a:xfrm>
              <a:off x="2323" y="2810"/>
              <a:ext cx="273"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f</a:t>
              </a:r>
            </a:p>
          </p:txBody>
        </p:sp>
        <p:sp>
          <p:nvSpPr>
            <p:cNvPr id="114792" name="Rectangle 183"/>
            <p:cNvSpPr>
              <a:spLocks noChangeArrowheads="1"/>
            </p:cNvSpPr>
            <p:nvPr/>
          </p:nvSpPr>
          <p:spPr bwMode="auto">
            <a:xfrm>
              <a:off x="1292" y="259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3</a:t>
              </a:r>
            </a:p>
          </p:txBody>
        </p:sp>
        <p:sp>
          <p:nvSpPr>
            <p:cNvPr id="114793" name="Rectangle 184"/>
            <p:cNvSpPr>
              <a:spLocks noChangeArrowheads="1"/>
            </p:cNvSpPr>
            <p:nvPr/>
          </p:nvSpPr>
          <p:spPr bwMode="auto">
            <a:xfrm>
              <a:off x="2068" y="259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2</a:t>
              </a:r>
            </a:p>
          </p:txBody>
        </p:sp>
        <p:sp>
          <p:nvSpPr>
            <p:cNvPr id="114794" name="Rectangle 185"/>
            <p:cNvSpPr>
              <a:spLocks noChangeArrowheads="1"/>
            </p:cNvSpPr>
            <p:nvPr/>
          </p:nvSpPr>
          <p:spPr bwMode="auto">
            <a:xfrm>
              <a:off x="1684" y="2736"/>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a:t>
              </a:r>
            </a:p>
          </p:txBody>
        </p:sp>
        <p:sp>
          <p:nvSpPr>
            <p:cNvPr id="114795" name="Rectangle 186"/>
            <p:cNvSpPr>
              <a:spLocks noChangeArrowheads="1"/>
            </p:cNvSpPr>
            <p:nvPr/>
          </p:nvSpPr>
          <p:spPr bwMode="auto">
            <a:xfrm>
              <a:off x="820" y="3120"/>
              <a:ext cx="28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t>10</a:t>
              </a:r>
            </a:p>
          </p:txBody>
        </p:sp>
        <p:sp>
          <p:nvSpPr>
            <p:cNvPr id="114796" name="Rectangle 187"/>
            <p:cNvSpPr>
              <a:spLocks noChangeArrowheads="1"/>
            </p:cNvSpPr>
            <p:nvPr/>
          </p:nvSpPr>
          <p:spPr bwMode="auto">
            <a:xfrm>
              <a:off x="1292" y="307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0</a:t>
              </a:r>
            </a:p>
          </p:txBody>
        </p:sp>
        <p:sp>
          <p:nvSpPr>
            <p:cNvPr id="114797" name="Rectangle 188"/>
            <p:cNvSpPr>
              <a:spLocks noChangeArrowheads="1"/>
            </p:cNvSpPr>
            <p:nvPr/>
          </p:nvSpPr>
          <p:spPr bwMode="auto">
            <a:xfrm>
              <a:off x="2058" y="307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5</a:t>
              </a:r>
            </a:p>
          </p:txBody>
        </p:sp>
        <p:sp>
          <p:nvSpPr>
            <p:cNvPr id="114798" name="Rectangle 189"/>
            <p:cNvSpPr>
              <a:spLocks noChangeArrowheads="1"/>
            </p:cNvSpPr>
            <p:nvPr/>
          </p:nvSpPr>
          <p:spPr bwMode="auto">
            <a:xfrm>
              <a:off x="2437" y="3190"/>
              <a:ext cx="2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12</a:t>
              </a:r>
            </a:p>
          </p:txBody>
        </p:sp>
        <p:sp>
          <p:nvSpPr>
            <p:cNvPr id="114799" name="Rectangle 190"/>
            <p:cNvSpPr>
              <a:spLocks noChangeArrowheads="1"/>
            </p:cNvSpPr>
            <p:nvPr/>
          </p:nvSpPr>
          <p:spPr bwMode="auto">
            <a:xfrm>
              <a:off x="1376" y="3387"/>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8</a:t>
              </a:r>
            </a:p>
          </p:txBody>
        </p:sp>
        <p:sp>
          <p:nvSpPr>
            <p:cNvPr id="114800" name="Rectangle 191"/>
            <p:cNvSpPr>
              <a:spLocks noChangeArrowheads="1"/>
            </p:cNvSpPr>
            <p:nvPr/>
          </p:nvSpPr>
          <p:spPr bwMode="auto">
            <a:xfrm>
              <a:off x="1718" y="350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4</a:t>
              </a:r>
            </a:p>
          </p:txBody>
        </p:sp>
        <p:sp>
          <p:nvSpPr>
            <p:cNvPr id="114801" name="Rectangle 192"/>
            <p:cNvSpPr>
              <a:spLocks noChangeArrowheads="1"/>
            </p:cNvSpPr>
            <p:nvPr/>
          </p:nvSpPr>
          <p:spPr bwMode="auto">
            <a:xfrm>
              <a:off x="1972" y="334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7</a:t>
              </a:r>
            </a:p>
          </p:txBody>
        </p:sp>
        <p:sp>
          <p:nvSpPr>
            <p:cNvPr id="114802" name="Rectangle 193"/>
            <p:cNvSpPr>
              <a:spLocks noChangeArrowheads="1"/>
            </p:cNvSpPr>
            <p:nvPr/>
          </p:nvSpPr>
          <p:spPr bwMode="auto">
            <a:xfrm>
              <a:off x="1248" y="3703"/>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6</a:t>
              </a:r>
            </a:p>
          </p:txBody>
        </p:sp>
        <p:sp>
          <p:nvSpPr>
            <p:cNvPr id="114803" name="Rectangle 194"/>
            <p:cNvSpPr>
              <a:spLocks noChangeArrowheads="1"/>
            </p:cNvSpPr>
            <p:nvPr/>
          </p:nvSpPr>
          <p:spPr bwMode="auto">
            <a:xfrm>
              <a:off x="2058" y="3743"/>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14804" name="Rectangle 195"/>
            <p:cNvSpPr>
              <a:spLocks noChangeArrowheads="1"/>
            </p:cNvSpPr>
            <p:nvPr/>
          </p:nvSpPr>
          <p:spPr bwMode="auto">
            <a:xfrm>
              <a:off x="2365" y="3695"/>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3</a:t>
              </a:r>
            </a:p>
          </p:txBody>
        </p:sp>
        <p:sp>
          <p:nvSpPr>
            <p:cNvPr id="114805" name="Rectangle 196"/>
            <p:cNvSpPr>
              <a:spLocks noChangeArrowheads="1"/>
            </p:cNvSpPr>
            <p:nvPr/>
          </p:nvSpPr>
          <p:spPr bwMode="auto">
            <a:xfrm>
              <a:off x="2413" y="2591"/>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9</a:t>
              </a:r>
            </a:p>
          </p:txBody>
        </p:sp>
        <p:sp>
          <p:nvSpPr>
            <p:cNvPr id="114806" name="Rectangle 197"/>
            <p:cNvSpPr>
              <a:spLocks noChangeArrowheads="1"/>
            </p:cNvSpPr>
            <p:nvPr/>
          </p:nvSpPr>
          <p:spPr bwMode="auto">
            <a:xfrm>
              <a:off x="1891" y="2355"/>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7</a:t>
              </a:r>
            </a:p>
          </p:txBody>
        </p:sp>
        <p:sp>
          <p:nvSpPr>
            <p:cNvPr id="114807" name="Rectangle 198"/>
            <p:cNvSpPr>
              <a:spLocks noChangeArrowheads="1"/>
            </p:cNvSpPr>
            <p:nvPr/>
          </p:nvSpPr>
          <p:spPr bwMode="auto">
            <a:xfrm>
              <a:off x="835" y="2643"/>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sp>
          <p:nvSpPr>
            <p:cNvPr id="114808" name="Rectangle 199"/>
            <p:cNvSpPr>
              <a:spLocks noChangeArrowheads="1"/>
            </p:cNvSpPr>
            <p:nvPr/>
          </p:nvSpPr>
          <p:spPr bwMode="auto">
            <a:xfrm>
              <a:off x="799" y="3699"/>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14</a:t>
              </a:r>
            </a:p>
          </p:txBody>
        </p:sp>
        <p:sp>
          <p:nvSpPr>
            <p:cNvPr id="114809" name="Rectangle 200"/>
            <p:cNvSpPr>
              <a:spLocks noChangeArrowheads="1"/>
            </p:cNvSpPr>
            <p:nvPr/>
          </p:nvSpPr>
          <p:spPr bwMode="auto">
            <a:xfrm>
              <a:off x="1870" y="393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0</a:t>
              </a:r>
            </a:p>
          </p:txBody>
        </p:sp>
        <p:sp>
          <p:nvSpPr>
            <p:cNvPr id="114810" name="Text Box 201"/>
            <p:cNvSpPr txBox="1">
              <a:spLocks noChangeArrowheads="1"/>
            </p:cNvSpPr>
            <p:nvPr/>
          </p:nvSpPr>
          <p:spPr bwMode="auto">
            <a:xfrm>
              <a:off x="100" y="2448"/>
              <a:ext cx="75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4) Scan e:</a:t>
              </a:r>
            </a:p>
          </p:txBody>
        </p:sp>
        <p:sp>
          <p:nvSpPr>
            <p:cNvPr id="114811" name="Rectangle 202"/>
            <p:cNvSpPr>
              <a:spLocks noChangeArrowheads="1"/>
            </p:cNvSpPr>
            <p:nvPr/>
          </p:nvSpPr>
          <p:spPr bwMode="auto">
            <a:xfrm>
              <a:off x="1747" y="2931"/>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grpSp>
      <p:grpSp>
        <p:nvGrpSpPr>
          <p:cNvPr id="198901" name="Group 245"/>
          <p:cNvGrpSpPr>
            <a:grpSpLocks/>
          </p:cNvGrpSpPr>
          <p:nvPr/>
        </p:nvGrpSpPr>
        <p:grpSpPr bwMode="auto">
          <a:xfrm>
            <a:off x="4724400" y="685800"/>
            <a:ext cx="4129088" cy="2870200"/>
            <a:chOff x="92" y="432"/>
            <a:chExt cx="2601" cy="1808"/>
          </a:xfrm>
        </p:grpSpPr>
        <p:sp>
          <p:nvSpPr>
            <p:cNvPr id="114734" name="Freeform 206"/>
            <p:cNvSpPr>
              <a:spLocks/>
            </p:cNvSpPr>
            <p:nvPr/>
          </p:nvSpPr>
          <p:spPr bwMode="auto">
            <a:xfrm>
              <a:off x="1808" y="1740"/>
              <a:ext cx="538" cy="278"/>
            </a:xfrm>
            <a:custGeom>
              <a:avLst/>
              <a:gdLst>
                <a:gd name="T0" fmla="*/ 0 w 606"/>
                <a:gd name="T1" fmla="*/ 278 h 338"/>
                <a:gd name="T2" fmla="*/ 538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35" name="Line 207"/>
            <p:cNvSpPr>
              <a:spLocks noChangeShapeType="1"/>
            </p:cNvSpPr>
            <p:nvPr/>
          </p:nvSpPr>
          <p:spPr bwMode="auto">
            <a:xfrm flipV="1">
              <a:off x="1765" y="1490"/>
              <a:ext cx="0" cy="5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36" name="Freeform 208"/>
            <p:cNvSpPr>
              <a:spLocks/>
            </p:cNvSpPr>
            <p:nvPr/>
          </p:nvSpPr>
          <p:spPr bwMode="auto">
            <a:xfrm>
              <a:off x="1084" y="1662"/>
              <a:ext cx="556" cy="329"/>
            </a:xfrm>
            <a:custGeom>
              <a:avLst/>
              <a:gdLst>
                <a:gd name="T0" fmla="*/ 0 w 627"/>
                <a:gd name="T1" fmla="*/ 0 h 399"/>
                <a:gd name="T2" fmla="*/ 556 w 627"/>
                <a:gd name="T3" fmla="*/ 329 h 399"/>
                <a:gd name="T4" fmla="*/ 0 60000 65536"/>
                <a:gd name="T5" fmla="*/ 0 60000 65536"/>
              </a:gdLst>
              <a:ahLst/>
              <a:cxnLst>
                <a:cxn ang="T4">
                  <a:pos x="T0" y="T1"/>
                </a:cxn>
                <a:cxn ang="T5">
                  <a:pos x="T2" y="T3"/>
                </a:cxn>
              </a:cxnLst>
              <a:rect l="0" t="0" r="r" b="b"/>
              <a:pathLst>
                <a:path w="627" h="399">
                  <a:moveTo>
                    <a:pt x="0" y="0"/>
                  </a:moveTo>
                  <a:lnTo>
                    <a:pt x="627" y="399"/>
                  </a:lnTo>
                </a:path>
              </a:pathLst>
            </a:custGeom>
            <a:solidFill>
              <a:srgbClr val="B2B2B2"/>
            </a:solidFill>
            <a:ln w="19050" cap="flat" cmpd="sng">
              <a:solidFill>
                <a:srgbClr val="B2B2B2"/>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37" name="Freeform 209"/>
            <p:cNvSpPr>
              <a:spLocks/>
            </p:cNvSpPr>
            <p:nvPr/>
          </p:nvSpPr>
          <p:spPr bwMode="auto">
            <a:xfrm>
              <a:off x="1765" y="1346"/>
              <a:ext cx="572" cy="238"/>
            </a:xfrm>
            <a:custGeom>
              <a:avLst/>
              <a:gdLst>
                <a:gd name="T0" fmla="*/ 0 w 572"/>
                <a:gd name="T1" fmla="*/ 0 h 238"/>
                <a:gd name="T2" fmla="*/ 572 w 572"/>
                <a:gd name="T3" fmla="*/ 238 h 238"/>
                <a:gd name="T4" fmla="*/ 0 60000 65536"/>
                <a:gd name="T5" fmla="*/ 0 60000 65536"/>
              </a:gdLst>
              <a:ahLst/>
              <a:cxnLst>
                <a:cxn ang="T4">
                  <a:pos x="T0" y="T1"/>
                </a:cxn>
                <a:cxn ang="T5">
                  <a:pos x="T2" y="T3"/>
                </a:cxn>
              </a:cxnLst>
              <a:rect l="0" t="0" r="r" b="b"/>
              <a:pathLst>
                <a:path w="572" h="238">
                  <a:moveTo>
                    <a:pt x="0" y="0"/>
                  </a:moveTo>
                  <a:lnTo>
                    <a:pt x="572" y="238"/>
                  </a:lnTo>
                </a:path>
              </a:pathLst>
            </a:custGeom>
            <a:noFill/>
            <a:ln w="19050">
              <a:solidFill>
                <a:srgbClr val="B2B2B2"/>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4738" name="Line 210"/>
            <p:cNvSpPr>
              <a:spLocks noChangeShapeType="1"/>
            </p:cNvSpPr>
            <p:nvPr/>
          </p:nvSpPr>
          <p:spPr bwMode="auto">
            <a:xfrm flipV="1">
              <a:off x="2447" y="1149"/>
              <a:ext cx="0" cy="474"/>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39" name="Line 211"/>
            <p:cNvSpPr>
              <a:spLocks noChangeShapeType="1"/>
            </p:cNvSpPr>
            <p:nvPr/>
          </p:nvSpPr>
          <p:spPr bwMode="auto">
            <a:xfrm>
              <a:off x="1084" y="1030"/>
              <a:ext cx="0" cy="51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40" name="Freeform 212"/>
            <p:cNvSpPr>
              <a:spLocks/>
            </p:cNvSpPr>
            <p:nvPr/>
          </p:nvSpPr>
          <p:spPr bwMode="auto">
            <a:xfrm>
              <a:off x="1084" y="1407"/>
              <a:ext cx="574" cy="255"/>
            </a:xfrm>
            <a:custGeom>
              <a:avLst/>
              <a:gdLst>
                <a:gd name="T0" fmla="*/ 0 w 647"/>
                <a:gd name="T1" fmla="*/ 255 h 310"/>
                <a:gd name="T2" fmla="*/ 574 w 647"/>
                <a:gd name="T3" fmla="*/ 0 h 310"/>
                <a:gd name="T4" fmla="*/ 0 60000 65536"/>
                <a:gd name="T5" fmla="*/ 0 60000 65536"/>
              </a:gdLst>
              <a:ahLst/>
              <a:cxnLst>
                <a:cxn ang="T4">
                  <a:pos x="T0" y="T1"/>
                </a:cxn>
                <a:cxn ang="T5">
                  <a:pos x="T2" y="T3"/>
                </a:cxn>
              </a:cxnLst>
              <a:rect l="0" t="0" r="r" b="b"/>
              <a:pathLst>
                <a:path w="647" h="310">
                  <a:moveTo>
                    <a:pt x="0" y="310"/>
                  </a:moveTo>
                  <a:lnTo>
                    <a:pt x="647"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41" name="Freeform 213"/>
            <p:cNvSpPr>
              <a:spLocks/>
            </p:cNvSpPr>
            <p:nvPr/>
          </p:nvSpPr>
          <p:spPr bwMode="auto">
            <a:xfrm>
              <a:off x="1194" y="1097"/>
              <a:ext cx="571" cy="249"/>
            </a:xfrm>
            <a:custGeom>
              <a:avLst/>
              <a:gdLst>
                <a:gd name="T0" fmla="*/ 571 w 644"/>
                <a:gd name="T1" fmla="*/ 249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42" name="Freeform 214"/>
            <p:cNvSpPr>
              <a:spLocks/>
            </p:cNvSpPr>
            <p:nvPr/>
          </p:nvSpPr>
          <p:spPr bwMode="auto">
            <a:xfrm>
              <a:off x="1765" y="1091"/>
              <a:ext cx="569" cy="255"/>
            </a:xfrm>
            <a:custGeom>
              <a:avLst/>
              <a:gdLst>
                <a:gd name="T0" fmla="*/ 0 w 641"/>
                <a:gd name="T1" fmla="*/ 255 h 310"/>
                <a:gd name="T2" fmla="*/ 569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43" name="Freeform 215"/>
            <p:cNvSpPr>
              <a:spLocks/>
            </p:cNvSpPr>
            <p:nvPr/>
          </p:nvSpPr>
          <p:spPr bwMode="auto">
            <a:xfrm>
              <a:off x="1084" y="710"/>
              <a:ext cx="569" cy="320"/>
            </a:xfrm>
            <a:custGeom>
              <a:avLst/>
              <a:gdLst>
                <a:gd name="T0" fmla="*/ 0 w 641"/>
                <a:gd name="T1" fmla="*/ 320 h 389"/>
                <a:gd name="T2" fmla="*/ 569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44" name="Freeform 216"/>
            <p:cNvSpPr>
              <a:spLocks/>
            </p:cNvSpPr>
            <p:nvPr/>
          </p:nvSpPr>
          <p:spPr bwMode="auto">
            <a:xfrm>
              <a:off x="1887" y="716"/>
              <a:ext cx="560" cy="314"/>
            </a:xfrm>
            <a:custGeom>
              <a:avLst/>
              <a:gdLst>
                <a:gd name="T0" fmla="*/ 560 w 631"/>
                <a:gd name="T1" fmla="*/ 314 h 382"/>
                <a:gd name="T2" fmla="*/ 0 w 631"/>
                <a:gd name="T3" fmla="*/ 0 h 382"/>
                <a:gd name="T4" fmla="*/ 0 60000 65536"/>
                <a:gd name="T5" fmla="*/ 0 60000 65536"/>
              </a:gdLst>
              <a:ahLst/>
              <a:cxnLst>
                <a:cxn ang="T4">
                  <a:pos x="T0" y="T1"/>
                </a:cxn>
                <a:cxn ang="T5">
                  <a:pos x="T2" y="T3"/>
                </a:cxn>
              </a:cxnLst>
              <a:rect l="0" t="0" r="r" b="b"/>
              <a:pathLst>
                <a:path w="631" h="382">
                  <a:moveTo>
                    <a:pt x="631" y="382"/>
                  </a:moveTo>
                  <a:lnTo>
                    <a:pt x="0"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45" name="Oval 217"/>
            <p:cNvSpPr>
              <a:spLocks noChangeArrowheads="1"/>
            </p:cNvSpPr>
            <p:nvPr/>
          </p:nvSpPr>
          <p:spPr bwMode="auto">
            <a:xfrm>
              <a:off x="1638" y="1874"/>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a</a:t>
              </a:r>
            </a:p>
          </p:txBody>
        </p:sp>
        <p:sp>
          <p:nvSpPr>
            <p:cNvPr id="114746" name="Oval 218"/>
            <p:cNvSpPr>
              <a:spLocks noChangeArrowheads="1"/>
            </p:cNvSpPr>
            <p:nvPr/>
          </p:nvSpPr>
          <p:spPr bwMode="auto">
            <a:xfrm>
              <a:off x="912" y="1518"/>
              <a:ext cx="299"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b</a:t>
              </a:r>
            </a:p>
          </p:txBody>
        </p:sp>
        <p:sp>
          <p:nvSpPr>
            <p:cNvPr id="114747" name="Oval 219"/>
            <p:cNvSpPr>
              <a:spLocks noChangeArrowheads="1"/>
            </p:cNvSpPr>
            <p:nvPr/>
          </p:nvSpPr>
          <p:spPr bwMode="auto">
            <a:xfrm>
              <a:off x="2319" y="1518"/>
              <a:ext cx="273"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c</a:t>
              </a:r>
            </a:p>
          </p:txBody>
        </p:sp>
        <p:sp>
          <p:nvSpPr>
            <p:cNvPr id="114748" name="Oval 220"/>
            <p:cNvSpPr>
              <a:spLocks noChangeArrowheads="1"/>
            </p:cNvSpPr>
            <p:nvPr/>
          </p:nvSpPr>
          <p:spPr bwMode="auto">
            <a:xfrm>
              <a:off x="1638" y="1202"/>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d</a:t>
              </a:r>
            </a:p>
          </p:txBody>
        </p:sp>
        <p:sp>
          <p:nvSpPr>
            <p:cNvPr id="114749" name="Oval 221"/>
            <p:cNvSpPr>
              <a:spLocks noChangeArrowheads="1"/>
            </p:cNvSpPr>
            <p:nvPr/>
          </p:nvSpPr>
          <p:spPr bwMode="auto">
            <a:xfrm>
              <a:off x="912" y="887"/>
              <a:ext cx="299"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e</a:t>
              </a:r>
            </a:p>
          </p:txBody>
        </p:sp>
        <p:sp>
          <p:nvSpPr>
            <p:cNvPr id="114750" name="Line 222"/>
            <p:cNvSpPr>
              <a:spLocks noChangeShapeType="1"/>
            </p:cNvSpPr>
            <p:nvPr/>
          </p:nvSpPr>
          <p:spPr bwMode="auto">
            <a:xfrm flipH="1">
              <a:off x="1212" y="1030"/>
              <a:ext cx="1235" cy="0"/>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51" name="Oval 223"/>
            <p:cNvSpPr>
              <a:spLocks noChangeArrowheads="1"/>
            </p:cNvSpPr>
            <p:nvPr/>
          </p:nvSpPr>
          <p:spPr bwMode="auto">
            <a:xfrm>
              <a:off x="1638" y="531"/>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g</a:t>
              </a:r>
            </a:p>
          </p:txBody>
        </p:sp>
        <p:sp>
          <p:nvSpPr>
            <p:cNvPr id="114752" name="Oval 224"/>
            <p:cNvSpPr>
              <a:spLocks noChangeArrowheads="1"/>
            </p:cNvSpPr>
            <p:nvPr/>
          </p:nvSpPr>
          <p:spPr bwMode="auto">
            <a:xfrm>
              <a:off x="2319" y="887"/>
              <a:ext cx="273"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f</a:t>
              </a:r>
            </a:p>
          </p:txBody>
        </p:sp>
        <p:sp>
          <p:nvSpPr>
            <p:cNvPr id="114753" name="Rectangle 225"/>
            <p:cNvSpPr>
              <a:spLocks noChangeArrowheads="1"/>
            </p:cNvSpPr>
            <p:nvPr/>
          </p:nvSpPr>
          <p:spPr bwMode="auto">
            <a:xfrm>
              <a:off x="1288" y="67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3</a:t>
              </a:r>
            </a:p>
          </p:txBody>
        </p:sp>
        <p:sp>
          <p:nvSpPr>
            <p:cNvPr id="114754" name="Rectangle 226"/>
            <p:cNvSpPr>
              <a:spLocks noChangeArrowheads="1"/>
            </p:cNvSpPr>
            <p:nvPr/>
          </p:nvSpPr>
          <p:spPr bwMode="auto">
            <a:xfrm>
              <a:off x="2064" y="669"/>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2</a:t>
              </a:r>
            </a:p>
          </p:txBody>
        </p:sp>
        <p:sp>
          <p:nvSpPr>
            <p:cNvPr id="114755" name="Rectangle 227"/>
            <p:cNvSpPr>
              <a:spLocks noChangeArrowheads="1"/>
            </p:cNvSpPr>
            <p:nvPr/>
          </p:nvSpPr>
          <p:spPr bwMode="auto">
            <a:xfrm>
              <a:off x="1680" y="813"/>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a:t>
              </a:r>
            </a:p>
          </p:txBody>
        </p:sp>
        <p:sp>
          <p:nvSpPr>
            <p:cNvPr id="114756" name="Rectangle 228"/>
            <p:cNvSpPr>
              <a:spLocks noChangeArrowheads="1"/>
            </p:cNvSpPr>
            <p:nvPr/>
          </p:nvSpPr>
          <p:spPr bwMode="auto">
            <a:xfrm>
              <a:off x="816" y="1197"/>
              <a:ext cx="28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t>10</a:t>
              </a:r>
            </a:p>
          </p:txBody>
        </p:sp>
        <p:sp>
          <p:nvSpPr>
            <p:cNvPr id="114757" name="Rectangle 229"/>
            <p:cNvSpPr>
              <a:spLocks noChangeArrowheads="1"/>
            </p:cNvSpPr>
            <p:nvPr/>
          </p:nvSpPr>
          <p:spPr bwMode="auto">
            <a:xfrm>
              <a:off x="1288" y="1149"/>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0</a:t>
              </a:r>
            </a:p>
          </p:txBody>
        </p:sp>
        <p:sp>
          <p:nvSpPr>
            <p:cNvPr id="114758" name="Rectangle 230"/>
            <p:cNvSpPr>
              <a:spLocks noChangeArrowheads="1"/>
            </p:cNvSpPr>
            <p:nvPr/>
          </p:nvSpPr>
          <p:spPr bwMode="auto">
            <a:xfrm>
              <a:off x="2054" y="1149"/>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5</a:t>
              </a:r>
            </a:p>
          </p:txBody>
        </p:sp>
        <p:sp>
          <p:nvSpPr>
            <p:cNvPr id="114759" name="Rectangle 231"/>
            <p:cNvSpPr>
              <a:spLocks noChangeArrowheads="1"/>
            </p:cNvSpPr>
            <p:nvPr/>
          </p:nvSpPr>
          <p:spPr bwMode="auto">
            <a:xfrm>
              <a:off x="2433" y="1267"/>
              <a:ext cx="2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12</a:t>
              </a:r>
            </a:p>
          </p:txBody>
        </p:sp>
        <p:sp>
          <p:nvSpPr>
            <p:cNvPr id="114760" name="Rectangle 232"/>
            <p:cNvSpPr>
              <a:spLocks noChangeArrowheads="1"/>
            </p:cNvSpPr>
            <p:nvPr/>
          </p:nvSpPr>
          <p:spPr bwMode="auto">
            <a:xfrm>
              <a:off x="1372" y="146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8</a:t>
              </a:r>
            </a:p>
          </p:txBody>
        </p:sp>
        <p:sp>
          <p:nvSpPr>
            <p:cNvPr id="114761" name="Rectangle 233"/>
            <p:cNvSpPr>
              <a:spLocks noChangeArrowheads="1"/>
            </p:cNvSpPr>
            <p:nvPr/>
          </p:nvSpPr>
          <p:spPr bwMode="auto">
            <a:xfrm>
              <a:off x="1714" y="158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4</a:t>
              </a:r>
            </a:p>
          </p:txBody>
        </p:sp>
        <p:sp>
          <p:nvSpPr>
            <p:cNvPr id="114762" name="Rectangle 234"/>
            <p:cNvSpPr>
              <a:spLocks noChangeArrowheads="1"/>
            </p:cNvSpPr>
            <p:nvPr/>
          </p:nvSpPr>
          <p:spPr bwMode="auto">
            <a:xfrm>
              <a:off x="1968" y="142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7</a:t>
              </a:r>
            </a:p>
          </p:txBody>
        </p:sp>
        <p:sp>
          <p:nvSpPr>
            <p:cNvPr id="114763" name="Rectangle 235"/>
            <p:cNvSpPr>
              <a:spLocks noChangeArrowheads="1"/>
            </p:cNvSpPr>
            <p:nvPr/>
          </p:nvSpPr>
          <p:spPr bwMode="auto">
            <a:xfrm>
              <a:off x="1244" y="178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6</a:t>
              </a:r>
            </a:p>
          </p:txBody>
        </p:sp>
        <p:sp>
          <p:nvSpPr>
            <p:cNvPr id="114764" name="Rectangle 236"/>
            <p:cNvSpPr>
              <a:spLocks noChangeArrowheads="1"/>
            </p:cNvSpPr>
            <p:nvPr/>
          </p:nvSpPr>
          <p:spPr bwMode="auto">
            <a:xfrm>
              <a:off x="2054" y="182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14765" name="Rectangle 237"/>
            <p:cNvSpPr>
              <a:spLocks noChangeArrowheads="1"/>
            </p:cNvSpPr>
            <p:nvPr/>
          </p:nvSpPr>
          <p:spPr bwMode="auto">
            <a:xfrm>
              <a:off x="2361" y="177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3</a:t>
              </a:r>
            </a:p>
          </p:txBody>
        </p:sp>
        <p:sp>
          <p:nvSpPr>
            <p:cNvPr id="114766" name="Rectangle 238"/>
            <p:cNvSpPr>
              <a:spLocks noChangeArrowheads="1"/>
            </p:cNvSpPr>
            <p:nvPr/>
          </p:nvSpPr>
          <p:spPr bwMode="auto">
            <a:xfrm>
              <a:off x="2409" y="66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9</a:t>
              </a:r>
            </a:p>
          </p:txBody>
        </p:sp>
        <p:sp>
          <p:nvSpPr>
            <p:cNvPr id="114767" name="Rectangle 239"/>
            <p:cNvSpPr>
              <a:spLocks noChangeArrowheads="1"/>
            </p:cNvSpPr>
            <p:nvPr/>
          </p:nvSpPr>
          <p:spPr bwMode="auto">
            <a:xfrm>
              <a:off x="1887" y="43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7</a:t>
              </a:r>
            </a:p>
          </p:txBody>
        </p:sp>
        <p:sp>
          <p:nvSpPr>
            <p:cNvPr id="114768" name="Rectangle 240"/>
            <p:cNvSpPr>
              <a:spLocks noChangeArrowheads="1"/>
            </p:cNvSpPr>
            <p:nvPr/>
          </p:nvSpPr>
          <p:spPr bwMode="auto">
            <a:xfrm>
              <a:off x="831" y="72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sp>
          <p:nvSpPr>
            <p:cNvPr id="114769" name="Rectangle 241"/>
            <p:cNvSpPr>
              <a:spLocks noChangeArrowheads="1"/>
            </p:cNvSpPr>
            <p:nvPr/>
          </p:nvSpPr>
          <p:spPr bwMode="auto">
            <a:xfrm>
              <a:off x="795" y="1776"/>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14</a:t>
              </a:r>
            </a:p>
          </p:txBody>
        </p:sp>
        <p:sp>
          <p:nvSpPr>
            <p:cNvPr id="114770" name="Rectangle 242"/>
            <p:cNvSpPr>
              <a:spLocks noChangeArrowheads="1"/>
            </p:cNvSpPr>
            <p:nvPr/>
          </p:nvSpPr>
          <p:spPr bwMode="auto">
            <a:xfrm>
              <a:off x="1866" y="2009"/>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0</a:t>
              </a:r>
            </a:p>
          </p:txBody>
        </p:sp>
        <p:sp>
          <p:nvSpPr>
            <p:cNvPr id="114771" name="Text Box 243"/>
            <p:cNvSpPr txBox="1">
              <a:spLocks noChangeArrowheads="1"/>
            </p:cNvSpPr>
            <p:nvPr/>
          </p:nvSpPr>
          <p:spPr bwMode="auto">
            <a:xfrm>
              <a:off x="92" y="525"/>
              <a:ext cx="7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5) Scan g:</a:t>
              </a:r>
            </a:p>
          </p:txBody>
        </p:sp>
        <p:sp>
          <p:nvSpPr>
            <p:cNvPr id="114772" name="Rectangle 244"/>
            <p:cNvSpPr>
              <a:spLocks noChangeArrowheads="1"/>
            </p:cNvSpPr>
            <p:nvPr/>
          </p:nvSpPr>
          <p:spPr bwMode="auto">
            <a:xfrm>
              <a:off x="1743" y="100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grpSp>
      <p:grpSp>
        <p:nvGrpSpPr>
          <p:cNvPr id="198942" name="Group 286"/>
          <p:cNvGrpSpPr>
            <a:grpSpLocks/>
          </p:cNvGrpSpPr>
          <p:nvPr/>
        </p:nvGrpSpPr>
        <p:grpSpPr bwMode="auto">
          <a:xfrm>
            <a:off x="4800600" y="3733800"/>
            <a:ext cx="4108450" cy="2870200"/>
            <a:chOff x="3037" y="432"/>
            <a:chExt cx="2588" cy="1808"/>
          </a:xfrm>
        </p:grpSpPr>
        <p:sp>
          <p:nvSpPr>
            <p:cNvPr id="114695" name="Freeform 247"/>
            <p:cNvSpPr>
              <a:spLocks/>
            </p:cNvSpPr>
            <p:nvPr/>
          </p:nvSpPr>
          <p:spPr bwMode="auto">
            <a:xfrm>
              <a:off x="4740" y="1740"/>
              <a:ext cx="538" cy="278"/>
            </a:xfrm>
            <a:custGeom>
              <a:avLst/>
              <a:gdLst>
                <a:gd name="T0" fmla="*/ 0 w 606"/>
                <a:gd name="T1" fmla="*/ 278 h 338"/>
                <a:gd name="T2" fmla="*/ 538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696" name="Line 248"/>
            <p:cNvSpPr>
              <a:spLocks noChangeShapeType="1"/>
            </p:cNvSpPr>
            <p:nvPr/>
          </p:nvSpPr>
          <p:spPr bwMode="auto">
            <a:xfrm flipV="1">
              <a:off x="4697" y="1490"/>
              <a:ext cx="0" cy="5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697" name="Freeform 249"/>
            <p:cNvSpPr>
              <a:spLocks/>
            </p:cNvSpPr>
            <p:nvPr/>
          </p:nvSpPr>
          <p:spPr bwMode="auto">
            <a:xfrm>
              <a:off x="4016" y="1662"/>
              <a:ext cx="556" cy="329"/>
            </a:xfrm>
            <a:custGeom>
              <a:avLst/>
              <a:gdLst>
                <a:gd name="T0" fmla="*/ 0 w 627"/>
                <a:gd name="T1" fmla="*/ 0 h 399"/>
                <a:gd name="T2" fmla="*/ 556 w 627"/>
                <a:gd name="T3" fmla="*/ 329 h 399"/>
                <a:gd name="T4" fmla="*/ 0 60000 65536"/>
                <a:gd name="T5" fmla="*/ 0 60000 65536"/>
              </a:gdLst>
              <a:ahLst/>
              <a:cxnLst>
                <a:cxn ang="T4">
                  <a:pos x="T0" y="T1"/>
                </a:cxn>
                <a:cxn ang="T5">
                  <a:pos x="T2" y="T3"/>
                </a:cxn>
              </a:cxnLst>
              <a:rect l="0" t="0" r="r" b="b"/>
              <a:pathLst>
                <a:path w="627" h="399">
                  <a:moveTo>
                    <a:pt x="0" y="0"/>
                  </a:moveTo>
                  <a:lnTo>
                    <a:pt x="627" y="399"/>
                  </a:lnTo>
                </a:path>
              </a:pathLst>
            </a:custGeom>
            <a:solidFill>
              <a:srgbClr val="B2B2B2"/>
            </a:solidFill>
            <a:ln w="19050" cap="flat" cmpd="sng">
              <a:solidFill>
                <a:srgbClr val="B2B2B2"/>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698" name="Freeform 250"/>
            <p:cNvSpPr>
              <a:spLocks/>
            </p:cNvSpPr>
            <p:nvPr/>
          </p:nvSpPr>
          <p:spPr bwMode="auto">
            <a:xfrm>
              <a:off x="4697" y="1346"/>
              <a:ext cx="572" cy="238"/>
            </a:xfrm>
            <a:custGeom>
              <a:avLst/>
              <a:gdLst>
                <a:gd name="T0" fmla="*/ 0 w 572"/>
                <a:gd name="T1" fmla="*/ 0 h 238"/>
                <a:gd name="T2" fmla="*/ 572 w 572"/>
                <a:gd name="T3" fmla="*/ 238 h 238"/>
                <a:gd name="T4" fmla="*/ 0 60000 65536"/>
                <a:gd name="T5" fmla="*/ 0 60000 65536"/>
              </a:gdLst>
              <a:ahLst/>
              <a:cxnLst>
                <a:cxn ang="T4">
                  <a:pos x="T0" y="T1"/>
                </a:cxn>
                <a:cxn ang="T5">
                  <a:pos x="T2" y="T3"/>
                </a:cxn>
              </a:cxnLst>
              <a:rect l="0" t="0" r="r" b="b"/>
              <a:pathLst>
                <a:path w="572" h="238">
                  <a:moveTo>
                    <a:pt x="0" y="0"/>
                  </a:moveTo>
                  <a:lnTo>
                    <a:pt x="572" y="238"/>
                  </a:lnTo>
                </a:path>
              </a:pathLst>
            </a:custGeom>
            <a:noFill/>
            <a:ln w="19050">
              <a:solidFill>
                <a:srgbClr val="B2B2B2"/>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4699" name="Line 251"/>
            <p:cNvSpPr>
              <a:spLocks noChangeShapeType="1"/>
            </p:cNvSpPr>
            <p:nvPr/>
          </p:nvSpPr>
          <p:spPr bwMode="auto">
            <a:xfrm flipV="1">
              <a:off x="5379" y="1149"/>
              <a:ext cx="0" cy="474"/>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00" name="Line 252"/>
            <p:cNvSpPr>
              <a:spLocks noChangeShapeType="1"/>
            </p:cNvSpPr>
            <p:nvPr/>
          </p:nvSpPr>
          <p:spPr bwMode="auto">
            <a:xfrm>
              <a:off x="4016" y="1030"/>
              <a:ext cx="0" cy="51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01" name="Freeform 253"/>
            <p:cNvSpPr>
              <a:spLocks/>
            </p:cNvSpPr>
            <p:nvPr/>
          </p:nvSpPr>
          <p:spPr bwMode="auto">
            <a:xfrm>
              <a:off x="4016" y="1407"/>
              <a:ext cx="574" cy="255"/>
            </a:xfrm>
            <a:custGeom>
              <a:avLst/>
              <a:gdLst>
                <a:gd name="T0" fmla="*/ 0 w 647"/>
                <a:gd name="T1" fmla="*/ 255 h 310"/>
                <a:gd name="T2" fmla="*/ 574 w 647"/>
                <a:gd name="T3" fmla="*/ 0 h 310"/>
                <a:gd name="T4" fmla="*/ 0 60000 65536"/>
                <a:gd name="T5" fmla="*/ 0 60000 65536"/>
              </a:gdLst>
              <a:ahLst/>
              <a:cxnLst>
                <a:cxn ang="T4">
                  <a:pos x="T0" y="T1"/>
                </a:cxn>
                <a:cxn ang="T5">
                  <a:pos x="T2" y="T3"/>
                </a:cxn>
              </a:cxnLst>
              <a:rect l="0" t="0" r="r" b="b"/>
              <a:pathLst>
                <a:path w="647" h="310">
                  <a:moveTo>
                    <a:pt x="0" y="310"/>
                  </a:moveTo>
                  <a:lnTo>
                    <a:pt x="647"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02" name="Freeform 254"/>
            <p:cNvSpPr>
              <a:spLocks/>
            </p:cNvSpPr>
            <p:nvPr/>
          </p:nvSpPr>
          <p:spPr bwMode="auto">
            <a:xfrm>
              <a:off x="4126" y="1097"/>
              <a:ext cx="571" cy="249"/>
            </a:xfrm>
            <a:custGeom>
              <a:avLst/>
              <a:gdLst>
                <a:gd name="T0" fmla="*/ 571 w 644"/>
                <a:gd name="T1" fmla="*/ 249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03" name="Freeform 255"/>
            <p:cNvSpPr>
              <a:spLocks/>
            </p:cNvSpPr>
            <p:nvPr/>
          </p:nvSpPr>
          <p:spPr bwMode="auto">
            <a:xfrm>
              <a:off x="4697" y="1091"/>
              <a:ext cx="569" cy="255"/>
            </a:xfrm>
            <a:custGeom>
              <a:avLst/>
              <a:gdLst>
                <a:gd name="T0" fmla="*/ 0 w 641"/>
                <a:gd name="T1" fmla="*/ 255 h 310"/>
                <a:gd name="T2" fmla="*/ 569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04" name="Freeform 256"/>
            <p:cNvSpPr>
              <a:spLocks/>
            </p:cNvSpPr>
            <p:nvPr/>
          </p:nvSpPr>
          <p:spPr bwMode="auto">
            <a:xfrm>
              <a:off x="4016" y="710"/>
              <a:ext cx="569" cy="320"/>
            </a:xfrm>
            <a:custGeom>
              <a:avLst/>
              <a:gdLst>
                <a:gd name="T0" fmla="*/ 0 w 641"/>
                <a:gd name="T1" fmla="*/ 320 h 389"/>
                <a:gd name="T2" fmla="*/ 569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05" name="Freeform 257"/>
            <p:cNvSpPr>
              <a:spLocks/>
            </p:cNvSpPr>
            <p:nvPr/>
          </p:nvSpPr>
          <p:spPr bwMode="auto">
            <a:xfrm>
              <a:off x="4819" y="716"/>
              <a:ext cx="560" cy="314"/>
            </a:xfrm>
            <a:custGeom>
              <a:avLst/>
              <a:gdLst>
                <a:gd name="T0" fmla="*/ 560 w 631"/>
                <a:gd name="T1" fmla="*/ 314 h 382"/>
                <a:gd name="T2" fmla="*/ 0 w 631"/>
                <a:gd name="T3" fmla="*/ 0 h 382"/>
                <a:gd name="T4" fmla="*/ 0 60000 65536"/>
                <a:gd name="T5" fmla="*/ 0 60000 65536"/>
              </a:gdLst>
              <a:ahLst/>
              <a:cxnLst>
                <a:cxn ang="T4">
                  <a:pos x="T0" y="T1"/>
                </a:cxn>
                <a:cxn ang="T5">
                  <a:pos x="T2" y="T3"/>
                </a:cxn>
              </a:cxnLst>
              <a:rect l="0" t="0" r="r" b="b"/>
              <a:pathLst>
                <a:path w="631" h="382">
                  <a:moveTo>
                    <a:pt x="631" y="382"/>
                  </a:moveTo>
                  <a:lnTo>
                    <a:pt x="0"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06" name="Oval 258"/>
            <p:cNvSpPr>
              <a:spLocks noChangeArrowheads="1"/>
            </p:cNvSpPr>
            <p:nvPr/>
          </p:nvSpPr>
          <p:spPr bwMode="auto">
            <a:xfrm>
              <a:off x="4570" y="1874"/>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a</a:t>
              </a:r>
            </a:p>
          </p:txBody>
        </p:sp>
        <p:sp>
          <p:nvSpPr>
            <p:cNvPr id="114707" name="Oval 259"/>
            <p:cNvSpPr>
              <a:spLocks noChangeArrowheads="1"/>
            </p:cNvSpPr>
            <p:nvPr/>
          </p:nvSpPr>
          <p:spPr bwMode="auto">
            <a:xfrm>
              <a:off x="3844" y="1518"/>
              <a:ext cx="299"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b</a:t>
              </a:r>
            </a:p>
          </p:txBody>
        </p:sp>
        <p:sp>
          <p:nvSpPr>
            <p:cNvPr id="114708" name="Oval 260"/>
            <p:cNvSpPr>
              <a:spLocks noChangeArrowheads="1"/>
            </p:cNvSpPr>
            <p:nvPr/>
          </p:nvSpPr>
          <p:spPr bwMode="auto">
            <a:xfrm>
              <a:off x="5251" y="1518"/>
              <a:ext cx="273"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c</a:t>
              </a:r>
            </a:p>
          </p:txBody>
        </p:sp>
        <p:sp>
          <p:nvSpPr>
            <p:cNvPr id="114709" name="Oval 261"/>
            <p:cNvSpPr>
              <a:spLocks noChangeArrowheads="1"/>
            </p:cNvSpPr>
            <p:nvPr/>
          </p:nvSpPr>
          <p:spPr bwMode="auto">
            <a:xfrm>
              <a:off x="4570" y="1202"/>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d</a:t>
              </a:r>
            </a:p>
          </p:txBody>
        </p:sp>
        <p:sp>
          <p:nvSpPr>
            <p:cNvPr id="114710" name="Oval 262"/>
            <p:cNvSpPr>
              <a:spLocks noChangeArrowheads="1"/>
            </p:cNvSpPr>
            <p:nvPr/>
          </p:nvSpPr>
          <p:spPr bwMode="auto">
            <a:xfrm>
              <a:off x="3844" y="887"/>
              <a:ext cx="299"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e</a:t>
              </a:r>
            </a:p>
          </p:txBody>
        </p:sp>
        <p:sp>
          <p:nvSpPr>
            <p:cNvPr id="114711" name="Line 263"/>
            <p:cNvSpPr>
              <a:spLocks noChangeShapeType="1"/>
            </p:cNvSpPr>
            <p:nvPr/>
          </p:nvSpPr>
          <p:spPr bwMode="auto">
            <a:xfrm flipH="1">
              <a:off x="4144" y="1030"/>
              <a:ext cx="1235" cy="0"/>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4712" name="Oval 264"/>
            <p:cNvSpPr>
              <a:spLocks noChangeArrowheads="1"/>
            </p:cNvSpPr>
            <p:nvPr/>
          </p:nvSpPr>
          <p:spPr bwMode="auto">
            <a:xfrm>
              <a:off x="4570" y="531"/>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g</a:t>
              </a:r>
            </a:p>
          </p:txBody>
        </p:sp>
        <p:sp>
          <p:nvSpPr>
            <p:cNvPr id="114713" name="Oval 265"/>
            <p:cNvSpPr>
              <a:spLocks noChangeArrowheads="1"/>
            </p:cNvSpPr>
            <p:nvPr/>
          </p:nvSpPr>
          <p:spPr bwMode="auto">
            <a:xfrm>
              <a:off x="5251" y="887"/>
              <a:ext cx="273"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f</a:t>
              </a:r>
            </a:p>
          </p:txBody>
        </p:sp>
        <p:sp>
          <p:nvSpPr>
            <p:cNvPr id="114714" name="Rectangle 266"/>
            <p:cNvSpPr>
              <a:spLocks noChangeArrowheads="1"/>
            </p:cNvSpPr>
            <p:nvPr/>
          </p:nvSpPr>
          <p:spPr bwMode="auto">
            <a:xfrm>
              <a:off x="4220" y="67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3</a:t>
              </a:r>
            </a:p>
          </p:txBody>
        </p:sp>
        <p:sp>
          <p:nvSpPr>
            <p:cNvPr id="114715" name="Rectangle 267"/>
            <p:cNvSpPr>
              <a:spLocks noChangeArrowheads="1"/>
            </p:cNvSpPr>
            <p:nvPr/>
          </p:nvSpPr>
          <p:spPr bwMode="auto">
            <a:xfrm>
              <a:off x="4996" y="669"/>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2</a:t>
              </a:r>
            </a:p>
          </p:txBody>
        </p:sp>
        <p:sp>
          <p:nvSpPr>
            <p:cNvPr id="114716" name="Rectangle 268"/>
            <p:cNvSpPr>
              <a:spLocks noChangeArrowheads="1"/>
            </p:cNvSpPr>
            <p:nvPr/>
          </p:nvSpPr>
          <p:spPr bwMode="auto">
            <a:xfrm>
              <a:off x="4612" y="813"/>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a:t>
              </a:r>
            </a:p>
          </p:txBody>
        </p:sp>
        <p:sp>
          <p:nvSpPr>
            <p:cNvPr id="114717" name="Rectangle 269"/>
            <p:cNvSpPr>
              <a:spLocks noChangeArrowheads="1"/>
            </p:cNvSpPr>
            <p:nvPr/>
          </p:nvSpPr>
          <p:spPr bwMode="auto">
            <a:xfrm>
              <a:off x="3748" y="1197"/>
              <a:ext cx="28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t>10</a:t>
              </a:r>
            </a:p>
          </p:txBody>
        </p:sp>
        <p:sp>
          <p:nvSpPr>
            <p:cNvPr id="114718" name="Rectangle 270"/>
            <p:cNvSpPr>
              <a:spLocks noChangeArrowheads="1"/>
            </p:cNvSpPr>
            <p:nvPr/>
          </p:nvSpPr>
          <p:spPr bwMode="auto">
            <a:xfrm>
              <a:off x="4220" y="1149"/>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0</a:t>
              </a:r>
            </a:p>
          </p:txBody>
        </p:sp>
        <p:sp>
          <p:nvSpPr>
            <p:cNvPr id="114719" name="Rectangle 271"/>
            <p:cNvSpPr>
              <a:spLocks noChangeArrowheads="1"/>
            </p:cNvSpPr>
            <p:nvPr/>
          </p:nvSpPr>
          <p:spPr bwMode="auto">
            <a:xfrm>
              <a:off x="4986" y="1149"/>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5</a:t>
              </a:r>
            </a:p>
          </p:txBody>
        </p:sp>
        <p:sp>
          <p:nvSpPr>
            <p:cNvPr id="114720" name="Rectangle 272"/>
            <p:cNvSpPr>
              <a:spLocks noChangeArrowheads="1"/>
            </p:cNvSpPr>
            <p:nvPr/>
          </p:nvSpPr>
          <p:spPr bwMode="auto">
            <a:xfrm>
              <a:off x="5365" y="1267"/>
              <a:ext cx="2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12</a:t>
              </a:r>
            </a:p>
          </p:txBody>
        </p:sp>
        <p:sp>
          <p:nvSpPr>
            <p:cNvPr id="114721" name="Rectangle 273"/>
            <p:cNvSpPr>
              <a:spLocks noChangeArrowheads="1"/>
            </p:cNvSpPr>
            <p:nvPr/>
          </p:nvSpPr>
          <p:spPr bwMode="auto">
            <a:xfrm>
              <a:off x="4304" y="146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8</a:t>
              </a:r>
            </a:p>
          </p:txBody>
        </p:sp>
        <p:sp>
          <p:nvSpPr>
            <p:cNvPr id="114722" name="Rectangle 274"/>
            <p:cNvSpPr>
              <a:spLocks noChangeArrowheads="1"/>
            </p:cNvSpPr>
            <p:nvPr/>
          </p:nvSpPr>
          <p:spPr bwMode="auto">
            <a:xfrm>
              <a:off x="4646" y="158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4</a:t>
              </a:r>
            </a:p>
          </p:txBody>
        </p:sp>
        <p:sp>
          <p:nvSpPr>
            <p:cNvPr id="114723" name="Rectangle 275"/>
            <p:cNvSpPr>
              <a:spLocks noChangeArrowheads="1"/>
            </p:cNvSpPr>
            <p:nvPr/>
          </p:nvSpPr>
          <p:spPr bwMode="auto">
            <a:xfrm>
              <a:off x="4900" y="142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7</a:t>
              </a:r>
            </a:p>
          </p:txBody>
        </p:sp>
        <p:sp>
          <p:nvSpPr>
            <p:cNvPr id="114724" name="Rectangle 276"/>
            <p:cNvSpPr>
              <a:spLocks noChangeArrowheads="1"/>
            </p:cNvSpPr>
            <p:nvPr/>
          </p:nvSpPr>
          <p:spPr bwMode="auto">
            <a:xfrm>
              <a:off x="4176" y="178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6</a:t>
              </a:r>
            </a:p>
          </p:txBody>
        </p:sp>
        <p:sp>
          <p:nvSpPr>
            <p:cNvPr id="114725" name="Rectangle 277"/>
            <p:cNvSpPr>
              <a:spLocks noChangeArrowheads="1"/>
            </p:cNvSpPr>
            <p:nvPr/>
          </p:nvSpPr>
          <p:spPr bwMode="auto">
            <a:xfrm>
              <a:off x="4986" y="182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14726" name="Rectangle 278"/>
            <p:cNvSpPr>
              <a:spLocks noChangeArrowheads="1"/>
            </p:cNvSpPr>
            <p:nvPr/>
          </p:nvSpPr>
          <p:spPr bwMode="auto">
            <a:xfrm>
              <a:off x="5293" y="177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3</a:t>
              </a:r>
            </a:p>
          </p:txBody>
        </p:sp>
        <p:sp>
          <p:nvSpPr>
            <p:cNvPr id="114727" name="Rectangle 279"/>
            <p:cNvSpPr>
              <a:spLocks noChangeArrowheads="1"/>
            </p:cNvSpPr>
            <p:nvPr/>
          </p:nvSpPr>
          <p:spPr bwMode="auto">
            <a:xfrm>
              <a:off x="5341" y="66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9</a:t>
              </a:r>
            </a:p>
          </p:txBody>
        </p:sp>
        <p:sp>
          <p:nvSpPr>
            <p:cNvPr id="114728" name="Rectangle 280"/>
            <p:cNvSpPr>
              <a:spLocks noChangeArrowheads="1"/>
            </p:cNvSpPr>
            <p:nvPr/>
          </p:nvSpPr>
          <p:spPr bwMode="auto">
            <a:xfrm>
              <a:off x="4819" y="43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7</a:t>
              </a:r>
            </a:p>
          </p:txBody>
        </p:sp>
        <p:sp>
          <p:nvSpPr>
            <p:cNvPr id="114729" name="Rectangle 281"/>
            <p:cNvSpPr>
              <a:spLocks noChangeArrowheads="1"/>
            </p:cNvSpPr>
            <p:nvPr/>
          </p:nvSpPr>
          <p:spPr bwMode="auto">
            <a:xfrm>
              <a:off x="3763" y="72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sp>
          <p:nvSpPr>
            <p:cNvPr id="114730" name="Rectangle 282"/>
            <p:cNvSpPr>
              <a:spLocks noChangeArrowheads="1"/>
            </p:cNvSpPr>
            <p:nvPr/>
          </p:nvSpPr>
          <p:spPr bwMode="auto">
            <a:xfrm>
              <a:off x="3727" y="1776"/>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14</a:t>
              </a:r>
            </a:p>
          </p:txBody>
        </p:sp>
        <p:sp>
          <p:nvSpPr>
            <p:cNvPr id="114731" name="Rectangle 283"/>
            <p:cNvSpPr>
              <a:spLocks noChangeArrowheads="1"/>
            </p:cNvSpPr>
            <p:nvPr/>
          </p:nvSpPr>
          <p:spPr bwMode="auto">
            <a:xfrm>
              <a:off x="4798" y="2009"/>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0</a:t>
              </a:r>
            </a:p>
          </p:txBody>
        </p:sp>
        <p:sp>
          <p:nvSpPr>
            <p:cNvPr id="114732" name="Text Box 284"/>
            <p:cNvSpPr txBox="1">
              <a:spLocks noChangeArrowheads="1"/>
            </p:cNvSpPr>
            <p:nvPr/>
          </p:nvSpPr>
          <p:spPr bwMode="auto">
            <a:xfrm>
              <a:off x="3037" y="525"/>
              <a:ext cx="73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6) Scan f:</a:t>
              </a:r>
            </a:p>
          </p:txBody>
        </p:sp>
        <p:sp>
          <p:nvSpPr>
            <p:cNvPr id="114733" name="Rectangle 285"/>
            <p:cNvSpPr>
              <a:spLocks noChangeArrowheads="1"/>
            </p:cNvSpPr>
            <p:nvPr/>
          </p:nvSpPr>
          <p:spPr bwMode="auto">
            <a:xfrm>
              <a:off x="4675" y="100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98860"/>
                                        </p:tgtEl>
                                        <p:attrNameLst>
                                          <p:attrName>style.visibility</p:attrName>
                                        </p:attrNameLst>
                                      </p:cBhvr>
                                      <p:to>
                                        <p:strVal val="visible"/>
                                      </p:to>
                                    </p:set>
                                    <p:animEffect transition="in" filter="wipe(up)">
                                      <p:cBhvr>
                                        <p:cTn id="7" dur="500"/>
                                        <p:tgtEl>
                                          <p:spTgt spid="1988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98901"/>
                                        </p:tgtEl>
                                        <p:attrNameLst>
                                          <p:attrName>style.visibility</p:attrName>
                                        </p:attrNameLst>
                                      </p:cBhvr>
                                      <p:to>
                                        <p:strVal val="visible"/>
                                      </p:to>
                                    </p:set>
                                    <p:animEffect transition="in" filter="wipe(up)">
                                      <p:cBhvr>
                                        <p:cTn id="12" dur="500"/>
                                        <p:tgtEl>
                                          <p:spTgt spid="1989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98942"/>
                                        </p:tgtEl>
                                        <p:attrNameLst>
                                          <p:attrName>style.visibility</p:attrName>
                                        </p:attrNameLst>
                                      </p:cBhvr>
                                      <p:to>
                                        <p:strVal val="visible"/>
                                      </p:to>
                                    </p:set>
                                    <p:animEffect transition="in" filter="wipe(up)">
                                      <p:cBhvr>
                                        <p:cTn id="17" dur="500"/>
                                        <p:tgtEl>
                                          <p:spTgt spid="198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chemeClr val="tx1"/>
                </a:solidFill>
                <a:latin typeface="Arial Rounded MT Bold" pitchFamily="34" charset="0"/>
              </a:rPr>
              <a:t>Example</a:t>
            </a:r>
          </a:p>
        </p:txBody>
      </p:sp>
      <p:grpSp>
        <p:nvGrpSpPr>
          <p:cNvPr id="115715" name="Group 123"/>
          <p:cNvGrpSpPr>
            <a:grpSpLocks/>
          </p:cNvGrpSpPr>
          <p:nvPr/>
        </p:nvGrpSpPr>
        <p:grpSpPr bwMode="auto">
          <a:xfrm>
            <a:off x="4800600" y="3733800"/>
            <a:ext cx="4108450" cy="2870200"/>
            <a:chOff x="3037" y="432"/>
            <a:chExt cx="2588" cy="1808"/>
          </a:xfrm>
        </p:grpSpPr>
        <p:sp>
          <p:nvSpPr>
            <p:cNvPr id="115837" name="Freeform 124"/>
            <p:cNvSpPr>
              <a:spLocks/>
            </p:cNvSpPr>
            <p:nvPr/>
          </p:nvSpPr>
          <p:spPr bwMode="auto">
            <a:xfrm>
              <a:off x="4740" y="1740"/>
              <a:ext cx="538" cy="278"/>
            </a:xfrm>
            <a:custGeom>
              <a:avLst/>
              <a:gdLst>
                <a:gd name="T0" fmla="*/ 0 w 606"/>
                <a:gd name="T1" fmla="*/ 278 h 338"/>
                <a:gd name="T2" fmla="*/ 538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38" name="Line 125"/>
            <p:cNvSpPr>
              <a:spLocks noChangeShapeType="1"/>
            </p:cNvSpPr>
            <p:nvPr/>
          </p:nvSpPr>
          <p:spPr bwMode="auto">
            <a:xfrm flipV="1">
              <a:off x="4697" y="1490"/>
              <a:ext cx="0" cy="5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39" name="Freeform 126"/>
            <p:cNvSpPr>
              <a:spLocks/>
            </p:cNvSpPr>
            <p:nvPr/>
          </p:nvSpPr>
          <p:spPr bwMode="auto">
            <a:xfrm>
              <a:off x="4016" y="1662"/>
              <a:ext cx="556" cy="329"/>
            </a:xfrm>
            <a:custGeom>
              <a:avLst/>
              <a:gdLst>
                <a:gd name="T0" fmla="*/ 0 w 627"/>
                <a:gd name="T1" fmla="*/ 0 h 399"/>
                <a:gd name="T2" fmla="*/ 556 w 627"/>
                <a:gd name="T3" fmla="*/ 329 h 399"/>
                <a:gd name="T4" fmla="*/ 0 60000 65536"/>
                <a:gd name="T5" fmla="*/ 0 60000 65536"/>
              </a:gdLst>
              <a:ahLst/>
              <a:cxnLst>
                <a:cxn ang="T4">
                  <a:pos x="T0" y="T1"/>
                </a:cxn>
                <a:cxn ang="T5">
                  <a:pos x="T2" y="T3"/>
                </a:cxn>
              </a:cxnLst>
              <a:rect l="0" t="0" r="r" b="b"/>
              <a:pathLst>
                <a:path w="627" h="399">
                  <a:moveTo>
                    <a:pt x="0" y="0"/>
                  </a:moveTo>
                  <a:lnTo>
                    <a:pt x="627" y="399"/>
                  </a:lnTo>
                </a:path>
              </a:pathLst>
            </a:custGeom>
            <a:solidFill>
              <a:srgbClr val="B2B2B2"/>
            </a:solidFill>
            <a:ln w="19050" cap="flat" cmpd="sng">
              <a:solidFill>
                <a:srgbClr val="B2B2B2"/>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40" name="Freeform 127"/>
            <p:cNvSpPr>
              <a:spLocks/>
            </p:cNvSpPr>
            <p:nvPr/>
          </p:nvSpPr>
          <p:spPr bwMode="auto">
            <a:xfrm>
              <a:off x="4697" y="1346"/>
              <a:ext cx="572" cy="238"/>
            </a:xfrm>
            <a:custGeom>
              <a:avLst/>
              <a:gdLst>
                <a:gd name="T0" fmla="*/ 0 w 572"/>
                <a:gd name="T1" fmla="*/ 0 h 238"/>
                <a:gd name="T2" fmla="*/ 572 w 572"/>
                <a:gd name="T3" fmla="*/ 238 h 238"/>
                <a:gd name="T4" fmla="*/ 0 60000 65536"/>
                <a:gd name="T5" fmla="*/ 0 60000 65536"/>
              </a:gdLst>
              <a:ahLst/>
              <a:cxnLst>
                <a:cxn ang="T4">
                  <a:pos x="T0" y="T1"/>
                </a:cxn>
                <a:cxn ang="T5">
                  <a:pos x="T2" y="T3"/>
                </a:cxn>
              </a:cxnLst>
              <a:rect l="0" t="0" r="r" b="b"/>
              <a:pathLst>
                <a:path w="572" h="238">
                  <a:moveTo>
                    <a:pt x="0" y="0"/>
                  </a:moveTo>
                  <a:lnTo>
                    <a:pt x="572" y="238"/>
                  </a:lnTo>
                </a:path>
              </a:pathLst>
            </a:custGeom>
            <a:noFill/>
            <a:ln w="19050">
              <a:solidFill>
                <a:srgbClr val="B2B2B2"/>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5841" name="Line 128"/>
            <p:cNvSpPr>
              <a:spLocks noChangeShapeType="1"/>
            </p:cNvSpPr>
            <p:nvPr/>
          </p:nvSpPr>
          <p:spPr bwMode="auto">
            <a:xfrm flipV="1">
              <a:off x="5379" y="1149"/>
              <a:ext cx="0" cy="474"/>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42" name="Line 129"/>
            <p:cNvSpPr>
              <a:spLocks noChangeShapeType="1"/>
            </p:cNvSpPr>
            <p:nvPr/>
          </p:nvSpPr>
          <p:spPr bwMode="auto">
            <a:xfrm>
              <a:off x="4016" y="1030"/>
              <a:ext cx="0" cy="51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43" name="Freeform 130"/>
            <p:cNvSpPr>
              <a:spLocks/>
            </p:cNvSpPr>
            <p:nvPr/>
          </p:nvSpPr>
          <p:spPr bwMode="auto">
            <a:xfrm>
              <a:off x="4016" y="1407"/>
              <a:ext cx="574" cy="255"/>
            </a:xfrm>
            <a:custGeom>
              <a:avLst/>
              <a:gdLst>
                <a:gd name="T0" fmla="*/ 0 w 647"/>
                <a:gd name="T1" fmla="*/ 255 h 310"/>
                <a:gd name="T2" fmla="*/ 574 w 647"/>
                <a:gd name="T3" fmla="*/ 0 h 310"/>
                <a:gd name="T4" fmla="*/ 0 60000 65536"/>
                <a:gd name="T5" fmla="*/ 0 60000 65536"/>
              </a:gdLst>
              <a:ahLst/>
              <a:cxnLst>
                <a:cxn ang="T4">
                  <a:pos x="T0" y="T1"/>
                </a:cxn>
                <a:cxn ang="T5">
                  <a:pos x="T2" y="T3"/>
                </a:cxn>
              </a:cxnLst>
              <a:rect l="0" t="0" r="r" b="b"/>
              <a:pathLst>
                <a:path w="647" h="310">
                  <a:moveTo>
                    <a:pt x="0" y="310"/>
                  </a:moveTo>
                  <a:lnTo>
                    <a:pt x="647"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44" name="Freeform 131"/>
            <p:cNvSpPr>
              <a:spLocks/>
            </p:cNvSpPr>
            <p:nvPr/>
          </p:nvSpPr>
          <p:spPr bwMode="auto">
            <a:xfrm>
              <a:off x="4126" y="1097"/>
              <a:ext cx="571" cy="249"/>
            </a:xfrm>
            <a:custGeom>
              <a:avLst/>
              <a:gdLst>
                <a:gd name="T0" fmla="*/ 571 w 644"/>
                <a:gd name="T1" fmla="*/ 249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45" name="Freeform 132"/>
            <p:cNvSpPr>
              <a:spLocks/>
            </p:cNvSpPr>
            <p:nvPr/>
          </p:nvSpPr>
          <p:spPr bwMode="auto">
            <a:xfrm>
              <a:off x="4697" y="1091"/>
              <a:ext cx="569" cy="255"/>
            </a:xfrm>
            <a:custGeom>
              <a:avLst/>
              <a:gdLst>
                <a:gd name="T0" fmla="*/ 0 w 641"/>
                <a:gd name="T1" fmla="*/ 255 h 310"/>
                <a:gd name="T2" fmla="*/ 569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46" name="Freeform 133"/>
            <p:cNvSpPr>
              <a:spLocks/>
            </p:cNvSpPr>
            <p:nvPr/>
          </p:nvSpPr>
          <p:spPr bwMode="auto">
            <a:xfrm>
              <a:off x="4016" y="710"/>
              <a:ext cx="569" cy="320"/>
            </a:xfrm>
            <a:custGeom>
              <a:avLst/>
              <a:gdLst>
                <a:gd name="T0" fmla="*/ 0 w 641"/>
                <a:gd name="T1" fmla="*/ 320 h 389"/>
                <a:gd name="T2" fmla="*/ 569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47" name="Freeform 134"/>
            <p:cNvSpPr>
              <a:spLocks/>
            </p:cNvSpPr>
            <p:nvPr/>
          </p:nvSpPr>
          <p:spPr bwMode="auto">
            <a:xfrm>
              <a:off x="4819" y="716"/>
              <a:ext cx="560" cy="314"/>
            </a:xfrm>
            <a:custGeom>
              <a:avLst/>
              <a:gdLst>
                <a:gd name="T0" fmla="*/ 560 w 631"/>
                <a:gd name="T1" fmla="*/ 314 h 382"/>
                <a:gd name="T2" fmla="*/ 0 w 631"/>
                <a:gd name="T3" fmla="*/ 0 h 382"/>
                <a:gd name="T4" fmla="*/ 0 60000 65536"/>
                <a:gd name="T5" fmla="*/ 0 60000 65536"/>
              </a:gdLst>
              <a:ahLst/>
              <a:cxnLst>
                <a:cxn ang="T4">
                  <a:pos x="T0" y="T1"/>
                </a:cxn>
                <a:cxn ang="T5">
                  <a:pos x="T2" y="T3"/>
                </a:cxn>
              </a:cxnLst>
              <a:rect l="0" t="0" r="r" b="b"/>
              <a:pathLst>
                <a:path w="631" h="382">
                  <a:moveTo>
                    <a:pt x="631" y="382"/>
                  </a:moveTo>
                  <a:lnTo>
                    <a:pt x="0"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48" name="Oval 135"/>
            <p:cNvSpPr>
              <a:spLocks noChangeArrowheads="1"/>
            </p:cNvSpPr>
            <p:nvPr/>
          </p:nvSpPr>
          <p:spPr bwMode="auto">
            <a:xfrm>
              <a:off x="4570" y="1874"/>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a</a:t>
              </a:r>
            </a:p>
          </p:txBody>
        </p:sp>
        <p:sp>
          <p:nvSpPr>
            <p:cNvPr id="115849" name="Oval 136"/>
            <p:cNvSpPr>
              <a:spLocks noChangeArrowheads="1"/>
            </p:cNvSpPr>
            <p:nvPr/>
          </p:nvSpPr>
          <p:spPr bwMode="auto">
            <a:xfrm>
              <a:off x="3844" y="1518"/>
              <a:ext cx="299"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b</a:t>
              </a:r>
            </a:p>
          </p:txBody>
        </p:sp>
        <p:sp>
          <p:nvSpPr>
            <p:cNvPr id="115850" name="Oval 137"/>
            <p:cNvSpPr>
              <a:spLocks noChangeArrowheads="1"/>
            </p:cNvSpPr>
            <p:nvPr/>
          </p:nvSpPr>
          <p:spPr bwMode="auto">
            <a:xfrm>
              <a:off x="5251" y="1518"/>
              <a:ext cx="273"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c</a:t>
              </a:r>
            </a:p>
          </p:txBody>
        </p:sp>
        <p:sp>
          <p:nvSpPr>
            <p:cNvPr id="115851" name="Oval 138"/>
            <p:cNvSpPr>
              <a:spLocks noChangeArrowheads="1"/>
            </p:cNvSpPr>
            <p:nvPr/>
          </p:nvSpPr>
          <p:spPr bwMode="auto">
            <a:xfrm>
              <a:off x="4570" y="1202"/>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d</a:t>
              </a:r>
            </a:p>
          </p:txBody>
        </p:sp>
        <p:sp>
          <p:nvSpPr>
            <p:cNvPr id="115852" name="Oval 139"/>
            <p:cNvSpPr>
              <a:spLocks noChangeArrowheads="1"/>
            </p:cNvSpPr>
            <p:nvPr/>
          </p:nvSpPr>
          <p:spPr bwMode="auto">
            <a:xfrm>
              <a:off x="3844" y="887"/>
              <a:ext cx="299"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e</a:t>
              </a:r>
            </a:p>
          </p:txBody>
        </p:sp>
        <p:sp>
          <p:nvSpPr>
            <p:cNvPr id="115853" name="Line 140"/>
            <p:cNvSpPr>
              <a:spLocks noChangeShapeType="1"/>
            </p:cNvSpPr>
            <p:nvPr/>
          </p:nvSpPr>
          <p:spPr bwMode="auto">
            <a:xfrm flipH="1">
              <a:off x="4144" y="1030"/>
              <a:ext cx="1235" cy="0"/>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54" name="Oval 141"/>
            <p:cNvSpPr>
              <a:spLocks noChangeArrowheads="1"/>
            </p:cNvSpPr>
            <p:nvPr/>
          </p:nvSpPr>
          <p:spPr bwMode="auto">
            <a:xfrm>
              <a:off x="4570" y="531"/>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g</a:t>
              </a:r>
            </a:p>
          </p:txBody>
        </p:sp>
        <p:sp>
          <p:nvSpPr>
            <p:cNvPr id="115855" name="Oval 142"/>
            <p:cNvSpPr>
              <a:spLocks noChangeArrowheads="1"/>
            </p:cNvSpPr>
            <p:nvPr/>
          </p:nvSpPr>
          <p:spPr bwMode="auto">
            <a:xfrm>
              <a:off x="5251" y="887"/>
              <a:ext cx="273"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f</a:t>
              </a:r>
            </a:p>
          </p:txBody>
        </p:sp>
        <p:sp>
          <p:nvSpPr>
            <p:cNvPr id="115856" name="Rectangle 143"/>
            <p:cNvSpPr>
              <a:spLocks noChangeArrowheads="1"/>
            </p:cNvSpPr>
            <p:nvPr/>
          </p:nvSpPr>
          <p:spPr bwMode="auto">
            <a:xfrm>
              <a:off x="4220" y="67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3</a:t>
              </a:r>
            </a:p>
          </p:txBody>
        </p:sp>
        <p:sp>
          <p:nvSpPr>
            <p:cNvPr id="115857" name="Rectangle 144"/>
            <p:cNvSpPr>
              <a:spLocks noChangeArrowheads="1"/>
            </p:cNvSpPr>
            <p:nvPr/>
          </p:nvSpPr>
          <p:spPr bwMode="auto">
            <a:xfrm>
              <a:off x="4996" y="669"/>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2</a:t>
              </a:r>
            </a:p>
          </p:txBody>
        </p:sp>
        <p:sp>
          <p:nvSpPr>
            <p:cNvPr id="115858" name="Rectangle 145"/>
            <p:cNvSpPr>
              <a:spLocks noChangeArrowheads="1"/>
            </p:cNvSpPr>
            <p:nvPr/>
          </p:nvSpPr>
          <p:spPr bwMode="auto">
            <a:xfrm>
              <a:off x="4612" y="813"/>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a:t>
              </a:r>
            </a:p>
          </p:txBody>
        </p:sp>
        <p:sp>
          <p:nvSpPr>
            <p:cNvPr id="115859" name="Rectangle 146"/>
            <p:cNvSpPr>
              <a:spLocks noChangeArrowheads="1"/>
            </p:cNvSpPr>
            <p:nvPr/>
          </p:nvSpPr>
          <p:spPr bwMode="auto">
            <a:xfrm>
              <a:off x="3748" y="1197"/>
              <a:ext cx="28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t>10</a:t>
              </a:r>
            </a:p>
          </p:txBody>
        </p:sp>
        <p:sp>
          <p:nvSpPr>
            <p:cNvPr id="115860" name="Rectangle 147"/>
            <p:cNvSpPr>
              <a:spLocks noChangeArrowheads="1"/>
            </p:cNvSpPr>
            <p:nvPr/>
          </p:nvSpPr>
          <p:spPr bwMode="auto">
            <a:xfrm>
              <a:off x="4220" y="1149"/>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0</a:t>
              </a:r>
            </a:p>
          </p:txBody>
        </p:sp>
        <p:sp>
          <p:nvSpPr>
            <p:cNvPr id="115861" name="Rectangle 148"/>
            <p:cNvSpPr>
              <a:spLocks noChangeArrowheads="1"/>
            </p:cNvSpPr>
            <p:nvPr/>
          </p:nvSpPr>
          <p:spPr bwMode="auto">
            <a:xfrm>
              <a:off x="4986" y="1149"/>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5</a:t>
              </a:r>
            </a:p>
          </p:txBody>
        </p:sp>
        <p:sp>
          <p:nvSpPr>
            <p:cNvPr id="115862" name="Rectangle 149"/>
            <p:cNvSpPr>
              <a:spLocks noChangeArrowheads="1"/>
            </p:cNvSpPr>
            <p:nvPr/>
          </p:nvSpPr>
          <p:spPr bwMode="auto">
            <a:xfrm>
              <a:off x="5365" y="1267"/>
              <a:ext cx="2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12</a:t>
              </a:r>
            </a:p>
          </p:txBody>
        </p:sp>
        <p:sp>
          <p:nvSpPr>
            <p:cNvPr id="115863" name="Rectangle 150"/>
            <p:cNvSpPr>
              <a:spLocks noChangeArrowheads="1"/>
            </p:cNvSpPr>
            <p:nvPr/>
          </p:nvSpPr>
          <p:spPr bwMode="auto">
            <a:xfrm>
              <a:off x="4304" y="146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8</a:t>
              </a:r>
            </a:p>
          </p:txBody>
        </p:sp>
        <p:sp>
          <p:nvSpPr>
            <p:cNvPr id="115864" name="Rectangle 151"/>
            <p:cNvSpPr>
              <a:spLocks noChangeArrowheads="1"/>
            </p:cNvSpPr>
            <p:nvPr/>
          </p:nvSpPr>
          <p:spPr bwMode="auto">
            <a:xfrm>
              <a:off x="4646" y="158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4</a:t>
              </a:r>
            </a:p>
          </p:txBody>
        </p:sp>
        <p:sp>
          <p:nvSpPr>
            <p:cNvPr id="115865" name="Rectangle 152"/>
            <p:cNvSpPr>
              <a:spLocks noChangeArrowheads="1"/>
            </p:cNvSpPr>
            <p:nvPr/>
          </p:nvSpPr>
          <p:spPr bwMode="auto">
            <a:xfrm>
              <a:off x="4900" y="142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7</a:t>
              </a:r>
            </a:p>
          </p:txBody>
        </p:sp>
        <p:sp>
          <p:nvSpPr>
            <p:cNvPr id="115866" name="Rectangle 153"/>
            <p:cNvSpPr>
              <a:spLocks noChangeArrowheads="1"/>
            </p:cNvSpPr>
            <p:nvPr/>
          </p:nvSpPr>
          <p:spPr bwMode="auto">
            <a:xfrm>
              <a:off x="4176" y="178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6</a:t>
              </a:r>
            </a:p>
          </p:txBody>
        </p:sp>
        <p:sp>
          <p:nvSpPr>
            <p:cNvPr id="115867" name="Rectangle 154"/>
            <p:cNvSpPr>
              <a:spLocks noChangeArrowheads="1"/>
            </p:cNvSpPr>
            <p:nvPr/>
          </p:nvSpPr>
          <p:spPr bwMode="auto">
            <a:xfrm>
              <a:off x="4986" y="182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15868" name="Rectangle 155"/>
            <p:cNvSpPr>
              <a:spLocks noChangeArrowheads="1"/>
            </p:cNvSpPr>
            <p:nvPr/>
          </p:nvSpPr>
          <p:spPr bwMode="auto">
            <a:xfrm>
              <a:off x="5293" y="177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3</a:t>
              </a:r>
            </a:p>
          </p:txBody>
        </p:sp>
        <p:sp>
          <p:nvSpPr>
            <p:cNvPr id="115869" name="Rectangle 156"/>
            <p:cNvSpPr>
              <a:spLocks noChangeArrowheads="1"/>
            </p:cNvSpPr>
            <p:nvPr/>
          </p:nvSpPr>
          <p:spPr bwMode="auto">
            <a:xfrm>
              <a:off x="5341" y="66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9</a:t>
              </a:r>
            </a:p>
          </p:txBody>
        </p:sp>
        <p:sp>
          <p:nvSpPr>
            <p:cNvPr id="115870" name="Rectangle 157"/>
            <p:cNvSpPr>
              <a:spLocks noChangeArrowheads="1"/>
            </p:cNvSpPr>
            <p:nvPr/>
          </p:nvSpPr>
          <p:spPr bwMode="auto">
            <a:xfrm>
              <a:off x="4819" y="43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7</a:t>
              </a:r>
            </a:p>
          </p:txBody>
        </p:sp>
        <p:sp>
          <p:nvSpPr>
            <p:cNvPr id="115871" name="Rectangle 158"/>
            <p:cNvSpPr>
              <a:spLocks noChangeArrowheads="1"/>
            </p:cNvSpPr>
            <p:nvPr/>
          </p:nvSpPr>
          <p:spPr bwMode="auto">
            <a:xfrm>
              <a:off x="3763" y="72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sp>
          <p:nvSpPr>
            <p:cNvPr id="115872" name="Rectangle 159"/>
            <p:cNvSpPr>
              <a:spLocks noChangeArrowheads="1"/>
            </p:cNvSpPr>
            <p:nvPr/>
          </p:nvSpPr>
          <p:spPr bwMode="auto">
            <a:xfrm>
              <a:off x="3727" y="1776"/>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14</a:t>
              </a:r>
            </a:p>
          </p:txBody>
        </p:sp>
        <p:sp>
          <p:nvSpPr>
            <p:cNvPr id="115873" name="Rectangle 160"/>
            <p:cNvSpPr>
              <a:spLocks noChangeArrowheads="1"/>
            </p:cNvSpPr>
            <p:nvPr/>
          </p:nvSpPr>
          <p:spPr bwMode="auto">
            <a:xfrm>
              <a:off x="4798" y="2009"/>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0</a:t>
              </a:r>
            </a:p>
          </p:txBody>
        </p:sp>
        <p:sp>
          <p:nvSpPr>
            <p:cNvPr id="115874" name="Text Box 161"/>
            <p:cNvSpPr txBox="1">
              <a:spLocks noChangeArrowheads="1"/>
            </p:cNvSpPr>
            <p:nvPr/>
          </p:nvSpPr>
          <p:spPr bwMode="auto">
            <a:xfrm>
              <a:off x="3037" y="525"/>
              <a:ext cx="73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6) Scan f:</a:t>
              </a:r>
            </a:p>
          </p:txBody>
        </p:sp>
        <p:sp>
          <p:nvSpPr>
            <p:cNvPr id="115875" name="Rectangle 162"/>
            <p:cNvSpPr>
              <a:spLocks noChangeArrowheads="1"/>
            </p:cNvSpPr>
            <p:nvPr/>
          </p:nvSpPr>
          <p:spPr bwMode="auto">
            <a:xfrm>
              <a:off x="4675" y="100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grpSp>
      <p:grpSp>
        <p:nvGrpSpPr>
          <p:cNvPr id="199883" name="Group 203"/>
          <p:cNvGrpSpPr>
            <a:grpSpLocks/>
          </p:cNvGrpSpPr>
          <p:nvPr/>
        </p:nvGrpSpPr>
        <p:grpSpPr bwMode="auto">
          <a:xfrm>
            <a:off x="152400" y="3733800"/>
            <a:ext cx="4129088" cy="2870200"/>
            <a:chOff x="2963" y="2400"/>
            <a:chExt cx="2601" cy="1808"/>
          </a:xfrm>
        </p:grpSpPr>
        <p:sp>
          <p:nvSpPr>
            <p:cNvPr id="115798" name="Freeform 164"/>
            <p:cNvSpPr>
              <a:spLocks/>
            </p:cNvSpPr>
            <p:nvPr/>
          </p:nvSpPr>
          <p:spPr bwMode="auto">
            <a:xfrm>
              <a:off x="4679" y="3708"/>
              <a:ext cx="538" cy="278"/>
            </a:xfrm>
            <a:custGeom>
              <a:avLst/>
              <a:gdLst>
                <a:gd name="T0" fmla="*/ 0 w 606"/>
                <a:gd name="T1" fmla="*/ 278 h 338"/>
                <a:gd name="T2" fmla="*/ 538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99" name="Line 165"/>
            <p:cNvSpPr>
              <a:spLocks noChangeShapeType="1"/>
            </p:cNvSpPr>
            <p:nvPr/>
          </p:nvSpPr>
          <p:spPr bwMode="auto">
            <a:xfrm flipV="1">
              <a:off x="4636" y="3458"/>
              <a:ext cx="0" cy="5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00" name="Freeform 166"/>
            <p:cNvSpPr>
              <a:spLocks/>
            </p:cNvSpPr>
            <p:nvPr/>
          </p:nvSpPr>
          <p:spPr bwMode="auto">
            <a:xfrm>
              <a:off x="3955" y="3630"/>
              <a:ext cx="556" cy="329"/>
            </a:xfrm>
            <a:custGeom>
              <a:avLst/>
              <a:gdLst>
                <a:gd name="T0" fmla="*/ 0 w 627"/>
                <a:gd name="T1" fmla="*/ 0 h 399"/>
                <a:gd name="T2" fmla="*/ 556 w 627"/>
                <a:gd name="T3" fmla="*/ 329 h 399"/>
                <a:gd name="T4" fmla="*/ 0 60000 65536"/>
                <a:gd name="T5" fmla="*/ 0 60000 65536"/>
              </a:gdLst>
              <a:ahLst/>
              <a:cxnLst>
                <a:cxn ang="T4">
                  <a:pos x="T0" y="T1"/>
                </a:cxn>
                <a:cxn ang="T5">
                  <a:pos x="T2" y="T3"/>
                </a:cxn>
              </a:cxnLst>
              <a:rect l="0" t="0" r="r" b="b"/>
              <a:pathLst>
                <a:path w="627" h="399">
                  <a:moveTo>
                    <a:pt x="0" y="0"/>
                  </a:moveTo>
                  <a:lnTo>
                    <a:pt x="627" y="399"/>
                  </a:lnTo>
                </a:path>
              </a:pathLst>
            </a:custGeom>
            <a:solidFill>
              <a:srgbClr val="B2B2B2"/>
            </a:solidFill>
            <a:ln w="19050" cap="flat" cmpd="sng">
              <a:solidFill>
                <a:srgbClr val="B2B2B2"/>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01" name="Freeform 167"/>
            <p:cNvSpPr>
              <a:spLocks/>
            </p:cNvSpPr>
            <p:nvPr/>
          </p:nvSpPr>
          <p:spPr bwMode="auto">
            <a:xfrm>
              <a:off x="4636" y="3314"/>
              <a:ext cx="572" cy="238"/>
            </a:xfrm>
            <a:custGeom>
              <a:avLst/>
              <a:gdLst>
                <a:gd name="T0" fmla="*/ 0 w 572"/>
                <a:gd name="T1" fmla="*/ 0 h 238"/>
                <a:gd name="T2" fmla="*/ 572 w 572"/>
                <a:gd name="T3" fmla="*/ 238 h 238"/>
                <a:gd name="T4" fmla="*/ 0 60000 65536"/>
                <a:gd name="T5" fmla="*/ 0 60000 65536"/>
              </a:gdLst>
              <a:ahLst/>
              <a:cxnLst>
                <a:cxn ang="T4">
                  <a:pos x="T0" y="T1"/>
                </a:cxn>
                <a:cxn ang="T5">
                  <a:pos x="T2" y="T3"/>
                </a:cxn>
              </a:cxnLst>
              <a:rect l="0" t="0" r="r" b="b"/>
              <a:pathLst>
                <a:path w="572" h="238">
                  <a:moveTo>
                    <a:pt x="0" y="0"/>
                  </a:moveTo>
                  <a:lnTo>
                    <a:pt x="572" y="238"/>
                  </a:lnTo>
                </a:path>
              </a:pathLst>
            </a:custGeom>
            <a:noFill/>
            <a:ln w="19050">
              <a:solidFill>
                <a:srgbClr val="B2B2B2"/>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5802" name="Line 168"/>
            <p:cNvSpPr>
              <a:spLocks noChangeShapeType="1"/>
            </p:cNvSpPr>
            <p:nvPr/>
          </p:nvSpPr>
          <p:spPr bwMode="auto">
            <a:xfrm flipV="1">
              <a:off x="5318" y="3117"/>
              <a:ext cx="0" cy="474"/>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03" name="Line 169"/>
            <p:cNvSpPr>
              <a:spLocks noChangeShapeType="1"/>
            </p:cNvSpPr>
            <p:nvPr/>
          </p:nvSpPr>
          <p:spPr bwMode="auto">
            <a:xfrm>
              <a:off x="3955" y="2998"/>
              <a:ext cx="0" cy="51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04" name="Freeform 170"/>
            <p:cNvSpPr>
              <a:spLocks/>
            </p:cNvSpPr>
            <p:nvPr/>
          </p:nvSpPr>
          <p:spPr bwMode="auto">
            <a:xfrm>
              <a:off x="3955" y="3375"/>
              <a:ext cx="574" cy="255"/>
            </a:xfrm>
            <a:custGeom>
              <a:avLst/>
              <a:gdLst>
                <a:gd name="T0" fmla="*/ 0 w 647"/>
                <a:gd name="T1" fmla="*/ 255 h 310"/>
                <a:gd name="T2" fmla="*/ 574 w 647"/>
                <a:gd name="T3" fmla="*/ 0 h 310"/>
                <a:gd name="T4" fmla="*/ 0 60000 65536"/>
                <a:gd name="T5" fmla="*/ 0 60000 65536"/>
              </a:gdLst>
              <a:ahLst/>
              <a:cxnLst>
                <a:cxn ang="T4">
                  <a:pos x="T0" y="T1"/>
                </a:cxn>
                <a:cxn ang="T5">
                  <a:pos x="T2" y="T3"/>
                </a:cxn>
              </a:cxnLst>
              <a:rect l="0" t="0" r="r" b="b"/>
              <a:pathLst>
                <a:path w="647" h="310">
                  <a:moveTo>
                    <a:pt x="0" y="310"/>
                  </a:moveTo>
                  <a:lnTo>
                    <a:pt x="647"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05" name="Freeform 171"/>
            <p:cNvSpPr>
              <a:spLocks/>
            </p:cNvSpPr>
            <p:nvPr/>
          </p:nvSpPr>
          <p:spPr bwMode="auto">
            <a:xfrm>
              <a:off x="4065" y="3065"/>
              <a:ext cx="571" cy="249"/>
            </a:xfrm>
            <a:custGeom>
              <a:avLst/>
              <a:gdLst>
                <a:gd name="T0" fmla="*/ 571 w 644"/>
                <a:gd name="T1" fmla="*/ 249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06" name="Freeform 172"/>
            <p:cNvSpPr>
              <a:spLocks/>
            </p:cNvSpPr>
            <p:nvPr/>
          </p:nvSpPr>
          <p:spPr bwMode="auto">
            <a:xfrm>
              <a:off x="4636" y="3059"/>
              <a:ext cx="569" cy="255"/>
            </a:xfrm>
            <a:custGeom>
              <a:avLst/>
              <a:gdLst>
                <a:gd name="T0" fmla="*/ 0 w 641"/>
                <a:gd name="T1" fmla="*/ 255 h 310"/>
                <a:gd name="T2" fmla="*/ 569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07" name="Freeform 173"/>
            <p:cNvSpPr>
              <a:spLocks/>
            </p:cNvSpPr>
            <p:nvPr/>
          </p:nvSpPr>
          <p:spPr bwMode="auto">
            <a:xfrm>
              <a:off x="3955" y="2678"/>
              <a:ext cx="569" cy="320"/>
            </a:xfrm>
            <a:custGeom>
              <a:avLst/>
              <a:gdLst>
                <a:gd name="T0" fmla="*/ 0 w 641"/>
                <a:gd name="T1" fmla="*/ 320 h 389"/>
                <a:gd name="T2" fmla="*/ 569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08" name="Freeform 174"/>
            <p:cNvSpPr>
              <a:spLocks/>
            </p:cNvSpPr>
            <p:nvPr/>
          </p:nvSpPr>
          <p:spPr bwMode="auto">
            <a:xfrm>
              <a:off x="4758" y="2684"/>
              <a:ext cx="560" cy="314"/>
            </a:xfrm>
            <a:custGeom>
              <a:avLst/>
              <a:gdLst>
                <a:gd name="T0" fmla="*/ 560 w 631"/>
                <a:gd name="T1" fmla="*/ 314 h 382"/>
                <a:gd name="T2" fmla="*/ 0 w 631"/>
                <a:gd name="T3" fmla="*/ 0 h 382"/>
                <a:gd name="T4" fmla="*/ 0 60000 65536"/>
                <a:gd name="T5" fmla="*/ 0 60000 65536"/>
              </a:gdLst>
              <a:ahLst/>
              <a:cxnLst>
                <a:cxn ang="T4">
                  <a:pos x="T0" y="T1"/>
                </a:cxn>
                <a:cxn ang="T5">
                  <a:pos x="T2" y="T3"/>
                </a:cxn>
              </a:cxnLst>
              <a:rect l="0" t="0" r="r" b="b"/>
              <a:pathLst>
                <a:path w="631" h="382">
                  <a:moveTo>
                    <a:pt x="631" y="382"/>
                  </a:moveTo>
                  <a:lnTo>
                    <a:pt x="0"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09" name="Oval 175"/>
            <p:cNvSpPr>
              <a:spLocks noChangeArrowheads="1"/>
            </p:cNvSpPr>
            <p:nvPr/>
          </p:nvSpPr>
          <p:spPr bwMode="auto">
            <a:xfrm>
              <a:off x="4509" y="3842"/>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a</a:t>
              </a:r>
            </a:p>
          </p:txBody>
        </p:sp>
        <p:sp>
          <p:nvSpPr>
            <p:cNvPr id="115810" name="Oval 176"/>
            <p:cNvSpPr>
              <a:spLocks noChangeArrowheads="1"/>
            </p:cNvSpPr>
            <p:nvPr/>
          </p:nvSpPr>
          <p:spPr bwMode="auto">
            <a:xfrm>
              <a:off x="3783" y="3486"/>
              <a:ext cx="299"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b</a:t>
              </a:r>
            </a:p>
          </p:txBody>
        </p:sp>
        <p:sp>
          <p:nvSpPr>
            <p:cNvPr id="115811" name="Oval 177"/>
            <p:cNvSpPr>
              <a:spLocks noChangeArrowheads="1"/>
            </p:cNvSpPr>
            <p:nvPr/>
          </p:nvSpPr>
          <p:spPr bwMode="auto">
            <a:xfrm>
              <a:off x="5190" y="3486"/>
              <a:ext cx="273"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c</a:t>
              </a:r>
            </a:p>
          </p:txBody>
        </p:sp>
        <p:sp>
          <p:nvSpPr>
            <p:cNvPr id="115812" name="Oval 178"/>
            <p:cNvSpPr>
              <a:spLocks noChangeArrowheads="1"/>
            </p:cNvSpPr>
            <p:nvPr/>
          </p:nvSpPr>
          <p:spPr bwMode="auto">
            <a:xfrm>
              <a:off x="4509" y="3170"/>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d</a:t>
              </a:r>
            </a:p>
          </p:txBody>
        </p:sp>
        <p:sp>
          <p:nvSpPr>
            <p:cNvPr id="115813" name="Oval 179"/>
            <p:cNvSpPr>
              <a:spLocks noChangeArrowheads="1"/>
            </p:cNvSpPr>
            <p:nvPr/>
          </p:nvSpPr>
          <p:spPr bwMode="auto">
            <a:xfrm>
              <a:off x="3783" y="2855"/>
              <a:ext cx="299"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e</a:t>
              </a:r>
            </a:p>
          </p:txBody>
        </p:sp>
        <p:sp>
          <p:nvSpPr>
            <p:cNvPr id="115814" name="Line 180"/>
            <p:cNvSpPr>
              <a:spLocks noChangeShapeType="1"/>
            </p:cNvSpPr>
            <p:nvPr/>
          </p:nvSpPr>
          <p:spPr bwMode="auto">
            <a:xfrm flipH="1">
              <a:off x="4083" y="2998"/>
              <a:ext cx="1235" cy="0"/>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815" name="Oval 181"/>
            <p:cNvSpPr>
              <a:spLocks noChangeArrowheads="1"/>
            </p:cNvSpPr>
            <p:nvPr/>
          </p:nvSpPr>
          <p:spPr bwMode="auto">
            <a:xfrm>
              <a:off x="4509" y="2499"/>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g</a:t>
              </a:r>
            </a:p>
          </p:txBody>
        </p:sp>
        <p:sp>
          <p:nvSpPr>
            <p:cNvPr id="115816" name="Oval 182"/>
            <p:cNvSpPr>
              <a:spLocks noChangeArrowheads="1"/>
            </p:cNvSpPr>
            <p:nvPr/>
          </p:nvSpPr>
          <p:spPr bwMode="auto">
            <a:xfrm>
              <a:off x="5190" y="2855"/>
              <a:ext cx="273"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f</a:t>
              </a:r>
            </a:p>
          </p:txBody>
        </p:sp>
        <p:sp>
          <p:nvSpPr>
            <p:cNvPr id="115817" name="Rectangle 183"/>
            <p:cNvSpPr>
              <a:spLocks noChangeArrowheads="1"/>
            </p:cNvSpPr>
            <p:nvPr/>
          </p:nvSpPr>
          <p:spPr bwMode="auto">
            <a:xfrm>
              <a:off x="4159" y="2643"/>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3</a:t>
              </a:r>
            </a:p>
          </p:txBody>
        </p:sp>
        <p:sp>
          <p:nvSpPr>
            <p:cNvPr id="115818" name="Rectangle 184"/>
            <p:cNvSpPr>
              <a:spLocks noChangeArrowheads="1"/>
            </p:cNvSpPr>
            <p:nvPr/>
          </p:nvSpPr>
          <p:spPr bwMode="auto">
            <a:xfrm>
              <a:off x="4935" y="2637"/>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2</a:t>
              </a:r>
            </a:p>
          </p:txBody>
        </p:sp>
        <p:sp>
          <p:nvSpPr>
            <p:cNvPr id="115819" name="Rectangle 185"/>
            <p:cNvSpPr>
              <a:spLocks noChangeArrowheads="1"/>
            </p:cNvSpPr>
            <p:nvPr/>
          </p:nvSpPr>
          <p:spPr bwMode="auto">
            <a:xfrm>
              <a:off x="4551" y="2781"/>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a:t>
              </a:r>
            </a:p>
          </p:txBody>
        </p:sp>
        <p:sp>
          <p:nvSpPr>
            <p:cNvPr id="115820" name="Rectangle 186"/>
            <p:cNvSpPr>
              <a:spLocks noChangeArrowheads="1"/>
            </p:cNvSpPr>
            <p:nvPr/>
          </p:nvSpPr>
          <p:spPr bwMode="auto">
            <a:xfrm>
              <a:off x="3687" y="3165"/>
              <a:ext cx="28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t>10</a:t>
              </a:r>
            </a:p>
          </p:txBody>
        </p:sp>
        <p:sp>
          <p:nvSpPr>
            <p:cNvPr id="115821" name="Rectangle 187"/>
            <p:cNvSpPr>
              <a:spLocks noChangeArrowheads="1"/>
            </p:cNvSpPr>
            <p:nvPr/>
          </p:nvSpPr>
          <p:spPr bwMode="auto">
            <a:xfrm>
              <a:off x="4159" y="3117"/>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0</a:t>
              </a:r>
            </a:p>
          </p:txBody>
        </p:sp>
        <p:sp>
          <p:nvSpPr>
            <p:cNvPr id="115822" name="Rectangle 188"/>
            <p:cNvSpPr>
              <a:spLocks noChangeArrowheads="1"/>
            </p:cNvSpPr>
            <p:nvPr/>
          </p:nvSpPr>
          <p:spPr bwMode="auto">
            <a:xfrm>
              <a:off x="4925" y="3117"/>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5</a:t>
              </a:r>
            </a:p>
          </p:txBody>
        </p:sp>
        <p:sp>
          <p:nvSpPr>
            <p:cNvPr id="115823" name="Rectangle 189"/>
            <p:cNvSpPr>
              <a:spLocks noChangeArrowheads="1"/>
            </p:cNvSpPr>
            <p:nvPr/>
          </p:nvSpPr>
          <p:spPr bwMode="auto">
            <a:xfrm>
              <a:off x="5304" y="3235"/>
              <a:ext cx="2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12</a:t>
              </a:r>
            </a:p>
          </p:txBody>
        </p:sp>
        <p:sp>
          <p:nvSpPr>
            <p:cNvPr id="115824" name="Rectangle 190"/>
            <p:cNvSpPr>
              <a:spLocks noChangeArrowheads="1"/>
            </p:cNvSpPr>
            <p:nvPr/>
          </p:nvSpPr>
          <p:spPr bwMode="auto">
            <a:xfrm>
              <a:off x="4243" y="343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8</a:t>
              </a:r>
            </a:p>
          </p:txBody>
        </p:sp>
        <p:sp>
          <p:nvSpPr>
            <p:cNvPr id="115825" name="Rectangle 191"/>
            <p:cNvSpPr>
              <a:spLocks noChangeArrowheads="1"/>
            </p:cNvSpPr>
            <p:nvPr/>
          </p:nvSpPr>
          <p:spPr bwMode="auto">
            <a:xfrm>
              <a:off x="4585" y="355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4</a:t>
              </a:r>
            </a:p>
          </p:txBody>
        </p:sp>
        <p:sp>
          <p:nvSpPr>
            <p:cNvPr id="115826" name="Rectangle 192"/>
            <p:cNvSpPr>
              <a:spLocks noChangeArrowheads="1"/>
            </p:cNvSpPr>
            <p:nvPr/>
          </p:nvSpPr>
          <p:spPr bwMode="auto">
            <a:xfrm>
              <a:off x="4839" y="3393"/>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7</a:t>
              </a:r>
            </a:p>
          </p:txBody>
        </p:sp>
        <p:sp>
          <p:nvSpPr>
            <p:cNvPr id="115827" name="Rectangle 193"/>
            <p:cNvSpPr>
              <a:spLocks noChangeArrowheads="1"/>
            </p:cNvSpPr>
            <p:nvPr/>
          </p:nvSpPr>
          <p:spPr bwMode="auto">
            <a:xfrm>
              <a:off x="4115" y="374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6</a:t>
              </a:r>
            </a:p>
          </p:txBody>
        </p:sp>
        <p:sp>
          <p:nvSpPr>
            <p:cNvPr id="115828" name="Rectangle 194"/>
            <p:cNvSpPr>
              <a:spLocks noChangeArrowheads="1"/>
            </p:cNvSpPr>
            <p:nvPr/>
          </p:nvSpPr>
          <p:spPr bwMode="auto">
            <a:xfrm>
              <a:off x="4925" y="378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15829" name="Rectangle 195"/>
            <p:cNvSpPr>
              <a:spLocks noChangeArrowheads="1"/>
            </p:cNvSpPr>
            <p:nvPr/>
          </p:nvSpPr>
          <p:spPr bwMode="auto">
            <a:xfrm>
              <a:off x="5232" y="374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3</a:t>
              </a:r>
            </a:p>
          </p:txBody>
        </p:sp>
        <p:sp>
          <p:nvSpPr>
            <p:cNvPr id="115830" name="Rectangle 196"/>
            <p:cNvSpPr>
              <a:spLocks noChangeArrowheads="1"/>
            </p:cNvSpPr>
            <p:nvPr/>
          </p:nvSpPr>
          <p:spPr bwMode="auto">
            <a:xfrm>
              <a:off x="5280" y="263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9</a:t>
              </a:r>
            </a:p>
          </p:txBody>
        </p:sp>
        <p:sp>
          <p:nvSpPr>
            <p:cNvPr id="115831" name="Rectangle 197"/>
            <p:cNvSpPr>
              <a:spLocks noChangeArrowheads="1"/>
            </p:cNvSpPr>
            <p:nvPr/>
          </p:nvSpPr>
          <p:spPr bwMode="auto">
            <a:xfrm>
              <a:off x="4758" y="240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7</a:t>
              </a:r>
            </a:p>
          </p:txBody>
        </p:sp>
        <p:sp>
          <p:nvSpPr>
            <p:cNvPr id="115832" name="Rectangle 198"/>
            <p:cNvSpPr>
              <a:spLocks noChangeArrowheads="1"/>
            </p:cNvSpPr>
            <p:nvPr/>
          </p:nvSpPr>
          <p:spPr bwMode="auto">
            <a:xfrm>
              <a:off x="3702" y="268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sp>
          <p:nvSpPr>
            <p:cNvPr id="115833" name="Rectangle 199"/>
            <p:cNvSpPr>
              <a:spLocks noChangeArrowheads="1"/>
            </p:cNvSpPr>
            <p:nvPr/>
          </p:nvSpPr>
          <p:spPr bwMode="auto">
            <a:xfrm>
              <a:off x="3666" y="3744"/>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14</a:t>
              </a:r>
            </a:p>
          </p:txBody>
        </p:sp>
        <p:sp>
          <p:nvSpPr>
            <p:cNvPr id="115834" name="Rectangle 200"/>
            <p:cNvSpPr>
              <a:spLocks noChangeArrowheads="1"/>
            </p:cNvSpPr>
            <p:nvPr/>
          </p:nvSpPr>
          <p:spPr bwMode="auto">
            <a:xfrm>
              <a:off x="4737" y="3977"/>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0</a:t>
              </a:r>
            </a:p>
          </p:txBody>
        </p:sp>
        <p:sp>
          <p:nvSpPr>
            <p:cNvPr id="115835" name="Text Box 201"/>
            <p:cNvSpPr txBox="1">
              <a:spLocks noChangeArrowheads="1"/>
            </p:cNvSpPr>
            <p:nvPr/>
          </p:nvSpPr>
          <p:spPr bwMode="auto">
            <a:xfrm>
              <a:off x="2963" y="2493"/>
              <a:ext cx="7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7) Scan b:</a:t>
              </a:r>
            </a:p>
          </p:txBody>
        </p:sp>
        <p:sp>
          <p:nvSpPr>
            <p:cNvPr id="115836" name="Rectangle 202"/>
            <p:cNvSpPr>
              <a:spLocks noChangeArrowheads="1"/>
            </p:cNvSpPr>
            <p:nvPr/>
          </p:nvSpPr>
          <p:spPr bwMode="auto">
            <a:xfrm>
              <a:off x="4614" y="297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grpSp>
      <p:grpSp>
        <p:nvGrpSpPr>
          <p:cNvPr id="115717" name="Group 244"/>
          <p:cNvGrpSpPr>
            <a:grpSpLocks/>
          </p:cNvGrpSpPr>
          <p:nvPr/>
        </p:nvGrpSpPr>
        <p:grpSpPr bwMode="auto">
          <a:xfrm>
            <a:off x="152400" y="685800"/>
            <a:ext cx="4122738" cy="2870200"/>
            <a:chOff x="100" y="2355"/>
            <a:chExt cx="2597" cy="1808"/>
          </a:xfrm>
        </p:grpSpPr>
        <p:sp>
          <p:nvSpPr>
            <p:cNvPr id="115759" name="Freeform 245"/>
            <p:cNvSpPr>
              <a:spLocks/>
            </p:cNvSpPr>
            <p:nvPr/>
          </p:nvSpPr>
          <p:spPr bwMode="auto">
            <a:xfrm>
              <a:off x="1812" y="3663"/>
              <a:ext cx="538" cy="278"/>
            </a:xfrm>
            <a:custGeom>
              <a:avLst/>
              <a:gdLst>
                <a:gd name="T0" fmla="*/ 0 w 606"/>
                <a:gd name="T1" fmla="*/ 278 h 338"/>
                <a:gd name="T2" fmla="*/ 538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60" name="Line 246"/>
            <p:cNvSpPr>
              <a:spLocks noChangeShapeType="1"/>
            </p:cNvSpPr>
            <p:nvPr/>
          </p:nvSpPr>
          <p:spPr bwMode="auto">
            <a:xfrm flipV="1">
              <a:off x="1769" y="3418"/>
              <a:ext cx="0" cy="5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61" name="Freeform 247"/>
            <p:cNvSpPr>
              <a:spLocks/>
            </p:cNvSpPr>
            <p:nvPr/>
          </p:nvSpPr>
          <p:spPr bwMode="auto">
            <a:xfrm>
              <a:off x="1088" y="3585"/>
              <a:ext cx="556" cy="329"/>
            </a:xfrm>
            <a:custGeom>
              <a:avLst/>
              <a:gdLst>
                <a:gd name="T0" fmla="*/ 0 w 627"/>
                <a:gd name="T1" fmla="*/ 0 h 399"/>
                <a:gd name="T2" fmla="*/ 556 w 627"/>
                <a:gd name="T3" fmla="*/ 329 h 399"/>
                <a:gd name="T4" fmla="*/ 0 60000 65536"/>
                <a:gd name="T5" fmla="*/ 0 60000 65536"/>
              </a:gdLst>
              <a:ahLst/>
              <a:cxnLst>
                <a:cxn ang="T4">
                  <a:pos x="T0" y="T1"/>
                </a:cxn>
                <a:cxn ang="T5">
                  <a:pos x="T2" y="T3"/>
                </a:cxn>
              </a:cxnLst>
              <a:rect l="0" t="0" r="r" b="b"/>
              <a:pathLst>
                <a:path w="627" h="399">
                  <a:moveTo>
                    <a:pt x="0" y="0"/>
                  </a:moveTo>
                  <a:lnTo>
                    <a:pt x="627" y="399"/>
                  </a:lnTo>
                </a:path>
              </a:pathLst>
            </a:custGeom>
            <a:solidFill>
              <a:srgbClr val="B2B2B2"/>
            </a:solidFill>
            <a:ln w="19050" cap="flat" cmpd="sng">
              <a:solidFill>
                <a:srgbClr val="B2B2B2"/>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62" name="Freeform 248"/>
            <p:cNvSpPr>
              <a:spLocks/>
            </p:cNvSpPr>
            <p:nvPr/>
          </p:nvSpPr>
          <p:spPr bwMode="auto">
            <a:xfrm>
              <a:off x="1769" y="3269"/>
              <a:ext cx="572" cy="238"/>
            </a:xfrm>
            <a:custGeom>
              <a:avLst/>
              <a:gdLst>
                <a:gd name="T0" fmla="*/ 0 w 572"/>
                <a:gd name="T1" fmla="*/ 0 h 238"/>
                <a:gd name="T2" fmla="*/ 572 w 572"/>
                <a:gd name="T3" fmla="*/ 238 h 238"/>
                <a:gd name="T4" fmla="*/ 0 60000 65536"/>
                <a:gd name="T5" fmla="*/ 0 60000 65536"/>
              </a:gdLst>
              <a:ahLst/>
              <a:cxnLst>
                <a:cxn ang="T4">
                  <a:pos x="T0" y="T1"/>
                </a:cxn>
                <a:cxn ang="T5">
                  <a:pos x="T2" y="T3"/>
                </a:cxn>
              </a:cxnLst>
              <a:rect l="0" t="0" r="r" b="b"/>
              <a:pathLst>
                <a:path w="572" h="238">
                  <a:moveTo>
                    <a:pt x="0" y="0"/>
                  </a:moveTo>
                  <a:lnTo>
                    <a:pt x="572" y="238"/>
                  </a:lnTo>
                </a:path>
              </a:pathLst>
            </a:custGeom>
            <a:noFill/>
            <a:ln w="19050">
              <a:solidFill>
                <a:srgbClr val="B2B2B2"/>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5763" name="Line 249"/>
            <p:cNvSpPr>
              <a:spLocks noChangeShapeType="1"/>
            </p:cNvSpPr>
            <p:nvPr/>
          </p:nvSpPr>
          <p:spPr bwMode="auto">
            <a:xfrm flipV="1">
              <a:off x="2451" y="3072"/>
              <a:ext cx="0" cy="474"/>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64" name="Line 250"/>
            <p:cNvSpPr>
              <a:spLocks noChangeShapeType="1"/>
            </p:cNvSpPr>
            <p:nvPr/>
          </p:nvSpPr>
          <p:spPr bwMode="auto">
            <a:xfrm>
              <a:off x="1088" y="2953"/>
              <a:ext cx="0" cy="51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65" name="Freeform 251"/>
            <p:cNvSpPr>
              <a:spLocks/>
            </p:cNvSpPr>
            <p:nvPr/>
          </p:nvSpPr>
          <p:spPr bwMode="auto">
            <a:xfrm>
              <a:off x="1088" y="3330"/>
              <a:ext cx="574" cy="255"/>
            </a:xfrm>
            <a:custGeom>
              <a:avLst/>
              <a:gdLst>
                <a:gd name="T0" fmla="*/ 0 w 647"/>
                <a:gd name="T1" fmla="*/ 255 h 310"/>
                <a:gd name="T2" fmla="*/ 574 w 647"/>
                <a:gd name="T3" fmla="*/ 0 h 310"/>
                <a:gd name="T4" fmla="*/ 0 60000 65536"/>
                <a:gd name="T5" fmla="*/ 0 60000 65536"/>
              </a:gdLst>
              <a:ahLst/>
              <a:cxnLst>
                <a:cxn ang="T4">
                  <a:pos x="T0" y="T1"/>
                </a:cxn>
                <a:cxn ang="T5">
                  <a:pos x="T2" y="T3"/>
                </a:cxn>
              </a:cxnLst>
              <a:rect l="0" t="0" r="r" b="b"/>
              <a:pathLst>
                <a:path w="647" h="310">
                  <a:moveTo>
                    <a:pt x="0" y="310"/>
                  </a:moveTo>
                  <a:lnTo>
                    <a:pt x="647"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66" name="Freeform 252"/>
            <p:cNvSpPr>
              <a:spLocks/>
            </p:cNvSpPr>
            <p:nvPr/>
          </p:nvSpPr>
          <p:spPr bwMode="auto">
            <a:xfrm>
              <a:off x="1198" y="3020"/>
              <a:ext cx="571" cy="249"/>
            </a:xfrm>
            <a:custGeom>
              <a:avLst/>
              <a:gdLst>
                <a:gd name="T0" fmla="*/ 571 w 644"/>
                <a:gd name="T1" fmla="*/ 249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67" name="Freeform 253"/>
            <p:cNvSpPr>
              <a:spLocks/>
            </p:cNvSpPr>
            <p:nvPr/>
          </p:nvSpPr>
          <p:spPr bwMode="auto">
            <a:xfrm>
              <a:off x="1769" y="3014"/>
              <a:ext cx="569" cy="255"/>
            </a:xfrm>
            <a:custGeom>
              <a:avLst/>
              <a:gdLst>
                <a:gd name="T0" fmla="*/ 0 w 641"/>
                <a:gd name="T1" fmla="*/ 255 h 310"/>
                <a:gd name="T2" fmla="*/ 569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68" name="Freeform 254"/>
            <p:cNvSpPr>
              <a:spLocks/>
            </p:cNvSpPr>
            <p:nvPr/>
          </p:nvSpPr>
          <p:spPr bwMode="auto">
            <a:xfrm>
              <a:off x="1088" y="2633"/>
              <a:ext cx="569" cy="320"/>
            </a:xfrm>
            <a:custGeom>
              <a:avLst/>
              <a:gdLst>
                <a:gd name="T0" fmla="*/ 0 w 641"/>
                <a:gd name="T1" fmla="*/ 320 h 389"/>
                <a:gd name="T2" fmla="*/ 569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69" name="Freeform 255"/>
            <p:cNvSpPr>
              <a:spLocks/>
            </p:cNvSpPr>
            <p:nvPr/>
          </p:nvSpPr>
          <p:spPr bwMode="auto">
            <a:xfrm>
              <a:off x="1891" y="2639"/>
              <a:ext cx="560" cy="314"/>
            </a:xfrm>
            <a:custGeom>
              <a:avLst/>
              <a:gdLst>
                <a:gd name="T0" fmla="*/ 560 w 631"/>
                <a:gd name="T1" fmla="*/ 314 h 382"/>
                <a:gd name="T2" fmla="*/ 0 w 631"/>
                <a:gd name="T3" fmla="*/ 0 h 382"/>
                <a:gd name="T4" fmla="*/ 0 60000 65536"/>
                <a:gd name="T5" fmla="*/ 0 60000 65536"/>
              </a:gdLst>
              <a:ahLst/>
              <a:cxnLst>
                <a:cxn ang="T4">
                  <a:pos x="T0" y="T1"/>
                </a:cxn>
                <a:cxn ang="T5">
                  <a:pos x="T2" y="T3"/>
                </a:cxn>
              </a:cxnLst>
              <a:rect l="0" t="0" r="r" b="b"/>
              <a:pathLst>
                <a:path w="631" h="382">
                  <a:moveTo>
                    <a:pt x="631" y="382"/>
                  </a:moveTo>
                  <a:lnTo>
                    <a:pt x="0"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70" name="Oval 256"/>
            <p:cNvSpPr>
              <a:spLocks noChangeArrowheads="1"/>
            </p:cNvSpPr>
            <p:nvPr/>
          </p:nvSpPr>
          <p:spPr bwMode="auto">
            <a:xfrm>
              <a:off x="1642" y="3797"/>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a</a:t>
              </a:r>
            </a:p>
          </p:txBody>
        </p:sp>
        <p:sp>
          <p:nvSpPr>
            <p:cNvPr id="115771" name="Oval 257"/>
            <p:cNvSpPr>
              <a:spLocks noChangeArrowheads="1"/>
            </p:cNvSpPr>
            <p:nvPr/>
          </p:nvSpPr>
          <p:spPr bwMode="auto">
            <a:xfrm>
              <a:off x="916" y="3441"/>
              <a:ext cx="299"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b</a:t>
              </a:r>
            </a:p>
          </p:txBody>
        </p:sp>
        <p:sp>
          <p:nvSpPr>
            <p:cNvPr id="115772" name="Oval 258"/>
            <p:cNvSpPr>
              <a:spLocks noChangeArrowheads="1"/>
            </p:cNvSpPr>
            <p:nvPr/>
          </p:nvSpPr>
          <p:spPr bwMode="auto">
            <a:xfrm>
              <a:off x="2323" y="3441"/>
              <a:ext cx="273"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c</a:t>
              </a:r>
            </a:p>
          </p:txBody>
        </p:sp>
        <p:sp>
          <p:nvSpPr>
            <p:cNvPr id="115773" name="Oval 259"/>
            <p:cNvSpPr>
              <a:spLocks noChangeArrowheads="1"/>
            </p:cNvSpPr>
            <p:nvPr/>
          </p:nvSpPr>
          <p:spPr bwMode="auto">
            <a:xfrm>
              <a:off x="1642" y="3125"/>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d</a:t>
              </a:r>
            </a:p>
          </p:txBody>
        </p:sp>
        <p:sp>
          <p:nvSpPr>
            <p:cNvPr id="115774" name="Oval 260"/>
            <p:cNvSpPr>
              <a:spLocks noChangeArrowheads="1"/>
            </p:cNvSpPr>
            <p:nvPr/>
          </p:nvSpPr>
          <p:spPr bwMode="auto">
            <a:xfrm>
              <a:off x="916" y="2810"/>
              <a:ext cx="299"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e</a:t>
              </a:r>
            </a:p>
          </p:txBody>
        </p:sp>
        <p:sp>
          <p:nvSpPr>
            <p:cNvPr id="115775" name="Line 261"/>
            <p:cNvSpPr>
              <a:spLocks noChangeShapeType="1"/>
            </p:cNvSpPr>
            <p:nvPr/>
          </p:nvSpPr>
          <p:spPr bwMode="auto">
            <a:xfrm flipH="1">
              <a:off x="1216" y="2953"/>
              <a:ext cx="1235" cy="0"/>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76" name="Oval 262"/>
            <p:cNvSpPr>
              <a:spLocks noChangeArrowheads="1"/>
            </p:cNvSpPr>
            <p:nvPr/>
          </p:nvSpPr>
          <p:spPr bwMode="auto">
            <a:xfrm>
              <a:off x="1642" y="2454"/>
              <a:ext cx="282"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g</a:t>
              </a:r>
            </a:p>
          </p:txBody>
        </p:sp>
        <p:sp>
          <p:nvSpPr>
            <p:cNvPr id="115777" name="Oval 263"/>
            <p:cNvSpPr>
              <a:spLocks noChangeArrowheads="1"/>
            </p:cNvSpPr>
            <p:nvPr/>
          </p:nvSpPr>
          <p:spPr bwMode="auto">
            <a:xfrm>
              <a:off x="2323" y="2810"/>
              <a:ext cx="273"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f</a:t>
              </a:r>
            </a:p>
          </p:txBody>
        </p:sp>
        <p:sp>
          <p:nvSpPr>
            <p:cNvPr id="115778" name="Rectangle 264"/>
            <p:cNvSpPr>
              <a:spLocks noChangeArrowheads="1"/>
            </p:cNvSpPr>
            <p:nvPr/>
          </p:nvSpPr>
          <p:spPr bwMode="auto">
            <a:xfrm>
              <a:off x="1292" y="259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3</a:t>
              </a:r>
            </a:p>
          </p:txBody>
        </p:sp>
        <p:sp>
          <p:nvSpPr>
            <p:cNvPr id="115779" name="Rectangle 265"/>
            <p:cNvSpPr>
              <a:spLocks noChangeArrowheads="1"/>
            </p:cNvSpPr>
            <p:nvPr/>
          </p:nvSpPr>
          <p:spPr bwMode="auto">
            <a:xfrm>
              <a:off x="2068" y="259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2</a:t>
              </a:r>
            </a:p>
          </p:txBody>
        </p:sp>
        <p:sp>
          <p:nvSpPr>
            <p:cNvPr id="115780" name="Rectangle 266"/>
            <p:cNvSpPr>
              <a:spLocks noChangeArrowheads="1"/>
            </p:cNvSpPr>
            <p:nvPr/>
          </p:nvSpPr>
          <p:spPr bwMode="auto">
            <a:xfrm>
              <a:off x="1684" y="2736"/>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a:t>
              </a:r>
            </a:p>
          </p:txBody>
        </p:sp>
        <p:sp>
          <p:nvSpPr>
            <p:cNvPr id="115781" name="Rectangle 267"/>
            <p:cNvSpPr>
              <a:spLocks noChangeArrowheads="1"/>
            </p:cNvSpPr>
            <p:nvPr/>
          </p:nvSpPr>
          <p:spPr bwMode="auto">
            <a:xfrm>
              <a:off x="820" y="3120"/>
              <a:ext cx="28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t>10</a:t>
              </a:r>
            </a:p>
          </p:txBody>
        </p:sp>
        <p:sp>
          <p:nvSpPr>
            <p:cNvPr id="115782" name="Rectangle 268"/>
            <p:cNvSpPr>
              <a:spLocks noChangeArrowheads="1"/>
            </p:cNvSpPr>
            <p:nvPr/>
          </p:nvSpPr>
          <p:spPr bwMode="auto">
            <a:xfrm>
              <a:off x="1292" y="307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0</a:t>
              </a:r>
            </a:p>
          </p:txBody>
        </p:sp>
        <p:sp>
          <p:nvSpPr>
            <p:cNvPr id="115783" name="Rectangle 269"/>
            <p:cNvSpPr>
              <a:spLocks noChangeArrowheads="1"/>
            </p:cNvSpPr>
            <p:nvPr/>
          </p:nvSpPr>
          <p:spPr bwMode="auto">
            <a:xfrm>
              <a:off x="2058" y="307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5</a:t>
              </a:r>
            </a:p>
          </p:txBody>
        </p:sp>
        <p:sp>
          <p:nvSpPr>
            <p:cNvPr id="115784" name="Rectangle 270"/>
            <p:cNvSpPr>
              <a:spLocks noChangeArrowheads="1"/>
            </p:cNvSpPr>
            <p:nvPr/>
          </p:nvSpPr>
          <p:spPr bwMode="auto">
            <a:xfrm>
              <a:off x="2437" y="3190"/>
              <a:ext cx="2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12</a:t>
              </a:r>
            </a:p>
          </p:txBody>
        </p:sp>
        <p:sp>
          <p:nvSpPr>
            <p:cNvPr id="115785" name="Rectangle 271"/>
            <p:cNvSpPr>
              <a:spLocks noChangeArrowheads="1"/>
            </p:cNvSpPr>
            <p:nvPr/>
          </p:nvSpPr>
          <p:spPr bwMode="auto">
            <a:xfrm>
              <a:off x="1376" y="3387"/>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8</a:t>
              </a:r>
            </a:p>
          </p:txBody>
        </p:sp>
        <p:sp>
          <p:nvSpPr>
            <p:cNvPr id="115786" name="Rectangle 272"/>
            <p:cNvSpPr>
              <a:spLocks noChangeArrowheads="1"/>
            </p:cNvSpPr>
            <p:nvPr/>
          </p:nvSpPr>
          <p:spPr bwMode="auto">
            <a:xfrm>
              <a:off x="1718" y="350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4</a:t>
              </a:r>
            </a:p>
          </p:txBody>
        </p:sp>
        <p:sp>
          <p:nvSpPr>
            <p:cNvPr id="115787" name="Rectangle 273"/>
            <p:cNvSpPr>
              <a:spLocks noChangeArrowheads="1"/>
            </p:cNvSpPr>
            <p:nvPr/>
          </p:nvSpPr>
          <p:spPr bwMode="auto">
            <a:xfrm>
              <a:off x="1972" y="334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7</a:t>
              </a:r>
            </a:p>
          </p:txBody>
        </p:sp>
        <p:sp>
          <p:nvSpPr>
            <p:cNvPr id="115788" name="Rectangle 274"/>
            <p:cNvSpPr>
              <a:spLocks noChangeArrowheads="1"/>
            </p:cNvSpPr>
            <p:nvPr/>
          </p:nvSpPr>
          <p:spPr bwMode="auto">
            <a:xfrm>
              <a:off x="1248" y="3703"/>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6</a:t>
              </a:r>
            </a:p>
          </p:txBody>
        </p:sp>
        <p:sp>
          <p:nvSpPr>
            <p:cNvPr id="115789" name="Rectangle 275"/>
            <p:cNvSpPr>
              <a:spLocks noChangeArrowheads="1"/>
            </p:cNvSpPr>
            <p:nvPr/>
          </p:nvSpPr>
          <p:spPr bwMode="auto">
            <a:xfrm>
              <a:off x="2058" y="3743"/>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15790" name="Rectangle 276"/>
            <p:cNvSpPr>
              <a:spLocks noChangeArrowheads="1"/>
            </p:cNvSpPr>
            <p:nvPr/>
          </p:nvSpPr>
          <p:spPr bwMode="auto">
            <a:xfrm>
              <a:off x="2365" y="3695"/>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3</a:t>
              </a:r>
            </a:p>
          </p:txBody>
        </p:sp>
        <p:sp>
          <p:nvSpPr>
            <p:cNvPr id="115791" name="Rectangle 277"/>
            <p:cNvSpPr>
              <a:spLocks noChangeArrowheads="1"/>
            </p:cNvSpPr>
            <p:nvPr/>
          </p:nvSpPr>
          <p:spPr bwMode="auto">
            <a:xfrm>
              <a:off x="2413" y="2591"/>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9</a:t>
              </a:r>
            </a:p>
          </p:txBody>
        </p:sp>
        <p:sp>
          <p:nvSpPr>
            <p:cNvPr id="115792" name="Rectangle 278"/>
            <p:cNvSpPr>
              <a:spLocks noChangeArrowheads="1"/>
            </p:cNvSpPr>
            <p:nvPr/>
          </p:nvSpPr>
          <p:spPr bwMode="auto">
            <a:xfrm>
              <a:off x="1891" y="2355"/>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7</a:t>
              </a:r>
            </a:p>
          </p:txBody>
        </p:sp>
        <p:sp>
          <p:nvSpPr>
            <p:cNvPr id="115793" name="Rectangle 279"/>
            <p:cNvSpPr>
              <a:spLocks noChangeArrowheads="1"/>
            </p:cNvSpPr>
            <p:nvPr/>
          </p:nvSpPr>
          <p:spPr bwMode="auto">
            <a:xfrm>
              <a:off x="835" y="2643"/>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sp>
          <p:nvSpPr>
            <p:cNvPr id="115794" name="Rectangle 280"/>
            <p:cNvSpPr>
              <a:spLocks noChangeArrowheads="1"/>
            </p:cNvSpPr>
            <p:nvPr/>
          </p:nvSpPr>
          <p:spPr bwMode="auto">
            <a:xfrm>
              <a:off x="799" y="3699"/>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14</a:t>
              </a:r>
            </a:p>
          </p:txBody>
        </p:sp>
        <p:sp>
          <p:nvSpPr>
            <p:cNvPr id="115795" name="Rectangle 281"/>
            <p:cNvSpPr>
              <a:spLocks noChangeArrowheads="1"/>
            </p:cNvSpPr>
            <p:nvPr/>
          </p:nvSpPr>
          <p:spPr bwMode="auto">
            <a:xfrm>
              <a:off x="1870" y="393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0</a:t>
              </a:r>
            </a:p>
          </p:txBody>
        </p:sp>
        <p:sp>
          <p:nvSpPr>
            <p:cNvPr id="115796" name="Text Box 282"/>
            <p:cNvSpPr txBox="1">
              <a:spLocks noChangeArrowheads="1"/>
            </p:cNvSpPr>
            <p:nvPr/>
          </p:nvSpPr>
          <p:spPr bwMode="auto">
            <a:xfrm>
              <a:off x="100" y="2448"/>
              <a:ext cx="75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4) Scan e:</a:t>
              </a:r>
            </a:p>
          </p:txBody>
        </p:sp>
        <p:sp>
          <p:nvSpPr>
            <p:cNvPr id="115797" name="Rectangle 283"/>
            <p:cNvSpPr>
              <a:spLocks noChangeArrowheads="1"/>
            </p:cNvSpPr>
            <p:nvPr/>
          </p:nvSpPr>
          <p:spPr bwMode="auto">
            <a:xfrm>
              <a:off x="1747" y="2931"/>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grpSp>
      <p:grpSp>
        <p:nvGrpSpPr>
          <p:cNvPr id="115718" name="Group 284"/>
          <p:cNvGrpSpPr>
            <a:grpSpLocks/>
          </p:cNvGrpSpPr>
          <p:nvPr/>
        </p:nvGrpSpPr>
        <p:grpSpPr bwMode="auto">
          <a:xfrm>
            <a:off x="4724400" y="685800"/>
            <a:ext cx="4129088" cy="2870200"/>
            <a:chOff x="92" y="432"/>
            <a:chExt cx="2601" cy="1808"/>
          </a:xfrm>
        </p:grpSpPr>
        <p:sp>
          <p:nvSpPr>
            <p:cNvPr id="115720" name="Freeform 285"/>
            <p:cNvSpPr>
              <a:spLocks/>
            </p:cNvSpPr>
            <p:nvPr/>
          </p:nvSpPr>
          <p:spPr bwMode="auto">
            <a:xfrm>
              <a:off x="1808" y="1740"/>
              <a:ext cx="538" cy="278"/>
            </a:xfrm>
            <a:custGeom>
              <a:avLst/>
              <a:gdLst>
                <a:gd name="T0" fmla="*/ 0 w 606"/>
                <a:gd name="T1" fmla="*/ 278 h 338"/>
                <a:gd name="T2" fmla="*/ 538 w 606"/>
                <a:gd name="T3" fmla="*/ 0 h 338"/>
                <a:gd name="T4" fmla="*/ 0 60000 65536"/>
                <a:gd name="T5" fmla="*/ 0 60000 65536"/>
              </a:gdLst>
              <a:ahLst/>
              <a:cxnLst>
                <a:cxn ang="T4">
                  <a:pos x="T0" y="T1"/>
                </a:cxn>
                <a:cxn ang="T5">
                  <a:pos x="T2" y="T3"/>
                </a:cxn>
              </a:cxnLst>
              <a:rect l="0" t="0" r="r" b="b"/>
              <a:pathLst>
                <a:path w="606" h="338">
                  <a:moveTo>
                    <a:pt x="0" y="338"/>
                  </a:moveTo>
                  <a:lnTo>
                    <a:pt x="60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21" name="Line 286"/>
            <p:cNvSpPr>
              <a:spLocks noChangeShapeType="1"/>
            </p:cNvSpPr>
            <p:nvPr/>
          </p:nvSpPr>
          <p:spPr bwMode="auto">
            <a:xfrm flipV="1">
              <a:off x="1765" y="1490"/>
              <a:ext cx="0" cy="55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22" name="Freeform 287"/>
            <p:cNvSpPr>
              <a:spLocks/>
            </p:cNvSpPr>
            <p:nvPr/>
          </p:nvSpPr>
          <p:spPr bwMode="auto">
            <a:xfrm>
              <a:off x="1084" y="1662"/>
              <a:ext cx="556" cy="329"/>
            </a:xfrm>
            <a:custGeom>
              <a:avLst/>
              <a:gdLst>
                <a:gd name="T0" fmla="*/ 0 w 627"/>
                <a:gd name="T1" fmla="*/ 0 h 399"/>
                <a:gd name="T2" fmla="*/ 556 w 627"/>
                <a:gd name="T3" fmla="*/ 329 h 399"/>
                <a:gd name="T4" fmla="*/ 0 60000 65536"/>
                <a:gd name="T5" fmla="*/ 0 60000 65536"/>
              </a:gdLst>
              <a:ahLst/>
              <a:cxnLst>
                <a:cxn ang="T4">
                  <a:pos x="T0" y="T1"/>
                </a:cxn>
                <a:cxn ang="T5">
                  <a:pos x="T2" y="T3"/>
                </a:cxn>
              </a:cxnLst>
              <a:rect l="0" t="0" r="r" b="b"/>
              <a:pathLst>
                <a:path w="627" h="399">
                  <a:moveTo>
                    <a:pt x="0" y="0"/>
                  </a:moveTo>
                  <a:lnTo>
                    <a:pt x="627" y="399"/>
                  </a:lnTo>
                </a:path>
              </a:pathLst>
            </a:custGeom>
            <a:solidFill>
              <a:srgbClr val="B2B2B2"/>
            </a:solidFill>
            <a:ln w="19050" cap="flat" cmpd="sng">
              <a:solidFill>
                <a:srgbClr val="B2B2B2"/>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23" name="Freeform 288"/>
            <p:cNvSpPr>
              <a:spLocks/>
            </p:cNvSpPr>
            <p:nvPr/>
          </p:nvSpPr>
          <p:spPr bwMode="auto">
            <a:xfrm>
              <a:off x="1765" y="1346"/>
              <a:ext cx="572" cy="238"/>
            </a:xfrm>
            <a:custGeom>
              <a:avLst/>
              <a:gdLst>
                <a:gd name="T0" fmla="*/ 0 w 572"/>
                <a:gd name="T1" fmla="*/ 0 h 238"/>
                <a:gd name="T2" fmla="*/ 572 w 572"/>
                <a:gd name="T3" fmla="*/ 238 h 238"/>
                <a:gd name="T4" fmla="*/ 0 60000 65536"/>
                <a:gd name="T5" fmla="*/ 0 60000 65536"/>
              </a:gdLst>
              <a:ahLst/>
              <a:cxnLst>
                <a:cxn ang="T4">
                  <a:pos x="T0" y="T1"/>
                </a:cxn>
                <a:cxn ang="T5">
                  <a:pos x="T2" y="T3"/>
                </a:cxn>
              </a:cxnLst>
              <a:rect l="0" t="0" r="r" b="b"/>
              <a:pathLst>
                <a:path w="572" h="238">
                  <a:moveTo>
                    <a:pt x="0" y="0"/>
                  </a:moveTo>
                  <a:lnTo>
                    <a:pt x="572" y="238"/>
                  </a:lnTo>
                </a:path>
              </a:pathLst>
            </a:custGeom>
            <a:noFill/>
            <a:ln w="19050">
              <a:solidFill>
                <a:srgbClr val="B2B2B2"/>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5724" name="Line 289"/>
            <p:cNvSpPr>
              <a:spLocks noChangeShapeType="1"/>
            </p:cNvSpPr>
            <p:nvPr/>
          </p:nvSpPr>
          <p:spPr bwMode="auto">
            <a:xfrm flipV="1">
              <a:off x="2447" y="1149"/>
              <a:ext cx="0" cy="474"/>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25" name="Line 290"/>
            <p:cNvSpPr>
              <a:spLocks noChangeShapeType="1"/>
            </p:cNvSpPr>
            <p:nvPr/>
          </p:nvSpPr>
          <p:spPr bwMode="auto">
            <a:xfrm>
              <a:off x="1084" y="1030"/>
              <a:ext cx="0" cy="51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26" name="Freeform 291"/>
            <p:cNvSpPr>
              <a:spLocks/>
            </p:cNvSpPr>
            <p:nvPr/>
          </p:nvSpPr>
          <p:spPr bwMode="auto">
            <a:xfrm>
              <a:off x="1084" y="1407"/>
              <a:ext cx="574" cy="255"/>
            </a:xfrm>
            <a:custGeom>
              <a:avLst/>
              <a:gdLst>
                <a:gd name="T0" fmla="*/ 0 w 647"/>
                <a:gd name="T1" fmla="*/ 255 h 310"/>
                <a:gd name="T2" fmla="*/ 574 w 647"/>
                <a:gd name="T3" fmla="*/ 0 h 310"/>
                <a:gd name="T4" fmla="*/ 0 60000 65536"/>
                <a:gd name="T5" fmla="*/ 0 60000 65536"/>
              </a:gdLst>
              <a:ahLst/>
              <a:cxnLst>
                <a:cxn ang="T4">
                  <a:pos x="T0" y="T1"/>
                </a:cxn>
                <a:cxn ang="T5">
                  <a:pos x="T2" y="T3"/>
                </a:cxn>
              </a:cxnLst>
              <a:rect l="0" t="0" r="r" b="b"/>
              <a:pathLst>
                <a:path w="647" h="310">
                  <a:moveTo>
                    <a:pt x="0" y="310"/>
                  </a:moveTo>
                  <a:lnTo>
                    <a:pt x="647"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27" name="Freeform 292"/>
            <p:cNvSpPr>
              <a:spLocks/>
            </p:cNvSpPr>
            <p:nvPr/>
          </p:nvSpPr>
          <p:spPr bwMode="auto">
            <a:xfrm>
              <a:off x="1194" y="1097"/>
              <a:ext cx="571" cy="249"/>
            </a:xfrm>
            <a:custGeom>
              <a:avLst/>
              <a:gdLst>
                <a:gd name="T0" fmla="*/ 571 w 644"/>
                <a:gd name="T1" fmla="*/ 249 h 303"/>
                <a:gd name="T2" fmla="*/ 0 w 644"/>
                <a:gd name="T3" fmla="*/ 0 h 303"/>
                <a:gd name="T4" fmla="*/ 0 60000 65536"/>
                <a:gd name="T5" fmla="*/ 0 60000 65536"/>
              </a:gdLst>
              <a:ahLst/>
              <a:cxnLst>
                <a:cxn ang="T4">
                  <a:pos x="T0" y="T1"/>
                </a:cxn>
                <a:cxn ang="T5">
                  <a:pos x="T2" y="T3"/>
                </a:cxn>
              </a:cxnLst>
              <a:rect l="0" t="0" r="r" b="b"/>
              <a:pathLst>
                <a:path w="644" h="303">
                  <a:moveTo>
                    <a:pt x="644" y="303"/>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28" name="Freeform 293"/>
            <p:cNvSpPr>
              <a:spLocks/>
            </p:cNvSpPr>
            <p:nvPr/>
          </p:nvSpPr>
          <p:spPr bwMode="auto">
            <a:xfrm>
              <a:off x="1765" y="1091"/>
              <a:ext cx="569" cy="255"/>
            </a:xfrm>
            <a:custGeom>
              <a:avLst/>
              <a:gdLst>
                <a:gd name="T0" fmla="*/ 0 w 641"/>
                <a:gd name="T1" fmla="*/ 255 h 310"/>
                <a:gd name="T2" fmla="*/ 569 w 641"/>
                <a:gd name="T3" fmla="*/ 0 h 310"/>
                <a:gd name="T4" fmla="*/ 0 60000 65536"/>
                <a:gd name="T5" fmla="*/ 0 60000 65536"/>
              </a:gdLst>
              <a:ahLst/>
              <a:cxnLst>
                <a:cxn ang="T4">
                  <a:pos x="T0" y="T1"/>
                </a:cxn>
                <a:cxn ang="T5">
                  <a:pos x="T2" y="T3"/>
                </a:cxn>
              </a:cxnLst>
              <a:rect l="0" t="0" r="r" b="b"/>
              <a:pathLst>
                <a:path w="641" h="310">
                  <a:moveTo>
                    <a:pt x="0" y="310"/>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29" name="Freeform 294"/>
            <p:cNvSpPr>
              <a:spLocks/>
            </p:cNvSpPr>
            <p:nvPr/>
          </p:nvSpPr>
          <p:spPr bwMode="auto">
            <a:xfrm>
              <a:off x="1084" y="710"/>
              <a:ext cx="569" cy="320"/>
            </a:xfrm>
            <a:custGeom>
              <a:avLst/>
              <a:gdLst>
                <a:gd name="T0" fmla="*/ 0 w 641"/>
                <a:gd name="T1" fmla="*/ 320 h 389"/>
                <a:gd name="T2" fmla="*/ 569 w 641"/>
                <a:gd name="T3" fmla="*/ 0 h 389"/>
                <a:gd name="T4" fmla="*/ 0 60000 65536"/>
                <a:gd name="T5" fmla="*/ 0 60000 65536"/>
              </a:gdLst>
              <a:ahLst/>
              <a:cxnLst>
                <a:cxn ang="T4">
                  <a:pos x="T0" y="T1"/>
                </a:cxn>
                <a:cxn ang="T5">
                  <a:pos x="T2" y="T3"/>
                </a:cxn>
              </a:cxnLst>
              <a:rect l="0" t="0" r="r" b="b"/>
              <a:pathLst>
                <a:path w="641" h="389">
                  <a:moveTo>
                    <a:pt x="0" y="389"/>
                  </a:moveTo>
                  <a:lnTo>
                    <a:pt x="641"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30" name="Freeform 295"/>
            <p:cNvSpPr>
              <a:spLocks/>
            </p:cNvSpPr>
            <p:nvPr/>
          </p:nvSpPr>
          <p:spPr bwMode="auto">
            <a:xfrm>
              <a:off x="1887" y="716"/>
              <a:ext cx="560" cy="314"/>
            </a:xfrm>
            <a:custGeom>
              <a:avLst/>
              <a:gdLst>
                <a:gd name="T0" fmla="*/ 560 w 631"/>
                <a:gd name="T1" fmla="*/ 314 h 382"/>
                <a:gd name="T2" fmla="*/ 0 w 631"/>
                <a:gd name="T3" fmla="*/ 0 h 382"/>
                <a:gd name="T4" fmla="*/ 0 60000 65536"/>
                <a:gd name="T5" fmla="*/ 0 60000 65536"/>
              </a:gdLst>
              <a:ahLst/>
              <a:cxnLst>
                <a:cxn ang="T4">
                  <a:pos x="T0" y="T1"/>
                </a:cxn>
                <a:cxn ang="T5">
                  <a:pos x="T2" y="T3"/>
                </a:cxn>
              </a:cxnLst>
              <a:rect l="0" t="0" r="r" b="b"/>
              <a:pathLst>
                <a:path w="631" h="382">
                  <a:moveTo>
                    <a:pt x="631" y="382"/>
                  </a:moveTo>
                  <a:lnTo>
                    <a:pt x="0" y="0"/>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31" name="Oval 296"/>
            <p:cNvSpPr>
              <a:spLocks noChangeArrowheads="1"/>
            </p:cNvSpPr>
            <p:nvPr/>
          </p:nvSpPr>
          <p:spPr bwMode="auto">
            <a:xfrm>
              <a:off x="1638" y="1874"/>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a</a:t>
              </a:r>
            </a:p>
          </p:txBody>
        </p:sp>
        <p:sp>
          <p:nvSpPr>
            <p:cNvPr id="115732" name="Oval 297"/>
            <p:cNvSpPr>
              <a:spLocks noChangeArrowheads="1"/>
            </p:cNvSpPr>
            <p:nvPr/>
          </p:nvSpPr>
          <p:spPr bwMode="auto">
            <a:xfrm>
              <a:off x="912" y="1518"/>
              <a:ext cx="299"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tx2"/>
                  </a:solidFill>
                  <a:latin typeface="Arial" pitchFamily="34" charset="0"/>
                </a:rPr>
                <a:t>b</a:t>
              </a:r>
            </a:p>
          </p:txBody>
        </p:sp>
        <p:sp>
          <p:nvSpPr>
            <p:cNvPr id="115733" name="Oval 298"/>
            <p:cNvSpPr>
              <a:spLocks noChangeArrowheads="1"/>
            </p:cNvSpPr>
            <p:nvPr/>
          </p:nvSpPr>
          <p:spPr bwMode="auto">
            <a:xfrm>
              <a:off x="2319" y="1518"/>
              <a:ext cx="273"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c</a:t>
              </a:r>
            </a:p>
          </p:txBody>
        </p:sp>
        <p:sp>
          <p:nvSpPr>
            <p:cNvPr id="115734" name="Oval 299"/>
            <p:cNvSpPr>
              <a:spLocks noChangeArrowheads="1"/>
            </p:cNvSpPr>
            <p:nvPr/>
          </p:nvSpPr>
          <p:spPr bwMode="auto">
            <a:xfrm>
              <a:off x="1638" y="1202"/>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d</a:t>
              </a:r>
            </a:p>
          </p:txBody>
        </p:sp>
        <p:sp>
          <p:nvSpPr>
            <p:cNvPr id="115735" name="Oval 300"/>
            <p:cNvSpPr>
              <a:spLocks noChangeArrowheads="1"/>
            </p:cNvSpPr>
            <p:nvPr/>
          </p:nvSpPr>
          <p:spPr bwMode="auto">
            <a:xfrm>
              <a:off x="912" y="887"/>
              <a:ext cx="299"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a:solidFill>
                    <a:schemeClr val="bg1"/>
                  </a:solidFill>
                  <a:latin typeface="Arial" pitchFamily="34" charset="0"/>
                </a:rPr>
                <a:t>e</a:t>
              </a:r>
            </a:p>
          </p:txBody>
        </p:sp>
        <p:sp>
          <p:nvSpPr>
            <p:cNvPr id="115736" name="Line 301"/>
            <p:cNvSpPr>
              <a:spLocks noChangeShapeType="1"/>
            </p:cNvSpPr>
            <p:nvPr/>
          </p:nvSpPr>
          <p:spPr bwMode="auto">
            <a:xfrm flipH="1">
              <a:off x="1212" y="1030"/>
              <a:ext cx="1235" cy="0"/>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15737" name="Oval 302"/>
            <p:cNvSpPr>
              <a:spLocks noChangeArrowheads="1"/>
            </p:cNvSpPr>
            <p:nvPr/>
          </p:nvSpPr>
          <p:spPr bwMode="auto">
            <a:xfrm>
              <a:off x="1638" y="531"/>
              <a:ext cx="282" cy="288"/>
            </a:xfrm>
            <a:prstGeom prst="ellipse">
              <a:avLst/>
            </a:prstGeom>
            <a:solidFill>
              <a:schemeClr val="tx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bg1"/>
                  </a:solidFill>
                  <a:latin typeface="Arial" pitchFamily="34" charset="0"/>
                </a:rPr>
                <a:t>g</a:t>
              </a:r>
            </a:p>
          </p:txBody>
        </p:sp>
        <p:sp>
          <p:nvSpPr>
            <p:cNvPr id="115738" name="Oval 303"/>
            <p:cNvSpPr>
              <a:spLocks noChangeArrowheads="1"/>
            </p:cNvSpPr>
            <p:nvPr/>
          </p:nvSpPr>
          <p:spPr bwMode="auto">
            <a:xfrm>
              <a:off x="2319" y="887"/>
              <a:ext cx="273" cy="288"/>
            </a:xfrm>
            <a:prstGeom prst="ellipse">
              <a:avLst/>
            </a:prstGeom>
            <a:solidFill>
              <a:srgbClr val="B2B2B2"/>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buFontTx/>
                <a:buNone/>
              </a:pPr>
              <a:r>
                <a:rPr lang="en-US" b="1" dirty="0">
                  <a:solidFill>
                    <a:schemeClr val="tx2"/>
                  </a:solidFill>
                  <a:latin typeface="Arial" pitchFamily="34" charset="0"/>
                </a:rPr>
                <a:t>f</a:t>
              </a:r>
            </a:p>
          </p:txBody>
        </p:sp>
        <p:sp>
          <p:nvSpPr>
            <p:cNvPr id="115739" name="Rectangle 304"/>
            <p:cNvSpPr>
              <a:spLocks noChangeArrowheads="1"/>
            </p:cNvSpPr>
            <p:nvPr/>
          </p:nvSpPr>
          <p:spPr bwMode="auto">
            <a:xfrm>
              <a:off x="1288" y="67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3</a:t>
              </a:r>
            </a:p>
          </p:txBody>
        </p:sp>
        <p:sp>
          <p:nvSpPr>
            <p:cNvPr id="115740" name="Rectangle 305"/>
            <p:cNvSpPr>
              <a:spLocks noChangeArrowheads="1"/>
            </p:cNvSpPr>
            <p:nvPr/>
          </p:nvSpPr>
          <p:spPr bwMode="auto">
            <a:xfrm>
              <a:off x="2064" y="669"/>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2</a:t>
              </a:r>
            </a:p>
          </p:txBody>
        </p:sp>
        <p:sp>
          <p:nvSpPr>
            <p:cNvPr id="115741" name="Rectangle 306"/>
            <p:cNvSpPr>
              <a:spLocks noChangeArrowheads="1"/>
            </p:cNvSpPr>
            <p:nvPr/>
          </p:nvSpPr>
          <p:spPr bwMode="auto">
            <a:xfrm>
              <a:off x="1680" y="813"/>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a:t>
              </a:r>
            </a:p>
          </p:txBody>
        </p:sp>
        <p:sp>
          <p:nvSpPr>
            <p:cNvPr id="115742" name="Rectangle 307"/>
            <p:cNvSpPr>
              <a:spLocks noChangeArrowheads="1"/>
            </p:cNvSpPr>
            <p:nvPr/>
          </p:nvSpPr>
          <p:spPr bwMode="auto">
            <a:xfrm>
              <a:off x="816" y="1197"/>
              <a:ext cx="28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buFontTx/>
                <a:buNone/>
              </a:pPr>
              <a:r>
                <a:rPr lang="en-US" sz="1800"/>
                <a:t>10</a:t>
              </a:r>
            </a:p>
          </p:txBody>
        </p:sp>
        <p:sp>
          <p:nvSpPr>
            <p:cNvPr id="115743" name="Rectangle 308"/>
            <p:cNvSpPr>
              <a:spLocks noChangeArrowheads="1"/>
            </p:cNvSpPr>
            <p:nvPr/>
          </p:nvSpPr>
          <p:spPr bwMode="auto">
            <a:xfrm>
              <a:off x="1288" y="1149"/>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0</a:t>
              </a:r>
            </a:p>
          </p:txBody>
        </p:sp>
        <p:sp>
          <p:nvSpPr>
            <p:cNvPr id="115744" name="Rectangle 309"/>
            <p:cNvSpPr>
              <a:spLocks noChangeArrowheads="1"/>
            </p:cNvSpPr>
            <p:nvPr/>
          </p:nvSpPr>
          <p:spPr bwMode="auto">
            <a:xfrm>
              <a:off x="2054" y="1149"/>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t>5</a:t>
              </a:r>
            </a:p>
          </p:txBody>
        </p:sp>
        <p:sp>
          <p:nvSpPr>
            <p:cNvPr id="115745" name="Rectangle 310"/>
            <p:cNvSpPr>
              <a:spLocks noChangeArrowheads="1"/>
            </p:cNvSpPr>
            <p:nvPr/>
          </p:nvSpPr>
          <p:spPr bwMode="auto">
            <a:xfrm>
              <a:off x="2433" y="1267"/>
              <a:ext cx="26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12</a:t>
              </a:r>
            </a:p>
          </p:txBody>
        </p:sp>
        <p:sp>
          <p:nvSpPr>
            <p:cNvPr id="115746" name="Rectangle 311"/>
            <p:cNvSpPr>
              <a:spLocks noChangeArrowheads="1"/>
            </p:cNvSpPr>
            <p:nvPr/>
          </p:nvSpPr>
          <p:spPr bwMode="auto">
            <a:xfrm>
              <a:off x="1372" y="146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8</a:t>
              </a:r>
            </a:p>
          </p:txBody>
        </p:sp>
        <p:sp>
          <p:nvSpPr>
            <p:cNvPr id="115747" name="Rectangle 312"/>
            <p:cNvSpPr>
              <a:spLocks noChangeArrowheads="1"/>
            </p:cNvSpPr>
            <p:nvPr/>
          </p:nvSpPr>
          <p:spPr bwMode="auto">
            <a:xfrm>
              <a:off x="1714" y="158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dirty="0">
                  <a:solidFill>
                    <a:schemeClr val="tx2"/>
                  </a:solidFill>
                </a:rPr>
                <a:t>4</a:t>
              </a:r>
            </a:p>
          </p:txBody>
        </p:sp>
        <p:sp>
          <p:nvSpPr>
            <p:cNvPr id="115748" name="Rectangle 313"/>
            <p:cNvSpPr>
              <a:spLocks noChangeArrowheads="1"/>
            </p:cNvSpPr>
            <p:nvPr/>
          </p:nvSpPr>
          <p:spPr bwMode="auto">
            <a:xfrm>
              <a:off x="1968" y="1425"/>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7</a:t>
              </a:r>
            </a:p>
          </p:txBody>
        </p:sp>
        <p:sp>
          <p:nvSpPr>
            <p:cNvPr id="115749" name="Rectangle 314"/>
            <p:cNvSpPr>
              <a:spLocks noChangeArrowheads="1"/>
            </p:cNvSpPr>
            <p:nvPr/>
          </p:nvSpPr>
          <p:spPr bwMode="auto">
            <a:xfrm>
              <a:off x="1244" y="178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B2B2B2"/>
                  </a:solidFill>
                </a:rPr>
                <a:t>6</a:t>
              </a:r>
            </a:p>
          </p:txBody>
        </p:sp>
        <p:sp>
          <p:nvSpPr>
            <p:cNvPr id="115750" name="Rectangle 315"/>
            <p:cNvSpPr>
              <a:spLocks noChangeArrowheads="1"/>
            </p:cNvSpPr>
            <p:nvPr/>
          </p:nvSpPr>
          <p:spPr bwMode="auto">
            <a:xfrm>
              <a:off x="2054" y="182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3</a:t>
              </a:r>
            </a:p>
          </p:txBody>
        </p:sp>
        <p:sp>
          <p:nvSpPr>
            <p:cNvPr id="115751" name="Rectangle 316"/>
            <p:cNvSpPr>
              <a:spLocks noChangeArrowheads="1"/>
            </p:cNvSpPr>
            <p:nvPr/>
          </p:nvSpPr>
          <p:spPr bwMode="auto">
            <a:xfrm>
              <a:off x="2361" y="177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3</a:t>
              </a:r>
            </a:p>
          </p:txBody>
        </p:sp>
        <p:sp>
          <p:nvSpPr>
            <p:cNvPr id="115752" name="Rectangle 317"/>
            <p:cNvSpPr>
              <a:spLocks noChangeArrowheads="1"/>
            </p:cNvSpPr>
            <p:nvPr/>
          </p:nvSpPr>
          <p:spPr bwMode="auto">
            <a:xfrm>
              <a:off x="2409" y="66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9</a:t>
              </a:r>
            </a:p>
          </p:txBody>
        </p:sp>
        <p:sp>
          <p:nvSpPr>
            <p:cNvPr id="115753" name="Rectangle 318"/>
            <p:cNvSpPr>
              <a:spLocks noChangeArrowheads="1"/>
            </p:cNvSpPr>
            <p:nvPr/>
          </p:nvSpPr>
          <p:spPr bwMode="auto">
            <a:xfrm>
              <a:off x="1887" y="43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7</a:t>
              </a:r>
            </a:p>
          </p:txBody>
        </p:sp>
        <p:sp>
          <p:nvSpPr>
            <p:cNvPr id="115754" name="Rectangle 319"/>
            <p:cNvSpPr>
              <a:spLocks noChangeArrowheads="1"/>
            </p:cNvSpPr>
            <p:nvPr/>
          </p:nvSpPr>
          <p:spPr bwMode="auto">
            <a:xfrm>
              <a:off x="831" y="72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sp>
          <p:nvSpPr>
            <p:cNvPr id="115755" name="Rectangle 320"/>
            <p:cNvSpPr>
              <a:spLocks noChangeArrowheads="1"/>
            </p:cNvSpPr>
            <p:nvPr/>
          </p:nvSpPr>
          <p:spPr bwMode="auto">
            <a:xfrm>
              <a:off x="795" y="1776"/>
              <a:ext cx="26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14</a:t>
              </a:r>
            </a:p>
          </p:txBody>
        </p:sp>
        <p:sp>
          <p:nvSpPr>
            <p:cNvPr id="115756" name="Rectangle 321"/>
            <p:cNvSpPr>
              <a:spLocks noChangeArrowheads="1"/>
            </p:cNvSpPr>
            <p:nvPr/>
          </p:nvSpPr>
          <p:spPr bwMode="auto">
            <a:xfrm>
              <a:off x="1866" y="2009"/>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0</a:t>
              </a:r>
            </a:p>
          </p:txBody>
        </p:sp>
        <p:sp>
          <p:nvSpPr>
            <p:cNvPr id="115757" name="Text Box 322"/>
            <p:cNvSpPr txBox="1">
              <a:spLocks noChangeArrowheads="1"/>
            </p:cNvSpPr>
            <p:nvPr/>
          </p:nvSpPr>
          <p:spPr bwMode="auto">
            <a:xfrm>
              <a:off x="92" y="525"/>
              <a:ext cx="7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5) Scan g:</a:t>
              </a:r>
            </a:p>
          </p:txBody>
        </p:sp>
        <p:sp>
          <p:nvSpPr>
            <p:cNvPr id="115758" name="Rectangle 323"/>
            <p:cNvSpPr>
              <a:spLocks noChangeArrowheads="1"/>
            </p:cNvSpPr>
            <p:nvPr/>
          </p:nvSpPr>
          <p:spPr bwMode="auto">
            <a:xfrm>
              <a:off x="1743" y="100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sym typeface="Symbol" pitchFamily="18" charset="2"/>
                </a:rPr>
                <a:t>4</a:t>
              </a:r>
            </a:p>
          </p:txBody>
        </p:sp>
      </p:grpSp>
      <p:sp>
        <p:nvSpPr>
          <p:cNvPr id="200004" name="Text Box 324"/>
          <p:cNvSpPr txBox="1">
            <a:spLocks noChangeArrowheads="1"/>
          </p:cNvSpPr>
          <p:nvPr/>
        </p:nvSpPr>
        <p:spPr bwMode="auto">
          <a:xfrm>
            <a:off x="206375" y="5029200"/>
            <a:ext cx="938213" cy="461963"/>
          </a:xfrm>
          <a:prstGeom prst="rect">
            <a:avLst/>
          </a:prstGeom>
          <a:solidFill>
            <a:schemeClr val="bg1"/>
          </a:solidFill>
          <a:ln w="1905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b="1">
                <a:solidFill>
                  <a:srgbClr val="CC0000"/>
                </a:solidFill>
              </a:rPr>
              <a:t>DONE</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99883"/>
                                        </p:tgtEl>
                                        <p:attrNameLst>
                                          <p:attrName>style.visibility</p:attrName>
                                        </p:attrNameLst>
                                      </p:cBhvr>
                                      <p:to>
                                        <p:strVal val="visible"/>
                                      </p:to>
                                    </p:set>
                                    <p:animEffect transition="in" filter="wipe(up)">
                                      <p:cBhvr>
                                        <p:cTn id="7" dur="500"/>
                                        <p:tgtEl>
                                          <p:spTgt spid="199883"/>
                                        </p:tgtEl>
                                      </p:cBhvr>
                                    </p:animEffect>
                                  </p:childTnLst>
                                </p:cTn>
                              </p:par>
                            </p:childTnLst>
                          </p:cTn>
                        </p:par>
                        <p:par>
                          <p:cTn id="8" fill="hold" nodeType="afterGroup">
                            <p:stCondLst>
                              <p:cond delay="500"/>
                            </p:stCondLst>
                            <p:childTnLst>
                              <p:par>
                                <p:cTn id="9" presetID="9" presetClass="entr" presetSubtype="0" fill="hold" grpId="0" nodeType="afterEffect">
                                  <p:stCondLst>
                                    <p:cond delay="1000"/>
                                  </p:stCondLst>
                                  <p:childTnLst>
                                    <p:set>
                                      <p:cBhvr>
                                        <p:cTn id="10" dur="1" fill="hold">
                                          <p:stCondLst>
                                            <p:cond delay="0"/>
                                          </p:stCondLst>
                                        </p:cTn>
                                        <p:tgtEl>
                                          <p:spTgt spid="200004"/>
                                        </p:tgtEl>
                                        <p:attrNameLst>
                                          <p:attrName>style.visibility</p:attrName>
                                        </p:attrNameLst>
                                      </p:cBhvr>
                                      <p:to>
                                        <p:strVal val="visible"/>
                                      </p:to>
                                    </p:set>
                                    <p:animEffect transition="in" filter="dissolve">
                                      <p:cBhvr>
                                        <p:cTn id="11" dur="500"/>
                                        <p:tgtEl>
                                          <p:spTgt spid="200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004" grpId="0" animBg="1"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Text Box 2"/>
          <p:cNvSpPr txBox="1">
            <a:spLocks noChangeArrowheads="1"/>
          </p:cNvSpPr>
          <p:nvPr/>
        </p:nvSpPr>
        <p:spPr bwMode="auto">
          <a:xfrm>
            <a:off x="152400" y="228600"/>
            <a:ext cx="8839200" cy="4826000"/>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457200" indent="-457200" defTabSz="374650">
              <a:defRPr sz="1600">
                <a:solidFill>
                  <a:schemeClr val="tx1"/>
                </a:solidFill>
                <a:latin typeface="Times New Roman" pitchFamily="18" charset="0"/>
              </a:defRPr>
            </a:lvl1pPr>
            <a:lvl2pPr marL="742950" indent="-285750" defTabSz="374650">
              <a:defRPr sz="1600">
                <a:solidFill>
                  <a:schemeClr val="tx1"/>
                </a:solidFill>
                <a:latin typeface="Times New Roman" pitchFamily="18" charset="0"/>
              </a:defRPr>
            </a:lvl2pPr>
            <a:lvl3pPr marL="1143000" indent="-228600" defTabSz="374650">
              <a:defRPr sz="1600">
                <a:solidFill>
                  <a:schemeClr val="tx1"/>
                </a:solidFill>
                <a:latin typeface="Times New Roman" pitchFamily="18" charset="0"/>
              </a:defRPr>
            </a:lvl3pPr>
            <a:lvl4pPr marL="1600200" indent="-228600" defTabSz="374650">
              <a:defRPr sz="1600">
                <a:solidFill>
                  <a:schemeClr val="tx1"/>
                </a:solidFill>
                <a:latin typeface="Times New Roman" pitchFamily="18" charset="0"/>
              </a:defRPr>
            </a:lvl4pPr>
            <a:lvl5pPr marL="2057400" indent="-228600" defTabSz="374650">
              <a:defRPr sz="1600">
                <a:solidFill>
                  <a:schemeClr val="tx1"/>
                </a:solidFill>
                <a:latin typeface="Times New Roman" pitchFamily="18" charset="0"/>
              </a:defRPr>
            </a:lvl5pPr>
            <a:lvl6pPr marL="2514600" indent="-228600" defTabSz="374650" eaLnBrk="0" fontAlgn="base" hangingPunct="0">
              <a:spcBef>
                <a:spcPct val="0"/>
              </a:spcBef>
              <a:spcAft>
                <a:spcPct val="0"/>
              </a:spcAft>
              <a:buChar char="•"/>
              <a:defRPr sz="1600">
                <a:solidFill>
                  <a:schemeClr val="tx1"/>
                </a:solidFill>
                <a:latin typeface="Times New Roman" pitchFamily="18" charset="0"/>
              </a:defRPr>
            </a:lvl6pPr>
            <a:lvl7pPr marL="2971800" indent="-228600" defTabSz="374650" eaLnBrk="0" fontAlgn="base" hangingPunct="0">
              <a:spcBef>
                <a:spcPct val="0"/>
              </a:spcBef>
              <a:spcAft>
                <a:spcPct val="0"/>
              </a:spcAft>
              <a:buChar char="•"/>
              <a:defRPr sz="1600">
                <a:solidFill>
                  <a:schemeClr val="tx1"/>
                </a:solidFill>
                <a:latin typeface="Times New Roman" pitchFamily="18" charset="0"/>
              </a:defRPr>
            </a:lvl7pPr>
            <a:lvl8pPr marL="3429000" indent="-228600" defTabSz="374650" eaLnBrk="0" fontAlgn="base" hangingPunct="0">
              <a:spcBef>
                <a:spcPct val="0"/>
              </a:spcBef>
              <a:spcAft>
                <a:spcPct val="0"/>
              </a:spcAft>
              <a:buChar char="•"/>
              <a:defRPr sz="1600">
                <a:solidFill>
                  <a:schemeClr val="tx1"/>
                </a:solidFill>
                <a:latin typeface="Times New Roman" pitchFamily="18" charset="0"/>
              </a:defRPr>
            </a:lvl8pPr>
            <a:lvl9pPr marL="3886200" indent="-228600" defTabSz="37465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2400" b="1" dirty="0"/>
              <a:t>Algorithm</a:t>
            </a:r>
            <a:r>
              <a:rPr lang="en-US" sz="2400" dirty="0">
                <a:solidFill>
                  <a:schemeClr val="hlink"/>
                </a:solidFill>
              </a:rPr>
              <a:t>  </a:t>
            </a:r>
            <a:r>
              <a:rPr lang="en-US" sz="2400" b="1" dirty="0" err="1" smtClean="0">
                <a:solidFill>
                  <a:schemeClr val="hlink"/>
                </a:solidFill>
              </a:rPr>
              <a:t>Dijkstra</a:t>
            </a:r>
            <a:r>
              <a:rPr lang="en-US" sz="2400" b="1" dirty="0" smtClean="0">
                <a:solidFill>
                  <a:schemeClr val="hlink"/>
                </a:solidFill>
              </a:rPr>
              <a:t> </a:t>
            </a:r>
            <a:r>
              <a:rPr lang="en-US" sz="2400" dirty="0" smtClean="0">
                <a:solidFill>
                  <a:schemeClr val="hlink"/>
                </a:solidFill>
              </a:rPr>
              <a:t>( </a:t>
            </a:r>
            <a:r>
              <a:rPr lang="en-US" sz="2400" dirty="0">
                <a:solidFill>
                  <a:schemeClr val="hlink"/>
                </a:solidFill>
                <a:sym typeface="Symbol" pitchFamily="18" charset="2"/>
              </a:rPr>
              <a:t>G , </a:t>
            </a:r>
            <a:r>
              <a:rPr lang="en-US" sz="2400" dirty="0" err="1">
                <a:solidFill>
                  <a:schemeClr val="hlink"/>
                </a:solidFill>
                <a:sym typeface="Symbol" pitchFamily="18" charset="2"/>
              </a:rPr>
              <a:t>sV</a:t>
            </a:r>
            <a:r>
              <a:rPr lang="en-US" sz="2400" dirty="0">
                <a:solidFill>
                  <a:schemeClr val="hlink"/>
                </a:solidFill>
                <a:sym typeface="Symbol" pitchFamily="18" charset="2"/>
              </a:rPr>
              <a:t>(G</a:t>
            </a:r>
            <a:r>
              <a:rPr lang="en-US" sz="2400" dirty="0" smtClean="0">
                <a:solidFill>
                  <a:schemeClr val="hlink"/>
                </a:solidFill>
                <a:sym typeface="Symbol" pitchFamily="18" charset="2"/>
              </a:rPr>
              <a:t>) </a:t>
            </a:r>
            <a:r>
              <a:rPr lang="en-US" sz="2400" dirty="0" smtClean="0">
                <a:solidFill>
                  <a:schemeClr val="hlink"/>
                </a:solidFill>
              </a:rPr>
              <a:t>)</a:t>
            </a:r>
            <a:r>
              <a:rPr lang="en-US" sz="2000" dirty="0" smtClean="0">
                <a:solidFill>
                  <a:schemeClr val="tx2"/>
                </a:solidFill>
              </a:rPr>
              <a:t> </a:t>
            </a:r>
            <a:endParaRPr lang="en-US" sz="2000" dirty="0">
              <a:solidFill>
                <a:schemeClr val="tx2"/>
              </a:solidFill>
            </a:endParaRPr>
          </a:p>
          <a:p>
            <a:pPr eaLnBrk="1" hangingPunct="1">
              <a:buFontTx/>
              <a:buAutoNum type="arabicPeriod"/>
            </a:pPr>
            <a:r>
              <a:rPr lang="en-US" sz="2000" dirty="0">
                <a:solidFill>
                  <a:srgbClr val="CC0000"/>
                </a:solidFill>
              </a:rPr>
              <a:t> </a:t>
            </a:r>
            <a:r>
              <a:rPr lang="en-US" sz="2000" b="1" dirty="0"/>
              <a:t>for</a:t>
            </a:r>
            <a:r>
              <a:rPr lang="en-US" sz="2000" dirty="0">
                <a:solidFill>
                  <a:schemeClr val="hlink"/>
                </a:solidFill>
              </a:rPr>
              <a:t>  each vertex </a:t>
            </a:r>
            <a:r>
              <a:rPr lang="en-US" sz="2000" dirty="0">
                <a:solidFill>
                  <a:schemeClr val="hlink"/>
                </a:solidFill>
                <a:sym typeface="Symbol" pitchFamily="18" charset="2"/>
              </a:rPr>
              <a:t>u  V(G)  </a:t>
            </a:r>
            <a:r>
              <a:rPr lang="en-US" sz="2000" b="1" dirty="0"/>
              <a:t>do  </a:t>
            </a:r>
            <a:r>
              <a:rPr lang="en-US" sz="2000" dirty="0" err="1">
                <a:solidFill>
                  <a:schemeClr val="hlink"/>
                </a:solidFill>
              </a:rPr>
              <a:t>dist</a:t>
            </a:r>
            <a:r>
              <a:rPr lang="en-US" sz="2000" dirty="0">
                <a:solidFill>
                  <a:schemeClr val="hlink"/>
                </a:solidFill>
              </a:rPr>
              <a:t>[u]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endParaRPr lang="en-US" sz="2000" dirty="0">
              <a:solidFill>
                <a:srgbClr val="CC0000"/>
              </a:solidFill>
              <a:cs typeface="Arial" pitchFamily="34" charset="0"/>
            </a:endParaRPr>
          </a:p>
          <a:p>
            <a:pPr eaLnBrk="1" hangingPunct="1">
              <a:buFontTx/>
              <a:buAutoNum type="arabicPeriod"/>
            </a:pPr>
            <a:r>
              <a:rPr lang="en-US" sz="2000" dirty="0">
                <a:solidFill>
                  <a:srgbClr val="CC0000"/>
                </a:solidFill>
                <a:cs typeface="Arial" pitchFamily="34" charset="0"/>
              </a:rPr>
              <a:t> </a:t>
            </a:r>
            <a:r>
              <a:rPr lang="en-US" sz="2000" dirty="0" err="1">
                <a:solidFill>
                  <a:schemeClr val="hlink"/>
                </a:solidFill>
                <a:sym typeface="Symbol" pitchFamily="18" charset="2"/>
              </a:rPr>
              <a:t>dist</a:t>
            </a:r>
            <a:r>
              <a:rPr lang="en-US" sz="2000" dirty="0">
                <a:solidFill>
                  <a:schemeClr val="hlink"/>
                </a:solidFill>
                <a:sym typeface="Symbol" pitchFamily="18" charset="2"/>
              </a:rPr>
              <a:t>[s]  0 ;   </a:t>
            </a:r>
            <a:r>
              <a:rPr lang="en-US" sz="2000" dirty="0">
                <a:solidFill>
                  <a:schemeClr val="hlink"/>
                </a:solidFill>
                <a:latin typeface="Symbol" pitchFamily="18" charset="2"/>
                <a:sym typeface="Symbol" pitchFamily="18" charset="2"/>
              </a:rPr>
              <a:t>p</a:t>
            </a:r>
            <a:r>
              <a:rPr lang="en-US" sz="2000" dirty="0">
                <a:solidFill>
                  <a:schemeClr val="hlink"/>
                </a:solidFill>
                <a:sym typeface="Symbol" pitchFamily="18" charset="2"/>
              </a:rPr>
              <a:t>[s]  nil 							</a:t>
            </a:r>
            <a:r>
              <a:rPr lang="en-US" sz="2000" dirty="0">
                <a:solidFill>
                  <a:srgbClr val="CC0000"/>
                </a:solidFill>
                <a:cs typeface="Arial" pitchFamily="34" charset="0"/>
              </a:rPr>
              <a:t>§ </a:t>
            </a:r>
            <a:r>
              <a:rPr lang="en-US" sz="2000" dirty="0">
                <a:solidFill>
                  <a:srgbClr val="CC0000"/>
                </a:solidFill>
              </a:rPr>
              <a:t>first node to be scanned</a:t>
            </a: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Q  </a:t>
            </a:r>
            <a:r>
              <a:rPr lang="en-US" sz="2000" dirty="0" err="1">
                <a:solidFill>
                  <a:schemeClr val="hlink"/>
                </a:solidFill>
                <a:sym typeface="Symbol" pitchFamily="18" charset="2"/>
              </a:rPr>
              <a:t>ConstructMinHeap</a:t>
            </a:r>
            <a:r>
              <a:rPr lang="en-US" sz="2000" dirty="0">
                <a:solidFill>
                  <a:schemeClr val="hlink"/>
                </a:solidFill>
                <a:sym typeface="Symbol" pitchFamily="18" charset="2"/>
              </a:rPr>
              <a:t>(V(G), </a:t>
            </a:r>
            <a:r>
              <a:rPr lang="en-US" sz="2000" dirty="0" err="1">
                <a:solidFill>
                  <a:schemeClr val="hlink"/>
                </a:solidFill>
                <a:sym typeface="Symbol" pitchFamily="18" charset="2"/>
              </a:rPr>
              <a:t>dist</a:t>
            </a:r>
            <a:r>
              <a:rPr lang="en-US" sz="2000" dirty="0">
                <a:solidFill>
                  <a:schemeClr val="hlink"/>
                </a:solidFill>
                <a:sym typeface="Symbol" pitchFamily="18" charset="2"/>
              </a:rPr>
              <a:t>) 				</a:t>
            </a:r>
            <a:r>
              <a:rPr lang="en-US" sz="2000" dirty="0">
                <a:solidFill>
                  <a:srgbClr val="CC0000"/>
                </a:solidFill>
                <a:cs typeface="Arial" pitchFamily="34" charset="0"/>
              </a:rPr>
              <a:t>§ </a:t>
            </a:r>
            <a:r>
              <a:rPr lang="en-US" sz="2000" dirty="0" err="1">
                <a:solidFill>
                  <a:srgbClr val="CC0000"/>
                </a:solidFill>
                <a:cs typeface="Arial" pitchFamily="34" charset="0"/>
              </a:rPr>
              <a:t>dist</a:t>
            </a:r>
            <a:r>
              <a:rPr lang="en-US" sz="2000" dirty="0">
                <a:solidFill>
                  <a:srgbClr val="CC0000"/>
                </a:solidFill>
                <a:cs typeface="Arial" pitchFamily="34" charset="0"/>
              </a:rPr>
              <a:t>[u] = priority(u) </a:t>
            </a:r>
            <a:endParaRPr lang="en-US" sz="2000" dirty="0">
              <a:solidFill>
                <a:srgbClr val="CC0000"/>
              </a:solidFill>
              <a:sym typeface="Symbol" pitchFamily="18" charset="2"/>
            </a:endParaRPr>
          </a:p>
          <a:p>
            <a:pPr eaLnBrk="1" hangingPunct="1">
              <a:buFontTx/>
              <a:buAutoNum type="arabicPeriod"/>
            </a:pPr>
            <a:r>
              <a:rPr lang="en-US" sz="2000" dirty="0">
                <a:solidFill>
                  <a:srgbClr val="CC0000"/>
                </a:solidFill>
              </a:rPr>
              <a:t> </a:t>
            </a:r>
            <a:r>
              <a:rPr lang="en-US" sz="2000" b="1" dirty="0"/>
              <a:t>while</a:t>
            </a:r>
            <a:r>
              <a:rPr lang="en-US" sz="2000" dirty="0">
                <a:solidFill>
                  <a:schemeClr val="hlink"/>
                </a:solidFill>
              </a:rPr>
              <a:t> Q </a:t>
            </a:r>
            <a:r>
              <a:rPr lang="en-US" sz="2000" dirty="0">
                <a:solidFill>
                  <a:schemeClr val="hlink"/>
                </a:solidFill>
                <a:sym typeface="Symbol" pitchFamily="18" charset="2"/>
              </a:rPr>
              <a:t>  </a:t>
            </a:r>
            <a:r>
              <a:rPr lang="en-US" sz="2000" b="1" dirty="0"/>
              <a:t>do</a:t>
            </a:r>
            <a:r>
              <a:rPr lang="en-US" sz="2000" dirty="0">
                <a:solidFill>
                  <a:srgbClr val="CC0000"/>
                </a:solidFill>
                <a:cs typeface="Arial" pitchFamily="34" charset="0"/>
              </a:rPr>
              <a:t> 		</a:t>
            </a:r>
            <a:r>
              <a:rPr lang="en-US" sz="2000" dirty="0">
                <a:solidFill>
                  <a:srgbClr val="CC0000"/>
                </a:solidFill>
              </a:rPr>
              <a:t>	 							</a:t>
            </a:r>
            <a:r>
              <a:rPr lang="en-US" sz="2000" dirty="0">
                <a:solidFill>
                  <a:srgbClr val="CC0000"/>
                </a:solidFill>
                <a:cs typeface="Arial" pitchFamily="34" charset="0"/>
              </a:rPr>
              <a:t>§ |V| iterations</a:t>
            </a:r>
            <a:endParaRPr lang="en-US" sz="2000" dirty="0">
              <a:solidFill>
                <a:srgbClr val="CC0000"/>
              </a:solidFill>
            </a:endParaRP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u  </a:t>
            </a:r>
            <a:r>
              <a:rPr lang="en-US" sz="2000" dirty="0" err="1">
                <a:solidFill>
                  <a:schemeClr val="hlink"/>
                </a:solidFill>
                <a:sym typeface="Symbol" pitchFamily="18" charset="2"/>
              </a:rPr>
              <a:t>DeleteMin</a:t>
            </a:r>
            <a:r>
              <a:rPr lang="en-US" sz="2000" dirty="0">
                <a:solidFill>
                  <a:schemeClr val="hlink"/>
                </a:solidFill>
                <a:sym typeface="Symbol" pitchFamily="18" charset="2"/>
              </a:rPr>
              <a:t>(Q) </a:t>
            </a:r>
            <a:r>
              <a:rPr lang="en-US" sz="2000" dirty="0">
                <a:solidFill>
                  <a:schemeClr val="hlink"/>
                </a:solidFill>
              </a:rPr>
              <a:t>								</a:t>
            </a:r>
            <a:r>
              <a:rPr lang="en-US" sz="2000" dirty="0">
                <a:solidFill>
                  <a:srgbClr val="CC0000"/>
                </a:solidFill>
                <a:cs typeface="Arial" pitchFamily="34" charset="0"/>
              </a:rPr>
              <a:t>§ O(log V) time</a:t>
            </a:r>
          </a:p>
          <a:p>
            <a:pPr eaLnBrk="1" hangingPunct="1">
              <a:buFontTx/>
              <a:buAutoNum type="arabicPeriod"/>
            </a:pPr>
            <a:r>
              <a:rPr lang="en-US" sz="2000" dirty="0">
                <a:solidFill>
                  <a:srgbClr val="CC0000"/>
                </a:solidFill>
              </a:rPr>
              <a:t>	</a:t>
            </a:r>
            <a:r>
              <a:rPr lang="en-US" sz="2000" b="1" dirty="0">
                <a:solidFill>
                  <a:schemeClr val="tx2"/>
                </a:solidFill>
              </a:rPr>
              <a:t>for</a:t>
            </a:r>
            <a:r>
              <a:rPr lang="en-US" sz="2000" dirty="0">
                <a:solidFill>
                  <a:schemeClr val="tx2"/>
                </a:solidFill>
              </a:rPr>
              <a:t>  </a:t>
            </a:r>
            <a:r>
              <a:rPr lang="en-US" sz="2000" dirty="0">
                <a:solidFill>
                  <a:schemeClr val="hlink"/>
                </a:solidFill>
              </a:rPr>
              <a:t>each v </a:t>
            </a:r>
            <a:r>
              <a:rPr lang="en-US" sz="2000" dirty="0">
                <a:solidFill>
                  <a:schemeClr val="hlink"/>
                </a:solidFill>
                <a:sym typeface="Symbol" pitchFamily="18" charset="2"/>
              </a:rPr>
              <a:t></a:t>
            </a:r>
            <a:r>
              <a:rPr lang="en-US" sz="2000" dirty="0">
                <a:solidFill>
                  <a:schemeClr val="hlink"/>
                </a:solidFill>
              </a:rPr>
              <a:t> </a:t>
            </a:r>
            <a:r>
              <a:rPr lang="en-US" sz="2000" dirty="0" err="1">
                <a:solidFill>
                  <a:schemeClr val="hlink"/>
                </a:solidFill>
              </a:rPr>
              <a:t>Adj</a:t>
            </a:r>
            <a:r>
              <a:rPr lang="en-US" sz="2000" dirty="0">
                <a:solidFill>
                  <a:schemeClr val="hlink"/>
                </a:solidFill>
              </a:rPr>
              <a:t>[u] </a:t>
            </a:r>
            <a:r>
              <a:rPr lang="en-US" sz="2000" b="1" dirty="0">
                <a:solidFill>
                  <a:schemeClr val="tx2"/>
                </a:solidFill>
              </a:rPr>
              <a:t> do 							</a:t>
            </a:r>
            <a:endParaRPr lang="en-US" sz="2000" dirty="0">
              <a:solidFill>
                <a:schemeClr val="tx2"/>
              </a:solidFill>
            </a:endParaRPr>
          </a:p>
          <a:p>
            <a:pPr eaLnBrk="1" hangingPunct="1">
              <a:buFontTx/>
              <a:buAutoNum type="arabicPeriod"/>
            </a:pPr>
            <a:r>
              <a:rPr lang="en-US" sz="2000" dirty="0">
                <a:solidFill>
                  <a:srgbClr val="CC0000"/>
                </a:solidFill>
              </a:rPr>
              <a:t> 		 </a:t>
            </a:r>
            <a:r>
              <a:rPr lang="en-US" sz="2000" b="1" dirty="0"/>
              <a:t>if</a:t>
            </a:r>
            <a:r>
              <a:rPr lang="en-US" sz="2000" dirty="0">
                <a:solidFill>
                  <a:srgbClr val="CC0000"/>
                </a:solidFill>
              </a:rPr>
              <a:t>   </a:t>
            </a:r>
            <a:r>
              <a:rPr lang="en-US" sz="2000" dirty="0" err="1">
                <a:solidFill>
                  <a:schemeClr val="hlink"/>
                </a:solidFill>
                <a:sym typeface="Symbol" pitchFamily="18" charset="2"/>
              </a:rPr>
              <a:t>dist</a:t>
            </a:r>
            <a:r>
              <a:rPr lang="en-US" sz="2000" dirty="0">
                <a:solidFill>
                  <a:schemeClr val="hlink"/>
                </a:solidFill>
                <a:sym typeface="Symbol" pitchFamily="18" charset="2"/>
              </a:rPr>
              <a:t>[v] &gt;  </a:t>
            </a:r>
            <a:r>
              <a:rPr lang="en-US" sz="2000" dirty="0" err="1">
                <a:solidFill>
                  <a:schemeClr val="hlink"/>
                </a:solidFill>
                <a:sym typeface="Symbol" pitchFamily="18" charset="2"/>
              </a:rPr>
              <a:t>dist</a:t>
            </a:r>
            <a:r>
              <a:rPr lang="en-US" sz="2000" dirty="0">
                <a:solidFill>
                  <a:schemeClr val="hlink"/>
                </a:solidFill>
                <a:sym typeface="Symbol" pitchFamily="18" charset="2"/>
              </a:rPr>
              <a:t>[u] + w(</a:t>
            </a:r>
            <a:r>
              <a:rPr lang="en-US" sz="2000" dirty="0" err="1">
                <a:solidFill>
                  <a:schemeClr val="hlink"/>
                </a:solidFill>
                <a:sym typeface="Symbol" pitchFamily="18" charset="2"/>
              </a:rPr>
              <a:t>u,v</a:t>
            </a:r>
            <a:r>
              <a:rPr lang="en-US" sz="2000" dirty="0">
                <a:solidFill>
                  <a:schemeClr val="hlink"/>
                </a:solidFill>
                <a:sym typeface="Symbol" pitchFamily="18" charset="2"/>
              </a:rPr>
              <a:t>)  </a:t>
            </a:r>
            <a:r>
              <a:rPr lang="en-US" sz="2000" b="1" dirty="0">
                <a:sym typeface="Symbol" pitchFamily="18" charset="2"/>
              </a:rPr>
              <a:t>then do </a:t>
            </a:r>
            <a:endParaRPr lang="en-US" sz="2000" dirty="0">
              <a:solidFill>
                <a:schemeClr val="hlink"/>
              </a:solidFill>
              <a:sym typeface="Symbol" pitchFamily="18" charset="2"/>
            </a:endParaRP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		 </a:t>
            </a:r>
            <a:r>
              <a:rPr lang="en-US" sz="2000" dirty="0">
                <a:solidFill>
                  <a:schemeClr val="hlink"/>
                </a:solidFill>
              </a:rPr>
              <a:t> 	</a:t>
            </a:r>
            <a:r>
              <a:rPr lang="en-US" sz="2000" dirty="0" err="1">
                <a:solidFill>
                  <a:schemeClr val="hlink"/>
                </a:solidFill>
              </a:rPr>
              <a:t>dist</a:t>
            </a:r>
            <a:r>
              <a:rPr lang="en-US" sz="2000" dirty="0">
                <a:solidFill>
                  <a:schemeClr val="hlink"/>
                </a:solidFill>
              </a:rPr>
              <a:t>[v] </a:t>
            </a:r>
            <a:r>
              <a:rPr lang="en-US" sz="2000" dirty="0">
                <a:solidFill>
                  <a:schemeClr val="hlink"/>
                </a:solidFill>
                <a:sym typeface="Symbol" pitchFamily="18" charset="2"/>
              </a:rPr>
              <a:t></a:t>
            </a:r>
            <a:r>
              <a:rPr lang="en-US" sz="2000" dirty="0">
                <a:solidFill>
                  <a:schemeClr val="hlink"/>
                </a:solidFill>
              </a:rPr>
              <a:t> </a:t>
            </a:r>
            <a:r>
              <a:rPr lang="en-US" sz="2000" dirty="0" err="1">
                <a:solidFill>
                  <a:schemeClr val="hlink"/>
                </a:solidFill>
              </a:rPr>
              <a:t>dist</a:t>
            </a:r>
            <a:r>
              <a:rPr lang="en-US" sz="2000" dirty="0">
                <a:solidFill>
                  <a:schemeClr val="hlink"/>
                </a:solidFill>
              </a:rPr>
              <a:t>[u] + </a:t>
            </a:r>
            <a:r>
              <a:rPr lang="en-US" sz="2000" dirty="0">
                <a:solidFill>
                  <a:schemeClr val="hlink"/>
                </a:solidFill>
                <a:sym typeface="Symbol" pitchFamily="18" charset="2"/>
              </a:rPr>
              <a:t>w(</a:t>
            </a:r>
            <a:r>
              <a:rPr lang="en-US" sz="2000" dirty="0" err="1">
                <a:solidFill>
                  <a:schemeClr val="hlink"/>
                </a:solidFill>
                <a:sym typeface="Symbol" pitchFamily="18" charset="2"/>
              </a:rPr>
              <a:t>u,v</a:t>
            </a:r>
            <a:r>
              <a:rPr lang="en-US" sz="2000" dirty="0">
                <a:solidFill>
                  <a:schemeClr val="hlink"/>
                </a:solidFill>
                <a:sym typeface="Symbol" pitchFamily="18" charset="2"/>
              </a:rPr>
              <a:t>) 			</a:t>
            </a:r>
            <a:endParaRPr lang="en-US" sz="2000" dirty="0">
              <a:solidFill>
                <a:srgbClr val="CC0000"/>
              </a:solidFill>
            </a:endParaRP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	 </a:t>
            </a:r>
            <a:r>
              <a:rPr lang="en-US" sz="2000" dirty="0">
                <a:solidFill>
                  <a:schemeClr val="hlink"/>
                </a:solidFill>
              </a:rPr>
              <a:t> 	</a:t>
            </a:r>
            <a:r>
              <a:rPr lang="en-US" sz="2000" dirty="0">
                <a:solidFill>
                  <a:schemeClr val="hlink"/>
                </a:solidFill>
                <a:latin typeface="Symbol" pitchFamily="18" charset="2"/>
              </a:rPr>
              <a:t>p</a:t>
            </a:r>
            <a:r>
              <a:rPr lang="en-US" sz="2000" dirty="0">
                <a:solidFill>
                  <a:schemeClr val="hlink"/>
                </a:solidFill>
              </a:rPr>
              <a:t>[v]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u 			 						</a:t>
            </a: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 </a:t>
            </a:r>
            <a:r>
              <a:rPr lang="en-US" sz="2000" dirty="0">
                <a:solidFill>
                  <a:schemeClr val="hlink"/>
                </a:solidFill>
              </a:rPr>
              <a:t> 	</a:t>
            </a:r>
            <a:r>
              <a:rPr lang="en-US" sz="2000" dirty="0" err="1">
                <a:solidFill>
                  <a:schemeClr val="hlink"/>
                </a:solidFill>
              </a:rPr>
              <a:t>UpHeap</a:t>
            </a:r>
            <a:r>
              <a:rPr lang="en-US" sz="2000" dirty="0">
                <a:solidFill>
                  <a:schemeClr val="hlink"/>
                </a:solidFill>
              </a:rPr>
              <a:t>(</a:t>
            </a:r>
            <a:r>
              <a:rPr lang="en-US" sz="2000" dirty="0" err="1">
                <a:solidFill>
                  <a:schemeClr val="hlink"/>
                </a:solidFill>
              </a:rPr>
              <a:t>v,Q</a:t>
            </a:r>
            <a:r>
              <a:rPr lang="en-US" sz="2000" dirty="0">
                <a:solidFill>
                  <a:schemeClr val="hlink"/>
                </a:solidFill>
              </a:rPr>
              <a:t>)</a:t>
            </a:r>
            <a:r>
              <a:rPr lang="en-US" sz="2000" dirty="0">
                <a:solidFill>
                  <a:schemeClr val="hlink"/>
                </a:solidFill>
                <a:sym typeface="Symbol" pitchFamily="18" charset="2"/>
              </a:rPr>
              <a:t> 			</a:t>
            </a:r>
          </a:p>
          <a:p>
            <a:pPr eaLnBrk="1" hangingPunct="1">
              <a:buFontTx/>
              <a:buAutoNum type="arabicPeriod"/>
            </a:pPr>
            <a:r>
              <a:rPr lang="en-US" sz="2000" dirty="0">
                <a:solidFill>
                  <a:srgbClr val="CC0000"/>
                </a:solidFill>
              </a:rPr>
              <a:t> 		</a:t>
            </a:r>
            <a:r>
              <a:rPr lang="en-US" sz="2000" b="1" dirty="0"/>
              <a:t>end-if</a:t>
            </a:r>
          </a:p>
          <a:p>
            <a:pPr eaLnBrk="1" hangingPunct="1">
              <a:buFontTx/>
              <a:buAutoNum type="arabicPeriod"/>
            </a:pPr>
            <a:r>
              <a:rPr lang="en-US" sz="2000" dirty="0">
                <a:solidFill>
                  <a:srgbClr val="CC0000"/>
                </a:solidFill>
              </a:rPr>
              <a:t> 	</a:t>
            </a:r>
            <a:r>
              <a:rPr lang="en-US" sz="2000" b="1" dirty="0"/>
              <a:t>end-for</a:t>
            </a:r>
          </a:p>
          <a:p>
            <a:pPr eaLnBrk="1" hangingPunct="1">
              <a:buFontTx/>
              <a:buAutoNum type="arabicPeriod"/>
            </a:pPr>
            <a:r>
              <a:rPr lang="en-US" sz="2000" dirty="0">
                <a:solidFill>
                  <a:srgbClr val="CC0000"/>
                </a:solidFill>
              </a:rPr>
              <a:t> </a:t>
            </a:r>
            <a:r>
              <a:rPr lang="en-US" sz="2000" b="1" dirty="0"/>
              <a:t>end-while</a:t>
            </a:r>
            <a:r>
              <a:rPr lang="en-US" sz="1800" dirty="0">
                <a:solidFill>
                  <a:schemeClr val="hlink"/>
                </a:solidFill>
              </a:rPr>
              <a:t> 							</a:t>
            </a:r>
            <a:endParaRPr lang="en-US" sz="2000" b="1" dirty="0"/>
          </a:p>
          <a:p>
            <a:pPr eaLnBrk="1" hangingPunct="1">
              <a:buFontTx/>
              <a:buNone/>
            </a:pPr>
            <a:r>
              <a:rPr lang="en-US" sz="2000" b="1" dirty="0"/>
              <a:t>end</a:t>
            </a:r>
            <a:r>
              <a:rPr lang="en-US" sz="2000" dirty="0">
                <a:solidFill>
                  <a:schemeClr val="hlink"/>
                </a:solidFill>
              </a:rPr>
              <a:t> </a:t>
            </a:r>
          </a:p>
        </p:txBody>
      </p:sp>
      <p:grpSp>
        <p:nvGrpSpPr>
          <p:cNvPr id="200718" name="Group 14"/>
          <p:cNvGrpSpPr>
            <a:grpSpLocks/>
          </p:cNvGrpSpPr>
          <p:nvPr/>
        </p:nvGrpSpPr>
        <p:grpSpPr bwMode="auto">
          <a:xfrm>
            <a:off x="304800" y="5410200"/>
            <a:ext cx="5080000" cy="1219200"/>
            <a:chOff x="192" y="3216"/>
            <a:chExt cx="3200" cy="912"/>
          </a:xfrm>
        </p:grpSpPr>
        <p:sp>
          <p:nvSpPr>
            <p:cNvPr id="116744" name="Text Box 4"/>
            <p:cNvSpPr txBox="1">
              <a:spLocks noChangeArrowheads="1"/>
            </p:cNvSpPr>
            <p:nvPr/>
          </p:nvSpPr>
          <p:spPr bwMode="auto">
            <a:xfrm>
              <a:off x="1136" y="3393"/>
              <a:ext cx="2256" cy="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ts val="1700"/>
                </a:lnSpc>
                <a:spcBef>
                  <a:spcPct val="50000"/>
                </a:spcBef>
                <a:buFontTx/>
                <a:buNone/>
              </a:pPr>
              <a:r>
                <a:rPr lang="en-US" sz="1800" dirty="0">
                  <a:solidFill>
                    <a:schemeClr val="tx2"/>
                  </a:solidFill>
                </a:rPr>
                <a:t>O(E log V) </a:t>
              </a:r>
              <a:r>
                <a:rPr lang="en-US" sz="1800" dirty="0" smtClean="0">
                  <a:solidFill>
                    <a:schemeClr val="tx2"/>
                  </a:solidFill>
                </a:rPr>
                <a:t> </a:t>
              </a:r>
              <a:r>
                <a:rPr lang="en-US" dirty="0" smtClean="0">
                  <a:solidFill>
                    <a:schemeClr val="tx2"/>
                  </a:solidFill>
                </a:rPr>
                <a:t>with standard binary heap</a:t>
              </a:r>
              <a:endParaRPr lang="en-US" sz="1800" dirty="0">
                <a:solidFill>
                  <a:schemeClr val="tx2"/>
                </a:solidFill>
              </a:endParaRPr>
            </a:p>
            <a:p>
              <a:pPr eaLnBrk="1" hangingPunct="1">
                <a:lnSpc>
                  <a:spcPts val="1700"/>
                </a:lnSpc>
                <a:spcBef>
                  <a:spcPct val="50000"/>
                </a:spcBef>
                <a:buFontTx/>
                <a:buNone/>
              </a:pPr>
              <a:r>
                <a:rPr lang="en-US" sz="1800" dirty="0" smtClean="0">
                  <a:solidFill>
                    <a:srgbClr val="CC0000"/>
                  </a:solidFill>
                </a:rPr>
                <a:t/>
              </a:r>
              <a:br>
                <a:rPr lang="en-US" sz="1800" dirty="0" smtClean="0">
                  <a:solidFill>
                    <a:srgbClr val="CC0000"/>
                  </a:solidFill>
                </a:rPr>
              </a:br>
              <a:r>
                <a:rPr lang="en-US" sz="1800" dirty="0" smtClean="0">
                  <a:solidFill>
                    <a:srgbClr val="CC0000"/>
                  </a:solidFill>
                </a:rPr>
                <a:t>O(E </a:t>
              </a:r>
              <a:r>
                <a:rPr lang="en-US" sz="1800" dirty="0">
                  <a:solidFill>
                    <a:srgbClr val="CC0000"/>
                  </a:solidFill>
                </a:rPr>
                <a:t>+ V log V)  </a:t>
              </a:r>
              <a:r>
                <a:rPr lang="en-US" dirty="0" smtClean="0">
                  <a:solidFill>
                    <a:srgbClr val="CC0000"/>
                  </a:solidFill>
                </a:rPr>
                <a:t>with </a:t>
              </a:r>
              <a:r>
                <a:rPr lang="en-US" dirty="0">
                  <a:solidFill>
                    <a:srgbClr val="CC0000"/>
                  </a:solidFill>
                </a:rPr>
                <a:t>Fibonacci </a:t>
              </a:r>
              <a:r>
                <a:rPr lang="en-US" dirty="0" smtClean="0">
                  <a:solidFill>
                    <a:srgbClr val="CC0000"/>
                  </a:solidFill>
                </a:rPr>
                <a:t>Heap</a:t>
              </a:r>
              <a:endParaRPr lang="en-US" sz="1800" dirty="0">
                <a:solidFill>
                  <a:srgbClr val="CC0000"/>
                </a:solidFill>
              </a:endParaRPr>
            </a:p>
          </p:txBody>
        </p:sp>
        <p:sp>
          <p:nvSpPr>
            <p:cNvPr id="116745" name="Rectangle 5"/>
            <p:cNvSpPr>
              <a:spLocks noChangeArrowheads="1"/>
            </p:cNvSpPr>
            <p:nvPr/>
          </p:nvSpPr>
          <p:spPr bwMode="auto">
            <a:xfrm>
              <a:off x="192" y="3552"/>
              <a:ext cx="8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Total time =</a:t>
              </a:r>
            </a:p>
          </p:txBody>
        </p:sp>
        <p:sp>
          <p:nvSpPr>
            <p:cNvPr id="116746" name="AutoShape 6"/>
            <p:cNvSpPr>
              <a:spLocks/>
            </p:cNvSpPr>
            <p:nvPr/>
          </p:nvSpPr>
          <p:spPr bwMode="auto">
            <a:xfrm>
              <a:off x="1056" y="3216"/>
              <a:ext cx="144" cy="912"/>
            </a:xfrm>
            <a:prstGeom prst="leftBrace">
              <a:avLst>
                <a:gd name="adj1" fmla="val 52778"/>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grpSp>
      <p:grpSp>
        <p:nvGrpSpPr>
          <p:cNvPr id="200711" name="Group 7"/>
          <p:cNvGrpSpPr>
            <a:grpSpLocks/>
          </p:cNvGrpSpPr>
          <p:nvPr/>
        </p:nvGrpSpPr>
        <p:grpSpPr bwMode="auto">
          <a:xfrm>
            <a:off x="5638800" y="2362200"/>
            <a:ext cx="2882900" cy="1828800"/>
            <a:chOff x="3552" y="1488"/>
            <a:chExt cx="1816" cy="1152"/>
          </a:xfrm>
        </p:grpSpPr>
        <p:sp>
          <p:nvSpPr>
            <p:cNvPr id="116742" name="AutoShape 8"/>
            <p:cNvSpPr>
              <a:spLocks/>
            </p:cNvSpPr>
            <p:nvPr/>
          </p:nvSpPr>
          <p:spPr bwMode="auto">
            <a:xfrm>
              <a:off x="3552" y="1488"/>
              <a:ext cx="96" cy="1152"/>
            </a:xfrm>
            <a:prstGeom prst="rightBrace">
              <a:avLst>
                <a:gd name="adj1" fmla="val 100000"/>
                <a:gd name="adj2" fmla="val 50000"/>
              </a:avLst>
            </a:prstGeom>
            <a:noFill/>
            <a:ln w="1905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16743" name="Rectangle 9"/>
            <p:cNvSpPr>
              <a:spLocks noChangeArrowheads="1"/>
            </p:cNvSpPr>
            <p:nvPr/>
          </p:nvSpPr>
          <p:spPr bwMode="auto">
            <a:xfrm>
              <a:off x="3648" y="1920"/>
              <a:ext cx="1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solidFill>
                    <a:srgbClr val="CC0000"/>
                  </a:solidFill>
                  <a:cs typeface="Arial" pitchFamily="34" charset="0"/>
                </a:rPr>
                <a:t>§ </a:t>
              </a:r>
              <a:r>
                <a:rPr lang="en-US" sz="2000">
                  <a:solidFill>
                    <a:srgbClr val="CC0000"/>
                  </a:solidFill>
                </a:rPr>
                <a:t>O( |Adj[u]| log V) time</a:t>
              </a:r>
            </a:p>
          </p:txBody>
        </p:sp>
      </p:grpSp>
      <p:sp>
        <p:nvSpPr>
          <p:cNvPr id="200715" name="Text Box 11"/>
          <p:cNvSpPr txBox="1">
            <a:spLocks noChangeArrowheads="1"/>
          </p:cNvSpPr>
          <p:nvPr/>
        </p:nvSpPr>
        <p:spPr bwMode="auto">
          <a:xfrm>
            <a:off x="5410200" y="5181600"/>
            <a:ext cx="3581400" cy="1566863"/>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457200" indent="-457200" defTabSz="439738">
              <a:defRPr sz="1600">
                <a:solidFill>
                  <a:schemeClr val="tx1"/>
                </a:solidFill>
                <a:latin typeface="Times New Roman" pitchFamily="18" charset="0"/>
              </a:defRPr>
            </a:lvl1pPr>
            <a:lvl2pPr marL="742950" indent="-285750" defTabSz="439738">
              <a:defRPr sz="1600">
                <a:solidFill>
                  <a:schemeClr val="tx1"/>
                </a:solidFill>
                <a:latin typeface="Times New Roman" pitchFamily="18" charset="0"/>
              </a:defRPr>
            </a:lvl2pPr>
            <a:lvl3pPr marL="1143000" indent="-228600" defTabSz="439738">
              <a:defRPr sz="1600">
                <a:solidFill>
                  <a:schemeClr val="tx1"/>
                </a:solidFill>
                <a:latin typeface="Times New Roman" pitchFamily="18" charset="0"/>
              </a:defRPr>
            </a:lvl3pPr>
            <a:lvl4pPr marL="1600200" indent="-228600" defTabSz="439738">
              <a:defRPr sz="1600">
                <a:solidFill>
                  <a:schemeClr val="tx1"/>
                </a:solidFill>
                <a:latin typeface="Times New Roman" pitchFamily="18" charset="0"/>
              </a:defRPr>
            </a:lvl4pPr>
            <a:lvl5pPr marL="2057400" indent="-228600" defTabSz="439738">
              <a:defRPr sz="1600">
                <a:solidFill>
                  <a:schemeClr val="tx1"/>
                </a:solidFill>
                <a:latin typeface="Times New Roman" pitchFamily="18" charset="0"/>
              </a:defRPr>
            </a:lvl5pPr>
            <a:lvl6pPr marL="2514600" indent="-228600" defTabSz="439738" eaLnBrk="0" fontAlgn="base" hangingPunct="0">
              <a:spcBef>
                <a:spcPct val="0"/>
              </a:spcBef>
              <a:spcAft>
                <a:spcPct val="0"/>
              </a:spcAft>
              <a:buChar char="•"/>
              <a:defRPr sz="1600">
                <a:solidFill>
                  <a:schemeClr val="tx1"/>
                </a:solidFill>
                <a:latin typeface="Times New Roman" pitchFamily="18" charset="0"/>
              </a:defRPr>
            </a:lvl6pPr>
            <a:lvl7pPr marL="2971800" indent="-228600" defTabSz="439738" eaLnBrk="0" fontAlgn="base" hangingPunct="0">
              <a:spcBef>
                <a:spcPct val="0"/>
              </a:spcBef>
              <a:spcAft>
                <a:spcPct val="0"/>
              </a:spcAft>
              <a:buChar char="•"/>
              <a:defRPr sz="1600">
                <a:solidFill>
                  <a:schemeClr val="tx1"/>
                </a:solidFill>
                <a:latin typeface="Times New Roman" pitchFamily="18" charset="0"/>
              </a:defRPr>
            </a:lvl7pPr>
            <a:lvl8pPr marL="3429000" indent="-228600" defTabSz="439738" eaLnBrk="0" fontAlgn="base" hangingPunct="0">
              <a:spcBef>
                <a:spcPct val="0"/>
              </a:spcBef>
              <a:spcAft>
                <a:spcPct val="0"/>
              </a:spcAft>
              <a:buChar char="•"/>
              <a:defRPr sz="1600">
                <a:solidFill>
                  <a:schemeClr val="tx1"/>
                </a:solidFill>
                <a:latin typeface="Times New Roman" pitchFamily="18" charset="0"/>
              </a:defRPr>
            </a:lvl8pPr>
            <a:lvl9pPr marL="3886200" indent="-228600" defTabSz="439738"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90000"/>
              </a:lnSpc>
              <a:buFontTx/>
              <a:buNone/>
            </a:pPr>
            <a:r>
              <a:rPr lang="en-US" sz="2000" b="1" dirty="0"/>
              <a:t>Procedure</a:t>
            </a:r>
            <a:r>
              <a:rPr lang="en-US" sz="2000" dirty="0">
                <a:solidFill>
                  <a:schemeClr val="hlink"/>
                </a:solidFill>
              </a:rPr>
              <a:t>  </a:t>
            </a:r>
            <a:r>
              <a:rPr lang="en-US" sz="2000" b="1" dirty="0" err="1">
                <a:solidFill>
                  <a:schemeClr val="hlink"/>
                </a:solidFill>
              </a:rPr>
              <a:t>PrintSP</a:t>
            </a:r>
            <a:r>
              <a:rPr lang="en-US" sz="2000" dirty="0">
                <a:solidFill>
                  <a:schemeClr val="hlink"/>
                </a:solidFill>
              </a:rPr>
              <a:t>(u)</a:t>
            </a:r>
          </a:p>
          <a:p>
            <a:pPr eaLnBrk="1" hangingPunct="1">
              <a:lnSpc>
                <a:spcPct val="90000"/>
              </a:lnSpc>
              <a:buFontTx/>
              <a:buNone/>
            </a:pPr>
            <a:r>
              <a:rPr lang="en-US" sz="2000" dirty="0">
                <a:solidFill>
                  <a:schemeClr val="hlink"/>
                </a:solidFill>
              </a:rPr>
              <a:t>	 </a:t>
            </a:r>
            <a:r>
              <a:rPr lang="en-US" sz="2000" b="1" dirty="0">
                <a:solidFill>
                  <a:schemeClr val="tx2"/>
                </a:solidFill>
              </a:rPr>
              <a:t>if</a:t>
            </a:r>
            <a:r>
              <a:rPr lang="en-US" sz="2000" dirty="0">
                <a:solidFill>
                  <a:schemeClr val="tx2"/>
                </a:solidFill>
              </a:rPr>
              <a:t>   </a:t>
            </a:r>
            <a:r>
              <a:rPr lang="en-US" sz="2000" dirty="0">
                <a:solidFill>
                  <a:schemeClr val="hlink"/>
                </a:solidFill>
              </a:rPr>
              <a:t>u = nil</a:t>
            </a:r>
            <a:r>
              <a:rPr lang="en-US" sz="2000" dirty="0">
                <a:solidFill>
                  <a:schemeClr val="tx2"/>
                </a:solidFill>
              </a:rPr>
              <a:t>  </a:t>
            </a:r>
            <a:r>
              <a:rPr lang="en-US" sz="2000" b="1" dirty="0">
                <a:solidFill>
                  <a:schemeClr val="tx2"/>
                </a:solidFill>
              </a:rPr>
              <a:t>then</a:t>
            </a:r>
            <a:r>
              <a:rPr lang="en-US" sz="2000" dirty="0">
                <a:solidFill>
                  <a:schemeClr val="tx2"/>
                </a:solidFill>
              </a:rPr>
              <a:t> </a:t>
            </a:r>
            <a:r>
              <a:rPr lang="en-US" sz="2000" b="1" dirty="0">
                <a:sym typeface="Symbol" pitchFamily="18" charset="2"/>
              </a:rPr>
              <a:t>return</a:t>
            </a:r>
            <a:endParaRPr lang="en-US" sz="2000" dirty="0">
              <a:solidFill>
                <a:schemeClr val="hlink"/>
              </a:solidFill>
            </a:endParaRPr>
          </a:p>
          <a:p>
            <a:pPr eaLnBrk="1" hangingPunct="1">
              <a:lnSpc>
                <a:spcPct val="90000"/>
              </a:lnSpc>
              <a:buFontTx/>
              <a:buNone/>
            </a:pPr>
            <a:r>
              <a:rPr lang="en-US" sz="2000" dirty="0">
                <a:solidFill>
                  <a:schemeClr val="hlink"/>
                </a:solidFill>
                <a:sym typeface="Symbol" pitchFamily="18" charset="2"/>
              </a:rPr>
              <a:t>	 </a:t>
            </a:r>
            <a:r>
              <a:rPr lang="en-US" sz="2000" b="1" dirty="0" err="1">
                <a:solidFill>
                  <a:schemeClr val="hlink"/>
                </a:solidFill>
                <a:sym typeface="Symbol" pitchFamily="18" charset="2"/>
              </a:rPr>
              <a:t>PrintSP</a:t>
            </a:r>
            <a:r>
              <a:rPr lang="en-US" sz="2000" dirty="0">
                <a:solidFill>
                  <a:schemeClr val="hlink"/>
                </a:solidFill>
                <a:sym typeface="Symbol" pitchFamily="18" charset="2"/>
              </a:rPr>
              <a:t>(</a:t>
            </a:r>
            <a:r>
              <a:rPr lang="en-US" sz="2000" dirty="0">
                <a:solidFill>
                  <a:schemeClr val="hlink"/>
                </a:solidFill>
                <a:latin typeface="Symbol" pitchFamily="18" charset="2"/>
                <a:sym typeface="Symbol" pitchFamily="18" charset="2"/>
              </a:rPr>
              <a:t>p</a:t>
            </a:r>
            <a:r>
              <a:rPr lang="en-US" sz="2000" dirty="0">
                <a:solidFill>
                  <a:schemeClr val="hlink"/>
                </a:solidFill>
                <a:sym typeface="Symbol" pitchFamily="18" charset="2"/>
              </a:rPr>
              <a:t>[u])</a:t>
            </a:r>
            <a:br>
              <a:rPr lang="en-US" sz="2000" dirty="0">
                <a:solidFill>
                  <a:schemeClr val="hlink"/>
                </a:solidFill>
                <a:sym typeface="Symbol" pitchFamily="18" charset="2"/>
              </a:rPr>
            </a:br>
            <a:r>
              <a:rPr lang="en-US" sz="2000" dirty="0">
                <a:solidFill>
                  <a:schemeClr val="hlink"/>
                </a:solidFill>
                <a:sym typeface="Symbol" pitchFamily="18" charset="2"/>
              </a:rPr>
              <a:t> print </a:t>
            </a:r>
            <a:r>
              <a:rPr lang="en-US" sz="2000" dirty="0">
                <a:solidFill>
                  <a:schemeClr val="hlink"/>
                </a:solidFill>
              </a:rPr>
              <a:t>u</a:t>
            </a:r>
            <a:r>
              <a:rPr lang="en-US" sz="2000" dirty="0">
                <a:solidFill>
                  <a:srgbClr val="CC0000"/>
                </a:solidFill>
              </a:rPr>
              <a:t> </a:t>
            </a:r>
          </a:p>
          <a:p>
            <a:pPr>
              <a:lnSpc>
                <a:spcPct val="90000"/>
              </a:lnSpc>
              <a:buFontTx/>
              <a:buNone/>
            </a:pPr>
            <a:r>
              <a:rPr lang="en-US" sz="2000" b="1" dirty="0"/>
              <a:t>end</a:t>
            </a:r>
            <a:r>
              <a:rPr lang="en-US" sz="2000" dirty="0">
                <a:solidFill>
                  <a:schemeClr val="hlink"/>
                </a:solidFill>
              </a:rPr>
              <a:t> 			</a:t>
            </a:r>
            <a:r>
              <a:rPr lang="en-US" sz="2000" b="1" dirty="0">
                <a:solidFill>
                  <a:srgbClr val="CC0000"/>
                </a:solidFill>
                <a:cs typeface="Arial" pitchFamily="34" charset="0"/>
              </a:rPr>
              <a:t>§ O(V) time</a:t>
            </a:r>
            <a:r>
              <a:rPr lang="en-US" sz="2000" b="1" dirty="0">
                <a:solidFill>
                  <a:schemeClr val="hlink"/>
                </a:solidFill>
              </a:rPr>
              <a:t> </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0706">
                                            <p:bg/>
                                          </p:spTgt>
                                        </p:tgtEl>
                                        <p:attrNameLst>
                                          <p:attrName>style.visibility</p:attrName>
                                        </p:attrNameLst>
                                      </p:cBhvr>
                                      <p:to>
                                        <p:strVal val="visible"/>
                                      </p:to>
                                    </p:set>
                                    <p:animEffect transition="in" filter="wipe(left)">
                                      <p:cBhvr>
                                        <p:cTn id="7" dur="500"/>
                                        <p:tgtEl>
                                          <p:spTgt spid="200706">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0706">
                                            <p:txEl>
                                              <p:pRg st="0" end="0"/>
                                            </p:txEl>
                                          </p:spTgt>
                                        </p:tgtEl>
                                        <p:attrNameLst>
                                          <p:attrName>style.visibility</p:attrName>
                                        </p:attrNameLst>
                                      </p:cBhvr>
                                      <p:to>
                                        <p:strVal val="visible"/>
                                      </p:to>
                                    </p:set>
                                    <p:animEffect transition="in" filter="wipe(left)">
                                      <p:cBhvr>
                                        <p:cTn id="12" dur="500"/>
                                        <p:tgtEl>
                                          <p:spTgt spid="20070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0706">
                                            <p:txEl>
                                              <p:pRg st="1" end="1"/>
                                            </p:txEl>
                                          </p:spTgt>
                                        </p:tgtEl>
                                        <p:attrNameLst>
                                          <p:attrName>style.visibility</p:attrName>
                                        </p:attrNameLst>
                                      </p:cBhvr>
                                      <p:to>
                                        <p:strVal val="visible"/>
                                      </p:to>
                                    </p:set>
                                    <p:animEffect transition="in" filter="wipe(left)">
                                      <p:cBhvr>
                                        <p:cTn id="17" dur="500"/>
                                        <p:tgtEl>
                                          <p:spTgt spid="20070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0706">
                                            <p:txEl>
                                              <p:pRg st="2" end="2"/>
                                            </p:txEl>
                                          </p:spTgt>
                                        </p:tgtEl>
                                        <p:attrNameLst>
                                          <p:attrName>style.visibility</p:attrName>
                                        </p:attrNameLst>
                                      </p:cBhvr>
                                      <p:to>
                                        <p:strVal val="visible"/>
                                      </p:to>
                                    </p:set>
                                    <p:animEffect transition="in" filter="wipe(left)">
                                      <p:cBhvr>
                                        <p:cTn id="22" dur="500"/>
                                        <p:tgtEl>
                                          <p:spTgt spid="20070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0706">
                                            <p:txEl>
                                              <p:pRg st="3" end="3"/>
                                            </p:txEl>
                                          </p:spTgt>
                                        </p:tgtEl>
                                        <p:attrNameLst>
                                          <p:attrName>style.visibility</p:attrName>
                                        </p:attrNameLst>
                                      </p:cBhvr>
                                      <p:to>
                                        <p:strVal val="visible"/>
                                      </p:to>
                                    </p:set>
                                    <p:animEffect transition="in" filter="wipe(left)">
                                      <p:cBhvr>
                                        <p:cTn id="27" dur="500"/>
                                        <p:tgtEl>
                                          <p:spTgt spid="200706">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0706">
                                            <p:txEl>
                                              <p:pRg st="4" end="4"/>
                                            </p:txEl>
                                          </p:spTgt>
                                        </p:tgtEl>
                                        <p:attrNameLst>
                                          <p:attrName>style.visibility</p:attrName>
                                        </p:attrNameLst>
                                      </p:cBhvr>
                                      <p:to>
                                        <p:strVal val="visible"/>
                                      </p:to>
                                    </p:set>
                                    <p:animEffect transition="in" filter="wipe(left)">
                                      <p:cBhvr>
                                        <p:cTn id="32" dur="500"/>
                                        <p:tgtEl>
                                          <p:spTgt spid="200706">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0706">
                                            <p:txEl>
                                              <p:pRg st="5" end="5"/>
                                            </p:txEl>
                                          </p:spTgt>
                                        </p:tgtEl>
                                        <p:attrNameLst>
                                          <p:attrName>style.visibility</p:attrName>
                                        </p:attrNameLst>
                                      </p:cBhvr>
                                      <p:to>
                                        <p:strVal val="visible"/>
                                      </p:to>
                                    </p:set>
                                    <p:animEffect transition="in" filter="wipe(left)">
                                      <p:cBhvr>
                                        <p:cTn id="37" dur="500"/>
                                        <p:tgtEl>
                                          <p:spTgt spid="200706">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0706">
                                            <p:txEl>
                                              <p:pRg st="6" end="6"/>
                                            </p:txEl>
                                          </p:spTgt>
                                        </p:tgtEl>
                                        <p:attrNameLst>
                                          <p:attrName>style.visibility</p:attrName>
                                        </p:attrNameLst>
                                      </p:cBhvr>
                                      <p:to>
                                        <p:strVal val="visible"/>
                                      </p:to>
                                    </p:set>
                                    <p:animEffect transition="in" filter="wipe(left)">
                                      <p:cBhvr>
                                        <p:cTn id="42" dur="500"/>
                                        <p:tgtEl>
                                          <p:spTgt spid="200706">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0706">
                                            <p:txEl>
                                              <p:pRg st="7" end="7"/>
                                            </p:txEl>
                                          </p:spTgt>
                                        </p:tgtEl>
                                        <p:attrNameLst>
                                          <p:attrName>style.visibility</p:attrName>
                                        </p:attrNameLst>
                                      </p:cBhvr>
                                      <p:to>
                                        <p:strVal val="visible"/>
                                      </p:to>
                                    </p:set>
                                    <p:animEffect transition="in" filter="wipe(left)">
                                      <p:cBhvr>
                                        <p:cTn id="47" dur="500"/>
                                        <p:tgtEl>
                                          <p:spTgt spid="200706">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00706">
                                            <p:txEl>
                                              <p:pRg st="8" end="8"/>
                                            </p:txEl>
                                          </p:spTgt>
                                        </p:tgtEl>
                                        <p:attrNameLst>
                                          <p:attrName>style.visibility</p:attrName>
                                        </p:attrNameLst>
                                      </p:cBhvr>
                                      <p:to>
                                        <p:strVal val="visible"/>
                                      </p:to>
                                    </p:set>
                                    <p:animEffect transition="in" filter="wipe(left)">
                                      <p:cBhvr>
                                        <p:cTn id="52" dur="500"/>
                                        <p:tgtEl>
                                          <p:spTgt spid="200706">
                                            <p:txEl>
                                              <p:pRg st="8" end="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00706">
                                            <p:txEl>
                                              <p:pRg st="9" end="9"/>
                                            </p:txEl>
                                          </p:spTgt>
                                        </p:tgtEl>
                                        <p:attrNameLst>
                                          <p:attrName>style.visibility</p:attrName>
                                        </p:attrNameLst>
                                      </p:cBhvr>
                                      <p:to>
                                        <p:strVal val="visible"/>
                                      </p:to>
                                    </p:set>
                                    <p:animEffect transition="in" filter="wipe(left)">
                                      <p:cBhvr>
                                        <p:cTn id="57" dur="500"/>
                                        <p:tgtEl>
                                          <p:spTgt spid="200706">
                                            <p:txEl>
                                              <p:pRg st="9" end="9"/>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00706">
                                            <p:txEl>
                                              <p:pRg st="10" end="10"/>
                                            </p:txEl>
                                          </p:spTgt>
                                        </p:tgtEl>
                                        <p:attrNameLst>
                                          <p:attrName>style.visibility</p:attrName>
                                        </p:attrNameLst>
                                      </p:cBhvr>
                                      <p:to>
                                        <p:strVal val="visible"/>
                                      </p:to>
                                    </p:set>
                                    <p:animEffect transition="in" filter="wipe(left)">
                                      <p:cBhvr>
                                        <p:cTn id="62" dur="500"/>
                                        <p:tgtEl>
                                          <p:spTgt spid="200706">
                                            <p:txEl>
                                              <p:pRg st="10" end="1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00706">
                                            <p:txEl>
                                              <p:pRg st="11" end="11"/>
                                            </p:txEl>
                                          </p:spTgt>
                                        </p:tgtEl>
                                        <p:attrNameLst>
                                          <p:attrName>style.visibility</p:attrName>
                                        </p:attrNameLst>
                                      </p:cBhvr>
                                      <p:to>
                                        <p:strVal val="visible"/>
                                      </p:to>
                                    </p:set>
                                    <p:animEffect transition="in" filter="wipe(left)">
                                      <p:cBhvr>
                                        <p:cTn id="67" dur="500"/>
                                        <p:tgtEl>
                                          <p:spTgt spid="200706">
                                            <p:txEl>
                                              <p:pRg st="11" end="11"/>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00706">
                                            <p:txEl>
                                              <p:pRg st="12" end="12"/>
                                            </p:txEl>
                                          </p:spTgt>
                                        </p:tgtEl>
                                        <p:attrNameLst>
                                          <p:attrName>style.visibility</p:attrName>
                                        </p:attrNameLst>
                                      </p:cBhvr>
                                      <p:to>
                                        <p:strVal val="visible"/>
                                      </p:to>
                                    </p:set>
                                    <p:animEffect transition="in" filter="wipe(left)">
                                      <p:cBhvr>
                                        <p:cTn id="72" dur="500"/>
                                        <p:tgtEl>
                                          <p:spTgt spid="200706">
                                            <p:txEl>
                                              <p:pRg st="12" end="12"/>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00706">
                                            <p:txEl>
                                              <p:pRg st="13" end="13"/>
                                            </p:txEl>
                                          </p:spTgt>
                                        </p:tgtEl>
                                        <p:attrNameLst>
                                          <p:attrName>style.visibility</p:attrName>
                                        </p:attrNameLst>
                                      </p:cBhvr>
                                      <p:to>
                                        <p:strVal val="visible"/>
                                      </p:to>
                                    </p:set>
                                    <p:animEffect transition="in" filter="wipe(left)">
                                      <p:cBhvr>
                                        <p:cTn id="77" dur="500"/>
                                        <p:tgtEl>
                                          <p:spTgt spid="200706">
                                            <p:txEl>
                                              <p:pRg st="13" end="13"/>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00706">
                                            <p:txEl>
                                              <p:pRg st="14" end="14"/>
                                            </p:txEl>
                                          </p:spTgt>
                                        </p:tgtEl>
                                        <p:attrNameLst>
                                          <p:attrName>style.visibility</p:attrName>
                                        </p:attrNameLst>
                                      </p:cBhvr>
                                      <p:to>
                                        <p:strVal val="visible"/>
                                      </p:to>
                                    </p:set>
                                    <p:animEffect transition="in" filter="wipe(left)">
                                      <p:cBhvr>
                                        <p:cTn id="82" dur="500"/>
                                        <p:tgtEl>
                                          <p:spTgt spid="200706">
                                            <p:txEl>
                                              <p:pRg st="14" end="14"/>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200711"/>
                                        </p:tgtEl>
                                        <p:attrNameLst>
                                          <p:attrName>style.visibility</p:attrName>
                                        </p:attrNameLst>
                                      </p:cBhvr>
                                      <p:to>
                                        <p:strVal val="visible"/>
                                      </p:to>
                                    </p:set>
                                    <p:animEffect transition="in" filter="wipe(left)">
                                      <p:cBhvr>
                                        <p:cTn id="87" dur="500"/>
                                        <p:tgtEl>
                                          <p:spTgt spid="20071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200718"/>
                                        </p:tgtEl>
                                        <p:attrNameLst>
                                          <p:attrName>style.visibility</p:attrName>
                                        </p:attrNameLst>
                                      </p:cBhvr>
                                      <p:to>
                                        <p:strVal val="visible"/>
                                      </p:to>
                                    </p:set>
                                    <p:animEffect transition="in" filter="wipe(left)">
                                      <p:cBhvr>
                                        <p:cTn id="92" dur="500"/>
                                        <p:tgtEl>
                                          <p:spTgt spid="200718"/>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200715"/>
                                        </p:tgtEl>
                                        <p:attrNameLst>
                                          <p:attrName>style.visibility</p:attrName>
                                        </p:attrNameLst>
                                      </p:cBhvr>
                                      <p:to>
                                        <p:strVal val="visible"/>
                                      </p:to>
                                    </p:set>
                                    <p:animEffect transition="in" filter="wipe(up)">
                                      <p:cBhvr>
                                        <p:cTn id="97" dur="500"/>
                                        <p:tgtEl>
                                          <p:spTgt spid="200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6" grpId="0" build="p" animBg="1" autoUpdateAnimBg="0"/>
      <p:bldP spid="200715" grpId="0" animBg="1"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chemeClr val="tx1"/>
                </a:solidFill>
                <a:latin typeface="Arial Rounded MT Bold" pitchFamily="34" charset="0"/>
              </a:rPr>
              <a:t>3.  </a:t>
            </a:r>
            <a:r>
              <a:rPr lang="en-US" sz="2800" b="1" dirty="0" smtClean="0">
                <a:latin typeface="Arial Rounded MT Bold" pitchFamily="34" charset="0"/>
              </a:rPr>
              <a:t>General</a:t>
            </a:r>
            <a:r>
              <a:rPr lang="en-US" sz="2800" dirty="0" smtClean="0">
                <a:latin typeface="Arial" pitchFamily="34" charset="0"/>
                <a:sym typeface="Symbol" pitchFamily="18" charset="2"/>
              </a:rPr>
              <a:t>   </a:t>
            </a:r>
            <a:r>
              <a:rPr lang="en-US" sz="2800" dirty="0" smtClean="0">
                <a:solidFill>
                  <a:srgbClr val="CC0000"/>
                </a:solidFill>
                <a:latin typeface="Arial Rounded MT Bold" pitchFamily="34" charset="0"/>
                <a:sym typeface="Symbol" pitchFamily="18" charset="2"/>
              </a:rPr>
              <a:t>[Bellman-Ford]</a:t>
            </a:r>
          </a:p>
        </p:txBody>
      </p:sp>
      <p:sp>
        <p:nvSpPr>
          <p:cNvPr id="208899" name="Text Box 3"/>
          <p:cNvSpPr txBox="1">
            <a:spLocks noChangeArrowheads="1"/>
          </p:cNvSpPr>
          <p:nvPr/>
        </p:nvSpPr>
        <p:spPr bwMode="auto">
          <a:xfrm>
            <a:off x="152400" y="838200"/>
            <a:ext cx="88392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2575" indent="-282575" defTabSz="746125">
              <a:defRPr sz="1600">
                <a:solidFill>
                  <a:schemeClr val="tx1"/>
                </a:solidFill>
                <a:latin typeface="Times New Roman" pitchFamily="18" charset="0"/>
              </a:defRPr>
            </a:lvl1pPr>
            <a:lvl2pPr marL="742950" indent="-285750" defTabSz="746125">
              <a:defRPr sz="1600">
                <a:solidFill>
                  <a:schemeClr val="tx1"/>
                </a:solidFill>
                <a:latin typeface="Times New Roman" pitchFamily="18" charset="0"/>
              </a:defRPr>
            </a:lvl2pPr>
            <a:lvl3pPr marL="1143000" indent="-228600" defTabSz="746125">
              <a:defRPr sz="1600">
                <a:solidFill>
                  <a:schemeClr val="tx1"/>
                </a:solidFill>
                <a:latin typeface="Times New Roman" pitchFamily="18" charset="0"/>
              </a:defRPr>
            </a:lvl3pPr>
            <a:lvl4pPr marL="1600200" indent="-228600" defTabSz="746125">
              <a:defRPr sz="1600">
                <a:solidFill>
                  <a:schemeClr val="tx1"/>
                </a:solidFill>
                <a:latin typeface="Times New Roman" pitchFamily="18" charset="0"/>
              </a:defRPr>
            </a:lvl4pPr>
            <a:lvl5pPr marL="2057400" indent="-228600" defTabSz="746125">
              <a:defRPr sz="1600">
                <a:solidFill>
                  <a:schemeClr val="tx1"/>
                </a:solidFill>
                <a:latin typeface="Times New Roman" pitchFamily="18" charset="0"/>
              </a:defRPr>
            </a:lvl5pPr>
            <a:lvl6pPr marL="2514600" indent="-228600" defTabSz="746125" eaLnBrk="0" fontAlgn="base" hangingPunct="0">
              <a:spcBef>
                <a:spcPct val="0"/>
              </a:spcBef>
              <a:spcAft>
                <a:spcPct val="0"/>
              </a:spcAft>
              <a:buChar char="•"/>
              <a:defRPr sz="1600">
                <a:solidFill>
                  <a:schemeClr val="tx1"/>
                </a:solidFill>
                <a:latin typeface="Times New Roman" pitchFamily="18" charset="0"/>
              </a:defRPr>
            </a:lvl6pPr>
            <a:lvl7pPr marL="2971800" indent="-228600" defTabSz="746125" eaLnBrk="0" fontAlgn="base" hangingPunct="0">
              <a:spcBef>
                <a:spcPct val="0"/>
              </a:spcBef>
              <a:spcAft>
                <a:spcPct val="0"/>
              </a:spcAft>
              <a:buChar char="•"/>
              <a:defRPr sz="1600">
                <a:solidFill>
                  <a:schemeClr val="tx1"/>
                </a:solidFill>
                <a:latin typeface="Times New Roman" pitchFamily="18" charset="0"/>
              </a:defRPr>
            </a:lvl7pPr>
            <a:lvl8pPr marL="3429000" indent="-228600" defTabSz="746125" eaLnBrk="0" fontAlgn="base" hangingPunct="0">
              <a:spcBef>
                <a:spcPct val="0"/>
              </a:spcBef>
              <a:spcAft>
                <a:spcPct val="0"/>
              </a:spcAft>
              <a:buChar char="•"/>
              <a:defRPr sz="1600">
                <a:solidFill>
                  <a:schemeClr val="tx1"/>
                </a:solidFill>
                <a:latin typeface="Times New Roman" pitchFamily="18" charset="0"/>
              </a:defRPr>
            </a:lvl8pPr>
            <a:lvl9pPr marL="3886200" indent="-228600" defTabSz="746125"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Char char="§"/>
            </a:pPr>
            <a:r>
              <a:rPr lang="en-US" sz="2000">
                <a:solidFill>
                  <a:schemeClr val="tx2"/>
                </a:solidFill>
              </a:rPr>
              <a:t>In this 3</a:t>
            </a:r>
            <a:r>
              <a:rPr lang="en-US" sz="2000" baseline="30000">
                <a:solidFill>
                  <a:schemeClr val="tx2"/>
                </a:solidFill>
              </a:rPr>
              <a:t>rd</a:t>
            </a:r>
            <a:r>
              <a:rPr lang="en-US" sz="2000">
                <a:solidFill>
                  <a:schemeClr val="tx2"/>
                </a:solidFill>
              </a:rPr>
              <a:t> and last case, G is a general digraph (possibly with cycles) and some edge weights may be negative.</a:t>
            </a:r>
          </a:p>
          <a:p>
            <a:pPr eaLnBrk="1" hangingPunct="1">
              <a:spcBef>
                <a:spcPct val="50000"/>
              </a:spcBef>
              <a:buFont typeface="Wingdings" pitchFamily="2" charset="2"/>
              <a:buChar char="§"/>
            </a:pPr>
            <a:r>
              <a:rPr lang="en-US" sz="2000" b="1">
                <a:solidFill>
                  <a:schemeClr val="tx2"/>
                </a:solidFill>
              </a:rPr>
              <a:t>Bellman [1958]</a:t>
            </a:r>
            <a:r>
              <a:rPr lang="en-US" sz="2000">
                <a:solidFill>
                  <a:schemeClr val="tx2"/>
                </a:solidFill>
              </a:rPr>
              <a:t> proposed the appropriate </a:t>
            </a:r>
            <a:r>
              <a:rPr lang="en-US" sz="1800" b="1">
                <a:solidFill>
                  <a:srgbClr val="CC0000"/>
                </a:solidFill>
              </a:rPr>
              <a:t>GREEDY</a:t>
            </a:r>
            <a:r>
              <a:rPr lang="en-US" sz="2000">
                <a:solidFill>
                  <a:schemeClr val="tx2"/>
                </a:solidFill>
              </a:rPr>
              <a:t> scanning order:</a:t>
            </a:r>
            <a:br>
              <a:rPr lang="en-US" sz="2000">
                <a:solidFill>
                  <a:schemeClr val="tx2"/>
                </a:solidFill>
              </a:rPr>
            </a:br>
            <a:r>
              <a:rPr lang="en-US" sz="2400" b="1">
                <a:solidFill>
                  <a:srgbClr val="CC0000"/>
                </a:solidFill>
              </a:rPr>
              <a:t>Breadth First:</a:t>
            </a:r>
            <a:r>
              <a:rPr lang="en-US" sz="2000">
                <a:solidFill>
                  <a:schemeClr val="tx2"/>
                </a:solidFill>
              </a:rPr>
              <a:t>  Among labeled vertices, scan the one least recently labeled.</a:t>
            </a:r>
          </a:p>
          <a:p>
            <a:pPr eaLnBrk="1" hangingPunct="1">
              <a:spcBef>
                <a:spcPct val="50000"/>
              </a:spcBef>
              <a:buFont typeface="Wingdings" pitchFamily="2" charset="2"/>
              <a:buChar char="§"/>
            </a:pPr>
            <a:r>
              <a:rPr lang="en-US" sz="2000">
                <a:solidFill>
                  <a:schemeClr val="tx2"/>
                </a:solidFill>
              </a:rPr>
              <a:t>A looser interpretation of the rule is as effective: </a:t>
            </a:r>
            <a:br>
              <a:rPr lang="en-US" sz="2000">
                <a:solidFill>
                  <a:schemeClr val="tx2"/>
                </a:solidFill>
              </a:rPr>
            </a:br>
            <a:r>
              <a:rPr lang="en-US" sz="2000">
                <a:solidFill>
                  <a:schemeClr val="tx2"/>
                </a:solidFill>
              </a:rPr>
              <a:t>We divide the labeling steps into stages. In each stage we check every edge in some arbitrary order by applying the labeling step on them if applicable.</a:t>
            </a:r>
          </a:p>
          <a:p>
            <a:pPr eaLnBrk="1" hangingPunct="1">
              <a:spcBef>
                <a:spcPct val="50000"/>
              </a:spcBef>
              <a:buFont typeface="Wingdings" pitchFamily="2" charset="2"/>
              <a:buChar char="§"/>
            </a:pPr>
            <a:r>
              <a:rPr lang="en-US" sz="2000">
                <a:solidFill>
                  <a:schemeClr val="tx2"/>
                </a:solidFill>
              </a:rPr>
              <a:t>By induction on the # edges on an s-v path P, say k edges, we can show that by the end of stage k, dist(v) </a:t>
            </a:r>
            <a:r>
              <a:rPr lang="en-US" sz="2000">
                <a:solidFill>
                  <a:schemeClr val="tx2"/>
                </a:solidFill>
                <a:sym typeface="Symbol" pitchFamily="18" charset="2"/>
              </a:rPr>
              <a:t> d(P)</a:t>
            </a:r>
            <a:r>
              <a:rPr lang="en-US" sz="2000">
                <a:solidFill>
                  <a:schemeClr val="tx2"/>
                </a:solidFill>
              </a:rPr>
              <a:t>.</a:t>
            </a:r>
          </a:p>
          <a:p>
            <a:pPr eaLnBrk="1" hangingPunct="1">
              <a:spcBef>
                <a:spcPct val="50000"/>
              </a:spcBef>
              <a:buFont typeface="Wingdings" pitchFamily="2" charset="2"/>
              <a:buChar char="§"/>
            </a:pPr>
            <a:r>
              <a:rPr lang="en-US" sz="2000">
                <a:solidFill>
                  <a:schemeClr val="tx2"/>
                </a:solidFill>
              </a:rPr>
              <a:t>Any simple path has at most |V(G)| – 1 edges.</a:t>
            </a:r>
            <a:br>
              <a:rPr lang="en-US" sz="2000">
                <a:solidFill>
                  <a:schemeClr val="tx2"/>
                </a:solidFill>
              </a:rPr>
            </a:br>
            <a:r>
              <a:rPr lang="en-US" sz="2000">
                <a:solidFill>
                  <a:schemeClr val="tx2"/>
                </a:solidFill>
              </a:rPr>
              <a:t>So, if there is a shortest path tree, it will be found by the end of stage |V(G)| –1.  </a:t>
            </a:r>
            <a:br>
              <a:rPr lang="en-US" sz="2000">
                <a:solidFill>
                  <a:schemeClr val="tx2"/>
                </a:solidFill>
              </a:rPr>
            </a:br>
            <a:r>
              <a:rPr lang="en-US" sz="2000">
                <a:solidFill>
                  <a:schemeClr val="tx2"/>
                </a:solidFill>
              </a:rPr>
              <a:t/>
            </a:r>
            <a:br>
              <a:rPr lang="en-US" sz="2000">
                <a:solidFill>
                  <a:schemeClr val="tx2"/>
                </a:solidFill>
              </a:rPr>
            </a:br>
            <a:r>
              <a:rPr lang="en-US" sz="2000">
                <a:solidFill>
                  <a:schemeClr val="tx2"/>
                </a:solidFill>
              </a:rPr>
              <a:t>If in stage |V(G)| a labeling step is still applicable, </a:t>
            </a:r>
            <a:br>
              <a:rPr lang="en-US" sz="2000">
                <a:solidFill>
                  <a:schemeClr val="tx2"/>
                </a:solidFill>
              </a:rPr>
            </a:br>
            <a:r>
              <a:rPr lang="en-US" sz="2000">
                <a:solidFill>
                  <a:schemeClr val="tx2"/>
                </a:solidFill>
              </a:rPr>
              <a:t>we conclude there must be a negative cycle reachable from s.</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08898"/>
                                        </p:tgtEl>
                                        <p:attrNameLst>
                                          <p:attrName>style.visibility</p:attrName>
                                        </p:attrNameLst>
                                      </p:cBhvr>
                                      <p:to>
                                        <p:strVal val="visible"/>
                                      </p:to>
                                    </p:set>
                                    <p:anim calcmode="lin" valueType="num">
                                      <p:cBhvr>
                                        <p:cTn id="7" dur="500" fill="hold"/>
                                        <p:tgtEl>
                                          <p:spTgt spid="208898"/>
                                        </p:tgtEl>
                                        <p:attrNameLst>
                                          <p:attrName>ppt_w</p:attrName>
                                        </p:attrNameLst>
                                      </p:cBhvr>
                                      <p:tavLst>
                                        <p:tav tm="0">
                                          <p:val>
                                            <p:fltVal val="0"/>
                                          </p:val>
                                        </p:tav>
                                        <p:tav tm="100000">
                                          <p:val>
                                            <p:strVal val="#ppt_w"/>
                                          </p:val>
                                        </p:tav>
                                      </p:tavLst>
                                    </p:anim>
                                    <p:anim calcmode="lin" valueType="num">
                                      <p:cBhvr>
                                        <p:cTn id="8" dur="500" fill="hold"/>
                                        <p:tgtEl>
                                          <p:spTgt spid="20889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08899">
                                            <p:txEl>
                                              <p:pRg st="0" end="0"/>
                                            </p:txEl>
                                          </p:spTgt>
                                        </p:tgtEl>
                                        <p:attrNameLst>
                                          <p:attrName>style.visibility</p:attrName>
                                        </p:attrNameLst>
                                      </p:cBhvr>
                                      <p:to>
                                        <p:strVal val="visible"/>
                                      </p:to>
                                    </p:set>
                                    <p:animEffect transition="in" filter="wipe(left)">
                                      <p:cBhvr>
                                        <p:cTn id="13" dur="500"/>
                                        <p:tgtEl>
                                          <p:spTgt spid="208899">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08899">
                                            <p:txEl>
                                              <p:pRg st="1" end="1"/>
                                            </p:txEl>
                                          </p:spTgt>
                                        </p:tgtEl>
                                        <p:attrNameLst>
                                          <p:attrName>style.visibility</p:attrName>
                                        </p:attrNameLst>
                                      </p:cBhvr>
                                      <p:to>
                                        <p:strVal val="visible"/>
                                      </p:to>
                                    </p:set>
                                    <p:animEffect transition="in" filter="wipe(left)">
                                      <p:cBhvr>
                                        <p:cTn id="18" dur="500"/>
                                        <p:tgtEl>
                                          <p:spTgt spid="208899">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08899">
                                            <p:txEl>
                                              <p:pRg st="2" end="2"/>
                                            </p:txEl>
                                          </p:spTgt>
                                        </p:tgtEl>
                                        <p:attrNameLst>
                                          <p:attrName>style.visibility</p:attrName>
                                        </p:attrNameLst>
                                      </p:cBhvr>
                                      <p:to>
                                        <p:strVal val="visible"/>
                                      </p:to>
                                    </p:set>
                                    <p:animEffect transition="in" filter="wipe(left)">
                                      <p:cBhvr>
                                        <p:cTn id="23" dur="500"/>
                                        <p:tgtEl>
                                          <p:spTgt spid="208899">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08899">
                                            <p:txEl>
                                              <p:pRg st="3" end="3"/>
                                            </p:txEl>
                                          </p:spTgt>
                                        </p:tgtEl>
                                        <p:attrNameLst>
                                          <p:attrName>style.visibility</p:attrName>
                                        </p:attrNameLst>
                                      </p:cBhvr>
                                      <p:to>
                                        <p:strVal val="visible"/>
                                      </p:to>
                                    </p:set>
                                    <p:animEffect transition="in" filter="wipe(left)">
                                      <p:cBhvr>
                                        <p:cTn id="28" dur="500"/>
                                        <p:tgtEl>
                                          <p:spTgt spid="208899">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08899">
                                            <p:txEl>
                                              <p:pRg st="4" end="4"/>
                                            </p:txEl>
                                          </p:spTgt>
                                        </p:tgtEl>
                                        <p:attrNameLst>
                                          <p:attrName>style.visibility</p:attrName>
                                        </p:attrNameLst>
                                      </p:cBhvr>
                                      <p:to>
                                        <p:strVal val="visible"/>
                                      </p:to>
                                    </p:set>
                                    <p:animEffect transition="in" filter="wipe(left)">
                                      <p:cBhvr>
                                        <p:cTn id="33" dur="500"/>
                                        <p:tgtEl>
                                          <p:spTgt spid="2088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8" grpId="0" animBg="1" autoUpdateAnimBg="0"/>
      <p:bldP spid="208899" grpId="0" build="p"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Text Box 2"/>
          <p:cNvSpPr txBox="1">
            <a:spLocks noChangeArrowheads="1"/>
          </p:cNvSpPr>
          <p:nvPr/>
        </p:nvSpPr>
        <p:spPr bwMode="auto">
          <a:xfrm>
            <a:off x="533400" y="228600"/>
            <a:ext cx="8077200" cy="5435600"/>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457200" indent="-457200" defTabSz="374650">
              <a:defRPr sz="1600">
                <a:solidFill>
                  <a:schemeClr val="tx1"/>
                </a:solidFill>
                <a:latin typeface="Times New Roman" pitchFamily="18" charset="0"/>
              </a:defRPr>
            </a:lvl1pPr>
            <a:lvl2pPr marL="742950" indent="-285750" defTabSz="374650">
              <a:defRPr sz="1600">
                <a:solidFill>
                  <a:schemeClr val="tx1"/>
                </a:solidFill>
                <a:latin typeface="Times New Roman" pitchFamily="18" charset="0"/>
              </a:defRPr>
            </a:lvl2pPr>
            <a:lvl3pPr marL="1143000" indent="-228600" defTabSz="374650">
              <a:defRPr sz="1600">
                <a:solidFill>
                  <a:schemeClr val="tx1"/>
                </a:solidFill>
                <a:latin typeface="Times New Roman" pitchFamily="18" charset="0"/>
              </a:defRPr>
            </a:lvl3pPr>
            <a:lvl4pPr marL="1600200" indent="-228600" defTabSz="374650">
              <a:defRPr sz="1600">
                <a:solidFill>
                  <a:schemeClr val="tx1"/>
                </a:solidFill>
                <a:latin typeface="Times New Roman" pitchFamily="18" charset="0"/>
              </a:defRPr>
            </a:lvl4pPr>
            <a:lvl5pPr marL="2057400" indent="-228600" defTabSz="374650">
              <a:defRPr sz="1600">
                <a:solidFill>
                  <a:schemeClr val="tx1"/>
                </a:solidFill>
                <a:latin typeface="Times New Roman" pitchFamily="18" charset="0"/>
              </a:defRPr>
            </a:lvl5pPr>
            <a:lvl6pPr marL="2514600" indent="-228600" defTabSz="374650" eaLnBrk="0" fontAlgn="base" hangingPunct="0">
              <a:spcBef>
                <a:spcPct val="0"/>
              </a:spcBef>
              <a:spcAft>
                <a:spcPct val="0"/>
              </a:spcAft>
              <a:buChar char="•"/>
              <a:defRPr sz="1600">
                <a:solidFill>
                  <a:schemeClr val="tx1"/>
                </a:solidFill>
                <a:latin typeface="Times New Roman" pitchFamily="18" charset="0"/>
              </a:defRPr>
            </a:lvl6pPr>
            <a:lvl7pPr marL="2971800" indent="-228600" defTabSz="374650" eaLnBrk="0" fontAlgn="base" hangingPunct="0">
              <a:spcBef>
                <a:spcPct val="0"/>
              </a:spcBef>
              <a:spcAft>
                <a:spcPct val="0"/>
              </a:spcAft>
              <a:buChar char="•"/>
              <a:defRPr sz="1600">
                <a:solidFill>
                  <a:schemeClr val="tx1"/>
                </a:solidFill>
                <a:latin typeface="Times New Roman" pitchFamily="18" charset="0"/>
              </a:defRPr>
            </a:lvl7pPr>
            <a:lvl8pPr marL="3429000" indent="-228600" defTabSz="374650" eaLnBrk="0" fontAlgn="base" hangingPunct="0">
              <a:spcBef>
                <a:spcPct val="0"/>
              </a:spcBef>
              <a:spcAft>
                <a:spcPct val="0"/>
              </a:spcAft>
              <a:buChar char="•"/>
              <a:defRPr sz="1600">
                <a:solidFill>
                  <a:schemeClr val="tx1"/>
                </a:solidFill>
                <a:latin typeface="Times New Roman" pitchFamily="18" charset="0"/>
              </a:defRPr>
            </a:lvl8pPr>
            <a:lvl9pPr marL="3886200" indent="-228600" defTabSz="374650"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2400" b="1" dirty="0"/>
              <a:t>Algorithm</a:t>
            </a:r>
            <a:r>
              <a:rPr lang="en-US" sz="2400" dirty="0">
                <a:solidFill>
                  <a:schemeClr val="hlink"/>
                </a:solidFill>
              </a:rPr>
              <a:t>  </a:t>
            </a:r>
            <a:r>
              <a:rPr lang="en-US" sz="2400" b="1" dirty="0" err="1" smtClean="0">
                <a:solidFill>
                  <a:schemeClr val="hlink"/>
                </a:solidFill>
              </a:rPr>
              <a:t>BellmanFord</a:t>
            </a:r>
            <a:r>
              <a:rPr lang="en-US" sz="2400" b="1" dirty="0" smtClean="0">
                <a:solidFill>
                  <a:schemeClr val="hlink"/>
                </a:solidFill>
              </a:rPr>
              <a:t> </a:t>
            </a:r>
            <a:r>
              <a:rPr lang="en-US" sz="2400" dirty="0" smtClean="0">
                <a:solidFill>
                  <a:schemeClr val="hlink"/>
                </a:solidFill>
              </a:rPr>
              <a:t>( </a:t>
            </a:r>
            <a:r>
              <a:rPr lang="en-US" sz="2400" dirty="0">
                <a:solidFill>
                  <a:schemeClr val="hlink"/>
                </a:solidFill>
                <a:sym typeface="Symbol" pitchFamily="18" charset="2"/>
              </a:rPr>
              <a:t>G , </a:t>
            </a:r>
            <a:r>
              <a:rPr lang="en-US" sz="2400" dirty="0" err="1">
                <a:solidFill>
                  <a:schemeClr val="hlink"/>
                </a:solidFill>
                <a:sym typeface="Symbol" pitchFamily="18" charset="2"/>
              </a:rPr>
              <a:t>sV</a:t>
            </a:r>
            <a:r>
              <a:rPr lang="en-US" sz="2400" dirty="0">
                <a:solidFill>
                  <a:schemeClr val="hlink"/>
                </a:solidFill>
                <a:sym typeface="Symbol" pitchFamily="18" charset="2"/>
              </a:rPr>
              <a:t>(G</a:t>
            </a:r>
            <a:r>
              <a:rPr lang="en-US" sz="2400" dirty="0" smtClean="0">
                <a:solidFill>
                  <a:schemeClr val="hlink"/>
                </a:solidFill>
                <a:sym typeface="Symbol" pitchFamily="18" charset="2"/>
              </a:rPr>
              <a:t>) </a:t>
            </a:r>
            <a:r>
              <a:rPr lang="en-US" sz="2400" dirty="0" smtClean="0">
                <a:solidFill>
                  <a:schemeClr val="hlink"/>
                </a:solidFill>
              </a:rPr>
              <a:t>)</a:t>
            </a:r>
            <a:r>
              <a:rPr lang="en-US" sz="2000" dirty="0" smtClean="0">
                <a:solidFill>
                  <a:schemeClr val="tx2"/>
                </a:solidFill>
              </a:rPr>
              <a:t> </a:t>
            </a:r>
            <a:r>
              <a:rPr lang="en-US" sz="2000" dirty="0">
                <a:solidFill>
                  <a:schemeClr val="tx2"/>
                </a:solidFill>
              </a:rPr>
              <a:t>	</a:t>
            </a:r>
            <a:r>
              <a:rPr lang="en-US" sz="2400" b="1" dirty="0">
                <a:solidFill>
                  <a:srgbClr val="CC0000"/>
                </a:solidFill>
                <a:cs typeface="Arial" pitchFamily="34" charset="0"/>
              </a:rPr>
              <a:t>§ O(VE) time</a:t>
            </a:r>
            <a:r>
              <a:rPr lang="en-US" sz="2000" dirty="0">
                <a:solidFill>
                  <a:schemeClr val="tx2"/>
                </a:solidFill>
              </a:rPr>
              <a:t> </a:t>
            </a:r>
          </a:p>
          <a:p>
            <a:pPr eaLnBrk="1" hangingPunct="1">
              <a:buFontTx/>
              <a:buAutoNum type="arabicPeriod"/>
            </a:pPr>
            <a:r>
              <a:rPr lang="en-US" sz="2000" dirty="0">
                <a:solidFill>
                  <a:srgbClr val="CC0000"/>
                </a:solidFill>
              </a:rPr>
              <a:t> </a:t>
            </a:r>
            <a:r>
              <a:rPr lang="en-US" sz="2000" b="1" dirty="0"/>
              <a:t>for</a:t>
            </a:r>
            <a:r>
              <a:rPr lang="en-US" sz="2000" dirty="0">
                <a:solidFill>
                  <a:schemeClr val="hlink"/>
                </a:solidFill>
              </a:rPr>
              <a:t>  each vertex </a:t>
            </a:r>
            <a:r>
              <a:rPr lang="en-US" sz="2000" dirty="0">
                <a:solidFill>
                  <a:schemeClr val="hlink"/>
                </a:solidFill>
                <a:sym typeface="Symbol" pitchFamily="18" charset="2"/>
              </a:rPr>
              <a:t>u  V(G)  </a:t>
            </a:r>
            <a:r>
              <a:rPr lang="en-US" sz="2000" b="1" dirty="0"/>
              <a:t>do  </a:t>
            </a:r>
            <a:r>
              <a:rPr lang="en-US" sz="2000" dirty="0" err="1">
                <a:solidFill>
                  <a:schemeClr val="hlink"/>
                </a:solidFill>
              </a:rPr>
              <a:t>dist</a:t>
            </a:r>
            <a:r>
              <a:rPr lang="en-US" sz="2000" dirty="0">
                <a:solidFill>
                  <a:schemeClr val="hlink"/>
                </a:solidFill>
              </a:rPr>
              <a:t>[u]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endParaRPr lang="en-US" sz="2000" dirty="0">
              <a:solidFill>
                <a:srgbClr val="CC0000"/>
              </a:solidFill>
              <a:cs typeface="Arial" pitchFamily="34" charset="0"/>
            </a:endParaRPr>
          </a:p>
          <a:p>
            <a:pPr eaLnBrk="1" hangingPunct="1">
              <a:buFontTx/>
              <a:buAutoNum type="arabicPeriod"/>
            </a:pPr>
            <a:r>
              <a:rPr lang="en-US" sz="2000" dirty="0">
                <a:solidFill>
                  <a:srgbClr val="CC0000"/>
                </a:solidFill>
                <a:cs typeface="Arial" pitchFamily="34" charset="0"/>
              </a:rPr>
              <a:t> </a:t>
            </a:r>
            <a:r>
              <a:rPr lang="en-US" sz="2000" dirty="0" err="1">
                <a:solidFill>
                  <a:schemeClr val="hlink"/>
                </a:solidFill>
                <a:sym typeface="Symbol" pitchFamily="18" charset="2"/>
              </a:rPr>
              <a:t>dist</a:t>
            </a:r>
            <a:r>
              <a:rPr lang="en-US" sz="2000" dirty="0">
                <a:solidFill>
                  <a:schemeClr val="hlink"/>
                </a:solidFill>
                <a:sym typeface="Symbol" pitchFamily="18" charset="2"/>
              </a:rPr>
              <a:t>[s]  0 ;   </a:t>
            </a:r>
            <a:r>
              <a:rPr lang="en-US" sz="2000" dirty="0">
                <a:solidFill>
                  <a:schemeClr val="hlink"/>
                </a:solidFill>
                <a:latin typeface="Symbol" pitchFamily="18" charset="2"/>
                <a:sym typeface="Symbol" pitchFamily="18" charset="2"/>
              </a:rPr>
              <a:t>p</a:t>
            </a:r>
            <a:r>
              <a:rPr lang="en-US" sz="2000" dirty="0">
                <a:solidFill>
                  <a:schemeClr val="hlink"/>
                </a:solidFill>
                <a:sym typeface="Symbol" pitchFamily="18" charset="2"/>
              </a:rPr>
              <a:t>[s]  nil</a:t>
            </a:r>
            <a:br>
              <a:rPr lang="en-US" sz="2000" dirty="0">
                <a:solidFill>
                  <a:schemeClr val="hlink"/>
                </a:solidFill>
                <a:sym typeface="Symbol" pitchFamily="18" charset="2"/>
              </a:rPr>
            </a:br>
            <a:r>
              <a:rPr lang="en-US" sz="2000" dirty="0">
                <a:solidFill>
                  <a:schemeClr val="hlink"/>
                </a:solidFill>
                <a:sym typeface="Symbol" pitchFamily="18" charset="2"/>
              </a:rPr>
              <a:t> 		</a:t>
            </a:r>
            <a:endParaRPr lang="en-US" sz="2000" dirty="0">
              <a:solidFill>
                <a:srgbClr val="CC0000"/>
              </a:solidFill>
            </a:endParaRPr>
          </a:p>
          <a:p>
            <a:pPr eaLnBrk="1" hangingPunct="1">
              <a:buFontTx/>
              <a:buAutoNum type="arabicPeriod"/>
            </a:pPr>
            <a:r>
              <a:rPr lang="en-US" sz="2000" dirty="0">
                <a:solidFill>
                  <a:srgbClr val="CC0000"/>
                </a:solidFill>
              </a:rPr>
              <a:t> </a:t>
            </a:r>
            <a:r>
              <a:rPr lang="en-US" sz="2000" b="1" dirty="0">
                <a:solidFill>
                  <a:schemeClr val="tx2"/>
                </a:solidFill>
              </a:rPr>
              <a:t>for</a:t>
            </a:r>
            <a:r>
              <a:rPr lang="en-US" sz="2000" dirty="0">
                <a:solidFill>
                  <a:schemeClr val="tx2"/>
                </a:solidFill>
              </a:rPr>
              <a:t>  </a:t>
            </a:r>
            <a:r>
              <a:rPr lang="en-US" sz="2000" dirty="0">
                <a:solidFill>
                  <a:schemeClr val="hlink"/>
                </a:solidFill>
              </a:rPr>
              <a:t>stage </a:t>
            </a:r>
            <a:r>
              <a:rPr lang="en-US" sz="2000" dirty="0">
                <a:solidFill>
                  <a:schemeClr val="hlink"/>
                </a:solidFill>
                <a:sym typeface="Symbol" pitchFamily="18" charset="2"/>
              </a:rPr>
              <a:t> 1 ..  |V(G)| –1 </a:t>
            </a:r>
            <a:r>
              <a:rPr lang="en-US" sz="2000" b="1" dirty="0">
                <a:solidFill>
                  <a:schemeClr val="tx2"/>
                </a:solidFill>
              </a:rPr>
              <a:t> do</a:t>
            </a:r>
            <a:endParaRPr lang="en-US" sz="2000" dirty="0">
              <a:solidFill>
                <a:srgbClr val="CC0000"/>
              </a:solidFill>
              <a:sym typeface="Symbol" pitchFamily="18" charset="2"/>
            </a:endParaRPr>
          </a:p>
          <a:p>
            <a:pPr eaLnBrk="1" hangingPunct="1">
              <a:buFontTx/>
              <a:buAutoNum type="arabicPeriod"/>
            </a:pPr>
            <a:r>
              <a:rPr lang="en-US" sz="2000" dirty="0">
                <a:solidFill>
                  <a:srgbClr val="CC0000"/>
                </a:solidFill>
              </a:rPr>
              <a:t>	</a:t>
            </a:r>
            <a:r>
              <a:rPr lang="en-US" sz="2000" b="1" dirty="0">
                <a:solidFill>
                  <a:schemeClr val="tx2"/>
                </a:solidFill>
              </a:rPr>
              <a:t>for</a:t>
            </a:r>
            <a:r>
              <a:rPr lang="en-US" sz="2000" dirty="0">
                <a:solidFill>
                  <a:schemeClr val="tx2"/>
                </a:solidFill>
              </a:rPr>
              <a:t>  </a:t>
            </a:r>
            <a:r>
              <a:rPr lang="en-US" sz="2000" dirty="0">
                <a:solidFill>
                  <a:schemeClr val="hlink"/>
                </a:solidFill>
              </a:rPr>
              <a:t>each edge (</a:t>
            </a:r>
            <a:r>
              <a:rPr lang="en-US" sz="2000" dirty="0" err="1">
                <a:solidFill>
                  <a:schemeClr val="hlink"/>
                </a:solidFill>
              </a:rPr>
              <a:t>u,v</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E(G), in arbitrary order </a:t>
            </a:r>
            <a:r>
              <a:rPr lang="en-US" sz="2000" b="1" dirty="0">
                <a:solidFill>
                  <a:schemeClr val="tx2"/>
                </a:solidFill>
              </a:rPr>
              <a:t> do 	</a:t>
            </a:r>
            <a:endParaRPr lang="en-US" sz="2000" dirty="0">
              <a:solidFill>
                <a:schemeClr val="tx2"/>
              </a:solidFill>
            </a:endParaRPr>
          </a:p>
          <a:p>
            <a:pPr eaLnBrk="1" hangingPunct="1">
              <a:buFontTx/>
              <a:buAutoNum type="arabicPeriod"/>
            </a:pPr>
            <a:r>
              <a:rPr lang="en-US" sz="2000" dirty="0">
                <a:solidFill>
                  <a:srgbClr val="CC0000"/>
                </a:solidFill>
              </a:rPr>
              <a:t> 		 </a:t>
            </a:r>
            <a:r>
              <a:rPr lang="en-US" sz="2000" b="1" dirty="0"/>
              <a:t>if</a:t>
            </a:r>
            <a:r>
              <a:rPr lang="en-US" sz="2000" dirty="0">
                <a:solidFill>
                  <a:srgbClr val="CC0000"/>
                </a:solidFill>
              </a:rPr>
              <a:t>   </a:t>
            </a:r>
            <a:r>
              <a:rPr lang="en-US" sz="2000" dirty="0" err="1">
                <a:solidFill>
                  <a:schemeClr val="hlink"/>
                </a:solidFill>
                <a:sym typeface="Symbol" pitchFamily="18" charset="2"/>
              </a:rPr>
              <a:t>dist</a:t>
            </a:r>
            <a:r>
              <a:rPr lang="en-US" sz="2000" dirty="0">
                <a:solidFill>
                  <a:schemeClr val="hlink"/>
                </a:solidFill>
                <a:sym typeface="Symbol" pitchFamily="18" charset="2"/>
              </a:rPr>
              <a:t>[v] &gt;  </a:t>
            </a:r>
            <a:r>
              <a:rPr lang="en-US" sz="2000" dirty="0" err="1">
                <a:solidFill>
                  <a:schemeClr val="hlink"/>
                </a:solidFill>
                <a:sym typeface="Symbol" pitchFamily="18" charset="2"/>
              </a:rPr>
              <a:t>dist</a:t>
            </a:r>
            <a:r>
              <a:rPr lang="en-US" sz="2000" dirty="0">
                <a:solidFill>
                  <a:schemeClr val="hlink"/>
                </a:solidFill>
                <a:sym typeface="Symbol" pitchFamily="18" charset="2"/>
              </a:rPr>
              <a:t>[u] + w(</a:t>
            </a:r>
            <a:r>
              <a:rPr lang="en-US" sz="2000" dirty="0" err="1">
                <a:solidFill>
                  <a:schemeClr val="hlink"/>
                </a:solidFill>
                <a:sym typeface="Symbol" pitchFamily="18" charset="2"/>
              </a:rPr>
              <a:t>u,v</a:t>
            </a:r>
            <a:r>
              <a:rPr lang="en-US" sz="2000" dirty="0">
                <a:solidFill>
                  <a:schemeClr val="hlink"/>
                </a:solidFill>
                <a:sym typeface="Symbol" pitchFamily="18" charset="2"/>
              </a:rPr>
              <a:t>)  </a:t>
            </a:r>
            <a:r>
              <a:rPr lang="en-US" sz="2000" b="1" dirty="0">
                <a:sym typeface="Symbol" pitchFamily="18" charset="2"/>
              </a:rPr>
              <a:t>then do </a:t>
            </a:r>
            <a:endParaRPr lang="en-US" sz="2000" dirty="0">
              <a:solidFill>
                <a:schemeClr val="hlink"/>
              </a:solidFill>
              <a:sym typeface="Symbol" pitchFamily="18" charset="2"/>
            </a:endParaRP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		 </a:t>
            </a:r>
            <a:r>
              <a:rPr lang="en-US" sz="2000" dirty="0">
                <a:solidFill>
                  <a:schemeClr val="hlink"/>
                </a:solidFill>
              </a:rPr>
              <a:t> 	</a:t>
            </a:r>
            <a:r>
              <a:rPr lang="en-US" sz="2000" dirty="0" err="1">
                <a:solidFill>
                  <a:schemeClr val="hlink"/>
                </a:solidFill>
              </a:rPr>
              <a:t>dist</a:t>
            </a:r>
            <a:r>
              <a:rPr lang="en-US" sz="2000" dirty="0">
                <a:solidFill>
                  <a:schemeClr val="hlink"/>
                </a:solidFill>
              </a:rPr>
              <a:t>[v] </a:t>
            </a:r>
            <a:r>
              <a:rPr lang="en-US" sz="2000" dirty="0">
                <a:solidFill>
                  <a:schemeClr val="hlink"/>
                </a:solidFill>
                <a:sym typeface="Symbol" pitchFamily="18" charset="2"/>
              </a:rPr>
              <a:t></a:t>
            </a:r>
            <a:r>
              <a:rPr lang="en-US" sz="2000" dirty="0">
                <a:solidFill>
                  <a:schemeClr val="hlink"/>
                </a:solidFill>
              </a:rPr>
              <a:t> </a:t>
            </a:r>
            <a:r>
              <a:rPr lang="en-US" sz="2000" dirty="0" err="1">
                <a:solidFill>
                  <a:schemeClr val="hlink"/>
                </a:solidFill>
              </a:rPr>
              <a:t>dist</a:t>
            </a:r>
            <a:r>
              <a:rPr lang="en-US" sz="2000" dirty="0">
                <a:solidFill>
                  <a:schemeClr val="hlink"/>
                </a:solidFill>
              </a:rPr>
              <a:t>[u] + </a:t>
            </a:r>
            <a:r>
              <a:rPr lang="en-US" sz="2000" dirty="0">
                <a:solidFill>
                  <a:schemeClr val="hlink"/>
                </a:solidFill>
                <a:sym typeface="Symbol" pitchFamily="18" charset="2"/>
              </a:rPr>
              <a:t>w(</a:t>
            </a:r>
            <a:r>
              <a:rPr lang="en-US" sz="2000" dirty="0" err="1">
                <a:solidFill>
                  <a:schemeClr val="hlink"/>
                </a:solidFill>
                <a:sym typeface="Symbol" pitchFamily="18" charset="2"/>
              </a:rPr>
              <a:t>u,v</a:t>
            </a:r>
            <a:r>
              <a:rPr lang="en-US" sz="2000" dirty="0">
                <a:solidFill>
                  <a:schemeClr val="hlink"/>
                </a:solidFill>
                <a:sym typeface="Symbol" pitchFamily="18" charset="2"/>
              </a:rPr>
              <a:t>) </a:t>
            </a:r>
            <a:endParaRPr lang="en-US" sz="2000" dirty="0">
              <a:solidFill>
                <a:srgbClr val="CC0000"/>
              </a:solidFill>
            </a:endParaRP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	 </a:t>
            </a:r>
            <a:r>
              <a:rPr lang="en-US" sz="2000" dirty="0">
                <a:solidFill>
                  <a:schemeClr val="hlink"/>
                </a:solidFill>
              </a:rPr>
              <a:t> 	</a:t>
            </a:r>
            <a:r>
              <a:rPr lang="en-US" sz="2000" dirty="0">
                <a:solidFill>
                  <a:schemeClr val="hlink"/>
                </a:solidFill>
                <a:latin typeface="Symbol" pitchFamily="18" charset="2"/>
              </a:rPr>
              <a:t>p</a:t>
            </a:r>
            <a:r>
              <a:rPr lang="en-US" sz="2000" dirty="0">
                <a:solidFill>
                  <a:schemeClr val="hlink"/>
                </a:solidFill>
              </a:rPr>
              <a:t>[v]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sym typeface="Symbol" pitchFamily="18" charset="2"/>
              </a:rPr>
              <a:t>u 			</a:t>
            </a:r>
          </a:p>
          <a:p>
            <a:pPr eaLnBrk="1" hangingPunct="1">
              <a:buFontTx/>
              <a:buAutoNum type="arabicPeriod"/>
            </a:pPr>
            <a:r>
              <a:rPr lang="en-US" sz="2000" dirty="0">
                <a:solidFill>
                  <a:srgbClr val="CC0000"/>
                </a:solidFill>
              </a:rPr>
              <a:t> 		 </a:t>
            </a:r>
            <a:r>
              <a:rPr lang="en-US" sz="2000" b="1" dirty="0"/>
              <a:t>end-if</a:t>
            </a:r>
          </a:p>
          <a:p>
            <a:pPr eaLnBrk="1" hangingPunct="1">
              <a:buFontTx/>
              <a:buAutoNum type="arabicPeriod"/>
            </a:pPr>
            <a:r>
              <a:rPr lang="en-US" sz="2000" dirty="0">
                <a:solidFill>
                  <a:srgbClr val="CC0000"/>
                </a:solidFill>
              </a:rPr>
              <a:t> 	</a:t>
            </a:r>
            <a:r>
              <a:rPr lang="en-US" sz="2000" b="1" dirty="0"/>
              <a:t>end-for </a:t>
            </a:r>
          </a:p>
          <a:p>
            <a:pPr eaLnBrk="1" hangingPunct="1">
              <a:buFontTx/>
              <a:buAutoNum type="arabicPeriod"/>
            </a:pPr>
            <a:r>
              <a:rPr lang="en-US" sz="2000" dirty="0">
                <a:solidFill>
                  <a:srgbClr val="CC0000"/>
                </a:solidFill>
              </a:rPr>
              <a:t> </a:t>
            </a:r>
            <a:r>
              <a:rPr lang="en-US" sz="2000" b="1" dirty="0"/>
              <a:t>end-for</a:t>
            </a:r>
            <a:br>
              <a:rPr lang="en-US" sz="2000" b="1" dirty="0"/>
            </a:br>
            <a:endParaRPr lang="en-US" sz="2000" b="1" dirty="0"/>
          </a:p>
          <a:p>
            <a:pPr eaLnBrk="1" hangingPunct="1">
              <a:buFontTx/>
              <a:buAutoNum type="arabicPeriod"/>
            </a:pPr>
            <a:r>
              <a:rPr lang="en-US" sz="2000" dirty="0">
                <a:solidFill>
                  <a:srgbClr val="CC0000"/>
                </a:solidFill>
              </a:rPr>
              <a:t> </a:t>
            </a:r>
            <a:r>
              <a:rPr lang="en-US" sz="2000" b="1" dirty="0">
                <a:solidFill>
                  <a:schemeClr val="tx2"/>
                </a:solidFill>
              </a:rPr>
              <a:t>for</a:t>
            </a:r>
            <a:r>
              <a:rPr lang="en-US" sz="2000" dirty="0">
                <a:solidFill>
                  <a:schemeClr val="tx2"/>
                </a:solidFill>
              </a:rPr>
              <a:t>  </a:t>
            </a:r>
            <a:r>
              <a:rPr lang="en-US" sz="2000" dirty="0">
                <a:solidFill>
                  <a:schemeClr val="hlink"/>
                </a:solidFill>
              </a:rPr>
              <a:t>each edge (</a:t>
            </a:r>
            <a:r>
              <a:rPr lang="en-US" sz="2000" dirty="0" err="1">
                <a:solidFill>
                  <a:schemeClr val="hlink"/>
                </a:solidFill>
              </a:rPr>
              <a:t>u,v</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E(G), in arbitrary order </a:t>
            </a:r>
            <a:r>
              <a:rPr lang="en-US" sz="2000" b="1" dirty="0">
                <a:solidFill>
                  <a:schemeClr val="tx2"/>
                </a:solidFill>
              </a:rPr>
              <a:t> do 	</a:t>
            </a:r>
            <a:r>
              <a:rPr lang="en-US" sz="2000" dirty="0">
                <a:solidFill>
                  <a:srgbClr val="CC0000"/>
                </a:solidFill>
                <a:cs typeface="Arial" pitchFamily="34" charset="0"/>
              </a:rPr>
              <a:t>§ stage |V(G)|</a:t>
            </a:r>
            <a:r>
              <a:rPr lang="en-US" sz="2000" b="1" dirty="0">
                <a:solidFill>
                  <a:schemeClr val="tx2"/>
                </a:solidFill>
              </a:rPr>
              <a:t> </a:t>
            </a:r>
            <a:endParaRPr lang="en-US" sz="2000" dirty="0">
              <a:solidFill>
                <a:schemeClr val="tx2"/>
              </a:solidFill>
            </a:endParaRPr>
          </a:p>
          <a:p>
            <a:pPr eaLnBrk="1" hangingPunct="1">
              <a:buFontTx/>
              <a:buAutoNum type="arabicPeriod"/>
            </a:pPr>
            <a:r>
              <a:rPr lang="en-US" sz="2000" dirty="0">
                <a:solidFill>
                  <a:srgbClr val="CC0000"/>
                </a:solidFill>
              </a:rPr>
              <a:t> 		 </a:t>
            </a:r>
            <a:r>
              <a:rPr lang="en-US" sz="2000" b="1" dirty="0"/>
              <a:t>if</a:t>
            </a:r>
            <a:r>
              <a:rPr lang="en-US" sz="2000" dirty="0">
                <a:solidFill>
                  <a:srgbClr val="CC0000"/>
                </a:solidFill>
              </a:rPr>
              <a:t>   </a:t>
            </a:r>
            <a:r>
              <a:rPr lang="en-US" sz="2000" dirty="0" err="1">
                <a:solidFill>
                  <a:schemeClr val="hlink"/>
                </a:solidFill>
                <a:sym typeface="Symbol" pitchFamily="18" charset="2"/>
              </a:rPr>
              <a:t>dist</a:t>
            </a:r>
            <a:r>
              <a:rPr lang="en-US" sz="2000" dirty="0">
                <a:solidFill>
                  <a:schemeClr val="hlink"/>
                </a:solidFill>
                <a:sym typeface="Symbol" pitchFamily="18" charset="2"/>
              </a:rPr>
              <a:t>[v] &gt;  </a:t>
            </a:r>
            <a:r>
              <a:rPr lang="en-US" sz="2000" dirty="0" err="1">
                <a:solidFill>
                  <a:schemeClr val="hlink"/>
                </a:solidFill>
                <a:sym typeface="Symbol" pitchFamily="18" charset="2"/>
              </a:rPr>
              <a:t>dist</a:t>
            </a:r>
            <a:r>
              <a:rPr lang="en-US" sz="2000" dirty="0">
                <a:solidFill>
                  <a:schemeClr val="hlink"/>
                </a:solidFill>
                <a:sym typeface="Symbol" pitchFamily="18" charset="2"/>
              </a:rPr>
              <a:t>[u] + w(</a:t>
            </a:r>
            <a:r>
              <a:rPr lang="en-US" sz="2000" dirty="0" err="1">
                <a:solidFill>
                  <a:schemeClr val="hlink"/>
                </a:solidFill>
                <a:sym typeface="Symbol" pitchFamily="18" charset="2"/>
              </a:rPr>
              <a:t>u,v</a:t>
            </a:r>
            <a:r>
              <a:rPr lang="en-US" sz="2000" dirty="0">
                <a:solidFill>
                  <a:schemeClr val="hlink"/>
                </a:solidFill>
                <a:sym typeface="Symbol" pitchFamily="18" charset="2"/>
              </a:rPr>
              <a:t>)  </a:t>
            </a:r>
            <a:r>
              <a:rPr lang="en-US" sz="2000" b="1" dirty="0">
                <a:sym typeface="Symbol" pitchFamily="18" charset="2"/>
              </a:rPr>
              <a:t>then</a:t>
            </a:r>
          </a:p>
          <a:p>
            <a:pPr eaLnBrk="1" hangingPunct="1">
              <a:buFontTx/>
              <a:buAutoNum type="arabicPeriod"/>
            </a:pPr>
            <a:r>
              <a:rPr lang="en-US" sz="2000" dirty="0">
                <a:solidFill>
                  <a:srgbClr val="CC0000"/>
                </a:solidFill>
                <a:sym typeface="Symbol" pitchFamily="18" charset="2"/>
              </a:rPr>
              <a:t>			</a:t>
            </a:r>
            <a:r>
              <a:rPr lang="en-US" sz="2000" b="1" dirty="0">
                <a:sym typeface="Symbol" pitchFamily="18" charset="2"/>
              </a:rPr>
              <a:t>return </a:t>
            </a:r>
            <a:r>
              <a:rPr lang="en-US" sz="2000" dirty="0">
                <a:solidFill>
                  <a:schemeClr val="hlink"/>
                </a:solidFill>
                <a:sym typeface="Symbol" pitchFamily="18" charset="2"/>
              </a:rPr>
              <a:t>there is a negative cycle reachable from s</a:t>
            </a:r>
            <a:endParaRPr lang="en-US" sz="2000" b="1" dirty="0"/>
          </a:p>
          <a:p>
            <a:pPr eaLnBrk="1" hangingPunct="1">
              <a:buFontTx/>
              <a:buNone/>
            </a:pPr>
            <a:r>
              <a:rPr lang="en-US" sz="2000" b="1" dirty="0"/>
              <a:t>end</a:t>
            </a:r>
            <a:r>
              <a:rPr lang="en-US" sz="2000" dirty="0">
                <a:solidFill>
                  <a:schemeClr val="hlink"/>
                </a:solidFill>
              </a:rPr>
              <a:t> </a:t>
            </a:r>
          </a:p>
        </p:txBody>
      </p:sp>
      <p:sp>
        <p:nvSpPr>
          <p:cNvPr id="209932" name="Text Box 12"/>
          <p:cNvSpPr txBox="1">
            <a:spLocks noChangeArrowheads="1"/>
          </p:cNvSpPr>
          <p:nvPr/>
        </p:nvSpPr>
        <p:spPr bwMode="auto">
          <a:xfrm>
            <a:off x="1371600" y="5855073"/>
            <a:ext cx="6248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Tx/>
              <a:buNone/>
            </a:pPr>
            <a:r>
              <a:rPr lang="en-US" sz="2000" b="1" dirty="0">
                <a:solidFill>
                  <a:srgbClr val="CC0000"/>
                </a:solidFill>
              </a:rPr>
              <a:t>Exercise:</a:t>
            </a:r>
            <a:r>
              <a:rPr lang="en-US" sz="2000" dirty="0">
                <a:solidFill>
                  <a:schemeClr val="tx2"/>
                </a:solidFill>
              </a:rPr>
              <a:t> </a:t>
            </a:r>
            <a:r>
              <a:rPr lang="en-US" sz="2000" dirty="0" smtClean="0">
                <a:solidFill>
                  <a:schemeClr val="tx2"/>
                </a:solidFill>
              </a:rPr>
              <a:t> If </a:t>
            </a:r>
            <a:r>
              <a:rPr lang="en-US" sz="2000" dirty="0">
                <a:solidFill>
                  <a:schemeClr val="tx2"/>
                </a:solidFill>
              </a:rPr>
              <a:t>line 13 detects </a:t>
            </a:r>
            <a:r>
              <a:rPr lang="en-US" sz="2000" dirty="0" smtClean="0">
                <a:solidFill>
                  <a:schemeClr val="tx2"/>
                </a:solidFill>
              </a:rPr>
              <a:t>existence of a </a:t>
            </a:r>
            <a:r>
              <a:rPr lang="en-US" sz="2000" dirty="0">
                <a:solidFill>
                  <a:schemeClr val="tx2"/>
                </a:solidFill>
              </a:rPr>
              <a:t>negative cycle, </a:t>
            </a:r>
            <a:r>
              <a:rPr lang="en-US" sz="2000" dirty="0" smtClean="0">
                <a:solidFill>
                  <a:schemeClr val="tx2"/>
                </a:solidFill>
              </a:rPr>
              <a:t/>
            </a:r>
            <a:br>
              <a:rPr lang="en-US" sz="2000" dirty="0" smtClean="0">
                <a:solidFill>
                  <a:schemeClr val="tx2"/>
                </a:solidFill>
              </a:rPr>
            </a:br>
            <a:r>
              <a:rPr lang="en-US" sz="2000" dirty="0" smtClean="0">
                <a:solidFill>
                  <a:schemeClr val="tx2"/>
                </a:solidFill>
              </a:rPr>
              <a:t>                  find </a:t>
            </a:r>
            <a:r>
              <a:rPr lang="en-US" sz="2000" dirty="0">
                <a:solidFill>
                  <a:schemeClr val="tx2"/>
                </a:solidFill>
              </a:rPr>
              <a:t>one such cycle </a:t>
            </a:r>
            <a:r>
              <a:rPr lang="en-US" sz="2000" dirty="0" smtClean="0">
                <a:solidFill>
                  <a:schemeClr val="tx2"/>
                </a:solidFill>
              </a:rPr>
              <a:t>in </a:t>
            </a:r>
            <a:r>
              <a:rPr lang="en-US" sz="2000" dirty="0">
                <a:solidFill>
                  <a:schemeClr val="tx2"/>
                </a:solidFill>
              </a:rPr>
              <a:t>O(V) time.</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9922">
                                            <p:bg/>
                                          </p:spTgt>
                                        </p:tgtEl>
                                        <p:attrNameLst>
                                          <p:attrName>style.visibility</p:attrName>
                                        </p:attrNameLst>
                                      </p:cBhvr>
                                      <p:to>
                                        <p:strVal val="visible"/>
                                      </p:to>
                                    </p:set>
                                    <p:animEffect transition="in" filter="wipe(left)">
                                      <p:cBhvr>
                                        <p:cTn id="7" dur="500"/>
                                        <p:tgtEl>
                                          <p:spTgt spid="209922">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9922">
                                            <p:txEl>
                                              <p:pRg st="0" end="0"/>
                                            </p:txEl>
                                          </p:spTgt>
                                        </p:tgtEl>
                                        <p:attrNameLst>
                                          <p:attrName>style.visibility</p:attrName>
                                        </p:attrNameLst>
                                      </p:cBhvr>
                                      <p:to>
                                        <p:strVal val="visible"/>
                                      </p:to>
                                    </p:set>
                                    <p:animEffect transition="in" filter="wipe(left)">
                                      <p:cBhvr>
                                        <p:cTn id="12" dur="500"/>
                                        <p:tgtEl>
                                          <p:spTgt spid="20992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9922">
                                            <p:txEl>
                                              <p:pRg st="1" end="1"/>
                                            </p:txEl>
                                          </p:spTgt>
                                        </p:tgtEl>
                                        <p:attrNameLst>
                                          <p:attrName>style.visibility</p:attrName>
                                        </p:attrNameLst>
                                      </p:cBhvr>
                                      <p:to>
                                        <p:strVal val="visible"/>
                                      </p:to>
                                    </p:set>
                                    <p:animEffect transition="in" filter="wipe(left)">
                                      <p:cBhvr>
                                        <p:cTn id="17" dur="500"/>
                                        <p:tgtEl>
                                          <p:spTgt spid="20992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9922">
                                            <p:txEl>
                                              <p:pRg st="2" end="2"/>
                                            </p:txEl>
                                          </p:spTgt>
                                        </p:tgtEl>
                                        <p:attrNameLst>
                                          <p:attrName>style.visibility</p:attrName>
                                        </p:attrNameLst>
                                      </p:cBhvr>
                                      <p:to>
                                        <p:strVal val="visible"/>
                                      </p:to>
                                    </p:set>
                                    <p:animEffect transition="in" filter="wipe(left)">
                                      <p:cBhvr>
                                        <p:cTn id="22" dur="500"/>
                                        <p:tgtEl>
                                          <p:spTgt spid="209922">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9922">
                                            <p:txEl>
                                              <p:pRg st="3" end="3"/>
                                            </p:txEl>
                                          </p:spTgt>
                                        </p:tgtEl>
                                        <p:attrNameLst>
                                          <p:attrName>style.visibility</p:attrName>
                                        </p:attrNameLst>
                                      </p:cBhvr>
                                      <p:to>
                                        <p:strVal val="visible"/>
                                      </p:to>
                                    </p:set>
                                    <p:animEffect transition="in" filter="wipe(left)">
                                      <p:cBhvr>
                                        <p:cTn id="27" dur="500"/>
                                        <p:tgtEl>
                                          <p:spTgt spid="209922">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9922">
                                            <p:txEl>
                                              <p:pRg st="4" end="4"/>
                                            </p:txEl>
                                          </p:spTgt>
                                        </p:tgtEl>
                                        <p:attrNameLst>
                                          <p:attrName>style.visibility</p:attrName>
                                        </p:attrNameLst>
                                      </p:cBhvr>
                                      <p:to>
                                        <p:strVal val="visible"/>
                                      </p:to>
                                    </p:set>
                                    <p:animEffect transition="in" filter="wipe(left)">
                                      <p:cBhvr>
                                        <p:cTn id="32" dur="500"/>
                                        <p:tgtEl>
                                          <p:spTgt spid="209922">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9922">
                                            <p:txEl>
                                              <p:pRg st="5" end="5"/>
                                            </p:txEl>
                                          </p:spTgt>
                                        </p:tgtEl>
                                        <p:attrNameLst>
                                          <p:attrName>style.visibility</p:attrName>
                                        </p:attrNameLst>
                                      </p:cBhvr>
                                      <p:to>
                                        <p:strVal val="visible"/>
                                      </p:to>
                                    </p:set>
                                    <p:animEffect transition="in" filter="wipe(left)">
                                      <p:cBhvr>
                                        <p:cTn id="37" dur="500"/>
                                        <p:tgtEl>
                                          <p:spTgt spid="209922">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9922">
                                            <p:txEl>
                                              <p:pRg st="6" end="6"/>
                                            </p:txEl>
                                          </p:spTgt>
                                        </p:tgtEl>
                                        <p:attrNameLst>
                                          <p:attrName>style.visibility</p:attrName>
                                        </p:attrNameLst>
                                      </p:cBhvr>
                                      <p:to>
                                        <p:strVal val="visible"/>
                                      </p:to>
                                    </p:set>
                                    <p:animEffect transition="in" filter="wipe(left)">
                                      <p:cBhvr>
                                        <p:cTn id="42" dur="500"/>
                                        <p:tgtEl>
                                          <p:spTgt spid="209922">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9922">
                                            <p:txEl>
                                              <p:pRg st="7" end="7"/>
                                            </p:txEl>
                                          </p:spTgt>
                                        </p:tgtEl>
                                        <p:attrNameLst>
                                          <p:attrName>style.visibility</p:attrName>
                                        </p:attrNameLst>
                                      </p:cBhvr>
                                      <p:to>
                                        <p:strVal val="visible"/>
                                      </p:to>
                                    </p:set>
                                    <p:animEffect transition="in" filter="wipe(left)">
                                      <p:cBhvr>
                                        <p:cTn id="47" dur="500"/>
                                        <p:tgtEl>
                                          <p:spTgt spid="209922">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09922">
                                            <p:txEl>
                                              <p:pRg st="8" end="8"/>
                                            </p:txEl>
                                          </p:spTgt>
                                        </p:tgtEl>
                                        <p:attrNameLst>
                                          <p:attrName>style.visibility</p:attrName>
                                        </p:attrNameLst>
                                      </p:cBhvr>
                                      <p:to>
                                        <p:strVal val="visible"/>
                                      </p:to>
                                    </p:set>
                                    <p:animEffect transition="in" filter="wipe(left)">
                                      <p:cBhvr>
                                        <p:cTn id="52" dur="500"/>
                                        <p:tgtEl>
                                          <p:spTgt spid="209922">
                                            <p:txEl>
                                              <p:pRg st="8" end="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09922">
                                            <p:txEl>
                                              <p:pRg st="9" end="9"/>
                                            </p:txEl>
                                          </p:spTgt>
                                        </p:tgtEl>
                                        <p:attrNameLst>
                                          <p:attrName>style.visibility</p:attrName>
                                        </p:attrNameLst>
                                      </p:cBhvr>
                                      <p:to>
                                        <p:strVal val="visible"/>
                                      </p:to>
                                    </p:set>
                                    <p:animEffect transition="in" filter="wipe(left)">
                                      <p:cBhvr>
                                        <p:cTn id="57" dur="500"/>
                                        <p:tgtEl>
                                          <p:spTgt spid="209922">
                                            <p:txEl>
                                              <p:pRg st="9" end="9"/>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09922">
                                            <p:txEl>
                                              <p:pRg st="10" end="10"/>
                                            </p:txEl>
                                          </p:spTgt>
                                        </p:tgtEl>
                                        <p:attrNameLst>
                                          <p:attrName>style.visibility</p:attrName>
                                        </p:attrNameLst>
                                      </p:cBhvr>
                                      <p:to>
                                        <p:strVal val="visible"/>
                                      </p:to>
                                    </p:set>
                                    <p:animEffect transition="in" filter="wipe(left)">
                                      <p:cBhvr>
                                        <p:cTn id="62" dur="500"/>
                                        <p:tgtEl>
                                          <p:spTgt spid="209922">
                                            <p:txEl>
                                              <p:pRg st="10" end="1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09922">
                                            <p:txEl>
                                              <p:pRg st="11" end="11"/>
                                            </p:txEl>
                                          </p:spTgt>
                                        </p:tgtEl>
                                        <p:attrNameLst>
                                          <p:attrName>style.visibility</p:attrName>
                                        </p:attrNameLst>
                                      </p:cBhvr>
                                      <p:to>
                                        <p:strVal val="visible"/>
                                      </p:to>
                                    </p:set>
                                    <p:animEffect transition="in" filter="wipe(left)">
                                      <p:cBhvr>
                                        <p:cTn id="67" dur="500"/>
                                        <p:tgtEl>
                                          <p:spTgt spid="209922">
                                            <p:txEl>
                                              <p:pRg st="11" end="11"/>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09922">
                                            <p:txEl>
                                              <p:pRg st="12" end="12"/>
                                            </p:txEl>
                                          </p:spTgt>
                                        </p:tgtEl>
                                        <p:attrNameLst>
                                          <p:attrName>style.visibility</p:attrName>
                                        </p:attrNameLst>
                                      </p:cBhvr>
                                      <p:to>
                                        <p:strVal val="visible"/>
                                      </p:to>
                                    </p:set>
                                    <p:animEffect transition="in" filter="wipe(left)">
                                      <p:cBhvr>
                                        <p:cTn id="72" dur="500"/>
                                        <p:tgtEl>
                                          <p:spTgt spid="209922">
                                            <p:txEl>
                                              <p:pRg st="12" end="12"/>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09922">
                                            <p:txEl>
                                              <p:pRg st="13" end="13"/>
                                            </p:txEl>
                                          </p:spTgt>
                                        </p:tgtEl>
                                        <p:attrNameLst>
                                          <p:attrName>style.visibility</p:attrName>
                                        </p:attrNameLst>
                                      </p:cBhvr>
                                      <p:to>
                                        <p:strVal val="visible"/>
                                      </p:to>
                                    </p:set>
                                    <p:animEffect transition="in" filter="wipe(left)">
                                      <p:cBhvr>
                                        <p:cTn id="77" dur="500"/>
                                        <p:tgtEl>
                                          <p:spTgt spid="209922">
                                            <p:txEl>
                                              <p:pRg st="13" end="13"/>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09922">
                                            <p:txEl>
                                              <p:pRg st="14" end="14"/>
                                            </p:txEl>
                                          </p:spTgt>
                                        </p:tgtEl>
                                        <p:attrNameLst>
                                          <p:attrName>style.visibility</p:attrName>
                                        </p:attrNameLst>
                                      </p:cBhvr>
                                      <p:to>
                                        <p:strVal val="visible"/>
                                      </p:to>
                                    </p:set>
                                    <p:animEffect transition="in" filter="wipe(left)">
                                      <p:cBhvr>
                                        <p:cTn id="82" dur="500"/>
                                        <p:tgtEl>
                                          <p:spTgt spid="209922">
                                            <p:txEl>
                                              <p:pRg st="14" end="14"/>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09932"/>
                                        </p:tgtEl>
                                        <p:attrNameLst>
                                          <p:attrName>style.visibility</p:attrName>
                                        </p:attrNameLst>
                                      </p:cBhvr>
                                      <p:to>
                                        <p:strVal val="visible"/>
                                      </p:to>
                                    </p:set>
                                    <p:animEffect transition="in" filter="wipe(left)">
                                      <p:cBhvr>
                                        <p:cTn id="87" dur="500"/>
                                        <p:tgtEl>
                                          <p:spTgt spid="209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2" grpId="0" build="p" animBg="1" autoUpdateAnimBg="0"/>
      <p:bldP spid="209932" grpId="0"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0466" name="Rectangle 2"/>
          <p:cNvSpPr>
            <a:spLocks noGrp="1" noChangeArrowheads="1"/>
          </p:cNvSpPr>
          <p:nvPr>
            <p:ph type="ctrTitle"/>
          </p:nvPr>
        </p:nvSpPr>
        <p:spPr>
          <a:xfrm>
            <a:off x="685800" y="1981200"/>
            <a:ext cx="7772400" cy="2209800"/>
          </a:xfrm>
          <a:solidFill>
            <a:srgbClr val="FFCCCC"/>
          </a:solidFill>
          <a:ln w="762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lstStyle/>
          <a:p>
            <a:pPr eaLnBrk="1" hangingPunct="1"/>
            <a:r>
              <a:rPr lang="en-US" sz="6000" dirty="0" smtClean="0">
                <a:solidFill>
                  <a:schemeClr val="accent2"/>
                </a:solidFill>
                <a:latin typeface="Arial Rounded MT Bold" pitchFamily="34" charset="0"/>
              </a:rPr>
              <a:t>All-Pairs       </a:t>
            </a:r>
            <a:br>
              <a:rPr lang="en-US" sz="6000" dirty="0" smtClean="0">
                <a:solidFill>
                  <a:schemeClr val="accent2"/>
                </a:solidFill>
                <a:latin typeface="Arial Rounded MT Bold" pitchFamily="34" charset="0"/>
              </a:rPr>
            </a:br>
            <a:r>
              <a:rPr lang="en-US" sz="6000" dirty="0" smtClean="0">
                <a:solidFill>
                  <a:schemeClr val="accent2"/>
                </a:solidFill>
                <a:latin typeface="Arial Rounded MT Bold" pitchFamily="34" charset="0"/>
              </a:rPr>
              <a:t>Shortest Paths</a:t>
            </a:r>
          </a:p>
        </p:txBody>
      </p:sp>
      <p:sp>
        <p:nvSpPr>
          <p:cNvPr id="2" name="Slide Number Placeholder 1"/>
          <p:cNvSpPr>
            <a:spLocks noGrp="1"/>
          </p:cNvSpPr>
          <p:nvPr>
            <p:ph type="sldNum" sz="quarter" idx="12"/>
          </p:nvPr>
        </p:nvSpPr>
        <p:spPr/>
        <p:txBody>
          <a:bodyPr/>
          <a:lstStyle/>
          <a:p>
            <a:pPr>
              <a:defRPr/>
            </a:pPr>
            <a:fld id="{90683EDB-7658-49F0-B96C-482436AB937A}" type="slidenum">
              <a:rPr lang="en-US" smtClean="0"/>
              <a:pPr>
                <a:defRPr/>
              </a:pPr>
              <a:t>116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90466"/>
                                        </p:tgtEl>
                                        <p:attrNameLst>
                                          <p:attrName>style.visibility</p:attrName>
                                        </p:attrNameLst>
                                      </p:cBhvr>
                                      <p:to>
                                        <p:strVal val="visible"/>
                                      </p:to>
                                    </p:set>
                                    <p:anim calcmode="lin" valueType="num">
                                      <p:cBhvr>
                                        <p:cTn id="7" dur="500" fill="hold"/>
                                        <p:tgtEl>
                                          <p:spTgt spid="190466"/>
                                        </p:tgtEl>
                                        <p:attrNameLst>
                                          <p:attrName>ppt_w</p:attrName>
                                        </p:attrNameLst>
                                      </p:cBhvr>
                                      <p:tavLst>
                                        <p:tav tm="0">
                                          <p:val>
                                            <p:fltVal val="0"/>
                                          </p:val>
                                        </p:tav>
                                        <p:tav tm="100000">
                                          <p:val>
                                            <p:strVal val="#ppt_w"/>
                                          </p:val>
                                        </p:tav>
                                      </p:tavLst>
                                    </p:anim>
                                    <p:anim calcmode="lin" valueType="num">
                                      <p:cBhvr>
                                        <p:cTn id="8" dur="500" fill="hold"/>
                                        <p:tgtEl>
                                          <p:spTgt spid="19046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animBg="1"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838200" indent="-838200" eaLnBrk="1" hangingPunct="1"/>
            <a:r>
              <a:rPr lang="en-US" sz="2800" dirty="0" smtClean="0">
                <a:solidFill>
                  <a:schemeClr val="tx1"/>
                </a:solidFill>
                <a:latin typeface="Arial Rounded MT Bold" pitchFamily="34" charset="0"/>
                <a:sym typeface="Symbol" pitchFamily="18" charset="2"/>
              </a:rPr>
              <a:t>All-Pairs by Single-Source</a:t>
            </a:r>
          </a:p>
        </p:txBody>
      </p:sp>
      <p:sp>
        <p:nvSpPr>
          <p:cNvPr id="210947" name="Text Box 3"/>
          <p:cNvSpPr txBox="1">
            <a:spLocks noChangeArrowheads="1"/>
          </p:cNvSpPr>
          <p:nvPr/>
        </p:nvSpPr>
        <p:spPr bwMode="auto">
          <a:xfrm>
            <a:off x="152400" y="838200"/>
            <a:ext cx="8839200" cy="466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2575" indent="-282575" defTabSz="746125">
              <a:defRPr sz="1600">
                <a:solidFill>
                  <a:schemeClr val="tx1"/>
                </a:solidFill>
                <a:latin typeface="Times New Roman" pitchFamily="18" charset="0"/>
              </a:defRPr>
            </a:lvl1pPr>
            <a:lvl2pPr marL="1128713" indent="-457200" defTabSz="746125">
              <a:defRPr sz="1600">
                <a:solidFill>
                  <a:schemeClr val="tx1"/>
                </a:solidFill>
                <a:latin typeface="Times New Roman" pitchFamily="18" charset="0"/>
              </a:defRPr>
            </a:lvl2pPr>
            <a:lvl3pPr marL="1143000" indent="-228600" defTabSz="746125">
              <a:defRPr sz="1600">
                <a:solidFill>
                  <a:schemeClr val="tx1"/>
                </a:solidFill>
                <a:latin typeface="Times New Roman" pitchFamily="18" charset="0"/>
              </a:defRPr>
            </a:lvl3pPr>
            <a:lvl4pPr marL="1600200" indent="-228600" defTabSz="746125">
              <a:defRPr sz="1600">
                <a:solidFill>
                  <a:schemeClr val="tx1"/>
                </a:solidFill>
                <a:latin typeface="Times New Roman" pitchFamily="18" charset="0"/>
              </a:defRPr>
            </a:lvl4pPr>
            <a:lvl5pPr marL="2057400" indent="-228600" defTabSz="746125">
              <a:defRPr sz="1600">
                <a:solidFill>
                  <a:schemeClr val="tx1"/>
                </a:solidFill>
                <a:latin typeface="Times New Roman" pitchFamily="18" charset="0"/>
              </a:defRPr>
            </a:lvl5pPr>
            <a:lvl6pPr marL="2514600" indent="-228600" defTabSz="746125" eaLnBrk="0" fontAlgn="base" hangingPunct="0">
              <a:spcBef>
                <a:spcPct val="0"/>
              </a:spcBef>
              <a:spcAft>
                <a:spcPct val="0"/>
              </a:spcAft>
              <a:buChar char="•"/>
              <a:defRPr sz="1600">
                <a:solidFill>
                  <a:schemeClr val="tx1"/>
                </a:solidFill>
                <a:latin typeface="Times New Roman" pitchFamily="18" charset="0"/>
              </a:defRPr>
            </a:lvl6pPr>
            <a:lvl7pPr marL="2971800" indent="-228600" defTabSz="746125" eaLnBrk="0" fontAlgn="base" hangingPunct="0">
              <a:spcBef>
                <a:spcPct val="0"/>
              </a:spcBef>
              <a:spcAft>
                <a:spcPct val="0"/>
              </a:spcAft>
              <a:buChar char="•"/>
              <a:defRPr sz="1600">
                <a:solidFill>
                  <a:schemeClr val="tx1"/>
                </a:solidFill>
                <a:latin typeface="Times New Roman" pitchFamily="18" charset="0"/>
              </a:defRPr>
            </a:lvl7pPr>
            <a:lvl8pPr marL="3429000" indent="-228600" defTabSz="746125" eaLnBrk="0" fontAlgn="base" hangingPunct="0">
              <a:spcBef>
                <a:spcPct val="0"/>
              </a:spcBef>
              <a:spcAft>
                <a:spcPct val="0"/>
              </a:spcAft>
              <a:buChar char="•"/>
              <a:defRPr sz="1600">
                <a:solidFill>
                  <a:schemeClr val="tx1"/>
                </a:solidFill>
                <a:latin typeface="Times New Roman" pitchFamily="18" charset="0"/>
              </a:defRPr>
            </a:lvl8pPr>
            <a:lvl9pPr marL="3886200" indent="-228600" defTabSz="746125"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Char char="§"/>
            </a:pPr>
            <a:r>
              <a:rPr lang="en-US" sz="2000">
                <a:solidFill>
                  <a:schemeClr val="tx2"/>
                </a:solidFill>
              </a:rPr>
              <a:t>All-Pairs Shortest  Paths:  |V| iterations of Single-Source Shortest Paths.</a:t>
            </a:r>
          </a:p>
          <a:p>
            <a:pPr eaLnBrk="1" hangingPunct="1">
              <a:spcBef>
                <a:spcPct val="50000"/>
              </a:spcBef>
              <a:buFont typeface="Wingdings" pitchFamily="2" charset="2"/>
              <a:buChar char="§"/>
            </a:pPr>
            <a:r>
              <a:rPr lang="en-US" sz="2000">
                <a:solidFill>
                  <a:schemeClr val="tx2"/>
                </a:solidFill>
              </a:rPr>
              <a:t>If all edge weights are non-negative,       |V| Dijkstra iterations. </a:t>
            </a:r>
            <a:br>
              <a:rPr lang="en-US" sz="2000">
                <a:solidFill>
                  <a:schemeClr val="tx2"/>
                </a:solidFill>
              </a:rPr>
            </a:br>
            <a:r>
              <a:rPr lang="en-US" sz="2000">
                <a:solidFill>
                  <a:schemeClr val="tx2"/>
                </a:solidFill>
              </a:rPr>
              <a:t>	Time =   O(VE log V)   </a:t>
            </a:r>
            <a:r>
              <a:rPr lang="en-US" sz="2000">
                <a:solidFill>
                  <a:srgbClr val="CC0000"/>
                </a:solidFill>
              </a:rPr>
              <a:t>improved to   O(VE + V</a:t>
            </a:r>
            <a:r>
              <a:rPr lang="en-US" sz="2000" baseline="30000">
                <a:solidFill>
                  <a:srgbClr val="CC0000"/>
                </a:solidFill>
              </a:rPr>
              <a:t>2</a:t>
            </a:r>
            <a:r>
              <a:rPr lang="en-US" sz="2000">
                <a:solidFill>
                  <a:srgbClr val="CC0000"/>
                </a:solidFill>
              </a:rPr>
              <a:t> log V) by Fibonacci Heap.</a:t>
            </a:r>
          </a:p>
          <a:p>
            <a:pPr eaLnBrk="1" hangingPunct="1">
              <a:spcBef>
                <a:spcPct val="50000"/>
              </a:spcBef>
              <a:buFont typeface="Wingdings" pitchFamily="2" charset="2"/>
              <a:buChar char="§"/>
            </a:pPr>
            <a:r>
              <a:rPr lang="en-US" sz="2000">
                <a:solidFill>
                  <a:schemeClr val="tx2"/>
                </a:solidFill>
              </a:rPr>
              <a:t>If some edge weights may be negative,   |V| Bellman-Ford iterations. </a:t>
            </a:r>
            <a:br>
              <a:rPr lang="en-US" sz="2000">
                <a:solidFill>
                  <a:schemeClr val="tx2"/>
                </a:solidFill>
              </a:rPr>
            </a:br>
            <a:r>
              <a:rPr lang="en-US" sz="2000">
                <a:solidFill>
                  <a:schemeClr val="tx2"/>
                </a:solidFill>
              </a:rPr>
              <a:t>	Time = O(V</a:t>
            </a:r>
            <a:r>
              <a:rPr lang="en-US" sz="2000" baseline="30000">
                <a:solidFill>
                  <a:schemeClr val="tx2"/>
                </a:solidFill>
              </a:rPr>
              <a:t>2</a:t>
            </a:r>
            <a:r>
              <a:rPr lang="en-US" sz="2000">
                <a:solidFill>
                  <a:schemeClr val="tx2"/>
                </a:solidFill>
              </a:rPr>
              <a:t>E).</a:t>
            </a:r>
          </a:p>
          <a:p>
            <a:pPr eaLnBrk="1" hangingPunct="1">
              <a:spcBef>
                <a:spcPct val="50000"/>
              </a:spcBef>
              <a:buFont typeface="Wingdings" pitchFamily="2" charset="2"/>
              <a:buChar char="§"/>
            </a:pPr>
            <a:r>
              <a:rPr lang="en-US" sz="2000" b="1">
                <a:solidFill>
                  <a:srgbClr val="CC0000"/>
                </a:solidFill>
              </a:rPr>
              <a:t>Edmonds-Karp [1972] </a:t>
            </a:r>
            <a:r>
              <a:rPr lang="en-US" sz="2000"/>
              <a:t>&amp;</a:t>
            </a:r>
            <a:r>
              <a:rPr lang="en-US" sz="2000" b="1">
                <a:solidFill>
                  <a:srgbClr val="CC0000"/>
                </a:solidFill>
              </a:rPr>
              <a:t> Johnson [1977]</a:t>
            </a:r>
            <a:r>
              <a:rPr lang="en-US" sz="2000">
                <a:solidFill>
                  <a:schemeClr val="tx2"/>
                </a:solidFill>
              </a:rPr>
              <a:t>  found an improved method:</a:t>
            </a:r>
            <a:br>
              <a:rPr lang="en-US" sz="2000">
                <a:solidFill>
                  <a:schemeClr val="tx2"/>
                </a:solidFill>
              </a:rPr>
            </a:br>
            <a:r>
              <a:rPr lang="en-US" sz="2000">
                <a:solidFill>
                  <a:schemeClr val="tx2"/>
                </a:solidFill>
              </a:rPr>
              <a:t>	Preprocessing transformation: </a:t>
            </a:r>
            <a:br>
              <a:rPr lang="en-US" sz="2000">
                <a:solidFill>
                  <a:schemeClr val="tx2"/>
                </a:solidFill>
              </a:rPr>
            </a:br>
            <a:r>
              <a:rPr lang="en-US" sz="2000">
                <a:solidFill>
                  <a:schemeClr val="tx2"/>
                </a:solidFill>
              </a:rPr>
              <a:t>		make all edge weights non-negative but preserve shortest paths.    </a:t>
            </a:r>
            <a:br>
              <a:rPr lang="en-US" sz="2000">
                <a:solidFill>
                  <a:schemeClr val="tx2"/>
                </a:solidFill>
              </a:rPr>
            </a:br>
            <a:r>
              <a:rPr lang="en-US" sz="2000">
                <a:solidFill>
                  <a:schemeClr val="tx2"/>
                </a:solidFill>
              </a:rPr>
              <a:t>	</a:t>
            </a:r>
            <a:r>
              <a:rPr lang="en-US" sz="2000">
                <a:solidFill>
                  <a:srgbClr val="CC0000"/>
                </a:solidFill>
              </a:rPr>
              <a:t>[How?  For details, see the next slide.]</a:t>
            </a:r>
            <a:br>
              <a:rPr lang="en-US" sz="2000">
                <a:solidFill>
                  <a:srgbClr val="CC0000"/>
                </a:solidFill>
              </a:rPr>
            </a:br>
            <a:endParaRPr lang="en-US" sz="2000">
              <a:solidFill>
                <a:srgbClr val="CC0000"/>
              </a:solidFill>
            </a:endParaRPr>
          </a:p>
          <a:p>
            <a:pPr lvl="1" eaLnBrk="1" hangingPunct="1">
              <a:spcBef>
                <a:spcPct val="50000"/>
              </a:spcBef>
              <a:buFont typeface="Wingdings" pitchFamily="2" charset="2"/>
              <a:buChar char="Ø"/>
            </a:pPr>
            <a:r>
              <a:rPr lang="en-US" sz="2000">
                <a:solidFill>
                  <a:schemeClr val="tx2"/>
                </a:solidFill>
              </a:rPr>
              <a:t>Preprocessing: Bellman-Ford in O(VE) time. </a:t>
            </a:r>
            <a:br>
              <a:rPr lang="en-US" sz="2000">
                <a:solidFill>
                  <a:schemeClr val="tx2"/>
                </a:solidFill>
              </a:rPr>
            </a:br>
            <a:r>
              <a:rPr lang="en-US" sz="2000">
                <a:solidFill>
                  <a:schemeClr val="tx2"/>
                </a:solidFill>
              </a:rPr>
              <a:t>	Afterwards, apply |V| iterations of Dijkstra.</a:t>
            </a:r>
            <a:br>
              <a:rPr lang="en-US" sz="2000">
                <a:solidFill>
                  <a:schemeClr val="tx2"/>
                </a:solidFill>
              </a:rPr>
            </a:br>
            <a:r>
              <a:rPr lang="en-US" sz="2000">
                <a:solidFill>
                  <a:schemeClr val="tx2"/>
                </a:solidFill>
              </a:rPr>
              <a:t>	Total time of O(VE + V</a:t>
            </a:r>
            <a:r>
              <a:rPr lang="en-US" sz="2000" baseline="30000">
                <a:solidFill>
                  <a:schemeClr val="tx2"/>
                </a:solidFill>
              </a:rPr>
              <a:t>2</a:t>
            </a:r>
            <a:r>
              <a:rPr lang="en-US" sz="2000">
                <a:solidFill>
                  <a:schemeClr val="tx2"/>
                </a:solidFill>
              </a:rPr>
              <a:t> log V).</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10946"/>
                                        </p:tgtEl>
                                        <p:attrNameLst>
                                          <p:attrName>style.visibility</p:attrName>
                                        </p:attrNameLst>
                                      </p:cBhvr>
                                      <p:to>
                                        <p:strVal val="visible"/>
                                      </p:to>
                                    </p:set>
                                    <p:anim calcmode="lin" valueType="num">
                                      <p:cBhvr>
                                        <p:cTn id="7" dur="500" fill="hold"/>
                                        <p:tgtEl>
                                          <p:spTgt spid="210946"/>
                                        </p:tgtEl>
                                        <p:attrNameLst>
                                          <p:attrName>ppt_w</p:attrName>
                                        </p:attrNameLst>
                                      </p:cBhvr>
                                      <p:tavLst>
                                        <p:tav tm="0">
                                          <p:val>
                                            <p:fltVal val="0"/>
                                          </p:val>
                                        </p:tav>
                                        <p:tav tm="100000">
                                          <p:val>
                                            <p:strVal val="#ppt_w"/>
                                          </p:val>
                                        </p:tav>
                                      </p:tavLst>
                                    </p:anim>
                                    <p:anim calcmode="lin" valueType="num">
                                      <p:cBhvr>
                                        <p:cTn id="8" dur="500" fill="hold"/>
                                        <p:tgtEl>
                                          <p:spTgt spid="21094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10947">
                                            <p:txEl>
                                              <p:pRg st="0" end="0"/>
                                            </p:txEl>
                                          </p:spTgt>
                                        </p:tgtEl>
                                        <p:attrNameLst>
                                          <p:attrName>style.visibility</p:attrName>
                                        </p:attrNameLst>
                                      </p:cBhvr>
                                      <p:to>
                                        <p:strVal val="visible"/>
                                      </p:to>
                                    </p:set>
                                    <p:animEffect transition="in" filter="wipe(up)">
                                      <p:cBhvr>
                                        <p:cTn id="13" dur="500"/>
                                        <p:tgtEl>
                                          <p:spTgt spid="210947">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10947">
                                            <p:txEl>
                                              <p:pRg st="1" end="1"/>
                                            </p:txEl>
                                          </p:spTgt>
                                        </p:tgtEl>
                                        <p:attrNameLst>
                                          <p:attrName>style.visibility</p:attrName>
                                        </p:attrNameLst>
                                      </p:cBhvr>
                                      <p:to>
                                        <p:strVal val="visible"/>
                                      </p:to>
                                    </p:set>
                                    <p:animEffect transition="in" filter="wipe(up)">
                                      <p:cBhvr>
                                        <p:cTn id="18" dur="500"/>
                                        <p:tgtEl>
                                          <p:spTgt spid="210947">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210947">
                                            <p:txEl>
                                              <p:pRg st="2" end="2"/>
                                            </p:txEl>
                                          </p:spTgt>
                                        </p:tgtEl>
                                        <p:attrNameLst>
                                          <p:attrName>style.visibility</p:attrName>
                                        </p:attrNameLst>
                                      </p:cBhvr>
                                      <p:to>
                                        <p:strVal val="visible"/>
                                      </p:to>
                                    </p:set>
                                    <p:animEffect transition="in" filter="wipe(up)">
                                      <p:cBhvr>
                                        <p:cTn id="23" dur="500"/>
                                        <p:tgtEl>
                                          <p:spTgt spid="210947">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210947">
                                            <p:txEl>
                                              <p:pRg st="3" end="3"/>
                                            </p:txEl>
                                          </p:spTgt>
                                        </p:tgtEl>
                                        <p:attrNameLst>
                                          <p:attrName>style.visibility</p:attrName>
                                        </p:attrNameLst>
                                      </p:cBhvr>
                                      <p:to>
                                        <p:strVal val="visible"/>
                                      </p:to>
                                    </p:set>
                                    <p:animEffect transition="in" filter="wipe(up)">
                                      <p:cBhvr>
                                        <p:cTn id="28" dur="500"/>
                                        <p:tgtEl>
                                          <p:spTgt spid="210947">
                                            <p:txEl>
                                              <p:pRg st="3" end="3"/>
                                            </p:txEl>
                                          </p:spTgt>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210947">
                                            <p:txEl>
                                              <p:pRg st="4" end="4"/>
                                            </p:txEl>
                                          </p:spTgt>
                                        </p:tgtEl>
                                        <p:attrNameLst>
                                          <p:attrName>style.visibility</p:attrName>
                                        </p:attrNameLst>
                                      </p:cBhvr>
                                      <p:to>
                                        <p:strVal val="visible"/>
                                      </p:to>
                                    </p:set>
                                    <p:animEffect transition="in" filter="wipe(up)">
                                      <p:cBhvr>
                                        <p:cTn id="31" dur="500"/>
                                        <p:tgtEl>
                                          <p:spTgt spid="2109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6" grpId="0" animBg="1" autoUpdateAnimBg="0"/>
      <p:bldP spid="210947" grpId="0" build="p"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838200" indent="-838200" eaLnBrk="1" hangingPunct="1"/>
            <a:r>
              <a:rPr lang="en-US" sz="2800" dirty="0" smtClean="0">
                <a:solidFill>
                  <a:schemeClr val="tx1"/>
                </a:solidFill>
                <a:latin typeface="Arial Rounded MT Bold" pitchFamily="34" charset="0"/>
                <a:sym typeface="Symbol" pitchFamily="18" charset="2"/>
              </a:rPr>
              <a:t>Edmonds-Karp &amp; Johnson </a:t>
            </a:r>
            <a:r>
              <a:rPr lang="en-US" sz="2800" dirty="0" smtClean="0">
                <a:solidFill>
                  <a:srgbClr val="CC0000"/>
                </a:solidFill>
                <a:latin typeface="Arial Rounded MT Bold" pitchFamily="34" charset="0"/>
                <a:sym typeface="Symbol" pitchFamily="18" charset="2"/>
              </a:rPr>
              <a:t>Transformation</a:t>
            </a:r>
          </a:p>
        </p:txBody>
      </p:sp>
      <p:sp>
        <p:nvSpPr>
          <p:cNvPr id="212995" name="Text Box 3"/>
          <p:cNvSpPr txBox="1">
            <a:spLocks noChangeArrowheads="1"/>
          </p:cNvSpPr>
          <p:nvPr/>
        </p:nvSpPr>
        <p:spPr bwMode="auto">
          <a:xfrm>
            <a:off x="152400" y="838200"/>
            <a:ext cx="6019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8925" indent="-288925" defTabSz="746125">
              <a:defRPr sz="1600">
                <a:solidFill>
                  <a:schemeClr val="tx1"/>
                </a:solidFill>
                <a:latin typeface="Times New Roman" pitchFamily="18" charset="0"/>
              </a:defRPr>
            </a:lvl1pPr>
            <a:lvl2pPr marL="742950" indent="-285750" defTabSz="746125">
              <a:defRPr sz="1600">
                <a:solidFill>
                  <a:schemeClr val="tx1"/>
                </a:solidFill>
                <a:latin typeface="Times New Roman" pitchFamily="18" charset="0"/>
              </a:defRPr>
            </a:lvl2pPr>
            <a:lvl3pPr marL="1143000" indent="-228600" defTabSz="746125">
              <a:defRPr sz="1600">
                <a:solidFill>
                  <a:schemeClr val="tx1"/>
                </a:solidFill>
                <a:latin typeface="Times New Roman" pitchFamily="18" charset="0"/>
              </a:defRPr>
            </a:lvl3pPr>
            <a:lvl4pPr marL="1600200" indent="-228600" defTabSz="746125">
              <a:defRPr sz="1600">
                <a:solidFill>
                  <a:schemeClr val="tx1"/>
                </a:solidFill>
                <a:latin typeface="Times New Roman" pitchFamily="18" charset="0"/>
              </a:defRPr>
            </a:lvl4pPr>
            <a:lvl5pPr marL="2057400" indent="-228600" defTabSz="746125">
              <a:defRPr sz="1600">
                <a:solidFill>
                  <a:schemeClr val="tx1"/>
                </a:solidFill>
                <a:latin typeface="Times New Roman" pitchFamily="18" charset="0"/>
              </a:defRPr>
            </a:lvl5pPr>
            <a:lvl6pPr marL="2514600" indent="-228600" defTabSz="746125" eaLnBrk="0" fontAlgn="base" hangingPunct="0">
              <a:spcBef>
                <a:spcPct val="0"/>
              </a:spcBef>
              <a:spcAft>
                <a:spcPct val="0"/>
              </a:spcAft>
              <a:buChar char="•"/>
              <a:defRPr sz="1600">
                <a:solidFill>
                  <a:schemeClr val="tx1"/>
                </a:solidFill>
                <a:latin typeface="Times New Roman" pitchFamily="18" charset="0"/>
              </a:defRPr>
            </a:lvl6pPr>
            <a:lvl7pPr marL="2971800" indent="-228600" defTabSz="746125" eaLnBrk="0" fontAlgn="base" hangingPunct="0">
              <a:spcBef>
                <a:spcPct val="0"/>
              </a:spcBef>
              <a:spcAft>
                <a:spcPct val="0"/>
              </a:spcAft>
              <a:buChar char="•"/>
              <a:defRPr sz="1600">
                <a:solidFill>
                  <a:schemeClr val="tx1"/>
                </a:solidFill>
                <a:latin typeface="Times New Roman" pitchFamily="18" charset="0"/>
              </a:defRPr>
            </a:lvl7pPr>
            <a:lvl8pPr marL="3429000" indent="-228600" defTabSz="746125" eaLnBrk="0" fontAlgn="base" hangingPunct="0">
              <a:spcBef>
                <a:spcPct val="0"/>
              </a:spcBef>
              <a:spcAft>
                <a:spcPct val="0"/>
              </a:spcAft>
              <a:buChar char="•"/>
              <a:defRPr sz="1600">
                <a:solidFill>
                  <a:schemeClr val="tx1"/>
                </a:solidFill>
                <a:latin typeface="Times New Roman" pitchFamily="18" charset="0"/>
              </a:defRPr>
            </a:lvl8pPr>
            <a:lvl9pPr marL="3886200" indent="-228600" defTabSz="746125"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AutoNum type="arabicPeriod"/>
            </a:pPr>
            <a:r>
              <a:rPr lang="en-US" sz="2000">
                <a:solidFill>
                  <a:schemeClr val="tx2"/>
                </a:solidFill>
              </a:rPr>
              <a:t>Start with the given weighted digraph G = (V, E, w).</a:t>
            </a:r>
          </a:p>
        </p:txBody>
      </p:sp>
      <p:grpSp>
        <p:nvGrpSpPr>
          <p:cNvPr id="213067" name="Group 75"/>
          <p:cNvGrpSpPr>
            <a:grpSpLocks/>
          </p:cNvGrpSpPr>
          <p:nvPr/>
        </p:nvGrpSpPr>
        <p:grpSpPr bwMode="auto">
          <a:xfrm>
            <a:off x="304800" y="3429000"/>
            <a:ext cx="1593850" cy="2301875"/>
            <a:chOff x="786" y="2409"/>
            <a:chExt cx="1004" cy="1450"/>
          </a:xfrm>
        </p:grpSpPr>
        <p:sp>
          <p:nvSpPr>
            <p:cNvPr id="121921" name="Line 5"/>
            <p:cNvSpPr>
              <a:spLocks noChangeShapeType="1"/>
            </p:cNvSpPr>
            <p:nvPr/>
          </p:nvSpPr>
          <p:spPr bwMode="auto">
            <a:xfrm>
              <a:off x="1030" y="3240"/>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922" name="Line 6"/>
            <p:cNvSpPr>
              <a:spLocks noChangeShapeType="1"/>
            </p:cNvSpPr>
            <p:nvPr/>
          </p:nvSpPr>
          <p:spPr bwMode="auto">
            <a:xfrm flipV="1">
              <a:off x="982" y="2808"/>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923" name="Line 7"/>
            <p:cNvSpPr>
              <a:spLocks noChangeShapeType="1"/>
            </p:cNvSpPr>
            <p:nvPr/>
          </p:nvSpPr>
          <p:spPr bwMode="auto">
            <a:xfrm>
              <a:off x="1606" y="2664"/>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924" name="Line 8"/>
            <p:cNvSpPr>
              <a:spLocks noChangeShapeType="1"/>
            </p:cNvSpPr>
            <p:nvPr/>
          </p:nvSpPr>
          <p:spPr bwMode="auto">
            <a:xfrm>
              <a:off x="982" y="2664"/>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925" name="Line 9"/>
            <p:cNvSpPr>
              <a:spLocks noChangeShapeType="1"/>
            </p:cNvSpPr>
            <p:nvPr/>
          </p:nvSpPr>
          <p:spPr bwMode="auto">
            <a:xfrm flipH="1" flipV="1">
              <a:off x="1078" y="2760"/>
              <a:ext cx="528"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926" name="Oval 10"/>
            <p:cNvSpPr>
              <a:spLocks noChangeArrowheads="1"/>
            </p:cNvSpPr>
            <p:nvPr/>
          </p:nvSpPr>
          <p:spPr bwMode="auto">
            <a:xfrm>
              <a:off x="1462" y="3096"/>
              <a:ext cx="278" cy="288"/>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spcBef>
                  <a:spcPct val="50000"/>
                </a:spcBef>
                <a:buFontTx/>
                <a:buNone/>
              </a:pPr>
              <a:r>
                <a:rPr lang="en-US">
                  <a:solidFill>
                    <a:schemeClr val="tx2"/>
                  </a:solidFill>
                </a:rPr>
                <a:t>b</a:t>
              </a:r>
            </a:p>
          </p:txBody>
        </p:sp>
        <p:sp>
          <p:nvSpPr>
            <p:cNvPr id="121927" name="Oval 11"/>
            <p:cNvSpPr>
              <a:spLocks noChangeArrowheads="1"/>
            </p:cNvSpPr>
            <p:nvPr/>
          </p:nvSpPr>
          <p:spPr bwMode="auto">
            <a:xfrm>
              <a:off x="848" y="3120"/>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a</a:t>
              </a:r>
            </a:p>
          </p:txBody>
        </p:sp>
        <p:sp>
          <p:nvSpPr>
            <p:cNvPr id="121928" name="Oval 12"/>
            <p:cNvSpPr>
              <a:spLocks noChangeArrowheads="1"/>
            </p:cNvSpPr>
            <p:nvPr/>
          </p:nvSpPr>
          <p:spPr bwMode="auto">
            <a:xfrm>
              <a:off x="1462" y="2520"/>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d</a:t>
              </a:r>
            </a:p>
          </p:txBody>
        </p:sp>
        <p:sp>
          <p:nvSpPr>
            <p:cNvPr id="121929" name="Oval 13"/>
            <p:cNvSpPr>
              <a:spLocks noChangeArrowheads="1"/>
            </p:cNvSpPr>
            <p:nvPr/>
          </p:nvSpPr>
          <p:spPr bwMode="auto">
            <a:xfrm>
              <a:off x="838" y="2520"/>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c</a:t>
              </a:r>
            </a:p>
          </p:txBody>
        </p:sp>
        <p:sp>
          <p:nvSpPr>
            <p:cNvPr id="121930" name="Text Box 14"/>
            <p:cNvSpPr txBox="1">
              <a:spLocks noChangeArrowheads="1"/>
            </p:cNvSpPr>
            <p:nvPr/>
          </p:nvSpPr>
          <p:spPr bwMode="auto">
            <a:xfrm>
              <a:off x="1104" y="3024"/>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21931" name="Text Box 15"/>
            <p:cNvSpPr txBox="1">
              <a:spLocks noChangeArrowheads="1"/>
            </p:cNvSpPr>
            <p:nvPr/>
          </p:nvSpPr>
          <p:spPr bwMode="auto">
            <a:xfrm>
              <a:off x="1242" y="2793"/>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21932" name="Text Box 16"/>
            <p:cNvSpPr txBox="1">
              <a:spLocks noChangeArrowheads="1"/>
            </p:cNvSpPr>
            <p:nvPr/>
          </p:nvSpPr>
          <p:spPr bwMode="auto">
            <a:xfrm>
              <a:off x="1146" y="2409"/>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121933" name="Text Box 17"/>
            <p:cNvSpPr txBox="1">
              <a:spLocks noChangeArrowheads="1"/>
            </p:cNvSpPr>
            <p:nvPr/>
          </p:nvSpPr>
          <p:spPr bwMode="auto">
            <a:xfrm>
              <a:off x="1602" y="2793"/>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4</a:t>
              </a:r>
            </a:p>
          </p:txBody>
        </p:sp>
        <p:sp>
          <p:nvSpPr>
            <p:cNvPr id="121934" name="Text Box 18"/>
            <p:cNvSpPr txBox="1">
              <a:spLocks noChangeArrowheads="1"/>
            </p:cNvSpPr>
            <p:nvPr/>
          </p:nvSpPr>
          <p:spPr bwMode="auto">
            <a:xfrm>
              <a:off x="786" y="2841"/>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sp>
          <p:nvSpPr>
            <p:cNvPr id="121935" name="Text Box 23"/>
            <p:cNvSpPr txBox="1">
              <a:spLocks noChangeArrowheads="1"/>
            </p:cNvSpPr>
            <p:nvPr/>
          </p:nvSpPr>
          <p:spPr bwMode="auto">
            <a:xfrm>
              <a:off x="1174" y="3609"/>
              <a:ext cx="2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G</a:t>
              </a:r>
            </a:p>
          </p:txBody>
        </p:sp>
        <p:sp>
          <p:nvSpPr>
            <p:cNvPr id="121936" name="Line 43"/>
            <p:cNvSpPr>
              <a:spLocks noChangeShapeType="1"/>
            </p:cNvSpPr>
            <p:nvPr/>
          </p:nvSpPr>
          <p:spPr bwMode="auto">
            <a:xfrm flipH="1">
              <a:off x="1126" y="3321"/>
              <a:ext cx="33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937" name="Text Box 44"/>
            <p:cNvSpPr txBox="1">
              <a:spLocks noChangeArrowheads="1"/>
            </p:cNvSpPr>
            <p:nvPr/>
          </p:nvSpPr>
          <p:spPr bwMode="auto">
            <a:xfrm>
              <a:off x="1222" y="3273"/>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grpSp>
      <p:grpSp>
        <p:nvGrpSpPr>
          <p:cNvPr id="213101" name="Group 109"/>
          <p:cNvGrpSpPr>
            <a:grpSpLocks/>
          </p:cNvGrpSpPr>
          <p:nvPr/>
        </p:nvGrpSpPr>
        <p:grpSpPr bwMode="auto">
          <a:xfrm>
            <a:off x="5257800" y="2895600"/>
            <a:ext cx="3667125" cy="3716338"/>
            <a:chOff x="3360" y="1680"/>
            <a:chExt cx="2310" cy="2341"/>
          </a:xfrm>
        </p:grpSpPr>
        <p:sp>
          <p:nvSpPr>
            <p:cNvPr id="121891" name="Line 45"/>
            <p:cNvSpPr>
              <a:spLocks noChangeShapeType="1"/>
            </p:cNvSpPr>
            <p:nvPr/>
          </p:nvSpPr>
          <p:spPr bwMode="auto">
            <a:xfrm>
              <a:off x="4608" y="2778"/>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892" name="Line 46"/>
            <p:cNvSpPr>
              <a:spLocks noChangeShapeType="1"/>
            </p:cNvSpPr>
            <p:nvPr/>
          </p:nvSpPr>
          <p:spPr bwMode="auto">
            <a:xfrm flipV="1">
              <a:off x="4560" y="2346"/>
              <a:ext cx="0" cy="432"/>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893" name="Line 47"/>
            <p:cNvSpPr>
              <a:spLocks noChangeShapeType="1"/>
            </p:cNvSpPr>
            <p:nvPr/>
          </p:nvSpPr>
          <p:spPr bwMode="auto">
            <a:xfrm>
              <a:off x="5184" y="2202"/>
              <a:ext cx="0" cy="432"/>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894" name="Line 48"/>
            <p:cNvSpPr>
              <a:spLocks noChangeShapeType="1"/>
            </p:cNvSpPr>
            <p:nvPr/>
          </p:nvSpPr>
          <p:spPr bwMode="auto">
            <a:xfrm>
              <a:off x="4560" y="2202"/>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895" name="Line 49"/>
            <p:cNvSpPr>
              <a:spLocks noChangeShapeType="1"/>
            </p:cNvSpPr>
            <p:nvPr/>
          </p:nvSpPr>
          <p:spPr bwMode="auto">
            <a:xfrm flipH="1" flipV="1">
              <a:off x="4656" y="2298"/>
              <a:ext cx="528"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896" name="Oval 50"/>
            <p:cNvSpPr>
              <a:spLocks noChangeArrowheads="1"/>
            </p:cNvSpPr>
            <p:nvPr/>
          </p:nvSpPr>
          <p:spPr bwMode="auto">
            <a:xfrm>
              <a:off x="5040" y="2634"/>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b</a:t>
              </a:r>
            </a:p>
          </p:txBody>
        </p:sp>
        <p:sp>
          <p:nvSpPr>
            <p:cNvPr id="121897" name="Oval 51"/>
            <p:cNvSpPr>
              <a:spLocks noChangeArrowheads="1"/>
            </p:cNvSpPr>
            <p:nvPr/>
          </p:nvSpPr>
          <p:spPr bwMode="auto">
            <a:xfrm>
              <a:off x="4426" y="2658"/>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a</a:t>
              </a:r>
            </a:p>
          </p:txBody>
        </p:sp>
        <p:sp>
          <p:nvSpPr>
            <p:cNvPr id="121898" name="Oval 52"/>
            <p:cNvSpPr>
              <a:spLocks noChangeArrowheads="1"/>
            </p:cNvSpPr>
            <p:nvPr/>
          </p:nvSpPr>
          <p:spPr bwMode="auto">
            <a:xfrm>
              <a:off x="5040" y="2058"/>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d</a:t>
              </a:r>
            </a:p>
          </p:txBody>
        </p:sp>
        <p:sp>
          <p:nvSpPr>
            <p:cNvPr id="121899" name="Oval 53"/>
            <p:cNvSpPr>
              <a:spLocks noChangeArrowheads="1"/>
            </p:cNvSpPr>
            <p:nvPr/>
          </p:nvSpPr>
          <p:spPr bwMode="auto">
            <a:xfrm>
              <a:off x="4416" y="2058"/>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c</a:t>
              </a:r>
            </a:p>
          </p:txBody>
        </p:sp>
        <p:sp>
          <p:nvSpPr>
            <p:cNvPr id="121900" name="Text Box 54"/>
            <p:cNvSpPr txBox="1">
              <a:spLocks noChangeArrowheads="1"/>
            </p:cNvSpPr>
            <p:nvPr/>
          </p:nvSpPr>
          <p:spPr bwMode="auto">
            <a:xfrm>
              <a:off x="4682" y="2562"/>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21901" name="Text Box 55"/>
            <p:cNvSpPr txBox="1">
              <a:spLocks noChangeArrowheads="1"/>
            </p:cNvSpPr>
            <p:nvPr/>
          </p:nvSpPr>
          <p:spPr bwMode="auto">
            <a:xfrm>
              <a:off x="4820" y="2331"/>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21902" name="Text Box 56"/>
            <p:cNvSpPr txBox="1">
              <a:spLocks noChangeArrowheads="1"/>
            </p:cNvSpPr>
            <p:nvPr/>
          </p:nvSpPr>
          <p:spPr bwMode="auto">
            <a:xfrm>
              <a:off x="4724" y="1947"/>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121903" name="Text Box 57"/>
            <p:cNvSpPr txBox="1">
              <a:spLocks noChangeArrowheads="1"/>
            </p:cNvSpPr>
            <p:nvPr/>
          </p:nvSpPr>
          <p:spPr bwMode="auto">
            <a:xfrm>
              <a:off x="5180" y="2331"/>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4</a:t>
              </a:r>
            </a:p>
          </p:txBody>
        </p:sp>
        <p:sp>
          <p:nvSpPr>
            <p:cNvPr id="121904" name="Text Box 58"/>
            <p:cNvSpPr txBox="1">
              <a:spLocks noChangeArrowheads="1"/>
            </p:cNvSpPr>
            <p:nvPr/>
          </p:nvSpPr>
          <p:spPr bwMode="auto">
            <a:xfrm>
              <a:off x="4364" y="2379"/>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sp>
          <p:nvSpPr>
            <p:cNvPr id="121905" name="Text Box 59"/>
            <p:cNvSpPr txBox="1">
              <a:spLocks noChangeArrowheads="1"/>
            </p:cNvSpPr>
            <p:nvPr/>
          </p:nvSpPr>
          <p:spPr bwMode="auto">
            <a:xfrm>
              <a:off x="3984" y="3387"/>
              <a:ext cx="1086"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Single-source </a:t>
              </a:r>
              <a:br>
                <a:rPr lang="en-US" sz="2000">
                  <a:solidFill>
                    <a:schemeClr val="tx2"/>
                  </a:solidFill>
                </a:rPr>
              </a:br>
              <a:r>
                <a:rPr lang="en-US" sz="2000">
                  <a:solidFill>
                    <a:schemeClr val="tx2"/>
                  </a:solidFill>
                </a:rPr>
                <a:t>shortest dist in </a:t>
              </a:r>
              <a:br>
                <a:rPr lang="en-US" sz="2000">
                  <a:solidFill>
                    <a:schemeClr val="tx2"/>
                  </a:solidFill>
                </a:rPr>
              </a:br>
              <a:r>
                <a:rPr lang="en-US" sz="2000">
                  <a:solidFill>
                    <a:schemeClr val="tx2"/>
                  </a:solidFill>
                </a:rPr>
                <a:t>Augmented G</a:t>
              </a:r>
            </a:p>
          </p:txBody>
        </p:sp>
        <p:sp>
          <p:nvSpPr>
            <p:cNvPr id="121906" name="Freeform 60"/>
            <p:cNvSpPr>
              <a:spLocks/>
            </p:cNvSpPr>
            <p:nvPr/>
          </p:nvSpPr>
          <p:spPr bwMode="auto">
            <a:xfrm>
              <a:off x="4692" y="2852"/>
              <a:ext cx="371" cy="7"/>
            </a:xfrm>
            <a:custGeom>
              <a:avLst/>
              <a:gdLst>
                <a:gd name="T0" fmla="*/ 371 w 371"/>
                <a:gd name="T1" fmla="*/ 0 h 7"/>
                <a:gd name="T2" fmla="*/ 0 w 371"/>
                <a:gd name="T3" fmla="*/ 7 h 7"/>
                <a:gd name="T4" fmla="*/ 0 60000 65536"/>
                <a:gd name="T5" fmla="*/ 0 60000 65536"/>
              </a:gdLst>
              <a:ahLst/>
              <a:cxnLst>
                <a:cxn ang="T4">
                  <a:pos x="T0" y="T1"/>
                </a:cxn>
                <a:cxn ang="T5">
                  <a:pos x="T2" y="T3"/>
                </a:cxn>
              </a:cxnLst>
              <a:rect l="0" t="0" r="r" b="b"/>
              <a:pathLst>
                <a:path w="371" h="7">
                  <a:moveTo>
                    <a:pt x="371" y="0"/>
                  </a:moveTo>
                  <a:lnTo>
                    <a:pt x="0" y="7"/>
                  </a:ln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907" name="Text Box 61"/>
            <p:cNvSpPr txBox="1">
              <a:spLocks noChangeArrowheads="1"/>
            </p:cNvSpPr>
            <p:nvPr/>
          </p:nvSpPr>
          <p:spPr bwMode="auto">
            <a:xfrm>
              <a:off x="4800" y="2811"/>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sp>
          <p:nvSpPr>
            <p:cNvPr id="121908" name="Line 63"/>
            <p:cNvSpPr>
              <a:spLocks noChangeShapeType="1"/>
            </p:cNvSpPr>
            <p:nvPr/>
          </p:nvSpPr>
          <p:spPr bwMode="auto">
            <a:xfrm flipV="1">
              <a:off x="3504" y="2250"/>
              <a:ext cx="912" cy="321"/>
            </a:xfrm>
            <a:prstGeom prst="line">
              <a:avLst/>
            </a:prstGeom>
            <a:noFill/>
            <a:ln w="19050">
              <a:solidFill>
                <a:srgbClr val="B2B2B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21909" name="Line 64"/>
            <p:cNvSpPr>
              <a:spLocks noChangeShapeType="1"/>
            </p:cNvSpPr>
            <p:nvPr/>
          </p:nvSpPr>
          <p:spPr bwMode="auto">
            <a:xfrm>
              <a:off x="3504" y="2571"/>
              <a:ext cx="912" cy="159"/>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21910" name="Freeform 65"/>
            <p:cNvSpPr>
              <a:spLocks/>
            </p:cNvSpPr>
            <p:nvPr/>
          </p:nvSpPr>
          <p:spPr bwMode="auto">
            <a:xfrm>
              <a:off x="3501" y="1680"/>
              <a:ext cx="1648" cy="891"/>
            </a:xfrm>
            <a:custGeom>
              <a:avLst/>
              <a:gdLst>
                <a:gd name="T0" fmla="*/ 3 w 1648"/>
                <a:gd name="T1" fmla="*/ 891 h 891"/>
                <a:gd name="T2" fmla="*/ 218 w 1648"/>
                <a:gd name="T3" fmla="*/ 140 h 891"/>
                <a:gd name="T4" fmla="*/ 1311 w 1648"/>
                <a:gd name="T5" fmla="*/ 53 h 891"/>
                <a:gd name="T6" fmla="*/ 1648 w 1648"/>
                <a:gd name="T7" fmla="*/ 385 h 8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48" h="891">
                  <a:moveTo>
                    <a:pt x="3" y="891"/>
                  </a:moveTo>
                  <a:cubicBezTo>
                    <a:pt x="39" y="766"/>
                    <a:pt x="0" y="280"/>
                    <a:pt x="218" y="140"/>
                  </a:cubicBezTo>
                  <a:cubicBezTo>
                    <a:pt x="436" y="0"/>
                    <a:pt x="1073" y="12"/>
                    <a:pt x="1311" y="53"/>
                  </a:cubicBezTo>
                  <a:cubicBezTo>
                    <a:pt x="1549" y="94"/>
                    <a:pt x="1578" y="316"/>
                    <a:pt x="1648" y="385"/>
                  </a:cubicBez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21911" name="Freeform 66"/>
            <p:cNvSpPr>
              <a:spLocks/>
            </p:cNvSpPr>
            <p:nvPr/>
          </p:nvSpPr>
          <p:spPr bwMode="auto">
            <a:xfrm>
              <a:off x="3504" y="2571"/>
              <a:ext cx="1672" cy="860"/>
            </a:xfrm>
            <a:custGeom>
              <a:avLst/>
              <a:gdLst>
                <a:gd name="T0" fmla="*/ 0 w 1672"/>
                <a:gd name="T1" fmla="*/ 0 h 860"/>
                <a:gd name="T2" fmla="*/ 308 w 1672"/>
                <a:gd name="T3" fmla="*/ 732 h 860"/>
                <a:gd name="T4" fmla="*/ 1341 w 1672"/>
                <a:gd name="T5" fmla="*/ 765 h 860"/>
                <a:gd name="T6" fmla="*/ 1672 w 1672"/>
                <a:gd name="T7" fmla="*/ 361 h 8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72" h="860">
                  <a:moveTo>
                    <a:pt x="0" y="0"/>
                  </a:moveTo>
                  <a:cubicBezTo>
                    <a:pt x="51" y="122"/>
                    <a:pt x="84" y="604"/>
                    <a:pt x="308" y="732"/>
                  </a:cubicBezTo>
                  <a:cubicBezTo>
                    <a:pt x="532" y="860"/>
                    <a:pt x="1114" y="827"/>
                    <a:pt x="1341" y="765"/>
                  </a:cubicBezTo>
                  <a:cubicBezTo>
                    <a:pt x="1568" y="703"/>
                    <a:pt x="1603" y="445"/>
                    <a:pt x="1672" y="361"/>
                  </a:cubicBezTo>
                </a:path>
              </a:pathLst>
            </a:custGeom>
            <a:noFill/>
            <a:ln w="19050" cap="flat" cmpd="sng">
              <a:solidFill>
                <a:srgbClr val="B2B2B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21912" name="Rectangle 67"/>
            <p:cNvSpPr>
              <a:spLocks noChangeArrowheads="1"/>
            </p:cNvSpPr>
            <p:nvPr/>
          </p:nvSpPr>
          <p:spPr bwMode="auto">
            <a:xfrm>
              <a:off x="3744" y="172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CC0000"/>
                  </a:solidFill>
                </a:rPr>
                <a:t>0</a:t>
              </a:r>
            </a:p>
          </p:txBody>
        </p:sp>
        <p:sp>
          <p:nvSpPr>
            <p:cNvPr id="121913" name="Rectangle 68"/>
            <p:cNvSpPr>
              <a:spLocks noChangeArrowheads="1"/>
            </p:cNvSpPr>
            <p:nvPr/>
          </p:nvSpPr>
          <p:spPr bwMode="auto">
            <a:xfrm>
              <a:off x="3744" y="220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CC0000"/>
                  </a:solidFill>
                </a:rPr>
                <a:t>0</a:t>
              </a:r>
            </a:p>
          </p:txBody>
        </p:sp>
        <p:sp>
          <p:nvSpPr>
            <p:cNvPr id="121914" name="Rectangle 69"/>
            <p:cNvSpPr>
              <a:spLocks noChangeArrowheads="1"/>
            </p:cNvSpPr>
            <p:nvPr/>
          </p:nvSpPr>
          <p:spPr bwMode="auto">
            <a:xfrm>
              <a:off x="3744" y="2619"/>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CC0000"/>
                  </a:solidFill>
                </a:rPr>
                <a:t>0</a:t>
              </a:r>
            </a:p>
          </p:txBody>
        </p:sp>
        <p:sp>
          <p:nvSpPr>
            <p:cNvPr id="121915" name="Rectangle 70"/>
            <p:cNvSpPr>
              <a:spLocks noChangeArrowheads="1"/>
            </p:cNvSpPr>
            <p:nvPr/>
          </p:nvSpPr>
          <p:spPr bwMode="auto">
            <a:xfrm>
              <a:off x="3792" y="312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CC0000"/>
                  </a:solidFill>
                </a:rPr>
                <a:t>0</a:t>
              </a:r>
            </a:p>
          </p:txBody>
        </p:sp>
        <p:sp>
          <p:nvSpPr>
            <p:cNvPr id="121916" name="Oval 62"/>
            <p:cNvSpPr>
              <a:spLocks noChangeArrowheads="1"/>
            </p:cNvSpPr>
            <p:nvPr/>
          </p:nvSpPr>
          <p:spPr bwMode="auto">
            <a:xfrm>
              <a:off x="3360" y="2427"/>
              <a:ext cx="27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s</a:t>
              </a:r>
            </a:p>
          </p:txBody>
        </p:sp>
        <p:sp>
          <p:nvSpPr>
            <p:cNvPr id="121917" name="Rectangle 71"/>
            <p:cNvSpPr>
              <a:spLocks noChangeArrowheads="1"/>
            </p:cNvSpPr>
            <p:nvPr/>
          </p:nvSpPr>
          <p:spPr bwMode="auto">
            <a:xfrm>
              <a:off x="5022" y="1707"/>
              <a:ext cx="6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dirty="0">
                  <a:solidFill>
                    <a:srgbClr val="FF0000"/>
                  </a:solidFill>
                  <a:latin typeface="Symbol" pitchFamily="18" charset="2"/>
                </a:rPr>
                <a:t>r</a:t>
              </a:r>
              <a:r>
                <a:rPr lang="en-US" sz="1800" dirty="0">
                  <a:solidFill>
                    <a:srgbClr val="FF0000"/>
                  </a:solidFill>
                </a:rPr>
                <a:t>(d)= -4</a:t>
              </a:r>
            </a:p>
          </p:txBody>
        </p:sp>
        <p:sp>
          <p:nvSpPr>
            <p:cNvPr id="121918" name="Rectangle 72"/>
            <p:cNvSpPr>
              <a:spLocks noChangeArrowheads="1"/>
            </p:cNvSpPr>
            <p:nvPr/>
          </p:nvSpPr>
          <p:spPr bwMode="auto">
            <a:xfrm>
              <a:off x="4257" y="2923"/>
              <a:ext cx="5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dirty="0">
                  <a:solidFill>
                    <a:srgbClr val="FF0000"/>
                  </a:solidFill>
                  <a:latin typeface="Symbol" pitchFamily="18" charset="2"/>
                </a:rPr>
                <a:t>r</a:t>
              </a:r>
              <a:r>
                <a:rPr lang="en-US" sz="1800" dirty="0">
                  <a:solidFill>
                    <a:srgbClr val="FF0000"/>
                  </a:solidFill>
                </a:rPr>
                <a:t>(a) = 0</a:t>
              </a:r>
            </a:p>
          </p:txBody>
        </p:sp>
        <p:sp>
          <p:nvSpPr>
            <p:cNvPr id="121919" name="Rectangle 73"/>
            <p:cNvSpPr>
              <a:spLocks noChangeArrowheads="1"/>
            </p:cNvSpPr>
            <p:nvPr/>
          </p:nvSpPr>
          <p:spPr bwMode="auto">
            <a:xfrm>
              <a:off x="4090" y="1819"/>
              <a:ext cx="6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dirty="0">
                  <a:solidFill>
                    <a:srgbClr val="FF0000"/>
                  </a:solidFill>
                  <a:latin typeface="Symbol" pitchFamily="18" charset="2"/>
                </a:rPr>
                <a:t>r</a:t>
              </a:r>
              <a:r>
                <a:rPr lang="en-US" sz="1800" dirty="0">
                  <a:solidFill>
                    <a:srgbClr val="FF0000"/>
                  </a:solidFill>
                </a:rPr>
                <a:t>(c) = -2</a:t>
              </a:r>
            </a:p>
          </p:txBody>
        </p:sp>
        <p:sp>
          <p:nvSpPr>
            <p:cNvPr id="121920" name="Rectangle 74"/>
            <p:cNvSpPr>
              <a:spLocks noChangeArrowheads="1"/>
            </p:cNvSpPr>
            <p:nvPr/>
          </p:nvSpPr>
          <p:spPr bwMode="auto">
            <a:xfrm>
              <a:off x="5070" y="3003"/>
              <a:ext cx="6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dirty="0">
                  <a:solidFill>
                    <a:srgbClr val="FF0000"/>
                  </a:solidFill>
                  <a:latin typeface="Symbol" pitchFamily="18" charset="2"/>
                </a:rPr>
                <a:t>r</a:t>
              </a:r>
              <a:r>
                <a:rPr lang="en-US" sz="1800" dirty="0">
                  <a:solidFill>
                    <a:srgbClr val="FF0000"/>
                  </a:solidFill>
                </a:rPr>
                <a:t>(b)= -1</a:t>
              </a:r>
            </a:p>
          </p:txBody>
        </p:sp>
      </p:grpSp>
      <p:grpSp>
        <p:nvGrpSpPr>
          <p:cNvPr id="213100" name="Group 108"/>
          <p:cNvGrpSpPr>
            <a:grpSpLocks/>
          </p:cNvGrpSpPr>
          <p:nvPr/>
        </p:nvGrpSpPr>
        <p:grpSpPr bwMode="auto">
          <a:xfrm>
            <a:off x="2209800" y="2895600"/>
            <a:ext cx="2730500" cy="3335338"/>
            <a:chOff x="1392" y="1776"/>
            <a:chExt cx="1720" cy="2101"/>
          </a:xfrm>
        </p:grpSpPr>
        <p:sp>
          <p:nvSpPr>
            <p:cNvPr id="121865" name="Line 76"/>
            <p:cNvSpPr>
              <a:spLocks noChangeShapeType="1"/>
            </p:cNvSpPr>
            <p:nvPr/>
          </p:nvSpPr>
          <p:spPr bwMode="auto">
            <a:xfrm>
              <a:off x="2352" y="2874"/>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866" name="Line 77"/>
            <p:cNvSpPr>
              <a:spLocks noChangeShapeType="1"/>
            </p:cNvSpPr>
            <p:nvPr/>
          </p:nvSpPr>
          <p:spPr bwMode="auto">
            <a:xfrm flipV="1">
              <a:off x="2304" y="2442"/>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867" name="Line 78"/>
            <p:cNvSpPr>
              <a:spLocks noChangeShapeType="1"/>
            </p:cNvSpPr>
            <p:nvPr/>
          </p:nvSpPr>
          <p:spPr bwMode="auto">
            <a:xfrm>
              <a:off x="2928" y="2298"/>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868" name="Line 79"/>
            <p:cNvSpPr>
              <a:spLocks noChangeShapeType="1"/>
            </p:cNvSpPr>
            <p:nvPr/>
          </p:nvSpPr>
          <p:spPr bwMode="auto">
            <a:xfrm>
              <a:off x="2304" y="2298"/>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869" name="Line 80"/>
            <p:cNvSpPr>
              <a:spLocks noChangeShapeType="1"/>
            </p:cNvSpPr>
            <p:nvPr/>
          </p:nvSpPr>
          <p:spPr bwMode="auto">
            <a:xfrm flipH="1" flipV="1">
              <a:off x="2400" y="2394"/>
              <a:ext cx="528"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870" name="Oval 81"/>
            <p:cNvSpPr>
              <a:spLocks noChangeArrowheads="1"/>
            </p:cNvSpPr>
            <p:nvPr/>
          </p:nvSpPr>
          <p:spPr bwMode="auto">
            <a:xfrm>
              <a:off x="2784" y="2730"/>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b</a:t>
              </a:r>
            </a:p>
          </p:txBody>
        </p:sp>
        <p:sp>
          <p:nvSpPr>
            <p:cNvPr id="121871" name="Oval 82"/>
            <p:cNvSpPr>
              <a:spLocks noChangeArrowheads="1"/>
            </p:cNvSpPr>
            <p:nvPr/>
          </p:nvSpPr>
          <p:spPr bwMode="auto">
            <a:xfrm>
              <a:off x="2170" y="2754"/>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a</a:t>
              </a:r>
            </a:p>
          </p:txBody>
        </p:sp>
        <p:sp>
          <p:nvSpPr>
            <p:cNvPr id="121872" name="Oval 83"/>
            <p:cNvSpPr>
              <a:spLocks noChangeArrowheads="1"/>
            </p:cNvSpPr>
            <p:nvPr/>
          </p:nvSpPr>
          <p:spPr bwMode="auto">
            <a:xfrm>
              <a:off x="2784" y="2154"/>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d</a:t>
              </a:r>
            </a:p>
          </p:txBody>
        </p:sp>
        <p:sp>
          <p:nvSpPr>
            <p:cNvPr id="121873" name="Oval 84"/>
            <p:cNvSpPr>
              <a:spLocks noChangeArrowheads="1"/>
            </p:cNvSpPr>
            <p:nvPr/>
          </p:nvSpPr>
          <p:spPr bwMode="auto">
            <a:xfrm>
              <a:off x="2160" y="2154"/>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a:solidFill>
                    <a:schemeClr val="tx2"/>
                  </a:solidFill>
                </a:rPr>
                <a:t>c</a:t>
              </a:r>
            </a:p>
          </p:txBody>
        </p:sp>
        <p:sp>
          <p:nvSpPr>
            <p:cNvPr id="121874" name="Text Box 85"/>
            <p:cNvSpPr txBox="1">
              <a:spLocks noChangeArrowheads="1"/>
            </p:cNvSpPr>
            <p:nvPr/>
          </p:nvSpPr>
          <p:spPr bwMode="auto">
            <a:xfrm>
              <a:off x="2426" y="2658"/>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21875" name="Text Box 86"/>
            <p:cNvSpPr txBox="1">
              <a:spLocks noChangeArrowheads="1"/>
            </p:cNvSpPr>
            <p:nvPr/>
          </p:nvSpPr>
          <p:spPr bwMode="auto">
            <a:xfrm>
              <a:off x="2564" y="2427"/>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21876" name="Text Box 87"/>
            <p:cNvSpPr txBox="1">
              <a:spLocks noChangeArrowheads="1"/>
            </p:cNvSpPr>
            <p:nvPr/>
          </p:nvSpPr>
          <p:spPr bwMode="auto">
            <a:xfrm>
              <a:off x="2468" y="2043"/>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121877" name="Text Box 88"/>
            <p:cNvSpPr txBox="1">
              <a:spLocks noChangeArrowheads="1"/>
            </p:cNvSpPr>
            <p:nvPr/>
          </p:nvSpPr>
          <p:spPr bwMode="auto">
            <a:xfrm>
              <a:off x="2924" y="2427"/>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4</a:t>
              </a:r>
            </a:p>
          </p:txBody>
        </p:sp>
        <p:sp>
          <p:nvSpPr>
            <p:cNvPr id="121878" name="Text Box 89"/>
            <p:cNvSpPr txBox="1">
              <a:spLocks noChangeArrowheads="1"/>
            </p:cNvSpPr>
            <p:nvPr/>
          </p:nvSpPr>
          <p:spPr bwMode="auto">
            <a:xfrm>
              <a:off x="2108" y="2475"/>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sp>
          <p:nvSpPr>
            <p:cNvPr id="121879" name="Text Box 90"/>
            <p:cNvSpPr txBox="1">
              <a:spLocks noChangeArrowheads="1"/>
            </p:cNvSpPr>
            <p:nvPr/>
          </p:nvSpPr>
          <p:spPr bwMode="auto">
            <a:xfrm>
              <a:off x="1776" y="3627"/>
              <a:ext cx="101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Augmented G</a:t>
              </a:r>
            </a:p>
          </p:txBody>
        </p:sp>
        <p:sp>
          <p:nvSpPr>
            <p:cNvPr id="121880" name="Freeform 91"/>
            <p:cNvSpPr>
              <a:spLocks/>
            </p:cNvSpPr>
            <p:nvPr/>
          </p:nvSpPr>
          <p:spPr bwMode="auto">
            <a:xfrm>
              <a:off x="2436" y="2953"/>
              <a:ext cx="378" cy="2"/>
            </a:xfrm>
            <a:custGeom>
              <a:avLst/>
              <a:gdLst>
                <a:gd name="T0" fmla="*/ 378 w 378"/>
                <a:gd name="T1" fmla="*/ 0 h 2"/>
                <a:gd name="T2" fmla="*/ 0 w 378"/>
                <a:gd name="T3" fmla="*/ 2 h 2"/>
                <a:gd name="T4" fmla="*/ 0 60000 65536"/>
                <a:gd name="T5" fmla="*/ 0 60000 65536"/>
              </a:gdLst>
              <a:ahLst/>
              <a:cxnLst>
                <a:cxn ang="T4">
                  <a:pos x="T0" y="T1"/>
                </a:cxn>
                <a:cxn ang="T5">
                  <a:pos x="T2" y="T3"/>
                </a:cxn>
              </a:cxnLst>
              <a:rect l="0" t="0" r="r" b="b"/>
              <a:pathLst>
                <a:path w="378" h="2">
                  <a:moveTo>
                    <a:pt x="378" y="0"/>
                  </a:moveTo>
                  <a:lnTo>
                    <a:pt x="0" y="2"/>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1881" name="Text Box 92"/>
            <p:cNvSpPr txBox="1">
              <a:spLocks noChangeArrowheads="1"/>
            </p:cNvSpPr>
            <p:nvPr/>
          </p:nvSpPr>
          <p:spPr bwMode="auto">
            <a:xfrm>
              <a:off x="2544" y="2907"/>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sp>
          <p:nvSpPr>
            <p:cNvPr id="121882" name="Line 93"/>
            <p:cNvSpPr>
              <a:spLocks noChangeShapeType="1"/>
            </p:cNvSpPr>
            <p:nvPr/>
          </p:nvSpPr>
          <p:spPr bwMode="auto">
            <a:xfrm flipV="1">
              <a:off x="1536" y="2346"/>
              <a:ext cx="624" cy="294"/>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21883" name="Line 94"/>
            <p:cNvSpPr>
              <a:spLocks noChangeShapeType="1"/>
            </p:cNvSpPr>
            <p:nvPr/>
          </p:nvSpPr>
          <p:spPr bwMode="auto">
            <a:xfrm>
              <a:off x="1536" y="2640"/>
              <a:ext cx="624" cy="186"/>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21884" name="Freeform 95"/>
            <p:cNvSpPr>
              <a:spLocks/>
            </p:cNvSpPr>
            <p:nvPr/>
          </p:nvSpPr>
          <p:spPr bwMode="auto">
            <a:xfrm>
              <a:off x="1536" y="1776"/>
              <a:ext cx="1357" cy="912"/>
            </a:xfrm>
            <a:custGeom>
              <a:avLst/>
              <a:gdLst>
                <a:gd name="T0" fmla="*/ 2 w 1648"/>
                <a:gd name="T1" fmla="*/ 912 h 891"/>
                <a:gd name="T2" fmla="*/ 180 w 1648"/>
                <a:gd name="T3" fmla="*/ 143 h 891"/>
                <a:gd name="T4" fmla="*/ 1080 w 1648"/>
                <a:gd name="T5" fmla="*/ 54 h 891"/>
                <a:gd name="T6" fmla="*/ 1357 w 1648"/>
                <a:gd name="T7" fmla="*/ 394 h 8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48" h="891">
                  <a:moveTo>
                    <a:pt x="3" y="891"/>
                  </a:moveTo>
                  <a:cubicBezTo>
                    <a:pt x="39" y="766"/>
                    <a:pt x="0" y="280"/>
                    <a:pt x="218" y="140"/>
                  </a:cubicBezTo>
                  <a:cubicBezTo>
                    <a:pt x="436" y="0"/>
                    <a:pt x="1073" y="12"/>
                    <a:pt x="1311" y="53"/>
                  </a:cubicBezTo>
                  <a:cubicBezTo>
                    <a:pt x="1549" y="94"/>
                    <a:pt x="1578" y="316"/>
                    <a:pt x="1648" y="385"/>
                  </a:cubicBezTo>
                </a:path>
              </a:pathLst>
            </a:custGeom>
            <a:noFill/>
            <a:ln w="190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21885" name="Freeform 96"/>
            <p:cNvSpPr>
              <a:spLocks/>
            </p:cNvSpPr>
            <p:nvPr/>
          </p:nvSpPr>
          <p:spPr bwMode="auto">
            <a:xfrm>
              <a:off x="1536" y="2640"/>
              <a:ext cx="1384" cy="887"/>
            </a:xfrm>
            <a:custGeom>
              <a:avLst/>
              <a:gdLst>
                <a:gd name="T0" fmla="*/ 0 w 1672"/>
                <a:gd name="T1" fmla="*/ 0 h 860"/>
                <a:gd name="T2" fmla="*/ 255 w 1672"/>
                <a:gd name="T3" fmla="*/ 755 h 860"/>
                <a:gd name="T4" fmla="*/ 1110 w 1672"/>
                <a:gd name="T5" fmla="*/ 789 h 860"/>
                <a:gd name="T6" fmla="*/ 1384 w 1672"/>
                <a:gd name="T7" fmla="*/ 372 h 8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72" h="860">
                  <a:moveTo>
                    <a:pt x="0" y="0"/>
                  </a:moveTo>
                  <a:cubicBezTo>
                    <a:pt x="51" y="122"/>
                    <a:pt x="84" y="604"/>
                    <a:pt x="308" y="732"/>
                  </a:cubicBezTo>
                  <a:cubicBezTo>
                    <a:pt x="532" y="860"/>
                    <a:pt x="1114" y="827"/>
                    <a:pt x="1341" y="765"/>
                  </a:cubicBezTo>
                  <a:cubicBezTo>
                    <a:pt x="1568" y="703"/>
                    <a:pt x="1603" y="445"/>
                    <a:pt x="1672" y="361"/>
                  </a:cubicBezTo>
                </a:path>
              </a:pathLst>
            </a:custGeom>
            <a:noFill/>
            <a:ln w="190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21886" name="Rectangle 97"/>
            <p:cNvSpPr>
              <a:spLocks noChangeArrowheads="1"/>
            </p:cNvSpPr>
            <p:nvPr/>
          </p:nvSpPr>
          <p:spPr bwMode="auto">
            <a:xfrm>
              <a:off x="1680" y="187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CC0000"/>
                  </a:solidFill>
                </a:rPr>
                <a:t>0</a:t>
              </a:r>
            </a:p>
          </p:txBody>
        </p:sp>
        <p:sp>
          <p:nvSpPr>
            <p:cNvPr id="121887" name="Rectangle 98"/>
            <p:cNvSpPr>
              <a:spLocks noChangeArrowheads="1"/>
            </p:cNvSpPr>
            <p:nvPr/>
          </p:nvSpPr>
          <p:spPr bwMode="auto">
            <a:xfrm>
              <a:off x="1728" y="2304"/>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CC0000"/>
                  </a:solidFill>
                </a:rPr>
                <a:t>0</a:t>
              </a:r>
            </a:p>
          </p:txBody>
        </p:sp>
        <p:sp>
          <p:nvSpPr>
            <p:cNvPr id="121888" name="Rectangle 99"/>
            <p:cNvSpPr>
              <a:spLocks noChangeArrowheads="1"/>
            </p:cNvSpPr>
            <p:nvPr/>
          </p:nvSpPr>
          <p:spPr bwMode="auto">
            <a:xfrm>
              <a:off x="1728" y="273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CC0000"/>
                  </a:solidFill>
                </a:rPr>
                <a:t>0</a:t>
              </a:r>
            </a:p>
          </p:txBody>
        </p:sp>
        <p:sp>
          <p:nvSpPr>
            <p:cNvPr id="121889" name="Rectangle 100"/>
            <p:cNvSpPr>
              <a:spLocks noChangeArrowheads="1"/>
            </p:cNvSpPr>
            <p:nvPr/>
          </p:nvSpPr>
          <p:spPr bwMode="auto">
            <a:xfrm>
              <a:off x="1728" y="316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rgbClr val="CC0000"/>
                  </a:solidFill>
                </a:rPr>
                <a:t>0</a:t>
              </a:r>
            </a:p>
          </p:txBody>
        </p:sp>
        <p:sp>
          <p:nvSpPr>
            <p:cNvPr id="121890" name="Oval 101"/>
            <p:cNvSpPr>
              <a:spLocks noChangeArrowheads="1"/>
            </p:cNvSpPr>
            <p:nvPr/>
          </p:nvSpPr>
          <p:spPr bwMode="auto">
            <a:xfrm>
              <a:off x="1392" y="2496"/>
              <a:ext cx="278"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s</a:t>
              </a:r>
            </a:p>
          </p:txBody>
        </p:sp>
      </p:grpSp>
      <p:sp>
        <p:nvSpPr>
          <p:cNvPr id="213102" name="Rectangle 110"/>
          <p:cNvSpPr>
            <a:spLocks noChangeArrowheads="1"/>
          </p:cNvSpPr>
          <p:nvPr/>
        </p:nvSpPr>
        <p:spPr bwMode="auto">
          <a:xfrm>
            <a:off x="152400" y="1600200"/>
            <a:ext cx="7620000" cy="1006475"/>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571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288925" indent="-288925">
              <a:buFont typeface="Wingdings" pitchFamily="2" charset="2"/>
              <a:buAutoNum type="arabicPeriod" startAt="3"/>
            </a:pPr>
            <a:r>
              <a:rPr lang="en-US" sz="2000">
                <a:solidFill>
                  <a:schemeClr val="tx2"/>
                </a:solidFill>
              </a:rPr>
              <a:t>Apply </a:t>
            </a:r>
            <a:r>
              <a:rPr lang="en-US" sz="2000" b="1">
                <a:solidFill>
                  <a:srgbClr val="CC0000"/>
                </a:solidFill>
              </a:rPr>
              <a:t>Bellman-Ford</a:t>
            </a:r>
            <a:r>
              <a:rPr lang="en-US" sz="2000">
                <a:solidFill>
                  <a:schemeClr val="tx2"/>
                </a:solidFill>
              </a:rPr>
              <a:t> to the augmented graph with source s: </a:t>
            </a:r>
            <a:br>
              <a:rPr lang="en-US" sz="2000">
                <a:solidFill>
                  <a:schemeClr val="tx2"/>
                </a:solidFill>
              </a:rPr>
            </a:br>
            <a:r>
              <a:rPr lang="en-US" sz="2000">
                <a:solidFill>
                  <a:schemeClr val="tx2"/>
                </a:solidFill>
              </a:rPr>
              <a:t>either find shortest path distances, denoted </a:t>
            </a:r>
            <a:r>
              <a:rPr lang="en-US" sz="2000" b="1">
                <a:solidFill>
                  <a:srgbClr val="CC0000"/>
                </a:solidFill>
                <a:latin typeface="Symbol" pitchFamily="18" charset="2"/>
              </a:rPr>
              <a:t>r</a:t>
            </a:r>
            <a:r>
              <a:rPr lang="en-US" sz="2000" b="1">
                <a:solidFill>
                  <a:srgbClr val="CC0000"/>
                </a:solidFill>
              </a:rPr>
              <a:t>(v)</a:t>
            </a:r>
            <a:r>
              <a:rPr lang="en-US" sz="2000"/>
              <a:t>, </a:t>
            </a:r>
            <a:r>
              <a:rPr lang="en-US" sz="2000">
                <a:solidFill>
                  <a:schemeClr val="tx2"/>
                </a:solidFill>
              </a:rPr>
              <a:t>from s to each v</a:t>
            </a:r>
            <a:r>
              <a:rPr lang="en-US" sz="2000">
                <a:solidFill>
                  <a:schemeClr val="tx2"/>
                </a:solidFill>
                <a:sym typeface="Symbol" pitchFamily="18" charset="2"/>
              </a:rPr>
              <a:t></a:t>
            </a:r>
            <a:r>
              <a:rPr lang="en-US" sz="2000">
                <a:solidFill>
                  <a:schemeClr val="tx2"/>
                </a:solidFill>
              </a:rPr>
              <a:t>V, </a:t>
            </a:r>
            <a:br>
              <a:rPr lang="en-US" sz="2000">
                <a:solidFill>
                  <a:schemeClr val="tx2"/>
                </a:solidFill>
              </a:rPr>
            </a:br>
            <a:r>
              <a:rPr lang="en-US" sz="2000">
                <a:solidFill>
                  <a:schemeClr val="tx2"/>
                </a:solidFill>
              </a:rPr>
              <a:t>or discover a negative cycle in G. In the latter case abort.</a:t>
            </a:r>
          </a:p>
        </p:txBody>
      </p:sp>
      <p:sp>
        <p:nvSpPr>
          <p:cNvPr id="213103" name="Rectangle 111"/>
          <p:cNvSpPr>
            <a:spLocks noChangeArrowheads="1"/>
          </p:cNvSpPr>
          <p:nvPr/>
        </p:nvSpPr>
        <p:spPr bwMode="auto">
          <a:xfrm>
            <a:off x="152400" y="1219200"/>
            <a:ext cx="8382000" cy="396875"/>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571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288925" indent="-288925" eaLnBrk="1" hangingPunct="1">
              <a:spcBef>
                <a:spcPct val="50000"/>
              </a:spcBef>
              <a:buFont typeface="Wingdings" pitchFamily="2" charset="2"/>
              <a:buAutoNum type="arabicPeriod" startAt="2"/>
            </a:pPr>
            <a:r>
              <a:rPr lang="en-US" sz="2000">
                <a:solidFill>
                  <a:schemeClr val="tx2"/>
                </a:solidFill>
              </a:rPr>
              <a:t>Add to G a new vertex s</a:t>
            </a:r>
            <a:r>
              <a:rPr lang="en-US" sz="2000">
                <a:solidFill>
                  <a:schemeClr val="tx2"/>
                </a:solidFill>
                <a:sym typeface="Symbol" pitchFamily="18" charset="2"/>
              </a:rPr>
              <a:t>V</a:t>
            </a:r>
            <a:r>
              <a:rPr lang="en-US" sz="2000">
                <a:solidFill>
                  <a:schemeClr val="tx2"/>
                </a:solidFill>
              </a:rPr>
              <a:t> and a 0 weight edge from s to each vertex v</a:t>
            </a:r>
            <a:r>
              <a:rPr lang="en-US" sz="2000">
                <a:solidFill>
                  <a:schemeClr val="tx2"/>
                </a:solidFill>
                <a:sym typeface="Symbol" pitchFamily="18" charset="2"/>
              </a:rPr>
              <a:t></a:t>
            </a:r>
            <a:r>
              <a:rPr lang="en-US" sz="2000">
                <a:solidFill>
                  <a:schemeClr val="tx2"/>
                </a:solidFill>
              </a:rPr>
              <a:t>V.</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12994"/>
                                        </p:tgtEl>
                                        <p:attrNameLst>
                                          <p:attrName>style.visibility</p:attrName>
                                        </p:attrNameLst>
                                      </p:cBhvr>
                                      <p:to>
                                        <p:strVal val="visible"/>
                                      </p:to>
                                    </p:set>
                                    <p:anim calcmode="lin" valueType="num">
                                      <p:cBhvr>
                                        <p:cTn id="7" dur="500" fill="hold"/>
                                        <p:tgtEl>
                                          <p:spTgt spid="212994"/>
                                        </p:tgtEl>
                                        <p:attrNameLst>
                                          <p:attrName>ppt_w</p:attrName>
                                        </p:attrNameLst>
                                      </p:cBhvr>
                                      <p:tavLst>
                                        <p:tav tm="0">
                                          <p:val>
                                            <p:fltVal val="0"/>
                                          </p:val>
                                        </p:tav>
                                        <p:tav tm="100000">
                                          <p:val>
                                            <p:strVal val="#ppt_w"/>
                                          </p:val>
                                        </p:tav>
                                      </p:tavLst>
                                    </p:anim>
                                    <p:anim calcmode="lin" valueType="num">
                                      <p:cBhvr>
                                        <p:cTn id="8" dur="500" fill="hold"/>
                                        <p:tgtEl>
                                          <p:spTgt spid="21299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12995">
                                            <p:txEl>
                                              <p:pRg st="0" end="0"/>
                                            </p:txEl>
                                          </p:spTgt>
                                        </p:tgtEl>
                                        <p:attrNameLst>
                                          <p:attrName>style.visibility</p:attrName>
                                        </p:attrNameLst>
                                      </p:cBhvr>
                                      <p:to>
                                        <p:strVal val="visible"/>
                                      </p:to>
                                    </p:set>
                                    <p:animEffect transition="in" filter="wipe(left)">
                                      <p:cBhvr>
                                        <p:cTn id="13" dur="500"/>
                                        <p:tgtEl>
                                          <p:spTgt spid="212995">
                                            <p:txEl>
                                              <p:pRg st="0" end="0"/>
                                            </p:txEl>
                                          </p:spTgt>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213067"/>
                                        </p:tgtEl>
                                        <p:attrNameLst>
                                          <p:attrName>style.visibility</p:attrName>
                                        </p:attrNameLst>
                                      </p:cBhvr>
                                      <p:to>
                                        <p:strVal val="visible"/>
                                      </p:to>
                                    </p:set>
                                    <p:animEffect transition="in" filter="wipe(left)">
                                      <p:cBhvr>
                                        <p:cTn id="17" dur="500"/>
                                        <p:tgtEl>
                                          <p:spTgt spid="2130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3103"/>
                                        </p:tgtEl>
                                        <p:attrNameLst>
                                          <p:attrName>style.visibility</p:attrName>
                                        </p:attrNameLst>
                                      </p:cBhvr>
                                      <p:to>
                                        <p:strVal val="visible"/>
                                      </p:to>
                                    </p:set>
                                    <p:animEffect transition="in" filter="wipe(left)">
                                      <p:cBhvr>
                                        <p:cTn id="22" dur="500"/>
                                        <p:tgtEl>
                                          <p:spTgt spid="213103"/>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213100"/>
                                        </p:tgtEl>
                                        <p:attrNameLst>
                                          <p:attrName>style.visibility</p:attrName>
                                        </p:attrNameLst>
                                      </p:cBhvr>
                                      <p:to>
                                        <p:strVal val="visible"/>
                                      </p:to>
                                    </p:set>
                                    <p:animEffect transition="in" filter="wipe(left)">
                                      <p:cBhvr>
                                        <p:cTn id="26" dur="500"/>
                                        <p:tgtEl>
                                          <p:spTgt spid="21310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213102"/>
                                        </p:tgtEl>
                                        <p:attrNameLst>
                                          <p:attrName>style.visibility</p:attrName>
                                        </p:attrNameLst>
                                      </p:cBhvr>
                                      <p:to>
                                        <p:strVal val="visible"/>
                                      </p:to>
                                    </p:set>
                                    <p:animEffect transition="in" filter="wipe(up)">
                                      <p:cBhvr>
                                        <p:cTn id="31" dur="500"/>
                                        <p:tgtEl>
                                          <p:spTgt spid="213102"/>
                                        </p:tgtEl>
                                      </p:cBhvr>
                                    </p:animEffect>
                                  </p:childTnLst>
                                </p:cTn>
                              </p:par>
                            </p:childTnLst>
                          </p:cTn>
                        </p:par>
                        <p:par>
                          <p:cTn id="32" fill="hold" nodeType="afterGroup">
                            <p:stCondLst>
                              <p:cond delay="500"/>
                            </p:stCondLst>
                            <p:childTnLst>
                              <p:par>
                                <p:cTn id="33" presetID="22" presetClass="entr" presetSubtype="8" fill="hold" nodeType="afterEffect">
                                  <p:stCondLst>
                                    <p:cond delay="0"/>
                                  </p:stCondLst>
                                  <p:childTnLst>
                                    <p:set>
                                      <p:cBhvr>
                                        <p:cTn id="34" dur="1" fill="hold">
                                          <p:stCondLst>
                                            <p:cond delay="0"/>
                                          </p:stCondLst>
                                        </p:cTn>
                                        <p:tgtEl>
                                          <p:spTgt spid="213101"/>
                                        </p:tgtEl>
                                        <p:attrNameLst>
                                          <p:attrName>style.visibility</p:attrName>
                                        </p:attrNameLst>
                                      </p:cBhvr>
                                      <p:to>
                                        <p:strVal val="visible"/>
                                      </p:to>
                                    </p:set>
                                    <p:animEffect transition="in" filter="wipe(left)">
                                      <p:cBhvr>
                                        <p:cTn id="35" dur="500"/>
                                        <p:tgtEl>
                                          <p:spTgt spid="213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4" grpId="0" animBg="1" autoUpdateAnimBg="0"/>
      <p:bldP spid="212995" grpId="0" build="p" autoUpdateAnimBg="0"/>
      <p:bldP spid="213102" grpId="0" autoUpdateAnimBg="0"/>
      <p:bldP spid="213103" grpId="0" autoUpdateAnimBg="0"/>
    </p:bldLst>
  </p:timing>
</p:sld>
</file>

<file path=ppt/slides/slide1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838200" indent="-838200" eaLnBrk="1" hangingPunct="1"/>
            <a:r>
              <a:rPr lang="en-US" sz="2800" dirty="0" smtClean="0">
                <a:solidFill>
                  <a:schemeClr val="tx1"/>
                </a:solidFill>
                <a:latin typeface="Arial Rounded MT Bold" pitchFamily="34" charset="0"/>
                <a:sym typeface="Symbol" pitchFamily="18" charset="2"/>
              </a:rPr>
              <a:t>Edmonds-Karp &amp; Johnson </a:t>
            </a:r>
            <a:r>
              <a:rPr lang="en-US" sz="2800" dirty="0" smtClean="0">
                <a:solidFill>
                  <a:srgbClr val="CC0000"/>
                </a:solidFill>
                <a:latin typeface="Arial Rounded MT Bold" pitchFamily="34" charset="0"/>
                <a:sym typeface="Symbol" pitchFamily="18" charset="2"/>
              </a:rPr>
              <a:t>Transformation</a:t>
            </a:r>
          </a:p>
        </p:txBody>
      </p:sp>
      <p:sp>
        <p:nvSpPr>
          <p:cNvPr id="214019" name="Text Box 3"/>
          <p:cNvSpPr txBox="1">
            <a:spLocks noChangeArrowheads="1"/>
          </p:cNvSpPr>
          <p:nvPr/>
        </p:nvSpPr>
        <p:spPr bwMode="auto">
          <a:xfrm>
            <a:off x="152400" y="838200"/>
            <a:ext cx="8839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2575" indent="-282575" defTabSz="746125">
              <a:defRPr sz="1600">
                <a:solidFill>
                  <a:schemeClr val="tx1"/>
                </a:solidFill>
                <a:latin typeface="Times New Roman" pitchFamily="18" charset="0"/>
              </a:defRPr>
            </a:lvl1pPr>
            <a:lvl2pPr marL="742950" indent="-285750" defTabSz="746125">
              <a:defRPr sz="1600">
                <a:solidFill>
                  <a:schemeClr val="tx1"/>
                </a:solidFill>
                <a:latin typeface="Times New Roman" pitchFamily="18" charset="0"/>
              </a:defRPr>
            </a:lvl2pPr>
            <a:lvl3pPr marL="1143000" indent="-228600" defTabSz="746125">
              <a:defRPr sz="1600">
                <a:solidFill>
                  <a:schemeClr val="tx1"/>
                </a:solidFill>
                <a:latin typeface="Times New Roman" pitchFamily="18" charset="0"/>
              </a:defRPr>
            </a:lvl3pPr>
            <a:lvl4pPr marL="1600200" indent="-228600" defTabSz="746125">
              <a:defRPr sz="1600">
                <a:solidFill>
                  <a:schemeClr val="tx1"/>
                </a:solidFill>
                <a:latin typeface="Times New Roman" pitchFamily="18" charset="0"/>
              </a:defRPr>
            </a:lvl4pPr>
            <a:lvl5pPr marL="2057400" indent="-228600" defTabSz="746125">
              <a:defRPr sz="1600">
                <a:solidFill>
                  <a:schemeClr val="tx1"/>
                </a:solidFill>
                <a:latin typeface="Times New Roman" pitchFamily="18" charset="0"/>
              </a:defRPr>
            </a:lvl5pPr>
            <a:lvl6pPr marL="2514600" indent="-228600" defTabSz="746125" eaLnBrk="0" fontAlgn="base" hangingPunct="0">
              <a:spcBef>
                <a:spcPct val="0"/>
              </a:spcBef>
              <a:spcAft>
                <a:spcPct val="0"/>
              </a:spcAft>
              <a:buChar char="•"/>
              <a:defRPr sz="1600">
                <a:solidFill>
                  <a:schemeClr val="tx1"/>
                </a:solidFill>
                <a:latin typeface="Times New Roman" pitchFamily="18" charset="0"/>
              </a:defRPr>
            </a:lvl6pPr>
            <a:lvl7pPr marL="2971800" indent="-228600" defTabSz="746125" eaLnBrk="0" fontAlgn="base" hangingPunct="0">
              <a:spcBef>
                <a:spcPct val="0"/>
              </a:spcBef>
              <a:spcAft>
                <a:spcPct val="0"/>
              </a:spcAft>
              <a:buChar char="•"/>
              <a:defRPr sz="1600">
                <a:solidFill>
                  <a:schemeClr val="tx1"/>
                </a:solidFill>
                <a:latin typeface="Times New Roman" pitchFamily="18" charset="0"/>
              </a:defRPr>
            </a:lvl7pPr>
            <a:lvl8pPr marL="3429000" indent="-228600" defTabSz="746125" eaLnBrk="0" fontAlgn="base" hangingPunct="0">
              <a:spcBef>
                <a:spcPct val="0"/>
              </a:spcBef>
              <a:spcAft>
                <a:spcPct val="0"/>
              </a:spcAft>
              <a:buChar char="•"/>
              <a:defRPr sz="1600">
                <a:solidFill>
                  <a:schemeClr val="tx1"/>
                </a:solidFill>
                <a:latin typeface="Times New Roman" pitchFamily="18" charset="0"/>
              </a:defRPr>
            </a:lvl8pPr>
            <a:lvl9pPr marL="3886200" indent="-228600" defTabSz="746125"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Char char="§"/>
            </a:pPr>
            <a:r>
              <a:rPr lang="en-US" sz="2000" dirty="0">
                <a:solidFill>
                  <a:schemeClr val="tx2"/>
                </a:solidFill>
              </a:rPr>
              <a:t>Transform edge weights:    </a:t>
            </a:r>
            <a:r>
              <a:rPr lang="en-US" sz="2000" b="1" dirty="0">
                <a:solidFill>
                  <a:srgbClr val="CC0000"/>
                </a:solidFill>
                <a:cs typeface="Times New Roman" pitchFamily="18" charset="0"/>
              </a:rPr>
              <a:t>ŵ(</a:t>
            </a:r>
            <a:r>
              <a:rPr lang="en-US" sz="2000" b="1" dirty="0" err="1">
                <a:solidFill>
                  <a:srgbClr val="CC0000"/>
                </a:solidFill>
                <a:cs typeface="Times New Roman" pitchFamily="18" charset="0"/>
              </a:rPr>
              <a:t>u,v</a:t>
            </a:r>
            <a:r>
              <a:rPr lang="en-US" sz="2000" b="1" dirty="0">
                <a:solidFill>
                  <a:srgbClr val="CC0000"/>
                </a:solidFill>
                <a:cs typeface="Times New Roman" pitchFamily="18" charset="0"/>
              </a:rPr>
              <a:t>) = w(</a:t>
            </a:r>
            <a:r>
              <a:rPr lang="en-US" sz="2000" b="1" dirty="0" err="1">
                <a:solidFill>
                  <a:srgbClr val="CC0000"/>
                </a:solidFill>
                <a:cs typeface="Times New Roman" pitchFamily="18" charset="0"/>
              </a:rPr>
              <a:t>u,v</a:t>
            </a:r>
            <a:r>
              <a:rPr lang="en-US" sz="2000" b="1" dirty="0">
                <a:solidFill>
                  <a:srgbClr val="CC0000"/>
                </a:solidFill>
                <a:cs typeface="Times New Roman" pitchFamily="18" charset="0"/>
              </a:rPr>
              <a:t>) + </a:t>
            </a:r>
            <a:r>
              <a:rPr lang="en-US" sz="2000" b="1" dirty="0">
                <a:solidFill>
                  <a:srgbClr val="CC0000"/>
                </a:solidFill>
                <a:latin typeface="Symbol" pitchFamily="18" charset="2"/>
                <a:cs typeface="Times New Roman" pitchFamily="18" charset="0"/>
              </a:rPr>
              <a:t>r</a:t>
            </a:r>
            <a:r>
              <a:rPr lang="en-US" sz="2000" b="1" dirty="0">
                <a:solidFill>
                  <a:srgbClr val="CC0000"/>
                </a:solidFill>
                <a:cs typeface="Times New Roman" pitchFamily="18" charset="0"/>
              </a:rPr>
              <a:t>(u) – </a:t>
            </a:r>
            <a:r>
              <a:rPr lang="en-US" sz="2000" b="1" dirty="0">
                <a:solidFill>
                  <a:srgbClr val="CC0000"/>
                </a:solidFill>
                <a:latin typeface="Symbol" pitchFamily="18" charset="2"/>
                <a:cs typeface="Times New Roman" pitchFamily="18" charset="0"/>
              </a:rPr>
              <a:t>r</a:t>
            </a:r>
            <a:r>
              <a:rPr lang="en-US" sz="2000" b="1" dirty="0">
                <a:solidFill>
                  <a:srgbClr val="CC0000"/>
                </a:solidFill>
                <a:cs typeface="Times New Roman" pitchFamily="18" charset="0"/>
              </a:rPr>
              <a:t>(v)</a:t>
            </a:r>
            <a:r>
              <a:rPr lang="en-US" sz="2000" dirty="0">
                <a:solidFill>
                  <a:schemeClr val="tx2"/>
                </a:solidFill>
                <a:cs typeface="Times New Roman" pitchFamily="18" charset="0"/>
              </a:rPr>
              <a:t>       for all (</a:t>
            </a:r>
            <a:r>
              <a:rPr lang="en-US" sz="2000" dirty="0" err="1">
                <a:solidFill>
                  <a:schemeClr val="tx2"/>
                </a:solidFill>
                <a:cs typeface="Times New Roman" pitchFamily="18" charset="0"/>
              </a:rPr>
              <a:t>u,v</a:t>
            </a:r>
            <a:r>
              <a:rPr lang="en-US" sz="2000" dirty="0">
                <a:solidFill>
                  <a:schemeClr val="tx2"/>
                </a:solidFill>
                <a:cs typeface="Times New Roman" pitchFamily="18" charset="0"/>
              </a:rPr>
              <a:t>) </a:t>
            </a:r>
            <a:r>
              <a:rPr lang="en-US" sz="2000" dirty="0">
                <a:solidFill>
                  <a:schemeClr val="tx2"/>
                </a:solidFill>
                <a:sym typeface="Symbol" pitchFamily="18" charset="2"/>
              </a:rPr>
              <a:t></a:t>
            </a:r>
            <a:r>
              <a:rPr lang="en-US" sz="2000" dirty="0">
                <a:solidFill>
                  <a:schemeClr val="tx2"/>
                </a:solidFill>
                <a:cs typeface="Times New Roman" pitchFamily="18" charset="0"/>
              </a:rPr>
              <a:t> E(G).</a:t>
            </a:r>
          </a:p>
        </p:txBody>
      </p:sp>
      <p:grpSp>
        <p:nvGrpSpPr>
          <p:cNvPr id="214123" name="Group 107"/>
          <p:cNvGrpSpPr>
            <a:grpSpLocks/>
          </p:cNvGrpSpPr>
          <p:nvPr/>
        </p:nvGrpSpPr>
        <p:grpSpPr bwMode="auto">
          <a:xfrm>
            <a:off x="838200" y="1447800"/>
            <a:ext cx="7546975" cy="2119313"/>
            <a:chOff x="458" y="1056"/>
            <a:chExt cx="4754" cy="1335"/>
          </a:xfrm>
        </p:grpSpPr>
        <p:sp>
          <p:nvSpPr>
            <p:cNvPr id="122886" name="Line 81"/>
            <p:cNvSpPr>
              <a:spLocks noChangeShapeType="1"/>
            </p:cNvSpPr>
            <p:nvPr/>
          </p:nvSpPr>
          <p:spPr bwMode="auto">
            <a:xfrm>
              <a:off x="3940" y="1887"/>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2887" name="Line 82"/>
            <p:cNvSpPr>
              <a:spLocks noChangeShapeType="1"/>
            </p:cNvSpPr>
            <p:nvPr/>
          </p:nvSpPr>
          <p:spPr bwMode="auto">
            <a:xfrm flipV="1">
              <a:off x="3892" y="1455"/>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2888" name="Line 83"/>
            <p:cNvSpPr>
              <a:spLocks noChangeShapeType="1"/>
            </p:cNvSpPr>
            <p:nvPr/>
          </p:nvSpPr>
          <p:spPr bwMode="auto">
            <a:xfrm>
              <a:off x="4516" y="1311"/>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2889" name="Line 84"/>
            <p:cNvSpPr>
              <a:spLocks noChangeShapeType="1"/>
            </p:cNvSpPr>
            <p:nvPr/>
          </p:nvSpPr>
          <p:spPr bwMode="auto">
            <a:xfrm>
              <a:off x="3892" y="1311"/>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2890" name="Line 85"/>
            <p:cNvSpPr>
              <a:spLocks noChangeShapeType="1"/>
            </p:cNvSpPr>
            <p:nvPr/>
          </p:nvSpPr>
          <p:spPr bwMode="auto">
            <a:xfrm flipH="1" flipV="1">
              <a:off x="3988" y="1407"/>
              <a:ext cx="528"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2891" name="Oval 86"/>
            <p:cNvSpPr>
              <a:spLocks noChangeArrowheads="1"/>
            </p:cNvSpPr>
            <p:nvPr/>
          </p:nvSpPr>
          <p:spPr bwMode="auto">
            <a:xfrm>
              <a:off x="4372" y="1743"/>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b</a:t>
              </a:r>
            </a:p>
          </p:txBody>
        </p:sp>
        <p:sp>
          <p:nvSpPr>
            <p:cNvPr id="122892" name="Oval 87"/>
            <p:cNvSpPr>
              <a:spLocks noChangeArrowheads="1"/>
            </p:cNvSpPr>
            <p:nvPr/>
          </p:nvSpPr>
          <p:spPr bwMode="auto">
            <a:xfrm>
              <a:off x="3758" y="1767"/>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a</a:t>
              </a:r>
            </a:p>
          </p:txBody>
        </p:sp>
        <p:sp>
          <p:nvSpPr>
            <p:cNvPr id="122893" name="Oval 88"/>
            <p:cNvSpPr>
              <a:spLocks noChangeArrowheads="1"/>
            </p:cNvSpPr>
            <p:nvPr/>
          </p:nvSpPr>
          <p:spPr bwMode="auto">
            <a:xfrm>
              <a:off x="4372" y="1167"/>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d</a:t>
              </a:r>
            </a:p>
          </p:txBody>
        </p:sp>
        <p:sp>
          <p:nvSpPr>
            <p:cNvPr id="122894" name="Oval 89"/>
            <p:cNvSpPr>
              <a:spLocks noChangeArrowheads="1"/>
            </p:cNvSpPr>
            <p:nvPr/>
          </p:nvSpPr>
          <p:spPr bwMode="auto">
            <a:xfrm>
              <a:off x="3748" y="1167"/>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c</a:t>
              </a:r>
            </a:p>
          </p:txBody>
        </p:sp>
        <p:sp>
          <p:nvSpPr>
            <p:cNvPr id="122895" name="Text Box 90"/>
            <p:cNvSpPr txBox="1">
              <a:spLocks noChangeArrowheads="1"/>
            </p:cNvSpPr>
            <p:nvPr/>
          </p:nvSpPr>
          <p:spPr bwMode="auto">
            <a:xfrm>
              <a:off x="4080" y="168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0</a:t>
              </a:r>
            </a:p>
          </p:txBody>
        </p:sp>
        <p:sp>
          <p:nvSpPr>
            <p:cNvPr id="122896" name="Text Box 91"/>
            <p:cNvSpPr txBox="1">
              <a:spLocks noChangeArrowheads="1"/>
            </p:cNvSpPr>
            <p:nvPr/>
          </p:nvSpPr>
          <p:spPr bwMode="auto">
            <a:xfrm>
              <a:off x="4176" y="144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0</a:t>
              </a:r>
            </a:p>
          </p:txBody>
        </p:sp>
        <p:sp>
          <p:nvSpPr>
            <p:cNvPr id="122897" name="Text Box 92"/>
            <p:cNvSpPr txBox="1">
              <a:spLocks noChangeArrowheads="1"/>
            </p:cNvSpPr>
            <p:nvPr/>
          </p:nvSpPr>
          <p:spPr bwMode="auto">
            <a:xfrm>
              <a:off x="4080" y="105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0</a:t>
              </a:r>
            </a:p>
          </p:txBody>
        </p:sp>
        <p:sp>
          <p:nvSpPr>
            <p:cNvPr id="122898" name="Text Box 93"/>
            <p:cNvSpPr txBox="1">
              <a:spLocks noChangeArrowheads="1"/>
            </p:cNvSpPr>
            <p:nvPr/>
          </p:nvSpPr>
          <p:spPr bwMode="auto">
            <a:xfrm>
              <a:off x="4512" y="144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22899" name="Text Box 94"/>
            <p:cNvSpPr txBox="1">
              <a:spLocks noChangeArrowheads="1"/>
            </p:cNvSpPr>
            <p:nvPr/>
          </p:nvSpPr>
          <p:spPr bwMode="auto">
            <a:xfrm>
              <a:off x="3696" y="1488"/>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5</a:t>
              </a:r>
            </a:p>
          </p:txBody>
        </p:sp>
        <p:sp>
          <p:nvSpPr>
            <p:cNvPr id="122900" name="Text Box 95"/>
            <p:cNvSpPr txBox="1">
              <a:spLocks noChangeArrowheads="1"/>
            </p:cNvSpPr>
            <p:nvPr/>
          </p:nvSpPr>
          <p:spPr bwMode="auto">
            <a:xfrm>
              <a:off x="3312" y="2112"/>
              <a:ext cx="19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Edge-weight transformed G</a:t>
              </a:r>
            </a:p>
          </p:txBody>
        </p:sp>
        <p:sp>
          <p:nvSpPr>
            <p:cNvPr id="122901" name="Line 96"/>
            <p:cNvSpPr>
              <a:spLocks noChangeShapeType="1"/>
            </p:cNvSpPr>
            <p:nvPr/>
          </p:nvSpPr>
          <p:spPr bwMode="auto">
            <a:xfrm flipH="1">
              <a:off x="4036" y="1968"/>
              <a:ext cx="33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2902" name="Text Box 97"/>
            <p:cNvSpPr txBox="1">
              <a:spLocks noChangeArrowheads="1"/>
            </p:cNvSpPr>
            <p:nvPr/>
          </p:nvSpPr>
          <p:spPr bwMode="auto">
            <a:xfrm>
              <a:off x="4080" y="192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122903" name="Line 5"/>
            <p:cNvSpPr>
              <a:spLocks noChangeShapeType="1"/>
            </p:cNvSpPr>
            <p:nvPr/>
          </p:nvSpPr>
          <p:spPr bwMode="auto">
            <a:xfrm>
              <a:off x="1348" y="2031"/>
              <a:ext cx="43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2904" name="Line 6"/>
            <p:cNvSpPr>
              <a:spLocks noChangeShapeType="1"/>
            </p:cNvSpPr>
            <p:nvPr/>
          </p:nvSpPr>
          <p:spPr bwMode="auto">
            <a:xfrm flipV="1">
              <a:off x="1300" y="1599"/>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2905" name="Line 7"/>
            <p:cNvSpPr>
              <a:spLocks noChangeShapeType="1"/>
            </p:cNvSpPr>
            <p:nvPr/>
          </p:nvSpPr>
          <p:spPr bwMode="auto">
            <a:xfrm>
              <a:off x="1924" y="1455"/>
              <a:ext cx="0" cy="43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2906" name="Line 8"/>
            <p:cNvSpPr>
              <a:spLocks noChangeShapeType="1"/>
            </p:cNvSpPr>
            <p:nvPr/>
          </p:nvSpPr>
          <p:spPr bwMode="auto">
            <a:xfrm>
              <a:off x="1300" y="1455"/>
              <a:ext cx="48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2907" name="Line 9"/>
            <p:cNvSpPr>
              <a:spLocks noChangeShapeType="1"/>
            </p:cNvSpPr>
            <p:nvPr/>
          </p:nvSpPr>
          <p:spPr bwMode="auto">
            <a:xfrm flipH="1" flipV="1">
              <a:off x="1396" y="1551"/>
              <a:ext cx="528" cy="48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2908" name="Oval 10"/>
            <p:cNvSpPr>
              <a:spLocks noChangeArrowheads="1"/>
            </p:cNvSpPr>
            <p:nvPr/>
          </p:nvSpPr>
          <p:spPr bwMode="auto">
            <a:xfrm>
              <a:off x="1780" y="1887"/>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b</a:t>
              </a:r>
            </a:p>
          </p:txBody>
        </p:sp>
        <p:sp>
          <p:nvSpPr>
            <p:cNvPr id="122909" name="Oval 11"/>
            <p:cNvSpPr>
              <a:spLocks noChangeArrowheads="1"/>
            </p:cNvSpPr>
            <p:nvPr/>
          </p:nvSpPr>
          <p:spPr bwMode="auto">
            <a:xfrm>
              <a:off x="1166" y="1911"/>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a</a:t>
              </a:r>
            </a:p>
          </p:txBody>
        </p:sp>
        <p:sp>
          <p:nvSpPr>
            <p:cNvPr id="122910" name="Oval 12"/>
            <p:cNvSpPr>
              <a:spLocks noChangeArrowheads="1"/>
            </p:cNvSpPr>
            <p:nvPr/>
          </p:nvSpPr>
          <p:spPr bwMode="auto">
            <a:xfrm>
              <a:off x="1780" y="1311"/>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d</a:t>
              </a:r>
            </a:p>
          </p:txBody>
        </p:sp>
        <p:sp>
          <p:nvSpPr>
            <p:cNvPr id="122911" name="Oval 13"/>
            <p:cNvSpPr>
              <a:spLocks noChangeArrowheads="1"/>
            </p:cNvSpPr>
            <p:nvPr/>
          </p:nvSpPr>
          <p:spPr bwMode="auto">
            <a:xfrm>
              <a:off x="1156" y="1311"/>
              <a:ext cx="278" cy="288"/>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c</a:t>
              </a:r>
            </a:p>
          </p:txBody>
        </p:sp>
        <p:sp>
          <p:nvSpPr>
            <p:cNvPr id="122912" name="Text Box 14"/>
            <p:cNvSpPr txBox="1">
              <a:spLocks noChangeArrowheads="1"/>
            </p:cNvSpPr>
            <p:nvPr/>
          </p:nvSpPr>
          <p:spPr bwMode="auto">
            <a:xfrm>
              <a:off x="1422" y="1815"/>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22913" name="Text Box 15"/>
            <p:cNvSpPr txBox="1">
              <a:spLocks noChangeArrowheads="1"/>
            </p:cNvSpPr>
            <p:nvPr/>
          </p:nvSpPr>
          <p:spPr bwMode="auto">
            <a:xfrm>
              <a:off x="1560" y="1584"/>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-1</a:t>
              </a:r>
            </a:p>
          </p:txBody>
        </p:sp>
        <p:sp>
          <p:nvSpPr>
            <p:cNvPr id="122914" name="Text Box 16"/>
            <p:cNvSpPr txBox="1">
              <a:spLocks noChangeArrowheads="1"/>
            </p:cNvSpPr>
            <p:nvPr/>
          </p:nvSpPr>
          <p:spPr bwMode="auto">
            <a:xfrm>
              <a:off x="1464" y="1200"/>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-2</a:t>
              </a:r>
            </a:p>
          </p:txBody>
        </p:sp>
        <p:sp>
          <p:nvSpPr>
            <p:cNvPr id="122915" name="Text Box 17"/>
            <p:cNvSpPr txBox="1">
              <a:spLocks noChangeArrowheads="1"/>
            </p:cNvSpPr>
            <p:nvPr/>
          </p:nvSpPr>
          <p:spPr bwMode="auto">
            <a:xfrm>
              <a:off x="1920" y="1584"/>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4</a:t>
              </a:r>
            </a:p>
          </p:txBody>
        </p:sp>
        <p:sp>
          <p:nvSpPr>
            <p:cNvPr id="122916" name="Text Box 18"/>
            <p:cNvSpPr txBox="1">
              <a:spLocks noChangeArrowheads="1"/>
            </p:cNvSpPr>
            <p:nvPr/>
          </p:nvSpPr>
          <p:spPr bwMode="auto">
            <a:xfrm>
              <a:off x="1104" y="1632"/>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sp>
          <p:nvSpPr>
            <p:cNvPr id="122917" name="Text Box 19"/>
            <p:cNvSpPr txBox="1">
              <a:spLocks noChangeArrowheads="1"/>
            </p:cNvSpPr>
            <p:nvPr/>
          </p:nvSpPr>
          <p:spPr bwMode="auto">
            <a:xfrm>
              <a:off x="458" y="1584"/>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2000">
                  <a:solidFill>
                    <a:schemeClr val="tx2"/>
                  </a:solidFill>
                </a:rPr>
                <a:t>G:</a:t>
              </a:r>
            </a:p>
          </p:txBody>
        </p:sp>
        <p:sp>
          <p:nvSpPr>
            <p:cNvPr id="122918" name="Line 20"/>
            <p:cNvSpPr>
              <a:spLocks noChangeShapeType="1"/>
            </p:cNvSpPr>
            <p:nvPr/>
          </p:nvSpPr>
          <p:spPr bwMode="auto">
            <a:xfrm flipH="1">
              <a:off x="1444" y="2112"/>
              <a:ext cx="33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2919" name="Text Box 21"/>
            <p:cNvSpPr txBox="1">
              <a:spLocks noChangeArrowheads="1"/>
            </p:cNvSpPr>
            <p:nvPr/>
          </p:nvSpPr>
          <p:spPr bwMode="auto">
            <a:xfrm>
              <a:off x="1540" y="2064"/>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3</a:t>
              </a:r>
            </a:p>
          </p:txBody>
        </p:sp>
        <p:sp>
          <p:nvSpPr>
            <p:cNvPr id="122920" name="Rectangle 99"/>
            <p:cNvSpPr>
              <a:spLocks noChangeArrowheads="1"/>
            </p:cNvSpPr>
            <p:nvPr/>
          </p:nvSpPr>
          <p:spPr bwMode="auto">
            <a:xfrm>
              <a:off x="780" y="1056"/>
              <a:ext cx="6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dirty="0">
                  <a:solidFill>
                    <a:srgbClr val="FF0000"/>
                  </a:solidFill>
                  <a:latin typeface="Symbol" pitchFamily="18" charset="2"/>
                </a:rPr>
                <a:t>r</a:t>
              </a:r>
              <a:r>
                <a:rPr lang="en-US" sz="1800" dirty="0">
                  <a:solidFill>
                    <a:srgbClr val="FF0000"/>
                  </a:solidFill>
                </a:rPr>
                <a:t>(c) = -2</a:t>
              </a:r>
            </a:p>
          </p:txBody>
        </p:sp>
        <p:sp>
          <p:nvSpPr>
            <p:cNvPr id="122921" name="Rectangle 100"/>
            <p:cNvSpPr>
              <a:spLocks noChangeArrowheads="1"/>
            </p:cNvSpPr>
            <p:nvPr/>
          </p:nvSpPr>
          <p:spPr bwMode="auto">
            <a:xfrm>
              <a:off x="1824" y="1056"/>
              <a:ext cx="6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dirty="0">
                  <a:solidFill>
                    <a:srgbClr val="FF0000"/>
                  </a:solidFill>
                  <a:latin typeface="Symbol" pitchFamily="18" charset="2"/>
                </a:rPr>
                <a:t>r</a:t>
              </a:r>
              <a:r>
                <a:rPr lang="en-US" sz="1800" dirty="0">
                  <a:solidFill>
                    <a:srgbClr val="FF0000"/>
                  </a:solidFill>
                </a:rPr>
                <a:t>(d) = -4</a:t>
              </a:r>
            </a:p>
          </p:txBody>
        </p:sp>
        <p:sp>
          <p:nvSpPr>
            <p:cNvPr id="122922" name="Rectangle 101"/>
            <p:cNvSpPr>
              <a:spLocks noChangeArrowheads="1"/>
            </p:cNvSpPr>
            <p:nvPr/>
          </p:nvSpPr>
          <p:spPr bwMode="auto">
            <a:xfrm>
              <a:off x="768" y="2160"/>
              <a:ext cx="5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dirty="0">
                  <a:solidFill>
                    <a:srgbClr val="FF0000"/>
                  </a:solidFill>
                  <a:latin typeface="Symbol" pitchFamily="18" charset="2"/>
                </a:rPr>
                <a:t>r</a:t>
              </a:r>
              <a:r>
                <a:rPr lang="en-US" sz="1800" dirty="0">
                  <a:solidFill>
                    <a:srgbClr val="FF0000"/>
                  </a:solidFill>
                </a:rPr>
                <a:t>(a) = 0</a:t>
              </a:r>
            </a:p>
          </p:txBody>
        </p:sp>
        <p:sp>
          <p:nvSpPr>
            <p:cNvPr id="122923" name="Rectangle 102"/>
            <p:cNvSpPr>
              <a:spLocks noChangeArrowheads="1"/>
            </p:cNvSpPr>
            <p:nvPr/>
          </p:nvSpPr>
          <p:spPr bwMode="auto">
            <a:xfrm>
              <a:off x="1824" y="2160"/>
              <a:ext cx="6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dirty="0">
                  <a:solidFill>
                    <a:srgbClr val="FF0000"/>
                  </a:solidFill>
                  <a:latin typeface="Symbol" pitchFamily="18" charset="2"/>
                </a:rPr>
                <a:t>r</a:t>
              </a:r>
              <a:r>
                <a:rPr lang="en-US" sz="1800" dirty="0">
                  <a:solidFill>
                    <a:srgbClr val="FF0000"/>
                  </a:solidFill>
                </a:rPr>
                <a:t>(b) = -1</a:t>
              </a:r>
            </a:p>
          </p:txBody>
        </p:sp>
        <p:sp>
          <p:nvSpPr>
            <p:cNvPr id="122924" name="AutoShape 104"/>
            <p:cNvSpPr>
              <a:spLocks noChangeArrowheads="1"/>
            </p:cNvSpPr>
            <p:nvPr/>
          </p:nvSpPr>
          <p:spPr bwMode="auto">
            <a:xfrm>
              <a:off x="2544" y="1632"/>
              <a:ext cx="624" cy="240"/>
            </a:xfrm>
            <a:prstGeom prst="rightArrow">
              <a:avLst>
                <a:gd name="adj1" fmla="val 50000"/>
                <a:gd name="adj2" fmla="val 65000"/>
              </a:avLst>
            </a:prstGeom>
            <a:solidFill>
              <a:srgbClr val="CC0000"/>
            </a:solid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grpSp>
      <mc:AlternateContent xmlns:mc="http://schemas.openxmlformats.org/markup-compatibility/2006" xmlns:a14="http://schemas.microsoft.com/office/drawing/2010/main">
        <mc:Choice Requires="a14">
          <p:sp>
            <p:nvSpPr>
              <p:cNvPr id="214122" name="Text Box 106"/>
              <p:cNvSpPr txBox="1">
                <a:spLocks noChangeArrowheads="1"/>
              </p:cNvSpPr>
              <p:nvPr/>
            </p:nvSpPr>
            <p:spPr bwMode="auto">
              <a:xfrm>
                <a:off x="304800" y="3886200"/>
                <a:ext cx="8686800" cy="2683170"/>
              </a:xfrm>
              <a:prstGeom prst="rect">
                <a:avLst/>
              </a:prstGeom>
              <a:noFill/>
              <a:ln>
                <a:noFill/>
              </a:ln>
              <a:effectLst/>
              <a:extLst>
                <a:ext uri="{909E8E84-426E-40DD-AFC4-6F175D3DCCD1}">
                  <a14:hiddenFill>
                    <a:solidFill>
                      <a:schemeClr val="accent1"/>
                    </a:solidFill>
                  </a14:hiddenFill>
                </a:ext>
                <a:ext uri="{91240B29-F687-4F45-9708-019B960494DF}">
                  <a14:hiddenLine w="1905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marL="282575" indent="-282575" defTabSz="746125">
                  <a:defRPr sz="1600">
                    <a:solidFill>
                      <a:schemeClr val="tx1"/>
                    </a:solidFill>
                    <a:latin typeface="Times New Roman" pitchFamily="18" charset="0"/>
                  </a:defRPr>
                </a:lvl1pPr>
                <a:lvl2pPr marL="742950" indent="-285750" defTabSz="746125">
                  <a:defRPr sz="1600">
                    <a:solidFill>
                      <a:schemeClr val="tx1"/>
                    </a:solidFill>
                    <a:latin typeface="Times New Roman" pitchFamily="18" charset="0"/>
                  </a:defRPr>
                </a:lvl2pPr>
                <a:lvl3pPr marL="1143000" indent="-228600" defTabSz="746125">
                  <a:defRPr sz="1600">
                    <a:solidFill>
                      <a:schemeClr val="tx1"/>
                    </a:solidFill>
                    <a:latin typeface="Times New Roman" pitchFamily="18" charset="0"/>
                  </a:defRPr>
                </a:lvl3pPr>
                <a:lvl4pPr marL="1600200" indent="-228600" defTabSz="746125">
                  <a:defRPr sz="1600">
                    <a:solidFill>
                      <a:schemeClr val="tx1"/>
                    </a:solidFill>
                    <a:latin typeface="Times New Roman" pitchFamily="18" charset="0"/>
                  </a:defRPr>
                </a:lvl4pPr>
                <a:lvl5pPr marL="2057400" indent="-228600" defTabSz="746125">
                  <a:defRPr sz="1600">
                    <a:solidFill>
                      <a:schemeClr val="tx1"/>
                    </a:solidFill>
                    <a:latin typeface="Times New Roman" pitchFamily="18" charset="0"/>
                  </a:defRPr>
                </a:lvl5pPr>
                <a:lvl6pPr marL="2514600" indent="-228600" defTabSz="746125" eaLnBrk="0" fontAlgn="base" hangingPunct="0">
                  <a:spcBef>
                    <a:spcPct val="0"/>
                  </a:spcBef>
                  <a:spcAft>
                    <a:spcPct val="0"/>
                  </a:spcAft>
                  <a:buChar char="•"/>
                  <a:defRPr sz="1600">
                    <a:solidFill>
                      <a:schemeClr val="tx1"/>
                    </a:solidFill>
                    <a:latin typeface="Times New Roman" pitchFamily="18" charset="0"/>
                  </a:defRPr>
                </a:lvl6pPr>
                <a:lvl7pPr marL="2971800" indent="-228600" defTabSz="746125" eaLnBrk="0" fontAlgn="base" hangingPunct="0">
                  <a:spcBef>
                    <a:spcPct val="0"/>
                  </a:spcBef>
                  <a:spcAft>
                    <a:spcPct val="0"/>
                  </a:spcAft>
                  <a:buChar char="•"/>
                  <a:defRPr sz="1600">
                    <a:solidFill>
                      <a:schemeClr val="tx1"/>
                    </a:solidFill>
                    <a:latin typeface="Times New Roman" pitchFamily="18" charset="0"/>
                  </a:defRPr>
                </a:lvl7pPr>
                <a:lvl8pPr marL="3429000" indent="-228600" defTabSz="746125" eaLnBrk="0" fontAlgn="base" hangingPunct="0">
                  <a:spcBef>
                    <a:spcPct val="0"/>
                  </a:spcBef>
                  <a:spcAft>
                    <a:spcPct val="0"/>
                  </a:spcAft>
                  <a:buChar char="•"/>
                  <a:defRPr sz="1600">
                    <a:solidFill>
                      <a:schemeClr val="tx1"/>
                    </a:solidFill>
                    <a:latin typeface="Times New Roman" pitchFamily="18" charset="0"/>
                  </a:defRPr>
                </a:lvl8pPr>
                <a:lvl9pPr marL="3886200" indent="-228600" defTabSz="746125"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Char char="§"/>
                </a:pPr>
                <a:r>
                  <a:rPr lang="en-US" sz="2000" b="1" dirty="0" smtClean="0">
                    <a:solidFill>
                      <a:srgbClr val="CC0000"/>
                    </a:solidFill>
                  </a:rPr>
                  <a:t>Property 1:</a:t>
                </a:r>
                <a:r>
                  <a:rPr lang="en-US" sz="2000" dirty="0">
                    <a:solidFill>
                      <a:schemeClr val="tx2"/>
                    </a:solidFill>
                  </a:rPr>
                  <a:t>    </a:t>
                </a:r>
                <a:r>
                  <a:rPr lang="en-US" sz="2000" dirty="0" smtClean="0">
                    <a:solidFill>
                      <a:schemeClr val="tx2"/>
                    </a:solidFill>
                    <a:cs typeface="Times New Roman" pitchFamily="18" charset="0"/>
                    <a:sym typeface="Symbol"/>
                  </a:rPr>
                  <a:t></a:t>
                </a:r>
                <a:r>
                  <a:rPr lang="en-US" sz="2000" dirty="0" smtClean="0">
                    <a:solidFill>
                      <a:schemeClr val="tx2"/>
                    </a:solidFill>
                    <a:cs typeface="Times New Roman" pitchFamily="18" charset="0"/>
                  </a:rPr>
                  <a:t>(</a:t>
                </a:r>
                <a:r>
                  <a:rPr lang="en-US" sz="2000" dirty="0" err="1">
                    <a:solidFill>
                      <a:schemeClr val="tx2"/>
                    </a:solidFill>
                    <a:cs typeface="Times New Roman" pitchFamily="18" charset="0"/>
                  </a:rPr>
                  <a:t>u,v</a:t>
                </a:r>
                <a:r>
                  <a:rPr lang="en-US" sz="2000" dirty="0">
                    <a:solidFill>
                      <a:schemeClr val="tx2"/>
                    </a:solidFill>
                    <a:cs typeface="Times New Roman" pitchFamily="18" charset="0"/>
                  </a:rPr>
                  <a:t>) </a:t>
                </a:r>
                <a:r>
                  <a:rPr lang="en-US" sz="2000" dirty="0">
                    <a:solidFill>
                      <a:schemeClr val="tx2"/>
                    </a:solidFill>
                    <a:sym typeface="Symbol" pitchFamily="18" charset="2"/>
                  </a:rPr>
                  <a:t></a:t>
                </a:r>
                <a:r>
                  <a:rPr lang="en-US" sz="2000" dirty="0">
                    <a:solidFill>
                      <a:schemeClr val="tx2"/>
                    </a:solidFill>
                    <a:cs typeface="Times New Roman" pitchFamily="18" charset="0"/>
                  </a:rPr>
                  <a:t> E(G</a:t>
                </a:r>
                <a:r>
                  <a:rPr lang="en-US" sz="2000" dirty="0">
                    <a:cs typeface="Times New Roman" pitchFamily="18" charset="0"/>
                  </a:rPr>
                  <a:t>) </a:t>
                </a:r>
                <a:r>
                  <a:rPr lang="en-US" sz="2000" dirty="0" smtClean="0">
                    <a:cs typeface="Times New Roman" pitchFamily="18" charset="0"/>
                  </a:rPr>
                  <a:t>we </a:t>
                </a:r>
                <a:r>
                  <a:rPr lang="en-US" sz="2000" dirty="0">
                    <a:cs typeface="Times New Roman" pitchFamily="18" charset="0"/>
                  </a:rPr>
                  <a:t>have:</a:t>
                </a:r>
                <a:r>
                  <a:rPr lang="en-US" sz="2000" dirty="0">
                    <a:solidFill>
                      <a:schemeClr val="tx2"/>
                    </a:solidFill>
                    <a:cs typeface="Times New Roman" pitchFamily="18" charset="0"/>
                  </a:rPr>
                  <a:t> </a:t>
                </a:r>
                <a:br>
                  <a:rPr lang="en-US" sz="2000" dirty="0">
                    <a:solidFill>
                      <a:schemeClr val="tx2"/>
                    </a:solidFill>
                    <a:cs typeface="Times New Roman" pitchFamily="18" charset="0"/>
                  </a:rPr>
                </a:br>
                <a:r>
                  <a:rPr lang="en-US" sz="2000" dirty="0">
                    <a:solidFill>
                      <a:schemeClr val="tx2"/>
                    </a:solidFill>
                    <a:cs typeface="Times New Roman" pitchFamily="18" charset="0"/>
                  </a:rPr>
                  <a:t>			</a:t>
                </a:r>
                <a:r>
                  <a:rPr lang="en-US" sz="2000" b="1" dirty="0">
                    <a:solidFill>
                      <a:srgbClr val="CC0000"/>
                    </a:solidFill>
                    <a:cs typeface="Times New Roman" pitchFamily="18" charset="0"/>
                  </a:rPr>
                  <a:t>ŵ</a:t>
                </a:r>
                <a14:m>
                  <m:oMath xmlns:m="http://schemas.openxmlformats.org/officeDocument/2006/math">
                    <m:r>
                      <a:rPr lang="en-US" sz="2000" b="1" i="0" dirty="0" smtClean="0">
                        <a:solidFill>
                          <a:srgbClr val="CC0000"/>
                        </a:solidFill>
                        <a:latin typeface="Cambria Math"/>
                        <a:cs typeface="Times New Roman" pitchFamily="18" charset="0"/>
                      </a:rPr>
                      <m:t>(</m:t>
                    </m:r>
                    <m:r>
                      <a:rPr lang="en-US" sz="2000" b="1" i="0" dirty="0" err="1">
                        <a:solidFill>
                          <a:srgbClr val="CC0000"/>
                        </a:solidFill>
                        <a:latin typeface="Cambria Math"/>
                        <a:cs typeface="Times New Roman" pitchFamily="18" charset="0"/>
                      </a:rPr>
                      <m:t>𝐮</m:t>
                    </m:r>
                    <m:r>
                      <a:rPr lang="en-US" sz="2000" b="1" i="0" dirty="0" err="1">
                        <a:solidFill>
                          <a:srgbClr val="CC0000"/>
                        </a:solidFill>
                        <a:latin typeface="Cambria Math"/>
                        <a:cs typeface="Times New Roman" pitchFamily="18" charset="0"/>
                      </a:rPr>
                      <m:t>,</m:t>
                    </m:r>
                    <m:r>
                      <a:rPr lang="en-US" sz="2000" b="1" i="0" dirty="0" err="1">
                        <a:solidFill>
                          <a:srgbClr val="CC0000"/>
                        </a:solidFill>
                        <a:latin typeface="Cambria Math"/>
                        <a:cs typeface="Times New Roman" pitchFamily="18" charset="0"/>
                      </a:rPr>
                      <m:t>𝐯</m:t>
                    </m:r>
                    <m:r>
                      <a:rPr lang="en-US" sz="2000" b="1" i="0" dirty="0">
                        <a:solidFill>
                          <a:srgbClr val="CC0000"/>
                        </a:solidFill>
                        <a:latin typeface="Cambria Math"/>
                        <a:cs typeface="Times New Roman" pitchFamily="18" charset="0"/>
                      </a:rPr>
                      <m:t>)</m:t>
                    </m:r>
                    <m:r>
                      <a:rPr lang="en-US" sz="2000" b="1" i="0" dirty="0" smtClean="0">
                        <a:solidFill>
                          <a:srgbClr val="CC0000"/>
                        </a:solidFill>
                        <a:latin typeface="Cambria Math"/>
                        <a:cs typeface="Times New Roman" pitchFamily="18" charset="0"/>
                      </a:rPr>
                      <m:t>≥</m:t>
                    </m:r>
                    <m:r>
                      <a:rPr lang="en-US" sz="2000" b="1" i="0" dirty="0">
                        <a:solidFill>
                          <a:srgbClr val="CC0000"/>
                        </a:solidFill>
                        <a:latin typeface="Cambria Math"/>
                        <a:cs typeface="Times New Roman" pitchFamily="18" charset="0"/>
                        <a:sym typeface="Symbol" pitchFamily="18" charset="2"/>
                      </a:rPr>
                      <m:t> </m:t>
                    </m:r>
                    <m:r>
                      <a:rPr lang="en-US" sz="2000" b="1" i="0" dirty="0">
                        <a:solidFill>
                          <a:srgbClr val="CC0000"/>
                        </a:solidFill>
                        <a:latin typeface="Cambria Math"/>
                        <a:cs typeface="Times New Roman" pitchFamily="18" charset="0"/>
                        <a:sym typeface="Symbol" pitchFamily="18" charset="2"/>
                      </a:rPr>
                      <m:t>𝟎</m:t>
                    </m:r>
                    <m:r>
                      <a:rPr lang="en-US" sz="2000" b="1" i="0" dirty="0">
                        <a:solidFill>
                          <a:schemeClr val="tx2"/>
                        </a:solidFill>
                        <a:latin typeface="Cambria Math"/>
                        <a:cs typeface="Times New Roman" pitchFamily="18" charset="0"/>
                        <a:sym typeface="Symbol" pitchFamily="18" charset="2"/>
                      </a:rPr>
                      <m:t> </m:t>
                    </m:r>
                  </m:oMath>
                </a14:m>
                <a:r>
                  <a:rPr lang="en-US" sz="2000" b="1" dirty="0" smtClean="0">
                    <a:cs typeface="Times New Roman" pitchFamily="18" charset="0"/>
                    <a:sym typeface="Symbol" pitchFamily="18" charset="2"/>
                  </a:rPr>
                  <a:t>              </a:t>
                </a:r>
                <a:r>
                  <a:rPr lang="en-US" sz="2000" dirty="0" smtClean="0">
                    <a:cs typeface="Times New Roman" pitchFamily="18" charset="0"/>
                    <a:sym typeface="Symbol" pitchFamily="18" charset="2"/>
                  </a:rPr>
                  <a:t>( </a:t>
                </a:r>
                <a:r>
                  <a:rPr lang="en-US" sz="2000" dirty="0">
                    <a:cs typeface="Times New Roman" pitchFamily="18" charset="0"/>
                    <a:sym typeface="Symbol" pitchFamily="18" charset="2"/>
                  </a:rPr>
                  <a:t>since </a:t>
                </a:r>
                <a14:m>
                  <m:oMath xmlns:m="http://schemas.openxmlformats.org/officeDocument/2006/math">
                    <m:r>
                      <m:rPr>
                        <m:sty m:val="p"/>
                      </m:rPr>
                      <a:rPr lang="en-US" sz="2000" dirty="0">
                        <a:latin typeface="Cambria Math"/>
                        <a:ea typeface="Cambria Math"/>
                        <a:cs typeface="Times New Roman" pitchFamily="18" charset="0"/>
                      </a:rPr>
                      <m:t>ρ</m:t>
                    </m:r>
                    <m:d>
                      <m:dPr>
                        <m:ctrlPr>
                          <a:rPr lang="en-US" sz="2000" i="1" dirty="0">
                            <a:latin typeface="Cambria Math"/>
                            <a:ea typeface="Cambria Math"/>
                            <a:cs typeface="Times New Roman" pitchFamily="18" charset="0"/>
                          </a:rPr>
                        </m:ctrlPr>
                      </m:dPr>
                      <m:e>
                        <m:r>
                          <m:rPr>
                            <m:sty m:val="p"/>
                          </m:rPr>
                          <a:rPr lang="en-US" sz="2000" dirty="0">
                            <a:latin typeface="Cambria Math"/>
                            <a:cs typeface="Times New Roman" pitchFamily="18" charset="0"/>
                          </a:rPr>
                          <m:t>v</m:t>
                        </m:r>
                      </m:e>
                    </m:d>
                    <m:r>
                      <a:rPr lang="en-CA" sz="2000" dirty="0">
                        <a:latin typeface="Cambria Math"/>
                        <a:cs typeface="Times New Roman" pitchFamily="18" charset="0"/>
                      </a:rPr>
                      <m:t> </m:t>
                    </m:r>
                    <m:r>
                      <a:rPr lang="en-US" sz="2000" dirty="0">
                        <a:latin typeface="Cambria Math"/>
                        <a:cs typeface="Times New Roman" pitchFamily="18" charset="0"/>
                        <a:sym typeface="Symbol" pitchFamily="18" charset="2"/>
                      </a:rPr>
                      <m:t></m:t>
                    </m:r>
                    <m:r>
                      <a:rPr lang="en-US" sz="2000" dirty="0">
                        <a:latin typeface="Cambria Math"/>
                        <a:cs typeface="Times New Roman" pitchFamily="18" charset="0"/>
                      </a:rPr>
                      <m:t> </m:t>
                    </m:r>
                    <m:r>
                      <a:rPr lang="en-CA" sz="2000" dirty="0">
                        <a:latin typeface="Cambria Math"/>
                        <a:cs typeface="Times New Roman" pitchFamily="18" charset="0"/>
                      </a:rPr>
                      <m:t> </m:t>
                    </m:r>
                    <m:r>
                      <m:rPr>
                        <m:sty m:val="p"/>
                      </m:rPr>
                      <a:rPr lang="en-US" sz="2000" dirty="0">
                        <a:latin typeface="Cambria Math"/>
                        <a:cs typeface="Times New Roman" pitchFamily="18" charset="0"/>
                      </a:rPr>
                      <m:t>w</m:t>
                    </m:r>
                    <m:d>
                      <m:dPr>
                        <m:ctrlPr>
                          <a:rPr lang="en-US" sz="2000" i="1" dirty="0">
                            <a:latin typeface="Cambria Math"/>
                            <a:cs typeface="Times New Roman" pitchFamily="18" charset="0"/>
                          </a:rPr>
                        </m:ctrlPr>
                      </m:dPr>
                      <m:e>
                        <m:r>
                          <m:rPr>
                            <m:sty m:val="p"/>
                          </m:rPr>
                          <a:rPr lang="en-US" sz="2000" dirty="0" err="1">
                            <a:latin typeface="Cambria Math"/>
                            <a:cs typeface="Times New Roman" pitchFamily="18" charset="0"/>
                          </a:rPr>
                          <m:t>u</m:t>
                        </m:r>
                        <m:r>
                          <a:rPr lang="en-US" sz="2000" dirty="0" err="1">
                            <a:latin typeface="Cambria Math"/>
                            <a:cs typeface="Times New Roman" pitchFamily="18" charset="0"/>
                          </a:rPr>
                          <m:t>,</m:t>
                        </m:r>
                        <m:r>
                          <m:rPr>
                            <m:sty m:val="p"/>
                          </m:rPr>
                          <a:rPr lang="en-US" sz="2000" dirty="0" err="1">
                            <a:latin typeface="Cambria Math"/>
                            <a:cs typeface="Times New Roman" pitchFamily="18" charset="0"/>
                          </a:rPr>
                          <m:t>v</m:t>
                        </m:r>
                      </m:e>
                    </m:d>
                    <m:r>
                      <a:rPr lang="en-CA" sz="2000" dirty="0">
                        <a:latin typeface="Cambria Math"/>
                        <a:cs typeface="Times New Roman" pitchFamily="18" charset="0"/>
                      </a:rPr>
                      <m:t>+</m:t>
                    </m:r>
                    <m:r>
                      <m:rPr>
                        <m:sty m:val="p"/>
                      </m:rPr>
                      <a:rPr lang="en-US" sz="2000" dirty="0">
                        <a:latin typeface="Cambria Math"/>
                        <a:ea typeface="Cambria Math"/>
                        <a:cs typeface="Times New Roman" pitchFamily="18" charset="0"/>
                      </a:rPr>
                      <m:t>ρ</m:t>
                    </m:r>
                    <m:r>
                      <a:rPr lang="en-US" sz="2000" dirty="0">
                        <a:latin typeface="Cambria Math"/>
                        <a:cs typeface="Times New Roman" pitchFamily="18" charset="0"/>
                      </a:rPr>
                      <m:t>(</m:t>
                    </m:r>
                    <m:r>
                      <m:rPr>
                        <m:sty m:val="p"/>
                      </m:rPr>
                      <a:rPr lang="en-US" sz="2000" dirty="0">
                        <a:latin typeface="Cambria Math"/>
                        <a:cs typeface="Times New Roman" pitchFamily="18" charset="0"/>
                      </a:rPr>
                      <m:t>u</m:t>
                    </m:r>
                    <m:r>
                      <a:rPr lang="en-US" sz="2000" dirty="0">
                        <a:latin typeface="Cambria Math"/>
                        <a:cs typeface="Times New Roman" pitchFamily="18" charset="0"/>
                      </a:rPr>
                      <m:t>) </m:t>
                    </m:r>
                  </m:oMath>
                </a14:m>
                <a:r>
                  <a:rPr lang="en-US" sz="2000" dirty="0">
                    <a:cs typeface="Times New Roman" pitchFamily="18" charset="0"/>
                  </a:rPr>
                  <a:t>) </a:t>
                </a:r>
                <a:endParaRPr lang="en-US" sz="2000" dirty="0">
                  <a:solidFill>
                    <a:schemeClr val="tx2"/>
                  </a:solidFill>
                  <a:cs typeface="Times New Roman" pitchFamily="18" charset="0"/>
                </a:endParaRPr>
              </a:p>
              <a:p>
                <a:pPr eaLnBrk="1" hangingPunct="1">
                  <a:spcBef>
                    <a:spcPct val="50000"/>
                  </a:spcBef>
                  <a:buFont typeface="Wingdings" pitchFamily="2" charset="2"/>
                  <a:buChar char="§"/>
                </a:pPr>
                <a:r>
                  <a:rPr lang="en-US" sz="2000" b="1" dirty="0">
                    <a:solidFill>
                      <a:srgbClr val="CC0000"/>
                    </a:solidFill>
                    <a:cs typeface="Times New Roman" pitchFamily="18" charset="0"/>
                  </a:rPr>
                  <a:t>Property 2:</a:t>
                </a:r>
                <a:r>
                  <a:rPr lang="en-US" sz="2000" dirty="0">
                    <a:solidFill>
                      <a:schemeClr val="tx2"/>
                    </a:solidFill>
                    <a:cs typeface="Times New Roman" pitchFamily="18" charset="0"/>
                  </a:rPr>
                  <a:t>  For any path P from any vertex u to any vertex v in G:</a:t>
                </a:r>
                <a:br>
                  <a:rPr lang="en-US" sz="2000" dirty="0">
                    <a:solidFill>
                      <a:schemeClr val="tx2"/>
                    </a:solidFill>
                    <a:cs typeface="Times New Roman" pitchFamily="18" charset="0"/>
                  </a:rPr>
                </a:br>
                <a:r>
                  <a:rPr lang="en-US" sz="2000" dirty="0">
                    <a:solidFill>
                      <a:schemeClr val="tx2"/>
                    </a:solidFill>
                    <a:cs typeface="Times New Roman" pitchFamily="18" charset="0"/>
                  </a:rPr>
                  <a:t>			</a:t>
                </a:r>
                <a14:m>
                  <m:oMath xmlns:m="http://schemas.openxmlformats.org/officeDocument/2006/math">
                    <m:acc>
                      <m:accPr>
                        <m:chr m:val="̂"/>
                        <m:ctrlPr>
                          <a:rPr lang="en-US" sz="2000" b="1" i="1" dirty="0" smtClean="0">
                            <a:solidFill>
                              <a:srgbClr val="CC0000"/>
                            </a:solidFill>
                            <a:latin typeface="Cambria Math"/>
                            <a:cs typeface="Times New Roman" pitchFamily="18" charset="0"/>
                          </a:rPr>
                        </m:ctrlPr>
                      </m:accPr>
                      <m:e>
                        <m:r>
                          <a:rPr lang="en-CA" sz="2000" b="1" i="0" dirty="0" smtClean="0">
                            <a:solidFill>
                              <a:srgbClr val="CC0000"/>
                            </a:solidFill>
                            <a:latin typeface="Cambria Math"/>
                            <a:cs typeface="Times New Roman" pitchFamily="18" charset="0"/>
                          </a:rPr>
                          <m:t>𝐝</m:t>
                        </m:r>
                      </m:e>
                    </m:acc>
                    <m:r>
                      <a:rPr lang="en-US" sz="2000" b="1" i="0" dirty="0" smtClean="0">
                        <a:solidFill>
                          <a:srgbClr val="CC0000"/>
                        </a:solidFill>
                        <a:latin typeface="Cambria Math"/>
                        <a:cs typeface="Times New Roman" pitchFamily="18" charset="0"/>
                      </a:rPr>
                      <m:t>(</m:t>
                    </m:r>
                    <m:r>
                      <a:rPr lang="en-US" sz="2000" b="1" i="0" dirty="0" smtClean="0">
                        <a:solidFill>
                          <a:srgbClr val="CC0000"/>
                        </a:solidFill>
                        <a:latin typeface="Cambria Math"/>
                        <a:cs typeface="Times New Roman" pitchFamily="18" charset="0"/>
                      </a:rPr>
                      <m:t>𝐏</m:t>
                    </m:r>
                    <m:r>
                      <a:rPr lang="en-US" sz="2000" b="1" i="0" dirty="0">
                        <a:solidFill>
                          <a:srgbClr val="CC0000"/>
                        </a:solidFill>
                        <a:latin typeface="Cambria Math"/>
                        <a:cs typeface="Times New Roman" pitchFamily="18" charset="0"/>
                      </a:rPr>
                      <m:t>) = </m:t>
                    </m:r>
                    <m:r>
                      <a:rPr lang="en-US" sz="2000" b="1" i="0" dirty="0">
                        <a:solidFill>
                          <a:srgbClr val="CC0000"/>
                        </a:solidFill>
                        <a:latin typeface="Cambria Math"/>
                        <a:cs typeface="Times New Roman" pitchFamily="18" charset="0"/>
                      </a:rPr>
                      <m:t>𝐝</m:t>
                    </m:r>
                    <m:r>
                      <a:rPr lang="en-US" sz="2000" b="1" i="0" dirty="0">
                        <a:solidFill>
                          <a:srgbClr val="CC0000"/>
                        </a:solidFill>
                        <a:latin typeface="Cambria Math"/>
                        <a:cs typeface="Times New Roman" pitchFamily="18" charset="0"/>
                      </a:rPr>
                      <m:t>(</m:t>
                    </m:r>
                    <m:r>
                      <a:rPr lang="en-US" sz="2000" b="1" i="0" dirty="0">
                        <a:solidFill>
                          <a:srgbClr val="CC0000"/>
                        </a:solidFill>
                        <a:latin typeface="Cambria Math"/>
                        <a:cs typeface="Times New Roman" pitchFamily="18" charset="0"/>
                      </a:rPr>
                      <m:t>𝐏</m:t>
                    </m:r>
                    <m:r>
                      <a:rPr lang="en-US" sz="2000" b="1" i="0" dirty="0">
                        <a:solidFill>
                          <a:srgbClr val="CC0000"/>
                        </a:solidFill>
                        <a:latin typeface="Cambria Math"/>
                        <a:cs typeface="Times New Roman" pitchFamily="18" charset="0"/>
                      </a:rPr>
                      <m:t>) + </m:t>
                    </m:r>
                    <m:r>
                      <a:rPr lang="en-US" sz="2000" b="1" i="0" dirty="0" smtClean="0">
                        <a:solidFill>
                          <a:srgbClr val="CC0000"/>
                        </a:solidFill>
                        <a:latin typeface="Cambria Math"/>
                        <a:ea typeface="Cambria Math"/>
                        <a:cs typeface="Times New Roman" pitchFamily="18" charset="0"/>
                      </a:rPr>
                      <m:t>𝛒</m:t>
                    </m:r>
                    <m:r>
                      <a:rPr lang="en-US" sz="2000" b="1" i="0" dirty="0">
                        <a:solidFill>
                          <a:srgbClr val="CC0000"/>
                        </a:solidFill>
                        <a:latin typeface="Cambria Math"/>
                        <a:cs typeface="Times New Roman" pitchFamily="18" charset="0"/>
                      </a:rPr>
                      <m:t>(</m:t>
                    </m:r>
                    <m:r>
                      <a:rPr lang="en-US" sz="2000" b="1" i="0" dirty="0">
                        <a:solidFill>
                          <a:srgbClr val="CC0000"/>
                        </a:solidFill>
                        <a:latin typeface="Cambria Math"/>
                        <a:cs typeface="Times New Roman" pitchFamily="18" charset="0"/>
                      </a:rPr>
                      <m:t>𝐮</m:t>
                    </m:r>
                    <m:r>
                      <a:rPr lang="en-US" sz="2000" b="1" i="0" dirty="0">
                        <a:solidFill>
                          <a:srgbClr val="CC0000"/>
                        </a:solidFill>
                        <a:latin typeface="Cambria Math"/>
                        <a:cs typeface="Times New Roman" pitchFamily="18" charset="0"/>
                      </a:rPr>
                      <m:t>) –</m:t>
                    </m:r>
                    <m:r>
                      <a:rPr lang="en-US" sz="2000" b="1" i="0" dirty="0" smtClean="0">
                        <a:solidFill>
                          <a:srgbClr val="CC0000"/>
                        </a:solidFill>
                        <a:latin typeface="Cambria Math"/>
                        <a:ea typeface="Cambria Math"/>
                        <a:cs typeface="Times New Roman" pitchFamily="18" charset="0"/>
                      </a:rPr>
                      <m:t>𝛒</m:t>
                    </m:r>
                    <m:r>
                      <a:rPr lang="en-US" sz="2000" b="1" i="0" dirty="0">
                        <a:solidFill>
                          <a:srgbClr val="CC0000"/>
                        </a:solidFill>
                        <a:latin typeface="Cambria Math"/>
                        <a:cs typeface="Times New Roman" pitchFamily="18" charset="0"/>
                      </a:rPr>
                      <m:t>(</m:t>
                    </m:r>
                    <m:r>
                      <a:rPr lang="en-US" sz="2000" b="1" i="0" dirty="0">
                        <a:solidFill>
                          <a:srgbClr val="CC0000"/>
                        </a:solidFill>
                        <a:latin typeface="Cambria Math"/>
                        <a:cs typeface="Times New Roman" pitchFamily="18" charset="0"/>
                      </a:rPr>
                      <m:t>𝐯</m:t>
                    </m:r>
                    <m:r>
                      <a:rPr lang="en-US" sz="2000" b="1" i="0" dirty="0">
                        <a:solidFill>
                          <a:srgbClr val="CC0000"/>
                        </a:solidFill>
                        <a:latin typeface="Cambria Math"/>
                        <a:cs typeface="Times New Roman" pitchFamily="18" charset="0"/>
                      </a:rPr>
                      <m:t>)</m:t>
                    </m:r>
                    <m:r>
                      <a:rPr lang="en-US" sz="2000" i="0" dirty="0">
                        <a:solidFill>
                          <a:schemeClr val="tx2"/>
                        </a:solidFill>
                        <a:latin typeface="Cambria Math"/>
                        <a:cs typeface="Times New Roman" pitchFamily="18" charset="0"/>
                      </a:rPr>
                      <m:t> </m:t>
                    </m:r>
                  </m:oMath>
                </a14:m>
                <a:r>
                  <a:rPr lang="en-US" sz="2000" dirty="0">
                    <a:solidFill>
                      <a:schemeClr val="tx2"/>
                    </a:solidFill>
                    <a:cs typeface="Times New Roman" pitchFamily="18" charset="0"/>
                  </a:rPr>
                  <a:t/>
                </a:r>
                <a:br>
                  <a:rPr lang="en-US" sz="2000" dirty="0">
                    <a:solidFill>
                      <a:schemeClr val="tx2"/>
                    </a:solidFill>
                    <a:cs typeface="Times New Roman" pitchFamily="18" charset="0"/>
                  </a:rPr>
                </a:br>
                <a:r>
                  <a:rPr lang="en-US" sz="2000" dirty="0">
                    <a:solidFill>
                      <a:schemeClr val="tx2"/>
                    </a:solidFill>
                    <a:cs typeface="Times New Roman" pitchFamily="18" charset="0"/>
                  </a:rPr>
                  <a:t>where </a:t>
                </a:r>
                <a14:m>
                  <m:oMath xmlns:m="http://schemas.openxmlformats.org/officeDocument/2006/math">
                    <m:acc>
                      <m:accPr>
                        <m:chr m:val="̂"/>
                        <m:ctrlPr>
                          <a:rPr lang="en-US" sz="2000" i="1" dirty="0" smtClean="0">
                            <a:solidFill>
                              <a:schemeClr val="tx2"/>
                            </a:solidFill>
                            <a:latin typeface="Cambria Math"/>
                            <a:cs typeface="Times New Roman" pitchFamily="18" charset="0"/>
                          </a:rPr>
                        </m:ctrlPr>
                      </m:accPr>
                      <m:e>
                        <m:r>
                          <a:rPr lang="en-CA" sz="2000" b="0" i="1" dirty="0" smtClean="0">
                            <a:solidFill>
                              <a:schemeClr val="tx2"/>
                            </a:solidFill>
                            <a:latin typeface="Cambria Math"/>
                            <a:cs typeface="Times New Roman" pitchFamily="18" charset="0"/>
                          </a:rPr>
                          <m:t>𝑑</m:t>
                        </m:r>
                      </m:e>
                    </m:acc>
                    <m:r>
                      <a:rPr lang="en-US" sz="2000" i="1" dirty="0" smtClean="0">
                        <a:solidFill>
                          <a:schemeClr val="tx2"/>
                        </a:solidFill>
                        <a:latin typeface="Cambria Math"/>
                        <a:cs typeface="Times New Roman" pitchFamily="18" charset="0"/>
                      </a:rPr>
                      <m:t>(</m:t>
                    </m:r>
                    <m:r>
                      <a:rPr lang="en-US" sz="2000" i="1" dirty="0" smtClean="0">
                        <a:solidFill>
                          <a:schemeClr val="tx2"/>
                        </a:solidFill>
                        <a:latin typeface="Cambria Math"/>
                        <a:cs typeface="Times New Roman" pitchFamily="18" charset="0"/>
                      </a:rPr>
                      <m:t>𝑃</m:t>
                    </m:r>
                    <m:r>
                      <a:rPr lang="en-US" sz="2000" i="1" dirty="0" smtClean="0">
                        <a:solidFill>
                          <a:schemeClr val="tx2"/>
                        </a:solidFill>
                        <a:latin typeface="Cambria Math"/>
                        <a:cs typeface="Times New Roman" pitchFamily="18" charset="0"/>
                      </a:rPr>
                      <m:t>) </m:t>
                    </m:r>
                  </m:oMath>
                </a14:m>
                <a:r>
                  <a:rPr lang="en-US" sz="2000" dirty="0">
                    <a:solidFill>
                      <a:schemeClr val="tx2"/>
                    </a:solidFill>
                    <a:cs typeface="Times New Roman" pitchFamily="18" charset="0"/>
                  </a:rPr>
                  <a:t>is the cost of path P according to the modified edge weights </a:t>
                </a:r>
                <a14:m>
                  <m:oMath xmlns:m="http://schemas.openxmlformats.org/officeDocument/2006/math">
                    <m:r>
                      <a:rPr lang="en-US" sz="2000" i="1" dirty="0" smtClean="0">
                        <a:solidFill>
                          <a:schemeClr val="tx2"/>
                        </a:solidFill>
                        <a:latin typeface="Cambria Math"/>
                        <a:cs typeface="Times New Roman" pitchFamily="18" charset="0"/>
                      </a:rPr>
                      <m:t>ŵ</m:t>
                    </m:r>
                  </m:oMath>
                </a14:m>
                <a:r>
                  <a:rPr lang="en-US" sz="2000" dirty="0">
                    <a:solidFill>
                      <a:schemeClr val="tx2"/>
                    </a:solidFill>
                    <a:cs typeface="Times New Roman" pitchFamily="18" charset="0"/>
                  </a:rPr>
                  <a:t>.</a:t>
                </a:r>
              </a:p>
              <a:p>
                <a:pPr eaLnBrk="1" hangingPunct="1">
                  <a:spcBef>
                    <a:spcPct val="50000"/>
                  </a:spcBef>
                  <a:buFont typeface="Wingdings" pitchFamily="2" charset="2"/>
                  <a:buChar char="§"/>
                </a:pPr>
                <a:r>
                  <a:rPr lang="en-US" sz="2000" dirty="0">
                    <a:solidFill>
                      <a:schemeClr val="tx2"/>
                    </a:solidFill>
                    <a:cs typeface="Times New Roman" pitchFamily="18" charset="0"/>
                  </a:rPr>
                  <a:t>This means shortest paths are preserved under the modified edge weights,</a:t>
                </a:r>
                <a:br>
                  <a:rPr lang="en-US" sz="2000" dirty="0">
                    <a:solidFill>
                      <a:schemeClr val="tx2"/>
                    </a:solidFill>
                    <a:cs typeface="Times New Roman" pitchFamily="18" charset="0"/>
                  </a:rPr>
                </a:br>
                <a:r>
                  <a:rPr lang="en-US" sz="2000" dirty="0">
                    <a:solidFill>
                      <a:schemeClr val="tx2"/>
                    </a:solidFill>
                    <a:cs typeface="Times New Roman" pitchFamily="18" charset="0"/>
                  </a:rPr>
                  <a:t>since cost of every path from u to v is shifted by the same amount </a:t>
                </a:r>
                <a14:m>
                  <m:oMath xmlns:m="http://schemas.openxmlformats.org/officeDocument/2006/math">
                    <m:r>
                      <a:rPr lang="en-US" sz="2000" b="1" i="0" dirty="0" smtClean="0">
                        <a:solidFill>
                          <a:srgbClr val="CC0000"/>
                        </a:solidFill>
                        <a:latin typeface="Cambria Math"/>
                        <a:ea typeface="Cambria Math"/>
                        <a:cs typeface="Times New Roman" pitchFamily="18" charset="0"/>
                      </a:rPr>
                      <m:t>𝛒</m:t>
                    </m:r>
                    <m:r>
                      <a:rPr lang="en-US" sz="2000" b="1" i="0" dirty="0" smtClean="0">
                        <a:solidFill>
                          <a:srgbClr val="CC0000"/>
                        </a:solidFill>
                        <a:latin typeface="Cambria Math"/>
                        <a:cs typeface="Times New Roman" pitchFamily="18" charset="0"/>
                      </a:rPr>
                      <m:t>(</m:t>
                    </m:r>
                    <m:r>
                      <a:rPr lang="en-US" sz="2000" b="1" i="0" dirty="0" smtClean="0">
                        <a:solidFill>
                          <a:srgbClr val="CC0000"/>
                        </a:solidFill>
                        <a:latin typeface="Cambria Math"/>
                        <a:cs typeface="Times New Roman" pitchFamily="18" charset="0"/>
                      </a:rPr>
                      <m:t>𝐮</m:t>
                    </m:r>
                    <m:r>
                      <a:rPr lang="en-US" sz="2000" b="1" i="0" dirty="0" smtClean="0">
                        <a:solidFill>
                          <a:srgbClr val="CC0000"/>
                        </a:solidFill>
                        <a:latin typeface="Cambria Math"/>
                        <a:cs typeface="Times New Roman" pitchFamily="18" charset="0"/>
                      </a:rPr>
                      <m:t>)–</m:t>
                    </m:r>
                    <m:r>
                      <a:rPr lang="en-US" sz="2000" b="1" i="0" dirty="0" smtClean="0">
                        <a:solidFill>
                          <a:srgbClr val="CC0000"/>
                        </a:solidFill>
                        <a:latin typeface="Cambria Math"/>
                        <a:ea typeface="Cambria Math"/>
                        <a:cs typeface="Times New Roman" pitchFamily="18" charset="0"/>
                      </a:rPr>
                      <m:t>𝛒</m:t>
                    </m:r>
                    <m:r>
                      <a:rPr lang="en-US" sz="2000" b="1" i="0" dirty="0" smtClean="0">
                        <a:solidFill>
                          <a:srgbClr val="CC0000"/>
                        </a:solidFill>
                        <a:latin typeface="Cambria Math"/>
                        <a:cs typeface="Times New Roman" pitchFamily="18" charset="0"/>
                      </a:rPr>
                      <m:t>(</m:t>
                    </m:r>
                    <m:r>
                      <a:rPr lang="en-US" sz="2000" b="1" i="0" dirty="0" smtClean="0">
                        <a:solidFill>
                          <a:srgbClr val="CC0000"/>
                        </a:solidFill>
                        <a:latin typeface="Cambria Math"/>
                        <a:cs typeface="Times New Roman" pitchFamily="18" charset="0"/>
                      </a:rPr>
                      <m:t>𝐯</m:t>
                    </m:r>
                    <m:r>
                      <a:rPr lang="en-US" sz="2000" b="1" i="0" dirty="0" smtClean="0">
                        <a:solidFill>
                          <a:srgbClr val="CC0000"/>
                        </a:solidFill>
                        <a:latin typeface="Cambria Math"/>
                        <a:cs typeface="Times New Roman" pitchFamily="18" charset="0"/>
                      </a:rPr>
                      <m:t>)</m:t>
                    </m:r>
                    <m:r>
                      <a:rPr lang="en-US" sz="2000" i="0" dirty="0">
                        <a:solidFill>
                          <a:schemeClr val="tx2"/>
                        </a:solidFill>
                        <a:latin typeface="Cambria Math"/>
                        <a:cs typeface="Times New Roman" pitchFamily="18" charset="0"/>
                      </a:rPr>
                      <m:t>.</m:t>
                    </m:r>
                  </m:oMath>
                </a14:m>
                <a:endParaRPr lang="en-US" sz="2000" dirty="0">
                  <a:solidFill>
                    <a:schemeClr val="tx2"/>
                  </a:solidFill>
                  <a:cs typeface="Times New Roman" pitchFamily="18" charset="0"/>
                </a:endParaRPr>
              </a:p>
            </p:txBody>
          </p:sp>
        </mc:Choice>
        <mc:Fallback xmlns="">
          <p:sp>
            <p:nvSpPr>
              <p:cNvPr id="214122" name="Text Box 106"/>
              <p:cNvSpPr txBox="1">
                <a:spLocks noRot="1" noChangeAspect="1" noMove="1" noResize="1" noEditPoints="1" noAdjustHandles="1" noChangeArrowheads="1" noChangeShapeType="1" noTextEdit="1"/>
              </p:cNvSpPr>
              <p:nvPr/>
            </p:nvSpPr>
            <p:spPr bwMode="auto">
              <a:xfrm>
                <a:off x="304800" y="3886200"/>
                <a:ext cx="8686800" cy="2683170"/>
              </a:xfrm>
              <a:prstGeom prst="rect">
                <a:avLst/>
              </a:prstGeom>
              <a:blipFill rotWithShape="1">
                <a:blip r:embed="rId2"/>
                <a:stretch>
                  <a:fillRect l="-561" t="-1364" b="-159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4019">
                                            <p:txEl>
                                              <p:pRg st="0" end="0"/>
                                            </p:txEl>
                                          </p:spTgt>
                                        </p:tgtEl>
                                        <p:attrNameLst>
                                          <p:attrName>style.visibility</p:attrName>
                                        </p:attrNameLst>
                                      </p:cBhvr>
                                      <p:to>
                                        <p:strVal val="visible"/>
                                      </p:to>
                                    </p:set>
                                    <p:animEffect transition="in" filter="wipe(left)">
                                      <p:cBhvr>
                                        <p:cTn id="7" dur="500"/>
                                        <p:tgtEl>
                                          <p:spTgt spid="214019">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14123"/>
                                        </p:tgtEl>
                                        <p:attrNameLst>
                                          <p:attrName>style.visibility</p:attrName>
                                        </p:attrNameLst>
                                      </p:cBhvr>
                                      <p:to>
                                        <p:strVal val="visible"/>
                                      </p:to>
                                    </p:set>
                                    <p:animEffect transition="in" filter="wipe(left)">
                                      <p:cBhvr>
                                        <p:cTn id="11" dur="500"/>
                                        <p:tgtEl>
                                          <p:spTgt spid="21412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14122">
                                            <p:txEl>
                                              <p:pRg st="0" end="0"/>
                                            </p:txEl>
                                          </p:spTgt>
                                        </p:tgtEl>
                                        <p:attrNameLst>
                                          <p:attrName>style.visibility</p:attrName>
                                        </p:attrNameLst>
                                      </p:cBhvr>
                                      <p:to>
                                        <p:strVal val="visible"/>
                                      </p:to>
                                    </p:set>
                                    <p:animEffect transition="in" filter="wipe(up)">
                                      <p:cBhvr>
                                        <p:cTn id="16" dur="500"/>
                                        <p:tgtEl>
                                          <p:spTgt spid="214122">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14122">
                                            <p:txEl>
                                              <p:pRg st="1" end="1"/>
                                            </p:txEl>
                                          </p:spTgt>
                                        </p:tgtEl>
                                        <p:attrNameLst>
                                          <p:attrName>style.visibility</p:attrName>
                                        </p:attrNameLst>
                                      </p:cBhvr>
                                      <p:to>
                                        <p:strVal val="visible"/>
                                      </p:to>
                                    </p:set>
                                    <p:animEffect transition="in" filter="wipe(up)">
                                      <p:cBhvr>
                                        <p:cTn id="21" dur="500"/>
                                        <p:tgtEl>
                                          <p:spTgt spid="214122">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14122">
                                            <p:txEl>
                                              <p:pRg st="2" end="2"/>
                                            </p:txEl>
                                          </p:spTgt>
                                        </p:tgtEl>
                                        <p:attrNameLst>
                                          <p:attrName>style.visibility</p:attrName>
                                        </p:attrNameLst>
                                      </p:cBhvr>
                                      <p:to>
                                        <p:strVal val="visible"/>
                                      </p:to>
                                    </p:set>
                                    <p:animEffect transition="in" filter="wipe(up)">
                                      <p:cBhvr>
                                        <p:cTn id="26" dur="500"/>
                                        <p:tgtEl>
                                          <p:spTgt spid="21412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9" grpId="0" build="p" autoUpdateAnimBg="0" advAuto="0"/>
      <p:bldP spid="214122" grpId="0" build="p"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838200" indent="-838200" eaLnBrk="1" hangingPunct="1"/>
            <a:r>
              <a:rPr lang="en-US" sz="2800" dirty="0" smtClean="0">
                <a:solidFill>
                  <a:schemeClr val="tx1"/>
                </a:solidFill>
                <a:latin typeface="Arial Rounded MT Bold" pitchFamily="34" charset="0"/>
                <a:sym typeface="Symbol" pitchFamily="18" charset="2"/>
              </a:rPr>
              <a:t>Floyd-</a:t>
            </a:r>
            <a:r>
              <a:rPr lang="en-US" sz="2800" dirty="0" err="1" smtClean="0">
                <a:solidFill>
                  <a:schemeClr val="tx1"/>
                </a:solidFill>
                <a:latin typeface="Arial Rounded MT Bold" pitchFamily="34" charset="0"/>
                <a:sym typeface="Symbol" pitchFamily="18" charset="2"/>
              </a:rPr>
              <a:t>Warshall</a:t>
            </a:r>
            <a:r>
              <a:rPr lang="en-US" sz="2800" dirty="0" smtClean="0">
                <a:solidFill>
                  <a:schemeClr val="tx1"/>
                </a:solidFill>
                <a:latin typeface="Arial Rounded MT Bold" pitchFamily="34" charset="0"/>
                <a:sym typeface="Symbol" pitchFamily="18" charset="2"/>
              </a:rPr>
              <a:t> [1962]</a:t>
            </a:r>
          </a:p>
        </p:txBody>
      </p:sp>
      <p:sp>
        <p:nvSpPr>
          <p:cNvPr id="215043" name="Text Box 3"/>
          <p:cNvSpPr txBox="1">
            <a:spLocks noChangeArrowheads="1"/>
          </p:cNvSpPr>
          <p:nvPr/>
        </p:nvSpPr>
        <p:spPr bwMode="auto">
          <a:xfrm>
            <a:off x="152400" y="838200"/>
            <a:ext cx="8839200" cy="541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2575" indent="-282575" defTabSz="1235075">
              <a:defRPr sz="1600">
                <a:solidFill>
                  <a:schemeClr val="tx1"/>
                </a:solidFill>
                <a:latin typeface="Times New Roman" pitchFamily="18" charset="0"/>
              </a:defRPr>
            </a:lvl1pPr>
            <a:lvl2pPr marL="742950" indent="-285750" defTabSz="1235075">
              <a:defRPr sz="1600">
                <a:solidFill>
                  <a:schemeClr val="tx1"/>
                </a:solidFill>
                <a:latin typeface="Times New Roman" pitchFamily="18" charset="0"/>
              </a:defRPr>
            </a:lvl2pPr>
            <a:lvl3pPr marL="1143000" indent="-228600" defTabSz="1235075">
              <a:defRPr sz="1600">
                <a:solidFill>
                  <a:schemeClr val="tx1"/>
                </a:solidFill>
                <a:latin typeface="Times New Roman" pitchFamily="18" charset="0"/>
              </a:defRPr>
            </a:lvl3pPr>
            <a:lvl4pPr marL="1600200" indent="-228600" defTabSz="1235075">
              <a:defRPr sz="1600">
                <a:solidFill>
                  <a:schemeClr val="tx1"/>
                </a:solidFill>
                <a:latin typeface="Times New Roman" pitchFamily="18" charset="0"/>
              </a:defRPr>
            </a:lvl4pPr>
            <a:lvl5pPr marL="2057400" indent="-228600" defTabSz="1235075">
              <a:defRPr sz="1600">
                <a:solidFill>
                  <a:schemeClr val="tx1"/>
                </a:solidFill>
                <a:latin typeface="Times New Roman" pitchFamily="18" charset="0"/>
              </a:defRPr>
            </a:lvl5pPr>
            <a:lvl6pPr marL="2514600" indent="-228600" defTabSz="1235075" eaLnBrk="0" fontAlgn="base" hangingPunct="0">
              <a:spcBef>
                <a:spcPct val="0"/>
              </a:spcBef>
              <a:spcAft>
                <a:spcPct val="0"/>
              </a:spcAft>
              <a:buChar char="•"/>
              <a:defRPr sz="1600">
                <a:solidFill>
                  <a:schemeClr val="tx1"/>
                </a:solidFill>
                <a:latin typeface="Times New Roman" pitchFamily="18" charset="0"/>
              </a:defRPr>
            </a:lvl6pPr>
            <a:lvl7pPr marL="2971800" indent="-228600" defTabSz="1235075" eaLnBrk="0" fontAlgn="base" hangingPunct="0">
              <a:spcBef>
                <a:spcPct val="0"/>
              </a:spcBef>
              <a:spcAft>
                <a:spcPct val="0"/>
              </a:spcAft>
              <a:buChar char="•"/>
              <a:defRPr sz="1600">
                <a:solidFill>
                  <a:schemeClr val="tx1"/>
                </a:solidFill>
                <a:latin typeface="Times New Roman" pitchFamily="18" charset="0"/>
              </a:defRPr>
            </a:lvl7pPr>
            <a:lvl8pPr marL="3429000" indent="-228600" defTabSz="1235075" eaLnBrk="0" fontAlgn="base" hangingPunct="0">
              <a:spcBef>
                <a:spcPct val="0"/>
              </a:spcBef>
              <a:spcAft>
                <a:spcPct val="0"/>
              </a:spcAft>
              <a:buChar char="•"/>
              <a:defRPr sz="1600">
                <a:solidFill>
                  <a:schemeClr val="tx1"/>
                </a:solidFill>
                <a:latin typeface="Times New Roman" pitchFamily="18" charset="0"/>
              </a:defRPr>
            </a:lvl8pPr>
            <a:lvl9pPr marL="3886200" indent="-228600" defTabSz="1235075"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Char char="§"/>
            </a:pPr>
            <a:r>
              <a:rPr lang="en-US" sz="2000" b="1" dirty="0">
                <a:solidFill>
                  <a:srgbClr val="CC0000"/>
                </a:solidFill>
              </a:rPr>
              <a:t>Floyd</a:t>
            </a:r>
            <a:r>
              <a:rPr lang="en-US" sz="2000" dirty="0">
                <a:solidFill>
                  <a:schemeClr val="tx2"/>
                </a:solidFill>
              </a:rPr>
              <a:t> modified transitive </a:t>
            </a:r>
            <a:r>
              <a:rPr lang="en-US" sz="2000" dirty="0" smtClean="0">
                <a:solidFill>
                  <a:schemeClr val="tx2"/>
                </a:solidFill>
              </a:rPr>
              <a:t>closure </a:t>
            </a:r>
            <a:r>
              <a:rPr lang="en-US" sz="2000" dirty="0">
                <a:solidFill>
                  <a:schemeClr val="tx2"/>
                </a:solidFill>
              </a:rPr>
              <a:t>algorithm of </a:t>
            </a:r>
            <a:r>
              <a:rPr lang="en-US" sz="2000" b="1" dirty="0" err="1">
                <a:solidFill>
                  <a:srgbClr val="CC0000"/>
                </a:solidFill>
              </a:rPr>
              <a:t>Warshall</a:t>
            </a:r>
            <a:r>
              <a:rPr lang="en-US" sz="2000" dirty="0">
                <a:solidFill>
                  <a:schemeClr val="tx2"/>
                </a:solidFill>
              </a:rPr>
              <a:t> to obtain a simplified O(V</a:t>
            </a:r>
            <a:r>
              <a:rPr lang="en-US" sz="2000" baseline="30000" dirty="0">
                <a:solidFill>
                  <a:schemeClr val="tx2"/>
                </a:solidFill>
              </a:rPr>
              <a:t>3</a:t>
            </a:r>
            <a:r>
              <a:rPr lang="en-US" sz="2000" dirty="0">
                <a:solidFill>
                  <a:schemeClr val="tx2"/>
                </a:solidFill>
              </a:rPr>
              <a:t>)-time algorithm for all-pairs shortest paths based on dynamic programming.</a:t>
            </a:r>
          </a:p>
          <a:p>
            <a:pPr eaLnBrk="1" hangingPunct="1">
              <a:spcBef>
                <a:spcPct val="50000"/>
              </a:spcBef>
              <a:buFont typeface="Wingdings" pitchFamily="2" charset="2"/>
              <a:buChar char="§"/>
            </a:pPr>
            <a:r>
              <a:rPr lang="en-US" sz="2000" dirty="0">
                <a:solidFill>
                  <a:schemeClr val="tx2"/>
                </a:solidFill>
              </a:rPr>
              <a:t>Let V(G) = {1,2, … , n}.    For every pair of nodes </a:t>
            </a:r>
            <a:r>
              <a:rPr lang="en-US" sz="2000" dirty="0" smtClean="0">
                <a:solidFill>
                  <a:schemeClr val="tx2"/>
                </a:solidFill>
              </a:rPr>
              <a:t>u</a:t>
            </a:r>
            <a:r>
              <a:rPr lang="en-US" sz="2000" smtClean="0">
                <a:solidFill>
                  <a:schemeClr val="tx2"/>
                </a:solidFill>
              </a:rPr>
              <a:t>, v </a:t>
            </a:r>
            <a:r>
              <a:rPr lang="en-US" sz="2000" dirty="0">
                <a:solidFill>
                  <a:schemeClr val="tx2"/>
                </a:solidFill>
              </a:rPr>
              <a:t>define:</a:t>
            </a:r>
            <a:br>
              <a:rPr lang="en-US" sz="2000" dirty="0">
                <a:solidFill>
                  <a:schemeClr val="tx2"/>
                </a:solidFill>
              </a:rPr>
            </a:br>
            <a:r>
              <a:rPr lang="en-US" sz="2000" dirty="0">
                <a:solidFill>
                  <a:schemeClr val="tx2"/>
                </a:solidFill>
              </a:rPr>
              <a:t/>
            </a:r>
            <a:br>
              <a:rPr lang="en-US" sz="2000" dirty="0">
                <a:solidFill>
                  <a:schemeClr val="tx2"/>
                </a:solidFill>
              </a:rPr>
            </a:br>
            <a:r>
              <a:rPr lang="en-US" sz="2000" dirty="0">
                <a:solidFill>
                  <a:schemeClr val="tx2"/>
                </a:solidFill>
              </a:rPr>
              <a:t>d</a:t>
            </a:r>
            <a:r>
              <a:rPr lang="en-US" sz="2000" baseline="30000" dirty="0">
                <a:solidFill>
                  <a:schemeClr val="tx2"/>
                </a:solidFill>
              </a:rPr>
              <a:t>(k)</a:t>
            </a:r>
            <a:r>
              <a:rPr lang="en-US" sz="2000" dirty="0">
                <a:solidFill>
                  <a:schemeClr val="tx2"/>
                </a:solidFill>
              </a:rPr>
              <a:t>(</a:t>
            </a:r>
            <a:r>
              <a:rPr lang="en-US" sz="2000" dirty="0" err="1">
                <a:solidFill>
                  <a:schemeClr val="tx2"/>
                </a:solidFill>
              </a:rPr>
              <a:t>u,v</a:t>
            </a:r>
            <a:r>
              <a:rPr lang="en-US" sz="2000" dirty="0">
                <a:solidFill>
                  <a:schemeClr val="tx2"/>
                </a:solidFill>
              </a:rPr>
              <a:t>) =  Minimum cost among all those paths from node u to node v </a:t>
            </a:r>
            <a:br>
              <a:rPr lang="en-US" sz="2000" dirty="0">
                <a:solidFill>
                  <a:schemeClr val="tx2"/>
                </a:solidFill>
              </a:rPr>
            </a:br>
            <a:r>
              <a:rPr lang="en-US" sz="2000" dirty="0">
                <a:solidFill>
                  <a:schemeClr val="tx2"/>
                </a:solidFill>
              </a:rPr>
              <a:t>	 whose intermediate nodes (excluding u and v) are in {1..k}. </a:t>
            </a:r>
            <a:br>
              <a:rPr lang="en-US" sz="2000" dirty="0">
                <a:solidFill>
                  <a:schemeClr val="tx2"/>
                </a:solidFill>
              </a:rPr>
            </a:br>
            <a:r>
              <a:rPr lang="en-US" sz="2000" dirty="0">
                <a:solidFill>
                  <a:schemeClr val="tx2"/>
                </a:solidFill>
              </a:rPr>
              <a:t>	 That is, the maximum numbered intermediate node is at most k.</a:t>
            </a:r>
          </a:p>
          <a:p>
            <a:pPr eaLnBrk="1" hangingPunct="1">
              <a:spcBef>
                <a:spcPct val="50000"/>
              </a:spcBef>
              <a:buFont typeface="Wingdings" pitchFamily="2" charset="2"/>
              <a:buNone/>
            </a:pPr>
            <a:r>
              <a:rPr lang="en-US" sz="2000" dirty="0">
                <a:solidFill>
                  <a:schemeClr val="tx2"/>
                </a:solidFill>
              </a:rPr>
              <a:t>	 </a:t>
            </a:r>
            <a:r>
              <a:rPr lang="en-US" sz="2000" dirty="0">
                <a:solidFill>
                  <a:schemeClr val="tx2"/>
                </a:solidFill>
                <a:latin typeface="Symbol" pitchFamily="18" charset="2"/>
              </a:rPr>
              <a:t>p</a:t>
            </a:r>
            <a:r>
              <a:rPr lang="en-US" sz="2000" baseline="30000" dirty="0">
                <a:solidFill>
                  <a:schemeClr val="tx2"/>
                </a:solidFill>
              </a:rPr>
              <a:t>(k)</a:t>
            </a:r>
            <a:r>
              <a:rPr lang="en-US" sz="2000" dirty="0">
                <a:solidFill>
                  <a:schemeClr val="tx2"/>
                </a:solidFill>
              </a:rPr>
              <a:t>(</a:t>
            </a:r>
            <a:r>
              <a:rPr lang="en-US" sz="2000" dirty="0" err="1">
                <a:solidFill>
                  <a:schemeClr val="tx2"/>
                </a:solidFill>
              </a:rPr>
              <a:t>u,v</a:t>
            </a:r>
            <a:r>
              <a:rPr lang="en-US" sz="2000" dirty="0">
                <a:solidFill>
                  <a:schemeClr val="tx2"/>
                </a:solidFill>
              </a:rPr>
              <a:t>) =  predecessor of node v on such a path.</a:t>
            </a:r>
            <a:br>
              <a:rPr lang="en-US" sz="2000" dirty="0">
                <a:solidFill>
                  <a:schemeClr val="tx2"/>
                </a:solidFill>
              </a:rPr>
            </a:br>
            <a:r>
              <a:rPr lang="en-US" sz="2000" dirty="0">
                <a:solidFill>
                  <a:schemeClr val="tx2"/>
                </a:solidFill>
              </a:rPr>
              <a:t> </a:t>
            </a:r>
          </a:p>
          <a:p>
            <a:pPr eaLnBrk="1" hangingPunct="1">
              <a:spcBef>
                <a:spcPct val="50000"/>
              </a:spcBef>
              <a:buFont typeface="Wingdings" pitchFamily="2" charset="2"/>
              <a:buChar char="§"/>
            </a:pPr>
            <a:r>
              <a:rPr lang="en-US" sz="2000" b="1" dirty="0">
                <a:solidFill>
                  <a:srgbClr val="CC0000"/>
                </a:solidFill>
              </a:rPr>
              <a:t>FACT:</a:t>
            </a:r>
            <a:r>
              <a:rPr lang="en-US" sz="2000" dirty="0">
                <a:solidFill>
                  <a:schemeClr val="tx2"/>
                </a:solidFill>
              </a:rPr>
              <a:t> 	d</a:t>
            </a:r>
            <a:r>
              <a:rPr lang="en-US" sz="2000" baseline="30000" dirty="0">
                <a:solidFill>
                  <a:schemeClr val="tx2"/>
                </a:solidFill>
              </a:rPr>
              <a:t>(n)</a:t>
            </a:r>
            <a:r>
              <a:rPr lang="en-US" sz="2000" dirty="0">
                <a:solidFill>
                  <a:schemeClr val="tx2"/>
                </a:solidFill>
              </a:rPr>
              <a:t>(</a:t>
            </a:r>
            <a:r>
              <a:rPr lang="en-US" sz="2000" dirty="0" err="1">
                <a:solidFill>
                  <a:schemeClr val="tx2"/>
                </a:solidFill>
              </a:rPr>
              <a:t>u,v</a:t>
            </a:r>
            <a:r>
              <a:rPr lang="en-US" sz="2000" dirty="0">
                <a:solidFill>
                  <a:schemeClr val="tx2"/>
                </a:solidFill>
              </a:rPr>
              <a:t>) =  Shortest path cost from u to v.</a:t>
            </a:r>
          </a:p>
          <a:p>
            <a:pPr eaLnBrk="1" hangingPunct="1">
              <a:spcBef>
                <a:spcPct val="50000"/>
              </a:spcBef>
              <a:buFont typeface="Wingdings" pitchFamily="2" charset="2"/>
              <a:buNone/>
            </a:pPr>
            <a:r>
              <a:rPr lang="en-US" sz="2000" dirty="0">
                <a:solidFill>
                  <a:schemeClr val="tx2"/>
                </a:solidFill>
              </a:rPr>
              <a:t>	 	d</a:t>
            </a:r>
            <a:r>
              <a:rPr lang="en-US" sz="2000" baseline="30000" dirty="0">
                <a:solidFill>
                  <a:schemeClr val="tx2"/>
                </a:solidFill>
              </a:rPr>
              <a:t>(0)</a:t>
            </a:r>
            <a:r>
              <a:rPr lang="en-US" sz="2000" dirty="0">
                <a:solidFill>
                  <a:schemeClr val="tx2"/>
                </a:solidFill>
              </a:rPr>
              <a:t>(</a:t>
            </a:r>
            <a:r>
              <a:rPr lang="en-US" sz="2000" dirty="0" err="1">
                <a:solidFill>
                  <a:schemeClr val="tx2"/>
                </a:solidFill>
              </a:rPr>
              <a:t>u,v</a:t>
            </a:r>
            <a:r>
              <a:rPr lang="en-US" sz="2000" dirty="0">
                <a:solidFill>
                  <a:schemeClr val="tx2"/>
                </a:solidFill>
              </a:rPr>
              <a:t>) =  A[</a:t>
            </a:r>
            <a:r>
              <a:rPr lang="en-US" sz="2000" dirty="0" err="1">
                <a:solidFill>
                  <a:schemeClr val="tx2"/>
                </a:solidFill>
              </a:rPr>
              <a:t>u,v</a:t>
            </a:r>
            <a:r>
              <a:rPr lang="en-US" sz="2000" dirty="0">
                <a:solidFill>
                  <a:schemeClr val="tx2"/>
                </a:solidFill>
              </a:rPr>
              <a:t>] , where A is the weighted adjacency matrix</a:t>
            </a:r>
            <a:br>
              <a:rPr lang="en-US" sz="2000" dirty="0">
                <a:solidFill>
                  <a:schemeClr val="tx2"/>
                </a:solidFill>
              </a:rPr>
            </a:br>
            <a:r>
              <a:rPr lang="en-US" sz="2000" dirty="0">
                <a:solidFill>
                  <a:schemeClr val="tx2"/>
                </a:solidFill>
              </a:rPr>
              <a:t>		(assume no self-loops exist).</a:t>
            </a:r>
          </a:p>
          <a:p>
            <a:pPr eaLnBrk="1" hangingPunct="1">
              <a:spcBef>
                <a:spcPct val="50000"/>
              </a:spcBef>
              <a:buFont typeface="Wingdings" pitchFamily="2" charset="2"/>
              <a:buChar char="§"/>
            </a:pPr>
            <a:endParaRPr lang="en-US" sz="2000" dirty="0">
              <a:solidFill>
                <a:schemeClr val="tx2"/>
              </a:solidFill>
            </a:endParaRPr>
          </a:p>
          <a:p>
            <a:pPr eaLnBrk="1" hangingPunct="1">
              <a:spcBef>
                <a:spcPct val="50000"/>
              </a:spcBef>
              <a:buFont typeface="Wingdings" pitchFamily="2" charset="2"/>
              <a:buChar char="§"/>
            </a:pPr>
            <a:r>
              <a:rPr lang="en-US" sz="2400" dirty="0">
                <a:solidFill>
                  <a:schemeClr val="hlink"/>
                </a:solidFill>
              </a:rPr>
              <a:t>DP:    How to go from d</a:t>
            </a:r>
            <a:r>
              <a:rPr lang="en-US" sz="2400" baseline="30000" dirty="0">
                <a:solidFill>
                  <a:schemeClr val="hlink"/>
                </a:solidFill>
              </a:rPr>
              <a:t>(k-1)</a:t>
            </a:r>
            <a:r>
              <a:rPr lang="en-US" sz="2400" dirty="0">
                <a:solidFill>
                  <a:schemeClr val="hlink"/>
                </a:solidFill>
              </a:rPr>
              <a:t> to d</a:t>
            </a:r>
            <a:r>
              <a:rPr lang="en-US" sz="2400" baseline="30000" dirty="0">
                <a:solidFill>
                  <a:schemeClr val="hlink"/>
                </a:solidFill>
              </a:rPr>
              <a:t>(k)</a:t>
            </a:r>
            <a:r>
              <a:rPr lang="en-US" sz="2400" dirty="0">
                <a:solidFill>
                  <a:schemeClr val="hlink"/>
                </a:solidFill>
              </a:rPr>
              <a:t>,    for k = 1,2, …, n?</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15042"/>
                                        </p:tgtEl>
                                        <p:attrNameLst>
                                          <p:attrName>style.visibility</p:attrName>
                                        </p:attrNameLst>
                                      </p:cBhvr>
                                      <p:to>
                                        <p:strVal val="visible"/>
                                      </p:to>
                                    </p:set>
                                    <p:anim calcmode="lin" valueType="num">
                                      <p:cBhvr>
                                        <p:cTn id="7" dur="500" fill="hold"/>
                                        <p:tgtEl>
                                          <p:spTgt spid="215042"/>
                                        </p:tgtEl>
                                        <p:attrNameLst>
                                          <p:attrName>ppt_w</p:attrName>
                                        </p:attrNameLst>
                                      </p:cBhvr>
                                      <p:tavLst>
                                        <p:tav tm="0">
                                          <p:val>
                                            <p:fltVal val="0"/>
                                          </p:val>
                                        </p:tav>
                                        <p:tav tm="100000">
                                          <p:val>
                                            <p:strVal val="#ppt_w"/>
                                          </p:val>
                                        </p:tav>
                                      </p:tavLst>
                                    </p:anim>
                                    <p:anim calcmode="lin" valueType="num">
                                      <p:cBhvr>
                                        <p:cTn id="8" dur="500" fill="hold"/>
                                        <p:tgtEl>
                                          <p:spTgt spid="21504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15043">
                                            <p:txEl>
                                              <p:pRg st="0" end="0"/>
                                            </p:txEl>
                                          </p:spTgt>
                                        </p:tgtEl>
                                        <p:attrNameLst>
                                          <p:attrName>style.visibility</p:attrName>
                                        </p:attrNameLst>
                                      </p:cBhvr>
                                      <p:to>
                                        <p:strVal val="visible"/>
                                      </p:to>
                                    </p:set>
                                    <p:animEffect transition="in" filter="wipe(up)">
                                      <p:cBhvr>
                                        <p:cTn id="13" dur="500"/>
                                        <p:tgtEl>
                                          <p:spTgt spid="215043">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15043">
                                            <p:txEl>
                                              <p:pRg st="1" end="1"/>
                                            </p:txEl>
                                          </p:spTgt>
                                        </p:tgtEl>
                                        <p:attrNameLst>
                                          <p:attrName>style.visibility</p:attrName>
                                        </p:attrNameLst>
                                      </p:cBhvr>
                                      <p:to>
                                        <p:strVal val="visible"/>
                                      </p:to>
                                    </p:set>
                                    <p:animEffect transition="in" filter="wipe(up)">
                                      <p:cBhvr>
                                        <p:cTn id="18" dur="500"/>
                                        <p:tgtEl>
                                          <p:spTgt spid="215043">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215043">
                                            <p:txEl>
                                              <p:pRg st="2" end="2"/>
                                            </p:txEl>
                                          </p:spTgt>
                                        </p:tgtEl>
                                        <p:attrNameLst>
                                          <p:attrName>style.visibility</p:attrName>
                                        </p:attrNameLst>
                                      </p:cBhvr>
                                      <p:to>
                                        <p:strVal val="visible"/>
                                      </p:to>
                                    </p:set>
                                    <p:animEffect transition="in" filter="wipe(up)">
                                      <p:cBhvr>
                                        <p:cTn id="23" dur="500"/>
                                        <p:tgtEl>
                                          <p:spTgt spid="215043">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215043">
                                            <p:txEl>
                                              <p:pRg st="3" end="3"/>
                                            </p:txEl>
                                          </p:spTgt>
                                        </p:tgtEl>
                                        <p:attrNameLst>
                                          <p:attrName>style.visibility</p:attrName>
                                        </p:attrNameLst>
                                      </p:cBhvr>
                                      <p:to>
                                        <p:strVal val="visible"/>
                                      </p:to>
                                    </p:set>
                                    <p:animEffect transition="in" filter="wipe(up)">
                                      <p:cBhvr>
                                        <p:cTn id="28" dur="500"/>
                                        <p:tgtEl>
                                          <p:spTgt spid="215043">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215043">
                                            <p:txEl>
                                              <p:pRg st="4" end="4"/>
                                            </p:txEl>
                                          </p:spTgt>
                                        </p:tgtEl>
                                        <p:attrNameLst>
                                          <p:attrName>style.visibility</p:attrName>
                                        </p:attrNameLst>
                                      </p:cBhvr>
                                      <p:to>
                                        <p:strVal val="visible"/>
                                      </p:to>
                                    </p:set>
                                    <p:animEffect transition="in" filter="wipe(up)">
                                      <p:cBhvr>
                                        <p:cTn id="33" dur="500"/>
                                        <p:tgtEl>
                                          <p:spTgt spid="215043">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15043">
                                            <p:txEl>
                                              <p:pRg st="6" end="6"/>
                                            </p:txEl>
                                          </p:spTgt>
                                        </p:tgtEl>
                                        <p:attrNameLst>
                                          <p:attrName>style.visibility</p:attrName>
                                        </p:attrNameLst>
                                      </p:cBhvr>
                                      <p:to>
                                        <p:strVal val="visible"/>
                                      </p:to>
                                    </p:set>
                                    <p:animEffect transition="in" filter="wipe(up)">
                                      <p:cBhvr>
                                        <p:cTn id="38" dur="500"/>
                                        <p:tgtEl>
                                          <p:spTgt spid="2150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animBg="1" autoUpdateAnimBg="0"/>
      <p:bldP spid="215043" grpId="0" build="p"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838200" indent="-838200" eaLnBrk="1" hangingPunct="1"/>
            <a:r>
              <a:rPr lang="en-US" sz="2800" smtClean="0">
                <a:solidFill>
                  <a:schemeClr val="tx1"/>
                </a:solidFill>
                <a:latin typeface="Arial Rounded MT Bold" pitchFamily="34" charset="0"/>
                <a:sym typeface="Symbol" pitchFamily="18" charset="2"/>
              </a:rPr>
              <a:t>Floyd-Warshall [1962]</a:t>
            </a:r>
          </a:p>
        </p:txBody>
      </p:sp>
      <p:sp>
        <p:nvSpPr>
          <p:cNvPr id="216067" name="Text Box 3"/>
          <p:cNvSpPr txBox="1">
            <a:spLocks noChangeArrowheads="1"/>
          </p:cNvSpPr>
          <p:nvPr/>
        </p:nvSpPr>
        <p:spPr bwMode="auto">
          <a:xfrm>
            <a:off x="152400" y="838200"/>
            <a:ext cx="88392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2575" indent="-282575" defTabSz="1235075">
              <a:defRPr sz="1600">
                <a:solidFill>
                  <a:schemeClr val="tx1"/>
                </a:solidFill>
                <a:latin typeface="Times New Roman" pitchFamily="18" charset="0"/>
              </a:defRPr>
            </a:lvl1pPr>
            <a:lvl2pPr marL="742950" indent="-285750" defTabSz="1235075">
              <a:defRPr sz="1600">
                <a:solidFill>
                  <a:schemeClr val="tx1"/>
                </a:solidFill>
                <a:latin typeface="Times New Roman" pitchFamily="18" charset="0"/>
              </a:defRPr>
            </a:lvl2pPr>
            <a:lvl3pPr marL="1143000" indent="-228600" defTabSz="1235075">
              <a:defRPr sz="1600">
                <a:solidFill>
                  <a:schemeClr val="tx1"/>
                </a:solidFill>
                <a:latin typeface="Times New Roman" pitchFamily="18" charset="0"/>
              </a:defRPr>
            </a:lvl3pPr>
            <a:lvl4pPr marL="1600200" indent="-228600" defTabSz="1235075">
              <a:defRPr sz="1600">
                <a:solidFill>
                  <a:schemeClr val="tx1"/>
                </a:solidFill>
                <a:latin typeface="Times New Roman" pitchFamily="18" charset="0"/>
              </a:defRPr>
            </a:lvl4pPr>
            <a:lvl5pPr marL="2057400" indent="-228600" defTabSz="1235075">
              <a:defRPr sz="1600">
                <a:solidFill>
                  <a:schemeClr val="tx1"/>
                </a:solidFill>
                <a:latin typeface="Times New Roman" pitchFamily="18" charset="0"/>
              </a:defRPr>
            </a:lvl5pPr>
            <a:lvl6pPr marL="2514600" indent="-228600" defTabSz="1235075" eaLnBrk="0" fontAlgn="base" hangingPunct="0">
              <a:spcBef>
                <a:spcPct val="0"/>
              </a:spcBef>
              <a:spcAft>
                <a:spcPct val="0"/>
              </a:spcAft>
              <a:buChar char="•"/>
              <a:defRPr sz="1600">
                <a:solidFill>
                  <a:schemeClr val="tx1"/>
                </a:solidFill>
                <a:latin typeface="Times New Roman" pitchFamily="18" charset="0"/>
              </a:defRPr>
            </a:lvl6pPr>
            <a:lvl7pPr marL="2971800" indent="-228600" defTabSz="1235075" eaLnBrk="0" fontAlgn="base" hangingPunct="0">
              <a:spcBef>
                <a:spcPct val="0"/>
              </a:spcBef>
              <a:spcAft>
                <a:spcPct val="0"/>
              </a:spcAft>
              <a:buChar char="•"/>
              <a:defRPr sz="1600">
                <a:solidFill>
                  <a:schemeClr val="tx1"/>
                </a:solidFill>
                <a:latin typeface="Times New Roman" pitchFamily="18" charset="0"/>
              </a:defRPr>
            </a:lvl7pPr>
            <a:lvl8pPr marL="3429000" indent="-228600" defTabSz="1235075" eaLnBrk="0" fontAlgn="base" hangingPunct="0">
              <a:spcBef>
                <a:spcPct val="0"/>
              </a:spcBef>
              <a:spcAft>
                <a:spcPct val="0"/>
              </a:spcAft>
              <a:buChar char="•"/>
              <a:defRPr sz="1600">
                <a:solidFill>
                  <a:schemeClr val="tx1"/>
                </a:solidFill>
                <a:latin typeface="Times New Roman" pitchFamily="18" charset="0"/>
              </a:defRPr>
            </a:lvl8pPr>
            <a:lvl9pPr marL="3886200" indent="-228600" defTabSz="1235075"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Char char="§"/>
            </a:pPr>
            <a:r>
              <a:rPr lang="en-US" sz="2400">
                <a:solidFill>
                  <a:schemeClr val="tx2"/>
                </a:solidFill>
              </a:rPr>
              <a:t>DP:    How to go from d</a:t>
            </a:r>
            <a:r>
              <a:rPr lang="en-US" sz="2400" baseline="30000">
                <a:solidFill>
                  <a:schemeClr val="tx2"/>
                </a:solidFill>
              </a:rPr>
              <a:t>(k-1)</a:t>
            </a:r>
            <a:r>
              <a:rPr lang="en-US" sz="2400">
                <a:solidFill>
                  <a:schemeClr val="tx2"/>
                </a:solidFill>
              </a:rPr>
              <a:t> to d</a:t>
            </a:r>
            <a:r>
              <a:rPr lang="en-US" sz="2400" baseline="30000">
                <a:solidFill>
                  <a:schemeClr val="tx2"/>
                </a:solidFill>
              </a:rPr>
              <a:t>(k)</a:t>
            </a:r>
            <a:r>
              <a:rPr lang="en-US" sz="2400">
                <a:solidFill>
                  <a:schemeClr val="tx2"/>
                </a:solidFill>
              </a:rPr>
              <a:t>,    for k = 1,2, …, n?</a:t>
            </a:r>
          </a:p>
          <a:p>
            <a:pPr eaLnBrk="1" hangingPunct="1">
              <a:spcBef>
                <a:spcPct val="50000"/>
              </a:spcBef>
              <a:buFont typeface="Wingdings" pitchFamily="2" charset="2"/>
              <a:buChar char="§"/>
            </a:pPr>
            <a:r>
              <a:rPr lang="en-US" sz="2000" b="1">
                <a:solidFill>
                  <a:srgbClr val="CC0000"/>
                </a:solidFill>
              </a:rPr>
              <a:t>If d</a:t>
            </a:r>
            <a:r>
              <a:rPr lang="en-US" sz="2000" b="1" baseline="30000">
                <a:solidFill>
                  <a:srgbClr val="CC0000"/>
                </a:solidFill>
              </a:rPr>
              <a:t>(k-1)</a:t>
            </a:r>
            <a:r>
              <a:rPr lang="en-US" sz="2000" b="1">
                <a:solidFill>
                  <a:srgbClr val="CC0000"/>
                </a:solidFill>
              </a:rPr>
              <a:t>(k,k) &lt; 0</a:t>
            </a:r>
            <a:r>
              <a:rPr lang="en-US" sz="2000"/>
              <a:t>,</a:t>
            </a:r>
            <a:r>
              <a:rPr lang="en-US" sz="2000">
                <a:solidFill>
                  <a:schemeClr val="tx2"/>
                </a:solidFill>
              </a:rPr>
              <a:t> then there is a </a:t>
            </a:r>
            <a:r>
              <a:rPr lang="en-US" sz="2000" b="1">
                <a:solidFill>
                  <a:srgbClr val="CC0000"/>
                </a:solidFill>
              </a:rPr>
              <a:t>negative cycle</a:t>
            </a:r>
            <a:r>
              <a:rPr lang="en-US" sz="2000">
                <a:solidFill>
                  <a:schemeClr val="tx2"/>
                </a:solidFill>
              </a:rPr>
              <a:t> &amp; k is the max node of it. Abort.</a:t>
            </a:r>
          </a:p>
          <a:p>
            <a:pPr eaLnBrk="1" hangingPunct="1">
              <a:spcBef>
                <a:spcPct val="50000"/>
              </a:spcBef>
              <a:buFont typeface="Wingdings" pitchFamily="2" charset="2"/>
              <a:buChar char="§"/>
            </a:pPr>
            <a:r>
              <a:rPr lang="en-US" sz="2000" b="1">
                <a:solidFill>
                  <a:srgbClr val="CC0000"/>
                </a:solidFill>
              </a:rPr>
              <a:t>Otherwise:</a:t>
            </a:r>
            <a:r>
              <a:rPr lang="en-US" sz="2000">
                <a:solidFill>
                  <a:schemeClr val="tx2"/>
                </a:solidFill>
              </a:rPr>
              <a:t> for all u, v we have:</a:t>
            </a:r>
          </a:p>
        </p:txBody>
      </p:sp>
      <p:sp>
        <p:nvSpPr>
          <p:cNvPr id="216078" name="Rectangle 14"/>
          <p:cNvSpPr>
            <a:spLocks noChangeArrowheads="1"/>
          </p:cNvSpPr>
          <p:nvPr/>
        </p:nvSpPr>
        <p:spPr bwMode="auto">
          <a:xfrm>
            <a:off x="1371600" y="4343400"/>
            <a:ext cx="60817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50000"/>
              </a:spcBef>
              <a:buFontTx/>
              <a:buNone/>
            </a:pPr>
            <a:r>
              <a:rPr lang="en-US" sz="2000">
                <a:solidFill>
                  <a:schemeClr val="tx2"/>
                </a:solidFill>
              </a:rPr>
              <a:t>d</a:t>
            </a:r>
            <a:r>
              <a:rPr lang="en-US" sz="2000" baseline="30000">
                <a:solidFill>
                  <a:schemeClr val="tx2"/>
                </a:solidFill>
              </a:rPr>
              <a:t>(k)</a:t>
            </a:r>
            <a:r>
              <a:rPr lang="en-US" sz="2000">
                <a:solidFill>
                  <a:schemeClr val="tx2"/>
                </a:solidFill>
              </a:rPr>
              <a:t>(u,v)  =    min {  d</a:t>
            </a:r>
            <a:r>
              <a:rPr lang="en-US" sz="2000" baseline="30000">
                <a:solidFill>
                  <a:schemeClr val="tx2"/>
                </a:solidFill>
              </a:rPr>
              <a:t>(k-1)</a:t>
            </a:r>
            <a:r>
              <a:rPr lang="en-US" sz="2000">
                <a:solidFill>
                  <a:schemeClr val="tx2"/>
                </a:solidFill>
              </a:rPr>
              <a:t>(u,v),       d</a:t>
            </a:r>
            <a:r>
              <a:rPr lang="en-US" sz="2000" baseline="30000">
                <a:solidFill>
                  <a:schemeClr val="tx2"/>
                </a:solidFill>
              </a:rPr>
              <a:t>(k-1)</a:t>
            </a:r>
            <a:r>
              <a:rPr lang="en-US" sz="2000">
                <a:solidFill>
                  <a:schemeClr val="tx2"/>
                </a:solidFill>
              </a:rPr>
              <a:t>(u,k) + d</a:t>
            </a:r>
            <a:r>
              <a:rPr lang="en-US" sz="2000" baseline="30000">
                <a:solidFill>
                  <a:schemeClr val="tx2"/>
                </a:solidFill>
              </a:rPr>
              <a:t>(k-1)</a:t>
            </a:r>
            <a:r>
              <a:rPr lang="en-US" sz="2000">
                <a:solidFill>
                  <a:schemeClr val="tx2"/>
                </a:solidFill>
              </a:rPr>
              <a:t>(k,v)  }</a:t>
            </a:r>
          </a:p>
        </p:txBody>
      </p:sp>
      <p:grpSp>
        <p:nvGrpSpPr>
          <p:cNvPr id="216085" name="Group 21"/>
          <p:cNvGrpSpPr>
            <a:grpSpLocks/>
          </p:cNvGrpSpPr>
          <p:nvPr/>
        </p:nvGrpSpPr>
        <p:grpSpPr bwMode="auto">
          <a:xfrm>
            <a:off x="1371600" y="4724400"/>
            <a:ext cx="5583239" cy="1158875"/>
            <a:chOff x="864" y="2976"/>
            <a:chExt cx="3517" cy="730"/>
          </a:xfrm>
        </p:grpSpPr>
        <p:sp>
          <p:nvSpPr>
            <p:cNvPr id="124945" name="Line 15"/>
            <p:cNvSpPr>
              <a:spLocks noChangeShapeType="1"/>
            </p:cNvSpPr>
            <p:nvPr/>
          </p:nvSpPr>
          <p:spPr bwMode="auto">
            <a:xfrm flipV="1">
              <a:off x="2448" y="2976"/>
              <a:ext cx="0" cy="240"/>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4946" name="Line 16"/>
            <p:cNvSpPr>
              <a:spLocks noChangeShapeType="1"/>
            </p:cNvSpPr>
            <p:nvPr/>
          </p:nvSpPr>
          <p:spPr bwMode="auto">
            <a:xfrm flipV="1">
              <a:off x="3792" y="2976"/>
              <a:ext cx="0" cy="240"/>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4947" name="Rectangle 17"/>
            <p:cNvSpPr>
              <a:spLocks noChangeArrowheads="1"/>
            </p:cNvSpPr>
            <p:nvPr/>
          </p:nvSpPr>
          <p:spPr bwMode="auto">
            <a:xfrm>
              <a:off x="864" y="3216"/>
              <a:ext cx="351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50000"/>
                </a:spcBef>
                <a:buFontTx/>
                <a:buNone/>
              </a:pPr>
              <a:r>
                <a:rPr lang="en-US" sz="2000" dirty="0">
                  <a:solidFill>
                    <a:schemeClr val="tx2"/>
                  </a:solidFill>
                  <a:latin typeface="Symbol" pitchFamily="18" charset="2"/>
                </a:rPr>
                <a:t>p</a:t>
              </a:r>
              <a:r>
                <a:rPr lang="en-US" sz="2000" baseline="30000" dirty="0">
                  <a:solidFill>
                    <a:schemeClr val="tx2"/>
                  </a:solidFill>
                </a:rPr>
                <a:t>(k</a:t>
              </a:r>
              <a:r>
                <a:rPr lang="en-US" sz="2000" baseline="30000" dirty="0" smtClean="0">
                  <a:solidFill>
                    <a:schemeClr val="tx2"/>
                  </a:solidFill>
                </a:rPr>
                <a:t>)</a:t>
              </a:r>
              <a:r>
                <a:rPr lang="en-US" sz="2000" dirty="0" smtClean="0">
                  <a:solidFill>
                    <a:schemeClr val="tx2"/>
                  </a:solidFill>
                </a:rPr>
                <a:t>(</a:t>
              </a:r>
              <a:r>
                <a:rPr lang="en-US" sz="2000" dirty="0" err="1" smtClean="0">
                  <a:solidFill>
                    <a:schemeClr val="tx2"/>
                  </a:solidFill>
                </a:rPr>
                <a:t>u,v</a:t>
              </a:r>
              <a:r>
                <a:rPr lang="en-US" sz="2000" dirty="0" smtClean="0">
                  <a:solidFill>
                    <a:schemeClr val="tx2"/>
                  </a:solidFill>
                </a:rPr>
                <a:t>)  </a:t>
              </a:r>
              <a:r>
                <a:rPr lang="en-US" sz="2000" dirty="0">
                  <a:solidFill>
                    <a:schemeClr val="tx2"/>
                  </a:solidFill>
                </a:rPr>
                <a:t>=                 </a:t>
              </a:r>
              <a:r>
                <a:rPr lang="en-US" sz="2000" dirty="0">
                  <a:solidFill>
                    <a:schemeClr val="tx2"/>
                  </a:solidFill>
                  <a:latin typeface="Symbol" pitchFamily="18" charset="2"/>
                </a:rPr>
                <a:t>p</a:t>
              </a:r>
              <a:r>
                <a:rPr lang="en-US" sz="2000" baseline="30000" dirty="0">
                  <a:solidFill>
                    <a:schemeClr val="tx2"/>
                  </a:solidFill>
                </a:rPr>
                <a:t>(k-1)</a:t>
              </a:r>
              <a:r>
                <a:rPr lang="en-US" sz="2000" dirty="0">
                  <a:solidFill>
                    <a:schemeClr val="tx2"/>
                  </a:solidFill>
                </a:rPr>
                <a:t>(</a:t>
              </a:r>
              <a:r>
                <a:rPr lang="en-US" sz="2000" dirty="0" err="1">
                  <a:solidFill>
                    <a:schemeClr val="tx2"/>
                  </a:solidFill>
                </a:rPr>
                <a:t>u,v</a:t>
              </a:r>
              <a:r>
                <a:rPr lang="en-US" sz="2000" dirty="0">
                  <a:solidFill>
                    <a:schemeClr val="tx2"/>
                  </a:solidFill>
                </a:rPr>
                <a:t>)     OR         </a:t>
              </a:r>
              <a:r>
                <a:rPr lang="en-US" sz="2000" dirty="0">
                  <a:solidFill>
                    <a:schemeClr val="tx2"/>
                  </a:solidFill>
                  <a:latin typeface="Symbol" pitchFamily="18" charset="2"/>
                </a:rPr>
                <a:t>p</a:t>
              </a:r>
              <a:r>
                <a:rPr lang="en-US" sz="2000" baseline="30000" dirty="0">
                  <a:solidFill>
                    <a:schemeClr val="tx2"/>
                  </a:solidFill>
                </a:rPr>
                <a:t>(k-1)</a:t>
              </a:r>
              <a:r>
                <a:rPr lang="en-US" sz="2000" dirty="0">
                  <a:solidFill>
                    <a:schemeClr val="tx2"/>
                  </a:solidFill>
                </a:rPr>
                <a:t>(</a:t>
              </a:r>
              <a:r>
                <a:rPr lang="en-US" sz="2000" dirty="0" err="1">
                  <a:solidFill>
                    <a:schemeClr val="tx2"/>
                  </a:solidFill>
                </a:rPr>
                <a:t>k,v</a:t>
              </a:r>
              <a:r>
                <a:rPr lang="en-US" sz="2000" dirty="0">
                  <a:solidFill>
                    <a:schemeClr val="tx2"/>
                  </a:solidFill>
                </a:rPr>
                <a:t>)</a:t>
              </a:r>
            </a:p>
          </p:txBody>
        </p:sp>
        <p:sp>
          <p:nvSpPr>
            <p:cNvPr id="124948" name="Rectangle 20"/>
            <p:cNvSpPr>
              <a:spLocks noChangeArrowheads="1"/>
            </p:cNvSpPr>
            <p:nvPr/>
          </p:nvSpPr>
          <p:spPr bwMode="auto">
            <a:xfrm>
              <a:off x="3648" y="3456"/>
              <a:ext cx="444" cy="250"/>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571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itchFamily="2" charset="2"/>
                <a:buNone/>
              </a:pPr>
              <a:r>
                <a:rPr lang="en-US" sz="2000">
                  <a:solidFill>
                    <a:srgbClr val="CC0000"/>
                  </a:solidFill>
                </a:rPr>
                <a:t>k </a:t>
              </a:r>
              <a:r>
                <a:rPr lang="en-US" sz="2000">
                  <a:solidFill>
                    <a:srgbClr val="CC0000"/>
                  </a:solidFill>
                  <a:sym typeface="Symbol" pitchFamily="18" charset="2"/>
                </a:rPr>
                <a:t></a:t>
              </a:r>
              <a:r>
                <a:rPr lang="en-US" sz="2000">
                  <a:solidFill>
                    <a:srgbClr val="CC0000"/>
                  </a:solidFill>
                </a:rPr>
                <a:t> v</a:t>
              </a:r>
            </a:p>
          </p:txBody>
        </p:sp>
      </p:grpSp>
      <p:grpSp>
        <p:nvGrpSpPr>
          <p:cNvPr id="216087" name="Group 23"/>
          <p:cNvGrpSpPr>
            <a:grpSpLocks/>
          </p:cNvGrpSpPr>
          <p:nvPr/>
        </p:nvGrpSpPr>
        <p:grpSpPr bwMode="auto">
          <a:xfrm>
            <a:off x="1143000" y="2057400"/>
            <a:ext cx="5934075" cy="1616075"/>
            <a:chOff x="720" y="1296"/>
            <a:chExt cx="3738" cy="1018"/>
          </a:xfrm>
        </p:grpSpPr>
        <p:sp>
          <p:nvSpPr>
            <p:cNvPr id="124935" name="Freeform 7"/>
            <p:cNvSpPr>
              <a:spLocks/>
            </p:cNvSpPr>
            <p:nvPr/>
          </p:nvSpPr>
          <p:spPr bwMode="auto">
            <a:xfrm>
              <a:off x="2157" y="1981"/>
              <a:ext cx="2016" cy="87"/>
            </a:xfrm>
            <a:custGeom>
              <a:avLst/>
              <a:gdLst>
                <a:gd name="T0" fmla="*/ 0 w 2016"/>
                <a:gd name="T1" fmla="*/ 35 h 87"/>
                <a:gd name="T2" fmla="*/ 293 w 2016"/>
                <a:gd name="T3" fmla="*/ 27 h 87"/>
                <a:gd name="T4" fmla="*/ 439 w 2016"/>
                <a:gd name="T5" fmla="*/ 80 h 87"/>
                <a:gd name="T6" fmla="*/ 644 w 2016"/>
                <a:gd name="T7" fmla="*/ 7 h 87"/>
                <a:gd name="T8" fmla="*/ 869 w 2016"/>
                <a:gd name="T9" fmla="*/ 73 h 87"/>
                <a:gd name="T10" fmla="*/ 1134 w 2016"/>
                <a:gd name="T11" fmla="*/ 13 h 87"/>
                <a:gd name="T12" fmla="*/ 1339 w 2016"/>
                <a:gd name="T13" fmla="*/ 86 h 87"/>
                <a:gd name="T14" fmla="*/ 1544 w 2016"/>
                <a:gd name="T15" fmla="*/ 7 h 87"/>
                <a:gd name="T16" fmla="*/ 1743 w 2016"/>
                <a:gd name="T17" fmla="*/ 47 h 87"/>
                <a:gd name="T18" fmla="*/ 2016 w 2016"/>
                <a:gd name="T19" fmla="*/ 35 h 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016" h="87">
                  <a:moveTo>
                    <a:pt x="0" y="35"/>
                  </a:moveTo>
                  <a:cubicBezTo>
                    <a:pt x="49" y="34"/>
                    <a:pt x="220" y="20"/>
                    <a:pt x="293" y="27"/>
                  </a:cubicBezTo>
                  <a:cubicBezTo>
                    <a:pt x="366" y="34"/>
                    <a:pt x="381" y="83"/>
                    <a:pt x="439" y="80"/>
                  </a:cubicBezTo>
                  <a:cubicBezTo>
                    <a:pt x="497" y="77"/>
                    <a:pt x="572" y="8"/>
                    <a:pt x="644" y="7"/>
                  </a:cubicBezTo>
                  <a:cubicBezTo>
                    <a:pt x="716" y="6"/>
                    <a:pt x="787" y="72"/>
                    <a:pt x="869" y="73"/>
                  </a:cubicBezTo>
                  <a:cubicBezTo>
                    <a:pt x="951" y="74"/>
                    <a:pt x="1056" y="11"/>
                    <a:pt x="1134" y="13"/>
                  </a:cubicBezTo>
                  <a:cubicBezTo>
                    <a:pt x="1212" y="15"/>
                    <a:pt x="1271" y="87"/>
                    <a:pt x="1339" y="86"/>
                  </a:cubicBezTo>
                  <a:cubicBezTo>
                    <a:pt x="1407" y="85"/>
                    <a:pt x="1477" y="14"/>
                    <a:pt x="1544" y="7"/>
                  </a:cubicBezTo>
                  <a:cubicBezTo>
                    <a:pt x="1611" y="0"/>
                    <a:pt x="1664" y="42"/>
                    <a:pt x="1743" y="47"/>
                  </a:cubicBezTo>
                  <a:cubicBezTo>
                    <a:pt x="1822" y="52"/>
                    <a:pt x="1959" y="37"/>
                    <a:pt x="2016" y="35"/>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4936" name="Freeform 8"/>
            <p:cNvSpPr>
              <a:spLocks/>
            </p:cNvSpPr>
            <p:nvPr/>
          </p:nvSpPr>
          <p:spPr bwMode="auto">
            <a:xfrm>
              <a:off x="2157" y="1488"/>
              <a:ext cx="912" cy="528"/>
            </a:xfrm>
            <a:custGeom>
              <a:avLst/>
              <a:gdLst>
                <a:gd name="T0" fmla="*/ 0 w 912"/>
                <a:gd name="T1" fmla="*/ 528 h 528"/>
                <a:gd name="T2" fmla="*/ 207 w 912"/>
                <a:gd name="T3" fmla="*/ 381 h 528"/>
                <a:gd name="T4" fmla="*/ 333 w 912"/>
                <a:gd name="T5" fmla="*/ 341 h 528"/>
                <a:gd name="T6" fmla="*/ 432 w 912"/>
                <a:gd name="T7" fmla="*/ 215 h 528"/>
                <a:gd name="T8" fmla="*/ 571 w 912"/>
                <a:gd name="T9" fmla="*/ 209 h 528"/>
                <a:gd name="T10" fmla="*/ 637 w 912"/>
                <a:gd name="T11" fmla="*/ 83 h 528"/>
                <a:gd name="T12" fmla="*/ 776 w 912"/>
                <a:gd name="T13" fmla="*/ 70 h 528"/>
                <a:gd name="T14" fmla="*/ 912 w 912"/>
                <a:gd name="T15" fmla="*/ 0 h 52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12" h="528">
                  <a:moveTo>
                    <a:pt x="0" y="528"/>
                  </a:moveTo>
                  <a:cubicBezTo>
                    <a:pt x="35" y="503"/>
                    <a:pt x="152" y="412"/>
                    <a:pt x="207" y="381"/>
                  </a:cubicBezTo>
                  <a:cubicBezTo>
                    <a:pt x="262" y="350"/>
                    <a:pt x="296" y="369"/>
                    <a:pt x="333" y="341"/>
                  </a:cubicBezTo>
                  <a:cubicBezTo>
                    <a:pt x="370" y="313"/>
                    <a:pt x="392" y="237"/>
                    <a:pt x="432" y="215"/>
                  </a:cubicBezTo>
                  <a:cubicBezTo>
                    <a:pt x="472" y="193"/>
                    <a:pt x="537" y="231"/>
                    <a:pt x="571" y="209"/>
                  </a:cubicBezTo>
                  <a:cubicBezTo>
                    <a:pt x="605" y="187"/>
                    <a:pt x="603" y="106"/>
                    <a:pt x="637" y="83"/>
                  </a:cubicBezTo>
                  <a:cubicBezTo>
                    <a:pt x="671" y="60"/>
                    <a:pt x="730" y="84"/>
                    <a:pt x="776" y="70"/>
                  </a:cubicBezTo>
                  <a:cubicBezTo>
                    <a:pt x="822" y="56"/>
                    <a:pt x="884" y="15"/>
                    <a:pt x="912" y="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4937" name="Freeform 9"/>
            <p:cNvSpPr>
              <a:spLocks/>
            </p:cNvSpPr>
            <p:nvPr/>
          </p:nvSpPr>
          <p:spPr bwMode="auto">
            <a:xfrm>
              <a:off x="3213" y="1440"/>
              <a:ext cx="998" cy="488"/>
            </a:xfrm>
            <a:custGeom>
              <a:avLst/>
              <a:gdLst>
                <a:gd name="T0" fmla="*/ 0 w 998"/>
                <a:gd name="T1" fmla="*/ 0 h 488"/>
                <a:gd name="T2" fmla="*/ 237 w 998"/>
                <a:gd name="T3" fmla="*/ 118 h 488"/>
                <a:gd name="T4" fmla="*/ 429 w 998"/>
                <a:gd name="T5" fmla="*/ 131 h 488"/>
                <a:gd name="T6" fmla="*/ 515 w 998"/>
                <a:gd name="T7" fmla="*/ 270 h 488"/>
                <a:gd name="T8" fmla="*/ 700 w 998"/>
                <a:gd name="T9" fmla="*/ 270 h 488"/>
                <a:gd name="T10" fmla="*/ 839 w 998"/>
                <a:gd name="T11" fmla="*/ 402 h 488"/>
                <a:gd name="T12" fmla="*/ 998 w 998"/>
                <a:gd name="T13" fmla="*/ 488 h 48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98" h="488">
                  <a:moveTo>
                    <a:pt x="0" y="0"/>
                  </a:moveTo>
                  <a:cubicBezTo>
                    <a:pt x="39" y="20"/>
                    <a:pt x="166" y="96"/>
                    <a:pt x="237" y="118"/>
                  </a:cubicBezTo>
                  <a:cubicBezTo>
                    <a:pt x="308" y="140"/>
                    <a:pt x="383" y="106"/>
                    <a:pt x="429" y="131"/>
                  </a:cubicBezTo>
                  <a:cubicBezTo>
                    <a:pt x="475" y="156"/>
                    <a:pt x="470" y="247"/>
                    <a:pt x="515" y="270"/>
                  </a:cubicBezTo>
                  <a:cubicBezTo>
                    <a:pt x="560" y="293"/>
                    <a:pt x="646" y="248"/>
                    <a:pt x="700" y="270"/>
                  </a:cubicBezTo>
                  <a:cubicBezTo>
                    <a:pt x="754" y="292"/>
                    <a:pt x="789" y="366"/>
                    <a:pt x="839" y="402"/>
                  </a:cubicBezTo>
                  <a:cubicBezTo>
                    <a:pt x="889" y="438"/>
                    <a:pt x="965" y="470"/>
                    <a:pt x="998" y="488"/>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24938" name="Oval 4"/>
            <p:cNvSpPr>
              <a:spLocks noChangeArrowheads="1"/>
            </p:cNvSpPr>
            <p:nvPr/>
          </p:nvSpPr>
          <p:spPr bwMode="auto">
            <a:xfrm>
              <a:off x="2016" y="1848"/>
              <a:ext cx="285"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u</a:t>
              </a:r>
            </a:p>
          </p:txBody>
        </p:sp>
        <p:sp>
          <p:nvSpPr>
            <p:cNvPr id="124939" name="Oval 6"/>
            <p:cNvSpPr>
              <a:spLocks noChangeArrowheads="1"/>
            </p:cNvSpPr>
            <p:nvPr/>
          </p:nvSpPr>
          <p:spPr bwMode="auto">
            <a:xfrm>
              <a:off x="3069" y="1296"/>
              <a:ext cx="285"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k</a:t>
              </a:r>
            </a:p>
          </p:txBody>
        </p:sp>
        <p:sp>
          <p:nvSpPr>
            <p:cNvPr id="124940" name="Oval 5"/>
            <p:cNvSpPr>
              <a:spLocks noChangeArrowheads="1"/>
            </p:cNvSpPr>
            <p:nvPr/>
          </p:nvSpPr>
          <p:spPr bwMode="auto">
            <a:xfrm>
              <a:off x="4173" y="1872"/>
              <a:ext cx="285" cy="2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spcBef>
                  <a:spcPct val="50000"/>
                </a:spcBef>
                <a:buFontTx/>
                <a:buNone/>
              </a:pPr>
              <a:r>
                <a:rPr lang="en-US" dirty="0">
                  <a:solidFill>
                    <a:schemeClr val="tx2"/>
                  </a:solidFill>
                </a:rPr>
                <a:t>v</a:t>
              </a:r>
            </a:p>
          </p:txBody>
        </p:sp>
        <p:sp>
          <p:nvSpPr>
            <p:cNvPr id="124941" name="Rectangle 10"/>
            <p:cNvSpPr>
              <a:spLocks noChangeArrowheads="1"/>
            </p:cNvSpPr>
            <p:nvPr/>
          </p:nvSpPr>
          <p:spPr bwMode="auto">
            <a:xfrm>
              <a:off x="2841" y="2064"/>
              <a:ext cx="71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solidFill>
                    <a:schemeClr val="tx2"/>
                  </a:solidFill>
                </a:rPr>
                <a:t>d</a:t>
              </a:r>
              <a:r>
                <a:rPr lang="en-US" sz="2000" baseline="30000">
                  <a:solidFill>
                    <a:schemeClr val="tx2"/>
                  </a:solidFill>
                </a:rPr>
                <a:t>(k-1)</a:t>
              </a:r>
              <a:r>
                <a:rPr lang="en-US" sz="2000">
                  <a:solidFill>
                    <a:schemeClr val="tx2"/>
                  </a:solidFill>
                </a:rPr>
                <a:t>(u,v)</a:t>
              </a:r>
            </a:p>
          </p:txBody>
        </p:sp>
        <p:sp>
          <p:nvSpPr>
            <p:cNvPr id="124942" name="Rectangle 11"/>
            <p:cNvSpPr>
              <a:spLocks noChangeArrowheads="1"/>
            </p:cNvSpPr>
            <p:nvPr/>
          </p:nvSpPr>
          <p:spPr bwMode="auto">
            <a:xfrm rot="-1661853">
              <a:off x="2235" y="1392"/>
              <a:ext cx="71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solidFill>
                    <a:schemeClr val="tx2"/>
                  </a:solidFill>
                </a:rPr>
                <a:t>d</a:t>
              </a:r>
              <a:r>
                <a:rPr lang="en-US" sz="2000" baseline="30000">
                  <a:solidFill>
                    <a:schemeClr val="tx2"/>
                  </a:solidFill>
                </a:rPr>
                <a:t>(k-1)</a:t>
              </a:r>
              <a:r>
                <a:rPr lang="en-US" sz="2000">
                  <a:solidFill>
                    <a:schemeClr val="tx2"/>
                  </a:solidFill>
                </a:rPr>
                <a:t>(u,k)</a:t>
              </a:r>
            </a:p>
          </p:txBody>
        </p:sp>
        <p:sp>
          <p:nvSpPr>
            <p:cNvPr id="124943" name="Rectangle 12"/>
            <p:cNvSpPr>
              <a:spLocks noChangeArrowheads="1"/>
            </p:cNvSpPr>
            <p:nvPr/>
          </p:nvSpPr>
          <p:spPr bwMode="auto">
            <a:xfrm rot="1472171">
              <a:off x="3483" y="1392"/>
              <a:ext cx="71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2000">
                  <a:solidFill>
                    <a:schemeClr val="tx2"/>
                  </a:solidFill>
                </a:rPr>
                <a:t>d</a:t>
              </a:r>
              <a:r>
                <a:rPr lang="en-US" sz="2000" baseline="30000">
                  <a:solidFill>
                    <a:schemeClr val="tx2"/>
                  </a:solidFill>
                </a:rPr>
                <a:t>(k-1)</a:t>
              </a:r>
              <a:r>
                <a:rPr lang="en-US" sz="2000">
                  <a:solidFill>
                    <a:schemeClr val="tx2"/>
                  </a:solidFill>
                </a:rPr>
                <a:t>(k,v)</a:t>
              </a:r>
            </a:p>
          </p:txBody>
        </p:sp>
        <p:sp>
          <p:nvSpPr>
            <p:cNvPr id="124944" name="Text Box 22"/>
            <p:cNvSpPr txBox="1">
              <a:spLocks noChangeArrowheads="1"/>
            </p:cNvSpPr>
            <p:nvPr/>
          </p:nvSpPr>
          <p:spPr bwMode="auto">
            <a:xfrm>
              <a:off x="720" y="1680"/>
              <a:ext cx="888" cy="231"/>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571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1800" b="1">
                  <a:solidFill>
                    <a:srgbClr val="CC0000"/>
                  </a:solidFill>
                </a:rPr>
                <a:t>OSSP holds:</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6067">
                                            <p:txEl>
                                              <p:pRg st="0" end="0"/>
                                            </p:txEl>
                                          </p:spTgt>
                                        </p:tgtEl>
                                        <p:attrNameLst>
                                          <p:attrName>style.visibility</p:attrName>
                                        </p:attrNameLst>
                                      </p:cBhvr>
                                      <p:to>
                                        <p:strVal val="visible"/>
                                      </p:to>
                                    </p:set>
                                    <p:animEffect transition="in" filter="wipe(left)">
                                      <p:cBhvr>
                                        <p:cTn id="7" dur="500"/>
                                        <p:tgtEl>
                                          <p:spTgt spid="2160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6067">
                                            <p:txEl>
                                              <p:pRg st="1" end="1"/>
                                            </p:txEl>
                                          </p:spTgt>
                                        </p:tgtEl>
                                        <p:attrNameLst>
                                          <p:attrName>style.visibility</p:attrName>
                                        </p:attrNameLst>
                                      </p:cBhvr>
                                      <p:to>
                                        <p:strVal val="visible"/>
                                      </p:to>
                                    </p:set>
                                    <p:animEffect transition="in" filter="wipe(left)">
                                      <p:cBhvr>
                                        <p:cTn id="12" dur="500"/>
                                        <p:tgtEl>
                                          <p:spTgt spid="2160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6067">
                                            <p:txEl>
                                              <p:pRg st="2" end="2"/>
                                            </p:txEl>
                                          </p:spTgt>
                                        </p:tgtEl>
                                        <p:attrNameLst>
                                          <p:attrName>style.visibility</p:attrName>
                                        </p:attrNameLst>
                                      </p:cBhvr>
                                      <p:to>
                                        <p:strVal val="visible"/>
                                      </p:to>
                                    </p:set>
                                    <p:animEffect transition="in" filter="wipe(left)">
                                      <p:cBhvr>
                                        <p:cTn id="17" dur="500"/>
                                        <p:tgtEl>
                                          <p:spTgt spid="2160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16087"/>
                                        </p:tgtEl>
                                        <p:attrNameLst>
                                          <p:attrName>style.visibility</p:attrName>
                                        </p:attrNameLst>
                                      </p:cBhvr>
                                      <p:to>
                                        <p:strVal val="visible"/>
                                      </p:to>
                                    </p:set>
                                    <p:animEffect transition="in" filter="wipe(left)">
                                      <p:cBhvr>
                                        <p:cTn id="22" dur="500"/>
                                        <p:tgtEl>
                                          <p:spTgt spid="2160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6078"/>
                                        </p:tgtEl>
                                        <p:attrNameLst>
                                          <p:attrName>style.visibility</p:attrName>
                                        </p:attrNameLst>
                                      </p:cBhvr>
                                      <p:to>
                                        <p:strVal val="visible"/>
                                      </p:to>
                                    </p:set>
                                    <p:animEffect transition="in" filter="wipe(left)">
                                      <p:cBhvr>
                                        <p:cTn id="27" dur="500"/>
                                        <p:tgtEl>
                                          <p:spTgt spid="2160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16085"/>
                                        </p:tgtEl>
                                        <p:attrNameLst>
                                          <p:attrName>style.visibility</p:attrName>
                                        </p:attrNameLst>
                                      </p:cBhvr>
                                      <p:to>
                                        <p:strVal val="visible"/>
                                      </p:to>
                                    </p:set>
                                    <p:animEffect transition="in" filter="wipe(left)">
                                      <p:cBhvr>
                                        <p:cTn id="32" dur="500"/>
                                        <p:tgtEl>
                                          <p:spTgt spid="216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7" grpId="0" build="p" autoUpdateAnimBg="0"/>
      <p:bldP spid="216078" grpId="0"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838200" indent="-838200" eaLnBrk="1" hangingPunct="1"/>
            <a:r>
              <a:rPr lang="en-US" sz="2800" dirty="0" smtClean="0">
                <a:solidFill>
                  <a:schemeClr val="tx1"/>
                </a:solidFill>
                <a:latin typeface="Arial Rounded MT Bold" pitchFamily="34" charset="0"/>
                <a:sym typeface="Symbol" pitchFamily="18" charset="2"/>
              </a:rPr>
              <a:t>Floyd-</a:t>
            </a:r>
            <a:r>
              <a:rPr lang="en-US" sz="2800" dirty="0" err="1" smtClean="0">
                <a:solidFill>
                  <a:schemeClr val="tx1"/>
                </a:solidFill>
                <a:latin typeface="Arial Rounded MT Bold" pitchFamily="34" charset="0"/>
                <a:sym typeface="Symbol" pitchFamily="18" charset="2"/>
              </a:rPr>
              <a:t>Warshall</a:t>
            </a:r>
            <a:r>
              <a:rPr lang="en-US" sz="2800" dirty="0" smtClean="0">
                <a:solidFill>
                  <a:schemeClr val="tx1"/>
                </a:solidFill>
                <a:latin typeface="Arial Rounded MT Bold" pitchFamily="34" charset="0"/>
                <a:sym typeface="Symbol" pitchFamily="18" charset="2"/>
              </a:rPr>
              <a:t> [1962]</a:t>
            </a:r>
          </a:p>
        </p:txBody>
      </p:sp>
      <p:sp>
        <p:nvSpPr>
          <p:cNvPr id="217102" name="Rectangle 14"/>
          <p:cNvSpPr>
            <a:spLocks noChangeArrowheads="1"/>
          </p:cNvSpPr>
          <p:nvPr/>
        </p:nvSpPr>
        <p:spPr bwMode="auto">
          <a:xfrm>
            <a:off x="228600" y="990600"/>
            <a:ext cx="5510213"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50000"/>
              </a:spcBef>
              <a:buFontTx/>
              <a:buNone/>
            </a:pPr>
            <a:r>
              <a:rPr lang="en-US" sz="2000">
                <a:solidFill>
                  <a:schemeClr val="tx2"/>
                </a:solidFill>
              </a:rPr>
              <a:t>d</a:t>
            </a:r>
            <a:r>
              <a:rPr lang="en-US" sz="2000" baseline="30000">
                <a:solidFill>
                  <a:schemeClr val="tx2"/>
                </a:solidFill>
              </a:rPr>
              <a:t>(k)</a:t>
            </a:r>
            <a:r>
              <a:rPr lang="en-US" sz="2000">
                <a:solidFill>
                  <a:schemeClr val="tx2"/>
                </a:solidFill>
              </a:rPr>
              <a:t>(u,v)  =   min{ d</a:t>
            </a:r>
            <a:r>
              <a:rPr lang="en-US" sz="2000" baseline="30000">
                <a:solidFill>
                  <a:schemeClr val="tx2"/>
                </a:solidFill>
              </a:rPr>
              <a:t>(k-1)</a:t>
            </a:r>
            <a:r>
              <a:rPr lang="en-US" sz="2000">
                <a:solidFill>
                  <a:schemeClr val="tx2"/>
                </a:solidFill>
              </a:rPr>
              <a:t>(u,v),  d</a:t>
            </a:r>
            <a:r>
              <a:rPr lang="en-US" sz="2000" baseline="30000">
                <a:solidFill>
                  <a:schemeClr val="tx2"/>
                </a:solidFill>
              </a:rPr>
              <a:t>(k-1)</a:t>
            </a:r>
            <a:r>
              <a:rPr lang="en-US" sz="2000">
                <a:solidFill>
                  <a:schemeClr val="tx2"/>
                </a:solidFill>
              </a:rPr>
              <a:t>(u,k) + d</a:t>
            </a:r>
            <a:r>
              <a:rPr lang="en-US" sz="2000" baseline="30000">
                <a:solidFill>
                  <a:schemeClr val="tx2"/>
                </a:solidFill>
              </a:rPr>
              <a:t>(k-1)</a:t>
            </a:r>
            <a:r>
              <a:rPr lang="en-US" sz="2000">
                <a:solidFill>
                  <a:schemeClr val="tx2"/>
                </a:solidFill>
              </a:rPr>
              <a:t>(k,v)} </a:t>
            </a:r>
            <a:br>
              <a:rPr lang="en-US" sz="2000">
                <a:solidFill>
                  <a:schemeClr val="tx2"/>
                </a:solidFill>
              </a:rPr>
            </a:br>
            <a:endParaRPr lang="en-US" sz="2000">
              <a:solidFill>
                <a:schemeClr val="tx2"/>
              </a:solidFill>
            </a:endParaRPr>
          </a:p>
          <a:p>
            <a:pPr eaLnBrk="1" hangingPunct="1">
              <a:spcBef>
                <a:spcPct val="50000"/>
              </a:spcBef>
              <a:buFontTx/>
              <a:buNone/>
            </a:pPr>
            <a:r>
              <a:rPr lang="en-US" sz="2000">
                <a:solidFill>
                  <a:schemeClr val="tx2"/>
                </a:solidFill>
              </a:rPr>
              <a:t>d</a:t>
            </a:r>
            <a:r>
              <a:rPr lang="en-US" sz="2000" baseline="30000">
                <a:solidFill>
                  <a:schemeClr val="tx2"/>
                </a:solidFill>
              </a:rPr>
              <a:t>(k-1)</a:t>
            </a:r>
            <a:r>
              <a:rPr lang="en-US" sz="2000">
                <a:solidFill>
                  <a:schemeClr val="tx2"/>
                </a:solidFill>
              </a:rPr>
              <a:t>(k,k) </a:t>
            </a:r>
            <a:r>
              <a:rPr lang="en-US" sz="2000">
                <a:solidFill>
                  <a:schemeClr val="tx2"/>
                </a:solidFill>
                <a:sym typeface="Symbol" pitchFamily="18" charset="2"/>
              </a:rPr>
              <a:t> 0</a:t>
            </a:r>
          </a:p>
        </p:txBody>
      </p:sp>
      <p:grpSp>
        <p:nvGrpSpPr>
          <p:cNvPr id="217117" name="Group 29"/>
          <p:cNvGrpSpPr>
            <a:grpSpLocks/>
          </p:cNvGrpSpPr>
          <p:nvPr/>
        </p:nvGrpSpPr>
        <p:grpSpPr bwMode="auto">
          <a:xfrm>
            <a:off x="6019800" y="914400"/>
            <a:ext cx="2819400" cy="2667000"/>
            <a:chOff x="3792" y="576"/>
            <a:chExt cx="1776" cy="1680"/>
          </a:xfrm>
        </p:grpSpPr>
        <p:sp>
          <p:nvSpPr>
            <p:cNvPr id="125959" name="Rectangle 19"/>
            <p:cNvSpPr>
              <a:spLocks noChangeArrowheads="1"/>
            </p:cNvSpPr>
            <p:nvPr/>
          </p:nvSpPr>
          <p:spPr bwMode="auto">
            <a:xfrm>
              <a:off x="3984" y="816"/>
              <a:ext cx="1584" cy="1440"/>
            </a:xfrm>
            <a:prstGeom prst="rect">
              <a:avLst/>
            </a:prstGeom>
            <a:solidFill>
              <a:schemeClr val="bg1"/>
            </a:solidFill>
            <a:ln w="19050">
              <a:solidFill>
                <a:schemeClr val="tx1"/>
              </a:solidFill>
              <a:miter lim="800000"/>
              <a:headEnd/>
              <a:tailEnd/>
            </a:ln>
            <a:effectLst>
              <a:outerShdw blurRad="127000" dist="63500" dir="2700000" algn="ctr" rotWithShape="0">
                <a:schemeClr val="bg2">
                  <a:alpha val="61000"/>
                </a:schemeClr>
              </a:outerShdw>
            </a:effectLst>
            <a:extLst/>
          </p:spPr>
          <p:txBody>
            <a:bodyPr wrap="none" anchor="ctr">
              <a:spAutoFit/>
            </a:bodyPr>
            <a:lstStyle/>
            <a:p>
              <a:endParaRPr lang="en-CA"/>
            </a:p>
          </p:txBody>
        </p:sp>
        <p:sp>
          <p:nvSpPr>
            <p:cNvPr id="125960" name="Text Box 20"/>
            <p:cNvSpPr txBox="1">
              <a:spLocks noChangeArrowheads="1"/>
            </p:cNvSpPr>
            <p:nvPr/>
          </p:nvSpPr>
          <p:spPr bwMode="auto">
            <a:xfrm>
              <a:off x="3792" y="1440"/>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k</a:t>
              </a:r>
            </a:p>
          </p:txBody>
        </p:sp>
        <p:sp>
          <p:nvSpPr>
            <p:cNvPr id="125961" name="Text Box 22"/>
            <p:cNvSpPr txBox="1">
              <a:spLocks noChangeArrowheads="1"/>
            </p:cNvSpPr>
            <p:nvPr/>
          </p:nvSpPr>
          <p:spPr bwMode="auto">
            <a:xfrm>
              <a:off x="4656" y="57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Tx/>
                <a:buNone/>
              </a:pPr>
              <a:r>
                <a:rPr lang="en-US" sz="1800">
                  <a:solidFill>
                    <a:schemeClr val="tx2"/>
                  </a:solidFill>
                </a:rPr>
                <a:t>k</a:t>
              </a:r>
            </a:p>
          </p:txBody>
        </p:sp>
        <p:sp>
          <p:nvSpPr>
            <p:cNvPr id="125962" name="Rectangle 23"/>
            <p:cNvSpPr>
              <a:spLocks noChangeArrowheads="1"/>
            </p:cNvSpPr>
            <p:nvPr/>
          </p:nvSpPr>
          <p:spPr bwMode="auto">
            <a:xfrm>
              <a:off x="3984" y="1488"/>
              <a:ext cx="1584" cy="144"/>
            </a:xfrm>
            <a:prstGeom prst="rect">
              <a:avLst/>
            </a:prstGeom>
            <a:solidFill>
              <a:schemeClr val="accent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125963" name="Rectangle 24"/>
            <p:cNvSpPr>
              <a:spLocks noChangeArrowheads="1"/>
            </p:cNvSpPr>
            <p:nvPr/>
          </p:nvSpPr>
          <p:spPr bwMode="auto">
            <a:xfrm>
              <a:off x="4704" y="816"/>
              <a:ext cx="144" cy="1440"/>
            </a:xfrm>
            <a:prstGeom prst="rect">
              <a:avLst/>
            </a:prstGeom>
            <a:solidFill>
              <a:schemeClr val="accent1"/>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25964" name="Rectangle 25"/>
            <p:cNvSpPr>
              <a:spLocks noChangeArrowheads="1"/>
            </p:cNvSpPr>
            <p:nvPr/>
          </p:nvSpPr>
          <p:spPr bwMode="auto">
            <a:xfrm>
              <a:off x="4905" y="1071"/>
              <a:ext cx="6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spcBef>
                  <a:spcPct val="50000"/>
                </a:spcBef>
                <a:buFontTx/>
                <a:buNone/>
              </a:pPr>
              <a:r>
                <a:rPr lang="en-US" sz="1800">
                  <a:solidFill>
                    <a:schemeClr val="tx2"/>
                  </a:solidFill>
                </a:rPr>
                <a:t>d</a:t>
              </a:r>
              <a:r>
                <a:rPr lang="en-US" sz="1800" baseline="30000">
                  <a:solidFill>
                    <a:schemeClr val="tx2"/>
                  </a:solidFill>
                </a:rPr>
                <a:t>(k-1)</a:t>
              </a:r>
              <a:r>
                <a:rPr lang="en-US" sz="1800">
                  <a:solidFill>
                    <a:schemeClr val="tx2"/>
                  </a:solidFill>
                </a:rPr>
                <a:t>(k,k)</a:t>
              </a:r>
            </a:p>
          </p:txBody>
        </p:sp>
        <p:sp>
          <p:nvSpPr>
            <p:cNvPr id="125965" name="Rectangle 27"/>
            <p:cNvSpPr>
              <a:spLocks noChangeArrowheads="1"/>
            </p:cNvSpPr>
            <p:nvPr/>
          </p:nvSpPr>
          <p:spPr bwMode="auto">
            <a:xfrm>
              <a:off x="4704" y="1488"/>
              <a:ext cx="144" cy="144"/>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25966" name="Line 26"/>
            <p:cNvSpPr>
              <a:spLocks noChangeShapeType="1"/>
            </p:cNvSpPr>
            <p:nvPr/>
          </p:nvSpPr>
          <p:spPr bwMode="auto">
            <a:xfrm flipH="1">
              <a:off x="4800" y="1248"/>
              <a:ext cx="192"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sp>
        <p:nvSpPr>
          <p:cNvPr id="217118" name="Rectangle 30"/>
          <p:cNvSpPr>
            <a:spLocks noChangeArrowheads="1"/>
          </p:cNvSpPr>
          <p:nvPr/>
        </p:nvSpPr>
        <p:spPr bwMode="auto">
          <a:xfrm>
            <a:off x="304800" y="2667000"/>
            <a:ext cx="5510213"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spcBef>
                <a:spcPct val="50000"/>
              </a:spcBef>
              <a:buFontTx/>
              <a:buNone/>
            </a:pPr>
            <a:r>
              <a:rPr lang="en-US" sz="2000">
                <a:solidFill>
                  <a:schemeClr val="tx2"/>
                </a:solidFill>
              </a:rPr>
              <a:t>d</a:t>
            </a:r>
            <a:r>
              <a:rPr lang="en-US" sz="2000" baseline="30000">
                <a:solidFill>
                  <a:schemeClr val="tx2"/>
                </a:solidFill>
              </a:rPr>
              <a:t>(k)</a:t>
            </a:r>
            <a:r>
              <a:rPr lang="en-US" sz="2000">
                <a:solidFill>
                  <a:schemeClr val="tx2"/>
                </a:solidFill>
              </a:rPr>
              <a:t>(u,k)   =  min{ d</a:t>
            </a:r>
            <a:r>
              <a:rPr lang="en-US" sz="2000" baseline="30000">
                <a:solidFill>
                  <a:schemeClr val="tx2"/>
                </a:solidFill>
              </a:rPr>
              <a:t>(k-1)</a:t>
            </a:r>
            <a:r>
              <a:rPr lang="en-US" sz="2000">
                <a:solidFill>
                  <a:schemeClr val="tx2"/>
                </a:solidFill>
              </a:rPr>
              <a:t>(u,k),   d</a:t>
            </a:r>
            <a:r>
              <a:rPr lang="en-US" sz="2000" baseline="30000">
                <a:solidFill>
                  <a:schemeClr val="tx2"/>
                </a:solidFill>
              </a:rPr>
              <a:t>(k-1)</a:t>
            </a:r>
            <a:r>
              <a:rPr lang="en-US" sz="2000">
                <a:solidFill>
                  <a:schemeClr val="tx2"/>
                </a:solidFill>
              </a:rPr>
              <a:t>(u,k) + d</a:t>
            </a:r>
            <a:r>
              <a:rPr lang="en-US" sz="2000" baseline="30000">
                <a:solidFill>
                  <a:schemeClr val="tx2"/>
                </a:solidFill>
              </a:rPr>
              <a:t>(k-1)</a:t>
            </a:r>
            <a:r>
              <a:rPr lang="en-US" sz="2000">
                <a:solidFill>
                  <a:schemeClr val="tx2"/>
                </a:solidFill>
              </a:rPr>
              <a:t>(k,k)}</a:t>
            </a:r>
            <a:br>
              <a:rPr lang="en-US" sz="2000">
                <a:solidFill>
                  <a:schemeClr val="tx2"/>
                </a:solidFill>
              </a:rPr>
            </a:br>
            <a:r>
              <a:rPr lang="en-US" sz="2000">
                <a:solidFill>
                  <a:schemeClr val="tx2"/>
                </a:solidFill>
              </a:rPr>
              <a:t>	 = d</a:t>
            </a:r>
            <a:r>
              <a:rPr lang="en-US" sz="2000" baseline="30000">
                <a:solidFill>
                  <a:schemeClr val="tx2"/>
                </a:solidFill>
              </a:rPr>
              <a:t>(k-1)</a:t>
            </a:r>
            <a:r>
              <a:rPr lang="en-US" sz="2000">
                <a:solidFill>
                  <a:schemeClr val="tx2"/>
                </a:solidFill>
              </a:rPr>
              <a:t>(u,k)</a:t>
            </a:r>
          </a:p>
          <a:p>
            <a:pPr eaLnBrk="1" hangingPunct="1">
              <a:spcBef>
                <a:spcPct val="50000"/>
              </a:spcBef>
              <a:buFontTx/>
              <a:buNone/>
            </a:pPr>
            <a:endParaRPr lang="en-US" sz="2000">
              <a:solidFill>
                <a:schemeClr val="tx2"/>
              </a:solidFill>
            </a:endParaRPr>
          </a:p>
          <a:p>
            <a:pPr eaLnBrk="1" hangingPunct="1">
              <a:spcBef>
                <a:spcPct val="50000"/>
              </a:spcBef>
              <a:buFontTx/>
              <a:buNone/>
            </a:pPr>
            <a:r>
              <a:rPr lang="en-US" sz="2000">
                <a:solidFill>
                  <a:schemeClr val="tx2"/>
                </a:solidFill>
              </a:rPr>
              <a:t>d</a:t>
            </a:r>
            <a:r>
              <a:rPr lang="en-US" sz="2000" baseline="30000">
                <a:solidFill>
                  <a:schemeClr val="tx2"/>
                </a:solidFill>
              </a:rPr>
              <a:t>(k)</a:t>
            </a:r>
            <a:r>
              <a:rPr lang="en-US" sz="2000">
                <a:solidFill>
                  <a:schemeClr val="tx2"/>
                </a:solidFill>
              </a:rPr>
              <a:t>(k,v)   =  min{ d</a:t>
            </a:r>
            <a:r>
              <a:rPr lang="en-US" sz="2000" baseline="30000">
                <a:solidFill>
                  <a:schemeClr val="tx2"/>
                </a:solidFill>
              </a:rPr>
              <a:t>(k-1)</a:t>
            </a:r>
            <a:r>
              <a:rPr lang="en-US" sz="2000">
                <a:solidFill>
                  <a:schemeClr val="tx2"/>
                </a:solidFill>
              </a:rPr>
              <a:t>(k,v),   d</a:t>
            </a:r>
            <a:r>
              <a:rPr lang="en-US" sz="2000" baseline="30000">
                <a:solidFill>
                  <a:schemeClr val="tx2"/>
                </a:solidFill>
              </a:rPr>
              <a:t>(k-1)</a:t>
            </a:r>
            <a:r>
              <a:rPr lang="en-US" sz="2000">
                <a:solidFill>
                  <a:schemeClr val="tx2"/>
                </a:solidFill>
              </a:rPr>
              <a:t>(k,k) + d</a:t>
            </a:r>
            <a:r>
              <a:rPr lang="en-US" sz="2000" baseline="30000">
                <a:solidFill>
                  <a:schemeClr val="tx2"/>
                </a:solidFill>
              </a:rPr>
              <a:t>(k-1)</a:t>
            </a:r>
            <a:r>
              <a:rPr lang="en-US" sz="2000">
                <a:solidFill>
                  <a:schemeClr val="tx2"/>
                </a:solidFill>
              </a:rPr>
              <a:t>(k,v)}</a:t>
            </a:r>
            <a:br>
              <a:rPr lang="en-US" sz="2000">
                <a:solidFill>
                  <a:schemeClr val="tx2"/>
                </a:solidFill>
              </a:rPr>
            </a:br>
            <a:r>
              <a:rPr lang="en-US" sz="2000">
                <a:solidFill>
                  <a:schemeClr val="tx2"/>
                </a:solidFill>
              </a:rPr>
              <a:t>	 = d</a:t>
            </a:r>
            <a:r>
              <a:rPr lang="en-US" sz="2000" baseline="30000">
                <a:solidFill>
                  <a:schemeClr val="tx2"/>
                </a:solidFill>
              </a:rPr>
              <a:t>(k-1)</a:t>
            </a:r>
            <a:r>
              <a:rPr lang="en-US" sz="2000">
                <a:solidFill>
                  <a:schemeClr val="tx2"/>
                </a:solidFill>
              </a:rPr>
              <a:t>(k,v)</a:t>
            </a:r>
          </a:p>
        </p:txBody>
      </p:sp>
      <p:sp>
        <p:nvSpPr>
          <p:cNvPr id="217119" name="Text Box 31"/>
          <p:cNvSpPr txBox="1">
            <a:spLocks noChangeArrowheads="1"/>
          </p:cNvSpPr>
          <p:nvPr/>
        </p:nvSpPr>
        <p:spPr bwMode="auto">
          <a:xfrm>
            <a:off x="304800" y="4795838"/>
            <a:ext cx="8189913"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188913" indent="-188913">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Char char="§"/>
            </a:pPr>
            <a:r>
              <a:rPr lang="en-US" sz="1800">
                <a:solidFill>
                  <a:schemeClr val="tx2"/>
                </a:solidFill>
              </a:rPr>
              <a:t>This means row k and column k do not change in iteration  k-1 </a:t>
            </a:r>
            <a:r>
              <a:rPr lang="en-US" sz="1800">
                <a:solidFill>
                  <a:schemeClr val="tx2"/>
                </a:solidFill>
                <a:sym typeface="Symbol" pitchFamily="18" charset="2"/>
              </a:rPr>
              <a:t> </a:t>
            </a:r>
            <a:r>
              <a:rPr lang="en-US" sz="1800">
                <a:solidFill>
                  <a:schemeClr val="tx2"/>
                </a:solidFill>
              </a:rPr>
              <a:t>k.</a:t>
            </a:r>
          </a:p>
          <a:p>
            <a:pPr eaLnBrk="1" hangingPunct="1">
              <a:spcBef>
                <a:spcPct val="50000"/>
              </a:spcBef>
              <a:buFont typeface="Wingdings" pitchFamily="2" charset="2"/>
              <a:buChar char="§"/>
            </a:pPr>
            <a:r>
              <a:rPr lang="en-US" sz="1800">
                <a:solidFill>
                  <a:schemeClr val="tx2"/>
                </a:solidFill>
              </a:rPr>
              <a:t>Since all other entries are updated based on their “old” values &amp; row k and column k,</a:t>
            </a:r>
            <a:br>
              <a:rPr lang="en-US" sz="1800">
                <a:solidFill>
                  <a:schemeClr val="tx2"/>
                </a:solidFill>
              </a:rPr>
            </a:br>
            <a:r>
              <a:rPr lang="en-US" sz="1800">
                <a:solidFill>
                  <a:schemeClr val="tx2"/>
                </a:solidFill>
              </a:rPr>
              <a:t>we can re-use the same matrices d and </a:t>
            </a:r>
            <a:r>
              <a:rPr lang="en-US" sz="1800">
                <a:solidFill>
                  <a:schemeClr val="tx2"/>
                </a:solidFill>
                <a:latin typeface="Symbol" pitchFamily="18" charset="2"/>
              </a:rPr>
              <a:t>p</a:t>
            </a:r>
            <a:r>
              <a:rPr lang="en-US" sz="1800">
                <a:solidFill>
                  <a:schemeClr val="tx2"/>
                </a:solidFill>
              </a:rPr>
              <a:t>.</a:t>
            </a:r>
          </a:p>
          <a:p>
            <a:pPr eaLnBrk="1" hangingPunct="1">
              <a:spcBef>
                <a:spcPct val="50000"/>
              </a:spcBef>
              <a:buFont typeface="Wingdings" pitchFamily="2" charset="2"/>
              <a:buChar char="§"/>
            </a:pPr>
            <a:r>
              <a:rPr lang="en-US" sz="1800">
                <a:solidFill>
                  <a:schemeClr val="tx2"/>
                </a:solidFill>
              </a:rPr>
              <a:t>That is, drop the </a:t>
            </a:r>
            <a:r>
              <a:rPr lang="en-US" sz="1800" b="1">
                <a:solidFill>
                  <a:srgbClr val="CC0000"/>
                </a:solidFill>
              </a:rPr>
              <a:t>super-script</a:t>
            </a:r>
            <a:r>
              <a:rPr lang="en-US" sz="1800">
                <a:solidFill>
                  <a:schemeClr val="tx2"/>
                </a:solidFill>
              </a:rPr>
              <a:t>  from these matrices.  </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7102">
                                            <p:txEl>
                                              <p:pRg st="0" end="0"/>
                                            </p:txEl>
                                          </p:spTgt>
                                        </p:tgtEl>
                                        <p:attrNameLst>
                                          <p:attrName>style.visibility</p:attrName>
                                        </p:attrNameLst>
                                      </p:cBhvr>
                                      <p:to>
                                        <p:strVal val="visible"/>
                                      </p:to>
                                    </p:set>
                                    <p:animEffect transition="in" filter="wipe(left)">
                                      <p:cBhvr>
                                        <p:cTn id="7" dur="500"/>
                                        <p:tgtEl>
                                          <p:spTgt spid="21710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7102">
                                            <p:txEl>
                                              <p:pRg st="1" end="1"/>
                                            </p:txEl>
                                          </p:spTgt>
                                        </p:tgtEl>
                                        <p:attrNameLst>
                                          <p:attrName>style.visibility</p:attrName>
                                        </p:attrNameLst>
                                      </p:cBhvr>
                                      <p:to>
                                        <p:strVal val="visible"/>
                                      </p:to>
                                    </p:set>
                                    <p:animEffect transition="in" filter="wipe(left)">
                                      <p:cBhvr>
                                        <p:cTn id="12" dur="500"/>
                                        <p:tgtEl>
                                          <p:spTgt spid="21710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17117"/>
                                        </p:tgtEl>
                                        <p:attrNameLst>
                                          <p:attrName>style.visibility</p:attrName>
                                        </p:attrNameLst>
                                      </p:cBhvr>
                                      <p:to>
                                        <p:strVal val="visible"/>
                                      </p:to>
                                    </p:set>
                                    <p:animEffect transition="in" filter="wipe(up)">
                                      <p:cBhvr>
                                        <p:cTn id="17" dur="500"/>
                                        <p:tgtEl>
                                          <p:spTgt spid="2171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7118">
                                            <p:txEl>
                                              <p:pRg st="0" end="0"/>
                                            </p:txEl>
                                          </p:spTgt>
                                        </p:tgtEl>
                                        <p:attrNameLst>
                                          <p:attrName>style.visibility</p:attrName>
                                        </p:attrNameLst>
                                      </p:cBhvr>
                                      <p:to>
                                        <p:strVal val="visible"/>
                                      </p:to>
                                    </p:set>
                                    <p:animEffect transition="in" filter="wipe(left)">
                                      <p:cBhvr>
                                        <p:cTn id="22" dur="500"/>
                                        <p:tgtEl>
                                          <p:spTgt spid="217118">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7118">
                                            <p:txEl>
                                              <p:pRg st="2" end="2"/>
                                            </p:txEl>
                                          </p:spTgt>
                                        </p:tgtEl>
                                        <p:attrNameLst>
                                          <p:attrName>style.visibility</p:attrName>
                                        </p:attrNameLst>
                                      </p:cBhvr>
                                      <p:to>
                                        <p:strVal val="visible"/>
                                      </p:to>
                                    </p:set>
                                    <p:animEffect transition="in" filter="wipe(left)">
                                      <p:cBhvr>
                                        <p:cTn id="27" dur="500"/>
                                        <p:tgtEl>
                                          <p:spTgt spid="217118">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7119">
                                            <p:txEl>
                                              <p:pRg st="0" end="0"/>
                                            </p:txEl>
                                          </p:spTgt>
                                        </p:tgtEl>
                                        <p:attrNameLst>
                                          <p:attrName>style.visibility</p:attrName>
                                        </p:attrNameLst>
                                      </p:cBhvr>
                                      <p:to>
                                        <p:strVal val="visible"/>
                                      </p:to>
                                    </p:set>
                                    <p:animEffect transition="in" filter="wipe(left)">
                                      <p:cBhvr>
                                        <p:cTn id="32" dur="500"/>
                                        <p:tgtEl>
                                          <p:spTgt spid="217119">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7119">
                                            <p:txEl>
                                              <p:pRg st="1" end="1"/>
                                            </p:txEl>
                                          </p:spTgt>
                                        </p:tgtEl>
                                        <p:attrNameLst>
                                          <p:attrName>style.visibility</p:attrName>
                                        </p:attrNameLst>
                                      </p:cBhvr>
                                      <p:to>
                                        <p:strVal val="visible"/>
                                      </p:to>
                                    </p:set>
                                    <p:animEffect transition="in" filter="wipe(left)">
                                      <p:cBhvr>
                                        <p:cTn id="37" dur="500"/>
                                        <p:tgtEl>
                                          <p:spTgt spid="217119">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17119">
                                            <p:txEl>
                                              <p:pRg st="2" end="2"/>
                                            </p:txEl>
                                          </p:spTgt>
                                        </p:tgtEl>
                                        <p:attrNameLst>
                                          <p:attrName>style.visibility</p:attrName>
                                        </p:attrNameLst>
                                      </p:cBhvr>
                                      <p:to>
                                        <p:strVal val="visible"/>
                                      </p:to>
                                    </p:set>
                                    <p:animEffect transition="in" filter="wipe(left)">
                                      <p:cBhvr>
                                        <p:cTn id="42" dur="500"/>
                                        <p:tgtEl>
                                          <p:spTgt spid="2171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102" grpId="0" build="p" autoUpdateAnimBg="0"/>
      <p:bldP spid="217118" grpId="0" build="p" autoUpdateAnimBg="0"/>
      <p:bldP spid="217119" grpId="0" build="p" autoUpdateAnimBg="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Text Box 2"/>
          <p:cNvSpPr txBox="1">
            <a:spLocks noChangeArrowheads="1"/>
          </p:cNvSpPr>
          <p:nvPr/>
        </p:nvSpPr>
        <p:spPr bwMode="auto">
          <a:xfrm>
            <a:off x="152400" y="228600"/>
            <a:ext cx="8839200" cy="5768751"/>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457200" indent="-457200" defTabSz="484188">
              <a:defRPr sz="1600">
                <a:solidFill>
                  <a:schemeClr val="tx1"/>
                </a:solidFill>
                <a:latin typeface="Times New Roman" pitchFamily="18" charset="0"/>
              </a:defRPr>
            </a:lvl1pPr>
            <a:lvl2pPr marL="742950" indent="-285750" defTabSz="484188">
              <a:defRPr sz="1600">
                <a:solidFill>
                  <a:schemeClr val="tx1"/>
                </a:solidFill>
                <a:latin typeface="Times New Roman" pitchFamily="18" charset="0"/>
              </a:defRPr>
            </a:lvl2pPr>
            <a:lvl3pPr marL="1143000" indent="-228600" defTabSz="484188">
              <a:defRPr sz="1600">
                <a:solidFill>
                  <a:schemeClr val="tx1"/>
                </a:solidFill>
                <a:latin typeface="Times New Roman" pitchFamily="18" charset="0"/>
              </a:defRPr>
            </a:lvl3pPr>
            <a:lvl4pPr marL="1600200" indent="-228600" defTabSz="484188">
              <a:defRPr sz="1600">
                <a:solidFill>
                  <a:schemeClr val="tx1"/>
                </a:solidFill>
                <a:latin typeface="Times New Roman" pitchFamily="18" charset="0"/>
              </a:defRPr>
            </a:lvl4pPr>
            <a:lvl5pPr marL="2057400" indent="-228600" defTabSz="484188">
              <a:defRPr sz="1600">
                <a:solidFill>
                  <a:schemeClr val="tx1"/>
                </a:solidFill>
                <a:latin typeface="Times New Roman" pitchFamily="18" charset="0"/>
              </a:defRPr>
            </a:lvl5pPr>
            <a:lvl6pPr marL="2514600" indent="-228600" defTabSz="484188" eaLnBrk="0" fontAlgn="base" hangingPunct="0">
              <a:spcBef>
                <a:spcPct val="0"/>
              </a:spcBef>
              <a:spcAft>
                <a:spcPct val="0"/>
              </a:spcAft>
              <a:buChar char="•"/>
              <a:defRPr sz="1600">
                <a:solidFill>
                  <a:schemeClr val="tx1"/>
                </a:solidFill>
                <a:latin typeface="Times New Roman" pitchFamily="18" charset="0"/>
              </a:defRPr>
            </a:lvl6pPr>
            <a:lvl7pPr marL="2971800" indent="-228600" defTabSz="484188" eaLnBrk="0" fontAlgn="base" hangingPunct="0">
              <a:spcBef>
                <a:spcPct val="0"/>
              </a:spcBef>
              <a:spcAft>
                <a:spcPct val="0"/>
              </a:spcAft>
              <a:buChar char="•"/>
              <a:defRPr sz="1600">
                <a:solidFill>
                  <a:schemeClr val="tx1"/>
                </a:solidFill>
                <a:latin typeface="Times New Roman" pitchFamily="18" charset="0"/>
              </a:defRPr>
            </a:lvl7pPr>
            <a:lvl8pPr marL="3429000" indent="-228600" defTabSz="484188" eaLnBrk="0" fontAlgn="base" hangingPunct="0">
              <a:spcBef>
                <a:spcPct val="0"/>
              </a:spcBef>
              <a:spcAft>
                <a:spcPct val="0"/>
              </a:spcAft>
              <a:buChar char="•"/>
              <a:defRPr sz="1600">
                <a:solidFill>
                  <a:schemeClr val="tx1"/>
                </a:solidFill>
                <a:latin typeface="Times New Roman" pitchFamily="18" charset="0"/>
              </a:defRPr>
            </a:lvl8pPr>
            <a:lvl9pPr marL="3886200" indent="-228600" defTabSz="484188"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2400" b="1" dirty="0"/>
              <a:t>Algorithm</a:t>
            </a:r>
            <a:r>
              <a:rPr lang="en-US" sz="2400" dirty="0">
                <a:solidFill>
                  <a:schemeClr val="hlink"/>
                </a:solidFill>
              </a:rPr>
              <a:t>  </a:t>
            </a:r>
            <a:r>
              <a:rPr lang="en-US" sz="2400" b="1" dirty="0" err="1" smtClean="0">
                <a:solidFill>
                  <a:schemeClr val="hlink"/>
                </a:solidFill>
              </a:rPr>
              <a:t>FloydWarshall</a:t>
            </a:r>
            <a:r>
              <a:rPr lang="en-US" sz="2400" b="1" dirty="0" smtClean="0">
                <a:solidFill>
                  <a:schemeClr val="hlink"/>
                </a:solidFill>
              </a:rPr>
              <a:t> </a:t>
            </a:r>
            <a:r>
              <a:rPr lang="en-US" sz="2400" dirty="0" smtClean="0">
                <a:solidFill>
                  <a:schemeClr val="hlink"/>
                </a:solidFill>
              </a:rPr>
              <a:t>(</a:t>
            </a:r>
            <a:r>
              <a:rPr lang="en-US" sz="2400" dirty="0">
                <a:solidFill>
                  <a:schemeClr val="hlink"/>
                </a:solidFill>
                <a:sym typeface="Symbol" pitchFamily="18" charset="2"/>
              </a:rPr>
              <a:t>G</a:t>
            </a:r>
            <a:r>
              <a:rPr lang="en-US" sz="2400" dirty="0">
                <a:solidFill>
                  <a:schemeClr val="hlink"/>
                </a:solidFill>
              </a:rPr>
              <a:t>)</a:t>
            </a:r>
            <a:r>
              <a:rPr lang="en-US" sz="2000" dirty="0">
                <a:solidFill>
                  <a:schemeClr val="tx2"/>
                </a:solidFill>
              </a:rPr>
              <a:t>  			</a:t>
            </a:r>
            <a:r>
              <a:rPr lang="en-US" sz="2400" dirty="0">
                <a:solidFill>
                  <a:srgbClr val="990033"/>
                </a:solidFill>
                <a:cs typeface="Arial" pitchFamily="34" charset="0"/>
              </a:rPr>
              <a:t>§ </a:t>
            </a:r>
            <a:r>
              <a:rPr lang="en-US" sz="2400" dirty="0">
                <a:solidFill>
                  <a:srgbClr val="990033"/>
                </a:solidFill>
              </a:rPr>
              <a:t>O(V</a:t>
            </a:r>
            <a:r>
              <a:rPr lang="en-US" sz="2400" baseline="30000" dirty="0">
                <a:solidFill>
                  <a:srgbClr val="990033"/>
                </a:solidFill>
              </a:rPr>
              <a:t>3</a:t>
            </a:r>
            <a:r>
              <a:rPr lang="en-US" sz="2400" dirty="0">
                <a:solidFill>
                  <a:srgbClr val="990033"/>
                </a:solidFill>
              </a:rPr>
              <a:t>) time, O(V</a:t>
            </a:r>
            <a:r>
              <a:rPr lang="en-US" sz="2400" baseline="30000" dirty="0">
                <a:solidFill>
                  <a:srgbClr val="990033"/>
                </a:solidFill>
              </a:rPr>
              <a:t>2</a:t>
            </a:r>
            <a:r>
              <a:rPr lang="en-US" sz="2400" dirty="0">
                <a:solidFill>
                  <a:srgbClr val="990033"/>
                </a:solidFill>
              </a:rPr>
              <a:t>) space</a:t>
            </a:r>
            <a:r>
              <a:rPr lang="en-US" sz="2000" dirty="0">
                <a:solidFill>
                  <a:srgbClr val="CC0000"/>
                </a:solidFill>
              </a:rPr>
              <a:t> </a:t>
            </a:r>
            <a:br>
              <a:rPr lang="en-US" sz="2000" dirty="0">
                <a:solidFill>
                  <a:srgbClr val="CC0000"/>
                </a:solidFill>
              </a:rPr>
            </a:br>
            <a:endParaRPr lang="en-US" sz="2000" dirty="0">
              <a:solidFill>
                <a:schemeClr val="tx2"/>
              </a:solidFill>
            </a:endParaRPr>
          </a:p>
          <a:p>
            <a:pPr eaLnBrk="1" hangingPunct="1">
              <a:buFontTx/>
              <a:buAutoNum type="arabicPeriod"/>
            </a:pPr>
            <a:r>
              <a:rPr lang="en-US" sz="2000" dirty="0">
                <a:solidFill>
                  <a:srgbClr val="CC0000"/>
                </a:solidFill>
                <a:sym typeface="Symbol" pitchFamily="18" charset="2"/>
              </a:rPr>
              <a:t> </a:t>
            </a:r>
            <a:r>
              <a:rPr lang="en-US" sz="2000" b="1" dirty="0">
                <a:solidFill>
                  <a:schemeClr val="tx2"/>
                </a:solidFill>
              </a:rPr>
              <a:t>for</a:t>
            </a:r>
            <a:r>
              <a:rPr lang="en-US" sz="2000" dirty="0">
                <a:solidFill>
                  <a:schemeClr val="tx2"/>
                </a:solidFill>
              </a:rPr>
              <a:t>  </a:t>
            </a:r>
            <a:r>
              <a:rPr lang="en-US" sz="2000" dirty="0">
                <a:solidFill>
                  <a:schemeClr val="hlink"/>
                </a:solidFill>
              </a:rPr>
              <a:t>each (</a:t>
            </a:r>
            <a:r>
              <a:rPr lang="en-US" sz="2000" dirty="0" err="1">
                <a:solidFill>
                  <a:schemeClr val="hlink"/>
                </a:solidFill>
              </a:rPr>
              <a:t>u,v</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V(G) </a:t>
            </a:r>
            <a:r>
              <a:rPr lang="en-US" sz="2000" dirty="0">
                <a:solidFill>
                  <a:schemeClr val="hlink"/>
                </a:solidFill>
                <a:sym typeface="Symbol" pitchFamily="18" charset="2"/>
              </a:rPr>
              <a:t> </a:t>
            </a:r>
            <a:r>
              <a:rPr lang="en-US" sz="2000" dirty="0">
                <a:solidFill>
                  <a:schemeClr val="hlink"/>
                </a:solidFill>
              </a:rPr>
              <a:t>V(G) </a:t>
            </a:r>
            <a:r>
              <a:rPr lang="en-US" sz="2000" b="1" dirty="0" smtClean="0">
                <a:solidFill>
                  <a:schemeClr val="tx2"/>
                </a:solidFill>
              </a:rPr>
              <a:t>do </a:t>
            </a:r>
            <a:r>
              <a:rPr lang="en-US" sz="2000" b="1" dirty="0">
                <a:solidFill>
                  <a:schemeClr val="tx2"/>
                </a:solidFill>
              </a:rPr>
              <a:t>	 				</a:t>
            </a:r>
            <a:r>
              <a:rPr lang="en-US" sz="2000" dirty="0" smtClean="0">
                <a:solidFill>
                  <a:srgbClr val="CC0000"/>
                </a:solidFill>
                <a:cs typeface="Arial" pitchFamily="34" charset="0"/>
              </a:rPr>
              <a:t>§ </a:t>
            </a:r>
            <a:r>
              <a:rPr lang="en-US" sz="2000" dirty="0">
                <a:solidFill>
                  <a:srgbClr val="CC0000"/>
                </a:solidFill>
              </a:rPr>
              <a:t>k = 0 (or nil)</a:t>
            </a:r>
            <a:r>
              <a:rPr lang="en-US" sz="2000" b="1" dirty="0">
                <a:solidFill>
                  <a:schemeClr val="tx2"/>
                </a:solidFill>
              </a:rPr>
              <a:t>	</a:t>
            </a: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d[</a:t>
            </a:r>
            <a:r>
              <a:rPr lang="en-US" sz="2000" dirty="0" err="1">
                <a:solidFill>
                  <a:schemeClr val="hlink"/>
                </a:solidFill>
                <a:sym typeface="Symbol" pitchFamily="18" charset="2"/>
              </a:rPr>
              <a:t>u,v</a:t>
            </a:r>
            <a:r>
              <a:rPr lang="en-US" sz="2000" dirty="0">
                <a:solidFill>
                  <a:schemeClr val="hlink"/>
                </a:solidFill>
                <a:sym typeface="Symbol" pitchFamily="18" charset="2"/>
              </a:rPr>
              <a:t>] </a:t>
            </a:r>
            <a:r>
              <a:rPr lang="en-US" sz="2000" dirty="0">
                <a:solidFill>
                  <a:schemeClr val="hlink"/>
                </a:solidFill>
              </a:rPr>
              <a:t> A[</a:t>
            </a:r>
            <a:r>
              <a:rPr lang="en-US" sz="2000" dirty="0" err="1">
                <a:solidFill>
                  <a:schemeClr val="hlink"/>
                </a:solidFill>
              </a:rPr>
              <a:t>u,v</a:t>
            </a:r>
            <a:r>
              <a:rPr lang="en-US" sz="2000" dirty="0">
                <a:solidFill>
                  <a:schemeClr val="hlink"/>
                </a:solidFill>
              </a:rPr>
              <a:t>]	 </a:t>
            </a:r>
            <a:r>
              <a:rPr lang="en-US" sz="2000" dirty="0">
                <a:solidFill>
                  <a:srgbClr val="CC0000"/>
                </a:solidFill>
                <a:cs typeface="Arial" pitchFamily="34" charset="0"/>
              </a:rPr>
              <a:t>							§ </a:t>
            </a:r>
            <a:r>
              <a:rPr lang="en-US" sz="2000" dirty="0">
                <a:solidFill>
                  <a:srgbClr val="CC0000"/>
                </a:solidFill>
              </a:rPr>
              <a:t>weighted adj. matrix</a:t>
            </a:r>
          </a:p>
          <a:p>
            <a:pPr eaLnBrk="1" hangingPunct="1">
              <a:buFontTx/>
              <a:buAutoNum type="arabicPeriod"/>
            </a:pPr>
            <a:r>
              <a:rPr lang="en-US" sz="2000" dirty="0">
                <a:solidFill>
                  <a:srgbClr val="CC0000"/>
                </a:solidFill>
              </a:rPr>
              <a:t>		</a:t>
            </a:r>
            <a:r>
              <a:rPr lang="en-US" sz="2000" dirty="0">
                <a:solidFill>
                  <a:schemeClr val="hlink"/>
                </a:solidFill>
                <a:latin typeface="Symbol" pitchFamily="18" charset="2"/>
                <a:sym typeface="Symbol" pitchFamily="18" charset="2"/>
              </a:rPr>
              <a:t>p</a:t>
            </a:r>
            <a:r>
              <a:rPr lang="en-US" sz="2000" dirty="0">
                <a:solidFill>
                  <a:schemeClr val="hlink"/>
                </a:solidFill>
                <a:sym typeface="Symbol" pitchFamily="18" charset="2"/>
              </a:rPr>
              <a:t>[</a:t>
            </a:r>
            <a:r>
              <a:rPr lang="en-US" sz="2000" dirty="0" err="1">
                <a:solidFill>
                  <a:schemeClr val="hlink"/>
                </a:solidFill>
                <a:sym typeface="Symbol" pitchFamily="18" charset="2"/>
              </a:rPr>
              <a:t>u,v</a:t>
            </a:r>
            <a:r>
              <a:rPr lang="en-US" sz="2000" dirty="0">
                <a:solidFill>
                  <a:schemeClr val="hlink"/>
                </a:solidFill>
                <a:sym typeface="Symbol" pitchFamily="18" charset="2"/>
              </a:rPr>
              <a:t>] </a:t>
            </a:r>
            <a:r>
              <a:rPr lang="en-US" sz="2000" dirty="0">
                <a:solidFill>
                  <a:schemeClr val="hlink"/>
                </a:solidFill>
              </a:rPr>
              <a:t> nil</a:t>
            </a:r>
          </a:p>
          <a:p>
            <a:pPr eaLnBrk="1" hangingPunct="1">
              <a:buFontTx/>
              <a:buAutoNum type="arabicPeriod"/>
            </a:pPr>
            <a:r>
              <a:rPr lang="en-US" sz="2000" dirty="0">
                <a:solidFill>
                  <a:srgbClr val="CC0000"/>
                </a:solidFill>
              </a:rPr>
              <a:t> </a:t>
            </a:r>
            <a:r>
              <a:rPr lang="en-US" sz="2000" b="1" dirty="0">
                <a:solidFill>
                  <a:schemeClr val="tx2"/>
                </a:solidFill>
              </a:rPr>
              <a:t>for</a:t>
            </a:r>
            <a:r>
              <a:rPr lang="en-US" sz="2000" dirty="0">
                <a:solidFill>
                  <a:schemeClr val="tx2"/>
                </a:solidFill>
              </a:rPr>
              <a:t>  </a:t>
            </a:r>
            <a:r>
              <a:rPr lang="en-US" sz="2000" dirty="0">
                <a:solidFill>
                  <a:schemeClr val="hlink"/>
                </a:solidFill>
              </a:rPr>
              <a:t>each (</a:t>
            </a:r>
            <a:r>
              <a:rPr lang="en-US" sz="2000" dirty="0" err="1">
                <a:solidFill>
                  <a:schemeClr val="hlink"/>
                </a:solidFill>
              </a:rPr>
              <a:t>u,v</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E(G) </a:t>
            </a:r>
            <a:r>
              <a:rPr lang="en-US" sz="2000" b="1" dirty="0">
                <a:solidFill>
                  <a:schemeClr val="tx2"/>
                </a:solidFill>
              </a:rPr>
              <a:t> do   </a:t>
            </a:r>
            <a:r>
              <a:rPr lang="en-US" sz="2000" dirty="0">
                <a:solidFill>
                  <a:schemeClr val="hlink"/>
                </a:solidFill>
                <a:latin typeface="Symbol" pitchFamily="18" charset="2"/>
                <a:sym typeface="Symbol" pitchFamily="18" charset="2"/>
              </a:rPr>
              <a:t>p</a:t>
            </a:r>
            <a:r>
              <a:rPr lang="en-US" sz="2000" dirty="0">
                <a:solidFill>
                  <a:schemeClr val="hlink"/>
                </a:solidFill>
                <a:sym typeface="Symbol" pitchFamily="18" charset="2"/>
              </a:rPr>
              <a:t>[</a:t>
            </a:r>
            <a:r>
              <a:rPr lang="en-US" sz="2000" dirty="0" err="1">
                <a:solidFill>
                  <a:schemeClr val="hlink"/>
                </a:solidFill>
                <a:sym typeface="Symbol" pitchFamily="18" charset="2"/>
              </a:rPr>
              <a:t>u,v</a:t>
            </a:r>
            <a:r>
              <a:rPr lang="en-US" sz="2000" dirty="0">
                <a:solidFill>
                  <a:schemeClr val="hlink"/>
                </a:solidFill>
                <a:sym typeface="Symbol" pitchFamily="18" charset="2"/>
              </a:rPr>
              <a:t>] </a:t>
            </a:r>
            <a:r>
              <a:rPr lang="en-US" sz="2000" dirty="0">
                <a:solidFill>
                  <a:schemeClr val="hlink"/>
                </a:solidFill>
              </a:rPr>
              <a:t> u</a:t>
            </a:r>
            <a:br>
              <a:rPr lang="en-US" sz="2000" dirty="0">
                <a:solidFill>
                  <a:schemeClr val="hlink"/>
                </a:solidFill>
              </a:rPr>
            </a:br>
            <a:endParaRPr lang="en-US" sz="2000" dirty="0">
              <a:solidFill>
                <a:srgbClr val="CC0000"/>
              </a:solidFill>
            </a:endParaRPr>
          </a:p>
          <a:p>
            <a:pPr eaLnBrk="1" hangingPunct="1">
              <a:buFontTx/>
              <a:buAutoNum type="arabicPeriod"/>
            </a:pPr>
            <a:r>
              <a:rPr lang="en-US" sz="2000" dirty="0">
                <a:solidFill>
                  <a:srgbClr val="CC0000"/>
                </a:solidFill>
              </a:rPr>
              <a:t> </a:t>
            </a:r>
            <a:r>
              <a:rPr lang="en-US" sz="2000" b="1" dirty="0">
                <a:solidFill>
                  <a:schemeClr val="tx2"/>
                </a:solidFill>
              </a:rPr>
              <a:t>for</a:t>
            </a:r>
            <a:r>
              <a:rPr lang="en-US" sz="2000" dirty="0">
                <a:solidFill>
                  <a:schemeClr val="tx2"/>
                </a:solidFill>
              </a:rPr>
              <a:t>  </a:t>
            </a:r>
            <a:r>
              <a:rPr lang="en-US" sz="2000" dirty="0">
                <a:solidFill>
                  <a:schemeClr val="hlink"/>
                </a:solidFill>
              </a:rPr>
              <a:t>each k </a:t>
            </a:r>
            <a:r>
              <a:rPr lang="en-US" sz="2000" dirty="0">
                <a:solidFill>
                  <a:schemeClr val="hlink"/>
                </a:solidFill>
                <a:sym typeface="Symbol" pitchFamily="18" charset="2"/>
              </a:rPr>
              <a:t></a:t>
            </a:r>
            <a:r>
              <a:rPr lang="en-US" sz="2000" dirty="0">
                <a:solidFill>
                  <a:schemeClr val="hlink"/>
                </a:solidFill>
              </a:rPr>
              <a:t> V(G) </a:t>
            </a:r>
            <a:r>
              <a:rPr lang="en-US" sz="2000" b="1" dirty="0">
                <a:solidFill>
                  <a:schemeClr val="tx2"/>
                </a:solidFill>
              </a:rPr>
              <a:t> do 		 					</a:t>
            </a:r>
            <a:r>
              <a:rPr lang="en-US" sz="2000" dirty="0">
                <a:solidFill>
                  <a:srgbClr val="CC0000"/>
                </a:solidFill>
                <a:cs typeface="Arial" pitchFamily="34" charset="0"/>
              </a:rPr>
              <a:t>§ </a:t>
            </a:r>
            <a:r>
              <a:rPr lang="en-US" sz="2000" dirty="0">
                <a:solidFill>
                  <a:srgbClr val="CC0000"/>
                </a:solidFill>
              </a:rPr>
              <a:t>O(V) iterations</a:t>
            </a:r>
            <a:r>
              <a:rPr lang="en-US" sz="2000" b="1" dirty="0">
                <a:solidFill>
                  <a:schemeClr val="tx2"/>
                </a:solidFill>
              </a:rPr>
              <a:t> </a:t>
            </a:r>
          </a:p>
          <a:p>
            <a:pPr eaLnBrk="1" hangingPunct="1">
              <a:buFontTx/>
              <a:buAutoNum type="arabicPeriod"/>
            </a:pPr>
            <a:r>
              <a:rPr lang="en-US" sz="2000" dirty="0">
                <a:solidFill>
                  <a:srgbClr val="CC0000"/>
                </a:solidFill>
              </a:rPr>
              <a:t> 	</a:t>
            </a:r>
            <a:r>
              <a:rPr lang="en-US" sz="2000" b="1" dirty="0"/>
              <a:t>if</a:t>
            </a:r>
            <a:r>
              <a:rPr lang="en-US" sz="2000" dirty="0">
                <a:solidFill>
                  <a:srgbClr val="CC0000"/>
                </a:solidFill>
              </a:rPr>
              <a:t>  </a:t>
            </a:r>
            <a:r>
              <a:rPr lang="en-US" sz="2000" dirty="0">
                <a:solidFill>
                  <a:schemeClr val="hlink"/>
                </a:solidFill>
                <a:sym typeface="Symbol" pitchFamily="18" charset="2"/>
              </a:rPr>
              <a:t>d[</a:t>
            </a:r>
            <a:r>
              <a:rPr lang="en-US" sz="2000" dirty="0" err="1">
                <a:solidFill>
                  <a:schemeClr val="hlink"/>
                </a:solidFill>
                <a:sym typeface="Symbol" pitchFamily="18" charset="2"/>
              </a:rPr>
              <a:t>k,k</a:t>
            </a:r>
            <a:r>
              <a:rPr lang="en-US" sz="2000" dirty="0">
                <a:solidFill>
                  <a:schemeClr val="hlink"/>
                </a:solidFill>
                <a:sym typeface="Symbol" pitchFamily="18" charset="2"/>
              </a:rPr>
              <a:t>] &lt; 0  </a:t>
            </a:r>
            <a:r>
              <a:rPr lang="en-US" sz="2000" b="1" dirty="0">
                <a:sym typeface="Symbol" pitchFamily="18" charset="2"/>
              </a:rPr>
              <a:t>then return </a:t>
            </a:r>
            <a:r>
              <a:rPr lang="en-US" sz="2000" dirty="0">
                <a:solidFill>
                  <a:schemeClr val="hlink"/>
                </a:solidFill>
                <a:sym typeface="Symbol" pitchFamily="18" charset="2"/>
              </a:rPr>
              <a:t>there is a negative cycle</a:t>
            </a:r>
            <a:endParaRPr lang="en-US" sz="2000" dirty="0">
              <a:solidFill>
                <a:schemeClr val="hlink"/>
              </a:solidFill>
            </a:endParaRPr>
          </a:p>
          <a:p>
            <a:pPr eaLnBrk="1" hangingPunct="1">
              <a:buFontTx/>
              <a:buAutoNum type="arabicPeriod"/>
            </a:pPr>
            <a:r>
              <a:rPr lang="en-US" sz="2000" dirty="0">
                <a:solidFill>
                  <a:srgbClr val="CC0000"/>
                </a:solidFill>
                <a:sym typeface="Symbol" pitchFamily="18" charset="2"/>
              </a:rPr>
              <a:t> 	</a:t>
            </a:r>
            <a:r>
              <a:rPr lang="en-US" sz="2000" b="1" dirty="0">
                <a:solidFill>
                  <a:schemeClr val="tx2"/>
                </a:solidFill>
              </a:rPr>
              <a:t>for</a:t>
            </a:r>
            <a:r>
              <a:rPr lang="en-US" sz="2000" dirty="0">
                <a:solidFill>
                  <a:schemeClr val="tx2"/>
                </a:solidFill>
              </a:rPr>
              <a:t>  </a:t>
            </a:r>
            <a:r>
              <a:rPr lang="en-US" sz="2000" dirty="0">
                <a:solidFill>
                  <a:schemeClr val="hlink"/>
                </a:solidFill>
              </a:rPr>
              <a:t>each (</a:t>
            </a:r>
            <a:r>
              <a:rPr lang="en-US" sz="2000" dirty="0" err="1">
                <a:solidFill>
                  <a:schemeClr val="hlink"/>
                </a:solidFill>
              </a:rPr>
              <a:t>u,v</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V(G) </a:t>
            </a:r>
            <a:r>
              <a:rPr lang="en-US" sz="2000" dirty="0">
                <a:solidFill>
                  <a:schemeClr val="hlink"/>
                </a:solidFill>
                <a:sym typeface="Symbol" pitchFamily="18" charset="2"/>
              </a:rPr>
              <a:t> </a:t>
            </a:r>
            <a:r>
              <a:rPr lang="en-US" sz="2000" dirty="0">
                <a:solidFill>
                  <a:schemeClr val="hlink"/>
                </a:solidFill>
              </a:rPr>
              <a:t>V(G) </a:t>
            </a:r>
            <a:r>
              <a:rPr lang="en-US" sz="2000" b="1" dirty="0">
                <a:solidFill>
                  <a:schemeClr val="tx2"/>
                </a:solidFill>
              </a:rPr>
              <a:t> do 	 			</a:t>
            </a:r>
            <a:r>
              <a:rPr lang="en-US" sz="2000" dirty="0">
                <a:solidFill>
                  <a:srgbClr val="CC0000"/>
                </a:solidFill>
                <a:cs typeface="Arial" pitchFamily="34" charset="0"/>
              </a:rPr>
              <a:t>§ </a:t>
            </a:r>
            <a:r>
              <a:rPr lang="en-US" sz="2000" dirty="0">
                <a:solidFill>
                  <a:srgbClr val="CC0000"/>
                </a:solidFill>
              </a:rPr>
              <a:t>O(V</a:t>
            </a:r>
            <a:r>
              <a:rPr lang="en-US" sz="2000" baseline="30000" dirty="0">
                <a:solidFill>
                  <a:srgbClr val="CC0000"/>
                </a:solidFill>
              </a:rPr>
              <a:t>2</a:t>
            </a:r>
            <a:r>
              <a:rPr lang="en-US" sz="2000" dirty="0">
                <a:solidFill>
                  <a:srgbClr val="CC0000"/>
                </a:solidFill>
              </a:rPr>
              <a:t>) iterations</a:t>
            </a:r>
            <a:r>
              <a:rPr lang="en-US" sz="2000" b="1" dirty="0">
                <a:solidFill>
                  <a:schemeClr val="tx2"/>
                </a:solidFill>
              </a:rPr>
              <a:t> 	</a:t>
            </a:r>
            <a:endParaRPr lang="en-US" sz="2000" dirty="0">
              <a:solidFill>
                <a:schemeClr val="tx2"/>
              </a:solidFill>
            </a:endParaRPr>
          </a:p>
          <a:p>
            <a:pPr eaLnBrk="1" hangingPunct="1">
              <a:buFontTx/>
              <a:buAutoNum type="arabicPeriod"/>
            </a:pPr>
            <a:r>
              <a:rPr lang="en-US" sz="2000" dirty="0">
                <a:solidFill>
                  <a:srgbClr val="CC0000"/>
                </a:solidFill>
              </a:rPr>
              <a:t> 		 </a:t>
            </a:r>
            <a:r>
              <a:rPr lang="en-US" sz="2000" b="1" dirty="0"/>
              <a:t>if</a:t>
            </a:r>
            <a:r>
              <a:rPr lang="en-US" sz="2000" dirty="0">
                <a:solidFill>
                  <a:srgbClr val="CC0000"/>
                </a:solidFill>
              </a:rPr>
              <a:t>    </a:t>
            </a:r>
            <a:r>
              <a:rPr lang="en-US" sz="2000" dirty="0">
                <a:solidFill>
                  <a:schemeClr val="hlink"/>
                </a:solidFill>
                <a:sym typeface="Symbol" pitchFamily="18" charset="2"/>
              </a:rPr>
              <a:t>d[</a:t>
            </a:r>
            <a:r>
              <a:rPr lang="en-US" sz="2000" dirty="0" err="1">
                <a:solidFill>
                  <a:schemeClr val="hlink"/>
                </a:solidFill>
                <a:sym typeface="Symbol" pitchFamily="18" charset="2"/>
              </a:rPr>
              <a:t>u,v</a:t>
            </a:r>
            <a:r>
              <a:rPr lang="en-US" sz="2000" dirty="0">
                <a:solidFill>
                  <a:schemeClr val="hlink"/>
                </a:solidFill>
                <a:sym typeface="Symbol" pitchFamily="18" charset="2"/>
              </a:rPr>
              <a:t>]  &gt;  d[</a:t>
            </a:r>
            <a:r>
              <a:rPr lang="en-US" sz="2000" dirty="0" err="1">
                <a:solidFill>
                  <a:schemeClr val="hlink"/>
                </a:solidFill>
                <a:sym typeface="Symbol" pitchFamily="18" charset="2"/>
              </a:rPr>
              <a:t>u,k</a:t>
            </a:r>
            <a:r>
              <a:rPr lang="en-US" sz="2000" dirty="0">
                <a:solidFill>
                  <a:schemeClr val="hlink"/>
                </a:solidFill>
                <a:sym typeface="Symbol" pitchFamily="18" charset="2"/>
              </a:rPr>
              <a:t>] + d[</a:t>
            </a:r>
            <a:r>
              <a:rPr lang="en-US" sz="2000" dirty="0" err="1">
                <a:solidFill>
                  <a:schemeClr val="hlink"/>
                </a:solidFill>
                <a:sym typeface="Symbol" pitchFamily="18" charset="2"/>
              </a:rPr>
              <a:t>k,v</a:t>
            </a:r>
            <a:r>
              <a:rPr lang="en-US" sz="2000" dirty="0">
                <a:solidFill>
                  <a:schemeClr val="hlink"/>
                </a:solidFill>
                <a:sym typeface="Symbol" pitchFamily="18" charset="2"/>
              </a:rPr>
              <a:t>]  </a:t>
            </a:r>
            <a:r>
              <a:rPr lang="en-US" sz="2000" b="1" dirty="0">
                <a:sym typeface="Symbol" pitchFamily="18" charset="2"/>
              </a:rPr>
              <a:t>then do </a:t>
            </a:r>
            <a:endParaRPr lang="en-US" sz="2000" dirty="0">
              <a:solidFill>
                <a:schemeClr val="hlink"/>
              </a:solidFill>
              <a:sym typeface="Symbol" pitchFamily="18" charset="2"/>
            </a:endParaRP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		 </a:t>
            </a:r>
            <a:r>
              <a:rPr lang="en-US" sz="2000" dirty="0">
                <a:solidFill>
                  <a:schemeClr val="hlink"/>
                </a:solidFill>
              </a:rPr>
              <a:t> 	d[</a:t>
            </a:r>
            <a:r>
              <a:rPr lang="en-US" sz="2000" dirty="0" err="1">
                <a:solidFill>
                  <a:schemeClr val="hlink"/>
                </a:solidFill>
              </a:rPr>
              <a:t>u,v</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d[</a:t>
            </a:r>
            <a:r>
              <a:rPr lang="en-US" sz="2000" dirty="0" err="1">
                <a:solidFill>
                  <a:schemeClr val="hlink"/>
                </a:solidFill>
              </a:rPr>
              <a:t>u,k</a:t>
            </a:r>
            <a:r>
              <a:rPr lang="en-US" sz="2000" dirty="0">
                <a:solidFill>
                  <a:schemeClr val="hlink"/>
                </a:solidFill>
              </a:rPr>
              <a:t>] + </a:t>
            </a:r>
            <a:r>
              <a:rPr lang="en-US" sz="2000" dirty="0">
                <a:solidFill>
                  <a:schemeClr val="hlink"/>
                </a:solidFill>
                <a:sym typeface="Symbol" pitchFamily="18" charset="2"/>
              </a:rPr>
              <a:t>d[</a:t>
            </a:r>
            <a:r>
              <a:rPr lang="en-US" sz="2000" dirty="0" err="1">
                <a:solidFill>
                  <a:schemeClr val="hlink"/>
                </a:solidFill>
                <a:sym typeface="Symbol" pitchFamily="18" charset="2"/>
              </a:rPr>
              <a:t>k,v</a:t>
            </a:r>
            <a:r>
              <a:rPr lang="en-US" sz="2000" dirty="0">
                <a:solidFill>
                  <a:schemeClr val="hlink"/>
                </a:solidFill>
                <a:sym typeface="Symbol" pitchFamily="18" charset="2"/>
              </a:rPr>
              <a:t>] 			</a:t>
            </a:r>
            <a:endParaRPr lang="en-US" sz="2000" dirty="0">
              <a:solidFill>
                <a:srgbClr val="CC0000"/>
              </a:solidFill>
            </a:endParaRP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	 </a:t>
            </a:r>
            <a:r>
              <a:rPr lang="en-US" sz="2000" dirty="0">
                <a:solidFill>
                  <a:schemeClr val="hlink"/>
                </a:solidFill>
              </a:rPr>
              <a:t> 	</a:t>
            </a:r>
            <a:r>
              <a:rPr lang="en-US" sz="2000" dirty="0">
                <a:solidFill>
                  <a:schemeClr val="hlink"/>
                </a:solidFill>
                <a:latin typeface="Symbol" pitchFamily="18" charset="2"/>
              </a:rPr>
              <a:t>p</a:t>
            </a:r>
            <a:r>
              <a:rPr lang="en-US" sz="2000" dirty="0">
                <a:solidFill>
                  <a:schemeClr val="hlink"/>
                </a:solidFill>
              </a:rPr>
              <a:t>[</a:t>
            </a:r>
            <a:r>
              <a:rPr lang="en-US" sz="2000" dirty="0" err="1">
                <a:solidFill>
                  <a:schemeClr val="hlink"/>
                </a:solidFill>
              </a:rPr>
              <a:t>u,v</a:t>
            </a:r>
            <a:r>
              <a:rPr lang="en-US" sz="2000" dirty="0">
                <a:solidFill>
                  <a:schemeClr val="hlink"/>
                </a:solidFill>
              </a:rPr>
              <a:t>] </a:t>
            </a:r>
            <a:r>
              <a:rPr lang="en-US" sz="2000" dirty="0">
                <a:solidFill>
                  <a:schemeClr val="hlink"/>
                </a:solidFill>
                <a:sym typeface="Symbol" pitchFamily="18" charset="2"/>
              </a:rPr>
              <a:t></a:t>
            </a:r>
            <a:r>
              <a:rPr lang="en-US" sz="2000" dirty="0">
                <a:solidFill>
                  <a:schemeClr val="hlink"/>
                </a:solidFill>
              </a:rPr>
              <a:t> </a:t>
            </a:r>
            <a:r>
              <a:rPr lang="en-US" sz="2000" dirty="0">
                <a:solidFill>
                  <a:schemeClr val="hlink"/>
                </a:solidFill>
                <a:latin typeface="Symbol" pitchFamily="18" charset="2"/>
              </a:rPr>
              <a:t>p</a:t>
            </a:r>
            <a:r>
              <a:rPr lang="en-US" sz="2000" dirty="0">
                <a:solidFill>
                  <a:schemeClr val="hlink"/>
                </a:solidFill>
              </a:rPr>
              <a:t>[</a:t>
            </a:r>
            <a:r>
              <a:rPr lang="en-US" sz="2000" dirty="0" err="1">
                <a:solidFill>
                  <a:schemeClr val="hlink"/>
                </a:solidFill>
              </a:rPr>
              <a:t>k,v</a:t>
            </a:r>
            <a:r>
              <a:rPr lang="en-US" sz="2000" dirty="0">
                <a:solidFill>
                  <a:schemeClr val="hlink"/>
                </a:solidFill>
              </a:rPr>
              <a:t>] </a:t>
            </a:r>
            <a:r>
              <a:rPr lang="en-US" sz="2000" dirty="0">
                <a:solidFill>
                  <a:schemeClr val="hlink"/>
                </a:solidFill>
                <a:sym typeface="Symbol" pitchFamily="18" charset="2"/>
              </a:rPr>
              <a:t>	 					</a:t>
            </a:r>
            <a:r>
              <a:rPr lang="en-US" sz="2000" dirty="0">
                <a:solidFill>
                  <a:srgbClr val="CC0000"/>
                </a:solidFill>
                <a:cs typeface="Arial" pitchFamily="34" charset="0"/>
              </a:rPr>
              <a:t>§ </a:t>
            </a:r>
            <a:r>
              <a:rPr lang="en-US" sz="2000" dirty="0">
                <a:solidFill>
                  <a:srgbClr val="CC0000"/>
                </a:solidFill>
              </a:rPr>
              <a:t>k </a:t>
            </a:r>
            <a:r>
              <a:rPr lang="en-US" sz="2000" dirty="0">
                <a:solidFill>
                  <a:srgbClr val="CC0000"/>
                </a:solidFill>
                <a:sym typeface="Symbol" pitchFamily="18" charset="2"/>
              </a:rPr>
              <a:t></a:t>
            </a:r>
            <a:r>
              <a:rPr lang="en-US" sz="2000" dirty="0">
                <a:solidFill>
                  <a:srgbClr val="CC0000"/>
                </a:solidFill>
              </a:rPr>
              <a:t> v</a:t>
            </a:r>
            <a:r>
              <a:rPr lang="en-US" sz="2000" dirty="0">
                <a:solidFill>
                  <a:schemeClr val="hlink"/>
                </a:solidFill>
                <a:sym typeface="Symbol" pitchFamily="18" charset="2"/>
              </a:rPr>
              <a:t>		</a:t>
            </a:r>
          </a:p>
          <a:p>
            <a:pPr eaLnBrk="1" hangingPunct="1">
              <a:buFontTx/>
              <a:buAutoNum type="arabicPeriod"/>
            </a:pPr>
            <a:r>
              <a:rPr lang="en-US" sz="2000" dirty="0">
                <a:solidFill>
                  <a:srgbClr val="CC0000"/>
                </a:solidFill>
              </a:rPr>
              <a:t> 		</a:t>
            </a:r>
            <a:r>
              <a:rPr lang="en-US" sz="2000" b="1" dirty="0"/>
              <a:t>end-if</a:t>
            </a:r>
          </a:p>
          <a:p>
            <a:pPr eaLnBrk="1" hangingPunct="1">
              <a:buFontTx/>
              <a:buAutoNum type="arabicPeriod"/>
            </a:pPr>
            <a:r>
              <a:rPr lang="en-US" sz="2000" dirty="0">
                <a:solidFill>
                  <a:srgbClr val="CC0000"/>
                </a:solidFill>
              </a:rPr>
              <a:t> 	</a:t>
            </a:r>
            <a:r>
              <a:rPr lang="en-US" sz="2000" b="1" dirty="0"/>
              <a:t>end-for</a:t>
            </a:r>
          </a:p>
          <a:p>
            <a:pPr eaLnBrk="1" hangingPunct="1">
              <a:buFontTx/>
              <a:buAutoNum type="arabicPeriod"/>
            </a:pPr>
            <a:r>
              <a:rPr lang="en-US" sz="2000" dirty="0">
                <a:solidFill>
                  <a:srgbClr val="CC0000"/>
                </a:solidFill>
              </a:rPr>
              <a:t> </a:t>
            </a:r>
            <a:r>
              <a:rPr lang="en-US" sz="2000" b="1" dirty="0"/>
              <a:t>end-for</a:t>
            </a:r>
          </a:p>
          <a:p>
            <a:pPr eaLnBrk="1" hangingPunct="1">
              <a:buFontTx/>
              <a:buAutoNum type="arabicPeriod"/>
            </a:pPr>
            <a:r>
              <a:rPr lang="en-US" sz="2000" dirty="0">
                <a:solidFill>
                  <a:srgbClr val="CC0000"/>
                </a:solidFill>
              </a:rPr>
              <a:t> </a:t>
            </a:r>
            <a:r>
              <a:rPr lang="en-US" sz="2000" b="1" dirty="0"/>
              <a:t>return </a:t>
            </a:r>
            <a:r>
              <a:rPr lang="en-US" sz="2000" dirty="0">
                <a:solidFill>
                  <a:schemeClr val="hlink"/>
                </a:solidFill>
              </a:rPr>
              <a:t>d and </a:t>
            </a:r>
            <a:r>
              <a:rPr lang="en-US" sz="2000" dirty="0">
                <a:solidFill>
                  <a:schemeClr val="hlink"/>
                </a:solidFill>
                <a:latin typeface="Symbol" pitchFamily="18" charset="2"/>
              </a:rPr>
              <a:t>p</a:t>
            </a:r>
            <a:r>
              <a:rPr lang="en-US" sz="1800" dirty="0">
                <a:solidFill>
                  <a:schemeClr val="hlink"/>
                </a:solidFill>
              </a:rPr>
              <a:t> 							</a:t>
            </a:r>
            <a:endParaRPr lang="en-US" sz="2000" b="1" dirty="0"/>
          </a:p>
          <a:p>
            <a:pPr eaLnBrk="1" hangingPunct="1">
              <a:buFontTx/>
              <a:buNone/>
            </a:pPr>
            <a:r>
              <a:rPr lang="en-US" sz="2000" b="1" dirty="0"/>
              <a:t>end</a:t>
            </a:r>
            <a:r>
              <a:rPr lang="en-US" sz="2000" dirty="0">
                <a:solidFill>
                  <a:schemeClr val="hlink"/>
                </a:solidFill>
              </a:rPr>
              <a:t> </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123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8114">
                                            <p:bg/>
                                          </p:spTgt>
                                        </p:tgtEl>
                                        <p:attrNameLst>
                                          <p:attrName>style.visibility</p:attrName>
                                        </p:attrNameLst>
                                      </p:cBhvr>
                                      <p:to>
                                        <p:strVal val="visible"/>
                                      </p:to>
                                    </p:set>
                                    <p:animEffect transition="in" filter="wipe(left)">
                                      <p:cBhvr>
                                        <p:cTn id="7" dur="500"/>
                                        <p:tgtEl>
                                          <p:spTgt spid="218114">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8114">
                                            <p:txEl>
                                              <p:pRg st="0" end="0"/>
                                            </p:txEl>
                                          </p:spTgt>
                                        </p:tgtEl>
                                        <p:attrNameLst>
                                          <p:attrName>style.visibility</p:attrName>
                                        </p:attrNameLst>
                                      </p:cBhvr>
                                      <p:to>
                                        <p:strVal val="visible"/>
                                      </p:to>
                                    </p:set>
                                    <p:animEffect transition="in" filter="wipe(left)">
                                      <p:cBhvr>
                                        <p:cTn id="12" dur="500"/>
                                        <p:tgtEl>
                                          <p:spTgt spid="21811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8114">
                                            <p:txEl>
                                              <p:pRg st="1" end="1"/>
                                            </p:txEl>
                                          </p:spTgt>
                                        </p:tgtEl>
                                        <p:attrNameLst>
                                          <p:attrName>style.visibility</p:attrName>
                                        </p:attrNameLst>
                                      </p:cBhvr>
                                      <p:to>
                                        <p:strVal val="visible"/>
                                      </p:to>
                                    </p:set>
                                    <p:animEffect transition="in" filter="wipe(left)">
                                      <p:cBhvr>
                                        <p:cTn id="17" dur="500"/>
                                        <p:tgtEl>
                                          <p:spTgt spid="218114">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8114">
                                            <p:txEl>
                                              <p:pRg st="2" end="2"/>
                                            </p:txEl>
                                          </p:spTgt>
                                        </p:tgtEl>
                                        <p:attrNameLst>
                                          <p:attrName>style.visibility</p:attrName>
                                        </p:attrNameLst>
                                      </p:cBhvr>
                                      <p:to>
                                        <p:strVal val="visible"/>
                                      </p:to>
                                    </p:set>
                                    <p:animEffect transition="in" filter="wipe(left)">
                                      <p:cBhvr>
                                        <p:cTn id="22" dur="500"/>
                                        <p:tgtEl>
                                          <p:spTgt spid="218114">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8114">
                                            <p:txEl>
                                              <p:pRg st="3" end="3"/>
                                            </p:txEl>
                                          </p:spTgt>
                                        </p:tgtEl>
                                        <p:attrNameLst>
                                          <p:attrName>style.visibility</p:attrName>
                                        </p:attrNameLst>
                                      </p:cBhvr>
                                      <p:to>
                                        <p:strVal val="visible"/>
                                      </p:to>
                                    </p:set>
                                    <p:animEffect transition="in" filter="wipe(left)">
                                      <p:cBhvr>
                                        <p:cTn id="27" dur="500"/>
                                        <p:tgtEl>
                                          <p:spTgt spid="218114">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8114">
                                            <p:txEl>
                                              <p:pRg st="4" end="4"/>
                                            </p:txEl>
                                          </p:spTgt>
                                        </p:tgtEl>
                                        <p:attrNameLst>
                                          <p:attrName>style.visibility</p:attrName>
                                        </p:attrNameLst>
                                      </p:cBhvr>
                                      <p:to>
                                        <p:strVal val="visible"/>
                                      </p:to>
                                    </p:set>
                                    <p:animEffect transition="in" filter="wipe(left)">
                                      <p:cBhvr>
                                        <p:cTn id="32" dur="500"/>
                                        <p:tgtEl>
                                          <p:spTgt spid="218114">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8114">
                                            <p:txEl>
                                              <p:pRg st="5" end="5"/>
                                            </p:txEl>
                                          </p:spTgt>
                                        </p:tgtEl>
                                        <p:attrNameLst>
                                          <p:attrName>style.visibility</p:attrName>
                                        </p:attrNameLst>
                                      </p:cBhvr>
                                      <p:to>
                                        <p:strVal val="visible"/>
                                      </p:to>
                                    </p:set>
                                    <p:animEffect transition="in" filter="wipe(left)">
                                      <p:cBhvr>
                                        <p:cTn id="37" dur="500"/>
                                        <p:tgtEl>
                                          <p:spTgt spid="218114">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18114">
                                            <p:txEl>
                                              <p:pRg st="6" end="6"/>
                                            </p:txEl>
                                          </p:spTgt>
                                        </p:tgtEl>
                                        <p:attrNameLst>
                                          <p:attrName>style.visibility</p:attrName>
                                        </p:attrNameLst>
                                      </p:cBhvr>
                                      <p:to>
                                        <p:strVal val="visible"/>
                                      </p:to>
                                    </p:set>
                                    <p:animEffect transition="in" filter="wipe(left)">
                                      <p:cBhvr>
                                        <p:cTn id="42" dur="500"/>
                                        <p:tgtEl>
                                          <p:spTgt spid="218114">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18114">
                                            <p:txEl>
                                              <p:pRg st="7" end="7"/>
                                            </p:txEl>
                                          </p:spTgt>
                                        </p:tgtEl>
                                        <p:attrNameLst>
                                          <p:attrName>style.visibility</p:attrName>
                                        </p:attrNameLst>
                                      </p:cBhvr>
                                      <p:to>
                                        <p:strVal val="visible"/>
                                      </p:to>
                                    </p:set>
                                    <p:animEffect transition="in" filter="wipe(left)">
                                      <p:cBhvr>
                                        <p:cTn id="47" dur="500"/>
                                        <p:tgtEl>
                                          <p:spTgt spid="218114">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18114">
                                            <p:txEl>
                                              <p:pRg st="8" end="8"/>
                                            </p:txEl>
                                          </p:spTgt>
                                        </p:tgtEl>
                                        <p:attrNameLst>
                                          <p:attrName>style.visibility</p:attrName>
                                        </p:attrNameLst>
                                      </p:cBhvr>
                                      <p:to>
                                        <p:strVal val="visible"/>
                                      </p:to>
                                    </p:set>
                                    <p:animEffect transition="in" filter="wipe(left)">
                                      <p:cBhvr>
                                        <p:cTn id="52" dur="500"/>
                                        <p:tgtEl>
                                          <p:spTgt spid="218114">
                                            <p:txEl>
                                              <p:pRg st="8" end="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18114">
                                            <p:txEl>
                                              <p:pRg st="9" end="9"/>
                                            </p:txEl>
                                          </p:spTgt>
                                        </p:tgtEl>
                                        <p:attrNameLst>
                                          <p:attrName>style.visibility</p:attrName>
                                        </p:attrNameLst>
                                      </p:cBhvr>
                                      <p:to>
                                        <p:strVal val="visible"/>
                                      </p:to>
                                    </p:set>
                                    <p:animEffect transition="in" filter="wipe(left)">
                                      <p:cBhvr>
                                        <p:cTn id="57" dur="500"/>
                                        <p:tgtEl>
                                          <p:spTgt spid="218114">
                                            <p:txEl>
                                              <p:pRg st="9" end="9"/>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18114">
                                            <p:txEl>
                                              <p:pRg st="10" end="10"/>
                                            </p:txEl>
                                          </p:spTgt>
                                        </p:tgtEl>
                                        <p:attrNameLst>
                                          <p:attrName>style.visibility</p:attrName>
                                        </p:attrNameLst>
                                      </p:cBhvr>
                                      <p:to>
                                        <p:strVal val="visible"/>
                                      </p:to>
                                    </p:set>
                                    <p:animEffect transition="in" filter="wipe(left)">
                                      <p:cBhvr>
                                        <p:cTn id="62" dur="500"/>
                                        <p:tgtEl>
                                          <p:spTgt spid="218114">
                                            <p:txEl>
                                              <p:pRg st="10" end="1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18114">
                                            <p:txEl>
                                              <p:pRg st="11" end="11"/>
                                            </p:txEl>
                                          </p:spTgt>
                                        </p:tgtEl>
                                        <p:attrNameLst>
                                          <p:attrName>style.visibility</p:attrName>
                                        </p:attrNameLst>
                                      </p:cBhvr>
                                      <p:to>
                                        <p:strVal val="visible"/>
                                      </p:to>
                                    </p:set>
                                    <p:animEffect transition="in" filter="wipe(left)">
                                      <p:cBhvr>
                                        <p:cTn id="67" dur="500"/>
                                        <p:tgtEl>
                                          <p:spTgt spid="218114">
                                            <p:txEl>
                                              <p:pRg st="11" end="11"/>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18114">
                                            <p:txEl>
                                              <p:pRg st="12" end="12"/>
                                            </p:txEl>
                                          </p:spTgt>
                                        </p:tgtEl>
                                        <p:attrNameLst>
                                          <p:attrName>style.visibility</p:attrName>
                                        </p:attrNameLst>
                                      </p:cBhvr>
                                      <p:to>
                                        <p:strVal val="visible"/>
                                      </p:to>
                                    </p:set>
                                    <p:animEffect transition="in" filter="wipe(left)">
                                      <p:cBhvr>
                                        <p:cTn id="72" dur="500"/>
                                        <p:tgtEl>
                                          <p:spTgt spid="218114">
                                            <p:txEl>
                                              <p:pRg st="12" end="12"/>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18114">
                                            <p:txEl>
                                              <p:pRg st="13" end="13"/>
                                            </p:txEl>
                                          </p:spTgt>
                                        </p:tgtEl>
                                        <p:attrNameLst>
                                          <p:attrName>style.visibility</p:attrName>
                                        </p:attrNameLst>
                                      </p:cBhvr>
                                      <p:to>
                                        <p:strVal val="visible"/>
                                      </p:to>
                                    </p:set>
                                    <p:animEffect transition="in" filter="wipe(left)">
                                      <p:cBhvr>
                                        <p:cTn id="77" dur="500"/>
                                        <p:tgtEl>
                                          <p:spTgt spid="218114">
                                            <p:txEl>
                                              <p:pRg st="13" end="13"/>
                                            </p:txEl>
                                          </p:spTgt>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18114">
                                            <p:txEl>
                                              <p:pRg st="14" end="14"/>
                                            </p:txEl>
                                          </p:spTgt>
                                        </p:tgtEl>
                                        <p:attrNameLst>
                                          <p:attrName>style.visibility</p:attrName>
                                        </p:attrNameLst>
                                      </p:cBhvr>
                                      <p:to>
                                        <p:strVal val="visible"/>
                                      </p:to>
                                    </p:set>
                                    <p:animEffect transition="in" filter="wipe(left)">
                                      <p:cBhvr>
                                        <p:cTn id="82" dur="500"/>
                                        <p:tgtEl>
                                          <p:spTgt spid="218114">
                                            <p:txEl>
                                              <p:pRg st="14" end="14"/>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18114">
                                            <p:txEl>
                                              <p:pRg st="15" end="15"/>
                                            </p:txEl>
                                          </p:spTgt>
                                        </p:tgtEl>
                                        <p:attrNameLst>
                                          <p:attrName>style.visibility</p:attrName>
                                        </p:attrNameLst>
                                      </p:cBhvr>
                                      <p:to>
                                        <p:strVal val="visible"/>
                                      </p:to>
                                    </p:set>
                                    <p:animEffect transition="in" filter="wipe(left)">
                                      <p:cBhvr>
                                        <p:cTn id="87" dur="500"/>
                                        <p:tgtEl>
                                          <p:spTgt spid="21811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4" grpId="0" build="p" animBg="1" autoUpdateAnimBg="0"/>
    </p:bldLst>
  </p:timing>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838200" indent="-838200" eaLnBrk="1" hangingPunct="1"/>
            <a:r>
              <a:rPr lang="en-US" sz="2800" dirty="0" smtClean="0">
                <a:solidFill>
                  <a:srgbClr val="FF0000"/>
                </a:solidFill>
                <a:latin typeface="Arial Rounded MT Bold" pitchFamily="34" charset="0"/>
                <a:sym typeface="Symbol" pitchFamily="18" charset="2"/>
              </a:rPr>
              <a:t>The</a:t>
            </a:r>
            <a:r>
              <a:rPr lang="en-US" sz="2800" dirty="0" smtClean="0">
                <a:solidFill>
                  <a:schemeClr val="tx1"/>
                </a:solidFill>
                <a:latin typeface="Arial Rounded MT Bold" pitchFamily="34" charset="0"/>
                <a:sym typeface="Symbol" pitchFamily="18" charset="2"/>
              </a:rPr>
              <a:t> Dynamic Programming </a:t>
            </a:r>
            <a:r>
              <a:rPr lang="en-US" sz="2800" dirty="0" smtClean="0">
                <a:solidFill>
                  <a:srgbClr val="FF0000"/>
                </a:solidFill>
                <a:latin typeface="Arial Rounded MT Bold" pitchFamily="34" charset="0"/>
                <a:sym typeface="Symbol" pitchFamily="18" charset="2"/>
              </a:rPr>
              <a:t>Algorithm</a:t>
            </a:r>
          </a:p>
        </p:txBody>
      </p:sp>
      <p:sp>
        <p:nvSpPr>
          <p:cNvPr id="219139" name="Text Box 3"/>
          <p:cNvSpPr txBox="1">
            <a:spLocks noChangeArrowheads="1"/>
          </p:cNvSpPr>
          <p:nvPr/>
        </p:nvSpPr>
        <p:spPr bwMode="auto">
          <a:xfrm>
            <a:off x="152400" y="838200"/>
            <a:ext cx="8839200" cy="390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2575" indent="-282575" defTabSz="1235075">
              <a:defRPr sz="1600">
                <a:solidFill>
                  <a:schemeClr val="tx1"/>
                </a:solidFill>
                <a:latin typeface="Times New Roman" pitchFamily="18" charset="0"/>
              </a:defRPr>
            </a:lvl1pPr>
            <a:lvl2pPr marL="763588" indent="-290513" defTabSz="1235075">
              <a:defRPr sz="1600">
                <a:solidFill>
                  <a:schemeClr val="tx1"/>
                </a:solidFill>
                <a:latin typeface="Times New Roman" pitchFamily="18" charset="0"/>
              </a:defRPr>
            </a:lvl2pPr>
            <a:lvl3pPr marL="1143000" indent="-228600" defTabSz="1235075">
              <a:defRPr sz="1600">
                <a:solidFill>
                  <a:schemeClr val="tx1"/>
                </a:solidFill>
                <a:latin typeface="Times New Roman" pitchFamily="18" charset="0"/>
              </a:defRPr>
            </a:lvl3pPr>
            <a:lvl4pPr marL="1600200" indent="-228600" defTabSz="1235075">
              <a:defRPr sz="1600">
                <a:solidFill>
                  <a:schemeClr val="tx1"/>
                </a:solidFill>
                <a:latin typeface="Times New Roman" pitchFamily="18" charset="0"/>
              </a:defRPr>
            </a:lvl4pPr>
            <a:lvl5pPr marL="2057400" indent="-228600" defTabSz="1235075">
              <a:defRPr sz="1600">
                <a:solidFill>
                  <a:schemeClr val="tx1"/>
                </a:solidFill>
                <a:latin typeface="Times New Roman" pitchFamily="18" charset="0"/>
              </a:defRPr>
            </a:lvl5pPr>
            <a:lvl6pPr marL="2514600" indent="-228600" defTabSz="1235075" eaLnBrk="0" fontAlgn="base" hangingPunct="0">
              <a:spcBef>
                <a:spcPct val="0"/>
              </a:spcBef>
              <a:spcAft>
                <a:spcPct val="0"/>
              </a:spcAft>
              <a:buChar char="•"/>
              <a:defRPr sz="1600">
                <a:solidFill>
                  <a:schemeClr val="tx1"/>
                </a:solidFill>
                <a:latin typeface="Times New Roman" pitchFamily="18" charset="0"/>
              </a:defRPr>
            </a:lvl6pPr>
            <a:lvl7pPr marL="2971800" indent="-228600" defTabSz="1235075" eaLnBrk="0" fontAlgn="base" hangingPunct="0">
              <a:spcBef>
                <a:spcPct val="0"/>
              </a:spcBef>
              <a:spcAft>
                <a:spcPct val="0"/>
              </a:spcAft>
              <a:buChar char="•"/>
              <a:defRPr sz="1600">
                <a:solidFill>
                  <a:schemeClr val="tx1"/>
                </a:solidFill>
                <a:latin typeface="Times New Roman" pitchFamily="18" charset="0"/>
              </a:defRPr>
            </a:lvl7pPr>
            <a:lvl8pPr marL="3429000" indent="-228600" defTabSz="1235075" eaLnBrk="0" fontAlgn="base" hangingPunct="0">
              <a:spcBef>
                <a:spcPct val="0"/>
              </a:spcBef>
              <a:spcAft>
                <a:spcPct val="0"/>
              </a:spcAft>
              <a:buChar char="•"/>
              <a:defRPr sz="1600">
                <a:solidFill>
                  <a:schemeClr val="tx1"/>
                </a:solidFill>
                <a:latin typeface="Times New Roman" pitchFamily="18" charset="0"/>
              </a:defRPr>
            </a:lvl8pPr>
            <a:lvl9pPr marL="3886200" indent="-228600" defTabSz="1235075"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Char char="§"/>
            </a:pPr>
            <a:r>
              <a:rPr lang="en-US" sz="2000" b="1">
                <a:solidFill>
                  <a:srgbClr val="CC0000"/>
                </a:solidFill>
              </a:rPr>
              <a:t>Floyd-Warshall</a:t>
            </a:r>
            <a:r>
              <a:rPr lang="en-US" sz="2000">
                <a:solidFill>
                  <a:schemeClr val="tx2"/>
                </a:solidFill>
              </a:rPr>
              <a:t>’s algorithm is a special case of </a:t>
            </a:r>
            <a:r>
              <a:rPr lang="en-US" sz="2000" b="1">
                <a:solidFill>
                  <a:srgbClr val="CC0000"/>
                </a:solidFill>
              </a:rPr>
              <a:t>Gauss-Jordan</a:t>
            </a:r>
            <a:r>
              <a:rPr lang="en-US" sz="2000">
                <a:solidFill>
                  <a:schemeClr val="tx2"/>
                </a:solidFill>
              </a:rPr>
              <a:t> elimination.</a:t>
            </a:r>
          </a:p>
          <a:p>
            <a:pPr eaLnBrk="1" hangingPunct="1">
              <a:spcBef>
                <a:spcPct val="50000"/>
              </a:spcBef>
              <a:buFont typeface="Wingdings" pitchFamily="2" charset="2"/>
              <a:buChar char="§"/>
            </a:pPr>
            <a:endParaRPr lang="en-US" sz="2000">
              <a:solidFill>
                <a:schemeClr val="tx2"/>
              </a:solidFill>
            </a:endParaRPr>
          </a:p>
          <a:p>
            <a:pPr eaLnBrk="1" hangingPunct="1">
              <a:spcBef>
                <a:spcPct val="50000"/>
              </a:spcBef>
              <a:buFont typeface="Wingdings" pitchFamily="2" charset="2"/>
              <a:buChar char="§"/>
            </a:pPr>
            <a:r>
              <a:rPr lang="en-US" sz="2000" b="1">
                <a:solidFill>
                  <a:srgbClr val="CC0000"/>
                </a:solidFill>
              </a:rPr>
              <a:t>Gauss-Jordan</a:t>
            </a:r>
            <a:r>
              <a:rPr lang="en-US" sz="2000">
                <a:solidFill>
                  <a:schemeClr val="tx2"/>
                </a:solidFill>
              </a:rPr>
              <a:t> elimination has many other applications, including</a:t>
            </a:r>
          </a:p>
          <a:p>
            <a:pPr lvl="1" eaLnBrk="1" hangingPunct="1">
              <a:spcBef>
                <a:spcPct val="50000"/>
              </a:spcBef>
              <a:buFont typeface="Wingdings" pitchFamily="2" charset="2"/>
              <a:buChar char="Ø"/>
            </a:pPr>
            <a:r>
              <a:rPr lang="en-US" sz="2000">
                <a:solidFill>
                  <a:schemeClr val="tx2"/>
                </a:solidFill>
              </a:rPr>
              <a:t>Solving systems of linear equations</a:t>
            </a:r>
          </a:p>
          <a:p>
            <a:pPr lvl="1" eaLnBrk="1" hangingPunct="1">
              <a:spcBef>
                <a:spcPct val="50000"/>
              </a:spcBef>
              <a:buFont typeface="Wingdings" pitchFamily="2" charset="2"/>
              <a:buChar char="Ø"/>
            </a:pPr>
            <a:r>
              <a:rPr lang="en-US" sz="2000">
                <a:solidFill>
                  <a:schemeClr val="tx2"/>
                </a:solidFill>
              </a:rPr>
              <a:t>Converting a finite automaton into a regular expression</a:t>
            </a:r>
          </a:p>
          <a:p>
            <a:pPr lvl="1" eaLnBrk="1" hangingPunct="1">
              <a:spcBef>
                <a:spcPct val="50000"/>
              </a:spcBef>
              <a:buFont typeface="Wingdings" pitchFamily="2" charset="2"/>
              <a:buChar char="Ø"/>
            </a:pPr>
            <a:r>
              <a:rPr lang="en-US" sz="2000">
                <a:solidFill>
                  <a:schemeClr val="tx2"/>
                </a:solidFill>
              </a:rPr>
              <a:t>Doing global analysis of computer programs</a:t>
            </a:r>
          </a:p>
          <a:p>
            <a:pPr lvl="1" eaLnBrk="1" hangingPunct="1">
              <a:spcBef>
                <a:spcPct val="50000"/>
              </a:spcBef>
              <a:buFont typeface="Wingdings" pitchFamily="2" charset="2"/>
              <a:buChar char="Ø"/>
            </a:pPr>
            <a:endParaRPr lang="en-US" sz="2000">
              <a:solidFill>
                <a:schemeClr val="tx2"/>
              </a:solidFill>
            </a:endParaRPr>
          </a:p>
          <a:p>
            <a:pPr eaLnBrk="1" hangingPunct="1">
              <a:spcBef>
                <a:spcPct val="50000"/>
              </a:spcBef>
              <a:buFont typeface="Wingdings" pitchFamily="2" charset="2"/>
              <a:buChar char="§"/>
            </a:pPr>
            <a:r>
              <a:rPr lang="en-US" sz="2000" b="1">
                <a:solidFill>
                  <a:srgbClr val="CC0000"/>
                </a:solidFill>
              </a:rPr>
              <a:t>Tarjan [1981]</a:t>
            </a:r>
            <a:r>
              <a:rPr lang="en-US" sz="2000">
                <a:solidFill>
                  <a:schemeClr val="tx2"/>
                </a:solidFill>
              </a:rPr>
              <a:t> showed all these problems can be</a:t>
            </a:r>
            <a:br>
              <a:rPr lang="en-US" sz="2000">
                <a:solidFill>
                  <a:schemeClr val="tx2"/>
                </a:solidFill>
              </a:rPr>
            </a:br>
            <a:r>
              <a:rPr lang="en-US" sz="2000">
                <a:solidFill>
                  <a:schemeClr val="tx2"/>
                </a:solidFill>
              </a:rPr>
              <a:t>treated together in an appropriate unified setting.</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19138"/>
                                        </p:tgtEl>
                                        <p:attrNameLst>
                                          <p:attrName>style.visibility</p:attrName>
                                        </p:attrNameLst>
                                      </p:cBhvr>
                                      <p:to>
                                        <p:strVal val="visible"/>
                                      </p:to>
                                    </p:set>
                                    <p:anim calcmode="lin" valueType="num">
                                      <p:cBhvr>
                                        <p:cTn id="7" dur="500" fill="hold"/>
                                        <p:tgtEl>
                                          <p:spTgt spid="219138"/>
                                        </p:tgtEl>
                                        <p:attrNameLst>
                                          <p:attrName>ppt_w</p:attrName>
                                        </p:attrNameLst>
                                      </p:cBhvr>
                                      <p:tavLst>
                                        <p:tav tm="0">
                                          <p:val>
                                            <p:fltVal val="0"/>
                                          </p:val>
                                        </p:tav>
                                        <p:tav tm="100000">
                                          <p:val>
                                            <p:strVal val="#ppt_w"/>
                                          </p:val>
                                        </p:tav>
                                      </p:tavLst>
                                    </p:anim>
                                    <p:anim calcmode="lin" valueType="num">
                                      <p:cBhvr>
                                        <p:cTn id="8" dur="500" fill="hold"/>
                                        <p:tgtEl>
                                          <p:spTgt spid="21913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19139">
                                            <p:txEl>
                                              <p:pRg st="0" end="0"/>
                                            </p:txEl>
                                          </p:spTgt>
                                        </p:tgtEl>
                                        <p:attrNameLst>
                                          <p:attrName>style.visibility</p:attrName>
                                        </p:attrNameLst>
                                      </p:cBhvr>
                                      <p:to>
                                        <p:strVal val="visible"/>
                                      </p:to>
                                    </p:set>
                                    <p:animEffect transition="in" filter="wipe(left)">
                                      <p:cBhvr>
                                        <p:cTn id="13" dur="500"/>
                                        <p:tgtEl>
                                          <p:spTgt spid="219139">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9139">
                                            <p:txEl>
                                              <p:pRg st="2" end="2"/>
                                            </p:txEl>
                                          </p:spTgt>
                                        </p:tgtEl>
                                        <p:attrNameLst>
                                          <p:attrName>style.visibility</p:attrName>
                                        </p:attrNameLst>
                                      </p:cBhvr>
                                      <p:to>
                                        <p:strVal val="visible"/>
                                      </p:to>
                                    </p:set>
                                    <p:animEffect transition="in" filter="wipe(left)">
                                      <p:cBhvr>
                                        <p:cTn id="18" dur="500"/>
                                        <p:tgtEl>
                                          <p:spTgt spid="219139">
                                            <p:txEl>
                                              <p:pRg st="2" end="2"/>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9139">
                                            <p:txEl>
                                              <p:pRg st="3" end="3"/>
                                            </p:txEl>
                                          </p:spTgt>
                                        </p:tgtEl>
                                        <p:attrNameLst>
                                          <p:attrName>style.visibility</p:attrName>
                                        </p:attrNameLst>
                                      </p:cBhvr>
                                      <p:to>
                                        <p:strVal val="visible"/>
                                      </p:to>
                                    </p:set>
                                    <p:animEffect transition="in" filter="wipe(left)">
                                      <p:cBhvr>
                                        <p:cTn id="21" dur="500"/>
                                        <p:tgtEl>
                                          <p:spTgt spid="219139">
                                            <p:txEl>
                                              <p:pRg st="3" end="3"/>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19139">
                                            <p:txEl>
                                              <p:pRg st="4" end="4"/>
                                            </p:txEl>
                                          </p:spTgt>
                                        </p:tgtEl>
                                        <p:attrNameLst>
                                          <p:attrName>style.visibility</p:attrName>
                                        </p:attrNameLst>
                                      </p:cBhvr>
                                      <p:to>
                                        <p:strVal val="visible"/>
                                      </p:to>
                                    </p:set>
                                    <p:animEffect transition="in" filter="wipe(left)">
                                      <p:cBhvr>
                                        <p:cTn id="24" dur="500"/>
                                        <p:tgtEl>
                                          <p:spTgt spid="219139">
                                            <p:txEl>
                                              <p:pRg st="4" end="4"/>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19139">
                                            <p:txEl>
                                              <p:pRg st="5" end="5"/>
                                            </p:txEl>
                                          </p:spTgt>
                                        </p:tgtEl>
                                        <p:attrNameLst>
                                          <p:attrName>style.visibility</p:attrName>
                                        </p:attrNameLst>
                                      </p:cBhvr>
                                      <p:to>
                                        <p:strVal val="visible"/>
                                      </p:to>
                                    </p:set>
                                    <p:animEffect transition="in" filter="wipe(left)">
                                      <p:cBhvr>
                                        <p:cTn id="27" dur="500"/>
                                        <p:tgtEl>
                                          <p:spTgt spid="219139">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9139">
                                            <p:txEl>
                                              <p:pRg st="7" end="7"/>
                                            </p:txEl>
                                          </p:spTgt>
                                        </p:tgtEl>
                                        <p:attrNameLst>
                                          <p:attrName>style.visibility</p:attrName>
                                        </p:attrNameLst>
                                      </p:cBhvr>
                                      <p:to>
                                        <p:strVal val="visible"/>
                                      </p:to>
                                    </p:set>
                                    <p:animEffect transition="in" filter="wipe(left)">
                                      <p:cBhvr>
                                        <p:cTn id="32" dur="500"/>
                                        <p:tgtEl>
                                          <p:spTgt spid="2191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8" grpId="0" animBg="1" autoUpdateAnimBg="0"/>
      <p:bldP spid="219139" grpId="0" build="p"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p:cNvSpPr>
            <a:spLocks noChangeArrowheads="1"/>
          </p:cNvSpPr>
          <p:nvPr/>
        </p:nvSpPr>
        <p:spPr bwMode="auto">
          <a:xfrm>
            <a:off x="304800" y="762000"/>
            <a:ext cx="8686800" cy="4737100"/>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571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282575" indent="-282575" eaLnBrk="1" hangingPunct="1">
              <a:spcBef>
                <a:spcPct val="50000"/>
              </a:spcBef>
              <a:buFont typeface="Wingdings" pitchFamily="2" charset="2"/>
              <a:buChar char="§"/>
            </a:pPr>
            <a:r>
              <a:rPr lang="en-US"/>
              <a:t>R.E. Bellman</a:t>
            </a:r>
            <a:r>
              <a:rPr lang="en-US">
                <a:solidFill>
                  <a:schemeClr val="hlink"/>
                </a:solidFill>
              </a:rPr>
              <a:t> </a:t>
            </a:r>
            <a:r>
              <a:rPr lang="en-US">
                <a:solidFill>
                  <a:srgbClr val="CC0000"/>
                </a:solidFill>
              </a:rPr>
              <a:t>“On a routing problem,”</a:t>
            </a:r>
            <a:r>
              <a:rPr lang="en-US"/>
              <a:t>  Quart. Appl. Math. 16: 87-90, 1958.</a:t>
            </a:r>
          </a:p>
          <a:p>
            <a:pPr marL="282575" indent="-282575" eaLnBrk="1" hangingPunct="1">
              <a:spcBef>
                <a:spcPct val="50000"/>
              </a:spcBef>
              <a:buFont typeface="Wingdings" pitchFamily="2" charset="2"/>
              <a:buChar char="§"/>
            </a:pPr>
            <a:r>
              <a:rPr lang="en-US"/>
              <a:t>E.W. Dijkstra, </a:t>
            </a:r>
            <a:r>
              <a:rPr lang="en-US">
                <a:solidFill>
                  <a:srgbClr val="CC0000"/>
                </a:solidFill>
              </a:rPr>
              <a:t>“A note on two problems in connexion with graphs,”  </a:t>
            </a:r>
            <a:r>
              <a:rPr lang="en-US"/>
              <a:t>Numer. Math.1:269-271, 1959.</a:t>
            </a:r>
          </a:p>
          <a:p>
            <a:pPr marL="282575" indent="-282575" eaLnBrk="1" hangingPunct="1">
              <a:spcBef>
                <a:spcPct val="50000"/>
              </a:spcBef>
              <a:buFont typeface="Wingdings" pitchFamily="2" charset="2"/>
              <a:buChar char="§"/>
            </a:pPr>
            <a:r>
              <a:rPr lang="en-US"/>
              <a:t>Jack Edmonds, R.M. Karp, </a:t>
            </a:r>
            <a:r>
              <a:rPr lang="en-US">
                <a:solidFill>
                  <a:srgbClr val="CC0000"/>
                </a:solidFill>
              </a:rPr>
              <a:t>“Theoretical improvements in algorithmic efficiency for network flow problems,”  </a:t>
            </a:r>
            <a:r>
              <a:rPr lang="en-US"/>
              <a:t>J. ACM 19:248-264, 1972.</a:t>
            </a:r>
          </a:p>
          <a:p>
            <a:pPr marL="282575" indent="-282575" eaLnBrk="1" hangingPunct="1">
              <a:spcBef>
                <a:spcPct val="50000"/>
              </a:spcBef>
              <a:buFont typeface="Wingdings" pitchFamily="2" charset="2"/>
              <a:buChar char="§"/>
            </a:pPr>
            <a:r>
              <a:rPr lang="en-US"/>
              <a:t>R.W. Floyd, </a:t>
            </a:r>
            <a:r>
              <a:rPr lang="en-US">
                <a:solidFill>
                  <a:srgbClr val="CC0000"/>
                </a:solidFill>
              </a:rPr>
              <a:t>“Algorithm 97: Shortest path,”  </a:t>
            </a:r>
            <a:r>
              <a:rPr lang="en-US"/>
              <a:t>CACM 5:345, 1962.</a:t>
            </a:r>
          </a:p>
          <a:p>
            <a:pPr marL="282575" indent="-282575" eaLnBrk="1" hangingPunct="1">
              <a:spcBef>
                <a:spcPct val="50000"/>
              </a:spcBef>
              <a:buFont typeface="Wingdings" pitchFamily="2" charset="2"/>
              <a:buChar char="§"/>
            </a:pPr>
            <a:r>
              <a:rPr lang="en-US"/>
              <a:t>L.R. Ford, Jr., </a:t>
            </a:r>
            <a:r>
              <a:rPr lang="en-US">
                <a:solidFill>
                  <a:srgbClr val="CC0000"/>
                </a:solidFill>
              </a:rPr>
              <a:t>“Network flow theory,”  </a:t>
            </a:r>
            <a:r>
              <a:rPr lang="en-US"/>
              <a:t>Paper P-923, RAND Corp., Santa Monica, CA., 1956.</a:t>
            </a:r>
          </a:p>
          <a:p>
            <a:pPr marL="282575" indent="-282575" eaLnBrk="1" hangingPunct="1">
              <a:spcBef>
                <a:spcPct val="50000"/>
              </a:spcBef>
              <a:buFont typeface="Wingdings" pitchFamily="2" charset="2"/>
              <a:buChar char="§"/>
            </a:pPr>
            <a:r>
              <a:rPr lang="en-US"/>
              <a:t>L.R. Ford, Jr., D.R. Fulkerson, </a:t>
            </a:r>
            <a:r>
              <a:rPr lang="en-US">
                <a:solidFill>
                  <a:srgbClr val="CC0000"/>
                </a:solidFill>
              </a:rPr>
              <a:t>“Flows in Networks,”  </a:t>
            </a:r>
            <a:r>
              <a:rPr lang="en-US"/>
              <a:t>Princeton University Press, 1962.</a:t>
            </a:r>
          </a:p>
          <a:p>
            <a:pPr marL="282575" indent="-282575" eaLnBrk="1" hangingPunct="1">
              <a:spcBef>
                <a:spcPct val="50000"/>
              </a:spcBef>
              <a:buFont typeface="Wingdings" pitchFamily="2" charset="2"/>
              <a:buChar char="§"/>
            </a:pPr>
            <a:r>
              <a:rPr lang="en-US"/>
              <a:t>D.B. Johnson, </a:t>
            </a:r>
            <a:r>
              <a:rPr lang="en-US">
                <a:solidFill>
                  <a:srgbClr val="CC0000"/>
                </a:solidFill>
              </a:rPr>
              <a:t>“Efficient algorithms for shortest paths in sparse networks,”  </a:t>
            </a:r>
            <a:r>
              <a:rPr lang="en-US"/>
              <a:t>JACM 24(1):1-13, 1977.</a:t>
            </a:r>
          </a:p>
          <a:p>
            <a:pPr marL="282575" indent="-282575" eaLnBrk="1" hangingPunct="1">
              <a:spcBef>
                <a:spcPct val="50000"/>
              </a:spcBef>
              <a:buFont typeface="Wingdings" pitchFamily="2" charset="2"/>
              <a:buChar char="§"/>
            </a:pPr>
            <a:r>
              <a:rPr lang="en-US"/>
              <a:t>P. Klein, S. Rao, M. Rauch, S. Subramanian, </a:t>
            </a:r>
            <a:r>
              <a:rPr lang="en-US">
                <a:solidFill>
                  <a:srgbClr val="CC0000"/>
                </a:solidFill>
              </a:rPr>
              <a:t>“Faster shortest-path algorithms for planar graphs,”  </a:t>
            </a:r>
            <a:r>
              <a:rPr lang="en-US"/>
              <a:t>26</a:t>
            </a:r>
            <a:r>
              <a:rPr lang="en-US" baseline="30000"/>
              <a:t>th</a:t>
            </a:r>
            <a:r>
              <a:rPr lang="en-US"/>
              <a:t> STOC, pp: 27-37, 1994.</a:t>
            </a:r>
          </a:p>
          <a:p>
            <a:pPr marL="282575" indent="-282575" eaLnBrk="1" hangingPunct="1">
              <a:spcBef>
                <a:spcPct val="50000"/>
              </a:spcBef>
              <a:buFont typeface="Wingdings" pitchFamily="2" charset="2"/>
              <a:buChar char="§"/>
            </a:pPr>
            <a:r>
              <a:rPr lang="en-US"/>
              <a:t>R.E. Tarjan, </a:t>
            </a:r>
            <a:r>
              <a:rPr lang="en-US">
                <a:solidFill>
                  <a:srgbClr val="CC0000"/>
                </a:solidFill>
              </a:rPr>
              <a:t>“A unified approach to path problems,”  </a:t>
            </a:r>
            <a:r>
              <a:rPr lang="en-US"/>
              <a:t>JACM 28: 577-593, 1981.</a:t>
            </a:r>
          </a:p>
          <a:p>
            <a:pPr marL="282575" indent="-282575" eaLnBrk="1" hangingPunct="1">
              <a:spcBef>
                <a:spcPct val="50000"/>
              </a:spcBef>
              <a:buFont typeface="Wingdings" pitchFamily="2" charset="2"/>
              <a:buChar char="§"/>
            </a:pPr>
            <a:r>
              <a:rPr lang="en-US"/>
              <a:t>M. Thorup, </a:t>
            </a:r>
            <a:r>
              <a:rPr lang="en-US">
                <a:solidFill>
                  <a:srgbClr val="CC0000"/>
                </a:solidFill>
              </a:rPr>
              <a:t>“Undirected single-source shortest paths with positive integer weights in linear time,” </a:t>
            </a:r>
            <a:br>
              <a:rPr lang="en-US">
                <a:solidFill>
                  <a:srgbClr val="CC0000"/>
                </a:solidFill>
              </a:rPr>
            </a:br>
            <a:r>
              <a:rPr lang="en-US"/>
              <a:t>J. ACM 46(3):362-394, 1999.</a:t>
            </a:r>
          </a:p>
          <a:p>
            <a:pPr marL="282575" indent="-282575" eaLnBrk="1" hangingPunct="1">
              <a:spcBef>
                <a:spcPct val="50000"/>
              </a:spcBef>
              <a:buFont typeface="Wingdings" pitchFamily="2" charset="2"/>
              <a:buChar char="§"/>
            </a:pPr>
            <a:r>
              <a:rPr lang="en-US"/>
              <a:t>S. Warshall, </a:t>
            </a:r>
            <a:r>
              <a:rPr lang="en-US">
                <a:solidFill>
                  <a:srgbClr val="CC0000"/>
                </a:solidFill>
              </a:rPr>
              <a:t>“A theorem on Boolean matrices,”  </a:t>
            </a:r>
            <a:r>
              <a:rPr lang="en-US"/>
              <a:t>JACM 9: 11-12, 1962.</a:t>
            </a:r>
          </a:p>
        </p:txBody>
      </p:sp>
      <p:sp>
        <p:nvSpPr>
          <p:cNvPr id="129027" name="Rectangle 6"/>
          <p:cNvSpPr>
            <a:spLocks noGrp="1" noChangeArrowheads="1"/>
          </p:cNvSpPr>
          <p:nvPr>
            <p:ph type="title"/>
          </p:nvPr>
        </p:nvSpPr>
        <p:spPr>
          <a:xfrm>
            <a:off x="152400" y="152400"/>
            <a:ext cx="8839200" cy="4572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400" dirty="0" smtClean="0">
                <a:solidFill>
                  <a:schemeClr val="tx1"/>
                </a:solidFill>
                <a:latin typeface="Arial Rounded MT Bold" pitchFamily="34" charset="0"/>
              </a:rPr>
              <a:t>Bibliography:  Shortest Paths</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125</a:t>
            </a:fld>
            <a:endParaRPr lang="en-US"/>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Rectangle 2"/>
          <p:cNvSpPr>
            <a:spLocks noGrp="1" noChangeArrowheads="1"/>
          </p:cNvSpPr>
          <p:nvPr>
            <p:ph type="ctrTitle"/>
          </p:nvPr>
        </p:nvSpPr>
        <p:spPr>
          <a:xfrm>
            <a:off x="685800" y="2286000"/>
            <a:ext cx="7772400" cy="1371600"/>
          </a:xfrm>
          <a:solidFill>
            <a:srgbClr val="FFCCCC"/>
          </a:solidFill>
          <a:ln w="762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lstStyle/>
          <a:p>
            <a:pPr eaLnBrk="1" hangingPunct="1"/>
            <a:r>
              <a:rPr lang="en-US" sz="6000" dirty="0" smtClean="0">
                <a:solidFill>
                  <a:schemeClr val="accent2"/>
                </a:solidFill>
                <a:latin typeface="Arial Rounded MT Bold" pitchFamily="34" charset="0"/>
              </a:rPr>
              <a:t>MAX   FLOW</a:t>
            </a:r>
          </a:p>
        </p:txBody>
      </p:sp>
      <p:sp>
        <p:nvSpPr>
          <p:cNvPr id="2" name="Slide Number Placeholder 1"/>
          <p:cNvSpPr>
            <a:spLocks noGrp="1"/>
          </p:cNvSpPr>
          <p:nvPr>
            <p:ph type="sldNum" sz="quarter" idx="12"/>
          </p:nvPr>
        </p:nvSpPr>
        <p:spPr/>
        <p:txBody>
          <a:bodyPr/>
          <a:lstStyle/>
          <a:p>
            <a:pPr>
              <a:defRPr/>
            </a:pPr>
            <a:fld id="{90683EDB-7658-49F0-B96C-482436AB937A}" type="slidenum">
              <a:rPr lang="en-US" smtClean="0"/>
              <a:pPr>
                <a:defRPr/>
              </a:pPr>
              <a:t>126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93186"/>
                                        </p:tgtEl>
                                        <p:attrNameLst>
                                          <p:attrName>style.visibility</p:attrName>
                                        </p:attrNameLst>
                                      </p:cBhvr>
                                      <p:to>
                                        <p:strVal val="visible"/>
                                      </p:to>
                                    </p:set>
                                    <p:anim calcmode="lin" valueType="num">
                                      <p:cBhvr>
                                        <p:cTn id="7" dur="500" fill="hold"/>
                                        <p:tgtEl>
                                          <p:spTgt spid="93186"/>
                                        </p:tgtEl>
                                        <p:attrNameLst>
                                          <p:attrName>ppt_w</p:attrName>
                                        </p:attrNameLst>
                                      </p:cBhvr>
                                      <p:tavLst>
                                        <p:tav tm="0">
                                          <p:val>
                                            <p:fltVal val="0"/>
                                          </p:val>
                                        </p:tav>
                                        <p:tav tm="100000">
                                          <p:val>
                                            <p:strVal val="#ppt_w"/>
                                          </p:val>
                                        </p:tav>
                                      </p:tavLst>
                                    </p:anim>
                                    <p:anim calcmode="lin" valueType="num">
                                      <p:cBhvr>
                                        <p:cTn id="8" dur="500" fill="hold"/>
                                        <p:tgtEl>
                                          <p:spTgt spid="9318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animBg="1" autoUpdateAnimBg="0"/>
    </p:bldLst>
  </p:timing>
</p:sld>
</file>

<file path=ppt/slides/slide1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Flow Network</a:t>
            </a:r>
          </a:p>
        </p:txBody>
      </p:sp>
      <p:sp>
        <p:nvSpPr>
          <p:cNvPr id="94221" name="Text Box 13"/>
          <p:cNvSpPr txBox="1">
            <a:spLocks noChangeArrowheads="1"/>
          </p:cNvSpPr>
          <p:nvPr/>
        </p:nvSpPr>
        <p:spPr bwMode="auto">
          <a:xfrm>
            <a:off x="152400" y="838200"/>
            <a:ext cx="8423275" cy="1006475"/>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571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000"/>
              <a:t>Weighted digraph	 G = (V, E, c, s, t):	s = source node     </a:t>
            </a:r>
            <a:r>
              <a:rPr lang="en-US" sz="2000">
                <a:solidFill>
                  <a:srgbClr val="CC0000"/>
                </a:solidFill>
              </a:rPr>
              <a:t>(in-degree   =  0)</a:t>
            </a:r>
          </a:p>
          <a:p>
            <a:pPr>
              <a:buFont typeface="Wingdings" pitchFamily="2" charset="2"/>
              <a:buNone/>
            </a:pPr>
            <a:r>
              <a:rPr lang="en-US" sz="2000"/>
              <a:t>					t = sink node         </a:t>
            </a:r>
            <a:r>
              <a:rPr lang="en-US" sz="2000">
                <a:solidFill>
                  <a:srgbClr val="CC0000"/>
                </a:solidFill>
              </a:rPr>
              <a:t>(out-degree =  0)</a:t>
            </a:r>
            <a:r>
              <a:rPr lang="en-US" sz="2000"/>
              <a:t> </a:t>
            </a:r>
            <a:br>
              <a:rPr lang="en-US" sz="2000"/>
            </a:br>
            <a:r>
              <a:rPr lang="en-US" sz="2000"/>
              <a:t>					edge capacity: c(e) &gt; 0    </a:t>
            </a:r>
            <a:r>
              <a:rPr lang="en-US" sz="2000">
                <a:sym typeface="Symbol" pitchFamily="18" charset="2"/>
              </a:rPr>
              <a:t>eE</a:t>
            </a:r>
            <a:endParaRPr lang="en-US" sz="2000"/>
          </a:p>
        </p:txBody>
      </p:sp>
      <p:grpSp>
        <p:nvGrpSpPr>
          <p:cNvPr id="94302" name="Group 94"/>
          <p:cNvGrpSpPr>
            <a:grpSpLocks/>
          </p:cNvGrpSpPr>
          <p:nvPr/>
        </p:nvGrpSpPr>
        <p:grpSpPr bwMode="auto">
          <a:xfrm>
            <a:off x="609600" y="2209800"/>
            <a:ext cx="2368550" cy="1652588"/>
            <a:chOff x="432" y="912"/>
            <a:chExt cx="1492" cy="1041"/>
          </a:xfrm>
        </p:grpSpPr>
        <p:sp>
          <p:nvSpPr>
            <p:cNvPr id="131131" name="Freeform 79"/>
            <p:cNvSpPr>
              <a:spLocks/>
            </p:cNvSpPr>
            <p:nvPr/>
          </p:nvSpPr>
          <p:spPr bwMode="auto">
            <a:xfrm>
              <a:off x="1159" y="1138"/>
              <a:ext cx="1" cy="698"/>
            </a:xfrm>
            <a:custGeom>
              <a:avLst/>
              <a:gdLst>
                <a:gd name="T0" fmla="*/ 0 w 1"/>
                <a:gd name="T1" fmla="*/ 698 h 698"/>
                <a:gd name="T2" fmla="*/ 0 w 1"/>
                <a:gd name="T3" fmla="*/ 0 h 698"/>
                <a:gd name="T4" fmla="*/ 0 60000 65536"/>
                <a:gd name="T5" fmla="*/ 0 60000 65536"/>
              </a:gdLst>
              <a:ahLst/>
              <a:cxnLst>
                <a:cxn ang="T4">
                  <a:pos x="T0" y="T1"/>
                </a:cxn>
                <a:cxn ang="T5">
                  <a:pos x="T2" y="T3"/>
                </a:cxn>
              </a:cxnLst>
              <a:rect l="0" t="0" r="r" b="b"/>
              <a:pathLst>
                <a:path w="1" h="698">
                  <a:moveTo>
                    <a:pt x="0" y="69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endParaRPr lang="en-CA"/>
            </a:p>
          </p:txBody>
        </p:sp>
        <p:sp>
          <p:nvSpPr>
            <p:cNvPr id="131132" name="Freeform 48"/>
            <p:cNvSpPr>
              <a:spLocks/>
            </p:cNvSpPr>
            <p:nvPr/>
          </p:nvSpPr>
          <p:spPr bwMode="auto">
            <a:xfrm>
              <a:off x="562" y="1084"/>
              <a:ext cx="515" cy="312"/>
            </a:xfrm>
            <a:custGeom>
              <a:avLst/>
              <a:gdLst>
                <a:gd name="T0" fmla="*/ 0 w 515"/>
                <a:gd name="T1" fmla="*/ 312 h 312"/>
                <a:gd name="T2" fmla="*/ 515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1133" name="Freeform 50"/>
            <p:cNvSpPr>
              <a:spLocks/>
            </p:cNvSpPr>
            <p:nvPr/>
          </p:nvSpPr>
          <p:spPr bwMode="auto">
            <a:xfrm>
              <a:off x="556" y="1416"/>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1134" name="Freeform 54"/>
            <p:cNvSpPr>
              <a:spLocks/>
            </p:cNvSpPr>
            <p:nvPr/>
          </p:nvSpPr>
          <p:spPr bwMode="auto">
            <a:xfrm>
              <a:off x="1186" y="1037"/>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1135" name="Freeform 55"/>
            <p:cNvSpPr>
              <a:spLocks/>
            </p:cNvSpPr>
            <p:nvPr/>
          </p:nvSpPr>
          <p:spPr bwMode="auto">
            <a:xfrm>
              <a:off x="1138" y="1484"/>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1136" name="Oval 57"/>
            <p:cNvSpPr>
              <a:spLocks noChangeArrowheads="1"/>
            </p:cNvSpPr>
            <p:nvPr/>
          </p:nvSpPr>
          <p:spPr bwMode="auto">
            <a:xfrm>
              <a:off x="1008" y="17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1137" name="Oval 58"/>
            <p:cNvSpPr>
              <a:spLocks noChangeArrowheads="1"/>
            </p:cNvSpPr>
            <p:nvPr/>
          </p:nvSpPr>
          <p:spPr bwMode="auto">
            <a:xfrm>
              <a:off x="432" y="129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1138" name="Oval 59"/>
            <p:cNvSpPr>
              <a:spLocks noChangeArrowheads="1"/>
            </p:cNvSpPr>
            <p:nvPr/>
          </p:nvSpPr>
          <p:spPr bwMode="auto">
            <a:xfrm>
              <a:off x="1056" y="912"/>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1139" name="Oval 62"/>
            <p:cNvSpPr>
              <a:spLocks noChangeArrowheads="1"/>
            </p:cNvSpPr>
            <p:nvPr/>
          </p:nvSpPr>
          <p:spPr bwMode="auto">
            <a:xfrm>
              <a:off x="1680" y="129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31140" name="Text Box 65"/>
            <p:cNvSpPr txBox="1">
              <a:spLocks noChangeArrowheads="1"/>
            </p:cNvSpPr>
            <p:nvPr/>
          </p:nvSpPr>
          <p:spPr bwMode="auto">
            <a:xfrm>
              <a:off x="668" y="1008"/>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2</a:t>
              </a:r>
            </a:p>
          </p:txBody>
        </p:sp>
        <p:sp>
          <p:nvSpPr>
            <p:cNvPr id="131141" name="Text Box 72"/>
            <p:cNvSpPr txBox="1">
              <a:spLocks noChangeArrowheads="1"/>
            </p:cNvSpPr>
            <p:nvPr/>
          </p:nvSpPr>
          <p:spPr bwMode="auto">
            <a:xfrm>
              <a:off x="1436" y="1632"/>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3</a:t>
              </a:r>
            </a:p>
          </p:txBody>
        </p:sp>
        <p:sp>
          <p:nvSpPr>
            <p:cNvPr id="131142" name="Text Box 74"/>
            <p:cNvSpPr txBox="1">
              <a:spLocks noChangeArrowheads="1"/>
            </p:cNvSpPr>
            <p:nvPr/>
          </p:nvSpPr>
          <p:spPr bwMode="auto">
            <a:xfrm>
              <a:off x="1460" y="1008"/>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3</a:t>
              </a:r>
            </a:p>
          </p:txBody>
        </p:sp>
        <p:sp>
          <p:nvSpPr>
            <p:cNvPr id="131143" name="Text Box 75"/>
            <p:cNvSpPr txBox="1">
              <a:spLocks noChangeArrowheads="1"/>
            </p:cNvSpPr>
            <p:nvPr/>
          </p:nvSpPr>
          <p:spPr bwMode="auto">
            <a:xfrm>
              <a:off x="668" y="1584"/>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5</a:t>
              </a:r>
            </a:p>
          </p:txBody>
        </p:sp>
        <p:sp>
          <p:nvSpPr>
            <p:cNvPr id="131144" name="Text Box 78"/>
            <p:cNvSpPr txBox="1">
              <a:spLocks noChangeArrowheads="1"/>
            </p:cNvSpPr>
            <p:nvPr/>
          </p:nvSpPr>
          <p:spPr bwMode="auto">
            <a:xfrm>
              <a:off x="971" y="1328"/>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4</a:t>
              </a:r>
            </a:p>
          </p:txBody>
        </p:sp>
      </p:grpSp>
      <p:grpSp>
        <p:nvGrpSpPr>
          <p:cNvPr id="94373" name="Group 165"/>
          <p:cNvGrpSpPr>
            <a:grpSpLocks/>
          </p:cNvGrpSpPr>
          <p:nvPr/>
        </p:nvGrpSpPr>
        <p:grpSpPr bwMode="auto">
          <a:xfrm>
            <a:off x="4572000" y="1828800"/>
            <a:ext cx="3775075" cy="2266950"/>
            <a:chOff x="2880" y="1152"/>
            <a:chExt cx="2378" cy="1428"/>
          </a:xfrm>
        </p:grpSpPr>
        <p:sp>
          <p:nvSpPr>
            <p:cNvPr id="131112" name="Freeform 80"/>
            <p:cNvSpPr>
              <a:spLocks/>
            </p:cNvSpPr>
            <p:nvPr/>
          </p:nvSpPr>
          <p:spPr bwMode="auto">
            <a:xfrm>
              <a:off x="3847" y="1570"/>
              <a:ext cx="1" cy="698"/>
            </a:xfrm>
            <a:custGeom>
              <a:avLst/>
              <a:gdLst>
                <a:gd name="T0" fmla="*/ 0 w 1"/>
                <a:gd name="T1" fmla="*/ 698 h 698"/>
                <a:gd name="T2" fmla="*/ 0 w 1"/>
                <a:gd name="T3" fmla="*/ 0 h 698"/>
                <a:gd name="T4" fmla="*/ 0 60000 65536"/>
                <a:gd name="T5" fmla="*/ 0 60000 65536"/>
              </a:gdLst>
              <a:ahLst/>
              <a:cxnLst>
                <a:cxn ang="T4">
                  <a:pos x="T0" y="T1"/>
                </a:cxn>
                <a:cxn ang="T5">
                  <a:pos x="T2" y="T3"/>
                </a:cxn>
              </a:cxnLst>
              <a:rect l="0" t="0" r="r" b="b"/>
              <a:pathLst>
                <a:path w="1" h="698">
                  <a:moveTo>
                    <a:pt x="0" y="69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endParaRPr lang="en-CA"/>
            </a:p>
          </p:txBody>
        </p:sp>
        <p:sp>
          <p:nvSpPr>
            <p:cNvPr id="131113" name="Freeform 81"/>
            <p:cNvSpPr>
              <a:spLocks/>
            </p:cNvSpPr>
            <p:nvPr/>
          </p:nvSpPr>
          <p:spPr bwMode="auto">
            <a:xfrm>
              <a:off x="3250" y="1516"/>
              <a:ext cx="515" cy="312"/>
            </a:xfrm>
            <a:custGeom>
              <a:avLst/>
              <a:gdLst>
                <a:gd name="T0" fmla="*/ 0 w 515"/>
                <a:gd name="T1" fmla="*/ 312 h 312"/>
                <a:gd name="T2" fmla="*/ 515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1114" name="Freeform 82"/>
            <p:cNvSpPr>
              <a:spLocks/>
            </p:cNvSpPr>
            <p:nvPr/>
          </p:nvSpPr>
          <p:spPr bwMode="auto">
            <a:xfrm>
              <a:off x="3244" y="1848"/>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1115" name="Freeform 83"/>
            <p:cNvSpPr>
              <a:spLocks/>
            </p:cNvSpPr>
            <p:nvPr/>
          </p:nvSpPr>
          <p:spPr bwMode="auto">
            <a:xfrm>
              <a:off x="3874" y="1469"/>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1116" name="Freeform 84"/>
            <p:cNvSpPr>
              <a:spLocks/>
            </p:cNvSpPr>
            <p:nvPr/>
          </p:nvSpPr>
          <p:spPr bwMode="auto">
            <a:xfrm>
              <a:off x="3826" y="1916"/>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1117" name="Oval 85"/>
            <p:cNvSpPr>
              <a:spLocks noChangeArrowheads="1"/>
            </p:cNvSpPr>
            <p:nvPr/>
          </p:nvSpPr>
          <p:spPr bwMode="auto">
            <a:xfrm>
              <a:off x="3696" y="216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1118" name="Oval 86"/>
            <p:cNvSpPr>
              <a:spLocks noChangeArrowheads="1"/>
            </p:cNvSpPr>
            <p:nvPr/>
          </p:nvSpPr>
          <p:spPr bwMode="auto">
            <a:xfrm>
              <a:off x="3120" y="17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1119" name="Oval 87"/>
            <p:cNvSpPr>
              <a:spLocks noChangeArrowheads="1"/>
            </p:cNvSpPr>
            <p:nvPr/>
          </p:nvSpPr>
          <p:spPr bwMode="auto">
            <a:xfrm>
              <a:off x="3744" y="134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1120" name="Oval 88"/>
            <p:cNvSpPr>
              <a:spLocks noChangeArrowheads="1"/>
            </p:cNvSpPr>
            <p:nvPr/>
          </p:nvSpPr>
          <p:spPr bwMode="auto">
            <a:xfrm>
              <a:off x="4368" y="17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31121" name="Text Box 89"/>
            <p:cNvSpPr txBox="1">
              <a:spLocks noChangeArrowheads="1"/>
            </p:cNvSpPr>
            <p:nvPr/>
          </p:nvSpPr>
          <p:spPr bwMode="auto">
            <a:xfrm rot="-1927461">
              <a:off x="3264" y="1440"/>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a:t>
              </a:r>
              <a:r>
                <a:rPr lang="en-US" sz="1800" b="1"/>
                <a:t> / 2</a:t>
              </a:r>
            </a:p>
          </p:txBody>
        </p:sp>
        <p:sp>
          <p:nvSpPr>
            <p:cNvPr id="131122" name="Text Box 90"/>
            <p:cNvSpPr txBox="1">
              <a:spLocks noChangeArrowheads="1"/>
            </p:cNvSpPr>
            <p:nvPr/>
          </p:nvSpPr>
          <p:spPr bwMode="auto">
            <a:xfrm rot="-1946093">
              <a:off x="4014" y="2064"/>
              <a:ext cx="40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r>
                <a:rPr lang="en-US" sz="1800" b="1"/>
                <a:t>  / 3</a:t>
              </a:r>
            </a:p>
          </p:txBody>
        </p:sp>
        <p:sp>
          <p:nvSpPr>
            <p:cNvPr id="131123" name="Text Box 91"/>
            <p:cNvSpPr txBox="1">
              <a:spLocks noChangeArrowheads="1"/>
            </p:cNvSpPr>
            <p:nvPr/>
          </p:nvSpPr>
          <p:spPr bwMode="auto">
            <a:xfrm rot="1830887">
              <a:off x="4056" y="1440"/>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r>
                <a:rPr lang="en-US" sz="1800" b="1"/>
                <a:t> / 3</a:t>
              </a:r>
            </a:p>
          </p:txBody>
        </p:sp>
        <p:sp>
          <p:nvSpPr>
            <p:cNvPr id="131124" name="Text Box 92"/>
            <p:cNvSpPr txBox="1">
              <a:spLocks noChangeArrowheads="1"/>
            </p:cNvSpPr>
            <p:nvPr/>
          </p:nvSpPr>
          <p:spPr bwMode="auto">
            <a:xfrm rot="2456201">
              <a:off x="3264" y="2016"/>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a:t>
              </a:r>
              <a:r>
                <a:rPr lang="en-US" sz="1800" b="1"/>
                <a:t> / 5</a:t>
              </a:r>
            </a:p>
          </p:txBody>
        </p:sp>
        <p:sp>
          <p:nvSpPr>
            <p:cNvPr id="131125" name="Text Box 93"/>
            <p:cNvSpPr txBox="1">
              <a:spLocks noChangeArrowheads="1"/>
            </p:cNvSpPr>
            <p:nvPr/>
          </p:nvSpPr>
          <p:spPr bwMode="auto">
            <a:xfrm rot="-5292090">
              <a:off x="3567" y="1761"/>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r>
                <a:rPr lang="en-US" sz="1800" b="1"/>
                <a:t> / 4</a:t>
              </a:r>
            </a:p>
          </p:txBody>
        </p:sp>
        <p:sp>
          <p:nvSpPr>
            <p:cNvPr id="131126" name="Text Box 102"/>
            <p:cNvSpPr txBox="1">
              <a:spLocks noChangeArrowheads="1"/>
            </p:cNvSpPr>
            <p:nvPr/>
          </p:nvSpPr>
          <p:spPr bwMode="auto">
            <a:xfrm>
              <a:off x="4512" y="1152"/>
              <a:ext cx="409" cy="22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000">
                  <a:solidFill>
                    <a:srgbClr val="CC0000"/>
                  </a:solidFill>
                </a:rPr>
                <a:t>flow</a:t>
              </a:r>
            </a:p>
          </p:txBody>
        </p:sp>
        <p:sp>
          <p:nvSpPr>
            <p:cNvPr id="131127" name="Text Box 103"/>
            <p:cNvSpPr txBox="1">
              <a:spLocks noChangeArrowheads="1"/>
            </p:cNvSpPr>
            <p:nvPr/>
          </p:nvSpPr>
          <p:spPr bwMode="auto">
            <a:xfrm>
              <a:off x="4608" y="1440"/>
              <a:ext cx="648" cy="22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000"/>
                <a:t>capacity</a:t>
              </a:r>
            </a:p>
          </p:txBody>
        </p:sp>
        <p:sp>
          <p:nvSpPr>
            <p:cNvPr id="131128" name="Freeform 104"/>
            <p:cNvSpPr>
              <a:spLocks/>
            </p:cNvSpPr>
            <p:nvPr/>
          </p:nvSpPr>
          <p:spPr bwMode="auto">
            <a:xfrm>
              <a:off x="4241" y="1355"/>
              <a:ext cx="302" cy="92"/>
            </a:xfrm>
            <a:custGeom>
              <a:avLst/>
              <a:gdLst>
                <a:gd name="T0" fmla="*/ 302 w 302"/>
                <a:gd name="T1" fmla="*/ 0 h 92"/>
                <a:gd name="T2" fmla="*/ 0 w 302"/>
                <a:gd name="T3" fmla="*/ 92 h 92"/>
                <a:gd name="T4" fmla="*/ 0 60000 65536"/>
                <a:gd name="T5" fmla="*/ 0 60000 65536"/>
              </a:gdLst>
              <a:ahLst/>
              <a:cxnLst>
                <a:cxn ang="T4">
                  <a:pos x="T0" y="T1"/>
                </a:cxn>
                <a:cxn ang="T5">
                  <a:pos x="T2" y="T3"/>
                </a:cxn>
              </a:cxnLst>
              <a:rect l="0" t="0" r="r" b="b"/>
              <a:pathLst>
                <a:path w="302" h="92">
                  <a:moveTo>
                    <a:pt x="302" y="0"/>
                  </a:moveTo>
                  <a:lnTo>
                    <a:pt x="0" y="92"/>
                  </a:lnTo>
                </a:path>
              </a:pathLst>
            </a:custGeom>
            <a:noFill/>
            <a:ln w="19050">
              <a:solidFill>
                <a:srgbClr val="CC0000"/>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p>
              <a:endParaRPr lang="en-CA"/>
            </a:p>
          </p:txBody>
        </p:sp>
        <p:sp>
          <p:nvSpPr>
            <p:cNvPr id="131129" name="Freeform 105"/>
            <p:cNvSpPr>
              <a:spLocks/>
            </p:cNvSpPr>
            <p:nvPr/>
          </p:nvSpPr>
          <p:spPr bwMode="auto">
            <a:xfrm>
              <a:off x="4399" y="1584"/>
              <a:ext cx="257" cy="20"/>
            </a:xfrm>
            <a:custGeom>
              <a:avLst/>
              <a:gdLst>
                <a:gd name="T0" fmla="*/ 257 w 257"/>
                <a:gd name="T1" fmla="*/ 0 h 20"/>
                <a:gd name="T2" fmla="*/ 0 w 257"/>
                <a:gd name="T3" fmla="*/ 20 h 20"/>
                <a:gd name="T4" fmla="*/ 0 60000 65536"/>
                <a:gd name="T5" fmla="*/ 0 60000 65536"/>
              </a:gdLst>
              <a:ahLst/>
              <a:cxnLst>
                <a:cxn ang="T4">
                  <a:pos x="T0" y="T1"/>
                </a:cxn>
                <a:cxn ang="T5">
                  <a:pos x="T2" y="T3"/>
                </a:cxn>
              </a:cxnLst>
              <a:rect l="0" t="0" r="r" b="b"/>
              <a:pathLst>
                <a:path w="257" h="20">
                  <a:moveTo>
                    <a:pt x="257" y="0"/>
                  </a:moveTo>
                  <a:lnTo>
                    <a:pt x="0" y="20"/>
                  </a:lnTo>
                </a:path>
              </a:pathLst>
            </a:custGeom>
            <a:noFill/>
            <a:ln w="19050">
              <a:solidFill>
                <a:schemeClr val="tx1"/>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p>
              <a:endParaRPr lang="en-CA"/>
            </a:p>
          </p:txBody>
        </p:sp>
        <p:sp>
          <p:nvSpPr>
            <p:cNvPr id="131130" name="Rectangle 107"/>
            <p:cNvSpPr>
              <a:spLocks noChangeArrowheads="1"/>
            </p:cNvSpPr>
            <p:nvPr/>
          </p:nvSpPr>
          <p:spPr bwMode="auto">
            <a:xfrm>
              <a:off x="2880" y="2352"/>
              <a:ext cx="2378"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pPr algn="ctr">
                <a:buFont typeface="Wingdings" pitchFamily="2" charset="2"/>
                <a:buNone/>
              </a:pPr>
              <a:r>
                <a:rPr lang="en-US" sz="2000"/>
                <a:t>Max flow value = 1 + 5 = 3 + 3 = 6</a:t>
              </a:r>
            </a:p>
          </p:txBody>
        </p:sp>
      </p:grpSp>
      <p:sp>
        <p:nvSpPr>
          <p:cNvPr id="94317" name="AutoShape 109"/>
          <p:cNvSpPr>
            <a:spLocks noChangeArrowheads="1"/>
          </p:cNvSpPr>
          <p:nvPr/>
        </p:nvSpPr>
        <p:spPr bwMode="auto">
          <a:xfrm>
            <a:off x="3276600" y="2743200"/>
            <a:ext cx="1143000" cy="457200"/>
          </a:xfrm>
          <a:prstGeom prst="rightArrow">
            <a:avLst>
              <a:gd name="adj1" fmla="val 50000"/>
              <a:gd name="adj2" fmla="val 62500"/>
            </a:avLst>
          </a:prstGeom>
          <a:solidFill>
            <a:srgbClr val="CC0000"/>
          </a:solid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grpSp>
        <p:nvGrpSpPr>
          <p:cNvPr id="94372" name="Group 164"/>
          <p:cNvGrpSpPr>
            <a:grpSpLocks/>
          </p:cNvGrpSpPr>
          <p:nvPr/>
        </p:nvGrpSpPr>
        <p:grpSpPr bwMode="auto">
          <a:xfrm>
            <a:off x="381000" y="4370388"/>
            <a:ext cx="8458200" cy="2259012"/>
            <a:chOff x="240" y="2753"/>
            <a:chExt cx="5328" cy="1423"/>
          </a:xfrm>
        </p:grpSpPr>
        <p:sp>
          <p:nvSpPr>
            <p:cNvPr id="131080" name="Freeform 112"/>
            <p:cNvSpPr>
              <a:spLocks/>
            </p:cNvSpPr>
            <p:nvPr/>
          </p:nvSpPr>
          <p:spPr bwMode="auto">
            <a:xfrm>
              <a:off x="418" y="3244"/>
              <a:ext cx="515" cy="312"/>
            </a:xfrm>
            <a:custGeom>
              <a:avLst/>
              <a:gdLst>
                <a:gd name="T0" fmla="*/ 0 w 515"/>
                <a:gd name="T1" fmla="*/ 312 h 312"/>
                <a:gd name="T2" fmla="*/ 515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1081" name="Freeform 114"/>
            <p:cNvSpPr>
              <a:spLocks/>
            </p:cNvSpPr>
            <p:nvPr/>
          </p:nvSpPr>
          <p:spPr bwMode="auto">
            <a:xfrm>
              <a:off x="1042" y="3197"/>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1082" name="Oval 116"/>
            <p:cNvSpPr>
              <a:spLocks noChangeArrowheads="1"/>
            </p:cNvSpPr>
            <p:nvPr/>
          </p:nvSpPr>
          <p:spPr bwMode="auto">
            <a:xfrm>
              <a:off x="864" y="388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1083" name="Oval 117"/>
            <p:cNvSpPr>
              <a:spLocks noChangeArrowheads="1"/>
            </p:cNvSpPr>
            <p:nvPr/>
          </p:nvSpPr>
          <p:spPr bwMode="auto">
            <a:xfrm>
              <a:off x="288" y="345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1084" name="Oval 118"/>
            <p:cNvSpPr>
              <a:spLocks noChangeArrowheads="1"/>
            </p:cNvSpPr>
            <p:nvPr/>
          </p:nvSpPr>
          <p:spPr bwMode="auto">
            <a:xfrm>
              <a:off x="912" y="3072"/>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1085" name="Oval 119"/>
            <p:cNvSpPr>
              <a:spLocks noChangeArrowheads="1"/>
            </p:cNvSpPr>
            <p:nvPr/>
          </p:nvSpPr>
          <p:spPr bwMode="auto">
            <a:xfrm>
              <a:off x="1536" y="345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31086" name="Text Box 120"/>
            <p:cNvSpPr txBox="1">
              <a:spLocks noChangeArrowheads="1"/>
            </p:cNvSpPr>
            <p:nvPr/>
          </p:nvSpPr>
          <p:spPr bwMode="auto">
            <a:xfrm>
              <a:off x="524" y="3168"/>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a:t>
              </a:r>
              <a:endParaRPr lang="en-US" sz="1800" b="1"/>
            </a:p>
          </p:txBody>
        </p:sp>
        <p:sp>
          <p:nvSpPr>
            <p:cNvPr id="131087" name="Text Box 122"/>
            <p:cNvSpPr txBox="1">
              <a:spLocks noChangeArrowheads="1"/>
            </p:cNvSpPr>
            <p:nvPr/>
          </p:nvSpPr>
          <p:spPr bwMode="auto">
            <a:xfrm>
              <a:off x="1316" y="3168"/>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a:t>
              </a:r>
              <a:endParaRPr lang="en-US" sz="1800" b="1"/>
            </a:p>
          </p:txBody>
        </p:sp>
        <p:sp>
          <p:nvSpPr>
            <p:cNvPr id="131088" name="Freeform 130"/>
            <p:cNvSpPr>
              <a:spLocks/>
            </p:cNvSpPr>
            <p:nvPr/>
          </p:nvSpPr>
          <p:spPr bwMode="auto">
            <a:xfrm>
              <a:off x="2887" y="3298"/>
              <a:ext cx="1" cy="698"/>
            </a:xfrm>
            <a:custGeom>
              <a:avLst/>
              <a:gdLst>
                <a:gd name="T0" fmla="*/ 0 w 1"/>
                <a:gd name="T1" fmla="*/ 698 h 698"/>
                <a:gd name="T2" fmla="*/ 0 w 1"/>
                <a:gd name="T3" fmla="*/ 0 h 698"/>
                <a:gd name="T4" fmla="*/ 0 60000 65536"/>
                <a:gd name="T5" fmla="*/ 0 60000 65536"/>
              </a:gdLst>
              <a:ahLst/>
              <a:cxnLst>
                <a:cxn ang="T4">
                  <a:pos x="T0" y="T1"/>
                </a:cxn>
                <a:cxn ang="T5">
                  <a:pos x="T2" y="T3"/>
                </a:cxn>
              </a:cxnLst>
              <a:rect l="0" t="0" r="r" b="b"/>
              <a:pathLst>
                <a:path w="1" h="698">
                  <a:moveTo>
                    <a:pt x="0" y="69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endParaRPr lang="en-CA"/>
            </a:p>
          </p:txBody>
        </p:sp>
        <p:sp>
          <p:nvSpPr>
            <p:cNvPr id="131089" name="Freeform 132"/>
            <p:cNvSpPr>
              <a:spLocks/>
            </p:cNvSpPr>
            <p:nvPr/>
          </p:nvSpPr>
          <p:spPr bwMode="auto">
            <a:xfrm>
              <a:off x="2284" y="3576"/>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1090" name="Freeform 133"/>
            <p:cNvSpPr>
              <a:spLocks/>
            </p:cNvSpPr>
            <p:nvPr/>
          </p:nvSpPr>
          <p:spPr bwMode="auto">
            <a:xfrm>
              <a:off x="2914" y="3197"/>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1091" name="Oval 135"/>
            <p:cNvSpPr>
              <a:spLocks noChangeArrowheads="1"/>
            </p:cNvSpPr>
            <p:nvPr/>
          </p:nvSpPr>
          <p:spPr bwMode="auto">
            <a:xfrm>
              <a:off x="2736" y="388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1092" name="Oval 136"/>
            <p:cNvSpPr>
              <a:spLocks noChangeArrowheads="1"/>
            </p:cNvSpPr>
            <p:nvPr/>
          </p:nvSpPr>
          <p:spPr bwMode="auto">
            <a:xfrm>
              <a:off x="2160" y="345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31093" name="Oval 137"/>
            <p:cNvSpPr>
              <a:spLocks noChangeArrowheads="1"/>
            </p:cNvSpPr>
            <p:nvPr/>
          </p:nvSpPr>
          <p:spPr bwMode="auto">
            <a:xfrm>
              <a:off x="2784" y="3072"/>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1094" name="Oval 138"/>
            <p:cNvSpPr>
              <a:spLocks noChangeArrowheads="1"/>
            </p:cNvSpPr>
            <p:nvPr/>
          </p:nvSpPr>
          <p:spPr bwMode="auto">
            <a:xfrm>
              <a:off x="3408" y="345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31095" name="Text Box 141"/>
            <p:cNvSpPr txBox="1">
              <a:spLocks noChangeArrowheads="1"/>
            </p:cNvSpPr>
            <p:nvPr/>
          </p:nvSpPr>
          <p:spPr bwMode="auto">
            <a:xfrm>
              <a:off x="3188" y="3168"/>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endParaRPr lang="en-US" sz="1800" b="1"/>
            </a:p>
          </p:txBody>
        </p:sp>
        <p:sp>
          <p:nvSpPr>
            <p:cNvPr id="131096" name="Text Box 142"/>
            <p:cNvSpPr txBox="1">
              <a:spLocks noChangeArrowheads="1"/>
            </p:cNvSpPr>
            <p:nvPr/>
          </p:nvSpPr>
          <p:spPr bwMode="auto">
            <a:xfrm>
              <a:off x="2396" y="3744"/>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endParaRPr lang="en-US" sz="1800" b="1"/>
            </a:p>
          </p:txBody>
        </p:sp>
        <p:sp>
          <p:nvSpPr>
            <p:cNvPr id="131097" name="Text Box 143"/>
            <p:cNvSpPr txBox="1">
              <a:spLocks noChangeArrowheads="1"/>
            </p:cNvSpPr>
            <p:nvPr/>
          </p:nvSpPr>
          <p:spPr bwMode="auto">
            <a:xfrm>
              <a:off x="2699" y="3488"/>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endParaRPr lang="en-US" sz="1800" b="1"/>
            </a:p>
          </p:txBody>
        </p:sp>
        <p:sp>
          <p:nvSpPr>
            <p:cNvPr id="131098" name="Freeform 146"/>
            <p:cNvSpPr>
              <a:spLocks/>
            </p:cNvSpPr>
            <p:nvPr/>
          </p:nvSpPr>
          <p:spPr bwMode="auto">
            <a:xfrm>
              <a:off x="4156" y="3576"/>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1099" name="Freeform 148"/>
            <p:cNvSpPr>
              <a:spLocks/>
            </p:cNvSpPr>
            <p:nvPr/>
          </p:nvSpPr>
          <p:spPr bwMode="auto">
            <a:xfrm>
              <a:off x="4738" y="3644"/>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1100" name="Oval 149"/>
            <p:cNvSpPr>
              <a:spLocks noChangeArrowheads="1"/>
            </p:cNvSpPr>
            <p:nvPr/>
          </p:nvSpPr>
          <p:spPr bwMode="auto">
            <a:xfrm>
              <a:off x="4608" y="388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1101" name="Oval 150"/>
            <p:cNvSpPr>
              <a:spLocks noChangeArrowheads="1"/>
            </p:cNvSpPr>
            <p:nvPr/>
          </p:nvSpPr>
          <p:spPr bwMode="auto">
            <a:xfrm>
              <a:off x="4032" y="345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1102" name="Oval 151"/>
            <p:cNvSpPr>
              <a:spLocks noChangeArrowheads="1"/>
            </p:cNvSpPr>
            <p:nvPr/>
          </p:nvSpPr>
          <p:spPr bwMode="auto">
            <a:xfrm>
              <a:off x="4656" y="3072"/>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1103" name="Oval 152"/>
            <p:cNvSpPr>
              <a:spLocks noChangeArrowheads="1"/>
            </p:cNvSpPr>
            <p:nvPr/>
          </p:nvSpPr>
          <p:spPr bwMode="auto">
            <a:xfrm>
              <a:off x="5280" y="345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31104" name="Text Box 154"/>
            <p:cNvSpPr txBox="1">
              <a:spLocks noChangeArrowheads="1"/>
            </p:cNvSpPr>
            <p:nvPr/>
          </p:nvSpPr>
          <p:spPr bwMode="auto">
            <a:xfrm>
              <a:off x="5036" y="3792"/>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endParaRPr lang="en-US" sz="1800" b="1"/>
            </a:p>
          </p:txBody>
        </p:sp>
        <p:sp>
          <p:nvSpPr>
            <p:cNvPr id="131105" name="Text Box 156"/>
            <p:cNvSpPr txBox="1">
              <a:spLocks noChangeArrowheads="1"/>
            </p:cNvSpPr>
            <p:nvPr/>
          </p:nvSpPr>
          <p:spPr bwMode="auto">
            <a:xfrm>
              <a:off x="4268" y="3744"/>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endParaRPr lang="en-US" sz="1800" b="1"/>
            </a:p>
          </p:txBody>
        </p:sp>
        <p:sp>
          <p:nvSpPr>
            <p:cNvPr id="131106" name="Rectangle 158"/>
            <p:cNvSpPr>
              <a:spLocks noChangeArrowheads="1"/>
            </p:cNvSpPr>
            <p:nvPr/>
          </p:nvSpPr>
          <p:spPr bwMode="auto">
            <a:xfrm>
              <a:off x="240" y="3024"/>
              <a:ext cx="1584" cy="115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31107" name="Rectangle 159"/>
            <p:cNvSpPr>
              <a:spLocks noChangeArrowheads="1"/>
            </p:cNvSpPr>
            <p:nvPr/>
          </p:nvSpPr>
          <p:spPr bwMode="auto">
            <a:xfrm>
              <a:off x="2112" y="3024"/>
              <a:ext cx="1584" cy="115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31108" name="Rectangle 160"/>
            <p:cNvSpPr>
              <a:spLocks noChangeArrowheads="1"/>
            </p:cNvSpPr>
            <p:nvPr/>
          </p:nvSpPr>
          <p:spPr bwMode="auto">
            <a:xfrm>
              <a:off x="3984" y="3024"/>
              <a:ext cx="1584" cy="115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31109" name="Text Box 161"/>
            <p:cNvSpPr txBox="1">
              <a:spLocks noChangeArrowheads="1"/>
            </p:cNvSpPr>
            <p:nvPr/>
          </p:nvSpPr>
          <p:spPr bwMode="auto">
            <a:xfrm>
              <a:off x="1160" y="2753"/>
              <a:ext cx="3365"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400" b="1">
                  <a:solidFill>
                    <a:srgbClr val="CC0000"/>
                  </a:solidFill>
                </a:rPr>
                <a:t>Flow Decomposition into s-t path flows:</a:t>
              </a:r>
            </a:p>
          </p:txBody>
        </p:sp>
        <p:sp>
          <p:nvSpPr>
            <p:cNvPr id="131110" name="Text Box 162"/>
            <p:cNvSpPr txBox="1">
              <a:spLocks noChangeArrowheads="1"/>
            </p:cNvSpPr>
            <p:nvPr/>
          </p:nvSpPr>
          <p:spPr bwMode="auto">
            <a:xfrm>
              <a:off x="1854" y="3393"/>
              <a:ext cx="242"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800"/>
                <a:t>+</a:t>
              </a:r>
            </a:p>
          </p:txBody>
        </p:sp>
        <p:sp>
          <p:nvSpPr>
            <p:cNvPr id="131111" name="Text Box 163"/>
            <p:cNvSpPr txBox="1">
              <a:spLocks noChangeArrowheads="1"/>
            </p:cNvSpPr>
            <p:nvPr/>
          </p:nvSpPr>
          <p:spPr bwMode="auto">
            <a:xfrm>
              <a:off x="3696" y="3408"/>
              <a:ext cx="242"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800"/>
                <a:t>+</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127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94210"/>
                                        </p:tgtEl>
                                        <p:attrNameLst>
                                          <p:attrName>style.visibility</p:attrName>
                                        </p:attrNameLst>
                                      </p:cBhvr>
                                      <p:to>
                                        <p:strVal val="visible"/>
                                      </p:to>
                                    </p:set>
                                    <p:anim calcmode="lin" valueType="num">
                                      <p:cBhvr>
                                        <p:cTn id="7" dur="500" fill="hold"/>
                                        <p:tgtEl>
                                          <p:spTgt spid="94210"/>
                                        </p:tgtEl>
                                        <p:attrNameLst>
                                          <p:attrName>ppt_w</p:attrName>
                                        </p:attrNameLst>
                                      </p:cBhvr>
                                      <p:tavLst>
                                        <p:tav tm="0">
                                          <p:val>
                                            <p:fltVal val="0"/>
                                          </p:val>
                                        </p:tav>
                                        <p:tav tm="100000">
                                          <p:val>
                                            <p:strVal val="#ppt_w"/>
                                          </p:val>
                                        </p:tav>
                                      </p:tavLst>
                                    </p:anim>
                                    <p:anim calcmode="lin" valueType="num">
                                      <p:cBhvr>
                                        <p:cTn id="8" dur="500" fill="hold"/>
                                        <p:tgtEl>
                                          <p:spTgt spid="9421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94221"/>
                                        </p:tgtEl>
                                        <p:attrNameLst>
                                          <p:attrName>style.visibility</p:attrName>
                                        </p:attrNameLst>
                                      </p:cBhvr>
                                      <p:to>
                                        <p:strVal val="visible"/>
                                      </p:to>
                                    </p:set>
                                    <p:animEffect transition="in" filter="wipe(left)">
                                      <p:cBhvr>
                                        <p:cTn id="13" dur="500"/>
                                        <p:tgtEl>
                                          <p:spTgt spid="94221"/>
                                        </p:tgtEl>
                                      </p:cBhvr>
                                    </p:animEffect>
                                  </p:childTnLst>
                                </p:cTn>
                              </p:par>
                            </p:childTnLst>
                          </p:cTn>
                        </p:par>
                        <p:par>
                          <p:cTn id="14" fill="hold" nodeType="afterGroup">
                            <p:stCondLst>
                              <p:cond delay="500"/>
                            </p:stCondLst>
                            <p:childTnLst>
                              <p:par>
                                <p:cTn id="15" presetID="22" presetClass="entr" presetSubtype="8" fill="hold" nodeType="afterEffect">
                                  <p:stCondLst>
                                    <p:cond delay="2000"/>
                                  </p:stCondLst>
                                  <p:childTnLst>
                                    <p:set>
                                      <p:cBhvr>
                                        <p:cTn id="16" dur="1" fill="hold">
                                          <p:stCondLst>
                                            <p:cond delay="0"/>
                                          </p:stCondLst>
                                        </p:cTn>
                                        <p:tgtEl>
                                          <p:spTgt spid="94302"/>
                                        </p:tgtEl>
                                        <p:attrNameLst>
                                          <p:attrName>style.visibility</p:attrName>
                                        </p:attrNameLst>
                                      </p:cBhvr>
                                      <p:to>
                                        <p:strVal val="visible"/>
                                      </p:to>
                                    </p:set>
                                    <p:animEffect transition="in" filter="wipe(left)">
                                      <p:cBhvr>
                                        <p:cTn id="17" dur="500"/>
                                        <p:tgtEl>
                                          <p:spTgt spid="9430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317"/>
                                        </p:tgtEl>
                                        <p:attrNameLst>
                                          <p:attrName>style.visibility</p:attrName>
                                        </p:attrNameLst>
                                      </p:cBhvr>
                                      <p:to>
                                        <p:strVal val="visible"/>
                                      </p:to>
                                    </p:set>
                                    <p:animEffect transition="in" filter="wipe(left)">
                                      <p:cBhvr>
                                        <p:cTn id="22" dur="500"/>
                                        <p:tgtEl>
                                          <p:spTgt spid="94317"/>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94373"/>
                                        </p:tgtEl>
                                        <p:attrNameLst>
                                          <p:attrName>style.visibility</p:attrName>
                                        </p:attrNameLst>
                                      </p:cBhvr>
                                      <p:to>
                                        <p:strVal val="visible"/>
                                      </p:to>
                                    </p:set>
                                    <p:animEffect transition="in" filter="wipe(left)">
                                      <p:cBhvr>
                                        <p:cTn id="26" dur="500"/>
                                        <p:tgtEl>
                                          <p:spTgt spid="9437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94372"/>
                                        </p:tgtEl>
                                        <p:attrNameLst>
                                          <p:attrName>style.visibility</p:attrName>
                                        </p:attrNameLst>
                                      </p:cBhvr>
                                      <p:to>
                                        <p:strVal val="visible"/>
                                      </p:to>
                                    </p:set>
                                    <p:animEffect transition="in" filter="wipe(up)">
                                      <p:cBhvr>
                                        <p:cTn id="31" dur="500"/>
                                        <p:tgtEl>
                                          <p:spTgt spid="94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animBg="1" autoUpdateAnimBg="0"/>
      <p:bldP spid="94221" grpId="0" autoUpdateAnimBg="0"/>
      <p:bldP spid="94317" grpId="0" animBg="1"/>
    </p:bldLst>
  </p:timing>
</p:sld>
</file>

<file path=ppt/slides/slide1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The max Flow Problem</a:t>
            </a:r>
          </a:p>
        </p:txBody>
      </p:sp>
      <p:grpSp>
        <p:nvGrpSpPr>
          <p:cNvPr id="224352" name="Group 96"/>
          <p:cNvGrpSpPr>
            <a:grpSpLocks/>
          </p:cNvGrpSpPr>
          <p:nvPr/>
        </p:nvGrpSpPr>
        <p:grpSpPr bwMode="auto">
          <a:xfrm>
            <a:off x="228600" y="2039937"/>
            <a:ext cx="8129588" cy="2252663"/>
            <a:chOff x="144" y="1152"/>
            <a:chExt cx="5121" cy="1419"/>
          </a:xfrm>
        </p:grpSpPr>
        <p:graphicFrame>
          <p:nvGraphicFramePr>
            <p:cNvPr id="132117" name="Object 69"/>
            <p:cNvGraphicFramePr>
              <a:graphicFrameLocks noChangeAspect="1"/>
            </p:cNvGraphicFramePr>
            <p:nvPr/>
          </p:nvGraphicFramePr>
          <p:xfrm>
            <a:off x="2547" y="2120"/>
            <a:ext cx="2718" cy="451"/>
          </p:xfrm>
          <a:graphic>
            <a:graphicData uri="http://schemas.openxmlformats.org/presentationml/2006/ole">
              <mc:AlternateContent xmlns:mc="http://schemas.openxmlformats.org/markup-compatibility/2006">
                <mc:Choice xmlns:v="urn:schemas-microsoft-com:vml" Requires="v">
                  <p:oleObj spid="_x0000_s132344" name="Equation" r:id="rId3" imgW="2222500" imgH="368300" progId="Equation.3">
                    <p:embed/>
                  </p:oleObj>
                </mc:Choice>
                <mc:Fallback>
                  <p:oleObj name="Equation" r:id="rId3" imgW="2222500" imgH="368300" progId="Equation.3">
                    <p:embed/>
                    <p:pic>
                      <p:nvPicPr>
                        <p:cNvPr id="0" name="Object 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7" y="2120"/>
                          <a:ext cx="2718" cy="4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18" name="Rectangle 70"/>
            <p:cNvSpPr>
              <a:spLocks noChangeArrowheads="1"/>
            </p:cNvSpPr>
            <p:nvPr/>
          </p:nvSpPr>
          <p:spPr bwMode="auto">
            <a:xfrm>
              <a:off x="816" y="2208"/>
              <a:ext cx="1462"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pPr algn="ctr">
                <a:buFont typeface="Wingdings" pitchFamily="2" charset="2"/>
                <a:buNone/>
              </a:pPr>
              <a:r>
                <a:rPr lang="en-US" sz="2000" b="1">
                  <a:sym typeface="Symbol" pitchFamily="18" charset="2"/>
                </a:rPr>
                <a:t>Flow Conservation:</a:t>
              </a:r>
            </a:p>
          </p:txBody>
        </p:sp>
        <p:sp>
          <p:nvSpPr>
            <p:cNvPr id="132119" name="Rectangle 71"/>
            <p:cNvSpPr>
              <a:spLocks noChangeArrowheads="1"/>
            </p:cNvSpPr>
            <p:nvPr/>
          </p:nvSpPr>
          <p:spPr bwMode="auto">
            <a:xfrm>
              <a:off x="816" y="1584"/>
              <a:ext cx="1632"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p>
              <a:pPr algn="ctr">
                <a:buFont typeface="Wingdings" pitchFamily="2" charset="2"/>
                <a:buNone/>
              </a:pPr>
              <a:r>
                <a:rPr lang="en-US" sz="2000" b="1" dirty="0">
                  <a:sym typeface="Symbol" pitchFamily="18" charset="2"/>
                </a:rPr>
                <a:t>Capacity Constraints:</a:t>
              </a:r>
            </a:p>
          </p:txBody>
        </p:sp>
        <p:sp>
          <p:nvSpPr>
            <p:cNvPr id="132120" name="Rectangle 72"/>
            <p:cNvSpPr>
              <a:spLocks noChangeArrowheads="1"/>
            </p:cNvSpPr>
            <p:nvPr/>
          </p:nvSpPr>
          <p:spPr bwMode="auto">
            <a:xfrm>
              <a:off x="2544" y="1536"/>
              <a:ext cx="2385"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pPr algn="ctr">
                <a:buFont typeface="Wingdings" pitchFamily="2" charset="2"/>
                <a:buNone/>
              </a:pPr>
              <a:r>
                <a:rPr lang="en-US" sz="2400">
                  <a:sym typeface="Symbol" pitchFamily="18" charset="2"/>
                </a:rPr>
                <a:t>0    f (e)    c(e)        e  E</a:t>
              </a:r>
            </a:p>
          </p:txBody>
        </p:sp>
        <p:sp>
          <p:nvSpPr>
            <p:cNvPr id="132121" name="Rectangle 74"/>
            <p:cNvSpPr>
              <a:spLocks noChangeArrowheads="1"/>
            </p:cNvSpPr>
            <p:nvPr/>
          </p:nvSpPr>
          <p:spPr bwMode="auto">
            <a:xfrm>
              <a:off x="144" y="1152"/>
              <a:ext cx="2494"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pPr algn="ctr">
                <a:buFont typeface="Wingdings" pitchFamily="2" charset="2"/>
                <a:buNone/>
              </a:pPr>
              <a:r>
                <a:rPr lang="en-US" sz="2400" b="1" dirty="0">
                  <a:solidFill>
                    <a:srgbClr val="CC0000"/>
                  </a:solidFill>
                  <a:sym typeface="Symbol" pitchFamily="18" charset="2"/>
                </a:rPr>
                <a:t>Flow Feasibility Constraints:</a:t>
              </a:r>
            </a:p>
          </p:txBody>
        </p:sp>
      </p:grpSp>
      <p:grpSp>
        <p:nvGrpSpPr>
          <p:cNvPr id="224334" name="Group 78"/>
          <p:cNvGrpSpPr>
            <a:grpSpLocks/>
          </p:cNvGrpSpPr>
          <p:nvPr/>
        </p:nvGrpSpPr>
        <p:grpSpPr bwMode="auto">
          <a:xfrm>
            <a:off x="304800" y="5029200"/>
            <a:ext cx="7329488" cy="741363"/>
            <a:chOff x="192" y="3168"/>
            <a:chExt cx="4617" cy="467"/>
          </a:xfrm>
        </p:grpSpPr>
        <p:sp>
          <p:nvSpPr>
            <p:cNvPr id="132115" name="Rectangle 75"/>
            <p:cNvSpPr>
              <a:spLocks noChangeArrowheads="1"/>
            </p:cNvSpPr>
            <p:nvPr/>
          </p:nvSpPr>
          <p:spPr bwMode="auto">
            <a:xfrm>
              <a:off x="192" y="3168"/>
              <a:ext cx="1927"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pPr>
                <a:buFont typeface="Wingdings" pitchFamily="2" charset="2"/>
                <a:buNone/>
              </a:pPr>
              <a:r>
                <a:rPr lang="en-US" sz="2400" b="1" dirty="0">
                  <a:solidFill>
                    <a:srgbClr val="CC0000"/>
                  </a:solidFill>
                  <a:sym typeface="Symbol" pitchFamily="18" charset="2"/>
                </a:rPr>
                <a:t>Maximize Flow value:</a:t>
              </a:r>
            </a:p>
          </p:txBody>
        </p:sp>
        <p:graphicFrame>
          <p:nvGraphicFramePr>
            <p:cNvPr id="132116" name="Object 76"/>
            <p:cNvGraphicFramePr>
              <a:graphicFrameLocks noChangeAspect="1"/>
            </p:cNvGraphicFramePr>
            <p:nvPr/>
          </p:nvGraphicFramePr>
          <p:xfrm>
            <a:off x="2448" y="3168"/>
            <a:ext cx="2361" cy="467"/>
          </p:xfrm>
          <a:graphic>
            <a:graphicData uri="http://schemas.openxmlformats.org/presentationml/2006/ole">
              <mc:AlternateContent xmlns:mc="http://schemas.openxmlformats.org/markup-compatibility/2006">
                <mc:Choice xmlns:v="urn:schemas-microsoft-com:vml" Requires="v">
                  <p:oleObj spid="_x0000_s132345" name="Equation" r:id="rId5" imgW="1930400" imgH="381000" progId="Equation.3">
                    <p:embed/>
                  </p:oleObj>
                </mc:Choice>
                <mc:Fallback>
                  <p:oleObj name="Equation" r:id="rId5" imgW="1930400" imgH="381000" progId="Equation.3">
                    <p:embed/>
                    <p:pic>
                      <p:nvPicPr>
                        <p:cNvPr id="0" name="Object 7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48" y="3168"/>
                          <a:ext cx="2361" cy="4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24351" name="Group 95"/>
          <p:cNvGrpSpPr>
            <a:grpSpLocks/>
          </p:cNvGrpSpPr>
          <p:nvPr/>
        </p:nvGrpSpPr>
        <p:grpSpPr bwMode="auto">
          <a:xfrm>
            <a:off x="304800" y="719138"/>
            <a:ext cx="8643938" cy="1109662"/>
            <a:chOff x="192" y="453"/>
            <a:chExt cx="5445" cy="699"/>
          </a:xfrm>
        </p:grpSpPr>
        <p:sp>
          <p:nvSpPr>
            <p:cNvPr id="132102" name="Text Box 3"/>
            <p:cNvSpPr txBox="1">
              <a:spLocks noChangeArrowheads="1"/>
            </p:cNvSpPr>
            <p:nvPr/>
          </p:nvSpPr>
          <p:spPr bwMode="auto">
            <a:xfrm>
              <a:off x="192" y="453"/>
              <a:ext cx="3976" cy="480"/>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571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400" b="1">
                  <a:solidFill>
                    <a:srgbClr val="CC0000"/>
                  </a:solidFill>
                </a:rPr>
                <a:t>Notation:</a:t>
              </a:r>
              <a:r>
                <a:rPr lang="en-US" sz="2000"/>
                <a:t>	E</a:t>
              </a:r>
              <a:r>
                <a:rPr lang="en-US" sz="2000" baseline="30000"/>
                <a:t>+</a:t>
              </a:r>
              <a:r>
                <a:rPr lang="en-US" sz="2000"/>
                <a:t>(v) = the set of edges out of vertex v</a:t>
              </a:r>
              <a:r>
                <a:rPr lang="en-US" sz="2000">
                  <a:sym typeface="Symbol" pitchFamily="18" charset="2"/>
                </a:rPr>
                <a:t>V</a:t>
              </a:r>
            </a:p>
            <a:p>
              <a:pPr>
                <a:buFont typeface="Wingdings" pitchFamily="2" charset="2"/>
                <a:buNone/>
              </a:pPr>
              <a:r>
                <a:rPr lang="en-US" sz="2000"/>
                <a:t>		E</a:t>
              </a:r>
              <a:r>
                <a:rPr lang="en-US" sz="2000" baseline="30000"/>
                <a:t>-</a:t>
              </a:r>
              <a:r>
                <a:rPr lang="en-US" sz="2000"/>
                <a:t>(v) = the set of edges into vertex v</a:t>
              </a:r>
              <a:r>
                <a:rPr lang="en-US" sz="2000">
                  <a:sym typeface="Symbol" pitchFamily="18" charset="2"/>
                </a:rPr>
                <a:t>V.</a:t>
              </a:r>
            </a:p>
          </p:txBody>
        </p:sp>
        <p:sp>
          <p:nvSpPr>
            <p:cNvPr id="132103" name="Oval 81"/>
            <p:cNvSpPr>
              <a:spLocks noChangeArrowheads="1"/>
            </p:cNvSpPr>
            <p:nvPr/>
          </p:nvSpPr>
          <p:spPr bwMode="auto">
            <a:xfrm>
              <a:off x="4869" y="864"/>
              <a:ext cx="96" cy="96"/>
            </a:xfrm>
            <a:prstGeom prst="ellipse">
              <a:avLst/>
            </a:prstGeom>
            <a:solidFill>
              <a:schemeClr val="tx1"/>
            </a:solidFill>
            <a:ln w="19050">
              <a:solidFill>
                <a:schemeClr val="tx1"/>
              </a:solidFill>
              <a:prstDash val="dash"/>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32104" name="Line 82"/>
            <p:cNvSpPr>
              <a:spLocks noChangeShapeType="1"/>
            </p:cNvSpPr>
            <p:nvPr/>
          </p:nvSpPr>
          <p:spPr bwMode="auto">
            <a:xfrm>
              <a:off x="4629" y="720"/>
              <a:ext cx="240"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32105" name="Line 83"/>
            <p:cNvSpPr>
              <a:spLocks noChangeShapeType="1"/>
            </p:cNvSpPr>
            <p:nvPr/>
          </p:nvSpPr>
          <p:spPr bwMode="auto">
            <a:xfrm>
              <a:off x="4629" y="912"/>
              <a:ext cx="24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32106" name="Line 84"/>
            <p:cNvSpPr>
              <a:spLocks noChangeShapeType="1"/>
            </p:cNvSpPr>
            <p:nvPr/>
          </p:nvSpPr>
          <p:spPr bwMode="auto">
            <a:xfrm flipV="1">
              <a:off x="4629" y="960"/>
              <a:ext cx="240"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32107" name="Line 85"/>
            <p:cNvSpPr>
              <a:spLocks noChangeShapeType="1"/>
            </p:cNvSpPr>
            <p:nvPr/>
          </p:nvSpPr>
          <p:spPr bwMode="auto">
            <a:xfrm flipV="1">
              <a:off x="4917" y="720"/>
              <a:ext cx="192"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32108" name="Line 86"/>
            <p:cNvSpPr>
              <a:spLocks noChangeShapeType="1"/>
            </p:cNvSpPr>
            <p:nvPr/>
          </p:nvSpPr>
          <p:spPr bwMode="auto">
            <a:xfrm>
              <a:off x="4917" y="912"/>
              <a:ext cx="24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32109" name="Line 87"/>
            <p:cNvSpPr>
              <a:spLocks noChangeShapeType="1"/>
            </p:cNvSpPr>
            <p:nvPr/>
          </p:nvSpPr>
          <p:spPr bwMode="auto">
            <a:xfrm>
              <a:off x="4917" y="912"/>
              <a:ext cx="240"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32110" name="Text Box 89"/>
            <p:cNvSpPr txBox="1">
              <a:spLocks noChangeArrowheads="1"/>
            </p:cNvSpPr>
            <p:nvPr/>
          </p:nvSpPr>
          <p:spPr bwMode="auto">
            <a:xfrm>
              <a:off x="4821" y="624"/>
              <a:ext cx="1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v</a:t>
              </a:r>
            </a:p>
          </p:txBody>
        </p:sp>
        <p:sp>
          <p:nvSpPr>
            <p:cNvPr id="132111" name="Rectangle 90"/>
            <p:cNvSpPr>
              <a:spLocks noChangeArrowheads="1"/>
            </p:cNvSpPr>
            <p:nvPr/>
          </p:nvSpPr>
          <p:spPr bwMode="auto">
            <a:xfrm>
              <a:off x="4176" y="785"/>
              <a:ext cx="404"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solidFill>
                    <a:srgbClr val="CC0000"/>
                  </a:solidFill>
                </a:rPr>
                <a:t>E</a:t>
              </a:r>
              <a:r>
                <a:rPr lang="en-US" sz="1800" baseline="30000">
                  <a:solidFill>
                    <a:srgbClr val="CC0000"/>
                  </a:solidFill>
                </a:rPr>
                <a:t>-</a:t>
              </a:r>
              <a:r>
                <a:rPr lang="en-US" sz="1800">
                  <a:solidFill>
                    <a:srgbClr val="CC0000"/>
                  </a:solidFill>
                </a:rPr>
                <a:t>(v)</a:t>
              </a:r>
            </a:p>
          </p:txBody>
        </p:sp>
        <p:sp>
          <p:nvSpPr>
            <p:cNvPr id="132112" name="Rectangle 91"/>
            <p:cNvSpPr>
              <a:spLocks noChangeArrowheads="1"/>
            </p:cNvSpPr>
            <p:nvPr/>
          </p:nvSpPr>
          <p:spPr bwMode="auto">
            <a:xfrm>
              <a:off x="5211" y="768"/>
              <a:ext cx="426"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solidFill>
                    <a:srgbClr val="CC0000"/>
                  </a:solidFill>
                </a:rPr>
                <a:t>E</a:t>
              </a:r>
              <a:r>
                <a:rPr lang="en-US" sz="1800" baseline="30000">
                  <a:solidFill>
                    <a:srgbClr val="CC0000"/>
                  </a:solidFill>
                </a:rPr>
                <a:t>+</a:t>
              </a:r>
              <a:r>
                <a:rPr lang="en-US" sz="1800">
                  <a:solidFill>
                    <a:srgbClr val="CC0000"/>
                  </a:solidFill>
                </a:rPr>
                <a:t>(v)</a:t>
              </a:r>
            </a:p>
          </p:txBody>
        </p:sp>
        <p:sp>
          <p:nvSpPr>
            <p:cNvPr id="132113" name="AutoShape 92"/>
            <p:cNvSpPr>
              <a:spLocks/>
            </p:cNvSpPr>
            <p:nvPr/>
          </p:nvSpPr>
          <p:spPr bwMode="auto">
            <a:xfrm>
              <a:off x="4533" y="672"/>
              <a:ext cx="48" cy="480"/>
            </a:xfrm>
            <a:prstGeom prst="leftBrace">
              <a:avLst>
                <a:gd name="adj1" fmla="val 83333"/>
                <a:gd name="adj2" fmla="val 50000"/>
              </a:avLst>
            </a:prstGeom>
            <a:noFill/>
            <a:ln w="12700">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32114" name="AutoShape 93"/>
            <p:cNvSpPr>
              <a:spLocks/>
            </p:cNvSpPr>
            <p:nvPr/>
          </p:nvSpPr>
          <p:spPr bwMode="auto">
            <a:xfrm>
              <a:off x="5205" y="672"/>
              <a:ext cx="48" cy="480"/>
            </a:xfrm>
            <a:prstGeom prst="rightBrace">
              <a:avLst>
                <a:gd name="adj1" fmla="val 83333"/>
                <a:gd name="adj2" fmla="val 50000"/>
              </a:avLst>
            </a:prstGeom>
            <a:noFill/>
            <a:ln w="12700">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24258"/>
                                        </p:tgtEl>
                                        <p:attrNameLst>
                                          <p:attrName>style.visibility</p:attrName>
                                        </p:attrNameLst>
                                      </p:cBhvr>
                                      <p:to>
                                        <p:strVal val="visible"/>
                                      </p:to>
                                    </p:set>
                                    <p:anim calcmode="lin" valueType="num">
                                      <p:cBhvr>
                                        <p:cTn id="7" dur="500" fill="hold"/>
                                        <p:tgtEl>
                                          <p:spTgt spid="224258"/>
                                        </p:tgtEl>
                                        <p:attrNameLst>
                                          <p:attrName>ppt_w</p:attrName>
                                        </p:attrNameLst>
                                      </p:cBhvr>
                                      <p:tavLst>
                                        <p:tav tm="0">
                                          <p:val>
                                            <p:fltVal val="0"/>
                                          </p:val>
                                        </p:tav>
                                        <p:tav tm="100000">
                                          <p:val>
                                            <p:strVal val="#ppt_w"/>
                                          </p:val>
                                        </p:tav>
                                      </p:tavLst>
                                    </p:anim>
                                    <p:anim calcmode="lin" valueType="num">
                                      <p:cBhvr>
                                        <p:cTn id="8" dur="500" fill="hold"/>
                                        <p:tgtEl>
                                          <p:spTgt spid="22425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24351"/>
                                        </p:tgtEl>
                                        <p:attrNameLst>
                                          <p:attrName>style.visibility</p:attrName>
                                        </p:attrNameLst>
                                      </p:cBhvr>
                                      <p:to>
                                        <p:strVal val="visible"/>
                                      </p:to>
                                    </p:set>
                                    <p:animEffect transition="in" filter="wipe(left)">
                                      <p:cBhvr>
                                        <p:cTn id="13" dur="500"/>
                                        <p:tgtEl>
                                          <p:spTgt spid="22435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24352"/>
                                        </p:tgtEl>
                                        <p:attrNameLst>
                                          <p:attrName>style.visibility</p:attrName>
                                        </p:attrNameLst>
                                      </p:cBhvr>
                                      <p:to>
                                        <p:strVal val="visible"/>
                                      </p:to>
                                    </p:set>
                                    <p:animEffect transition="in" filter="wipe(left)">
                                      <p:cBhvr>
                                        <p:cTn id="18" dur="1000"/>
                                        <p:tgtEl>
                                          <p:spTgt spid="22435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24334"/>
                                        </p:tgtEl>
                                        <p:attrNameLst>
                                          <p:attrName>style.visibility</p:attrName>
                                        </p:attrNameLst>
                                      </p:cBhvr>
                                      <p:to>
                                        <p:strVal val="visible"/>
                                      </p:to>
                                    </p:set>
                                    <p:animEffect transition="in" filter="wipe(left)">
                                      <p:cBhvr>
                                        <p:cTn id="23" dur="1000"/>
                                        <p:tgtEl>
                                          <p:spTgt spid="224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8" grpId="0" animBg="1" autoUpdateAnimBg="0"/>
    </p:bldLst>
  </p:timing>
</p:sld>
</file>

<file path=ppt/slides/slide1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3235" name="Rectangle 3"/>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Multi-Source  Multi-Sink</a:t>
            </a:r>
          </a:p>
        </p:txBody>
      </p:sp>
      <p:grpSp>
        <p:nvGrpSpPr>
          <p:cNvPr id="223309" name="Group 77"/>
          <p:cNvGrpSpPr>
            <a:grpSpLocks/>
          </p:cNvGrpSpPr>
          <p:nvPr/>
        </p:nvGrpSpPr>
        <p:grpSpPr bwMode="auto">
          <a:xfrm>
            <a:off x="2133600" y="1752600"/>
            <a:ext cx="4514850" cy="4699000"/>
            <a:chOff x="1296" y="864"/>
            <a:chExt cx="2844" cy="2960"/>
          </a:xfrm>
        </p:grpSpPr>
        <p:sp>
          <p:nvSpPr>
            <p:cNvPr id="133144" name="Freeform 44"/>
            <p:cNvSpPr>
              <a:spLocks/>
            </p:cNvSpPr>
            <p:nvPr/>
          </p:nvSpPr>
          <p:spPr bwMode="auto">
            <a:xfrm>
              <a:off x="1296" y="864"/>
              <a:ext cx="2844" cy="2960"/>
            </a:xfrm>
            <a:custGeom>
              <a:avLst/>
              <a:gdLst>
                <a:gd name="T0" fmla="*/ 426 w 2844"/>
                <a:gd name="T1" fmla="*/ 2531 h 2960"/>
                <a:gd name="T2" fmla="*/ 338 w 2844"/>
                <a:gd name="T3" fmla="*/ 424 h 2960"/>
                <a:gd name="T4" fmla="*/ 2452 w 2844"/>
                <a:gd name="T5" fmla="*/ 363 h 2960"/>
                <a:gd name="T6" fmla="*/ 2506 w 2844"/>
                <a:gd name="T7" fmla="*/ 2599 h 2960"/>
                <a:gd name="T8" fmla="*/ 426 w 2844"/>
                <a:gd name="T9" fmla="*/ 2531 h 29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4" h="2960">
                  <a:moveTo>
                    <a:pt x="426" y="2531"/>
                  </a:moveTo>
                  <a:cubicBezTo>
                    <a:pt x="65" y="2168"/>
                    <a:pt x="0" y="785"/>
                    <a:pt x="338" y="424"/>
                  </a:cubicBezTo>
                  <a:cubicBezTo>
                    <a:pt x="678" y="75"/>
                    <a:pt x="2091" y="0"/>
                    <a:pt x="2452" y="363"/>
                  </a:cubicBezTo>
                  <a:cubicBezTo>
                    <a:pt x="2813" y="726"/>
                    <a:pt x="2844" y="2238"/>
                    <a:pt x="2506" y="2599"/>
                  </a:cubicBezTo>
                  <a:cubicBezTo>
                    <a:pt x="2168" y="2960"/>
                    <a:pt x="787" y="2894"/>
                    <a:pt x="426" y="2531"/>
                  </a:cubicBezTo>
                  <a:close/>
                </a:path>
              </a:pathLst>
            </a:custGeom>
            <a:solidFill>
              <a:srgbClr val="FF99CC"/>
            </a:solidFill>
            <a:ln w="19050" cap="flat" cmpd="sng">
              <a:noFill/>
              <a:prstDash val="solid"/>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33145" name="Text Box 45"/>
            <p:cNvSpPr txBox="1">
              <a:spLocks noChangeArrowheads="1"/>
            </p:cNvSpPr>
            <p:nvPr/>
          </p:nvSpPr>
          <p:spPr bwMode="auto">
            <a:xfrm>
              <a:off x="2544" y="1008"/>
              <a:ext cx="347" cy="420"/>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4000"/>
                <a:t>G</a:t>
              </a:r>
            </a:p>
          </p:txBody>
        </p:sp>
        <p:sp>
          <p:nvSpPr>
            <p:cNvPr id="133146" name="Freeform 61"/>
            <p:cNvSpPr>
              <a:spLocks/>
            </p:cNvSpPr>
            <p:nvPr/>
          </p:nvSpPr>
          <p:spPr bwMode="auto">
            <a:xfrm>
              <a:off x="2055" y="1584"/>
              <a:ext cx="413" cy="236"/>
            </a:xfrm>
            <a:custGeom>
              <a:avLst/>
              <a:gdLst>
                <a:gd name="T0" fmla="*/ 0 w 413"/>
                <a:gd name="T1" fmla="*/ 0 h 236"/>
                <a:gd name="T2" fmla="*/ 413 w 413"/>
                <a:gd name="T3" fmla="*/ 236 h 236"/>
                <a:gd name="T4" fmla="*/ 0 60000 65536"/>
                <a:gd name="T5" fmla="*/ 0 60000 65536"/>
              </a:gdLst>
              <a:ahLst/>
              <a:cxnLst>
                <a:cxn ang="T4">
                  <a:pos x="T0" y="T1"/>
                </a:cxn>
                <a:cxn ang="T5">
                  <a:pos x="T2" y="T3"/>
                </a:cxn>
              </a:cxnLst>
              <a:rect l="0" t="0" r="r" b="b"/>
              <a:pathLst>
                <a:path w="413" h="236">
                  <a:moveTo>
                    <a:pt x="0" y="0"/>
                  </a:moveTo>
                  <a:lnTo>
                    <a:pt x="413" y="236"/>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47" name="Line 62"/>
            <p:cNvSpPr>
              <a:spLocks noChangeShapeType="1"/>
            </p:cNvSpPr>
            <p:nvPr/>
          </p:nvSpPr>
          <p:spPr bwMode="auto">
            <a:xfrm flipV="1">
              <a:off x="2064" y="1968"/>
              <a:ext cx="432" cy="28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48" name="Freeform 63"/>
            <p:cNvSpPr>
              <a:spLocks/>
            </p:cNvSpPr>
            <p:nvPr/>
          </p:nvSpPr>
          <p:spPr bwMode="auto">
            <a:xfrm>
              <a:off x="2599" y="1937"/>
              <a:ext cx="137" cy="319"/>
            </a:xfrm>
            <a:custGeom>
              <a:avLst/>
              <a:gdLst>
                <a:gd name="T0" fmla="*/ 0 w 137"/>
                <a:gd name="T1" fmla="*/ 0 h 319"/>
                <a:gd name="T2" fmla="*/ 137 w 137"/>
                <a:gd name="T3" fmla="*/ 319 h 319"/>
                <a:gd name="T4" fmla="*/ 0 60000 65536"/>
                <a:gd name="T5" fmla="*/ 0 60000 65536"/>
              </a:gdLst>
              <a:ahLst/>
              <a:cxnLst>
                <a:cxn ang="T4">
                  <a:pos x="T0" y="T1"/>
                </a:cxn>
                <a:cxn ang="T5">
                  <a:pos x="T2" y="T3"/>
                </a:cxn>
              </a:cxnLst>
              <a:rect l="0" t="0" r="r" b="b"/>
              <a:pathLst>
                <a:path w="137" h="319">
                  <a:moveTo>
                    <a:pt x="0" y="0"/>
                  </a:moveTo>
                  <a:lnTo>
                    <a:pt x="137" y="319"/>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49" name="Freeform 64"/>
            <p:cNvSpPr>
              <a:spLocks/>
            </p:cNvSpPr>
            <p:nvPr/>
          </p:nvSpPr>
          <p:spPr bwMode="auto">
            <a:xfrm>
              <a:off x="2585" y="1479"/>
              <a:ext cx="779" cy="400"/>
            </a:xfrm>
            <a:custGeom>
              <a:avLst/>
              <a:gdLst>
                <a:gd name="T0" fmla="*/ 0 w 779"/>
                <a:gd name="T1" fmla="*/ 400 h 400"/>
                <a:gd name="T2" fmla="*/ 779 w 779"/>
                <a:gd name="T3" fmla="*/ 0 h 400"/>
                <a:gd name="T4" fmla="*/ 0 60000 65536"/>
                <a:gd name="T5" fmla="*/ 0 60000 65536"/>
              </a:gdLst>
              <a:ahLst/>
              <a:cxnLst>
                <a:cxn ang="T4">
                  <a:pos x="T0" y="T1"/>
                </a:cxn>
                <a:cxn ang="T5">
                  <a:pos x="T2" y="T3"/>
                </a:cxn>
              </a:cxnLst>
              <a:rect l="0" t="0" r="r" b="b"/>
              <a:pathLst>
                <a:path w="779" h="400">
                  <a:moveTo>
                    <a:pt x="0" y="400"/>
                  </a:moveTo>
                  <a:lnTo>
                    <a:pt x="77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50" name="Freeform 65"/>
            <p:cNvSpPr>
              <a:spLocks/>
            </p:cNvSpPr>
            <p:nvPr/>
          </p:nvSpPr>
          <p:spPr bwMode="auto">
            <a:xfrm>
              <a:off x="2640" y="1911"/>
              <a:ext cx="692" cy="9"/>
            </a:xfrm>
            <a:custGeom>
              <a:avLst/>
              <a:gdLst>
                <a:gd name="T0" fmla="*/ 0 w 692"/>
                <a:gd name="T1" fmla="*/ 9 h 9"/>
                <a:gd name="T2" fmla="*/ 692 w 692"/>
                <a:gd name="T3" fmla="*/ 0 h 9"/>
                <a:gd name="T4" fmla="*/ 0 60000 65536"/>
                <a:gd name="T5" fmla="*/ 0 60000 65536"/>
              </a:gdLst>
              <a:ahLst/>
              <a:cxnLst>
                <a:cxn ang="T4">
                  <a:pos x="T0" y="T1"/>
                </a:cxn>
                <a:cxn ang="T5">
                  <a:pos x="T2" y="T3"/>
                </a:cxn>
              </a:cxnLst>
              <a:rect l="0" t="0" r="r" b="b"/>
              <a:pathLst>
                <a:path w="692" h="9">
                  <a:moveTo>
                    <a:pt x="0" y="9"/>
                  </a:moveTo>
                  <a:lnTo>
                    <a:pt x="692"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51" name="Freeform 66"/>
            <p:cNvSpPr>
              <a:spLocks/>
            </p:cNvSpPr>
            <p:nvPr/>
          </p:nvSpPr>
          <p:spPr bwMode="auto">
            <a:xfrm>
              <a:off x="2088" y="2343"/>
              <a:ext cx="552" cy="9"/>
            </a:xfrm>
            <a:custGeom>
              <a:avLst/>
              <a:gdLst>
                <a:gd name="T0" fmla="*/ 0 w 552"/>
                <a:gd name="T1" fmla="*/ 0 h 9"/>
                <a:gd name="T2" fmla="*/ 552 w 552"/>
                <a:gd name="T3" fmla="*/ 9 h 9"/>
                <a:gd name="T4" fmla="*/ 0 60000 65536"/>
                <a:gd name="T5" fmla="*/ 0 60000 65536"/>
              </a:gdLst>
              <a:ahLst/>
              <a:cxnLst>
                <a:cxn ang="T4">
                  <a:pos x="T0" y="T1"/>
                </a:cxn>
                <a:cxn ang="T5">
                  <a:pos x="T2" y="T3"/>
                </a:cxn>
              </a:cxnLst>
              <a:rect l="0" t="0" r="r" b="b"/>
              <a:pathLst>
                <a:path w="552" h="9">
                  <a:moveTo>
                    <a:pt x="0" y="0"/>
                  </a:moveTo>
                  <a:lnTo>
                    <a:pt x="552" y="9"/>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52" name="Line 67"/>
            <p:cNvSpPr>
              <a:spLocks noChangeShapeType="1"/>
            </p:cNvSpPr>
            <p:nvPr/>
          </p:nvSpPr>
          <p:spPr bwMode="auto">
            <a:xfrm flipV="1">
              <a:off x="2880" y="1968"/>
              <a:ext cx="480" cy="38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53" name="Line 68"/>
            <p:cNvSpPr>
              <a:spLocks noChangeShapeType="1"/>
            </p:cNvSpPr>
            <p:nvPr/>
          </p:nvSpPr>
          <p:spPr bwMode="auto">
            <a:xfrm>
              <a:off x="2880" y="2400"/>
              <a:ext cx="432" cy="4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54" name="Freeform 69"/>
            <p:cNvSpPr>
              <a:spLocks/>
            </p:cNvSpPr>
            <p:nvPr/>
          </p:nvSpPr>
          <p:spPr bwMode="auto">
            <a:xfrm>
              <a:off x="2782" y="2409"/>
              <a:ext cx="146" cy="279"/>
            </a:xfrm>
            <a:custGeom>
              <a:avLst/>
              <a:gdLst>
                <a:gd name="T0" fmla="*/ 0 w 98"/>
                <a:gd name="T1" fmla="*/ 0 h 279"/>
                <a:gd name="T2" fmla="*/ 146 w 98"/>
                <a:gd name="T3" fmla="*/ 279 h 279"/>
                <a:gd name="T4" fmla="*/ 0 60000 65536"/>
                <a:gd name="T5" fmla="*/ 0 60000 65536"/>
              </a:gdLst>
              <a:ahLst/>
              <a:cxnLst>
                <a:cxn ang="T4">
                  <a:pos x="T0" y="T1"/>
                </a:cxn>
                <a:cxn ang="T5">
                  <a:pos x="T2" y="T3"/>
                </a:cxn>
              </a:cxnLst>
              <a:rect l="0" t="0" r="r" b="b"/>
              <a:pathLst>
                <a:path w="98" h="279">
                  <a:moveTo>
                    <a:pt x="0" y="0"/>
                  </a:moveTo>
                  <a:lnTo>
                    <a:pt x="98" y="279"/>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55" name="Freeform 70"/>
            <p:cNvSpPr>
              <a:spLocks/>
            </p:cNvSpPr>
            <p:nvPr/>
          </p:nvSpPr>
          <p:spPr bwMode="auto">
            <a:xfrm>
              <a:off x="2540" y="2383"/>
              <a:ext cx="209" cy="320"/>
            </a:xfrm>
            <a:custGeom>
              <a:avLst/>
              <a:gdLst>
                <a:gd name="T0" fmla="*/ 209 w 209"/>
                <a:gd name="T1" fmla="*/ 0 h 320"/>
                <a:gd name="T2" fmla="*/ 0 w 209"/>
                <a:gd name="T3" fmla="*/ 320 h 320"/>
                <a:gd name="T4" fmla="*/ 0 60000 65536"/>
                <a:gd name="T5" fmla="*/ 0 60000 65536"/>
              </a:gdLst>
              <a:ahLst/>
              <a:cxnLst>
                <a:cxn ang="T4">
                  <a:pos x="T0" y="T1"/>
                </a:cxn>
                <a:cxn ang="T5">
                  <a:pos x="T2" y="T3"/>
                </a:cxn>
              </a:cxnLst>
              <a:rect l="0" t="0" r="r" b="b"/>
              <a:pathLst>
                <a:path w="209" h="320">
                  <a:moveTo>
                    <a:pt x="209" y="0"/>
                  </a:moveTo>
                  <a:lnTo>
                    <a:pt x="0" y="32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56" name="Freeform 71"/>
            <p:cNvSpPr>
              <a:spLocks/>
            </p:cNvSpPr>
            <p:nvPr/>
          </p:nvSpPr>
          <p:spPr bwMode="auto">
            <a:xfrm>
              <a:off x="2049" y="2428"/>
              <a:ext cx="351" cy="308"/>
            </a:xfrm>
            <a:custGeom>
              <a:avLst/>
              <a:gdLst>
                <a:gd name="T0" fmla="*/ 0 w 351"/>
                <a:gd name="T1" fmla="*/ 0 h 308"/>
                <a:gd name="T2" fmla="*/ 351 w 351"/>
                <a:gd name="T3" fmla="*/ 308 h 308"/>
                <a:gd name="T4" fmla="*/ 0 60000 65536"/>
                <a:gd name="T5" fmla="*/ 0 60000 65536"/>
              </a:gdLst>
              <a:ahLst/>
              <a:cxnLst>
                <a:cxn ang="T4">
                  <a:pos x="T0" y="T1"/>
                </a:cxn>
                <a:cxn ang="T5">
                  <a:pos x="T2" y="T3"/>
                </a:cxn>
              </a:cxnLst>
              <a:rect l="0" t="0" r="r" b="b"/>
              <a:pathLst>
                <a:path w="351" h="308">
                  <a:moveTo>
                    <a:pt x="0" y="0"/>
                  </a:moveTo>
                  <a:lnTo>
                    <a:pt x="351" y="30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57" name="Freeform 72"/>
            <p:cNvSpPr>
              <a:spLocks/>
            </p:cNvSpPr>
            <p:nvPr/>
          </p:nvSpPr>
          <p:spPr bwMode="auto">
            <a:xfrm>
              <a:off x="2081" y="2854"/>
              <a:ext cx="288" cy="131"/>
            </a:xfrm>
            <a:custGeom>
              <a:avLst/>
              <a:gdLst>
                <a:gd name="T0" fmla="*/ 0 w 288"/>
                <a:gd name="T1" fmla="*/ 131 h 131"/>
                <a:gd name="T2" fmla="*/ 288 w 288"/>
                <a:gd name="T3" fmla="*/ 0 h 131"/>
                <a:gd name="T4" fmla="*/ 0 60000 65536"/>
                <a:gd name="T5" fmla="*/ 0 60000 65536"/>
              </a:gdLst>
              <a:ahLst/>
              <a:cxnLst>
                <a:cxn ang="T4">
                  <a:pos x="T0" y="T1"/>
                </a:cxn>
                <a:cxn ang="T5">
                  <a:pos x="T2" y="T3"/>
                </a:cxn>
              </a:cxnLst>
              <a:rect l="0" t="0" r="r" b="b"/>
              <a:pathLst>
                <a:path w="288" h="131">
                  <a:moveTo>
                    <a:pt x="0" y="131"/>
                  </a:moveTo>
                  <a:lnTo>
                    <a:pt x="288"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58" name="Line 73"/>
            <p:cNvSpPr>
              <a:spLocks noChangeShapeType="1"/>
            </p:cNvSpPr>
            <p:nvPr/>
          </p:nvSpPr>
          <p:spPr bwMode="auto">
            <a:xfrm>
              <a:off x="2592" y="2832"/>
              <a:ext cx="24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59" name="Oval 16"/>
            <p:cNvSpPr>
              <a:spLocks noChangeArrowheads="1"/>
            </p:cNvSpPr>
            <p:nvPr/>
          </p:nvSpPr>
          <p:spPr bwMode="auto">
            <a:xfrm>
              <a:off x="1753" y="1357"/>
              <a:ext cx="407" cy="35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square" lIns="126000" bIns="46800" anchor="ctr" anchorCtr="1">
              <a:spAutoFit/>
            </a:bodyPr>
            <a:lstStyle/>
            <a:p>
              <a:pPr algn="ctr">
                <a:buFont typeface="Wingdings" pitchFamily="2" charset="2"/>
                <a:buNone/>
              </a:pPr>
              <a:r>
                <a:rPr lang="en-US" sz="2000" b="1" dirty="0"/>
                <a:t>s</a:t>
              </a:r>
              <a:r>
                <a:rPr lang="en-US" sz="2000" b="1" baseline="-25000" dirty="0"/>
                <a:t>1</a:t>
              </a:r>
            </a:p>
          </p:txBody>
        </p:sp>
        <p:sp>
          <p:nvSpPr>
            <p:cNvPr id="133160" name="Oval 38"/>
            <p:cNvSpPr>
              <a:spLocks noChangeArrowheads="1"/>
            </p:cNvSpPr>
            <p:nvPr/>
          </p:nvSpPr>
          <p:spPr bwMode="auto">
            <a:xfrm>
              <a:off x="1753" y="2125"/>
              <a:ext cx="407" cy="35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square" lIns="126000" bIns="46800" anchor="ctr" anchorCtr="1">
              <a:spAutoFit/>
            </a:bodyPr>
            <a:lstStyle/>
            <a:p>
              <a:pPr algn="ctr">
                <a:buFont typeface="Wingdings" pitchFamily="2" charset="2"/>
                <a:buNone/>
              </a:pPr>
              <a:r>
                <a:rPr lang="en-US" sz="2000" b="1"/>
                <a:t>s</a:t>
              </a:r>
              <a:r>
                <a:rPr lang="en-US" sz="2000" b="1" baseline="-25000"/>
                <a:t>2</a:t>
              </a:r>
            </a:p>
          </p:txBody>
        </p:sp>
        <p:sp>
          <p:nvSpPr>
            <p:cNvPr id="133161" name="Oval 39"/>
            <p:cNvSpPr>
              <a:spLocks noChangeArrowheads="1"/>
            </p:cNvSpPr>
            <p:nvPr/>
          </p:nvSpPr>
          <p:spPr bwMode="auto">
            <a:xfrm>
              <a:off x="1753" y="2845"/>
              <a:ext cx="407" cy="35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square" lIns="126000" bIns="46800" anchor="ctr" anchorCtr="1">
              <a:spAutoFit/>
            </a:bodyPr>
            <a:lstStyle/>
            <a:p>
              <a:pPr algn="ctr">
                <a:buFont typeface="Wingdings" pitchFamily="2" charset="2"/>
                <a:buNone/>
              </a:pPr>
              <a:r>
                <a:rPr lang="en-US" sz="2000" b="1" dirty="0"/>
                <a:t>s</a:t>
              </a:r>
              <a:r>
                <a:rPr lang="en-US" sz="2000" b="1" baseline="-25000" dirty="0"/>
                <a:t>3</a:t>
              </a:r>
            </a:p>
          </p:txBody>
        </p:sp>
        <p:sp>
          <p:nvSpPr>
            <p:cNvPr id="133163" name="Oval 41"/>
            <p:cNvSpPr>
              <a:spLocks noChangeArrowheads="1"/>
            </p:cNvSpPr>
            <p:nvPr/>
          </p:nvSpPr>
          <p:spPr bwMode="auto">
            <a:xfrm>
              <a:off x="3337" y="1741"/>
              <a:ext cx="407" cy="35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square" lIns="126000" bIns="46800" anchor="ctr" anchorCtr="1">
              <a:spAutoFit/>
            </a:bodyPr>
            <a:lstStyle/>
            <a:p>
              <a:pPr algn="ctr">
                <a:buFont typeface="Wingdings" pitchFamily="2" charset="2"/>
                <a:buNone/>
              </a:pPr>
              <a:r>
                <a:rPr lang="en-US" sz="2000" b="1" dirty="0"/>
                <a:t>t</a:t>
              </a:r>
              <a:r>
                <a:rPr lang="en-US" sz="2000" b="1" baseline="-25000" dirty="0"/>
                <a:t>2</a:t>
              </a:r>
            </a:p>
          </p:txBody>
        </p:sp>
        <p:sp>
          <p:nvSpPr>
            <p:cNvPr id="133164" name="Oval 42"/>
            <p:cNvSpPr>
              <a:spLocks noChangeArrowheads="1"/>
            </p:cNvSpPr>
            <p:nvPr/>
          </p:nvSpPr>
          <p:spPr bwMode="auto">
            <a:xfrm>
              <a:off x="3337" y="2317"/>
              <a:ext cx="407" cy="35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square" lIns="126000" bIns="46800" anchor="ctr" anchorCtr="1">
              <a:spAutoFit/>
            </a:bodyPr>
            <a:lstStyle/>
            <a:p>
              <a:pPr algn="ctr">
                <a:buFont typeface="Wingdings" pitchFamily="2" charset="2"/>
                <a:buNone/>
              </a:pPr>
              <a:r>
                <a:rPr lang="en-US" sz="2000" b="1" dirty="0"/>
                <a:t>t</a:t>
              </a:r>
              <a:r>
                <a:rPr lang="en-US" sz="2000" b="1" baseline="-25000" dirty="0"/>
                <a:t>3</a:t>
              </a:r>
            </a:p>
          </p:txBody>
        </p:sp>
        <p:sp>
          <p:nvSpPr>
            <p:cNvPr id="133165" name="Oval 43"/>
            <p:cNvSpPr>
              <a:spLocks noChangeArrowheads="1"/>
            </p:cNvSpPr>
            <p:nvPr/>
          </p:nvSpPr>
          <p:spPr bwMode="auto">
            <a:xfrm>
              <a:off x="3337" y="2845"/>
              <a:ext cx="407" cy="35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square" lIns="126000" bIns="46800" anchor="ctr" anchorCtr="1">
              <a:spAutoFit/>
            </a:bodyPr>
            <a:lstStyle/>
            <a:p>
              <a:pPr algn="ctr">
                <a:buFont typeface="Wingdings" pitchFamily="2" charset="2"/>
                <a:buNone/>
              </a:pPr>
              <a:r>
                <a:rPr lang="en-US" sz="2000" b="1" dirty="0"/>
                <a:t>t</a:t>
              </a:r>
              <a:r>
                <a:rPr lang="en-US" sz="2000" b="1" baseline="-25000" dirty="0"/>
                <a:t>4</a:t>
              </a:r>
            </a:p>
          </p:txBody>
        </p:sp>
        <p:sp>
          <p:nvSpPr>
            <p:cNvPr id="133166" name="Line 74"/>
            <p:cNvSpPr>
              <a:spLocks noChangeShapeType="1"/>
            </p:cNvSpPr>
            <p:nvPr/>
          </p:nvSpPr>
          <p:spPr bwMode="auto">
            <a:xfrm>
              <a:off x="3072" y="2832"/>
              <a:ext cx="288" cy="14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67" name="Line 75"/>
            <p:cNvSpPr>
              <a:spLocks noChangeShapeType="1"/>
            </p:cNvSpPr>
            <p:nvPr/>
          </p:nvSpPr>
          <p:spPr bwMode="auto">
            <a:xfrm flipV="1">
              <a:off x="3072" y="2544"/>
              <a:ext cx="288"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68" name="Oval 60"/>
            <p:cNvSpPr>
              <a:spLocks noChangeArrowheads="1"/>
            </p:cNvSpPr>
            <p:nvPr/>
          </p:nvSpPr>
          <p:spPr bwMode="auto">
            <a:xfrm>
              <a:off x="2832" y="2688"/>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33169" name="Oval 59"/>
            <p:cNvSpPr>
              <a:spLocks noChangeArrowheads="1"/>
            </p:cNvSpPr>
            <p:nvPr/>
          </p:nvSpPr>
          <p:spPr bwMode="auto">
            <a:xfrm>
              <a:off x="2352" y="2688"/>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c</a:t>
              </a:r>
            </a:p>
          </p:txBody>
        </p:sp>
        <p:sp>
          <p:nvSpPr>
            <p:cNvPr id="133170" name="Oval 58"/>
            <p:cNvSpPr>
              <a:spLocks noChangeArrowheads="1"/>
            </p:cNvSpPr>
            <p:nvPr/>
          </p:nvSpPr>
          <p:spPr bwMode="auto">
            <a:xfrm>
              <a:off x="2640" y="2256"/>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3171" name="Oval 57"/>
            <p:cNvSpPr>
              <a:spLocks noChangeArrowheads="1"/>
            </p:cNvSpPr>
            <p:nvPr/>
          </p:nvSpPr>
          <p:spPr bwMode="auto">
            <a:xfrm>
              <a:off x="2448" y="1776"/>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3162" name="Oval 40"/>
            <p:cNvSpPr>
              <a:spLocks noChangeArrowheads="1"/>
            </p:cNvSpPr>
            <p:nvPr/>
          </p:nvSpPr>
          <p:spPr bwMode="auto">
            <a:xfrm>
              <a:off x="3337" y="1211"/>
              <a:ext cx="407" cy="35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square" lIns="126000" bIns="46800" anchor="ctr" anchorCtr="1">
              <a:spAutoFit/>
            </a:bodyPr>
            <a:lstStyle/>
            <a:p>
              <a:pPr algn="ctr">
                <a:buFont typeface="Wingdings" pitchFamily="2" charset="2"/>
                <a:buNone/>
              </a:pPr>
              <a:r>
                <a:rPr lang="en-US" sz="2000" b="1" dirty="0"/>
                <a:t>t</a:t>
              </a:r>
              <a:r>
                <a:rPr lang="en-US" sz="2000" b="1" baseline="-25000" dirty="0"/>
                <a:t>1</a:t>
              </a:r>
            </a:p>
          </p:txBody>
        </p:sp>
      </p:grpSp>
      <p:grpSp>
        <p:nvGrpSpPr>
          <p:cNvPr id="223314" name="Group 82"/>
          <p:cNvGrpSpPr>
            <a:grpSpLocks/>
          </p:cNvGrpSpPr>
          <p:nvPr/>
        </p:nvGrpSpPr>
        <p:grpSpPr bwMode="auto">
          <a:xfrm>
            <a:off x="533400" y="2717801"/>
            <a:ext cx="7820025" cy="2349500"/>
            <a:chOff x="336" y="1088"/>
            <a:chExt cx="4926" cy="1480"/>
          </a:xfrm>
        </p:grpSpPr>
        <p:sp>
          <p:nvSpPr>
            <p:cNvPr id="133127" name="Freeform 11"/>
            <p:cNvSpPr>
              <a:spLocks/>
            </p:cNvSpPr>
            <p:nvPr/>
          </p:nvSpPr>
          <p:spPr bwMode="auto">
            <a:xfrm>
              <a:off x="3775" y="1088"/>
              <a:ext cx="1038" cy="703"/>
            </a:xfrm>
            <a:custGeom>
              <a:avLst/>
              <a:gdLst>
                <a:gd name="T0" fmla="*/ 0 w 1106"/>
                <a:gd name="T1" fmla="*/ 0 h 722"/>
                <a:gd name="T2" fmla="*/ 1106 w 1106"/>
                <a:gd name="T3" fmla="*/ 722 h 722"/>
                <a:gd name="T4" fmla="*/ 0 60000 65536"/>
                <a:gd name="T5" fmla="*/ 0 60000 65536"/>
                <a:gd name="connsiteX0" fmla="*/ 0 w 9384"/>
                <a:gd name="connsiteY0" fmla="*/ 0 h 9743"/>
                <a:gd name="connsiteX1" fmla="*/ 9384 w 9384"/>
                <a:gd name="connsiteY1" fmla="*/ 9743 h 9743"/>
              </a:gdLst>
              <a:ahLst/>
              <a:cxnLst>
                <a:cxn ang="0">
                  <a:pos x="connsiteX0" y="connsiteY0"/>
                </a:cxn>
                <a:cxn ang="0">
                  <a:pos x="connsiteX1" y="connsiteY1"/>
                </a:cxn>
              </a:cxnLst>
              <a:rect l="l" t="t" r="r" b="b"/>
              <a:pathLst>
                <a:path w="9384" h="9743">
                  <a:moveTo>
                    <a:pt x="0" y="0"/>
                  </a:moveTo>
                  <a:cubicBezTo>
                    <a:pt x="3333" y="3333"/>
                    <a:pt x="6051" y="6410"/>
                    <a:pt x="9384" y="9743"/>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26" name="Freeform 5"/>
            <p:cNvSpPr>
              <a:spLocks/>
            </p:cNvSpPr>
            <p:nvPr/>
          </p:nvSpPr>
          <p:spPr bwMode="auto">
            <a:xfrm>
              <a:off x="841" y="1220"/>
              <a:ext cx="979" cy="672"/>
            </a:xfrm>
            <a:custGeom>
              <a:avLst/>
              <a:gdLst>
                <a:gd name="T0" fmla="*/ 0 w 643"/>
                <a:gd name="T1" fmla="*/ 672 h 583"/>
                <a:gd name="T2" fmla="*/ 979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28" name="Freeform 12"/>
            <p:cNvSpPr>
              <a:spLocks/>
            </p:cNvSpPr>
            <p:nvPr/>
          </p:nvSpPr>
          <p:spPr bwMode="auto">
            <a:xfrm>
              <a:off x="3768" y="1940"/>
              <a:ext cx="1057" cy="628"/>
            </a:xfrm>
            <a:custGeom>
              <a:avLst/>
              <a:gdLst>
                <a:gd name="T0" fmla="*/ 0 w 1125"/>
                <a:gd name="T1" fmla="*/ 628 h 628"/>
                <a:gd name="T2" fmla="*/ 1125 w 1125"/>
                <a:gd name="T3" fmla="*/ 0 h 628"/>
                <a:gd name="T4" fmla="*/ 0 60000 65536"/>
                <a:gd name="T5" fmla="*/ 0 60000 65536"/>
                <a:gd name="connsiteX0" fmla="*/ 0 w 9394"/>
                <a:gd name="connsiteY0" fmla="*/ 10000 h 10000"/>
                <a:gd name="connsiteX1" fmla="*/ 9394 w 9394"/>
                <a:gd name="connsiteY1" fmla="*/ 0 h 10000"/>
              </a:gdLst>
              <a:ahLst/>
              <a:cxnLst>
                <a:cxn ang="0">
                  <a:pos x="connsiteX0" y="connsiteY0"/>
                </a:cxn>
                <a:cxn ang="0">
                  <a:pos x="connsiteX1" y="connsiteY1"/>
                </a:cxn>
              </a:cxnLst>
              <a:rect l="l" t="t" r="r" b="b"/>
              <a:pathLst>
                <a:path w="9394" h="10000">
                  <a:moveTo>
                    <a:pt x="0" y="10000"/>
                  </a:moveTo>
                  <a:cubicBezTo>
                    <a:pt x="3333" y="6667"/>
                    <a:pt x="6061" y="3333"/>
                    <a:pt x="9394" y="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29" name="Line 46"/>
            <p:cNvSpPr>
              <a:spLocks noChangeShapeType="1"/>
            </p:cNvSpPr>
            <p:nvPr/>
          </p:nvSpPr>
          <p:spPr bwMode="auto">
            <a:xfrm>
              <a:off x="841" y="1940"/>
              <a:ext cx="96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30" name="Line 47"/>
            <p:cNvSpPr>
              <a:spLocks noChangeShapeType="1"/>
            </p:cNvSpPr>
            <p:nvPr/>
          </p:nvSpPr>
          <p:spPr bwMode="auto">
            <a:xfrm>
              <a:off x="841" y="1940"/>
              <a:ext cx="960" cy="62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31" name="Freeform 48"/>
            <p:cNvSpPr>
              <a:spLocks/>
            </p:cNvSpPr>
            <p:nvPr/>
          </p:nvSpPr>
          <p:spPr bwMode="auto">
            <a:xfrm>
              <a:off x="3776" y="1579"/>
              <a:ext cx="1001" cy="265"/>
            </a:xfrm>
            <a:custGeom>
              <a:avLst/>
              <a:gdLst>
                <a:gd name="T0" fmla="*/ 0 w 1057"/>
                <a:gd name="T1" fmla="*/ 0 h 284"/>
                <a:gd name="T2" fmla="*/ 1057 w 1057"/>
                <a:gd name="T3" fmla="*/ 284 h 284"/>
                <a:gd name="T4" fmla="*/ 0 60000 65536"/>
                <a:gd name="T5" fmla="*/ 0 60000 65536"/>
                <a:gd name="connsiteX0" fmla="*/ 0 w 9473"/>
                <a:gd name="connsiteY0" fmla="*/ 0 h 9346"/>
                <a:gd name="connsiteX1" fmla="*/ 9473 w 9473"/>
                <a:gd name="connsiteY1" fmla="*/ 9346 h 9346"/>
              </a:gdLst>
              <a:ahLst/>
              <a:cxnLst>
                <a:cxn ang="0">
                  <a:pos x="connsiteX0" y="connsiteY0"/>
                </a:cxn>
                <a:cxn ang="0">
                  <a:pos x="connsiteX1" y="connsiteY1"/>
                </a:cxn>
              </a:cxnLst>
              <a:rect l="l" t="t" r="r" b="b"/>
              <a:pathLst>
                <a:path w="9473" h="9346">
                  <a:moveTo>
                    <a:pt x="0" y="0"/>
                  </a:moveTo>
                  <a:cubicBezTo>
                    <a:pt x="3333" y="3333"/>
                    <a:pt x="6140" y="6013"/>
                    <a:pt x="9473" y="9346"/>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32" name="Freeform 49"/>
            <p:cNvSpPr>
              <a:spLocks/>
            </p:cNvSpPr>
            <p:nvPr/>
          </p:nvSpPr>
          <p:spPr bwMode="auto">
            <a:xfrm>
              <a:off x="3788" y="1892"/>
              <a:ext cx="989" cy="192"/>
            </a:xfrm>
            <a:custGeom>
              <a:avLst/>
              <a:gdLst>
                <a:gd name="T0" fmla="*/ 0 w 1057"/>
                <a:gd name="T1" fmla="*/ 198 h 198"/>
                <a:gd name="T2" fmla="*/ 1057 w 1057"/>
                <a:gd name="T3" fmla="*/ 0 h 198"/>
                <a:gd name="T4" fmla="*/ 0 60000 65536"/>
                <a:gd name="T5" fmla="*/ 0 60000 65536"/>
                <a:gd name="connsiteX0" fmla="*/ 0 w 9180"/>
                <a:gd name="connsiteY0" fmla="*/ 9687 h 9687"/>
                <a:gd name="connsiteX1" fmla="*/ 9180 w 9180"/>
                <a:gd name="connsiteY1" fmla="*/ 0 h 9687"/>
                <a:gd name="connsiteX0" fmla="*/ 0 w 10192"/>
                <a:gd name="connsiteY0" fmla="*/ 10000 h 10000"/>
                <a:gd name="connsiteX1" fmla="*/ 10192 w 10192"/>
                <a:gd name="connsiteY1" fmla="*/ 0 h 10000"/>
              </a:gdLst>
              <a:ahLst/>
              <a:cxnLst>
                <a:cxn ang="0">
                  <a:pos x="connsiteX0" y="connsiteY0"/>
                </a:cxn>
                <a:cxn ang="0">
                  <a:pos x="connsiteX1" y="connsiteY1"/>
                </a:cxn>
              </a:cxnLst>
              <a:rect l="l" t="t" r="r" b="b"/>
              <a:pathLst>
                <a:path w="10192" h="10000">
                  <a:moveTo>
                    <a:pt x="0" y="10000"/>
                  </a:moveTo>
                  <a:cubicBezTo>
                    <a:pt x="3631" y="6559"/>
                    <a:pt x="6561" y="3441"/>
                    <a:pt x="10192" y="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3133" name="Oval 15"/>
            <p:cNvSpPr>
              <a:spLocks noChangeArrowheads="1"/>
            </p:cNvSpPr>
            <p:nvPr/>
          </p:nvSpPr>
          <p:spPr bwMode="auto">
            <a:xfrm>
              <a:off x="697" y="1796"/>
              <a:ext cx="244" cy="225"/>
            </a:xfrm>
            <a:prstGeom prst="ellipse">
              <a:avLst/>
            </a:prstGeom>
            <a:solidFill>
              <a:srgbClr val="FF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3134" name="Oval 19"/>
            <p:cNvSpPr>
              <a:spLocks noChangeArrowheads="1"/>
            </p:cNvSpPr>
            <p:nvPr/>
          </p:nvSpPr>
          <p:spPr bwMode="auto">
            <a:xfrm>
              <a:off x="4777" y="1748"/>
              <a:ext cx="244" cy="225"/>
            </a:xfrm>
            <a:prstGeom prst="ellipse">
              <a:avLst/>
            </a:prstGeom>
            <a:solidFill>
              <a:srgbClr val="FF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33135" name="Rectangle 50"/>
            <p:cNvSpPr>
              <a:spLocks noChangeArrowheads="1"/>
            </p:cNvSpPr>
            <p:nvPr/>
          </p:nvSpPr>
          <p:spPr bwMode="auto">
            <a:xfrm>
              <a:off x="4272" y="2112"/>
              <a:ext cx="253"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pPr algn="ctr">
                <a:buFont typeface="Wingdings" pitchFamily="2" charset="2"/>
                <a:buNone/>
              </a:pPr>
              <a:r>
                <a:rPr lang="en-US" sz="2400" b="1">
                  <a:sym typeface="Symbol" pitchFamily="18" charset="2"/>
                </a:rPr>
                <a:t></a:t>
              </a:r>
            </a:p>
          </p:txBody>
        </p:sp>
        <p:sp>
          <p:nvSpPr>
            <p:cNvPr id="133136" name="Rectangle 51"/>
            <p:cNvSpPr>
              <a:spLocks noChangeArrowheads="1"/>
            </p:cNvSpPr>
            <p:nvPr/>
          </p:nvSpPr>
          <p:spPr bwMode="auto">
            <a:xfrm>
              <a:off x="1056" y="1344"/>
              <a:ext cx="253"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p>
              <a:pPr algn="ctr">
                <a:buFont typeface="Wingdings" pitchFamily="2" charset="2"/>
                <a:buNone/>
              </a:pPr>
              <a:r>
                <a:rPr lang="en-US" sz="2400" b="1">
                  <a:sym typeface="Symbol" pitchFamily="18" charset="2"/>
                </a:rPr>
                <a:t></a:t>
              </a:r>
            </a:p>
          </p:txBody>
        </p:sp>
        <p:sp>
          <p:nvSpPr>
            <p:cNvPr id="133137" name="Rectangle 52"/>
            <p:cNvSpPr>
              <a:spLocks noChangeArrowheads="1"/>
            </p:cNvSpPr>
            <p:nvPr/>
          </p:nvSpPr>
          <p:spPr bwMode="auto">
            <a:xfrm>
              <a:off x="1056" y="1680"/>
              <a:ext cx="253"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pPr algn="ctr">
                <a:buFont typeface="Wingdings" pitchFamily="2" charset="2"/>
                <a:buNone/>
              </a:pPr>
              <a:r>
                <a:rPr lang="en-US" sz="2400" b="1">
                  <a:sym typeface="Symbol" pitchFamily="18" charset="2"/>
                </a:rPr>
                <a:t></a:t>
              </a:r>
            </a:p>
          </p:txBody>
        </p:sp>
        <p:sp>
          <p:nvSpPr>
            <p:cNvPr id="133138" name="Rectangle 53"/>
            <p:cNvSpPr>
              <a:spLocks noChangeArrowheads="1"/>
            </p:cNvSpPr>
            <p:nvPr/>
          </p:nvSpPr>
          <p:spPr bwMode="auto">
            <a:xfrm>
              <a:off x="1056" y="2112"/>
              <a:ext cx="253"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pPr algn="ctr">
                <a:buFont typeface="Wingdings" pitchFamily="2" charset="2"/>
                <a:buNone/>
              </a:pPr>
              <a:r>
                <a:rPr lang="en-US" sz="2400" b="1">
                  <a:sym typeface="Symbol" pitchFamily="18" charset="2"/>
                </a:rPr>
                <a:t></a:t>
              </a:r>
            </a:p>
          </p:txBody>
        </p:sp>
        <p:sp>
          <p:nvSpPr>
            <p:cNvPr id="133139" name="Rectangle 54"/>
            <p:cNvSpPr>
              <a:spLocks noChangeArrowheads="1"/>
            </p:cNvSpPr>
            <p:nvPr/>
          </p:nvSpPr>
          <p:spPr bwMode="auto">
            <a:xfrm>
              <a:off x="4201" y="1220"/>
              <a:ext cx="253"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pPr algn="ctr">
                <a:buFont typeface="Wingdings" pitchFamily="2" charset="2"/>
                <a:buNone/>
              </a:pPr>
              <a:r>
                <a:rPr lang="en-US" sz="2400" b="1">
                  <a:sym typeface="Symbol" pitchFamily="18" charset="2"/>
                </a:rPr>
                <a:t></a:t>
              </a:r>
            </a:p>
          </p:txBody>
        </p:sp>
        <p:sp>
          <p:nvSpPr>
            <p:cNvPr id="133140" name="Rectangle 55"/>
            <p:cNvSpPr>
              <a:spLocks noChangeArrowheads="1"/>
            </p:cNvSpPr>
            <p:nvPr/>
          </p:nvSpPr>
          <p:spPr bwMode="auto">
            <a:xfrm>
              <a:off x="4224" y="1488"/>
              <a:ext cx="253"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pPr algn="ctr">
                <a:buFont typeface="Wingdings" pitchFamily="2" charset="2"/>
                <a:buNone/>
              </a:pPr>
              <a:r>
                <a:rPr lang="en-US" sz="2400" b="1">
                  <a:sym typeface="Symbol" pitchFamily="18" charset="2"/>
                </a:rPr>
                <a:t></a:t>
              </a:r>
            </a:p>
          </p:txBody>
        </p:sp>
        <p:sp>
          <p:nvSpPr>
            <p:cNvPr id="133141" name="Rectangle 56"/>
            <p:cNvSpPr>
              <a:spLocks noChangeArrowheads="1"/>
            </p:cNvSpPr>
            <p:nvPr/>
          </p:nvSpPr>
          <p:spPr bwMode="auto">
            <a:xfrm>
              <a:off x="4224" y="1728"/>
              <a:ext cx="253"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pPr algn="ctr">
                <a:buFont typeface="Wingdings" pitchFamily="2" charset="2"/>
                <a:buNone/>
              </a:pPr>
              <a:r>
                <a:rPr lang="en-US" sz="2400" b="1">
                  <a:sym typeface="Symbol" pitchFamily="18" charset="2"/>
                </a:rPr>
                <a:t></a:t>
              </a:r>
            </a:p>
          </p:txBody>
        </p:sp>
        <p:sp>
          <p:nvSpPr>
            <p:cNvPr id="133142" name="Text Box 80"/>
            <p:cNvSpPr txBox="1">
              <a:spLocks noChangeArrowheads="1"/>
            </p:cNvSpPr>
            <p:nvPr/>
          </p:nvSpPr>
          <p:spPr bwMode="auto">
            <a:xfrm>
              <a:off x="336" y="2064"/>
              <a:ext cx="533" cy="4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000"/>
                <a:t>super</a:t>
              </a:r>
            </a:p>
            <a:p>
              <a:pPr algn="ctr">
                <a:buFont typeface="Wingdings" pitchFamily="2" charset="2"/>
                <a:buNone/>
              </a:pPr>
              <a:r>
                <a:rPr lang="en-US" sz="2000"/>
                <a:t>source</a:t>
              </a:r>
            </a:p>
          </p:txBody>
        </p:sp>
        <p:sp>
          <p:nvSpPr>
            <p:cNvPr id="133143" name="Text Box 81"/>
            <p:cNvSpPr txBox="1">
              <a:spLocks noChangeArrowheads="1"/>
            </p:cNvSpPr>
            <p:nvPr/>
          </p:nvSpPr>
          <p:spPr bwMode="auto">
            <a:xfrm>
              <a:off x="4800" y="2016"/>
              <a:ext cx="462" cy="4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000"/>
                <a:t>super</a:t>
              </a:r>
            </a:p>
            <a:p>
              <a:pPr algn="ctr">
                <a:buFont typeface="Wingdings" pitchFamily="2" charset="2"/>
                <a:buNone/>
              </a:pPr>
              <a:r>
                <a:rPr lang="en-US" sz="2000"/>
                <a:t>sink</a:t>
              </a:r>
            </a:p>
          </p:txBody>
        </p:sp>
      </p:grpSp>
      <p:sp>
        <p:nvSpPr>
          <p:cNvPr id="223315" name="Text Box 83"/>
          <p:cNvSpPr txBox="1">
            <a:spLocks noChangeArrowheads="1"/>
          </p:cNvSpPr>
          <p:nvPr/>
        </p:nvSpPr>
        <p:spPr bwMode="auto">
          <a:xfrm>
            <a:off x="2133600" y="990600"/>
            <a:ext cx="4979988"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400"/>
              <a:t>Transform to single-source single-sink:</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129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23235"/>
                                        </p:tgtEl>
                                        <p:attrNameLst>
                                          <p:attrName>style.visibility</p:attrName>
                                        </p:attrNameLst>
                                      </p:cBhvr>
                                      <p:to>
                                        <p:strVal val="visible"/>
                                      </p:to>
                                    </p:set>
                                    <p:anim calcmode="lin" valueType="num">
                                      <p:cBhvr>
                                        <p:cTn id="7" dur="500" fill="hold"/>
                                        <p:tgtEl>
                                          <p:spTgt spid="223235"/>
                                        </p:tgtEl>
                                        <p:attrNameLst>
                                          <p:attrName>ppt_w</p:attrName>
                                        </p:attrNameLst>
                                      </p:cBhvr>
                                      <p:tavLst>
                                        <p:tav tm="0">
                                          <p:val>
                                            <p:fltVal val="0"/>
                                          </p:val>
                                        </p:tav>
                                        <p:tav tm="100000">
                                          <p:val>
                                            <p:strVal val="#ppt_w"/>
                                          </p:val>
                                        </p:tav>
                                      </p:tavLst>
                                    </p:anim>
                                    <p:anim calcmode="lin" valueType="num">
                                      <p:cBhvr>
                                        <p:cTn id="8" dur="500" fill="hold"/>
                                        <p:tgtEl>
                                          <p:spTgt spid="223235"/>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223309"/>
                                        </p:tgtEl>
                                        <p:attrNameLst>
                                          <p:attrName>style.visibility</p:attrName>
                                        </p:attrNameLst>
                                      </p:cBhvr>
                                      <p:to>
                                        <p:strVal val="visible"/>
                                      </p:to>
                                    </p:set>
                                    <p:animEffect transition="in" filter="wipe(up)">
                                      <p:cBhvr>
                                        <p:cTn id="12" dur="500"/>
                                        <p:tgtEl>
                                          <p:spTgt spid="2233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3315"/>
                                        </p:tgtEl>
                                        <p:attrNameLst>
                                          <p:attrName>style.visibility</p:attrName>
                                        </p:attrNameLst>
                                      </p:cBhvr>
                                      <p:to>
                                        <p:strVal val="visible"/>
                                      </p:to>
                                    </p:set>
                                    <p:animEffect transition="in" filter="wipe(left)">
                                      <p:cBhvr>
                                        <p:cTn id="17" dur="500"/>
                                        <p:tgtEl>
                                          <p:spTgt spid="223315"/>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223314"/>
                                        </p:tgtEl>
                                        <p:attrNameLst>
                                          <p:attrName>style.visibility</p:attrName>
                                        </p:attrNameLst>
                                      </p:cBhvr>
                                      <p:to>
                                        <p:strVal val="visible"/>
                                      </p:to>
                                    </p:set>
                                    <p:animEffect transition="in" filter="wipe(left)">
                                      <p:cBhvr>
                                        <p:cTn id="21" dur="500"/>
                                        <p:tgtEl>
                                          <p:spTgt spid="223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animBg="1" autoUpdateAnimBg="0"/>
      <p:bldP spid="223315" grpId="0" autoUpdateAnimBg="0"/>
    </p:bldLst>
  </p:timing>
</p:sld>
</file>

<file path=ppt/slides/slide1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2" name="Rectangle 4"/>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b="1" dirty="0" smtClean="0">
                <a:solidFill>
                  <a:schemeClr val="tx1"/>
                </a:solidFill>
                <a:latin typeface="Arial Rounded MT Bold" pitchFamily="34" charset="0"/>
              </a:rPr>
              <a:t>Applications</a:t>
            </a:r>
          </a:p>
        </p:txBody>
      </p:sp>
      <p:sp>
        <p:nvSpPr>
          <p:cNvPr id="222282" name="Text Box 74"/>
          <p:cNvSpPr txBox="1">
            <a:spLocks noChangeArrowheads="1"/>
          </p:cNvSpPr>
          <p:nvPr/>
        </p:nvSpPr>
        <p:spPr bwMode="auto">
          <a:xfrm>
            <a:off x="1981200" y="1066800"/>
            <a:ext cx="4800600" cy="4672013"/>
          </a:xfrm>
          <a:prstGeom prst="rect">
            <a:avLst/>
          </a:prstGeom>
          <a:noFill/>
          <a:ln>
            <a:noFill/>
          </a:ln>
          <a:effectLst/>
          <a:extLst>
            <a:ext uri="{909E8E84-426E-40DD-AFC4-6F175D3DCCD1}">
              <a14:hiddenFill xmlns:a14="http://schemas.microsoft.com/office/drawing/2010/main">
                <a:solidFill>
                  <a:srgbClr val="CC0000"/>
                </a:solidFill>
              </a14:hiddenFill>
            </a:ext>
            <a:ext uri="{91240B29-F687-4F45-9708-019B960494DF}">
              <a14:hiddenLine xmlns:a14="http://schemas.microsoft.com/office/drawing/2010/main" w="1905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marL="385763" indent="-385763">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nSpc>
                <a:spcPct val="120000"/>
              </a:lnSpc>
              <a:buFont typeface="Wingdings" pitchFamily="2" charset="2"/>
              <a:buChar char="§"/>
            </a:pPr>
            <a:r>
              <a:rPr lang="en-US" sz="2800" dirty="0"/>
              <a:t>Electrical circuits</a:t>
            </a:r>
          </a:p>
          <a:p>
            <a:pPr>
              <a:lnSpc>
                <a:spcPct val="120000"/>
              </a:lnSpc>
              <a:buFont typeface="Wingdings" pitchFamily="2" charset="2"/>
              <a:buChar char="§"/>
            </a:pPr>
            <a:r>
              <a:rPr lang="en-US" sz="2800" dirty="0"/>
              <a:t>Hydraulic systems</a:t>
            </a:r>
          </a:p>
          <a:p>
            <a:pPr>
              <a:lnSpc>
                <a:spcPct val="120000"/>
              </a:lnSpc>
              <a:buFont typeface="Wingdings" pitchFamily="2" charset="2"/>
              <a:buChar char="§"/>
            </a:pPr>
            <a:r>
              <a:rPr lang="en-US" sz="2800" dirty="0"/>
              <a:t>Traffic movements</a:t>
            </a:r>
          </a:p>
          <a:p>
            <a:pPr>
              <a:lnSpc>
                <a:spcPct val="120000"/>
              </a:lnSpc>
              <a:buFont typeface="Wingdings" pitchFamily="2" charset="2"/>
              <a:buChar char="§"/>
            </a:pPr>
            <a:r>
              <a:rPr lang="en-US" sz="2800" dirty="0"/>
              <a:t>Telecommunication networks</a:t>
            </a:r>
          </a:p>
          <a:p>
            <a:pPr>
              <a:lnSpc>
                <a:spcPct val="120000"/>
              </a:lnSpc>
              <a:buFont typeface="Wingdings" pitchFamily="2" charset="2"/>
              <a:buChar char="§"/>
            </a:pPr>
            <a:r>
              <a:rPr lang="en-US" sz="2800" dirty="0"/>
              <a:t>Freight transportation</a:t>
            </a:r>
          </a:p>
          <a:p>
            <a:pPr>
              <a:lnSpc>
                <a:spcPct val="120000"/>
              </a:lnSpc>
              <a:buFont typeface="Wingdings" pitchFamily="2" charset="2"/>
              <a:buChar char="§"/>
            </a:pPr>
            <a:r>
              <a:rPr lang="en-US" sz="2800" dirty="0"/>
              <a:t>Min-cost flow</a:t>
            </a:r>
          </a:p>
          <a:p>
            <a:pPr>
              <a:lnSpc>
                <a:spcPct val="120000"/>
              </a:lnSpc>
              <a:buFont typeface="Wingdings" pitchFamily="2" charset="2"/>
              <a:buChar char="§"/>
            </a:pPr>
            <a:r>
              <a:rPr lang="en-US" sz="2800" dirty="0"/>
              <a:t>Graph Matching</a:t>
            </a:r>
          </a:p>
          <a:p>
            <a:pPr>
              <a:lnSpc>
                <a:spcPct val="120000"/>
              </a:lnSpc>
              <a:buFont typeface="Wingdings" pitchFamily="2" charset="2"/>
              <a:buChar char="§"/>
            </a:pPr>
            <a:r>
              <a:rPr lang="en-US" sz="2800" dirty="0"/>
              <a:t>Matrix rounding</a:t>
            </a:r>
          </a:p>
          <a:p>
            <a:pPr>
              <a:lnSpc>
                <a:spcPct val="120000"/>
              </a:lnSpc>
              <a:buFont typeface="Wingdings" pitchFamily="2" charset="2"/>
              <a:buChar char="§"/>
            </a:pPr>
            <a:r>
              <a:rPr lang="en-US" sz="2800" dirty="0"/>
              <a:t>…</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22212"/>
                                        </p:tgtEl>
                                        <p:attrNameLst>
                                          <p:attrName>style.visibility</p:attrName>
                                        </p:attrNameLst>
                                      </p:cBhvr>
                                      <p:to>
                                        <p:strVal val="visible"/>
                                      </p:to>
                                    </p:set>
                                    <p:anim calcmode="lin" valueType="num">
                                      <p:cBhvr>
                                        <p:cTn id="7" dur="500" fill="hold"/>
                                        <p:tgtEl>
                                          <p:spTgt spid="222212"/>
                                        </p:tgtEl>
                                        <p:attrNameLst>
                                          <p:attrName>ppt_w</p:attrName>
                                        </p:attrNameLst>
                                      </p:cBhvr>
                                      <p:tavLst>
                                        <p:tav tm="0">
                                          <p:val>
                                            <p:fltVal val="0"/>
                                          </p:val>
                                        </p:tav>
                                        <p:tav tm="100000">
                                          <p:val>
                                            <p:strVal val="#ppt_w"/>
                                          </p:val>
                                        </p:tav>
                                      </p:tavLst>
                                    </p:anim>
                                    <p:anim calcmode="lin" valueType="num">
                                      <p:cBhvr>
                                        <p:cTn id="8" dur="500" fill="hold"/>
                                        <p:tgtEl>
                                          <p:spTgt spid="222212"/>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250"/>
                                  </p:stCondLst>
                                  <p:childTnLst>
                                    <p:set>
                                      <p:cBhvr>
                                        <p:cTn id="11" dur="1" fill="hold">
                                          <p:stCondLst>
                                            <p:cond delay="0"/>
                                          </p:stCondLst>
                                        </p:cTn>
                                        <p:tgtEl>
                                          <p:spTgt spid="222282"/>
                                        </p:tgtEl>
                                        <p:attrNameLst>
                                          <p:attrName>style.visibility</p:attrName>
                                        </p:attrNameLst>
                                      </p:cBhvr>
                                      <p:to>
                                        <p:strVal val="visible"/>
                                      </p:to>
                                    </p:set>
                                    <p:animEffect transition="in" filter="wipe(up)">
                                      <p:cBhvr>
                                        <p:cTn id="12" dur="500"/>
                                        <p:tgtEl>
                                          <p:spTgt spid="222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2" grpId="0" animBg="1" autoUpdateAnimBg="0"/>
      <p:bldP spid="222282" grpId="0" autoUpdateAnimBg="0"/>
    </p:bldLst>
  </p:timing>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A Heuristic:  </a:t>
            </a:r>
            <a:r>
              <a:rPr lang="en-US" sz="2800" dirty="0" smtClean="0">
                <a:solidFill>
                  <a:srgbClr val="CC0000"/>
                </a:solidFill>
                <a:latin typeface="Arial Rounded MT Bold" pitchFamily="34" charset="0"/>
              </a:rPr>
              <a:t>flow composition by s-t path flows</a:t>
            </a:r>
          </a:p>
        </p:txBody>
      </p:sp>
      <p:grpSp>
        <p:nvGrpSpPr>
          <p:cNvPr id="226408" name="Group 104"/>
          <p:cNvGrpSpPr>
            <a:grpSpLocks/>
          </p:cNvGrpSpPr>
          <p:nvPr/>
        </p:nvGrpSpPr>
        <p:grpSpPr bwMode="auto">
          <a:xfrm>
            <a:off x="381000" y="762000"/>
            <a:ext cx="2368550" cy="1652588"/>
            <a:chOff x="144" y="480"/>
            <a:chExt cx="1492" cy="1041"/>
          </a:xfrm>
        </p:grpSpPr>
        <p:sp>
          <p:nvSpPr>
            <p:cNvPr id="135285" name="Freeform 20"/>
            <p:cNvSpPr>
              <a:spLocks/>
            </p:cNvSpPr>
            <p:nvPr/>
          </p:nvSpPr>
          <p:spPr bwMode="auto">
            <a:xfrm>
              <a:off x="871" y="706"/>
              <a:ext cx="1" cy="698"/>
            </a:xfrm>
            <a:custGeom>
              <a:avLst/>
              <a:gdLst>
                <a:gd name="T0" fmla="*/ 0 w 1"/>
                <a:gd name="T1" fmla="*/ 698 h 698"/>
                <a:gd name="T2" fmla="*/ 0 w 1"/>
                <a:gd name="T3" fmla="*/ 0 h 698"/>
                <a:gd name="T4" fmla="*/ 0 60000 65536"/>
                <a:gd name="T5" fmla="*/ 0 60000 65536"/>
              </a:gdLst>
              <a:ahLst/>
              <a:cxnLst>
                <a:cxn ang="T4">
                  <a:pos x="T0" y="T1"/>
                </a:cxn>
                <a:cxn ang="T5">
                  <a:pos x="T2" y="T3"/>
                </a:cxn>
              </a:cxnLst>
              <a:rect l="0" t="0" r="r" b="b"/>
              <a:pathLst>
                <a:path w="1" h="698">
                  <a:moveTo>
                    <a:pt x="0" y="69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endParaRPr lang="en-CA"/>
            </a:p>
          </p:txBody>
        </p:sp>
        <p:sp>
          <p:nvSpPr>
            <p:cNvPr id="135286" name="Freeform 21"/>
            <p:cNvSpPr>
              <a:spLocks/>
            </p:cNvSpPr>
            <p:nvPr/>
          </p:nvSpPr>
          <p:spPr bwMode="auto">
            <a:xfrm>
              <a:off x="274" y="652"/>
              <a:ext cx="515" cy="312"/>
            </a:xfrm>
            <a:custGeom>
              <a:avLst/>
              <a:gdLst>
                <a:gd name="T0" fmla="*/ 0 w 515"/>
                <a:gd name="T1" fmla="*/ 312 h 312"/>
                <a:gd name="T2" fmla="*/ 515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87" name="Freeform 22"/>
            <p:cNvSpPr>
              <a:spLocks/>
            </p:cNvSpPr>
            <p:nvPr/>
          </p:nvSpPr>
          <p:spPr bwMode="auto">
            <a:xfrm>
              <a:off x="268" y="984"/>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88" name="Freeform 23"/>
            <p:cNvSpPr>
              <a:spLocks/>
            </p:cNvSpPr>
            <p:nvPr/>
          </p:nvSpPr>
          <p:spPr bwMode="auto">
            <a:xfrm>
              <a:off x="898" y="605"/>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89" name="Freeform 24"/>
            <p:cNvSpPr>
              <a:spLocks/>
            </p:cNvSpPr>
            <p:nvPr/>
          </p:nvSpPr>
          <p:spPr bwMode="auto">
            <a:xfrm>
              <a:off x="850" y="1052"/>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90" name="Oval 25"/>
            <p:cNvSpPr>
              <a:spLocks noChangeArrowheads="1"/>
            </p:cNvSpPr>
            <p:nvPr/>
          </p:nvSpPr>
          <p:spPr bwMode="auto">
            <a:xfrm>
              <a:off x="720" y="129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5291" name="Oval 26"/>
            <p:cNvSpPr>
              <a:spLocks noChangeArrowheads="1"/>
            </p:cNvSpPr>
            <p:nvPr/>
          </p:nvSpPr>
          <p:spPr bwMode="auto">
            <a:xfrm>
              <a:off x="144" y="8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35292" name="Oval 27"/>
            <p:cNvSpPr>
              <a:spLocks noChangeArrowheads="1"/>
            </p:cNvSpPr>
            <p:nvPr/>
          </p:nvSpPr>
          <p:spPr bwMode="auto">
            <a:xfrm>
              <a:off x="768" y="480"/>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5293" name="Oval 28"/>
            <p:cNvSpPr>
              <a:spLocks noChangeArrowheads="1"/>
            </p:cNvSpPr>
            <p:nvPr/>
          </p:nvSpPr>
          <p:spPr bwMode="auto">
            <a:xfrm>
              <a:off x="1392" y="8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35294" name="Text Box 29"/>
            <p:cNvSpPr txBox="1">
              <a:spLocks noChangeArrowheads="1"/>
            </p:cNvSpPr>
            <p:nvPr/>
          </p:nvSpPr>
          <p:spPr bwMode="auto">
            <a:xfrm>
              <a:off x="324" y="57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/4</a:t>
              </a:r>
            </a:p>
          </p:txBody>
        </p:sp>
        <p:sp>
          <p:nvSpPr>
            <p:cNvPr id="135295" name="Text Box 30"/>
            <p:cNvSpPr txBox="1">
              <a:spLocks noChangeArrowheads="1"/>
            </p:cNvSpPr>
            <p:nvPr/>
          </p:nvSpPr>
          <p:spPr bwMode="auto">
            <a:xfrm>
              <a:off x="1092" y="1200"/>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/7</a:t>
              </a:r>
            </a:p>
          </p:txBody>
        </p:sp>
        <p:sp>
          <p:nvSpPr>
            <p:cNvPr id="135296" name="Text Box 31"/>
            <p:cNvSpPr txBox="1">
              <a:spLocks noChangeArrowheads="1"/>
            </p:cNvSpPr>
            <p:nvPr/>
          </p:nvSpPr>
          <p:spPr bwMode="auto">
            <a:xfrm>
              <a:off x="1116" y="57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/5</a:t>
              </a:r>
            </a:p>
          </p:txBody>
        </p:sp>
        <p:sp>
          <p:nvSpPr>
            <p:cNvPr id="135297" name="Text Box 32"/>
            <p:cNvSpPr txBox="1">
              <a:spLocks noChangeArrowheads="1"/>
            </p:cNvSpPr>
            <p:nvPr/>
          </p:nvSpPr>
          <p:spPr bwMode="auto">
            <a:xfrm>
              <a:off x="288" y="1152"/>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/7</a:t>
              </a:r>
            </a:p>
          </p:txBody>
        </p:sp>
        <p:sp>
          <p:nvSpPr>
            <p:cNvPr id="135298" name="Text Box 33"/>
            <p:cNvSpPr txBox="1">
              <a:spLocks noChangeArrowheads="1"/>
            </p:cNvSpPr>
            <p:nvPr/>
          </p:nvSpPr>
          <p:spPr bwMode="auto">
            <a:xfrm>
              <a:off x="576" y="864"/>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/3</a:t>
              </a:r>
            </a:p>
          </p:txBody>
        </p:sp>
      </p:grpSp>
      <p:grpSp>
        <p:nvGrpSpPr>
          <p:cNvPr id="226494" name="Group 190"/>
          <p:cNvGrpSpPr>
            <a:grpSpLocks/>
          </p:cNvGrpSpPr>
          <p:nvPr/>
        </p:nvGrpSpPr>
        <p:grpSpPr bwMode="auto">
          <a:xfrm>
            <a:off x="304800" y="2514600"/>
            <a:ext cx="2514600" cy="1828800"/>
            <a:chOff x="192" y="1584"/>
            <a:chExt cx="1584" cy="1152"/>
          </a:xfrm>
        </p:grpSpPr>
        <p:sp>
          <p:nvSpPr>
            <p:cNvPr id="135274" name="Rectangle 68"/>
            <p:cNvSpPr>
              <a:spLocks noChangeArrowheads="1"/>
            </p:cNvSpPr>
            <p:nvPr/>
          </p:nvSpPr>
          <p:spPr bwMode="auto">
            <a:xfrm>
              <a:off x="192" y="1584"/>
              <a:ext cx="1584" cy="1152"/>
            </a:xfrm>
            <a:prstGeom prst="rect">
              <a:avLst/>
            </a:prstGeom>
            <a:solidFill>
              <a:srgbClr val="FFCCCC"/>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35275" name="Freeform 49"/>
            <p:cNvSpPr>
              <a:spLocks/>
            </p:cNvSpPr>
            <p:nvPr/>
          </p:nvSpPr>
          <p:spPr bwMode="auto">
            <a:xfrm>
              <a:off x="967" y="1841"/>
              <a:ext cx="1" cy="698"/>
            </a:xfrm>
            <a:custGeom>
              <a:avLst/>
              <a:gdLst>
                <a:gd name="T0" fmla="*/ 0 w 1"/>
                <a:gd name="T1" fmla="*/ 698 h 698"/>
                <a:gd name="T2" fmla="*/ 0 w 1"/>
                <a:gd name="T3" fmla="*/ 0 h 698"/>
                <a:gd name="T4" fmla="*/ 0 60000 65536"/>
                <a:gd name="T5" fmla="*/ 0 60000 65536"/>
              </a:gdLst>
              <a:ahLst/>
              <a:cxnLst>
                <a:cxn ang="T4">
                  <a:pos x="T0" y="T1"/>
                </a:cxn>
                <a:cxn ang="T5">
                  <a:pos x="T2" y="T3"/>
                </a:cxn>
              </a:cxnLst>
              <a:rect l="0" t="0" r="r" b="b"/>
              <a:pathLst>
                <a:path w="1" h="698">
                  <a:moveTo>
                    <a:pt x="0" y="69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endParaRPr lang="en-CA"/>
            </a:p>
          </p:txBody>
        </p:sp>
        <p:sp>
          <p:nvSpPr>
            <p:cNvPr id="135276" name="Freeform 50"/>
            <p:cNvSpPr>
              <a:spLocks/>
            </p:cNvSpPr>
            <p:nvPr/>
          </p:nvSpPr>
          <p:spPr bwMode="auto">
            <a:xfrm>
              <a:off x="364" y="2119"/>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77" name="Freeform 51"/>
            <p:cNvSpPr>
              <a:spLocks/>
            </p:cNvSpPr>
            <p:nvPr/>
          </p:nvSpPr>
          <p:spPr bwMode="auto">
            <a:xfrm>
              <a:off x="994" y="1740"/>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78" name="Oval 52"/>
            <p:cNvSpPr>
              <a:spLocks noChangeArrowheads="1"/>
            </p:cNvSpPr>
            <p:nvPr/>
          </p:nvSpPr>
          <p:spPr bwMode="auto">
            <a:xfrm>
              <a:off x="816" y="2431"/>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5279" name="Oval 53"/>
            <p:cNvSpPr>
              <a:spLocks noChangeArrowheads="1"/>
            </p:cNvSpPr>
            <p:nvPr/>
          </p:nvSpPr>
          <p:spPr bwMode="auto">
            <a:xfrm>
              <a:off x="240" y="1999"/>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5280" name="Oval 54"/>
            <p:cNvSpPr>
              <a:spLocks noChangeArrowheads="1"/>
            </p:cNvSpPr>
            <p:nvPr/>
          </p:nvSpPr>
          <p:spPr bwMode="auto">
            <a:xfrm>
              <a:off x="864" y="1615"/>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a</a:t>
              </a:r>
            </a:p>
          </p:txBody>
        </p:sp>
        <p:sp>
          <p:nvSpPr>
            <p:cNvPr id="135281" name="Oval 55"/>
            <p:cNvSpPr>
              <a:spLocks noChangeArrowheads="1"/>
            </p:cNvSpPr>
            <p:nvPr/>
          </p:nvSpPr>
          <p:spPr bwMode="auto">
            <a:xfrm>
              <a:off x="1488" y="1999"/>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35282" name="Text Box 56"/>
            <p:cNvSpPr txBox="1">
              <a:spLocks noChangeArrowheads="1"/>
            </p:cNvSpPr>
            <p:nvPr/>
          </p:nvSpPr>
          <p:spPr bwMode="auto">
            <a:xfrm>
              <a:off x="1268" y="1711"/>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endParaRPr lang="en-US" sz="1800" b="1"/>
            </a:p>
          </p:txBody>
        </p:sp>
        <p:sp>
          <p:nvSpPr>
            <p:cNvPr id="135283" name="Text Box 57"/>
            <p:cNvSpPr txBox="1">
              <a:spLocks noChangeArrowheads="1"/>
            </p:cNvSpPr>
            <p:nvPr/>
          </p:nvSpPr>
          <p:spPr bwMode="auto">
            <a:xfrm>
              <a:off x="476" y="2287"/>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endParaRPr lang="en-US" sz="1800" b="1"/>
            </a:p>
          </p:txBody>
        </p:sp>
        <p:sp>
          <p:nvSpPr>
            <p:cNvPr id="135284" name="Text Box 58"/>
            <p:cNvSpPr txBox="1">
              <a:spLocks noChangeArrowheads="1"/>
            </p:cNvSpPr>
            <p:nvPr/>
          </p:nvSpPr>
          <p:spPr bwMode="auto">
            <a:xfrm>
              <a:off x="779" y="2031"/>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endParaRPr lang="en-US" sz="1800" b="1"/>
            </a:p>
          </p:txBody>
        </p:sp>
      </p:grpSp>
      <p:grpSp>
        <p:nvGrpSpPr>
          <p:cNvPr id="226496" name="Group 192"/>
          <p:cNvGrpSpPr>
            <a:grpSpLocks/>
          </p:cNvGrpSpPr>
          <p:nvPr/>
        </p:nvGrpSpPr>
        <p:grpSpPr bwMode="auto">
          <a:xfrm>
            <a:off x="6016625" y="2514600"/>
            <a:ext cx="2974975" cy="1828800"/>
            <a:chOff x="3790" y="1584"/>
            <a:chExt cx="1874" cy="1152"/>
          </a:xfrm>
        </p:grpSpPr>
        <p:sp>
          <p:nvSpPr>
            <p:cNvPr id="135264" name="Rectangle 69"/>
            <p:cNvSpPr>
              <a:spLocks noChangeArrowheads="1"/>
            </p:cNvSpPr>
            <p:nvPr/>
          </p:nvSpPr>
          <p:spPr bwMode="auto">
            <a:xfrm>
              <a:off x="4080" y="1584"/>
              <a:ext cx="1584" cy="1152"/>
            </a:xfrm>
            <a:prstGeom prst="rect">
              <a:avLst/>
            </a:prstGeom>
            <a:solidFill>
              <a:srgbClr val="FFCCCC"/>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35265" name="Freeform 59"/>
            <p:cNvSpPr>
              <a:spLocks/>
            </p:cNvSpPr>
            <p:nvPr/>
          </p:nvSpPr>
          <p:spPr bwMode="auto">
            <a:xfrm>
              <a:off x="4252" y="2136"/>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66" name="Freeform 60"/>
            <p:cNvSpPr>
              <a:spLocks/>
            </p:cNvSpPr>
            <p:nvPr/>
          </p:nvSpPr>
          <p:spPr bwMode="auto">
            <a:xfrm>
              <a:off x="4834" y="2204"/>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67" name="Oval 61"/>
            <p:cNvSpPr>
              <a:spLocks noChangeArrowheads="1"/>
            </p:cNvSpPr>
            <p:nvPr/>
          </p:nvSpPr>
          <p:spPr bwMode="auto">
            <a:xfrm>
              <a:off x="4704" y="2448"/>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5268" name="Oval 62"/>
            <p:cNvSpPr>
              <a:spLocks noChangeArrowheads="1"/>
            </p:cNvSpPr>
            <p:nvPr/>
          </p:nvSpPr>
          <p:spPr bwMode="auto">
            <a:xfrm>
              <a:off x="4128" y="20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5269" name="Oval 63"/>
            <p:cNvSpPr>
              <a:spLocks noChangeArrowheads="1"/>
            </p:cNvSpPr>
            <p:nvPr/>
          </p:nvSpPr>
          <p:spPr bwMode="auto">
            <a:xfrm>
              <a:off x="4752" y="1632"/>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5270" name="Oval 64"/>
            <p:cNvSpPr>
              <a:spLocks noChangeArrowheads="1"/>
            </p:cNvSpPr>
            <p:nvPr/>
          </p:nvSpPr>
          <p:spPr bwMode="auto">
            <a:xfrm>
              <a:off x="5376" y="20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35271" name="Text Box 65"/>
            <p:cNvSpPr txBox="1">
              <a:spLocks noChangeArrowheads="1"/>
            </p:cNvSpPr>
            <p:nvPr/>
          </p:nvSpPr>
          <p:spPr bwMode="auto">
            <a:xfrm>
              <a:off x="5132" y="2352"/>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endParaRPr lang="en-US" sz="1800" b="1"/>
            </a:p>
          </p:txBody>
        </p:sp>
        <p:sp>
          <p:nvSpPr>
            <p:cNvPr id="135272" name="Text Box 66"/>
            <p:cNvSpPr txBox="1">
              <a:spLocks noChangeArrowheads="1"/>
            </p:cNvSpPr>
            <p:nvPr/>
          </p:nvSpPr>
          <p:spPr bwMode="auto">
            <a:xfrm>
              <a:off x="4364" y="2304"/>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endParaRPr lang="en-US" sz="1800" b="1"/>
            </a:p>
          </p:txBody>
        </p:sp>
        <p:sp>
          <p:nvSpPr>
            <p:cNvPr id="135273" name="Text Box 71"/>
            <p:cNvSpPr txBox="1">
              <a:spLocks noChangeArrowheads="1"/>
            </p:cNvSpPr>
            <p:nvPr/>
          </p:nvSpPr>
          <p:spPr bwMode="auto">
            <a:xfrm>
              <a:off x="3790" y="1968"/>
              <a:ext cx="246"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800" b="1" dirty="0"/>
                <a:t>+</a:t>
              </a:r>
            </a:p>
          </p:txBody>
        </p:sp>
      </p:grpSp>
      <p:grpSp>
        <p:nvGrpSpPr>
          <p:cNvPr id="226411" name="Group 107"/>
          <p:cNvGrpSpPr>
            <a:grpSpLocks/>
          </p:cNvGrpSpPr>
          <p:nvPr/>
        </p:nvGrpSpPr>
        <p:grpSpPr bwMode="auto">
          <a:xfrm>
            <a:off x="3581400" y="762000"/>
            <a:ext cx="2368550" cy="1652588"/>
            <a:chOff x="3996" y="480"/>
            <a:chExt cx="1492" cy="1041"/>
          </a:xfrm>
        </p:grpSpPr>
        <p:sp>
          <p:nvSpPr>
            <p:cNvPr id="135250" name="Freeform 108"/>
            <p:cNvSpPr>
              <a:spLocks/>
            </p:cNvSpPr>
            <p:nvPr/>
          </p:nvSpPr>
          <p:spPr bwMode="auto">
            <a:xfrm>
              <a:off x="4723" y="706"/>
              <a:ext cx="1" cy="698"/>
            </a:xfrm>
            <a:custGeom>
              <a:avLst/>
              <a:gdLst>
                <a:gd name="T0" fmla="*/ 0 w 1"/>
                <a:gd name="T1" fmla="*/ 698 h 698"/>
                <a:gd name="T2" fmla="*/ 0 w 1"/>
                <a:gd name="T3" fmla="*/ 0 h 698"/>
                <a:gd name="T4" fmla="*/ 0 60000 65536"/>
                <a:gd name="T5" fmla="*/ 0 60000 65536"/>
              </a:gdLst>
              <a:ahLst/>
              <a:cxnLst>
                <a:cxn ang="T4">
                  <a:pos x="T0" y="T1"/>
                </a:cxn>
                <a:cxn ang="T5">
                  <a:pos x="T2" y="T3"/>
                </a:cxn>
              </a:cxnLst>
              <a:rect l="0" t="0" r="r" b="b"/>
              <a:pathLst>
                <a:path w="1" h="698">
                  <a:moveTo>
                    <a:pt x="0" y="69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endParaRPr lang="en-CA"/>
            </a:p>
          </p:txBody>
        </p:sp>
        <p:sp>
          <p:nvSpPr>
            <p:cNvPr id="135251" name="Freeform 109"/>
            <p:cNvSpPr>
              <a:spLocks/>
            </p:cNvSpPr>
            <p:nvPr/>
          </p:nvSpPr>
          <p:spPr bwMode="auto">
            <a:xfrm>
              <a:off x="4126" y="652"/>
              <a:ext cx="515" cy="312"/>
            </a:xfrm>
            <a:custGeom>
              <a:avLst/>
              <a:gdLst>
                <a:gd name="T0" fmla="*/ 0 w 515"/>
                <a:gd name="T1" fmla="*/ 312 h 312"/>
                <a:gd name="T2" fmla="*/ 515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52" name="Freeform 110"/>
            <p:cNvSpPr>
              <a:spLocks/>
            </p:cNvSpPr>
            <p:nvPr/>
          </p:nvSpPr>
          <p:spPr bwMode="auto">
            <a:xfrm>
              <a:off x="4120" y="984"/>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53" name="Freeform 111"/>
            <p:cNvSpPr>
              <a:spLocks/>
            </p:cNvSpPr>
            <p:nvPr/>
          </p:nvSpPr>
          <p:spPr bwMode="auto">
            <a:xfrm>
              <a:off x="4750" y="605"/>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54" name="Freeform 112"/>
            <p:cNvSpPr>
              <a:spLocks/>
            </p:cNvSpPr>
            <p:nvPr/>
          </p:nvSpPr>
          <p:spPr bwMode="auto">
            <a:xfrm>
              <a:off x="4702" y="1052"/>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55" name="Oval 113"/>
            <p:cNvSpPr>
              <a:spLocks noChangeArrowheads="1"/>
            </p:cNvSpPr>
            <p:nvPr/>
          </p:nvSpPr>
          <p:spPr bwMode="auto">
            <a:xfrm>
              <a:off x="4572" y="129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5256" name="Oval 114"/>
            <p:cNvSpPr>
              <a:spLocks noChangeArrowheads="1"/>
            </p:cNvSpPr>
            <p:nvPr/>
          </p:nvSpPr>
          <p:spPr bwMode="auto">
            <a:xfrm>
              <a:off x="3996" y="8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5257" name="Oval 115"/>
            <p:cNvSpPr>
              <a:spLocks noChangeArrowheads="1"/>
            </p:cNvSpPr>
            <p:nvPr/>
          </p:nvSpPr>
          <p:spPr bwMode="auto">
            <a:xfrm>
              <a:off x="4620" y="480"/>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5258" name="Oval 116"/>
            <p:cNvSpPr>
              <a:spLocks noChangeArrowheads="1"/>
            </p:cNvSpPr>
            <p:nvPr/>
          </p:nvSpPr>
          <p:spPr bwMode="auto">
            <a:xfrm>
              <a:off x="5244" y="8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35259" name="Text Box 117"/>
            <p:cNvSpPr txBox="1">
              <a:spLocks noChangeArrowheads="1"/>
            </p:cNvSpPr>
            <p:nvPr/>
          </p:nvSpPr>
          <p:spPr bwMode="auto">
            <a:xfrm>
              <a:off x="4176" y="57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/4</a:t>
              </a:r>
            </a:p>
          </p:txBody>
        </p:sp>
        <p:sp>
          <p:nvSpPr>
            <p:cNvPr id="135260" name="Text Box 118"/>
            <p:cNvSpPr txBox="1">
              <a:spLocks noChangeArrowheads="1"/>
            </p:cNvSpPr>
            <p:nvPr/>
          </p:nvSpPr>
          <p:spPr bwMode="auto">
            <a:xfrm>
              <a:off x="4944" y="1200"/>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/7</a:t>
              </a:r>
            </a:p>
          </p:txBody>
        </p:sp>
        <p:sp>
          <p:nvSpPr>
            <p:cNvPr id="135261" name="Text Box 119"/>
            <p:cNvSpPr txBox="1">
              <a:spLocks noChangeArrowheads="1"/>
            </p:cNvSpPr>
            <p:nvPr/>
          </p:nvSpPr>
          <p:spPr bwMode="auto">
            <a:xfrm>
              <a:off x="4968" y="57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r>
                <a:rPr lang="en-US" sz="1800" b="1"/>
                <a:t>/5</a:t>
              </a:r>
            </a:p>
          </p:txBody>
        </p:sp>
        <p:sp>
          <p:nvSpPr>
            <p:cNvPr id="135262" name="Text Box 120"/>
            <p:cNvSpPr txBox="1">
              <a:spLocks noChangeArrowheads="1"/>
            </p:cNvSpPr>
            <p:nvPr/>
          </p:nvSpPr>
          <p:spPr bwMode="auto">
            <a:xfrm>
              <a:off x="4140" y="1152"/>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r>
                <a:rPr lang="en-US" sz="1800" b="1"/>
                <a:t>/7</a:t>
              </a:r>
            </a:p>
          </p:txBody>
        </p:sp>
        <p:sp>
          <p:nvSpPr>
            <p:cNvPr id="135263" name="Text Box 121"/>
            <p:cNvSpPr txBox="1">
              <a:spLocks noChangeArrowheads="1"/>
            </p:cNvSpPr>
            <p:nvPr/>
          </p:nvSpPr>
          <p:spPr bwMode="auto">
            <a:xfrm>
              <a:off x="4428" y="864"/>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r>
                <a:rPr lang="en-US" sz="1800" b="1"/>
                <a:t>/3</a:t>
              </a:r>
            </a:p>
          </p:txBody>
        </p:sp>
      </p:grpSp>
      <p:grpSp>
        <p:nvGrpSpPr>
          <p:cNvPr id="226495" name="Group 191"/>
          <p:cNvGrpSpPr>
            <a:grpSpLocks/>
          </p:cNvGrpSpPr>
          <p:nvPr/>
        </p:nvGrpSpPr>
        <p:grpSpPr bwMode="auto">
          <a:xfrm>
            <a:off x="2968625" y="2514600"/>
            <a:ext cx="2974975" cy="1828800"/>
            <a:chOff x="1870" y="1584"/>
            <a:chExt cx="1874" cy="1152"/>
          </a:xfrm>
        </p:grpSpPr>
        <p:sp>
          <p:nvSpPr>
            <p:cNvPr id="135240" name="Rectangle 67"/>
            <p:cNvSpPr>
              <a:spLocks noChangeArrowheads="1"/>
            </p:cNvSpPr>
            <p:nvPr/>
          </p:nvSpPr>
          <p:spPr bwMode="auto">
            <a:xfrm>
              <a:off x="2160" y="1584"/>
              <a:ext cx="1584" cy="1152"/>
            </a:xfrm>
            <a:prstGeom prst="rect">
              <a:avLst/>
            </a:prstGeom>
            <a:solidFill>
              <a:srgbClr val="FFCCCC"/>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35241" name="Freeform 41"/>
            <p:cNvSpPr>
              <a:spLocks/>
            </p:cNvSpPr>
            <p:nvPr/>
          </p:nvSpPr>
          <p:spPr bwMode="auto">
            <a:xfrm>
              <a:off x="2338" y="1804"/>
              <a:ext cx="515" cy="312"/>
            </a:xfrm>
            <a:custGeom>
              <a:avLst/>
              <a:gdLst>
                <a:gd name="T0" fmla="*/ 0 w 515"/>
                <a:gd name="T1" fmla="*/ 312 h 312"/>
                <a:gd name="T2" fmla="*/ 515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42" name="Freeform 42"/>
            <p:cNvSpPr>
              <a:spLocks/>
            </p:cNvSpPr>
            <p:nvPr/>
          </p:nvSpPr>
          <p:spPr bwMode="auto">
            <a:xfrm>
              <a:off x="2962" y="1757"/>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43" name="Oval 43"/>
            <p:cNvSpPr>
              <a:spLocks noChangeArrowheads="1"/>
            </p:cNvSpPr>
            <p:nvPr/>
          </p:nvSpPr>
          <p:spPr bwMode="auto">
            <a:xfrm>
              <a:off x="2784" y="2448"/>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5244" name="Oval 44"/>
            <p:cNvSpPr>
              <a:spLocks noChangeArrowheads="1"/>
            </p:cNvSpPr>
            <p:nvPr/>
          </p:nvSpPr>
          <p:spPr bwMode="auto">
            <a:xfrm>
              <a:off x="2208" y="20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35245" name="Oval 45"/>
            <p:cNvSpPr>
              <a:spLocks noChangeArrowheads="1"/>
            </p:cNvSpPr>
            <p:nvPr/>
          </p:nvSpPr>
          <p:spPr bwMode="auto">
            <a:xfrm>
              <a:off x="2832" y="1632"/>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5246" name="Oval 46"/>
            <p:cNvSpPr>
              <a:spLocks noChangeArrowheads="1"/>
            </p:cNvSpPr>
            <p:nvPr/>
          </p:nvSpPr>
          <p:spPr bwMode="auto">
            <a:xfrm>
              <a:off x="3456" y="20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35247" name="Text Box 47"/>
            <p:cNvSpPr txBox="1">
              <a:spLocks noChangeArrowheads="1"/>
            </p:cNvSpPr>
            <p:nvPr/>
          </p:nvSpPr>
          <p:spPr bwMode="auto">
            <a:xfrm>
              <a:off x="2444" y="1728"/>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endParaRPr lang="en-US" sz="1800" b="1"/>
            </a:p>
          </p:txBody>
        </p:sp>
        <p:sp>
          <p:nvSpPr>
            <p:cNvPr id="135248" name="Text Box 48"/>
            <p:cNvSpPr txBox="1">
              <a:spLocks noChangeArrowheads="1"/>
            </p:cNvSpPr>
            <p:nvPr/>
          </p:nvSpPr>
          <p:spPr bwMode="auto">
            <a:xfrm>
              <a:off x="3236" y="1728"/>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endParaRPr lang="en-US" sz="1800" b="1"/>
            </a:p>
          </p:txBody>
        </p:sp>
        <p:sp>
          <p:nvSpPr>
            <p:cNvPr id="135249" name="Text Box 125"/>
            <p:cNvSpPr txBox="1">
              <a:spLocks noChangeArrowheads="1"/>
            </p:cNvSpPr>
            <p:nvPr/>
          </p:nvSpPr>
          <p:spPr bwMode="auto">
            <a:xfrm>
              <a:off x="1870" y="2016"/>
              <a:ext cx="246"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800" b="1" dirty="0"/>
                <a:t>+</a:t>
              </a:r>
            </a:p>
          </p:txBody>
        </p:sp>
      </p:grpSp>
      <p:grpSp>
        <p:nvGrpSpPr>
          <p:cNvPr id="226430" name="Group 126"/>
          <p:cNvGrpSpPr>
            <a:grpSpLocks/>
          </p:cNvGrpSpPr>
          <p:nvPr/>
        </p:nvGrpSpPr>
        <p:grpSpPr bwMode="auto">
          <a:xfrm>
            <a:off x="6553200" y="762000"/>
            <a:ext cx="2368550" cy="1652588"/>
            <a:chOff x="3996" y="480"/>
            <a:chExt cx="1492" cy="1041"/>
          </a:xfrm>
        </p:grpSpPr>
        <p:sp>
          <p:nvSpPr>
            <p:cNvPr id="135226" name="Freeform 127"/>
            <p:cNvSpPr>
              <a:spLocks/>
            </p:cNvSpPr>
            <p:nvPr/>
          </p:nvSpPr>
          <p:spPr bwMode="auto">
            <a:xfrm>
              <a:off x="4723" y="706"/>
              <a:ext cx="1" cy="698"/>
            </a:xfrm>
            <a:custGeom>
              <a:avLst/>
              <a:gdLst>
                <a:gd name="T0" fmla="*/ 0 w 1"/>
                <a:gd name="T1" fmla="*/ 698 h 698"/>
                <a:gd name="T2" fmla="*/ 0 w 1"/>
                <a:gd name="T3" fmla="*/ 0 h 698"/>
                <a:gd name="T4" fmla="*/ 0 60000 65536"/>
                <a:gd name="T5" fmla="*/ 0 60000 65536"/>
              </a:gdLst>
              <a:ahLst/>
              <a:cxnLst>
                <a:cxn ang="T4">
                  <a:pos x="T0" y="T1"/>
                </a:cxn>
                <a:cxn ang="T5">
                  <a:pos x="T2" y="T3"/>
                </a:cxn>
              </a:cxnLst>
              <a:rect l="0" t="0" r="r" b="b"/>
              <a:pathLst>
                <a:path w="1" h="698">
                  <a:moveTo>
                    <a:pt x="0" y="69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endParaRPr lang="en-CA"/>
            </a:p>
          </p:txBody>
        </p:sp>
        <p:sp>
          <p:nvSpPr>
            <p:cNvPr id="135227" name="Freeform 128"/>
            <p:cNvSpPr>
              <a:spLocks/>
            </p:cNvSpPr>
            <p:nvPr/>
          </p:nvSpPr>
          <p:spPr bwMode="auto">
            <a:xfrm>
              <a:off x="4126" y="652"/>
              <a:ext cx="515" cy="312"/>
            </a:xfrm>
            <a:custGeom>
              <a:avLst/>
              <a:gdLst>
                <a:gd name="T0" fmla="*/ 0 w 515"/>
                <a:gd name="T1" fmla="*/ 312 h 312"/>
                <a:gd name="T2" fmla="*/ 515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28" name="Freeform 129"/>
            <p:cNvSpPr>
              <a:spLocks/>
            </p:cNvSpPr>
            <p:nvPr/>
          </p:nvSpPr>
          <p:spPr bwMode="auto">
            <a:xfrm>
              <a:off x="4120" y="984"/>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29" name="Freeform 130"/>
            <p:cNvSpPr>
              <a:spLocks/>
            </p:cNvSpPr>
            <p:nvPr/>
          </p:nvSpPr>
          <p:spPr bwMode="auto">
            <a:xfrm>
              <a:off x="4750" y="605"/>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30" name="Freeform 131"/>
            <p:cNvSpPr>
              <a:spLocks/>
            </p:cNvSpPr>
            <p:nvPr/>
          </p:nvSpPr>
          <p:spPr bwMode="auto">
            <a:xfrm>
              <a:off x="4702" y="1052"/>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31" name="Oval 132"/>
            <p:cNvSpPr>
              <a:spLocks noChangeArrowheads="1"/>
            </p:cNvSpPr>
            <p:nvPr/>
          </p:nvSpPr>
          <p:spPr bwMode="auto">
            <a:xfrm>
              <a:off x="4572" y="129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b</a:t>
              </a:r>
            </a:p>
          </p:txBody>
        </p:sp>
        <p:sp>
          <p:nvSpPr>
            <p:cNvPr id="135232" name="Oval 133"/>
            <p:cNvSpPr>
              <a:spLocks noChangeArrowheads="1"/>
            </p:cNvSpPr>
            <p:nvPr/>
          </p:nvSpPr>
          <p:spPr bwMode="auto">
            <a:xfrm>
              <a:off x="3996" y="8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35233" name="Oval 134"/>
            <p:cNvSpPr>
              <a:spLocks noChangeArrowheads="1"/>
            </p:cNvSpPr>
            <p:nvPr/>
          </p:nvSpPr>
          <p:spPr bwMode="auto">
            <a:xfrm>
              <a:off x="4620" y="480"/>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5234" name="Oval 135"/>
            <p:cNvSpPr>
              <a:spLocks noChangeArrowheads="1"/>
            </p:cNvSpPr>
            <p:nvPr/>
          </p:nvSpPr>
          <p:spPr bwMode="auto">
            <a:xfrm>
              <a:off x="5244" y="8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35235" name="Text Box 136"/>
            <p:cNvSpPr txBox="1">
              <a:spLocks noChangeArrowheads="1"/>
            </p:cNvSpPr>
            <p:nvPr/>
          </p:nvSpPr>
          <p:spPr bwMode="auto">
            <a:xfrm>
              <a:off x="4176" y="57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r>
                <a:rPr lang="en-US" sz="1800" b="1"/>
                <a:t>/4</a:t>
              </a:r>
            </a:p>
          </p:txBody>
        </p:sp>
        <p:sp>
          <p:nvSpPr>
            <p:cNvPr id="135236" name="Text Box 137"/>
            <p:cNvSpPr txBox="1">
              <a:spLocks noChangeArrowheads="1"/>
            </p:cNvSpPr>
            <p:nvPr/>
          </p:nvSpPr>
          <p:spPr bwMode="auto">
            <a:xfrm>
              <a:off x="4944" y="1200"/>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/7</a:t>
              </a:r>
            </a:p>
          </p:txBody>
        </p:sp>
        <p:sp>
          <p:nvSpPr>
            <p:cNvPr id="135237" name="Text Box 138"/>
            <p:cNvSpPr txBox="1">
              <a:spLocks noChangeArrowheads="1"/>
            </p:cNvSpPr>
            <p:nvPr/>
          </p:nvSpPr>
          <p:spPr bwMode="auto">
            <a:xfrm>
              <a:off x="4968" y="57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a:t>
              </a:r>
              <a:r>
                <a:rPr lang="en-US" sz="1800" b="1"/>
                <a:t>/5</a:t>
              </a:r>
            </a:p>
          </p:txBody>
        </p:sp>
        <p:sp>
          <p:nvSpPr>
            <p:cNvPr id="135238" name="Text Box 139"/>
            <p:cNvSpPr txBox="1">
              <a:spLocks noChangeArrowheads="1"/>
            </p:cNvSpPr>
            <p:nvPr/>
          </p:nvSpPr>
          <p:spPr bwMode="auto">
            <a:xfrm>
              <a:off x="4140" y="1152"/>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r>
                <a:rPr lang="en-US" sz="1800" b="1"/>
                <a:t>/7</a:t>
              </a:r>
            </a:p>
          </p:txBody>
        </p:sp>
        <p:sp>
          <p:nvSpPr>
            <p:cNvPr id="135239" name="Text Box 140"/>
            <p:cNvSpPr txBox="1">
              <a:spLocks noChangeArrowheads="1"/>
            </p:cNvSpPr>
            <p:nvPr/>
          </p:nvSpPr>
          <p:spPr bwMode="auto">
            <a:xfrm>
              <a:off x="4428" y="864"/>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r>
                <a:rPr lang="en-US" sz="1800" b="1"/>
                <a:t>/3</a:t>
              </a:r>
            </a:p>
          </p:txBody>
        </p:sp>
      </p:grpSp>
      <p:grpSp>
        <p:nvGrpSpPr>
          <p:cNvPr id="226477" name="Group 173"/>
          <p:cNvGrpSpPr>
            <a:grpSpLocks/>
          </p:cNvGrpSpPr>
          <p:nvPr/>
        </p:nvGrpSpPr>
        <p:grpSpPr bwMode="auto">
          <a:xfrm>
            <a:off x="381000" y="4572000"/>
            <a:ext cx="2368550" cy="2114550"/>
            <a:chOff x="384" y="2832"/>
            <a:chExt cx="1492" cy="1332"/>
          </a:xfrm>
        </p:grpSpPr>
        <p:sp>
          <p:nvSpPr>
            <p:cNvPr id="135211" name="Freeform 142"/>
            <p:cNvSpPr>
              <a:spLocks/>
            </p:cNvSpPr>
            <p:nvPr/>
          </p:nvSpPr>
          <p:spPr bwMode="auto">
            <a:xfrm>
              <a:off x="1111" y="3058"/>
              <a:ext cx="1" cy="698"/>
            </a:xfrm>
            <a:custGeom>
              <a:avLst/>
              <a:gdLst>
                <a:gd name="T0" fmla="*/ 0 w 1"/>
                <a:gd name="T1" fmla="*/ 698 h 698"/>
                <a:gd name="T2" fmla="*/ 0 w 1"/>
                <a:gd name="T3" fmla="*/ 0 h 698"/>
                <a:gd name="T4" fmla="*/ 0 60000 65536"/>
                <a:gd name="T5" fmla="*/ 0 60000 65536"/>
              </a:gdLst>
              <a:ahLst/>
              <a:cxnLst>
                <a:cxn ang="T4">
                  <a:pos x="T0" y="T1"/>
                </a:cxn>
                <a:cxn ang="T5">
                  <a:pos x="T2" y="T3"/>
                </a:cxn>
              </a:cxnLst>
              <a:rect l="0" t="0" r="r" b="b"/>
              <a:pathLst>
                <a:path w="1" h="698">
                  <a:moveTo>
                    <a:pt x="0" y="69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endParaRPr lang="en-CA"/>
            </a:p>
          </p:txBody>
        </p:sp>
        <p:sp>
          <p:nvSpPr>
            <p:cNvPr id="135212" name="Freeform 143"/>
            <p:cNvSpPr>
              <a:spLocks/>
            </p:cNvSpPr>
            <p:nvPr/>
          </p:nvSpPr>
          <p:spPr bwMode="auto">
            <a:xfrm>
              <a:off x="514" y="3004"/>
              <a:ext cx="515" cy="312"/>
            </a:xfrm>
            <a:custGeom>
              <a:avLst/>
              <a:gdLst>
                <a:gd name="T0" fmla="*/ 0 w 515"/>
                <a:gd name="T1" fmla="*/ 312 h 312"/>
                <a:gd name="T2" fmla="*/ 515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13" name="Freeform 144"/>
            <p:cNvSpPr>
              <a:spLocks/>
            </p:cNvSpPr>
            <p:nvPr/>
          </p:nvSpPr>
          <p:spPr bwMode="auto">
            <a:xfrm>
              <a:off x="508" y="3336"/>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14" name="Freeform 145"/>
            <p:cNvSpPr>
              <a:spLocks/>
            </p:cNvSpPr>
            <p:nvPr/>
          </p:nvSpPr>
          <p:spPr bwMode="auto">
            <a:xfrm>
              <a:off x="1138" y="2957"/>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15" name="Freeform 146"/>
            <p:cNvSpPr>
              <a:spLocks/>
            </p:cNvSpPr>
            <p:nvPr/>
          </p:nvSpPr>
          <p:spPr bwMode="auto">
            <a:xfrm>
              <a:off x="1090" y="3404"/>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16" name="Oval 147"/>
            <p:cNvSpPr>
              <a:spLocks noChangeArrowheads="1"/>
            </p:cNvSpPr>
            <p:nvPr/>
          </p:nvSpPr>
          <p:spPr bwMode="auto">
            <a:xfrm>
              <a:off x="960" y="3648"/>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5217" name="Oval 148"/>
            <p:cNvSpPr>
              <a:spLocks noChangeArrowheads="1"/>
            </p:cNvSpPr>
            <p:nvPr/>
          </p:nvSpPr>
          <p:spPr bwMode="auto">
            <a:xfrm>
              <a:off x="384" y="32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35218" name="Oval 149"/>
            <p:cNvSpPr>
              <a:spLocks noChangeArrowheads="1"/>
            </p:cNvSpPr>
            <p:nvPr/>
          </p:nvSpPr>
          <p:spPr bwMode="auto">
            <a:xfrm>
              <a:off x="1008" y="2832"/>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5219" name="Oval 150"/>
            <p:cNvSpPr>
              <a:spLocks noChangeArrowheads="1"/>
            </p:cNvSpPr>
            <p:nvPr/>
          </p:nvSpPr>
          <p:spPr bwMode="auto">
            <a:xfrm>
              <a:off x="1632" y="32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35220" name="Text Box 151"/>
            <p:cNvSpPr txBox="1">
              <a:spLocks noChangeArrowheads="1"/>
            </p:cNvSpPr>
            <p:nvPr/>
          </p:nvSpPr>
          <p:spPr bwMode="auto">
            <a:xfrm>
              <a:off x="564" y="2928"/>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r>
                <a:rPr lang="en-US" sz="1800" b="1"/>
                <a:t>/4</a:t>
              </a:r>
            </a:p>
          </p:txBody>
        </p:sp>
        <p:sp>
          <p:nvSpPr>
            <p:cNvPr id="135221" name="Text Box 152"/>
            <p:cNvSpPr txBox="1">
              <a:spLocks noChangeArrowheads="1"/>
            </p:cNvSpPr>
            <p:nvPr/>
          </p:nvSpPr>
          <p:spPr bwMode="auto">
            <a:xfrm>
              <a:off x="1332" y="3552"/>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/7</a:t>
              </a:r>
            </a:p>
          </p:txBody>
        </p:sp>
        <p:sp>
          <p:nvSpPr>
            <p:cNvPr id="135222" name="Text Box 153"/>
            <p:cNvSpPr txBox="1">
              <a:spLocks noChangeArrowheads="1"/>
            </p:cNvSpPr>
            <p:nvPr/>
          </p:nvSpPr>
          <p:spPr bwMode="auto">
            <a:xfrm>
              <a:off x="1356" y="2928"/>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a:t>
              </a:r>
              <a:r>
                <a:rPr lang="en-US" sz="1800" b="1"/>
                <a:t>/5</a:t>
              </a:r>
            </a:p>
          </p:txBody>
        </p:sp>
        <p:sp>
          <p:nvSpPr>
            <p:cNvPr id="135223" name="Text Box 154"/>
            <p:cNvSpPr txBox="1">
              <a:spLocks noChangeArrowheads="1"/>
            </p:cNvSpPr>
            <p:nvPr/>
          </p:nvSpPr>
          <p:spPr bwMode="auto">
            <a:xfrm>
              <a:off x="528" y="3504"/>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/7</a:t>
              </a:r>
            </a:p>
          </p:txBody>
        </p:sp>
        <p:sp>
          <p:nvSpPr>
            <p:cNvPr id="135224" name="Text Box 155"/>
            <p:cNvSpPr txBox="1">
              <a:spLocks noChangeArrowheads="1"/>
            </p:cNvSpPr>
            <p:nvPr/>
          </p:nvSpPr>
          <p:spPr bwMode="auto">
            <a:xfrm>
              <a:off x="816" y="321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r>
                <a:rPr lang="en-US" sz="1800" b="1"/>
                <a:t>/3</a:t>
              </a:r>
            </a:p>
          </p:txBody>
        </p:sp>
        <p:sp>
          <p:nvSpPr>
            <p:cNvPr id="135225" name="Text Box 156"/>
            <p:cNvSpPr txBox="1">
              <a:spLocks noChangeArrowheads="1"/>
            </p:cNvSpPr>
            <p:nvPr/>
          </p:nvSpPr>
          <p:spPr bwMode="auto">
            <a:xfrm>
              <a:off x="576" y="3936"/>
              <a:ext cx="1081"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000"/>
                <a:t>Flow value = 9</a:t>
              </a:r>
            </a:p>
          </p:txBody>
        </p:sp>
      </p:grpSp>
      <p:grpSp>
        <p:nvGrpSpPr>
          <p:cNvPr id="226478" name="Group 174"/>
          <p:cNvGrpSpPr>
            <a:grpSpLocks/>
          </p:cNvGrpSpPr>
          <p:nvPr/>
        </p:nvGrpSpPr>
        <p:grpSpPr bwMode="auto">
          <a:xfrm>
            <a:off x="6477000" y="4572000"/>
            <a:ext cx="2447925" cy="2114550"/>
            <a:chOff x="3168" y="2832"/>
            <a:chExt cx="1542" cy="1332"/>
          </a:xfrm>
        </p:grpSpPr>
        <p:sp>
          <p:nvSpPr>
            <p:cNvPr id="135196" name="Freeform 158"/>
            <p:cNvSpPr>
              <a:spLocks/>
            </p:cNvSpPr>
            <p:nvPr/>
          </p:nvSpPr>
          <p:spPr bwMode="auto">
            <a:xfrm>
              <a:off x="3895" y="3058"/>
              <a:ext cx="1" cy="698"/>
            </a:xfrm>
            <a:custGeom>
              <a:avLst/>
              <a:gdLst>
                <a:gd name="T0" fmla="*/ 0 w 1"/>
                <a:gd name="T1" fmla="*/ 698 h 698"/>
                <a:gd name="T2" fmla="*/ 0 w 1"/>
                <a:gd name="T3" fmla="*/ 0 h 698"/>
                <a:gd name="T4" fmla="*/ 0 60000 65536"/>
                <a:gd name="T5" fmla="*/ 0 60000 65536"/>
              </a:gdLst>
              <a:ahLst/>
              <a:cxnLst>
                <a:cxn ang="T4">
                  <a:pos x="T0" y="T1"/>
                </a:cxn>
                <a:cxn ang="T5">
                  <a:pos x="T2" y="T3"/>
                </a:cxn>
              </a:cxnLst>
              <a:rect l="0" t="0" r="r" b="b"/>
              <a:pathLst>
                <a:path w="1" h="698">
                  <a:moveTo>
                    <a:pt x="0" y="69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endParaRPr lang="en-CA"/>
            </a:p>
          </p:txBody>
        </p:sp>
        <p:sp>
          <p:nvSpPr>
            <p:cNvPr id="135197" name="Freeform 159"/>
            <p:cNvSpPr>
              <a:spLocks/>
            </p:cNvSpPr>
            <p:nvPr/>
          </p:nvSpPr>
          <p:spPr bwMode="auto">
            <a:xfrm>
              <a:off x="3298" y="3004"/>
              <a:ext cx="515" cy="312"/>
            </a:xfrm>
            <a:custGeom>
              <a:avLst/>
              <a:gdLst>
                <a:gd name="T0" fmla="*/ 0 w 515"/>
                <a:gd name="T1" fmla="*/ 312 h 312"/>
                <a:gd name="T2" fmla="*/ 515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198" name="Freeform 160"/>
            <p:cNvSpPr>
              <a:spLocks/>
            </p:cNvSpPr>
            <p:nvPr/>
          </p:nvSpPr>
          <p:spPr bwMode="auto">
            <a:xfrm>
              <a:off x="3292" y="3336"/>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199" name="Freeform 161"/>
            <p:cNvSpPr>
              <a:spLocks/>
            </p:cNvSpPr>
            <p:nvPr/>
          </p:nvSpPr>
          <p:spPr bwMode="auto">
            <a:xfrm>
              <a:off x="3922" y="2957"/>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00" name="Freeform 162"/>
            <p:cNvSpPr>
              <a:spLocks/>
            </p:cNvSpPr>
            <p:nvPr/>
          </p:nvSpPr>
          <p:spPr bwMode="auto">
            <a:xfrm>
              <a:off x="3874" y="3404"/>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01" name="Oval 163"/>
            <p:cNvSpPr>
              <a:spLocks noChangeArrowheads="1"/>
            </p:cNvSpPr>
            <p:nvPr/>
          </p:nvSpPr>
          <p:spPr bwMode="auto">
            <a:xfrm>
              <a:off x="3744" y="3648"/>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b</a:t>
              </a:r>
            </a:p>
          </p:txBody>
        </p:sp>
        <p:sp>
          <p:nvSpPr>
            <p:cNvPr id="135202" name="Oval 164"/>
            <p:cNvSpPr>
              <a:spLocks noChangeArrowheads="1"/>
            </p:cNvSpPr>
            <p:nvPr/>
          </p:nvSpPr>
          <p:spPr bwMode="auto">
            <a:xfrm>
              <a:off x="3168" y="32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5203" name="Oval 165"/>
            <p:cNvSpPr>
              <a:spLocks noChangeArrowheads="1"/>
            </p:cNvSpPr>
            <p:nvPr/>
          </p:nvSpPr>
          <p:spPr bwMode="auto">
            <a:xfrm>
              <a:off x="3792" y="2832"/>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a</a:t>
              </a:r>
            </a:p>
          </p:txBody>
        </p:sp>
        <p:sp>
          <p:nvSpPr>
            <p:cNvPr id="135204" name="Oval 166"/>
            <p:cNvSpPr>
              <a:spLocks noChangeArrowheads="1"/>
            </p:cNvSpPr>
            <p:nvPr/>
          </p:nvSpPr>
          <p:spPr bwMode="auto">
            <a:xfrm>
              <a:off x="4416" y="32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35205" name="Text Box 167"/>
            <p:cNvSpPr txBox="1">
              <a:spLocks noChangeArrowheads="1"/>
            </p:cNvSpPr>
            <p:nvPr/>
          </p:nvSpPr>
          <p:spPr bwMode="auto">
            <a:xfrm>
              <a:off x="3348" y="2928"/>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/4</a:t>
              </a:r>
            </a:p>
          </p:txBody>
        </p:sp>
        <p:sp>
          <p:nvSpPr>
            <p:cNvPr id="135206" name="Text Box 168"/>
            <p:cNvSpPr txBox="1">
              <a:spLocks noChangeArrowheads="1"/>
            </p:cNvSpPr>
            <p:nvPr/>
          </p:nvSpPr>
          <p:spPr bwMode="auto">
            <a:xfrm>
              <a:off x="4116" y="3552"/>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6</a:t>
              </a:r>
              <a:r>
                <a:rPr lang="en-US" sz="1800" b="1"/>
                <a:t>/7</a:t>
              </a:r>
            </a:p>
          </p:txBody>
        </p:sp>
        <p:sp>
          <p:nvSpPr>
            <p:cNvPr id="135207" name="Text Box 169"/>
            <p:cNvSpPr txBox="1">
              <a:spLocks noChangeArrowheads="1"/>
            </p:cNvSpPr>
            <p:nvPr/>
          </p:nvSpPr>
          <p:spPr bwMode="auto">
            <a:xfrm>
              <a:off x="4140" y="2928"/>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a:t>
              </a:r>
              <a:r>
                <a:rPr lang="en-US" sz="1800" b="1"/>
                <a:t>/5</a:t>
              </a:r>
            </a:p>
          </p:txBody>
        </p:sp>
        <p:sp>
          <p:nvSpPr>
            <p:cNvPr id="135208" name="Text Box 170"/>
            <p:cNvSpPr txBox="1">
              <a:spLocks noChangeArrowheads="1"/>
            </p:cNvSpPr>
            <p:nvPr/>
          </p:nvSpPr>
          <p:spPr bwMode="auto">
            <a:xfrm>
              <a:off x="3312" y="3504"/>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/7</a:t>
              </a:r>
            </a:p>
          </p:txBody>
        </p:sp>
        <p:sp>
          <p:nvSpPr>
            <p:cNvPr id="135209" name="Text Box 171"/>
            <p:cNvSpPr txBox="1">
              <a:spLocks noChangeArrowheads="1"/>
            </p:cNvSpPr>
            <p:nvPr/>
          </p:nvSpPr>
          <p:spPr bwMode="auto">
            <a:xfrm>
              <a:off x="3600" y="321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a:t>
              </a:r>
              <a:r>
                <a:rPr lang="en-US" sz="1800" b="1"/>
                <a:t>/3</a:t>
              </a:r>
            </a:p>
          </p:txBody>
        </p:sp>
        <p:sp>
          <p:nvSpPr>
            <p:cNvPr id="135210" name="Text Box 172"/>
            <p:cNvSpPr txBox="1">
              <a:spLocks noChangeArrowheads="1"/>
            </p:cNvSpPr>
            <p:nvPr/>
          </p:nvSpPr>
          <p:spPr bwMode="auto">
            <a:xfrm>
              <a:off x="3216" y="3936"/>
              <a:ext cx="1494"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000"/>
                <a:t>Max Flow value = 11</a:t>
              </a:r>
            </a:p>
          </p:txBody>
        </p:sp>
      </p:grpSp>
      <p:grpSp>
        <p:nvGrpSpPr>
          <p:cNvPr id="226498" name="Group 194"/>
          <p:cNvGrpSpPr>
            <a:grpSpLocks/>
          </p:cNvGrpSpPr>
          <p:nvPr/>
        </p:nvGrpSpPr>
        <p:grpSpPr bwMode="auto">
          <a:xfrm>
            <a:off x="3810000" y="4724400"/>
            <a:ext cx="2133600" cy="1066800"/>
            <a:chOff x="1440" y="1632"/>
            <a:chExt cx="1344" cy="672"/>
          </a:xfrm>
        </p:grpSpPr>
        <p:sp>
          <p:nvSpPr>
            <p:cNvPr id="135194" name="AutoShape 195"/>
            <p:cNvSpPr>
              <a:spLocks noChangeArrowheads="1"/>
            </p:cNvSpPr>
            <p:nvPr/>
          </p:nvSpPr>
          <p:spPr bwMode="auto">
            <a:xfrm>
              <a:off x="1440" y="1968"/>
              <a:ext cx="1344" cy="336"/>
            </a:xfrm>
            <a:prstGeom prst="rightArrow">
              <a:avLst>
                <a:gd name="adj1" fmla="val 50000"/>
                <a:gd name="adj2" fmla="val 100000"/>
              </a:avLst>
            </a:prstGeom>
            <a:solidFill>
              <a:srgbClr val="CC0000"/>
            </a:solid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35195" name="Text Box 196"/>
            <p:cNvSpPr txBox="1">
              <a:spLocks noChangeArrowheads="1"/>
            </p:cNvSpPr>
            <p:nvPr/>
          </p:nvSpPr>
          <p:spPr bwMode="auto">
            <a:xfrm>
              <a:off x="1872" y="1632"/>
              <a:ext cx="244" cy="343"/>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3200" b="1" dirty="0">
                  <a:solidFill>
                    <a:srgbClr val="CC0000"/>
                  </a:solidFill>
                </a:rPr>
                <a:t>?</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131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26306"/>
                                        </p:tgtEl>
                                        <p:attrNameLst>
                                          <p:attrName>style.visibility</p:attrName>
                                        </p:attrNameLst>
                                      </p:cBhvr>
                                      <p:to>
                                        <p:strVal val="visible"/>
                                      </p:to>
                                    </p:set>
                                    <p:anim calcmode="lin" valueType="num">
                                      <p:cBhvr>
                                        <p:cTn id="7" dur="500" fill="hold"/>
                                        <p:tgtEl>
                                          <p:spTgt spid="226306"/>
                                        </p:tgtEl>
                                        <p:attrNameLst>
                                          <p:attrName>ppt_w</p:attrName>
                                        </p:attrNameLst>
                                      </p:cBhvr>
                                      <p:tavLst>
                                        <p:tav tm="0">
                                          <p:val>
                                            <p:fltVal val="0"/>
                                          </p:val>
                                        </p:tav>
                                        <p:tav tm="100000">
                                          <p:val>
                                            <p:strVal val="#ppt_w"/>
                                          </p:val>
                                        </p:tav>
                                      </p:tavLst>
                                    </p:anim>
                                    <p:anim calcmode="lin" valueType="num">
                                      <p:cBhvr>
                                        <p:cTn id="8" dur="500" fill="hold"/>
                                        <p:tgtEl>
                                          <p:spTgt spid="22630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226408"/>
                                        </p:tgtEl>
                                        <p:attrNameLst>
                                          <p:attrName>style.visibility</p:attrName>
                                        </p:attrNameLst>
                                      </p:cBhvr>
                                      <p:to>
                                        <p:strVal val="visible"/>
                                      </p:to>
                                    </p:set>
                                    <p:animEffect transition="in" filter="wipe(up)">
                                      <p:cBhvr>
                                        <p:cTn id="13" dur="500"/>
                                        <p:tgtEl>
                                          <p:spTgt spid="22640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26494"/>
                                        </p:tgtEl>
                                        <p:attrNameLst>
                                          <p:attrName>style.visibility</p:attrName>
                                        </p:attrNameLst>
                                      </p:cBhvr>
                                      <p:to>
                                        <p:strVal val="visible"/>
                                      </p:to>
                                    </p:set>
                                    <p:animEffect transition="in" filter="wipe(left)">
                                      <p:cBhvr>
                                        <p:cTn id="18" dur="500"/>
                                        <p:tgtEl>
                                          <p:spTgt spid="22649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226411"/>
                                        </p:tgtEl>
                                        <p:attrNameLst>
                                          <p:attrName>style.visibility</p:attrName>
                                        </p:attrNameLst>
                                      </p:cBhvr>
                                      <p:to>
                                        <p:strVal val="visible"/>
                                      </p:to>
                                    </p:set>
                                    <p:animEffect transition="in" filter="wipe(up)">
                                      <p:cBhvr>
                                        <p:cTn id="23" dur="500"/>
                                        <p:tgtEl>
                                          <p:spTgt spid="22641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26495"/>
                                        </p:tgtEl>
                                        <p:attrNameLst>
                                          <p:attrName>style.visibility</p:attrName>
                                        </p:attrNameLst>
                                      </p:cBhvr>
                                      <p:to>
                                        <p:strVal val="visible"/>
                                      </p:to>
                                    </p:set>
                                    <p:animEffect transition="in" filter="wipe(left)">
                                      <p:cBhvr>
                                        <p:cTn id="28" dur="500"/>
                                        <p:tgtEl>
                                          <p:spTgt spid="22649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226430"/>
                                        </p:tgtEl>
                                        <p:attrNameLst>
                                          <p:attrName>style.visibility</p:attrName>
                                        </p:attrNameLst>
                                      </p:cBhvr>
                                      <p:to>
                                        <p:strVal val="visible"/>
                                      </p:to>
                                    </p:set>
                                    <p:animEffect transition="in" filter="wipe(up)">
                                      <p:cBhvr>
                                        <p:cTn id="33" dur="500"/>
                                        <p:tgtEl>
                                          <p:spTgt spid="22643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26496"/>
                                        </p:tgtEl>
                                        <p:attrNameLst>
                                          <p:attrName>style.visibility</p:attrName>
                                        </p:attrNameLst>
                                      </p:cBhvr>
                                      <p:to>
                                        <p:strVal val="visible"/>
                                      </p:to>
                                    </p:set>
                                    <p:animEffect transition="in" filter="wipe(left)">
                                      <p:cBhvr>
                                        <p:cTn id="38" dur="500"/>
                                        <p:tgtEl>
                                          <p:spTgt spid="22649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226477"/>
                                        </p:tgtEl>
                                        <p:attrNameLst>
                                          <p:attrName>style.visibility</p:attrName>
                                        </p:attrNameLst>
                                      </p:cBhvr>
                                      <p:to>
                                        <p:strVal val="visible"/>
                                      </p:to>
                                    </p:set>
                                    <p:animEffect transition="in" filter="wipe(up)">
                                      <p:cBhvr>
                                        <p:cTn id="43" dur="500"/>
                                        <p:tgtEl>
                                          <p:spTgt spid="22647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226478"/>
                                        </p:tgtEl>
                                        <p:attrNameLst>
                                          <p:attrName>style.visibility</p:attrName>
                                        </p:attrNameLst>
                                      </p:cBhvr>
                                      <p:to>
                                        <p:strVal val="visible"/>
                                      </p:to>
                                    </p:set>
                                    <p:animEffect transition="in" filter="wipe(up)">
                                      <p:cBhvr>
                                        <p:cTn id="48" dur="500"/>
                                        <p:tgtEl>
                                          <p:spTgt spid="22647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226498"/>
                                        </p:tgtEl>
                                        <p:attrNameLst>
                                          <p:attrName>style.visibility</p:attrName>
                                        </p:attrNameLst>
                                      </p:cBhvr>
                                      <p:to>
                                        <p:strVal val="visible"/>
                                      </p:to>
                                    </p:set>
                                    <p:animEffect transition="in" filter="wipe(left)">
                                      <p:cBhvr>
                                        <p:cTn id="53" dur="500"/>
                                        <p:tgtEl>
                                          <p:spTgt spid="2264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6" grpId="0" animBg="1"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A Heuristic:  </a:t>
            </a:r>
            <a:r>
              <a:rPr lang="en-US" sz="2800" dirty="0" smtClean="0">
                <a:solidFill>
                  <a:srgbClr val="CC0000"/>
                </a:solidFill>
                <a:latin typeface="Arial Rounded MT Bold" pitchFamily="34" charset="0"/>
              </a:rPr>
              <a:t>flow composition by s-t path flows</a:t>
            </a:r>
          </a:p>
        </p:txBody>
      </p:sp>
      <p:grpSp>
        <p:nvGrpSpPr>
          <p:cNvPr id="226408" name="Group 104"/>
          <p:cNvGrpSpPr>
            <a:grpSpLocks/>
          </p:cNvGrpSpPr>
          <p:nvPr/>
        </p:nvGrpSpPr>
        <p:grpSpPr bwMode="auto">
          <a:xfrm>
            <a:off x="381000" y="762000"/>
            <a:ext cx="2368550" cy="1652588"/>
            <a:chOff x="144" y="480"/>
            <a:chExt cx="1492" cy="1041"/>
          </a:xfrm>
        </p:grpSpPr>
        <p:sp>
          <p:nvSpPr>
            <p:cNvPr id="135285" name="Freeform 20"/>
            <p:cNvSpPr>
              <a:spLocks/>
            </p:cNvSpPr>
            <p:nvPr/>
          </p:nvSpPr>
          <p:spPr bwMode="auto">
            <a:xfrm>
              <a:off x="871" y="706"/>
              <a:ext cx="1" cy="698"/>
            </a:xfrm>
            <a:custGeom>
              <a:avLst/>
              <a:gdLst>
                <a:gd name="T0" fmla="*/ 0 w 1"/>
                <a:gd name="T1" fmla="*/ 698 h 698"/>
                <a:gd name="T2" fmla="*/ 0 w 1"/>
                <a:gd name="T3" fmla="*/ 0 h 698"/>
                <a:gd name="T4" fmla="*/ 0 60000 65536"/>
                <a:gd name="T5" fmla="*/ 0 60000 65536"/>
              </a:gdLst>
              <a:ahLst/>
              <a:cxnLst>
                <a:cxn ang="T4">
                  <a:pos x="T0" y="T1"/>
                </a:cxn>
                <a:cxn ang="T5">
                  <a:pos x="T2" y="T3"/>
                </a:cxn>
              </a:cxnLst>
              <a:rect l="0" t="0" r="r" b="b"/>
              <a:pathLst>
                <a:path w="1" h="698">
                  <a:moveTo>
                    <a:pt x="0" y="69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endParaRPr lang="en-CA"/>
            </a:p>
          </p:txBody>
        </p:sp>
        <p:sp>
          <p:nvSpPr>
            <p:cNvPr id="135286" name="Freeform 21"/>
            <p:cNvSpPr>
              <a:spLocks/>
            </p:cNvSpPr>
            <p:nvPr/>
          </p:nvSpPr>
          <p:spPr bwMode="auto">
            <a:xfrm>
              <a:off x="274" y="652"/>
              <a:ext cx="515" cy="312"/>
            </a:xfrm>
            <a:custGeom>
              <a:avLst/>
              <a:gdLst>
                <a:gd name="T0" fmla="*/ 0 w 515"/>
                <a:gd name="T1" fmla="*/ 312 h 312"/>
                <a:gd name="T2" fmla="*/ 515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87" name="Freeform 22"/>
            <p:cNvSpPr>
              <a:spLocks/>
            </p:cNvSpPr>
            <p:nvPr/>
          </p:nvSpPr>
          <p:spPr bwMode="auto">
            <a:xfrm>
              <a:off x="268" y="984"/>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88" name="Freeform 23"/>
            <p:cNvSpPr>
              <a:spLocks/>
            </p:cNvSpPr>
            <p:nvPr/>
          </p:nvSpPr>
          <p:spPr bwMode="auto">
            <a:xfrm>
              <a:off x="898" y="605"/>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89" name="Freeform 24"/>
            <p:cNvSpPr>
              <a:spLocks/>
            </p:cNvSpPr>
            <p:nvPr/>
          </p:nvSpPr>
          <p:spPr bwMode="auto">
            <a:xfrm>
              <a:off x="850" y="1052"/>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90" name="Oval 25"/>
            <p:cNvSpPr>
              <a:spLocks noChangeArrowheads="1"/>
            </p:cNvSpPr>
            <p:nvPr/>
          </p:nvSpPr>
          <p:spPr bwMode="auto">
            <a:xfrm>
              <a:off x="720" y="129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5291" name="Oval 26"/>
            <p:cNvSpPr>
              <a:spLocks noChangeArrowheads="1"/>
            </p:cNvSpPr>
            <p:nvPr/>
          </p:nvSpPr>
          <p:spPr bwMode="auto">
            <a:xfrm>
              <a:off x="144" y="8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35292" name="Oval 27"/>
            <p:cNvSpPr>
              <a:spLocks noChangeArrowheads="1"/>
            </p:cNvSpPr>
            <p:nvPr/>
          </p:nvSpPr>
          <p:spPr bwMode="auto">
            <a:xfrm>
              <a:off x="768" y="480"/>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5293" name="Oval 28"/>
            <p:cNvSpPr>
              <a:spLocks noChangeArrowheads="1"/>
            </p:cNvSpPr>
            <p:nvPr/>
          </p:nvSpPr>
          <p:spPr bwMode="auto">
            <a:xfrm>
              <a:off x="1392" y="8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35294" name="Text Box 29"/>
            <p:cNvSpPr txBox="1">
              <a:spLocks noChangeArrowheads="1"/>
            </p:cNvSpPr>
            <p:nvPr/>
          </p:nvSpPr>
          <p:spPr bwMode="auto">
            <a:xfrm>
              <a:off x="324" y="57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/4</a:t>
              </a:r>
            </a:p>
          </p:txBody>
        </p:sp>
        <p:sp>
          <p:nvSpPr>
            <p:cNvPr id="135295" name="Text Box 30"/>
            <p:cNvSpPr txBox="1">
              <a:spLocks noChangeArrowheads="1"/>
            </p:cNvSpPr>
            <p:nvPr/>
          </p:nvSpPr>
          <p:spPr bwMode="auto">
            <a:xfrm>
              <a:off x="1092" y="1200"/>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/7</a:t>
              </a:r>
            </a:p>
          </p:txBody>
        </p:sp>
        <p:sp>
          <p:nvSpPr>
            <p:cNvPr id="135296" name="Text Box 31"/>
            <p:cNvSpPr txBox="1">
              <a:spLocks noChangeArrowheads="1"/>
            </p:cNvSpPr>
            <p:nvPr/>
          </p:nvSpPr>
          <p:spPr bwMode="auto">
            <a:xfrm>
              <a:off x="1116" y="57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/5</a:t>
              </a:r>
            </a:p>
          </p:txBody>
        </p:sp>
        <p:sp>
          <p:nvSpPr>
            <p:cNvPr id="135297" name="Text Box 32"/>
            <p:cNvSpPr txBox="1">
              <a:spLocks noChangeArrowheads="1"/>
            </p:cNvSpPr>
            <p:nvPr/>
          </p:nvSpPr>
          <p:spPr bwMode="auto">
            <a:xfrm>
              <a:off x="288" y="1152"/>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/7</a:t>
              </a:r>
            </a:p>
          </p:txBody>
        </p:sp>
        <p:sp>
          <p:nvSpPr>
            <p:cNvPr id="135298" name="Text Box 33"/>
            <p:cNvSpPr txBox="1">
              <a:spLocks noChangeArrowheads="1"/>
            </p:cNvSpPr>
            <p:nvPr/>
          </p:nvSpPr>
          <p:spPr bwMode="auto">
            <a:xfrm>
              <a:off x="576" y="864"/>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/3</a:t>
              </a:r>
            </a:p>
          </p:txBody>
        </p:sp>
      </p:grpSp>
      <p:grpSp>
        <p:nvGrpSpPr>
          <p:cNvPr id="226494" name="Group 190"/>
          <p:cNvGrpSpPr>
            <a:grpSpLocks/>
          </p:cNvGrpSpPr>
          <p:nvPr/>
        </p:nvGrpSpPr>
        <p:grpSpPr bwMode="auto">
          <a:xfrm>
            <a:off x="304800" y="2514600"/>
            <a:ext cx="2514600" cy="1828800"/>
            <a:chOff x="192" y="1584"/>
            <a:chExt cx="1584" cy="1152"/>
          </a:xfrm>
        </p:grpSpPr>
        <p:sp>
          <p:nvSpPr>
            <p:cNvPr id="135274" name="Rectangle 68"/>
            <p:cNvSpPr>
              <a:spLocks noChangeArrowheads="1"/>
            </p:cNvSpPr>
            <p:nvPr/>
          </p:nvSpPr>
          <p:spPr bwMode="auto">
            <a:xfrm>
              <a:off x="192" y="1584"/>
              <a:ext cx="1584" cy="1152"/>
            </a:xfrm>
            <a:prstGeom prst="rect">
              <a:avLst/>
            </a:prstGeom>
            <a:solidFill>
              <a:srgbClr val="FFCCCC"/>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35275" name="Freeform 49"/>
            <p:cNvSpPr>
              <a:spLocks/>
            </p:cNvSpPr>
            <p:nvPr/>
          </p:nvSpPr>
          <p:spPr bwMode="auto">
            <a:xfrm>
              <a:off x="967" y="1841"/>
              <a:ext cx="1" cy="698"/>
            </a:xfrm>
            <a:custGeom>
              <a:avLst/>
              <a:gdLst>
                <a:gd name="T0" fmla="*/ 0 w 1"/>
                <a:gd name="T1" fmla="*/ 698 h 698"/>
                <a:gd name="T2" fmla="*/ 0 w 1"/>
                <a:gd name="T3" fmla="*/ 0 h 698"/>
                <a:gd name="T4" fmla="*/ 0 60000 65536"/>
                <a:gd name="T5" fmla="*/ 0 60000 65536"/>
              </a:gdLst>
              <a:ahLst/>
              <a:cxnLst>
                <a:cxn ang="T4">
                  <a:pos x="T0" y="T1"/>
                </a:cxn>
                <a:cxn ang="T5">
                  <a:pos x="T2" y="T3"/>
                </a:cxn>
              </a:cxnLst>
              <a:rect l="0" t="0" r="r" b="b"/>
              <a:pathLst>
                <a:path w="1" h="698">
                  <a:moveTo>
                    <a:pt x="0" y="69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endParaRPr lang="en-CA"/>
            </a:p>
          </p:txBody>
        </p:sp>
        <p:sp>
          <p:nvSpPr>
            <p:cNvPr id="135276" name="Freeform 50"/>
            <p:cNvSpPr>
              <a:spLocks/>
            </p:cNvSpPr>
            <p:nvPr/>
          </p:nvSpPr>
          <p:spPr bwMode="auto">
            <a:xfrm>
              <a:off x="364" y="2119"/>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77" name="Freeform 51"/>
            <p:cNvSpPr>
              <a:spLocks/>
            </p:cNvSpPr>
            <p:nvPr/>
          </p:nvSpPr>
          <p:spPr bwMode="auto">
            <a:xfrm>
              <a:off x="994" y="1740"/>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78" name="Oval 52"/>
            <p:cNvSpPr>
              <a:spLocks noChangeArrowheads="1"/>
            </p:cNvSpPr>
            <p:nvPr/>
          </p:nvSpPr>
          <p:spPr bwMode="auto">
            <a:xfrm>
              <a:off x="816" y="2431"/>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5279" name="Oval 53"/>
            <p:cNvSpPr>
              <a:spLocks noChangeArrowheads="1"/>
            </p:cNvSpPr>
            <p:nvPr/>
          </p:nvSpPr>
          <p:spPr bwMode="auto">
            <a:xfrm>
              <a:off x="240" y="1999"/>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5280" name="Oval 54"/>
            <p:cNvSpPr>
              <a:spLocks noChangeArrowheads="1"/>
            </p:cNvSpPr>
            <p:nvPr/>
          </p:nvSpPr>
          <p:spPr bwMode="auto">
            <a:xfrm>
              <a:off x="864" y="1615"/>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a</a:t>
              </a:r>
            </a:p>
          </p:txBody>
        </p:sp>
        <p:sp>
          <p:nvSpPr>
            <p:cNvPr id="135281" name="Oval 55"/>
            <p:cNvSpPr>
              <a:spLocks noChangeArrowheads="1"/>
            </p:cNvSpPr>
            <p:nvPr/>
          </p:nvSpPr>
          <p:spPr bwMode="auto">
            <a:xfrm>
              <a:off x="1488" y="1999"/>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35282" name="Text Box 56"/>
            <p:cNvSpPr txBox="1">
              <a:spLocks noChangeArrowheads="1"/>
            </p:cNvSpPr>
            <p:nvPr/>
          </p:nvSpPr>
          <p:spPr bwMode="auto">
            <a:xfrm>
              <a:off x="1268" y="1711"/>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endParaRPr lang="en-US" sz="1800" b="1"/>
            </a:p>
          </p:txBody>
        </p:sp>
        <p:sp>
          <p:nvSpPr>
            <p:cNvPr id="135283" name="Text Box 57"/>
            <p:cNvSpPr txBox="1">
              <a:spLocks noChangeArrowheads="1"/>
            </p:cNvSpPr>
            <p:nvPr/>
          </p:nvSpPr>
          <p:spPr bwMode="auto">
            <a:xfrm>
              <a:off x="476" y="2287"/>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endParaRPr lang="en-US" sz="1800" b="1"/>
            </a:p>
          </p:txBody>
        </p:sp>
        <p:sp>
          <p:nvSpPr>
            <p:cNvPr id="135284" name="Text Box 58"/>
            <p:cNvSpPr txBox="1">
              <a:spLocks noChangeArrowheads="1"/>
            </p:cNvSpPr>
            <p:nvPr/>
          </p:nvSpPr>
          <p:spPr bwMode="auto">
            <a:xfrm>
              <a:off x="779" y="2031"/>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endParaRPr lang="en-US" sz="1800" b="1"/>
            </a:p>
          </p:txBody>
        </p:sp>
      </p:grpSp>
      <p:grpSp>
        <p:nvGrpSpPr>
          <p:cNvPr id="226496" name="Group 192"/>
          <p:cNvGrpSpPr>
            <a:grpSpLocks/>
          </p:cNvGrpSpPr>
          <p:nvPr/>
        </p:nvGrpSpPr>
        <p:grpSpPr bwMode="auto">
          <a:xfrm>
            <a:off x="6016625" y="2514600"/>
            <a:ext cx="2974975" cy="1828800"/>
            <a:chOff x="3790" y="1584"/>
            <a:chExt cx="1874" cy="1152"/>
          </a:xfrm>
        </p:grpSpPr>
        <p:sp>
          <p:nvSpPr>
            <p:cNvPr id="135264" name="Rectangle 69"/>
            <p:cNvSpPr>
              <a:spLocks noChangeArrowheads="1"/>
            </p:cNvSpPr>
            <p:nvPr/>
          </p:nvSpPr>
          <p:spPr bwMode="auto">
            <a:xfrm>
              <a:off x="4080" y="1584"/>
              <a:ext cx="1584" cy="1152"/>
            </a:xfrm>
            <a:prstGeom prst="rect">
              <a:avLst/>
            </a:prstGeom>
            <a:solidFill>
              <a:srgbClr val="FFCCCC"/>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35265" name="Freeform 59"/>
            <p:cNvSpPr>
              <a:spLocks/>
            </p:cNvSpPr>
            <p:nvPr/>
          </p:nvSpPr>
          <p:spPr bwMode="auto">
            <a:xfrm>
              <a:off x="4252" y="2136"/>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66" name="Freeform 60"/>
            <p:cNvSpPr>
              <a:spLocks/>
            </p:cNvSpPr>
            <p:nvPr/>
          </p:nvSpPr>
          <p:spPr bwMode="auto">
            <a:xfrm>
              <a:off x="4834" y="2204"/>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67" name="Oval 61"/>
            <p:cNvSpPr>
              <a:spLocks noChangeArrowheads="1"/>
            </p:cNvSpPr>
            <p:nvPr/>
          </p:nvSpPr>
          <p:spPr bwMode="auto">
            <a:xfrm>
              <a:off x="4704" y="2448"/>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5268" name="Oval 62"/>
            <p:cNvSpPr>
              <a:spLocks noChangeArrowheads="1"/>
            </p:cNvSpPr>
            <p:nvPr/>
          </p:nvSpPr>
          <p:spPr bwMode="auto">
            <a:xfrm>
              <a:off x="4128" y="20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5269" name="Oval 63"/>
            <p:cNvSpPr>
              <a:spLocks noChangeArrowheads="1"/>
            </p:cNvSpPr>
            <p:nvPr/>
          </p:nvSpPr>
          <p:spPr bwMode="auto">
            <a:xfrm>
              <a:off x="4752" y="1632"/>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5270" name="Oval 64"/>
            <p:cNvSpPr>
              <a:spLocks noChangeArrowheads="1"/>
            </p:cNvSpPr>
            <p:nvPr/>
          </p:nvSpPr>
          <p:spPr bwMode="auto">
            <a:xfrm>
              <a:off x="5376" y="20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35271" name="Text Box 65"/>
            <p:cNvSpPr txBox="1">
              <a:spLocks noChangeArrowheads="1"/>
            </p:cNvSpPr>
            <p:nvPr/>
          </p:nvSpPr>
          <p:spPr bwMode="auto">
            <a:xfrm>
              <a:off x="5132" y="2352"/>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endParaRPr lang="en-US" sz="1800" b="1"/>
            </a:p>
          </p:txBody>
        </p:sp>
        <p:sp>
          <p:nvSpPr>
            <p:cNvPr id="135272" name="Text Box 66"/>
            <p:cNvSpPr txBox="1">
              <a:spLocks noChangeArrowheads="1"/>
            </p:cNvSpPr>
            <p:nvPr/>
          </p:nvSpPr>
          <p:spPr bwMode="auto">
            <a:xfrm>
              <a:off x="4364" y="2304"/>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endParaRPr lang="en-US" sz="1800" b="1"/>
            </a:p>
          </p:txBody>
        </p:sp>
        <p:sp>
          <p:nvSpPr>
            <p:cNvPr id="135273" name="Text Box 71"/>
            <p:cNvSpPr txBox="1">
              <a:spLocks noChangeArrowheads="1"/>
            </p:cNvSpPr>
            <p:nvPr/>
          </p:nvSpPr>
          <p:spPr bwMode="auto">
            <a:xfrm>
              <a:off x="3790" y="1968"/>
              <a:ext cx="246"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800" b="1" dirty="0"/>
                <a:t>+</a:t>
              </a:r>
            </a:p>
          </p:txBody>
        </p:sp>
      </p:grpSp>
      <p:grpSp>
        <p:nvGrpSpPr>
          <p:cNvPr id="226411" name="Group 107"/>
          <p:cNvGrpSpPr>
            <a:grpSpLocks/>
          </p:cNvGrpSpPr>
          <p:nvPr/>
        </p:nvGrpSpPr>
        <p:grpSpPr bwMode="auto">
          <a:xfrm>
            <a:off x="3581400" y="762000"/>
            <a:ext cx="2368550" cy="1652588"/>
            <a:chOff x="3996" y="480"/>
            <a:chExt cx="1492" cy="1041"/>
          </a:xfrm>
        </p:grpSpPr>
        <p:sp>
          <p:nvSpPr>
            <p:cNvPr id="135250" name="Freeform 108"/>
            <p:cNvSpPr>
              <a:spLocks/>
            </p:cNvSpPr>
            <p:nvPr/>
          </p:nvSpPr>
          <p:spPr bwMode="auto">
            <a:xfrm>
              <a:off x="4723" y="706"/>
              <a:ext cx="1" cy="698"/>
            </a:xfrm>
            <a:custGeom>
              <a:avLst/>
              <a:gdLst>
                <a:gd name="T0" fmla="*/ 0 w 1"/>
                <a:gd name="T1" fmla="*/ 698 h 698"/>
                <a:gd name="T2" fmla="*/ 0 w 1"/>
                <a:gd name="T3" fmla="*/ 0 h 698"/>
                <a:gd name="T4" fmla="*/ 0 60000 65536"/>
                <a:gd name="T5" fmla="*/ 0 60000 65536"/>
              </a:gdLst>
              <a:ahLst/>
              <a:cxnLst>
                <a:cxn ang="T4">
                  <a:pos x="T0" y="T1"/>
                </a:cxn>
                <a:cxn ang="T5">
                  <a:pos x="T2" y="T3"/>
                </a:cxn>
              </a:cxnLst>
              <a:rect l="0" t="0" r="r" b="b"/>
              <a:pathLst>
                <a:path w="1" h="698">
                  <a:moveTo>
                    <a:pt x="0" y="69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endParaRPr lang="en-CA"/>
            </a:p>
          </p:txBody>
        </p:sp>
        <p:sp>
          <p:nvSpPr>
            <p:cNvPr id="135251" name="Freeform 109"/>
            <p:cNvSpPr>
              <a:spLocks/>
            </p:cNvSpPr>
            <p:nvPr/>
          </p:nvSpPr>
          <p:spPr bwMode="auto">
            <a:xfrm>
              <a:off x="4126" y="652"/>
              <a:ext cx="515" cy="312"/>
            </a:xfrm>
            <a:custGeom>
              <a:avLst/>
              <a:gdLst>
                <a:gd name="T0" fmla="*/ 0 w 515"/>
                <a:gd name="T1" fmla="*/ 312 h 312"/>
                <a:gd name="T2" fmla="*/ 515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52" name="Freeform 110"/>
            <p:cNvSpPr>
              <a:spLocks/>
            </p:cNvSpPr>
            <p:nvPr/>
          </p:nvSpPr>
          <p:spPr bwMode="auto">
            <a:xfrm>
              <a:off x="4120" y="984"/>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53" name="Freeform 111"/>
            <p:cNvSpPr>
              <a:spLocks/>
            </p:cNvSpPr>
            <p:nvPr/>
          </p:nvSpPr>
          <p:spPr bwMode="auto">
            <a:xfrm>
              <a:off x="4750" y="605"/>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54" name="Freeform 112"/>
            <p:cNvSpPr>
              <a:spLocks/>
            </p:cNvSpPr>
            <p:nvPr/>
          </p:nvSpPr>
          <p:spPr bwMode="auto">
            <a:xfrm>
              <a:off x="4702" y="1052"/>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55" name="Oval 113"/>
            <p:cNvSpPr>
              <a:spLocks noChangeArrowheads="1"/>
            </p:cNvSpPr>
            <p:nvPr/>
          </p:nvSpPr>
          <p:spPr bwMode="auto">
            <a:xfrm>
              <a:off x="4572" y="129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5256" name="Oval 114"/>
            <p:cNvSpPr>
              <a:spLocks noChangeArrowheads="1"/>
            </p:cNvSpPr>
            <p:nvPr/>
          </p:nvSpPr>
          <p:spPr bwMode="auto">
            <a:xfrm>
              <a:off x="3996" y="8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5257" name="Oval 115"/>
            <p:cNvSpPr>
              <a:spLocks noChangeArrowheads="1"/>
            </p:cNvSpPr>
            <p:nvPr/>
          </p:nvSpPr>
          <p:spPr bwMode="auto">
            <a:xfrm>
              <a:off x="4620" y="480"/>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5258" name="Oval 116"/>
            <p:cNvSpPr>
              <a:spLocks noChangeArrowheads="1"/>
            </p:cNvSpPr>
            <p:nvPr/>
          </p:nvSpPr>
          <p:spPr bwMode="auto">
            <a:xfrm>
              <a:off x="5244" y="8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35259" name="Text Box 117"/>
            <p:cNvSpPr txBox="1">
              <a:spLocks noChangeArrowheads="1"/>
            </p:cNvSpPr>
            <p:nvPr/>
          </p:nvSpPr>
          <p:spPr bwMode="auto">
            <a:xfrm>
              <a:off x="4176" y="57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/4</a:t>
              </a:r>
            </a:p>
          </p:txBody>
        </p:sp>
        <p:sp>
          <p:nvSpPr>
            <p:cNvPr id="135260" name="Text Box 118"/>
            <p:cNvSpPr txBox="1">
              <a:spLocks noChangeArrowheads="1"/>
            </p:cNvSpPr>
            <p:nvPr/>
          </p:nvSpPr>
          <p:spPr bwMode="auto">
            <a:xfrm>
              <a:off x="4944" y="1200"/>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/7</a:t>
              </a:r>
            </a:p>
          </p:txBody>
        </p:sp>
        <p:sp>
          <p:nvSpPr>
            <p:cNvPr id="135261" name="Text Box 119"/>
            <p:cNvSpPr txBox="1">
              <a:spLocks noChangeArrowheads="1"/>
            </p:cNvSpPr>
            <p:nvPr/>
          </p:nvSpPr>
          <p:spPr bwMode="auto">
            <a:xfrm>
              <a:off x="4968" y="57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r>
                <a:rPr lang="en-US" sz="1800" b="1"/>
                <a:t>/5</a:t>
              </a:r>
            </a:p>
          </p:txBody>
        </p:sp>
        <p:sp>
          <p:nvSpPr>
            <p:cNvPr id="135262" name="Text Box 120"/>
            <p:cNvSpPr txBox="1">
              <a:spLocks noChangeArrowheads="1"/>
            </p:cNvSpPr>
            <p:nvPr/>
          </p:nvSpPr>
          <p:spPr bwMode="auto">
            <a:xfrm>
              <a:off x="4140" y="1152"/>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r>
                <a:rPr lang="en-US" sz="1800" b="1"/>
                <a:t>/7</a:t>
              </a:r>
            </a:p>
          </p:txBody>
        </p:sp>
        <p:sp>
          <p:nvSpPr>
            <p:cNvPr id="135263" name="Text Box 121"/>
            <p:cNvSpPr txBox="1">
              <a:spLocks noChangeArrowheads="1"/>
            </p:cNvSpPr>
            <p:nvPr/>
          </p:nvSpPr>
          <p:spPr bwMode="auto">
            <a:xfrm>
              <a:off x="4428" y="864"/>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r>
                <a:rPr lang="en-US" sz="1800" b="1"/>
                <a:t>/3</a:t>
              </a:r>
            </a:p>
          </p:txBody>
        </p:sp>
      </p:grpSp>
      <p:grpSp>
        <p:nvGrpSpPr>
          <p:cNvPr id="226495" name="Group 191"/>
          <p:cNvGrpSpPr>
            <a:grpSpLocks/>
          </p:cNvGrpSpPr>
          <p:nvPr/>
        </p:nvGrpSpPr>
        <p:grpSpPr bwMode="auto">
          <a:xfrm>
            <a:off x="2968625" y="2514600"/>
            <a:ext cx="2974975" cy="1828800"/>
            <a:chOff x="1870" y="1584"/>
            <a:chExt cx="1874" cy="1152"/>
          </a:xfrm>
        </p:grpSpPr>
        <p:sp>
          <p:nvSpPr>
            <p:cNvPr id="135240" name="Rectangle 67"/>
            <p:cNvSpPr>
              <a:spLocks noChangeArrowheads="1"/>
            </p:cNvSpPr>
            <p:nvPr/>
          </p:nvSpPr>
          <p:spPr bwMode="auto">
            <a:xfrm>
              <a:off x="2160" y="1584"/>
              <a:ext cx="1584" cy="1152"/>
            </a:xfrm>
            <a:prstGeom prst="rect">
              <a:avLst/>
            </a:prstGeom>
            <a:solidFill>
              <a:srgbClr val="FFCCCC"/>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35241" name="Freeform 41"/>
            <p:cNvSpPr>
              <a:spLocks/>
            </p:cNvSpPr>
            <p:nvPr/>
          </p:nvSpPr>
          <p:spPr bwMode="auto">
            <a:xfrm>
              <a:off x="2338" y="1804"/>
              <a:ext cx="515" cy="312"/>
            </a:xfrm>
            <a:custGeom>
              <a:avLst/>
              <a:gdLst>
                <a:gd name="T0" fmla="*/ 0 w 515"/>
                <a:gd name="T1" fmla="*/ 312 h 312"/>
                <a:gd name="T2" fmla="*/ 515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42" name="Freeform 42"/>
            <p:cNvSpPr>
              <a:spLocks/>
            </p:cNvSpPr>
            <p:nvPr/>
          </p:nvSpPr>
          <p:spPr bwMode="auto">
            <a:xfrm>
              <a:off x="2962" y="1757"/>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43" name="Oval 43"/>
            <p:cNvSpPr>
              <a:spLocks noChangeArrowheads="1"/>
            </p:cNvSpPr>
            <p:nvPr/>
          </p:nvSpPr>
          <p:spPr bwMode="auto">
            <a:xfrm>
              <a:off x="2784" y="2448"/>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5244" name="Oval 44"/>
            <p:cNvSpPr>
              <a:spLocks noChangeArrowheads="1"/>
            </p:cNvSpPr>
            <p:nvPr/>
          </p:nvSpPr>
          <p:spPr bwMode="auto">
            <a:xfrm>
              <a:off x="2208" y="20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35245" name="Oval 45"/>
            <p:cNvSpPr>
              <a:spLocks noChangeArrowheads="1"/>
            </p:cNvSpPr>
            <p:nvPr/>
          </p:nvSpPr>
          <p:spPr bwMode="auto">
            <a:xfrm>
              <a:off x="2832" y="1632"/>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5246" name="Oval 46"/>
            <p:cNvSpPr>
              <a:spLocks noChangeArrowheads="1"/>
            </p:cNvSpPr>
            <p:nvPr/>
          </p:nvSpPr>
          <p:spPr bwMode="auto">
            <a:xfrm>
              <a:off x="3456" y="20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35247" name="Text Box 47"/>
            <p:cNvSpPr txBox="1">
              <a:spLocks noChangeArrowheads="1"/>
            </p:cNvSpPr>
            <p:nvPr/>
          </p:nvSpPr>
          <p:spPr bwMode="auto">
            <a:xfrm>
              <a:off x="2444" y="1728"/>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endParaRPr lang="en-US" sz="1800" b="1"/>
            </a:p>
          </p:txBody>
        </p:sp>
        <p:sp>
          <p:nvSpPr>
            <p:cNvPr id="135248" name="Text Box 48"/>
            <p:cNvSpPr txBox="1">
              <a:spLocks noChangeArrowheads="1"/>
            </p:cNvSpPr>
            <p:nvPr/>
          </p:nvSpPr>
          <p:spPr bwMode="auto">
            <a:xfrm>
              <a:off x="3236" y="1728"/>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endParaRPr lang="en-US" sz="1800" b="1"/>
            </a:p>
          </p:txBody>
        </p:sp>
        <p:sp>
          <p:nvSpPr>
            <p:cNvPr id="135249" name="Text Box 125"/>
            <p:cNvSpPr txBox="1">
              <a:spLocks noChangeArrowheads="1"/>
            </p:cNvSpPr>
            <p:nvPr/>
          </p:nvSpPr>
          <p:spPr bwMode="auto">
            <a:xfrm>
              <a:off x="1870" y="2016"/>
              <a:ext cx="246"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800" b="1" dirty="0"/>
                <a:t>+</a:t>
              </a:r>
            </a:p>
          </p:txBody>
        </p:sp>
      </p:grpSp>
      <p:grpSp>
        <p:nvGrpSpPr>
          <p:cNvPr id="226430" name="Group 126"/>
          <p:cNvGrpSpPr>
            <a:grpSpLocks/>
          </p:cNvGrpSpPr>
          <p:nvPr/>
        </p:nvGrpSpPr>
        <p:grpSpPr bwMode="auto">
          <a:xfrm>
            <a:off x="6553200" y="762000"/>
            <a:ext cx="2368550" cy="1652588"/>
            <a:chOff x="3996" y="480"/>
            <a:chExt cx="1492" cy="1041"/>
          </a:xfrm>
        </p:grpSpPr>
        <p:sp>
          <p:nvSpPr>
            <p:cNvPr id="135226" name="Freeform 127"/>
            <p:cNvSpPr>
              <a:spLocks/>
            </p:cNvSpPr>
            <p:nvPr/>
          </p:nvSpPr>
          <p:spPr bwMode="auto">
            <a:xfrm>
              <a:off x="4723" y="706"/>
              <a:ext cx="1" cy="698"/>
            </a:xfrm>
            <a:custGeom>
              <a:avLst/>
              <a:gdLst>
                <a:gd name="T0" fmla="*/ 0 w 1"/>
                <a:gd name="T1" fmla="*/ 698 h 698"/>
                <a:gd name="T2" fmla="*/ 0 w 1"/>
                <a:gd name="T3" fmla="*/ 0 h 698"/>
                <a:gd name="T4" fmla="*/ 0 60000 65536"/>
                <a:gd name="T5" fmla="*/ 0 60000 65536"/>
              </a:gdLst>
              <a:ahLst/>
              <a:cxnLst>
                <a:cxn ang="T4">
                  <a:pos x="T0" y="T1"/>
                </a:cxn>
                <a:cxn ang="T5">
                  <a:pos x="T2" y="T3"/>
                </a:cxn>
              </a:cxnLst>
              <a:rect l="0" t="0" r="r" b="b"/>
              <a:pathLst>
                <a:path w="1" h="698">
                  <a:moveTo>
                    <a:pt x="0" y="69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endParaRPr lang="en-CA"/>
            </a:p>
          </p:txBody>
        </p:sp>
        <p:sp>
          <p:nvSpPr>
            <p:cNvPr id="135227" name="Freeform 128"/>
            <p:cNvSpPr>
              <a:spLocks/>
            </p:cNvSpPr>
            <p:nvPr/>
          </p:nvSpPr>
          <p:spPr bwMode="auto">
            <a:xfrm>
              <a:off x="4126" y="652"/>
              <a:ext cx="515" cy="312"/>
            </a:xfrm>
            <a:custGeom>
              <a:avLst/>
              <a:gdLst>
                <a:gd name="T0" fmla="*/ 0 w 515"/>
                <a:gd name="T1" fmla="*/ 312 h 312"/>
                <a:gd name="T2" fmla="*/ 515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28" name="Freeform 129"/>
            <p:cNvSpPr>
              <a:spLocks/>
            </p:cNvSpPr>
            <p:nvPr/>
          </p:nvSpPr>
          <p:spPr bwMode="auto">
            <a:xfrm>
              <a:off x="4120" y="984"/>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29" name="Freeform 130"/>
            <p:cNvSpPr>
              <a:spLocks/>
            </p:cNvSpPr>
            <p:nvPr/>
          </p:nvSpPr>
          <p:spPr bwMode="auto">
            <a:xfrm>
              <a:off x="4750" y="605"/>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30" name="Freeform 131"/>
            <p:cNvSpPr>
              <a:spLocks/>
            </p:cNvSpPr>
            <p:nvPr/>
          </p:nvSpPr>
          <p:spPr bwMode="auto">
            <a:xfrm>
              <a:off x="4702" y="1052"/>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31" name="Oval 132"/>
            <p:cNvSpPr>
              <a:spLocks noChangeArrowheads="1"/>
            </p:cNvSpPr>
            <p:nvPr/>
          </p:nvSpPr>
          <p:spPr bwMode="auto">
            <a:xfrm>
              <a:off x="4572" y="129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b</a:t>
              </a:r>
            </a:p>
          </p:txBody>
        </p:sp>
        <p:sp>
          <p:nvSpPr>
            <p:cNvPr id="135232" name="Oval 133"/>
            <p:cNvSpPr>
              <a:spLocks noChangeArrowheads="1"/>
            </p:cNvSpPr>
            <p:nvPr/>
          </p:nvSpPr>
          <p:spPr bwMode="auto">
            <a:xfrm>
              <a:off x="3996" y="8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35233" name="Oval 134"/>
            <p:cNvSpPr>
              <a:spLocks noChangeArrowheads="1"/>
            </p:cNvSpPr>
            <p:nvPr/>
          </p:nvSpPr>
          <p:spPr bwMode="auto">
            <a:xfrm>
              <a:off x="4620" y="480"/>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5234" name="Oval 135"/>
            <p:cNvSpPr>
              <a:spLocks noChangeArrowheads="1"/>
            </p:cNvSpPr>
            <p:nvPr/>
          </p:nvSpPr>
          <p:spPr bwMode="auto">
            <a:xfrm>
              <a:off x="5244" y="8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35235" name="Text Box 136"/>
            <p:cNvSpPr txBox="1">
              <a:spLocks noChangeArrowheads="1"/>
            </p:cNvSpPr>
            <p:nvPr/>
          </p:nvSpPr>
          <p:spPr bwMode="auto">
            <a:xfrm>
              <a:off x="4176" y="57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r>
                <a:rPr lang="en-US" sz="1800" b="1"/>
                <a:t>/4</a:t>
              </a:r>
            </a:p>
          </p:txBody>
        </p:sp>
        <p:sp>
          <p:nvSpPr>
            <p:cNvPr id="135236" name="Text Box 137"/>
            <p:cNvSpPr txBox="1">
              <a:spLocks noChangeArrowheads="1"/>
            </p:cNvSpPr>
            <p:nvPr/>
          </p:nvSpPr>
          <p:spPr bwMode="auto">
            <a:xfrm>
              <a:off x="4944" y="1200"/>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/7</a:t>
              </a:r>
            </a:p>
          </p:txBody>
        </p:sp>
        <p:sp>
          <p:nvSpPr>
            <p:cNvPr id="135237" name="Text Box 138"/>
            <p:cNvSpPr txBox="1">
              <a:spLocks noChangeArrowheads="1"/>
            </p:cNvSpPr>
            <p:nvPr/>
          </p:nvSpPr>
          <p:spPr bwMode="auto">
            <a:xfrm>
              <a:off x="4968" y="57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a:t>
              </a:r>
              <a:r>
                <a:rPr lang="en-US" sz="1800" b="1"/>
                <a:t>/5</a:t>
              </a:r>
            </a:p>
          </p:txBody>
        </p:sp>
        <p:sp>
          <p:nvSpPr>
            <p:cNvPr id="135238" name="Text Box 139"/>
            <p:cNvSpPr txBox="1">
              <a:spLocks noChangeArrowheads="1"/>
            </p:cNvSpPr>
            <p:nvPr/>
          </p:nvSpPr>
          <p:spPr bwMode="auto">
            <a:xfrm>
              <a:off x="4140" y="1152"/>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r>
                <a:rPr lang="en-US" sz="1800" b="1"/>
                <a:t>/7</a:t>
              </a:r>
            </a:p>
          </p:txBody>
        </p:sp>
        <p:sp>
          <p:nvSpPr>
            <p:cNvPr id="135239" name="Text Box 140"/>
            <p:cNvSpPr txBox="1">
              <a:spLocks noChangeArrowheads="1"/>
            </p:cNvSpPr>
            <p:nvPr/>
          </p:nvSpPr>
          <p:spPr bwMode="auto">
            <a:xfrm>
              <a:off x="4428" y="864"/>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r>
                <a:rPr lang="en-US" sz="1800" b="1"/>
                <a:t>/3</a:t>
              </a:r>
            </a:p>
          </p:txBody>
        </p:sp>
      </p:grpSp>
      <p:grpSp>
        <p:nvGrpSpPr>
          <p:cNvPr id="226477" name="Group 173"/>
          <p:cNvGrpSpPr>
            <a:grpSpLocks/>
          </p:cNvGrpSpPr>
          <p:nvPr/>
        </p:nvGrpSpPr>
        <p:grpSpPr bwMode="auto">
          <a:xfrm>
            <a:off x="381000" y="4572000"/>
            <a:ext cx="2368550" cy="2114550"/>
            <a:chOff x="384" y="2832"/>
            <a:chExt cx="1492" cy="1332"/>
          </a:xfrm>
        </p:grpSpPr>
        <p:sp>
          <p:nvSpPr>
            <p:cNvPr id="135211" name="Freeform 142"/>
            <p:cNvSpPr>
              <a:spLocks/>
            </p:cNvSpPr>
            <p:nvPr/>
          </p:nvSpPr>
          <p:spPr bwMode="auto">
            <a:xfrm>
              <a:off x="1111" y="3058"/>
              <a:ext cx="1" cy="698"/>
            </a:xfrm>
            <a:custGeom>
              <a:avLst/>
              <a:gdLst>
                <a:gd name="T0" fmla="*/ 0 w 1"/>
                <a:gd name="T1" fmla="*/ 698 h 698"/>
                <a:gd name="T2" fmla="*/ 0 w 1"/>
                <a:gd name="T3" fmla="*/ 0 h 698"/>
                <a:gd name="T4" fmla="*/ 0 60000 65536"/>
                <a:gd name="T5" fmla="*/ 0 60000 65536"/>
              </a:gdLst>
              <a:ahLst/>
              <a:cxnLst>
                <a:cxn ang="T4">
                  <a:pos x="T0" y="T1"/>
                </a:cxn>
                <a:cxn ang="T5">
                  <a:pos x="T2" y="T3"/>
                </a:cxn>
              </a:cxnLst>
              <a:rect l="0" t="0" r="r" b="b"/>
              <a:pathLst>
                <a:path w="1" h="698">
                  <a:moveTo>
                    <a:pt x="0" y="69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endParaRPr lang="en-CA"/>
            </a:p>
          </p:txBody>
        </p:sp>
        <p:sp>
          <p:nvSpPr>
            <p:cNvPr id="135212" name="Freeform 143"/>
            <p:cNvSpPr>
              <a:spLocks/>
            </p:cNvSpPr>
            <p:nvPr/>
          </p:nvSpPr>
          <p:spPr bwMode="auto">
            <a:xfrm>
              <a:off x="514" y="3004"/>
              <a:ext cx="515" cy="312"/>
            </a:xfrm>
            <a:custGeom>
              <a:avLst/>
              <a:gdLst>
                <a:gd name="T0" fmla="*/ 0 w 515"/>
                <a:gd name="T1" fmla="*/ 312 h 312"/>
                <a:gd name="T2" fmla="*/ 515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13" name="Freeform 144"/>
            <p:cNvSpPr>
              <a:spLocks/>
            </p:cNvSpPr>
            <p:nvPr/>
          </p:nvSpPr>
          <p:spPr bwMode="auto">
            <a:xfrm>
              <a:off x="508" y="3336"/>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14" name="Freeform 145"/>
            <p:cNvSpPr>
              <a:spLocks/>
            </p:cNvSpPr>
            <p:nvPr/>
          </p:nvSpPr>
          <p:spPr bwMode="auto">
            <a:xfrm>
              <a:off x="1138" y="2957"/>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15" name="Freeform 146"/>
            <p:cNvSpPr>
              <a:spLocks/>
            </p:cNvSpPr>
            <p:nvPr/>
          </p:nvSpPr>
          <p:spPr bwMode="auto">
            <a:xfrm>
              <a:off x="1090" y="3404"/>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16" name="Oval 147"/>
            <p:cNvSpPr>
              <a:spLocks noChangeArrowheads="1"/>
            </p:cNvSpPr>
            <p:nvPr/>
          </p:nvSpPr>
          <p:spPr bwMode="auto">
            <a:xfrm>
              <a:off x="960" y="3648"/>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5217" name="Oval 148"/>
            <p:cNvSpPr>
              <a:spLocks noChangeArrowheads="1"/>
            </p:cNvSpPr>
            <p:nvPr/>
          </p:nvSpPr>
          <p:spPr bwMode="auto">
            <a:xfrm>
              <a:off x="384" y="32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35218" name="Oval 149"/>
            <p:cNvSpPr>
              <a:spLocks noChangeArrowheads="1"/>
            </p:cNvSpPr>
            <p:nvPr/>
          </p:nvSpPr>
          <p:spPr bwMode="auto">
            <a:xfrm>
              <a:off x="1008" y="2832"/>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5219" name="Oval 150"/>
            <p:cNvSpPr>
              <a:spLocks noChangeArrowheads="1"/>
            </p:cNvSpPr>
            <p:nvPr/>
          </p:nvSpPr>
          <p:spPr bwMode="auto">
            <a:xfrm>
              <a:off x="1632" y="32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35220" name="Text Box 151"/>
            <p:cNvSpPr txBox="1">
              <a:spLocks noChangeArrowheads="1"/>
            </p:cNvSpPr>
            <p:nvPr/>
          </p:nvSpPr>
          <p:spPr bwMode="auto">
            <a:xfrm>
              <a:off x="564" y="2928"/>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r>
                <a:rPr lang="en-US" sz="1800" b="1"/>
                <a:t>/4</a:t>
              </a:r>
            </a:p>
          </p:txBody>
        </p:sp>
        <p:sp>
          <p:nvSpPr>
            <p:cNvPr id="135221" name="Text Box 152"/>
            <p:cNvSpPr txBox="1">
              <a:spLocks noChangeArrowheads="1"/>
            </p:cNvSpPr>
            <p:nvPr/>
          </p:nvSpPr>
          <p:spPr bwMode="auto">
            <a:xfrm>
              <a:off x="1332" y="3552"/>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/7</a:t>
              </a:r>
            </a:p>
          </p:txBody>
        </p:sp>
        <p:sp>
          <p:nvSpPr>
            <p:cNvPr id="135222" name="Text Box 153"/>
            <p:cNvSpPr txBox="1">
              <a:spLocks noChangeArrowheads="1"/>
            </p:cNvSpPr>
            <p:nvPr/>
          </p:nvSpPr>
          <p:spPr bwMode="auto">
            <a:xfrm>
              <a:off x="1356" y="2928"/>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a:t>
              </a:r>
              <a:r>
                <a:rPr lang="en-US" sz="1800" b="1"/>
                <a:t>/5</a:t>
              </a:r>
            </a:p>
          </p:txBody>
        </p:sp>
        <p:sp>
          <p:nvSpPr>
            <p:cNvPr id="135223" name="Text Box 154"/>
            <p:cNvSpPr txBox="1">
              <a:spLocks noChangeArrowheads="1"/>
            </p:cNvSpPr>
            <p:nvPr/>
          </p:nvSpPr>
          <p:spPr bwMode="auto">
            <a:xfrm>
              <a:off x="528" y="3504"/>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/7</a:t>
              </a:r>
            </a:p>
          </p:txBody>
        </p:sp>
        <p:sp>
          <p:nvSpPr>
            <p:cNvPr id="135224" name="Text Box 155"/>
            <p:cNvSpPr txBox="1">
              <a:spLocks noChangeArrowheads="1"/>
            </p:cNvSpPr>
            <p:nvPr/>
          </p:nvSpPr>
          <p:spPr bwMode="auto">
            <a:xfrm>
              <a:off x="816" y="321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r>
                <a:rPr lang="en-US" sz="1800" b="1"/>
                <a:t>/3</a:t>
              </a:r>
            </a:p>
          </p:txBody>
        </p:sp>
        <p:sp>
          <p:nvSpPr>
            <p:cNvPr id="135225" name="Text Box 156"/>
            <p:cNvSpPr txBox="1">
              <a:spLocks noChangeArrowheads="1"/>
            </p:cNvSpPr>
            <p:nvPr/>
          </p:nvSpPr>
          <p:spPr bwMode="auto">
            <a:xfrm>
              <a:off x="576" y="3936"/>
              <a:ext cx="1081"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000"/>
                <a:t>Flow value = 9</a:t>
              </a:r>
            </a:p>
          </p:txBody>
        </p:sp>
      </p:grpSp>
      <p:grpSp>
        <p:nvGrpSpPr>
          <p:cNvPr id="226478" name="Group 174"/>
          <p:cNvGrpSpPr>
            <a:grpSpLocks/>
          </p:cNvGrpSpPr>
          <p:nvPr/>
        </p:nvGrpSpPr>
        <p:grpSpPr bwMode="auto">
          <a:xfrm>
            <a:off x="6477000" y="4572000"/>
            <a:ext cx="2447925" cy="2114550"/>
            <a:chOff x="3168" y="2832"/>
            <a:chExt cx="1542" cy="1332"/>
          </a:xfrm>
        </p:grpSpPr>
        <p:sp>
          <p:nvSpPr>
            <p:cNvPr id="135196" name="Freeform 158"/>
            <p:cNvSpPr>
              <a:spLocks/>
            </p:cNvSpPr>
            <p:nvPr/>
          </p:nvSpPr>
          <p:spPr bwMode="auto">
            <a:xfrm>
              <a:off x="3895" y="3058"/>
              <a:ext cx="1" cy="698"/>
            </a:xfrm>
            <a:custGeom>
              <a:avLst/>
              <a:gdLst>
                <a:gd name="T0" fmla="*/ 0 w 1"/>
                <a:gd name="T1" fmla="*/ 698 h 698"/>
                <a:gd name="T2" fmla="*/ 0 w 1"/>
                <a:gd name="T3" fmla="*/ 0 h 698"/>
                <a:gd name="T4" fmla="*/ 0 60000 65536"/>
                <a:gd name="T5" fmla="*/ 0 60000 65536"/>
              </a:gdLst>
              <a:ahLst/>
              <a:cxnLst>
                <a:cxn ang="T4">
                  <a:pos x="T0" y="T1"/>
                </a:cxn>
                <a:cxn ang="T5">
                  <a:pos x="T2" y="T3"/>
                </a:cxn>
              </a:cxnLst>
              <a:rect l="0" t="0" r="r" b="b"/>
              <a:pathLst>
                <a:path w="1" h="698">
                  <a:moveTo>
                    <a:pt x="0" y="698"/>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endParaRPr lang="en-CA"/>
            </a:p>
          </p:txBody>
        </p:sp>
        <p:sp>
          <p:nvSpPr>
            <p:cNvPr id="135197" name="Freeform 159"/>
            <p:cNvSpPr>
              <a:spLocks/>
            </p:cNvSpPr>
            <p:nvPr/>
          </p:nvSpPr>
          <p:spPr bwMode="auto">
            <a:xfrm>
              <a:off x="3298" y="3004"/>
              <a:ext cx="515" cy="312"/>
            </a:xfrm>
            <a:custGeom>
              <a:avLst/>
              <a:gdLst>
                <a:gd name="T0" fmla="*/ 0 w 515"/>
                <a:gd name="T1" fmla="*/ 312 h 312"/>
                <a:gd name="T2" fmla="*/ 515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198" name="Freeform 160"/>
            <p:cNvSpPr>
              <a:spLocks/>
            </p:cNvSpPr>
            <p:nvPr/>
          </p:nvSpPr>
          <p:spPr bwMode="auto">
            <a:xfrm>
              <a:off x="3292" y="3336"/>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199" name="Freeform 161"/>
            <p:cNvSpPr>
              <a:spLocks/>
            </p:cNvSpPr>
            <p:nvPr/>
          </p:nvSpPr>
          <p:spPr bwMode="auto">
            <a:xfrm>
              <a:off x="3922" y="2957"/>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00" name="Freeform 162"/>
            <p:cNvSpPr>
              <a:spLocks/>
            </p:cNvSpPr>
            <p:nvPr/>
          </p:nvSpPr>
          <p:spPr bwMode="auto">
            <a:xfrm>
              <a:off x="3874" y="3404"/>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201" name="Oval 163"/>
            <p:cNvSpPr>
              <a:spLocks noChangeArrowheads="1"/>
            </p:cNvSpPr>
            <p:nvPr/>
          </p:nvSpPr>
          <p:spPr bwMode="auto">
            <a:xfrm>
              <a:off x="3744" y="3648"/>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b</a:t>
              </a:r>
            </a:p>
          </p:txBody>
        </p:sp>
        <p:sp>
          <p:nvSpPr>
            <p:cNvPr id="135202" name="Oval 164"/>
            <p:cNvSpPr>
              <a:spLocks noChangeArrowheads="1"/>
            </p:cNvSpPr>
            <p:nvPr/>
          </p:nvSpPr>
          <p:spPr bwMode="auto">
            <a:xfrm>
              <a:off x="3168" y="32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5203" name="Oval 165"/>
            <p:cNvSpPr>
              <a:spLocks noChangeArrowheads="1"/>
            </p:cNvSpPr>
            <p:nvPr/>
          </p:nvSpPr>
          <p:spPr bwMode="auto">
            <a:xfrm>
              <a:off x="3792" y="2832"/>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a</a:t>
              </a:r>
            </a:p>
          </p:txBody>
        </p:sp>
        <p:sp>
          <p:nvSpPr>
            <p:cNvPr id="135204" name="Oval 166"/>
            <p:cNvSpPr>
              <a:spLocks noChangeArrowheads="1"/>
            </p:cNvSpPr>
            <p:nvPr/>
          </p:nvSpPr>
          <p:spPr bwMode="auto">
            <a:xfrm>
              <a:off x="4416" y="32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35205" name="Text Box 167"/>
            <p:cNvSpPr txBox="1">
              <a:spLocks noChangeArrowheads="1"/>
            </p:cNvSpPr>
            <p:nvPr/>
          </p:nvSpPr>
          <p:spPr bwMode="auto">
            <a:xfrm>
              <a:off x="3348" y="2928"/>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/4</a:t>
              </a:r>
            </a:p>
          </p:txBody>
        </p:sp>
        <p:sp>
          <p:nvSpPr>
            <p:cNvPr id="135206" name="Text Box 168"/>
            <p:cNvSpPr txBox="1">
              <a:spLocks noChangeArrowheads="1"/>
            </p:cNvSpPr>
            <p:nvPr/>
          </p:nvSpPr>
          <p:spPr bwMode="auto">
            <a:xfrm>
              <a:off x="4116" y="3552"/>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6</a:t>
              </a:r>
              <a:r>
                <a:rPr lang="en-US" sz="1800" b="1"/>
                <a:t>/7</a:t>
              </a:r>
            </a:p>
          </p:txBody>
        </p:sp>
        <p:sp>
          <p:nvSpPr>
            <p:cNvPr id="135207" name="Text Box 169"/>
            <p:cNvSpPr txBox="1">
              <a:spLocks noChangeArrowheads="1"/>
            </p:cNvSpPr>
            <p:nvPr/>
          </p:nvSpPr>
          <p:spPr bwMode="auto">
            <a:xfrm>
              <a:off x="4140" y="2928"/>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a:t>
              </a:r>
              <a:r>
                <a:rPr lang="en-US" sz="1800" b="1"/>
                <a:t>/5</a:t>
              </a:r>
            </a:p>
          </p:txBody>
        </p:sp>
        <p:sp>
          <p:nvSpPr>
            <p:cNvPr id="135208" name="Text Box 170"/>
            <p:cNvSpPr txBox="1">
              <a:spLocks noChangeArrowheads="1"/>
            </p:cNvSpPr>
            <p:nvPr/>
          </p:nvSpPr>
          <p:spPr bwMode="auto">
            <a:xfrm>
              <a:off x="3312" y="3504"/>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/7</a:t>
              </a:r>
            </a:p>
          </p:txBody>
        </p:sp>
        <p:sp>
          <p:nvSpPr>
            <p:cNvPr id="135209" name="Text Box 171"/>
            <p:cNvSpPr txBox="1">
              <a:spLocks noChangeArrowheads="1"/>
            </p:cNvSpPr>
            <p:nvPr/>
          </p:nvSpPr>
          <p:spPr bwMode="auto">
            <a:xfrm>
              <a:off x="3600" y="321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a:t>
              </a:r>
              <a:r>
                <a:rPr lang="en-US" sz="1800" b="1"/>
                <a:t>/3</a:t>
              </a:r>
            </a:p>
          </p:txBody>
        </p:sp>
        <p:sp>
          <p:nvSpPr>
            <p:cNvPr id="135210" name="Text Box 172"/>
            <p:cNvSpPr txBox="1">
              <a:spLocks noChangeArrowheads="1"/>
            </p:cNvSpPr>
            <p:nvPr/>
          </p:nvSpPr>
          <p:spPr bwMode="auto">
            <a:xfrm>
              <a:off x="3216" y="3936"/>
              <a:ext cx="1494"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000"/>
                <a:t>Max Flow value = 11</a:t>
              </a:r>
            </a:p>
          </p:txBody>
        </p:sp>
      </p:grpSp>
      <p:grpSp>
        <p:nvGrpSpPr>
          <p:cNvPr id="226498" name="Group 194"/>
          <p:cNvGrpSpPr>
            <a:grpSpLocks/>
          </p:cNvGrpSpPr>
          <p:nvPr/>
        </p:nvGrpSpPr>
        <p:grpSpPr bwMode="auto">
          <a:xfrm>
            <a:off x="3810000" y="4724400"/>
            <a:ext cx="2133600" cy="1066800"/>
            <a:chOff x="1440" y="1632"/>
            <a:chExt cx="1344" cy="672"/>
          </a:xfrm>
        </p:grpSpPr>
        <p:sp>
          <p:nvSpPr>
            <p:cNvPr id="135194" name="AutoShape 195"/>
            <p:cNvSpPr>
              <a:spLocks noChangeArrowheads="1"/>
            </p:cNvSpPr>
            <p:nvPr/>
          </p:nvSpPr>
          <p:spPr bwMode="auto">
            <a:xfrm>
              <a:off x="1440" y="1968"/>
              <a:ext cx="1344" cy="336"/>
            </a:xfrm>
            <a:prstGeom prst="rightArrow">
              <a:avLst>
                <a:gd name="adj1" fmla="val 50000"/>
                <a:gd name="adj2" fmla="val 100000"/>
              </a:avLst>
            </a:prstGeom>
            <a:solidFill>
              <a:srgbClr val="CC0000"/>
            </a:solid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35195" name="Text Box 196"/>
            <p:cNvSpPr txBox="1">
              <a:spLocks noChangeArrowheads="1"/>
            </p:cNvSpPr>
            <p:nvPr/>
          </p:nvSpPr>
          <p:spPr bwMode="auto">
            <a:xfrm>
              <a:off x="1872" y="1632"/>
              <a:ext cx="244" cy="343"/>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3200" b="1" dirty="0">
                  <a:solidFill>
                    <a:srgbClr val="CC0000"/>
                  </a:solidFill>
                </a:rPr>
                <a:t>?</a:t>
              </a:r>
            </a:p>
          </p:txBody>
        </p:sp>
      </p:grpSp>
      <p:grpSp>
        <p:nvGrpSpPr>
          <p:cNvPr id="226506" name="Group 202"/>
          <p:cNvGrpSpPr>
            <a:grpSpLocks/>
          </p:cNvGrpSpPr>
          <p:nvPr/>
        </p:nvGrpSpPr>
        <p:grpSpPr bwMode="auto">
          <a:xfrm>
            <a:off x="3496469" y="4260850"/>
            <a:ext cx="2514600" cy="2438400"/>
            <a:chOff x="2160" y="2688"/>
            <a:chExt cx="1584" cy="1536"/>
          </a:xfrm>
        </p:grpSpPr>
        <p:sp>
          <p:nvSpPr>
            <p:cNvPr id="135181" name="Rectangle 201"/>
            <p:cNvSpPr>
              <a:spLocks noChangeArrowheads="1"/>
            </p:cNvSpPr>
            <p:nvPr/>
          </p:nvSpPr>
          <p:spPr bwMode="auto">
            <a:xfrm>
              <a:off x="2160" y="2976"/>
              <a:ext cx="1584" cy="1248"/>
            </a:xfrm>
            <a:prstGeom prst="rect">
              <a:avLst/>
            </a:prstGeom>
            <a:solidFill>
              <a:srgbClr val="FFFF66"/>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35182" name="Freeform 178"/>
            <p:cNvSpPr>
              <a:spLocks/>
            </p:cNvSpPr>
            <p:nvPr/>
          </p:nvSpPr>
          <p:spPr bwMode="auto">
            <a:xfrm>
              <a:off x="2976" y="3577"/>
              <a:ext cx="500" cy="215"/>
            </a:xfrm>
            <a:custGeom>
              <a:avLst/>
              <a:gdLst>
                <a:gd name="T0" fmla="*/ 0 w 596"/>
                <a:gd name="T1" fmla="*/ 215 h 359"/>
                <a:gd name="T2" fmla="*/ 500 w 596"/>
                <a:gd name="T3" fmla="*/ 0 h 359"/>
                <a:gd name="T4" fmla="*/ 0 60000 65536"/>
                <a:gd name="T5" fmla="*/ 0 60000 65536"/>
              </a:gdLst>
              <a:ahLst/>
              <a:cxnLst>
                <a:cxn ang="T4">
                  <a:pos x="T0" y="T1"/>
                </a:cxn>
                <a:cxn ang="T5">
                  <a:pos x="T2" y="T3"/>
                </a:cxn>
              </a:cxnLst>
              <a:rect l="0" t="0" r="r" b="b"/>
              <a:pathLst>
                <a:path w="596" h="359">
                  <a:moveTo>
                    <a:pt x="0" y="359"/>
                  </a:moveTo>
                  <a:lnTo>
                    <a:pt x="596"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183" name="Freeform 177"/>
            <p:cNvSpPr>
              <a:spLocks/>
            </p:cNvSpPr>
            <p:nvPr/>
          </p:nvSpPr>
          <p:spPr bwMode="auto">
            <a:xfrm flipV="1">
              <a:off x="2332" y="3168"/>
              <a:ext cx="500" cy="343"/>
            </a:xfrm>
            <a:custGeom>
              <a:avLst/>
              <a:gdLst>
                <a:gd name="T0" fmla="*/ 0 w 467"/>
                <a:gd name="T1" fmla="*/ 0 h 373"/>
                <a:gd name="T2" fmla="*/ 500 w 467"/>
                <a:gd name="T3" fmla="*/ 34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184" name="Oval 181"/>
            <p:cNvSpPr>
              <a:spLocks noChangeArrowheads="1"/>
            </p:cNvSpPr>
            <p:nvPr/>
          </p:nvSpPr>
          <p:spPr bwMode="auto">
            <a:xfrm>
              <a:off x="2832" y="3007"/>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5185" name="Text Box 183"/>
            <p:cNvSpPr txBox="1">
              <a:spLocks noChangeArrowheads="1"/>
            </p:cNvSpPr>
            <p:nvPr/>
          </p:nvSpPr>
          <p:spPr bwMode="auto">
            <a:xfrm>
              <a:off x="3168" y="3696"/>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endParaRPr lang="en-US" sz="1800" b="1"/>
            </a:p>
          </p:txBody>
        </p:sp>
        <p:sp>
          <p:nvSpPr>
            <p:cNvPr id="135186" name="Text Box 184"/>
            <p:cNvSpPr txBox="1">
              <a:spLocks noChangeArrowheads="1"/>
            </p:cNvSpPr>
            <p:nvPr/>
          </p:nvSpPr>
          <p:spPr bwMode="auto">
            <a:xfrm>
              <a:off x="2448" y="3120"/>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dirty="0">
                  <a:solidFill>
                    <a:srgbClr val="CC0000"/>
                  </a:solidFill>
                </a:rPr>
                <a:t>2</a:t>
              </a:r>
              <a:endParaRPr lang="en-US" sz="1800" b="1" dirty="0"/>
            </a:p>
          </p:txBody>
        </p:sp>
        <p:sp>
          <p:nvSpPr>
            <p:cNvPr id="135187" name="Text Box 185"/>
            <p:cNvSpPr txBox="1">
              <a:spLocks noChangeArrowheads="1"/>
            </p:cNvSpPr>
            <p:nvPr/>
          </p:nvSpPr>
          <p:spPr bwMode="auto">
            <a:xfrm>
              <a:off x="2736" y="3360"/>
              <a:ext cx="236"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endParaRPr lang="en-US" sz="1800" b="1"/>
            </a:p>
          </p:txBody>
        </p:sp>
        <p:sp>
          <p:nvSpPr>
            <p:cNvPr id="135188" name="Rectangle 188"/>
            <p:cNvSpPr>
              <a:spLocks noChangeArrowheads="1"/>
            </p:cNvSpPr>
            <p:nvPr/>
          </p:nvSpPr>
          <p:spPr bwMode="auto">
            <a:xfrm>
              <a:off x="2830" y="2688"/>
              <a:ext cx="246" cy="3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pPr algn="ctr">
                <a:buFont typeface="Wingdings" pitchFamily="2" charset="2"/>
                <a:buNone/>
              </a:pPr>
              <a:r>
                <a:rPr lang="en-US" sz="2800" b="1" dirty="0"/>
                <a:t>+</a:t>
              </a:r>
            </a:p>
          </p:txBody>
        </p:sp>
        <p:sp>
          <p:nvSpPr>
            <p:cNvPr id="135189" name="Oval 182"/>
            <p:cNvSpPr>
              <a:spLocks noChangeArrowheads="1"/>
            </p:cNvSpPr>
            <p:nvPr/>
          </p:nvSpPr>
          <p:spPr bwMode="auto">
            <a:xfrm>
              <a:off x="3456" y="3391"/>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35190" name="Oval 180"/>
            <p:cNvSpPr>
              <a:spLocks noChangeArrowheads="1"/>
            </p:cNvSpPr>
            <p:nvPr/>
          </p:nvSpPr>
          <p:spPr bwMode="auto">
            <a:xfrm>
              <a:off x="2208" y="3391"/>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5191" name="Line 198"/>
            <p:cNvSpPr>
              <a:spLocks noChangeShapeType="1"/>
            </p:cNvSpPr>
            <p:nvPr/>
          </p:nvSpPr>
          <p:spPr bwMode="auto">
            <a:xfrm flipV="1">
              <a:off x="2976" y="3216"/>
              <a:ext cx="0" cy="57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5192" name="Oval 179"/>
            <p:cNvSpPr>
              <a:spLocks noChangeArrowheads="1"/>
            </p:cNvSpPr>
            <p:nvPr/>
          </p:nvSpPr>
          <p:spPr bwMode="auto">
            <a:xfrm>
              <a:off x="2832" y="369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b</a:t>
              </a:r>
            </a:p>
          </p:txBody>
        </p:sp>
        <p:sp>
          <p:nvSpPr>
            <p:cNvPr id="135193" name="Rectangle 200"/>
            <p:cNvSpPr>
              <a:spLocks noChangeArrowheads="1"/>
            </p:cNvSpPr>
            <p:nvPr/>
          </p:nvSpPr>
          <p:spPr bwMode="auto">
            <a:xfrm>
              <a:off x="2352" y="3984"/>
              <a:ext cx="1185"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p>
              <a:pPr algn="ctr">
                <a:buFont typeface="Wingdings" pitchFamily="2" charset="2"/>
                <a:buNone/>
              </a:pPr>
              <a:r>
                <a:rPr lang="en-US" sz="2000"/>
                <a:t>augmenting path</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132</a:t>
            </a:fld>
            <a:endParaRPr lang="en-US"/>
          </a:p>
        </p:txBody>
      </p:sp>
    </p:spTree>
    <p:extLst>
      <p:ext uri="{BB962C8B-B14F-4D97-AF65-F5344CB8AC3E}">
        <p14:creationId xmlns:p14="http://schemas.microsoft.com/office/powerpoint/2010/main" val="1542544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26506"/>
                                        </p:tgtEl>
                                        <p:attrNameLst>
                                          <p:attrName>style.visibility</p:attrName>
                                        </p:attrNameLst>
                                      </p:cBhvr>
                                      <p:to>
                                        <p:strVal val="visible"/>
                                      </p:to>
                                    </p:set>
                                    <p:animEffect transition="in" filter="fade">
                                      <p:cBhvr>
                                        <p:cTn id="7" dur="1000"/>
                                        <p:tgtEl>
                                          <p:spTgt spid="226506"/>
                                        </p:tgtEl>
                                      </p:cBhvr>
                                    </p:animEffect>
                                    <p:anim calcmode="lin" valueType="num">
                                      <p:cBhvr>
                                        <p:cTn id="8" dur="1000" fill="hold"/>
                                        <p:tgtEl>
                                          <p:spTgt spid="226506"/>
                                        </p:tgtEl>
                                        <p:attrNameLst>
                                          <p:attrName>ppt_x</p:attrName>
                                        </p:attrNameLst>
                                      </p:cBhvr>
                                      <p:tavLst>
                                        <p:tav tm="0">
                                          <p:val>
                                            <p:strVal val="#ppt_x"/>
                                          </p:val>
                                        </p:tav>
                                        <p:tav tm="100000">
                                          <p:val>
                                            <p:strVal val="#ppt_x"/>
                                          </p:val>
                                        </p:tav>
                                      </p:tavLst>
                                    </p:anim>
                                    <p:anim calcmode="lin" valueType="num">
                                      <p:cBhvr>
                                        <p:cTn id="9" dur="1000" fill="hold"/>
                                        <p:tgtEl>
                                          <p:spTgt spid="22650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Augmenting Path</a:t>
            </a:r>
          </a:p>
        </p:txBody>
      </p:sp>
      <p:sp>
        <p:nvSpPr>
          <p:cNvPr id="96260" name="Rectangle 4"/>
          <p:cNvSpPr>
            <a:spLocks noChangeArrowheads="1"/>
          </p:cNvSpPr>
          <p:nvPr/>
        </p:nvSpPr>
        <p:spPr bwMode="auto">
          <a:xfrm>
            <a:off x="228600" y="762000"/>
            <a:ext cx="8686800" cy="21907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marL="288925" indent="-288925" eaLnBrk="1" hangingPunct="1">
              <a:spcBef>
                <a:spcPct val="50000"/>
              </a:spcBef>
              <a:buFont typeface="Wingdings" pitchFamily="2" charset="2"/>
              <a:buChar char="§"/>
            </a:pPr>
            <a:r>
              <a:rPr lang="en-US" sz="2000">
                <a:solidFill>
                  <a:schemeClr val="tx2"/>
                </a:solidFill>
              </a:rPr>
              <a:t>f  =  a feasible flow in G </a:t>
            </a:r>
          </a:p>
          <a:p>
            <a:pPr marL="288925" indent="-288925" eaLnBrk="1" hangingPunct="1">
              <a:spcBef>
                <a:spcPct val="50000"/>
              </a:spcBef>
              <a:buFont typeface="Wingdings" pitchFamily="2" charset="2"/>
              <a:buChar char="§"/>
            </a:pPr>
            <a:r>
              <a:rPr lang="en-US" sz="2000">
                <a:solidFill>
                  <a:schemeClr val="tx2"/>
                </a:solidFill>
              </a:rPr>
              <a:t>p is an </a:t>
            </a:r>
            <a:r>
              <a:rPr lang="en-US" sz="2000" b="1">
                <a:solidFill>
                  <a:srgbClr val="CC0000"/>
                </a:solidFill>
              </a:rPr>
              <a:t>augmenting path</a:t>
            </a:r>
            <a:r>
              <a:rPr lang="en-US" sz="2000">
                <a:solidFill>
                  <a:schemeClr val="tx2"/>
                </a:solidFill>
              </a:rPr>
              <a:t> with respect to flow f  in G  if:</a:t>
            </a:r>
          </a:p>
          <a:p>
            <a:pPr marL="760413" lvl="1" indent="-280988" eaLnBrk="1" hangingPunct="1">
              <a:spcBef>
                <a:spcPct val="50000"/>
              </a:spcBef>
              <a:buFont typeface="Wingdings" pitchFamily="2" charset="2"/>
              <a:buChar char="Ø"/>
            </a:pPr>
            <a:r>
              <a:rPr lang="en-US" sz="2000">
                <a:solidFill>
                  <a:schemeClr val="tx2"/>
                </a:solidFill>
              </a:rPr>
              <a:t>p is an s-t path in G if we ignore edge directions,</a:t>
            </a:r>
          </a:p>
          <a:p>
            <a:pPr marL="760413" lvl="1" indent="-280988" eaLnBrk="1" hangingPunct="1">
              <a:spcBef>
                <a:spcPct val="50000"/>
              </a:spcBef>
              <a:buFont typeface="Wingdings" pitchFamily="2" charset="2"/>
              <a:buChar char="Ø"/>
            </a:pPr>
            <a:r>
              <a:rPr lang="en-US" sz="2000">
                <a:solidFill>
                  <a:schemeClr val="tx2"/>
                </a:solidFill>
              </a:rPr>
              <a:t>every forward edge e on p is un-saturated,  i.e.,  f(e) &lt; c(e),</a:t>
            </a:r>
          </a:p>
          <a:p>
            <a:pPr marL="760413" lvl="1" indent="-280988" eaLnBrk="1" hangingPunct="1">
              <a:spcBef>
                <a:spcPct val="50000"/>
              </a:spcBef>
              <a:buFont typeface="Wingdings" pitchFamily="2" charset="2"/>
              <a:buChar char="Ø"/>
            </a:pPr>
            <a:r>
              <a:rPr lang="en-US" sz="2000">
                <a:solidFill>
                  <a:schemeClr val="tx2"/>
                </a:solidFill>
              </a:rPr>
              <a:t>every backward edge e on p carries positive flow, i.e., f(e) &gt; 0. </a:t>
            </a:r>
            <a:endParaRPr lang="en-US" sz="2000" b="1">
              <a:solidFill>
                <a:srgbClr val="CC0000"/>
              </a:solidFill>
            </a:endParaRPr>
          </a:p>
        </p:txBody>
      </p:sp>
      <p:sp>
        <p:nvSpPr>
          <p:cNvPr id="96306" name="Rectangle 50"/>
          <p:cNvSpPr>
            <a:spLocks noChangeArrowheads="1"/>
          </p:cNvSpPr>
          <p:nvPr/>
        </p:nvSpPr>
        <p:spPr bwMode="auto">
          <a:xfrm>
            <a:off x="838200" y="4343400"/>
            <a:ext cx="7154863" cy="12763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buFont typeface="Wingdings" pitchFamily="2" charset="2"/>
              <a:buNone/>
            </a:pPr>
            <a:r>
              <a:rPr lang="en-US" sz="2000" b="1">
                <a:solidFill>
                  <a:srgbClr val="CC0000"/>
                </a:solidFill>
                <a:cs typeface="Times New Roman" pitchFamily="18" charset="0"/>
              </a:rPr>
              <a:t>Residual capacity</a:t>
            </a:r>
            <a:r>
              <a:rPr lang="en-US" sz="2000">
                <a:cs typeface="Times New Roman" pitchFamily="18" charset="0"/>
              </a:rPr>
              <a:t> of  “edge” (u,v) on p:</a:t>
            </a:r>
          </a:p>
          <a:p>
            <a:pPr>
              <a:buFont typeface="Wingdings" pitchFamily="2" charset="2"/>
              <a:buNone/>
            </a:pPr>
            <a:endParaRPr lang="en-US" sz="2000">
              <a:cs typeface="Times New Roman" pitchFamily="18" charset="0"/>
            </a:endParaRPr>
          </a:p>
          <a:p>
            <a:pPr>
              <a:buFont typeface="Wingdings" pitchFamily="2" charset="2"/>
              <a:buNone/>
            </a:pPr>
            <a:r>
              <a:rPr lang="en-US" sz="2000">
                <a:cs typeface="Times New Roman" pitchFamily="18" charset="0"/>
              </a:rPr>
              <a:t>ĉ(u,v)  =  </a:t>
            </a:r>
            <a:r>
              <a:rPr lang="en-US" sz="2000"/>
              <a:t>c(u,v) – f(u,v)        	if (u,v) is a   </a:t>
            </a:r>
            <a:r>
              <a:rPr lang="en-US" sz="2000" b="1">
                <a:solidFill>
                  <a:srgbClr val="CC0000"/>
                </a:solidFill>
              </a:rPr>
              <a:t>forward</a:t>
            </a:r>
            <a:r>
              <a:rPr lang="en-US" sz="2000"/>
              <a:t>  edge on p</a:t>
            </a:r>
          </a:p>
          <a:p>
            <a:pPr>
              <a:buFont typeface="Wingdings" pitchFamily="2" charset="2"/>
              <a:buNone/>
            </a:pPr>
            <a:r>
              <a:rPr lang="en-US" sz="2000">
                <a:cs typeface="Times New Roman" pitchFamily="18" charset="0"/>
              </a:rPr>
              <a:t>ĉ(u,v)  =  </a:t>
            </a:r>
            <a:r>
              <a:rPr lang="en-US" sz="2000"/>
              <a:t>f(v,u)        		if (v,u) is a </a:t>
            </a:r>
            <a:r>
              <a:rPr lang="en-US" sz="2000" b="1">
                <a:solidFill>
                  <a:srgbClr val="CC0000"/>
                </a:solidFill>
              </a:rPr>
              <a:t>backward</a:t>
            </a:r>
            <a:r>
              <a:rPr lang="en-US" sz="2000"/>
              <a:t> edge on p</a:t>
            </a:r>
          </a:p>
        </p:txBody>
      </p:sp>
      <p:grpSp>
        <p:nvGrpSpPr>
          <p:cNvPr id="96309" name="Group 53"/>
          <p:cNvGrpSpPr>
            <a:grpSpLocks/>
          </p:cNvGrpSpPr>
          <p:nvPr/>
        </p:nvGrpSpPr>
        <p:grpSpPr bwMode="auto">
          <a:xfrm>
            <a:off x="838200" y="3200400"/>
            <a:ext cx="6254750" cy="738188"/>
            <a:chOff x="528" y="2016"/>
            <a:chExt cx="3940" cy="465"/>
          </a:xfrm>
        </p:grpSpPr>
        <p:grpSp>
          <p:nvGrpSpPr>
            <p:cNvPr id="136198" name="Group 51"/>
            <p:cNvGrpSpPr>
              <a:grpSpLocks/>
            </p:cNvGrpSpPr>
            <p:nvPr/>
          </p:nvGrpSpPr>
          <p:grpSpPr bwMode="auto">
            <a:xfrm>
              <a:off x="528" y="2256"/>
              <a:ext cx="3940" cy="225"/>
              <a:chOff x="480" y="2064"/>
              <a:chExt cx="3940" cy="225"/>
            </a:xfrm>
          </p:grpSpPr>
          <p:sp>
            <p:nvSpPr>
              <p:cNvPr id="136200" name="Oval 35"/>
              <p:cNvSpPr>
                <a:spLocks noChangeArrowheads="1"/>
              </p:cNvSpPr>
              <p:nvPr/>
            </p:nvSpPr>
            <p:spPr bwMode="auto">
              <a:xfrm>
                <a:off x="480" y="20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6201" name="Oval 36"/>
              <p:cNvSpPr>
                <a:spLocks noChangeArrowheads="1"/>
              </p:cNvSpPr>
              <p:nvPr/>
            </p:nvSpPr>
            <p:spPr bwMode="auto">
              <a:xfrm>
                <a:off x="1008" y="20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 </a:t>
                </a:r>
              </a:p>
            </p:txBody>
          </p:sp>
          <p:sp>
            <p:nvSpPr>
              <p:cNvPr id="136202" name="Line 37"/>
              <p:cNvSpPr>
                <a:spLocks noChangeShapeType="1"/>
              </p:cNvSpPr>
              <p:nvPr/>
            </p:nvSpPr>
            <p:spPr bwMode="auto">
              <a:xfrm>
                <a:off x="720" y="2160"/>
                <a:ext cx="2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36203" name="Oval 38"/>
              <p:cNvSpPr>
                <a:spLocks noChangeArrowheads="1"/>
              </p:cNvSpPr>
              <p:nvPr/>
            </p:nvSpPr>
            <p:spPr bwMode="auto">
              <a:xfrm>
                <a:off x="1536" y="20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 </a:t>
                </a:r>
              </a:p>
            </p:txBody>
          </p:sp>
          <p:sp>
            <p:nvSpPr>
              <p:cNvPr id="136204" name="Line 39"/>
              <p:cNvSpPr>
                <a:spLocks noChangeShapeType="1"/>
              </p:cNvSpPr>
              <p:nvPr/>
            </p:nvSpPr>
            <p:spPr bwMode="auto">
              <a:xfrm>
                <a:off x="1248" y="2160"/>
                <a:ext cx="288"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36205" name="Oval 40"/>
              <p:cNvSpPr>
                <a:spLocks noChangeArrowheads="1"/>
              </p:cNvSpPr>
              <p:nvPr/>
            </p:nvSpPr>
            <p:spPr bwMode="auto">
              <a:xfrm>
                <a:off x="2064" y="20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 </a:t>
                </a:r>
              </a:p>
            </p:txBody>
          </p:sp>
          <p:sp>
            <p:nvSpPr>
              <p:cNvPr id="136206" name="Line 41"/>
              <p:cNvSpPr>
                <a:spLocks noChangeShapeType="1"/>
              </p:cNvSpPr>
              <p:nvPr/>
            </p:nvSpPr>
            <p:spPr bwMode="auto">
              <a:xfrm>
                <a:off x="1776" y="2160"/>
                <a:ext cx="2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36207" name="Oval 42"/>
              <p:cNvSpPr>
                <a:spLocks noChangeArrowheads="1"/>
              </p:cNvSpPr>
              <p:nvPr/>
            </p:nvSpPr>
            <p:spPr bwMode="auto">
              <a:xfrm>
                <a:off x="2592" y="20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 </a:t>
                </a:r>
              </a:p>
            </p:txBody>
          </p:sp>
          <p:sp>
            <p:nvSpPr>
              <p:cNvPr id="136208" name="Line 43"/>
              <p:cNvSpPr>
                <a:spLocks noChangeShapeType="1"/>
              </p:cNvSpPr>
              <p:nvPr/>
            </p:nvSpPr>
            <p:spPr bwMode="auto">
              <a:xfrm>
                <a:off x="2304" y="2160"/>
                <a:ext cx="288" cy="0"/>
              </a:xfrm>
              <a:prstGeom prst="line">
                <a:avLst/>
              </a:prstGeom>
              <a:noFill/>
              <a:ln w="1905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36209" name="Oval 44"/>
              <p:cNvSpPr>
                <a:spLocks noChangeArrowheads="1"/>
              </p:cNvSpPr>
              <p:nvPr/>
            </p:nvSpPr>
            <p:spPr bwMode="auto">
              <a:xfrm>
                <a:off x="3120" y="20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 </a:t>
                </a:r>
              </a:p>
            </p:txBody>
          </p:sp>
          <p:sp>
            <p:nvSpPr>
              <p:cNvPr id="136210" name="Line 45"/>
              <p:cNvSpPr>
                <a:spLocks noChangeShapeType="1"/>
              </p:cNvSpPr>
              <p:nvPr/>
            </p:nvSpPr>
            <p:spPr bwMode="auto">
              <a:xfrm>
                <a:off x="2832" y="2160"/>
                <a:ext cx="288"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36211" name="Oval 46"/>
              <p:cNvSpPr>
                <a:spLocks noChangeArrowheads="1"/>
              </p:cNvSpPr>
              <p:nvPr/>
            </p:nvSpPr>
            <p:spPr bwMode="auto">
              <a:xfrm>
                <a:off x="3648" y="20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 </a:t>
                </a:r>
              </a:p>
            </p:txBody>
          </p:sp>
          <p:sp>
            <p:nvSpPr>
              <p:cNvPr id="136212" name="Line 47"/>
              <p:cNvSpPr>
                <a:spLocks noChangeShapeType="1"/>
              </p:cNvSpPr>
              <p:nvPr/>
            </p:nvSpPr>
            <p:spPr bwMode="auto">
              <a:xfrm>
                <a:off x="3360" y="2160"/>
                <a:ext cx="2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36213" name="Oval 48"/>
              <p:cNvSpPr>
                <a:spLocks noChangeArrowheads="1"/>
              </p:cNvSpPr>
              <p:nvPr/>
            </p:nvSpPr>
            <p:spPr bwMode="auto">
              <a:xfrm>
                <a:off x="4176" y="20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36214" name="Line 49"/>
              <p:cNvSpPr>
                <a:spLocks noChangeShapeType="1"/>
              </p:cNvSpPr>
              <p:nvPr/>
            </p:nvSpPr>
            <p:spPr bwMode="auto">
              <a:xfrm>
                <a:off x="3888" y="2160"/>
                <a:ext cx="288"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grpSp>
        <p:sp>
          <p:nvSpPr>
            <p:cNvPr id="136199" name="Rectangle 52"/>
            <p:cNvSpPr>
              <a:spLocks noChangeArrowheads="1"/>
            </p:cNvSpPr>
            <p:nvPr/>
          </p:nvSpPr>
          <p:spPr bwMode="auto">
            <a:xfrm>
              <a:off x="2016" y="2016"/>
              <a:ext cx="1305" cy="22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buFont typeface="Wingdings" pitchFamily="2" charset="2"/>
                <a:buNone/>
              </a:pPr>
              <a:r>
                <a:rPr lang="en-US" sz="2000">
                  <a:solidFill>
                    <a:schemeClr val="tx2"/>
                  </a:solidFill>
                </a:rPr>
                <a:t>augmenting path p</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133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96258"/>
                                        </p:tgtEl>
                                        <p:attrNameLst>
                                          <p:attrName>style.visibility</p:attrName>
                                        </p:attrNameLst>
                                      </p:cBhvr>
                                      <p:to>
                                        <p:strVal val="visible"/>
                                      </p:to>
                                    </p:set>
                                    <p:anim calcmode="lin" valueType="num">
                                      <p:cBhvr>
                                        <p:cTn id="7" dur="500" fill="hold"/>
                                        <p:tgtEl>
                                          <p:spTgt spid="96258"/>
                                        </p:tgtEl>
                                        <p:attrNameLst>
                                          <p:attrName>ppt_w</p:attrName>
                                        </p:attrNameLst>
                                      </p:cBhvr>
                                      <p:tavLst>
                                        <p:tav tm="0">
                                          <p:val>
                                            <p:fltVal val="0"/>
                                          </p:val>
                                        </p:tav>
                                        <p:tav tm="100000">
                                          <p:val>
                                            <p:strVal val="#ppt_w"/>
                                          </p:val>
                                        </p:tav>
                                      </p:tavLst>
                                    </p:anim>
                                    <p:anim calcmode="lin" valueType="num">
                                      <p:cBhvr>
                                        <p:cTn id="8" dur="500" fill="hold"/>
                                        <p:tgtEl>
                                          <p:spTgt spid="9625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96260"/>
                                        </p:tgtEl>
                                        <p:attrNameLst>
                                          <p:attrName>style.visibility</p:attrName>
                                        </p:attrNameLst>
                                      </p:cBhvr>
                                      <p:to>
                                        <p:strVal val="visible"/>
                                      </p:to>
                                    </p:set>
                                    <p:animEffect transition="in" filter="wipe(up)">
                                      <p:cBhvr>
                                        <p:cTn id="13" dur="500"/>
                                        <p:tgtEl>
                                          <p:spTgt spid="96260"/>
                                        </p:tgtEl>
                                      </p:cBhvr>
                                    </p:animEffect>
                                  </p:childTnLst>
                                </p:cTn>
                              </p:par>
                            </p:childTnLst>
                          </p:cTn>
                        </p:par>
                        <p:par>
                          <p:cTn id="14" fill="hold" nodeType="afterGroup">
                            <p:stCondLst>
                              <p:cond delay="500"/>
                            </p:stCondLst>
                            <p:childTnLst>
                              <p:par>
                                <p:cTn id="15" presetID="22" presetClass="entr" presetSubtype="8" fill="hold" nodeType="afterEffect">
                                  <p:stCondLst>
                                    <p:cond delay="1000"/>
                                  </p:stCondLst>
                                  <p:childTnLst>
                                    <p:set>
                                      <p:cBhvr>
                                        <p:cTn id="16" dur="1" fill="hold">
                                          <p:stCondLst>
                                            <p:cond delay="0"/>
                                          </p:stCondLst>
                                        </p:cTn>
                                        <p:tgtEl>
                                          <p:spTgt spid="96309"/>
                                        </p:tgtEl>
                                        <p:attrNameLst>
                                          <p:attrName>style.visibility</p:attrName>
                                        </p:attrNameLst>
                                      </p:cBhvr>
                                      <p:to>
                                        <p:strVal val="visible"/>
                                      </p:to>
                                    </p:set>
                                    <p:animEffect transition="in" filter="wipe(left)">
                                      <p:cBhvr>
                                        <p:cTn id="17" dur="500"/>
                                        <p:tgtEl>
                                          <p:spTgt spid="9630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6306"/>
                                        </p:tgtEl>
                                        <p:attrNameLst>
                                          <p:attrName>style.visibility</p:attrName>
                                        </p:attrNameLst>
                                      </p:cBhvr>
                                      <p:to>
                                        <p:strVal val="visible"/>
                                      </p:to>
                                    </p:set>
                                    <p:animEffect transition="in" filter="wipe(up)">
                                      <p:cBhvr>
                                        <p:cTn id="22" dur="500"/>
                                        <p:tgtEl>
                                          <p:spTgt spid="96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animBg="1" autoUpdateAnimBg="0"/>
      <p:bldP spid="96260" grpId="0" autoUpdateAnimBg="0"/>
      <p:bldP spid="96306" grpId="0" autoUpdateAnimBg="0"/>
    </p:bldLst>
  </p:timing>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9379" name="Rectangle 3"/>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The Residual Graph G(f)</a:t>
            </a:r>
          </a:p>
        </p:txBody>
      </p:sp>
      <p:sp>
        <p:nvSpPr>
          <p:cNvPr id="229380" name="Rectangle 4"/>
          <p:cNvSpPr>
            <a:spLocks noChangeArrowheads="1"/>
          </p:cNvSpPr>
          <p:nvPr/>
        </p:nvSpPr>
        <p:spPr bwMode="auto">
          <a:xfrm>
            <a:off x="304800" y="838200"/>
            <a:ext cx="8077200" cy="3619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marL="288925" indent="-288925" eaLnBrk="1" hangingPunct="1">
              <a:spcBef>
                <a:spcPct val="50000"/>
              </a:spcBef>
              <a:buFont typeface="Wingdings" pitchFamily="2" charset="2"/>
              <a:buNone/>
            </a:pPr>
            <a:r>
              <a:rPr lang="en-US" sz="2000" dirty="0">
                <a:solidFill>
                  <a:schemeClr val="tx2"/>
                </a:solidFill>
              </a:rPr>
              <a:t>To help find augmenting paths, we define    </a:t>
            </a:r>
            <a:r>
              <a:rPr lang="en-US" sz="2000" b="1" dirty="0">
                <a:solidFill>
                  <a:srgbClr val="CC0000"/>
                </a:solidFill>
              </a:rPr>
              <a:t>The Residual Graph  G(f):</a:t>
            </a:r>
            <a:endParaRPr lang="en-US" sz="2000" dirty="0">
              <a:solidFill>
                <a:schemeClr val="tx2"/>
              </a:solidFill>
            </a:endParaRPr>
          </a:p>
        </p:txBody>
      </p:sp>
      <p:grpSp>
        <p:nvGrpSpPr>
          <p:cNvPr id="229442" name="Group 66"/>
          <p:cNvGrpSpPr>
            <a:grpSpLocks/>
          </p:cNvGrpSpPr>
          <p:nvPr/>
        </p:nvGrpSpPr>
        <p:grpSpPr bwMode="auto">
          <a:xfrm>
            <a:off x="838200" y="1295400"/>
            <a:ext cx="6653213" cy="2667000"/>
            <a:chOff x="528" y="816"/>
            <a:chExt cx="4191" cy="1680"/>
          </a:xfrm>
        </p:grpSpPr>
        <p:sp>
          <p:nvSpPr>
            <p:cNvPr id="137259" name="Line 63"/>
            <p:cNvSpPr>
              <a:spLocks noChangeShapeType="1"/>
            </p:cNvSpPr>
            <p:nvPr/>
          </p:nvSpPr>
          <p:spPr bwMode="auto">
            <a:xfrm>
              <a:off x="720" y="1776"/>
              <a:ext cx="91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37260" name="Oval 6"/>
            <p:cNvSpPr>
              <a:spLocks noChangeArrowheads="1"/>
            </p:cNvSpPr>
            <p:nvPr/>
          </p:nvSpPr>
          <p:spPr bwMode="auto">
            <a:xfrm>
              <a:off x="528" y="1680"/>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u</a:t>
              </a:r>
            </a:p>
          </p:txBody>
        </p:sp>
        <p:sp>
          <p:nvSpPr>
            <p:cNvPr id="137261" name="Oval 7"/>
            <p:cNvSpPr>
              <a:spLocks noChangeArrowheads="1"/>
            </p:cNvSpPr>
            <p:nvPr/>
          </p:nvSpPr>
          <p:spPr bwMode="auto">
            <a:xfrm>
              <a:off x="1632" y="1680"/>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v</a:t>
              </a:r>
            </a:p>
          </p:txBody>
        </p:sp>
        <p:sp>
          <p:nvSpPr>
            <p:cNvPr id="137262" name="Text Box 8"/>
            <p:cNvSpPr txBox="1">
              <a:spLocks noChangeArrowheads="1"/>
            </p:cNvSpPr>
            <p:nvPr/>
          </p:nvSpPr>
          <p:spPr bwMode="auto">
            <a:xfrm>
              <a:off x="624" y="1920"/>
              <a:ext cx="117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ym typeface="Symbol" pitchFamily="18" charset="2"/>
                </a:rPr>
                <a:t>0  </a:t>
              </a:r>
              <a:r>
                <a:rPr lang="en-US" sz="1800" b="1">
                  <a:solidFill>
                    <a:srgbClr val="CC0000"/>
                  </a:solidFill>
                </a:rPr>
                <a:t>f(u,v)</a:t>
              </a:r>
              <a:r>
                <a:rPr lang="en-US" sz="1800" b="1"/>
                <a:t> </a:t>
              </a:r>
              <a:r>
                <a:rPr lang="en-US" sz="1800" b="1">
                  <a:sym typeface="Symbol" pitchFamily="18" charset="2"/>
                </a:rPr>
                <a:t></a:t>
              </a:r>
              <a:r>
                <a:rPr lang="en-US" sz="1800" b="1"/>
                <a:t> c(u,v)</a:t>
              </a:r>
            </a:p>
          </p:txBody>
        </p:sp>
        <p:sp>
          <p:nvSpPr>
            <p:cNvPr id="137263" name="Text Box 9"/>
            <p:cNvSpPr txBox="1">
              <a:spLocks noChangeArrowheads="1"/>
            </p:cNvSpPr>
            <p:nvPr/>
          </p:nvSpPr>
          <p:spPr bwMode="auto">
            <a:xfrm>
              <a:off x="1008" y="1296"/>
              <a:ext cx="409" cy="22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000"/>
                <a:t>G, f:</a:t>
              </a:r>
            </a:p>
          </p:txBody>
        </p:sp>
        <p:sp>
          <p:nvSpPr>
            <p:cNvPr id="137264" name="AutoShape 10"/>
            <p:cNvSpPr>
              <a:spLocks noChangeArrowheads="1"/>
            </p:cNvSpPr>
            <p:nvPr/>
          </p:nvSpPr>
          <p:spPr bwMode="auto">
            <a:xfrm>
              <a:off x="2208" y="1728"/>
              <a:ext cx="528" cy="144"/>
            </a:xfrm>
            <a:prstGeom prst="rightArrow">
              <a:avLst>
                <a:gd name="adj1" fmla="val 50000"/>
                <a:gd name="adj2" fmla="val 91667"/>
              </a:avLst>
            </a:prstGeom>
            <a:solidFill>
              <a:srgbClr val="CC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37265" name="Line 2"/>
            <p:cNvSpPr>
              <a:spLocks noChangeShapeType="1"/>
            </p:cNvSpPr>
            <p:nvPr/>
          </p:nvSpPr>
          <p:spPr bwMode="auto">
            <a:xfrm>
              <a:off x="3504" y="1248"/>
              <a:ext cx="96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37266" name="Oval 11"/>
            <p:cNvSpPr>
              <a:spLocks noChangeArrowheads="1"/>
            </p:cNvSpPr>
            <p:nvPr/>
          </p:nvSpPr>
          <p:spPr bwMode="auto">
            <a:xfrm>
              <a:off x="3312" y="1152"/>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u</a:t>
              </a:r>
            </a:p>
          </p:txBody>
        </p:sp>
        <p:sp>
          <p:nvSpPr>
            <p:cNvPr id="137267" name="Oval 12"/>
            <p:cNvSpPr>
              <a:spLocks noChangeArrowheads="1"/>
            </p:cNvSpPr>
            <p:nvPr/>
          </p:nvSpPr>
          <p:spPr bwMode="auto">
            <a:xfrm>
              <a:off x="4464" y="1152"/>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v</a:t>
              </a:r>
            </a:p>
          </p:txBody>
        </p:sp>
        <p:sp>
          <p:nvSpPr>
            <p:cNvPr id="137268" name="Text Box 13"/>
            <p:cNvSpPr txBox="1">
              <a:spLocks noChangeArrowheads="1"/>
            </p:cNvSpPr>
            <p:nvPr/>
          </p:nvSpPr>
          <p:spPr bwMode="auto">
            <a:xfrm>
              <a:off x="3253" y="1344"/>
              <a:ext cx="1442" cy="38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cs typeface="Times New Roman" pitchFamily="18" charset="0"/>
                </a:rPr>
                <a:t>ĉ(u,v) = </a:t>
              </a:r>
              <a:r>
                <a:rPr lang="en-US" sz="1800" b="1"/>
                <a:t>c(u,v) – f(u,v)</a:t>
              </a:r>
              <a:br>
                <a:rPr lang="en-US" sz="1800" b="1"/>
              </a:br>
              <a:r>
                <a:rPr lang="en-US" sz="1800" b="1">
                  <a:solidFill>
                    <a:srgbClr val="CC0000"/>
                  </a:solidFill>
                </a:rPr>
                <a:t>if  &gt; 0</a:t>
              </a:r>
            </a:p>
          </p:txBody>
        </p:sp>
        <p:sp>
          <p:nvSpPr>
            <p:cNvPr id="137269" name="Rectangle 14"/>
            <p:cNvSpPr>
              <a:spLocks noChangeArrowheads="1"/>
            </p:cNvSpPr>
            <p:nvPr/>
          </p:nvSpPr>
          <p:spPr bwMode="auto">
            <a:xfrm>
              <a:off x="3744" y="816"/>
              <a:ext cx="435" cy="22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buFont typeface="Wingdings" pitchFamily="2" charset="2"/>
                <a:buNone/>
              </a:pPr>
              <a:r>
                <a:rPr lang="en-US" sz="2000">
                  <a:solidFill>
                    <a:schemeClr val="tx2"/>
                  </a:solidFill>
                </a:rPr>
                <a:t>G(f):</a:t>
              </a:r>
            </a:p>
          </p:txBody>
        </p:sp>
        <p:sp>
          <p:nvSpPr>
            <p:cNvPr id="137270" name="Line 15"/>
            <p:cNvSpPr>
              <a:spLocks noChangeShapeType="1"/>
            </p:cNvSpPr>
            <p:nvPr/>
          </p:nvSpPr>
          <p:spPr bwMode="auto">
            <a:xfrm>
              <a:off x="3567" y="2033"/>
              <a:ext cx="993"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10800">
              <a:spAutoFit/>
            </a:bodyPr>
            <a:lstStyle/>
            <a:p>
              <a:endParaRPr lang="en-CA"/>
            </a:p>
          </p:txBody>
        </p:sp>
        <p:sp>
          <p:nvSpPr>
            <p:cNvPr id="137271" name="Oval 16"/>
            <p:cNvSpPr>
              <a:spLocks noChangeArrowheads="1"/>
            </p:cNvSpPr>
            <p:nvPr/>
          </p:nvSpPr>
          <p:spPr bwMode="auto">
            <a:xfrm>
              <a:off x="3323" y="1920"/>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u</a:t>
              </a:r>
            </a:p>
          </p:txBody>
        </p:sp>
        <p:sp>
          <p:nvSpPr>
            <p:cNvPr id="137272" name="Oval 17"/>
            <p:cNvSpPr>
              <a:spLocks noChangeArrowheads="1"/>
            </p:cNvSpPr>
            <p:nvPr/>
          </p:nvSpPr>
          <p:spPr bwMode="auto">
            <a:xfrm>
              <a:off x="4475" y="1920"/>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v</a:t>
              </a:r>
            </a:p>
          </p:txBody>
        </p:sp>
        <p:sp>
          <p:nvSpPr>
            <p:cNvPr id="137273" name="Text Box 18"/>
            <p:cNvSpPr txBox="1">
              <a:spLocks noChangeArrowheads="1"/>
            </p:cNvSpPr>
            <p:nvPr/>
          </p:nvSpPr>
          <p:spPr bwMode="auto">
            <a:xfrm>
              <a:off x="3510" y="2112"/>
              <a:ext cx="950" cy="38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cs typeface="Times New Roman" pitchFamily="18" charset="0"/>
                </a:rPr>
                <a:t>ĉ(v,u) = </a:t>
              </a:r>
              <a:r>
                <a:rPr lang="en-US" sz="1800" b="1"/>
                <a:t>f(u,v)</a:t>
              </a:r>
              <a:br>
                <a:rPr lang="en-US" sz="1800" b="1"/>
              </a:br>
              <a:r>
                <a:rPr lang="en-US" sz="1800" b="1">
                  <a:solidFill>
                    <a:srgbClr val="CC0000"/>
                  </a:solidFill>
                </a:rPr>
                <a:t>if  &gt; 0</a:t>
              </a:r>
            </a:p>
          </p:txBody>
        </p:sp>
        <p:sp>
          <p:nvSpPr>
            <p:cNvPr id="137274" name="AutoShape 19"/>
            <p:cNvSpPr>
              <a:spLocks/>
            </p:cNvSpPr>
            <p:nvPr/>
          </p:nvSpPr>
          <p:spPr bwMode="auto">
            <a:xfrm>
              <a:off x="2928" y="1104"/>
              <a:ext cx="144" cy="1392"/>
            </a:xfrm>
            <a:prstGeom prst="leftBrace">
              <a:avLst>
                <a:gd name="adj1" fmla="val 80556"/>
                <a:gd name="adj2" fmla="val 50000"/>
              </a:avLst>
            </a:prstGeom>
            <a:noFill/>
            <a:ln w="19050">
              <a:solidFill>
                <a:srgbClr val="CC000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grpSp>
      <p:grpSp>
        <p:nvGrpSpPr>
          <p:cNvPr id="229436" name="Group 60"/>
          <p:cNvGrpSpPr>
            <a:grpSpLocks/>
          </p:cNvGrpSpPr>
          <p:nvPr/>
        </p:nvGrpSpPr>
        <p:grpSpPr bwMode="auto">
          <a:xfrm>
            <a:off x="762000" y="4267200"/>
            <a:ext cx="7169150" cy="2185988"/>
            <a:chOff x="672" y="2784"/>
            <a:chExt cx="4516" cy="1377"/>
          </a:xfrm>
        </p:grpSpPr>
        <p:grpSp>
          <p:nvGrpSpPr>
            <p:cNvPr id="137222" name="Group 57"/>
            <p:cNvGrpSpPr>
              <a:grpSpLocks/>
            </p:cNvGrpSpPr>
            <p:nvPr/>
          </p:nvGrpSpPr>
          <p:grpSpPr bwMode="auto">
            <a:xfrm>
              <a:off x="672" y="3024"/>
              <a:ext cx="1492" cy="1089"/>
              <a:chOff x="720" y="2784"/>
              <a:chExt cx="1492" cy="1089"/>
            </a:xfrm>
          </p:grpSpPr>
          <p:sp>
            <p:nvSpPr>
              <p:cNvPr id="137245" name="Line 35"/>
              <p:cNvSpPr>
                <a:spLocks noChangeShapeType="1"/>
              </p:cNvSpPr>
              <p:nvPr/>
            </p:nvSpPr>
            <p:spPr bwMode="auto">
              <a:xfrm flipV="1">
                <a:off x="1440" y="3024"/>
                <a:ext cx="0" cy="72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37246" name="Freeform 22"/>
              <p:cNvSpPr>
                <a:spLocks/>
              </p:cNvSpPr>
              <p:nvPr/>
            </p:nvSpPr>
            <p:spPr bwMode="auto">
              <a:xfrm>
                <a:off x="850" y="2976"/>
                <a:ext cx="494" cy="340"/>
              </a:xfrm>
              <a:custGeom>
                <a:avLst/>
                <a:gdLst>
                  <a:gd name="T0" fmla="*/ 0 w 515"/>
                  <a:gd name="T1" fmla="*/ 340 h 312"/>
                  <a:gd name="T2" fmla="*/ 494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7247" name="Freeform 23"/>
              <p:cNvSpPr>
                <a:spLocks/>
              </p:cNvSpPr>
              <p:nvPr/>
            </p:nvSpPr>
            <p:spPr bwMode="auto">
              <a:xfrm>
                <a:off x="844" y="3336"/>
                <a:ext cx="467" cy="373"/>
              </a:xfrm>
              <a:custGeom>
                <a:avLst/>
                <a:gdLst>
                  <a:gd name="T0" fmla="*/ 0 w 467"/>
                  <a:gd name="T1" fmla="*/ 0 h 373"/>
                  <a:gd name="T2" fmla="*/ 467 w 467"/>
                  <a:gd name="T3" fmla="*/ 373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7248" name="Freeform 24"/>
              <p:cNvSpPr>
                <a:spLocks/>
              </p:cNvSpPr>
              <p:nvPr/>
            </p:nvSpPr>
            <p:spPr bwMode="auto">
              <a:xfrm>
                <a:off x="1474" y="2957"/>
                <a:ext cx="501" cy="318"/>
              </a:xfrm>
              <a:custGeom>
                <a:avLst/>
                <a:gdLst>
                  <a:gd name="T0" fmla="*/ 0 w 501"/>
                  <a:gd name="T1" fmla="*/ 0 h 318"/>
                  <a:gd name="T2" fmla="*/ 501 w 501"/>
                  <a:gd name="T3" fmla="*/ 318 h 318"/>
                  <a:gd name="T4" fmla="*/ 0 60000 65536"/>
                  <a:gd name="T5" fmla="*/ 0 60000 65536"/>
                </a:gdLst>
                <a:ahLst/>
                <a:cxnLst>
                  <a:cxn ang="T4">
                    <a:pos x="T0" y="T1"/>
                  </a:cxn>
                  <a:cxn ang="T5">
                    <a:pos x="T2" y="T3"/>
                  </a:cxn>
                </a:cxnLst>
                <a:rect l="0" t="0" r="r" b="b"/>
                <a:pathLst>
                  <a:path w="501" h="318">
                    <a:moveTo>
                      <a:pt x="0" y="0"/>
                    </a:moveTo>
                    <a:lnTo>
                      <a:pt x="501" y="318"/>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7249" name="Freeform 25"/>
              <p:cNvSpPr>
                <a:spLocks/>
              </p:cNvSpPr>
              <p:nvPr/>
            </p:nvSpPr>
            <p:spPr bwMode="auto">
              <a:xfrm>
                <a:off x="1426" y="3404"/>
                <a:ext cx="563" cy="359"/>
              </a:xfrm>
              <a:custGeom>
                <a:avLst/>
                <a:gdLst>
                  <a:gd name="T0" fmla="*/ 0 w 563"/>
                  <a:gd name="T1" fmla="*/ 359 h 359"/>
                  <a:gd name="T2" fmla="*/ 563 w 563"/>
                  <a:gd name="T3" fmla="*/ 0 h 359"/>
                  <a:gd name="T4" fmla="*/ 0 60000 65536"/>
                  <a:gd name="T5" fmla="*/ 0 60000 65536"/>
                </a:gdLst>
                <a:ahLst/>
                <a:cxnLst>
                  <a:cxn ang="T4">
                    <a:pos x="T0" y="T1"/>
                  </a:cxn>
                  <a:cxn ang="T5">
                    <a:pos x="T2" y="T3"/>
                  </a:cxn>
                </a:cxnLst>
                <a:rect l="0" t="0" r="r" b="b"/>
                <a:pathLst>
                  <a:path w="563" h="359">
                    <a:moveTo>
                      <a:pt x="0" y="359"/>
                    </a:moveTo>
                    <a:lnTo>
                      <a:pt x="56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7250" name="Oval 26"/>
              <p:cNvSpPr>
                <a:spLocks noChangeArrowheads="1"/>
              </p:cNvSpPr>
              <p:nvPr/>
            </p:nvSpPr>
            <p:spPr bwMode="auto">
              <a:xfrm>
                <a:off x="1296" y="3648"/>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7251" name="Oval 27"/>
              <p:cNvSpPr>
                <a:spLocks noChangeArrowheads="1"/>
              </p:cNvSpPr>
              <p:nvPr/>
            </p:nvSpPr>
            <p:spPr bwMode="auto">
              <a:xfrm>
                <a:off x="720" y="32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7252" name="Oval 28"/>
              <p:cNvSpPr>
                <a:spLocks noChangeArrowheads="1"/>
              </p:cNvSpPr>
              <p:nvPr/>
            </p:nvSpPr>
            <p:spPr bwMode="auto">
              <a:xfrm>
                <a:off x="1296" y="278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7253" name="Oval 29"/>
              <p:cNvSpPr>
                <a:spLocks noChangeArrowheads="1"/>
              </p:cNvSpPr>
              <p:nvPr/>
            </p:nvSpPr>
            <p:spPr bwMode="auto">
              <a:xfrm>
                <a:off x="1968" y="321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37254" name="Text Box 30"/>
              <p:cNvSpPr txBox="1">
                <a:spLocks noChangeArrowheads="1"/>
              </p:cNvSpPr>
              <p:nvPr/>
            </p:nvSpPr>
            <p:spPr bwMode="auto">
              <a:xfrm>
                <a:off x="900" y="2928"/>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/4</a:t>
                </a:r>
              </a:p>
            </p:txBody>
          </p:sp>
          <p:sp>
            <p:nvSpPr>
              <p:cNvPr id="137255" name="Text Box 31"/>
              <p:cNvSpPr txBox="1">
                <a:spLocks noChangeArrowheads="1"/>
              </p:cNvSpPr>
              <p:nvPr/>
            </p:nvSpPr>
            <p:spPr bwMode="auto">
              <a:xfrm>
                <a:off x="1668" y="3552"/>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3</a:t>
                </a:r>
                <a:r>
                  <a:rPr lang="en-US" sz="1800" b="1"/>
                  <a:t>/7</a:t>
                </a:r>
              </a:p>
            </p:txBody>
          </p:sp>
          <p:sp>
            <p:nvSpPr>
              <p:cNvPr id="137256" name="Text Box 32"/>
              <p:cNvSpPr txBox="1">
                <a:spLocks noChangeArrowheads="1"/>
              </p:cNvSpPr>
              <p:nvPr/>
            </p:nvSpPr>
            <p:spPr bwMode="auto">
              <a:xfrm>
                <a:off x="1692" y="2928"/>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6</a:t>
                </a:r>
                <a:r>
                  <a:rPr lang="en-US" sz="1800" b="1"/>
                  <a:t>/6</a:t>
                </a:r>
              </a:p>
            </p:txBody>
          </p:sp>
          <p:sp>
            <p:nvSpPr>
              <p:cNvPr id="137257" name="Text Box 33"/>
              <p:cNvSpPr txBox="1">
                <a:spLocks noChangeArrowheads="1"/>
              </p:cNvSpPr>
              <p:nvPr/>
            </p:nvSpPr>
            <p:spPr bwMode="auto">
              <a:xfrm>
                <a:off x="864" y="3504"/>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a:t>
                </a:r>
                <a:r>
                  <a:rPr lang="en-US" sz="1800" b="1"/>
                  <a:t>/7</a:t>
                </a:r>
              </a:p>
            </p:txBody>
          </p:sp>
          <p:sp>
            <p:nvSpPr>
              <p:cNvPr id="137258" name="Text Box 34"/>
              <p:cNvSpPr txBox="1">
                <a:spLocks noChangeArrowheads="1"/>
              </p:cNvSpPr>
              <p:nvPr/>
            </p:nvSpPr>
            <p:spPr bwMode="auto">
              <a:xfrm>
                <a:off x="1152" y="321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r>
                  <a:rPr lang="en-US" sz="1800" b="1"/>
                  <a:t>/3</a:t>
                </a:r>
              </a:p>
            </p:txBody>
          </p:sp>
        </p:grpSp>
        <p:grpSp>
          <p:nvGrpSpPr>
            <p:cNvPr id="137223" name="Group 58"/>
            <p:cNvGrpSpPr>
              <a:grpSpLocks/>
            </p:cNvGrpSpPr>
            <p:nvPr/>
          </p:nvGrpSpPr>
          <p:grpSpPr bwMode="auto">
            <a:xfrm>
              <a:off x="3216" y="2784"/>
              <a:ext cx="1972" cy="1377"/>
              <a:chOff x="2976" y="2784"/>
              <a:chExt cx="1972" cy="1377"/>
            </a:xfrm>
          </p:grpSpPr>
          <p:sp>
            <p:nvSpPr>
              <p:cNvPr id="137225" name="Freeform 36"/>
              <p:cNvSpPr>
                <a:spLocks/>
              </p:cNvSpPr>
              <p:nvPr/>
            </p:nvSpPr>
            <p:spPr bwMode="auto">
              <a:xfrm>
                <a:off x="3740" y="3002"/>
                <a:ext cx="129" cy="962"/>
              </a:xfrm>
              <a:custGeom>
                <a:avLst/>
                <a:gdLst>
                  <a:gd name="T0" fmla="*/ 129 w 129"/>
                  <a:gd name="T1" fmla="*/ 962 h 962"/>
                  <a:gd name="T2" fmla="*/ 1 w 129"/>
                  <a:gd name="T3" fmla="*/ 481 h 962"/>
                  <a:gd name="T4" fmla="*/ 123 w 129"/>
                  <a:gd name="T5" fmla="*/ 0 h 962"/>
                  <a:gd name="T6" fmla="*/ 0 60000 65536"/>
                  <a:gd name="T7" fmla="*/ 0 60000 65536"/>
                  <a:gd name="T8" fmla="*/ 0 60000 65536"/>
                </a:gdLst>
                <a:ahLst/>
                <a:cxnLst>
                  <a:cxn ang="T6">
                    <a:pos x="T0" y="T1"/>
                  </a:cxn>
                  <a:cxn ang="T7">
                    <a:pos x="T2" y="T3"/>
                  </a:cxn>
                  <a:cxn ang="T8">
                    <a:pos x="T4" y="T5"/>
                  </a:cxn>
                </a:cxnLst>
                <a:rect l="0" t="0" r="r" b="b"/>
                <a:pathLst>
                  <a:path w="129" h="962">
                    <a:moveTo>
                      <a:pt x="129" y="962"/>
                    </a:moveTo>
                    <a:cubicBezTo>
                      <a:pt x="108" y="882"/>
                      <a:pt x="2" y="641"/>
                      <a:pt x="1" y="481"/>
                    </a:cubicBezTo>
                    <a:cubicBezTo>
                      <a:pt x="0" y="321"/>
                      <a:pt x="98" y="100"/>
                      <a:pt x="123" y="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37226" name="Freeform 37"/>
              <p:cNvSpPr>
                <a:spLocks/>
              </p:cNvSpPr>
              <p:nvPr/>
            </p:nvSpPr>
            <p:spPr bwMode="auto">
              <a:xfrm>
                <a:off x="3198" y="2968"/>
                <a:ext cx="590" cy="393"/>
              </a:xfrm>
              <a:custGeom>
                <a:avLst/>
                <a:gdLst>
                  <a:gd name="T0" fmla="*/ 0 w 590"/>
                  <a:gd name="T1" fmla="*/ 393 h 393"/>
                  <a:gd name="T2" fmla="*/ 590 w 590"/>
                  <a:gd name="T3" fmla="*/ 0 h 393"/>
                  <a:gd name="T4" fmla="*/ 0 60000 65536"/>
                  <a:gd name="T5" fmla="*/ 0 60000 65536"/>
                </a:gdLst>
                <a:ahLst/>
                <a:cxnLst>
                  <a:cxn ang="T4">
                    <a:pos x="T0" y="T1"/>
                  </a:cxn>
                  <a:cxn ang="T5">
                    <a:pos x="T2" y="T3"/>
                  </a:cxn>
                </a:cxnLst>
                <a:rect l="0" t="0" r="r" b="b"/>
                <a:pathLst>
                  <a:path w="590" h="393">
                    <a:moveTo>
                      <a:pt x="0" y="393"/>
                    </a:moveTo>
                    <a:lnTo>
                      <a:pt x="590" y="0"/>
                    </a:lnTo>
                  </a:path>
                </a:pathLst>
              </a:custGeom>
              <a:noFill/>
              <a:ln w="1905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7227" name="Freeform 38"/>
              <p:cNvSpPr>
                <a:spLocks/>
              </p:cNvSpPr>
              <p:nvPr/>
            </p:nvSpPr>
            <p:spPr bwMode="auto">
              <a:xfrm>
                <a:off x="3144" y="3449"/>
                <a:ext cx="685" cy="529"/>
              </a:xfrm>
              <a:custGeom>
                <a:avLst/>
                <a:gdLst>
                  <a:gd name="T0" fmla="*/ 0 w 685"/>
                  <a:gd name="T1" fmla="*/ 0 h 529"/>
                  <a:gd name="T2" fmla="*/ 434 w 685"/>
                  <a:gd name="T3" fmla="*/ 258 h 529"/>
                  <a:gd name="T4" fmla="*/ 685 w 685"/>
                  <a:gd name="T5" fmla="*/ 529 h 529"/>
                  <a:gd name="T6" fmla="*/ 0 60000 65536"/>
                  <a:gd name="T7" fmla="*/ 0 60000 65536"/>
                  <a:gd name="T8" fmla="*/ 0 60000 65536"/>
                </a:gdLst>
                <a:ahLst/>
                <a:cxnLst>
                  <a:cxn ang="T6">
                    <a:pos x="T0" y="T1"/>
                  </a:cxn>
                  <a:cxn ang="T7">
                    <a:pos x="T2" y="T3"/>
                  </a:cxn>
                  <a:cxn ang="T8">
                    <a:pos x="T4" y="T5"/>
                  </a:cxn>
                </a:cxnLst>
                <a:rect l="0" t="0" r="r" b="b"/>
                <a:pathLst>
                  <a:path w="685" h="529">
                    <a:moveTo>
                      <a:pt x="0" y="0"/>
                    </a:moveTo>
                    <a:cubicBezTo>
                      <a:pt x="72" y="43"/>
                      <a:pt x="320" y="170"/>
                      <a:pt x="434" y="258"/>
                    </a:cubicBezTo>
                    <a:cubicBezTo>
                      <a:pt x="548" y="346"/>
                      <a:pt x="633" y="473"/>
                      <a:pt x="685" y="529"/>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7228" name="Freeform 39"/>
              <p:cNvSpPr>
                <a:spLocks/>
              </p:cNvSpPr>
              <p:nvPr/>
            </p:nvSpPr>
            <p:spPr bwMode="auto">
              <a:xfrm>
                <a:off x="3984" y="2928"/>
                <a:ext cx="739" cy="392"/>
              </a:xfrm>
              <a:custGeom>
                <a:avLst/>
                <a:gdLst>
                  <a:gd name="T0" fmla="*/ 0 w 739"/>
                  <a:gd name="T1" fmla="*/ 0 h 392"/>
                  <a:gd name="T2" fmla="*/ 739 w 739"/>
                  <a:gd name="T3" fmla="*/ 392 h 392"/>
                  <a:gd name="T4" fmla="*/ 0 60000 65536"/>
                  <a:gd name="T5" fmla="*/ 0 60000 65536"/>
                </a:gdLst>
                <a:ahLst/>
                <a:cxnLst>
                  <a:cxn ang="T4">
                    <a:pos x="T0" y="T1"/>
                  </a:cxn>
                  <a:cxn ang="T5">
                    <a:pos x="T2" y="T3"/>
                  </a:cxn>
                </a:cxnLst>
                <a:rect l="0" t="0" r="r" b="b"/>
                <a:pathLst>
                  <a:path w="739" h="392">
                    <a:moveTo>
                      <a:pt x="0" y="0"/>
                    </a:moveTo>
                    <a:lnTo>
                      <a:pt x="739" y="392"/>
                    </a:lnTo>
                  </a:path>
                </a:pathLst>
              </a:custGeom>
              <a:noFill/>
              <a:ln w="1905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7229" name="Freeform 40"/>
              <p:cNvSpPr>
                <a:spLocks/>
              </p:cNvSpPr>
              <p:nvPr/>
            </p:nvSpPr>
            <p:spPr bwMode="auto">
              <a:xfrm>
                <a:off x="3985" y="3429"/>
                <a:ext cx="738" cy="589"/>
              </a:xfrm>
              <a:custGeom>
                <a:avLst/>
                <a:gdLst>
                  <a:gd name="T0" fmla="*/ 0 w 738"/>
                  <a:gd name="T1" fmla="*/ 589 h 589"/>
                  <a:gd name="T2" fmla="*/ 305 w 738"/>
                  <a:gd name="T3" fmla="*/ 230 h 589"/>
                  <a:gd name="T4" fmla="*/ 738 w 738"/>
                  <a:gd name="T5" fmla="*/ 0 h 589"/>
                  <a:gd name="T6" fmla="*/ 0 60000 65536"/>
                  <a:gd name="T7" fmla="*/ 0 60000 65536"/>
                  <a:gd name="T8" fmla="*/ 0 60000 65536"/>
                </a:gdLst>
                <a:ahLst/>
                <a:cxnLst>
                  <a:cxn ang="T6">
                    <a:pos x="T0" y="T1"/>
                  </a:cxn>
                  <a:cxn ang="T7">
                    <a:pos x="T2" y="T3"/>
                  </a:cxn>
                  <a:cxn ang="T8">
                    <a:pos x="T4" y="T5"/>
                  </a:cxn>
                </a:cxnLst>
                <a:rect l="0" t="0" r="r" b="b"/>
                <a:pathLst>
                  <a:path w="738" h="589">
                    <a:moveTo>
                      <a:pt x="0" y="589"/>
                    </a:moveTo>
                    <a:cubicBezTo>
                      <a:pt x="51" y="529"/>
                      <a:pt x="182" y="328"/>
                      <a:pt x="305" y="230"/>
                    </a:cubicBezTo>
                    <a:cubicBezTo>
                      <a:pt x="428" y="132"/>
                      <a:pt x="648" y="48"/>
                      <a:pt x="738" y="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37230" name="Oval 41"/>
              <p:cNvSpPr>
                <a:spLocks noChangeArrowheads="1"/>
              </p:cNvSpPr>
              <p:nvPr/>
            </p:nvSpPr>
            <p:spPr bwMode="auto">
              <a:xfrm>
                <a:off x="3792" y="3936"/>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37231" name="Oval 42"/>
              <p:cNvSpPr>
                <a:spLocks noChangeArrowheads="1"/>
              </p:cNvSpPr>
              <p:nvPr/>
            </p:nvSpPr>
            <p:spPr bwMode="auto">
              <a:xfrm>
                <a:off x="2976" y="3312"/>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37232" name="Oval 43"/>
              <p:cNvSpPr>
                <a:spLocks noChangeArrowheads="1"/>
              </p:cNvSpPr>
              <p:nvPr/>
            </p:nvSpPr>
            <p:spPr bwMode="auto">
              <a:xfrm>
                <a:off x="3756" y="278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37233" name="Oval 44"/>
              <p:cNvSpPr>
                <a:spLocks noChangeArrowheads="1"/>
              </p:cNvSpPr>
              <p:nvPr/>
            </p:nvSpPr>
            <p:spPr bwMode="auto">
              <a:xfrm>
                <a:off x="4704" y="3264"/>
                <a:ext cx="244" cy="225"/>
              </a:xfrm>
              <a:prstGeom prst="ellipse">
                <a:avLst/>
              </a:prstGeom>
              <a:solidFill>
                <a:schemeClr val="accent3">
                  <a:lumMod val="6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37234" name="Text Box 45"/>
              <p:cNvSpPr txBox="1">
                <a:spLocks noChangeArrowheads="1"/>
              </p:cNvSpPr>
              <p:nvPr/>
            </p:nvSpPr>
            <p:spPr bwMode="auto">
              <a:xfrm>
                <a:off x="3312" y="2976"/>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4</a:t>
                </a:r>
              </a:p>
            </p:txBody>
          </p:sp>
          <p:sp>
            <p:nvSpPr>
              <p:cNvPr id="137235" name="Text Box 46"/>
              <p:cNvSpPr txBox="1">
                <a:spLocks noChangeArrowheads="1"/>
              </p:cNvSpPr>
              <p:nvPr/>
            </p:nvSpPr>
            <p:spPr bwMode="auto">
              <a:xfrm>
                <a:off x="4272" y="3552"/>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4</a:t>
                </a:r>
              </a:p>
            </p:txBody>
          </p:sp>
          <p:sp>
            <p:nvSpPr>
              <p:cNvPr id="137236" name="Text Box 47"/>
              <p:cNvSpPr txBox="1">
                <a:spLocks noChangeArrowheads="1"/>
              </p:cNvSpPr>
              <p:nvPr/>
            </p:nvSpPr>
            <p:spPr bwMode="auto">
              <a:xfrm>
                <a:off x="4328" y="2928"/>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6</a:t>
                </a:r>
              </a:p>
            </p:txBody>
          </p:sp>
          <p:sp>
            <p:nvSpPr>
              <p:cNvPr id="137237" name="Text Box 48"/>
              <p:cNvSpPr txBox="1">
                <a:spLocks noChangeArrowheads="1"/>
              </p:cNvSpPr>
              <p:nvPr/>
            </p:nvSpPr>
            <p:spPr bwMode="auto">
              <a:xfrm>
                <a:off x="3456" y="3648"/>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2</a:t>
                </a:r>
              </a:p>
            </p:txBody>
          </p:sp>
          <p:sp>
            <p:nvSpPr>
              <p:cNvPr id="137238" name="Text Box 49"/>
              <p:cNvSpPr txBox="1">
                <a:spLocks noChangeArrowheads="1"/>
              </p:cNvSpPr>
              <p:nvPr/>
            </p:nvSpPr>
            <p:spPr bwMode="auto">
              <a:xfrm>
                <a:off x="3696" y="3312"/>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1</a:t>
                </a:r>
              </a:p>
            </p:txBody>
          </p:sp>
          <p:sp>
            <p:nvSpPr>
              <p:cNvPr id="137239" name="Freeform 50"/>
              <p:cNvSpPr>
                <a:spLocks/>
              </p:cNvSpPr>
              <p:nvPr/>
            </p:nvSpPr>
            <p:spPr bwMode="auto">
              <a:xfrm>
                <a:off x="3144" y="3531"/>
                <a:ext cx="648" cy="549"/>
              </a:xfrm>
              <a:custGeom>
                <a:avLst/>
                <a:gdLst>
                  <a:gd name="T0" fmla="*/ 648 w 648"/>
                  <a:gd name="T1" fmla="*/ 549 h 549"/>
                  <a:gd name="T2" fmla="*/ 258 w 648"/>
                  <a:gd name="T3" fmla="*/ 386 h 549"/>
                  <a:gd name="T4" fmla="*/ 0 w 648"/>
                  <a:gd name="T5" fmla="*/ 0 h 549"/>
                  <a:gd name="T6" fmla="*/ 0 60000 65536"/>
                  <a:gd name="T7" fmla="*/ 0 60000 65536"/>
                  <a:gd name="T8" fmla="*/ 0 60000 65536"/>
                </a:gdLst>
                <a:ahLst/>
                <a:cxnLst>
                  <a:cxn ang="T6">
                    <a:pos x="T0" y="T1"/>
                  </a:cxn>
                  <a:cxn ang="T7">
                    <a:pos x="T2" y="T3"/>
                  </a:cxn>
                  <a:cxn ang="T8">
                    <a:pos x="T4" y="T5"/>
                  </a:cxn>
                </a:cxnLst>
                <a:rect l="0" t="0" r="r" b="b"/>
                <a:pathLst>
                  <a:path w="648" h="549">
                    <a:moveTo>
                      <a:pt x="648" y="549"/>
                    </a:moveTo>
                    <a:cubicBezTo>
                      <a:pt x="583" y="522"/>
                      <a:pt x="366" y="477"/>
                      <a:pt x="258" y="386"/>
                    </a:cubicBezTo>
                    <a:cubicBezTo>
                      <a:pt x="150" y="295"/>
                      <a:pt x="54" y="80"/>
                      <a:pt x="0" y="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37240" name="Freeform 51"/>
              <p:cNvSpPr>
                <a:spLocks/>
              </p:cNvSpPr>
              <p:nvPr/>
            </p:nvSpPr>
            <p:spPr bwMode="auto">
              <a:xfrm>
                <a:off x="4046" y="3476"/>
                <a:ext cx="745" cy="556"/>
              </a:xfrm>
              <a:custGeom>
                <a:avLst/>
                <a:gdLst>
                  <a:gd name="T0" fmla="*/ 745 w 745"/>
                  <a:gd name="T1" fmla="*/ 0 h 556"/>
                  <a:gd name="T2" fmla="*/ 474 w 745"/>
                  <a:gd name="T3" fmla="*/ 373 h 556"/>
                  <a:gd name="T4" fmla="*/ 0 w 745"/>
                  <a:gd name="T5" fmla="*/ 556 h 556"/>
                  <a:gd name="T6" fmla="*/ 0 60000 65536"/>
                  <a:gd name="T7" fmla="*/ 0 60000 65536"/>
                  <a:gd name="T8" fmla="*/ 0 60000 65536"/>
                </a:gdLst>
                <a:ahLst/>
                <a:cxnLst>
                  <a:cxn ang="T6">
                    <a:pos x="T0" y="T1"/>
                  </a:cxn>
                  <a:cxn ang="T7">
                    <a:pos x="T2" y="T3"/>
                  </a:cxn>
                  <a:cxn ang="T8">
                    <a:pos x="T4" y="T5"/>
                  </a:cxn>
                </a:cxnLst>
                <a:rect l="0" t="0" r="r" b="b"/>
                <a:pathLst>
                  <a:path w="745" h="556">
                    <a:moveTo>
                      <a:pt x="745" y="0"/>
                    </a:moveTo>
                    <a:cubicBezTo>
                      <a:pt x="700" y="62"/>
                      <a:pt x="598" y="280"/>
                      <a:pt x="474" y="373"/>
                    </a:cubicBezTo>
                    <a:cubicBezTo>
                      <a:pt x="350" y="466"/>
                      <a:pt x="99" y="518"/>
                      <a:pt x="0" y="556"/>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37241" name="Freeform 52"/>
              <p:cNvSpPr>
                <a:spLocks/>
              </p:cNvSpPr>
              <p:nvPr/>
            </p:nvSpPr>
            <p:spPr bwMode="auto">
              <a:xfrm>
                <a:off x="3917" y="3009"/>
                <a:ext cx="148" cy="928"/>
              </a:xfrm>
              <a:custGeom>
                <a:avLst/>
                <a:gdLst>
                  <a:gd name="T0" fmla="*/ 0 w 148"/>
                  <a:gd name="T1" fmla="*/ 0 h 928"/>
                  <a:gd name="T2" fmla="*/ 142 w 148"/>
                  <a:gd name="T3" fmla="*/ 454 h 928"/>
                  <a:gd name="T4" fmla="*/ 34 w 148"/>
                  <a:gd name="T5" fmla="*/ 928 h 928"/>
                  <a:gd name="T6" fmla="*/ 0 60000 65536"/>
                  <a:gd name="T7" fmla="*/ 0 60000 65536"/>
                  <a:gd name="T8" fmla="*/ 0 60000 65536"/>
                </a:gdLst>
                <a:ahLst/>
                <a:cxnLst>
                  <a:cxn ang="T6">
                    <a:pos x="T0" y="T1"/>
                  </a:cxn>
                  <a:cxn ang="T7">
                    <a:pos x="T2" y="T3"/>
                  </a:cxn>
                  <a:cxn ang="T8">
                    <a:pos x="T4" y="T5"/>
                  </a:cxn>
                </a:cxnLst>
                <a:rect l="0" t="0" r="r" b="b"/>
                <a:pathLst>
                  <a:path w="148" h="928">
                    <a:moveTo>
                      <a:pt x="0" y="0"/>
                    </a:moveTo>
                    <a:cubicBezTo>
                      <a:pt x="24" y="76"/>
                      <a:pt x="136" y="299"/>
                      <a:pt x="142" y="454"/>
                    </a:cubicBezTo>
                    <a:cubicBezTo>
                      <a:pt x="148" y="609"/>
                      <a:pt x="56" y="829"/>
                      <a:pt x="34" y="928"/>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37242" name="Text Box 54"/>
              <p:cNvSpPr txBox="1">
                <a:spLocks noChangeArrowheads="1"/>
              </p:cNvSpPr>
              <p:nvPr/>
            </p:nvSpPr>
            <p:spPr bwMode="auto">
              <a:xfrm>
                <a:off x="4032" y="3312"/>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2</a:t>
                </a:r>
              </a:p>
            </p:txBody>
          </p:sp>
          <p:sp>
            <p:nvSpPr>
              <p:cNvPr id="137243" name="Text Box 55"/>
              <p:cNvSpPr txBox="1">
                <a:spLocks noChangeArrowheads="1"/>
              </p:cNvSpPr>
              <p:nvPr/>
            </p:nvSpPr>
            <p:spPr bwMode="auto">
              <a:xfrm>
                <a:off x="3168" y="3792"/>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5</a:t>
                </a:r>
              </a:p>
            </p:txBody>
          </p:sp>
          <p:sp>
            <p:nvSpPr>
              <p:cNvPr id="137244" name="Text Box 56"/>
              <p:cNvSpPr txBox="1">
                <a:spLocks noChangeArrowheads="1"/>
              </p:cNvSpPr>
              <p:nvPr/>
            </p:nvSpPr>
            <p:spPr bwMode="auto">
              <a:xfrm>
                <a:off x="4512" y="3792"/>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3</a:t>
                </a:r>
              </a:p>
            </p:txBody>
          </p:sp>
        </p:grpSp>
        <p:sp>
          <p:nvSpPr>
            <p:cNvPr id="137224" name="AutoShape 59"/>
            <p:cNvSpPr>
              <a:spLocks noChangeArrowheads="1"/>
            </p:cNvSpPr>
            <p:nvPr/>
          </p:nvSpPr>
          <p:spPr bwMode="auto">
            <a:xfrm>
              <a:off x="2448" y="3408"/>
              <a:ext cx="528" cy="144"/>
            </a:xfrm>
            <a:prstGeom prst="rightArrow">
              <a:avLst>
                <a:gd name="adj1" fmla="val 50000"/>
                <a:gd name="adj2" fmla="val 91667"/>
              </a:avLst>
            </a:prstGeom>
            <a:solidFill>
              <a:srgbClr val="CC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134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29379"/>
                                        </p:tgtEl>
                                        <p:attrNameLst>
                                          <p:attrName>style.visibility</p:attrName>
                                        </p:attrNameLst>
                                      </p:cBhvr>
                                      <p:to>
                                        <p:strVal val="visible"/>
                                      </p:to>
                                    </p:set>
                                    <p:anim calcmode="lin" valueType="num">
                                      <p:cBhvr>
                                        <p:cTn id="7" dur="500" fill="hold"/>
                                        <p:tgtEl>
                                          <p:spTgt spid="229379"/>
                                        </p:tgtEl>
                                        <p:attrNameLst>
                                          <p:attrName>ppt_w</p:attrName>
                                        </p:attrNameLst>
                                      </p:cBhvr>
                                      <p:tavLst>
                                        <p:tav tm="0">
                                          <p:val>
                                            <p:fltVal val="0"/>
                                          </p:val>
                                        </p:tav>
                                        <p:tav tm="100000">
                                          <p:val>
                                            <p:strVal val="#ppt_w"/>
                                          </p:val>
                                        </p:tav>
                                      </p:tavLst>
                                    </p:anim>
                                    <p:anim calcmode="lin" valueType="num">
                                      <p:cBhvr>
                                        <p:cTn id="8" dur="500" fill="hold"/>
                                        <p:tgtEl>
                                          <p:spTgt spid="229379"/>
                                        </p:tgtEl>
                                        <p:attrNameLst>
                                          <p:attrName>ppt_h</p:attrName>
                                        </p:attrNameLst>
                                      </p:cBhvr>
                                      <p:tavLst>
                                        <p:tav tm="0">
                                          <p:val>
                                            <p:strVal val="#ppt_h"/>
                                          </p:val>
                                        </p:tav>
                                        <p:tav tm="100000">
                                          <p:val>
                                            <p:strVal val="#ppt_h"/>
                                          </p:val>
                                        </p:tav>
                                      </p:tavLst>
                                    </p:anim>
                                  </p:childTnLst>
                                </p:cTn>
                              </p:par>
                            </p:childTnLst>
                          </p:cTn>
                        </p:par>
                        <p:par>
                          <p:cTn id="9" fill="hold" nodeType="withGroup">
                            <p:stCondLst>
                              <p:cond delay="500"/>
                            </p:stCondLst>
                            <p:childTnLst>
                              <p:par>
                                <p:cTn id="10" presetID="22" presetClass="entr" presetSubtype="1" fill="hold" grpId="0" nodeType="afterEffect">
                                  <p:stCondLst>
                                    <p:cond delay="250"/>
                                  </p:stCondLst>
                                  <p:childTnLst>
                                    <p:set>
                                      <p:cBhvr>
                                        <p:cTn id="11" dur="1" fill="hold">
                                          <p:stCondLst>
                                            <p:cond delay="0"/>
                                          </p:stCondLst>
                                        </p:cTn>
                                        <p:tgtEl>
                                          <p:spTgt spid="229380"/>
                                        </p:tgtEl>
                                        <p:attrNameLst>
                                          <p:attrName>style.visibility</p:attrName>
                                        </p:attrNameLst>
                                      </p:cBhvr>
                                      <p:to>
                                        <p:strVal val="visible"/>
                                      </p:to>
                                    </p:set>
                                    <p:animEffect transition="in" filter="wipe(up)">
                                      <p:cBhvr>
                                        <p:cTn id="12" dur="500"/>
                                        <p:tgtEl>
                                          <p:spTgt spid="229380"/>
                                        </p:tgtEl>
                                      </p:cBhvr>
                                    </p:animEffect>
                                  </p:childTnLst>
                                </p:cTn>
                              </p:par>
                            </p:childTnLst>
                          </p:cTn>
                        </p:par>
                        <p:par>
                          <p:cTn id="13" fill="hold" nodeType="withGroup">
                            <p:stCondLst>
                              <p:cond delay="1250"/>
                            </p:stCondLst>
                            <p:childTnLst>
                              <p:par>
                                <p:cTn id="14" presetID="22" presetClass="entr" presetSubtype="8" fill="hold" nodeType="afterEffect">
                                  <p:stCondLst>
                                    <p:cond delay="250"/>
                                  </p:stCondLst>
                                  <p:childTnLst>
                                    <p:set>
                                      <p:cBhvr>
                                        <p:cTn id="15" dur="1" fill="hold">
                                          <p:stCondLst>
                                            <p:cond delay="0"/>
                                          </p:stCondLst>
                                        </p:cTn>
                                        <p:tgtEl>
                                          <p:spTgt spid="229442"/>
                                        </p:tgtEl>
                                        <p:attrNameLst>
                                          <p:attrName>style.visibility</p:attrName>
                                        </p:attrNameLst>
                                      </p:cBhvr>
                                      <p:to>
                                        <p:strVal val="visible"/>
                                      </p:to>
                                    </p:set>
                                    <p:animEffect transition="in" filter="wipe(left)">
                                      <p:cBhvr>
                                        <p:cTn id="16" dur="500"/>
                                        <p:tgtEl>
                                          <p:spTgt spid="22944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29436"/>
                                        </p:tgtEl>
                                        <p:attrNameLst>
                                          <p:attrName>style.visibility</p:attrName>
                                        </p:attrNameLst>
                                      </p:cBhvr>
                                      <p:to>
                                        <p:strVal val="visible"/>
                                      </p:to>
                                    </p:set>
                                    <p:animEffect transition="in" filter="wipe(left)">
                                      <p:cBhvr>
                                        <p:cTn id="21" dur="500"/>
                                        <p:tgtEl>
                                          <p:spTgt spid="229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9" grpId="0" animBg="1" autoUpdateAnimBg="0"/>
      <p:bldP spid="229380" grpId="0" autoUpdateAnimBg="0"/>
    </p:bldLst>
  </p:timing>
</p:sld>
</file>

<file path=ppt/slides/slide1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An Augmenting Step</a:t>
            </a:r>
          </a:p>
        </p:txBody>
      </p:sp>
      <mc:AlternateContent xmlns:mc="http://schemas.openxmlformats.org/markup-compatibility/2006" xmlns:a14="http://schemas.microsoft.com/office/drawing/2010/main">
        <mc:Choice Requires="a14">
          <p:sp>
            <p:nvSpPr>
              <p:cNvPr id="230403" name="Rectangle 3"/>
              <p:cNvSpPr>
                <a:spLocks noChangeArrowheads="1"/>
              </p:cNvSpPr>
              <p:nvPr/>
            </p:nvSpPr>
            <p:spPr bwMode="auto">
              <a:xfrm>
                <a:off x="152400" y="838200"/>
                <a:ext cx="8839200" cy="4487837"/>
              </a:xfrm>
              <a:prstGeom prst="rect">
                <a:avLst/>
              </a:prstGeom>
              <a:noFill/>
              <a:ln>
                <a:noFill/>
              </a:ln>
              <a:effectLst/>
              <a:extLst>
                <a:ext uri="{909E8E84-426E-40DD-AFC4-6F175D3DCCD1}">
                  <a14:hiddenFill>
                    <a:solidFill>
                      <a:srgbClr val="FFFF66"/>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bIns="10800">
                <a:spAutoFit/>
              </a:bodyPr>
              <a:lstStyle/>
              <a:p>
                <a:pPr marL="288925" indent="-288925" eaLnBrk="1" hangingPunct="1">
                  <a:spcBef>
                    <a:spcPct val="50000"/>
                  </a:spcBef>
                  <a:buFont typeface="Wingdings" pitchFamily="2" charset="2"/>
                  <a:buChar char="§"/>
                </a:pPr>
                <a:r>
                  <a:rPr lang="en-US" sz="2000" dirty="0" smtClean="0">
                    <a:solidFill>
                      <a:schemeClr val="tx2"/>
                    </a:solidFill>
                  </a:rPr>
                  <a:t>There is an augmenting path in G </a:t>
                </a:r>
                <a:r>
                  <a:rPr lang="en-US" sz="2000" dirty="0" err="1">
                    <a:solidFill>
                      <a:schemeClr val="tx2"/>
                    </a:solidFill>
                  </a:rPr>
                  <a:t>wrt</a:t>
                </a:r>
                <a:r>
                  <a:rPr lang="en-US" sz="2000" dirty="0">
                    <a:solidFill>
                      <a:schemeClr val="tx2"/>
                    </a:solidFill>
                  </a:rPr>
                  <a:t> f   </a:t>
                </a:r>
                <a:r>
                  <a:rPr lang="en-US" sz="2400" b="1" dirty="0">
                    <a:solidFill>
                      <a:srgbClr val="CC0000"/>
                    </a:solidFill>
                    <a:sym typeface="Symbol" pitchFamily="18" charset="2"/>
                  </a:rPr>
                  <a:t></a:t>
                </a:r>
                <a:r>
                  <a:rPr lang="en-US" sz="2000" dirty="0">
                    <a:solidFill>
                      <a:schemeClr val="tx2"/>
                    </a:solidFill>
                    <a:sym typeface="Symbol" pitchFamily="18" charset="2"/>
                  </a:rPr>
                  <a:t> </a:t>
                </a:r>
                <a:r>
                  <a:rPr lang="en-US" sz="2000" dirty="0">
                    <a:solidFill>
                      <a:schemeClr val="tx2"/>
                    </a:solidFill>
                  </a:rPr>
                  <a:t> there is a directed s-t path in G(f).</a:t>
                </a:r>
              </a:p>
              <a:p>
                <a:pPr marL="288925" indent="-288925" eaLnBrk="1" hangingPunct="1">
                  <a:spcBef>
                    <a:spcPct val="50000"/>
                  </a:spcBef>
                  <a:buFont typeface="Wingdings" pitchFamily="2" charset="2"/>
                  <a:buChar char="§"/>
                </a:pPr>
                <a:r>
                  <a:rPr lang="en-US" sz="2000" dirty="0">
                    <a:solidFill>
                      <a:schemeClr val="tx2"/>
                    </a:solidFill>
                  </a:rPr>
                  <a:t>p = an augmenting path with respect to f in G</a:t>
                </a:r>
                <a:r>
                  <a:rPr lang="en-US" sz="2000" dirty="0" smtClean="0">
                    <a:solidFill>
                      <a:schemeClr val="tx2"/>
                    </a:solidFill>
                  </a:rPr>
                  <a:t>.</a:t>
                </a:r>
                <a:r>
                  <a:rPr lang="en-US" sz="2000" b="1" dirty="0">
                    <a:solidFill>
                      <a:srgbClr val="CC0000"/>
                    </a:solidFill>
                  </a:rPr>
                  <a:t> </a:t>
                </a:r>
                <a:endParaRPr lang="en-US" sz="2000" b="1" dirty="0" smtClean="0">
                  <a:solidFill>
                    <a:srgbClr val="CC0000"/>
                  </a:solidFill>
                </a:endParaRPr>
              </a:p>
              <a:p>
                <a:pPr marL="288925" indent="-288925" eaLnBrk="1" hangingPunct="1">
                  <a:spcBef>
                    <a:spcPct val="50000"/>
                  </a:spcBef>
                  <a:buFont typeface="Wingdings" pitchFamily="2" charset="2"/>
                  <a:buChar char="§"/>
                </a:pPr>
                <a:r>
                  <a:rPr lang="en-US" sz="2000" b="1" dirty="0" smtClean="0">
                    <a:solidFill>
                      <a:srgbClr val="C00000"/>
                    </a:solidFill>
                  </a:rPr>
                  <a:t>bottleneck </a:t>
                </a:r>
                <a:r>
                  <a:rPr lang="en-US" sz="2000" b="1" dirty="0">
                    <a:solidFill>
                      <a:srgbClr val="C00000"/>
                    </a:solidFill>
                  </a:rPr>
                  <a:t>capacity</a:t>
                </a:r>
                <a:r>
                  <a:rPr lang="en-US" sz="2000" dirty="0">
                    <a:solidFill>
                      <a:srgbClr val="C00000"/>
                    </a:solidFill>
                  </a:rPr>
                  <a:t> </a:t>
                </a:r>
                <a:r>
                  <a:rPr lang="en-US" sz="2000" b="1" dirty="0">
                    <a:solidFill>
                      <a:srgbClr val="C00000"/>
                    </a:solidFill>
                  </a:rPr>
                  <a:t>of p</a:t>
                </a:r>
                <a:r>
                  <a:rPr lang="en-US" sz="2000" b="1" dirty="0" smtClean="0">
                    <a:solidFill>
                      <a:srgbClr val="C00000"/>
                    </a:solidFill>
                  </a:rPr>
                  <a:t>:</a:t>
                </a:r>
                <a:r>
                  <a:rPr lang="en-US" sz="2000" dirty="0" smtClean="0">
                    <a:solidFill>
                      <a:schemeClr val="tx2"/>
                    </a:solidFill>
                  </a:rPr>
                  <a:t/>
                </a:r>
                <a:br>
                  <a:rPr lang="en-US" sz="2000" dirty="0" smtClean="0">
                    <a:solidFill>
                      <a:schemeClr val="tx2"/>
                    </a:solidFill>
                  </a:rPr>
                </a:br>
                <a:r>
                  <a:rPr lang="en-US" sz="2000" dirty="0" smtClean="0">
                    <a:solidFill>
                      <a:schemeClr val="tx2"/>
                    </a:solidFill>
                  </a:rPr>
                  <a:t/>
                </a:r>
                <a:br>
                  <a:rPr lang="en-US" sz="2000" dirty="0" smtClean="0">
                    <a:solidFill>
                      <a:schemeClr val="tx2"/>
                    </a:solidFill>
                  </a:rPr>
                </a:br>
                <a14:m>
                  <m:oMath xmlns:m="http://schemas.openxmlformats.org/officeDocument/2006/math">
                    <m:r>
                      <m:rPr>
                        <m:sty m:val="p"/>
                      </m:rPr>
                      <a:rPr lang="el-GR" sz="2000" i="1" smtClean="0">
                        <a:solidFill>
                          <a:srgbClr val="C00000"/>
                        </a:solidFill>
                        <a:latin typeface="Cambria Math"/>
                        <a:ea typeface="Cambria Math"/>
                      </a:rPr>
                      <m:t>Δ</m:t>
                    </m:r>
                    <m:d>
                      <m:dPr>
                        <m:ctrlPr>
                          <a:rPr lang="en-CA" sz="2000" b="0" i="1" smtClean="0">
                            <a:solidFill>
                              <a:srgbClr val="C00000"/>
                            </a:solidFill>
                            <a:latin typeface="Cambria Math"/>
                            <a:ea typeface="Cambria Math"/>
                          </a:rPr>
                        </m:ctrlPr>
                      </m:dPr>
                      <m:e>
                        <m:r>
                          <a:rPr lang="en-CA" sz="2000" b="0" i="1" smtClean="0">
                            <a:solidFill>
                              <a:srgbClr val="C00000"/>
                            </a:solidFill>
                            <a:latin typeface="Cambria Math"/>
                            <a:ea typeface="Cambria Math"/>
                          </a:rPr>
                          <m:t>𝑝</m:t>
                        </m:r>
                      </m:e>
                    </m:d>
                    <m:r>
                      <a:rPr lang="en-CA" sz="2000" b="0" i="1" smtClean="0">
                        <a:solidFill>
                          <a:srgbClr val="C00000"/>
                        </a:solidFill>
                        <a:latin typeface="Cambria Math"/>
                        <a:ea typeface="Cambria Math"/>
                      </a:rPr>
                      <m:t>= </m:t>
                    </m:r>
                    <m:func>
                      <m:funcPr>
                        <m:ctrlPr>
                          <a:rPr lang="en-CA" sz="2000" b="0" i="1" smtClean="0">
                            <a:solidFill>
                              <a:srgbClr val="C00000"/>
                            </a:solidFill>
                            <a:latin typeface="Cambria Math"/>
                            <a:ea typeface="Cambria Math"/>
                          </a:rPr>
                        </m:ctrlPr>
                      </m:funcPr>
                      <m:fName>
                        <m:r>
                          <m:rPr>
                            <m:sty m:val="p"/>
                          </m:rPr>
                          <a:rPr lang="en-CA" sz="2000" b="0" i="0" smtClean="0">
                            <a:solidFill>
                              <a:srgbClr val="C00000"/>
                            </a:solidFill>
                            <a:latin typeface="Cambria Math"/>
                            <a:ea typeface="Cambria Math"/>
                          </a:rPr>
                          <m:t>min</m:t>
                        </m:r>
                      </m:fName>
                      <m:e>
                        <m:d>
                          <m:dPr>
                            <m:ctrlPr>
                              <a:rPr lang="en-CA" sz="2000" b="0" i="1" smtClean="0">
                                <a:solidFill>
                                  <a:srgbClr val="C00000"/>
                                </a:solidFill>
                                <a:latin typeface="Cambria Math"/>
                                <a:ea typeface="Cambria Math"/>
                              </a:rPr>
                            </m:ctrlPr>
                          </m:dPr>
                          <m:e>
                            <m:m>
                              <m:mPr>
                                <m:mcs>
                                  <m:mc>
                                    <m:mcPr>
                                      <m:count m:val="1"/>
                                      <m:mcJc m:val="center"/>
                                    </m:mcPr>
                                  </m:mc>
                                </m:mcs>
                                <m:ctrlPr>
                                  <a:rPr lang="en-CA" sz="2000" b="0" i="1" smtClean="0">
                                    <a:solidFill>
                                      <a:srgbClr val="C00000"/>
                                    </a:solidFill>
                                    <a:latin typeface="Cambria Math"/>
                                    <a:ea typeface="Cambria Math"/>
                                  </a:rPr>
                                </m:ctrlPr>
                              </m:mPr>
                              <m:mr>
                                <m:e>
                                  <m:r>
                                    <m:rPr>
                                      <m:brk m:alnAt="7"/>
                                    </m:rPr>
                                    <a:rPr lang="en-CA" sz="2000" b="0" i="1" smtClean="0">
                                      <a:solidFill>
                                        <a:srgbClr val="C00000"/>
                                      </a:solidFill>
                                      <a:latin typeface="Cambria Math"/>
                                      <a:ea typeface="Cambria Math"/>
                                    </a:rPr>
                                    <m:t> </m:t>
                                  </m:r>
                                  <m:r>
                                    <a:rPr lang="en-CA" sz="2000" b="0" i="1" smtClean="0">
                                      <a:solidFill>
                                        <a:srgbClr val="C00000"/>
                                      </a:solidFill>
                                      <a:latin typeface="Cambria Math"/>
                                      <a:ea typeface="Cambria Math"/>
                                    </a:rPr>
                                    <m:t>   </m:t>
                                  </m:r>
                                  <m:d>
                                    <m:dPr>
                                      <m:begChr m:val="{"/>
                                      <m:endChr m:val="}"/>
                                      <m:ctrlPr>
                                        <a:rPr lang="en-CA" sz="2000" b="0" i="1" smtClean="0">
                                          <a:solidFill>
                                            <a:srgbClr val="C00000"/>
                                          </a:solidFill>
                                          <a:latin typeface="Cambria Math"/>
                                          <a:ea typeface="Cambria Math"/>
                                        </a:rPr>
                                      </m:ctrlPr>
                                    </m:dPr>
                                    <m:e>
                                      <m:acc>
                                        <m:accPr>
                                          <m:chr m:val="̂"/>
                                          <m:ctrlPr>
                                            <a:rPr lang="en-CA" sz="2000" b="0" i="1" smtClean="0">
                                              <a:solidFill>
                                                <a:srgbClr val="C00000"/>
                                              </a:solidFill>
                                              <a:latin typeface="Cambria Math"/>
                                              <a:ea typeface="Cambria Math"/>
                                            </a:rPr>
                                          </m:ctrlPr>
                                        </m:accPr>
                                        <m:e>
                                          <m:r>
                                            <a:rPr lang="en-CA" sz="2000" b="0" i="1" smtClean="0">
                                              <a:solidFill>
                                                <a:srgbClr val="C00000"/>
                                              </a:solidFill>
                                              <a:latin typeface="Cambria Math"/>
                                              <a:ea typeface="Cambria Math"/>
                                            </a:rPr>
                                            <m:t>𝑐</m:t>
                                          </m:r>
                                        </m:e>
                                      </m:acc>
                                      <m:d>
                                        <m:dPr>
                                          <m:ctrlPr>
                                            <a:rPr lang="en-CA" sz="2000" b="0" i="1" smtClean="0">
                                              <a:solidFill>
                                                <a:srgbClr val="C00000"/>
                                              </a:solidFill>
                                              <a:latin typeface="Cambria Math"/>
                                              <a:ea typeface="Cambria Math"/>
                                            </a:rPr>
                                          </m:ctrlPr>
                                        </m:dPr>
                                        <m:e>
                                          <m:r>
                                            <a:rPr lang="en-CA" sz="2000" b="0" i="1" smtClean="0">
                                              <a:solidFill>
                                                <a:srgbClr val="C00000"/>
                                              </a:solidFill>
                                              <a:latin typeface="Cambria Math"/>
                                              <a:ea typeface="Cambria Math"/>
                                            </a:rPr>
                                            <m:t>𝑢</m:t>
                                          </m:r>
                                          <m:r>
                                            <a:rPr lang="en-CA" sz="2000" b="0" i="1" smtClean="0">
                                              <a:solidFill>
                                                <a:srgbClr val="C00000"/>
                                              </a:solidFill>
                                              <a:latin typeface="Cambria Math"/>
                                              <a:ea typeface="Cambria Math"/>
                                            </a:rPr>
                                            <m:t>,</m:t>
                                          </m:r>
                                          <m:r>
                                            <a:rPr lang="en-CA" sz="2000" b="0" i="1" smtClean="0">
                                              <a:solidFill>
                                                <a:srgbClr val="C00000"/>
                                              </a:solidFill>
                                              <a:latin typeface="Cambria Math"/>
                                              <a:ea typeface="Cambria Math"/>
                                            </a:rPr>
                                            <m:t>𝑣</m:t>
                                          </m:r>
                                        </m:e>
                                      </m:d>
                                      <m:r>
                                        <a:rPr lang="en-CA" sz="2000" b="0" i="1" smtClean="0">
                                          <a:solidFill>
                                            <a:srgbClr val="C00000"/>
                                          </a:solidFill>
                                          <a:latin typeface="Cambria Math"/>
                                          <a:ea typeface="Cambria Math"/>
                                        </a:rPr>
                                        <m:t>  |   </m:t>
                                      </m:r>
                                      <m:d>
                                        <m:dPr>
                                          <m:ctrlPr>
                                            <a:rPr lang="en-CA" sz="2000" b="0" i="1" smtClean="0">
                                              <a:solidFill>
                                                <a:srgbClr val="C00000"/>
                                              </a:solidFill>
                                              <a:latin typeface="Cambria Math"/>
                                              <a:ea typeface="Cambria Math"/>
                                            </a:rPr>
                                          </m:ctrlPr>
                                        </m:dPr>
                                        <m:e>
                                          <m:r>
                                            <a:rPr lang="en-CA" sz="2000" b="0" i="1" smtClean="0">
                                              <a:solidFill>
                                                <a:srgbClr val="C00000"/>
                                              </a:solidFill>
                                              <a:latin typeface="Cambria Math"/>
                                              <a:ea typeface="Cambria Math"/>
                                            </a:rPr>
                                            <m:t>𝑢</m:t>
                                          </m:r>
                                          <m:r>
                                            <a:rPr lang="en-CA" sz="2000" b="0" i="1" smtClean="0">
                                              <a:solidFill>
                                                <a:srgbClr val="C00000"/>
                                              </a:solidFill>
                                              <a:latin typeface="Cambria Math"/>
                                              <a:ea typeface="Cambria Math"/>
                                            </a:rPr>
                                            <m:t>,</m:t>
                                          </m:r>
                                          <m:r>
                                            <a:rPr lang="en-CA" sz="2000" b="0" i="1" smtClean="0">
                                              <a:solidFill>
                                                <a:srgbClr val="C00000"/>
                                              </a:solidFill>
                                              <a:latin typeface="Cambria Math"/>
                                              <a:ea typeface="Cambria Math"/>
                                            </a:rPr>
                                            <m:t>𝑣</m:t>
                                          </m:r>
                                        </m:e>
                                      </m:d>
                                      <m:r>
                                        <a:rPr lang="en-CA" sz="2000" b="0" i="1" smtClean="0">
                                          <a:solidFill>
                                            <a:srgbClr val="C00000"/>
                                          </a:solidFill>
                                          <a:latin typeface="Cambria Math"/>
                                          <a:ea typeface="Cambria Math"/>
                                        </a:rPr>
                                        <m:t>∈</m:t>
                                      </m:r>
                                      <m:r>
                                        <a:rPr lang="en-CA" sz="2000" b="0" i="1" smtClean="0">
                                          <a:solidFill>
                                            <a:srgbClr val="C00000"/>
                                          </a:solidFill>
                                          <a:latin typeface="Cambria Math"/>
                                          <a:ea typeface="Cambria Math"/>
                                        </a:rPr>
                                        <m:t>𝐸</m:t>
                                      </m:r>
                                      <m:d>
                                        <m:dPr>
                                          <m:ctrlPr>
                                            <a:rPr lang="en-CA" sz="2000" b="0" i="1" smtClean="0">
                                              <a:solidFill>
                                                <a:srgbClr val="C00000"/>
                                              </a:solidFill>
                                              <a:latin typeface="Cambria Math"/>
                                              <a:ea typeface="Cambria Math"/>
                                            </a:rPr>
                                          </m:ctrlPr>
                                        </m:dPr>
                                        <m:e>
                                          <m:r>
                                            <a:rPr lang="en-CA" sz="2000" b="0" i="1" smtClean="0">
                                              <a:solidFill>
                                                <a:srgbClr val="C00000"/>
                                              </a:solidFill>
                                              <a:latin typeface="Cambria Math"/>
                                              <a:ea typeface="Cambria Math"/>
                                            </a:rPr>
                                            <m:t>𝐺</m:t>
                                          </m:r>
                                        </m:e>
                                      </m:d>
                                      <m:r>
                                        <a:rPr lang="en-CA" sz="2000" b="0" i="1" smtClean="0">
                                          <a:solidFill>
                                            <a:srgbClr val="C00000"/>
                                          </a:solidFill>
                                          <a:latin typeface="Cambria Math"/>
                                          <a:ea typeface="Cambria Math"/>
                                        </a:rPr>
                                        <m:t> </m:t>
                                      </m:r>
                                      <m:r>
                                        <a:rPr lang="en-CA" sz="2000" b="0" i="0" smtClean="0">
                                          <a:solidFill>
                                            <a:srgbClr val="C00000"/>
                                          </a:solidFill>
                                          <a:latin typeface="Cambria Math"/>
                                          <a:ea typeface="Cambria Math"/>
                                        </a:rPr>
                                        <m:t> </m:t>
                                      </m:r>
                                      <m:r>
                                        <m:rPr>
                                          <m:sty m:val="p"/>
                                        </m:rPr>
                                        <a:rPr lang="en-CA" sz="2000" b="0" i="0" smtClean="0">
                                          <a:solidFill>
                                            <a:srgbClr val="C00000"/>
                                          </a:solidFill>
                                          <a:latin typeface="Cambria Math"/>
                                          <a:ea typeface="Cambria Math"/>
                                        </a:rPr>
                                        <m:t>is</m:t>
                                      </m:r>
                                      <m:r>
                                        <a:rPr lang="en-CA" sz="2000" b="0" i="0" smtClean="0">
                                          <a:solidFill>
                                            <a:srgbClr val="C00000"/>
                                          </a:solidFill>
                                          <a:latin typeface="Cambria Math"/>
                                          <a:ea typeface="Cambria Math"/>
                                        </a:rPr>
                                        <m:t> </m:t>
                                      </m:r>
                                      <m:r>
                                        <m:rPr>
                                          <m:sty m:val="p"/>
                                        </m:rPr>
                                        <a:rPr lang="en-CA" sz="2000" b="0" i="0" smtClean="0">
                                          <a:solidFill>
                                            <a:srgbClr val="C00000"/>
                                          </a:solidFill>
                                          <a:latin typeface="Cambria Math"/>
                                          <a:ea typeface="Cambria Math"/>
                                        </a:rPr>
                                        <m:t>a</m:t>
                                      </m:r>
                                      <m:r>
                                        <a:rPr lang="en-CA" sz="2000" b="0" i="0" smtClean="0">
                                          <a:solidFill>
                                            <a:srgbClr val="C00000"/>
                                          </a:solidFill>
                                          <a:latin typeface="Cambria Math"/>
                                          <a:ea typeface="Cambria Math"/>
                                        </a:rPr>
                                        <m:t> </m:t>
                                      </m:r>
                                      <m:r>
                                        <m:rPr>
                                          <m:sty m:val="p"/>
                                        </m:rPr>
                                        <a:rPr lang="en-CA" sz="2000" b="0" i="0" smtClean="0">
                                          <a:solidFill>
                                            <a:srgbClr val="C00000"/>
                                          </a:solidFill>
                                          <a:latin typeface="Cambria Math"/>
                                          <a:ea typeface="Cambria Math"/>
                                        </a:rPr>
                                        <m:t>forward</m:t>
                                      </m:r>
                                      <m:r>
                                        <a:rPr lang="en-CA" sz="2000" b="0" i="0" smtClean="0">
                                          <a:solidFill>
                                            <a:srgbClr val="C00000"/>
                                          </a:solidFill>
                                          <a:latin typeface="Cambria Math"/>
                                          <a:ea typeface="Cambria Math"/>
                                        </a:rPr>
                                        <m:t>     </m:t>
                                      </m:r>
                                      <m:r>
                                        <m:rPr>
                                          <m:sty m:val="p"/>
                                        </m:rPr>
                                        <a:rPr lang="en-CA" sz="2000" b="0" i="0" smtClean="0">
                                          <a:solidFill>
                                            <a:srgbClr val="C00000"/>
                                          </a:solidFill>
                                          <a:latin typeface="Cambria Math"/>
                                          <a:ea typeface="Cambria Math"/>
                                        </a:rPr>
                                        <m:t>edge</m:t>
                                      </m:r>
                                      <m:r>
                                        <a:rPr lang="en-CA" sz="2000" b="0" i="0" smtClean="0">
                                          <a:solidFill>
                                            <a:srgbClr val="C00000"/>
                                          </a:solidFill>
                                          <a:latin typeface="Cambria Math"/>
                                          <a:ea typeface="Cambria Math"/>
                                        </a:rPr>
                                        <m:t> </m:t>
                                      </m:r>
                                      <m:r>
                                        <m:rPr>
                                          <m:sty m:val="p"/>
                                        </m:rPr>
                                        <a:rPr lang="en-CA" sz="2000" b="0" i="0" smtClean="0">
                                          <a:solidFill>
                                            <a:srgbClr val="C00000"/>
                                          </a:solidFill>
                                          <a:latin typeface="Cambria Math"/>
                                          <a:ea typeface="Cambria Math"/>
                                        </a:rPr>
                                        <m:t>on</m:t>
                                      </m:r>
                                      <m:r>
                                        <a:rPr lang="en-CA" sz="2000" b="0" i="1" smtClean="0">
                                          <a:solidFill>
                                            <a:srgbClr val="C00000"/>
                                          </a:solidFill>
                                          <a:latin typeface="Cambria Math"/>
                                          <a:ea typeface="Cambria Math"/>
                                        </a:rPr>
                                        <m:t>  </m:t>
                                      </m:r>
                                      <m:r>
                                        <a:rPr lang="en-CA" sz="2000" b="0" i="1" smtClean="0">
                                          <a:solidFill>
                                            <a:srgbClr val="C00000"/>
                                          </a:solidFill>
                                          <a:latin typeface="Cambria Math"/>
                                          <a:ea typeface="Cambria Math"/>
                                        </a:rPr>
                                        <m:t>𝑝</m:t>
                                      </m:r>
                                      <m:r>
                                        <a:rPr lang="en-CA" sz="2000" b="0" i="1" smtClean="0">
                                          <a:solidFill>
                                            <a:srgbClr val="C00000"/>
                                          </a:solidFill>
                                          <a:latin typeface="Cambria Math"/>
                                          <a:ea typeface="Cambria Math"/>
                                        </a:rPr>
                                        <m:t> </m:t>
                                      </m:r>
                                    </m:e>
                                  </m:d>
                                </m:e>
                              </m:mr>
                              <m:mr>
                                <m:e>
                                  <m:r>
                                    <a:rPr lang="en-CA" sz="2000" b="0" i="1" smtClean="0">
                                      <a:solidFill>
                                        <a:srgbClr val="C00000"/>
                                      </a:solidFill>
                                      <a:latin typeface="Cambria Math"/>
                                      <a:ea typeface="Cambria Math"/>
                                    </a:rPr>
                                    <m:t>∪</m:t>
                                  </m:r>
                                  <m:d>
                                    <m:dPr>
                                      <m:begChr m:val="{"/>
                                      <m:endChr m:val="}"/>
                                      <m:ctrlPr>
                                        <a:rPr lang="en-CA" sz="2000" b="0" i="1" smtClean="0">
                                          <a:solidFill>
                                            <a:srgbClr val="C00000"/>
                                          </a:solidFill>
                                          <a:latin typeface="Cambria Math"/>
                                          <a:ea typeface="Cambria Math"/>
                                        </a:rPr>
                                      </m:ctrlPr>
                                    </m:dPr>
                                    <m:e>
                                      <m:acc>
                                        <m:accPr>
                                          <m:chr m:val="̂"/>
                                          <m:ctrlPr>
                                            <a:rPr lang="en-CA" sz="2000" b="0" i="1" smtClean="0">
                                              <a:solidFill>
                                                <a:srgbClr val="C00000"/>
                                              </a:solidFill>
                                              <a:latin typeface="Cambria Math"/>
                                              <a:ea typeface="Cambria Math"/>
                                            </a:rPr>
                                          </m:ctrlPr>
                                        </m:accPr>
                                        <m:e>
                                          <m:r>
                                            <a:rPr lang="en-CA" sz="2000" b="0" i="1" smtClean="0">
                                              <a:solidFill>
                                                <a:srgbClr val="C00000"/>
                                              </a:solidFill>
                                              <a:latin typeface="Cambria Math"/>
                                              <a:ea typeface="Cambria Math"/>
                                            </a:rPr>
                                            <m:t>𝑐</m:t>
                                          </m:r>
                                        </m:e>
                                      </m:acc>
                                      <m:d>
                                        <m:dPr>
                                          <m:ctrlPr>
                                            <a:rPr lang="en-CA" sz="2000" b="0" i="1" smtClean="0">
                                              <a:solidFill>
                                                <a:srgbClr val="C00000"/>
                                              </a:solidFill>
                                              <a:latin typeface="Cambria Math"/>
                                              <a:ea typeface="Cambria Math"/>
                                            </a:rPr>
                                          </m:ctrlPr>
                                        </m:dPr>
                                        <m:e>
                                          <m:r>
                                            <a:rPr lang="en-CA" sz="2000" b="0" i="1" smtClean="0">
                                              <a:solidFill>
                                                <a:srgbClr val="C00000"/>
                                              </a:solidFill>
                                              <a:latin typeface="Cambria Math"/>
                                              <a:ea typeface="Cambria Math"/>
                                            </a:rPr>
                                            <m:t>𝑢</m:t>
                                          </m:r>
                                          <m:r>
                                            <a:rPr lang="en-CA" sz="2000" b="0" i="1" smtClean="0">
                                              <a:solidFill>
                                                <a:srgbClr val="C00000"/>
                                              </a:solidFill>
                                              <a:latin typeface="Cambria Math"/>
                                              <a:ea typeface="Cambria Math"/>
                                            </a:rPr>
                                            <m:t>,</m:t>
                                          </m:r>
                                          <m:r>
                                            <a:rPr lang="en-CA" sz="2000" b="0" i="1" smtClean="0">
                                              <a:solidFill>
                                                <a:srgbClr val="C00000"/>
                                              </a:solidFill>
                                              <a:latin typeface="Cambria Math"/>
                                              <a:ea typeface="Cambria Math"/>
                                            </a:rPr>
                                            <m:t>𝑣</m:t>
                                          </m:r>
                                        </m:e>
                                      </m:d>
                                      <m:r>
                                        <a:rPr lang="en-CA" sz="2000" b="0" i="1" smtClean="0">
                                          <a:solidFill>
                                            <a:srgbClr val="C00000"/>
                                          </a:solidFill>
                                          <a:latin typeface="Cambria Math"/>
                                          <a:ea typeface="Cambria Math"/>
                                        </a:rPr>
                                        <m:t> |    </m:t>
                                      </m:r>
                                      <m:d>
                                        <m:dPr>
                                          <m:ctrlPr>
                                            <a:rPr lang="en-CA" sz="2000" b="0" i="1" smtClean="0">
                                              <a:solidFill>
                                                <a:srgbClr val="C00000"/>
                                              </a:solidFill>
                                              <a:latin typeface="Cambria Math"/>
                                              <a:ea typeface="Cambria Math"/>
                                            </a:rPr>
                                          </m:ctrlPr>
                                        </m:dPr>
                                        <m:e>
                                          <m:r>
                                            <a:rPr lang="en-CA" sz="2000" b="0" i="1" smtClean="0">
                                              <a:solidFill>
                                                <a:srgbClr val="C00000"/>
                                              </a:solidFill>
                                              <a:latin typeface="Cambria Math"/>
                                              <a:ea typeface="Cambria Math"/>
                                            </a:rPr>
                                            <m:t>𝑣</m:t>
                                          </m:r>
                                          <m:r>
                                            <a:rPr lang="en-CA" sz="2000" b="0" i="1" smtClean="0">
                                              <a:solidFill>
                                                <a:srgbClr val="C00000"/>
                                              </a:solidFill>
                                              <a:latin typeface="Cambria Math"/>
                                              <a:ea typeface="Cambria Math"/>
                                            </a:rPr>
                                            <m:t>,</m:t>
                                          </m:r>
                                          <m:r>
                                            <a:rPr lang="en-CA" sz="2000" b="0" i="1" smtClean="0">
                                              <a:solidFill>
                                                <a:srgbClr val="C00000"/>
                                              </a:solidFill>
                                              <a:latin typeface="Cambria Math"/>
                                              <a:ea typeface="Cambria Math"/>
                                            </a:rPr>
                                            <m:t>𝑢</m:t>
                                          </m:r>
                                        </m:e>
                                      </m:d>
                                      <m:r>
                                        <a:rPr lang="en-CA" sz="2000" b="0" i="1" smtClean="0">
                                          <a:solidFill>
                                            <a:srgbClr val="C00000"/>
                                          </a:solidFill>
                                          <a:latin typeface="Cambria Math"/>
                                          <a:ea typeface="Cambria Math"/>
                                        </a:rPr>
                                        <m:t>∈</m:t>
                                      </m:r>
                                      <m:r>
                                        <a:rPr lang="en-CA" sz="2000" b="0" i="1" smtClean="0">
                                          <a:solidFill>
                                            <a:srgbClr val="C00000"/>
                                          </a:solidFill>
                                          <a:latin typeface="Cambria Math"/>
                                          <a:ea typeface="Cambria Math"/>
                                        </a:rPr>
                                        <m:t>𝐸</m:t>
                                      </m:r>
                                      <m:d>
                                        <m:dPr>
                                          <m:ctrlPr>
                                            <a:rPr lang="en-CA" sz="2000" b="0" i="1" smtClean="0">
                                              <a:solidFill>
                                                <a:srgbClr val="C00000"/>
                                              </a:solidFill>
                                              <a:latin typeface="Cambria Math"/>
                                              <a:ea typeface="Cambria Math"/>
                                            </a:rPr>
                                          </m:ctrlPr>
                                        </m:dPr>
                                        <m:e>
                                          <m:r>
                                            <a:rPr lang="en-CA" sz="2000" b="0" i="1" smtClean="0">
                                              <a:solidFill>
                                                <a:srgbClr val="C00000"/>
                                              </a:solidFill>
                                              <a:latin typeface="Cambria Math"/>
                                              <a:ea typeface="Cambria Math"/>
                                            </a:rPr>
                                            <m:t>𝐺</m:t>
                                          </m:r>
                                        </m:e>
                                      </m:d>
                                      <m:r>
                                        <a:rPr lang="en-CA" sz="2000" b="0" i="1" smtClean="0">
                                          <a:solidFill>
                                            <a:srgbClr val="C00000"/>
                                          </a:solidFill>
                                          <a:latin typeface="Cambria Math"/>
                                          <a:ea typeface="Cambria Math"/>
                                        </a:rPr>
                                        <m:t> </m:t>
                                      </m:r>
                                      <m:r>
                                        <a:rPr lang="en-CA" sz="2000" b="0" i="0" smtClean="0">
                                          <a:solidFill>
                                            <a:srgbClr val="C00000"/>
                                          </a:solidFill>
                                          <a:latin typeface="Cambria Math"/>
                                          <a:ea typeface="Cambria Math"/>
                                        </a:rPr>
                                        <m:t> </m:t>
                                      </m:r>
                                      <m:r>
                                        <m:rPr>
                                          <m:sty m:val="p"/>
                                        </m:rPr>
                                        <a:rPr lang="en-CA" sz="2000" b="0" i="0" smtClean="0">
                                          <a:solidFill>
                                            <a:srgbClr val="C00000"/>
                                          </a:solidFill>
                                          <a:latin typeface="Cambria Math"/>
                                          <a:ea typeface="Cambria Math"/>
                                        </a:rPr>
                                        <m:t>is</m:t>
                                      </m:r>
                                      <m:r>
                                        <a:rPr lang="en-CA" sz="2000" b="0" i="0" smtClean="0">
                                          <a:solidFill>
                                            <a:srgbClr val="C00000"/>
                                          </a:solidFill>
                                          <a:latin typeface="Cambria Math"/>
                                          <a:ea typeface="Cambria Math"/>
                                        </a:rPr>
                                        <m:t> </m:t>
                                      </m:r>
                                      <m:r>
                                        <m:rPr>
                                          <m:sty m:val="p"/>
                                        </m:rPr>
                                        <a:rPr lang="en-CA" sz="2000" b="0" i="0" smtClean="0">
                                          <a:solidFill>
                                            <a:srgbClr val="C00000"/>
                                          </a:solidFill>
                                          <a:latin typeface="Cambria Math"/>
                                          <a:ea typeface="Cambria Math"/>
                                        </a:rPr>
                                        <m:t>a</m:t>
                                      </m:r>
                                      <m:r>
                                        <a:rPr lang="en-CA" sz="2000" b="0" i="0" smtClean="0">
                                          <a:solidFill>
                                            <a:srgbClr val="C00000"/>
                                          </a:solidFill>
                                          <a:latin typeface="Cambria Math"/>
                                          <a:ea typeface="Cambria Math"/>
                                        </a:rPr>
                                        <m:t> </m:t>
                                      </m:r>
                                      <m:r>
                                        <m:rPr>
                                          <m:sty m:val="p"/>
                                        </m:rPr>
                                        <a:rPr lang="en-CA" sz="2000" b="0" i="0" smtClean="0">
                                          <a:solidFill>
                                            <a:srgbClr val="C00000"/>
                                          </a:solidFill>
                                          <a:latin typeface="Cambria Math"/>
                                          <a:ea typeface="Cambria Math"/>
                                        </a:rPr>
                                        <m:t>backward</m:t>
                                      </m:r>
                                      <m:r>
                                        <a:rPr lang="en-CA" sz="2000" b="0" i="0" smtClean="0">
                                          <a:solidFill>
                                            <a:srgbClr val="C00000"/>
                                          </a:solidFill>
                                          <a:latin typeface="Cambria Math"/>
                                          <a:ea typeface="Cambria Math"/>
                                        </a:rPr>
                                        <m:t> </m:t>
                                      </m:r>
                                      <m:r>
                                        <m:rPr>
                                          <m:sty m:val="p"/>
                                        </m:rPr>
                                        <a:rPr lang="en-CA" sz="2000" b="0" i="0" smtClean="0">
                                          <a:solidFill>
                                            <a:srgbClr val="C00000"/>
                                          </a:solidFill>
                                          <a:latin typeface="Cambria Math"/>
                                          <a:ea typeface="Cambria Math"/>
                                        </a:rPr>
                                        <m:t>edge</m:t>
                                      </m:r>
                                      <m:r>
                                        <a:rPr lang="en-CA" sz="2000" b="0" i="0" smtClean="0">
                                          <a:solidFill>
                                            <a:srgbClr val="C00000"/>
                                          </a:solidFill>
                                          <a:latin typeface="Cambria Math"/>
                                          <a:ea typeface="Cambria Math"/>
                                        </a:rPr>
                                        <m:t> </m:t>
                                      </m:r>
                                      <m:r>
                                        <m:rPr>
                                          <m:sty m:val="p"/>
                                        </m:rPr>
                                        <a:rPr lang="en-CA" sz="2000" b="0" i="0" smtClean="0">
                                          <a:solidFill>
                                            <a:srgbClr val="C00000"/>
                                          </a:solidFill>
                                          <a:latin typeface="Cambria Math"/>
                                          <a:ea typeface="Cambria Math"/>
                                        </a:rPr>
                                        <m:t>on</m:t>
                                      </m:r>
                                      <m:r>
                                        <a:rPr lang="en-CA" sz="2000" b="0" i="0" smtClean="0">
                                          <a:solidFill>
                                            <a:srgbClr val="C00000"/>
                                          </a:solidFill>
                                          <a:latin typeface="Cambria Math"/>
                                          <a:ea typeface="Cambria Math"/>
                                        </a:rPr>
                                        <m:t> </m:t>
                                      </m:r>
                                      <m:r>
                                        <a:rPr lang="en-CA" sz="2000" b="0" i="1" smtClean="0">
                                          <a:solidFill>
                                            <a:srgbClr val="C00000"/>
                                          </a:solidFill>
                                          <a:latin typeface="Cambria Math"/>
                                          <a:ea typeface="Cambria Math"/>
                                        </a:rPr>
                                        <m:t> </m:t>
                                      </m:r>
                                      <m:r>
                                        <a:rPr lang="en-CA" sz="2000" b="0" i="1" smtClean="0">
                                          <a:solidFill>
                                            <a:srgbClr val="C00000"/>
                                          </a:solidFill>
                                          <a:latin typeface="Cambria Math"/>
                                          <a:ea typeface="Cambria Math"/>
                                        </a:rPr>
                                        <m:t>𝑝</m:t>
                                      </m:r>
                                      <m:r>
                                        <a:rPr lang="en-CA" sz="2000" b="0" i="1" smtClean="0">
                                          <a:solidFill>
                                            <a:srgbClr val="C00000"/>
                                          </a:solidFill>
                                          <a:latin typeface="Cambria Math"/>
                                          <a:ea typeface="Cambria Math"/>
                                        </a:rPr>
                                        <m:t> </m:t>
                                      </m:r>
                                    </m:e>
                                  </m:d>
                                </m:e>
                              </m:mr>
                            </m:m>
                          </m:e>
                        </m:d>
                      </m:e>
                    </m:func>
                  </m:oMath>
                </a14:m>
                <a:endParaRPr lang="en-US" sz="2000" dirty="0" smtClean="0">
                  <a:solidFill>
                    <a:schemeClr val="tx2"/>
                  </a:solidFill>
                </a:endParaRPr>
              </a:p>
              <a:p>
                <a:pPr marL="288925" indent="-288925" eaLnBrk="1" hangingPunct="1">
                  <a:spcBef>
                    <a:spcPct val="50000"/>
                  </a:spcBef>
                  <a:buFont typeface="Wingdings" pitchFamily="2" charset="2"/>
                  <a:buChar char="§"/>
                </a:pPr>
                <a:endParaRPr lang="en-US" sz="2000" dirty="0">
                  <a:solidFill>
                    <a:schemeClr val="tx2"/>
                  </a:solidFill>
                </a:endParaRPr>
              </a:p>
              <a:p>
                <a:pPr marL="288925" indent="-288925" eaLnBrk="1" hangingPunct="1">
                  <a:spcBef>
                    <a:spcPct val="50000"/>
                  </a:spcBef>
                  <a:buFont typeface="Wingdings" pitchFamily="2" charset="2"/>
                  <a:buChar char="§"/>
                </a:pPr>
                <a:r>
                  <a:rPr lang="en-US" sz="2000" b="1" dirty="0" smtClean="0">
                    <a:solidFill>
                      <a:schemeClr val="accent2"/>
                    </a:solidFill>
                  </a:rPr>
                  <a:t>Augment </a:t>
                </a:r>
                <a:r>
                  <a:rPr lang="en-US" sz="2000" b="1" dirty="0">
                    <a:solidFill>
                      <a:schemeClr val="accent2"/>
                    </a:solidFill>
                  </a:rPr>
                  <a:t>flow f </a:t>
                </a:r>
                <a:r>
                  <a:rPr lang="en-US" sz="2000" b="1" dirty="0" smtClean="0">
                    <a:solidFill>
                      <a:schemeClr val="accent2"/>
                    </a:solidFill>
                  </a:rPr>
                  <a:t> along  p:</a:t>
                </a:r>
                <a:r>
                  <a:rPr lang="en-US" sz="2000" dirty="0">
                    <a:solidFill>
                      <a:schemeClr val="tx2"/>
                    </a:solidFill>
                  </a:rPr>
                  <a:t/>
                </a:r>
                <a:br>
                  <a:rPr lang="en-US" sz="2000" dirty="0">
                    <a:solidFill>
                      <a:schemeClr val="tx2"/>
                    </a:solidFill>
                  </a:rPr>
                </a:br>
                <a:r>
                  <a:rPr lang="en-US" sz="2000" dirty="0" smtClean="0">
                    <a:solidFill>
                      <a:schemeClr val="tx2"/>
                    </a:solidFill>
                  </a:rPr>
                  <a:t/>
                </a:r>
                <a:br>
                  <a:rPr lang="en-US" sz="2000" dirty="0" smtClean="0">
                    <a:solidFill>
                      <a:schemeClr val="tx2"/>
                    </a:solidFill>
                  </a:rPr>
                </a:br>
                <a14:m>
                  <m:oMath xmlns:m="http://schemas.openxmlformats.org/officeDocument/2006/math">
                    <m:r>
                      <a:rPr lang="en-CA" sz="2000" b="0" i="1" smtClean="0">
                        <a:solidFill>
                          <a:schemeClr val="accent2"/>
                        </a:solidFill>
                        <a:latin typeface="Cambria Math"/>
                      </a:rPr>
                      <m:t>𝑓</m:t>
                    </m:r>
                    <m:d>
                      <m:dPr>
                        <m:ctrlPr>
                          <a:rPr lang="en-CA" sz="2000" b="0" i="1" smtClean="0">
                            <a:solidFill>
                              <a:schemeClr val="accent2"/>
                            </a:solidFill>
                            <a:latin typeface="Cambria Math"/>
                          </a:rPr>
                        </m:ctrlPr>
                      </m:dPr>
                      <m:e>
                        <m:r>
                          <a:rPr lang="en-CA" sz="2000" b="0" i="1" smtClean="0">
                            <a:solidFill>
                              <a:schemeClr val="accent2"/>
                            </a:solidFill>
                            <a:latin typeface="Cambria Math"/>
                          </a:rPr>
                          <m:t>𝑒</m:t>
                        </m:r>
                      </m:e>
                    </m:d>
                    <m:r>
                      <a:rPr lang="en-CA" sz="2000" b="0" i="1" smtClean="0">
                        <a:solidFill>
                          <a:schemeClr val="accent2"/>
                        </a:solidFill>
                        <a:latin typeface="Cambria Math"/>
                      </a:rPr>
                      <m:t> </m:t>
                    </m:r>
                    <m:r>
                      <a:rPr lang="en-CA" sz="2000" b="0" i="1" smtClean="0">
                        <a:solidFill>
                          <a:schemeClr val="accent2"/>
                        </a:solidFill>
                        <a:latin typeface="Cambria Math"/>
                        <a:ea typeface="Cambria Math"/>
                      </a:rPr>
                      <m:t>←  </m:t>
                    </m:r>
                    <m:d>
                      <m:dPr>
                        <m:begChr m:val="{"/>
                        <m:endChr m:val=""/>
                        <m:ctrlPr>
                          <a:rPr lang="en-CA" sz="2000" b="0" i="1" smtClean="0">
                            <a:solidFill>
                              <a:schemeClr val="accent2"/>
                            </a:solidFill>
                            <a:latin typeface="Cambria Math"/>
                            <a:ea typeface="Cambria Math"/>
                          </a:rPr>
                        </m:ctrlPr>
                      </m:dPr>
                      <m:e>
                        <m:r>
                          <a:rPr lang="en-CA" sz="2000" b="0" i="1" smtClean="0">
                            <a:solidFill>
                              <a:schemeClr val="accent2"/>
                            </a:solidFill>
                            <a:latin typeface="Cambria Math"/>
                            <a:ea typeface="Cambria Math"/>
                          </a:rPr>
                          <m:t> </m:t>
                        </m:r>
                        <m:m>
                          <m:mPr>
                            <m:mcs>
                              <m:mc>
                                <m:mcPr>
                                  <m:count m:val="3"/>
                                  <m:mcJc m:val="center"/>
                                </m:mcPr>
                              </m:mc>
                            </m:mcs>
                            <m:ctrlPr>
                              <a:rPr lang="en-CA" sz="2000" b="0" i="1" smtClean="0">
                                <a:solidFill>
                                  <a:schemeClr val="accent2"/>
                                </a:solidFill>
                                <a:latin typeface="Cambria Math"/>
                                <a:ea typeface="Cambria Math"/>
                              </a:rPr>
                            </m:ctrlPr>
                          </m:mPr>
                          <m:mr>
                            <m:e>
                              <m:r>
                                <m:rPr>
                                  <m:brk m:alnAt="7"/>
                                </m:rPr>
                                <a:rPr lang="en-CA" sz="2000" b="0" i="1" smtClean="0">
                                  <a:solidFill>
                                    <a:schemeClr val="accent2"/>
                                  </a:solidFill>
                                  <a:latin typeface="Cambria Math"/>
                                  <a:ea typeface="Cambria Math"/>
                                </a:rPr>
                                <m:t>𝑓</m:t>
                              </m:r>
                              <m:d>
                                <m:dPr>
                                  <m:ctrlPr>
                                    <a:rPr lang="en-CA" sz="2000" b="0" i="1" smtClean="0">
                                      <a:solidFill>
                                        <a:schemeClr val="accent2"/>
                                      </a:solidFill>
                                      <a:latin typeface="Cambria Math"/>
                                      <a:ea typeface="Cambria Math"/>
                                    </a:rPr>
                                  </m:ctrlPr>
                                </m:dPr>
                                <m:e>
                                  <m:r>
                                    <m:rPr>
                                      <m:brk m:alnAt="7"/>
                                    </m:rPr>
                                    <a:rPr lang="en-CA" sz="2000" b="0" i="1" smtClean="0">
                                      <a:solidFill>
                                        <a:schemeClr val="accent2"/>
                                      </a:solidFill>
                                      <a:latin typeface="Cambria Math"/>
                                      <a:ea typeface="Cambria Math"/>
                                    </a:rPr>
                                    <m:t>𝑒</m:t>
                                  </m:r>
                                </m:e>
                              </m:d>
                              <m:r>
                                <m:rPr>
                                  <m:brk m:alnAt="7"/>
                                </m:rPr>
                                <a:rPr lang="en-CA" sz="2000" b="0" i="1" smtClean="0">
                                  <a:solidFill>
                                    <a:schemeClr val="accent2"/>
                                  </a:solidFill>
                                  <a:latin typeface="Cambria Math"/>
                                  <a:ea typeface="Cambria Math"/>
                                </a:rPr>
                                <m:t>+</m:t>
                              </m:r>
                              <m:r>
                                <m:rPr>
                                  <m:sty m:val="p"/>
                                </m:rPr>
                                <a:rPr lang="el-GR" sz="2000" b="0" i="1" smtClean="0">
                                  <a:solidFill>
                                    <a:schemeClr val="accent2"/>
                                  </a:solidFill>
                                  <a:latin typeface="Cambria Math"/>
                                  <a:ea typeface="Cambria Math"/>
                                </a:rPr>
                                <m:t>Δ</m:t>
                              </m:r>
                              <m:r>
                                <a:rPr lang="en-CA" sz="2000" b="0" i="1" smtClean="0">
                                  <a:solidFill>
                                    <a:schemeClr val="accent2"/>
                                  </a:solidFill>
                                  <a:latin typeface="Cambria Math"/>
                                  <a:ea typeface="Cambria Math"/>
                                </a:rPr>
                                <m:t>(</m:t>
                              </m:r>
                              <m:r>
                                <a:rPr lang="en-CA" sz="2000" b="0" i="1" smtClean="0">
                                  <a:solidFill>
                                    <a:schemeClr val="accent2"/>
                                  </a:solidFill>
                                  <a:latin typeface="Cambria Math"/>
                                  <a:ea typeface="Cambria Math"/>
                                </a:rPr>
                                <m:t>𝑝</m:t>
                              </m:r>
                              <m:r>
                                <m:rPr>
                                  <m:brk m:alnAt="7"/>
                                </m:rPr>
                                <a:rPr lang="en-CA" sz="2000" b="0" i="0" smtClean="0">
                                  <a:solidFill>
                                    <a:schemeClr val="accent2"/>
                                  </a:solidFill>
                                  <a:latin typeface="Cambria Math"/>
                                  <a:ea typeface="Cambria Math"/>
                                </a:rPr>
                                <m:t>)</m:t>
                              </m:r>
                            </m:e>
                            <m:e>
                              <m:r>
                                <m:rPr>
                                  <m:sty m:val="p"/>
                                </m:rPr>
                                <a:rPr lang="en-CA" sz="2000" b="0" i="0" smtClean="0">
                                  <a:solidFill>
                                    <a:schemeClr val="accent2"/>
                                  </a:solidFill>
                                  <a:latin typeface="Cambria Math"/>
                                  <a:ea typeface="Cambria Math"/>
                                </a:rPr>
                                <m:t>if</m:t>
                              </m:r>
                              <m:r>
                                <a:rPr lang="en-CA" sz="2000" b="0" i="0" smtClean="0">
                                  <a:solidFill>
                                    <a:schemeClr val="accent2"/>
                                  </a:solidFill>
                                  <a:latin typeface="Cambria Math"/>
                                  <a:ea typeface="Cambria Math"/>
                                </a:rPr>
                                <m:t> </m:t>
                              </m:r>
                              <m:r>
                                <m:rPr>
                                  <m:sty m:val="p"/>
                                </m:rPr>
                                <a:rPr lang="en-CA" sz="2000" b="0" i="0" smtClean="0">
                                  <a:solidFill>
                                    <a:schemeClr val="accent2"/>
                                  </a:solidFill>
                                  <a:latin typeface="Cambria Math"/>
                                  <a:ea typeface="Cambria Math"/>
                                </a:rPr>
                                <m:t>e</m:t>
                              </m:r>
                              <m:r>
                                <a:rPr lang="en-CA" sz="2000" b="0" i="0" smtClean="0">
                                  <a:solidFill>
                                    <a:schemeClr val="accent2"/>
                                  </a:solidFill>
                                  <a:latin typeface="Cambria Math"/>
                                  <a:ea typeface="Cambria Math"/>
                                </a:rPr>
                                <m:t> </m:t>
                              </m:r>
                              <m:r>
                                <m:rPr>
                                  <m:sty m:val="p"/>
                                </m:rPr>
                                <a:rPr lang="en-CA" sz="2000" b="0" i="0" smtClean="0">
                                  <a:solidFill>
                                    <a:schemeClr val="accent2"/>
                                  </a:solidFill>
                                  <a:latin typeface="Cambria Math"/>
                                  <a:ea typeface="Cambria Math"/>
                                </a:rPr>
                                <m:t>is</m:t>
                              </m:r>
                              <m:r>
                                <a:rPr lang="en-CA" sz="2000" b="0" i="0" smtClean="0">
                                  <a:solidFill>
                                    <a:schemeClr val="accent2"/>
                                  </a:solidFill>
                                  <a:latin typeface="Cambria Math"/>
                                  <a:ea typeface="Cambria Math"/>
                                </a:rPr>
                                <m:t> </m:t>
                              </m:r>
                              <m:r>
                                <m:rPr>
                                  <m:sty m:val="p"/>
                                </m:rPr>
                                <a:rPr lang="en-CA" sz="2000" b="0" i="0" smtClean="0">
                                  <a:solidFill>
                                    <a:schemeClr val="accent2"/>
                                  </a:solidFill>
                                  <a:latin typeface="Cambria Math"/>
                                  <a:ea typeface="Cambria Math"/>
                                </a:rPr>
                                <m:t>a</m:t>
                              </m:r>
                              <m:r>
                                <a:rPr lang="en-CA" sz="2000" b="0" i="0" smtClean="0">
                                  <a:solidFill>
                                    <a:schemeClr val="accent2"/>
                                  </a:solidFill>
                                  <a:latin typeface="Cambria Math"/>
                                  <a:ea typeface="Cambria Math"/>
                                </a:rPr>
                                <m:t> </m:t>
                              </m:r>
                              <m:r>
                                <m:rPr>
                                  <m:sty m:val="p"/>
                                </m:rPr>
                                <a:rPr lang="en-CA" sz="2000" b="0" i="0" smtClean="0">
                                  <a:solidFill>
                                    <a:schemeClr val="accent2"/>
                                  </a:solidFill>
                                  <a:latin typeface="Cambria Math"/>
                                  <a:ea typeface="Cambria Math"/>
                                </a:rPr>
                                <m:t>forward</m:t>
                              </m:r>
                              <m:r>
                                <a:rPr lang="en-CA" sz="2000" b="0" i="0" smtClean="0">
                                  <a:solidFill>
                                    <a:schemeClr val="accent2"/>
                                  </a:solidFill>
                                  <a:latin typeface="Cambria Math"/>
                                  <a:ea typeface="Cambria Math"/>
                                </a:rPr>
                                <m:t>    </m:t>
                              </m:r>
                              <m:r>
                                <m:rPr>
                                  <m:sty m:val="p"/>
                                </m:rPr>
                                <a:rPr lang="en-CA" sz="2000" b="0" i="0" smtClean="0">
                                  <a:solidFill>
                                    <a:schemeClr val="accent2"/>
                                  </a:solidFill>
                                  <a:latin typeface="Cambria Math"/>
                                  <a:ea typeface="Cambria Math"/>
                                </a:rPr>
                                <m:t>edge</m:t>
                              </m:r>
                              <m:r>
                                <a:rPr lang="en-CA" sz="2000" b="0" i="0" smtClean="0">
                                  <a:solidFill>
                                    <a:schemeClr val="accent2"/>
                                  </a:solidFill>
                                  <a:latin typeface="Cambria Math"/>
                                  <a:ea typeface="Cambria Math"/>
                                </a:rPr>
                                <m:t> </m:t>
                              </m:r>
                              <m:r>
                                <m:rPr>
                                  <m:sty m:val="p"/>
                                </m:rPr>
                                <a:rPr lang="en-CA" sz="2000" b="0" i="0" smtClean="0">
                                  <a:solidFill>
                                    <a:schemeClr val="accent2"/>
                                  </a:solidFill>
                                  <a:latin typeface="Cambria Math"/>
                                  <a:ea typeface="Cambria Math"/>
                                </a:rPr>
                                <m:t>on</m:t>
                              </m:r>
                              <m:r>
                                <a:rPr lang="en-CA" sz="2000" b="0" i="0" smtClean="0">
                                  <a:solidFill>
                                    <a:schemeClr val="accent2"/>
                                  </a:solidFill>
                                  <a:latin typeface="Cambria Math"/>
                                  <a:ea typeface="Cambria Math"/>
                                </a:rPr>
                                <m:t> </m:t>
                              </m:r>
                              <m:r>
                                <m:rPr>
                                  <m:sty m:val="p"/>
                                </m:rPr>
                                <a:rPr lang="en-CA" sz="2000" b="0" i="0" smtClean="0">
                                  <a:solidFill>
                                    <a:schemeClr val="accent2"/>
                                  </a:solidFill>
                                  <a:latin typeface="Cambria Math"/>
                                  <a:ea typeface="Cambria Math"/>
                                </a:rPr>
                                <m:t>p</m:t>
                              </m:r>
                            </m:e>
                            <m:e/>
                          </m:mr>
                          <m:mr>
                            <m:e>
                              <m:r>
                                <a:rPr lang="en-CA" sz="2000" b="0" i="1" smtClean="0">
                                  <a:solidFill>
                                    <a:schemeClr val="accent2"/>
                                  </a:solidFill>
                                  <a:latin typeface="Cambria Math"/>
                                  <a:ea typeface="Cambria Math"/>
                                </a:rPr>
                                <m:t>𝑓</m:t>
                              </m:r>
                              <m:d>
                                <m:dPr>
                                  <m:ctrlPr>
                                    <a:rPr lang="en-CA" sz="2000" b="0" i="1" smtClean="0">
                                      <a:solidFill>
                                        <a:schemeClr val="accent2"/>
                                      </a:solidFill>
                                      <a:latin typeface="Cambria Math"/>
                                      <a:ea typeface="Cambria Math"/>
                                    </a:rPr>
                                  </m:ctrlPr>
                                </m:dPr>
                                <m:e>
                                  <m:r>
                                    <a:rPr lang="en-CA" sz="2000" b="0" i="1" smtClean="0">
                                      <a:solidFill>
                                        <a:schemeClr val="accent2"/>
                                      </a:solidFill>
                                      <a:latin typeface="Cambria Math"/>
                                      <a:ea typeface="Cambria Math"/>
                                    </a:rPr>
                                    <m:t>𝑒</m:t>
                                  </m:r>
                                </m:e>
                              </m:d>
                              <m:r>
                                <a:rPr lang="en-CA" sz="2000" b="0" i="1" smtClean="0">
                                  <a:solidFill>
                                    <a:schemeClr val="accent2"/>
                                  </a:solidFill>
                                  <a:latin typeface="Cambria Math"/>
                                  <a:ea typeface="Cambria Math"/>
                                </a:rPr>
                                <m:t>−</m:t>
                              </m:r>
                              <m:r>
                                <m:rPr>
                                  <m:sty m:val="p"/>
                                </m:rPr>
                                <a:rPr lang="el-GR" sz="2000" b="0" i="1" smtClean="0">
                                  <a:solidFill>
                                    <a:schemeClr val="accent2"/>
                                  </a:solidFill>
                                  <a:latin typeface="Cambria Math"/>
                                  <a:ea typeface="Cambria Math"/>
                                </a:rPr>
                                <m:t>Δ</m:t>
                              </m:r>
                              <m:r>
                                <a:rPr lang="en-CA" sz="2000" b="0" i="1" smtClean="0">
                                  <a:solidFill>
                                    <a:schemeClr val="accent2"/>
                                  </a:solidFill>
                                  <a:latin typeface="Cambria Math"/>
                                  <a:ea typeface="Cambria Math"/>
                                </a:rPr>
                                <m:t>(</m:t>
                              </m:r>
                              <m:r>
                                <a:rPr lang="en-CA" sz="2000" b="0" i="1" smtClean="0">
                                  <a:solidFill>
                                    <a:schemeClr val="accent2"/>
                                  </a:solidFill>
                                  <a:latin typeface="Cambria Math"/>
                                  <a:ea typeface="Cambria Math"/>
                                </a:rPr>
                                <m:t>𝑝</m:t>
                              </m:r>
                              <m:r>
                                <a:rPr lang="en-CA" sz="2000" b="0" i="1" smtClean="0">
                                  <a:solidFill>
                                    <a:schemeClr val="accent2"/>
                                  </a:solidFill>
                                  <a:latin typeface="Cambria Math"/>
                                  <a:ea typeface="Cambria Math"/>
                                </a:rPr>
                                <m:t>)</m:t>
                              </m:r>
                            </m:e>
                            <m:e>
                              <m:r>
                                <a:rPr lang="en-CA" sz="2000" b="0" i="1" smtClean="0">
                                  <a:solidFill>
                                    <a:schemeClr val="accent2"/>
                                  </a:solidFill>
                                  <a:latin typeface="Cambria Math"/>
                                  <a:ea typeface="Cambria Math"/>
                                </a:rPr>
                                <m:t>   </m:t>
                              </m:r>
                              <m:r>
                                <m:rPr>
                                  <m:sty m:val="p"/>
                                </m:rPr>
                                <a:rPr lang="en-CA" sz="2000" b="0" i="0" smtClean="0">
                                  <a:solidFill>
                                    <a:schemeClr val="accent2"/>
                                  </a:solidFill>
                                  <a:latin typeface="Cambria Math"/>
                                  <a:ea typeface="Cambria Math"/>
                                </a:rPr>
                                <m:t>if</m:t>
                              </m:r>
                              <m:r>
                                <a:rPr lang="en-CA" sz="2000" b="0" i="0" smtClean="0">
                                  <a:solidFill>
                                    <a:schemeClr val="accent2"/>
                                  </a:solidFill>
                                  <a:latin typeface="Cambria Math"/>
                                  <a:ea typeface="Cambria Math"/>
                                </a:rPr>
                                <m:t> </m:t>
                              </m:r>
                              <m:r>
                                <m:rPr>
                                  <m:sty m:val="p"/>
                                </m:rPr>
                                <a:rPr lang="en-CA" sz="2000" b="0" i="0" smtClean="0">
                                  <a:solidFill>
                                    <a:schemeClr val="accent2"/>
                                  </a:solidFill>
                                  <a:latin typeface="Cambria Math"/>
                                  <a:ea typeface="Cambria Math"/>
                                </a:rPr>
                                <m:t>e</m:t>
                              </m:r>
                              <m:r>
                                <a:rPr lang="en-CA" sz="2000" b="0" i="0" smtClean="0">
                                  <a:solidFill>
                                    <a:schemeClr val="accent2"/>
                                  </a:solidFill>
                                  <a:latin typeface="Cambria Math"/>
                                  <a:ea typeface="Cambria Math"/>
                                </a:rPr>
                                <m:t> </m:t>
                              </m:r>
                              <m:r>
                                <m:rPr>
                                  <m:sty m:val="p"/>
                                </m:rPr>
                                <a:rPr lang="en-CA" sz="2000" b="0" i="0" smtClean="0">
                                  <a:solidFill>
                                    <a:schemeClr val="accent2"/>
                                  </a:solidFill>
                                  <a:latin typeface="Cambria Math"/>
                                  <a:ea typeface="Cambria Math"/>
                                </a:rPr>
                                <m:t>is</m:t>
                              </m:r>
                              <m:r>
                                <a:rPr lang="en-CA" sz="2000" b="0" i="0" smtClean="0">
                                  <a:solidFill>
                                    <a:schemeClr val="accent2"/>
                                  </a:solidFill>
                                  <a:latin typeface="Cambria Math"/>
                                  <a:ea typeface="Cambria Math"/>
                                </a:rPr>
                                <m:t> </m:t>
                              </m:r>
                              <m:r>
                                <m:rPr>
                                  <m:sty m:val="p"/>
                                </m:rPr>
                                <a:rPr lang="en-CA" sz="2000" b="0" i="0" smtClean="0">
                                  <a:solidFill>
                                    <a:schemeClr val="accent2"/>
                                  </a:solidFill>
                                  <a:latin typeface="Cambria Math"/>
                                  <a:ea typeface="Cambria Math"/>
                                </a:rPr>
                                <m:t>a</m:t>
                              </m:r>
                              <m:r>
                                <a:rPr lang="en-CA" sz="2000" b="0" i="0" smtClean="0">
                                  <a:solidFill>
                                    <a:schemeClr val="accent2"/>
                                  </a:solidFill>
                                  <a:latin typeface="Cambria Math"/>
                                  <a:ea typeface="Cambria Math"/>
                                </a:rPr>
                                <m:t> </m:t>
                              </m:r>
                              <m:r>
                                <m:rPr>
                                  <m:sty m:val="p"/>
                                </m:rPr>
                                <a:rPr lang="en-CA" sz="2000" b="0" i="0" smtClean="0">
                                  <a:solidFill>
                                    <a:schemeClr val="accent2"/>
                                  </a:solidFill>
                                  <a:latin typeface="Cambria Math"/>
                                  <a:ea typeface="Cambria Math"/>
                                </a:rPr>
                                <m:t>backward</m:t>
                              </m:r>
                              <m:r>
                                <a:rPr lang="en-CA" sz="2000" b="0" i="0" smtClean="0">
                                  <a:solidFill>
                                    <a:schemeClr val="accent2"/>
                                  </a:solidFill>
                                  <a:latin typeface="Cambria Math"/>
                                  <a:ea typeface="Cambria Math"/>
                                </a:rPr>
                                <m:t> </m:t>
                              </m:r>
                              <m:r>
                                <m:rPr>
                                  <m:sty m:val="p"/>
                                </m:rPr>
                                <a:rPr lang="en-CA" sz="2000" b="0" i="0" smtClean="0">
                                  <a:solidFill>
                                    <a:schemeClr val="accent2"/>
                                  </a:solidFill>
                                  <a:latin typeface="Cambria Math"/>
                                  <a:ea typeface="Cambria Math"/>
                                </a:rPr>
                                <m:t>edge</m:t>
                              </m:r>
                              <m:r>
                                <a:rPr lang="en-CA" sz="2000" b="0" i="0" smtClean="0">
                                  <a:solidFill>
                                    <a:schemeClr val="accent2"/>
                                  </a:solidFill>
                                  <a:latin typeface="Cambria Math"/>
                                  <a:ea typeface="Cambria Math"/>
                                </a:rPr>
                                <m:t> </m:t>
                              </m:r>
                              <m:r>
                                <m:rPr>
                                  <m:sty m:val="p"/>
                                </m:rPr>
                                <a:rPr lang="en-CA" sz="2000" b="0" i="0" smtClean="0">
                                  <a:solidFill>
                                    <a:schemeClr val="accent2"/>
                                  </a:solidFill>
                                  <a:latin typeface="Cambria Math"/>
                                  <a:ea typeface="Cambria Math"/>
                                </a:rPr>
                                <m:t>on</m:t>
                              </m:r>
                              <m:r>
                                <a:rPr lang="en-CA" sz="2000" b="0" i="0" smtClean="0">
                                  <a:solidFill>
                                    <a:schemeClr val="accent2"/>
                                  </a:solidFill>
                                  <a:latin typeface="Cambria Math"/>
                                  <a:ea typeface="Cambria Math"/>
                                </a:rPr>
                                <m:t> </m:t>
                              </m:r>
                              <m:r>
                                <m:rPr>
                                  <m:sty m:val="p"/>
                                </m:rPr>
                                <a:rPr lang="en-CA" sz="2000" b="0" i="0" smtClean="0">
                                  <a:solidFill>
                                    <a:schemeClr val="accent2"/>
                                  </a:solidFill>
                                  <a:latin typeface="Cambria Math"/>
                                  <a:ea typeface="Cambria Math"/>
                                </a:rPr>
                                <m:t>p</m:t>
                              </m:r>
                              <m:r>
                                <a:rPr lang="en-CA" sz="2000" b="0" i="0" smtClean="0">
                                  <a:solidFill>
                                    <a:schemeClr val="accent2"/>
                                  </a:solidFill>
                                  <a:latin typeface="Cambria Math"/>
                                  <a:ea typeface="Cambria Math"/>
                                </a:rPr>
                                <m:t>   </m:t>
                              </m:r>
                            </m:e>
                            <m:e>
                              <m:r>
                                <a:rPr lang="en-CA" sz="2000" b="0" i="1" smtClean="0">
                                  <a:solidFill>
                                    <a:schemeClr val="accent2"/>
                                  </a:solidFill>
                                  <a:latin typeface="Cambria Math"/>
                                  <a:ea typeface="Cambria Math"/>
                                </a:rPr>
                                <m:t>          ∀</m:t>
                              </m:r>
                              <m:r>
                                <a:rPr lang="en-CA" sz="2000" b="0" i="1" smtClean="0">
                                  <a:solidFill>
                                    <a:schemeClr val="accent2"/>
                                  </a:solidFill>
                                  <a:latin typeface="Cambria Math"/>
                                  <a:ea typeface="Cambria Math"/>
                                </a:rPr>
                                <m:t>𝑒</m:t>
                              </m:r>
                              <m:r>
                                <a:rPr lang="en-CA" sz="2000" i="1">
                                  <a:solidFill>
                                    <a:schemeClr val="accent2"/>
                                  </a:solidFill>
                                  <a:latin typeface="Cambria Math"/>
                                  <a:ea typeface="Cambria Math"/>
                                </a:rPr>
                                <m:t>∈</m:t>
                              </m:r>
                              <m:r>
                                <a:rPr lang="en-CA" sz="2000" b="0" i="1" smtClean="0">
                                  <a:solidFill>
                                    <a:schemeClr val="accent2"/>
                                  </a:solidFill>
                                  <a:latin typeface="Cambria Math"/>
                                  <a:ea typeface="Cambria Math"/>
                                </a:rPr>
                                <m:t>𝐸</m:t>
                              </m:r>
                              <m:r>
                                <a:rPr lang="en-CA" sz="2000" b="0" i="1" smtClean="0">
                                  <a:solidFill>
                                    <a:schemeClr val="accent2"/>
                                  </a:solidFill>
                                  <a:latin typeface="Cambria Math"/>
                                  <a:ea typeface="Cambria Math"/>
                                </a:rPr>
                                <m:t>(</m:t>
                              </m:r>
                              <m:r>
                                <a:rPr lang="en-CA" sz="2000" b="0" i="1" smtClean="0">
                                  <a:solidFill>
                                    <a:schemeClr val="accent2"/>
                                  </a:solidFill>
                                  <a:latin typeface="Cambria Math"/>
                                  <a:ea typeface="Cambria Math"/>
                                </a:rPr>
                                <m:t>𝐺</m:t>
                              </m:r>
                              <m:r>
                                <a:rPr lang="en-CA" sz="2000" b="0" i="1" smtClean="0">
                                  <a:solidFill>
                                    <a:schemeClr val="accent2"/>
                                  </a:solidFill>
                                  <a:latin typeface="Cambria Math"/>
                                  <a:ea typeface="Cambria Math"/>
                                </a:rPr>
                                <m:t>)</m:t>
                              </m:r>
                            </m:e>
                          </m:mr>
                          <m:mr>
                            <m:e>
                              <m:r>
                                <a:rPr lang="en-CA" sz="2000" b="0" i="1" smtClean="0">
                                  <a:solidFill>
                                    <a:schemeClr val="accent2"/>
                                  </a:solidFill>
                                  <a:latin typeface="Cambria Math"/>
                                  <a:ea typeface="Cambria Math"/>
                                </a:rPr>
                                <m:t>𝑓</m:t>
                              </m:r>
                              <m:d>
                                <m:dPr>
                                  <m:ctrlPr>
                                    <a:rPr lang="en-CA" sz="2000" b="0" i="1" smtClean="0">
                                      <a:solidFill>
                                        <a:schemeClr val="accent2"/>
                                      </a:solidFill>
                                      <a:latin typeface="Cambria Math"/>
                                      <a:ea typeface="Cambria Math"/>
                                    </a:rPr>
                                  </m:ctrlPr>
                                </m:dPr>
                                <m:e>
                                  <m:r>
                                    <a:rPr lang="en-CA" sz="2000" b="0" i="1" smtClean="0">
                                      <a:solidFill>
                                        <a:schemeClr val="accent2"/>
                                      </a:solidFill>
                                      <a:latin typeface="Cambria Math"/>
                                      <a:ea typeface="Cambria Math"/>
                                    </a:rPr>
                                    <m:t>𝑒</m:t>
                                  </m:r>
                                </m:e>
                              </m:d>
                              <m:r>
                                <a:rPr lang="en-CA" sz="2000" b="0" i="0" smtClean="0">
                                  <a:solidFill>
                                    <a:schemeClr val="accent2"/>
                                  </a:solidFill>
                                  <a:latin typeface="Cambria Math"/>
                                  <a:ea typeface="Cambria Math"/>
                                </a:rPr>
                                <m:t>              </m:t>
                              </m:r>
                            </m:e>
                            <m:e>
                              <m:r>
                                <m:rPr>
                                  <m:sty m:val="p"/>
                                </m:rPr>
                                <a:rPr lang="en-CA" sz="2000" b="0" i="0" smtClean="0">
                                  <a:solidFill>
                                    <a:schemeClr val="accent2"/>
                                  </a:solidFill>
                                  <a:latin typeface="Cambria Math"/>
                                  <a:ea typeface="Cambria Math"/>
                                </a:rPr>
                                <m:t>otherwise</m:t>
                              </m:r>
                              <m:r>
                                <a:rPr lang="en-CA" sz="2000" b="0" i="0" smtClean="0">
                                  <a:solidFill>
                                    <a:schemeClr val="accent2"/>
                                  </a:solidFill>
                                  <a:latin typeface="Cambria Math"/>
                                  <a:ea typeface="Cambria Math"/>
                                </a:rPr>
                                <m:t>                                 </m:t>
                              </m:r>
                            </m:e>
                            <m:e/>
                          </m:mr>
                        </m:m>
                      </m:e>
                    </m:d>
                  </m:oMath>
                </a14:m>
                <a:endParaRPr lang="en-US" sz="2000" dirty="0">
                  <a:solidFill>
                    <a:schemeClr val="tx2"/>
                  </a:solidFill>
                </a:endParaRPr>
              </a:p>
            </p:txBody>
          </p:sp>
        </mc:Choice>
        <mc:Fallback xmlns="">
          <p:sp>
            <p:nvSpPr>
              <p:cNvPr id="230403" name="Rectangle 3"/>
              <p:cNvSpPr>
                <a:spLocks noRot="1" noChangeAspect="1" noMove="1" noResize="1" noEditPoints="1" noAdjustHandles="1" noChangeArrowheads="1" noChangeShapeType="1" noTextEdit="1"/>
              </p:cNvSpPr>
              <p:nvPr/>
            </p:nvSpPr>
            <p:spPr bwMode="auto">
              <a:xfrm>
                <a:off x="152400" y="838200"/>
                <a:ext cx="8839200" cy="4487837"/>
              </a:xfrm>
              <a:prstGeom prst="rect">
                <a:avLst/>
              </a:prstGeom>
              <a:blipFill rotWithShape="1">
                <a:blip r:embed="rId2"/>
                <a:stretch>
                  <a:fillRect l="-552" t="-1087"/>
                </a:stretch>
              </a:blip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135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30402"/>
                                        </p:tgtEl>
                                        <p:attrNameLst>
                                          <p:attrName>style.visibility</p:attrName>
                                        </p:attrNameLst>
                                      </p:cBhvr>
                                      <p:to>
                                        <p:strVal val="visible"/>
                                      </p:to>
                                    </p:set>
                                    <p:anim calcmode="lin" valueType="num">
                                      <p:cBhvr>
                                        <p:cTn id="7" dur="500" fill="hold"/>
                                        <p:tgtEl>
                                          <p:spTgt spid="230402"/>
                                        </p:tgtEl>
                                        <p:attrNameLst>
                                          <p:attrName>ppt_w</p:attrName>
                                        </p:attrNameLst>
                                      </p:cBhvr>
                                      <p:tavLst>
                                        <p:tav tm="0">
                                          <p:val>
                                            <p:fltVal val="0"/>
                                          </p:val>
                                        </p:tav>
                                        <p:tav tm="100000">
                                          <p:val>
                                            <p:strVal val="#ppt_w"/>
                                          </p:val>
                                        </p:tav>
                                      </p:tavLst>
                                    </p:anim>
                                    <p:anim calcmode="lin" valueType="num">
                                      <p:cBhvr>
                                        <p:cTn id="8" dur="500" fill="hold"/>
                                        <p:tgtEl>
                                          <p:spTgt spid="23040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30403">
                                            <p:txEl>
                                              <p:pRg st="0" end="0"/>
                                            </p:txEl>
                                          </p:spTgt>
                                        </p:tgtEl>
                                        <p:attrNameLst>
                                          <p:attrName>style.visibility</p:attrName>
                                        </p:attrNameLst>
                                      </p:cBhvr>
                                      <p:to>
                                        <p:strVal val="visible"/>
                                      </p:to>
                                    </p:set>
                                    <p:animEffect transition="in" filter="wipe(up)">
                                      <p:cBhvr>
                                        <p:cTn id="13" dur="500"/>
                                        <p:tgtEl>
                                          <p:spTgt spid="23040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30403">
                                            <p:txEl>
                                              <p:pRg st="1" end="1"/>
                                            </p:txEl>
                                          </p:spTgt>
                                        </p:tgtEl>
                                        <p:attrNameLst>
                                          <p:attrName>style.visibility</p:attrName>
                                        </p:attrNameLst>
                                      </p:cBhvr>
                                      <p:to>
                                        <p:strVal val="visible"/>
                                      </p:to>
                                    </p:set>
                                    <p:animEffect transition="in" filter="wipe(up)">
                                      <p:cBhvr>
                                        <p:cTn id="18" dur="500"/>
                                        <p:tgtEl>
                                          <p:spTgt spid="23040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230403">
                                            <p:txEl>
                                              <p:pRg st="2" end="2"/>
                                            </p:txEl>
                                          </p:spTgt>
                                        </p:tgtEl>
                                        <p:attrNameLst>
                                          <p:attrName>style.visibility</p:attrName>
                                        </p:attrNameLst>
                                      </p:cBhvr>
                                      <p:to>
                                        <p:strVal val="visible"/>
                                      </p:to>
                                    </p:set>
                                    <p:animEffect transition="in" filter="wipe(up)">
                                      <p:cBhvr>
                                        <p:cTn id="23" dur="500"/>
                                        <p:tgtEl>
                                          <p:spTgt spid="23040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230403">
                                            <p:txEl>
                                              <p:pRg st="4" end="4"/>
                                            </p:txEl>
                                          </p:spTgt>
                                        </p:tgtEl>
                                        <p:attrNameLst>
                                          <p:attrName>style.visibility</p:attrName>
                                        </p:attrNameLst>
                                      </p:cBhvr>
                                      <p:to>
                                        <p:strVal val="visible"/>
                                      </p:to>
                                    </p:set>
                                    <p:animEffect transition="in" filter="wipe(up)">
                                      <p:cBhvr>
                                        <p:cTn id="28" dur="500"/>
                                        <p:tgtEl>
                                          <p:spTgt spid="2304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2" grpId="0" animBg="1" autoUpdateAnimBg="0"/>
      <p:bldP spid="230403" grpId="0" build="p" autoUpdateAnimBg="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Text Box 2"/>
          <p:cNvSpPr txBox="1">
            <a:spLocks noChangeArrowheads="1"/>
          </p:cNvSpPr>
          <p:nvPr/>
        </p:nvSpPr>
        <p:spPr bwMode="auto">
          <a:xfrm>
            <a:off x="152400" y="228600"/>
            <a:ext cx="8839200" cy="3606800"/>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457200" indent="-457200" defTabSz="484188">
              <a:defRPr sz="1600">
                <a:solidFill>
                  <a:schemeClr val="tx1"/>
                </a:solidFill>
                <a:latin typeface="Times New Roman" pitchFamily="18" charset="0"/>
              </a:defRPr>
            </a:lvl1pPr>
            <a:lvl2pPr marL="742950" indent="-285750" defTabSz="484188">
              <a:defRPr sz="1600">
                <a:solidFill>
                  <a:schemeClr val="tx1"/>
                </a:solidFill>
                <a:latin typeface="Times New Roman" pitchFamily="18" charset="0"/>
              </a:defRPr>
            </a:lvl2pPr>
            <a:lvl3pPr marL="1143000" indent="-228600" defTabSz="484188">
              <a:defRPr sz="1600">
                <a:solidFill>
                  <a:schemeClr val="tx1"/>
                </a:solidFill>
                <a:latin typeface="Times New Roman" pitchFamily="18" charset="0"/>
              </a:defRPr>
            </a:lvl3pPr>
            <a:lvl4pPr marL="1600200" indent="-228600" defTabSz="484188">
              <a:defRPr sz="1600">
                <a:solidFill>
                  <a:schemeClr val="tx1"/>
                </a:solidFill>
                <a:latin typeface="Times New Roman" pitchFamily="18" charset="0"/>
              </a:defRPr>
            </a:lvl4pPr>
            <a:lvl5pPr marL="2057400" indent="-228600" defTabSz="484188">
              <a:defRPr sz="1600">
                <a:solidFill>
                  <a:schemeClr val="tx1"/>
                </a:solidFill>
                <a:latin typeface="Times New Roman" pitchFamily="18" charset="0"/>
              </a:defRPr>
            </a:lvl5pPr>
            <a:lvl6pPr marL="2514600" indent="-228600" defTabSz="484188" eaLnBrk="0" fontAlgn="base" hangingPunct="0">
              <a:spcBef>
                <a:spcPct val="0"/>
              </a:spcBef>
              <a:spcAft>
                <a:spcPct val="0"/>
              </a:spcAft>
              <a:buChar char="•"/>
              <a:defRPr sz="1600">
                <a:solidFill>
                  <a:schemeClr val="tx1"/>
                </a:solidFill>
                <a:latin typeface="Times New Roman" pitchFamily="18" charset="0"/>
              </a:defRPr>
            </a:lvl6pPr>
            <a:lvl7pPr marL="2971800" indent="-228600" defTabSz="484188" eaLnBrk="0" fontAlgn="base" hangingPunct="0">
              <a:spcBef>
                <a:spcPct val="0"/>
              </a:spcBef>
              <a:spcAft>
                <a:spcPct val="0"/>
              </a:spcAft>
              <a:buChar char="•"/>
              <a:defRPr sz="1600">
                <a:solidFill>
                  <a:schemeClr val="tx1"/>
                </a:solidFill>
                <a:latin typeface="Times New Roman" pitchFamily="18" charset="0"/>
              </a:defRPr>
            </a:lvl7pPr>
            <a:lvl8pPr marL="3429000" indent="-228600" defTabSz="484188" eaLnBrk="0" fontAlgn="base" hangingPunct="0">
              <a:spcBef>
                <a:spcPct val="0"/>
              </a:spcBef>
              <a:spcAft>
                <a:spcPct val="0"/>
              </a:spcAft>
              <a:buChar char="•"/>
              <a:defRPr sz="1600">
                <a:solidFill>
                  <a:schemeClr val="tx1"/>
                </a:solidFill>
                <a:latin typeface="Times New Roman" pitchFamily="18" charset="0"/>
              </a:defRPr>
            </a:lvl8pPr>
            <a:lvl9pPr marL="3886200" indent="-228600" defTabSz="484188"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2400" b="1" dirty="0"/>
              <a:t>Algorithm</a:t>
            </a:r>
            <a:r>
              <a:rPr lang="en-US" sz="2400" dirty="0">
                <a:solidFill>
                  <a:schemeClr val="hlink"/>
                </a:solidFill>
              </a:rPr>
              <a:t>  </a:t>
            </a:r>
            <a:r>
              <a:rPr lang="en-US" sz="2400" b="1" dirty="0" err="1">
                <a:solidFill>
                  <a:schemeClr val="hlink"/>
                </a:solidFill>
              </a:rPr>
              <a:t>FordFulkerson</a:t>
            </a:r>
            <a:r>
              <a:rPr lang="en-US" sz="2400" dirty="0">
                <a:solidFill>
                  <a:schemeClr val="hlink"/>
                </a:solidFill>
              </a:rPr>
              <a:t>( </a:t>
            </a:r>
            <a:r>
              <a:rPr lang="en-US" sz="2400" dirty="0">
                <a:solidFill>
                  <a:schemeClr val="hlink"/>
                </a:solidFill>
                <a:sym typeface="Symbol" pitchFamily="18" charset="2"/>
              </a:rPr>
              <a:t>G=(</a:t>
            </a:r>
            <a:r>
              <a:rPr lang="en-US" sz="2400" dirty="0" err="1">
                <a:solidFill>
                  <a:schemeClr val="hlink"/>
                </a:solidFill>
                <a:sym typeface="Symbol" pitchFamily="18" charset="2"/>
              </a:rPr>
              <a:t>V,E,c,s,t</a:t>
            </a:r>
            <a:r>
              <a:rPr lang="en-US" sz="2400" dirty="0">
                <a:solidFill>
                  <a:schemeClr val="hlink"/>
                </a:solidFill>
                <a:sym typeface="Symbol" pitchFamily="18" charset="2"/>
              </a:rPr>
              <a:t>) </a:t>
            </a:r>
            <a:r>
              <a:rPr lang="en-US" sz="2400" dirty="0">
                <a:solidFill>
                  <a:schemeClr val="hlink"/>
                </a:solidFill>
              </a:rPr>
              <a:t>)</a:t>
            </a:r>
            <a:r>
              <a:rPr lang="en-US" sz="2000" dirty="0">
                <a:solidFill>
                  <a:schemeClr val="tx2"/>
                </a:solidFill>
              </a:rPr>
              <a:t>  	</a:t>
            </a:r>
          </a:p>
          <a:p>
            <a:pPr eaLnBrk="1" hangingPunct="1">
              <a:buFontTx/>
              <a:buAutoNum type="arabicPeriod"/>
            </a:pPr>
            <a:r>
              <a:rPr lang="en-US" sz="2000" dirty="0">
                <a:solidFill>
                  <a:srgbClr val="CC0000"/>
                </a:solidFill>
                <a:sym typeface="Symbol" pitchFamily="18" charset="2"/>
              </a:rPr>
              <a:t> </a:t>
            </a:r>
            <a:r>
              <a:rPr lang="en-US" sz="2000" b="1" dirty="0">
                <a:solidFill>
                  <a:schemeClr val="tx2"/>
                </a:solidFill>
              </a:rPr>
              <a:t>for</a:t>
            </a:r>
            <a:r>
              <a:rPr lang="en-US" sz="2000" dirty="0">
                <a:solidFill>
                  <a:schemeClr val="tx2"/>
                </a:solidFill>
              </a:rPr>
              <a:t>  </a:t>
            </a:r>
            <a:r>
              <a:rPr lang="en-US" sz="2000" dirty="0">
                <a:solidFill>
                  <a:schemeClr val="hlink"/>
                </a:solidFill>
              </a:rPr>
              <a:t>each e </a:t>
            </a:r>
            <a:r>
              <a:rPr lang="en-US" sz="2000" dirty="0">
                <a:solidFill>
                  <a:schemeClr val="hlink"/>
                </a:solidFill>
                <a:sym typeface="Symbol" pitchFamily="18" charset="2"/>
              </a:rPr>
              <a:t></a:t>
            </a:r>
            <a:r>
              <a:rPr lang="en-US" sz="2000" dirty="0">
                <a:solidFill>
                  <a:schemeClr val="hlink"/>
                </a:solidFill>
              </a:rPr>
              <a:t> E </a:t>
            </a:r>
            <a:r>
              <a:rPr lang="en-US" sz="2000" b="1" dirty="0">
                <a:solidFill>
                  <a:schemeClr val="tx2"/>
                </a:solidFill>
              </a:rPr>
              <a:t> do  </a:t>
            </a:r>
            <a:r>
              <a:rPr lang="en-US" sz="2000" dirty="0">
                <a:solidFill>
                  <a:schemeClr val="hlink"/>
                </a:solidFill>
                <a:sym typeface="Symbol" pitchFamily="18" charset="2"/>
              </a:rPr>
              <a:t>f(e) </a:t>
            </a:r>
            <a:r>
              <a:rPr lang="en-US" sz="2000" dirty="0">
                <a:solidFill>
                  <a:schemeClr val="hlink"/>
                </a:solidFill>
              </a:rPr>
              <a:t> 0	</a:t>
            </a:r>
            <a:r>
              <a:rPr lang="en-US" sz="2000" b="1" dirty="0">
                <a:solidFill>
                  <a:schemeClr val="tx2"/>
                </a:solidFill>
              </a:rPr>
              <a:t>			</a:t>
            </a:r>
            <a:r>
              <a:rPr lang="en-US" sz="2000" dirty="0">
                <a:solidFill>
                  <a:srgbClr val="CC0000"/>
                </a:solidFill>
                <a:cs typeface="Arial" pitchFamily="34" charset="0"/>
              </a:rPr>
              <a:t>§ an </a:t>
            </a:r>
            <a:r>
              <a:rPr lang="en-US" sz="2000" dirty="0">
                <a:solidFill>
                  <a:srgbClr val="CC0000"/>
                </a:solidFill>
              </a:rPr>
              <a:t>initial feasible flow</a:t>
            </a:r>
            <a:r>
              <a:rPr lang="en-US" sz="2000" b="1" dirty="0">
                <a:solidFill>
                  <a:schemeClr val="tx2"/>
                </a:solidFill>
              </a:rPr>
              <a:t>	</a:t>
            </a: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optimal </a:t>
            </a:r>
            <a:r>
              <a:rPr lang="en-US" sz="2000" dirty="0">
                <a:solidFill>
                  <a:schemeClr val="hlink"/>
                </a:solidFill>
              </a:rPr>
              <a:t> false</a:t>
            </a:r>
          </a:p>
          <a:p>
            <a:pPr eaLnBrk="1" hangingPunct="1">
              <a:buFontTx/>
              <a:buAutoNum type="arabicPeriod"/>
            </a:pPr>
            <a:r>
              <a:rPr lang="en-US" sz="2000" dirty="0">
                <a:solidFill>
                  <a:srgbClr val="CC0000"/>
                </a:solidFill>
              </a:rPr>
              <a:t> </a:t>
            </a:r>
            <a:r>
              <a:rPr lang="en-US" sz="2000" b="1" dirty="0">
                <a:solidFill>
                  <a:schemeClr val="tx2"/>
                </a:solidFill>
              </a:rPr>
              <a:t>while</a:t>
            </a:r>
            <a:r>
              <a:rPr lang="en-US" sz="2000" dirty="0">
                <a:solidFill>
                  <a:schemeClr val="tx2"/>
                </a:solidFill>
              </a:rPr>
              <a:t>  </a:t>
            </a:r>
            <a:r>
              <a:rPr lang="en-US" sz="2000" dirty="0">
                <a:solidFill>
                  <a:schemeClr val="hlink"/>
                </a:solidFill>
              </a:rPr>
              <a:t>not optimal </a:t>
            </a:r>
            <a:r>
              <a:rPr lang="en-US" sz="2000" b="1" dirty="0">
                <a:solidFill>
                  <a:schemeClr val="tx2"/>
                </a:solidFill>
              </a:rPr>
              <a:t> do 						</a:t>
            </a:r>
            <a:r>
              <a:rPr lang="en-US" sz="2000" dirty="0">
                <a:solidFill>
                  <a:srgbClr val="CC0000"/>
                </a:solidFill>
                <a:cs typeface="Arial" pitchFamily="34" charset="0"/>
              </a:rPr>
              <a:t>§ each iteration in O(E) time </a:t>
            </a:r>
            <a:endParaRPr lang="en-US" sz="2000" b="1" dirty="0">
              <a:solidFill>
                <a:schemeClr val="tx2"/>
              </a:solidFill>
            </a:endParaRPr>
          </a:p>
          <a:p>
            <a:pPr eaLnBrk="1" hangingPunct="1">
              <a:buFontTx/>
              <a:buAutoNum type="arabicPeriod"/>
            </a:pPr>
            <a:r>
              <a:rPr lang="en-US" sz="2000" dirty="0">
                <a:solidFill>
                  <a:srgbClr val="CC0000"/>
                </a:solidFill>
              </a:rPr>
              <a:t> 	</a:t>
            </a:r>
            <a:r>
              <a:rPr lang="en-US" sz="2000" b="1" dirty="0">
                <a:solidFill>
                  <a:schemeClr val="tx2"/>
                </a:solidFill>
              </a:rPr>
              <a:t> </a:t>
            </a:r>
            <a:r>
              <a:rPr lang="en-US" sz="2000" dirty="0">
                <a:solidFill>
                  <a:schemeClr val="hlink"/>
                </a:solidFill>
              </a:rPr>
              <a:t>Construct residual graph G(f)</a:t>
            </a:r>
            <a:endParaRPr lang="en-US" sz="2000" dirty="0">
              <a:solidFill>
                <a:srgbClr val="CC0000"/>
              </a:solidFill>
            </a:endParaRPr>
          </a:p>
          <a:p>
            <a:pPr eaLnBrk="1" hangingPunct="1">
              <a:buFontTx/>
              <a:buAutoNum type="arabicPeriod"/>
            </a:pPr>
            <a:r>
              <a:rPr lang="en-US" sz="2000" dirty="0">
                <a:solidFill>
                  <a:srgbClr val="CC0000"/>
                </a:solidFill>
              </a:rPr>
              <a:t>	 	 </a:t>
            </a:r>
            <a:r>
              <a:rPr lang="en-US" sz="2000" b="1" dirty="0"/>
              <a:t>if</a:t>
            </a:r>
            <a:r>
              <a:rPr lang="en-US" sz="2000" dirty="0">
                <a:solidFill>
                  <a:srgbClr val="CC0000"/>
                </a:solidFill>
              </a:rPr>
              <a:t>  </a:t>
            </a:r>
            <a:r>
              <a:rPr lang="en-US" sz="2000" dirty="0">
                <a:solidFill>
                  <a:schemeClr val="hlink"/>
                </a:solidFill>
                <a:sym typeface="Symbol" pitchFamily="18" charset="2"/>
              </a:rPr>
              <a:t> an s-t path p in G(f)   				</a:t>
            </a:r>
            <a:r>
              <a:rPr lang="en-US" sz="2000" dirty="0">
                <a:solidFill>
                  <a:srgbClr val="CC0000"/>
                </a:solidFill>
                <a:cs typeface="Arial" pitchFamily="34" charset="0"/>
              </a:rPr>
              <a:t>§ do a</a:t>
            </a:r>
            <a:r>
              <a:rPr lang="en-US" sz="2000" dirty="0">
                <a:solidFill>
                  <a:srgbClr val="CC0000"/>
                </a:solidFill>
              </a:rPr>
              <a:t> graph search in G(f)</a:t>
            </a: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		</a:t>
            </a:r>
            <a:r>
              <a:rPr lang="en-US" sz="2000" b="1" dirty="0">
                <a:sym typeface="Symbol" pitchFamily="18" charset="2"/>
              </a:rPr>
              <a:t>then   </a:t>
            </a:r>
            <a:r>
              <a:rPr lang="en-US" sz="2000" dirty="0">
                <a:solidFill>
                  <a:schemeClr val="hlink"/>
                </a:solidFill>
                <a:sym typeface="Symbol" pitchFamily="18" charset="2"/>
              </a:rPr>
              <a:t>augment f along p</a:t>
            </a:r>
            <a:endParaRPr lang="en-US" sz="2000" dirty="0">
              <a:solidFill>
                <a:schemeClr val="hlink"/>
              </a:solidFill>
            </a:endParaRP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		</a:t>
            </a:r>
            <a:r>
              <a:rPr lang="en-US" sz="2000" b="1" dirty="0">
                <a:sym typeface="Symbol" pitchFamily="18" charset="2"/>
              </a:rPr>
              <a:t>else    </a:t>
            </a:r>
            <a:r>
              <a:rPr lang="en-US" sz="2000" dirty="0">
                <a:solidFill>
                  <a:schemeClr val="hlink"/>
                </a:solidFill>
                <a:sym typeface="Symbol" pitchFamily="18" charset="2"/>
              </a:rPr>
              <a:t>optimal </a:t>
            </a:r>
            <a:r>
              <a:rPr lang="en-US" sz="2000" dirty="0">
                <a:solidFill>
                  <a:schemeClr val="hlink"/>
                </a:solidFill>
              </a:rPr>
              <a:t> true 				</a:t>
            </a:r>
            <a:r>
              <a:rPr lang="en-US" sz="2000" dirty="0">
                <a:solidFill>
                  <a:srgbClr val="CC0000"/>
                </a:solidFill>
                <a:cs typeface="Arial" pitchFamily="34" charset="0"/>
              </a:rPr>
              <a:t>§ proof is coming</a:t>
            </a:r>
            <a:r>
              <a:rPr lang="en-US" sz="2000" dirty="0">
                <a:solidFill>
                  <a:schemeClr val="hlink"/>
                </a:solidFill>
              </a:rPr>
              <a:t> </a:t>
            </a:r>
            <a:endParaRPr lang="en-US" sz="2000" dirty="0">
              <a:solidFill>
                <a:srgbClr val="CC0000"/>
              </a:solidFill>
            </a:endParaRPr>
          </a:p>
          <a:p>
            <a:pPr eaLnBrk="1" hangingPunct="1">
              <a:buFontTx/>
              <a:buAutoNum type="arabicPeriod"/>
            </a:pPr>
            <a:r>
              <a:rPr lang="en-US" sz="2000" dirty="0">
                <a:solidFill>
                  <a:srgbClr val="CC0000"/>
                </a:solidFill>
              </a:rPr>
              <a:t> </a:t>
            </a:r>
            <a:r>
              <a:rPr lang="en-US" sz="2000" b="1" dirty="0"/>
              <a:t>end-while</a:t>
            </a:r>
          </a:p>
          <a:p>
            <a:pPr eaLnBrk="1" hangingPunct="1">
              <a:buFontTx/>
              <a:buAutoNum type="arabicPeriod"/>
            </a:pPr>
            <a:r>
              <a:rPr lang="en-US" sz="2000" dirty="0">
                <a:solidFill>
                  <a:srgbClr val="CC0000"/>
                </a:solidFill>
              </a:rPr>
              <a:t> </a:t>
            </a:r>
            <a:r>
              <a:rPr lang="en-US" sz="2000" b="1" dirty="0"/>
              <a:t>return </a:t>
            </a:r>
            <a:r>
              <a:rPr lang="en-US" sz="2000" dirty="0">
                <a:solidFill>
                  <a:schemeClr val="hlink"/>
                </a:solidFill>
              </a:rPr>
              <a:t>f</a:t>
            </a:r>
            <a:r>
              <a:rPr lang="en-US" sz="1800" dirty="0">
                <a:solidFill>
                  <a:schemeClr val="hlink"/>
                </a:solidFill>
              </a:rPr>
              <a:t> 							</a:t>
            </a:r>
            <a:endParaRPr lang="en-US" sz="2000" b="1" dirty="0"/>
          </a:p>
          <a:p>
            <a:pPr eaLnBrk="1" hangingPunct="1">
              <a:buFontTx/>
              <a:buNone/>
            </a:pPr>
            <a:r>
              <a:rPr lang="en-US" sz="2000" b="1" dirty="0"/>
              <a:t>end</a:t>
            </a:r>
            <a:r>
              <a:rPr lang="en-US" sz="2000" dirty="0">
                <a:solidFill>
                  <a:schemeClr val="hlink"/>
                </a:solidFill>
              </a:rPr>
              <a:t> </a:t>
            </a:r>
          </a:p>
        </p:txBody>
      </p:sp>
      <p:sp>
        <p:nvSpPr>
          <p:cNvPr id="231427" name="Text Box 3"/>
          <p:cNvSpPr txBox="1">
            <a:spLocks noChangeArrowheads="1"/>
          </p:cNvSpPr>
          <p:nvPr/>
        </p:nvSpPr>
        <p:spPr bwMode="auto">
          <a:xfrm>
            <a:off x="1447800" y="4038600"/>
            <a:ext cx="5614037" cy="2273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marL="288925" indent="-288925">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400" dirty="0"/>
              <a:t>Ford-Fulkerson [1956-1962]</a:t>
            </a:r>
          </a:p>
          <a:p>
            <a:pPr>
              <a:buFont typeface="Wingdings" pitchFamily="2" charset="2"/>
              <a:buNone/>
            </a:pPr>
            <a:endParaRPr lang="en-US" sz="2400" dirty="0"/>
          </a:p>
          <a:p>
            <a:pPr>
              <a:buFont typeface="Wingdings" pitchFamily="2" charset="2"/>
              <a:buNone/>
            </a:pPr>
            <a:r>
              <a:rPr lang="en-US" sz="2400" dirty="0"/>
              <a:t>Fundamental Questions:</a:t>
            </a:r>
          </a:p>
          <a:p>
            <a:pPr>
              <a:buFont typeface="Wingdings" pitchFamily="2" charset="2"/>
              <a:buChar char="§"/>
            </a:pPr>
            <a:r>
              <a:rPr lang="en-US" sz="2400" dirty="0" smtClean="0">
                <a:solidFill>
                  <a:srgbClr val="CC0000"/>
                </a:solidFill>
              </a:rPr>
              <a:t>Termination</a:t>
            </a:r>
          </a:p>
          <a:p>
            <a:pPr>
              <a:buFont typeface="Wingdings" pitchFamily="2" charset="2"/>
              <a:buChar char="§"/>
            </a:pPr>
            <a:r>
              <a:rPr lang="en-US" sz="2400" dirty="0" smtClean="0">
                <a:solidFill>
                  <a:srgbClr val="CC0000"/>
                </a:solidFill>
              </a:rPr>
              <a:t>Correctness</a:t>
            </a:r>
            <a:r>
              <a:rPr lang="en-US" sz="2400" dirty="0"/>
              <a:t>:  optimality upon termination</a:t>
            </a:r>
          </a:p>
          <a:p>
            <a:pPr>
              <a:buFont typeface="Wingdings" pitchFamily="2" charset="2"/>
              <a:buChar char="§"/>
            </a:pPr>
            <a:r>
              <a:rPr lang="en-US" sz="2400" dirty="0" smtClean="0">
                <a:solidFill>
                  <a:srgbClr val="CC0000"/>
                </a:solidFill>
              </a:rPr>
              <a:t>Efficiency</a:t>
            </a:r>
            <a:r>
              <a:rPr lang="en-US" sz="2400" dirty="0"/>
              <a:t>:    # of augmenting iterations.</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136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1426">
                                            <p:bg/>
                                          </p:spTgt>
                                        </p:tgtEl>
                                        <p:attrNameLst>
                                          <p:attrName>style.visibility</p:attrName>
                                        </p:attrNameLst>
                                      </p:cBhvr>
                                      <p:to>
                                        <p:strVal val="visible"/>
                                      </p:to>
                                    </p:set>
                                    <p:animEffect transition="in" filter="wipe(left)">
                                      <p:cBhvr>
                                        <p:cTn id="7" dur="500"/>
                                        <p:tgtEl>
                                          <p:spTgt spid="231426">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1426">
                                            <p:txEl>
                                              <p:pRg st="0" end="0"/>
                                            </p:txEl>
                                          </p:spTgt>
                                        </p:tgtEl>
                                        <p:attrNameLst>
                                          <p:attrName>style.visibility</p:attrName>
                                        </p:attrNameLst>
                                      </p:cBhvr>
                                      <p:to>
                                        <p:strVal val="visible"/>
                                      </p:to>
                                    </p:set>
                                    <p:animEffect transition="in" filter="wipe(left)">
                                      <p:cBhvr>
                                        <p:cTn id="12" dur="500"/>
                                        <p:tgtEl>
                                          <p:spTgt spid="23142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1426">
                                            <p:txEl>
                                              <p:pRg st="1" end="1"/>
                                            </p:txEl>
                                          </p:spTgt>
                                        </p:tgtEl>
                                        <p:attrNameLst>
                                          <p:attrName>style.visibility</p:attrName>
                                        </p:attrNameLst>
                                      </p:cBhvr>
                                      <p:to>
                                        <p:strVal val="visible"/>
                                      </p:to>
                                    </p:set>
                                    <p:animEffect transition="in" filter="wipe(left)">
                                      <p:cBhvr>
                                        <p:cTn id="17" dur="500"/>
                                        <p:tgtEl>
                                          <p:spTgt spid="23142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1426">
                                            <p:txEl>
                                              <p:pRg st="2" end="2"/>
                                            </p:txEl>
                                          </p:spTgt>
                                        </p:tgtEl>
                                        <p:attrNameLst>
                                          <p:attrName>style.visibility</p:attrName>
                                        </p:attrNameLst>
                                      </p:cBhvr>
                                      <p:to>
                                        <p:strVal val="visible"/>
                                      </p:to>
                                    </p:set>
                                    <p:animEffect transition="in" filter="wipe(left)">
                                      <p:cBhvr>
                                        <p:cTn id="22" dur="500"/>
                                        <p:tgtEl>
                                          <p:spTgt spid="23142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1426">
                                            <p:txEl>
                                              <p:pRg st="3" end="3"/>
                                            </p:txEl>
                                          </p:spTgt>
                                        </p:tgtEl>
                                        <p:attrNameLst>
                                          <p:attrName>style.visibility</p:attrName>
                                        </p:attrNameLst>
                                      </p:cBhvr>
                                      <p:to>
                                        <p:strVal val="visible"/>
                                      </p:to>
                                    </p:set>
                                    <p:animEffect transition="in" filter="wipe(left)">
                                      <p:cBhvr>
                                        <p:cTn id="27" dur="500"/>
                                        <p:tgtEl>
                                          <p:spTgt spid="231426">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1426">
                                            <p:txEl>
                                              <p:pRg st="4" end="4"/>
                                            </p:txEl>
                                          </p:spTgt>
                                        </p:tgtEl>
                                        <p:attrNameLst>
                                          <p:attrName>style.visibility</p:attrName>
                                        </p:attrNameLst>
                                      </p:cBhvr>
                                      <p:to>
                                        <p:strVal val="visible"/>
                                      </p:to>
                                    </p:set>
                                    <p:animEffect transition="in" filter="wipe(left)">
                                      <p:cBhvr>
                                        <p:cTn id="32" dur="500"/>
                                        <p:tgtEl>
                                          <p:spTgt spid="231426">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1426">
                                            <p:txEl>
                                              <p:pRg st="5" end="5"/>
                                            </p:txEl>
                                          </p:spTgt>
                                        </p:tgtEl>
                                        <p:attrNameLst>
                                          <p:attrName>style.visibility</p:attrName>
                                        </p:attrNameLst>
                                      </p:cBhvr>
                                      <p:to>
                                        <p:strVal val="visible"/>
                                      </p:to>
                                    </p:set>
                                    <p:animEffect transition="in" filter="wipe(left)">
                                      <p:cBhvr>
                                        <p:cTn id="37" dur="500"/>
                                        <p:tgtEl>
                                          <p:spTgt spid="231426">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1426">
                                            <p:txEl>
                                              <p:pRg st="6" end="6"/>
                                            </p:txEl>
                                          </p:spTgt>
                                        </p:tgtEl>
                                        <p:attrNameLst>
                                          <p:attrName>style.visibility</p:attrName>
                                        </p:attrNameLst>
                                      </p:cBhvr>
                                      <p:to>
                                        <p:strVal val="visible"/>
                                      </p:to>
                                    </p:set>
                                    <p:animEffect transition="in" filter="wipe(left)">
                                      <p:cBhvr>
                                        <p:cTn id="42" dur="500"/>
                                        <p:tgtEl>
                                          <p:spTgt spid="231426">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31426">
                                            <p:txEl>
                                              <p:pRg st="7" end="7"/>
                                            </p:txEl>
                                          </p:spTgt>
                                        </p:tgtEl>
                                        <p:attrNameLst>
                                          <p:attrName>style.visibility</p:attrName>
                                        </p:attrNameLst>
                                      </p:cBhvr>
                                      <p:to>
                                        <p:strVal val="visible"/>
                                      </p:to>
                                    </p:set>
                                    <p:animEffect transition="in" filter="wipe(left)">
                                      <p:cBhvr>
                                        <p:cTn id="47" dur="500"/>
                                        <p:tgtEl>
                                          <p:spTgt spid="231426">
                                            <p:txEl>
                                              <p:pRg st="7" end="7"/>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31426">
                                            <p:txEl>
                                              <p:pRg st="8" end="8"/>
                                            </p:txEl>
                                          </p:spTgt>
                                        </p:tgtEl>
                                        <p:attrNameLst>
                                          <p:attrName>style.visibility</p:attrName>
                                        </p:attrNameLst>
                                      </p:cBhvr>
                                      <p:to>
                                        <p:strVal val="visible"/>
                                      </p:to>
                                    </p:set>
                                    <p:animEffect transition="in" filter="wipe(left)">
                                      <p:cBhvr>
                                        <p:cTn id="52" dur="500"/>
                                        <p:tgtEl>
                                          <p:spTgt spid="231426">
                                            <p:txEl>
                                              <p:pRg st="8" end="8"/>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31426">
                                            <p:txEl>
                                              <p:pRg st="9" end="9"/>
                                            </p:txEl>
                                          </p:spTgt>
                                        </p:tgtEl>
                                        <p:attrNameLst>
                                          <p:attrName>style.visibility</p:attrName>
                                        </p:attrNameLst>
                                      </p:cBhvr>
                                      <p:to>
                                        <p:strVal val="visible"/>
                                      </p:to>
                                    </p:set>
                                    <p:animEffect transition="in" filter="wipe(left)">
                                      <p:cBhvr>
                                        <p:cTn id="57" dur="500"/>
                                        <p:tgtEl>
                                          <p:spTgt spid="231426">
                                            <p:txEl>
                                              <p:pRg st="9" end="9"/>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31426">
                                            <p:txEl>
                                              <p:pRg st="10" end="10"/>
                                            </p:txEl>
                                          </p:spTgt>
                                        </p:tgtEl>
                                        <p:attrNameLst>
                                          <p:attrName>style.visibility</p:attrName>
                                        </p:attrNameLst>
                                      </p:cBhvr>
                                      <p:to>
                                        <p:strVal val="visible"/>
                                      </p:to>
                                    </p:set>
                                    <p:animEffect transition="in" filter="wipe(left)">
                                      <p:cBhvr>
                                        <p:cTn id="62" dur="500"/>
                                        <p:tgtEl>
                                          <p:spTgt spid="231426">
                                            <p:txEl>
                                              <p:pRg st="10" end="1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231427"/>
                                        </p:tgtEl>
                                        <p:attrNameLst>
                                          <p:attrName>style.visibility</p:attrName>
                                        </p:attrNameLst>
                                      </p:cBhvr>
                                      <p:to>
                                        <p:strVal val="visible"/>
                                      </p:to>
                                    </p:set>
                                    <p:animEffect transition="in" filter="wipe(up)">
                                      <p:cBhvr>
                                        <p:cTn id="67" dur="500"/>
                                        <p:tgtEl>
                                          <p:spTgt spid="231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6" grpId="0" build="p" animBg="1" autoUpdateAnimBg="0"/>
      <p:bldP spid="231427" grpId="0" autoUpdateAnimBg="0"/>
    </p:bldLst>
  </p:timing>
</p:sld>
</file>

<file path=ppt/slides/slide1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283" name="Rectangle 3"/>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Example</a:t>
            </a:r>
          </a:p>
        </p:txBody>
      </p:sp>
      <p:grpSp>
        <p:nvGrpSpPr>
          <p:cNvPr id="225381" name="Group 101"/>
          <p:cNvGrpSpPr>
            <a:grpSpLocks/>
          </p:cNvGrpSpPr>
          <p:nvPr/>
        </p:nvGrpSpPr>
        <p:grpSpPr bwMode="auto">
          <a:xfrm>
            <a:off x="152400" y="685800"/>
            <a:ext cx="3892550" cy="2033590"/>
            <a:chOff x="96" y="432"/>
            <a:chExt cx="2452" cy="1281"/>
          </a:xfrm>
        </p:grpSpPr>
        <p:sp>
          <p:nvSpPr>
            <p:cNvPr id="140468" name="Line 39"/>
            <p:cNvSpPr>
              <a:spLocks noChangeShapeType="1"/>
            </p:cNvSpPr>
            <p:nvPr/>
          </p:nvSpPr>
          <p:spPr bwMode="auto">
            <a:xfrm flipV="1">
              <a:off x="1878" y="769"/>
              <a:ext cx="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469" name="Line 38"/>
            <p:cNvSpPr>
              <a:spLocks noChangeShapeType="1"/>
            </p:cNvSpPr>
            <p:nvPr/>
          </p:nvSpPr>
          <p:spPr bwMode="auto">
            <a:xfrm flipV="1">
              <a:off x="810" y="801"/>
              <a:ext cx="0"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470" name="Freeform 5"/>
            <p:cNvSpPr>
              <a:spLocks/>
            </p:cNvSpPr>
            <p:nvPr/>
          </p:nvSpPr>
          <p:spPr bwMode="auto">
            <a:xfrm>
              <a:off x="192" y="720"/>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71" name="Line 6"/>
            <p:cNvSpPr>
              <a:spLocks noChangeShapeType="1"/>
            </p:cNvSpPr>
            <p:nvPr/>
          </p:nvSpPr>
          <p:spPr bwMode="auto">
            <a:xfrm>
              <a:off x="912" y="62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72" name="Freeform 7"/>
            <p:cNvSpPr>
              <a:spLocks/>
            </p:cNvSpPr>
            <p:nvPr/>
          </p:nvSpPr>
          <p:spPr bwMode="auto">
            <a:xfrm>
              <a:off x="192" y="1152"/>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73" name="Line 8"/>
            <p:cNvSpPr>
              <a:spLocks noChangeShapeType="1"/>
            </p:cNvSpPr>
            <p:nvPr/>
          </p:nvSpPr>
          <p:spPr bwMode="auto">
            <a:xfrm>
              <a:off x="912" y="158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74" name="Freeform 9"/>
            <p:cNvSpPr>
              <a:spLocks/>
            </p:cNvSpPr>
            <p:nvPr/>
          </p:nvSpPr>
          <p:spPr bwMode="auto">
            <a:xfrm>
              <a:off x="830" y="720"/>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75" name="Freeform 11"/>
            <p:cNvSpPr>
              <a:spLocks/>
            </p:cNvSpPr>
            <p:nvPr/>
          </p:nvSpPr>
          <p:spPr bwMode="auto">
            <a:xfrm>
              <a:off x="1909" y="645"/>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76" name="Freeform 12"/>
            <p:cNvSpPr>
              <a:spLocks/>
            </p:cNvSpPr>
            <p:nvPr/>
          </p:nvSpPr>
          <p:spPr bwMode="auto">
            <a:xfrm>
              <a:off x="1872" y="1152"/>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77" name="Oval 14"/>
            <p:cNvSpPr>
              <a:spLocks noChangeArrowheads="1"/>
            </p:cNvSpPr>
            <p:nvPr/>
          </p:nvSpPr>
          <p:spPr bwMode="auto">
            <a:xfrm>
              <a:off x="672" y="1488"/>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40478" name="Oval 15"/>
            <p:cNvSpPr>
              <a:spLocks noChangeArrowheads="1"/>
            </p:cNvSpPr>
            <p:nvPr/>
          </p:nvSpPr>
          <p:spPr bwMode="auto">
            <a:xfrm>
              <a:off x="96" y="100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40479" name="Oval 16"/>
            <p:cNvSpPr>
              <a:spLocks noChangeArrowheads="1"/>
            </p:cNvSpPr>
            <p:nvPr/>
          </p:nvSpPr>
          <p:spPr bwMode="auto">
            <a:xfrm>
              <a:off x="672" y="53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a</a:t>
              </a:r>
            </a:p>
          </p:txBody>
        </p:sp>
        <p:sp>
          <p:nvSpPr>
            <p:cNvPr id="140480" name="Oval 17"/>
            <p:cNvSpPr>
              <a:spLocks noChangeArrowheads="1"/>
            </p:cNvSpPr>
            <p:nvPr/>
          </p:nvSpPr>
          <p:spPr bwMode="auto">
            <a:xfrm>
              <a:off x="1776" y="1440"/>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40481" name="Oval 18"/>
            <p:cNvSpPr>
              <a:spLocks noChangeArrowheads="1"/>
            </p:cNvSpPr>
            <p:nvPr/>
          </p:nvSpPr>
          <p:spPr bwMode="auto">
            <a:xfrm>
              <a:off x="1776" y="5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c</a:t>
              </a:r>
            </a:p>
          </p:txBody>
        </p:sp>
        <p:sp>
          <p:nvSpPr>
            <p:cNvPr id="140482" name="Oval 19"/>
            <p:cNvSpPr>
              <a:spLocks noChangeArrowheads="1"/>
            </p:cNvSpPr>
            <p:nvPr/>
          </p:nvSpPr>
          <p:spPr bwMode="auto">
            <a:xfrm>
              <a:off x="2304" y="96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40483" name="Text Box 22"/>
            <p:cNvSpPr txBox="1">
              <a:spLocks noChangeArrowheads="1"/>
            </p:cNvSpPr>
            <p:nvPr/>
          </p:nvSpPr>
          <p:spPr bwMode="auto">
            <a:xfrm>
              <a:off x="96" y="720"/>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 / 15</a:t>
              </a:r>
            </a:p>
          </p:txBody>
        </p:sp>
        <p:sp>
          <p:nvSpPr>
            <p:cNvPr id="140484" name="Text Box 23"/>
            <p:cNvSpPr txBox="1">
              <a:spLocks noChangeArrowheads="1"/>
            </p:cNvSpPr>
            <p:nvPr/>
          </p:nvSpPr>
          <p:spPr bwMode="auto">
            <a:xfrm>
              <a:off x="1152" y="432"/>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 </a:t>
              </a:r>
              <a:r>
                <a:rPr lang="en-US" sz="1800" b="1"/>
                <a:t>/ 4</a:t>
              </a:r>
            </a:p>
          </p:txBody>
        </p:sp>
        <p:sp>
          <p:nvSpPr>
            <p:cNvPr id="140485" name="Text Box 24"/>
            <p:cNvSpPr txBox="1">
              <a:spLocks noChangeArrowheads="1"/>
            </p:cNvSpPr>
            <p:nvPr/>
          </p:nvSpPr>
          <p:spPr bwMode="auto">
            <a:xfrm>
              <a:off x="96" y="134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 / 8</a:t>
              </a:r>
            </a:p>
          </p:txBody>
        </p:sp>
        <p:sp>
          <p:nvSpPr>
            <p:cNvPr id="140486" name="Text Box 25"/>
            <p:cNvSpPr txBox="1">
              <a:spLocks noChangeArrowheads="1"/>
            </p:cNvSpPr>
            <p:nvPr/>
          </p:nvSpPr>
          <p:spPr bwMode="auto">
            <a:xfrm>
              <a:off x="480"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/15</a:t>
              </a:r>
            </a:p>
          </p:txBody>
        </p:sp>
        <p:sp>
          <p:nvSpPr>
            <p:cNvPr id="140487" name="Text Box 26"/>
            <p:cNvSpPr txBox="1">
              <a:spLocks noChangeArrowheads="1"/>
            </p:cNvSpPr>
            <p:nvPr/>
          </p:nvSpPr>
          <p:spPr bwMode="auto">
            <a:xfrm>
              <a:off x="1200" y="86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 </a:t>
              </a:r>
              <a:r>
                <a:rPr lang="en-US" sz="1800" b="1"/>
                <a:t>/ 5</a:t>
              </a:r>
            </a:p>
          </p:txBody>
        </p:sp>
        <p:sp>
          <p:nvSpPr>
            <p:cNvPr id="140488" name="Text Box 28"/>
            <p:cNvSpPr txBox="1">
              <a:spLocks noChangeArrowheads="1"/>
            </p:cNvSpPr>
            <p:nvPr/>
          </p:nvSpPr>
          <p:spPr bwMode="auto">
            <a:xfrm>
              <a:off x="1824"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/8</a:t>
              </a:r>
            </a:p>
          </p:txBody>
        </p:sp>
        <p:sp>
          <p:nvSpPr>
            <p:cNvPr id="140489" name="Text Box 29"/>
            <p:cNvSpPr txBox="1">
              <a:spLocks noChangeArrowheads="1"/>
            </p:cNvSpPr>
            <p:nvPr/>
          </p:nvSpPr>
          <p:spPr bwMode="auto">
            <a:xfrm>
              <a:off x="2148" y="129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/7</a:t>
              </a:r>
            </a:p>
          </p:txBody>
        </p:sp>
        <p:sp>
          <p:nvSpPr>
            <p:cNvPr id="140490" name="Text Box 31"/>
            <p:cNvSpPr txBox="1">
              <a:spLocks noChangeArrowheads="1"/>
            </p:cNvSpPr>
            <p:nvPr/>
          </p:nvSpPr>
          <p:spPr bwMode="auto">
            <a:xfrm>
              <a:off x="2064" y="62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/12</a:t>
              </a:r>
            </a:p>
          </p:txBody>
        </p:sp>
        <p:sp>
          <p:nvSpPr>
            <p:cNvPr id="140491" name="Text Box 32"/>
            <p:cNvSpPr txBox="1">
              <a:spLocks noChangeArrowheads="1"/>
            </p:cNvSpPr>
            <p:nvPr/>
          </p:nvSpPr>
          <p:spPr bwMode="auto">
            <a:xfrm>
              <a:off x="1104" y="1392"/>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 / 18</a:t>
              </a:r>
            </a:p>
          </p:txBody>
        </p:sp>
      </p:grpSp>
      <p:grpSp>
        <p:nvGrpSpPr>
          <p:cNvPr id="225380" name="Group 100"/>
          <p:cNvGrpSpPr>
            <a:grpSpLocks/>
          </p:cNvGrpSpPr>
          <p:nvPr/>
        </p:nvGrpSpPr>
        <p:grpSpPr bwMode="auto">
          <a:xfrm>
            <a:off x="152400" y="846189"/>
            <a:ext cx="3892550" cy="1119188"/>
            <a:chOff x="2304" y="1680"/>
            <a:chExt cx="2452" cy="705"/>
          </a:xfrm>
        </p:grpSpPr>
        <p:sp>
          <p:nvSpPr>
            <p:cNvPr id="140461" name="Freeform 93"/>
            <p:cNvSpPr>
              <a:spLocks/>
            </p:cNvSpPr>
            <p:nvPr/>
          </p:nvSpPr>
          <p:spPr bwMode="auto">
            <a:xfrm>
              <a:off x="2417" y="1843"/>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62" name="Line 94"/>
            <p:cNvSpPr>
              <a:spLocks noChangeShapeType="1"/>
            </p:cNvSpPr>
            <p:nvPr/>
          </p:nvSpPr>
          <p:spPr bwMode="auto">
            <a:xfrm>
              <a:off x="3120" y="1776"/>
              <a:ext cx="864" cy="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63" name="Freeform 95"/>
            <p:cNvSpPr>
              <a:spLocks/>
            </p:cNvSpPr>
            <p:nvPr/>
          </p:nvSpPr>
          <p:spPr bwMode="auto">
            <a:xfrm>
              <a:off x="4117" y="1797"/>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64" name="Oval 96"/>
            <p:cNvSpPr>
              <a:spLocks noChangeArrowheads="1"/>
            </p:cNvSpPr>
            <p:nvPr/>
          </p:nvSpPr>
          <p:spPr bwMode="auto">
            <a:xfrm>
              <a:off x="2304" y="2160"/>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40465" name="Oval 97"/>
            <p:cNvSpPr>
              <a:spLocks noChangeArrowheads="1"/>
            </p:cNvSpPr>
            <p:nvPr/>
          </p:nvSpPr>
          <p:spPr bwMode="auto">
            <a:xfrm>
              <a:off x="2880" y="1682"/>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40466" name="Oval 98"/>
            <p:cNvSpPr>
              <a:spLocks noChangeArrowheads="1"/>
            </p:cNvSpPr>
            <p:nvPr/>
          </p:nvSpPr>
          <p:spPr bwMode="auto">
            <a:xfrm>
              <a:off x="3984" y="1680"/>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smtClean="0"/>
                <a:t>c</a:t>
              </a:r>
              <a:endParaRPr lang="en-US" sz="2000" b="1" dirty="0"/>
            </a:p>
          </p:txBody>
        </p:sp>
        <p:sp>
          <p:nvSpPr>
            <p:cNvPr id="140467" name="Oval 99"/>
            <p:cNvSpPr>
              <a:spLocks noChangeArrowheads="1"/>
            </p:cNvSpPr>
            <p:nvPr/>
          </p:nvSpPr>
          <p:spPr bwMode="auto">
            <a:xfrm>
              <a:off x="4512" y="2112"/>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grpSp>
      <p:grpSp>
        <p:nvGrpSpPr>
          <p:cNvPr id="225382" name="Group 102"/>
          <p:cNvGrpSpPr>
            <a:grpSpLocks/>
          </p:cNvGrpSpPr>
          <p:nvPr/>
        </p:nvGrpSpPr>
        <p:grpSpPr bwMode="auto">
          <a:xfrm>
            <a:off x="152400" y="2667000"/>
            <a:ext cx="3892550" cy="2033588"/>
            <a:chOff x="96" y="432"/>
            <a:chExt cx="2452" cy="1281"/>
          </a:xfrm>
        </p:grpSpPr>
        <p:sp>
          <p:nvSpPr>
            <p:cNvPr id="140437" name="Line 103"/>
            <p:cNvSpPr>
              <a:spLocks noChangeShapeType="1"/>
            </p:cNvSpPr>
            <p:nvPr/>
          </p:nvSpPr>
          <p:spPr bwMode="auto">
            <a:xfrm flipV="1">
              <a:off x="1894" y="751"/>
              <a:ext cx="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438" name="Line 104"/>
            <p:cNvSpPr>
              <a:spLocks noChangeShapeType="1"/>
            </p:cNvSpPr>
            <p:nvPr/>
          </p:nvSpPr>
          <p:spPr bwMode="auto">
            <a:xfrm flipV="1">
              <a:off x="810" y="801"/>
              <a:ext cx="0"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439" name="Freeform 105"/>
            <p:cNvSpPr>
              <a:spLocks/>
            </p:cNvSpPr>
            <p:nvPr/>
          </p:nvSpPr>
          <p:spPr bwMode="auto">
            <a:xfrm>
              <a:off x="192" y="720"/>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40" name="Line 106"/>
            <p:cNvSpPr>
              <a:spLocks noChangeShapeType="1"/>
            </p:cNvSpPr>
            <p:nvPr/>
          </p:nvSpPr>
          <p:spPr bwMode="auto">
            <a:xfrm>
              <a:off x="912" y="62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41" name="Freeform 107"/>
            <p:cNvSpPr>
              <a:spLocks/>
            </p:cNvSpPr>
            <p:nvPr/>
          </p:nvSpPr>
          <p:spPr bwMode="auto">
            <a:xfrm>
              <a:off x="192" y="1152"/>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42" name="Line 108"/>
            <p:cNvSpPr>
              <a:spLocks noChangeShapeType="1"/>
            </p:cNvSpPr>
            <p:nvPr/>
          </p:nvSpPr>
          <p:spPr bwMode="auto">
            <a:xfrm>
              <a:off x="912" y="158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43" name="Freeform 109"/>
            <p:cNvSpPr>
              <a:spLocks/>
            </p:cNvSpPr>
            <p:nvPr/>
          </p:nvSpPr>
          <p:spPr bwMode="auto">
            <a:xfrm>
              <a:off x="841" y="689"/>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44" name="Freeform 110"/>
            <p:cNvSpPr>
              <a:spLocks/>
            </p:cNvSpPr>
            <p:nvPr/>
          </p:nvSpPr>
          <p:spPr bwMode="auto">
            <a:xfrm>
              <a:off x="1909" y="645"/>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45" name="Freeform 111"/>
            <p:cNvSpPr>
              <a:spLocks/>
            </p:cNvSpPr>
            <p:nvPr/>
          </p:nvSpPr>
          <p:spPr bwMode="auto">
            <a:xfrm>
              <a:off x="1872" y="1152"/>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46" name="Oval 112"/>
            <p:cNvSpPr>
              <a:spLocks noChangeArrowheads="1"/>
            </p:cNvSpPr>
            <p:nvPr/>
          </p:nvSpPr>
          <p:spPr bwMode="auto">
            <a:xfrm>
              <a:off x="672" y="148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b</a:t>
              </a:r>
            </a:p>
          </p:txBody>
        </p:sp>
        <p:sp>
          <p:nvSpPr>
            <p:cNvPr id="140447" name="Oval 113"/>
            <p:cNvSpPr>
              <a:spLocks noChangeArrowheads="1"/>
            </p:cNvSpPr>
            <p:nvPr/>
          </p:nvSpPr>
          <p:spPr bwMode="auto">
            <a:xfrm>
              <a:off x="96" y="100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40448" name="Oval 114"/>
            <p:cNvSpPr>
              <a:spLocks noChangeArrowheads="1"/>
            </p:cNvSpPr>
            <p:nvPr/>
          </p:nvSpPr>
          <p:spPr bwMode="auto">
            <a:xfrm>
              <a:off x="672" y="530"/>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40449" name="Oval 115"/>
            <p:cNvSpPr>
              <a:spLocks noChangeArrowheads="1"/>
            </p:cNvSpPr>
            <p:nvPr/>
          </p:nvSpPr>
          <p:spPr bwMode="auto">
            <a:xfrm>
              <a:off x="1776"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40450" name="Oval 116"/>
            <p:cNvSpPr>
              <a:spLocks noChangeArrowheads="1"/>
            </p:cNvSpPr>
            <p:nvPr/>
          </p:nvSpPr>
          <p:spPr bwMode="auto">
            <a:xfrm>
              <a:off x="1776" y="528"/>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c</a:t>
              </a:r>
            </a:p>
          </p:txBody>
        </p:sp>
        <p:sp>
          <p:nvSpPr>
            <p:cNvPr id="140451" name="Oval 117"/>
            <p:cNvSpPr>
              <a:spLocks noChangeArrowheads="1"/>
            </p:cNvSpPr>
            <p:nvPr/>
          </p:nvSpPr>
          <p:spPr bwMode="auto">
            <a:xfrm>
              <a:off x="2304" y="96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40452" name="Text Box 118"/>
            <p:cNvSpPr txBox="1">
              <a:spLocks noChangeArrowheads="1"/>
            </p:cNvSpPr>
            <p:nvPr/>
          </p:nvSpPr>
          <p:spPr bwMode="auto">
            <a:xfrm>
              <a:off x="96" y="720"/>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 / 15</a:t>
              </a:r>
            </a:p>
          </p:txBody>
        </p:sp>
        <p:sp>
          <p:nvSpPr>
            <p:cNvPr id="140453" name="Text Box 119"/>
            <p:cNvSpPr txBox="1">
              <a:spLocks noChangeArrowheads="1"/>
            </p:cNvSpPr>
            <p:nvPr/>
          </p:nvSpPr>
          <p:spPr bwMode="auto">
            <a:xfrm>
              <a:off x="1152" y="432"/>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 </a:t>
              </a:r>
              <a:r>
                <a:rPr lang="en-US" sz="1800" b="1"/>
                <a:t>/ 4</a:t>
              </a:r>
            </a:p>
          </p:txBody>
        </p:sp>
        <p:sp>
          <p:nvSpPr>
            <p:cNvPr id="140454" name="Text Box 120"/>
            <p:cNvSpPr txBox="1">
              <a:spLocks noChangeArrowheads="1"/>
            </p:cNvSpPr>
            <p:nvPr/>
          </p:nvSpPr>
          <p:spPr bwMode="auto">
            <a:xfrm>
              <a:off x="96" y="134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 / 8</a:t>
              </a:r>
            </a:p>
          </p:txBody>
        </p:sp>
        <p:sp>
          <p:nvSpPr>
            <p:cNvPr id="140455" name="Text Box 121"/>
            <p:cNvSpPr txBox="1">
              <a:spLocks noChangeArrowheads="1"/>
            </p:cNvSpPr>
            <p:nvPr/>
          </p:nvSpPr>
          <p:spPr bwMode="auto">
            <a:xfrm>
              <a:off x="480"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/15</a:t>
              </a:r>
            </a:p>
          </p:txBody>
        </p:sp>
        <p:sp>
          <p:nvSpPr>
            <p:cNvPr id="140456" name="Text Box 122"/>
            <p:cNvSpPr txBox="1">
              <a:spLocks noChangeArrowheads="1"/>
            </p:cNvSpPr>
            <p:nvPr/>
          </p:nvSpPr>
          <p:spPr bwMode="auto">
            <a:xfrm>
              <a:off x="1200" y="86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 </a:t>
              </a:r>
              <a:r>
                <a:rPr lang="en-US" sz="1800" b="1"/>
                <a:t>/ 5</a:t>
              </a:r>
            </a:p>
          </p:txBody>
        </p:sp>
        <p:sp>
          <p:nvSpPr>
            <p:cNvPr id="140457" name="Text Box 123"/>
            <p:cNvSpPr txBox="1">
              <a:spLocks noChangeArrowheads="1"/>
            </p:cNvSpPr>
            <p:nvPr/>
          </p:nvSpPr>
          <p:spPr bwMode="auto">
            <a:xfrm>
              <a:off x="1824"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/8</a:t>
              </a:r>
            </a:p>
          </p:txBody>
        </p:sp>
        <p:sp>
          <p:nvSpPr>
            <p:cNvPr id="140458" name="Text Box 124"/>
            <p:cNvSpPr txBox="1">
              <a:spLocks noChangeArrowheads="1"/>
            </p:cNvSpPr>
            <p:nvPr/>
          </p:nvSpPr>
          <p:spPr bwMode="auto">
            <a:xfrm>
              <a:off x="2148" y="129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/7</a:t>
              </a:r>
            </a:p>
          </p:txBody>
        </p:sp>
        <p:sp>
          <p:nvSpPr>
            <p:cNvPr id="140459" name="Text Box 125"/>
            <p:cNvSpPr txBox="1">
              <a:spLocks noChangeArrowheads="1"/>
            </p:cNvSpPr>
            <p:nvPr/>
          </p:nvSpPr>
          <p:spPr bwMode="auto">
            <a:xfrm>
              <a:off x="2064" y="62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/12</a:t>
              </a:r>
            </a:p>
          </p:txBody>
        </p:sp>
        <p:sp>
          <p:nvSpPr>
            <p:cNvPr id="140460" name="Text Box 126"/>
            <p:cNvSpPr txBox="1">
              <a:spLocks noChangeArrowheads="1"/>
            </p:cNvSpPr>
            <p:nvPr/>
          </p:nvSpPr>
          <p:spPr bwMode="auto">
            <a:xfrm>
              <a:off x="1104" y="1392"/>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 / 18</a:t>
              </a:r>
            </a:p>
          </p:txBody>
        </p:sp>
      </p:grpSp>
      <p:grpSp>
        <p:nvGrpSpPr>
          <p:cNvPr id="225439" name="Group 159"/>
          <p:cNvGrpSpPr>
            <a:grpSpLocks/>
          </p:cNvGrpSpPr>
          <p:nvPr/>
        </p:nvGrpSpPr>
        <p:grpSpPr bwMode="auto">
          <a:xfrm>
            <a:off x="152400" y="3517106"/>
            <a:ext cx="3892550" cy="1195388"/>
            <a:chOff x="3120" y="2208"/>
            <a:chExt cx="2452" cy="753"/>
          </a:xfrm>
        </p:grpSpPr>
        <p:sp>
          <p:nvSpPr>
            <p:cNvPr id="140430" name="Freeform 152"/>
            <p:cNvSpPr>
              <a:spLocks/>
            </p:cNvSpPr>
            <p:nvPr/>
          </p:nvSpPr>
          <p:spPr bwMode="auto">
            <a:xfrm>
              <a:off x="3216" y="2400"/>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31" name="Line 153"/>
            <p:cNvSpPr>
              <a:spLocks noChangeShapeType="1"/>
            </p:cNvSpPr>
            <p:nvPr/>
          </p:nvSpPr>
          <p:spPr bwMode="auto">
            <a:xfrm>
              <a:off x="3888" y="2824"/>
              <a:ext cx="926" cy="8"/>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10800" anchor="ctr" anchorCtr="1">
              <a:spAutoFit/>
            </a:bodyPr>
            <a:lstStyle/>
            <a:p>
              <a:endParaRPr lang="en-CA"/>
            </a:p>
          </p:txBody>
        </p:sp>
        <p:sp>
          <p:nvSpPr>
            <p:cNvPr id="140432" name="Freeform 154"/>
            <p:cNvSpPr>
              <a:spLocks/>
            </p:cNvSpPr>
            <p:nvPr/>
          </p:nvSpPr>
          <p:spPr bwMode="auto">
            <a:xfrm>
              <a:off x="4927" y="2376"/>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33" name="Oval 155"/>
            <p:cNvSpPr>
              <a:spLocks noChangeArrowheads="1"/>
            </p:cNvSpPr>
            <p:nvPr/>
          </p:nvSpPr>
          <p:spPr bwMode="auto">
            <a:xfrm>
              <a:off x="3696" y="2736"/>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40434" name="Oval 156"/>
            <p:cNvSpPr>
              <a:spLocks noChangeArrowheads="1"/>
            </p:cNvSpPr>
            <p:nvPr/>
          </p:nvSpPr>
          <p:spPr bwMode="auto">
            <a:xfrm>
              <a:off x="3120" y="2256"/>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40435" name="Oval 157"/>
            <p:cNvSpPr>
              <a:spLocks noChangeArrowheads="1"/>
            </p:cNvSpPr>
            <p:nvPr/>
          </p:nvSpPr>
          <p:spPr bwMode="auto">
            <a:xfrm>
              <a:off x="4800" y="2688"/>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40436" name="Oval 158"/>
            <p:cNvSpPr>
              <a:spLocks noChangeArrowheads="1"/>
            </p:cNvSpPr>
            <p:nvPr/>
          </p:nvSpPr>
          <p:spPr bwMode="auto">
            <a:xfrm>
              <a:off x="5328" y="2208"/>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grpSp>
      <p:grpSp>
        <p:nvGrpSpPr>
          <p:cNvPr id="225440" name="Group 160"/>
          <p:cNvGrpSpPr>
            <a:grpSpLocks/>
          </p:cNvGrpSpPr>
          <p:nvPr/>
        </p:nvGrpSpPr>
        <p:grpSpPr bwMode="auto">
          <a:xfrm>
            <a:off x="146358" y="4648200"/>
            <a:ext cx="3892550" cy="2033588"/>
            <a:chOff x="96" y="432"/>
            <a:chExt cx="2452" cy="1281"/>
          </a:xfrm>
        </p:grpSpPr>
        <p:sp>
          <p:nvSpPr>
            <p:cNvPr id="140406" name="Line 161"/>
            <p:cNvSpPr>
              <a:spLocks noChangeShapeType="1"/>
            </p:cNvSpPr>
            <p:nvPr/>
          </p:nvSpPr>
          <p:spPr bwMode="auto">
            <a:xfrm flipV="1">
              <a:off x="1896" y="751"/>
              <a:ext cx="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407" name="Line 162"/>
            <p:cNvSpPr>
              <a:spLocks noChangeShapeType="1"/>
            </p:cNvSpPr>
            <p:nvPr/>
          </p:nvSpPr>
          <p:spPr bwMode="auto">
            <a:xfrm flipV="1">
              <a:off x="816" y="751"/>
              <a:ext cx="0"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408" name="Freeform 163"/>
            <p:cNvSpPr>
              <a:spLocks/>
            </p:cNvSpPr>
            <p:nvPr/>
          </p:nvSpPr>
          <p:spPr bwMode="auto">
            <a:xfrm>
              <a:off x="192" y="720"/>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09" name="Line 164"/>
            <p:cNvSpPr>
              <a:spLocks noChangeShapeType="1"/>
            </p:cNvSpPr>
            <p:nvPr/>
          </p:nvSpPr>
          <p:spPr bwMode="auto">
            <a:xfrm>
              <a:off x="912" y="62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10" name="Freeform 165"/>
            <p:cNvSpPr>
              <a:spLocks/>
            </p:cNvSpPr>
            <p:nvPr/>
          </p:nvSpPr>
          <p:spPr bwMode="auto">
            <a:xfrm>
              <a:off x="192" y="1152"/>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11" name="Line 166"/>
            <p:cNvSpPr>
              <a:spLocks noChangeShapeType="1"/>
            </p:cNvSpPr>
            <p:nvPr/>
          </p:nvSpPr>
          <p:spPr bwMode="auto">
            <a:xfrm>
              <a:off x="912" y="158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12" name="Freeform 167"/>
            <p:cNvSpPr>
              <a:spLocks/>
            </p:cNvSpPr>
            <p:nvPr/>
          </p:nvSpPr>
          <p:spPr bwMode="auto">
            <a:xfrm>
              <a:off x="864" y="720"/>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13" name="Freeform 168"/>
            <p:cNvSpPr>
              <a:spLocks/>
            </p:cNvSpPr>
            <p:nvPr/>
          </p:nvSpPr>
          <p:spPr bwMode="auto">
            <a:xfrm>
              <a:off x="1909" y="645"/>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14" name="Freeform 169"/>
            <p:cNvSpPr>
              <a:spLocks/>
            </p:cNvSpPr>
            <p:nvPr/>
          </p:nvSpPr>
          <p:spPr bwMode="auto">
            <a:xfrm>
              <a:off x="1872" y="1152"/>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15" name="Oval 170"/>
            <p:cNvSpPr>
              <a:spLocks noChangeArrowheads="1"/>
            </p:cNvSpPr>
            <p:nvPr/>
          </p:nvSpPr>
          <p:spPr bwMode="auto">
            <a:xfrm>
              <a:off x="672" y="148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40416" name="Oval 171"/>
            <p:cNvSpPr>
              <a:spLocks noChangeArrowheads="1"/>
            </p:cNvSpPr>
            <p:nvPr/>
          </p:nvSpPr>
          <p:spPr bwMode="auto">
            <a:xfrm>
              <a:off x="96" y="100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40417" name="Oval 172"/>
            <p:cNvSpPr>
              <a:spLocks noChangeArrowheads="1"/>
            </p:cNvSpPr>
            <p:nvPr/>
          </p:nvSpPr>
          <p:spPr bwMode="auto">
            <a:xfrm>
              <a:off x="672" y="53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40418" name="Oval 173"/>
            <p:cNvSpPr>
              <a:spLocks noChangeArrowheads="1"/>
            </p:cNvSpPr>
            <p:nvPr/>
          </p:nvSpPr>
          <p:spPr bwMode="auto">
            <a:xfrm>
              <a:off x="1776"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40419" name="Oval 174"/>
            <p:cNvSpPr>
              <a:spLocks noChangeArrowheads="1"/>
            </p:cNvSpPr>
            <p:nvPr/>
          </p:nvSpPr>
          <p:spPr bwMode="auto">
            <a:xfrm>
              <a:off x="1776" y="5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c</a:t>
              </a:r>
            </a:p>
          </p:txBody>
        </p:sp>
        <p:sp>
          <p:nvSpPr>
            <p:cNvPr id="140420" name="Oval 175"/>
            <p:cNvSpPr>
              <a:spLocks noChangeArrowheads="1"/>
            </p:cNvSpPr>
            <p:nvPr/>
          </p:nvSpPr>
          <p:spPr bwMode="auto">
            <a:xfrm>
              <a:off x="2304" y="96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40421" name="Text Box 176"/>
            <p:cNvSpPr txBox="1">
              <a:spLocks noChangeArrowheads="1"/>
            </p:cNvSpPr>
            <p:nvPr/>
          </p:nvSpPr>
          <p:spPr bwMode="auto">
            <a:xfrm>
              <a:off x="96" y="720"/>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 / 15</a:t>
              </a:r>
            </a:p>
          </p:txBody>
        </p:sp>
        <p:sp>
          <p:nvSpPr>
            <p:cNvPr id="140422" name="Text Box 177"/>
            <p:cNvSpPr txBox="1">
              <a:spLocks noChangeArrowheads="1"/>
            </p:cNvSpPr>
            <p:nvPr/>
          </p:nvSpPr>
          <p:spPr bwMode="auto">
            <a:xfrm>
              <a:off x="1152" y="432"/>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 </a:t>
              </a:r>
              <a:r>
                <a:rPr lang="en-US" sz="1800" b="1"/>
                <a:t>/ 4</a:t>
              </a:r>
            </a:p>
          </p:txBody>
        </p:sp>
        <p:sp>
          <p:nvSpPr>
            <p:cNvPr id="140423" name="Text Box 178"/>
            <p:cNvSpPr txBox="1">
              <a:spLocks noChangeArrowheads="1"/>
            </p:cNvSpPr>
            <p:nvPr/>
          </p:nvSpPr>
          <p:spPr bwMode="auto">
            <a:xfrm>
              <a:off x="96" y="134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 / 8</a:t>
              </a:r>
            </a:p>
          </p:txBody>
        </p:sp>
        <p:sp>
          <p:nvSpPr>
            <p:cNvPr id="140424" name="Text Box 179"/>
            <p:cNvSpPr txBox="1">
              <a:spLocks noChangeArrowheads="1"/>
            </p:cNvSpPr>
            <p:nvPr/>
          </p:nvSpPr>
          <p:spPr bwMode="auto">
            <a:xfrm>
              <a:off x="480"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/15</a:t>
              </a:r>
            </a:p>
          </p:txBody>
        </p:sp>
        <p:sp>
          <p:nvSpPr>
            <p:cNvPr id="140425" name="Text Box 180"/>
            <p:cNvSpPr txBox="1">
              <a:spLocks noChangeArrowheads="1"/>
            </p:cNvSpPr>
            <p:nvPr/>
          </p:nvSpPr>
          <p:spPr bwMode="auto">
            <a:xfrm>
              <a:off x="1200" y="86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 </a:t>
              </a:r>
              <a:r>
                <a:rPr lang="en-US" sz="1800" b="1"/>
                <a:t>/ 5</a:t>
              </a:r>
            </a:p>
          </p:txBody>
        </p:sp>
        <p:sp>
          <p:nvSpPr>
            <p:cNvPr id="140426" name="Text Box 181"/>
            <p:cNvSpPr txBox="1">
              <a:spLocks noChangeArrowheads="1"/>
            </p:cNvSpPr>
            <p:nvPr/>
          </p:nvSpPr>
          <p:spPr bwMode="auto">
            <a:xfrm>
              <a:off x="1824"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/8</a:t>
              </a:r>
            </a:p>
          </p:txBody>
        </p:sp>
        <p:sp>
          <p:nvSpPr>
            <p:cNvPr id="140427" name="Text Box 182"/>
            <p:cNvSpPr txBox="1">
              <a:spLocks noChangeArrowheads="1"/>
            </p:cNvSpPr>
            <p:nvPr/>
          </p:nvSpPr>
          <p:spPr bwMode="auto">
            <a:xfrm>
              <a:off x="2148" y="129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/7</a:t>
              </a:r>
            </a:p>
          </p:txBody>
        </p:sp>
        <p:sp>
          <p:nvSpPr>
            <p:cNvPr id="140428" name="Text Box 183"/>
            <p:cNvSpPr txBox="1">
              <a:spLocks noChangeArrowheads="1"/>
            </p:cNvSpPr>
            <p:nvPr/>
          </p:nvSpPr>
          <p:spPr bwMode="auto">
            <a:xfrm>
              <a:off x="2064" y="62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/12</a:t>
              </a:r>
            </a:p>
          </p:txBody>
        </p:sp>
        <p:sp>
          <p:nvSpPr>
            <p:cNvPr id="140429" name="Text Box 184"/>
            <p:cNvSpPr txBox="1">
              <a:spLocks noChangeArrowheads="1"/>
            </p:cNvSpPr>
            <p:nvPr/>
          </p:nvSpPr>
          <p:spPr bwMode="auto">
            <a:xfrm>
              <a:off x="1104" y="1392"/>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 / 18</a:t>
              </a:r>
            </a:p>
          </p:txBody>
        </p:sp>
      </p:grpSp>
      <p:grpSp>
        <p:nvGrpSpPr>
          <p:cNvPr id="225480" name="Group 200"/>
          <p:cNvGrpSpPr>
            <a:grpSpLocks/>
          </p:cNvGrpSpPr>
          <p:nvPr/>
        </p:nvGrpSpPr>
        <p:grpSpPr bwMode="auto">
          <a:xfrm>
            <a:off x="152400" y="4796068"/>
            <a:ext cx="3892550" cy="1881188"/>
            <a:chOff x="2976" y="624"/>
            <a:chExt cx="2452" cy="1185"/>
          </a:xfrm>
        </p:grpSpPr>
        <p:sp>
          <p:nvSpPr>
            <p:cNvPr id="140395" name="Line 185"/>
            <p:cNvSpPr>
              <a:spLocks noChangeShapeType="1"/>
            </p:cNvSpPr>
            <p:nvPr/>
          </p:nvSpPr>
          <p:spPr bwMode="auto">
            <a:xfrm flipV="1">
              <a:off x="4778" y="816"/>
              <a:ext cx="0" cy="816"/>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396" name="Line 186"/>
            <p:cNvSpPr>
              <a:spLocks noChangeShapeType="1"/>
            </p:cNvSpPr>
            <p:nvPr/>
          </p:nvSpPr>
          <p:spPr bwMode="auto">
            <a:xfrm flipV="1">
              <a:off x="3696" y="816"/>
              <a:ext cx="0" cy="864"/>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397" name="Freeform 189"/>
            <p:cNvSpPr>
              <a:spLocks/>
            </p:cNvSpPr>
            <p:nvPr/>
          </p:nvSpPr>
          <p:spPr bwMode="auto">
            <a:xfrm>
              <a:off x="3096" y="1278"/>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98" name="Freeform 191"/>
            <p:cNvSpPr>
              <a:spLocks/>
            </p:cNvSpPr>
            <p:nvPr/>
          </p:nvSpPr>
          <p:spPr bwMode="auto">
            <a:xfrm>
              <a:off x="3744" y="816"/>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99" name="Freeform 192"/>
            <p:cNvSpPr>
              <a:spLocks/>
            </p:cNvSpPr>
            <p:nvPr/>
          </p:nvSpPr>
          <p:spPr bwMode="auto">
            <a:xfrm>
              <a:off x="4794" y="750"/>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400" name="Oval 194"/>
            <p:cNvSpPr>
              <a:spLocks noChangeArrowheads="1"/>
            </p:cNvSpPr>
            <p:nvPr/>
          </p:nvSpPr>
          <p:spPr bwMode="auto">
            <a:xfrm>
              <a:off x="3552" y="1584"/>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40401" name="Oval 195"/>
            <p:cNvSpPr>
              <a:spLocks noChangeArrowheads="1"/>
            </p:cNvSpPr>
            <p:nvPr/>
          </p:nvSpPr>
          <p:spPr bwMode="auto">
            <a:xfrm>
              <a:off x="2976" y="1104"/>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40402" name="Oval 196"/>
            <p:cNvSpPr>
              <a:spLocks noChangeArrowheads="1"/>
            </p:cNvSpPr>
            <p:nvPr/>
          </p:nvSpPr>
          <p:spPr bwMode="auto">
            <a:xfrm>
              <a:off x="3552" y="626"/>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a</a:t>
              </a:r>
            </a:p>
          </p:txBody>
        </p:sp>
        <p:sp>
          <p:nvSpPr>
            <p:cNvPr id="140403" name="Oval 197"/>
            <p:cNvSpPr>
              <a:spLocks noChangeArrowheads="1"/>
            </p:cNvSpPr>
            <p:nvPr/>
          </p:nvSpPr>
          <p:spPr bwMode="auto">
            <a:xfrm>
              <a:off x="4656" y="1536"/>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d</a:t>
              </a:r>
            </a:p>
          </p:txBody>
        </p:sp>
        <p:sp>
          <p:nvSpPr>
            <p:cNvPr id="140404" name="Oval 198"/>
            <p:cNvSpPr>
              <a:spLocks noChangeArrowheads="1"/>
            </p:cNvSpPr>
            <p:nvPr/>
          </p:nvSpPr>
          <p:spPr bwMode="auto">
            <a:xfrm>
              <a:off x="4656" y="624"/>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c</a:t>
              </a:r>
            </a:p>
          </p:txBody>
        </p:sp>
        <p:sp>
          <p:nvSpPr>
            <p:cNvPr id="140405" name="Oval 199"/>
            <p:cNvSpPr>
              <a:spLocks noChangeArrowheads="1"/>
            </p:cNvSpPr>
            <p:nvPr/>
          </p:nvSpPr>
          <p:spPr bwMode="auto">
            <a:xfrm>
              <a:off x="5184" y="1056"/>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grpSp>
      <p:grpSp>
        <p:nvGrpSpPr>
          <p:cNvPr id="225481" name="Group 201"/>
          <p:cNvGrpSpPr>
            <a:grpSpLocks/>
          </p:cNvGrpSpPr>
          <p:nvPr/>
        </p:nvGrpSpPr>
        <p:grpSpPr bwMode="auto">
          <a:xfrm>
            <a:off x="4953000" y="2667000"/>
            <a:ext cx="3892550" cy="2033588"/>
            <a:chOff x="96" y="432"/>
            <a:chExt cx="2452" cy="1281"/>
          </a:xfrm>
        </p:grpSpPr>
        <p:sp>
          <p:nvSpPr>
            <p:cNvPr id="140371" name="Line 202"/>
            <p:cNvSpPr>
              <a:spLocks noChangeShapeType="1"/>
            </p:cNvSpPr>
            <p:nvPr/>
          </p:nvSpPr>
          <p:spPr bwMode="auto">
            <a:xfrm flipV="1">
              <a:off x="1872" y="768"/>
              <a:ext cx="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372" name="Line 203"/>
            <p:cNvSpPr>
              <a:spLocks noChangeShapeType="1"/>
            </p:cNvSpPr>
            <p:nvPr/>
          </p:nvSpPr>
          <p:spPr bwMode="auto">
            <a:xfrm flipV="1">
              <a:off x="822" y="787"/>
              <a:ext cx="0"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373" name="Freeform 204"/>
            <p:cNvSpPr>
              <a:spLocks/>
            </p:cNvSpPr>
            <p:nvPr/>
          </p:nvSpPr>
          <p:spPr bwMode="auto">
            <a:xfrm>
              <a:off x="192" y="720"/>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74" name="Line 205"/>
            <p:cNvSpPr>
              <a:spLocks noChangeShapeType="1"/>
            </p:cNvSpPr>
            <p:nvPr/>
          </p:nvSpPr>
          <p:spPr bwMode="auto">
            <a:xfrm>
              <a:off x="912" y="62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75" name="Freeform 206"/>
            <p:cNvSpPr>
              <a:spLocks/>
            </p:cNvSpPr>
            <p:nvPr/>
          </p:nvSpPr>
          <p:spPr bwMode="auto">
            <a:xfrm>
              <a:off x="192" y="1152"/>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76" name="Line 207"/>
            <p:cNvSpPr>
              <a:spLocks noChangeShapeType="1"/>
            </p:cNvSpPr>
            <p:nvPr/>
          </p:nvSpPr>
          <p:spPr bwMode="auto">
            <a:xfrm>
              <a:off x="912" y="158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77" name="Freeform 208"/>
            <p:cNvSpPr>
              <a:spLocks/>
            </p:cNvSpPr>
            <p:nvPr/>
          </p:nvSpPr>
          <p:spPr bwMode="auto">
            <a:xfrm>
              <a:off x="846" y="697"/>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78" name="Freeform 209"/>
            <p:cNvSpPr>
              <a:spLocks/>
            </p:cNvSpPr>
            <p:nvPr/>
          </p:nvSpPr>
          <p:spPr bwMode="auto">
            <a:xfrm>
              <a:off x="1909" y="645"/>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79" name="Freeform 210"/>
            <p:cNvSpPr>
              <a:spLocks/>
            </p:cNvSpPr>
            <p:nvPr/>
          </p:nvSpPr>
          <p:spPr bwMode="auto">
            <a:xfrm>
              <a:off x="1872" y="1152"/>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80" name="Oval 211"/>
            <p:cNvSpPr>
              <a:spLocks noChangeArrowheads="1"/>
            </p:cNvSpPr>
            <p:nvPr/>
          </p:nvSpPr>
          <p:spPr bwMode="auto">
            <a:xfrm>
              <a:off x="672" y="148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40381" name="Oval 212"/>
            <p:cNvSpPr>
              <a:spLocks noChangeArrowheads="1"/>
            </p:cNvSpPr>
            <p:nvPr/>
          </p:nvSpPr>
          <p:spPr bwMode="auto">
            <a:xfrm>
              <a:off x="96" y="100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40382" name="Oval 213"/>
            <p:cNvSpPr>
              <a:spLocks noChangeArrowheads="1"/>
            </p:cNvSpPr>
            <p:nvPr/>
          </p:nvSpPr>
          <p:spPr bwMode="auto">
            <a:xfrm>
              <a:off x="672" y="53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40383" name="Oval 214"/>
            <p:cNvSpPr>
              <a:spLocks noChangeArrowheads="1"/>
            </p:cNvSpPr>
            <p:nvPr/>
          </p:nvSpPr>
          <p:spPr bwMode="auto">
            <a:xfrm>
              <a:off x="1776"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40384" name="Oval 215"/>
            <p:cNvSpPr>
              <a:spLocks noChangeArrowheads="1"/>
            </p:cNvSpPr>
            <p:nvPr/>
          </p:nvSpPr>
          <p:spPr bwMode="auto">
            <a:xfrm>
              <a:off x="1776" y="5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c</a:t>
              </a:r>
            </a:p>
          </p:txBody>
        </p:sp>
        <p:sp>
          <p:nvSpPr>
            <p:cNvPr id="140385" name="Oval 216"/>
            <p:cNvSpPr>
              <a:spLocks noChangeArrowheads="1"/>
            </p:cNvSpPr>
            <p:nvPr/>
          </p:nvSpPr>
          <p:spPr bwMode="auto">
            <a:xfrm>
              <a:off x="2304" y="96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40386" name="Text Box 217"/>
            <p:cNvSpPr txBox="1">
              <a:spLocks noChangeArrowheads="1"/>
            </p:cNvSpPr>
            <p:nvPr/>
          </p:nvSpPr>
          <p:spPr bwMode="auto">
            <a:xfrm>
              <a:off x="96" y="720"/>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8</a:t>
              </a:r>
              <a:r>
                <a:rPr lang="en-US" sz="1800" b="1"/>
                <a:t> / 15</a:t>
              </a:r>
            </a:p>
          </p:txBody>
        </p:sp>
        <p:sp>
          <p:nvSpPr>
            <p:cNvPr id="140387" name="Text Box 218"/>
            <p:cNvSpPr txBox="1">
              <a:spLocks noChangeArrowheads="1"/>
            </p:cNvSpPr>
            <p:nvPr/>
          </p:nvSpPr>
          <p:spPr bwMode="auto">
            <a:xfrm>
              <a:off x="1152" y="432"/>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 </a:t>
              </a:r>
              <a:r>
                <a:rPr lang="en-US" sz="1800" b="1"/>
                <a:t>/ 4</a:t>
              </a:r>
            </a:p>
          </p:txBody>
        </p:sp>
        <p:sp>
          <p:nvSpPr>
            <p:cNvPr id="140388" name="Text Box 219"/>
            <p:cNvSpPr txBox="1">
              <a:spLocks noChangeArrowheads="1"/>
            </p:cNvSpPr>
            <p:nvPr/>
          </p:nvSpPr>
          <p:spPr bwMode="auto">
            <a:xfrm>
              <a:off x="96" y="134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8</a:t>
              </a:r>
              <a:r>
                <a:rPr lang="en-US" sz="1800" b="1"/>
                <a:t> / 8</a:t>
              </a:r>
            </a:p>
          </p:txBody>
        </p:sp>
        <p:sp>
          <p:nvSpPr>
            <p:cNvPr id="140389" name="Text Box 220"/>
            <p:cNvSpPr txBox="1">
              <a:spLocks noChangeArrowheads="1"/>
            </p:cNvSpPr>
            <p:nvPr/>
          </p:nvSpPr>
          <p:spPr bwMode="auto">
            <a:xfrm>
              <a:off x="480"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a:t>
              </a:r>
              <a:r>
                <a:rPr lang="en-US" sz="1800" b="1"/>
                <a:t>/15</a:t>
              </a:r>
            </a:p>
          </p:txBody>
        </p:sp>
        <p:sp>
          <p:nvSpPr>
            <p:cNvPr id="140390" name="Text Box 221"/>
            <p:cNvSpPr txBox="1">
              <a:spLocks noChangeArrowheads="1"/>
            </p:cNvSpPr>
            <p:nvPr/>
          </p:nvSpPr>
          <p:spPr bwMode="auto">
            <a:xfrm>
              <a:off x="1200" y="86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 </a:t>
              </a:r>
              <a:r>
                <a:rPr lang="en-US" sz="1800" b="1"/>
                <a:t>/ 5</a:t>
              </a:r>
            </a:p>
          </p:txBody>
        </p:sp>
        <p:sp>
          <p:nvSpPr>
            <p:cNvPr id="140391" name="Text Box 222"/>
            <p:cNvSpPr txBox="1">
              <a:spLocks noChangeArrowheads="1"/>
            </p:cNvSpPr>
            <p:nvPr/>
          </p:nvSpPr>
          <p:spPr bwMode="auto">
            <a:xfrm>
              <a:off x="1824"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a:t>
              </a:r>
              <a:r>
                <a:rPr lang="en-US" sz="1800" b="1"/>
                <a:t>/8</a:t>
              </a:r>
            </a:p>
          </p:txBody>
        </p:sp>
        <p:sp>
          <p:nvSpPr>
            <p:cNvPr id="140392" name="Text Box 223"/>
            <p:cNvSpPr txBox="1">
              <a:spLocks noChangeArrowheads="1"/>
            </p:cNvSpPr>
            <p:nvPr/>
          </p:nvSpPr>
          <p:spPr bwMode="auto">
            <a:xfrm>
              <a:off x="2148" y="129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/7</a:t>
              </a:r>
            </a:p>
          </p:txBody>
        </p:sp>
        <p:sp>
          <p:nvSpPr>
            <p:cNvPr id="140393" name="Text Box 224"/>
            <p:cNvSpPr txBox="1">
              <a:spLocks noChangeArrowheads="1"/>
            </p:cNvSpPr>
            <p:nvPr/>
          </p:nvSpPr>
          <p:spPr bwMode="auto">
            <a:xfrm>
              <a:off x="2064" y="62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9</a:t>
              </a:r>
              <a:r>
                <a:rPr lang="en-US" sz="1800" b="1"/>
                <a:t>/12</a:t>
              </a:r>
            </a:p>
          </p:txBody>
        </p:sp>
        <p:sp>
          <p:nvSpPr>
            <p:cNvPr id="140394" name="Text Box 225"/>
            <p:cNvSpPr txBox="1">
              <a:spLocks noChangeArrowheads="1"/>
            </p:cNvSpPr>
            <p:nvPr/>
          </p:nvSpPr>
          <p:spPr bwMode="auto">
            <a:xfrm>
              <a:off x="1104" y="1392"/>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 / 18</a:t>
              </a:r>
            </a:p>
          </p:txBody>
        </p:sp>
      </p:grpSp>
      <p:grpSp>
        <p:nvGrpSpPr>
          <p:cNvPr id="225506" name="Group 226"/>
          <p:cNvGrpSpPr>
            <a:grpSpLocks/>
          </p:cNvGrpSpPr>
          <p:nvPr/>
        </p:nvGrpSpPr>
        <p:grpSpPr bwMode="auto">
          <a:xfrm>
            <a:off x="4950542" y="2832894"/>
            <a:ext cx="3892550" cy="1881188"/>
            <a:chOff x="2928" y="2304"/>
            <a:chExt cx="2452" cy="1185"/>
          </a:xfrm>
        </p:grpSpPr>
        <p:sp>
          <p:nvSpPr>
            <p:cNvPr id="140360" name="Line 64"/>
            <p:cNvSpPr>
              <a:spLocks noChangeShapeType="1"/>
            </p:cNvSpPr>
            <p:nvPr/>
          </p:nvSpPr>
          <p:spPr bwMode="auto">
            <a:xfrm flipV="1">
              <a:off x="4704" y="2496"/>
              <a:ext cx="0" cy="816"/>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361" name="Line 65"/>
            <p:cNvSpPr>
              <a:spLocks noChangeShapeType="1"/>
            </p:cNvSpPr>
            <p:nvPr/>
          </p:nvSpPr>
          <p:spPr bwMode="auto">
            <a:xfrm flipV="1">
              <a:off x="3648" y="2496"/>
              <a:ext cx="0" cy="864"/>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362" name="Freeform 66"/>
            <p:cNvSpPr>
              <a:spLocks/>
            </p:cNvSpPr>
            <p:nvPr/>
          </p:nvSpPr>
          <p:spPr bwMode="auto">
            <a:xfrm>
              <a:off x="3050" y="2474"/>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63" name="Line 69"/>
            <p:cNvSpPr>
              <a:spLocks noChangeShapeType="1"/>
            </p:cNvSpPr>
            <p:nvPr/>
          </p:nvSpPr>
          <p:spPr bwMode="auto">
            <a:xfrm>
              <a:off x="3698" y="3351"/>
              <a:ext cx="942" cy="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10800" anchor="ctr" anchorCtr="1">
              <a:spAutoFit/>
            </a:bodyPr>
            <a:lstStyle/>
            <a:p>
              <a:endParaRPr lang="en-CA"/>
            </a:p>
          </p:txBody>
        </p:sp>
        <p:sp>
          <p:nvSpPr>
            <p:cNvPr id="140364" name="Freeform 71"/>
            <p:cNvSpPr>
              <a:spLocks/>
            </p:cNvSpPr>
            <p:nvPr/>
          </p:nvSpPr>
          <p:spPr bwMode="auto">
            <a:xfrm>
              <a:off x="4748" y="2421"/>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65" name="Oval 73"/>
            <p:cNvSpPr>
              <a:spLocks noChangeArrowheads="1"/>
            </p:cNvSpPr>
            <p:nvPr/>
          </p:nvSpPr>
          <p:spPr bwMode="auto">
            <a:xfrm>
              <a:off x="3504" y="3264"/>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40366" name="Oval 74"/>
            <p:cNvSpPr>
              <a:spLocks noChangeArrowheads="1"/>
            </p:cNvSpPr>
            <p:nvPr/>
          </p:nvSpPr>
          <p:spPr bwMode="auto">
            <a:xfrm>
              <a:off x="2928" y="2784"/>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40367" name="Oval 75"/>
            <p:cNvSpPr>
              <a:spLocks noChangeArrowheads="1"/>
            </p:cNvSpPr>
            <p:nvPr/>
          </p:nvSpPr>
          <p:spPr bwMode="auto">
            <a:xfrm>
              <a:off x="3504" y="2306"/>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a</a:t>
              </a:r>
            </a:p>
          </p:txBody>
        </p:sp>
        <p:sp>
          <p:nvSpPr>
            <p:cNvPr id="140368" name="Oval 76"/>
            <p:cNvSpPr>
              <a:spLocks noChangeArrowheads="1"/>
            </p:cNvSpPr>
            <p:nvPr/>
          </p:nvSpPr>
          <p:spPr bwMode="auto">
            <a:xfrm>
              <a:off x="4608" y="3216"/>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40369" name="Oval 77"/>
            <p:cNvSpPr>
              <a:spLocks noChangeArrowheads="1"/>
            </p:cNvSpPr>
            <p:nvPr/>
          </p:nvSpPr>
          <p:spPr bwMode="auto">
            <a:xfrm>
              <a:off x="4608" y="2304"/>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c</a:t>
              </a:r>
            </a:p>
          </p:txBody>
        </p:sp>
        <p:sp>
          <p:nvSpPr>
            <p:cNvPr id="140370" name="Oval 78"/>
            <p:cNvSpPr>
              <a:spLocks noChangeArrowheads="1"/>
            </p:cNvSpPr>
            <p:nvPr/>
          </p:nvSpPr>
          <p:spPr bwMode="auto">
            <a:xfrm>
              <a:off x="5136" y="2736"/>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grpSp>
      <p:grpSp>
        <p:nvGrpSpPr>
          <p:cNvPr id="225507" name="Group 227"/>
          <p:cNvGrpSpPr>
            <a:grpSpLocks/>
          </p:cNvGrpSpPr>
          <p:nvPr/>
        </p:nvGrpSpPr>
        <p:grpSpPr bwMode="auto">
          <a:xfrm>
            <a:off x="4953000" y="4648200"/>
            <a:ext cx="3892550" cy="2033588"/>
            <a:chOff x="96" y="432"/>
            <a:chExt cx="2452" cy="1281"/>
          </a:xfrm>
        </p:grpSpPr>
        <p:sp>
          <p:nvSpPr>
            <p:cNvPr id="140336" name="Line 228"/>
            <p:cNvSpPr>
              <a:spLocks noChangeShapeType="1"/>
            </p:cNvSpPr>
            <p:nvPr/>
          </p:nvSpPr>
          <p:spPr bwMode="auto">
            <a:xfrm flipV="1">
              <a:off x="1904" y="768"/>
              <a:ext cx="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337" name="Line 229"/>
            <p:cNvSpPr>
              <a:spLocks noChangeShapeType="1"/>
            </p:cNvSpPr>
            <p:nvPr/>
          </p:nvSpPr>
          <p:spPr bwMode="auto">
            <a:xfrm flipV="1">
              <a:off x="822" y="776"/>
              <a:ext cx="0"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338" name="Freeform 230"/>
            <p:cNvSpPr>
              <a:spLocks/>
            </p:cNvSpPr>
            <p:nvPr/>
          </p:nvSpPr>
          <p:spPr bwMode="auto">
            <a:xfrm>
              <a:off x="192" y="720"/>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39" name="Line 231"/>
            <p:cNvSpPr>
              <a:spLocks noChangeShapeType="1"/>
            </p:cNvSpPr>
            <p:nvPr/>
          </p:nvSpPr>
          <p:spPr bwMode="auto">
            <a:xfrm>
              <a:off x="912" y="62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40" name="Freeform 232"/>
            <p:cNvSpPr>
              <a:spLocks/>
            </p:cNvSpPr>
            <p:nvPr/>
          </p:nvSpPr>
          <p:spPr bwMode="auto">
            <a:xfrm>
              <a:off x="192" y="1152"/>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41" name="Line 233"/>
            <p:cNvSpPr>
              <a:spLocks noChangeShapeType="1"/>
            </p:cNvSpPr>
            <p:nvPr/>
          </p:nvSpPr>
          <p:spPr bwMode="auto">
            <a:xfrm>
              <a:off x="912" y="158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42" name="Freeform 234"/>
            <p:cNvSpPr>
              <a:spLocks/>
            </p:cNvSpPr>
            <p:nvPr/>
          </p:nvSpPr>
          <p:spPr bwMode="auto">
            <a:xfrm>
              <a:off x="846" y="704"/>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43" name="Freeform 235"/>
            <p:cNvSpPr>
              <a:spLocks/>
            </p:cNvSpPr>
            <p:nvPr/>
          </p:nvSpPr>
          <p:spPr bwMode="auto">
            <a:xfrm>
              <a:off x="1909" y="645"/>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44" name="Freeform 236"/>
            <p:cNvSpPr>
              <a:spLocks/>
            </p:cNvSpPr>
            <p:nvPr/>
          </p:nvSpPr>
          <p:spPr bwMode="auto">
            <a:xfrm>
              <a:off x="1872" y="1152"/>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45" name="Oval 237"/>
            <p:cNvSpPr>
              <a:spLocks noChangeArrowheads="1"/>
            </p:cNvSpPr>
            <p:nvPr/>
          </p:nvSpPr>
          <p:spPr bwMode="auto">
            <a:xfrm>
              <a:off x="672" y="1488"/>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40346" name="Oval 238"/>
            <p:cNvSpPr>
              <a:spLocks noChangeArrowheads="1"/>
            </p:cNvSpPr>
            <p:nvPr/>
          </p:nvSpPr>
          <p:spPr bwMode="auto">
            <a:xfrm>
              <a:off x="96" y="1008"/>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40347" name="Oval 239"/>
            <p:cNvSpPr>
              <a:spLocks noChangeArrowheads="1"/>
            </p:cNvSpPr>
            <p:nvPr/>
          </p:nvSpPr>
          <p:spPr bwMode="auto">
            <a:xfrm>
              <a:off x="672" y="530"/>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40348" name="Oval 240"/>
            <p:cNvSpPr>
              <a:spLocks noChangeArrowheads="1"/>
            </p:cNvSpPr>
            <p:nvPr/>
          </p:nvSpPr>
          <p:spPr bwMode="auto">
            <a:xfrm>
              <a:off x="1776" y="1440"/>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40349" name="Oval 241"/>
            <p:cNvSpPr>
              <a:spLocks noChangeArrowheads="1"/>
            </p:cNvSpPr>
            <p:nvPr/>
          </p:nvSpPr>
          <p:spPr bwMode="auto">
            <a:xfrm>
              <a:off x="1776" y="528"/>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c</a:t>
              </a:r>
            </a:p>
          </p:txBody>
        </p:sp>
        <p:sp>
          <p:nvSpPr>
            <p:cNvPr id="140350" name="Oval 242"/>
            <p:cNvSpPr>
              <a:spLocks noChangeArrowheads="1"/>
            </p:cNvSpPr>
            <p:nvPr/>
          </p:nvSpPr>
          <p:spPr bwMode="auto">
            <a:xfrm>
              <a:off x="2304" y="960"/>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40351" name="Text Box 243"/>
            <p:cNvSpPr txBox="1">
              <a:spLocks noChangeArrowheads="1"/>
            </p:cNvSpPr>
            <p:nvPr/>
          </p:nvSpPr>
          <p:spPr bwMode="auto">
            <a:xfrm>
              <a:off x="96" y="720"/>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9</a:t>
              </a:r>
              <a:r>
                <a:rPr lang="en-US" sz="1800" b="1"/>
                <a:t> / 15</a:t>
              </a:r>
            </a:p>
          </p:txBody>
        </p:sp>
        <p:sp>
          <p:nvSpPr>
            <p:cNvPr id="140352" name="Text Box 244"/>
            <p:cNvSpPr txBox="1">
              <a:spLocks noChangeArrowheads="1"/>
            </p:cNvSpPr>
            <p:nvPr/>
          </p:nvSpPr>
          <p:spPr bwMode="auto">
            <a:xfrm>
              <a:off x="1152" y="432"/>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 </a:t>
              </a:r>
              <a:r>
                <a:rPr lang="en-US" sz="1800" b="1"/>
                <a:t>/ 4</a:t>
              </a:r>
            </a:p>
          </p:txBody>
        </p:sp>
        <p:sp>
          <p:nvSpPr>
            <p:cNvPr id="140353" name="Text Box 245"/>
            <p:cNvSpPr txBox="1">
              <a:spLocks noChangeArrowheads="1"/>
            </p:cNvSpPr>
            <p:nvPr/>
          </p:nvSpPr>
          <p:spPr bwMode="auto">
            <a:xfrm>
              <a:off x="96" y="134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8</a:t>
              </a:r>
              <a:r>
                <a:rPr lang="en-US" sz="1800" b="1"/>
                <a:t> / 8</a:t>
              </a:r>
            </a:p>
          </p:txBody>
        </p:sp>
        <p:sp>
          <p:nvSpPr>
            <p:cNvPr id="140354" name="Text Box 246"/>
            <p:cNvSpPr txBox="1">
              <a:spLocks noChangeArrowheads="1"/>
            </p:cNvSpPr>
            <p:nvPr/>
          </p:nvSpPr>
          <p:spPr bwMode="auto">
            <a:xfrm>
              <a:off x="480"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/15</a:t>
              </a:r>
            </a:p>
          </p:txBody>
        </p:sp>
        <p:sp>
          <p:nvSpPr>
            <p:cNvPr id="140355" name="Text Box 247"/>
            <p:cNvSpPr txBox="1">
              <a:spLocks noChangeArrowheads="1"/>
            </p:cNvSpPr>
            <p:nvPr/>
          </p:nvSpPr>
          <p:spPr bwMode="auto">
            <a:xfrm>
              <a:off x="1200" y="86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 </a:t>
              </a:r>
              <a:r>
                <a:rPr lang="en-US" sz="1800" b="1"/>
                <a:t>/ 5</a:t>
              </a:r>
            </a:p>
          </p:txBody>
        </p:sp>
        <p:sp>
          <p:nvSpPr>
            <p:cNvPr id="140356" name="Text Box 248"/>
            <p:cNvSpPr txBox="1">
              <a:spLocks noChangeArrowheads="1"/>
            </p:cNvSpPr>
            <p:nvPr/>
          </p:nvSpPr>
          <p:spPr bwMode="auto">
            <a:xfrm>
              <a:off x="1824"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6</a:t>
              </a:r>
              <a:r>
                <a:rPr lang="en-US" sz="1800" b="1"/>
                <a:t>/8</a:t>
              </a:r>
            </a:p>
          </p:txBody>
        </p:sp>
        <p:sp>
          <p:nvSpPr>
            <p:cNvPr id="140357" name="Text Box 249"/>
            <p:cNvSpPr txBox="1">
              <a:spLocks noChangeArrowheads="1"/>
            </p:cNvSpPr>
            <p:nvPr/>
          </p:nvSpPr>
          <p:spPr bwMode="auto">
            <a:xfrm>
              <a:off x="2148" y="129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/7</a:t>
              </a:r>
            </a:p>
          </p:txBody>
        </p:sp>
        <p:sp>
          <p:nvSpPr>
            <p:cNvPr id="140358" name="Text Box 250"/>
            <p:cNvSpPr txBox="1">
              <a:spLocks noChangeArrowheads="1"/>
            </p:cNvSpPr>
            <p:nvPr/>
          </p:nvSpPr>
          <p:spPr bwMode="auto">
            <a:xfrm>
              <a:off x="2028" y="624"/>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10</a:t>
              </a:r>
              <a:r>
                <a:rPr lang="en-US" sz="1800" b="1"/>
                <a:t>/12</a:t>
              </a:r>
            </a:p>
          </p:txBody>
        </p:sp>
        <p:sp>
          <p:nvSpPr>
            <p:cNvPr id="140359" name="Text Box 251"/>
            <p:cNvSpPr txBox="1">
              <a:spLocks noChangeArrowheads="1"/>
            </p:cNvSpPr>
            <p:nvPr/>
          </p:nvSpPr>
          <p:spPr bwMode="auto">
            <a:xfrm>
              <a:off x="1104" y="1392"/>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8</a:t>
              </a:r>
              <a:r>
                <a:rPr lang="en-US" sz="1800" b="1"/>
                <a:t> / 18</a:t>
              </a:r>
            </a:p>
          </p:txBody>
        </p:sp>
      </p:grpSp>
      <p:grpSp>
        <p:nvGrpSpPr>
          <p:cNvPr id="225532" name="Group 252"/>
          <p:cNvGrpSpPr>
            <a:grpSpLocks/>
          </p:cNvGrpSpPr>
          <p:nvPr/>
        </p:nvGrpSpPr>
        <p:grpSpPr bwMode="auto">
          <a:xfrm>
            <a:off x="4953000" y="685800"/>
            <a:ext cx="3892550" cy="2033588"/>
            <a:chOff x="96" y="432"/>
            <a:chExt cx="2452" cy="1281"/>
          </a:xfrm>
        </p:grpSpPr>
        <p:sp>
          <p:nvSpPr>
            <p:cNvPr id="140312" name="Line 253"/>
            <p:cNvSpPr>
              <a:spLocks noChangeShapeType="1"/>
            </p:cNvSpPr>
            <p:nvPr/>
          </p:nvSpPr>
          <p:spPr bwMode="auto">
            <a:xfrm flipV="1">
              <a:off x="1875" y="760"/>
              <a:ext cx="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313" name="Line 254"/>
            <p:cNvSpPr>
              <a:spLocks noChangeShapeType="1"/>
            </p:cNvSpPr>
            <p:nvPr/>
          </p:nvSpPr>
          <p:spPr bwMode="auto">
            <a:xfrm flipV="1">
              <a:off x="816" y="793"/>
              <a:ext cx="0"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314" name="Freeform 255"/>
            <p:cNvSpPr>
              <a:spLocks/>
            </p:cNvSpPr>
            <p:nvPr/>
          </p:nvSpPr>
          <p:spPr bwMode="auto">
            <a:xfrm>
              <a:off x="192" y="720"/>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15" name="Line 256"/>
            <p:cNvSpPr>
              <a:spLocks noChangeShapeType="1"/>
            </p:cNvSpPr>
            <p:nvPr/>
          </p:nvSpPr>
          <p:spPr bwMode="auto">
            <a:xfrm>
              <a:off x="912" y="62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16" name="Freeform 257"/>
            <p:cNvSpPr>
              <a:spLocks/>
            </p:cNvSpPr>
            <p:nvPr/>
          </p:nvSpPr>
          <p:spPr bwMode="auto">
            <a:xfrm>
              <a:off x="192" y="1152"/>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17" name="Line 258"/>
            <p:cNvSpPr>
              <a:spLocks noChangeShapeType="1"/>
            </p:cNvSpPr>
            <p:nvPr/>
          </p:nvSpPr>
          <p:spPr bwMode="auto">
            <a:xfrm>
              <a:off x="912" y="158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18" name="Freeform 259"/>
            <p:cNvSpPr>
              <a:spLocks/>
            </p:cNvSpPr>
            <p:nvPr/>
          </p:nvSpPr>
          <p:spPr bwMode="auto">
            <a:xfrm>
              <a:off x="864" y="720"/>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19" name="Freeform 260"/>
            <p:cNvSpPr>
              <a:spLocks/>
            </p:cNvSpPr>
            <p:nvPr/>
          </p:nvSpPr>
          <p:spPr bwMode="auto">
            <a:xfrm>
              <a:off x="1909" y="645"/>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20" name="Freeform 261"/>
            <p:cNvSpPr>
              <a:spLocks/>
            </p:cNvSpPr>
            <p:nvPr/>
          </p:nvSpPr>
          <p:spPr bwMode="auto">
            <a:xfrm>
              <a:off x="1872" y="1152"/>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21" name="Oval 262"/>
            <p:cNvSpPr>
              <a:spLocks noChangeArrowheads="1"/>
            </p:cNvSpPr>
            <p:nvPr/>
          </p:nvSpPr>
          <p:spPr bwMode="auto">
            <a:xfrm>
              <a:off x="672" y="148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b</a:t>
              </a:r>
            </a:p>
          </p:txBody>
        </p:sp>
        <p:sp>
          <p:nvSpPr>
            <p:cNvPr id="140322" name="Oval 263"/>
            <p:cNvSpPr>
              <a:spLocks noChangeArrowheads="1"/>
            </p:cNvSpPr>
            <p:nvPr/>
          </p:nvSpPr>
          <p:spPr bwMode="auto">
            <a:xfrm>
              <a:off x="96" y="100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40323" name="Oval 264"/>
            <p:cNvSpPr>
              <a:spLocks noChangeArrowheads="1"/>
            </p:cNvSpPr>
            <p:nvPr/>
          </p:nvSpPr>
          <p:spPr bwMode="auto">
            <a:xfrm>
              <a:off x="672" y="53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40324" name="Oval 265"/>
            <p:cNvSpPr>
              <a:spLocks noChangeArrowheads="1"/>
            </p:cNvSpPr>
            <p:nvPr/>
          </p:nvSpPr>
          <p:spPr bwMode="auto">
            <a:xfrm>
              <a:off x="1776"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40325" name="Oval 266"/>
            <p:cNvSpPr>
              <a:spLocks noChangeArrowheads="1"/>
            </p:cNvSpPr>
            <p:nvPr/>
          </p:nvSpPr>
          <p:spPr bwMode="auto">
            <a:xfrm>
              <a:off x="1776" y="5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c</a:t>
              </a:r>
            </a:p>
          </p:txBody>
        </p:sp>
        <p:sp>
          <p:nvSpPr>
            <p:cNvPr id="140326" name="Oval 267"/>
            <p:cNvSpPr>
              <a:spLocks noChangeArrowheads="1"/>
            </p:cNvSpPr>
            <p:nvPr/>
          </p:nvSpPr>
          <p:spPr bwMode="auto">
            <a:xfrm>
              <a:off x="2304" y="96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40327" name="Text Box 268"/>
            <p:cNvSpPr txBox="1">
              <a:spLocks noChangeArrowheads="1"/>
            </p:cNvSpPr>
            <p:nvPr/>
          </p:nvSpPr>
          <p:spPr bwMode="auto">
            <a:xfrm>
              <a:off x="96" y="720"/>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 / 15</a:t>
              </a:r>
            </a:p>
          </p:txBody>
        </p:sp>
        <p:sp>
          <p:nvSpPr>
            <p:cNvPr id="140328" name="Text Box 269"/>
            <p:cNvSpPr txBox="1">
              <a:spLocks noChangeArrowheads="1"/>
            </p:cNvSpPr>
            <p:nvPr/>
          </p:nvSpPr>
          <p:spPr bwMode="auto">
            <a:xfrm>
              <a:off x="1152" y="432"/>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 </a:t>
              </a:r>
              <a:r>
                <a:rPr lang="en-US" sz="1800" b="1"/>
                <a:t>/ 4</a:t>
              </a:r>
            </a:p>
          </p:txBody>
        </p:sp>
        <p:sp>
          <p:nvSpPr>
            <p:cNvPr id="140329" name="Text Box 270"/>
            <p:cNvSpPr txBox="1">
              <a:spLocks noChangeArrowheads="1"/>
            </p:cNvSpPr>
            <p:nvPr/>
          </p:nvSpPr>
          <p:spPr bwMode="auto">
            <a:xfrm>
              <a:off x="96" y="134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8</a:t>
              </a:r>
              <a:r>
                <a:rPr lang="en-US" sz="1800" b="1"/>
                <a:t> / 8</a:t>
              </a:r>
            </a:p>
          </p:txBody>
        </p:sp>
        <p:sp>
          <p:nvSpPr>
            <p:cNvPr id="140330" name="Text Box 271"/>
            <p:cNvSpPr txBox="1">
              <a:spLocks noChangeArrowheads="1"/>
            </p:cNvSpPr>
            <p:nvPr/>
          </p:nvSpPr>
          <p:spPr bwMode="auto">
            <a:xfrm>
              <a:off x="480"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a:t>
              </a:r>
              <a:r>
                <a:rPr lang="en-US" sz="1800" b="1"/>
                <a:t>/15</a:t>
              </a:r>
            </a:p>
          </p:txBody>
        </p:sp>
        <p:sp>
          <p:nvSpPr>
            <p:cNvPr id="140331" name="Text Box 272"/>
            <p:cNvSpPr txBox="1">
              <a:spLocks noChangeArrowheads="1"/>
            </p:cNvSpPr>
            <p:nvPr/>
          </p:nvSpPr>
          <p:spPr bwMode="auto">
            <a:xfrm>
              <a:off x="1200" y="86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 </a:t>
              </a:r>
              <a:r>
                <a:rPr lang="en-US" sz="1800" b="1"/>
                <a:t>/ 5</a:t>
              </a:r>
            </a:p>
          </p:txBody>
        </p:sp>
        <p:sp>
          <p:nvSpPr>
            <p:cNvPr id="140332" name="Text Box 273"/>
            <p:cNvSpPr txBox="1">
              <a:spLocks noChangeArrowheads="1"/>
            </p:cNvSpPr>
            <p:nvPr/>
          </p:nvSpPr>
          <p:spPr bwMode="auto">
            <a:xfrm>
              <a:off x="1824"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a:t>
              </a:r>
              <a:r>
                <a:rPr lang="en-US" sz="1800" b="1"/>
                <a:t>/8</a:t>
              </a:r>
            </a:p>
          </p:txBody>
        </p:sp>
        <p:sp>
          <p:nvSpPr>
            <p:cNvPr id="140333" name="Text Box 274"/>
            <p:cNvSpPr txBox="1">
              <a:spLocks noChangeArrowheads="1"/>
            </p:cNvSpPr>
            <p:nvPr/>
          </p:nvSpPr>
          <p:spPr bwMode="auto">
            <a:xfrm>
              <a:off x="2148" y="129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/7</a:t>
              </a:r>
            </a:p>
          </p:txBody>
        </p:sp>
        <p:sp>
          <p:nvSpPr>
            <p:cNvPr id="140334" name="Text Box 275"/>
            <p:cNvSpPr txBox="1">
              <a:spLocks noChangeArrowheads="1"/>
            </p:cNvSpPr>
            <p:nvPr/>
          </p:nvSpPr>
          <p:spPr bwMode="auto">
            <a:xfrm>
              <a:off x="2064" y="62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a:t>
              </a:r>
              <a:r>
                <a:rPr lang="en-US" sz="1800" b="1"/>
                <a:t>/12</a:t>
              </a:r>
            </a:p>
          </p:txBody>
        </p:sp>
        <p:sp>
          <p:nvSpPr>
            <p:cNvPr id="140335" name="Text Box 276"/>
            <p:cNvSpPr txBox="1">
              <a:spLocks noChangeArrowheads="1"/>
            </p:cNvSpPr>
            <p:nvPr/>
          </p:nvSpPr>
          <p:spPr bwMode="auto">
            <a:xfrm>
              <a:off x="1104" y="1392"/>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 / 18</a:t>
              </a:r>
            </a:p>
          </p:txBody>
        </p:sp>
      </p:grpSp>
      <p:grpSp>
        <p:nvGrpSpPr>
          <p:cNvPr id="225557" name="Group 277"/>
          <p:cNvGrpSpPr>
            <a:grpSpLocks/>
          </p:cNvGrpSpPr>
          <p:nvPr/>
        </p:nvGrpSpPr>
        <p:grpSpPr bwMode="auto">
          <a:xfrm>
            <a:off x="4959350" y="832211"/>
            <a:ext cx="3892550" cy="1881188"/>
            <a:chOff x="96" y="3024"/>
            <a:chExt cx="2452" cy="1185"/>
          </a:xfrm>
        </p:grpSpPr>
        <p:sp>
          <p:nvSpPr>
            <p:cNvPr id="140302" name="Freeform 278"/>
            <p:cNvSpPr>
              <a:spLocks/>
            </p:cNvSpPr>
            <p:nvPr/>
          </p:nvSpPr>
          <p:spPr bwMode="auto">
            <a:xfrm>
              <a:off x="192" y="3216"/>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03" name="Line 279"/>
            <p:cNvSpPr>
              <a:spLocks noChangeShapeType="1"/>
            </p:cNvSpPr>
            <p:nvPr/>
          </p:nvSpPr>
          <p:spPr bwMode="auto">
            <a:xfrm flipV="1">
              <a:off x="1872" y="3216"/>
              <a:ext cx="0" cy="816"/>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0304" name="Freeform 280"/>
            <p:cNvSpPr>
              <a:spLocks/>
            </p:cNvSpPr>
            <p:nvPr/>
          </p:nvSpPr>
          <p:spPr bwMode="auto">
            <a:xfrm>
              <a:off x="864" y="3216"/>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05" name="Freeform 281"/>
            <p:cNvSpPr>
              <a:spLocks/>
            </p:cNvSpPr>
            <p:nvPr/>
          </p:nvSpPr>
          <p:spPr bwMode="auto">
            <a:xfrm>
              <a:off x="1910" y="3151"/>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0306" name="Oval 282"/>
            <p:cNvSpPr>
              <a:spLocks noChangeArrowheads="1"/>
            </p:cNvSpPr>
            <p:nvPr/>
          </p:nvSpPr>
          <p:spPr bwMode="auto">
            <a:xfrm>
              <a:off x="672" y="3984"/>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b</a:t>
              </a:r>
            </a:p>
          </p:txBody>
        </p:sp>
        <p:sp>
          <p:nvSpPr>
            <p:cNvPr id="140307" name="Oval 283"/>
            <p:cNvSpPr>
              <a:spLocks noChangeArrowheads="1"/>
            </p:cNvSpPr>
            <p:nvPr/>
          </p:nvSpPr>
          <p:spPr bwMode="auto">
            <a:xfrm>
              <a:off x="96" y="3504"/>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40308" name="Oval 284"/>
            <p:cNvSpPr>
              <a:spLocks noChangeArrowheads="1"/>
            </p:cNvSpPr>
            <p:nvPr/>
          </p:nvSpPr>
          <p:spPr bwMode="auto">
            <a:xfrm>
              <a:off x="672" y="3026"/>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a</a:t>
              </a:r>
            </a:p>
          </p:txBody>
        </p:sp>
        <p:sp>
          <p:nvSpPr>
            <p:cNvPr id="140309" name="Oval 285"/>
            <p:cNvSpPr>
              <a:spLocks noChangeArrowheads="1"/>
            </p:cNvSpPr>
            <p:nvPr/>
          </p:nvSpPr>
          <p:spPr bwMode="auto">
            <a:xfrm>
              <a:off x="1776" y="3936"/>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40310" name="Oval 286"/>
            <p:cNvSpPr>
              <a:spLocks noChangeArrowheads="1"/>
            </p:cNvSpPr>
            <p:nvPr/>
          </p:nvSpPr>
          <p:spPr bwMode="auto">
            <a:xfrm>
              <a:off x="1776" y="3024"/>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c</a:t>
              </a:r>
            </a:p>
          </p:txBody>
        </p:sp>
        <p:sp>
          <p:nvSpPr>
            <p:cNvPr id="140311" name="Oval 287"/>
            <p:cNvSpPr>
              <a:spLocks noChangeArrowheads="1"/>
            </p:cNvSpPr>
            <p:nvPr/>
          </p:nvSpPr>
          <p:spPr bwMode="auto">
            <a:xfrm>
              <a:off x="2304" y="3456"/>
              <a:ext cx="244" cy="225"/>
            </a:xfrm>
            <a:prstGeom prst="ellipse">
              <a:avLst/>
            </a:prstGeom>
            <a:solidFill>
              <a:schemeClr val="accent3">
                <a:lumMod val="75000"/>
              </a:schemeClr>
            </a:solidFill>
            <a:ln w="19050">
              <a:solidFill>
                <a:schemeClr val="accent3">
                  <a:lumMod val="75000"/>
                </a:schemeClr>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137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25283"/>
                                        </p:tgtEl>
                                        <p:attrNameLst>
                                          <p:attrName>style.visibility</p:attrName>
                                        </p:attrNameLst>
                                      </p:cBhvr>
                                      <p:to>
                                        <p:strVal val="visible"/>
                                      </p:to>
                                    </p:set>
                                    <p:anim calcmode="lin" valueType="num">
                                      <p:cBhvr>
                                        <p:cTn id="7" dur="500" fill="hold"/>
                                        <p:tgtEl>
                                          <p:spTgt spid="225283"/>
                                        </p:tgtEl>
                                        <p:attrNameLst>
                                          <p:attrName>ppt_w</p:attrName>
                                        </p:attrNameLst>
                                      </p:cBhvr>
                                      <p:tavLst>
                                        <p:tav tm="0">
                                          <p:val>
                                            <p:fltVal val="0"/>
                                          </p:val>
                                        </p:tav>
                                        <p:tav tm="100000">
                                          <p:val>
                                            <p:strVal val="#ppt_w"/>
                                          </p:val>
                                        </p:tav>
                                      </p:tavLst>
                                    </p:anim>
                                    <p:anim calcmode="lin" valueType="num">
                                      <p:cBhvr>
                                        <p:cTn id="8" dur="500" fill="hold"/>
                                        <p:tgtEl>
                                          <p:spTgt spid="225283"/>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225381"/>
                                        </p:tgtEl>
                                        <p:attrNameLst>
                                          <p:attrName>style.visibility</p:attrName>
                                        </p:attrNameLst>
                                      </p:cBhvr>
                                      <p:to>
                                        <p:strVal val="visible"/>
                                      </p:to>
                                    </p:set>
                                    <p:animEffect transition="in" filter="wipe(up)">
                                      <p:cBhvr>
                                        <p:cTn id="13" dur="500"/>
                                        <p:tgtEl>
                                          <p:spTgt spid="22538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25380"/>
                                        </p:tgtEl>
                                        <p:attrNameLst>
                                          <p:attrName>style.visibility</p:attrName>
                                        </p:attrNameLst>
                                      </p:cBhvr>
                                      <p:to>
                                        <p:strVal val="visible"/>
                                      </p:to>
                                    </p:set>
                                    <p:animEffect transition="in" filter="wipe(left)">
                                      <p:cBhvr>
                                        <p:cTn id="18" dur="500"/>
                                        <p:tgtEl>
                                          <p:spTgt spid="22538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225382"/>
                                        </p:tgtEl>
                                        <p:attrNameLst>
                                          <p:attrName>style.visibility</p:attrName>
                                        </p:attrNameLst>
                                      </p:cBhvr>
                                      <p:to>
                                        <p:strVal val="visible"/>
                                      </p:to>
                                    </p:set>
                                    <p:animEffect transition="in" filter="wipe(up)">
                                      <p:cBhvr>
                                        <p:cTn id="23" dur="500"/>
                                        <p:tgtEl>
                                          <p:spTgt spid="22538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25439"/>
                                        </p:tgtEl>
                                        <p:attrNameLst>
                                          <p:attrName>style.visibility</p:attrName>
                                        </p:attrNameLst>
                                      </p:cBhvr>
                                      <p:to>
                                        <p:strVal val="visible"/>
                                      </p:to>
                                    </p:set>
                                    <p:animEffect transition="in" filter="wipe(left)">
                                      <p:cBhvr>
                                        <p:cTn id="28" dur="500"/>
                                        <p:tgtEl>
                                          <p:spTgt spid="22543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225440"/>
                                        </p:tgtEl>
                                        <p:attrNameLst>
                                          <p:attrName>style.visibility</p:attrName>
                                        </p:attrNameLst>
                                      </p:cBhvr>
                                      <p:to>
                                        <p:strVal val="visible"/>
                                      </p:to>
                                    </p:set>
                                    <p:animEffect transition="in" filter="wipe(up)">
                                      <p:cBhvr>
                                        <p:cTn id="33" dur="500"/>
                                        <p:tgtEl>
                                          <p:spTgt spid="22544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25480"/>
                                        </p:tgtEl>
                                        <p:attrNameLst>
                                          <p:attrName>style.visibility</p:attrName>
                                        </p:attrNameLst>
                                      </p:cBhvr>
                                      <p:to>
                                        <p:strVal val="visible"/>
                                      </p:to>
                                    </p:set>
                                    <p:animEffect transition="in" filter="wipe(left)">
                                      <p:cBhvr>
                                        <p:cTn id="38" dur="500"/>
                                        <p:tgtEl>
                                          <p:spTgt spid="22548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225532"/>
                                        </p:tgtEl>
                                        <p:attrNameLst>
                                          <p:attrName>style.visibility</p:attrName>
                                        </p:attrNameLst>
                                      </p:cBhvr>
                                      <p:to>
                                        <p:strVal val="visible"/>
                                      </p:to>
                                    </p:set>
                                    <p:animEffect transition="in" filter="wipe(up)">
                                      <p:cBhvr>
                                        <p:cTn id="43" dur="500"/>
                                        <p:tgtEl>
                                          <p:spTgt spid="22553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225557"/>
                                        </p:tgtEl>
                                        <p:attrNameLst>
                                          <p:attrName>style.visibility</p:attrName>
                                        </p:attrNameLst>
                                      </p:cBhvr>
                                      <p:to>
                                        <p:strVal val="visible"/>
                                      </p:to>
                                    </p:set>
                                    <p:animEffect transition="in" filter="wipe(left)">
                                      <p:cBhvr>
                                        <p:cTn id="48" dur="500"/>
                                        <p:tgtEl>
                                          <p:spTgt spid="22555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nodeType="clickEffect">
                                  <p:stCondLst>
                                    <p:cond delay="0"/>
                                  </p:stCondLst>
                                  <p:childTnLst>
                                    <p:set>
                                      <p:cBhvr>
                                        <p:cTn id="52" dur="1" fill="hold">
                                          <p:stCondLst>
                                            <p:cond delay="0"/>
                                          </p:stCondLst>
                                        </p:cTn>
                                        <p:tgtEl>
                                          <p:spTgt spid="225481"/>
                                        </p:tgtEl>
                                        <p:attrNameLst>
                                          <p:attrName>style.visibility</p:attrName>
                                        </p:attrNameLst>
                                      </p:cBhvr>
                                      <p:to>
                                        <p:strVal val="visible"/>
                                      </p:to>
                                    </p:set>
                                    <p:animEffect transition="in" filter="wipe(up)">
                                      <p:cBhvr>
                                        <p:cTn id="53" dur="500"/>
                                        <p:tgtEl>
                                          <p:spTgt spid="22548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225506"/>
                                        </p:tgtEl>
                                        <p:attrNameLst>
                                          <p:attrName>style.visibility</p:attrName>
                                        </p:attrNameLst>
                                      </p:cBhvr>
                                      <p:to>
                                        <p:strVal val="visible"/>
                                      </p:to>
                                    </p:set>
                                    <p:animEffect transition="in" filter="wipe(left)">
                                      <p:cBhvr>
                                        <p:cTn id="58" dur="500"/>
                                        <p:tgtEl>
                                          <p:spTgt spid="22550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1" fill="hold" nodeType="clickEffect">
                                  <p:stCondLst>
                                    <p:cond delay="0"/>
                                  </p:stCondLst>
                                  <p:childTnLst>
                                    <p:set>
                                      <p:cBhvr>
                                        <p:cTn id="62" dur="1" fill="hold">
                                          <p:stCondLst>
                                            <p:cond delay="0"/>
                                          </p:stCondLst>
                                        </p:cTn>
                                        <p:tgtEl>
                                          <p:spTgt spid="225507"/>
                                        </p:tgtEl>
                                        <p:attrNameLst>
                                          <p:attrName>style.visibility</p:attrName>
                                        </p:attrNameLst>
                                      </p:cBhvr>
                                      <p:to>
                                        <p:strVal val="visible"/>
                                      </p:to>
                                    </p:set>
                                    <p:animEffect transition="in" filter="wipe(up)">
                                      <p:cBhvr>
                                        <p:cTn id="63" dur="500"/>
                                        <p:tgtEl>
                                          <p:spTgt spid="225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3" grpId="0" animBg="1" autoUpdateAnimBg="0"/>
    </p:bldLst>
  </p:timing>
</p:sld>
</file>

<file path=ppt/slides/slide1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34738" name="Group 242"/>
          <p:cNvGrpSpPr>
            <a:grpSpLocks/>
          </p:cNvGrpSpPr>
          <p:nvPr/>
        </p:nvGrpSpPr>
        <p:grpSpPr bwMode="auto">
          <a:xfrm>
            <a:off x="228600" y="3352800"/>
            <a:ext cx="3603625" cy="2952750"/>
            <a:chOff x="3696" y="192"/>
            <a:chExt cx="2270" cy="1860"/>
          </a:xfrm>
        </p:grpSpPr>
        <p:sp>
          <p:nvSpPr>
            <p:cNvPr id="141376" name="Freeform 237"/>
            <p:cNvSpPr>
              <a:spLocks/>
            </p:cNvSpPr>
            <p:nvPr/>
          </p:nvSpPr>
          <p:spPr bwMode="auto">
            <a:xfrm>
              <a:off x="3696" y="192"/>
              <a:ext cx="2270" cy="1860"/>
            </a:xfrm>
            <a:custGeom>
              <a:avLst/>
              <a:gdLst>
                <a:gd name="T0" fmla="*/ 97 w 2270"/>
                <a:gd name="T1" fmla="*/ 1808 h 1860"/>
                <a:gd name="T2" fmla="*/ 286 w 2270"/>
                <a:gd name="T3" fmla="*/ 1150 h 1860"/>
                <a:gd name="T4" fmla="*/ 1140 w 2270"/>
                <a:gd name="T5" fmla="*/ 337 h 1860"/>
                <a:gd name="T6" fmla="*/ 2041 w 2270"/>
                <a:gd name="T7" fmla="*/ 25 h 1860"/>
                <a:gd name="T8" fmla="*/ 2075 w 2270"/>
                <a:gd name="T9" fmla="*/ 486 h 1860"/>
                <a:gd name="T10" fmla="*/ 869 w 2270"/>
                <a:gd name="T11" fmla="*/ 1618 h 1860"/>
                <a:gd name="T12" fmla="*/ 97 w 2270"/>
                <a:gd name="T13" fmla="*/ 1808 h 186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70" h="1860">
                  <a:moveTo>
                    <a:pt x="97" y="1808"/>
                  </a:moveTo>
                  <a:cubicBezTo>
                    <a:pt x="0" y="1730"/>
                    <a:pt x="112" y="1395"/>
                    <a:pt x="286" y="1150"/>
                  </a:cubicBezTo>
                  <a:cubicBezTo>
                    <a:pt x="460" y="905"/>
                    <a:pt x="848" y="524"/>
                    <a:pt x="1140" y="337"/>
                  </a:cubicBezTo>
                  <a:cubicBezTo>
                    <a:pt x="1432" y="150"/>
                    <a:pt x="1885" y="0"/>
                    <a:pt x="2041" y="25"/>
                  </a:cubicBezTo>
                  <a:cubicBezTo>
                    <a:pt x="2197" y="50"/>
                    <a:pt x="2270" y="221"/>
                    <a:pt x="2075" y="486"/>
                  </a:cubicBezTo>
                  <a:cubicBezTo>
                    <a:pt x="1880" y="751"/>
                    <a:pt x="1199" y="1398"/>
                    <a:pt x="869" y="1618"/>
                  </a:cubicBezTo>
                  <a:cubicBezTo>
                    <a:pt x="539" y="1838"/>
                    <a:pt x="182" y="1860"/>
                    <a:pt x="97" y="1808"/>
                  </a:cubicBezTo>
                  <a:close/>
                </a:path>
              </a:pathLst>
            </a:custGeom>
            <a:solidFill>
              <a:srgbClr val="FFCC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19050" cap="flat" cmpd="sng">
                  <a:solidFill>
                    <a:schemeClr val="tx1"/>
                  </a:solidFill>
                  <a:prstDash val="solid"/>
                  <a:round/>
                  <a:headEnd/>
                  <a:tailEnd/>
                </a14:hiddenLine>
              </a:ext>
            </a:extLst>
          </p:spPr>
          <p:txBody>
            <a:bodyPr wrap="none" bIns="10800">
              <a:spAutoFit/>
            </a:bodyPr>
            <a:lstStyle/>
            <a:p>
              <a:endParaRPr lang="en-CA"/>
            </a:p>
          </p:txBody>
        </p:sp>
        <p:sp>
          <p:nvSpPr>
            <p:cNvPr id="141377" name="Text Box 240"/>
            <p:cNvSpPr txBox="1">
              <a:spLocks noChangeArrowheads="1"/>
            </p:cNvSpPr>
            <p:nvPr/>
          </p:nvSpPr>
          <p:spPr bwMode="auto">
            <a:xfrm>
              <a:off x="3840" y="1296"/>
              <a:ext cx="782" cy="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000" b="1"/>
                <a:t>nodes</a:t>
              </a:r>
            </a:p>
            <a:p>
              <a:pPr algn="ctr">
                <a:buFont typeface="Wingdings" pitchFamily="2" charset="2"/>
                <a:buNone/>
              </a:pPr>
              <a:r>
                <a:rPr lang="en-US" sz="2000" b="1"/>
                <a:t>reachable</a:t>
              </a:r>
            </a:p>
            <a:p>
              <a:pPr algn="ctr">
                <a:buFont typeface="Wingdings" pitchFamily="2" charset="2"/>
                <a:buNone/>
              </a:pPr>
              <a:r>
                <a:rPr lang="en-US" sz="2000" b="1"/>
                <a:t>from s</a:t>
              </a:r>
            </a:p>
          </p:txBody>
        </p:sp>
      </p:grpSp>
      <p:sp>
        <p:nvSpPr>
          <p:cNvPr id="141315"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Example</a:t>
            </a:r>
          </a:p>
        </p:txBody>
      </p:sp>
      <p:grpSp>
        <p:nvGrpSpPr>
          <p:cNvPr id="234739" name="Group 243"/>
          <p:cNvGrpSpPr>
            <a:grpSpLocks/>
          </p:cNvGrpSpPr>
          <p:nvPr/>
        </p:nvGrpSpPr>
        <p:grpSpPr bwMode="auto">
          <a:xfrm>
            <a:off x="509588" y="914400"/>
            <a:ext cx="5592762" cy="2033588"/>
            <a:chOff x="321" y="576"/>
            <a:chExt cx="3523" cy="1281"/>
          </a:xfrm>
        </p:grpSpPr>
        <p:sp>
          <p:nvSpPr>
            <p:cNvPr id="141351" name="Line 144"/>
            <p:cNvSpPr>
              <a:spLocks noChangeShapeType="1"/>
            </p:cNvSpPr>
            <p:nvPr/>
          </p:nvSpPr>
          <p:spPr bwMode="auto">
            <a:xfrm flipV="1">
              <a:off x="3168" y="864"/>
              <a:ext cx="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1352" name="Line 145"/>
            <p:cNvSpPr>
              <a:spLocks noChangeShapeType="1"/>
            </p:cNvSpPr>
            <p:nvPr/>
          </p:nvSpPr>
          <p:spPr bwMode="auto">
            <a:xfrm flipV="1">
              <a:off x="2112" y="864"/>
              <a:ext cx="0"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1353" name="Freeform 146"/>
            <p:cNvSpPr>
              <a:spLocks/>
            </p:cNvSpPr>
            <p:nvPr/>
          </p:nvSpPr>
          <p:spPr bwMode="auto">
            <a:xfrm>
              <a:off x="1488" y="864"/>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54" name="Line 147"/>
            <p:cNvSpPr>
              <a:spLocks noChangeShapeType="1"/>
            </p:cNvSpPr>
            <p:nvPr/>
          </p:nvSpPr>
          <p:spPr bwMode="auto">
            <a:xfrm>
              <a:off x="2208" y="768"/>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55" name="Freeform 148"/>
            <p:cNvSpPr>
              <a:spLocks/>
            </p:cNvSpPr>
            <p:nvPr/>
          </p:nvSpPr>
          <p:spPr bwMode="auto">
            <a:xfrm>
              <a:off x="1488" y="1296"/>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56" name="Line 149"/>
            <p:cNvSpPr>
              <a:spLocks noChangeShapeType="1"/>
            </p:cNvSpPr>
            <p:nvPr/>
          </p:nvSpPr>
          <p:spPr bwMode="auto">
            <a:xfrm>
              <a:off x="2208" y="1728"/>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57" name="Freeform 150"/>
            <p:cNvSpPr>
              <a:spLocks/>
            </p:cNvSpPr>
            <p:nvPr/>
          </p:nvSpPr>
          <p:spPr bwMode="auto">
            <a:xfrm>
              <a:off x="2137" y="849"/>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58" name="Freeform 151"/>
            <p:cNvSpPr>
              <a:spLocks/>
            </p:cNvSpPr>
            <p:nvPr/>
          </p:nvSpPr>
          <p:spPr bwMode="auto">
            <a:xfrm>
              <a:off x="3205" y="789"/>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59" name="Freeform 152"/>
            <p:cNvSpPr>
              <a:spLocks/>
            </p:cNvSpPr>
            <p:nvPr/>
          </p:nvSpPr>
          <p:spPr bwMode="auto">
            <a:xfrm>
              <a:off x="3168" y="1296"/>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60" name="Oval 153"/>
            <p:cNvSpPr>
              <a:spLocks noChangeArrowheads="1"/>
            </p:cNvSpPr>
            <p:nvPr/>
          </p:nvSpPr>
          <p:spPr bwMode="auto">
            <a:xfrm>
              <a:off x="1968" y="1632"/>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41361" name="Oval 154"/>
            <p:cNvSpPr>
              <a:spLocks noChangeArrowheads="1"/>
            </p:cNvSpPr>
            <p:nvPr/>
          </p:nvSpPr>
          <p:spPr bwMode="auto">
            <a:xfrm>
              <a:off x="1392" y="1152"/>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41362" name="Oval 155"/>
            <p:cNvSpPr>
              <a:spLocks noChangeArrowheads="1"/>
            </p:cNvSpPr>
            <p:nvPr/>
          </p:nvSpPr>
          <p:spPr bwMode="auto">
            <a:xfrm>
              <a:off x="1968" y="64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41363" name="Oval 156"/>
            <p:cNvSpPr>
              <a:spLocks noChangeArrowheads="1"/>
            </p:cNvSpPr>
            <p:nvPr/>
          </p:nvSpPr>
          <p:spPr bwMode="auto">
            <a:xfrm>
              <a:off x="3072" y="158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d</a:t>
              </a:r>
            </a:p>
          </p:txBody>
        </p:sp>
        <p:sp>
          <p:nvSpPr>
            <p:cNvPr id="141364" name="Oval 157"/>
            <p:cNvSpPr>
              <a:spLocks noChangeArrowheads="1"/>
            </p:cNvSpPr>
            <p:nvPr/>
          </p:nvSpPr>
          <p:spPr bwMode="auto">
            <a:xfrm>
              <a:off x="3079" y="653"/>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c</a:t>
              </a:r>
            </a:p>
          </p:txBody>
        </p:sp>
        <p:sp>
          <p:nvSpPr>
            <p:cNvPr id="141365" name="Oval 158"/>
            <p:cNvSpPr>
              <a:spLocks noChangeArrowheads="1"/>
            </p:cNvSpPr>
            <p:nvPr/>
          </p:nvSpPr>
          <p:spPr bwMode="auto">
            <a:xfrm>
              <a:off x="3600" y="110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41366" name="Text Box 159"/>
            <p:cNvSpPr txBox="1">
              <a:spLocks noChangeArrowheads="1"/>
            </p:cNvSpPr>
            <p:nvPr/>
          </p:nvSpPr>
          <p:spPr bwMode="auto">
            <a:xfrm>
              <a:off x="1392" y="864"/>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9</a:t>
              </a:r>
              <a:r>
                <a:rPr lang="en-US" sz="1800" b="1"/>
                <a:t> / 15</a:t>
              </a:r>
            </a:p>
          </p:txBody>
        </p:sp>
        <p:sp>
          <p:nvSpPr>
            <p:cNvPr id="141367" name="Text Box 160"/>
            <p:cNvSpPr txBox="1">
              <a:spLocks noChangeArrowheads="1"/>
            </p:cNvSpPr>
            <p:nvPr/>
          </p:nvSpPr>
          <p:spPr bwMode="auto">
            <a:xfrm>
              <a:off x="2448" y="576"/>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 </a:t>
              </a:r>
              <a:r>
                <a:rPr lang="en-US" sz="1800" b="1"/>
                <a:t>/ 4</a:t>
              </a:r>
            </a:p>
          </p:txBody>
        </p:sp>
        <p:sp>
          <p:nvSpPr>
            <p:cNvPr id="141368" name="Text Box 161"/>
            <p:cNvSpPr txBox="1">
              <a:spLocks noChangeArrowheads="1"/>
            </p:cNvSpPr>
            <p:nvPr/>
          </p:nvSpPr>
          <p:spPr bwMode="auto">
            <a:xfrm>
              <a:off x="1392" y="148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8</a:t>
              </a:r>
              <a:r>
                <a:rPr lang="en-US" sz="1800" b="1"/>
                <a:t> / 8</a:t>
              </a:r>
            </a:p>
          </p:txBody>
        </p:sp>
        <p:sp>
          <p:nvSpPr>
            <p:cNvPr id="141369" name="Text Box 162"/>
            <p:cNvSpPr txBox="1">
              <a:spLocks noChangeArrowheads="1"/>
            </p:cNvSpPr>
            <p:nvPr/>
          </p:nvSpPr>
          <p:spPr bwMode="auto">
            <a:xfrm>
              <a:off x="1776" y="1152"/>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/15</a:t>
              </a:r>
            </a:p>
          </p:txBody>
        </p:sp>
        <p:sp>
          <p:nvSpPr>
            <p:cNvPr id="141370" name="Text Box 163"/>
            <p:cNvSpPr txBox="1">
              <a:spLocks noChangeArrowheads="1"/>
            </p:cNvSpPr>
            <p:nvPr/>
          </p:nvSpPr>
          <p:spPr bwMode="auto">
            <a:xfrm>
              <a:off x="2496"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 </a:t>
              </a:r>
              <a:r>
                <a:rPr lang="en-US" sz="1800" b="1"/>
                <a:t>/ 5</a:t>
              </a:r>
            </a:p>
          </p:txBody>
        </p:sp>
        <p:sp>
          <p:nvSpPr>
            <p:cNvPr id="141371" name="Text Box 164"/>
            <p:cNvSpPr txBox="1">
              <a:spLocks noChangeArrowheads="1"/>
            </p:cNvSpPr>
            <p:nvPr/>
          </p:nvSpPr>
          <p:spPr bwMode="auto">
            <a:xfrm>
              <a:off x="3120" y="1152"/>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6</a:t>
              </a:r>
              <a:r>
                <a:rPr lang="en-US" sz="1800" b="1"/>
                <a:t>/8</a:t>
              </a:r>
            </a:p>
          </p:txBody>
        </p:sp>
        <p:sp>
          <p:nvSpPr>
            <p:cNvPr id="141372" name="Text Box 165"/>
            <p:cNvSpPr txBox="1">
              <a:spLocks noChangeArrowheads="1"/>
            </p:cNvSpPr>
            <p:nvPr/>
          </p:nvSpPr>
          <p:spPr bwMode="auto">
            <a:xfrm>
              <a:off x="3444" y="1440"/>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/7</a:t>
              </a:r>
            </a:p>
          </p:txBody>
        </p:sp>
        <p:sp>
          <p:nvSpPr>
            <p:cNvPr id="141373" name="Text Box 166"/>
            <p:cNvSpPr txBox="1">
              <a:spLocks noChangeArrowheads="1"/>
            </p:cNvSpPr>
            <p:nvPr/>
          </p:nvSpPr>
          <p:spPr bwMode="auto">
            <a:xfrm>
              <a:off x="3324" y="768"/>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10</a:t>
              </a:r>
              <a:r>
                <a:rPr lang="en-US" sz="1800" b="1"/>
                <a:t>/12</a:t>
              </a:r>
            </a:p>
          </p:txBody>
        </p:sp>
        <p:sp>
          <p:nvSpPr>
            <p:cNvPr id="141374" name="Text Box 167"/>
            <p:cNvSpPr txBox="1">
              <a:spLocks noChangeArrowheads="1"/>
            </p:cNvSpPr>
            <p:nvPr/>
          </p:nvSpPr>
          <p:spPr bwMode="auto">
            <a:xfrm>
              <a:off x="2400" y="1536"/>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8</a:t>
              </a:r>
              <a:r>
                <a:rPr lang="en-US" sz="1800" b="1"/>
                <a:t> / 18</a:t>
              </a:r>
            </a:p>
          </p:txBody>
        </p:sp>
        <p:sp>
          <p:nvSpPr>
            <p:cNvPr id="141375" name="Text Box 238"/>
            <p:cNvSpPr txBox="1">
              <a:spLocks noChangeArrowheads="1"/>
            </p:cNvSpPr>
            <p:nvPr/>
          </p:nvSpPr>
          <p:spPr bwMode="auto">
            <a:xfrm>
              <a:off x="321" y="849"/>
              <a:ext cx="426"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000" b="1"/>
                <a:t>G, f:</a:t>
              </a:r>
            </a:p>
          </p:txBody>
        </p:sp>
      </p:grpSp>
      <p:grpSp>
        <p:nvGrpSpPr>
          <p:cNvPr id="234737" name="Group 241"/>
          <p:cNvGrpSpPr>
            <a:grpSpLocks/>
          </p:cNvGrpSpPr>
          <p:nvPr/>
        </p:nvGrpSpPr>
        <p:grpSpPr bwMode="auto">
          <a:xfrm>
            <a:off x="438150" y="3505200"/>
            <a:ext cx="6197600" cy="3074988"/>
            <a:chOff x="276" y="2208"/>
            <a:chExt cx="3904" cy="1937"/>
          </a:xfrm>
        </p:grpSpPr>
        <p:sp>
          <p:nvSpPr>
            <p:cNvPr id="141318" name="Freeform 231"/>
            <p:cNvSpPr>
              <a:spLocks/>
            </p:cNvSpPr>
            <p:nvPr/>
          </p:nvSpPr>
          <p:spPr bwMode="auto">
            <a:xfrm>
              <a:off x="3266" y="2392"/>
              <a:ext cx="759" cy="596"/>
            </a:xfrm>
            <a:custGeom>
              <a:avLst/>
              <a:gdLst>
                <a:gd name="T0" fmla="*/ 0 w 759"/>
                <a:gd name="T1" fmla="*/ 0 h 596"/>
                <a:gd name="T2" fmla="*/ 441 w 759"/>
                <a:gd name="T3" fmla="*/ 170 h 596"/>
                <a:gd name="T4" fmla="*/ 759 w 759"/>
                <a:gd name="T5" fmla="*/ 596 h 596"/>
                <a:gd name="T6" fmla="*/ 0 60000 65536"/>
                <a:gd name="T7" fmla="*/ 0 60000 65536"/>
                <a:gd name="T8" fmla="*/ 0 60000 65536"/>
              </a:gdLst>
              <a:ahLst/>
              <a:cxnLst>
                <a:cxn ang="T6">
                  <a:pos x="T0" y="T1"/>
                </a:cxn>
                <a:cxn ang="T7">
                  <a:pos x="T2" y="T3"/>
                </a:cxn>
                <a:cxn ang="T8">
                  <a:pos x="T4" y="T5"/>
                </a:cxn>
              </a:cxnLst>
              <a:rect l="0" t="0" r="r" b="b"/>
              <a:pathLst>
                <a:path w="759" h="596">
                  <a:moveTo>
                    <a:pt x="0" y="0"/>
                  </a:moveTo>
                  <a:cubicBezTo>
                    <a:pt x="73" y="28"/>
                    <a:pt x="314" y="71"/>
                    <a:pt x="441" y="170"/>
                  </a:cubicBezTo>
                  <a:cubicBezTo>
                    <a:pt x="568" y="269"/>
                    <a:pt x="693" y="507"/>
                    <a:pt x="759" y="596"/>
                  </a:cubicBezTo>
                </a:path>
              </a:pathLst>
            </a:custGeom>
            <a:noFill/>
            <a:ln w="1905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19" name="Freeform 229"/>
            <p:cNvSpPr>
              <a:spLocks/>
            </p:cNvSpPr>
            <p:nvPr/>
          </p:nvSpPr>
          <p:spPr bwMode="auto">
            <a:xfrm>
              <a:off x="3008" y="2534"/>
              <a:ext cx="89" cy="1119"/>
            </a:xfrm>
            <a:custGeom>
              <a:avLst/>
              <a:gdLst>
                <a:gd name="T0" fmla="*/ 82 w 89"/>
                <a:gd name="T1" fmla="*/ 1119 h 1119"/>
                <a:gd name="T2" fmla="*/ 1 w 89"/>
                <a:gd name="T3" fmla="*/ 549 h 1119"/>
                <a:gd name="T4" fmla="*/ 89 w 89"/>
                <a:gd name="T5" fmla="*/ 0 h 1119"/>
                <a:gd name="T6" fmla="*/ 0 60000 65536"/>
                <a:gd name="T7" fmla="*/ 0 60000 65536"/>
                <a:gd name="T8" fmla="*/ 0 60000 65536"/>
              </a:gdLst>
              <a:ahLst/>
              <a:cxnLst>
                <a:cxn ang="T6">
                  <a:pos x="T0" y="T1"/>
                </a:cxn>
                <a:cxn ang="T7">
                  <a:pos x="T2" y="T3"/>
                </a:cxn>
                <a:cxn ang="T8">
                  <a:pos x="T4" y="T5"/>
                </a:cxn>
              </a:cxnLst>
              <a:rect l="0" t="0" r="r" b="b"/>
              <a:pathLst>
                <a:path w="89" h="1119">
                  <a:moveTo>
                    <a:pt x="82" y="1119"/>
                  </a:moveTo>
                  <a:cubicBezTo>
                    <a:pt x="68" y="1024"/>
                    <a:pt x="0" y="735"/>
                    <a:pt x="1" y="549"/>
                  </a:cubicBezTo>
                  <a:cubicBezTo>
                    <a:pt x="2" y="363"/>
                    <a:pt x="71" y="114"/>
                    <a:pt x="89" y="0"/>
                  </a:cubicBezTo>
                </a:path>
              </a:pathLst>
            </a:custGeom>
            <a:noFill/>
            <a:ln w="1905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1320" name="Freeform 205"/>
            <p:cNvSpPr>
              <a:spLocks/>
            </p:cNvSpPr>
            <p:nvPr/>
          </p:nvSpPr>
          <p:spPr bwMode="auto">
            <a:xfrm>
              <a:off x="3178" y="2534"/>
              <a:ext cx="104" cy="1119"/>
            </a:xfrm>
            <a:custGeom>
              <a:avLst/>
              <a:gdLst>
                <a:gd name="T0" fmla="*/ 0 w 104"/>
                <a:gd name="T1" fmla="*/ 1119 h 1119"/>
                <a:gd name="T2" fmla="*/ 102 w 104"/>
                <a:gd name="T3" fmla="*/ 576 h 1119"/>
                <a:gd name="T4" fmla="*/ 14 w 104"/>
                <a:gd name="T5" fmla="*/ 0 h 1119"/>
                <a:gd name="T6" fmla="*/ 0 60000 65536"/>
                <a:gd name="T7" fmla="*/ 0 60000 65536"/>
                <a:gd name="T8" fmla="*/ 0 60000 65536"/>
              </a:gdLst>
              <a:ahLst/>
              <a:cxnLst>
                <a:cxn ang="T6">
                  <a:pos x="T0" y="T1"/>
                </a:cxn>
                <a:cxn ang="T7">
                  <a:pos x="T2" y="T3"/>
                </a:cxn>
                <a:cxn ang="T8">
                  <a:pos x="T4" y="T5"/>
                </a:cxn>
              </a:cxnLst>
              <a:rect l="0" t="0" r="r" b="b"/>
              <a:pathLst>
                <a:path w="104" h="1119">
                  <a:moveTo>
                    <a:pt x="0" y="1119"/>
                  </a:moveTo>
                  <a:cubicBezTo>
                    <a:pt x="17" y="1029"/>
                    <a:pt x="100" y="762"/>
                    <a:pt x="102" y="576"/>
                  </a:cubicBezTo>
                  <a:cubicBezTo>
                    <a:pt x="104" y="390"/>
                    <a:pt x="32" y="120"/>
                    <a:pt x="14" y="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1321" name="Freeform 206"/>
            <p:cNvSpPr>
              <a:spLocks/>
            </p:cNvSpPr>
            <p:nvPr/>
          </p:nvSpPr>
          <p:spPr bwMode="auto">
            <a:xfrm>
              <a:off x="2060" y="2528"/>
              <a:ext cx="1" cy="1172"/>
            </a:xfrm>
            <a:custGeom>
              <a:avLst/>
              <a:gdLst>
                <a:gd name="T0" fmla="*/ 0 w 1"/>
                <a:gd name="T1" fmla="*/ 1172 h 1172"/>
                <a:gd name="T2" fmla="*/ 0 w 1"/>
                <a:gd name="T3" fmla="*/ 0 h 1172"/>
                <a:gd name="T4" fmla="*/ 0 60000 65536"/>
                <a:gd name="T5" fmla="*/ 0 60000 65536"/>
              </a:gdLst>
              <a:ahLst/>
              <a:cxnLst>
                <a:cxn ang="T4">
                  <a:pos x="T0" y="T1"/>
                </a:cxn>
                <a:cxn ang="T5">
                  <a:pos x="T2" y="T3"/>
                </a:cxn>
              </a:cxnLst>
              <a:rect l="0" t="0" r="r" b="b"/>
              <a:pathLst>
                <a:path w="1" h="1172">
                  <a:moveTo>
                    <a:pt x="0" y="1172"/>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1322" name="Freeform 207"/>
            <p:cNvSpPr>
              <a:spLocks/>
            </p:cNvSpPr>
            <p:nvPr/>
          </p:nvSpPr>
          <p:spPr bwMode="auto">
            <a:xfrm>
              <a:off x="1349" y="2514"/>
              <a:ext cx="637" cy="610"/>
            </a:xfrm>
            <a:custGeom>
              <a:avLst/>
              <a:gdLst>
                <a:gd name="T0" fmla="*/ 0 w 637"/>
                <a:gd name="T1" fmla="*/ 610 h 610"/>
                <a:gd name="T2" fmla="*/ 379 w 637"/>
                <a:gd name="T3" fmla="*/ 359 h 610"/>
                <a:gd name="T4" fmla="*/ 637 w 637"/>
                <a:gd name="T5" fmla="*/ 0 h 610"/>
                <a:gd name="T6" fmla="*/ 0 60000 65536"/>
                <a:gd name="T7" fmla="*/ 0 60000 65536"/>
                <a:gd name="T8" fmla="*/ 0 60000 65536"/>
              </a:gdLst>
              <a:ahLst/>
              <a:cxnLst>
                <a:cxn ang="T6">
                  <a:pos x="T0" y="T1"/>
                </a:cxn>
                <a:cxn ang="T7">
                  <a:pos x="T2" y="T3"/>
                </a:cxn>
                <a:cxn ang="T8">
                  <a:pos x="T4" y="T5"/>
                </a:cxn>
              </a:cxnLst>
              <a:rect l="0" t="0" r="r" b="b"/>
              <a:pathLst>
                <a:path w="637" h="610">
                  <a:moveTo>
                    <a:pt x="0" y="610"/>
                  </a:moveTo>
                  <a:cubicBezTo>
                    <a:pt x="63" y="568"/>
                    <a:pt x="273" y="461"/>
                    <a:pt x="379" y="359"/>
                  </a:cubicBezTo>
                  <a:cubicBezTo>
                    <a:pt x="485" y="257"/>
                    <a:pt x="583" y="75"/>
                    <a:pt x="637" y="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23" name="Line 208"/>
            <p:cNvSpPr>
              <a:spLocks noChangeShapeType="1"/>
            </p:cNvSpPr>
            <p:nvPr/>
          </p:nvSpPr>
          <p:spPr bwMode="auto">
            <a:xfrm>
              <a:off x="2160" y="2400"/>
              <a:ext cx="864"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24" name="Freeform 209"/>
            <p:cNvSpPr>
              <a:spLocks/>
            </p:cNvSpPr>
            <p:nvPr/>
          </p:nvSpPr>
          <p:spPr bwMode="auto">
            <a:xfrm>
              <a:off x="1308" y="3226"/>
              <a:ext cx="623" cy="542"/>
            </a:xfrm>
            <a:custGeom>
              <a:avLst/>
              <a:gdLst>
                <a:gd name="T0" fmla="*/ 0 w 623"/>
                <a:gd name="T1" fmla="*/ 0 h 542"/>
                <a:gd name="T2" fmla="*/ 623 w 623"/>
                <a:gd name="T3" fmla="*/ 542 h 542"/>
                <a:gd name="T4" fmla="*/ 0 60000 65536"/>
                <a:gd name="T5" fmla="*/ 0 60000 65536"/>
              </a:gdLst>
              <a:ahLst/>
              <a:cxnLst>
                <a:cxn ang="T4">
                  <a:pos x="T0" y="T1"/>
                </a:cxn>
                <a:cxn ang="T5">
                  <a:pos x="T2" y="T3"/>
                </a:cxn>
              </a:cxnLst>
              <a:rect l="0" t="0" r="r" b="b"/>
              <a:pathLst>
                <a:path w="623" h="542">
                  <a:moveTo>
                    <a:pt x="0" y="0"/>
                  </a:moveTo>
                  <a:lnTo>
                    <a:pt x="623" y="542"/>
                  </a:lnTo>
                </a:path>
              </a:pathLst>
            </a:custGeom>
            <a:noFill/>
            <a:ln w="1905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25" name="Freeform 210"/>
            <p:cNvSpPr>
              <a:spLocks/>
            </p:cNvSpPr>
            <p:nvPr/>
          </p:nvSpPr>
          <p:spPr bwMode="auto">
            <a:xfrm>
              <a:off x="2162" y="3676"/>
              <a:ext cx="862" cy="76"/>
            </a:xfrm>
            <a:custGeom>
              <a:avLst/>
              <a:gdLst>
                <a:gd name="T0" fmla="*/ 0 w 862"/>
                <a:gd name="T1" fmla="*/ 76 h 76"/>
                <a:gd name="T2" fmla="*/ 440 w 862"/>
                <a:gd name="T3" fmla="*/ 1 h 76"/>
                <a:gd name="T4" fmla="*/ 862 w 862"/>
                <a:gd name="T5" fmla="*/ 70 h 76"/>
                <a:gd name="T6" fmla="*/ 0 60000 65536"/>
                <a:gd name="T7" fmla="*/ 0 60000 65536"/>
                <a:gd name="T8" fmla="*/ 0 60000 65536"/>
              </a:gdLst>
              <a:ahLst/>
              <a:cxnLst>
                <a:cxn ang="T6">
                  <a:pos x="T0" y="T1"/>
                </a:cxn>
                <a:cxn ang="T7">
                  <a:pos x="T2" y="T3"/>
                </a:cxn>
                <a:cxn ang="T8">
                  <a:pos x="T4" y="T5"/>
                </a:cxn>
              </a:cxnLst>
              <a:rect l="0" t="0" r="r" b="b"/>
              <a:pathLst>
                <a:path w="862" h="76">
                  <a:moveTo>
                    <a:pt x="0" y="76"/>
                  </a:moveTo>
                  <a:cubicBezTo>
                    <a:pt x="73" y="63"/>
                    <a:pt x="296" y="2"/>
                    <a:pt x="440" y="1"/>
                  </a:cubicBezTo>
                  <a:cubicBezTo>
                    <a:pt x="584" y="0"/>
                    <a:pt x="774" y="56"/>
                    <a:pt x="862" y="70"/>
                  </a:cubicBezTo>
                </a:path>
              </a:pathLst>
            </a:custGeom>
            <a:noFill/>
            <a:ln w="19050">
              <a:solidFill>
                <a:schemeClr val="tx1"/>
              </a:solidFill>
              <a:round/>
              <a:headEnd type="none" w="med" len="med"/>
              <a:tailEnd type="triangle" w="med" len="me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26" name="Freeform 211"/>
            <p:cNvSpPr>
              <a:spLocks/>
            </p:cNvSpPr>
            <p:nvPr/>
          </p:nvSpPr>
          <p:spPr bwMode="auto">
            <a:xfrm>
              <a:off x="2141" y="2501"/>
              <a:ext cx="908" cy="1185"/>
            </a:xfrm>
            <a:custGeom>
              <a:avLst/>
              <a:gdLst>
                <a:gd name="T0" fmla="*/ 0 w 908"/>
                <a:gd name="T1" fmla="*/ 0 h 1185"/>
                <a:gd name="T2" fmla="*/ 908 w 908"/>
                <a:gd name="T3" fmla="*/ 1185 h 1185"/>
                <a:gd name="T4" fmla="*/ 0 60000 65536"/>
                <a:gd name="T5" fmla="*/ 0 60000 65536"/>
              </a:gdLst>
              <a:ahLst/>
              <a:cxnLst>
                <a:cxn ang="T4">
                  <a:pos x="T0" y="T1"/>
                </a:cxn>
                <a:cxn ang="T5">
                  <a:pos x="T2" y="T3"/>
                </a:cxn>
              </a:cxnLst>
              <a:rect l="0" t="0" r="r" b="b"/>
              <a:pathLst>
                <a:path w="908" h="1185">
                  <a:moveTo>
                    <a:pt x="0" y="0"/>
                  </a:moveTo>
                  <a:lnTo>
                    <a:pt x="908" y="1185"/>
                  </a:lnTo>
                </a:path>
              </a:pathLst>
            </a:custGeom>
            <a:noFill/>
            <a:ln w="1905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27" name="Freeform 212"/>
            <p:cNvSpPr>
              <a:spLocks/>
            </p:cNvSpPr>
            <p:nvPr/>
          </p:nvSpPr>
          <p:spPr bwMode="auto">
            <a:xfrm>
              <a:off x="3232" y="2507"/>
              <a:ext cx="705" cy="536"/>
            </a:xfrm>
            <a:custGeom>
              <a:avLst/>
              <a:gdLst>
                <a:gd name="T0" fmla="*/ 0 w 705"/>
                <a:gd name="T1" fmla="*/ 0 h 536"/>
                <a:gd name="T2" fmla="*/ 312 w 705"/>
                <a:gd name="T3" fmla="*/ 292 h 536"/>
                <a:gd name="T4" fmla="*/ 705 w 705"/>
                <a:gd name="T5" fmla="*/ 536 h 536"/>
                <a:gd name="T6" fmla="*/ 0 60000 65536"/>
                <a:gd name="T7" fmla="*/ 0 60000 65536"/>
                <a:gd name="T8" fmla="*/ 0 60000 65536"/>
              </a:gdLst>
              <a:ahLst/>
              <a:cxnLst>
                <a:cxn ang="T6">
                  <a:pos x="T0" y="T1"/>
                </a:cxn>
                <a:cxn ang="T7">
                  <a:pos x="T2" y="T3"/>
                </a:cxn>
                <a:cxn ang="T8">
                  <a:pos x="T4" y="T5"/>
                </a:cxn>
              </a:cxnLst>
              <a:rect l="0" t="0" r="r" b="b"/>
              <a:pathLst>
                <a:path w="705" h="536">
                  <a:moveTo>
                    <a:pt x="0" y="0"/>
                  </a:moveTo>
                  <a:cubicBezTo>
                    <a:pt x="52" y="49"/>
                    <a:pt x="195" y="203"/>
                    <a:pt x="312" y="292"/>
                  </a:cubicBezTo>
                  <a:cubicBezTo>
                    <a:pt x="429" y="381"/>
                    <a:pt x="623" y="485"/>
                    <a:pt x="705" y="536"/>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28" name="Freeform 213"/>
            <p:cNvSpPr>
              <a:spLocks/>
            </p:cNvSpPr>
            <p:nvPr/>
          </p:nvSpPr>
          <p:spPr bwMode="auto">
            <a:xfrm>
              <a:off x="3273" y="3171"/>
              <a:ext cx="705" cy="563"/>
            </a:xfrm>
            <a:custGeom>
              <a:avLst/>
              <a:gdLst>
                <a:gd name="T0" fmla="*/ 0 w 705"/>
                <a:gd name="T1" fmla="*/ 563 h 563"/>
                <a:gd name="T2" fmla="*/ 705 w 705"/>
                <a:gd name="T3" fmla="*/ 0 h 563"/>
                <a:gd name="T4" fmla="*/ 0 60000 65536"/>
                <a:gd name="T5" fmla="*/ 0 60000 65536"/>
              </a:gdLst>
              <a:ahLst/>
              <a:cxnLst>
                <a:cxn ang="T4">
                  <a:pos x="T0" y="T1"/>
                </a:cxn>
                <a:cxn ang="T5">
                  <a:pos x="T2" y="T3"/>
                </a:cxn>
              </a:cxnLst>
              <a:rect l="0" t="0" r="r" b="b"/>
              <a:pathLst>
                <a:path w="705" h="563">
                  <a:moveTo>
                    <a:pt x="0" y="563"/>
                  </a:moveTo>
                  <a:lnTo>
                    <a:pt x="705" y="0"/>
                  </a:lnTo>
                </a:path>
              </a:pathLst>
            </a:custGeom>
            <a:noFill/>
            <a:ln w="1905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29" name="Oval 214"/>
            <p:cNvSpPr>
              <a:spLocks noChangeArrowheads="1"/>
            </p:cNvSpPr>
            <p:nvPr/>
          </p:nvSpPr>
          <p:spPr bwMode="auto">
            <a:xfrm>
              <a:off x="1920" y="369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41330" name="Oval 215"/>
            <p:cNvSpPr>
              <a:spLocks noChangeArrowheads="1"/>
            </p:cNvSpPr>
            <p:nvPr/>
          </p:nvSpPr>
          <p:spPr bwMode="auto">
            <a:xfrm>
              <a:off x="1104" y="302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41331" name="Oval 216"/>
            <p:cNvSpPr>
              <a:spLocks noChangeArrowheads="1"/>
            </p:cNvSpPr>
            <p:nvPr/>
          </p:nvSpPr>
          <p:spPr bwMode="auto">
            <a:xfrm>
              <a:off x="1920" y="230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41332" name="Oval 217"/>
            <p:cNvSpPr>
              <a:spLocks noChangeArrowheads="1"/>
            </p:cNvSpPr>
            <p:nvPr/>
          </p:nvSpPr>
          <p:spPr bwMode="auto">
            <a:xfrm>
              <a:off x="3024" y="365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d</a:t>
              </a:r>
            </a:p>
          </p:txBody>
        </p:sp>
        <p:sp>
          <p:nvSpPr>
            <p:cNvPr id="141333" name="Oval 218"/>
            <p:cNvSpPr>
              <a:spLocks noChangeArrowheads="1"/>
            </p:cNvSpPr>
            <p:nvPr/>
          </p:nvSpPr>
          <p:spPr bwMode="auto">
            <a:xfrm>
              <a:off x="3024" y="230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c</a:t>
              </a:r>
            </a:p>
          </p:txBody>
        </p:sp>
        <p:sp>
          <p:nvSpPr>
            <p:cNvPr id="141334" name="Oval 219"/>
            <p:cNvSpPr>
              <a:spLocks noChangeArrowheads="1"/>
            </p:cNvSpPr>
            <p:nvPr/>
          </p:nvSpPr>
          <p:spPr bwMode="auto">
            <a:xfrm>
              <a:off x="3936" y="297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41335" name="Text Box 220"/>
            <p:cNvSpPr txBox="1">
              <a:spLocks noChangeArrowheads="1"/>
            </p:cNvSpPr>
            <p:nvPr/>
          </p:nvSpPr>
          <p:spPr bwMode="auto">
            <a:xfrm>
              <a:off x="1584" y="2880"/>
              <a:ext cx="188" cy="20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6</a:t>
              </a:r>
            </a:p>
          </p:txBody>
        </p:sp>
        <p:sp>
          <p:nvSpPr>
            <p:cNvPr id="141336" name="Text Box 221"/>
            <p:cNvSpPr txBox="1">
              <a:spLocks noChangeArrowheads="1"/>
            </p:cNvSpPr>
            <p:nvPr/>
          </p:nvSpPr>
          <p:spPr bwMode="auto">
            <a:xfrm>
              <a:off x="2492" y="2208"/>
              <a:ext cx="188" cy="20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4</a:t>
              </a:r>
            </a:p>
          </p:txBody>
        </p:sp>
        <p:sp>
          <p:nvSpPr>
            <p:cNvPr id="141337" name="Text Box 222"/>
            <p:cNvSpPr txBox="1">
              <a:spLocks noChangeArrowheads="1"/>
            </p:cNvSpPr>
            <p:nvPr/>
          </p:nvSpPr>
          <p:spPr bwMode="auto">
            <a:xfrm>
              <a:off x="1488" y="3456"/>
              <a:ext cx="188" cy="20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8</a:t>
              </a:r>
            </a:p>
          </p:txBody>
        </p:sp>
        <p:sp>
          <p:nvSpPr>
            <p:cNvPr id="141338" name="Text Box 223"/>
            <p:cNvSpPr txBox="1">
              <a:spLocks noChangeArrowheads="1"/>
            </p:cNvSpPr>
            <p:nvPr/>
          </p:nvSpPr>
          <p:spPr bwMode="auto">
            <a:xfrm>
              <a:off x="2016" y="2976"/>
              <a:ext cx="260" cy="20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15</a:t>
              </a:r>
            </a:p>
          </p:txBody>
        </p:sp>
        <p:sp>
          <p:nvSpPr>
            <p:cNvPr id="141339" name="Text Box 224"/>
            <p:cNvSpPr txBox="1">
              <a:spLocks noChangeArrowheads="1"/>
            </p:cNvSpPr>
            <p:nvPr/>
          </p:nvSpPr>
          <p:spPr bwMode="auto">
            <a:xfrm>
              <a:off x="2496" y="2880"/>
              <a:ext cx="188" cy="20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5</a:t>
              </a:r>
            </a:p>
          </p:txBody>
        </p:sp>
        <p:sp>
          <p:nvSpPr>
            <p:cNvPr id="141340" name="Text Box 225"/>
            <p:cNvSpPr txBox="1">
              <a:spLocks noChangeArrowheads="1"/>
            </p:cNvSpPr>
            <p:nvPr/>
          </p:nvSpPr>
          <p:spPr bwMode="auto">
            <a:xfrm>
              <a:off x="3264" y="2976"/>
              <a:ext cx="192" cy="20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2</a:t>
              </a:r>
            </a:p>
          </p:txBody>
        </p:sp>
        <p:sp>
          <p:nvSpPr>
            <p:cNvPr id="141341" name="Text Box 226"/>
            <p:cNvSpPr txBox="1">
              <a:spLocks noChangeArrowheads="1"/>
            </p:cNvSpPr>
            <p:nvPr/>
          </p:nvSpPr>
          <p:spPr bwMode="auto">
            <a:xfrm>
              <a:off x="3648" y="3408"/>
              <a:ext cx="188" cy="20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7</a:t>
              </a:r>
            </a:p>
          </p:txBody>
        </p:sp>
        <p:sp>
          <p:nvSpPr>
            <p:cNvPr id="141342" name="Text Box 227"/>
            <p:cNvSpPr txBox="1">
              <a:spLocks noChangeArrowheads="1"/>
            </p:cNvSpPr>
            <p:nvPr/>
          </p:nvSpPr>
          <p:spPr bwMode="auto">
            <a:xfrm>
              <a:off x="3504" y="2592"/>
              <a:ext cx="188" cy="20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2</a:t>
              </a:r>
            </a:p>
          </p:txBody>
        </p:sp>
        <p:sp>
          <p:nvSpPr>
            <p:cNvPr id="141343" name="Text Box 228"/>
            <p:cNvSpPr txBox="1">
              <a:spLocks noChangeArrowheads="1"/>
            </p:cNvSpPr>
            <p:nvPr/>
          </p:nvSpPr>
          <p:spPr bwMode="auto">
            <a:xfrm>
              <a:off x="2448" y="3456"/>
              <a:ext cx="260" cy="20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10</a:t>
              </a:r>
            </a:p>
          </p:txBody>
        </p:sp>
        <p:sp>
          <p:nvSpPr>
            <p:cNvPr id="141344" name="Rectangle 230"/>
            <p:cNvSpPr>
              <a:spLocks noChangeArrowheads="1"/>
            </p:cNvSpPr>
            <p:nvPr/>
          </p:nvSpPr>
          <p:spPr bwMode="auto">
            <a:xfrm>
              <a:off x="2976" y="2928"/>
              <a:ext cx="188" cy="20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a:buFont typeface="Wingdings" pitchFamily="2" charset="2"/>
                <a:buNone/>
              </a:pPr>
              <a:r>
                <a:rPr lang="en-US" sz="1800" b="1"/>
                <a:t>6</a:t>
              </a:r>
            </a:p>
          </p:txBody>
        </p:sp>
        <p:sp>
          <p:nvSpPr>
            <p:cNvPr id="141345" name="Rectangle 232"/>
            <p:cNvSpPr>
              <a:spLocks noChangeArrowheads="1"/>
            </p:cNvSpPr>
            <p:nvPr/>
          </p:nvSpPr>
          <p:spPr bwMode="auto">
            <a:xfrm>
              <a:off x="3696" y="2448"/>
              <a:ext cx="260" cy="20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a:buFont typeface="Wingdings" pitchFamily="2" charset="2"/>
                <a:buNone/>
              </a:pPr>
              <a:r>
                <a:rPr lang="en-US" sz="1800" b="1"/>
                <a:t>10</a:t>
              </a:r>
            </a:p>
          </p:txBody>
        </p:sp>
        <p:sp>
          <p:nvSpPr>
            <p:cNvPr id="141346" name="Freeform 233"/>
            <p:cNvSpPr>
              <a:spLocks/>
            </p:cNvSpPr>
            <p:nvPr/>
          </p:nvSpPr>
          <p:spPr bwMode="auto">
            <a:xfrm>
              <a:off x="2160" y="3840"/>
              <a:ext cx="889" cy="108"/>
            </a:xfrm>
            <a:custGeom>
              <a:avLst/>
              <a:gdLst>
                <a:gd name="T0" fmla="*/ 0 w 889"/>
                <a:gd name="T1" fmla="*/ 2 h 108"/>
                <a:gd name="T2" fmla="*/ 449 w 889"/>
                <a:gd name="T3" fmla="*/ 108 h 108"/>
                <a:gd name="T4" fmla="*/ 889 w 889"/>
                <a:gd name="T5" fmla="*/ 0 h 108"/>
                <a:gd name="T6" fmla="*/ 0 60000 65536"/>
                <a:gd name="T7" fmla="*/ 0 60000 65536"/>
                <a:gd name="T8" fmla="*/ 0 60000 65536"/>
              </a:gdLst>
              <a:ahLst/>
              <a:cxnLst>
                <a:cxn ang="T6">
                  <a:pos x="T0" y="T1"/>
                </a:cxn>
                <a:cxn ang="T7">
                  <a:pos x="T2" y="T3"/>
                </a:cxn>
                <a:cxn ang="T8">
                  <a:pos x="T4" y="T5"/>
                </a:cxn>
              </a:cxnLst>
              <a:rect l="0" t="0" r="r" b="b"/>
              <a:pathLst>
                <a:path w="889" h="108">
                  <a:moveTo>
                    <a:pt x="0" y="2"/>
                  </a:moveTo>
                  <a:cubicBezTo>
                    <a:pt x="75" y="20"/>
                    <a:pt x="301" y="108"/>
                    <a:pt x="449" y="108"/>
                  </a:cubicBezTo>
                  <a:cubicBezTo>
                    <a:pt x="597" y="108"/>
                    <a:pt x="797" y="22"/>
                    <a:pt x="889" y="0"/>
                  </a:cubicBezTo>
                </a:path>
              </a:pathLst>
            </a:custGeom>
            <a:noFill/>
            <a:ln w="19050">
              <a:solidFill>
                <a:schemeClr val="tx1"/>
              </a:solidFill>
              <a:round/>
              <a:headEnd type="triangle" w="med" len="med"/>
              <a:tailEnd type="none" w="med" len="me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47" name="Text Box 234"/>
            <p:cNvSpPr txBox="1">
              <a:spLocks noChangeArrowheads="1"/>
            </p:cNvSpPr>
            <p:nvPr/>
          </p:nvSpPr>
          <p:spPr bwMode="auto">
            <a:xfrm>
              <a:off x="2544" y="3936"/>
              <a:ext cx="188" cy="20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8</a:t>
              </a:r>
            </a:p>
          </p:txBody>
        </p:sp>
        <p:sp>
          <p:nvSpPr>
            <p:cNvPr id="141348" name="Freeform 235"/>
            <p:cNvSpPr>
              <a:spLocks/>
            </p:cNvSpPr>
            <p:nvPr/>
          </p:nvSpPr>
          <p:spPr bwMode="auto">
            <a:xfrm>
              <a:off x="1254" y="2440"/>
              <a:ext cx="664" cy="576"/>
            </a:xfrm>
            <a:custGeom>
              <a:avLst/>
              <a:gdLst>
                <a:gd name="T0" fmla="*/ 0 w 664"/>
                <a:gd name="T1" fmla="*/ 576 h 576"/>
                <a:gd name="T2" fmla="*/ 277 w 664"/>
                <a:gd name="T3" fmla="*/ 216 h 576"/>
                <a:gd name="T4" fmla="*/ 664 w 664"/>
                <a:gd name="T5" fmla="*/ 0 h 576"/>
                <a:gd name="T6" fmla="*/ 0 60000 65536"/>
                <a:gd name="T7" fmla="*/ 0 60000 65536"/>
                <a:gd name="T8" fmla="*/ 0 60000 65536"/>
              </a:gdLst>
              <a:ahLst/>
              <a:cxnLst>
                <a:cxn ang="T6">
                  <a:pos x="T0" y="T1"/>
                </a:cxn>
                <a:cxn ang="T7">
                  <a:pos x="T2" y="T3"/>
                </a:cxn>
                <a:cxn ang="T8">
                  <a:pos x="T4" y="T5"/>
                </a:cxn>
              </a:cxnLst>
              <a:rect l="0" t="0" r="r" b="b"/>
              <a:pathLst>
                <a:path w="664" h="576">
                  <a:moveTo>
                    <a:pt x="0" y="576"/>
                  </a:moveTo>
                  <a:cubicBezTo>
                    <a:pt x="46" y="516"/>
                    <a:pt x="166" y="312"/>
                    <a:pt x="277" y="216"/>
                  </a:cubicBezTo>
                  <a:cubicBezTo>
                    <a:pt x="388" y="120"/>
                    <a:pt x="584" y="45"/>
                    <a:pt x="664" y="0"/>
                  </a:cubicBezTo>
                </a:path>
              </a:pathLst>
            </a:custGeom>
            <a:noFill/>
            <a:ln w="1905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1349" name="Text Box 236"/>
            <p:cNvSpPr txBox="1">
              <a:spLocks noChangeArrowheads="1"/>
            </p:cNvSpPr>
            <p:nvPr/>
          </p:nvSpPr>
          <p:spPr bwMode="auto">
            <a:xfrm>
              <a:off x="1344" y="2496"/>
              <a:ext cx="188" cy="20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9</a:t>
              </a:r>
            </a:p>
          </p:txBody>
        </p:sp>
        <p:sp>
          <p:nvSpPr>
            <p:cNvPr id="141350" name="Text Box 239"/>
            <p:cNvSpPr txBox="1">
              <a:spLocks noChangeArrowheads="1"/>
            </p:cNvSpPr>
            <p:nvPr/>
          </p:nvSpPr>
          <p:spPr bwMode="auto">
            <a:xfrm>
              <a:off x="276" y="2304"/>
              <a:ext cx="452"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000" b="1"/>
                <a:t>G(f):</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138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34739"/>
                                        </p:tgtEl>
                                        <p:attrNameLst>
                                          <p:attrName>style.visibility</p:attrName>
                                        </p:attrNameLst>
                                      </p:cBhvr>
                                      <p:to>
                                        <p:strVal val="visible"/>
                                      </p:to>
                                    </p:set>
                                    <p:animEffect transition="in" filter="wipe(up)">
                                      <p:cBhvr>
                                        <p:cTn id="7" dur="500"/>
                                        <p:tgtEl>
                                          <p:spTgt spid="2347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34737"/>
                                        </p:tgtEl>
                                        <p:attrNameLst>
                                          <p:attrName>style.visibility</p:attrName>
                                        </p:attrNameLst>
                                      </p:cBhvr>
                                      <p:to>
                                        <p:strVal val="visible"/>
                                      </p:to>
                                    </p:set>
                                    <p:animEffect transition="in" filter="wipe(up)">
                                      <p:cBhvr>
                                        <p:cTn id="12" dur="500"/>
                                        <p:tgtEl>
                                          <p:spTgt spid="2347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34738"/>
                                        </p:tgtEl>
                                        <p:attrNameLst>
                                          <p:attrName>style.visibility</p:attrName>
                                        </p:attrNameLst>
                                      </p:cBhvr>
                                      <p:to>
                                        <p:strVal val="visible"/>
                                      </p:to>
                                    </p:set>
                                    <p:animEffect transition="in" filter="dissolve">
                                      <p:cBhvr>
                                        <p:cTn id="17" dur="500"/>
                                        <p:tgtEl>
                                          <p:spTgt spid="234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25" name="Rectangle 5"/>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st-CUT</a:t>
            </a:r>
          </a:p>
        </p:txBody>
      </p:sp>
      <p:grpSp>
        <p:nvGrpSpPr>
          <p:cNvPr id="5" name="Group 4"/>
          <p:cNvGrpSpPr/>
          <p:nvPr/>
        </p:nvGrpSpPr>
        <p:grpSpPr>
          <a:xfrm>
            <a:off x="152400" y="-2359944"/>
            <a:ext cx="8778875" cy="9217944"/>
            <a:chOff x="152400" y="-2359944"/>
            <a:chExt cx="8778875" cy="9217944"/>
          </a:xfrm>
        </p:grpSpPr>
        <mc:AlternateContent xmlns:mc="http://schemas.openxmlformats.org/markup-compatibility/2006" xmlns:a14="http://schemas.microsoft.com/office/drawing/2010/main">
          <mc:Choice Requires="a14">
            <p:sp>
              <p:nvSpPr>
                <p:cNvPr id="142340" name="Text Box 81"/>
                <p:cNvSpPr txBox="1">
                  <a:spLocks noChangeArrowheads="1"/>
                </p:cNvSpPr>
                <p:nvPr/>
              </p:nvSpPr>
              <p:spPr bwMode="auto">
                <a:xfrm>
                  <a:off x="152400" y="762000"/>
                  <a:ext cx="8778875" cy="2638612"/>
                </a:xfrm>
                <a:prstGeom prst="rect">
                  <a:avLst/>
                </a:prstGeom>
                <a:noFill/>
                <a:ln>
                  <a:noFill/>
                </a:ln>
                <a:effectLst/>
                <a:extLst>
                  <a:ext uri="{909E8E84-426E-40DD-AFC4-6F175D3DCCD1}">
                    <a14:hiddenFill>
                      <a:solidFill>
                        <a:schemeClr val="accent1"/>
                      </a:solidFill>
                    </a14:hiddenFill>
                  </a:ext>
                  <a:ext uri="{91240B29-F687-4F45-9708-019B960494DF}">
                    <a14:hiddenLine w="1905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400" dirty="0" smtClean="0"/>
                    <a:t>An </a:t>
                  </a:r>
                  <a:r>
                    <a:rPr lang="en-US" sz="2400" dirty="0" err="1"/>
                    <a:t>st</a:t>
                  </a:r>
                  <a:r>
                    <a:rPr lang="en-US" sz="2400" dirty="0"/>
                    <a:t>-cut is a partitioning of the vertex set V into a subset</a:t>
                  </a:r>
                  <a:br>
                    <a:rPr lang="en-US" sz="2400" dirty="0"/>
                  </a:br>
                  <a:r>
                    <a:rPr lang="en-US" sz="2400" dirty="0"/>
                    <a:t>X and its complement </a:t>
                  </a:r>
                  <a:r>
                    <a:rPr lang="en-US" sz="2400" dirty="0" smtClean="0"/>
                    <a:t> </a:t>
                  </a:r>
                  <a14:m>
                    <m:oMath xmlns:m="http://schemas.openxmlformats.org/officeDocument/2006/math">
                      <m:acc>
                        <m:accPr>
                          <m:chr m:val="̅"/>
                          <m:ctrlPr>
                            <a:rPr lang="en-US" sz="2400" i="1" dirty="0" smtClean="0">
                              <a:latin typeface="Cambria Math"/>
                            </a:rPr>
                          </m:ctrlPr>
                        </m:accPr>
                        <m:e>
                          <m:r>
                            <a:rPr lang="en-CA" sz="2400" b="0" i="1" dirty="0" smtClean="0">
                              <a:latin typeface="Cambria Math"/>
                            </a:rPr>
                            <m:t>𝑋</m:t>
                          </m:r>
                        </m:e>
                      </m:acc>
                      <m:r>
                        <a:rPr lang="en-CA" sz="2400" b="0" i="1" dirty="0" smtClean="0">
                          <a:latin typeface="Cambria Math"/>
                        </a:rPr>
                        <m:t>=</m:t>
                      </m:r>
                      <m:r>
                        <a:rPr lang="en-US" sz="2400" i="1" dirty="0" smtClean="0">
                          <a:latin typeface="Cambria Math"/>
                        </a:rPr>
                        <m:t>𝑉</m:t>
                      </m:r>
                      <m:r>
                        <a:rPr lang="en-US" sz="2400" i="1" dirty="0" smtClean="0">
                          <a:latin typeface="Cambria Math"/>
                        </a:rPr>
                        <m:t> –</m:t>
                      </m:r>
                      <m:r>
                        <a:rPr lang="en-US" sz="2400" i="1" dirty="0" smtClean="0">
                          <a:latin typeface="Cambria Math"/>
                        </a:rPr>
                        <m:t>𝑋</m:t>
                      </m:r>
                      <m:r>
                        <a:rPr lang="en-US" sz="2400" i="1" dirty="0" smtClean="0">
                          <a:latin typeface="Cambria Math"/>
                        </a:rPr>
                        <m:t>  </m:t>
                      </m:r>
                    </m:oMath>
                  </a14:m>
                  <a:r>
                    <a:rPr lang="en-US" sz="2400" dirty="0"/>
                    <a:t>such that </a:t>
                  </a:r>
                  <a14:m>
                    <m:oMath xmlns:m="http://schemas.openxmlformats.org/officeDocument/2006/math">
                      <m:r>
                        <a:rPr lang="en-CA" sz="2400" b="0" i="0" dirty="0" smtClean="0">
                          <a:latin typeface="Cambria Math"/>
                        </a:rPr>
                        <m:t> </m:t>
                      </m:r>
                      <m:r>
                        <a:rPr lang="en-US" sz="2400" i="1" dirty="0" smtClean="0">
                          <a:latin typeface="Cambria Math"/>
                        </a:rPr>
                        <m:t>𝑠</m:t>
                      </m:r>
                      <m:r>
                        <a:rPr lang="en-US" sz="2400" i="1" dirty="0" err="1" smtClean="0">
                          <a:latin typeface="Cambria Math"/>
                          <a:sym typeface="Symbol" pitchFamily="18" charset="2"/>
                        </a:rPr>
                        <m:t></m:t>
                      </m:r>
                      <m:r>
                        <a:rPr lang="en-US" sz="2400" i="1" dirty="0" err="1" smtClean="0">
                          <a:latin typeface="Cambria Math"/>
                        </a:rPr>
                        <m:t>𝑋</m:t>
                      </m:r>
                    </m:oMath>
                  </a14:m>
                  <a:r>
                    <a:rPr lang="en-US" sz="2400" dirty="0" smtClean="0"/>
                    <a:t>  and  </a:t>
                  </a:r>
                  <a14:m>
                    <m:oMath xmlns:m="http://schemas.openxmlformats.org/officeDocument/2006/math">
                      <m:r>
                        <a:rPr lang="en-US" sz="2400" i="1" dirty="0" smtClean="0">
                          <a:latin typeface="Cambria Math"/>
                        </a:rPr>
                        <m:t>𝑡</m:t>
                      </m:r>
                      <m:r>
                        <a:rPr lang="en-US" sz="2400" i="1" dirty="0">
                          <a:latin typeface="Cambria Math"/>
                          <a:sym typeface="Symbol" pitchFamily="18" charset="2"/>
                        </a:rPr>
                        <m:t></m:t>
                      </m:r>
                      <m:acc>
                        <m:accPr>
                          <m:chr m:val="̅"/>
                          <m:ctrlPr>
                            <a:rPr lang="en-US" sz="2400" i="1" dirty="0" smtClean="0">
                              <a:latin typeface="Cambria Math"/>
                              <a:sym typeface="Symbol" pitchFamily="18" charset="2"/>
                            </a:rPr>
                          </m:ctrlPr>
                        </m:accPr>
                        <m:e>
                          <m:r>
                            <a:rPr lang="en-CA" sz="2400" b="0" i="1" dirty="0" smtClean="0">
                              <a:latin typeface="Cambria Math"/>
                              <a:sym typeface="Symbol" pitchFamily="18" charset="2"/>
                            </a:rPr>
                            <m:t>𝑋</m:t>
                          </m:r>
                        </m:e>
                      </m:acc>
                    </m:oMath>
                  </a14:m>
                  <a:r>
                    <a:rPr lang="en-US" sz="2400" dirty="0" smtClean="0"/>
                    <a:t>. </a:t>
                  </a:r>
                  <a:endParaRPr lang="en-US" sz="2400" dirty="0"/>
                </a:p>
                <a:p>
                  <a:pPr>
                    <a:buFont typeface="Wingdings" pitchFamily="2" charset="2"/>
                    <a:buNone/>
                  </a:pPr>
                  <a:endParaRPr lang="en-US" sz="2400" dirty="0"/>
                </a:p>
                <a:p>
                  <a:pPr>
                    <a:lnSpc>
                      <a:spcPts val="2400"/>
                    </a:lnSpc>
                    <a:buNone/>
                  </a:pPr>
                  <a:r>
                    <a:rPr lang="en-US" sz="2400" b="1" dirty="0">
                      <a:solidFill>
                        <a:srgbClr val="CC0000"/>
                      </a:solidFill>
                    </a:rPr>
                    <a:t>Cut Capacity: </a:t>
                  </a:r>
                  <a:r>
                    <a:rPr lang="en-US" sz="2400" dirty="0"/>
                    <a:t>sum of capacities of </a:t>
                  </a:r>
                  <a:r>
                    <a:rPr lang="en-US" sz="2400" b="1" dirty="0">
                      <a:solidFill>
                        <a:srgbClr val="CC0000"/>
                      </a:solidFill>
                    </a:rPr>
                    <a:t>forward</a:t>
                  </a:r>
                  <a:r>
                    <a:rPr lang="en-US" sz="2400" dirty="0"/>
                    <a:t> cross edges of the cut</a:t>
                  </a:r>
                  <a:r>
                    <a:rPr lang="en-US" sz="2400" dirty="0" smtClean="0"/>
                    <a:t>.</a:t>
                  </a:r>
                  <a:br>
                    <a:rPr lang="en-US" sz="2400" dirty="0" smtClean="0"/>
                  </a:br>
                  <a:endParaRPr lang="en-US" sz="2400" dirty="0"/>
                </a:p>
                <a:p>
                  <a:pPr>
                    <a:buNone/>
                  </a:pPr>
                  <a:r>
                    <a:rPr lang="en-CA" sz="2400" dirty="0" smtClean="0"/>
                    <a:t> </a:t>
                  </a:r>
                  <a14:m>
                    <m:oMath xmlns:m="http://schemas.openxmlformats.org/officeDocument/2006/math">
                      <m:r>
                        <a:rPr lang="en-CA" sz="2800" b="0" i="0" smtClean="0">
                          <a:latin typeface="Cambria Math"/>
                        </a:rPr>
                        <m:t>                           </m:t>
                      </m:r>
                      <m:r>
                        <a:rPr lang="en-CA" sz="2800" i="1" smtClean="0">
                          <a:solidFill>
                            <a:schemeClr val="accent2"/>
                          </a:solidFill>
                          <a:latin typeface="Cambria Math"/>
                        </a:rPr>
                        <m:t>𝐶</m:t>
                      </m:r>
                      <m:r>
                        <a:rPr lang="en-CA" sz="2800" i="1" smtClean="0">
                          <a:solidFill>
                            <a:schemeClr val="accent2"/>
                          </a:solidFill>
                          <a:latin typeface="Cambria Math"/>
                        </a:rPr>
                        <m:t>(</m:t>
                      </m:r>
                      <m:r>
                        <a:rPr lang="en-CA" sz="2800" i="1" smtClean="0">
                          <a:solidFill>
                            <a:schemeClr val="accent2"/>
                          </a:solidFill>
                          <a:latin typeface="Cambria Math"/>
                        </a:rPr>
                        <m:t>𝑋</m:t>
                      </m:r>
                      <m:r>
                        <a:rPr lang="en-CA" sz="2800" i="1" smtClean="0">
                          <a:solidFill>
                            <a:schemeClr val="accent2"/>
                          </a:solidFill>
                          <a:latin typeface="Cambria Math"/>
                        </a:rPr>
                        <m:t>,</m:t>
                      </m:r>
                    </m:oMath>
                  </a14:m>
                  <a:r>
                    <a:rPr lang="en-CA" sz="2800" dirty="0">
                      <a:solidFill>
                        <a:schemeClr val="accent2"/>
                      </a:solidFill>
                    </a:rPr>
                    <a:t> </a:t>
                  </a:r>
                  <a14:m>
                    <m:oMath xmlns:m="http://schemas.openxmlformats.org/officeDocument/2006/math">
                      <m:acc>
                        <m:accPr>
                          <m:chr m:val="̅"/>
                          <m:ctrlPr>
                            <a:rPr lang="en-CA" sz="2800" i="1" dirty="0">
                              <a:solidFill>
                                <a:schemeClr val="accent2"/>
                              </a:solidFill>
                              <a:latin typeface="Cambria Math"/>
                            </a:rPr>
                          </m:ctrlPr>
                        </m:accPr>
                        <m:e>
                          <m:r>
                            <a:rPr lang="en-CA" sz="2800" i="1" dirty="0">
                              <a:solidFill>
                                <a:schemeClr val="accent2"/>
                              </a:solidFill>
                              <a:latin typeface="Cambria Math"/>
                            </a:rPr>
                            <m:t>𝑋</m:t>
                          </m:r>
                        </m:e>
                      </m:acc>
                      <m:r>
                        <a:rPr lang="en-CA" sz="2800" i="1" dirty="0">
                          <a:solidFill>
                            <a:schemeClr val="accent2"/>
                          </a:solidFill>
                          <a:latin typeface="Cambria Math"/>
                        </a:rPr>
                        <m:t>)=</m:t>
                      </m:r>
                      <m:nary>
                        <m:naryPr>
                          <m:chr m:val="∑"/>
                          <m:supHide m:val="on"/>
                          <m:ctrlPr>
                            <a:rPr lang="en-CA" sz="2800" i="1" dirty="0">
                              <a:solidFill>
                                <a:schemeClr val="accent2"/>
                              </a:solidFill>
                              <a:latin typeface="Cambria Math"/>
                            </a:rPr>
                          </m:ctrlPr>
                        </m:naryPr>
                        <m:sub>
                          <m:eqArr>
                            <m:eqArrPr>
                              <m:ctrlPr>
                                <a:rPr lang="en-CA" sz="2800" i="1" dirty="0">
                                  <a:solidFill>
                                    <a:schemeClr val="accent2"/>
                                  </a:solidFill>
                                  <a:latin typeface="Cambria Math"/>
                                </a:rPr>
                              </m:ctrlPr>
                            </m:eqArrPr>
                            <m:e>
                              <m:r>
                                <m:rPr>
                                  <m:brk m:alnAt="7"/>
                                </m:rPr>
                                <a:rPr lang="en-CA" sz="2800" i="1" dirty="0">
                                  <a:solidFill>
                                    <a:schemeClr val="accent2"/>
                                  </a:solidFill>
                                  <a:latin typeface="Cambria Math"/>
                                </a:rPr>
                                <m:t>(</m:t>
                              </m:r>
                              <m:r>
                                <a:rPr lang="en-CA" sz="2800" i="1" dirty="0">
                                  <a:solidFill>
                                    <a:schemeClr val="accent2"/>
                                  </a:solidFill>
                                  <a:latin typeface="Cambria Math"/>
                                </a:rPr>
                                <m:t>𝑢</m:t>
                              </m:r>
                              <m:r>
                                <a:rPr lang="en-CA" sz="2800" i="1" dirty="0">
                                  <a:solidFill>
                                    <a:schemeClr val="accent2"/>
                                  </a:solidFill>
                                  <a:latin typeface="Cambria Math"/>
                                </a:rPr>
                                <m:t>,</m:t>
                              </m:r>
                              <m:r>
                                <a:rPr lang="en-CA" sz="2800" i="1" dirty="0">
                                  <a:solidFill>
                                    <a:schemeClr val="accent2"/>
                                  </a:solidFill>
                                  <a:latin typeface="Cambria Math"/>
                                </a:rPr>
                                <m:t>𝑣</m:t>
                              </m:r>
                              <m:r>
                                <a:rPr lang="en-CA" sz="2800" i="1" dirty="0">
                                  <a:solidFill>
                                    <a:schemeClr val="accent2"/>
                                  </a:solidFill>
                                  <a:latin typeface="Cambria Math"/>
                                </a:rPr>
                                <m:t>)∈</m:t>
                              </m:r>
                              <m:r>
                                <a:rPr lang="en-CA" sz="2800" i="1" dirty="0">
                                  <a:solidFill>
                                    <a:schemeClr val="accent2"/>
                                  </a:solidFill>
                                  <a:latin typeface="Cambria Math"/>
                                  <a:ea typeface="Cambria Math"/>
                                </a:rPr>
                                <m:t>𝐸</m:t>
                              </m:r>
                            </m:e>
                            <m:e>
                              <m:r>
                                <a:rPr lang="en-CA" sz="2800" i="1" dirty="0">
                                  <a:solidFill>
                                    <a:schemeClr val="accent2"/>
                                  </a:solidFill>
                                  <a:latin typeface="Cambria Math"/>
                                  <a:ea typeface="Cambria Math"/>
                                </a:rPr>
                                <m:t>𝑢</m:t>
                              </m:r>
                              <m:r>
                                <a:rPr lang="en-CA" sz="2800" i="1" dirty="0">
                                  <a:solidFill>
                                    <a:schemeClr val="accent2"/>
                                  </a:solidFill>
                                  <a:latin typeface="Cambria Math"/>
                                  <a:ea typeface="Cambria Math"/>
                                </a:rPr>
                                <m:t>∈</m:t>
                              </m:r>
                              <m:r>
                                <a:rPr lang="en-CA" sz="2800" i="1" dirty="0">
                                  <a:solidFill>
                                    <a:schemeClr val="accent2"/>
                                  </a:solidFill>
                                  <a:latin typeface="Cambria Math"/>
                                  <a:ea typeface="Cambria Math"/>
                                </a:rPr>
                                <m:t>𝑋</m:t>
                              </m:r>
                              <m:r>
                                <a:rPr lang="en-CA" sz="2800" i="1" dirty="0">
                                  <a:solidFill>
                                    <a:schemeClr val="accent2"/>
                                  </a:solidFill>
                                  <a:latin typeface="Cambria Math"/>
                                  <a:ea typeface="Cambria Math"/>
                                </a:rPr>
                                <m:t>, </m:t>
                              </m:r>
                              <m:r>
                                <a:rPr lang="en-CA" sz="2800" i="1" dirty="0">
                                  <a:solidFill>
                                    <a:schemeClr val="accent2"/>
                                  </a:solidFill>
                                  <a:latin typeface="Cambria Math"/>
                                  <a:ea typeface="Cambria Math"/>
                                </a:rPr>
                                <m:t>𝑣</m:t>
                              </m:r>
                              <m:r>
                                <a:rPr lang="en-CA" sz="2800" i="1" dirty="0">
                                  <a:solidFill>
                                    <a:schemeClr val="accent2"/>
                                  </a:solidFill>
                                  <a:latin typeface="Cambria Math"/>
                                  <a:ea typeface="Cambria Math"/>
                                </a:rPr>
                                <m:t>∈</m:t>
                              </m:r>
                              <m:acc>
                                <m:accPr>
                                  <m:chr m:val="̅"/>
                                  <m:ctrlPr>
                                    <a:rPr lang="en-CA" sz="2800" i="1" dirty="0">
                                      <a:solidFill>
                                        <a:schemeClr val="accent2"/>
                                      </a:solidFill>
                                      <a:latin typeface="Cambria Math"/>
                                      <a:ea typeface="Cambria Math"/>
                                    </a:rPr>
                                  </m:ctrlPr>
                                </m:accPr>
                                <m:e>
                                  <m:r>
                                    <a:rPr lang="en-CA" sz="2800" i="1" dirty="0">
                                      <a:solidFill>
                                        <a:schemeClr val="accent2"/>
                                      </a:solidFill>
                                      <a:latin typeface="Cambria Math"/>
                                      <a:ea typeface="Cambria Math"/>
                                    </a:rPr>
                                    <m:t>𝑋</m:t>
                                  </m:r>
                                </m:e>
                              </m:acc>
                            </m:e>
                          </m:eqArr>
                        </m:sub>
                        <m:sup/>
                        <m:e>
                          <m:r>
                            <a:rPr lang="en-CA" sz="2800" b="0" i="1" dirty="0" smtClean="0">
                              <a:solidFill>
                                <a:schemeClr val="accent2"/>
                              </a:solidFill>
                              <a:latin typeface="Cambria Math"/>
                              <a:ea typeface="Cambria Math"/>
                            </a:rPr>
                            <m:t>  </m:t>
                          </m:r>
                          <m:r>
                            <a:rPr lang="en-CA" sz="2800" i="1" dirty="0">
                              <a:solidFill>
                                <a:schemeClr val="accent2"/>
                              </a:solidFill>
                              <a:latin typeface="Cambria Math"/>
                            </a:rPr>
                            <m:t>𝑐</m:t>
                          </m:r>
                          <m:r>
                            <a:rPr lang="en-CA" sz="2800" i="1" dirty="0">
                              <a:solidFill>
                                <a:schemeClr val="accent2"/>
                              </a:solidFill>
                              <a:latin typeface="Cambria Math"/>
                            </a:rPr>
                            <m:t>(</m:t>
                          </m:r>
                          <m:r>
                            <a:rPr lang="en-CA" sz="2800" i="1" dirty="0">
                              <a:solidFill>
                                <a:schemeClr val="accent2"/>
                              </a:solidFill>
                              <a:latin typeface="Cambria Math"/>
                            </a:rPr>
                            <m:t>𝑢</m:t>
                          </m:r>
                          <m:r>
                            <a:rPr lang="en-CA" sz="2800" i="1" dirty="0">
                              <a:solidFill>
                                <a:schemeClr val="accent2"/>
                              </a:solidFill>
                              <a:latin typeface="Cambria Math"/>
                            </a:rPr>
                            <m:t>,</m:t>
                          </m:r>
                          <m:r>
                            <a:rPr lang="en-CA" sz="2800" i="1" dirty="0">
                              <a:solidFill>
                                <a:schemeClr val="accent2"/>
                              </a:solidFill>
                              <a:latin typeface="Cambria Math"/>
                            </a:rPr>
                            <m:t>𝑣</m:t>
                          </m:r>
                          <m:r>
                            <a:rPr lang="en-CA" sz="2800" i="1" dirty="0">
                              <a:solidFill>
                                <a:schemeClr val="accent2"/>
                              </a:solidFill>
                              <a:latin typeface="Cambria Math"/>
                            </a:rPr>
                            <m:t>)</m:t>
                          </m:r>
                        </m:e>
                      </m:nary>
                      <m:r>
                        <a:rPr lang="en-CA" sz="2800" b="1" i="0" dirty="0" smtClean="0">
                          <a:solidFill>
                            <a:schemeClr val="accent2"/>
                          </a:solidFill>
                          <a:latin typeface="Cambria Math"/>
                        </a:rPr>
                        <m:t> .</m:t>
                      </m:r>
                    </m:oMath>
                  </a14:m>
                  <a:endParaRPr lang="en-CA" sz="2800" dirty="0">
                    <a:solidFill>
                      <a:schemeClr val="accent2"/>
                    </a:solidFill>
                  </a:endParaRPr>
                </a:p>
              </p:txBody>
            </p:sp>
          </mc:Choice>
          <mc:Fallback xmlns="">
            <p:sp>
              <p:nvSpPr>
                <p:cNvPr id="142340" name="Text Box 81"/>
                <p:cNvSpPr txBox="1">
                  <a:spLocks noRot="1" noChangeAspect="1" noMove="1" noResize="1" noEditPoints="1" noAdjustHandles="1" noChangeArrowheads="1" noChangeShapeType="1" noTextEdit="1"/>
                </p:cNvSpPr>
                <p:nvPr/>
              </p:nvSpPr>
              <p:spPr bwMode="auto">
                <a:xfrm>
                  <a:off x="152400" y="762000"/>
                  <a:ext cx="8778875" cy="2638612"/>
                </a:xfrm>
                <a:prstGeom prst="rect">
                  <a:avLst/>
                </a:prstGeom>
                <a:blipFill rotWithShape="1">
                  <a:blip r:embed="rId2"/>
                  <a:stretch>
                    <a:fillRect l="-1042" t="-184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p:sp>
          <p:nvSpPr>
            <p:cNvPr id="142349" name="Freeform 67"/>
            <p:cNvSpPr>
              <a:spLocks/>
            </p:cNvSpPr>
            <p:nvPr/>
          </p:nvSpPr>
          <p:spPr bwMode="auto">
            <a:xfrm>
              <a:off x="5486401" y="3435350"/>
              <a:ext cx="2286000" cy="3289300"/>
            </a:xfrm>
            <a:custGeom>
              <a:avLst/>
              <a:gdLst>
                <a:gd name="T0" fmla="*/ 1272 w 1440"/>
                <a:gd name="T1" fmla="*/ 1645 h 2072"/>
                <a:gd name="T2" fmla="*/ 1198 w 1440"/>
                <a:gd name="T3" fmla="*/ 263 h 2072"/>
                <a:gd name="T4" fmla="*/ 168 w 1440"/>
                <a:gd name="T5" fmla="*/ 263 h 2072"/>
                <a:gd name="T6" fmla="*/ 188 w 1440"/>
                <a:gd name="T7" fmla="*/ 1842 h 2072"/>
                <a:gd name="T8" fmla="*/ 1272 w 1440"/>
                <a:gd name="T9" fmla="*/ 1645 h 20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0" h="2072">
                  <a:moveTo>
                    <a:pt x="1272" y="1645"/>
                  </a:moveTo>
                  <a:cubicBezTo>
                    <a:pt x="1440" y="1382"/>
                    <a:pt x="1382" y="493"/>
                    <a:pt x="1198" y="263"/>
                  </a:cubicBezTo>
                  <a:cubicBezTo>
                    <a:pt x="1014" y="33"/>
                    <a:pt x="336" y="0"/>
                    <a:pt x="168" y="263"/>
                  </a:cubicBezTo>
                  <a:cubicBezTo>
                    <a:pt x="0" y="526"/>
                    <a:pt x="4" y="1612"/>
                    <a:pt x="188" y="1842"/>
                  </a:cubicBezTo>
                  <a:cubicBezTo>
                    <a:pt x="372" y="2072"/>
                    <a:pt x="1111" y="1914"/>
                    <a:pt x="1272" y="1645"/>
                  </a:cubicBezTo>
                  <a:close/>
                </a:path>
              </a:pathLst>
            </a:custGeom>
            <a:solidFill>
              <a:srgbClr val="FFCC99"/>
            </a:solidFill>
            <a:ln w="19050" cap="flat" cmpd="sng">
              <a:noFill/>
              <a:prstDash val="solid"/>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spAutoFit/>
            </a:bodyPr>
            <a:lstStyle/>
            <a:p>
              <a:endParaRPr lang="en-CA"/>
            </a:p>
          </p:txBody>
        </p:sp>
        <p:sp>
          <p:nvSpPr>
            <p:cNvPr id="142350" name="Freeform 66"/>
            <p:cNvSpPr>
              <a:spLocks/>
            </p:cNvSpPr>
            <p:nvPr/>
          </p:nvSpPr>
          <p:spPr bwMode="auto">
            <a:xfrm>
              <a:off x="1295401" y="3511550"/>
              <a:ext cx="2454275" cy="3346450"/>
            </a:xfrm>
            <a:custGeom>
              <a:avLst/>
              <a:gdLst>
                <a:gd name="T0" fmla="*/ 2 w 1546"/>
                <a:gd name="T1" fmla="*/ 1050 h 2108"/>
                <a:gd name="T2" fmla="*/ 273 w 1546"/>
                <a:gd name="T3" fmla="*/ 372 h 2108"/>
                <a:gd name="T4" fmla="*/ 1343 w 1546"/>
                <a:gd name="T5" fmla="*/ 250 h 2108"/>
                <a:gd name="T6" fmla="*/ 1370 w 1546"/>
                <a:gd name="T7" fmla="*/ 1870 h 2108"/>
                <a:gd name="T8" fmla="*/ 286 w 1546"/>
                <a:gd name="T9" fmla="*/ 1680 h 2108"/>
                <a:gd name="T10" fmla="*/ 2 w 1546"/>
                <a:gd name="T11" fmla="*/ 1050 h 210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46" h="2108">
                  <a:moveTo>
                    <a:pt x="2" y="1050"/>
                  </a:moveTo>
                  <a:cubicBezTo>
                    <a:pt x="0" y="832"/>
                    <a:pt x="49" y="505"/>
                    <a:pt x="273" y="372"/>
                  </a:cubicBezTo>
                  <a:cubicBezTo>
                    <a:pt x="497" y="239"/>
                    <a:pt x="1160" y="0"/>
                    <a:pt x="1343" y="250"/>
                  </a:cubicBezTo>
                  <a:cubicBezTo>
                    <a:pt x="1526" y="500"/>
                    <a:pt x="1546" y="1632"/>
                    <a:pt x="1370" y="1870"/>
                  </a:cubicBezTo>
                  <a:cubicBezTo>
                    <a:pt x="1194" y="2108"/>
                    <a:pt x="514" y="1817"/>
                    <a:pt x="286" y="1680"/>
                  </a:cubicBezTo>
                  <a:cubicBezTo>
                    <a:pt x="58" y="1543"/>
                    <a:pt x="4" y="1268"/>
                    <a:pt x="2" y="1050"/>
                  </a:cubicBezTo>
                  <a:close/>
                </a:path>
              </a:pathLst>
            </a:custGeom>
            <a:solidFill>
              <a:srgbClr val="FFCC99"/>
            </a:solidFill>
            <a:ln w="19050" cap="flat" cmpd="sng">
              <a:noFill/>
              <a:prstDash val="solid"/>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spAutoFit/>
            </a:bodyPr>
            <a:lstStyle/>
            <a:p>
              <a:endParaRPr lang="en-CA"/>
            </a:p>
          </p:txBody>
        </p:sp>
        <p:sp>
          <p:nvSpPr>
            <p:cNvPr id="142351" name="Oval 17"/>
            <p:cNvSpPr>
              <a:spLocks noChangeArrowheads="1"/>
            </p:cNvSpPr>
            <p:nvPr/>
          </p:nvSpPr>
          <p:spPr bwMode="auto">
            <a:xfrm>
              <a:off x="1600201" y="5111750"/>
              <a:ext cx="387350" cy="3571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42352" name="Oval 21"/>
            <p:cNvSpPr>
              <a:spLocks noChangeArrowheads="1"/>
            </p:cNvSpPr>
            <p:nvPr/>
          </p:nvSpPr>
          <p:spPr bwMode="auto">
            <a:xfrm>
              <a:off x="7010401" y="4883150"/>
              <a:ext cx="387350" cy="3571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42353" name="Line 68"/>
            <p:cNvSpPr>
              <a:spLocks noChangeShapeType="1"/>
            </p:cNvSpPr>
            <p:nvPr/>
          </p:nvSpPr>
          <p:spPr bwMode="auto">
            <a:xfrm>
              <a:off x="3200401" y="4197350"/>
              <a:ext cx="2743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2354" name="Line 69"/>
            <p:cNvSpPr>
              <a:spLocks noChangeShapeType="1"/>
            </p:cNvSpPr>
            <p:nvPr/>
          </p:nvSpPr>
          <p:spPr bwMode="auto">
            <a:xfrm>
              <a:off x="3200401" y="4349750"/>
              <a:ext cx="2743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2355" name="Line 70"/>
            <p:cNvSpPr>
              <a:spLocks noChangeShapeType="1"/>
            </p:cNvSpPr>
            <p:nvPr/>
          </p:nvSpPr>
          <p:spPr bwMode="auto">
            <a:xfrm>
              <a:off x="3200401" y="4502150"/>
              <a:ext cx="2743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2356" name="Line 71"/>
            <p:cNvSpPr>
              <a:spLocks noChangeShapeType="1"/>
            </p:cNvSpPr>
            <p:nvPr/>
          </p:nvSpPr>
          <p:spPr bwMode="auto">
            <a:xfrm>
              <a:off x="3200401" y="4730750"/>
              <a:ext cx="2743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2357" name="Line 72"/>
            <p:cNvSpPr>
              <a:spLocks noChangeShapeType="1"/>
            </p:cNvSpPr>
            <p:nvPr/>
          </p:nvSpPr>
          <p:spPr bwMode="auto">
            <a:xfrm>
              <a:off x="3200401" y="5645150"/>
              <a:ext cx="2743200"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2358" name="Line 73"/>
            <p:cNvSpPr>
              <a:spLocks noChangeShapeType="1"/>
            </p:cNvSpPr>
            <p:nvPr/>
          </p:nvSpPr>
          <p:spPr bwMode="auto">
            <a:xfrm>
              <a:off x="3200401" y="5873750"/>
              <a:ext cx="2743200"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2359" name="Line 74"/>
            <p:cNvSpPr>
              <a:spLocks noChangeShapeType="1"/>
            </p:cNvSpPr>
            <p:nvPr/>
          </p:nvSpPr>
          <p:spPr bwMode="auto">
            <a:xfrm>
              <a:off x="3200401" y="6102350"/>
              <a:ext cx="2743200"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2360" name="Text Box 75"/>
            <p:cNvSpPr txBox="1">
              <a:spLocks noChangeArrowheads="1"/>
            </p:cNvSpPr>
            <p:nvPr/>
          </p:nvSpPr>
          <p:spPr bwMode="auto">
            <a:xfrm>
              <a:off x="3657601" y="3740150"/>
              <a:ext cx="2012950"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1800"/>
                <a:t>forward cross edges</a:t>
              </a:r>
            </a:p>
          </p:txBody>
        </p:sp>
        <p:sp>
          <p:nvSpPr>
            <p:cNvPr id="142361" name="Text Box 76"/>
            <p:cNvSpPr txBox="1">
              <a:spLocks noChangeArrowheads="1"/>
            </p:cNvSpPr>
            <p:nvPr/>
          </p:nvSpPr>
          <p:spPr bwMode="auto">
            <a:xfrm>
              <a:off x="3581401" y="6178550"/>
              <a:ext cx="2178050"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1800"/>
                <a:t>backward cross edges</a:t>
              </a:r>
            </a:p>
          </p:txBody>
        </p:sp>
        <mc:AlternateContent xmlns:mc="http://schemas.openxmlformats.org/markup-compatibility/2006" xmlns:a14="http://schemas.microsoft.com/office/drawing/2010/main">
          <mc:Choice Requires="a14">
            <p:sp>
              <p:nvSpPr>
                <p:cNvPr id="142362" name="Text Box 77"/>
                <p:cNvSpPr txBox="1">
                  <a:spLocks noChangeArrowheads="1"/>
                </p:cNvSpPr>
                <p:nvPr/>
              </p:nvSpPr>
              <p:spPr bwMode="auto">
                <a:xfrm>
                  <a:off x="1100138" y="4071938"/>
                  <a:ext cx="437940" cy="426404"/>
                </a:xfrm>
                <a:prstGeom prst="rect">
                  <a:avLst/>
                </a:prstGeom>
                <a:noFill/>
                <a:ln>
                  <a:noFill/>
                </a:ln>
                <a:effectLst/>
                <a:extLst>
                  <a:ext uri="{909E8E84-426E-40DD-AFC4-6F175D3DCCD1}">
                    <a14:hiddenFill>
                      <a:solidFill>
                        <a:schemeClr val="accent1"/>
                      </a:solidFill>
                    </a14:hiddenFill>
                  </a:ext>
                  <a:ext uri="{91240B29-F687-4F45-9708-019B960494DF}">
                    <a14:hiddenLine w="1905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14:m>
                    <m:oMathPara xmlns:m="http://schemas.openxmlformats.org/officeDocument/2006/math">
                      <m:oMathParaPr>
                        <m:jc m:val="centerGroup"/>
                      </m:oMathParaPr>
                      <m:oMath xmlns:m="http://schemas.openxmlformats.org/officeDocument/2006/math">
                        <m:r>
                          <m:rPr>
                            <m:sty m:val="p"/>
                          </m:rPr>
                          <a:rPr lang="en-US" sz="2400" i="0" dirty="0" smtClean="0">
                            <a:latin typeface="Cambria Math"/>
                          </a:rPr>
                          <m:t>X</m:t>
                        </m:r>
                      </m:oMath>
                    </m:oMathPara>
                  </a14:m>
                  <a:endParaRPr lang="en-US" sz="2400" dirty="0"/>
                </a:p>
              </p:txBody>
            </p:sp>
          </mc:Choice>
          <mc:Fallback xmlns="">
            <p:sp>
              <p:nvSpPr>
                <p:cNvPr id="142362" name="Text Box 77"/>
                <p:cNvSpPr txBox="1">
                  <a:spLocks noRot="1" noChangeAspect="1" noMove="1" noResize="1" noEditPoints="1" noAdjustHandles="1" noChangeArrowheads="1" noChangeShapeType="1" noTextEdit="1"/>
                </p:cNvSpPr>
                <p:nvPr/>
              </p:nvSpPr>
              <p:spPr bwMode="auto">
                <a:xfrm>
                  <a:off x="1100138" y="4071938"/>
                  <a:ext cx="437940" cy="426404"/>
                </a:xfrm>
                <a:prstGeom prst="rect">
                  <a:avLst/>
                </a:prstGeom>
                <a:blipFill rotWithShape="1">
                  <a:blip r:embed="rId3"/>
                  <a:stretch>
                    <a:fillRect b="-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p:sp>
          <p:nvSpPr>
            <p:cNvPr id="142364" name="Text Box 78"/>
            <p:cNvSpPr txBox="1">
              <a:spLocks noChangeArrowheads="1"/>
            </p:cNvSpPr>
            <p:nvPr/>
          </p:nvSpPr>
          <p:spPr bwMode="auto">
            <a:xfrm>
              <a:off x="7772401" y="4197350"/>
              <a:ext cx="18415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endParaRPr lang="en-US" sz="2400" dirty="0"/>
            </a:p>
          </p:txBody>
        </p:sp>
        <p:sp>
          <p:nvSpPr>
            <p:cNvPr id="142347" name="Text Box 83"/>
            <p:cNvSpPr txBox="1">
              <a:spLocks noChangeArrowheads="1"/>
            </p:cNvSpPr>
            <p:nvPr/>
          </p:nvSpPr>
          <p:spPr bwMode="auto">
            <a:xfrm>
              <a:off x="7239000" y="1143000"/>
              <a:ext cx="184731" cy="426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endParaRPr lang="en-US" sz="2400" dirty="0"/>
            </a:p>
          </p:txBody>
        </p:sp>
        <p:sp>
          <p:nvSpPr>
            <p:cNvPr id="142346" name="Line 87"/>
            <p:cNvSpPr>
              <a:spLocks noChangeShapeType="1"/>
            </p:cNvSpPr>
            <p:nvPr/>
          </p:nvSpPr>
          <p:spPr bwMode="auto">
            <a:xfrm>
              <a:off x="3047993" y="-2359944"/>
              <a:ext cx="228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mc:AlternateContent xmlns:mc="http://schemas.openxmlformats.org/markup-compatibility/2006" xmlns:a14="http://schemas.microsoft.com/office/drawing/2010/main">
          <mc:Choice Requires="a14">
            <p:sp>
              <p:nvSpPr>
                <p:cNvPr id="2" name="TextBox 1"/>
                <p:cNvSpPr txBox="1"/>
                <p:nvPr/>
              </p:nvSpPr>
              <p:spPr>
                <a:xfrm>
                  <a:off x="7523775" y="4023847"/>
                  <a:ext cx="497251" cy="523220"/>
                </a:xfrm>
                <a:prstGeom prst="rect">
                  <a:avLst/>
                </a:prstGeom>
                <a:noFill/>
              </p:spPr>
              <p:txBody>
                <a:bodyPr wrap="none" rtlCol="0">
                  <a:spAutoFit/>
                </a:bodyPr>
                <a:lstStyle/>
                <a:p>
                  <a:pPr>
                    <a:buNone/>
                  </a:pPr>
                  <a14:m>
                    <m:oMathPara xmlns:m="http://schemas.openxmlformats.org/officeDocument/2006/math">
                      <m:oMathParaPr>
                        <m:jc m:val="centerGroup"/>
                      </m:oMathParaPr>
                      <m:oMath xmlns:m="http://schemas.openxmlformats.org/officeDocument/2006/math">
                        <m:acc>
                          <m:accPr>
                            <m:chr m:val="̅"/>
                            <m:ctrlPr>
                              <a:rPr lang="en-CA" sz="2800" b="1" i="1" smtClean="0">
                                <a:latin typeface="Cambria Math"/>
                              </a:rPr>
                            </m:ctrlPr>
                          </m:accPr>
                          <m:e>
                            <m:r>
                              <m:rPr>
                                <m:sty m:val="p"/>
                              </m:rPr>
                              <a:rPr lang="en-CA" sz="2800" b="0" i="0" smtClean="0">
                                <a:latin typeface="Cambria Math"/>
                              </a:rPr>
                              <m:t>X</m:t>
                            </m:r>
                          </m:e>
                        </m:acc>
                      </m:oMath>
                    </m:oMathPara>
                  </a14:m>
                  <a:endParaRPr lang="en-CA" sz="2800" b="1" dirty="0"/>
                </a:p>
              </p:txBody>
            </p:sp>
          </mc:Choice>
          <mc:Fallback xmlns="">
            <p:sp>
              <p:nvSpPr>
                <p:cNvPr id="2" name="TextBox 1"/>
                <p:cNvSpPr txBox="1">
                  <a:spLocks noRot="1" noChangeAspect="1" noMove="1" noResize="1" noEditPoints="1" noAdjustHandles="1" noChangeArrowheads="1" noChangeShapeType="1" noTextEdit="1"/>
                </p:cNvSpPr>
                <p:nvPr/>
              </p:nvSpPr>
              <p:spPr>
                <a:xfrm>
                  <a:off x="7523775" y="4023847"/>
                  <a:ext cx="497251" cy="523220"/>
                </a:xfrm>
                <a:prstGeom prst="rect">
                  <a:avLst/>
                </a:prstGeom>
                <a:blipFill rotWithShape="1">
                  <a:blip r:embed="rId4"/>
                  <a:stretch>
                    <a:fillRect/>
                  </a:stretch>
                </a:blipFill>
              </p:spPr>
              <p:txBody>
                <a:bodyPr/>
                <a:lstStyle/>
                <a:p>
                  <a:r>
                    <a:rPr lang="en-CA">
                      <a:noFill/>
                    </a:rPr>
                    <a:t> </a:t>
                  </a:r>
                </a:p>
              </p:txBody>
            </p:sp>
          </mc:Fallback>
        </mc:AlternateContent>
        <p:sp>
          <p:nvSpPr>
            <p:cNvPr id="4" name="TextBox 3"/>
            <p:cNvSpPr txBox="1"/>
            <p:nvPr/>
          </p:nvSpPr>
          <p:spPr>
            <a:xfrm>
              <a:off x="2133600" y="2297294"/>
              <a:ext cx="184731" cy="523220"/>
            </a:xfrm>
            <a:prstGeom prst="rect">
              <a:avLst/>
            </a:prstGeom>
            <a:noFill/>
          </p:spPr>
          <p:txBody>
            <a:bodyPr wrap="none" rtlCol="0">
              <a:spAutoFit/>
            </a:bodyPr>
            <a:lstStyle/>
            <a:p>
              <a:pPr>
                <a:buNone/>
              </a:pPr>
              <a:endParaRPr lang="en-CA" sz="2800" dirty="0"/>
            </a:p>
          </p:txBody>
        </p:sp>
      </p:grpSp>
      <p:sp>
        <p:nvSpPr>
          <p:cNvPr id="3" name="Slide Number Placeholder 2"/>
          <p:cNvSpPr>
            <a:spLocks noGrp="1"/>
          </p:cNvSpPr>
          <p:nvPr>
            <p:ph type="sldNum" sz="quarter" idx="12"/>
          </p:nvPr>
        </p:nvSpPr>
        <p:spPr/>
        <p:txBody>
          <a:bodyPr/>
          <a:lstStyle/>
          <a:p>
            <a:pPr>
              <a:defRPr/>
            </a:pPr>
            <a:fld id="{2EA72CB5-5472-4B1F-9EF4-151FAEB37976}" type="slidenum">
              <a:rPr lang="en-US" smtClean="0"/>
              <a:pPr>
                <a:defRPr/>
              </a:pPr>
              <a:t>139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35525"/>
                                        </p:tgtEl>
                                        <p:attrNameLst>
                                          <p:attrName>style.visibility</p:attrName>
                                        </p:attrNameLst>
                                      </p:cBhvr>
                                      <p:to>
                                        <p:strVal val="visible"/>
                                      </p:to>
                                    </p:set>
                                    <p:anim calcmode="lin" valueType="num">
                                      <p:cBhvr>
                                        <p:cTn id="7" dur="500" fill="hold"/>
                                        <p:tgtEl>
                                          <p:spTgt spid="235525"/>
                                        </p:tgtEl>
                                        <p:attrNameLst>
                                          <p:attrName>ppt_w</p:attrName>
                                        </p:attrNameLst>
                                      </p:cBhvr>
                                      <p:tavLst>
                                        <p:tav tm="0">
                                          <p:val>
                                            <p:fltVal val="0"/>
                                          </p:val>
                                        </p:tav>
                                        <p:tav tm="100000">
                                          <p:val>
                                            <p:strVal val="#ppt_w"/>
                                          </p:val>
                                        </p:tav>
                                      </p:tavLst>
                                    </p:anim>
                                    <p:anim calcmode="lin" valueType="num">
                                      <p:cBhvr>
                                        <p:cTn id="8" dur="500" fill="hold"/>
                                        <p:tgtEl>
                                          <p:spTgt spid="235525"/>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5" grpId="0" animBg="1" autoUpdateAnimBg="0"/>
    </p:bldLst>
  </p:timing>
</p:sld>
</file>

<file path=ppt/slides/slide1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25" name="Rectangle 5"/>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Flow across a cut</a:t>
            </a:r>
          </a:p>
        </p:txBody>
      </p:sp>
      <p:sp>
        <p:nvSpPr>
          <p:cNvPr id="142346" name="Line 87"/>
          <p:cNvSpPr>
            <a:spLocks noChangeShapeType="1"/>
          </p:cNvSpPr>
          <p:nvPr/>
        </p:nvSpPr>
        <p:spPr bwMode="auto">
          <a:xfrm>
            <a:off x="3047993" y="-2359944"/>
            <a:ext cx="228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grpSp>
        <p:nvGrpSpPr>
          <p:cNvPr id="3" name="Group 2"/>
          <p:cNvGrpSpPr/>
          <p:nvPr/>
        </p:nvGrpSpPr>
        <p:grpSpPr>
          <a:xfrm>
            <a:off x="1100138" y="3435350"/>
            <a:ext cx="6920888" cy="3422650"/>
            <a:chOff x="1100138" y="3435350"/>
            <a:chExt cx="6920888" cy="3422650"/>
          </a:xfrm>
        </p:grpSpPr>
        <p:sp>
          <p:nvSpPr>
            <p:cNvPr id="142349" name="Freeform 67"/>
            <p:cNvSpPr>
              <a:spLocks/>
            </p:cNvSpPr>
            <p:nvPr/>
          </p:nvSpPr>
          <p:spPr bwMode="auto">
            <a:xfrm>
              <a:off x="5486401" y="3435350"/>
              <a:ext cx="2286000" cy="3289300"/>
            </a:xfrm>
            <a:custGeom>
              <a:avLst/>
              <a:gdLst>
                <a:gd name="T0" fmla="*/ 1272 w 1440"/>
                <a:gd name="T1" fmla="*/ 1645 h 2072"/>
                <a:gd name="T2" fmla="*/ 1198 w 1440"/>
                <a:gd name="T3" fmla="*/ 263 h 2072"/>
                <a:gd name="T4" fmla="*/ 168 w 1440"/>
                <a:gd name="T5" fmla="*/ 263 h 2072"/>
                <a:gd name="T6" fmla="*/ 188 w 1440"/>
                <a:gd name="T7" fmla="*/ 1842 h 2072"/>
                <a:gd name="T8" fmla="*/ 1272 w 1440"/>
                <a:gd name="T9" fmla="*/ 1645 h 20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0" h="2072">
                  <a:moveTo>
                    <a:pt x="1272" y="1645"/>
                  </a:moveTo>
                  <a:cubicBezTo>
                    <a:pt x="1440" y="1382"/>
                    <a:pt x="1382" y="493"/>
                    <a:pt x="1198" y="263"/>
                  </a:cubicBezTo>
                  <a:cubicBezTo>
                    <a:pt x="1014" y="33"/>
                    <a:pt x="336" y="0"/>
                    <a:pt x="168" y="263"/>
                  </a:cubicBezTo>
                  <a:cubicBezTo>
                    <a:pt x="0" y="526"/>
                    <a:pt x="4" y="1612"/>
                    <a:pt x="188" y="1842"/>
                  </a:cubicBezTo>
                  <a:cubicBezTo>
                    <a:pt x="372" y="2072"/>
                    <a:pt x="1111" y="1914"/>
                    <a:pt x="1272" y="1645"/>
                  </a:cubicBezTo>
                  <a:close/>
                </a:path>
              </a:pathLst>
            </a:custGeom>
            <a:solidFill>
              <a:srgbClr val="FFCC99"/>
            </a:solidFill>
            <a:ln w="19050" cap="flat" cmpd="sng">
              <a:noFill/>
              <a:prstDash val="solid"/>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spAutoFit/>
            </a:bodyPr>
            <a:lstStyle/>
            <a:p>
              <a:endParaRPr lang="en-CA"/>
            </a:p>
          </p:txBody>
        </p:sp>
        <p:sp>
          <p:nvSpPr>
            <p:cNvPr id="142350" name="Freeform 66"/>
            <p:cNvSpPr>
              <a:spLocks/>
            </p:cNvSpPr>
            <p:nvPr/>
          </p:nvSpPr>
          <p:spPr bwMode="auto">
            <a:xfrm>
              <a:off x="1295401" y="3511550"/>
              <a:ext cx="2454275" cy="3346450"/>
            </a:xfrm>
            <a:custGeom>
              <a:avLst/>
              <a:gdLst>
                <a:gd name="T0" fmla="*/ 2 w 1546"/>
                <a:gd name="T1" fmla="*/ 1050 h 2108"/>
                <a:gd name="T2" fmla="*/ 273 w 1546"/>
                <a:gd name="T3" fmla="*/ 372 h 2108"/>
                <a:gd name="T4" fmla="*/ 1343 w 1546"/>
                <a:gd name="T5" fmla="*/ 250 h 2108"/>
                <a:gd name="T6" fmla="*/ 1370 w 1546"/>
                <a:gd name="T7" fmla="*/ 1870 h 2108"/>
                <a:gd name="T8" fmla="*/ 286 w 1546"/>
                <a:gd name="T9" fmla="*/ 1680 h 2108"/>
                <a:gd name="T10" fmla="*/ 2 w 1546"/>
                <a:gd name="T11" fmla="*/ 1050 h 210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46" h="2108">
                  <a:moveTo>
                    <a:pt x="2" y="1050"/>
                  </a:moveTo>
                  <a:cubicBezTo>
                    <a:pt x="0" y="832"/>
                    <a:pt x="49" y="505"/>
                    <a:pt x="273" y="372"/>
                  </a:cubicBezTo>
                  <a:cubicBezTo>
                    <a:pt x="497" y="239"/>
                    <a:pt x="1160" y="0"/>
                    <a:pt x="1343" y="250"/>
                  </a:cubicBezTo>
                  <a:cubicBezTo>
                    <a:pt x="1526" y="500"/>
                    <a:pt x="1546" y="1632"/>
                    <a:pt x="1370" y="1870"/>
                  </a:cubicBezTo>
                  <a:cubicBezTo>
                    <a:pt x="1194" y="2108"/>
                    <a:pt x="514" y="1817"/>
                    <a:pt x="286" y="1680"/>
                  </a:cubicBezTo>
                  <a:cubicBezTo>
                    <a:pt x="58" y="1543"/>
                    <a:pt x="4" y="1268"/>
                    <a:pt x="2" y="1050"/>
                  </a:cubicBezTo>
                  <a:close/>
                </a:path>
              </a:pathLst>
            </a:custGeom>
            <a:solidFill>
              <a:srgbClr val="FFCC99"/>
            </a:solidFill>
            <a:ln w="19050" cap="flat" cmpd="sng">
              <a:noFill/>
              <a:prstDash val="solid"/>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spAutoFit/>
            </a:bodyPr>
            <a:lstStyle/>
            <a:p>
              <a:endParaRPr lang="en-CA"/>
            </a:p>
          </p:txBody>
        </p:sp>
        <p:sp>
          <p:nvSpPr>
            <p:cNvPr id="142351" name="Oval 17"/>
            <p:cNvSpPr>
              <a:spLocks noChangeArrowheads="1"/>
            </p:cNvSpPr>
            <p:nvPr/>
          </p:nvSpPr>
          <p:spPr bwMode="auto">
            <a:xfrm>
              <a:off x="1600201" y="5111750"/>
              <a:ext cx="387350" cy="3571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42352" name="Oval 21"/>
            <p:cNvSpPr>
              <a:spLocks noChangeArrowheads="1"/>
            </p:cNvSpPr>
            <p:nvPr/>
          </p:nvSpPr>
          <p:spPr bwMode="auto">
            <a:xfrm>
              <a:off x="7010401" y="4883150"/>
              <a:ext cx="387350" cy="357188"/>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42353" name="Line 68"/>
            <p:cNvSpPr>
              <a:spLocks noChangeShapeType="1"/>
            </p:cNvSpPr>
            <p:nvPr/>
          </p:nvSpPr>
          <p:spPr bwMode="auto">
            <a:xfrm>
              <a:off x="3200401" y="4197350"/>
              <a:ext cx="2743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2354" name="Line 69"/>
            <p:cNvSpPr>
              <a:spLocks noChangeShapeType="1"/>
            </p:cNvSpPr>
            <p:nvPr/>
          </p:nvSpPr>
          <p:spPr bwMode="auto">
            <a:xfrm>
              <a:off x="3200401" y="4349750"/>
              <a:ext cx="2743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2355" name="Line 70"/>
            <p:cNvSpPr>
              <a:spLocks noChangeShapeType="1"/>
            </p:cNvSpPr>
            <p:nvPr/>
          </p:nvSpPr>
          <p:spPr bwMode="auto">
            <a:xfrm>
              <a:off x="3200401" y="4502150"/>
              <a:ext cx="2743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2356" name="Line 71"/>
            <p:cNvSpPr>
              <a:spLocks noChangeShapeType="1"/>
            </p:cNvSpPr>
            <p:nvPr/>
          </p:nvSpPr>
          <p:spPr bwMode="auto">
            <a:xfrm>
              <a:off x="3200401" y="4730750"/>
              <a:ext cx="2743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2357" name="Line 72"/>
            <p:cNvSpPr>
              <a:spLocks noChangeShapeType="1"/>
            </p:cNvSpPr>
            <p:nvPr/>
          </p:nvSpPr>
          <p:spPr bwMode="auto">
            <a:xfrm>
              <a:off x="3200401" y="5645150"/>
              <a:ext cx="2743200"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2358" name="Line 73"/>
            <p:cNvSpPr>
              <a:spLocks noChangeShapeType="1"/>
            </p:cNvSpPr>
            <p:nvPr/>
          </p:nvSpPr>
          <p:spPr bwMode="auto">
            <a:xfrm>
              <a:off x="3200401" y="5873750"/>
              <a:ext cx="2743200"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2359" name="Line 74"/>
            <p:cNvSpPr>
              <a:spLocks noChangeShapeType="1"/>
            </p:cNvSpPr>
            <p:nvPr/>
          </p:nvSpPr>
          <p:spPr bwMode="auto">
            <a:xfrm>
              <a:off x="3200401" y="6102350"/>
              <a:ext cx="2743200"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2360" name="Text Box 75"/>
            <p:cNvSpPr txBox="1">
              <a:spLocks noChangeArrowheads="1"/>
            </p:cNvSpPr>
            <p:nvPr/>
          </p:nvSpPr>
          <p:spPr bwMode="auto">
            <a:xfrm>
              <a:off x="3657601" y="3740150"/>
              <a:ext cx="2012950"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1800"/>
                <a:t>forward cross edges</a:t>
              </a:r>
            </a:p>
          </p:txBody>
        </p:sp>
        <p:sp>
          <p:nvSpPr>
            <p:cNvPr id="142361" name="Text Box 76"/>
            <p:cNvSpPr txBox="1">
              <a:spLocks noChangeArrowheads="1"/>
            </p:cNvSpPr>
            <p:nvPr/>
          </p:nvSpPr>
          <p:spPr bwMode="auto">
            <a:xfrm>
              <a:off x="3581401" y="6178550"/>
              <a:ext cx="2178050"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1800"/>
                <a:t>backward cross edges</a:t>
              </a:r>
            </a:p>
          </p:txBody>
        </p:sp>
        <mc:AlternateContent xmlns:mc="http://schemas.openxmlformats.org/markup-compatibility/2006" xmlns:a14="http://schemas.microsoft.com/office/drawing/2010/main">
          <mc:Choice Requires="a14">
            <p:sp>
              <p:nvSpPr>
                <p:cNvPr id="142362" name="Text Box 77"/>
                <p:cNvSpPr txBox="1">
                  <a:spLocks noChangeArrowheads="1"/>
                </p:cNvSpPr>
                <p:nvPr/>
              </p:nvSpPr>
              <p:spPr bwMode="auto">
                <a:xfrm>
                  <a:off x="1100138" y="4071938"/>
                  <a:ext cx="437940" cy="426404"/>
                </a:xfrm>
                <a:prstGeom prst="rect">
                  <a:avLst/>
                </a:prstGeom>
                <a:noFill/>
                <a:ln>
                  <a:noFill/>
                </a:ln>
                <a:effectLst/>
                <a:extLst>
                  <a:ext uri="{909E8E84-426E-40DD-AFC4-6F175D3DCCD1}">
                    <a14:hiddenFill>
                      <a:solidFill>
                        <a:schemeClr val="accent1"/>
                      </a:solidFill>
                    </a14:hiddenFill>
                  </a:ext>
                  <a:ext uri="{91240B29-F687-4F45-9708-019B960494DF}">
                    <a14:hiddenLine w="1905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14:m>
                    <m:oMathPara xmlns:m="http://schemas.openxmlformats.org/officeDocument/2006/math">
                      <m:oMathParaPr>
                        <m:jc m:val="centerGroup"/>
                      </m:oMathParaPr>
                      <m:oMath xmlns:m="http://schemas.openxmlformats.org/officeDocument/2006/math">
                        <m:r>
                          <m:rPr>
                            <m:sty m:val="p"/>
                          </m:rPr>
                          <a:rPr lang="en-US" sz="2400" b="0" i="0" dirty="0" smtClean="0">
                            <a:latin typeface="Cambria Math"/>
                          </a:rPr>
                          <m:t>X</m:t>
                        </m:r>
                      </m:oMath>
                    </m:oMathPara>
                  </a14:m>
                  <a:endParaRPr lang="en-US" sz="2400" dirty="0"/>
                </a:p>
              </p:txBody>
            </p:sp>
          </mc:Choice>
          <mc:Fallback xmlns="">
            <p:sp>
              <p:nvSpPr>
                <p:cNvPr id="142362" name="Text Box 77"/>
                <p:cNvSpPr txBox="1">
                  <a:spLocks noRot="1" noChangeAspect="1" noMove="1" noResize="1" noEditPoints="1" noAdjustHandles="1" noChangeArrowheads="1" noChangeShapeType="1" noTextEdit="1"/>
                </p:cNvSpPr>
                <p:nvPr/>
              </p:nvSpPr>
              <p:spPr bwMode="auto">
                <a:xfrm>
                  <a:off x="1100138" y="4071938"/>
                  <a:ext cx="437940" cy="426404"/>
                </a:xfrm>
                <a:prstGeom prst="rect">
                  <a:avLst/>
                </a:prstGeom>
                <a:blipFill rotWithShape="1">
                  <a:blip r:embed="rId2"/>
                  <a:stretch>
                    <a:fillRect b="-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p:sp>
          <p:nvSpPr>
            <p:cNvPr id="142364" name="Text Box 78"/>
            <p:cNvSpPr txBox="1">
              <a:spLocks noChangeArrowheads="1"/>
            </p:cNvSpPr>
            <p:nvPr/>
          </p:nvSpPr>
          <p:spPr bwMode="auto">
            <a:xfrm>
              <a:off x="7772401" y="4197350"/>
              <a:ext cx="18415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endParaRPr lang="en-US" sz="2400" dirty="0"/>
            </a:p>
          </p:txBody>
        </p:sp>
        <mc:AlternateContent xmlns:mc="http://schemas.openxmlformats.org/markup-compatibility/2006" xmlns:a14="http://schemas.microsoft.com/office/drawing/2010/main">
          <mc:Choice Requires="a14">
            <p:sp>
              <p:nvSpPr>
                <p:cNvPr id="2" name="TextBox 1"/>
                <p:cNvSpPr txBox="1"/>
                <p:nvPr/>
              </p:nvSpPr>
              <p:spPr>
                <a:xfrm>
                  <a:off x="7523775" y="4023847"/>
                  <a:ext cx="497251" cy="523220"/>
                </a:xfrm>
                <a:prstGeom prst="rect">
                  <a:avLst/>
                </a:prstGeom>
                <a:noFill/>
              </p:spPr>
              <p:txBody>
                <a:bodyPr wrap="none" rtlCol="0">
                  <a:spAutoFit/>
                </a:bodyPr>
                <a:lstStyle/>
                <a:p>
                  <a:pPr>
                    <a:buNone/>
                  </a:pPr>
                  <a14:m>
                    <m:oMathPara xmlns:m="http://schemas.openxmlformats.org/officeDocument/2006/math">
                      <m:oMathParaPr>
                        <m:jc m:val="centerGroup"/>
                      </m:oMathParaPr>
                      <m:oMath xmlns:m="http://schemas.openxmlformats.org/officeDocument/2006/math">
                        <m:acc>
                          <m:accPr>
                            <m:chr m:val="̅"/>
                            <m:ctrlPr>
                              <a:rPr lang="en-CA" sz="2800" b="1" i="1" smtClean="0">
                                <a:latin typeface="Cambria Math"/>
                              </a:rPr>
                            </m:ctrlPr>
                          </m:accPr>
                          <m:e>
                            <m:r>
                              <m:rPr>
                                <m:sty m:val="p"/>
                              </m:rPr>
                              <a:rPr lang="en-CA" sz="2800" b="0" i="0" smtClean="0">
                                <a:latin typeface="Cambria Math"/>
                              </a:rPr>
                              <m:t>X</m:t>
                            </m:r>
                          </m:e>
                        </m:acc>
                      </m:oMath>
                    </m:oMathPara>
                  </a14:m>
                  <a:endParaRPr lang="en-CA" sz="2800" b="1" dirty="0"/>
                </a:p>
              </p:txBody>
            </p:sp>
          </mc:Choice>
          <mc:Fallback xmlns="">
            <p:sp>
              <p:nvSpPr>
                <p:cNvPr id="2" name="TextBox 1"/>
                <p:cNvSpPr txBox="1">
                  <a:spLocks noRot="1" noChangeAspect="1" noMove="1" noResize="1" noEditPoints="1" noAdjustHandles="1" noChangeArrowheads="1" noChangeShapeType="1" noTextEdit="1"/>
                </p:cNvSpPr>
                <p:nvPr/>
              </p:nvSpPr>
              <p:spPr>
                <a:xfrm>
                  <a:off x="7523775" y="4023847"/>
                  <a:ext cx="497251" cy="523220"/>
                </a:xfrm>
                <a:prstGeom prst="rect">
                  <a:avLst/>
                </a:prstGeom>
                <a:blipFill rotWithShape="1">
                  <a:blip r:embed="rId3"/>
                  <a:stretch>
                    <a:fillRect/>
                  </a:stretch>
                </a:blipFill>
              </p:spPr>
              <p:txBody>
                <a:bodyPr/>
                <a:lstStyle/>
                <a:p>
                  <a:r>
                    <a:rPr lang="en-CA">
                      <a:noFill/>
                    </a:rPr>
                    <a:t> </a:t>
                  </a:r>
                </a:p>
              </p:txBody>
            </p:sp>
          </mc:Fallback>
        </mc:AlternateContent>
      </p:grpSp>
      <mc:AlternateContent xmlns:mc="http://schemas.openxmlformats.org/markup-compatibility/2006" xmlns:a14="http://schemas.microsoft.com/office/drawing/2010/main">
        <mc:Choice Requires="a14">
          <p:sp>
            <p:nvSpPr>
              <p:cNvPr id="30" name="Text Box 30"/>
              <p:cNvSpPr txBox="1">
                <a:spLocks noChangeArrowheads="1"/>
              </p:cNvSpPr>
              <p:nvPr/>
            </p:nvSpPr>
            <p:spPr bwMode="auto">
              <a:xfrm>
                <a:off x="212725" y="896938"/>
                <a:ext cx="8752781" cy="1809155"/>
              </a:xfrm>
              <a:prstGeom prst="rect">
                <a:avLst/>
              </a:prstGeom>
              <a:blipFill>
                <a:blip r:embed="rId4"/>
                <a:tile tx="0" ty="0" sx="100000" sy="100000" flip="none" algn="tl"/>
              </a:bli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400" b="1" dirty="0" smtClean="0">
                    <a:solidFill>
                      <a:srgbClr val="CC0000"/>
                    </a:solidFill>
                  </a:rPr>
                  <a:t>FACT:</a:t>
                </a:r>
                <a:r>
                  <a:rPr lang="en-US" sz="2000" dirty="0"/>
                  <a:t> For any feasible flow f and any </a:t>
                </a:r>
                <a:r>
                  <a:rPr lang="en-US" sz="2000" dirty="0" err="1"/>
                  <a:t>st</a:t>
                </a:r>
                <a:r>
                  <a:rPr lang="en-US" sz="2000" dirty="0"/>
                  <a:t>-cut  </a:t>
                </a:r>
                <a14:m>
                  <m:oMath xmlns:m="http://schemas.openxmlformats.org/officeDocument/2006/math">
                    <m:r>
                      <a:rPr lang="en-CA" sz="2000" b="0" i="1" smtClean="0">
                        <a:latin typeface="Cambria Math"/>
                      </a:rPr>
                      <m:t>(</m:t>
                    </m:r>
                    <m:r>
                      <a:rPr lang="en-CA" sz="2000" b="0" i="1" smtClean="0">
                        <a:latin typeface="Cambria Math"/>
                      </a:rPr>
                      <m:t>𝑋</m:t>
                    </m:r>
                    <m:r>
                      <a:rPr lang="en-CA" sz="2000" b="0" i="1" smtClean="0">
                        <a:latin typeface="Cambria Math"/>
                      </a:rPr>
                      <m:t>, </m:t>
                    </m:r>
                    <m:acc>
                      <m:accPr>
                        <m:chr m:val="̅"/>
                        <m:ctrlPr>
                          <a:rPr lang="en-CA" sz="2000" b="0" i="1" smtClean="0">
                            <a:latin typeface="Cambria Math"/>
                          </a:rPr>
                        </m:ctrlPr>
                      </m:accPr>
                      <m:e>
                        <m:r>
                          <a:rPr lang="en-CA" sz="2000" b="0" i="1" smtClean="0">
                            <a:latin typeface="Cambria Math"/>
                          </a:rPr>
                          <m:t>𝑋</m:t>
                        </m:r>
                      </m:e>
                    </m:acc>
                    <m:r>
                      <a:rPr lang="en-CA" sz="2000" b="0" i="1" smtClean="0">
                        <a:latin typeface="Cambria Math"/>
                      </a:rPr>
                      <m:t>)</m:t>
                    </m:r>
                  </m:oMath>
                </a14:m>
                <a:r>
                  <a:rPr lang="en-US" sz="2000" dirty="0"/>
                  <a:t>, the flow value v(f) satisfies:</a:t>
                </a:r>
                <a:br>
                  <a:rPr lang="en-US" sz="2000" dirty="0"/>
                </a:br>
                <a:r>
                  <a:rPr lang="en-US" sz="2000" dirty="0"/>
                  <a:t>	 </a:t>
                </a:r>
                <a:r>
                  <a:rPr lang="en-US" sz="2000" i="1" dirty="0" smtClean="0">
                    <a:solidFill>
                      <a:srgbClr val="CC0000"/>
                    </a:solidFill>
                  </a:rPr>
                  <a:t>v</a:t>
                </a:r>
                <a:r>
                  <a:rPr lang="en-US" sz="2000" dirty="0" smtClean="0">
                    <a:solidFill>
                      <a:srgbClr val="CC0000"/>
                    </a:solidFill>
                  </a:rPr>
                  <a:t>( </a:t>
                </a:r>
                <a:r>
                  <a:rPr lang="en-US" sz="2000" i="1" dirty="0" smtClean="0">
                    <a:solidFill>
                      <a:srgbClr val="CC0000"/>
                    </a:solidFill>
                  </a:rPr>
                  <a:t>f </a:t>
                </a:r>
                <a:r>
                  <a:rPr lang="en-US" sz="2000" dirty="0" smtClean="0">
                    <a:solidFill>
                      <a:srgbClr val="CC0000"/>
                    </a:solidFill>
                  </a:rPr>
                  <a:t>)</a:t>
                </a:r>
                <a:r>
                  <a:rPr lang="en-US" sz="2000" i="1" dirty="0" smtClean="0">
                    <a:solidFill>
                      <a:srgbClr val="CC0000"/>
                    </a:solidFill>
                  </a:rPr>
                  <a:t>  </a:t>
                </a:r>
                <a:r>
                  <a:rPr lang="en-US" sz="2400" dirty="0" smtClean="0">
                    <a:solidFill>
                      <a:srgbClr val="CC0000"/>
                    </a:solidFill>
                  </a:rPr>
                  <a:t>=</a:t>
                </a:r>
                <a:r>
                  <a:rPr lang="en-US" sz="2000" dirty="0" smtClean="0">
                    <a:solidFill>
                      <a:srgbClr val="CC0000"/>
                    </a:solidFill>
                  </a:rPr>
                  <a:t>  (</a:t>
                </a:r>
                <a:r>
                  <a:rPr lang="en-US" sz="2000" dirty="0">
                    <a:solidFill>
                      <a:srgbClr val="CC0000"/>
                    </a:solidFill>
                  </a:rPr>
                  <a:t>total forward cross flow</a:t>
                </a:r>
                <a:r>
                  <a:rPr lang="en-US" sz="2000" dirty="0" smtClean="0">
                    <a:solidFill>
                      <a:srgbClr val="CC0000"/>
                    </a:solidFill>
                  </a:rPr>
                  <a:t>)  –  </a:t>
                </a:r>
                <a:r>
                  <a:rPr lang="en-US" sz="2000" dirty="0">
                    <a:solidFill>
                      <a:srgbClr val="CC0000"/>
                    </a:solidFill>
                  </a:rPr>
                  <a:t>(total backward cross flow</a:t>
                </a:r>
                <a:r>
                  <a:rPr lang="en-US" sz="2000" dirty="0" smtClean="0">
                    <a:solidFill>
                      <a:srgbClr val="CC0000"/>
                    </a:solidFill>
                  </a:rPr>
                  <a:t>)</a:t>
                </a:r>
              </a:p>
              <a:p>
                <a:pPr>
                  <a:buFont typeface="Wingdings" pitchFamily="2" charset="2"/>
                  <a:buNone/>
                </a:pPr>
                <a14:m>
                  <m:oMathPara xmlns:m="http://schemas.openxmlformats.org/officeDocument/2006/math">
                    <m:oMathParaPr>
                      <m:jc m:val="left"/>
                    </m:oMathParaPr>
                    <m:oMath xmlns:m="http://schemas.openxmlformats.org/officeDocument/2006/math">
                      <m:r>
                        <a:rPr lang="en-CA" sz="2000" b="0" i="1" smtClean="0">
                          <a:solidFill>
                            <a:schemeClr val="accent2"/>
                          </a:solidFill>
                          <a:latin typeface="Cambria Math"/>
                        </a:rPr>
                        <m:t>                 </m:t>
                      </m:r>
                      <m:r>
                        <a:rPr lang="en-CA" sz="2000" b="0" i="1" smtClean="0">
                          <a:solidFill>
                            <a:schemeClr val="accent2"/>
                          </a:solidFill>
                          <a:latin typeface="Cambria Math"/>
                        </a:rPr>
                        <m:t>𝑣</m:t>
                      </m:r>
                      <m:d>
                        <m:dPr>
                          <m:ctrlPr>
                            <a:rPr lang="en-CA" sz="2000" b="0" i="1" smtClean="0">
                              <a:solidFill>
                                <a:schemeClr val="accent2"/>
                              </a:solidFill>
                              <a:latin typeface="Cambria Math"/>
                            </a:rPr>
                          </m:ctrlPr>
                        </m:dPr>
                        <m:e>
                          <m:r>
                            <a:rPr lang="en-CA" sz="2000" b="0" i="1" smtClean="0">
                              <a:solidFill>
                                <a:schemeClr val="accent2"/>
                              </a:solidFill>
                              <a:latin typeface="Cambria Math"/>
                            </a:rPr>
                            <m:t>𝑓</m:t>
                          </m:r>
                        </m:e>
                      </m:d>
                      <m:r>
                        <a:rPr lang="en-CA" sz="2000" b="0" i="1" smtClean="0">
                          <a:solidFill>
                            <a:schemeClr val="accent2"/>
                          </a:solidFill>
                          <a:latin typeface="Cambria Math"/>
                        </a:rPr>
                        <m:t> = </m:t>
                      </m:r>
                      <m:nary>
                        <m:naryPr>
                          <m:chr m:val="∑"/>
                          <m:supHide m:val="on"/>
                          <m:ctrlPr>
                            <a:rPr lang="en-CA" sz="2000" b="0" i="1" smtClean="0">
                              <a:solidFill>
                                <a:schemeClr val="accent2"/>
                              </a:solidFill>
                              <a:latin typeface="Cambria Math"/>
                            </a:rPr>
                          </m:ctrlPr>
                        </m:naryPr>
                        <m:sub>
                          <m:eqArr>
                            <m:eqArrPr>
                              <m:ctrlPr>
                                <a:rPr lang="en-CA" sz="2000" b="0" i="1" smtClean="0">
                                  <a:solidFill>
                                    <a:schemeClr val="accent2"/>
                                  </a:solidFill>
                                  <a:latin typeface="Cambria Math"/>
                                </a:rPr>
                              </m:ctrlPr>
                            </m:eqArrPr>
                            <m:e>
                              <m:r>
                                <m:rPr>
                                  <m:brk m:alnAt="7"/>
                                </m:rPr>
                                <a:rPr lang="en-CA" sz="2000" b="0" i="1" smtClean="0">
                                  <a:solidFill>
                                    <a:schemeClr val="accent2"/>
                                  </a:solidFill>
                                  <a:latin typeface="Cambria Math"/>
                                </a:rPr>
                                <m:t>(</m:t>
                              </m:r>
                              <m:r>
                                <a:rPr lang="en-CA" sz="2000" b="0" i="1" smtClean="0">
                                  <a:solidFill>
                                    <a:schemeClr val="accent2"/>
                                  </a:solidFill>
                                  <a:latin typeface="Cambria Math"/>
                                </a:rPr>
                                <m:t>𝑢</m:t>
                              </m:r>
                              <m:r>
                                <a:rPr lang="en-CA" sz="2000" b="0" i="1" smtClean="0">
                                  <a:solidFill>
                                    <a:schemeClr val="accent2"/>
                                  </a:solidFill>
                                  <a:latin typeface="Cambria Math"/>
                                </a:rPr>
                                <m:t>,</m:t>
                              </m:r>
                              <m:r>
                                <a:rPr lang="en-CA" sz="2000" b="0" i="1" smtClean="0">
                                  <a:solidFill>
                                    <a:schemeClr val="accent2"/>
                                  </a:solidFill>
                                  <a:latin typeface="Cambria Math"/>
                                </a:rPr>
                                <m:t>𝑣</m:t>
                              </m:r>
                              <m:r>
                                <a:rPr lang="en-CA" sz="2000" b="0" i="1" smtClean="0">
                                  <a:solidFill>
                                    <a:schemeClr val="accent2"/>
                                  </a:solidFill>
                                  <a:latin typeface="Cambria Math"/>
                                </a:rPr>
                                <m:t>)∈</m:t>
                              </m:r>
                              <m:r>
                                <a:rPr lang="en-CA" sz="2000" b="0" i="1" smtClean="0">
                                  <a:solidFill>
                                    <a:schemeClr val="accent2"/>
                                  </a:solidFill>
                                  <a:latin typeface="Cambria Math"/>
                                  <a:ea typeface="Cambria Math"/>
                                </a:rPr>
                                <m:t>𝐸</m:t>
                              </m:r>
                            </m:e>
                            <m:e>
                              <m:r>
                                <a:rPr lang="en-CA" sz="2000" b="0" i="1" smtClean="0">
                                  <a:solidFill>
                                    <a:schemeClr val="accent2"/>
                                  </a:solidFill>
                                  <a:latin typeface="Cambria Math"/>
                                  <a:ea typeface="Cambria Math"/>
                                </a:rPr>
                                <m:t>𝑢</m:t>
                              </m:r>
                              <m:r>
                                <a:rPr lang="en-CA" sz="2000" b="0" i="1" smtClean="0">
                                  <a:solidFill>
                                    <a:schemeClr val="accent2"/>
                                  </a:solidFill>
                                  <a:latin typeface="Cambria Math"/>
                                  <a:ea typeface="Cambria Math"/>
                                </a:rPr>
                                <m:t>∈</m:t>
                              </m:r>
                              <m:r>
                                <a:rPr lang="en-CA" sz="2000" b="0" i="1" smtClean="0">
                                  <a:solidFill>
                                    <a:schemeClr val="accent2"/>
                                  </a:solidFill>
                                  <a:latin typeface="Cambria Math"/>
                                  <a:ea typeface="Cambria Math"/>
                                </a:rPr>
                                <m:t>𝑋</m:t>
                              </m:r>
                              <m:r>
                                <a:rPr lang="en-CA" sz="2000" b="0" i="1" smtClean="0">
                                  <a:solidFill>
                                    <a:schemeClr val="accent2"/>
                                  </a:solidFill>
                                  <a:latin typeface="Cambria Math"/>
                                  <a:ea typeface="Cambria Math"/>
                                </a:rPr>
                                <m:t>, </m:t>
                              </m:r>
                              <m:r>
                                <a:rPr lang="en-CA" sz="2000" b="0" i="1" smtClean="0">
                                  <a:solidFill>
                                    <a:schemeClr val="accent2"/>
                                  </a:solidFill>
                                  <a:latin typeface="Cambria Math"/>
                                  <a:ea typeface="Cambria Math"/>
                                </a:rPr>
                                <m:t>𝑣</m:t>
                              </m:r>
                              <m:r>
                                <a:rPr lang="en-CA" sz="2000" b="0" i="1" smtClean="0">
                                  <a:solidFill>
                                    <a:schemeClr val="accent2"/>
                                  </a:solidFill>
                                  <a:latin typeface="Cambria Math"/>
                                  <a:ea typeface="Cambria Math"/>
                                </a:rPr>
                                <m:t>∈</m:t>
                              </m:r>
                              <m:acc>
                                <m:accPr>
                                  <m:chr m:val="̅"/>
                                  <m:ctrlPr>
                                    <a:rPr lang="en-CA" sz="2000" b="0" i="1" smtClean="0">
                                      <a:solidFill>
                                        <a:schemeClr val="accent2"/>
                                      </a:solidFill>
                                      <a:latin typeface="Cambria Math"/>
                                      <a:ea typeface="Cambria Math"/>
                                    </a:rPr>
                                  </m:ctrlPr>
                                </m:accPr>
                                <m:e>
                                  <m:r>
                                    <a:rPr lang="en-CA" sz="2000" b="0" i="1" smtClean="0">
                                      <a:solidFill>
                                        <a:schemeClr val="accent2"/>
                                      </a:solidFill>
                                      <a:latin typeface="Cambria Math"/>
                                      <a:ea typeface="Cambria Math"/>
                                    </a:rPr>
                                    <m:t>𝑋</m:t>
                                  </m:r>
                                </m:e>
                              </m:acc>
                            </m:e>
                          </m:eqArr>
                        </m:sub>
                        <m:sup/>
                        <m:e>
                          <m:r>
                            <a:rPr lang="en-CA" sz="2000" b="0" i="1" smtClean="0">
                              <a:solidFill>
                                <a:schemeClr val="accent2"/>
                              </a:solidFill>
                              <a:latin typeface="Cambria Math"/>
                            </a:rPr>
                            <m:t>𝑓</m:t>
                          </m:r>
                          <m:d>
                            <m:dPr>
                              <m:ctrlPr>
                                <a:rPr lang="en-CA" sz="2000" b="0" i="1" smtClean="0">
                                  <a:solidFill>
                                    <a:schemeClr val="accent2"/>
                                  </a:solidFill>
                                  <a:latin typeface="Cambria Math"/>
                                </a:rPr>
                              </m:ctrlPr>
                            </m:dPr>
                            <m:e>
                              <m:r>
                                <a:rPr lang="en-CA" sz="2000" b="0" i="1" smtClean="0">
                                  <a:solidFill>
                                    <a:schemeClr val="accent2"/>
                                  </a:solidFill>
                                  <a:latin typeface="Cambria Math"/>
                                </a:rPr>
                                <m:t>𝑢</m:t>
                              </m:r>
                              <m:r>
                                <a:rPr lang="en-CA" sz="2000" b="0" i="1" smtClean="0">
                                  <a:solidFill>
                                    <a:schemeClr val="accent2"/>
                                  </a:solidFill>
                                  <a:latin typeface="Cambria Math"/>
                                </a:rPr>
                                <m:t>,</m:t>
                              </m:r>
                              <m:r>
                                <a:rPr lang="en-CA" sz="2000" b="0" i="1" smtClean="0">
                                  <a:solidFill>
                                    <a:schemeClr val="accent2"/>
                                  </a:solidFill>
                                  <a:latin typeface="Cambria Math"/>
                                </a:rPr>
                                <m:t>𝑣</m:t>
                              </m:r>
                            </m:e>
                          </m:d>
                          <m:r>
                            <a:rPr lang="en-CA" sz="2000" b="0" i="1" smtClean="0">
                              <a:solidFill>
                                <a:schemeClr val="accent2"/>
                              </a:solidFill>
                              <a:latin typeface="Cambria Math"/>
                            </a:rPr>
                            <m:t>   −</m:t>
                          </m:r>
                          <m:nary>
                            <m:naryPr>
                              <m:chr m:val="∑"/>
                              <m:supHide m:val="on"/>
                              <m:ctrlPr>
                                <a:rPr lang="en-CA" sz="2000" i="1">
                                  <a:solidFill>
                                    <a:schemeClr val="accent2"/>
                                  </a:solidFill>
                                  <a:latin typeface="Cambria Math"/>
                                </a:rPr>
                              </m:ctrlPr>
                            </m:naryPr>
                            <m:sub>
                              <m:eqArr>
                                <m:eqArrPr>
                                  <m:ctrlPr>
                                    <a:rPr lang="en-CA" sz="2000" i="1">
                                      <a:solidFill>
                                        <a:schemeClr val="accent2"/>
                                      </a:solidFill>
                                      <a:latin typeface="Cambria Math"/>
                                    </a:rPr>
                                  </m:ctrlPr>
                                </m:eqArrPr>
                                <m:e>
                                  <m:r>
                                    <m:rPr>
                                      <m:brk m:alnAt="7"/>
                                    </m:rPr>
                                    <a:rPr lang="en-CA" sz="2000" i="1">
                                      <a:solidFill>
                                        <a:schemeClr val="accent2"/>
                                      </a:solidFill>
                                      <a:latin typeface="Cambria Math"/>
                                    </a:rPr>
                                    <m:t>(</m:t>
                                  </m:r>
                                  <m:r>
                                    <a:rPr lang="en-CA" sz="2000" i="1">
                                      <a:solidFill>
                                        <a:schemeClr val="accent2"/>
                                      </a:solidFill>
                                      <a:latin typeface="Cambria Math"/>
                                    </a:rPr>
                                    <m:t>𝑢</m:t>
                                  </m:r>
                                  <m:r>
                                    <a:rPr lang="en-CA" sz="2000" i="1">
                                      <a:solidFill>
                                        <a:schemeClr val="accent2"/>
                                      </a:solidFill>
                                      <a:latin typeface="Cambria Math"/>
                                    </a:rPr>
                                    <m:t>,</m:t>
                                  </m:r>
                                  <m:r>
                                    <a:rPr lang="en-CA" sz="2000" i="1">
                                      <a:solidFill>
                                        <a:schemeClr val="accent2"/>
                                      </a:solidFill>
                                      <a:latin typeface="Cambria Math"/>
                                    </a:rPr>
                                    <m:t>𝑣</m:t>
                                  </m:r>
                                  <m:r>
                                    <a:rPr lang="en-CA" sz="2000" i="1">
                                      <a:solidFill>
                                        <a:schemeClr val="accent2"/>
                                      </a:solidFill>
                                      <a:latin typeface="Cambria Math"/>
                                    </a:rPr>
                                    <m:t>)∈</m:t>
                                  </m:r>
                                  <m:r>
                                    <a:rPr lang="en-CA" sz="2000" i="1">
                                      <a:solidFill>
                                        <a:schemeClr val="accent2"/>
                                      </a:solidFill>
                                      <a:latin typeface="Cambria Math"/>
                                      <a:ea typeface="Cambria Math"/>
                                    </a:rPr>
                                    <m:t>𝐸</m:t>
                                  </m:r>
                                </m:e>
                                <m:e>
                                  <m:r>
                                    <a:rPr lang="en-CA" sz="2000" i="1">
                                      <a:solidFill>
                                        <a:schemeClr val="accent2"/>
                                      </a:solidFill>
                                      <a:latin typeface="Cambria Math"/>
                                      <a:ea typeface="Cambria Math"/>
                                    </a:rPr>
                                    <m:t>𝑢</m:t>
                                  </m:r>
                                  <m:r>
                                    <a:rPr lang="en-CA" sz="2000" i="1">
                                      <a:solidFill>
                                        <a:schemeClr val="accent2"/>
                                      </a:solidFill>
                                      <a:latin typeface="Cambria Math"/>
                                      <a:ea typeface="Cambria Math"/>
                                    </a:rPr>
                                    <m:t>∈</m:t>
                                  </m:r>
                                  <m:acc>
                                    <m:accPr>
                                      <m:chr m:val="̅"/>
                                      <m:ctrlPr>
                                        <a:rPr lang="en-CA" sz="2000" b="0" i="1" smtClean="0">
                                          <a:solidFill>
                                            <a:schemeClr val="accent2"/>
                                          </a:solidFill>
                                          <a:latin typeface="Cambria Math"/>
                                          <a:ea typeface="Cambria Math"/>
                                        </a:rPr>
                                      </m:ctrlPr>
                                    </m:accPr>
                                    <m:e>
                                      <m:r>
                                        <a:rPr lang="en-CA" sz="2000" b="0" i="1" smtClean="0">
                                          <a:solidFill>
                                            <a:schemeClr val="accent2"/>
                                          </a:solidFill>
                                          <a:latin typeface="Cambria Math"/>
                                          <a:ea typeface="Cambria Math"/>
                                        </a:rPr>
                                        <m:t>𝑋</m:t>
                                      </m:r>
                                    </m:e>
                                  </m:acc>
                                  <m:r>
                                    <a:rPr lang="en-CA" sz="2000" i="1">
                                      <a:solidFill>
                                        <a:schemeClr val="accent2"/>
                                      </a:solidFill>
                                      <a:latin typeface="Cambria Math"/>
                                      <a:ea typeface="Cambria Math"/>
                                    </a:rPr>
                                    <m:t>, </m:t>
                                  </m:r>
                                  <m:r>
                                    <a:rPr lang="en-CA" sz="2000" i="1">
                                      <a:solidFill>
                                        <a:schemeClr val="accent2"/>
                                      </a:solidFill>
                                      <a:latin typeface="Cambria Math"/>
                                      <a:ea typeface="Cambria Math"/>
                                    </a:rPr>
                                    <m:t>𝑣</m:t>
                                  </m:r>
                                  <m:r>
                                    <a:rPr lang="en-CA" sz="2000" i="1">
                                      <a:solidFill>
                                        <a:schemeClr val="accent2"/>
                                      </a:solidFill>
                                      <a:latin typeface="Cambria Math"/>
                                      <a:ea typeface="Cambria Math"/>
                                    </a:rPr>
                                    <m:t>∈</m:t>
                                  </m:r>
                                  <m:r>
                                    <a:rPr lang="en-CA" sz="2000" b="0" i="1" smtClean="0">
                                      <a:solidFill>
                                        <a:schemeClr val="accent2"/>
                                      </a:solidFill>
                                      <a:latin typeface="Cambria Math"/>
                                      <a:ea typeface="Cambria Math"/>
                                    </a:rPr>
                                    <m:t>𝑋</m:t>
                                  </m:r>
                                </m:e>
                              </m:eqArr>
                            </m:sub>
                            <m:sup/>
                            <m:e>
                              <m:r>
                                <a:rPr lang="en-CA" sz="2000" i="1">
                                  <a:solidFill>
                                    <a:schemeClr val="accent2"/>
                                  </a:solidFill>
                                  <a:latin typeface="Cambria Math"/>
                                </a:rPr>
                                <m:t>𝑓</m:t>
                              </m:r>
                              <m:d>
                                <m:dPr>
                                  <m:ctrlPr>
                                    <a:rPr lang="en-CA" sz="2000" i="1">
                                      <a:solidFill>
                                        <a:schemeClr val="accent2"/>
                                      </a:solidFill>
                                      <a:latin typeface="Cambria Math"/>
                                    </a:rPr>
                                  </m:ctrlPr>
                                </m:dPr>
                                <m:e>
                                  <m:r>
                                    <a:rPr lang="en-CA" sz="2000" i="1">
                                      <a:solidFill>
                                        <a:schemeClr val="accent2"/>
                                      </a:solidFill>
                                      <a:latin typeface="Cambria Math"/>
                                    </a:rPr>
                                    <m:t>𝑢</m:t>
                                  </m:r>
                                  <m:r>
                                    <a:rPr lang="en-CA" sz="2000" i="1">
                                      <a:solidFill>
                                        <a:schemeClr val="accent2"/>
                                      </a:solidFill>
                                      <a:latin typeface="Cambria Math"/>
                                    </a:rPr>
                                    <m:t>,</m:t>
                                  </m:r>
                                  <m:r>
                                    <a:rPr lang="en-CA" sz="2000" i="1">
                                      <a:solidFill>
                                        <a:schemeClr val="accent2"/>
                                      </a:solidFill>
                                      <a:latin typeface="Cambria Math"/>
                                    </a:rPr>
                                    <m:t>𝑣</m:t>
                                  </m:r>
                                </m:e>
                              </m:d>
                              <m:r>
                                <a:rPr lang="en-CA" sz="2000" i="1">
                                  <a:solidFill>
                                    <a:schemeClr val="accent2"/>
                                  </a:solidFill>
                                  <a:latin typeface="Cambria Math"/>
                                </a:rPr>
                                <m:t> </m:t>
                              </m:r>
                              <m:r>
                                <a:rPr lang="en-CA" sz="2000" b="0" i="1" smtClean="0">
                                  <a:solidFill>
                                    <a:schemeClr val="accent2"/>
                                  </a:solidFill>
                                  <a:latin typeface="Cambria Math"/>
                                </a:rPr>
                                <m:t>.    </m:t>
                              </m:r>
                            </m:e>
                          </m:nary>
                        </m:e>
                      </m:nary>
                    </m:oMath>
                  </m:oMathPara>
                </a14:m>
                <a:endParaRPr lang="en-US" sz="2000" i="1" dirty="0">
                  <a:solidFill>
                    <a:srgbClr val="CC0000"/>
                  </a:solidFill>
                </a:endParaRPr>
              </a:p>
            </p:txBody>
          </p:sp>
        </mc:Choice>
        <mc:Fallback xmlns="">
          <p:sp>
            <p:nvSpPr>
              <p:cNvPr id="30" name="Text Box 30"/>
              <p:cNvSpPr txBox="1">
                <a:spLocks noRot="1" noChangeAspect="1" noMove="1" noResize="1" noEditPoints="1" noAdjustHandles="1" noChangeArrowheads="1" noChangeShapeType="1" noTextEdit="1"/>
              </p:cNvSpPr>
              <p:nvPr/>
            </p:nvSpPr>
            <p:spPr bwMode="auto">
              <a:xfrm>
                <a:off x="212725" y="896938"/>
                <a:ext cx="8752781" cy="1809155"/>
              </a:xfrm>
              <a:prstGeom prst="rect">
                <a:avLst/>
              </a:prstGeom>
              <a:blipFill rotWithShape="1">
                <a:blip r:embed="rId5"/>
                <a:stretch>
                  <a:fillRect/>
                </a:stretch>
              </a:blipFill>
              <a:ln>
                <a:noFill/>
              </a:ln>
              <a:effectLst>
                <a:outerShdw blurRad="44450" dist="27940" dir="5400000" algn="ctr">
                  <a:srgbClr val="000000">
                    <a:alpha val="32000"/>
                  </a:srgbClr>
                </a:outerShdw>
              </a:effectLst>
              <a:extLst/>
            </p:spPr>
            <p:txBody>
              <a:bodyPr/>
              <a:lstStyle/>
              <a:p>
                <a:r>
                  <a:rPr lang="en-CA">
                    <a:noFill/>
                  </a:rPr>
                  <a:t> </a:t>
                </a:r>
              </a:p>
            </p:txBody>
          </p:sp>
        </mc:Fallback>
      </mc:AlternateContent>
      <p:sp>
        <p:nvSpPr>
          <p:cNvPr id="32" name="Text Box 32"/>
          <p:cNvSpPr txBox="1">
            <a:spLocks noChangeArrowheads="1"/>
          </p:cNvSpPr>
          <p:nvPr/>
        </p:nvSpPr>
        <p:spPr bwMode="auto">
          <a:xfrm>
            <a:off x="276226" y="2834763"/>
            <a:ext cx="6353175"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000" b="1" dirty="0"/>
              <a:t>Proof:</a:t>
            </a:r>
            <a:r>
              <a:rPr lang="en-US" sz="2000" dirty="0"/>
              <a:t>  By induction on |X| using the flow conservation law.</a:t>
            </a:r>
          </a:p>
        </p:txBody>
      </p:sp>
      <p:sp>
        <p:nvSpPr>
          <p:cNvPr id="4" name="Slide Number Placeholder 3"/>
          <p:cNvSpPr>
            <a:spLocks noGrp="1"/>
          </p:cNvSpPr>
          <p:nvPr>
            <p:ph type="sldNum" sz="quarter" idx="12"/>
          </p:nvPr>
        </p:nvSpPr>
        <p:spPr/>
        <p:txBody>
          <a:bodyPr/>
          <a:lstStyle/>
          <a:p>
            <a:pPr>
              <a:defRPr/>
            </a:pPr>
            <a:fld id="{2EA72CB5-5472-4B1F-9EF4-151FAEB37976}" type="slidenum">
              <a:rPr lang="en-US" smtClean="0"/>
              <a:pPr>
                <a:defRPr/>
              </a:pPr>
              <a:t>140</a:t>
            </a:fld>
            <a:endParaRPr lang="en-US"/>
          </a:p>
        </p:txBody>
      </p:sp>
    </p:spTree>
    <p:extLst>
      <p:ext uri="{BB962C8B-B14F-4D97-AF65-F5344CB8AC3E}">
        <p14:creationId xmlns:p14="http://schemas.microsoft.com/office/powerpoint/2010/main" val="7467393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35525"/>
                                        </p:tgtEl>
                                        <p:attrNameLst>
                                          <p:attrName>style.visibility</p:attrName>
                                        </p:attrNameLst>
                                      </p:cBhvr>
                                      <p:to>
                                        <p:strVal val="visible"/>
                                      </p:to>
                                    </p:set>
                                    <p:anim calcmode="lin" valueType="num">
                                      <p:cBhvr>
                                        <p:cTn id="7" dur="500" fill="hold"/>
                                        <p:tgtEl>
                                          <p:spTgt spid="235525"/>
                                        </p:tgtEl>
                                        <p:attrNameLst>
                                          <p:attrName>ppt_w</p:attrName>
                                        </p:attrNameLst>
                                      </p:cBhvr>
                                      <p:tavLst>
                                        <p:tav tm="0">
                                          <p:val>
                                            <p:fltVal val="0"/>
                                          </p:val>
                                        </p:tav>
                                        <p:tav tm="100000">
                                          <p:val>
                                            <p:strVal val="#ppt_w"/>
                                          </p:val>
                                        </p:tav>
                                      </p:tavLst>
                                    </p:anim>
                                    <p:anim calcmode="lin" valueType="num">
                                      <p:cBhvr>
                                        <p:cTn id="8" dur="500" fill="hold"/>
                                        <p:tgtEl>
                                          <p:spTgt spid="235525"/>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up)">
                                      <p:cBhvr>
                                        <p:cTn id="13" dur="5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wipe(left)">
                                      <p:cBhvr>
                                        <p:cTn id="1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5" grpId="0" animBg="1" autoUpdateAnimBg="0"/>
      <p:bldP spid="30" grpId="0" animBg="1"/>
      <p:bldP spid="32" grpId="0"/>
    </p:bldLst>
  </p:timing>
</p:sld>
</file>

<file path=ppt/slides/slide1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Example</a:t>
            </a:r>
          </a:p>
        </p:txBody>
      </p:sp>
      <p:grpSp>
        <p:nvGrpSpPr>
          <p:cNvPr id="237803" name="Group 235"/>
          <p:cNvGrpSpPr>
            <a:grpSpLocks/>
          </p:cNvGrpSpPr>
          <p:nvPr/>
        </p:nvGrpSpPr>
        <p:grpSpPr bwMode="auto">
          <a:xfrm>
            <a:off x="585788" y="808038"/>
            <a:ext cx="8023225" cy="2468562"/>
            <a:chOff x="369" y="509"/>
            <a:chExt cx="5054" cy="1555"/>
          </a:xfrm>
        </p:grpSpPr>
        <p:sp>
          <p:nvSpPr>
            <p:cNvPr id="144423" name="Freeform 233"/>
            <p:cNvSpPr>
              <a:spLocks/>
            </p:cNvSpPr>
            <p:nvPr/>
          </p:nvSpPr>
          <p:spPr bwMode="auto">
            <a:xfrm>
              <a:off x="1054" y="554"/>
              <a:ext cx="2246" cy="1510"/>
            </a:xfrm>
            <a:custGeom>
              <a:avLst/>
              <a:gdLst>
                <a:gd name="T0" fmla="*/ 1209 w 2246"/>
                <a:gd name="T1" fmla="*/ 83 h 1510"/>
                <a:gd name="T2" fmla="*/ 2023 w 2246"/>
                <a:gd name="T3" fmla="*/ 313 h 1510"/>
                <a:gd name="T4" fmla="*/ 2165 w 2246"/>
                <a:gd name="T5" fmla="*/ 903 h 1510"/>
                <a:gd name="T6" fmla="*/ 1535 w 2246"/>
                <a:gd name="T7" fmla="*/ 1343 h 1510"/>
                <a:gd name="T8" fmla="*/ 647 w 2246"/>
                <a:gd name="T9" fmla="*/ 1486 h 1510"/>
                <a:gd name="T10" fmla="*/ 173 w 2246"/>
                <a:gd name="T11" fmla="*/ 1438 h 1510"/>
                <a:gd name="T12" fmla="*/ 166 w 2246"/>
                <a:gd name="T13" fmla="*/ 1052 h 1510"/>
                <a:gd name="T14" fmla="*/ 1169 w 2246"/>
                <a:gd name="T15" fmla="*/ 808 h 1510"/>
                <a:gd name="T16" fmla="*/ 1209 w 2246"/>
                <a:gd name="T17" fmla="*/ 83 h 15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46" h="1510">
                  <a:moveTo>
                    <a:pt x="1209" y="83"/>
                  </a:moveTo>
                  <a:cubicBezTo>
                    <a:pt x="1351" y="0"/>
                    <a:pt x="1864" y="176"/>
                    <a:pt x="2023" y="313"/>
                  </a:cubicBezTo>
                  <a:cubicBezTo>
                    <a:pt x="2182" y="450"/>
                    <a:pt x="2246" y="731"/>
                    <a:pt x="2165" y="903"/>
                  </a:cubicBezTo>
                  <a:cubicBezTo>
                    <a:pt x="2084" y="1075"/>
                    <a:pt x="1788" y="1246"/>
                    <a:pt x="1535" y="1343"/>
                  </a:cubicBezTo>
                  <a:cubicBezTo>
                    <a:pt x="1282" y="1440"/>
                    <a:pt x="874" y="1470"/>
                    <a:pt x="647" y="1486"/>
                  </a:cubicBezTo>
                  <a:cubicBezTo>
                    <a:pt x="420" y="1502"/>
                    <a:pt x="253" y="1510"/>
                    <a:pt x="173" y="1438"/>
                  </a:cubicBezTo>
                  <a:cubicBezTo>
                    <a:pt x="93" y="1366"/>
                    <a:pt x="0" y="1157"/>
                    <a:pt x="166" y="1052"/>
                  </a:cubicBezTo>
                  <a:cubicBezTo>
                    <a:pt x="332" y="947"/>
                    <a:pt x="995" y="969"/>
                    <a:pt x="1169" y="808"/>
                  </a:cubicBezTo>
                  <a:cubicBezTo>
                    <a:pt x="1343" y="647"/>
                    <a:pt x="1067" y="166"/>
                    <a:pt x="1209" y="83"/>
                  </a:cubicBezTo>
                  <a:close/>
                </a:path>
              </a:pathLst>
            </a:custGeom>
            <a:solidFill>
              <a:srgbClr val="FFCC99"/>
            </a:solidFill>
            <a:ln w="19050" cap="flat" cmpd="sng">
              <a:noFill/>
              <a:prstDash val="solid"/>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spAutoFit/>
            </a:bodyPr>
            <a:lstStyle/>
            <a:p>
              <a:endParaRPr lang="en-CA"/>
            </a:p>
          </p:txBody>
        </p:sp>
        <p:sp>
          <p:nvSpPr>
            <p:cNvPr id="144424" name="Freeform 204"/>
            <p:cNvSpPr>
              <a:spLocks/>
            </p:cNvSpPr>
            <p:nvPr/>
          </p:nvSpPr>
          <p:spPr bwMode="auto">
            <a:xfrm>
              <a:off x="369" y="509"/>
              <a:ext cx="1289" cy="1051"/>
            </a:xfrm>
            <a:custGeom>
              <a:avLst/>
              <a:gdLst>
                <a:gd name="T0" fmla="*/ 1013 w 1289"/>
                <a:gd name="T1" fmla="*/ 30 h 1051"/>
                <a:gd name="T2" fmla="*/ 1271 w 1289"/>
                <a:gd name="T3" fmla="*/ 322 h 1051"/>
                <a:gd name="T4" fmla="*/ 1122 w 1289"/>
                <a:gd name="T5" fmla="*/ 525 h 1051"/>
                <a:gd name="T6" fmla="*/ 783 w 1289"/>
                <a:gd name="T7" fmla="*/ 643 h 1051"/>
                <a:gd name="T8" fmla="*/ 591 w 1289"/>
                <a:gd name="T9" fmla="*/ 883 h 1051"/>
                <a:gd name="T10" fmla="*/ 424 w 1289"/>
                <a:gd name="T11" fmla="*/ 1040 h 1051"/>
                <a:gd name="T12" fmla="*/ 92 w 1289"/>
                <a:gd name="T13" fmla="*/ 952 h 1051"/>
                <a:gd name="T14" fmla="*/ 153 w 1289"/>
                <a:gd name="T15" fmla="*/ 505 h 1051"/>
                <a:gd name="T16" fmla="*/ 1013 w 1289"/>
                <a:gd name="T17" fmla="*/ 30 h 10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89" h="1051">
                  <a:moveTo>
                    <a:pt x="1013" y="30"/>
                  </a:moveTo>
                  <a:cubicBezTo>
                    <a:pt x="1199" y="0"/>
                    <a:pt x="1253" y="240"/>
                    <a:pt x="1271" y="322"/>
                  </a:cubicBezTo>
                  <a:cubicBezTo>
                    <a:pt x="1289" y="404"/>
                    <a:pt x="1203" y="471"/>
                    <a:pt x="1122" y="525"/>
                  </a:cubicBezTo>
                  <a:cubicBezTo>
                    <a:pt x="1041" y="579"/>
                    <a:pt x="871" y="583"/>
                    <a:pt x="783" y="643"/>
                  </a:cubicBezTo>
                  <a:cubicBezTo>
                    <a:pt x="695" y="703"/>
                    <a:pt x="651" y="817"/>
                    <a:pt x="591" y="883"/>
                  </a:cubicBezTo>
                  <a:cubicBezTo>
                    <a:pt x="531" y="949"/>
                    <a:pt x="507" y="1029"/>
                    <a:pt x="424" y="1040"/>
                  </a:cubicBezTo>
                  <a:cubicBezTo>
                    <a:pt x="341" y="1051"/>
                    <a:pt x="137" y="1041"/>
                    <a:pt x="92" y="952"/>
                  </a:cubicBezTo>
                  <a:cubicBezTo>
                    <a:pt x="47" y="863"/>
                    <a:pt x="0" y="659"/>
                    <a:pt x="153" y="505"/>
                  </a:cubicBezTo>
                  <a:cubicBezTo>
                    <a:pt x="306" y="351"/>
                    <a:pt x="820" y="39"/>
                    <a:pt x="1013" y="30"/>
                  </a:cubicBezTo>
                  <a:close/>
                </a:path>
              </a:pathLst>
            </a:custGeom>
            <a:solidFill>
              <a:srgbClr val="FFCC99"/>
            </a:solidFill>
            <a:ln w="19050" cap="flat" cmpd="sng">
              <a:noFill/>
              <a:prstDash val="solid"/>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spAutoFit/>
            </a:bodyPr>
            <a:lstStyle/>
            <a:p>
              <a:endParaRPr lang="en-CA"/>
            </a:p>
          </p:txBody>
        </p:sp>
        <p:grpSp>
          <p:nvGrpSpPr>
            <p:cNvPr id="144425" name="Group 168"/>
            <p:cNvGrpSpPr>
              <a:grpSpLocks/>
            </p:cNvGrpSpPr>
            <p:nvPr/>
          </p:nvGrpSpPr>
          <p:grpSpPr bwMode="auto">
            <a:xfrm>
              <a:off x="672" y="624"/>
              <a:ext cx="2452" cy="1281"/>
              <a:chOff x="96" y="432"/>
              <a:chExt cx="2452" cy="1281"/>
            </a:xfrm>
          </p:grpSpPr>
          <p:sp>
            <p:nvSpPr>
              <p:cNvPr id="144427" name="Line 169"/>
              <p:cNvSpPr>
                <a:spLocks noChangeShapeType="1"/>
              </p:cNvSpPr>
              <p:nvPr/>
            </p:nvSpPr>
            <p:spPr bwMode="auto">
              <a:xfrm flipV="1">
                <a:off x="1898" y="777"/>
                <a:ext cx="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4428" name="Line 170"/>
              <p:cNvSpPr>
                <a:spLocks noChangeShapeType="1"/>
              </p:cNvSpPr>
              <p:nvPr/>
            </p:nvSpPr>
            <p:spPr bwMode="auto">
              <a:xfrm flipV="1">
                <a:off x="805" y="755"/>
                <a:ext cx="0"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4429" name="Freeform 171"/>
              <p:cNvSpPr>
                <a:spLocks/>
              </p:cNvSpPr>
              <p:nvPr/>
            </p:nvSpPr>
            <p:spPr bwMode="auto">
              <a:xfrm>
                <a:off x="192" y="720"/>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4430" name="Line 172"/>
              <p:cNvSpPr>
                <a:spLocks noChangeShapeType="1"/>
              </p:cNvSpPr>
              <p:nvPr/>
            </p:nvSpPr>
            <p:spPr bwMode="auto">
              <a:xfrm>
                <a:off x="912" y="62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4431" name="Freeform 173"/>
              <p:cNvSpPr>
                <a:spLocks/>
              </p:cNvSpPr>
              <p:nvPr/>
            </p:nvSpPr>
            <p:spPr bwMode="auto">
              <a:xfrm>
                <a:off x="192" y="1152"/>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4432" name="Line 174"/>
              <p:cNvSpPr>
                <a:spLocks noChangeShapeType="1"/>
              </p:cNvSpPr>
              <p:nvPr/>
            </p:nvSpPr>
            <p:spPr bwMode="auto">
              <a:xfrm>
                <a:off x="912" y="158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4433" name="Freeform 175"/>
              <p:cNvSpPr>
                <a:spLocks/>
              </p:cNvSpPr>
              <p:nvPr/>
            </p:nvSpPr>
            <p:spPr bwMode="auto">
              <a:xfrm>
                <a:off x="846" y="708"/>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4434" name="Freeform 176"/>
              <p:cNvSpPr>
                <a:spLocks/>
              </p:cNvSpPr>
              <p:nvPr/>
            </p:nvSpPr>
            <p:spPr bwMode="auto">
              <a:xfrm>
                <a:off x="1909" y="645"/>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4435" name="Freeform 177"/>
              <p:cNvSpPr>
                <a:spLocks/>
              </p:cNvSpPr>
              <p:nvPr/>
            </p:nvSpPr>
            <p:spPr bwMode="auto">
              <a:xfrm>
                <a:off x="1872" y="1152"/>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4436" name="Oval 178"/>
              <p:cNvSpPr>
                <a:spLocks noChangeArrowheads="1"/>
              </p:cNvSpPr>
              <p:nvPr/>
            </p:nvSpPr>
            <p:spPr bwMode="auto">
              <a:xfrm>
                <a:off x="672" y="148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44437" name="Oval 179"/>
              <p:cNvSpPr>
                <a:spLocks noChangeArrowheads="1"/>
              </p:cNvSpPr>
              <p:nvPr/>
            </p:nvSpPr>
            <p:spPr bwMode="auto">
              <a:xfrm>
                <a:off x="96" y="100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44438" name="Oval 180"/>
              <p:cNvSpPr>
                <a:spLocks noChangeArrowheads="1"/>
              </p:cNvSpPr>
              <p:nvPr/>
            </p:nvSpPr>
            <p:spPr bwMode="auto">
              <a:xfrm>
                <a:off x="672" y="53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44439" name="Oval 181"/>
              <p:cNvSpPr>
                <a:spLocks noChangeArrowheads="1"/>
              </p:cNvSpPr>
              <p:nvPr/>
            </p:nvSpPr>
            <p:spPr bwMode="auto">
              <a:xfrm>
                <a:off x="1776"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44440" name="Oval 182"/>
              <p:cNvSpPr>
                <a:spLocks noChangeArrowheads="1"/>
              </p:cNvSpPr>
              <p:nvPr/>
            </p:nvSpPr>
            <p:spPr bwMode="auto">
              <a:xfrm>
                <a:off x="1776" y="5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c</a:t>
                </a:r>
              </a:p>
            </p:txBody>
          </p:sp>
          <p:sp>
            <p:nvSpPr>
              <p:cNvPr id="144441" name="Oval 183"/>
              <p:cNvSpPr>
                <a:spLocks noChangeArrowheads="1"/>
              </p:cNvSpPr>
              <p:nvPr/>
            </p:nvSpPr>
            <p:spPr bwMode="auto">
              <a:xfrm>
                <a:off x="2304" y="96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44442" name="Text Box 184"/>
              <p:cNvSpPr txBox="1">
                <a:spLocks noChangeArrowheads="1"/>
              </p:cNvSpPr>
              <p:nvPr/>
            </p:nvSpPr>
            <p:spPr bwMode="auto">
              <a:xfrm>
                <a:off x="96" y="720"/>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 / 15</a:t>
                </a:r>
              </a:p>
            </p:txBody>
          </p:sp>
          <p:sp>
            <p:nvSpPr>
              <p:cNvPr id="144443" name="Text Box 185"/>
              <p:cNvSpPr txBox="1">
                <a:spLocks noChangeArrowheads="1"/>
              </p:cNvSpPr>
              <p:nvPr/>
            </p:nvSpPr>
            <p:spPr bwMode="auto">
              <a:xfrm>
                <a:off x="1152" y="432"/>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 </a:t>
                </a:r>
                <a:r>
                  <a:rPr lang="en-US" sz="1800" b="1"/>
                  <a:t>/ 4</a:t>
                </a:r>
              </a:p>
            </p:txBody>
          </p:sp>
          <p:sp>
            <p:nvSpPr>
              <p:cNvPr id="144444" name="Text Box 186"/>
              <p:cNvSpPr txBox="1">
                <a:spLocks noChangeArrowheads="1"/>
              </p:cNvSpPr>
              <p:nvPr/>
            </p:nvSpPr>
            <p:spPr bwMode="auto">
              <a:xfrm>
                <a:off x="96" y="134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8</a:t>
                </a:r>
                <a:r>
                  <a:rPr lang="en-US" sz="1800" b="1"/>
                  <a:t> / 8</a:t>
                </a:r>
              </a:p>
            </p:txBody>
          </p:sp>
          <p:sp>
            <p:nvSpPr>
              <p:cNvPr id="144445" name="Text Box 187"/>
              <p:cNvSpPr txBox="1">
                <a:spLocks noChangeArrowheads="1"/>
              </p:cNvSpPr>
              <p:nvPr/>
            </p:nvSpPr>
            <p:spPr bwMode="auto">
              <a:xfrm>
                <a:off x="480"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a:t>
                </a:r>
                <a:r>
                  <a:rPr lang="en-US" sz="1800" b="1"/>
                  <a:t>/15</a:t>
                </a:r>
              </a:p>
            </p:txBody>
          </p:sp>
          <p:sp>
            <p:nvSpPr>
              <p:cNvPr id="144446" name="Text Box 188"/>
              <p:cNvSpPr txBox="1">
                <a:spLocks noChangeArrowheads="1"/>
              </p:cNvSpPr>
              <p:nvPr/>
            </p:nvSpPr>
            <p:spPr bwMode="auto">
              <a:xfrm>
                <a:off x="1200" y="86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 </a:t>
                </a:r>
                <a:r>
                  <a:rPr lang="en-US" sz="1800" b="1"/>
                  <a:t>/ 5</a:t>
                </a:r>
              </a:p>
            </p:txBody>
          </p:sp>
          <p:sp>
            <p:nvSpPr>
              <p:cNvPr id="144447" name="Text Box 189"/>
              <p:cNvSpPr txBox="1">
                <a:spLocks noChangeArrowheads="1"/>
              </p:cNvSpPr>
              <p:nvPr/>
            </p:nvSpPr>
            <p:spPr bwMode="auto">
              <a:xfrm>
                <a:off x="1824"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a:t>
                </a:r>
                <a:r>
                  <a:rPr lang="en-US" sz="1800" b="1"/>
                  <a:t>/8</a:t>
                </a:r>
              </a:p>
            </p:txBody>
          </p:sp>
          <p:sp>
            <p:nvSpPr>
              <p:cNvPr id="144448" name="Text Box 190"/>
              <p:cNvSpPr txBox="1">
                <a:spLocks noChangeArrowheads="1"/>
              </p:cNvSpPr>
              <p:nvPr/>
            </p:nvSpPr>
            <p:spPr bwMode="auto">
              <a:xfrm>
                <a:off x="2148" y="129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/7</a:t>
                </a:r>
              </a:p>
            </p:txBody>
          </p:sp>
          <p:sp>
            <p:nvSpPr>
              <p:cNvPr id="144449" name="Text Box 191"/>
              <p:cNvSpPr txBox="1">
                <a:spLocks noChangeArrowheads="1"/>
              </p:cNvSpPr>
              <p:nvPr/>
            </p:nvSpPr>
            <p:spPr bwMode="auto">
              <a:xfrm>
                <a:off x="2064" y="62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a:t>
                </a:r>
                <a:r>
                  <a:rPr lang="en-US" sz="1800" b="1"/>
                  <a:t>/12</a:t>
                </a:r>
              </a:p>
            </p:txBody>
          </p:sp>
          <p:sp>
            <p:nvSpPr>
              <p:cNvPr id="144450" name="Text Box 192"/>
              <p:cNvSpPr txBox="1">
                <a:spLocks noChangeArrowheads="1"/>
              </p:cNvSpPr>
              <p:nvPr/>
            </p:nvSpPr>
            <p:spPr bwMode="auto">
              <a:xfrm>
                <a:off x="1104" y="1392"/>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 / 18</a:t>
                </a:r>
              </a:p>
            </p:txBody>
          </p:sp>
        </p:grpSp>
        <p:sp>
          <p:nvSpPr>
            <p:cNvPr id="144426" name="Text Box 205"/>
            <p:cNvSpPr txBox="1">
              <a:spLocks noChangeArrowheads="1"/>
            </p:cNvSpPr>
            <p:nvPr/>
          </p:nvSpPr>
          <p:spPr bwMode="auto">
            <a:xfrm>
              <a:off x="3456" y="1200"/>
              <a:ext cx="1967"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000"/>
                <a:t>v(f) = 12 = (4 + 1 + 8)  – (1) </a:t>
              </a:r>
            </a:p>
          </p:txBody>
        </p:sp>
      </p:grpSp>
      <p:grpSp>
        <p:nvGrpSpPr>
          <p:cNvPr id="237804" name="Group 236"/>
          <p:cNvGrpSpPr>
            <a:grpSpLocks/>
          </p:cNvGrpSpPr>
          <p:nvPr/>
        </p:nvGrpSpPr>
        <p:grpSpPr bwMode="auto">
          <a:xfrm>
            <a:off x="668338" y="4146550"/>
            <a:ext cx="8261350" cy="2468563"/>
            <a:chOff x="421" y="2612"/>
            <a:chExt cx="5204" cy="1555"/>
          </a:xfrm>
        </p:grpSpPr>
        <p:sp>
          <p:nvSpPr>
            <p:cNvPr id="144395" name="Freeform 234"/>
            <p:cNvSpPr>
              <a:spLocks/>
            </p:cNvSpPr>
            <p:nvPr/>
          </p:nvSpPr>
          <p:spPr bwMode="auto">
            <a:xfrm>
              <a:off x="1099" y="3155"/>
              <a:ext cx="2150" cy="1012"/>
            </a:xfrm>
            <a:custGeom>
              <a:avLst/>
              <a:gdLst>
                <a:gd name="T0" fmla="*/ 1320 w 2150"/>
                <a:gd name="T1" fmla="*/ 565 h 1012"/>
                <a:gd name="T2" fmla="*/ 1652 w 2150"/>
                <a:gd name="T3" fmla="*/ 382 h 1012"/>
                <a:gd name="T4" fmla="*/ 1774 w 2150"/>
                <a:gd name="T5" fmla="*/ 71 h 1012"/>
                <a:gd name="T6" fmla="*/ 2099 w 2150"/>
                <a:gd name="T7" fmla="*/ 71 h 1012"/>
                <a:gd name="T8" fmla="*/ 2072 w 2150"/>
                <a:gd name="T9" fmla="*/ 498 h 1012"/>
                <a:gd name="T10" fmla="*/ 1632 w 2150"/>
                <a:gd name="T11" fmla="*/ 904 h 1012"/>
                <a:gd name="T12" fmla="*/ 324 w 2150"/>
                <a:gd name="T13" fmla="*/ 992 h 1012"/>
                <a:gd name="T14" fmla="*/ 6 w 2150"/>
                <a:gd name="T15" fmla="*/ 782 h 1012"/>
                <a:gd name="T16" fmla="*/ 290 w 2150"/>
                <a:gd name="T17" fmla="*/ 538 h 1012"/>
                <a:gd name="T18" fmla="*/ 1320 w 2150"/>
                <a:gd name="T19" fmla="*/ 565 h 10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50" h="1012">
                  <a:moveTo>
                    <a:pt x="1320" y="565"/>
                  </a:moveTo>
                  <a:cubicBezTo>
                    <a:pt x="1547" y="539"/>
                    <a:pt x="1576" y="464"/>
                    <a:pt x="1652" y="382"/>
                  </a:cubicBezTo>
                  <a:cubicBezTo>
                    <a:pt x="1728" y="300"/>
                    <a:pt x="1700" y="123"/>
                    <a:pt x="1774" y="71"/>
                  </a:cubicBezTo>
                  <a:cubicBezTo>
                    <a:pt x="1848" y="19"/>
                    <a:pt x="2049" y="0"/>
                    <a:pt x="2099" y="71"/>
                  </a:cubicBezTo>
                  <a:cubicBezTo>
                    <a:pt x="2149" y="142"/>
                    <a:pt x="2150" y="359"/>
                    <a:pt x="2072" y="498"/>
                  </a:cubicBezTo>
                  <a:cubicBezTo>
                    <a:pt x="1994" y="637"/>
                    <a:pt x="1923" y="822"/>
                    <a:pt x="1632" y="904"/>
                  </a:cubicBezTo>
                  <a:cubicBezTo>
                    <a:pt x="1341" y="986"/>
                    <a:pt x="595" y="1012"/>
                    <a:pt x="324" y="992"/>
                  </a:cubicBezTo>
                  <a:cubicBezTo>
                    <a:pt x="53" y="972"/>
                    <a:pt x="12" y="858"/>
                    <a:pt x="6" y="782"/>
                  </a:cubicBezTo>
                  <a:cubicBezTo>
                    <a:pt x="0" y="706"/>
                    <a:pt x="71" y="574"/>
                    <a:pt x="290" y="538"/>
                  </a:cubicBezTo>
                  <a:cubicBezTo>
                    <a:pt x="509" y="502"/>
                    <a:pt x="1097" y="601"/>
                    <a:pt x="1320" y="565"/>
                  </a:cubicBezTo>
                  <a:close/>
                </a:path>
              </a:pathLst>
            </a:custGeom>
            <a:solidFill>
              <a:srgbClr val="FFCC99"/>
            </a:solidFill>
            <a:ln w="19050" cap="flat" cmpd="sng">
              <a:noFill/>
              <a:prstDash val="solid"/>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spAutoFit/>
            </a:bodyPr>
            <a:lstStyle/>
            <a:p>
              <a:endParaRPr lang="en-CA"/>
            </a:p>
          </p:txBody>
        </p:sp>
        <p:sp>
          <p:nvSpPr>
            <p:cNvPr id="144396" name="Freeform 231"/>
            <p:cNvSpPr>
              <a:spLocks/>
            </p:cNvSpPr>
            <p:nvPr/>
          </p:nvSpPr>
          <p:spPr bwMode="auto">
            <a:xfrm>
              <a:off x="421" y="2612"/>
              <a:ext cx="2317" cy="1094"/>
            </a:xfrm>
            <a:custGeom>
              <a:avLst/>
              <a:gdLst>
                <a:gd name="T0" fmla="*/ 2093 w 2317"/>
                <a:gd name="T1" fmla="*/ 108 h 1094"/>
                <a:gd name="T2" fmla="*/ 2154 w 2317"/>
                <a:gd name="T3" fmla="*/ 562 h 1094"/>
                <a:gd name="T4" fmla="*/ 1422 w 2317"/>
                <a:gd name="T5" fmla="*/ 474 h 1094"/>
                <a:gd name="T6" fmla="*/ 846 w 2317"/>
                <a:gd name="T7" fmla="*/ 671 h 1094"/>
                <a:gd name="T8" fmla="*/ 582 w 2317"/>
                <a:gd name="T9" fmla="*/ 901 h 1094"/>
                <a:gd name="T10" fmla="*/ 331 w 2317"/>
                <a:gd name="T11" fmla="*/ 1070 h 1094"/>
                <a:gd name="T12" fmla="*/ 80 w 2317"/>
                <a:gd name="T13" fmla="*/ 759 h 1094"/>
                <a:gd name="T14" fmla="*/ 812 w 2317"/>
                <a:gd name="T15" fmla="*/ 108 h 1094"/>
                <a:gd name="T16" fmla="*/ 2093 w 2317"/>
                <a:gd name="T17" fmla="*/ 108 h 10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17" h="1094">
                  <a:moveTo>
                    <a:pt x="2093" y="108"/>
                  </a:moveTo>
                  <a:cubicBezTo>
                    <a:pt x="2317" y="184"/>
                    <a:pt x="2266" y="501"/>
                    <a:pt x="2154" y="562"/>
                  </a:cubicBezTo>
                  <a:cubicBezTo>
                    <a:pt x="2042" y="623"/>
                    <a:pt x="1640" y="456"/>
                    <a:pt x="1422" y="474"/>
                  </a:cubicBezTo>
                  <a:cubicBezTo>
                    <a:pt x="1204" y="492"/>
                    <a:pt x="986" y="600"/>
                    <a:pt x="846" y="671"/>
                  </a:cubicBezTo>
                  <a:cubicBezTo>
                    <a:pt x="706" y="742"/>
                    <a:pt x="668" y="835"/>
                    <a:pt x="582" y="901"/>
                  </a:cubicBezTo>
                  <a:cubicBezTo>
                    <a:pt x="496" y="967"/>
                    <a:pt x="415" y="1094"/>
                    <a:pt x="331" y="1070"/>
                  </a:cubicBezTo>
                  <a:cubicBezTo>
                    <a:pt x="247" y="1046"/>
                    <a:pt x="0" y="919"/>
                    <a:pt x="80" y="759"/>
                  </a:cubicBezTo>
                  <a:cubicBezTo>
                    <a:pt x="160" y="599"/>
                    <a:pt x="477" y="216"/>
                    <a:pt x="812" y="108"/>
                  </a:cubicBezTo>
                  <a:cubicBezTo>
                    <a:pt x="1147" y="0"/>
                    <a:pt x="1875" y="26"/>
                    <a:pt x="2093" y="108"/>
                  </a:cubicBezTo>
                  <a:close/>
                </a:path>
              </a:pathLst>
            </a:custGeom>
            <a:solidFill>
              <a:srgbClr val="FFCC99"/>
            </a:solidFill>
            <a:ln w="19050" cap="flat" cmpd="sng">
              <a:noFill/>
              <a:prstDash val="solid"/>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spAutoFit/>
            </a:bodyPr>
            <a:lstStyle/>
            <a:p>
              <a:endParaRPr lang="en-CA"/>
            </a:p>
          </p:txBody>
        </p:sp>
        <p:grpSp>
          <p:nvGrpSpPr>
            <p:cNvPr id="144397" name="Group 206"/>
            <p:cNvGrpSpPr>
              <a:grpSpLocks/>
            </p:cNvGrpSpPr>
            <p:nvPr/>
          </p:nvGrpSpPr>
          <p:grpSpPr bwMode="auto">
            <a:xfrm>
              <a:off x="672" y="2784"/>
              <a:ext cx="2452" cy="1281"/>
              <a:chOff x="96" y="432"/>
              <a:chExt cx="2452" cy="1281"/>
            </a:xfrm>
          </p:grpSpPr>
          <p:sp>
            <p:nvSpPr>
              <p:cNvPr id="144399" name="Line 207"/>
              <p:cNvSpPr>
                <a:spLocks noChangeShapeType="1"/>
              </p:cNvSpPr>
              <p:nvPr/>
            </p:nvSpPr>
            <p:spPr bwMode="auto">
              <a:xfrm flipV="1">
                <a:off x="1911" y="753"/>
                <a:ext cx="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4400" name="Line 208"/>
              <p:cNvSpPr>
                <a:spLocks noChangeShapeType="1"/>
              </p:cNvSpPr>
              <p:nvPr/>
            </p:nvSpPr>
            <p:spPr bwMode="auto">
              <a:xfrm flipV="1">
                <a:off x="805" y="755"/>
                <a:ext cx="0"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44401" name="Freeform 209"/>
              <p:cNvSpPr>
                <a:spLocks/>
              </p:cNvSpPr>
              <p:nvPr/>
            </p:nvSpPr>
            <p:spPr bwMode="auto">
              <a:xfrm>
                <a:off x="192" y="720"/>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4402" name="Line 210"/>
              <p:cNvSpPr>
                <a:spLocks noChangeShapeType="1"/>
              </p:cNvSpPr>
              <p:nvPr/>
            </p:nvSpPr>
            <p:spPr bwMode="auto">
              <a:xfrm>
                <a:off x="912" y="62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4403" name="Freeform 211"/>
              <p:cNvSpPr>
                <a:spLocks/>
              </p:cNvSpPr>
              <p:nvPr/>
            </p:nvSpPr>
            <p:spPr bwMode="auto">
              <a:xfrm>
                <a:off x="192" y="1152"/>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4404" name="Line 212"/>
              <p:cNvSpPr>
                <a:spLocks noChangeShapeType="1"/>
              </p:cNvSpPr>
              <p:nvPr/>
            </p:nvSpPr>
            <p:spPr bwMode="auto">
              <a:xfrm>
                <a:off x="912" y="158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4405" name="Freeform 213"/>
              <p:cNvSpPr>
                <a:spLocks/>
              </p:cNvSpPr>
              <p:nvPr/>
            </p:nvSpPr>
            <p:spPr bwMode="auto">
              <a:xfrm>
                <a:off x="846" y="708"/>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4406" name="Freeform 214"/>
              <p:cNvSpPr>
                <a:spLocks/>
              </p:cNvSpPr>
              <p:nvPr/>
            </p:nvSpPr>
            <p:spPr bwMode="auto">
              <a:xfrm>
                <a:off x="1909" y="645"/>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4407" name="Freeform 215"/>
              <p:cNvSpPr>
                <a:spLocks/>
              </p:cNvSpPr>
              <p:nvPr/>
            </p:nvSpPr>
            <p:spPr bwMode="auto">
              <a:xfrm>
                <a:off x="1872" y="1152"/>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4408" name="Oval 216"/>
              <p:cNvSpPr>
                <a:spLocks noChangeArrowheads="1"/>
              </p:cNvSpPr>
              <p:nvPr/>
            </p:nvSpPr>
            <p:spPr bwMode="auto">
              <a:xfrm>
                <a:off x="672" y="148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44409" name="Oval 217"/>
              <p:cNvSpPr>
                <a:spLocks noChangeArrowheads="1"/>
              </p:cNvSpPr>
              <p:nvPr/>
            </p:nvSpPr>
            <p:spPr bwMode="auto">
              <a:xfrm>
                <a:off x="96" y="100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44410" name="Oval 218"/>
              <p:cNvSpPr>
                <a:spLocks noChangeArrowheads="1"/>
              </p:cNvSpPr>
              <p:nvPr/>
            </p:nvSpPr>
            <p:spPr bwMode="auto">
              <a:xfrm>
                <a:off x="672" y="53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44411" name="Oval 219"/>
              <p:cNvSpPr>
                <a:spLocks noChangeArrowheads="1"/>
              </p:cNvSpPr>
              <p:nvPr/>
            </p:nvSpPr>
            <p:spPr bwMode="auto">
              <a:xfrm>
                <a:off x="1776"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44412" name="Oval 220"/>
              <p:cNvSpPr>
                <a:spLocks noChangeArrowheads="1"/>
              </p:cNvSpPr>
              <p:nvPr/>
            </p:nvSpPr>
            <p:spPr bwMode="auto">
              <a:xfrm>
                <a:off x="1776" y="5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c</a:t>
                </a:r>
              </a:p>
            </p:txBody>
          </p:sp>
          <p:sp>
            <p:nvSpPr>
              <p:cNvPr id="144413" name="Oval 221"/>
              <p:cNvSpPr>
                <a:spLocks noChangeArrowheads="1"/>
              </p:cNvSpPr>
              <p:nvPr/>
            </p:nvSpPr>
            <p:spPr bwMode="auto">
              <a:xfrm>
                <a:off x="2304" y="96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44414" name="Text Box 222"/>
              <p:cNvSpPr txBox="1">
                <a:spLocks noChangeArrowheads="1"/>
              </p:cNvSpPr>
              <p:nvPr/>
            </p:nvSpPr>
            <p:spPr bwMode="auto">
              <a:xfrm>
                <a:off x="96" y="720"/>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 / 15</a:t>
                </a:r>
              </a:p>
            </p:txBody>
          </p:sp>
          <p:sp>
            <p:nvSpPr>
              <p:cNvPr id="144415" name="Text Box 223"/>
              <p:cNvSpPr txBox="1">
                <a:spLocks noChangeArrowheads="1"/>
              </p:cNvSpPr>
              <p:nvPr/>
            </p:nvSpPr>
            <p:spPr bwMode="auto">
              <a:xfrm>
                <a:off x="1152" y="432"/>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 </a:t>
                </a:r>
                <a:r>
                  <a:rPr lang="en-US" sz="1800" b="1"/>
                  <a:t>/ 4</a:t>
                </a:r>
              </a:p>
            </p:txBody>
          </p:sp>
          <p:sp>
            <p:nvSpPr>
              <p:cNvPr id="144416" name="Text Box 224"/>
              <p:cNvSpPr txBox="1">
                <a:spLocks noChangeArrowheads="1"/>
              </p:cNvSpPr>
              <p:nvPr/>
            </p:nvSpPr>
            <p:spPr bwMode="auto">
              <a:xfrm>
                <a:off x="96" y="134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8</a:t>
                </a:r>
                <a:r>
                  <a:rPr lang="en-US" sz="1800" b="1"/>
                  <a:t> / 8</a:t>
                </a:r>
              </a:p>
            </p:txBody>
          </p:sp>
          <p:sp>
            <p:nvSpPr>
              <p:cNvPr id="144417" name="Text Box 225"/>
              <p:cNvSpPr txBox="1">
                <a:spLocks noChangeArrowheads="1"/>
              </p:cNvSpPr>
              <p:nvPr/>
            </p:nvSpPr>
            <p:spPr bwMode="auto">
              <a:xfrm>
                <a:off x="480"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a:t>
                </a:r>
                <a:r>
                  <a:rPr lang="en-US" sz="1800" b="1"/>
                  <a:t>/15</a:t>
                </a:r>
              </a:p>
            </p:txBody>
          </p:sp>
          <p:sp>
            <p:nvSpPr>
              <p:cNvPr id="144418" name="Text Box 226"/>
              <p:cNvSpPr txBox="1">
                <a:spLocks noChangeArrowheads="1"/>
              </p:cNvSpPr>
              <p:nvPr/>
            </p:nvSpPr>
            <p:spPr bwMode="auto">
              <a:xfrm>
                <a:off x="1200" y="86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 </a:t>
                </a:r>
                <a:r>
                  <a:rPr lang="en-US" sz="1800" b="1"/>
                  <a:t>/ 5</a:t>
                </a:r>
              </a:p>
            </p:txBody>
          </p:sp>
          <p:sp>
            <p:nvSpPr>
              <p:cNvPr id="144419" name="Text Box 227"/>
              <p:cNvSpPr txBox="1">
                <a:spLocks noChangeArrowheads="1"/>
              </p:cNvSpPr>
              <p:nvPr/>
            </p:nvSpPr>
            <p:spPr bwMode="auto">
              <a:xfrm>
                <a:off x="1824"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a:t>
                </a:r>
                <a:r>
                  <a:rPr lang="en-US" sz="1800" b="1"/>
                  <a:t>/8</a:t>
                </a:r>
              </a:p>
            </p:txBody>
          </p:sp>
          <p:sp>
            <p:nvSpPr>
              <p:cNvPr id="144420" name="Text Box 228"/>
              <p:cNvSpPr txBox="1">
                <a:spLocks noChangeArrowheads="1"/>
              </p:cNvSpPr>
              <p:nvPr/>
            </p:nvSpPr>
            <p:spPr bwMode="auto">
              <a:xfrm>
                <a:off x="2148" y="129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/7</a:t>
                </a:r>
              </a:p>
            </p:txBody>
          </p:sp>
          <p:sp>
            <p:nvSpPr>
              <p:cNvPr id="144421" name="Text Box 229"/>
              <p:cNvSpPr txBox="1">
                <a:spLocks noChangeArrowheads="1"/>
              </p:cNvSpPr>
              <p:nvPr/>
            </p:nvSpPr>
            <p:spPr bwMode="auto">
              <a:xfrm>
                <a:off x="2064" y="62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a:t>
                </a:r>
                <a:r>
                  <a:rPr lang="en-US" sz="1800" b="1"/>
                  <a:t>/12</a:t>
                </a:r>
              </a:p>
            </p:txBody>
          </p:sp>
          <p:sp>
            <p:nvSpPr>
              <p:cNvPr id="144422" name="Text Box 230"/>
              <p:cNvSpPr txBox="1">
                <a:spLocks noChangeArrowheads="1"/>
              </p:cNvSpPr>
              <p:nvPr/>
            </p:nvSpPr>
            <p:spPr bwMode="auto">
              <a:xfrm>
                <a:off x="1104" y="1392"/>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 / 18</a:t>
                </a:r>
              </a:p>
            </p:txBody>
          </p:sp>
        </p:grpSp>
        <p:sp>
          <p:nvSpPr>
            <p:cNvPr id="144398" name="Text Box 232"/>
            <p:cNvSpPr txBox="1">
              <a:spLocks noChangeArrowheads="1"/>
            </p:cNvSpPr>
            <p:nvPr/>
          </p:nvSpPr>
          <p:spPr bwMode="auto">
            <a:xfrm>
              <a:off x="3408" y="3216"/>
              <a:ext cx="2217"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000"/>
                <a:t>v(f) = 12 = (8 + 1 + 5)  – (1 + 1) </a:t>
              </a:r>
            </a:p>
          </p:txBody>
        </p:sp>
      </p:grpSp>
      <p:grpSp>
        <p:nvGrpSpPr>
          <p:cNvPr id="237810" name="Group 242"/>
          <p:cNvGrpSpPr>
            <a:grpSpLocks/>
          </p:cNvGrpSpPr>
          <p:nvPr/>
        </p:nvGrpSpPr>
        <p:grpSpPr bwMode="auto">
          <a:xfrm>
            <a:off x="5486400" y="2590800"/>
            <a:ext cx="2924175" cy="409575"/>
            <a:chOff x="3456" y="1632"/>
            <a:chExt cx="1842" cy="258"/>
          </a:xfrm>
        </p:grpSpPr>
        <p:graphicFrame>
          <p:nvGraphicFramePr>
            <p:cNvPr id="144393" name="Object 238"/>
            <p:cNvGraphicFramePr>
              <a:graphicFrameLocks noChangeAspect="1"/>
            </p:cNvGraphicFramePr>
            <p:nvPr/>
          </p:nvGraphicFramePr>
          <p:xfrm>
            <a:off x="3456" y="1632"/>
            <a:ext cx="836" cy="258"/>
          </p:xfrm>
          <a:graphic>
            <a:graphicData uri="http://schemas.openxmlformats.org/presentationml/2006/ole">
              <mc:AlternateContent xmlns:mc="http://schemas.openxmlformats.org/markup-compatibility/2006">
                <mc:Choice xmlns:v="urn:schemas-microsoft-com:vml" Requires="v">
                  <p:oleObj spid="_x0000_s144673" name="Equation" r:id="rId3" imgW="825500" imgH="254000" progId="Equation.3">
                    <p:embed/>
                  </p:oleObj>
                </mc:Choice>
                <mc:Fallback>
                  <p:oleObj name="Equation" r:id="rId3" imgW="825500" imgH="254000" progId="Equation.3">
                    <p:embed/>
                    <p:pic>
                      <p:nvPicPr>
                        <p:cNvPr id="0" name="Object 2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6" y="1632"/>
                          <a:ext cx="836"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394" name="Rectangle 239"/>
            <p:cNvSpPr>
              <a:spLocks noChangeArrowheads="1"/>
            </p:cNvSpPr>
            <p:nvPr/>
          </p:nvSpPr>
          <p:spPr bwMode="auto">
            <a:xfrm>
              <a:off x="4272" y="1632"/>
              <a:ext cx="102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a:buFont typeface="Wingdings" pitchFamily="2" charset="2"/>
                <a:buNone/>
              </a:pPr>
              <a:r>
                <a:rPr lang="en-US" sz="2000"/>
                <a:t>17 = 8 + 5 + 4</a:t>
              </a:r>
            </a:p>
          </p:txBody>
        </p:sp>
      </p:grpSp>
      <p:grpSp>
        <p:nvGrpSpPr>
          <p:cNvPr id="237811" name="Group 243"/>
          <p:cNvGrpSpPr>
            <a:grpSpLocks/>
          </p:cNvGrpSpPr>
          <p:nvPr/>
        </p:nvGrpSpPr>
        <p:grpSpPr bwMode="auto">
          <a:xfrm>
            <a:off x="5486400" y="5715000"/>
            <a:ext cx="3127375" cy="409575"/>
            <a:chOff x="3456" y="3600"/>
            <a:chExt cx="1970" cy="258"/>
          </a:xfrm>
        </p:grpSpPr>
        <p:graphicFrame>
          <p:nvGraphicFramePr>
            <p:cNvPr id="144391" name="Object 240"/>
            <p:cNvGraphicFramePr>
              <a:graphicFrameLocks noChangeAspect="1"/>
            </p:cNvGraphicFramePr>
            <p:nvPr/>
          </p:nvGraphicFramePr>
          <p:xfrm>
            <a:off x="3456" y="3600"/>
            <a:ext cx="874" cy="258"/>
          </p:xfrm>
          <a:graphic>
            <a:graphicData uri="http://schemas.openxmlformats.org/presentationml/2006/ole">
              <mc:AlternateContent xmlns:mc="http://schemas.openxmlformats.org/markup-compatibility/2006">
                <mc:Choice xmlns:v="urn:schemas-microsoft-com:vml" Requires="v">
                  <p:oleObj spid="_x0000_s144674" name="Equation" r:id="rId5" imgW="863225" imgH="253890" progId="Equation.3">
                    <p:embed/>
                  </p:oleObj>
                </mc:Choice>
                <mc:Fallback>
                  <p:oleObj name="Equation" r:id="rId5" imgW="863225" imgH="253890" progId="Equation.3">
                    <p:embed/>
                    <p:pic>
                      <p:nvPicPr>
                        <p:cNvPr id="0" name="Object 2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6" y="3600"/>
                          <a:ext cx="874"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392" name="Rectangle 241"/>
            <p:cNvSpPr>
              <a:spLocks noChangeArrowheads="1"/>
            </p:cNvSpPr>
            <p:nvPr/>
          </p:nvSpPr>
          <p:spPr bwMode="auto">
            <a:xfrm>
              <a:off x="4320" y="3600"/>
              <a:ext cx="110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a:buFont typeface="Wingdings" pitchFamily="2" charset="2"/>
                <a:buNone/>
              </a:pPr>
              <a:r>
                <a:rPr lang="en-US" sz="2000"/>
                <a:t>25 = 8 + 5 + 12</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141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37570"/>
                                        </p:tgtEl>
                                        <p:attrNameLst>
                                          <p:attrName>style.visibility</p:attrName>
                                        </p:attrNameLst>
                                      </p:cBhvr>
                                      <p:to>
                                        <p:strVal val="visible"/>
                                      </p:to>
                                    </p:set>
                                    <p:anim calcmode="lin" valueType="num">
                                      <p:cBhvr>
                                        <p:cTn id="7" dur="500" fill="hold"/>
                                        <p:tgtEl>
                                          <p:spTgt spid="237570"/>
                                        </p:tgtEl>
                                        <p:attrNameLst>
                                          <p:attrName>ppt_w</p:attrName>
                                        </p:attrNameLst>
                                      </p:cBhvr>
                                      <p:tavLst>
                                        <p:tav tm="0">
                                          <p:val>
                                            <p:fltVal val="0"/>
                                          </p:val>
                                        </p:tav>
                                        <p:tav tm="100000">
                                          <p:val>
                                            <p:strVal val="#ppt_w"/>
                                          </p:val>
                                        </p:tav>
                                      </p:tavLst>
                                    </p:anim>
                                    <p:anim calcmode="lin" valueType="num">
                                      <p:cBhvr>
                                        <p:cTn id="8" dur="500" fill="hold"/>
                                        <p:tgtEl>
                                          <p:spTgt spid="23757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37803"/>
                                        </p:tgtEl>
                                        <p:attrNameLst>
                                          <p:attrName>style.visibility</p:attrName>
                                        </p:attrNameLst>
                                      </p:cBhvr>
                                      <p:to>
                                        <p:strVal val="visible"/>
                                      </p:to>
                                    </p:set>
                                    <p:animEffect transition="in" filter="wipe(left)">
                                      <p:cBhvr>
                                        <p:cTn id="13" dur="500"/>
                                        <p:tgtEl>
                                          <p:spTgt spid="237803"/>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237810"/>
                                        </p:tgtEl>
                                        <p:attrNameLst>
                                          <p:attrName>style.visibility</p:attrName>
                                        </p:attrNameLst>
                                      </p:cBhvr>
                                      <p:to>
                                        <p:strVal val="visible"/>
                                      </p:to>
                                    </p:set>
                                    <p:animEffect transition="in" filter="wipe(left)">
                                      <p:cBhvr>
                                        <p:cTn id="17" dur="500"/>
                                        <p:tgtEl>
                                          <p:spTgt spid="2378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37804"/>
                                        </p:tgtEl>
                                        <p:attrNameLst>
                                          <p:attrName>style.visibility</p:attrName>
                                        </p:attrNameLst>
                                      </p:cBhvr>
                                      <p:to>
                                        <p:strVal val="visible"/>
                                      </p:to>
                                    </p:set>
                                    <p:animEffect transition="in" filter="wipe(left)">
                                      <p:cBhvr>
                                        <p:cTn id="22" dur="500"/>
                                        <p:tgtEl>
                                          <p:spTgt spid="237804"/>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237811"/>
                                        </p:tgtEl>
                                        <p:attrNameLst>
                                          <p:attrName>style.visibility</p:attrName>
                                        </p:attrNameLst>
                                      </p:cBhvr>
                                      <p:to>
                                        <p:strVal val="visible"/>
                                      </p:to>
                                    </p:set>
                                    <p:animEffect transition="in" filter="wipe(left)">
                                      <p:cBhvr>
                                        <p:cTn id="26" dur="500"/>
                                        <p:tgtEl>
                                          <p:spTgt spid="237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0" grpId="0" animBg="1" autoUpdateAnimBg="0"/>
    </p:bldLst>
  </p:timing>
</p:sld>
</file>

<file path=ppt/slides/slide1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Max-Flow  Min-Cut  </a:t>
            </a:r>
            <a:r>
              <a:rPr lang="en-US" sz="2800" dirty="0" smtClean="0">
                <a:solidFill>
                  <a:srgbClr val="FF0000"/>
                </a:solidFill>
                <a:latin typeface="Arial Rounded MT Bold" pitchFamily="34" charset="0"/>
              </a:rPr>
              <a:t>Theorem</a:t>
            </a:r>
          </a:p>
        </p:txBody>
      </p:sp>
      <mc:AlternateContent xmlns:mc="http://schemas.openxmlformats.org/markup-compatibility/2006" xmlns:a14="http://schemas.microsoft.com/office/drawing/2010/main">
        <mc:Choice Requires="a14">
          <p:sp>
            <p:nvSpPr>
              <p:cNvPr id="145433" name="Rectangle 74" descr="Recycled paper"/>
              <p:cNvSpPr>
                <a:spLocks noChangeArrowheads="1"/>
              </p:cNvSpPr>
              <p:nvPr/>
            </p:nvSpPr>
            <p:spPr bwMode="auto">
              <a:xfrm>
                <a:off x="152400" y="838200"/>
                <a:ext cx="8839200" cy="2092881"/>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a:lnSpc>
                    <a:spcPct val="125000"/>
                  </a:lnSpc>
                  <a:buFont typeface="Wingdings" pitchFamily="2" charset="2"/>
                  <a:buNone/>
                </a:pPr>
                <a:r>
                  <a:rPr lang="en-US" sz="2400" b="1" dirty="0" smtClean="0">
                    <a:solidFill>
                      <a:srgbClr val="CC0000"/>
                    </a:solidFill>
                  </a:rPr>
                  <a:t>Theorem [Ford-Fulkerson 1962]:</a:t>
                </a:r>
                <a:r>
                  <a:rPr lang="en-US" sz="2000" dirty="0"/>
                  <a:t> </a:t>
                </a:r>
                <a:br>
                  <a:rPr lang="en-US" sz="2000" dirty="0"/>
                </a:br>
                <a:r>
                  <a:rPr lang="en-US" sz="2000" dirty="0"/>
                  <a:t>Let f be any feasible flow, and </a:t>
                </a:r>
                <a14:m>
                  <m:oMath xmlns:m="http://schemas.openxmlformats.org/officeDocument/2006/math">
                    <m:r>
                      <a:rPr lang="en-CA" sz="2000" b="0" i="0" smtClean="0">
                        <a:latin typeface="Cambria Math"/>
                      </a:rPr>
                      <m:t> (</m:t>
                    </m:r>
                    <m:r>
                      <m:rPr>
                        <m:sty m:val="p"/>
                      </m:rPr>
                      <a:rPr lang="en-CA" sz="2000" b="0" i="0" smtClean="0">
                        <a:latin typeface="Cambria Math"/>
                      </a:rPr>
                      <m:t>X</m:t>
                    </m:r>
                    <m:r>
                      <a:rPr lang="en-CA" sz="2000" b="0" i="0" smtClean="0">
                        <a:latin typeface="Cambria Math"/>
                      </a:rPr>
                      <m:t>, </m:t>
                    </m:r>
                    <m:acc>
                      <m:accPr>
                        <m:chr m:val="̅"/>
                        <m:ctrlPr>
                          <a:rPr lang="en-CA" sz="2000" b="0" i="1" smtClean="0">
                            <a:latin typeface="Cambria Math"/>
                          </a:rPr>
                        </m:ctrlPr>
                      </m:accPr>
                      <m:e>
                        <m:r>
                          <m:rPr>
                            <m:sty m:val="p"/>
                          </m:rPr>
                          <a:rPr lang="en-CA" sz="2000" b="0" i="0" smtClean="0">
                            <a:latin typeface="Cambria Math"/>
                          </a:rPr>
                          <m:t>X</m:t>
                        </m:r>
                      </m:e>
                    </m:acc>
                    <m:r>
                      <a:rPr lang="en-CA" sz="2000" b="0" i="0" smtClean="0">
                        <a:latin typeface="Cambria Math"/>
                      </a:rPr>
                      <m:t>)</m:t>
                    </m:r>
                  </m:oMath>
                </a14:m>
                <a:r>
                  <a:rPr lang="en-US" sz="2000" dirty="0" smtClean="0"/>
                  <a:t> be </a:t>
                </a:r>
                <a:r>
                  <a:rPr lang="en-US" sz="2000" dirty="0"/>
                  <a:t>any </a:t>
                </a:r>
                <a:r>
                  <a:rPr lang="en-US" sz="2000" dirty="0" err="1"/>
                  <a:t>st</a:t>
                </a:r>
                <a:r>
                  <a:rPr lang="en-US" sz="2000" dirty="0"/>
                  <a:t>-cut.  Then</a:t>
                </a:r>
              </a:p>
              <a:p>
                <a:pPr marL="457200" indent="-457200">
                  <a:lnSpc>
                    <a:spcPct val="125000"/>
                  </a:lnSpc>
                  <a:buFont typeface="Wingdings" pitchFamily="2" charset="2"/>
                  <a:buNone/>
                </a:pPr>
                <a:r>
                  <a:rPr lang="en-US" sz="2000" dirty="0"/>
                  <a:t>	(a</a:t>
                </a:r>
                <a:r>
                  <a:rPr lang="en-US" sz="2000" dirty="0" smtClean="0"/>
                  <a:t>) </a:t>
                </a:r>
                <a14:m>
                  <m:oMath xmlns:m="http://schemas.openxmlformats.org/officeDocument/2006/math">
                    <m:r>
                      <a:rPr lang="en-CA" sz="2000" b="0" i="0" smtClean="0">
                        <a:latin typeface="Cambria Math"/>
                      </a:rPr>
                      <m:t>   </m:t>
                    </m:r>
                    <m:r>
                      <m:rPr>
                        <m:sty m:val="p"/>
                      </m:rPr>
                      <a:rPr lang="en-CA" sz="2000" b="0" i="0" smtClean="0">
                        <a:latin typeface="Cambria Math"/>
                      </a:rPr>
                      <m:t>v</m:t>
                    </m:r>
                    <m:d>
                      <m:dPr>
                        <m:ctrlPr>
                          <a:rPr lang="en-CA" sz="2000" b="0" i="1" smtClean="0">
                            <a:latin typeface="Cambria Math"/>
                          </a:rPr>
                        </m:ctrlPr>
                      </m:dPr>
                      <m:e>
                        <m:r>
                          <m:rPr>
                            <m:sty m:val="p"/>
                          </m:rPr>
                          <a:rPr lang="en-CA" sz="2000" b="0" i="0" smtClean="0">
                            <a:latin typeface="Cambria Math"/>
                          </a:rPr>
                          <m:t>f</m:t>
                        </m:r>
                      </m:e>
                    </m:d>
                    <m:r>
                      <a:rPr lang="en-CA" sz="2000" b="0" i="1" smtClean="0">
                        <a:latin typeface="Cambria Math"/>
                        <a:ea typeface="Cambria Math"/>
                      </a:rPr>
                      <m:t>≤</m:t>
                    </m:r>
                    <m:r>
                      <m:rPr>
                        <m:sty m:val="p"/>
                      </m:rPr>
                      <a:rPr lang="en-CA" sz="2000" b="0" i="0" smtClean="0">
                        <a:latin typeface="Cambria Math"/>
                      </a:rPr>
                      <m:t>C</m:t>
                    </m:r>
                    <m:d>
                      <m:dPr>
                        <m:ctrlPr>
                          <a:rPr lang="en-CA" sz="2000" b="0" i="1" smtClean="0">
                            <a:latin typeface="Cambria Math"/>
                          </a:rPr>
                        </m:ctrlPr>
                      </m:dPr>
                      <m:e>
                        <m:r>
                          <m:rPr>
                            <m:sty m:val="p"/>
                          </m:rPr>
                          <a:rPr lang="en-CA" sz="2000" b="0" i="0" smtClean="0">
                            <a:latin typeface="Cambria Math"/>
                          </a:rPr>
                          <m:t>X</m:t>
                        </m:r>
                        <m:r>
                          <a:rPr lang="en-CA" sz="2000" b="0" i="0" smtClean="0">
                            <a:latin typeface="Cambria Math"/>
                          </a:rPr>
                          <m:t>, </m:t>
                        </m:r>
                        <m:acc>
                          <m:accPr>
                            <m:chr m:val="̅"/>
                            <m:ctrlPr>
                              <a:rPr lang="en-CA" sz="2000" b="0" i="1" smtClean="0">
                                <a:latin typeface="Cambria Math"/>
                              </a:rPr>
                            </m:ctrlPr>
                          </m:accPr>
                          <m:e>
                            <m:r>
                              <m:rPr>
                                <m:sty m:val="p"/>
                              </m:rPr>
                              <a:rPr lang="en-CA" sz="2000" b="0" i="0" smtClean="0">
                                <a:latin typeface="Cambria Math"/>
                              </a:rPr>
                              <m:t>X</m:t>
                            </m:r>
                          </m:e>
                        </m:acc>
                      </m:e>
                    </m:d>
                    <m:r>
                      <a:rPr lang="en-CA" sz="2000" b="0" i="0" smtClean="0">
                        <a:latin typeface="Cambria Math"/>
                      </a:rPr>
                      <m:t>,</m:t>
                    </m:r>
                  </m:oMath>
                </a14:m>
                <a:endParaRPr lang="en-US" sz="2000" dirty="0"/>
              </a:p>
              <a:p>
                <a:pPr marL="457200" indent="-457200">
                  <a:lnSpc>
                    <a:spcPct val="125000"/>
                  </a:lnSpc>
                  <a:buNone/>
                </a:pPr>
                <a:r>
                  <a:rPr lang="en-US" sz="2000" dirty="0"/>
                  <a:t>	(b)  </a:t>
                </a:r>
                <a:r>
                  <a:rPr lang="en-US" sz="2000" dirty="0" smtClean="0"/>
                  <a:t> f </a:t>
                </a:r>
                <a:r>
                  <a:rPr lang="en-US" sz="2000" dirty="0"/>
                  <a:t>is a </a:t>
                </a:r>
                <a:r>
                  <a:rPr lang="en-US" sz="2000" dirty="0">
                    <a:solidFill>
                      <a:srgbClr val="CC0000"/>
                    </a:solidFill>
                  </a:rPr>
                  <a:t>max flow</a:t>
                </a:r>
                <a:r>
                  <a:rPr lang="en-US" sz="2000" dirty="0"/>
                  <a:t> </a:t>
                </a:r>
                <a:r>
                  <a:rPr lang="en-US" sz="2000" dirty="0" smtClean="0"/>
                  <a:t> and </a:t>
                </a:r>
                <a14:m>
                  <m:oMath xmlns:m="http://schemas.openxmlformats.org/officeDocument/2006/math">
                    <m:r>
                      <a:rPr lang="en-CA" sz="2000" b="0" i="0" smtClean="0">
                        <a:latin typeface="Cambria Math"/>
                      </a:rPr>
                      <m:t> </m:t>
                    </m:r>
                    <m:r>
                      <a:rPr lang="en-CA" sz="2000">
                        <a:latin typeface="Cambria Math"/>
                      </a:rPr>
                      <m:t>(</m:t>
                    </m:r>
                    <m:r>
                      <m:rPr>
                        <m:sty m:val="p"/>
                      </m:rPr>
                      <a:rPr lang="en-CA" sz="2000">
                        <a:latin typeface="Cambria Math"/>
                      </a:rPr>
                      <m:t>X</m:t>
                    </m:r>
                    <m:r>
                      <a:rPr lang="en-CA" sz="2000">
                        <a:latin typeface="Cambria Math"/>
                      </a:rPr>
                      <m:t>, </m:t>
                    </m:r>
                    <m:acc>
                      <m:accPr>
                        <m:chr m:val="̅"/>
                        <m:ctrlPr>
                          <a:rPr lang="en-CA" sz="2000" i="1">
                            <a:latin typeface="Cambria Math"/>
                          </a:rPr>
                        </m:ctrlPr>
                      </m:accPr>
                      <m:e>
                        <m:r>
                          <m:rPr>
                            <m:sty m:val="p"/>
                          </m:rPr>
                          <a:rPr lang="en-CA" sz="2000">
                            <a:latin typeface="Cambria Math"/>
                          </a:rPr>
                          <m:t>X</m:t>
                        </m:r>
                      </m:e>
                    </m:acc>
                    <m:r>
                      <a:rPr lang="en-CA" sz="2000">
                        <a:latin typeface="Cambria Math"/>
                      </a:rPr>
                      <m:t>)</m:t>
                    </m:r>
                  </m:oMath>
                </a14:m>
                <a:r>
                  <a:rPr lang="en-US" sz="2000" dirty="0"/>
                  <a:t> </a:t>
                </a:r>
                <a:r>
                  <a:rPr lang="en-US" sz="2000" dirty="0" smtClean="0"/>
                  <a:t>is </a:t>
                </a:r>
                <a:r>
                  <a:rPr lang="en-US" sz="2000" dirty="0"/>
                  <a:t>a </a:t>
                </a:r>
                <a:r>
                  <a:rPr lang="en-US" sz="2000" dirty="0">
                    <a:solidFill>
                      <a:srgbClr val="CC0000"/>
                    </a:solidFill>
                  </a:rPr>
                  <a:t>min capacity</a:t>
                </a:r>
                <a:r>
                  <a:rPr lang="en-US" sz="2000" dirty="0"/>
                  <a:t> </a:t>
                </a:r>
                <a:r>
                  <a:rPr lang="en-US" sz="2000" dirty="0" err="1"/>
                  <a:t>st</a:t>
                </a:r>
                <a:r>
                  <a:rPr lang="en-US" sz="2000" dirty="0"/>
                  <a:t>-cut </a:t>
                </a:r>
                <a:r>
                  <a:rPr lang="en-US" sz="2000" dirty="0" smtClean="0"/>
                  <a:t>  </a:t>
                </a:r>
                <a:r>
                  <a:rPr lang="en-US" sz="2000" dirty="0">
                    <a:solidFill>
                      <a:srgbClr val="CC0000"/>
                    </a:solidFill>
                  </a:rPr>
                  <a:t>if and only </a:t>
                </a:r>
                <a:r>
                  <a:rPr lang="en-US" sz="2000" dirty="0" smtClean="0">
                    <a:solidFill>
                      <a:srgbClr val="CC0000"/>
                    </a:solidFill>
                  </a:rPr>
                  <a:t>if         </a:t>
                </a:r>
                <a:br>
                  <a:rPr lang="en-US" sz="2000" dirty="0" smtClean="0">
                    <a:solidFill>
                      <a:srgbClr val="CC0000"/>
                    </a:solidFill>
                  </a:rPr>
                </a:br>
                <a:r>
                  <a:rPr lang="en-US" sz="2000" dirty="0" smtClean="0">
                    <a:solidFill>
                      <a:srgbClr val="CC0000"/>
                    </a:solidFill>
                  </a:rPr>
                  <a:t>       </a:t>
                </a:r>
                <a14:m>
                  <m:oMath xmlns:m="http://schemas.openxmlformats.org/officeDocument/2006/math">
                    <m:r>
                      <a:rPr lang="en-CA" sz="2000" b="0" i="0" smtClean="0">
                        <a:latin typeface="Cambria Math"/>
                      </a:rPr>
                      <m:t> </m:t>
                    </m:r>
                    <m:r>
                      <m:rPr>
                        <m:sty m:val="p"/>
                      </m:rPr>
                      <a:rPr lang="en-CA" sz="2000">
                        <a:latin typeface="Cambria Math"/>
                      </a:rPr>
                      <m:t>v</m:t>
                    </m:r>
                    <m:d>
                      <m:dPr>
                        <m:ctrlPr>
                          <a:rPr lang="en-CA" sz="2000" i="1">
                            <a:latin typeface="Cambria Math"/>
                          </a:rPr>
                        </m:ctrlPr>
                      </m:dPr>
                      <m:e>
                        <m:r>
                          <m:rPr>
                            <m:sty m:val="p"/>
                          </m:rPr>
                          <a:rPr lang="en-CA" sz="2000">
                            <a:latin typeface="Cambria Math"/>
                          </a:rPr>
                          <m:t>f</m:t>
                        </m:r>
                      </m:e>
                    </m:d>
                    <m:r>
                      <a:rPr lang="en-CA" sz="2000" b="0" i="1" smtClean="0">
                        <a:latin typeface="Cambria Math"/>
                        <a:ea typeface="Cambria Math"/>
                      </a:rPr>
                      <m:t>=</m:t>
                    </m:r>
                    <m:r>
                      <m:rPr>
                        <m:sty m:val="p"/>
                      </m:rPr>
                      <a:rPr lang="en-CA" sz="2000">
                        <a:latin typeface="Cambria Math"/>
                      </a:rPr>
                      <m:t>C</m:t>
                    </m:r>
                    <m:d>
                      <m:dPr>
                        <m:ctrlPr>
                          <a:rPr lang="en-CA" sz="2000" i="1">
                            <a:latin typeface="Cambria Math"/>
                          </a:rPr>
                        </m:ctrlPr>
                      </m:dPr>
                      <m:e>
                        <m:r>
                          <m:rPr>
                            <m:sty m:val="p"/>
                          </m:rPr>
                          <a:rPr lang="en-CA" sz="2000">
                            <a:latin typeface="Cambria Math"/>
                          </a:rPr>
                          <m:t>X</m:t>
                        </m:r>
                        <m:r>
                          <a:rPr lang="en-CA" sz="2000">
                            <a:latin typeface="Cambria Math"/>
                          </a:rPr>
                          <m:t>, </m:t>
                        </m:r>
                        <m:acc>
                          <m:accPr>
                            <m:chr m:val="̅"/>
                            <m:ctrlPr>
                              <a:rPr lang="en-CA" sz="2000" i="1">
                                <a:latin typeface="Cambria Math"/>
                              </a:rPr>
                            </m:ctrlPr>
                          </m:accPr>
                          <m:e>
                            <m:r>
                              <m:rPr>
                                <m:sty m:val="p"/>
                              </m:rPr>
                              <a:rPr lang="en-CA" sz="2000">
                                <a:latin typeface="Cambria Math"/>
                              </a:rPr>
                              <m:t>X</m:t>
                            </m:r>
                          </m:e>
                        </m:acc>
                      </m:e>
                    </m:d>
                    <m:r>
                      <a:rPr lang="en-CA" sz="2000" b="0" i="0" smtClean="0">
                        <a:latin typeface="Cambria Math"/>
                      </a:rPr>
                      <m:t>.</m:t>
                    </m:r>
                  </m:oMath>
                </a14:m>
                <a:endParaRPr lang="en-US" sz="2000" dirty="0"/>
              </a:p>
            </p:txBody>
          </p:sp>
        </mc:Choice>
        <mc:Fallback xmlns="">
          <p:sp>
            <p:nvSpPr>
              <p:cNvPr id="145433" name="Rectangle 74" descr="Recycled paper"/>
              <p:cNvSpPr>
                <a:spLocks noRot="1" noChangeAspect="1" noMove="1" noResize="1" noEditPoints="1" noAdjustHandles="1" noChangeArrowheads="1" noChangeShapeType="1" noTextEdit="1"/>
              </p:cNvSpPr>
              <p:nvPr/>
            </p:nvSpPr>
            <p:spPr bwMode="auto">
              <a:xfrm>
                <a:off x="152400" y="838200"/>
                <a:ext cx="8839200" cy="2092881"/>
              </a:xfrm>
              <a:prstGeom prst="rect">
                <a:avLst/>
              </a:prstGeom>
              <a:blipFill rotWithShape="1">
                <a:blip r:embed="rId6"/>
                <a:stretch>
                  <a:fillRect/>
                </a:stretch>
              </a:blipFill>
              <a:ln w="19050">
                <a:noFill/>
                <a:miter lim="800000"/>
                <a:headEnd/>
                <a:tailEnd/>
              </a:ln>
              <a:effectLst>
                <a:outerShdw blurRad="44450" dist="27940" dir="5400000" algn="ctr">
                  <a:srgbClr val="000000">
                    <a:alpha val="32000"/>
                  </a:srgbClr>
                </a:outerShdw>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45432" name="Rectangle 37"/>
              <p:cNvSpPr>
                <a:spLocks noChangeArrowheads="1"/>
              </p:cNvSpPr>
              <p:nvPr/>
            </p:nvSpPr>
            <p:spPr bwMode="auto">
              <a:xfrm>
                <a:off x="152400" y="2971800"/>
                <a:ext cx="7620000" cy="3596502"/>
              </a:xfrm>
              <a:prstGeom prst="rect">
                <a:avLst/>
              </a:prstGeom>
              <a:noFill/>
              <a:ln>
                <a:noFill/>
              </a:ln>
              <a:effectLst/>
              <a:extLst>
                <a:ext uri="{909E8E84-426E-40DD-AFC4-6F175D3DCCD1}">
                  <a14:hiddenFill>
                    <a:solidFill>
                      <a:schemeClr val="accent1"/>
                    </a:solidFill>
                  </a14:hiddenFill>
                </a:ext>
                <a:ext uri="{91240B29-F687-4F45-9708-019B960494DF}">
                  <a14:hiddenLine w="1905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bIns="10800">
                <a:spAutoFit/>
              </a:bodyPr>
              <a:lstStyle/>
              <a:p>
                <a:pPr marL="457200" indent="-457200">
                  <a:lnSpc>
                    <a:spcPct val="105000"/>
                  </a:lnSpc>
                  <a:spcBef>
                    <a:spcPct val="50000"/>
                  </a:spcBef>
                  <a:buFont typeface="Wingdings" pitchFamily="2" charset="2"/>
                  <a:buNone/>
                </a:pPr>
                <a:r>
                  <a:rPr lang="en-US" sz="2000" b="1" dirty="0" smtClean="0"/>
                  <a:t>Proof:</a:t>
                </a:r>
                <a:r>
                  <a:rPr lang="en-US" sz="2000" dirty="0"/>
                  <a:t>  </a:t>
                </a:r>
              </a:p>
              <a:p>
                <a:pPr marL="457200" indent="-457200">
                  <a:lnSpc>
                    <a:spcPct val="105000"/>
                  </a:lnSpc>
                  <a:spcBef>
                    <a:spcPct val="50000"/>
                  </a:spcBef>
                  <a:buFont typeface="Wingdings" pitchFamily="2" charset="2"/>
                  <a:buAutoNum type="alphaLcParenBoth"/>
                </a:pPr>
                <a:r>
                  <a:rPr lang="en-US" sz="2000" dirty="0"/>
                  <a:t>v(f)  = (total forward flow) – (total backward flow)</a:t>
                </a:r>
                <a:br>
                  <a:rPr lang="en-US" sz="2000" dirty="0"/>
                </a:br>
                <a:r>
                  <a:rPr lang="en-US" sz="2000" dirty="0"/>
                  <a:t>	 </a:t>
                </a:r>
                <a:r>
                  <a:rPr lang="en-US" sz="2000" dirty="0">
                    <a:sym typeface="Symbol" pitchFamily="18" charset="2"/>
                  </a:rPr>
                  <a:t></a:t>
                </a:r>
                <a:r>
                  <a:rPr lang="en-US" sz="2000" dirty="0"/>
                  <a:t>  (total forward capacity) – 0</a:t>
                </a:r>
                <a:br>
                  <a:rPr lang="en-US" sz="2000" dirty="0"/>
                </a:br>
                <a:r>
                  <a:rPr lang="en-US" sz="2000" dirty="0"/>
                  <a:t>        =  </a:t>
                </a:r>
                <a14:m>
                  <m:oMath xmlns:m="http://schemas.openxmlformats.org/officeDocument/2006/math">
                    <m:r>
                      <m:rPr>
                        <m:sty m:val="p"/>
                      </m:rPr>
                      <a:rPr lang="en-CA" sz="2000" b="0" i="0" smtClean="0">
                        <a:latin typeface="Cambria Math"/>
                      </a:rPr>
                      <m:t>C</m:t>
                    </m:r>
                    <m:r>
                      <a:rPr lang="en-CA" sz="2000" b="0" i="0" smtClean="0">
                        <a:latin typeface="Cambria Math"/>
                      </a:rPr>
                      <m:t>(</m:t>
                    </m:r>
                    <m:r>
                      <m:rPr>
                        <m:sty m:val="p"/>
                      </m:rPr>
                      <a:rPr lang="en-CA" sz="2000" b="0" i="0" smtClean="0">
                        <a:latin typeface="Cambria Math"/>
                      </a:rPr>
                      <m:t>X</m:t>
                    </m:r>
                    <m:r>
                      <a:rPr lang="en-CA" sz="2000" b="0" i="0" smtClean="0">
                        <a:latin typeface="Cambria Math"/>
                      </a:rPr>
                      <m:t>,</m:t>
                    </m:r>
                    <m:acc>
                      <m:accPr>
                        <m:chr m:val="̅"/>
                        <m:ctrlPr>
                          <a:rPr lang="en-CA" sz="2000" b="0" i="1" smtClean="0">
                            <a:latin typeface="Cambria Math"/>
                          </a:rPr>
                        </m:ctrlPr>
                      </m:accPr>
                      <m:e>
                        <m:r>
                          <m:rPr>
                            <m:sty m:val="p"/>
                          </m:rPr>
                          <a:rPr lang="en-CA" sz="2000" b="0" i="0" smtClean="0">
                            <a:latin typeface="Cambria Math"/>
                          </a:rPr>
                          <m:t>X</m:t>
                        </m:r>
                      </m:e>
                    </m:acc>
                    <m:r>
                      <a:rPr lang="en-CA" sz="2000" b="0" i="0" smtClean="0">
                        <a:latin typeface="Cambria Math"/>
                      </a:rPr>
                      <m:t>)</m:t>
                    </m:r>
                  </m:oMath>
                </a14:m>
                <a:r>
                  <a:rPr lang="en-US" sz="2000" dirty="0"/>
                  <a:t>. </a:t>
                </a:r>
                <a:endParaRPr lang="en-US" sz="2000" dirty="0" smtClean="0"/>
              </a:p>
              <a:p>
                <a:pPr marL="452438" indent="-452438">
                  <a:lnSpc>
                    <a:spcPct val="105000"/>
                  </a:lnSpc>
                  <a:spcBef>
                    <a:spcPct val="50000"/>
                  </a:spcBef>
                  <a:buFont typeface="Wingdings" pitchFamily="2" charset="2"/>
                  <a:buAutoNum type="alphaLcParenBoth"/>
                </a:pPr>
                <a:r>
                  <a:rPr lang="en-US" sz="2000" dirty="0" smtClean="0"/>
                  <a:t>At </a:t>
                </a:r>
                <a:r>
                  <a:rPr lang="en-US" sz="2000" dirty="0"/>
                  <a:t>the last iteration of Ford-Fulkerson’s algorithm, let</a:t>
                </a:r>
                <a:br>
                  <a:rPr lang="en-US" sz="2000" dirty="0"/>
                </a:br>
                <a:r>
                  <a:rPr lang="en-US" sz="2000" dirty="0" smtClean="0"/>
                  <a:t>X </a:t>
                </a:r>
                <a14:m>
                  <m:oMath xmlns:m="http://schemas.openxmlformats.org/officeDocument/2006/math">
                    <m:r>
                      <a:rPr lang="en-US" sz="2000" i="1" dirty="0" smtClean="0">
                        <a:latin typeface="Cambria Math"/>
                        <a:ea typeface="Cambria Math"/>
                      </a:rPr>
                      <m:t>←</m:t>
                    </m:r>
                  </m:oMath>
                </a14:m>
                <a:r>
                  <a:rPr lang="en-US" sz="2000" dirty="0" smtClean="0"/>
                  <a:t> the </a:t>
                </a:r>
                <a:r>
                  <a:rPr lang="en-US" sz="2000" dirty="0"/>
                  <a:t>set of nodes reachable from s in G(f</a:t>
                </a:r>
                <a:r>
                  <a:rPr lang="en-US" sz="2000" dirty="0" smtClean="0"/>
                  <a:t>).</a:t>
                </a:r>
                <a:br>
                  <a:rPr lang="en-US" sz="2000" dirty="0" smtClean="0"/>
                </a:br>
                <a:r>
                  <a:rPr lang="en-US" sz="2000" dirty="0" smtClean="0"/>
                  <a:t>	</a:t>
                </a:r>
                <a14:m>
                  <m:oMath xmlns:m="http://schemas.openxmlformats.org/officeDocument/2006/math">
                    <m:d>
                      <m:dPr>
                        <m:ctrlPr>
                          <a:rPr lang="en-CA" sz="2000" i="1" smtClean="0">
                            <a:solidFill>
                              <a:schemeClr val="accent2"/>
                            </a:solidFill>
                            <a:latin typeface="Cambria Math"/>
                          </a:rPr>
                        </m:ctrlPr>
                      </m:dPr>
                      <m:e>
                        <m:r>
                          <m:rPr>
                            <m:sty m:val="p"/>
                          </m:rPr>
                          <a:rPr lang="en-CA" sz="2000">
                            <a:solidFill>
                              <a:schemeClr val="accent2"/>
                            </a:solidFill>
                            <a:latin typeface="Cambria Math"/>
                          </a:rPr>
                          <m:t>X</m:t>
                        </m:r>
                        <m:r>
                          <a:rPr lang="en-CA" sz="2000">
                            <a:solidFill>
                              <a:schemeClr val="accent2"/>
                            </a:solidFill>
                            <a:latin typeface="Cambria Math"/>
                          </a:rPr>
                          <m:t>, </m:t>
                        </m:r>
                        <m:acc>
                          <m:accPr>
                            <m:chr m:val="̅"/>
                            <m:ctrlPr>
                              <a:rPr lang="en-CA" sz="2000" i="1">
                                <a:solidFill>
                                  <a:schemeClr val="accent2"/>
                                </a:solidFill>
                                <a:latin typeface="Cambria Math"/>
                              </a:rPr>
                            </m:ctrlPr>
                          </m:accPr>
                          <m:e>
                            <m:r>
                              <m:rPr>
                                <m:sty m:val="p"/>
                              </m:rPr>
                              <a:rPr lang="en-CA" sz="2000">
                                <a:solidFill>
                                  <a:schemeClr val="accent2"/>
                                </a:solidFill>
                                <a:latin typeface="Cambria Math"/>
                              </a:rPr>
                              <m:t>X</m:t>
                            </m:r>
                          </m:e>
                        </m:acc>
                      </m:e>
                    </m:d>
                    <m:r>
                      <a:rPr lang="en-CA" sz="2000">
                        <a:solidFill>
                          <a:schemeClr val="accent2"/>
                        </a:solidFill>
                        <a:latin typeface="Cambria Math"/>
                      </a:rPr>
                      <m:t> </m:t>
                    </m:r>
                  </m:oMath>
                </a14:m>
                <a:r>
                  <a:rPr lang="en-US" sz="2000" dirty="0">
                    <a:solidFill>
                      <a:schemeClr val="accent2"/>
                    </a:solidFill>
                  </a:rPr>
                  <a:t>is an </a:t>
                </a:r>
                <a:r>
                  <a:rPr lang="en-US" sz="2000" dirty="0" err="1">
                    <a:solidFill>
                      <a:schemeClr val="accent2"/>
                    </a:solidFill>
                  </a:rPr>
                  <a:t>st</a:t>
                </a:r>
                <a:r>
                  <a:rPr lang="en-US" sz="2000" dirty="0">
                    <a:solidFill>
                      <a:schemeClr val="accent2"/>
                    </a:solidFill>
                  </a:rPr>
                  <a:t>-cut with the following properties:</a:t>
                </a:r>
                <a:br>
                  <a:rPr lang="en-US" sz="2000" dirty="0">
                    <a:solidFill>
                      <a:schemeClr val="accent2"/>
                    </a:solidFill>
                  </a:rPr>
                </a:br>
                <a:r>
                  <a:rPr lang="en-US" sz="2000" dirty="0" smtClean="0">
                    <a:solidFill>
                      <a:schemeClr val="accent2"/>
                    </a:solidFill>
                  </a:rPr>
                  <a:t>	all </a:t>
                </a:r>
                <a:r>
                  <a:rPr lang="en-US" sz="2000" dirty="0">
                    <a:solidFill>
                      <a:schemeClr val="accent2"/>
                    </a:solidFill>
                  </a:rPr>
                  <a:t>its  forward   cross edges are </a:t>
                </a:r>
                <a:r>
                  <a:rPr lang="en-US" sz="2000" dirty="0" smtClean="0">
                    <a:solidFill>
                      <a:schemeClr val="accent2"/>
                    </a:solidFill>
                  </a:rPr>
                  <a:t> saturated  (f </a:t>
                </a:r>
                <a:r>
                  <a:rPr lang="en-US" sz="2000" dirty="0">
                    <a:solidFill>
                      <a:schemeClr val="accent2"/>
                    </a:solidFill>
                  </a:rPr>
                  <a:t>= </a:t>
                </a:r>
                <a:r>
                  <a:rPr lang="en-US" sz="2000" dirty="0" smtClean="0">
                    <a:solidFill>
                      <a:schemeClr val="accent2"/>
                    </a:solidFill>
                  </a:rPr>
                  <a:t>c)   and</a:t>
                </a:r>
                <a:r>
                  <a:rPr lang="en-US" sz="2000" dirty="0">
                    <a:solidFill>
                      <a:schemeClr val="accent2"/>
                    </a:solidFill>
                  </a:rPr>
                  <a:t/>
                </a:r>
                <a:br>
                  <a:rPr lang="en-US" sz="2000" dirty="0">
                    <a:solidFill>
                      <a:schemeClr val="accent2"/>
                    </a:solidFill>
                  </a:rPr>
                </a:br>
                <a:r>
                  <a:rPr lang="en-US" sz="2000" dirty="0" smtClean="0">
                    <a:solidFill>
                      <a:schemeClr val="accent2"/>
                    </a:solidFill>
                  </a:rPr>
                  <a:t>	all </a:t>
                </a:r>
                <a:r>
                  <a:rPr lang="en-US" sz="2000" dirty="0">
                    <a:solidFill>
                      <a:schemeClr val="accent2"/>
                    </a:solidFill>
                  </a:rPr>
                  <a:t>its backward cross edges are  </a:t>
                </a:r>
                <a:r>
                  <a:rPr lang="en-US" sz="2000" dirty="0" smtClean="0">
                    <a:solidFill>
                      <a:schemeClr val="accent2"/>
                    </a:solidFill>
                  </a:rPr>
                  <a:t>empty       (f </a:t>
                </a:r>
                <a:r>
                  <a:rPr lang="en-US" sz="2000" dirty="0">
                    <a:solidFill>
                      <a:schemeClr val="accent2"/>
                    </a:solidFill>
                  </a:rPr>
                  <a:t>= </a:t>
                </a:r>
                <a:r>
                  <a:rPr lang="en-US" sz="2000" dirty="0" smtClean="0">
                    <a:solidFill>
                      <a:schemeClr val="accent2"/>
                    </a:solidFill>
                  </a:rPr>
                  <a:t>0).</a:t>
                </a:r>
                <a:r>
                  <a:rPr lang="en-US" sz="2000" dirty="0">
                    <a:solidFill>
                      <a:schemeClr val="accent2"/>
                    </a:solidFill>
                  </a:rPr>
                  <a:t/>
                </a:r>
                <a:br>
                  <a:rPr lang="en-US" sz="2000" dirty="0">
                    <a:solidFill>
                      <a:schemeClr val="accent2"/>
                    </a:solidFill>
                  </a:rPr>
                </a:br>
                <a:r>
                  <a:rPr lang="en-US" sz="2000" dirty="0" smtClean="0"/>
                  <a:t>2</a:t>
                </a:r>
                <a:r>
                  <a:rPr lang="en-US" sz="2000" baseline="30000" dirty="0" smtClean="0"/>
                  <a:t>nd</a:t>
                </a:r>
                <a:r>
                  <a:rPr lang="en-US" sz="2000" dirty="0" smtClean="0"/>
                  <a:t> </a:t>
                </a:r>
                <a:r>
                  <a:rPr lang="en-US" sz="2000" dirty="0"/>
                  <a:t>line of proof of (a) is now met with =.</a:t>
                </a:r>
              </a:p>
            </p:txBody>
          </p:sp>
        </mc:Choice>
        <mc:Fallback xmlns="">
          <p:sp>
            <p:nvSpPr>
              <p:cNvPr id="145432" name="Rectangle 37"/>
              <p:cNvSpPr>
                <a:spLocks noRot="1" noChangeAspect="1" noMove="1" noResize="1" noEditPoints="1" noAdjustHandles="1" noChangeArrowheads="1" noChangeShapeType="1" noTextEdit="1"/>
              </p:cNvSpPr>
              <p:nvPr/>
            </p:nvSpPr>
            <p:spPr bwMode="auto">
              <a:xfrm>
                <a:off x="152400" y="2971800"/>
                <a:ext cx="7620000" cy="3596502"/>
              </a:xfrm>
              <a:prstGeom prst="rect">
                <a:avLst/>
              </a:prstGeom>
              <a:blipFill rotWithShape="1">
                <a:blip r:embed="rId7"/>
                <a:stretch>
                  <a:fillRect l="-800" t="-1019" b="-254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p:grpSp>
        <p:nvGrpSpPr>
          <p:cNvPr id="238664" name="Group 72"/>
          <p:cNvGrpSpPr>
            <a:grpSpLocks/>
          </p:cNvGrpSpPr>
          <p:nvPr/>
        </p:nvGrpSpPr>
        <p:grpSpPr bwMode="auto">
          <a:xfrm>
            <a:off x="6019800" y="2971801"/>
            <a:ext cx="2971800" cy="1874838"/>
            <a:chOff x="3696" y="1488"/>
            <a:chExt cx="1872" cy="1181"/>
          </a:xfrm>
        </p:grpSpPr>
        <p:sp>
          <p:nvSpPr>
            <p:cNvPr id="145415" name="Freeform 41"/>
            <p:cNvSpPr>
              <a:spLocks/>
            </p:cNvSpPr>
            <p:nvPr/>
          </p:nvSpPr>
          <p:spPr bwMode="auto">
            <a:xfrm>
              <a:off x="4872" y="1488"/>
              <a:ext cx="696" cy="965"/>
            </a:xfrm>
            <a:custGeom>
              <a:avLst/>
              <a:gdLst>
                <a:gd name="T0" fmla="*/ 615 w 1440"/>
                <a:gd name="T1" fmla="*/ 766 h 2072"/>
                <a:gd name="T2" fmla="*/ 579 w 1440"/>
                <a:gd name="T3" fmla="*/ 122 h 2072"/>
                <a:gd name="T4" fmla="*/ 81 w 1440"/>
                <a:gd name="T5" fmla="*/ 122 h 2072"/>
                <a:gd name="T6" fmla="*/ 91 w 1440"/>
                <a:gd name="T7" fmla="*/ 858 h 2072"/>
                <a:gd name="T8" fmla="*/ 615 w 1440"/>
                <a:gd name="T9" fmla="*/ 766 h 20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0" h="2072">
                  <a:moveTo>
                    <a:pt x="1272" y="1645"/>
                  </a:moveTo>
                  <a:cubicBezTo>
                    <a:pt x="1440" y="1382"/>
                    <a:pt x="1382" y="493"/>
                    <a:pt x="1198" y="263"/>
                  </a:cubicBezTo>
                  <a:cubicBezTo>
                    <a:pt x="1014" y="33"/>
                    <a:pt x="336" y="0"/>
                    <a:pt x="168" y="263"/>
                  </a:cubicBezTo>
                  <a:cubicBezTo>
                    <a:pt x="0" y="526"/>
                    <a:pt x="4" y="1612"/>
                    <a:pt x="188" y="1842"/>
                  </a:cubicBezTo>
                  <a:cubicBezTo>
                    <a:pt x="372" y="2072"/>
                    <a:pt x="1111" y="1914"/>
                    <a:pt x="1272" y="1645"/>
                  </a:cubicBezTo>
                  <a:close/>
                </a:path>
              </a:pathLst>
            </a:custGeom>
            <a:solidFill>
              <a:srgbClr val="FFCC99"/>
            </a:solidFill>
            <a:ln w="19050" cap="flat" cmpd="sng">
              <a:noFill/>
              <a:prstDash val="solid"/>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spAutoFit/>
            </a:bodyPr>
            <a:lstStyle/>
            <a:p>
              <a:endParaRPr lang="en-CA"/>
            </a:p>
          </p:txBody>
        </p:sp>
        <p:sp>
          <p:nvSpPr>
            <p:cNvPr id="145416" name="Freeform 42"/>
            <p:cNvSpPr>
              <a:spLocks/>
            </p:cNvSpPr>
            <p:nvPr/>
          </p:nvSpPr>
          <p:spPr bwMode="auto">
            <a:xfrm>
              <a:off x="3696" y="1488"/>
              <a:ext cx="748" cy="982"/>
            </a:xfrm>
            <a:custGeom>
              <a:avLst/>
              <a:gdLst>
                <a:gd name="T0" fmla="*/ 1 w 1546"/>
                <a:gd name="T1" fmla="*/ 489 h 2108"/>
                <a:gd name="T2" fmla="*/ 132 w 1546"/>
                <a:gd name="T3" fmla="*/ 173 h 2108"/>
                <a:gd name="T4" fmla="*/ 650 w 1546"/>
                <a:gd name="T5" fmla="*/ 116 h 2108"/>
                <a:gd name="T6" fmla="*/ 663 w 1546"/>
                <a:gd name="T7" fmla="*/ 871 h 2108"/>
                <a:gd name="T8" fmla="*/ 138 w 1546"/>
                <a:gd name="T9" fmla="*/ 783 h 2108"/>
                <a:gd name="T10" fmla="*/ 1 w 1546"/>
                <a:gd name="T11" fmla="*/ 489 h 210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46" h="2108">
                  <a:moveTo>
                    <a:pt x="2" y="1050"/>
                  </a:moveTo>
                  <a:cubicBezTo>
                    <a:pt x="0" y="832"/>
                    <a:pt x="49" y="505"/>
                    <a:pt x="273" y="372"/>
                  </a:cubicBezTo>
                  <a:cubicBezTo>
                    <a:pt x="497" y="239"/>
                    <a:pt x="1160" y="0"/>
                    <a:pt x="1343" y="250"/>
                  </a:cubicBezTo>
                  <a:cubicBezTo>
                    <a:pt x="1526" y="500"/>
                    <a:pt x="1546" y="1632"/>
                    <a:pt x="1370" y="1870"/>
                  </a:cubicBezTo>
                  <a:cubicBezTo>
                    <a:pt x="1194" y="2108"/>
                    <a:pt x="514" y="1817"/>
                    <a:pt x="286" y="1680"/>
                  </a:cubicBezTo>
                  <a:cubicBezTo>
                    <a:pt x="58" y="1543"/>
                    <a:pt x="4" y="1268"/>
                    <a:pt x="2" y="1050"/>
                  </a:cubicBezTo>
                  <a:close/>
                </a:path>
              </a:pathLst>
            </a:custGeom>
            <a:solidFill>
              <a:srgbClr val="FFCC99"/>
            </a:solidFill>
            <a:ln w="19050" cap="flat" cmpd="sng">
              <a:noFill/>
              <a:prstDash val="solid"/>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spAutoFit/>
            </a:bodyPr>
            <a:lstStyle/>
            <a:p>
              <a:endParaRPr lang="en-CA"/>
            </a:p>
          </p:txBody>
        </p:sp>
        <mc:AlternateContent xmlns:mc="http://schemas.openxmlformats.org/markup-compatibility/2006" xmlns:a14="http://schemas.microsoft.com/office/drawing/2010/main">
          <mc:Choice Requires="a14">
            <p:sp>
              <p:nvSpPr>
                <p:cNvPr id="145417" name="Text Box 54"/>
                <p:cNvSpPr txBox="1">
                  <a:spLocks noChangeArrowheads="1"/>
                </p:cNvSpPr>
                <p:nvPr/>
              </p:nvSpPr>
              <p:spPr bwMode="auto">
                <a:xfrm>
                  <a:off x="4168" y="2400"/>
                  <a:ext cx="276" cy="269"/>
                </a:xfrm>
                <a:prstGeom prst="rect">
                  <a:avLst/>
                </a:prstGeom>
                <a:noFill/>
                <a:ln>
                  <a:noFill/>
                </a:ln>
                <a:effectLst/>
                <a:extLst>
                  <a:ext uri="{909E8E84-426E-40DD-AFC4-6F175D3DCCD1}">
                    <a14:hiddenFill>
                      <a:solidFill>
                        <a:schemeClr val="accent1"/>
                      </a:solidFill>
                    </a14:hiddenFill>
                  </a:ext>
                  <a:ext uri="{91240B29-F687-4F45-9708-019B960494DF}">
                    <a14:hiddenLine w="1905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14:m>
                    <m:oMathPara xmlns:m="http://schemas.openxmlformats.org/officeDocument/2006/math">
                      <m:oMathParaPr>
                        <m:jc m:val="centerGroup"/>
                      </m:oMathParaPr>
                      <m:oMath xmlns:m="http://schemas.openxmlformats.org/officeDocument/2006/math">
                        <m:r>
                          <m:rPr>
                            <m:sty m:val="p"/>
                          </m:rPr>
                          <a:rPr lang="en-US" sz="2400" i="0" dirty="0" smtClean="0">
                            <a:latin typeface="Cambria Math"/>
                          </a:rPr>
                          <m:t>X</m:t>
                        </m:r>
                      </m:oMath>
                    </m:oMathPara>
                  </a14:m>
                  <a:endParaRPr lang="en-US" sz="2400" dirty="0"/>
                </a:p>
              </p:txBody>
            </p:sp>
          </mc:Choice>
          <mc:Fallback xmlns="">
            <p:sp>
              <p:nvSpPr>
                <p:cNvPr id="145417" name="Text Box 54"/>
                <p:cNvSpPr txBox="1">
                  <a:spLocks noRot="1" noChangeAspect="1" noMove="1" noResize="1" noEditPoints="1" noAdjustHandles="1" noChangeArrowheads="1" noChangeShapeType="1" noTextEdit="1"/>
                </p:cNvSpPr>
                <p:nvPr/>
              </p:nvSpPr>
              <p:spPr bwMode="auto">
                <a:xfrm>
                  <a:off x="4168" y="2400"/>
                  <a:ext cx="276" cy="269"/>
                </a:xfrm>
                <a:prstGeom prst="rect">
                  <a:avLst/>
                </a:prstGeom>
                <a:blipFill rotWithShape="1">
                  <a:blip r:embed="rId9"/>
                  <a:stretch>
                    <a:fillRect b="-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45429" name="Rectangle 58"/>
                <p:cNvSpPr>
                  <a:spLocks noChangeArrowheads="1"/>
                </p:cNvSpPr>
                <p:nvPr/>
              </p:nvSpPr>
              <p:spPr bwMode="auto">
                <a:xfrm>
                  <a:off x="5088" y="2400"/>
                  <a:ext cx="276" cy="269"/>
                </a:xfrm>
                <a:prstGeom prst="rect">
                  <a:avLst/>
                </a:prstGeom>
                <a:noFill/>
                <a:ln>
                  <a:noFill/>
                </a:ln>
                <a:effectLst/>
                <a:extLst>
                  <a:ext uri="{909E8E84-426E-40DD-AFC4-6F175D3DCCD1}">
                    <a14:hiddenFill>
                      <a:solidFill>
                        <a:schemeClr val="accent1"/>
                      </a:solidFill>
                    </a14:hiddenFill>
                  </a:ext>
                  <a:ext uri="{91240B29-F687-4F45-9708-019B960494DF}">
                    <a14:hiddenLine w="1905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bIns="10800">
                  <a:spAutoFit/>
                </a:bodyPr>
                <a:lstStyle/>
                <a:p>
                  <a:pPr>
                    <a:buFont typeface="Wingdings" pitchFamily="2" charset="2"/>
                    <a:buNone/>
                  </a:pPr>
                  <a14:m>
                    <m:oMathPara xmlns:m="http://schemas.openxmlformats.org/officeDocument/2006/math">
                      <m:oMathParaPr>
                        <m:jc m:val="centerGroup"/>
                      </m:oMathParaPr>
                      <m:oMath xmlns:m="http://schemas.openxmlformats.org/officeDocument/2006/math">
                        <m:acc>
                          <m:accPr>
                            <m:chr m:val="̅"/>
                            <m:ctrlPr>
                              <a:rPr lang="en-US" sz="2400" i="1" smtClean="0">
                                <a:latin typeface="Cambria Math"/>
                              </a:rPr>
                            </m:ctrlPr>
                          </m:accPr>
                          <m:e>
                            <m:r>
                              <m:rPr>
                                <m:sty m:val="p"/>
                              </m:rPr>
                              <a:rPr lang="en-CA" sz="2400" b="0" i="0" smtClean="0">
                                <a:latin typeface="Cambria Math"/>
                              </a:rPr>
                              <m:t>X</m:t>
                            </m:r>
                          </m:e>
                        </m:acc>
                      </m:oMath>
                    </m:oMathPara>
                  </a14:m>
                  <a:endParaRPr lang="en-US" sz="2400" dirty="0"/>
                </a:p>
              </p:txBody>
            </p:sp>
          </mc:Choice>
          <mc:Fallback xmlns="">
            <p:sp>
              <p:nvSpPr>
                <p:cNvPr id="145429" name="Rectangle 58"/>
                <p:cNvSpPr>
                  <a:spLocks noRot="1" noChangeAspect="1" noMove="1" noResize="1" noEditPoints="1" noAdjustHandles="1" noChangeArrowheads="1" noChangeShapeType="1" noTextEdit="1"/>
                </p:cNvSpPr>
                <p:nvPr/>
              </p:nvSpPr>
              <p:spPr bwMode="auto">
                <a:xfrm>
                  <a:off x="5088" y="2400"/>
                  <a:ext cx="276" cy="269"/>
                </a:xfrm>
                <a:prstGeom prst="rect">
                  <a:avLst/>
                </a:prstGeom>
                <a:blipFill rotWithShape="1">
                  <a:blip r:embed="rId10"/>
                  <a:stretch>
                    <a:fillRect b="-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p:sp>
          <p:nvSpPr>
            <p:cNvPr id="145419" name="Oval 60"/>
            <p:cNvSpPr>
              <a:spLocks noChangeArrowheads="1"/>
            </p:cNvSpPr>
            <p:nvPr/>
          </p:nvSpPr>
          <p:spPr bwMode="auto">
            <a:xfrm>
              <a:off x="3802" y="1996"/>
              <a:ext cx="48" cy="48"/>
            </a:xfrm>
            <a:prstGeom prst="ellipse">
              <a:avLst/>
            </a:prstGeom>
            <a:solidFill>
              <a:schemeClr val="accent3">
                <a:lumMod val="7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45420" name="Text Box 61"/>
            <p:cNvSpPr txBox="1">
              <a:spLocks noChangeArrowheads="1"/>
            </p:cNvSpPr>
            <p:nvPr/>
          </p:nvSpPr>
          <p:spPr bwMode="auto">
            <a:xfrm>
              <a:off x="3744" y="1776"/>
              <a:ext cx="178"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000"/>
                <a:t>s</a:t>
              </a:r>
            </a:p>
          </p:txBody>
        </p:sp>
        <p:sp>
          <p:nvSpPr>
            <p:cNvPr id="145421" name="Oval 62"/>
            <p:cNvSpPr>
              <a:spLocks noChangeArrowheads="1"/>
            </p:cNvSpPr>
            <p:nvPr/>
          </p:nvSpPr>
          <p:spPr bwMode="auto">
            <a:xfrm>
              <a:off x="5386" y="1996"/>
              <a:ext cx="48" cy="48"/>
            </a:xfrm>
            <a:prstGeom prst="ellipse">
              <a:avLst/>
            </a:prstGeom>
            <a:solidFill>
              <a:schemeClr val="accent3">
                <a:lumMod val="7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45422" name="Text Box 63"/>
            <p:cNvSpPr txBox="1">
              <a:spLocks noChangeArrowheads="1"/>
            </p:cNvSpPr>
            <p:nvPr/>
          </p:nvSpPr>
          <p:spPr bwMode="auto">
            <a:xfrm>
              <a:off x="5328" y="1776"/>
              <a:ext cx="160"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000"/>
                <a:t>t</a:t>
              </a:r>
            </a:p>
          </p:txBody>
        </p:sp>
        <p:sp>
          <p:nvSpPr>
            <p:cNvPr id="145423" name="Line 65"/>
            <p:cNvSpPr>
              <a:spLocks noChangeShapeType="1"/>
            </p:cNvSpPr>
            <p:nvPr/>
          </p:nvSpPr>
          <p:spPr bwMode="auto">
            <a:xfrm>
              <a:off x="4272" y="1680"/>
              <a:ext cx="72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5424" name="Line 66"/>
            <p:cNvSpPr>
              <a:spLocks noChangeShapeType="1"/>
            </p:cNvSpPr>
            <p:nvPr/>
          </p:nvSpPr>
          <p:spPr bwMode="auto">
            <a:xfrm>
              <a:off x="4272" y="1776"/>
              <a:ext cx="72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5425" name="Line 67"/>
            <p:cNvSpPr>
              <a:spLocks noChangeShapeType="1"/>
            </p:cNvSpPr>
            <p:nvPr/>
          </p:nvSpPr>
          <p:spPr bwMode="auto">
            <a:xfrm>
              <a:off x="4272" y="1872"/>
              <a:ext cx="72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5426" name="Line 68"/>
            <p:cNvSpPr>
              <a:spLocks noChangeShapeType="1"/>
            </p:cNvSpPr>
            <p:nvPr/>
          </p:nvSpPr>
          <p:spPr bwMode="auto">
            <a:xfrm flipH="1">
              <a:off x="4272" y="2064"/>
              <a:ext cx="72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5427" name="Line 69"/>
            <p:cNvSpPr>
              <a:spLocks noChangeShapeType="1"/>
            </p:cNvSpPr>
            <p:nvPr/>
          </p:nvSpPr>
          <p:spPr bwMode="auto">
            <a:xfrm flipH="1">
              <a:off x="4272" y="2160"/>
              <a:ext cx="72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5428" name="Line 70"/>
            <p:cNvSpPr>
              <a:spLocks noChangeShapeType="1"/>
            </p:cNvSpPr>
            <p:nvPr/>
          </p:nvSpPr>
          <p:spPr bwMode="auto">
            <a:xfrm flipH="1">
              <a:off x="4272" y="2256"/>
              <a:ext cx="72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142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38594"/>
                                        </p:tgtEl>
                                        <p:attrNameLst>
                                          <p:attrName>style.visibility</p:attrName>
                                        </p:attrNameLst>
                                      </p:cBhvr>
                                      <p:to>
                                        <p:strVal val="visible"/>
                                      </p:to>
                                    </p:set>
                                    <p:anim calcmode="lin" valueType="num">
                                      <p:cBhvr>
                                        <p:cTn id="7" dur="500" fill="hold"/>
                                        <p:tgtEl>
                                          <p:spTgt spid="238594"/>
                                        </p:tgtEl>
                                        <p:attrNameLst>
                                          <p:attrName>ppt_w</p:attrName>
                                        </p:attrNameLst>
                                      </p:cBhvr>
                                      <p:tavLst>
                                        <p:tav tm="0">
                                          <p:val>
                                            <p:fltVal val="0"/>
                                          </p:val>
                                        </p:tav>
                                        <p:tav tm="100000">
                                          <p:val>
                                            <p:strVal val="#ppt_w"/>
                                          </p:val>
                                        </p:tav>
                                      </p:tavLst>
                                    </p:anim>
                                    <p:anim calcmode="lin" valueType="num">
                                      <p:cBhvr>
                                        <p:cTn id="8" dur="500" fill="hold"/>
                                        <p:tgtEl>
                                          <p:spTgt spid="238594"/>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45433"/>
                                        </p:tgtEl>
                                        <p:attrNameLst>
                                          <p:attrName>style.visibility</p:attrName>
                                        </p:attrNameLst>
                                      </p:cBhvr>
                                      <p:to>
                                        <p:strVal val="visible"/>
                                      </p:to>
                                    </p:set>
                                    <p:animEffect transition="in" filter="wipe(up)">
                                      <p:cBhvr>
                                        <p:cTn id="12" dur="500"/>
                                        <p:tgtEl>
                                          <p:spTgt spid="145433"/>
                                        </p:tgtEl>
                                      </p:cBhvr>
                                    </p:animEffect>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238664"/>
                                        </p:tgtEl>
                                        <p:attrNameLst>
                                          <p:attrName>style.visibility</p:attrName>
                                        </p:attrNameLst>
                                      </p:cBhvr>
                                      <p:to>
                                        <p:strVal val="visible"/>
                                      </p:to>
                                    </p:set>
                                    <p:animEffect transition="in" filter="wipe(up)">
                                      <p:cBhvr>
                                        <p:cTn id="16" dur="500"/>
                                        <p:tgtEl>
                                          <p:spTgt spid="23866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45432">
                                            <p:txEl>
                                              <p:pRg st="0" end="0"/>
                                            </p:txEl>
                                          </p:spTgt>
                                        </p:tgtEl>
                                        <p:attrNameLst>
                                          <p:attrName>style.visibility</p:attrName>
                                        </p:attrNameLst>
                                      </p:cBhvr>
                                      <p:to>
                                        <p:strVal val="visible"/>
                                      </p:to>
                                    </p:set>
                                    <p:animEffect transition="in" filter="wipe(up)">
                                      <p:cBhvr>
                                        <p:cTn id="21" dur="500"/>
                                        <p:tgtEl>
                                          <p:spTgt spid="14543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45432">
                                            <p:txEl>
                                              <p:pRg st="1" end="1"/>
                                            </p:txEl>
                                          </p:spTgt>
                                        </p:tgtEl>
                                        <p:attrNameLst>
                                          <p:attrName>style.visibility</p:attrName>
                                        </p:attrNameLst>
                                      </p:cBhvr>
                                      <p:to>
                                        <p:strVal val="visible"/>
                                      </p:to>
                                    </p:set>
                                    <p:animEffect transition="in" filter="wipe(up)">
                                      <p:cBhvr>
                                        <p:cTn id="26" dur="500"/>
                                        <p:tgtEl>
                                          <p:spTgt spid="145432">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45432">
                                            <p:txEl>
                                              <p:pRg st="2" end="2"/>
                                            </p:txEl>
                                          </p:spTgt>
                                        </p:tgtEl>
                                        <p:attrNameLst>
                                          <p:attrName>style.visibility</p:attrName>
                                        </p:attrNameLst>
                                      </p:cBhvr>
                                      <p:to>
                                        <p:strVal val="visible"/>
                                      </p:to>
                                    </p:set>
                                    <p:animEffect transition="in" filter="wipe(up)">
                                      <p:cBhvr>
                                        <p:cTn id="31" dur="500"/>
                                        <p:tgtEl>
                                          <p:spTgt spid="1454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4" grpId="0" animBg="1" autoUpdateAnimBg="0"/>
      <p:bldP spid="145433" grpId="0" animBg="1"/>
      <p:bldP spid="145432" grpId="0" build="p"/>
    </p:bldLst>
  </p:timing>
</p:sld>
</file>

<file path=ppt/slides/slide1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Max Flow   Min Cut</a:t>
            </a:r>
          </a:p>
        </p:txBody>
      </p:sp>
      <p:grpSp>
        <p:nvGrpSpPr>
          <p:cNvPr id="241696" name="Group 32"/>
          <p:cNvGrpSpPr>
            <a:grpSpLocks/>
          </p:cNvGrpSpPr>
          <p:nvPr/>
        </p:nvGrpSpPr>
        <p:grpSpPr bwMode="auto">
          <a:xfrm>
            <a:off x="1119186" y="3349446"/>
            <a:ext cx="6899275" cy="3422650"/>
            <a:chOff x="688" y="1584"/>
            <a:chExt cx="4346" cy="2156"/>
          </a:xfrm>
        </p:grpSpPr>
        <p:sp>
          <p:nvSpPr>
            <p:cNvPr id="146439" name="Freeform 5"/>
            <p:cNvSpPr>
              <a:spLocks/>
            </p:cNvSpPr>
            <p:nvPr/>
          </p:nvSpPr>
          <p:spPr bwMode="auto">
            <a:xfrm>
              <a:off x="3456" y="1584"/>
              <a:ext cx="1440" cy="2072"/>
            </a:xfrm>
            <a:custGeom>
              <a:avLst/>
              <a:gdLst>
                <a:gd name="T0" fmla="*/ 1272 w 1440"/>
                <a:gd name="T1" fmla="*/ 1645 h 2072"/>
                <a:gd name="T2" fmla="*/ 1198 w 1440"/>
                <a:gd name="T3" fmla="*/ 263 h 2072"/>
                <a:gd name="T4" fmla="*/ 168 w 1440"/>
                <a:gd name="T5" fmla="*/ 263 h 2072"/>
                <a:gd name="T6" fmla="*/ 188 w 1440"/>
                <a:gd name="T7" fmla="*/ 1842 h 2072"/>
                <a:gd name="T8" fmla="*/ 1272 w 1440"/>
                <a:gd name="T9" fmla="*/ 1645 h 20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0" h="2072">
                  <a:moveTo>
                    <a:pt x="1272" y="1645"/>
                  </a:moveTo>
                  <a:cubicBezTo>
                    <a:pt x="1440" y="1382"/>
                    <a:pt x="1382" y="493"/>
                    <a:pt x="1198" y="263"/>
                  </a:cubicBezTo>
                  <a:cubicBezTo>
                    <a:pt x="1014" y="33"/>
                    <a:pt x="336" y="0"/>
                    <a:pt x="168" y="263"/>
                  </a:cubicBezTo>
                  <a:cubicBezTo>
                    <a:pt x="0" y="526"/>
                    <a:pt x="4" y="1612"/>
                    <a:pt x="188" y="1842"/>
                  </a:cubicBezTo>
                  <a:cubicBezTo>
                    <a:pt x="372" y="2072"/>
                    <a:pt x="1111" y="1914"/>
                    <a:pt x="1272" y="1645"/>
                  </a:cubicBezTo>
                  <a:close/>
                </a:path>
              </a:pathLst>
            </a:custGeom>
            <a:solidFill>
              <a:srgbClr val="FFCC99"/>
            </a:solidFill>
            <a:ln w="19050" cap="flat" cmpd="sng">
              <a:noFill/>
              <a:prstDash val="solid"/>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spAutoFit/>
            </a:bodyPr>
            <a:lstStyle/>
            <a:p>
              <a:endParaRPr lang="en-CA"/>
            </a:p>
          </p:txBody>
        </p:sp>
        <p:sp>
          <p:nvSpPr>
            <p:cNvPr id="146440" name="Freeform 6"/>
            <p:cNvSpPr>
              <a:spLocks/>
            </p:cNvSpPr>
            <p:nvPr/>
          </p:nvSpPr>
          <p:spPr bwMode="auto">
            <a:xfrm>
              <a:off x="816" y="1632"/>
              <a:ext cx="1546" cy="2108"/>
            </a:xfrm>
            <a:custGeom>
              <a:avLst/>
              <a:gdLst>
                <a:gd name="T0" fmla="*/ 2 w 1546"/>
                <a:gd name="T1" fmla="*/ 1050 h 2108"/>
                <a:gd name="T2" fmla="*/ 273 w 1546"/>
                <a:gd name="T3" fmla="*/ 372 h 2108"/>
                <a:gd name="T4" fmla="*/ 1343 w 1546"/>
                <a:gd name="T5" fmla="*/ 250 h 2108"/>
                <a:gd name="T6" fmla="*/ 1370 w 1546"/>
                <a:gd name="T7" fmla="*/ 1870 h 2108"/>
                <a:gd name="T8" fmla="*/ 286 w 1546"/>
                <a:gd name="T9" fmla="*/ 1680 h 2108"/>
                <a:gd name="T10" fmla="*/ 2 w 1546"/>
                <a:gd name="T11" fmla="*/ 1050 h 210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46" h="2108">
                  <a:moveTo>
                    <a:pt x="2" y="1050"/>
                  </a:moveTo>
                  <a:cubicBezTo>
                    <a:pt x="0" y="832"/>
                    <a:pt x="49" y="505"/>
                    <a:pt x="273" y="372"/>
                  </a:cubicBezTo>
                  <a:cubicBezTo>
                    <a:pt x="497" y="239"/>
                    <a:pt x="1160" y="0"/>
                    <a:pt x="1343" y="250"/>
                  </a:cubicBezTo>
                  <a:cubicBezTo>
                    <a:pt x="1526" y="500"/>
                    <a:pt x="1546" y="1632"/>
                    <a:pt x="1370" y="1870"/>
                  </a:cubicBezTo>
                  <a:cubicBezTo>
                    <a:pt x="1194" y="2108"/>
                    <a:pt x="514" y="1817"/>
                    <a:pt x="286" y="1680"/>
                  </a:cubicBezTo>
                  <a:cubicBezTo>
                    <a:pt x="58" y="1543"/>
                    <a:pt x="4" y="1268"/>
                    <a:pt x="2" y="1050"/>
                  </a:cubicBezTo>
                  <a:close/>
                </a:path>
              </a:pathLst>
            </a:custGeom>
            <a:solidFill>
              <a:srgbClr val="FFCC99"/>
            </a:solidFill>
            <a:ln w="19050" cap="flat" cmpd="sng">
              <a:noFill/>
              <a:prstDash val="solid"/>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spAutoFit/>
            </a:bodyPr>
            <a:lstStyle/>
            <a:p>
              <a:endParaRPr lang="en-CA"/>
            </a:p>
          </p:txBody>
        </p:sp>
        <p:sp>
          <p:nvSpPr>
            <p:cNvPr id="146441" name="Oval 7"/>
            <p:cNvSpPr>
              <a:spLocks noChangeArrowheads="1"/>
            </p:cNvSpPr>
            <p:nvPr/>
          </p:nvSpPr>
          <p:spPr bwMode="auto">
            <a:xfrm>
              <a:off x="1008" y="26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46442" name="Oval 8"/>
            <p:cNvSpPr>
              <a:spLocks noChangeArrowheads="1"/>
            </p:cNvSpPr>
            <p:nvPr/>
          </p:nvSpPr>
          <p:spPr bwMode="auto">
            <a:xfrm>
              <a:off x="4416" y="249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46443" name="Line 9"/>
            <p:cNvSpPr>
              <a:spLocks noChangeShapeType="1"/>
            </p:cNvSpPr>
            <p:nvPr/>
          </p:nvSpPr>
          <p:spPr bwMode="auto">
            <a:xfrm>
              <a:off x="2016" y="2064"/>
              <a:ext cx="172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6444" name="Line 10"/>
            <p:cNvSpPr>
              <a:spLocks noChangeShapeType="1"/>
            </p:cNvSpPr>
            <p:nvPr/>
          </p:nvSpPr>
          <p:spPr bwMode="auto">
            <a:xfrm>
              <a:off x="2016" y="2160"/>
              <a:ext cx="172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6445" name="Line 11"/>
            <p:cNvSpPr>
              <a:spLocks noChangeShapeType="1"/>
            </p:cNvSpPr>
            <p:nvPr/>
          </p:nvSpPr>
          <p:spPr bwMode="auto">
            <a:xfrm>
              <a:off x="2016" y="2256"/>
              <a:ext cx="172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6446" name="Line 12"/>
            <p:cNvSpPr>
              <a:spLocks noChangeShapeType="1"/>
            </p:cNvSpPr>
            <p:nvPr/>
          </p:nvSpPr>
          <p:spPr bwMode="auto">
            <a:xfrm>
              <a:off x="2016" y="2400"/>
              <a:ext cx="172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6447" name="Line 13"/>
            <p:cNvSpPr>
              <a:spLocks noChangeShapeType="1"/>
            </p:cNvSpPr>
            <p:nvPr/>
          </p:nvSpPr>
          <p:spPr bwMode="auto">
            <a:xfrm>
              <a:off x="2016" y="2976"/>
              <a:ext cx="1728"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6448" name="Line 14"/>
            <p:cNvSpPr>
              <a:spLocks noChangeShapeType="1"/>
            </p:cNvSpPr>
            <p:nvPr/>
          </p:nvSpPr>
          <p:spPr bwMode="auto">
            <a:xfrm>
              <a:off x="2016" y="3120"/>
              <a:ext cx="1728"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6449" name="Line 15"/>
            <p:cNvSpPr>
              <a:spLocks noChangeShapeType="1"/>
            </p:cNvSpPr>
            <p:nvPr/>
          </p:nvSpPr>
          <p:spPr bwMode="auto">
            <a:xfrm>
              <a:off x="2016" y="3264"/>
              <a:ext cx="1728" cy="0"/>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6450" name="Text Box 16"/>
            <p:cNvSpPr txBox="1">
              <a:spLocks noChangeArrowheads="1"/>
            </p:cNvSpPr>
            <p:nvPr/>
          </p:nvSpPr>
          <p:spPr bwMode="auto">
            <a:xfrm>
              <a:off x="2592" y="1728"/>
              <a:ext cx="534"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800" b="1" dirty="0">
                  <a:solidFill>
                    <a:srgbClr val="FF0000"/>
                  </a:solidFill>
                </a:rPr>
                <a:t>f = c</a:t>
              </a:r>
            </a:p>
          </p:txBody>
        </p:sp>
        <p:sp>
          <p:nvSpPr>
            <p:cNvPr id="146451" name="Text Box 17"/>
            <p:cNvSpPr txBox="1">
              <a:spLocks noChangeArrowheads="1"/>
            </p:cNvSpPr>
            <p:nvPr/>
          </p:nvSpPr>
          <p:spPr bwMode="auto">
            <a:xfrm>
              <a:off x="2646" y="3264"/>
              <a:ext cx="484"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400" b="1" dirty="0">
                  <a:solidFill>
                    <a:srgbClr val="FF0000"/>
                  </a:solidFill>
                </a:rPr>
                <a:t>f = 0</a:t>
              </a:r>
            </a:p>
          </p:txBody>
        </p:sp>
        <mc:AlternateContent xmlns:mc="http://schemas.openxmlformats.org/markup-compatibility/2006" xmlns:a14="http://schemas.microsoft.com/office/drawing/2010/main">
          <mc:Choice Requires="a14">
            <p:sp>
              <p:nvSpPr>
                <p:cNvPr id="146452" name="Text Box 18"/>
                <p:cNvSpPr txBox="1">
                  <a:spLocks noChangeArrowheads="1"/>
                </p:cNvSpPr>
                <p:nvPr/>
              </p:nvSpPr>
              <p:spPr bwMode="auto">
                <a:xfrm>
                  <a:off x="688" y="1826"/>
                  <a:ext cx="276" cy="269"/>
                </a:xfrm>
                <a:prstGeom prst="rect">
                  <a:avLst/>
                </a:prstGeom>
                <a:noFill/>
                <a:ln>
                  <a:noFill/>
                </a:ln>
                <a:effectLst/>
                <a:extLst>
                  <a:ext uri="{909E8E84-426E-40DD-AFC4-6F175D3DCCD1}">
                    <a14:hiddenFill>
                      <a:solidFill>
                        <a:schemeClr val="accent1"/>
                      </a:solidFill>
                    </a14:hiddenFill>
                  </a:ext>
                  <a:ext uri="{91240B29-F687-4F45-9708-019B960494DF}">
                    <a14:hiddenLine w="1905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14:m>
                    <m:oMathPara xmlns:m="http://schemas.openxmlformats.org/officeDocument/2006/math">
                      <m:oMathParaPr>
                        <m:jc m:val="centerGroup"/>
                      </m:oMathParaPr>
                      <m:oMath xmlns:m="http://schemas.openxmlformats.org/officeDocument/2006/math">
                        <m:r>
                          <m:rPr>
                            <m:sty m:val="p"/>
                          </m:rPr>
                          <a:rPr lang="en-US" sz="2400" i="0" dirty="0" smtClean="0">
                            <a:latin typeface="Cambria Math"/>
                          </a:rPr>
                          <m:t>X</m:t>
                        </m:r>
                      </m:oMath>
                    </m:oMathPara>
                  </a14:m>
                  <a:endParaRPr lang="en-US" sz="2400" dirty="0"/>
                </a:p>
              </p:txBody>
            </p:sp>
          </mc:Choice>
          <mc:Fallback xmlns="">
            <p:sp>
              <p:nvSpPr>
                <p:cNvPr id="146452" name="Text Box 18"/>
                <p:cNvSpPr txBox="1">
                  <a:spLocks noRot="1" noChangeAspect="1" noMove="1" noResize="1" noEditPoints="1" noAdjustHandles="1" noChangeArrowheads="1" noChangeShapeType="1" noTextEdit="1"/>
                </p:cNvSpPr>
                <p:nvPr/>
              </p:nvSpPr>
              <p:spPr bwMode="auto">
                <a:xfrm>
                  <a:off x="688" y="1826"/>
                  <a:ext cx="276" cy="269"/>
                </a:xfrm>
                <a:prstGeom prst="rect">
                  <a:avLst/>
                </a:prstGeom>
                <a:blipFill rotWithShape="1">
                  <a:blip r:embed="rId2"/>
                  <a:stretch>
                    <a:fillRect b="-281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46454" name="Text Box 20"/>
                <p:cNvSpPr txBox="1">
                  <a:spLocks noChangeArrowheads="1"/>
                </p:cNvSpPr>
                <p:nvPr/>
              </p:nvSpPr>
              <p:spPr bwMode="auto">
                <a:xfrm>
                  <a:off x="4758" y="1690"/>
                  <a:ext cx="276" cy="269"/>
                </a:xfrm>
                <a:prstGeom prst="rect">
                  <a:avLst/>
                </a:prstGeom>
                <a:noFill/>
                <a:ln>
                  <a:noFill/>
                </a:ln>
                <a:effectLst/>
                <a:extLst>
                  <a:ext uri="{909E8E84-426E-40DD-AFC4-6F175D3DCCD1}">
                    <a14:hiddenFill>
                      <a:solidFill>
                        <a:schemeClr val="accent1"/>
                      </a:solidFill>
                    </a14:hiddenFill>
                  </a:ext>
                  <a:ext uri="{91240B29-F687-4F45-9708-019B960494DF}">
                    <a14:hiddenLine w="1905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14:m>
                    <m:oMathPara xmlns:m="http://schemas.openxmlformats.org/officeDocument/2006/math">
                      <m:oMathParaPr>
                        <m:jc m:val="centerGroup"/>
                      </m:oMathParaPr>
                      <m:oMath xmlns:m="http://schemas.openxmlformats.org/officeDocument/2006/math">
                        <m:acc>
                          <m:accPr>
                            <m:chr m:val="̅"/>
                            <m:ctrlPr>
                              <a:rPr lang="en-US" sz="2400" i="1" dirty="0" smtClean="0">
                                <a:latin typeface="Cambria Math"/>
                              </a:rPr>
                            </m:ctrlPr>
                          </m:accPr>
                          <m:e>
                            <m:r>
                              <m:rPr>
                                <m:sty m:val="p"/>
                              </m:rPr>
                              <a:rPr lang="en-CA" sz="2400" b="0" i="0" dirty="0" smtClean="0">
                                <a:latin typeface="Cambria Math"/>
                              </a:rPr>
                              <m:t>X</m:t>
                            </m:r>
                          </m:e>
                        </m:acc>
                      </m:oMath>
                    </m:oMathPara>
                  </a14:m>
                  <a:endParaRPr lang="en-US" sz="2400" dirty="0"/>
                </a:p>
              </p:txBody>
            </p:sp>
          </mc:Choice>
          <mc:Fallback xmlns="">
            <p:sp>
              <p:nvSpPr>
                <p:cNvPr id="146454" name="Text Box 20"/>
                <p:cNvSpPr txBox="1">
                  <a:spLocks noRot="1" noChangeAspect="1" noMove="1" noResize="1" noEditPoints="1" noAdjustHandles="1" noChangeArrowheads="1" noChangeShapeType="1" noTextEdit="1"/>
                </p:cNvSpPr>
                <p:nvPr/>
              </p:nvSpPr>
              <p:spPr bwMode="auto">
                <a:xfrm>
                  <a:off x="4758" y="1690"/>
                  <a:ext cx="276" cy="269"/>
                </a:xfrm>
                <a:prstGeom prst="rect">
                  <a:avLst/>
                </a:prstGeom>
                <a:blipFill rotWithShape="1">
                  <a:blip r:embed="rId3"/>
                  <a:stretch>
                    <a:fillRect b="-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p:grpSp>
      <mc:AlternateContent xmlns:mc="http://schemas.openxmlformats.org/markup-compatibility/2006" xmlns:a14="http://schemas.microsoft.com/office/drawing/2010/main">
        <mc:Choice Requires="a14">
          <p:sp>
            <p:nvSpPr>
              <p:cNvPr id="146437" name="Rectangle 34" descr="Recycled paper"/>
              <p:cNvSpPr>
                <a:spLocks noChangeArrowheads="1"/>
              </p:cNvSpPr>
              <p:nvPr/>
            </p:nvSpPr>
            <p:spPr bwMode="auto">
              <a:xfrm>
                <a:off x="152400" y="834928"/>
                <a:ext cx="8839200" cy="2464394"/>
              </a:xfrm>
              <a:prstGeom prst="rect">
                <a:avLst/>
              </a:prstGeom>
              <a:blipFill dpi="0" rotWithShape="0">
                <a:blip r:embed="rId4"/>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82800">
                <a:spAutoFit/>
              </a:bodyPr>
              <a:lstStyle/>
              <a:p>
                <a:pPr marL="457200" indent="-457200" eaLnBrk="1" hangingPunct="1">
                  <a:spcBef>
                    <a:spcPct val="50000"/>
                  </a:spcBef>
                  <a:buFontTx/>
                  <a:buNone/>
                </a:pPr>
                <a:r>
                  <a:rPr lang="en-US" sz="2800" b="1" dirty="0" smtClean="0">
                    <a:solidFill>
                      <a:srgbClr val="CC0000"/>
                    </a:solidFill>
                  </a:rPr>
                  <a:t>Optimality:</a:t>
                </a:r>
                <a:r>
                  <a:rPr lang="en-US" sz="2800" dirty="0"/>
                  <a:t>   </a:t>
                </a:r>
                <a:r>
                  <a:rPr lang="en-US" sz="2800" dirty="0" smtClean="0"/>
                  <a:t>For any </a:t>
                </a:r>
                <a:r>
                  <a:rPr lang="en-US" sz="2800" dirty="0"/>
                  <a:t>feasible </a:t>
                </a:r>
                <a:r>
                  <a:rPr lang="en-US" sz="2800" dirty="0" smtClean="0"/>
                  <a:t>flow f  &amp; any </a:t>
                </a:r>
                <a:r>
                  <a:rPr lang="en-US" sz="2800" dirty="0" err="1" smtClean="0"/>
                  <a:t>st</a:t>
                </a:r>
                <a:r>
                  <a:rPr lang="en-US" sz="2800" dirty="0" smtClean="0"/>
                  <a:t>-cut </a:t>
                </a:r>
                <a14:m>
                  <m:oMath xmlns:m="http://schemas.openxmlformats.org/officeDocument/2006/math">
                    <m:d>
                      <m:dPr>
                        <m:ctrlPr>
                          <a:rPr lang="en-CA" sz="2800" b="0" i="1" smtClean="0">
                            <a:latin typeface="Cambria Math"/>
                          </a:rPr>
                        </m:ctrlPr>
                      </m:dPr>
                      <m:e>
                        <m:r>
                          <m:rPr>
                            <m:sty m:val="p"/>
                          </m:rPr>
                          <a:rPr lang="en-CA" sz="2800" b="0" i="0" smtClean="0">
                            <a:latin typeface="Cambria Math"/>
                          </a:rPr>
                          <m:t>X</m:t>
                        </m:r>
                        <m:r>
                          <a:rPr lang="en-CA" sz="2800" b="0" i="0" smtClean="0">
                            <a:latin typeface="Cambria Math"/>
                          </a:rPr>
                          <m:t>, </m:t>
                        </m:r>
                        <m:acc>
                          <m:accPr>
                            <m:chr m:val="̅"/>
                            <m:ctrlPr>
                              <a:rPr lang="en-CA" sz="2800" b="0" i="1" smtClean="0">
                                <a:latin typeface="Cambria Math"/>
                              </a:rPr>
                            </m:ctrlPr>
                          </m:accPr>
                          <m:e>
                            <m:r>
                              <m:rPr>
                                <m:sty m:val="p"/>
                              </m:rPr>
                              <a:rPr lang="en-CA" sz="2800" b="0" i="0" smtClean="0">
                                <a:latin typeface="Cambria Math"/>
                              </a:rPr>
                              <m:t>X</m:t>
                            </m:r>
                          </m:e>
                        </m:acc>
                      </m:e>
                    </m:d>
                    <m:r>
                      <a:rPr lang="en-CA" sz="2800" b="0" i="0" smtClean="0">
                        <a:latin typeface="Cambria Math"/>
                      </a:rPr>
                      <m:t> :</m:t>
                    </m:r>
                  </m:oMath>
                </a14:m>
                <a:endParaRPr lang="en-US" sz="2800" dirty="0" smtClean="0"/>
              </a:p>
              <a:p>
                <a:pPr marL="457200" indent="-457200" eaLnBrk="1" hangingPunct="1">
                  <a:spcBef>
                    <a:spcPct val="50000"/>
                  </a:spcBef>
                  <a:buFontTx/>
                  <a:buNone/>
                </a:pPr>
                <a:r>
                  <a:rPr lang="en-US" sz="2800" dirty="0" smtClean="0"/>
                  <a:t>                       f is a </a:t>
                </a:r>
                <a:r>
                  <a:rPr lang="en-US" sz="2800" b="1" dirty="0">
                    <a:solidFill>
                      <a:schemeClr val="accent2"/>
                    </a:solidFill>
                  </a:rPr>
                  <a:t>max-flow</a:t>
                </a:r>
                <a:r>
                  <a:rPr lang="en-US" sz="2800" dirty="0"/>
                  <a:t>   </a:t>
                </a:r>
                <a:r>
                  <a:rPr lang="en-US" sz="2800" dirty="0" smtClean="0"/>
                  <a:t>&amp;  </a:t>
                </a:r>
                <a14:m>
                  <m:oMath xmlns:m="http://schemas.openxmlformats.org/officeDocument/2006/math">
                    <m:r>
                      <a:rPr lang="en-CA" sz="2800" b="0" i="0" smtClean="0">
                        <a:latin typeface="Cambria Math"/>
                      </a:rPr>
                      <m:t>(</m:t>
                    </m:r>
                    <m:r>
                      <m:rPr>
                        <m:sty m:val="p"/>
                      </m:rPr>
                      <a:rPr lang="en-CA" sz="2800" b="0" i="0" smtClean="0">
                        <a:latin typeface="Cambria Math"/>
                      </a:rPr>
                      <m:t>X</m:t>
                    </m:r>
                    <m:r>
                      <a:rPr lang="en-CA" sz="2800" b="0" i="0" smtClean="0">
                        <a:latin typeface="Cambria Math"/>
                      </a:rPr>
                      <m:t>, </m:t>
                    </m:r>
                    <m:acc>
                      <m:accPr>
                        <m:chr m:val="̅"/>
                        <m:ctrlPr>
                          <a:rPr lang="en-CA" sz="2800" b="0" i="1" smtClean="0">
                            <a:latin typeface="Cambria Math"/>
                          </a:rPr>
                        </m:ctrlPr>
                      </m:accPr>
                      <m:e>
                        <m:r>
                          <m:rPr>
                            <m:sty m:val="p"/>
                          </m:rPr>
                          <a:rPr lang="en-CA" sz="2800" b="0" i="0" smtClean="0">
                            <a:latin typeface="Cambria Math"/>
                          </a:rPr>
                          <m:t>X</m:t>
                        </m:r>
                      </m:e>
                    </m:acc>
                    <m:r>
                      <a:rPr lang="en-CA" sz="2800" b="0" i="0" smtClean="0">
                        <a:latin typeface="Cambria Math"/>
                      </a:rPr>
                      <m:t>)</m:t>
                    </m:r>
                  </m:oMath>
                </a14:m>
                <a:r>
                  <a:rPr lang="en-US" sz="2800" dirty="0" smtClean="0"/>
                  <a:t> is </a:t>
                </a:r>
                <a:r>
                  <a:rPr lang="en-US" sz="2800" dirty="0"/>
                  <a:t>a </a:t>
                </a:r>
                <a:r>
                  <a:rPr lang="en-US" sz="2800" b="1" dirty="0" smtClean="0">
                    <a:solidFill>
                      <a:schemeClr val="accent2"/>
                    </a:solidFill>
                  </a:rPr>
                  <a:t>min-cut</a:t>
                </a:r>
                <a:r>
                  <a:rPr lang="en-US" sz="2800" dirty="0" smtClean="0"/>
                  <a:t> </a:t>
                </a:r>
                <a:r>
                  <a:rPr lang="en-US" sz="2800" dirty="0"/>
                  <a:t/>
                </a:r>
                <a:br>
                  <a:rPr lang="en-US" sz="2800" dirty="0"/>
                </a:br>
                <a:r>
                  <a:rPr lang="en-US" sz="2800" dirty="0"/>
                  <a:t>			     </a:t>
                </a:r>
                <a:r>
                  <a:rPr lang="en-US" sz="2800" dirty="0">
                    <a:solidFill>
                      <a:srgbClr val="CC0000"/>
                    </a:solidFill>
                  </a:rPr>
                  <a:t>if and only </a:t>
                </a:r>
                <a:r>
                  <a:rPr lang="en-US" sz="2800" dirty="0" smtClean="0">
                    <a:solidFill>
                      <a:srgbClr val="CC0000"/>
                    </a:solidFill>
                  </a:rPr>
                  <a:t>if</a:t>
                </a:r>
                <a:br>
                  <a:rPr lang="en-US" sz="2800" dirty="0" smtClean="0">
                    <a:solidFill>
                      <a:srgbClr val="CC0000"/>
                    </a:solidFill>
                  </a:rPr>
                </a:br>
                <a:r>
                  <a:rPr lang="en-US" sz="2800" dirty="0" smtClean="0">
                    <a:solidFill>
                      <a:schemeClr val="accent2"/>
                    </a:solidFill>
                  </a:rPr>
                  <a:t>all forward cross edges of the cut are saturated (f = c), &amp;</a:t>
                </a:r>
                <a:r>
                  <a:rPr lang="en-US" sz="2800" dirty="0">
                    <a:solidFill>
                      <a:schemeClr val="accent2"/>
                    </a:solidFill>
                  </a:rPr>
                  <a:t/>
                </a:r>
                <a:br>
                  <a:rPr lang="en-US" sz="2800" dirty="0">
                    <a:solidFill>
                      <a:schemeClr val="accent2"/>
                    </a:solidFill>
                  </a:rPr>
                </a:br>
                <a:r>
                  <a:rPr lang="en-US" sz="2800" dirty="0" smtClean="0">
                    <a:solidFill>
                      <a:schemeClr val="accent2"/>
                    </a:solidFill>
                  </a:rPr>
                  <a:t>all backward cross edges of the cut are empty (f=0).</a:t>
                </a:r>
              </a:p>
            </p:txBody>
          </p:sp>
        </mc:Choice>
        <mc:Fallback xmlns="">
          <p:sp>
            <p:nvSpPr>
              <p:cNvPr id="146437" name="Rectangle 34" descr="Recycled paper"/>
              <p:cNvSpPr>
                <a:spLocks noRot="1" noChangeAspect="1" noMove="1" noResize="1" noEditPoints="1" noAdjustHandles="1" noChangeArrowheads="1" noChangeShapeType="1" noTextEdit="1"/>
              </p:cNvSpPr>
              <p:nvPr/>
            </p:nvSpPr>
            <p:spPr bwMode="auto">
              <a:xfrm>
                <a:off x="152400" y="834928"/>
                <a:ext cx="8839200" cy="2464394"/>
              </a:xfrm>
              <a:prstGeom prst="rect">
                <a:avLst/>
              </a:prstGeom>
              <a:blipFill rotWithShape="1">
                <a:blip r:embed="rId5"/>
                <a:stretch>
                  <a:fillRect/>
                </a:stretch>
              </a:blipFill>
              <a:ln w="19050">
                <a:noFill/>
                <a:miter lim="800000"/>
                <a:headEnd/>
                <a:tailEnd/>
              </a:ln>
              <a:effectLst>
                <a:outerShdw blurRad="44450" dist="27940" dir="5400000" algn="ctr">
                  <a:srgbClr val="000000">
                    <a:alpha val="32000"/>
                  </a:srgbClr>
                </a:outerShdw>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143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41666"/>
                                        </p:tgtEl>
                                        <p:attrNameLst>
                                          <p:attrName>style.visibility</p:attrName>
                                        </p:attrNameLst>
                                      </p:cBhvr>
                                      <p:to>
                                        <p:strVal val="visible"/>
                                      </p:to>
                                    </p:set>
                                    <p:anim calcmode="lin" valueType="num">
                                      <p:cBhvr>
                                        <p:cTn id="7" dur="500" fill="hold"/>
                                        <p:tgtEl>
                                          <p:spTgt spid="241666"/>
                                        </p:tgtEl>
                                        <p:attrNameLst>
                                          <p:attrName>ppt_w</p:attrName>
                                        </p:attrNameLst>
                                      </p:cBhvr>
                                      <p:tavLst>
                                        <p:tav tm="0">
                                          <p:val>
                                            <p:fltVal val="0"/>
                                          </p:val>
                                        </p:tav>
                                        <p:tav tm="100000">
                                          <p:val>
                                            <p:strVal val="#ppt_w"/>
                                          </p:val>
                                        </p:tav>
                                      </p:tavLst>
                                    </p:anim>
                                    <p:anim calcmode="lin" valueType="num">
                                      <p:cBhvr>
                                        <p:cTn id="8" dur="500" fill="hold"/>
                                        <p:tgtEl>
                                          <p:spTgt spid="241666"/>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46437"/>
                                        </p:tgtEl>
                                        <p:attrNameLst>
                                          <p:attrName>style.visibility</p:attrName>
                                        </p:attrNameLst>
                                      </p:cBhvr>
                                      <p:to>
                                        <p:strVal val="visible"/>
                                      </p:to>
                                    </p:set>
                                    <p:animEffect transition="in" filter="wipe(up)">
                                      <p:cBhvr>
                                        <p:cTn id="12" dur="500"/>
                                        <p:tgtEl>
                                          <p:spTgt spid="146437"/>
                                        </p:tgtEl>
                                      </p:cBhvr>
                                    </p:animEffect>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241696"/>
                                        </p:tgtEl>
                                        <p:attrNameLst>
                                          <p:attrName>style.visibility</p:attrName>
                                        </p:attrNameLst>
                                      </p:cBhvr>
                                      <p:to>
                                        <p:strVal val="visible"/>
                                      </p:to>
                                    </p:set>
                                    <p:animEffect transition="in" filter="wipe(up)">
                                      <p:cBhvr>
                                        <p:cTn id="16" dur="500"/>
                                        <p:tgtEl>
                                          <p:spTgt spid="241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6" grpId="0" animBg="1" autoUpdateAnimBg="0"/>
      <p:bldP spid="146437" grpId="0" animBg="1"/>
    </p:bldLst>
  </p:timing>
</p:sld>
</file>

<file path=ppt/slides/slide1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2487" name="Freeform 39"/>
          <p:cNvSpPr>
            <a:spLocks/>
          </p:cNvSpPr>
          <p:nvPr/>
        </p:nvSpPr>
        <p:spPr bwMode="auto">
          <a:xfrm>
            <a:off x="1810543" y="2146880"/>
            <a:ext cx="4810125" cy="2441575"/>
          </a:xfrm>
          <a:custGeom>
            <a:avLst/>
            <a:gdLst>
              <a:gd name="T0" fmla="*/ 76200 w 3030"/>
              <a:gd name="T1" fmla="*/ 1871663 h 1538"/>
              <a:gd name="T2" fmla="*/ 247650 w 3030"/>
              <a:gd name="T3" fmla="*/ 1344613 h 1538"/>
              <a:gd name="T4" fmla="*/ 796925 w 3030"/>
              <a:gd name="T5" fmla="*/ 1270000 h 1538"/>
              <a:gd name="T6" fmla="*/ 2603500 w 3030"/>
              <a:gd name="T7" fmla="*/ 1355725 h 1538"/>
              <a:gd name="T8" fmla="*/ 3443288 w 3030"/>
              <a:gd name="T9" fmla="*/ 860425 h 1538"/>
              <a:gd name="T10" fmla="*/ 3841750 w 3030"/>
              <a:gd name="T11" fmla="*/ 182563 h 1538"/>
              <a:gd name="T12" fmla="*/ 4518025 w 3030"/>
              <a:gd name="T13" fmla="*/ 128588 h 1538"/>
              <a:gd name="T14" fmla="*/ 4572000 w 3030"/>
              <a:gd name="T15" fmla="*/ 957263 h 1538"/>
              <a:gd name="T16" fmla="*/ 3087688 w 3030"/>
              <a:gd name="T17" fmla="*/ 2216150 h 1538"/>
              <a:gd name="T18" fmla="*/ 700088 w 3030"/>
              <a:gd name="T19" fmla="*/ 2312988 h 1538"/>
              <a:gd name="T20" fmla="*/ 76200 w 3030"/>
              <a:gd name="T21" fmla="*/ 1871663 h 15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030" h="1538">
                <a:moveTo>
                  <a:pt x="48" y="1179"/>
                </a:moveTo>
                <a:cubicBezTo>
                  <a:pt x="0" y="1077"/>
                  <a:pt x="80" y="910"/>
                  <a:pt x="156" y="847"/>
                </a:cubicBezTo>
                <a:cubicBezTo>
                  <a:pt x="232" y="784"/>
                  <a:pt x="255" y="799"/>
                  <a:pt x="502" y="800"/>
                </a:cubicBezTo>
                <a:cubicBezTo>
                  <a:pt x="749" y="801"/>
                  <a:pt x="1362" y="897"/>
                  <a:pt x="1640" y="854"/>
                </a:cubicBezTo>
                <a:cubicBezTo>
                  <a:pt x="1918" y="811"/>
                  <a:pt x="2039" y="665"/>
                  <a:pt x="2169" y="542"/>
                </a:cubicBezTo>
                <a:cubicBezTo>
                  <a:pt x="2299" y="419"/>
                  <a:pt x="2307" y="192"/>
                  <a:pt x="2420" y="115"/>
                </a:cubicBezTo>
                <a:cubicBezTo>
                  <a:pt x="2533" y="38"/>
                  <a:pt x="2769" y="0"/>
                  <a:pt x="2846" y="81"/>
                </a:cubicBezTo>
                <a:cubicBezTo>
                  <a:pt x="2923" y="162"/>
                  <a:pt x="3030" y="384"/>
                  <a:pt x="2880" y="603"/>
                </a:cubicBezTo>
                <a:cubicBezTo>
                  <a:pt x="2730" y="822"/>
                  <a:pt x="2351" y="1254"/>
                  <a:pt x="1945" y="1396"/>
                </a:cubicBezTo>
                <a:cubicBezTo>
                  <a:pt x="1539" y="1538"/>
                  <a:pt x="757" y="1493"/>
                  <a:pt x="441" y="1457"/>
                </a:cubicBezTo>
                <a:cubicBezTo>
                  <a:pt x="125" y="1421"/>
                  <a:pt x="98" y="1269"/>
                  <a:pt x="48" y="1179"/>
                </a:cubicBezTo>
                <a:close/>
              </a:path>
            </a:pathLst>
          </a:custGeom>
          <a:solidFill>
            <a:srgbClr val="FFCC99"/>
          </a:solidFill>
          <a:ln w="19050" cap="flat" cmpd="sng">
            <a:noFill/>
            <a:prstDash val="solid"/>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1">
            <a:spAutoFit/>
          </a:bodyPr>
          <a:lstStyle/>
          <a:p>
            <a:endParaRPr lang="en-CA"/>
          </a:p>
        </p:txBody>
      </p:sp>
      <p:sp>
        <p:nvSpPr>
          <p:cNvPr id="232450" name="Freeform 2"/>
          <p:cNvSpPr>
            <a:spLocks/>
          </p:cNvSpPr>
          <p:nvPr/>
        </p:nvSpPr>
        <p:spPr bwMode="auto">
          <a:xfrm>
            <a:off x="613568" y="889580"/>
            <a:ext cx="4583113" cy="2220913"/>
          </a:xfrm>
          <a:custGeom>
            <a:avLst/>
            <a:gdLst>
              <a:gd name="T0" fmla="*/ 122238 w 2887"/>
              <a:gd name="T1" fmla="*/ 1966913 h 1399"/>
              <a:gd name="T2" fmla="*/ 219075 w 2887"/>
              <a:gd name="T3" fmla="*/ 1277938 h 1399"/>
              <a:gd name="T4" fmla="*/ 1433513 w 2887"/>
              <a:gd name="T5" fmla="*/ 257175 h 1399"/>
              <a:gd name="T6" fmla="*/ 3048000 w 2887"/>
              <a:gd name="T7" fmla="*/ 9525 h 1399"/>
              <a:gd name="T8" fmla="*/ 4370388 w 2887"/>
              <a:gd name="T9" fmla="*/ 311150 h 1399"/>
              <a:gd name="T10" fmla="*/ 4327525 w 2887"/>
              <a:gd name="T11" fmla="*/ 1031875 h 1399"/>
              <a:gd name="T12" fmla="*/ 3736975 w 2887"/>
              <a:gd name="T13" fmla="*/ 1149350 h 1399"/>
              <a:gd name="T14" fmla="*/ 3113088 w 2887"/>
              <a:gd name="T15" fmla="*/ 858838 h 1399"/>
              <a:gd name="T16" fmla="*/ 1758950 w 2887"/>
              <a:gd name="T17" fmla="*/ 1085850 h 1399"/>
              <a:gd name="T18" fmla="*/ 649288 w 2887"/>
              <a:gd name="T19" fmla="*/ 2074863 h 1399"/>
              <a:gd name="T20" fmla="*/ 122238 w 2887"/>
              <a:gd name="T21" fmla="*/ 1966913 h 139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87" h="1399">
                <a:moveTo>
                  <a:pt x="77" y="1239"/>
                </a:moveTo>
                <a:cubicBezTo>
                  <a:pt x="32" y="1155"/>
                  <a:pt x="0" y="984"/>
                  <a:pt x="138" y="805"/>
                </a:cubicBezTo>
                <a:cubicBezTo>
                  <a:pt x="276" y="626"/>
                  <a:pt x="606" y="295"/>
                  <a:pt x="903" y="162"/>
                </a:cubicBezTo>
                <a:cubicBezTo>
                  <a:pt x="1200" y="29"/>
                  <a:pt x="1612" y="0"/>
                  <a:pt x="1920" y="6"/>
                </a:cubicBezTo>
                <a:cubicBezTo>
                  <a:pt x="2228" y="12"/>
                  <a:pt x="2619" y="89"/>
                  <a:pt x="2753" y="196"/>
                </a:cubicBezTo>
                <a:cubicBezTo>
                  <a:pt x="2887" y="303"/>
                  <a:pt x="2792" y="562"/>
                  <a:pt x="2726" y="650"/>
                </a:cubicBezTo>
                <a:cubicBezTo>
                  <a:pt x="2660" y="738"/>
                  <a:pt x="2482" y="742"/>
                  <a:pt x="2354" y="724"/>
                </a:cubicBezTo>
                <a:cubicBezTo>
                  <a:pt x="2226" y="706"/>
                  <a:pt x="2169" y="548"/>
                  <a:pt x="1961" y="541"/>
                </a:cubicBezTo>
                <a:cubicBezTo>
                  <a:pt x="1753" y="534"/>
                  <a:pt x="1367" y="556"/>
                  <a:pt x="1108" y="684"/>
                </a:cubicBezTo>
                <a:cubicBezTo>
                  <a:pt x="849" y="812"/>
                  <a:pt x="581" y="1215"/>
                  <a:pt x="409" y="1307"/>
                </a:cubicBezTo>
                <a:cubicBezTo>
                  <a:pt x="237" y="1399"/>
                  <a:pt x="107" y="1313"/>
                  <a:pt x="77" y="1239"/>
                </a:cubicBezTo>
                <a:close/>
              </a:path>
            </a:pathLst>
          </a:custGeom>
          <a:solidFill>
            <a:srgbClr val="FFCC99"/>
          </a:solidFill>
          <a:ln w="19050" cap="flat" cmpd="sng">
            <a:noFill/>
            <a:prstDash val="solid"/>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1">
            <a:spAutoFit/>
          </a:bodyPr>
          <a:lstStyle/>
          <a:p>
            <a:endParaRPr lang="en-CA"/>
          </a:p>
        </p:txBody>
      </p:sp>
      <p:sp>
        <p:nvSpPr>
          <p:cNvPr id="232451" name="Rectangle 3"/>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Example</a:t>
            </a:r>
          </a:p>
        </p:txBody>
      </p:sp>
      <p:grpSp>
        <p:nvGrpSpPr>
          <p:cNvPr id="232486" name="Group 38"/>
          <p:cNvGrpSpPr>
            <a:grpSpLocks/>
          </p:cNvGrpSpPr>
          <p:nvPr/>
        </p:nvGrpSpPr>
        <p:grpSpPr bwMode="auto">
          <a:xfrm>
            <a:off x="981868" y="1254705"/>
            <a:ext cx="5187950" cy="4008438"/>
            <a:chOff x="1104" y="1200"/>
            <a:chExt cx="3268" cy="2525"/>
          </a:xfrm>
        </p:grpSpPr>
        <p:sp>
          <p:nvSpPr>
            <p:cNvPr id="147463" name="Freeform 5"/>
            <p:cNvSpPr>
              <a:spLocks/>
            </p:cNvSpPr>
            <p:nvPr/>
          </p:nvSpPr>
          <p:spPr bwMode="auto">
            <a:xfrm>
              <a:off x="1229" y="1488"/>
              <a:ext cx="643" cy="583"/>
            </a:xfrm>
            <a:custGeom>
              <a:avLst/>
              <a:gdLst>
                <a:gd name="T0" fmla="*/ 0 w 643"/>
                <a:gd name="T1" fmla="*/ 583 h 583"/>
                <a:gd name="T2" fmla="*/ 643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7464" name="Line 6"/>
            <p:cNvSpPr>
              <a:spLocks noChangeShapeType="1"/>
            </p:cNvSpPr>
            <p:nvPr/>
          </p:nvSpPr>
          <p:spPr bwMode="auto">
            <a:xfrm>
              <a:off x="2064" y="1392"/>
              <a:ext cx="124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7465" name="Freeform 7"/>
            <p:cNvSpPr>
              <a:spLocks/>
            </p:cNvSpPr>
            <p:nvPr/>
          </p:nvSpPr>
          <p:spPr bwMode="auto">
            <a:xfrm>
              <a:off x="1222" y="2091"/>
              <a:ext cx="630" cy="671"/>
            </a:xfrm>
            <a:custGeom>
              <a:avLst/>
              <a:gdLst>
                <a:gd name="T0" fmla="*/ 0 w 630"/>
                <a:gd name="T1" fmla="*/ 0 h 671"/>
                <a:gd name="T2" fmla="*/ 630 w 630"/>
                <a:gd name="T3" fmla="*/ 671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7466" name="Line 8"/>
            <p:cNvSpPr>
              <a:spLocks noChangeShapeType="1"/>
            </p:cNvSpPr>
            <p:nvPr/>
          </p:nvSpPr>
          <p:spPr bwMode="auto">
            <a:xfrm>
              <a:off x="2064" y="2880"/>
              <a:ext cx="124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7467" name="Freeform 9"/>
            <p:cNvSpPr>
              <a:spLocks/>
            </p:cNvSpPr>
            <p:nvPr/>
          </p:nvSpPr>
          <p:spPr bwMode="auto">
            <a:xfrm>
              <a:off x="2016" y="1488"/>
              <a:ext cx="1334" cy="1281"/>
            </a:xfrm>
            <a:custGeom>
              <a:avLst/>
              <a:gdLst>
                <a:gd name="T0" fmla="*/ 0 w 1334"/>
                <a:gd name="T1" fmla="*/ 0 h 1281"/>
                <a:gd name="T2" fmla="*/ 1334 w 1334"/>
                <a:gd name="T3" fmla="*/ 1281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7468" name="Freeform 10"/>
            <p:cNvSpPr>
              <a:spLocks/>
            </p:cNvSpPr>
            <p:nvPr/>
          </p:nvSpPr>
          <p:spPr bwMode="auto">
            <a:xfrm>
              <a:off x="1969" y="1542"/>
              <a:ext cx="1" cy="1214"/>
            </a:xfrm>
            <a:custGeom>
              <a:avLst/>
              <a:gdLst>
                <a:gd name="T0" fmla="*/ 0 w 1"/>
                <a:gd name="T1" fmla="*/ 1214 h 1214"/>
                <a:gd name="T2" fmla="*/ 0 w 1"/>
                <a:gd name="T3" fmla="*/ 0 h 1214"/>
                <a:gd name="T4" fmla="*/ 0 60000 65536"/>
                <a:gd name="T5" fmla="*/ 0 60000 65536"/>
              </a:gdLst>
              <a:ahLst/>
              <a:cxnLst>
                <a:cxn ang="T4">
                  <a:pos x="T0" y="T1"/>
                </a:cxn>
                <a:cxn ang="T5">
                  <a:pos x="T2" y="T3"/>
                </a:cxn>
              </a:cxnLst>
              <a:rect l="0" t="0" r="r" b="b"/>
              <a:pathLst>
                <a:path w="1" h="1214">
                  <a:moveTo>
                    <a:pt x="0" y="1214"/>
                  </a:moveTo>
                  <a:lnTo>
                    <a:pt x="0"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7469" name="Freeform 11"/>
            <p:cNvSpPr>
              <a:spLocks/>
            </p:cNvSpPr>
            <p:nvPr/>
          </p:nvSpPr>
          <p:spPr bwMode="auto">
            <a:xfrm>
              <a:off x="3420" y="1387"/>
              <a:ext cx="731" cy="603"/>
            </a:xfrm>
            <a:custGeom>
              <a:avLst/>
              <a:gdLst>
                <a:gd name="T0" fmla="*/ 0 w 731"/>
                <a:gd name="T1" fmla="*/ 0 h 603"/>
                <a:gd name="T2" fmla="*/ 731 w 731"/>
                <a:gd name="T3" fmla="*/ 60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7470" name="Freeform 12"/>
            <p:cNvSpPr>
              <a:spLocks/>
            </p:cNvSpPr>
            <p:nvPr/>
          </p:nvSpPr>
          <p:spPr bwMode="auto">
            <a:xfrm>
              <a:off x="3451" y="2166"/>
              <a:ext cx="719" cy="677"/>
            </a:xfrm>
            <a:custGeom>
              <a:avLst/>
              <a:gdLst>
                <a:gd name="T0" fmla="*/ 0 w 719"/>
                <a:gd name="T1" fmla="*/ 677 h 677"/>
                <a:gd name="T2" fmla="*/ 719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7471" name="Line 13"/>
            <p:cNvSpPr>
              <a:spLocks noChangeShapeType="1"/>
            </p:cNvSpPr>
            <p:nvPr/>
          </p:nvSpPr>
          <p:spPr bwMode="auto">
            <a:xfrm flipV="1">
              <a:off x="2016" y="1488"/>
              <a:ext cx="1344" cy="1296"/>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7472" name="Oval 14"/>
            <p:cNvSpPr>
              <a:spLocks noChangeArrowheads="1"/>
            </p:cNvSpPr>
            <p:nvPr/>
          </p:nvSpPr>
          <p:spPr bwMode="auto">
            <a:xfrm>
              <a:off x="1824" y="273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47473" name="Oval 15"/>
            <p:cNvSpPr>
              <a:spLocks noChangeArrowheads="1"/>
            </p:cNvSpPr>
            <p:nvPr/>
          </p:nvSpPr>
          <p:spPr bwMode="auto">
            <a:xfrm>
              <a:off x="1104" y="196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47474" name="Oval 16"/>
            <p:cNvSpPr>
              <a:spLocks noChangeArrowheads="1"/>
            </p:cNvSpPr>
            <p:nvPr/>
          </p:nvSpPr>
          <p:spPr bwMode="auto">
            <a:xfrm>
              <a:off x="1824" y="129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47475" name="Oval 17"/>
            <p:cNvSpPr>
              <a:spLocks noChangeArrowheads="1"/>
            </p:cNvSpPr>
            <p:nvPr/>
          </p:nvSpPr>
          <p:spPr bwMode="auto">
            <a:xfrm>
              <a:off x="3312" y="273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47476" name="Oval 18"/>
            <p:cNvSpPr>
              <a:spLocks noChangeArrowheads="1"/>
            </p:cNvSpPr>
            <p:nvPr/>
          </p:nvSpPr>
          <p:spPr bwMode="auto">
            <a:xfrm>
              <a:off x="3312" y="129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c</a:t>
              </a:r>
            </a:p>
          </p:txBody>
        </p:sp>
        <p:sp>
          <p:nvSpPr>
            <p:cNvPr id="147477" name="Oval 19"/>
            <p:cNvSpPr>
              <a:spLocks noChangeArrowheads="1"/>
            </p:cNvSpPr>
            <p:nvPr/>
          </p:nvSpPr>
          <p:spPr bwMode="auto">
            <a:xfrm>
              <a:off x="4128" y="196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47478" name="Freeform 20"/>
            <p:cNvSpPr>
              <a:spLocks/>
            </p:cNvSpPr>
            <p:nvPr/>
          </p:nvSpPr>
          <p:spPr bwMode="auto">
            <a:xfrm>
              <a:off x="3276" y="1529"/>
              <a:ext cx="135" cy="1207"/>
            </a:xfrm>
            <a:custGeom>
              <a:avLst/>
              <a:gdLst>
                <a:gd name="T0" fmla="*/ 132 w 135"/>
                <a:gd name="T1" fmla="*/ 1207 h 1207"/>
                <a:gd name="T2" fmla="*/ 0 w 135"/>
                <a:gd name="T3" fmla="*/ 617 h 1207"/>
                <a:gd name="T4" fmla="*/ 135 w 135"/>
                <a:gd name="T5" fmla="*/ 0 h 1207"/>
                <a:gd name="T6" fmla="*/ 0 60000 65536"/>
                <a:gd name="T7" fmla="*/ 0 60000 65536"/>
                <a:gd name="T8" fmla="*/ 0 60000 65536"/>
              </a:gdLst>
              <a:ahLst/>
              <a:cxnLst>
                <a:cxn ang="T6">
                  <a:pos x="T0" y="T1"/>
                </a:cxn>
                <a:cxn ang="T7">
                  <a:pos x="T2" y="T3"/>
                </a:cxn>
                <a:cxn ang="T8">
                  <a:pos x="T4" y="T5"/>
                </a:cxn>
              </a:cxnLst>
              <a:rect l="0" t="0" r="r" b="b"/>
              <a:pathLst>
                <a:path w="135" h="1207">
                  <a:moveTo>
                    <a:pt x="132" y="1207"/>
                  </a:moveTo>
                  <a:cubicBezTo>
                    <a:pt x="110" y="1109"/>
                    <a:pt x="0" y="818"/>
                    <a:pt x="0" y="617"/>
                  </a:cubicBezTo>
                  <a:cubicBezTo>
                    <a:pt x="0" y="416"/>
                    <a:pt x="107" y="129"/>
                    <a:pt x="135" y="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7479" name="Freeform 21"/>
            <p:cNvSpPr>
              <a:spLocks/>
            </p:cNvSpPr>
            <p:nvPr/>
          </p:nvSpPr>
          <p:spPr bwMode="auto">
            <a:xfrm>
              <a:off x="3456" y="1536"/>
              <a:ext cx="152" cy="1200"/>
            </a:xfrm>
            <a:custGeom>
              <a:avLst/>
              <a:gdLst>
                <a:gd name="T0" fmla="*/ 0 w 152"/>
                <a:gd name="T1" fmla="*/ 0 h 1200"/>
                <a:gd name="T2" fmla="*/ 152 w 152"/>
                <a:gd name="T3" fmla="*/ 603 h 1200"/>
                <a:gd name="T4" fmla="*/ 0 w 152"/>
                <a:gd name="T5" fmla="*/ 1200 h 1200"/>
                <a:gd name="T6" fmla="*/ 0 60000 65536"/>
                <a:gd name="T7" fmla="*/ 0 60000 65536"/>
                <a:gd name="T8" fmla="*/ 0 60000 65536"/>
              </a:gdLst>
              <a:ahLst/>
              <a:cxnLst>
                <a:cxn ang="T6">
                  <a:pos x="T0" y="T1"/>
                </a:cxn>
                <a:cxn ang="T7">
                  <a:pos x="T2" y="T3"/>
                </a:cxn>
                <a:cxn ang="T8">
                  <a:pos x="T4" y="T5"/>
                </a:cxn>
              </a:cxnLst>
              <a:rect l="0" t="0" r="r" b="b"/>
              <a:pathLst>
                <a:path w="152" h="1200">
                  <a:moveTo>
                    <a:pt x="0" y="0"/>
                  </a:moveTo>
                  <a:cubicBezTo>
                    <a:pt x="25" y="100"/>
                    <a:pt x="152" y="403"/>
                    <a:pt x="152" y="603"/>
                  </a:cubicBezTo>
                  <a:cubicBezTo>
                    <a:pt x="152" y="803"/>
                    <a:pt x="32" y="1076"/>
                    <a:pt x="0" y="120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7480" name="Text Box 22"/>
            <p:cNvSpPr txBox="1">
              <a:spLocks noChangeArrowheads="1"/>
            </p:cNvSpPr>
            <p:nvPr/>
          </p:nvSpPr>
          <p:spPr bwMode="auto">
            <a:xfrm rot="-2381534">
              <a:off x="1248" y="1584"/>
              <a:ext cx="516"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12</a:t>
              </a:r>
              <a:r>
                <a:rPr lang="en-US" sz="1800" b="1"/>
                <a:t> / 13</a:t>
              </a:r>
            </a:p>
          </p:txBody>
        </p:sp>
        <p:sp>
          <p:nvSpPr>
            <p:cNvPr id="147481" name="Text Box 23"/>
            <p:cNvSpPr txBox="1">
              <a:spLocks noChangeArrowheads="1"/>
            </p:cNvSpPr>
            <p:nvPr/>
          </p:nvSpPr>
          <p:spPr bwMode="auto">
            <a:xfrm>
              <a:off x="2472" y="1200"/>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8</a:t>
              </a:r>
              <a:r>
                <a:rPr lang="en-US" sz="1800" b="1"/>
                <a:t> / 9</a:t>
              </a:r>
            </a:p>
          </p:txBody>
        </p:sp>
        <p:sp>
          <p:nvSpPr>
            <p:cNvPr id="147482" name="Text Box 24"/>
            <p:cNvSpPr txBox="1">
              <a:spLocks noChangeArrowheads="1"/>
            </p:cNvSpPr>
            <p:nvPr/>
          </p:nvSpPr>
          <p:spPr bwMode="auto">
            <a:xfrm rot="2943607">
              <a:off x="1263" y="2337"/>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8</a:t>
              </a:r>
              <a:r>
                <a:rPr lang="en-US" sz="1800" b="1"/>
                <a:t> / 8</a:t>
              </a:r>
            </a:p>
          </p:txBody>
        </p:sp>
        <p:sp>
          <p:nvSpPr>
            <p:cNvPr id="147483" name="Text Box 25"/>
            <p:cNvSpPr txBox="1">
              <a:spLocks noChangeArrowheads="1"/>
            </p:cNvSpPr>
            <p:nvPr/>
          </p:nvSpPr>
          <p:spPr bwMode="auto">
            <a:xfrm rot="5465572">
              <a:off x="1695" y="2001"/>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 / 3</a:t>
              </a:r>
            </a:p>
          </p:txBody>
        </p:sp>
        <p:sp>
          <p:nvSpPr>
            <p:cNvPr id="147484" name="Text Box 26"/>
            <p:cNvSpPr txBox="1">
              <a:spLocks noChangeArrowheads="1"/>
            </p:cNvSpPr>
            <p:nvPr/>
          </p:nvSpPr>
          <p:spPr bwMode="auto">
            <a:xfrm rot="2546334">
              <a:off x="2232" y="158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 / 4</a:t>
              </a:r>
            </a:p>
          </p:txBody>
        </p:sp>
        <p:sp>
          <p:nvSpPr>
            <p:cNvPr id="147485" name="Text Box 27"/>
            <p:cNvSpPr txBox="1">
              <a:spLocks noChangeArrowheads="1"/>
            </p:cNvSpPr>
            <p:nvPr/>
          </p:nvSpPr>
          <p:spPr bwMode="auto">
            <a:xfrm rot="-2416694">
              <a:off x="2184" y="22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a:t>
              </a:r>
              <a:r>
                <a:rPr lang="en-US" sz="1800" b="1"/>
                <a:t> / 5</a:t>
              </a:r>
            </a:p>
          </p:txBody>
        </p:sp>
        <p:sp>
          <p:nvSpPr>
            <p:cNvPr id="147486" name="Text Box 28"/>
            <p:cNvSpPr txBox="1">
              <a:spLocks noChangeArrowheads="1"/>
            </p:cNvSpPr>
            <p:nvPr/>
          </p:nvSpPr>
          <p:spPr bwMode="auto">
            <a:xfrm rot="5372469">
              <a:off x="2999" y="2015"/>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 / 3</a:t>
              </a:r>
            </a:p>
          </p:txBody>
        </p:sp>
        <p:sp>
          <p:nvSpPr>
            <p:cNvPr id="147487" name="Text Box 29"/>
            <p:cNvSpPr txBox="1">
              <a:spLocks noChangeArrowheads="1"/>
            </p:cNvSpPr>
            <p:nvPr/>
          </p:nvSpPr>
          <p:spPr bwMode="auto">
            <a:xfrm rot="-2272288">
              <a:off x="3720" y="2400"/>
              <a:ext cx="516"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18</a:t>
              </a:r>
              <a:r>
                <a:rPr lang="en-US" sz="1800" b="1"/>
                <a:t> / 20</a:t>
              </a:r>
            </a:p>
          </p:txBody>
        </p:sp>
        <p:sp>
          <p:nvSpPr>
            <p:cNvPr id="147488" name="Text Box 30"/>
            <p:cNvSpPr txBox="1">
              <a:spLocks noChangeArrowheads="1"/>
            </p:cNvSpPr>
            <p:nvPr/>
          </p:nvSpPr>
          <p:spPr bwMode="auto">
            <a:xfrm rot="4995957">
              <a:off x="3519" y="2001"/>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a:t>
              </a:r>
              <a:r>
                <a:rPr lang="en-US" sz="1800" b="1"/>
                <a:t> / 1</a:t>
              </a:r>
            </a:p>
          </p:txBody>
        </p:sp>
        <p:sp>
          <p:nvSpPr>
            <p:cNvPr id="147489" name="Text Box 31"/>
            <p:cNvSpPr txBox="1">
              <a:spLocks noChangeArrowheads="1"/>
            </p:cNvSpPr>
            <p:nvPr/>
          </p:nvSpPr>
          <p:spPr bwMode="auto">
            <a:xfrm rot="2445754">
              <a:off x="3768" y="1536"/>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2</a:t>
              </a:r>
              <a:r>
                <a:rPr lang="en-US" sz="1800" b="1"/>
                <a:t> / 2</a:t>
              </a:r>
            </a:p>
          </p:txBody>
        </p:sp>
        <p:sp>
          <p:nvSpPr>
            <p:cNvPr id="147490" name="Text Box 32"/>
            <p:cNvSpPr txBox="1">
              <a:spLocks noChangeArrowheads="1"/>
            </p:cNvSpPr>
            <p:nvPr/>
          </p:nvSpPr>
          <p:spPr bwMode="auto">
            <a:xfrm>
              <a:off x="2448" y="2832"/>
              <a:ext cx="516"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13</a:t>
              </a:r>
              <a:r>
                <a:rPr lang="en-US" sz="1800" b="1"/>
                <a:t> / 15</a:t>
              </a:r>
            </a:p>
          </p:txBody>
        </p:sp>
        <p:sp>
          <p:nvSpPr>
            <p:cNvPr id="147491" name="Text Box 33"/>
            <p:cNvSpPr txBox="1">
              <a:spLocks noChangeArrowheads="1"/>
            </p:cNvSpPr>
            <p:nvPr/>
          </p:nvSpPr>
          <p:spPr bwMode="auto">
            <a:xfrm>
              <a:off x="1968" y="3456"/>
              <a:ext cx="1897" cy="2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000" dirty="0"/>
                <a:t>flow value </a:t>
              </a:r>
              <a:r>
                <a:rPr lang="en-US" sz="2400" dirty="0"/>
                <a:t>= 12 + 8 = 20</a:t>
              </a:r>
            </a:p>
          </p:txBody>
        </p:sp>
      </p:grpSp>
      <p:sp>
        <p:nvSpPr>
          <p:cNvPr id="232482" name="Rectangle 34"/>
          <p:cNvSpPr>
            <a:spLocks noChangeArrowheads="1"/>
          </p:cNvSpPr>
          <p:nvPr/>
        </p:nvSpPr>
        <p:spPr bwMode="auto">
          <a:xfrm>
            <a:off x="1134268" y="4759905"/>
            <a:ext cx="2505075" cy="487959"/>
          </a:xfrm>
          <a:prstGeom prst="rect">
            <a:avLst/>
          </a:prstGeom>
          <a:solidFill>
            <a:srgbClr val="FFCCFF"/>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10800" anchorCtr="1">
            <a:spAutoFit/>
          </a:bodyPr>
          <a:lstStyle/>
          <a:p>
            <a:pPr>
              <a:buFont typeface="Wingdings" pitchFamily="2" charset="2"/>
              <a:buNone/>
            </a:pPr>
            <a:r>
              <a:rPr lang="en-US" sz="2800" dirty="0">
                <a:solidFill>
                  <a:srgbClr val="FF0000"/>
                </a:solidFill>
              </a:rPr>
              <a:t>Max flow </a:t>
            </a:r>
            <a:r>
              <a:rPr lang="en-US" sz="2800" dirty="0" smtClean="0"/>
              <a:t>value</a:t>
            </a:r>
          </a:p>
        </p:txBody>
      </p:sp>
      <p:sp>
        <p:nvSpPr>
          <p:cNvPr id="2" name="Rectangle 1"/>
          <p:cNvSpPr/>
          <p:nvPr/>
        </p:nvSpPr>
        <p:spPr>
          <a:xfrm>
            <a:off x="825499" y="5380290"/>
            <a:ext cx="7323137" cy="523220"/>
          </a:xfrm>
          <a:prstGeom prst="rect">
            <a:avLst/>
          </a:prstGeom>
        </p:spPr>
        <p:txBody>
          <a:bodyPr wrap="square">
            <a:spAutoFit/>
          </a:bodyPr>
          <a:lstStyle/>
          <a:p>
            <a:pPr lvl="0">
              <a:buNone/>
            </a:pPr>
            <a:r>
              <a:rPr lang="en-US" sz="2800" dirty="0" smtClean="0">
                <a:solidFill>
                  <a:srgbClr val="000000"/>
                </a:solidFill>
              </a:rPr>
              <a:t>= </a:t>
            </a:r>
            <a:r>
              <a:rPr lang="en-US" sz="2800" dirty="0" smtClean="0">
                <a:solidFill>
                  <a:srgbClr val="FF0000"/>
                </a:solidFill>
              </a:rPr>
              <a:t>Min </a:t>
            </a:r>
            <a:r>
              <a:rPr lang="en-US" sz="2800" dirty="0" err="1">
                <a:solidFill>
                  <a:srgbClr val="FF0000"/>
                </a:solidFill>
              </a:rPr>
              <a:t>st</a:t>
            </a:r>
            <a:r>
              <a:rPr lang="en-US" sz="2800" dirty="0">
                <a:solidFill>
                  <a:srgbClr val="FF0000"/>
                </a:solidFill>
              </a:rPr>
              <a:t>-cut </a:t>
            </a:r>
            <a:r>
              <a:rPr lang="en-US" sz="2800" dirty="0" smtClean="0">
                <a:solidFill>
                  <a:srgbClr val="000000"/>
                </a:solidFill>
              </a:rPr>
              <a:t>capacity </a:t>
            </a:r>
            <a:r>
              <a:rPr lang="en-US" sz="2800" dirty="0">
                <a:solidFill>
                  <a:srgbClr val="000000"/>
                </a:solidFill>
              </a:rPr>
              <a:t>= 8 + 4 + 5 + 1 + 2 = 20.</a:t>
            </a:r>
          </a:p>
        </p:txBody>
      </p:sp>
      <p:sp>
        <p:nvSpPr>
          <p:cNvPr id="37" name="Rectangular Callout 36"/>
          <p:cNvSpPr/>
          <p:nvPr/>
        </p:nvSpPr>
        <p:spPr bwMode="auto">
          <a:xfrm>
            <a:off x="5782468" y="4172887"/>
            <a:ext cx="3015457" cy="830997"/>
          </a:xfrm>
          <a:prstGeom prst="wedgeRectCallout">
            <a:avLst>
              <a:gd name="adj1" fmla="val -39931"/>
              <a:gd name="adj2" fmla="val -74121"/>
            </a:avLst>
          </a:prstGeom>
          <a:solidFill>
            <a:schemeClr val="accent3">
              <a:lumMod val="85000"/>
            </a:schemeClr>
          </a:solidFill>
          <a:ln w="3175" cap="flat" cmpd="sng" algn="ctr">
            <a:solidFill>
              <a:srgbClr val="000066"/>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vert="horz" wrap="square" lIns="91440" tIns="45720" rIns="91440" bIns="45720" numCol="1" rtlCol="0" anchor="t" anchorCtr="0" compatLnSpc="1">
            <a:prstTxWarp prst="textNoShape">
              <a:avLst/>
            </a:prstTxWarp>
            <a:spAutoFit/>
          </a:bodyPr>
          <a:lstStyle/>
          <a:p>
            <a:pPr algn="ctr">
              <a:buNone/>
            </a:pPr>
            <a:r>
              <a:rPr lang="en-CA" b="1" dirty="0" smtClean="0">
                <a:solidFill>
                  <a:schemeClr val="accent2"/>
                </a:solidFill>
              </a:rPr>
              <a:t>Max-Flow &amp; Min-Cut:</a:t>
            </a:r>
          </a:p>
          <a:p>
            <a:pPr algn="ctr">
              <a:buNone/>
            </a:pPr>
            <a:r>
              <a:rPr lang="en-CA" dirty="0" smtClean="0">
                <a:solidFill>
                  <a:schemeClr val="accent2"/>
                </a:solidFill>
              </a:rPr>
              <a:t>Forward </a:t>
            </a:r>
            <a:r>
              <a:rPr lang="en-CA" dirty="0">
                <a:solidFill>
                  <a:schemeClr val="accent2"/>
                </a:solidFill>
              </a:rPr>
              <a:t>cross edges </a:t>
            </a:r>
            <a:r>
              <a:rPr lang="en-CA" dirty="0" smtClean="0">
                <a:solidFill>
                  <a:schemeClr val="accent2"/>
                </a:solidFill>
              </a:rPr>
              <a:t>are saturated</a:t>
            </a:r>
            <a:r>
              <a:rPr lang="en-CA" dirty="0">
                <a:solidFill>
                  <a:schemeClr val="accent2"/>
                </a:solidFill>
              </a:rPr>
              <a:t>.</a:t>
            </a:r>
          </a:p>
          <a:p>
            <a:pPr algn="ctr">
              <a:buNone/>
            </a:pPr>
            <a:r>
              <a:rPr lang="en-CA" dirty="0">
                <a:solidFill>
                  <a:schemeClr val="accent2"/>
                </a:solidFill>
              </a:rPr>
              <a:t>Backward cross edges </a:t>
            </a:r>
            <a:r>
              <a:rPr lang="en-CA" dirty="0" smtClean="0">
                <a:solidFill>
                  <a:schemeClr val="accent2"/>
                </a:solidFill>
              </a:rPr>
              <a:t>are empty.</a:t>
            </a:r>
            <a:endParaRPr kumimoji="0" lang="en-CA" sz="1600" b="0" i="0" u="none" strike="noStrike" cap="none" normalizeH="0" baseline="0" dirty="0" smtClean="0">
              <a:ln>
                <a:noFill/>
              </a:ln>
              <a:solidFill>
                <a:schemeClr val="accent2"/>
              </a:solidFill>
              <a:effectLst/>
            </a:endParaRPr>
          </a:p>
        </p:txBody>
      </p:sp>
      <p:sp>
        <p:nvSpPr>
          <p:cNvPr id="3" name="Slide Number Placeholder 2"/>
          <p:cNvSpPr>
            <a:spLocks noGrp="1"/>
          </p:cNvSpPr>
          <p:nvPr>
            <p:ph type="sldNum" sz="quarter" idx="12"/>
          </p:nvPr>
        </p:nvSpPr>
        <p:spPr/>
        <p:txBody>
          <a:bodyPr/>
          <a:lstStyle/>
          <a:p>
            <a:pPr>
              <a:defRPr/>
            </a:pPr>
            <a:fld id="{2EA72CB5-5472-4B1F-9EF4-151FAEB37976}" type="slidenum">
              <a:rPr lang="en-US" smtClean="0"/>
              <a:pPr>
                <a:defRPr/>
              </a:pPr>
              <a:t>144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32451"/>
                                        </p:tgtEl>
                                        <p:attrNameLst>
                                          <p:attrName>style.visibility</p:attrName>
                                        </p:attrNameLst>
                                      </p:cBhvr>
                                      <p:to>
                                        <p:strVal val="visible"/>
                                      </p:to>
                                    </p:set>
                                    <p:anim calcmode="lin" valueType="num">
                                      <p:cBhvr>
                                        <p:cTn id="7" dur="500" fill="hold"/>
                                        <p:tgtEl>
                                          <p:spTgt spid="232451"/>
                                        </p:tgtEl>
                                        <p:attrNameLst>
                                          <p:attrName>ppt_w</p:attrName>
                                        </p:attrNameLst>
                                      </p:cBhvr>
                                      <p:tavLst>
                                        <p:tav tm="0">
                                          <p:val>
                                            <p:fltVal val="0"/>
                                          </p:val>
                                        </p:tav>
                                        <p:tav tm="100000">
                                          <p:val>
                                            <p:strVal val="#ppt_w"/>
                                          </p:val>
                                        </p:tav>
                                      </p:tavLst>
                                    </p:anim>
                                    <p:anim calcmode="lin" valueType="num">
                                      <p:cBhvr>
                                        <p:cTn id="8" dur="500" fill="hold"/>
                                        <p:tgtEl>
                                          <p:spTgt spid="232451"/>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232486"/>
                                        </p:tgtEl>
                                        <p:attrNameLst>
                                          <p:attrName>style.visibility</p:attrName>
                                        </p:attrNameLst>
                                      </p:cBhvr>
                                      <p:to>
                                        <p:strVal val="visible"/>
                                      </p:to>
                                    </p:set>
                                    <p:animEffect transition="in" filter="wipe(up)">
                                      <p:cBhvr>
                                        <p:cTn id="13" dur="500"/>
                                        <p:tgtEl>
                                          <p:spTgt spid="23248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32450"/>
                                        </p:tgtEl>
                                        <p:attrNameLst>
                                          <p:attrName>style.visibility</p:attrName>
                                        </p:attrNameLst>
                                      </p:cBhvr>
                                      <p:to>
                                        <p:strVal val="visible"/>
                                      </p:to>
                                    </p:set>
                                    <p:animEffect transition="in" filter="dissolve">
                                      <p:cBhvr>
                                        <p:cTn id="18" dur="500"/>
                                        <p:tgtEl>
                                          <p:spTgt spid="232450"/>
                                        </p:tgtEl>
                                      </p:cBhvr>
                                    </p:animEffect>
                                  </p:childTnLst>
                                </p:cTn>
                              </p:par>
                            </p:childTnLst>
                          </p:cTn>
                        </p:par>
                        <p:par>
                          <p:cTn id="19" fill="hold" nodeType="afterGroup">
                            <p:stCondLst>
                              <p:cond delay="500"/>
                            </p:stCondLst>
                            <p:childTnLst>
                              <p:par>
                                <p:cTn id="20" presetID="9" presetClass="entr" presetSubtype="0" fill="hold" grpId="0" nodeType="afterEffect">
                                  <p:stCondLst>
                                    <p:cond delay="0"/>
                                  </p:stCondLst>
                                  <p:childTnLst>
                                    <p:set>
                                      <p:cBhvr>
                                        <p:cTn id="21" dur="1" fill="hold">
                                          <p:stCondLst>
                                            <p:cond delay="0"/>
                                          </p:stCondLst>
                                        </p:cTn>
                                        <p:tgtEl>
                                          <p:spTgt spid="232487"/>
                                        </p:tgtEl>
                                        <p:attrNameLst>
                                          <p:attrName>style.visibility</p:attrName>
                                        </p:attrNameLst>
                                      </p:cBhvr>
                                      <p:to>
                                        <p:strVal val="visible"/>
                                      </p:to>
                                    </p:set>
                                    <p:animEffect transition="in" filter="dissolve">
                                      <p:cBhvr>
                                        <p:cTn id="22" dur="500"/>
                                        <p:tgtEl>
                                          <p:spTgt spid="232487"/>
                                        </p:tgtEl>
                                      </p:cBhvr>
                                    </p:animEffect>
                                  </p:childTnLst>
                                </p:cTn>
                              </p:par>
                            </p:childTnLst>
                          </p:cTn>
                        </p:par>
                        <p:par>
                          <p:cTn id="23" fill="hold">
                            <p:stCondLst>
                              <p:cond delay="1000"/>
                            </p:stCondLst>
                            <p:childTnLst>
                              <p:par>
                                <p:cTn id="24" presetID="42" presetClass="entr" presetSubtype="0" fill="hold" grpId="0" nodeType="after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1000"/>
                                        <p:tgtEl>
                                          <p:spTgt spid="37"/>
                                        </p:tgtEl>
                                      </p:cBhvr>
                                    </p:animEffect>
                                    <p:anim calcmode="lin" valueType="num">
                                      <p:cBhvr>
                                        <p:cTn id="27" dur="1000" fill="hold"/>
                                        <p:tgtEl>
                                          <p:spTgt spid="37"/>
                                        </p:tgtEl>
                                        <p:attrNameLst>
                                          <p:attrName>ppt_x</p:attrName>
                                        </p:attrNameLst>
                                      </p:cBhvr>
                                      <p:tavLst>
                                        <p:tav tm="0">
                                          <p:val>
                                            <p:strVal val="#ppt_x"/>
                                          </p:val>
                                        </p:tav>
                                        <p:tav tm="100000">
                                          <p:val>
                                            <p:strVal val="#ppt_x"/>
                                          </p:val>
                                        </p:tav>
                                      </p:tavLst>
                                    </p:anim>
                                    <p:anim calcmode="lin" valueType="num">
                                      <p:cBhvr>
                                        <p:cTn id="28"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32482"/>
                                        </p:tgtEl>
                                        <p:attrNameLst>
                                          <p:attrName>style.visibility</p:attrName>
                                        </p:attrNameLst>
                                      </p:cBhvr>
                                      <p:to>
                                        <p:strVal val="visible"/>
                                      </p:to>
                                    </p:set>
                                    <p:animEffect transition="in" filter="wipe(left)">
                                      <p:cBhvr>
                                        <p:cTn id="33" dur="500"/>
                                        <p:tgtEl>
                                          <p:spTgt spid="232482"/>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87" grpId="0" animBg="1"/>
      <p:bldP spid="232450" grpId="0" animBg="1"/>
      <p:bldP spid="232451" grpId="0" animBg="1" autoUpdateAnimBg="0"/>
      <p:bldP spid="232482" grpId="0" animBg="1"/>
      <p:bldP spid="2" grpId="0"/>
      <p:bldP spid="37" grpId="0" animBg="1"/>
    </p:bldLst>
  </p:timing>
</p:sld>
</file>

<file path=ppt/slides/slide1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3744" name="Rectangle 32" descr="Recycled paper"/>
          <p:cNvSpPr>
            <a:spLocks noChangeArrowheads="1"/>
          </p:cNvSpPr>
          <p:nvPr/>
        </p:nvSpPr>
        <p:spPr bwMode="auto">
          <a:xfrm>
            <a:off x="152400" y="228600"/>
            <a:ext cx="8839200" cy="1116013"/>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lnSpc>
                <a:spcPct val="110000"/>
              </a:lnSpc>
              <a:spcBef>
                <a:spcPct val="50000"/>
              </a:spcBef>
              <a:buFontTx/>
              <a:buNone/>
            </a:pPr>
            <a:r>
              <a:rPr lang="en-US" sz="2000" dirty="0"/>
              <a:t/>
            </a:r>
            <a:br>
              <a:rPr lang="en-US" sz="2000" dirty="0"/>
            </a:br>
            <a:r>
              <a:rPr lang="en-US" sz="2000" dirty="0">
                <a:solidFill>
                  <a:schemeClr val="hlink"/>
                </a:solidFill>
              </a:rPr>
              <a:t>If all edge capacities are integers, then there is always an all integer max flow,</a:t>
            </a:r>
            <a:r>
              <a:rPr lang="en-US" sz="2000" dirty="0"/>
              <a:t> </a:t>
            </a:r>
            <a:r>
              <a:rPr lang="en-US" sz="2000" dirty="0">
                <a:solidFill>
                  <a:srgbClr val="CC0000"/>
                </a:solidFill>
              </a:rPr>
              <a:t>and the max flow obtained by Ford-Fulkerson’s algorithm has this property.</a:t>
            </a:r>
          </a:p>
        </p:txBody>
      </p:sp>
      <p:sp>
        <p:nvSpPr>
          <p:cNvPr id="243714" name="Rectangle 2"/>
          <p:cNvSpPr>
            <a:spLocks noGrp="1" noChangeArrowheads="1"/>
          </p:cNvSpPr>
          <p:nvPr>
            <p:ph type="title"/>
          </p:nvPr>
        </p:nvSpPr>
        <p:spPr>
          <a:xfrm>
            <a:off x="152400" y="188913"/>
            <a:ext cx="3048000" cy="573087"/>
          </a:xfrm>
          <a:extLst>
            <a:ext uri="{909E8E84-426E-40DD-AFC4-6F175D3DCCD1}">
              <a14:hiddenFill xmlns:a14="http://schemas.microsoft.com/office/drawing/2010/main">
                <a:solidFill>
                  <a:srgbClr val="FFCCCC"/>
                </a:solidFill>
              </a14:hiddenFill>
            </a:ext>
          </a:extLst>
        </p:spPr>
        <p:txBody>
          <a:bodyPr/>
          <a:lstStyle/>
          <a:p>
            <a:pPr eaLnBrk="1" hangingPunct="1">
              <a:lnSpc>
                <a:spcPct val="110000"/>
              </a:lnSpc>
            </a:pPr>
            <a:r>
              <a:rPr lang="en-US" sz="2400" b="1" smtClean="0">
                <a:solidFill>
                  <a:srgbClr val="CC0000"/>
                </a:solidFill>
              </a:rPr>
              <a:t>Integrality Theorem:</a:t>
            </a:r>
          </a:p>
        </p:txBody>
      </p:sp>
      <p:sp>
        <p:nvSpPr>
          <p:cNvPr id="243726" name="Rectangle 14"/>
          <p:cNvSpPr>
            <a:spLocks noChangeArrowheads="1"/>
          </p:cNvSpPr>
          <p:nvPr/>
        </p:nvSpPr>
        <p:spPr bwMode="auto">
          <a:xfrm>
            <a:off x="152400" y="1752600"/>
            <a:ext cx="87630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marL="457200" indent="-457200" defTabSz="893763">
              <a:lnSpc>
                <a:spcPct val="105000"/>
              </a:lnSpc>
              <a:spcBef>
                <a:spcPct val="50000"/>
              </a:spcBef>
              <a:buFont typeface="Wingdings" pitchFamily="2" charset="2"/>
              <a:buNone/>
            </a:pPr>
            <a:r>
              <a:rPr lang="en-US" sz="2000" b="1"/>
              <a:t>Proof:</a:t>
            </a:r>
            <a:r>
              <a:rPr lang="en-US" sz="2000"/>
              <a:t>  </a:t>
            </a:r>
            <a:br>
              <a:rPr lang="en-US" sz="2000"/>
            </a:br>
            <a:r>
              <a:rPr lang="en-US" sz="2000"/>
              <a:t>By induction on the # augmenting iterations:  f remains an all integer flow.</a:t>
            </a:r>
          </a:p>
          <a:p>
            <a:pPr marL="457200" indent="-457200" defTabSz="893763">
              <a:lnSpc>
                <a:spcPct val="105000"/>
              </a:lnSpc>
              <a:spcBef>
                <a:spcPct val="50000"/>
              </a:spcBef>
              <a:buFont typeface="Wingdings" pitchFamily="2" charset="2"/>
              <a:buNone/>
            </a:pPr>
            <a:r>
              <a:rPr lang="en-US" sz="2000"/>
              <a:t>	</a:t>
            </a:r>
            <a:r>
              <a:rPr lang="en-US" sz="2000" b="1"/>
              <a:t>Basis:</a:t>
            </a:r>
            <a:r>
              <a:rPr lang="en-US" sz="2000"/>
              <a:t>         	Initial flow value is all zero integers.</a:t>
            </a:r>
          </a:p>
          <a:p>
            <a:pPr marL="457200" indent="-457200" defTabSz="893763">
              <a:lnSpc>
                <a:spcPct val="105000"/>
              </a:lnSpc>
              <a:spcBef>
                <a:spcPct val="50000"/>
              </a:spcBef>
              <a:buFont typeface="Wingdings" pitchFamily="2" charset="2"/>
              <a:buNone/>
            </a:pPr>
            <a:r>
              <a:rPr lang="en-US" sz="2000"/>
              <a:t>	</a:t>
            </a:r>
            <a:r>
              <a:rPr lang="en-US" sz="2000" b="1"/>
              <a:t>Induction:</a:t>
            </a:r>
            <a:r>
              <a:rPr lang="en-US" sz="2000"/>
              <a:t> 	Residual capacities </a:t>
            </a:r>
            <a:r>
              <a:rPr lang="en-US" sz="2000">
                <a:cs typeface="Times New Roman" pitchFamily="18" charset="0"/>
              </a:rPr>
              <a:t>ĉ </a:t>
            </a:r>
            <a:r>
              <a:rPr lang="en-US" sz="2000"/>
              <a:t>remain all integers </a:t>
            </a:r>
            <a:br>
              <a:rPr lang="en-US" sz="2000"/>
            </a:br>
            <a:r>
              <a:rPr lang="en-US" sz="2000"/>
              <a:t>		(they are either flow value or edge capacity minus flow value)</a:t>
            </a:r>
            <a:r>
              <a:rPr lang="en-US" sz="2000">
                <a:cs typeface="Times New Roman" pitchFamily="18" charset="0"/>
              </a:rPr>
              <a:t>.</a:t>
            </a:r>
          </a:p>
          <a:p>
            <a:pPr marL="457200" indent="-457200" defTabSz="893763">
              <a:lnSpc>
                <a:spcPct val="105000"/>
              </a:lnSpc>
              <a:spcBef>
                <a:spcPct val="50000"/>
              </a:spcBef>
              <a:buFont typeface="Wingdings" pitchFamily="2" charset="2"/>
              <a:buNone/>
            </a:pPr>
            <a:r>
              <a:rPr lang="en-US" sz="2000">
                <a:cs typeface="Times New Roman" pitchFamily="18" charset="0"/>
              </a:rPr>
              <a:t>		          	Therefore, </a:t>
            </a:r>
            <a:r>
              <a:rPr lang="en-US" sz="2000"/>
              <a:t>the augmenting values </a:t>
            </a:r>
            <a:r>
              <a:rPr lang="en-US" sz="2000">
                <a:latin typeface="Symbol" pitchFamily="18" charset="2"/>
              </a:rPr>
              <a:t>D </a:t>
            </a:r>
            <a:r>
              <a:rPr lang="en-US" sz="2000"/>
              <a:t>&gt; 0 is also an integer.</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145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3714"/>
                                        </p:tgtEl>
                                        <p:attrNameLst>
                                          <p:attrName>style.visibility</p:attrName>
                                        </p:attrNameLst>
                                      </p:cBhvr>
                                      <p:to>
                                        <p:strVal val="visible"/>
                                      </p:to>
                                    </p:set>
                                    <p:animEffect transition="in" filter="wipe(left)">
                                      <p:cBhvr>
                                        <p:cTn id="7" dur="500"/>
                                        <p:tgtEl>
                                          <p:spTgt spid="24371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3744"/>
                                        </p:tgtEl>
                                        <p:attrNameLst>
                                          <p:attrName>style.visibility</p:attrName>
                                        </p:attrNameLst>
                                      </p:cBhvr>
                                      <p:to>
                                        <p:strVal val="visible"/>
                                      </p:to>
                                    </p:set>
                                    <p:animEffect transition="in" filter="wipe(left)">
                                      <p:cBhvr>
                                        <p:cTn id="11" dur="500"/>
                                        <p:tgtEl>
                                          <p:spTgt spid="24374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43726"/>
                                        </p:tgtEl>
                                        <p:attrNameLst>
                                          <p:attrName>style.visibility</p:attrName>
                                        </p:attrNameLst>
                                      </p:cBhvr>
                                      <p:to>
                                        <p:strVal val="visible"/>
                                      </p:to>
                                    </p:set>
                                    <p:animEffect transition="in" filter="wipe(up)">
                                      <p:cBhvr>
                                        <p:cTn id="16" dur="500"/>
                                        <p:tgtEl>
                                          <p:spTgt spid="243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44" grpId="0" animBg="1" autoUpdateAnimBg="0"/>
      <p:bldP spid="243714" grpId="0" autoUpdateAnimBg="0"/>
      <p:bldP spid="243726" grpId="0" autoUpdateAnimBg="0"/>
    </p:bldLst>
  </p:timing>
</p:sld>
</file>

<file path=ppt/slides/slide1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Termination</a:t>
            </a:r>
          </a:p>
        </p:txBody>
      </p:sp>
      <p:sp>
        <p:nvSpPr>
          <p:cNvPr id="244741" name="Rectangle 5" descr="Recycled paper"/>
          <p:cNvSpPr>
            <a:spLocks noChangeArrowheads="1"/>
          </p:cNvSpPr>
          <p:nvPr/>
        </p:nvSpPr>
        <p:spPr bwMode="auto">
          <a:xfrm>
            <a:off x="152400" y="838200"/>
            <a:ext cx="8839200" cy="13906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spcBef>
                <a:spcPct val="50000"/>
              </a:spcBef>
              <a:buFontTx/>
              <a:buNone/>
            </a:pPr>
            <a:r>
              <a:rPr lang="en-US" sz="2400" b="1" dirty="0">
                <a:solidFill>
                  <a:srgbClr val="CC0000"/>
                </a:solidFill>
              </a:rPr>
              <a:t>Corollary [to the Integrality Theorem]:</a:t>
            </a:r>
            <a:r>
              <a:rPr lang="en-US" sz="2000" dirty="0"/>
              <a:t> </a:t>
            </a:r>
            <a:br>
              <a:rPr lang="en-US" sz="2000" dirty="0"/>
            </a:br>
            <a:r>
              <a:rPr lang="en-US" sz="2000" dirty="0">
                <a:solidFill>
                  <a:schemeClr val="hlink"/>
                </a:solidFill>
              </a:rPr>
              <a:t>If all edge capacities are </a:t>
            </a:r>
            <a:r>
              <a:rPr lang="en-US" sz="2000" b="1" dirty="0">
                <a:solidFill>
                  <a:srgbClr val="CC0000"/>
                </a:solidFill>
              </a:rPr>
              <a:t>integers</a:t>
            </a:r>
            <a:r>
              <a:rPr lang="en-US" sz="2000" dirty="0">
                <a:solidFill>
                  <a:schemeClr val="hlink"/>
                </a:solidFill>
              </a:rPr>
              <a:t>, then Ford-Fulkerson’s algorithm terminates after at most v* iterations, where v* is the max flow value. </a:t>
            </a:r>
            <a:br>
              <a:rPr lang="en-US" sz="2000" dirty="0">
                <a:solidFill>
                  <a:schemeClr val="hlink"/>
                </a:solidFill>
              </a:rPr>
            </a:br>
            <a:r>
              <a:rPr lang="en-US" sz="2000" dirty="0">
                <a:solidFill>
                  <a:schemeClr val="hlink"/>
                </a:solidFill>
              </a:rPr>
              <a:t>In this case, the running time of the algorithm is O(v* E).</a:t>
            </a:r>
          </a:p>
        </p:txBody>
      </p:sp>
      <p:sp>
        <p:nvSpPr>
          <p:cNvPr id="244742" name="Rectangle 6" descr="Recycled paper"/>
          <p:cNvSpPr>
            <a:spLocks noChangeArrowheads="1"/>
          </p:cNvSpPr>
          <p:nvPr/>
        </p:nvSpPr>
        <p:spPr bwMode="auto">
          <a:xfrm>
            <a:off x="152400" y="5562600"/>
            <a:ext cx="8839200" cy="10858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spcBef>
                <a:spcPct val="50000"/>
              </a:spcBef>
              <a:buFontTx/>
              <a:buNone/>
            </a:pPr>
            <a:r>
              <a:rPr lang="en-US" sz="2400" b="1" dirty="0">
                <a:solidFill>
                  <a:srgbClr val="CC0000"/>
                </a:solidFill>
              </a:rPr>
              <a:t>Remark:</a:t>
            </a:r>
            <a:r>
              <a:rPr lang="en-US" sz="2000" dirty="0"/>
              <a:t> </a:t>
            </a:r>
            <a:br>
              <a:rPr lang="en-US" sz="2000" dirty="0"/>
            </a:br>
            <a:r>
              <a:rPr lang="en-US" sz="2000" dirty="0">
                <a:solidFill>
                  <a:schemeClr val="hlink"/>
                </a:solidFill>
              </a:rPr>
              <a:t>If some edge capacities are </a:t>
            </a:r>
            <a:r>
              <a:rPr lang="en-US" sz="2000" b="1" dirty="0">
                <a:solidFill>
                  <a:srgbClr val="CC0000"/>
                </a:solidFill>
              </a:rPr>
              <a:t>irrationals</a:t>
            </a:r>
            <a:r>
              <a:rPr lang="en-US" sz="2000" dirty="0">
                <a:solidFill>
                  <a:schemeClr val="hlink"/>
                </a:solidFill>
              </a:rPr>
              <a:t>, Ford-Fulkerson’s algorithm may never terminate. It may even converge to a strictly sub-optimal flow!</a:t>
            </a:r>
          </a:p>
        </p:txBody>
      </p:sp>
      <p:sp>
        <p:nvSpPr>
          <p:cNvPr id="244760" name="Rectangle 24"/>
          <p:cNvSpPr>
            <a:spLocks noChangeArrowheads="1"/>
          </p:cNvSpPr>
          <p:nvPr/>
        </p:nvSpPr>
        <p:spPr bwMode="auto">
          <a:xfrm>
            <a:off x="152400" y="2362200"/>
            <a:ext cx="7620000"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a:buFont typeface="Wingdings" pitchFamily="2" charset="2"/>
              <a:buNone/>
            </a:pPr>
            <a:r>
              <a:rPr lang="en-US" sz="2000" b="1"/>
              <a:t>Proof:</a:t>
            </a:r>
            <a:r>
              <a:rPr lang="en-US" sz="2000"/>
              <a:t>   Upper-bound:  </a:t>
            </a:r>
            <a:r>
              <a:rPr lang="en-US" sz="2000">
                <a:latin typeface="Symbol" pitchFamily="18" charset="2"/>
              </a:rPr>
              <a:t>D</a:t>
            </a:r>
            <a:r>
              <a:rPr lang="en-US" sz="2000"/>
              <a:t> </a:t>
            </a:r>
            <a:r>
              <a:rPr lang="en-US" sz="2000">
                <a:sym typeface="Symbol" pitchFamily="18" charset="2"/>
              </a:rPr>
              <a:t> 1 per iteration (by the Integrality Theorem). </a:t>
            </a:r>
            <a:endParaRPr lang="en-US" sz="2000"/>
          </a:p>
        </p:txBody>
      </p:sp>
      <p:sp>
        <p:nvSpPr>
          <p:cNvPr id="244762" name="Text Box 26"/>
          <p:cNvSpPr txBox="1">
            <a:spLocks noChangeArrowheads="1"/>
          </p:cNvSpPr>
          <p:nvPr/>
        </p:nvSpPr>
        <p:spPr bwMode="auto">
          <a:xfrm>
            <a:off x="4572000" y="2819400"/>
            <a:ext cx="3965575" cy="1276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buFont typeface="Wingdings" pitchFamily="2" charset="2"/>
              <a:buNone/>
            </a:pPr>
            <a:r>
              <a:rPr lang="en-US" sz="2000"/>
              <a:t>Alternate between augmenting paths:</a:t>
            </a:r>
          </a:p>
          <a:p>
            <a:pPr>
              <a:buFont typeface="Wingdings" pitchFamily="2" charset="2"/>
              <a:buNone/>
            </a:pPr>
            <a:r>
              <a:rPr lang="en-US" sz="2000"/>
              <a:t>    s</a:t>
            </a:r>
            <a:r>
              <a:rPr lang="en-US" sz="2000">
                <a:sym typeface="Symbol" pitchFamily="18" charset="2"/>
              </a:rPr>
              <a:t></a:t>
            </a:r>
            <a:r>
              <a:rPr lang="en-US" sz="2000"/>
              <a:t>a</a:t>
            </a:r>
            <a:r>
              <a:rPr lang="en-US" sz="2000">
                <a:sym typeface="Symbol" pitchFamily="18" charset="2"/>
              </a:rPr>
              <a:t></a:t>
            </a:r>
            <a:r>
              <a:rPr lang="en-US" sz="2000"/>
              <a:t>b</a:t>
            </a:r>
            <a:r>
              <a:rPr lang="en-US" sz="2000">
                <a:sym typeface="Symbol" pitchFamily="18" charset="2"/>
              </a:rPr>
              <a:t></a:t>
            </a:r>
            <a:r>
              <a:rPr lang="en-US" sz="2000"/>
              <a:t>t      &amp;    s</a:t>
            </a:r>
            <a:r>
              <a:rPr lang="en-US" sz="2000">
                <a:sym typeface="Symbol" pitchFamily="18" charset="2"/>
              </a:rPr>
              <a:t></a:t>
            </a:r>
            <a:r>
              <a:rPr lang="en-US" sz="2000"/>
              <a:t>b</a:t>
            </a:r>
            <a:r>
              <a:rPr lang="en-US" sz="2000">
                <a:sym typeface="Symbol" pitchFamily="18" charset="2"/>
              </a:rPr>
              <a:t></a:t>
            </a:r>
            <a:r>
              <a:rPr lang="en-US" sz="2000"/>
              <a:t>a</a:t>
            </a:r>
            <a:r>
              <a:rPr lang="en-US" sz="2000">
                <a:sym typeface="Symbol" pitchFamily="18" charset="2"/>
              </a:rPr>
              <a:t></a:t>
            </a:r>
            <a:r>
              <a:rPr lang="en-US" sz="2000"/>
              <a:t>t.</a:t>
            </a:r>
          </a:p>
          <a:p>
            <a:pPr>
              <a:buFont typeface="Wingdings" pitchFamily="2" charset="2"/>
              <a:buNone/>
            </a:pPr>
            <a:r>
              <a:rPr lang="en-US" sz="2000">
                <a:latin typeface="Symbol" pitchFamily="18" charset="2"/>
              </a:rPr>
              <a:t>D</a:t>
            </a:r>
            <a:r>
              <a:rPr lang="en-US" sz="2000"/>
              <a:t> = 1 per iteration.</a:t>
            </a:r>
          </a:p>
          <a:p>
            <a:pPr>
              <a:buFont typeface="Wingdings" pitchFamily="2" charset="2"/>
              <a:buNone/>
            </a:pPr>
            <a:r>
              <a:rPr lang="en-US" sz="2000"/>
              <a:t>v* iterations.</a:t>
            </a:r>
            <a:endParaRPr lang="en-US" sz="2000">
              <a:solidFill>
                <a:srgbClr val="CC0000"/>
              </a:solidFill>
            </a:endParaRPr>
          </a:p>
        </p:txBody>
      </p:sp>
      <p:sp>
        <p:nvSpPr>
          <p:cNvPr id="244765" name="Rectangle 29"/>
          <p:cNvSpPr>
            <a:spLocks noChangeArrowheads="1"/>
          </p:cNvSpPr>
          <p:nvPr/>
        </p:nvSpPr>
        <p:spPr bwMode="auto">
          <a:xfrm>
            <a:off x="4572000" y="4343400"/>
            <a:ext cx="4343400"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a:spcBef>
                <a:spcPct val="50000"/>
              </a:spcBef>
              <a:buFont typeface="Wingdings" pitchFamily="2" charset="2"/>
              <a:buNone/>
            </a:pPr>
            <a:r>
              <a:rPr lang="en-US" sz="2000">
                <a:solidFill>
                  <a:srgbClr val="CC0000"/>
                </a:solidFill>
              </a:rPr>
              <a:t>However,</a:t>
            </a:r>
            <a:br>
              <a:rPr lang="en-US" sz="2000">
                <a:solidFill>
                  <a:srgbClr val="CC0000"/>
                </a:solidFill>
              </a:rPr>
            </a:br>
            <a:r>
              <a:rPr lang="en-US" sz="2000">
                <a:solidFill>
                  <a:srgbClr val="CC0000"/>
                </a:solidFill>
              </a:rPr>
              <a:t>2 iterations would suffice if we chose</a:t>
            </a:r>
            <a:br>
              <a:rPr lang="en-US" sz="2000">
                <a:solidFill>
                  <a:srgbClr val="CC0000"/>
                </a:solidFill>
              </a:rPr>
            </a:br>
            <a:r>
              <a:rPr lang="en-US" sz="2000">
                <a:solidFill>
                  <a:srgbClr val="CC0000"/>
                </a:solidFill>
              </a:rPr>
              <a:t>           s</a:t>
            </a:r>
            <a:r>
              <a:rPr lang="en-US" sz="2000">
                <a:solidFill>
                  <a:srgbClr val="CC0000"/>
                </a:solidFill>
                <a:sym typeface="Symbol" pitchFamily="18" charset="2"/>
              </a:rPr>
              <a:t></a:t>
            </a:r>
            <a:r>
              <a:rPr lang="en-US" sz="2000">
                <a:solidFill>
                  <a:srgbClr val="CC0000"/>
                </a:solidFill>
              </a:rPr>
              <a:t>a</a:t>
            </a:r>
            <a:r>
              <a:rPr lang="en-US" sz="2000">
                <a:solidFill>
                  <a:srgbClr val="CC0000"/>
                </a:solidFill>
                <a:sym typeface="Symbol" pitchFamily="18" charset="2"/>
              </a:rPr>
              <a:t></a:t>
            </a:r>
            <a:r>
              <a:rPr lang="en-US" sz="2000">
                <a:solidFill>
                  <a:srgbClr val="CC0000"/>
                </a:solidFill>
              </a:rPr>
              <a:t>t       &amp;    s</a:t>
            </a:r>
            <a:r>
              <a:rPr lang="en-US" sz="2000">
                <a:solidFill>
                  <a:srgbClr val="CC0000"/>
                </a:solidFill>
                <a:sym typeface="Symbol" pitchFamily="18" charset="2"/>
              </a:rPr>
              <a:t></a:t>
            </a:r>
            <a:r>
              <a:rPr lang="en-US" sz="2000">
                <a:solidFill>
                  <a:srgbClr val="CC0000"/>
                </a:solidFill>
              </a:rPr>
              <a:t>b</a:t>
            </a:r>
            <a:r>
              <a:rPr lang="en-US" sz="2000">
                <a:solidFill>
                  <a:srgbClr val="CC0000"/>
                </a:solidFill>
                <a:sym typeface="Symbol" pitchFamily="18" charset="2"/>
              </a:rPr>
              <a:t></a:t>
            </a:r>
            <a:r>
              <a:rPr lang="en-US" sz="2000">
                <a:solidFill>
                  <a:srgbClr val="CC0000"/>
                </a:solidFill>
              </a:rPr>
              <a:t>t.</a:t>
            </a:r>
          </a:p>
        </p:txBody>
      </p:sp>
      <p:grpSp>
        <p:nvGrpSpPr>
          <p:cNvPr id="244768" name="Group 32"/>
          <p:cNvGrpSpPr>
            <a:grpSpLocks/>
          </p:cNvGrpSpPr>
          <p:nvPr/>
        </p:nvGrpSpPr>
        <p:grpSpPr bwMode="auto">
          <a:xfrm>
            <a:off x="228600" y="2895600"/>
            <a:ext cx="3648075" cy="2414588"/>
            <a:chOff x="144" y="1824"/>
            <a:chExt cx="2298" cy="1521"/>
          </a:xfrm>
        </p:grpSpPr>
        <p:grpSp>
          <p:nvGrpSpPr>
            <p:cNvPr id="149513" name="Group 30"/>
            <p:cNvGrpSpPr>
              <a:grpSpLocks/>
            </p:cNvGrpSpPr>
            <p:nvPr/>
          </p:nvGrpSpPr>
          <p:grpSpPr bwMode="auto">
            <a:xfrm>
              <a:off x="384" y="2304"/>
              <a:ext cx="1876" cy="1041"/>
              <a:chOff x="336" y="1968"/>
              <a:chExt cx="1876" cy="1041"/>
            </a:xfrm>
          </p:grpSpPr>
          <p:sp>
            <p:nvSpPr>
              <p:cNvPr id="149515" name="Line 23"/>
              <p:cNvSpPr>
                <a:spLocks noChangeShapeType="1"/>
              </p:cNvSpPr>
              <p:nvPr/>
            </p:nvSpPr>
            <p:spPr bwMode="auto">
              <a:xfrm>
                <a:off x="1248" y="2112"/>
                <a:ext cx="0" cy="67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49516" name="Freeform 9"/>
              <p:cNvSpPr>
                <a:spLocks/>
              </p:cNvSpPr>
              <p:nvPr/>
            </p:nvSpPr>
            <p:spPr bwMode="auto">
              <a:xfrm>
                <a:off x="480" y="2140"/>
                <a:ext cx="693" cy="308"/>
              </a:xfrm>
              <a:custGeom>
                <a:avLst/>
                <a:gdLst>
                  <a:gd name="T0" fmla="*/ 0 w 515"/>
                  <a:gd name="T1" fmla="*/ 308 h 312"/>
                  <a:gd name="T2" fmla="*/ 693 w 515"/>
                  <a:gd name="T3" fmla="*/ 0 h 312"/>
                  <a:gd name="T4" fmla="*/ 0 60000 65536"/>
                  <a:gd name="T5" fmla="*/ 0 60000 65536"/>
                </a:gdLst>
                <a:ahLst/>
                <a:cxnLst>
                  <a:cxn ang="T4">
                    <a:pos x="T0" y="T1"/>
                  </a:cxn>
                  <a:cxn ang="T5">
                    <a:pos x="T2" y="T3"/>
                  </a:cxn>
                </a:cxnLst>
                <a:rect l="0" t="0" r="r" b="b"/>
                <a:pathLst>
                  <a:path w="515" h="312">
                    <a:moveTo>
                      <a:pt x="0" y="312"/>
                    </a:moveTo>
                    <a:lnTo>
                      <a:pt x="515"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9517" name="Freeform 10"/>
              <p:cNvSpPr>
                <a:spLocks/>
              </p:cNvSpPr>
              <p:nvPr/>
            </p:nvSpPr>
            <p:spPr bwMode="auto">
              <a:xfrm>
                <a:off x="432" y="2496"/>
                <a:ext cx="720" cy="384"/>
              </a:xfrm>
              <a:custGeom>
                <a:avLst/>
                <a:gdLst>
                  <a:gd name="T0" fmla="*/ 0 w 467"/>
                  <a:gd name="T1" fmla="*/ 0 h 373"/>
                  <a:gd name="T2" fmla="*/ 720 w 467"/>
                  <a:gd name="T3" fmla="*/ 384 h 373"/>
                  <a:gd name="T4" fmla="*/ 0 60000 65536"/>
                  <a:gd name="T5" fmla="*/ 0 60000 65536"/>
                </a:gdLst>
                <a:ahLst/>
                <a:cxnLst>
                  <a:cxn ang="T4">
                    <a:pos x="T0" y="T1"/>
                  </a:cxn>
                  <a:cxn ang="T5">
                    <a:pos x="T2" y="T3"/>
                  </a:cxn>
                </a:cxnLst>
                <a:rect l="0" t="0" r="r" b="b"/>
                <a:pathLst>
                  <a:path w="467" h="373">
                    <a:moveTo>
                      <a:pt x="0" y="0"/>
                    </a:moveTo>
                    <a:lnTo>
                      <a:pt x="467" y="37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9518" name="Freeform 11"/>
              <p:cNvSpPr>
                <a:spLocks/>
              </p:cNvSpPr>
              <p:nvPr/>
            </p:nvSpPr>
            <p:spPr bwMode="auto">
              <a:xfrm>
                <a:off x="1282" y="2093"/>
                <a:ext cx="708" cy="317"/>
              </a:xfrm>
              <a:custGeom>
                <a:avLst/>
                <a:gdLst>
                  <a:gd name="T0" fmla="*/ 0 w 708"/>
                  <a:gd name="T1" fmla="*/ 0 h 317"/>
                  <a:gd name="T2" fmla="*/ 708 w 708"/>
                  <a:gd name="T3" fmla="*/ 317 h 317"/>
                  <a:gd name="T4" fmla="*/ 0 60000 65536"/>
                  <a:gd name="T5" fmla="*/ 0 60000 65536"/>
                </a:gdLst>
                <a:ahLst/>
                <a:cxnLst>
                  <a:cxn ang="T4">
                    <a:pos x="T0" y="T1"/>
                  </a:cxn>
                  <a:cxn ang="T5">
                    <a:pos x="T2" y="T3"/>
                  </a:cxn>
                </a:cxnLst>
                <a:rect l="0" t="0" r="r" b="b"/>
                <a:pathLst>
                  <a:path w="708" h="317">
                    <a:moveTo>
                      <a:pt x="0" y="0"/>
                    </a:moveTo>
                    <a:lnTo>
                      <a:pt x="708" y="317"/>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9519" name="Freeform 12"/>
              <p:cNvSpPr>
                <a:spLocks/>
              </p:cNvSpPr>
              <p:nvPr/>
            </p:nvSpPr>
            <p:spPr bwMode="auto">
              <a:xfrm>
                <a:off x="1234" y="2532"/>
                <a:ext cx="749" cy="367"/>
              </a:xfrm>
              <a:custGeom>
                <a:avLst/>
                <a:gdLst>
                  <a:gd name="T0" fmla="*/ 0 w 749"/>
                  <a:gd name="T1" fmla="*/ 367 h 367"/>
                  <a:gd name="T2" fmla="*/ 749 w 749"/>
                  <a:gd name="T3" fmla="*/ 0 h 367"/>
                  <a:gd name="T4" fmla="*/ 0 60000 65536"/>
                  <a:gd name="T5" fmla="*/ 0 60000 65536"/>
                </a:gdLst>
                <a:ahLst/>
                <a:cxnLst>
                  <a:cxn ang="T4">
                    <a:pos x="T0" y="T1"/>
                  </a:cxn>
                  <a:cxn ang="T5">
                    <a:pos x="T2" y="T3"/>
                  </a:cxn>
                </a:cxnLst>
                <a:rect l="0" t="0" r="r" b="b"/>
                <a:pathLst>
                  <a:path w="749" h="367">
                    <a:moveTo>
                      <a:pt x="0" y="367"/>
                    </a:moveTo>
                    <a:lnTo>
                      <a:pt x="74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49520" name="Oval 13"/>
              <p:cNvSpPr>
                <a:spLocks noChangeArrowheads="1"/>
              </p:cNvSpPr>
              <p:nvPr/>
            </p:nvSpPr>
            <p:spPr bwMode="auto">
              <a:xfrm>
                <a:off x="1152" y="278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49521" name="Oval 14"/>
              <p:cNvSpPr>
                <a:spLocks noChangeArrowheads="1"/>
              </p:cNvSpPr>
              <p:nvPr/>
            </p:nvSpPr>
            <p:spPr bwMode="auto">
              <a:xfrm>
                <a:off x="336" y="2352"/>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49522" name="Oval 15"/>
              <p:cNvSpPr>
                <a:spLocks noChangeArrowheads="1"/>
              </p:cNvSpPr>
              <p:nvPr/>
            </p:nvSpPr>
            <p:spPr bwMode="auto">
              <a:xfrm>
                <a:off x="1152" y="196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a</a:t>
                </a:r>
              </a:p>
            </p:txBody>
          </p:sp>
          <p:sp>
            <p:nvSpPr>
              <p:cNvPr id="149523" name="Oval 16"/>
              <p:cNvSpPr>
                <a:spLocks noChangeArrowheads="1"/>
              </p:cNvSpPr>
              <p:nvPr/>
            </p:nvSpPr>
            <p:spPr bwMode="auto">
              <a:xfrm>
                <a:off x="1968" y="2352"/>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49524" name="Text Box 17"/>
              <p:cNvSpPr txBox="1">
                <a:spLocks noChangeArrowheads="1"/>
              </p:cNvSpPr>
              <p:nvPr/>
            </p:nvSpPr>
            <p:spPr bwMode="auto">
              <a:xfrm>
                <a:off x="576" y="206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v*/2</a:t>
                </a:r>
              </a:p>
            </p:txBody>
          </p:sp>
          <p:sp>
            <p:nvSpPr>
              <p:cNvPr id="149525" name="Text Box 18"/>
              <p:cNvSpPr txBox="1">
                <a:spLocks noChangeArrowheads="1"/>
              </p:cNvSpPr>
              <p:nvPr/>
            </p:nvSpPr>
            <p:spPr bwMode="auto">
              <a:xfrm>
                <a:off x="1536" y="268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v*/2</a:t>
                </a:r>
              </a:p>
            </p:txBody>
          </p:sp>
          <p:sp>
            <p:nvSpPr>
              <p:cNvPr id="149526" name="Text Box 19"/>
              <p:cNvSpPr txBox="1">
                <a:spLocks noChangeArrowheads="1"/>
              </p:cNvSpPr>
              <p:nvPr/>
            </p:nvSpPr>
            <p:spPr bwMode="auto">
              <a:xfrm>
                <a:off x="1536" y="2016"/>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v*/2</a:t>
                </a:r>
              </a:p>
            </p:txBody>
          </p:sp>
          <p:sp>
            <p:nvSpPr>
              <p:cNvPr id="149527" name="Text Box 20"/>
              <p:cNvSpPr txBox="1">
                <a:spLocks noChangeArrowheads="1"/>
              </p:cNvSpPr>
              <p:nvPr/>
            </p:nvSpPr>
            <p:spPr bwMode="auto">
              <a:xfrm>
                <a:off x="576" y="268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v*/2</a:t>
                </a:r>
              </a:p>
            </p:txBody>
          </p:sp>
          <p:sp>
            <p:nvSpPr>
              <p:cNvPr id="149528" name="Text Box 21"/>
              <p:cNvSpPr txBox="1">
                <a:spLocks noChangeArrowheads="1"/>
              </p:cNvSpPr>
              <p:nvPr/>
            </p:nvSpPr>
            <p:spPr bwMode="auto">
              <a:xfrm>
                <a:off x="1200" y="2352"/>
                <a:ext cx="188"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t>1</a:t>
                </a:r>
              </a:p>
            </p:txBody>
          </p:sp>
        </p:grpSp>
        <p:sp>
          <p:nvSpPr>
            <p:cNvPr id="149514" name="Rectangle 31"/>
            <p:cNvSpPr>
              <a:spLocks noChangeArrowheads="1"/>
            </p:cNvSpPr>
            <p:nvPr/>
          </p:nvSpPr>
          <p:spPr bwMode="auto">
            <a:xfrm>
              <a:off x="144" y="1824"/>
              <a:ext cx="2298" cy="4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buFont typeface="Wingdings" pitchFamily="2" charset="2"/>
                <a:buNone/>
              </a:pPr>
              <a:r>
                <a:rPr lang="en-US" sz="2000">
                  <a:sym typeface="Symbol" pitchFamily="18" charset="2"/>
                </a:rPr>
                <a:t>Worst-case tight:  </a:t>
              </a:r>
            </a:p>
            <a:p>
              <a:pPr>
                <a:buFont typeface="Wingdings" pitchFamily="2" charset="2"/>
                <a:buNone/>
              </a:pPr>
              <a:r>
                <a:rPr lang="en-US" sz="2000"/>
                <a:t>WLOGA v* is even  (e.g., 10</a:t>
              </a:r>
              <a:r>
                <a:rPr lang="en-US" sz="2000" baseline="30000"/>
                <a:t>100</a:t>
              </a:r>
              <a:r>
                <a:rPr lang="en-US" sz="2000">
                  <a:sym typeface="Wingdings" pitchFamily="2" charset="2"/>
                </a:rPr>
                <a:t> ):</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146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44738"/>
                                        </p:tgtEl>
                                        <p:attrNameLst>
                                          <p:attrName>style.visibility</p:attrName>
                                        </p:attrNameLst>
                                      </p:cBhvr>
                                      <p:to>
                                        <p:strVal val="visible"/>
                                      </p:to>
                                    </p:set>
                                    <p:anim calcmode="lin" valueType="num">
                                      <p:cBhvr>
                                        <p:cTn id="7" dur="500" fill="hold"/>
                                        <p:tgtEl>
                                          <p:spTgt spid="244738"/>
                                        </p:tgtEl>
                                        <p:attrNameLst>
                                          <p:attrName>ppt_w</p:attrName>
                                        </p:attrNameLst>
                                      </p:cBhvr>
                                      <p:tavLst>
                                        <p:tav tm="0">
                                          <p:val>
                                            <p:fltVal val="0"/>
                                          </p:val>
                                        </p:tav>
                                        <p:tav tm="100000">
                                          <p:val>
                                            <p:strVal val="#ppt_w"/>
                                          </p:val>
                                        </p:tav>
                                      </p:tavLst>
                                    </p:anim>
                                    <p:anim calcmode="lin" valueType="num">
                                      <p:cBhvr>
                                        <p:cTn id="8" dur="500" fill="hold"/>
                                        <p:tgtEl>
                                          <p:spTgt spid="244738"/>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44741"/>
                                        </p:tgtEl>
                                        <p:attrNameLst>
                                          <p:attrName>style.visibility</p:attrName>
                                        </p:attrNameLst>
                                      </p:cBhvr>
                                      <p:to>
                                        <p:strVal val="visible"/>
                                      </p:to>
                                    </p:set>
                                    <p:animEffect transition="in" filter="wipe(left)">
                                      <p:cBhvr>
                                        <p:cTn id="12" dur="500"/>
                                        <p:tgtEl>
                                          <p:spTgt spid="2447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4760"/>
                                        </p:tgtEl>
                                        <p:attrNameLst>
                                          <p:attrName>style.visibility</p:attrName>
                                        </p:attrNameLst>
                                      </p:cBhvr>
                                      <p:to>
                                        <p:strVal val="visible"/>
                                      </p:to>
                                    </p:set>
                                    <p:animEffect transition="in" filter="wipe(left)">
                                      <p:cBhvr>
                                        <p:cTn id="17" dur="500"/>
                                        <p:tgtEl>
                                          <p:spTgt spid="2447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44768"/>
                                        </p:tgtEl>
                                        <p:attrNameLst>
                                          <p:attrName>style.visibility</p:attrName>
                                        </p:attrNameLst>
                                      </p:cBhvr>
                                      <p:to>
                                        <p:strVal val="visible"/>
                                      </p:to>
                                    </p:set>
                                    <p:animEffect transition="in" filter="wipe(up)">
                                      <p:cBhvr>
                                        <p:cTn id="22" dur="500"/>
                                        <p:tgtEl>
                                          <p:spTgt spid="2447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44762"/>
                                        </p:tgtEl>
                                        <p:attrNameLst>
                                          <p:attrName>style.visibility</p:attrName>
                                        </p:attrNameLst>
                                      </p:cBhvr>
                                      <p:to>
                                        <p:strVal val="visible"/>
                                      </p:to>
                                    </p:set>
                                    <p:animEffect transition="in" filter="wipe(up)">
                                      <p:cBhvr>
                                        <p:cTn id="27" dur="500"/>
                                        <p:tgtEl>
                                          <p:spTgt spid="24476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44765"/>
                                        </p:tgtEl>
                                        <p:attrNameLst>
                                          <p:attrName>style.visibility</p:attrName>
                                        </p:attrNameLst>
                                      </p:cBhvr>
                                      <p:to>
                                        <p:strVal val="visible"/>
                                      </p:to>
                                    </p:set>
                                    <p:animEffect transition="in" filter="wipe(up)">
                                      <p:cBhvr>
                                        <p:cTn id="32" dur="500"/>
                                        <p:tgtEl>
                                          <p:spTgt spid="24476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4742"/>
                                        </p:tgtEl>
                                        <p:attrNameLst>
                                          <p:attrName>style.visibility</p:attrName>
                                        </p:attrNameLst>
                                      </p:cBhvr>
                                      <p:to>
                                        <p:strVal val="visible"/>
                                      </p:to>
                                    </p:set>
                                    <p:animEffect transition="in" filter="wipe(left)">
                                      <p:cBhvr>
                                        <p:cTn id="37" dur="500"/>
                                        <p:tgtEl>
                                          <p:spTgt spid="244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8" grpId="0" animBg="1" autoUpdateAnimBg="0"/>
      <p:bldP spid="244741" grpId="0" animBg="1" autoUpdateAnimBg="0"/>
      <p:bldP spid="244742" grpId="0" animBg="1" autoUpdateAnimBg="0"/>
      <p:bldP spid="244760" grpId="0" autoUpdateAnimBg="0"/>
      <p:bldP spid="244762" grpId="0" autoUpdateAnimBg="0"/>
      <p:bldP spid="244765" grpId="0" autoUpdateAnimBg="0"/>
    </p:bldLst>
  </p:timing>
</p:sld>
</file>

<file path=ppt/slides/slide1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Edmonds-Karp Improvement</a:t>
            </a:r>
          </a:p>
        </p:txBody>
      </p:sp>
      <p:sp>
        <p:nvSpPr>
          <p:cNvPr id="245763" name="Rectangle 3" descr="Recycled paper"/>
          <p:cNvSpPr>
            <a:spLocks noChangeArrowheads="1"/>
          </p:cNvSpPr>
          <p:nvPr/>
        </p:nvSpPr>
        <p:spPr bwMode="auto">
          <a:xfrm>
            <a:off x="152400" y="1066800"/>
            <a:ext cx="8839200" cy="120650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spcBef>
                <a:spcPct val="50000"/>
              </a:spcBef>
              <a:buFontTx/>
              <a:buNone/>
            </a:pPr>
            <a:r>
              <a:rPr lang="en-US" sz="2400" b="1" dirty="0">
                <a:solidFill>
                  <a:srgbClr val="CC0000"/>
                </a:solidFill>
              </a:rPr>
              <a:t>Edmonds-Karp [1972]:</a:t>
            </a:r>
            <a:r>
              <a:rPr lang="en-US" sz="2400" dirty="0">
                <a:solidFill>
                  <a:schemeClr val="hlink"/>
                </a:solidFill>
              </a:rPr>
              <a:t/>
            </a:r>
            <a:br>
              <a:rPr lang="en-US" sz="2400" dirty="0">
                <a:solidFill>
                  <a:schemeClr val="hlink"/>
                </a:solidFill>
              </a:rPr>
            </a:br>
            <a:r>
              <a:rPr lang="en-US" sz="2400" dirty="0">
                <a:solidFill>
                  <a:schemeClr val="hlink"/>
                </a:solidFill>
              </a:rPr>
              <a:t>Use BFS to pick the shortest augmenting path,</a:t>
            </a:r>
            <a:br>
              <a:rPr lang="en-US" sz="2400" dirty="0">
                <a:solidFill>
                  <a:schemeClr val="hlink"/>
                </a:solidFill>
              </a:rPr>
            </a:br>
            <a:r>
              <a:rPr lang="en-US" sz="2400" dirty="0">
                <a:solidFill>
                  <a:schemeClr val="hlink"/>
                </a:solidFill>
              </a:rPr>
              <a:t>i.e., the s-t path in G(f) with fewest # of edges on it.</a:t>
            </a:r>
            <a:endParaRPr lang="en-US" sz="2000" dirty="0">
              <a:solidFill>
                <a:schemeClr val="hlink"/>
              </a:solidFill>
            </a:endParaRPr>
          </a:p>
        </p:txBody>
      </p:sp>
      <p:sp>
        <p:nvSpPr>
          <p:cNvPr id="245787" name="Rectangle 27"/>
          <p:cNvSpPr>
            <a:spLocks noChangeArrowheads="1"/>
          </p:cNvSpPr>
          <p:nvPr/>
        </p:nvSpPr>
        <p:spPr bwMode="auto">
          <a:xfrm>
            <a:off x="228600" y="3200400"/>
            <a:ext cx="8686800" cy="1338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a:buFont typeface="Wingdings" pitchFamily="2" charset="2"/>
              <a:buNone/>
            </a:pPr>
            <a:r>
              <a:rPr lang="en-US" sz="2800" b="1">
                <a:solidFill>
                  <a:srgbClr val="CC0000"/>
                </a:solidFill>
              </a:rPr>
              <a:t>Notation:</a:t>
            </a:r>
            <a:br>
              <a:rPr lang="en-US" sz="2800" b="1">
                <a:solidFill>
                  <a:srgbClr val="CC0000"/>
                </a:solidFill>
              </a:rPr>
            </a:br>
            <a:endParaRPr lang="en-US" sz="2800" b="1">
              <a:solidFill>
                <a:srgbClr val="CC0000"/>
              </a:solidFill>
            </a:endParaRPr>
          </a:p>
          <a:p>
            <a:pPr>
              <a:buFont typeface="Wingdings" pitchFamily="2" charset="2"/>
              <a:buNone/>
            </a:pPr>
            <a:r>
              <a:rPr lang="en-US" sz="2800" b="1">
                <a:solidFill>
                  <a:srgbClr val="CC0000"/>
                </a:solidFill>
                <a:latin typeface="Symbol" pitchFamily="18" charset="2"/>
              </a:rPr>
              <a:t>	d</a:t>
            </a:r>
            <a:r>
              <a:rPr lang="en-US" sz="3200" b="1" baseline="-25000">
                <a:solidFill>
                  <a:srgbClr val="CC0000"/>
                </a:solidFill>
              </a:rPr>
              <a:t>f </a:t>
            </a:r>
            <a:r>
              <a:rPr lang="en-US" sz="2800" b="1">
                <a:solidFill>
                  <a:srgbClr val="CC0000"/>
                </a:solidFill>
              </a:rPr>
              <a:t>(v)  =</a:t>
            </a:r>
            <a:r>
              <a:rPr lang="en-US" sz="2400" b="1"/>
              <a:t> </a:t>
            </a:r>
            <a:r>
              <a:rPr lang="en-US" sz="2400"/>
              <a:t>   shortest distance from s to v in G(f),  for v</a:t>
            </a:r>
            <a:r>
              <a:rPr lang="en-US" sz="2400">
                <a:sym typeface="Symbol" pitchFamily="18" charset="2"/>
              </a:rPr>
              <a:t></a:t>
            </a:r>
            <a:r>
              <a:rPr lang="en-US" sz="2400"/>
              <a:t>V.</a:t>
            </a:r>
            <a:r>
              <a:rPr lang="en-US" sz="2400">
                <a:sym typeface="Symbol" pitchFamily="18" charset="2"/>
              </a:rPr>
              <a:t> </a:t>
            </a:r>
            <a:endParaRPr lang="en-US" sz="2400"/>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147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45762"/>
                                        </p:tgtEl>
                                        <p:attrNameLst>
                                          <p:attrName>style.visibility</p:attrName>
                                        </p:attrNameLst>
                                      </p:cBhvr>
                                      <p:to>
                                        <p:strVal val="visible"/>
                                      </p:to>
                                    </p:set>
                                    <p:anim calcmode="lin" valueType="num">
                                      <p:cBhvr>
                                        <p:cTn id="7" dur="500" fill="hold"/>
                                        <p:tgtEl>
                                          <p:spTgt spid="245762"/>
                                        </p:tgtEl>
                                        <p:attrNameLst>
                                          <p:attrName>ppt_w</p:attrName>
                                        </p:attrNameLst>
                                      </p:cBhvr>
                                      <p:tavLst>
                                        <p:tav tm="0">
                                          <p:val>
                                            <p:fltVal val="0"/>
                                          </p:val>
                                        </p:tav>
                                        <p:tav tm="100000">
                                          <p:val>
                                            <p:strVal val="#ppt_w"/>
                                          </p:val>
                                        </p:tav>
                                      </p:tavLst>
                                    </p:anim>
                                    <p:anim calcmode="lin" valueType="num">
                                      <p:cBhvr>
                                        <p:cTn id="8" dur="500" fill="hold"/>
                                        <p:tgtEl>
                                          <p:spTgt spid="245762"/>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245763"/>
                                        </p:tgtEl>
                                        <p:attrNameLst>
                                          <p:attrName>style.visibility</p:attrName>
                                        </p:attrNameLst>
                                      </p:cBhvr>
                                      <p:to>
                                        <p:strVal val="visible"/>
                                      </p:to>
                                    </p:set>
                                    <p:animEffect transition="in" filter="wipe(up)">
                                      <p:cBhvr>
                                        <p:cTn id="12" dur="500"/>
                                        <p:tgtEl>
                                          <p:spTgt spid="2457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5787"/>
                                        </p:tgtEl>
                                        <p:attrNameLst>
                                          <p:attrName>style.visibility</p:attrName>
                                        </p:attrNameLst>
                                      </p:cBhvr>
                                      <p:to>
                                        <p:strVal val="visible"/>
                                      </p:to>
                                    </p:set>
                                    <p:animEffect transition="in" filter="wipe(left)">
                                      <p:cBhvr>
                                        <p:cTn id="17" dur="500"/>
                                        <p:tgtEl>
                                          <p:spTgt spid="245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2" grpId="0" animBg="1" autoUpdateAnimBg="0"/>
      <p:bldP spid="245763" grpId="0" animBg="1" autoUpdateAnimBg="0"/>
      <p:bldP spid="245787" grpId="0" autoUpdateAnimBg="0"/>
    </p:bldLst>
  </p:timing>
</p:sld>
</file>

<file path=ppt/slides/slide1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Edmonds-Karp Improvement</a:t>
            </a:r>
          </a:p>
        </p:txBody>
      </p:sp>
      <p:sp>
        <p:nvSpPr>
          <p:cNvPr id="246789" name="Rectangle 5" descr="Recycled paper"/>
          <p:cNvSpPr>
            <a:spLocks noChangeArrowheads="1"/>
          </p:cNvSpPr>
          <p:nvPr/>
        </p:nvSpPr>
        <p:spPr bwMode="auto">
          <a:xfrm>
            <a:off x="152400" y="838200"/>
            <a:ext cx="8839200" cy="4762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457200" indent="-457200" eaLnBrk="1" hangingPunct="1">
              <a:spcBef>
                <a:spcPct val="50000"/>
              </a:spcBef>
              <a:buFontTx/>
              <a:buNone/>
            </a:pPr>
            <a:r>
              <a:rPr lang="en-US" sz="2400" b="1" dirty="0">
                <a:solidFill>
                  <a:srgbClr val="CC0000"/>
                </a:solidFill>
              </a:rPr>
              <a:t>FACT 1:</a:t>
            </a:r>
            <a:r>
              <a:rPr lang="en-US" sz="2400" dirty="0">
                <a:solidFill>
                  <a:schemeClr val="hlink"/>
                </a:solidFill>
              </a:rPr>
              <a:t>   </a:t>
            </a:r>
            <a:r>
              <a:rPr lang="en-US" sz="2400" dirty="0" err="1">
                <a:solidFill>
                  <a:schemeClr val="hlink"/>
                </a:solidFill>
                <a:latin typeface="Symbol" pitchFamily="18" charset="2"/>
              </a:rPr>
              <a:t>d</a:t>
            </a:r>
            <a:r>
              <a:rPr lang="en-US" sz="2800" baseline="-25000" dirty="0" err="1">
                <a:solidFill>
                  <a:schemeClr val="hlink"/>
                </a:solidFill>
              </a:rPr>
              <a:t>f</a:t>
            </a:r>
            <a:r>
              <a:rPr lang="en-US" sz="2800" baseline="-25000" dirty="0">
                <a:solidFill>
                  <a:schemeClr val="hlink"/>
                </a:solidFill>
              </a:rPr>
              <a:t> </a:t>
            </a:r>
            <a:r>
              <a:rPr lang="en-US" sz="2400" dirty="0">
                <a:solidFill>
                  <a:schemeClr val="hlink"/>
                </a:solidFill>
              </a:rPr>
              <a:t>(v) is non-decreasing in each iteration, for all </a:t>
            </a:r>
            <a:r>
              <a:rPr lang="en-US" sz="2000" dirty="0">
                <a:solidFill>
                  <a:schemeClr val="hlink"/>
                </a:solidFill>
              </a:rPr>
              <a:t>v </a:t>
            </a:r>
            <a:r>
              <a:rPr lang="en-US" sz="2000" dirty="0">
                <a:solidFill>
                  <a:schemeClr val="hlink"/>
                </a:solidFill>
                <a:sym typeface="Symbol" pitchFamily="18" charset="2"/>
              </a:rPr>
              <a:t> </a:t>
            </a:r>
            <a:r>
              <a:rPr lang="en-US" sz="2000" dirty="0">
                <a:solidFill>
                  <a:schemeClr val="hlink"/>
                </a:solidFill>
              </a:rPr>
              <a:t>V.</a:t>
            </a:r>
            <a:r>
              <a:rPr lang="en-US" sz="2400" dirty="0">
                <a:solidFill>
                  <a:schemeClr val="hlink"/>
                </a:solidFill>
              </a:rPr>
              <a:t> </a:t>
            </a:r>
          </a:p>
        </p:txBody>
      </p:sp>
      <p:sp>
        <p:nvSpPr>
          <p:cNvPr id="246790" name="Rectangle 6"/>
          <p:cNvSpPr>
            <a:spLocks noChangeArrowheads="1"/>
          </p:cNvSpPr>
          <p:nvPr/>
        </p:nvSpPr>
        <p:spPr bwMode="auto">
          <a:xfrm>
            <a:off x="152400" y="1295400"/>
            <a:ext cx="8839200"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defTabSz="663575">
              <a:buFont typeface="Wingdings" pitchFamily="2" charset="2"/>
              <a:buNone/>
              <a:tabLst>
                <a:tab pos="566738" algn="l"/>
                <a:tab pos="855663" algn="l"/>
              </a:tabLst>
            </a:pPr>
            <a:r>
              <a:rPr lang="en-US" sz="2000" b="1"/>
              <a:t>Proof:</a:t>
            </a:r>
            <a:r>
              <a:rPr lang="en-US" sz="2000"/>
              <a:t>   Consider an arbitrary augmenting iteration f </a:t>
            </a:r>
            <a:r>
              <a:rPr lang="en-US" sz="2000">
                <a:sym typeface="Symbol" pitchFamily="18" charset="2"/>
              </a:rPr>
              <a:t> </a:t>
            </a:r>
            <a:r>
              <a:rPr lang="en-US" sz="2000"/>
              <a:t>f’.  </a:t>
            </a:r>
            <a:br>
              <a:rPr lang="en-US" sz="2000"/>
            </a:br>
            <a:r>
              <a:rPr lang="en-US" sz="2000"/>
              <a:t>Need to show that </a:t>
            </a:r>
            <a:r>
              <a:rPr lang="en-US" sz="2000">
                <a:latin typeface="Symbol" pitchFamily="18" charset="2"/>
              </a:rPr>
              <a:t>d</a:t>
            </a:r>
            <a:r>
              <a:rPr lang="en-US" sz="2400" baseline="-25000"/>
              <a:t>f’ </a:t>
            </a:r>
            <a:r>
              <a:rPr lang="en-US" sz="2000"/>
              <a:t>(v) </a:t>
            </a:r>
            <a:r>
              <a:rPr lang="en-US" sz="2000">
                <a:sym typeface="Symbol" pitchFamily="18" charset="2"/>
              </a:rPr>
              <a:t> </a:t>
            </a:r>
            <a:r>
              <a:rPr lang="en-US" sz="2000">
                <a:latin typeface="Symbol" pitchFamily="18" charset="2"/>
              </a:rPr>
              <a:t>d</a:t>
            </a:r>
            <a:r>
              <a:rPr lang="en-US" sz="2400" baseline="-25000"/>
              <a:t>f </a:t>
            </a:r>
            <a:r>
              <a:rPr lang="en-US" sz="2000"/>
              <a:t>(v), </a:t>
            </a:r>
            <a:r>
              <a:rPr lang="en-US" sz="2000">
                <a:sym typeface="Symbol" pitchFamily="18" charset="2"/>
              </a:rPr>
              <a:t></a:t>
            </a:r>
            <a:r>
              <a:rPr lang="en-US" sz="2000"/>
              <a:t>v</a:t>
            </a:r>
            <a:r>
              <a:rPr lang="en-US" sz="2000">
                <a:sym typeface="Symbol" pitchFamily="18" charset="2"/>
              </a:rPr>
              <a:t></a:t>
            </a:r>
            <a:r>
              <a:rPr lang="en-US" sz="2000"/>
              <a:t>V.           We use induction on d = </a:t>
            </a:r>
            <a:r>
              <a:rPr lang="en-US" sz="2000">
                <a:latin typeface="Symbol" pitchFamily="18" charset="2"/>
              </a:rPr>
              <a:t>d</a:t>
            </a:r>
            <a:r>
              <a:rPr lang="en-US" sz="2400" baseline="-25000"/>
              <a:t>f’ </a:t>
            </a:r>
            <a:r>
              <a:rPr lang="en-US" sz="2000"/>
              <a:t>(v).</a:t>
            </a:r>
          </a:p>
        </p:txBody>
      </p:sp>
      <p:sp>
        <p:nvSpPr>
          <p:cNvPr id="246791" name="Rectangle 7"/>
          <p:cNvSpPr>
            <a:spLocks noChangeArrowheads="1"/>
          </p:cNvSpPr>
          <p:nvPr/>
        </p:nvSpPr>
        <p:spPr bwMode="auto">
          <a:xfrm>
            <a:off x="152400" y="4648200"/>
            <a:ext cx="8780463" cy="211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defTabSz="952500">
              <a:lnSpc>
                <a:spcPct val="75000"/>
              </a:lnSpc>
              <a:spcBef>
                <a:spcPct val="50000"/>
              </a:spcBef>
              <a:buFont typeface="Wingdings" pitchFamily="2" charset="2"/>
              <a:buNone/>
            </a:pPr>
            <a:r>
              <a:rPr lang="en-US" sz="2000">
                <a:solidFill>
                  <a:srgbClr val="CC0000"/>
                </a:solidFill>
              </a:rPr>
              <a:t>Case 2)</a:t>
            </a:r>
            <a:r>
              <a:rPr lang="en-US" sz="2000"/>
              <a:t>   (u,v) </a:t>
            </a:r>
            <a:r>
              <a:rPr lang="en-US" sz="2000">
                <a:sym typeface="Symbol" pitchFamily="18" charset="2"/>
              </a:rPr>
              <a:t> E(G(f)) :</a:t>
            </a:r>
            <a:r>
              <a:rPr lang="en-US" sz="2000"/>
              <a:t> </a:t>
            </a:r>
          </a:p>
          <a:p>
            <a:pPr defTabSz="952500">
              <a:lnSpc>
                <a:spcPct val="75000"/>
              </a:lnSpc>
              <a:spcBef>
                <a:spcPct val="50000"/>
              </a:spcBef>
              <a:buFont typeface="Wingdings" pitchFamily="2" charset="2"/>
              <a:buNone/>
            </a:pPr>
            <a:r>
              <a:rPr lang="en-US" sz="2000"/>
              <a:t>	Flow along (v,u) must have increased in this iteration.</a:t>
            </a:r>
          </a:p>
          <a:p>
            <a:pPr defTabSz="952500">
              <a:lnSpc>
                <a:spcPct val="75000"/>
              </a:lnSpc>
              <a:spcBef>
                <a:spcPct val="50000"/>
              </a:spcBef>
              <a:buFont typeface="Wingdings" pitchFamily="2" charset="2"/>
              <a:buNone/>
            </a:pPr>
            <a:r>
              <a:rPr lang="en-US" sz="2000"/>
              <a:t>	So, (v,u) is the last edge on the shortest s-u path in G(f). </a:t>
            </a:r>
          </a:p>
          <a:p>
            <a:pPr defTabSz="952500">
              <a:spcBef>
                <a:spcPct val="50000"/>
              </a:spcBef>
              <a:buFont typeface="Wingdings" pitchFamily="2" charset="2"/>
              <a:buNone/>
            </a:pPr>
            <a:r>
              <a:rPr lang="en-US" sz="2000"/>
              <a:t>	</a:t>
            </a:r>
            <a:r>
              <a:rPr lang="en-US" sz="2000">
                <a:latin typeface="Symbol" pitchFamily="18" charset="2"/>
              </a:rPr>
              <a:t>d</a:t>
            </a:r>
            <a:r>
              <a:rPr lang="en-US" sz="2400" baseline="-25000"/>
              <a:t>f’</a:t>
            </a:r>
            <a:r>
              <a:rPr lang="en-US" sz="2000"/>
              <a:t>(v)  =  </a:t>
            </a:r>
            <a:r>
              <a:rPr lang="en-US" sz="2000">
                <a:latin typeface="Symbol" pitchFamily="18" charset="2"/>
              </a:rPr>
              <a:t>d</a:t>
            </a:r>
            <a:r>
              <a:rPr lang="en-US" sz="2400" baseline="-25000"/>
              <a:t>f’</a:t>
            </a:r>
            <a:r>
              <a:rPr lang="en-US" sz="2000"/>
              <a:t>(u)  + 1 	</a:t>
            </a:r>
            <a:r>
              <a:rPr lang="en-US" sz="2000">
                <a:solidFill>
                  <a:srgbClr val="CC0000"/>
                </a:solidFill>
                <a:sym typeface="Symbol" pitchFamily="18" charset="2"/>
              </a:rPr>
              <a:t>[s~uv is shortest s-u path in G(f’)]</a:t>
            </a:r>
            <a:r>
              <a:rPr lang="en-US" sz="2000"/>
              <a:t> </a:t>
            </a:r>
            <a:br>
              <a:rPr lang="en-US" sz="2000"/>
            </a:br>
            <a:r>
              <a:rPr lang="en-US" sz="2000"/>
              <a:t>                          </a:t>
            </a:r>
            <a:r>
              <a:rPr lang="en-US" sz="2000">
                <a:sym typeface="Symbol" pitchFamily="18" charset="2"/>
              </a:rPr>
              <a:t>  </a:t>
            </a:r>
            <a:r>
              <a:rPr lang="en-US" sz="2000">
                <a:latin typeface="Symbol" pitchFamily="18" charset="2"/>
              </a:rPr>
              <a:t>d</a:t>
            </a:r>
            <a:r>
              <a:rPr lang="en-US" sz="2400" baseline="-25000"/>
              <a:t>f </a:t>
            </a:r>
            <a:r>
              <a:rPr lang="en-US" sz="2000"/>
              <a:t>(u)</a:t>
            </a:r>
            <a:r>
              <a:rPr lang="en-US" sz="2000">
                <a:sym typeface="Symbol" pitchFamily="18" charset="2"/>
              </a:rPr>
              <a:t> </a:t>
            </a:r>
            <a:r>
              <a:rPr lang="en-US" sz="2000"/>
              <a:t> + 1 	</a:t>
            </a:r>
            <a:r>
              <a:rPr lang="en-US" sz="2000">
                <a:solidFill>
                  <a:srgbClr val="CC0000"/>
                </a:solidFill>
                <a:sym typeface="Symbol" pitchFamily="18" charset="2"/>
              </a:rPr>
              <a:t>[by the induction hypothesis]</a:t>
            </a:r>
            <a:r>
              <a:rPr lang="en-US" sz="2000">
                <a:sym typeface="Symbol" pitchFamily="18" charset="2"/>
              </a:rPr>
              <a:t> </a:t>
            </a:r>
            <a:r>
              <a:rPr lang="en-US" sz="2000"/>
              <a:t/>
            </a:r>
            <a:br>
              <a:rPr lang="en-US" sz="2000"/>
            </a:br>
            <a:r>
              <a:rPr lang="en-US" sz="2000"/>
              <a:t>                          </a:t>
            </a:r>
            <a:r>
              <a:rPr lang="en-US" sz="2000">
                <a:sym typeface="Symbol" pitchFamily="18" charset="2"/>
              </a:rPr>
              <a:t>=  </a:t>
            </a:r>
            <a:r>
              <a:rPr lang="en-US" sz="2000">
                <a:latin typeface="Symbol" pitchFamily="18" charset="2"/>
              </a:rPr>
              <a:t>d</a:t>
            </a:r>
            <a:r>
              <a:rPr lang="en-US" sz="2400" baseline="-25000"/>
              <a:t>f </a:t>
            </a:r>
            <a:r>
              <a:rPr lang="en-US" sz="2000"/>
              <a:t>(v)</a:t>
            </a:r>
            <a:r>
              <a:rPr lang="en-US" sz="2000">
                <a:sym typeface="Symbol" pitchFamily="18" charset="2"/>
              </a:rPr>
              <a:t>  + 2 	</a:t>
            </a:r>
            <a:r>
              <a:rPr lang="en-US" sz="2000">
                <a:solidFill>
                  <a:srgbClr val="CC0000"/>
                </a:solidFill>
                <a:sym typeface="Symbol" pitchFamily="18" charset="2"/>
              </a:rPr>
              <a:t>[s~vu is shortest s-u path in G(f)]</a:t>
            </a:r>
            <a:r>
              <a:rPr lang="en-US" sz="2000">
                <a:sym typeface="Symbol" pitchFamily="18" charset="2"/>
              </a:rPr>
              <a:t>.</a:t>
            </a:r>
          </a:p>
        </p:txBody>
      </p:sp>
      <p:sp>
        <p:nvSpPr>
          <p:cNvPr id="246792" name="Rectangle 8"/>
          <p:cNvSpPr>
            <a:spLocks noChangeArrowheads="1"/>
          </p:cNvSpPr>
          <p:nvPr/>
        </p:nvSpPr>
        <p:spPr bwMode="auto">
          <a:xfrm>
            <a:off x="228600" y="3124200"/>
            <a:ext cx="8780463" cy="142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defTabSz="566738">
              <a:spcBef>
                <a:spcPct val="50000"/>
              </a:spcBef>
              <a:buFont typeface="Wingdings" pitchFamily="2" charset="2"/>
              <a:buNone/>
              <a:tabLst>
                <a:tab pos="952500" algn="l"/>
              </a:tabLst>
            </a:pPr>
            <a:r>
              <a:rPr lang="en-US" sz="2000">
                <a:solidFill>
                  <a:srgbClr val="CC0000"/>
                </a:solidFill>
              </a:rPr>
              <a:t>Case 1)</a:t>
            </a:r>
            <a:r>
              <a:rPr lang="en-US" sz="2000"/>
              <a:t>   (u,v) </a:t>
            </a:r>
            <a:r>
              <a:rPr lang="en-US" sz="2000">
                <a:sym typeface="Symbol" pitchFamily="18" charset="2"/>
              </a:rPr>
              <a:t> E(G(f)) :</a:t>
            </a:r>
            <a:r>
              <a:rPr lang="en-US" sz="2000"/>
              <a:t> </a:t>
            </a:r>
          </a:p>
          <a:p>
            <a:pPr defTabSz="566738">
              <a:spcBef>
                <a:spcPct val="50000"/>
              </a:spcBef>
              <a:buFont typeface="Wingdings" pitchFamily="2" charset="2"/>
              <a:buNone/>
              <a:tabLst>
                <a:tab pos="952500" algn="l"/>
              </a:tabLst>
            </a:pPr>
            <a:r>
              <a:rPr lang="en-US" sz="2000"/>
              <a:t>               </a:t>
            </a:r>
            <a:r>
              <a:rPr lang="en-US" sz="2000">
                <a:latin typeface="Symbol" pitchFamily="18" charset="2"/>
              </a:rPr>
              <a:t>d</a:t>
            </a:r>
            <a:r>
              <a:rPr lang="en-US" sz="2400" baseline="-25000"/>
              <a:t>f’ </a:t>
            </a:r>
            <a:r>
              <a:rPr lang="en-US" sz="2000"/>
              <a:t>(v)  =  </a:t>
            </a:r>
            <a:r>
              <a:rPr lang="en-US" sz="2000">
                <a:latin typeface="Symbol" pitchFamily="18" charset="2"/>
              </a:rPr>
              <a:t>d</a:t>
            </a:r>
            <a:r>
              <a:rPr lang="en-US" sz="2400" baseline="-25000"/>
              <a:t>f’</a:t>
            </a:r>
            <a:r>
              <a:rPr lang="en-US" sz="2000"/>
              <a:t>(u)  + 1 	</a:t>
            </a:r>
            <a:r>
              <a:rPr lang="en-US" sz="2000">
                <a:solidFill>
                  <a:srgbClr val="CC0000"/>
                </a:solidFill>
                <a:sym typeface="Symbol" pitchFamily="18" charset="2"/>
              </a:rPr>
              <a:t>[s~uv is shortest s-v path in G(f’)]</a:t>
            </a:r>
            <a:r>
              <a:rPr lang="en-US" sz="2000"/>
              <a:t> </a:t>
            </a:r>
            <a:br>
              <a:rPr lang="en-US" sz="2000"/>
            </a:br>
            <a:r>
              <a:rPr lang="en-US" sz="2000"/>
              <a:t>                           </a:t>
            </a:r>
            <a:r>
              <a:rPr lang="en-US" sz="2000">
                <a:sym typeface="Symbol" pitchFamily="18" charset="2"/>
              </a:rPr>
              <a:t>  </a:t>
            </a:r>
            <a:r>
              <a:rPr lang="en-US" sz="2000">
                <a:latin typeface="Symbol" pitchFamily="18" charset="2"/>
              </a:rPr>
              <a:t>d</a:t>
            </a:r>
            <a:r>
              <a:rPr lang="en-US" sz="2400" baseline="-25000"/>
              <a:t>f </a:t>
            </a:r>
            <a:r>
              <a:rPr lang="en-US" sz="2000"/>
              <a:t>(u)</a:t>
            </a:r>
            <a:r>
              <a:rPr lang="en-US" sz="2000">
                <a:sym typeface="Symbol" pitchFamily="18" charset="2"/>
              </a:rPr>
              <a:t> </a:t>
            </a:r>
            <a:r>
              <a:rPr lang="en-US" sz="2000"/>
              <a:t> + 1 	</a:t>
            </a:r>
            <a:r>
              <a:rPr lang="en-US" sz="2000">
                <a:solidFill>
                  <a:srgbClr val="CC0000"/>
                </a:solidFill>
                <a:sym typeface="Symbol" pitchFamily="18" charset="2"/>
              </a:rPr>
              <a:t>[by the induction hypothesis]</a:t>
            </a:r>
            <a:r>
              <a:rPr lang="en-US" sz="2000">
                <a:sym typeface="Symbol" pitchFamily="18" charset="2"/>
              </a:rPr>
              <a:t> </a:t>
            </a:r>
            <a:r>
              <a:rPr lang="en-US" sz="2000"/>
              <a:t/>
            </a:r>
            <a:br>
              <a:rPr lang="en-US" sz="2000"/>
            </a:br>
            <a:r>
              <a:rPr lang="en-US" sz="2000"/>
              <a:t>                           </a:t>
            </a:r>
            <a:r>
              <a:rPr lang="en-US" sz="2000">
                <a:sym typeface="Symbol" pitchFamily="18" charset="2"/>
              </a:rPr>
              <a:t>  </a:t>
            </a:r>
            <a:r>
              <a:rPr lang="en-US" sz="2000">
                <a:latin typeface="Symbol" pitchFamily="18" charset="2"/>
              </a:rPr>
              <a:t>d</a:t>
            </a:r>
            <a:r>
              <a:rPr lang="en-US" sz="2400" baseline="-25000"/>
              <a:t>f </a:t>
            </a:r>
            <a:r>
              <a:rPr lang="en-US" sz="2000"/>
              <a:t>(v)</a:t>
            </a:r>
            <a:r>
              <a:rPr lang="en-US" sz="2000">
                <a:sym typeface="Symbol" pitchFamily="18" charset="2"/>
              </a:rPr>
              <a:t> 		</a:t>
            </a:r>
            <a:r>
              <a:rPr lang="en-US" sz="2000">
                <a:solidFill>
                  <a:srgbClr val="CC0000"/>
                </a:solidFill>
                <a:sym typeface="Symbol" pitchFamily="18" charset="2"/>
              </a:rPr>
              <a:t>[by the triangle inequality in G(f)]</a:t>
            </a:r>
            <a:r>
              <a:rPr lang="en-US" sz="2000">
                <a:sym typeface="Symbol" pitchFamily="18" charset="2"/>
              </a:rPr>
              <a:t> .</a:t>
            </a:r>
          </a:p>
        </p:txBody>
      </p:sp>
      <p:sp>
        <p:nvSpPr>
          <p:cNvPr id="246793" name="Rectangle 9"/>
          <p:cNvSpPr>
            <a:spLocks noChangeArrowheads="1"/>
          </p:cNvSpPr>
          <p:nvPr/>
        </p:nvSpPr>
        <p:spPr bwMode="auto">
          <a:xfrm>
            <a:off x="152400" y="2362200"/>
            <a:ext cx="8840788"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a:buFont typeface="Wingdings" pitchFamily="2" charset="2"/>
              <a:buNone/>
            </a:pPr>
            <a:r>
              <a:rPr lang="en-US" sz="2000">
                <a:solidFill>
                  <a:srgbClr val="CC0000"/>
                </a:solidFill>
              </a:rPr>
              <a:t>Induction (d &gt; 0):</a:t>
            </a:r>
            <a:r>
              <a:rPr lang="en-US" sz="2000"/>
              <a:t>  Suppose </a:t>
            </a:r>
            <a:r>
              <a:rPr lang="en-US" sz="2000">
                <a:latin typeface="Symbol" pitchFamily="18" charset="2"/>
              </a:rPr>
              <a:t>d</a:t>
            </a:r>
            <a:r>
              <a:rPr lang="en-US" sz="2400" baseline="-25000"/>
              <a:t>f’ </a:t>
            </a:r>
            <a:r>
              <a:rPr lang="en-US" sz="2000"/>
              <a:t>(v) = d. Let u = </a:t>
            </a:r>
            <a:r>
              <a:rPr lang="en-US" sz="2000">
                <a:latin typeface="Symbol" pitchFamily="18" charset="2"/>
              </a:rPr>
              <a:t>p</a:t>
            </a:r>
            <a:r>
              <a:rPr lang="en-US" sz="2000"/>
              <a:t>(v) on the shortest s-v path in G(f’).     </a:t>
            </a:r>
            <a:br>
              <a:rPr lang="en-US" sz="2000"/>
            </a:br>
            <a:r>
              <a:rPr lang="en-US" sz="2000"/>
              <a:t>		   So, (u,v) </a:t>
            </a:r>
            <a:r>
              <a:rPr lang="en-US" sz="2000">
                <a:sym typeface="Symbol" pitchFamily="18" charset="2"/>
              </a:rPr>
              <a:t> E(G(f’))</a:t>
            </a:r>
            <a:r>
              <a:rPr lang="en-US" sz="2000"/>
              <a:t>   and  </a:t>
            </a:r>
            <a:r>
              <a:rPr lang="en-US" sz="2000">
                <a:latin typeface="Symbol" pitchFamily="18" charset="2"/>
              </a:rPr>
              <a:t>d</a:t>
            </a:r>
            <a:r>
              <a:rPr lang="en-US" sz="2400" baseline="-25000"/>
              <a:t>f’ </a:t>
            </a:r>
            <a:r>
              <a:rPr lang="en-US" sz="2000"/>
              <a:t>(u) = d – 1 &lt; d. </a:t>
            </a:r>
          </a:p>
        </p:txBody>
      </p:sp>
      <p:sp>
        <p:nvSpPr>
          <p:cNvPr id="246794" name="Rectangle 10"/>
          <p:cNvSpPr>
            <a:spLocks noChangeArrowheads="1"/>
          </p:cNvSpPr>
          <p:nvPr/>
        </p:nvSpPr>
        <p:spPr bwMode="auto">
          <a:xfrm>
            <a:off x="152400" y="1981200"/>
            <a:ext cx="6289675"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buFont typeface="Wingdings" pitchFamily="2" charset="2"/>
              <a:buNone/>
            </a:pPr>
            <a:r>
              <a:rPr lang="en-US" sz="2000">
                <a:solidFill>
                  <a:srgbClr val="CC0000"/>
                </a:solidFill>
              </a:rPr>
              <a:t>Basis (d = 0):</a:t>
            </a:r>
            <a:r>
              <a:rPr lang="en-US" sz="2000"/>
              <a:t>  </a:t>
            </a:r>
            <a:r>
              <a:rPr lang="en-US" sz="2000">
                <a:latin typeface="Symbol" pitchFamily="18" charset="2"/>
              </a:rPr>
              <a:t>d</a:t>
            </a:r>
            <a:r>
              <a:rPr lang="en-US" sz="2400" baseline="-25000"/>
              <a:t>f’ </a:t>
            </a:r>
            <a:r>
              <a:rPr lang="en-US" sz="2000"/>
              <a:t>(s) = 0. Source s is the only possible node.</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148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6789"/>
                                        </p:tgtEl>
                                        <p:attrNameLst>
                                          <p:attrName>style.visibility</p:attrName>
                                        </p:attrNameLst>
                                      </p:cBhvr>
                                      <p:to>
                                        <p:strVal val="visible"/>
                                      </p:to>
                                    </p:set>
                                    <p:animEffect transition="in" filter="wipe(left)">
                                      <p:cBhvr>
                                        <p:cTn id="7" dur="500"/>
                                        <p:tgtEl>
                                          <p:spTgt spid="2467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6790"/>
                                        </p:tgtEl>
                                        <p:attrNameLst>
                                          <p:attrName>style.visibility</p:attrName>
                                        </p:attrNameLst>
                                      </p:cBhvr>
                                      <p:to>
                                        <p:strVal val="visible"/>
                                      </p:to>
                                    </p:set>
                                    <p:animEffect transition="in" filter="wipe(left)">
                                      <p:cBhvr>
                                        <p:cTn id="12" dur="500"/>
                                        <p:tgtEl>
                                          <p:spTgt spid="2467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6794"/>
                                        </p:tgtEl>
                                        <p:attrNameLst>
                                          <p:attrName>style.visibility</p:attrName>
                                        </p:attrNameLst>
                                      </p:cBhvr>
                                      <p:to>
                                        <p:strVal val="visible"/>
                                      </p:to>
                                    </p:set>
                                    <p:animEffect transition="in" filter="wipe(left)">
                                      <p:cBhvr>
                                        <p:cTn id="17" dur="500"/>
                                        <p:tgtEl>
                                          <p:spTgt spid="2467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6793"/>
                                        </p:tgtEl>
                                        <p:attrNameLst>
                                          <p:attrName>style.visibility</p:attrName>
                                        </p:attrNameLst>
                                      </p:cBhvr>
                                      <p:to>
                                        <p:strVal val="visible"/>
                                      </p:to>
                                    </p:set>
                                    <p:animEffect transition="in" filter="wipe(left)">
                                      <p:cBhvr>
                                        <p:cTn id="22" dur="500"/>
                                        <p:tgtEl>
                                          <p:spTgt spid="24679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6792">
                                            <p:txEl>
                                              <p:pRg st="0" end="0"/>
                                            </p:txEl>
                                          </p:spTgt>
                                        </p:tgtEl>
                                        <p:attrNameLst>
                                          <p:attrName>style.visibility</p:attrName>
                                        </p:attrNameLst>
                                      </p:cBhvr>
                                      <p:to>
                                        <p:strVal val="visible"/>
                                      </p:to>
                                    </p:set>
                                    <p:animEffect transition="in" filter="wipe(left)">
                                      <p:cBhvr>
                                        <p:cTn id="27" dur="500"/>
                                        <p:tgtEl>
                                          <p:spTgt spid="246792">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6792">
                                            <p:txEl>
                                              <p:pRg st="1" end="1"/>
                                            </p:txEl>
                                          </p:spTgt>
                                        </p:tgtEl>
                                        <p:attrNameLst>
                                          <p:attrName>style.visibility</p:attrName>
                                        </p:attrNameLst>
                                      </p:cBhvr>
                                      <p:to>
                                        <p:strVal val="visible"/>
                                      </p:to>
                                    </p:set>
                                    <p:animEffect transition="in" filter="wipe(left)">
                                      <p:cBhvr>
                                        <p:cTn id="32" dur="500"/>
                                        <p:tgtEl>
                                          <p:spTgt spid="246792">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6791">
                                            <p:txEl>
                                              <p:pRg st="0" end="0"/>
                                            </p:txEl>
                                          </p:spTgt>
                                        </p:tgtEl>
                                        <p:attrNameLst>
                                          <p:attrName>style.visibility</p:attrName>
                                        </p:attrNameLst>
                                      </p:cBhvr>
                                      <p:to>
                                        <p:strVal val="visible"/>
                                      </p:to>
                                    </p:set>
                                    <p:animEffect transition="in" filter="wipe(left)">
                                      <p:cBhvr>
                                        <p:cTn id="37" dur="500"/>
                                        <p:tgtEl>
                                          <p:spTgt spid="246791">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6791">
                                            <p:txEl>
                                              <p:pRg st="1" end="1"/>
                                            </p:txEl>
                                          </p:spTgt>
                                        </p:tgtEl>
                                        <p:attrNameLst>
                                          <p:attrName>style.visibility</p:attrName>
                                        </p:attrNameLst>
                                      </p:cBhvr>
                                      <p:to>
                                        <p:strVal val="visible"/>
                                      </p:to>
                                    </p:set>
                                    <p:animEffect transition="in" filter="wipe(left)">
                                      <p:cBhvr>
                                        <p:cTn id="42" dur="500"/>
                                        <p:tgtEl>
                                          <p:spTgt spid="246791">
                                            <p:txEl>
                                              <p:pRg st="1" end="1"/>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6791">
                                            <p:txEl>
                                              <p:pRg st="2" end="2"/>
                                            </p:txEl>
                                          </p:spTgt>
                                        </p:tgtEl>
                                        <p:attrNameLst>
                                          <p:attrName>style.visibility</p:attrName>
                                        </p:attrNameLst>
                                      </p:cBhvr>
                                      <p:to>
                                        <p:strVal val="visible"/>
                                      </p:to>
                                    </p:set>
                                    <p:animEffect transition="in" filter="wipe(left)">
                                      <p:cBhvr>
                                        <p:cTn id="47" dur="500"/>
                                        <p:tgtEl>
                                          <p:spTgt spid="246791">
                                            <p:txEl>
                                              <p:pRg st="2" end="2"/>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46791">
                                            <p:txEl>
                                              <p:pRg st="3" end="3"/>
                                            </p:txEl>
                                          </p:spTgt>
                                        </p:tgtEl>
                                        <p:attrNameLst>
                                          <p:attrName>style.visibility</p:attrName>
                                        </p:attrNameLst>
                                      </p:cBhvr>
                                      <p:to>
                                        <p:strVal val="visible"/>
                                      </p:to>
                                    </p:set>
                                    <p:animEffect transition="in" filter="wipe(left)">
                                      <p:cBhvr>
                                        <p:cTn id="52" dur="500"/>
                                        <p:tgtEl>
                                          <p:spTgt spid="2467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9" grpId="0" animBg="1" autoUpdateAnimBg="0"/>
      <p:bldP spid="246790" grpId="0" autoUpdateAnimBg="0"/>
      <p:bldP spid="246791" grpId="0" build="p" autoUpdateAnimBg="0"/>
      <p:bldP spid="246792" grpId="0" build="p" autoUpdateAnimBg="0"/>
      <p:bldP spid="246793" grpId="0" autoUpdateAnimBg="0"/>
      <p:bldP spid="246794" grpId="0" autoUpdateAnimBg="0"/>
    </p:bldLst>
  </p:timing>
</p:sld>
</file>

<file path=ppt/slides/slide1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Edmonds-Karp Improvement</a:t>
            </a:r>
          </a:p>
        </p:txBody>
      </p:sp>
      <p:sp>
        <p:nvSpPr>
          <p:cNvPr id="247811" name="Rectangle 3" descr="Recycled paper"/>
          <p:cNvSpPr>
            <a:spLocks noChangeArrowheads="1"/>
          </p:cNvSpPr>
          <p:nvPr/>
        </p:nvSpPr>
        <p:spPr bwMode="auto">
          <a:xfrm>
            <a:off x="152400" y="838200"/>
            <a:ext cx="8839200" cy="841375"/>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1433513" indent="-1433513" eaLnBrk="1" hangingPunct="1">
              <a:spcBef>
                <a:spcPct val="50000"/>
              </a:spcBef>
              <a:buFontTx/>
              <a:buNone/>
            </a:pPr>
            <a:r>
              <a:rPr lang="en-US" sz="2400" b="1" dirty="0">
                <a:solidFill>
                  <a:srgbClr val="CC0000"/>
                </a:solidFill>
              </a:rPr>
              <a:t>FACT 2:</a:t>
            </a:r>
            <a:r>
              <a:rPr lang="en-US" sz="2400" dirty="0">
                <a:solidFill>
                  <a:schemeClr val="hlink"/>
                </a:solidFill>
              </a:rPr>
              <a:t>   An edge (</a:t>
            </a:r>
            <a:r>
              <a:rPr lang="en-US" sz="2400" dirty="0" err="1">
                <a:solidFill>
                  <a:schemeClr val="hlink"/>
                </a:solidFill>
              </a:rPr>
              <a:t>u,v</a:t>
            </a:r>
            <a:r>
              <a:rPr lang="en-US" sz="2400" dirty="0">
                <a:solidFill>
                  <a:schemeClr val="hlink"/>
                </a:solidFill>
              </a:rPr>
              <a:t>) can be an augmenting bottleneck edge </a:t>
            </a:r>
            <a:br>
              <a:rPr lang="en-US" sz="2400" dirty="0">
                <a:solidFill>
                  <a:schemeClr val="hlink"/>
                </a:solidFill>
              </a:rPr>
            </a:br>
            <a:r>
              <a:rPr lang="en-US" sz="2400" dirty="0">
                <a:solidFill>
                  <a:schemeClr val="hlink"/>
                </a:solidFill>
              </a:rPr>
              <a:t>at most |V|/2 –1  times.</a:t>
            </a:r>
          </a:p>
        </p:txBody>
      </p:sp>
      <p:sp>
        <p:nvSpPr>
          <p:cNvPr id="247812" name="Rectangle 4"/>
          <p:cNvSpPr>
            <a:spLocks noChangeArrowheads="1"/>
          </p:cNvSpPr>
          <p:nvPr/>
        </p:nvSpPr>
        <p:spPr bwMode="auto">
          <a:xfrm>
            <a:off x="152400" y="1981200"/>
            <a:ext cx="8839200" cy="462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defTabSz="1712913">
              <a:buFont typeface="Wingdings" pitchFamily="2" charset="2"/>
              <a:buNone/>
              <a:tabLst>
                <a:tab pos="855663" algn="l"/>
                <a:tab pos="1049338" algn="l"/>
              </a:tabLst>
            </a:pPr>
            <a:r>
              <a:rPr lang="en-US" sz="2000" b="1"/>
              <a:t>Proof:</a:t>
            </a:r>
            <a:r>
              <a:rPr lang="en-US" sz="2000"/>
              <a:t>   Suppose (u,v) is the augmenting bottleneck edge in G(f) in some iteration i.</a:t>
            </a:r>
          </a:p>
          <a:p>
            <a:pPr defTabSz="1712913">
              <a:buFont typeface="Wingdings" pitchFamily="2" charset="2"/>
              <a:buNone/>
              <a:tabLst>
                <a:tab pos="855663" algn="l"/>
                <a:tab pos="1049338" algn="l"/>
              </a:tabLst>
            </a:pPr>
            <a:r>
              <a:rPr lang="en-US" sz="2000">
                <a:latin typeface="Symbol" pitchFamily="18" charset="2"/>
              </a:rPr>
              <a:t>		</a:t>
            </a:r>
            <a:r>
              <a:rPr lang="en-US" sz="2000"/>
              <a:t>So,</a:t>
            </a:r>
            <a:r>
              <a:rPr lang="en-US" sz="2000">
                <a:latin typeface="Symbol" pitchFamily="18" charset="2"/>
              </a:rPr>
              <a:t> d</a:t>
            </a:r>
            <a:r>
              <a:rPr lang="en-US" sz="2400" baseline="-25000"/>
              <a:t>f </a:t>
            </a:r>
            <a:r>
              <a:rPr lang="en-US" sz="2000"/>
              <a:t>(v) =  </a:t>
            </a:r>
            <a:r>
              <a:rPr lang="en-US" sz="2000">
                <a:latin typeface="Symbol" pitchFamily="18" charset="2"/>
              </a:rPr>
              <a:t>d</a:t>
            </a:r>
            <a:r>
              <a:rPr lang="en-US" sz="2400" baseline="-25000"/>
              <a:t>f</a:t>
            </a:r>
            <a:r>
              <a:rPr lang="en-US" sz="2000"/>
              <a:t>(u)  + 1.</a:t>
            </a:r>
          </a:p>
          <a:p>
            <a:pPr defTabSz="1712913">
              <a:buFont typeface="Wingdings" pitchFamily="2" charset="2"/>
              <a:buNone/>
              <a:tabLst>
                <a:tab pos="855663" algn="l"/>
                <a:tab pos="1049338" algn="l"/>
              </a:tabLst>
            </a:pPr>
            <a:r>
              <a:rPr lang="en-US" sz="2000"/>
              <a:t>		(u,v) is “filled up” and removed from the residual graph.</a:t>
            </a:r>
          </a:p>
          <a:p>
            <a:pPr defTabSz="1712913">
              <a:buFont typeface="Wingdings" pitchFamily="2" charset="2"/>
              <a:buNone/>
              <a:tabLst>
                <a:tab pos="855663" algn="l"/>
                <a:tab pos="1049338" algn="l"/>
              </a:tabLst>
            </a:pPr>
            <a:r>
              <a:rPr lang="en-US" sz="2000"/>
              <a:t>		How can (u,v) become the bottleneck of another augmentation again?</a:t>
            </a:r>
          </a:p>
          <a:p>
            <a:pPr defTabSz="1712913">
              <a:buFont typeface="Wingdings" pitchFamily="2" charset="2"/>
              <a:buNone/>
              <a:tabLst>
                <a:tab pos="855663" algn="l"/>
                <a:tab pos="1049338" algn="l"/>
              </a:tabLst>
            </a:pPr>
            <a:endParaRPr lang="en-US" sz="2000"/>
          </a:p>
          <a:p>
            <a:pPr defTabSz="1712913">
              <a:buFont typeface="Wingdings" pitchFamily="2" charset="2"/>
              <a:buNone/>
              <a:tabLst>
                <a:tab pos="855663" algn="l"/>
                <a:tab pos="1049338" algn="l"/>
              </a:tabLst>
            </a:pPr>
            <a:r>
              <a:rPr lang="en-US" sz="2000"/>
              <a:t>Suppose (u,v) is the augmenting bottleneck edge again in some later iteration j &gt; i.</a:t>
            </a:r>
          </a:p>
          <a:p>
            <a:pPr defTabSz="1712913">
              <a:buFont typeface="Wingdings" pitchFamily="2" charset="2"/>
              <a:buNone/>
              <a:tabLst>
                <a:tab pos="855663" algn="l"/>
                <a:tab pos="1049338" algn="l"/>
              </a:tabLst>
            </a:pPr>
            <a:r>
              <a:rPr lang="en-US" sz="2000"/>
              <a:t>This can only happen if for some intermediate iteration k, i &lt; k &lt; j.</a:t>
            </a:r>
            <a:br>
              <a:rPr lang="en-US" sz="2000"/>
            </a:br>
            <a:r>
              <a:rPr lang="en-US" sz="2000"/>
              <a:t>	(v,u) appears on an augmenting path, say in G(f’).</a:t>
            </a:r>
          </a:p>
          <a:p>
            <a:pPr defTabSz="1712913">
              <a:buFont typeface="Wingdings" pitchFamily="2" charset="2"/>
              <a:buNone/>
              <a:tabLst>
                <a:tab pos="855663" algn="l"/>
                <a:tab pos="1049338" algn="l"/>
              </a:tabLst>
            </a:pPr>
            <a:r>
              <a:rPr lang="en-US" sz="2000"/>
              <a:t>	So,</a:t>
            </a:r>
            <a:r>
              <a:rPr lang="en-US" sz="2000">
                <a:latin typeface="Symbol" pitchFamily="18" charset="2"/>
              </a:rPr>
              <a:t> d</a:t>
            </a:r>
            <a:r>
              <a:rPr lang="en-US" sz="2400" baseline="-25000"/>
              <a:t>f’</a:t>
            </a:r>
            <a:r>
              <a:rPr lang="en-US" sz="2000"/>
              <a:t>(u) =  </a:t>
            </a:r>
            <a:r>
              <a:rPr lang="en-US" sz="2000">
                <a:latin typeface="Symbol" pitchFamily="18" charset="2"/>
              </a:rPr>
              <a:t>d</a:t>
            </a:r>
            <a:r>
              <a:rPr lang="en-US" sz="2400" baseline="-25000"/>
              <a:t>f’</a:t>
            </a:r>
            <a:r>
              <a:rPr lang="en-US" sz="2000"/>
              <a:t>(v)  + 1.</a:t>
            </a:r>
            <a:br>
              <a:rPr lang="en-US" sz="2000"/>
            </a:br>
            <a:endParaRPr lang="en-US" sz="2000"/>
          </a:p>
          <a:p>
            <a:pPr defTabSz="1712913">
              <a:buFont typeface="Wingdings" pitchFamily="2" charset="2"/>
              <a:buNone/>
              <a:tabLst>
                <a:tab pos="855663" algn="l"/>
                <a:tab pos="1049338" algn="l"/>
              </a:tabLst>
            </a:pPr>
            <a:r>
              <a:rPr lang="en-US" sz="2000"/>
              <a:t>Therefore,</a:t>
            </a:r>
            <a:r>
              <a:rPr lang="en-US" sz="2000">
                <a:latin typeface="Symbol" pitchFamily="18" charset="2"/>
              </a:rPr>
              <a:t> d</a:t>
            </a:r>
            <a:r>
              <a:rPr lang="en-US" sz="2400" baseline="-25000"/>
              <a:t>f’</a:t>
            </a:r>
            <a:r>
              <a:rPr lang="en-US" sz="2000"/>
              <a:t>(u) =  </a:t>
            </a:r>
            <a:r>
              <a:rPr lang="en-US" sz="2000">
                <a:latin typeface="Symbol" pitchFamily="18" charset="2"/>
              </a:rPr>
              <a:t>d</a:t>
            </a:r>
            <a:r>
              <a:rPr lang="en-US" sz="2400" baseline="-25000"/>
              <a:t>f’</a:t>
            </a:r>
            <a:r>
              <a:rPr lang="en-US" sz="2000"/>
              <a:t>(v)  + 1 </a:t>
            </a:r>
            <a:r>
              <a:rPr lang="en-US" sz="2000">
                <a:sym typeface="Symbol" pitchFamily="18" charset="2"/>
              </a:rPr>
              <a:t>  </a:t>
            </a:r>
            <a:r>
              <a:rPr lang="en-US" sz="2000">
                <a:latin typeface="Symbol" pitchFamily="18" charset="2"/>
              </a:rPr>
              <a:t>d</a:t>
            </a:r>
            <a:r>
              <a:rPr lang="en-US" sz="2400" baseline="-25000"/>
              <a:t>f </a:t>
            </a:r>
            <a:r>
              <a:rPr lang="en-US" sz="2000"/>
              <a:t>(v)</a:t>
            </a:r>
            <a:r>
              <a:rPr lang="en-US" sz="2000">
                <a:sym typeface="Symbol" pitchFamily="18" charset="2"/>
              </a:rPr>
              <a:t> </a:t>
            </a:r>
            <a:r>
              <a:rPr lang="en-US" sz="2000"/>
              <a:t> + 1 = </a:t>
            </a:r>
            <a:r>
              <a:rPr lang="en-US" sz="2000">
                <a:latin typeface="Symbol" pitchFamily="18" charset="2"/>
              </a:rPr>
              <a:t>d</a:t>
            </a:r>
            <a:r>
              <a:rPr lang="en-US" sz="2400" baseline="-25000"/>
              <a:t>f </a:t>
            </a:r>
            <a:r>
              <a:rPr lang="en-US" sz="2000"/>
              <a:t>(u)  + 2.</a:t>
            </a:r>
          </a:p>
          <a:p>
            <a:pPr defTabSz="1712913">
              <a:buFont typeface="Wingdings" pitchFamily="2" charset="2"/>
              <a:buNone/>
              <a:tabLst>
                <a:tab pos="855663" algn="l"/>
                <a:tab pos="1049338" algn="l"/>
              </a:tabLst>
            </a:pPr>
            <a:endParaRPr lang="en-US" sz="2000"/>
          </a:p>
          <a:p>
            <a:pPr defTabSz="1712913">
              <a:buFont typeface="Wingdings" pitchFamily="2" charset="2"/>
              <a:buNone/>
              <a:tabLst>
                <a:tab pos="855663" algn="l"/>
                <a:tab pos="1049338" algn="l"/>
              </a:tabLst>
            </a:pPr>
            <a:r>
              <a:rPr lang="en-US" sz="2000"/>
              <a:t>So, each time (u,v) is a bottleneck edge again, </a:t>
            </a:r>
            <a:r>
              <a:rPr lang="en-US" sz="2000">
                <a:latin typeface="Symbol" pitchFamily="18" charset="2"/>
              </a:rPr>
              <a:t>d</a:t>
            </a:r>
            <a:r>
              <a:rPr lang="en-US" sz="2000"/>
              <a:t>(u) increases by at least 2.</a:t>
            </a:r>
          </a:p>
          <a:p>
            <a:pPr defTabSz="1712913">
              <a:buFont typeface="Wingdings" pitchFamily="2" charset="2"/>
              <a:buNone/>
              <a:tabLst>
                <a:tab pos="855663" algn="l"/>
                <a:tab pos="1049338" algn="l"/>
              </a:tabLst>
            </a:pPr>
            <a:r>
              <a:rPr lang="en-US" sz="2000"/>
              <a:t>But</a:t>
            </a:r>
            <a:r>
              <a:rPr lang="en-US" sz="2000">
                <a:latin typeface="Symbol" pitchFamily="18" charset="2"/>
              </a:rPr>
              <a:t> d</a:t>
            </a:r>
            <a:r>
              <a:rPr lang="en-US" sz="2000"/>
              <a:t>(u) </a:t>
            </a:r>
            <a:r>
              <a:rPr lang="en-US" sz="2000">
                <a:sym typeface="Symbol" pitchFamily="18" charset="2"/>
              </a:rPr>
              <a:t> |V|  – 2,    s</a:t>
            </a:r>
            <a:r>
              <a:rPr lang="en-US" sz="2000"/>
              <a:t>ince u </a:t>
            </a:r>
            <a:r>
              <a:rPr lang="en-US" sz="2000">
                <a:sym typeface="Symbol" pitchFamily="18" charset="2"/>
              </a:rPr>
              <a:t> V – {s,t}.</a:t>
            </a:r>
          </a:p>
          <a:p>
            <a:pPr defTabSz="1712913">
              <a:buFont typeface="Wingdings" pitchFamily="2" charset="2"/>
              <a:buNone/>
              <a:tabLst>
                <a:tab pos="855663" algn="l"/>
                <a:tab pos="1049338" algn="l"/>
              </a:tabLst>
            </a:pPr>
            <a:r>
              <a:rPr lang="en-US" sz="2000">
                <a:sym typeface="Symbol" pitchFamily="18" charset="2"/>
              </a:rPr>
              <a:t>So, # times (u,v) can be a bottleneck edge     (|V|  – 2)/2  =  |V|/2 – 1. </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149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7811"/>
                                        </p:tgtEl>
                                        <p:attrNameLst>
                                          <p:attrName>style.visibility</p:attrName>
                                        </p:attrNameLst>
                                      </p:cBhvr>
                                      <p:to>
                                        <p:strVal val="visible"/>
                                      </p:to>
                                    </p:set>
                                    <p:animEffect transition="in" filter="wipe(left)">
                                      <p:cBhvr>
                                        <p:cTn id="7" dur="500"/>
                                        <p:tgtEl>
                                          <p:spTgt spid="2478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47812">
                                            <p:txEl>
                                              <p:pRg st="0" end="0"/>
                                            </p:txEl>
                                          </p:spTgt>
                                        </p:tgtEl>
                                        <p:attrNameLst>
                                          <p:attrName>style.visibility</p:attrName>
                                        </p:attrNameLst>
                                      </p:cBhvr>
                                      <p:to>
                                        <p:strVal val="visible"/>
                                      </p:to>
                                    </p:set>
                                    <p:animEffect transition="in" filter="wipe(up)">
                                      <p:cBhvr>
                                        <p:cTn id="12" dur="500"/>
                                        <p:tgtEl>
                                          <p:spTgt spid="24781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47812">
                                            <p:txEl>
                                              <p:pRg st="1" end="1"/>
                                            </p:txEl>
                                          </p:spTgt>
                                        </p:tgtEl>
                                        <p:attrNameLst>
                                          <p:attrName>style.visibility</p:attrName>
                                        </p:attrNameLst>
                                      </p:cBhvr>
                                      <p:to>
                                        <p:strVal val="visible"/>
                                      </p:to>
                                    </p:set>
                                    <p:animEffect transition="in" filter="wipe(up)">
                                      <p:cBhvr>
                                        <p:cTn id="17" dur="500"/>
                                        <p:tgtEl>
                                          <p:spTgt spid="24781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47812">
                                            <p:txEl>
                                              <p:pRg st="2" end="2"/>
                                            </p:txEl>
                                          </p:spTgt>
                                        </p:tgtEl>
                                        <p:attrNameLst>
                                          <p:attrName>style.visibility</p:attrName>
                                        </p:attrNameLst>
                                      </p:cBhvr>
                                      <p:to>
                                        <p:strVal val="visible"/>
                                      </p:to>
                                    </p:set>
                                    <p:animEffect transition="in" filter="wipe(up)">
                                      <p:cBhvr>
                                        <p:cTn id="22" dur="500"/>
                                        <p:tgtEl>
                                          <p:spTgt spid="247812">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47812">
                                            <p:txEl>
                                              <p:pRg st="3" end="3"/>
                                            </p:txEl>
                                          </p:spTgt>
                                        </p:tgtEl>
                                        <p:attrNameLst>
                                          <p:attrName>style.visibility</p:attrName>
                                        </p:attrNameLst>
                                      </p:cBhvr>
                                      <p:to>
                                        <p:strVal val="visible"/>
                                      </p:to>
                                    </p:set>
                                    <p:animEffect transition="in" filter="wipe(up)">
                                      <p:cBhvr>
                                        <p:cTn id="27" dur="500"/>
                                        <p:tgtEl>
                                          <p:spTgt spid="247812">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47812">
                                            <p:txEl>
                                              <p:pRg st="5" end="5"/>
                                            </p:txEl>
                                          </p:spTgt>
                                        </p:tgtEl>
                                        <p:attrNameLst>
                                          <p:attrName>style.visibility</p:attrName>
                                        </p:attrNameLst>
                                      </p:cBhvr>
                                      <p:to>
                                        <p:strVal val="visible"/>
                                      </p:to>
                                    </p:set>
                                    <p:animEffect transition="in" filter="wipe(up)">
                                      <p:cBhvr>
                                        <p:cTn id="32" dur="500"/>
                                        <p:tgtEl>
                                          <p:spTgt spid="247812">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47812">
                                            <p:txEl>
                                              <p:pRg st="6" end="6"/>
                                            </p:txEl>
                                          </p:spTgt>
                                        </p:tgtEl>
                                        <p:attrNameLst>
                                          <p:attrName>style.visibility</p:attrName>
                                        </p:attrNameLst>
                                      </p:cBhvr>
                                      <p:to>
                                        <p:strVal val="visible"/>
                                      </p:to>
                                    </p:set>
                                    <p:animEffect transition="in" filter="wipe(up)">
                                      <p:cBhvr>
                                        <p:cTn id="37" dur="500"/>
                                        <p:tgtEl>
                                          <p:spTgt spid="247812">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47812">
                                            <p:txEl>
                                              <p:pRg st="7" end="7"/>
                                            </p:txEl>
                                          </p:spTgt>
                                        </p:tgtEl>
                                        <p:attrNameLst>
                                          <p:attrName>style.visibility</p:attrName>
                                        </p:attrNameLst>
                                      </p:cBhvr>
                                      <p:to>
                                        <p:strVal val="visible"/>
                                      </p:to>
                                    </p:set>
                                    <p:animEffect transition="in" filter="wipe(up)">
                                      <p:cBhvr>
                                        <p:cTn id="42" dur="500"/>
                                        <p:tgtEl>
                                          <p:spTgt spid="247812">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47812">
                                            <p:txEl>
                                              <p:pRg st="8" end="8"/>
                                            </p:txEl>
                                          </p:spTgt>
                                        </p:tgtEl>
                                        <p:attrNameLst>
                                          <p:attrName>style.visibility</p:attrName>
                                        </p:attrNameLst>
                                      </p:cBhvr>
                                      <p:to>
                                        <p:strVal val="visible"/>
                                      </p:to>
                                    </p:set>
                                    <p:animEffect transition="in" filter="wipe(up)">
                                      <p:cBhvr>
                                        <p:cTn id="47" dur="500"/>
                                        <p:tgtEl>
                                          <p:spTgt spid="247812">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247812">
                                            <p:txEl>
                                              <p:pRg st="10" end="10"/>
                                            </p:txEl>
                                          </p:spTgt>
                                        </p:tgtEl>
                                        <p:attrNameLst>
                                          <p:attrName>style.visibility</p:attrName>
                                        </p:attrNameLst>
                                      </p:cBhvr>
                                      <p:to>
                                        <p:strVal val="visible"/>
                                      </p:to>
                                    </p:set>
                                    <p:animEffect transition="in" filter="wipe(up)">
                                      <p:cBhvr>
                                        <p:cTn id="52" dur="500"/>
                                        <p:tgtEl>
                                          <p:spTgt spid="247812">
                                            <p:txEl>
                                              <p:pRg st="10" end="1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47812">
                                            <p:txEl>
                                              <p:pRg st="11" end="11"/>
                                            </p:txEl>
                                          </p:spTgt>
                                        </p:tgtEl>
                                        <p:attrNameLst>
                                          <p:attrName>style.visibility</p:attrName>
                                        </p:attrNameLst>
                                      </p:cBhvr>
                                      <p:to>
                                        <p:strVal val="visible"/>
                                      </p:to>
                                    </p:set>
                                    <p:animEffect transition="in" filter="wipe(up)">
                                      <p:cBhvr>
                                        <p:cTn id="57" dur="500"/>
                                        <p:tgtEl>
                                          <p:spTgt spid="247812">
                                            <p:txEl>
                                              <p:pRg st="11" end="11"/>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247812">
                                            <p:txEl>
                                              <p:pRg st="12" end="12"/>
                                            </p:txEl>
                                          </p:spTgt>
                                        </p:tgtEl>
                                        <p:attrNameLst>
                                          <p:attrName>style.visibility</p:attrName>
                                        </p:attrNameLst>
                                      </p:cBhvr>
                                      <p:to>
                                        <p:strVal val="visible"/>
                                      </p:to>
                                    </p:set>
                                    <p:animEffect transition="in" filter="wipe(up)">
                                      <p:cBhvr>
                                        <p:cTn id="62" dur="500"/>
                                        <p:tgtEl>
                                          <p:spTgt spid="24781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1" grpId="0" animBg="1" autoUpdateAnimBg="0"/>
      <p:bldP spid="247812" grpId="0" build="p" autoUpdateAnimBg="0"/>
    </p:bldLst>
  </p:timing>
</p:sld>
</file>

<file path=ppt/slides/slide1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Edmonds-Karp Improvement</a:t>
            </a:r>
          </a:p>
        </p:txBody>
      </p:sp>
      <p:sp>
        <p:nvSpPr>
          <p:cNvPr id="248835" name="Rectangle 3" descr="Recycled paper"/>
          <p:cNvSpPr>
            <a:spLocks noChangeArrowheads="1"/>
          </p:cNvSpPr>
          <p:nvPr/>
        </p:nvSpPr>
        <p:spPr bwMode="auto">
          <a:xfrm>
            <a:off x="152400" y="838200"/>
            <a:ext cx="8839200" cy="4762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1433513" indent="-1433513" eaLnBrk="1" hangingPunct="1">
              <a:spcBef>
                <a:spcPct val="50000"/>
              </a:spcBef>
              <a:buFontTx/>
              <a:buNone/>
            </a:pPr>
            <a:r>
              <a:rPr lang="en-US" sz="2400" b="1" dirty="0">
                <a:solidFill>
                  <a:srgbClr val="CC0000"/>
                </a:solidFill>
              </a:rPr>
              <a:t>Theorem:</a:t>
            </a:r>
            <a:r>
              <a:rPr lang="en-US" sz="2400" dirty="0">
                <a:solidFill>
                  <a:schemeClr val="hlink"/>
                </a:solidFill>
              </a:rPr>
              <a:t>   Edmonds-Karp Max-Flow algorithm takes O(VE</a:t>
            </a:r>
            <a:r>
              <a:rPr lang="en-US" sz="2400" baseline="30000" dirty="0">
                <a:solidFill>
                  <a:schemeClr val="hlink"/>
                </a:solidFill>
              </a:rPr>
              <a:t>2</a:t>
            </a:r>
            <a:r>
              <a:rPr lang="en-US" sz="2400" dirty="0">
                <a:solidFill>
                  <a:schemeClr val="hlink"/>
                </a:solidFill>
              </a:rPr>
              <a:t>) time.</a:t>
            </a:r>
          </a:p>
        </p:txBody>
      </p:sp>
      <p:sp>
        <p:nvSpPr>
          <p:cNvPr id="248836" name="Rectangle 4"/>
          <p:cNvSpPr>
            <a:spLocks noChangeArrowheads="1"/>
          </p:cNvSpPr>
          <p:nvPr/>
        </p:nvSpPr>
        <p:spPr bwMode="auto">
          <a:xfrm>
            <a:off x="152400" y="1981200"/>
            <a:ext cx="8305800" cy="196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defTabSz="1712913">
              <a:lnSpc>
                <a:spcPct val="125000"/>
              </a:lnSpc>
              <a:buFont typeface="Wingdings" pitchFamily="2" charset="2"/>
              <a:buNone/>
              <a:tabLst>
                <a:tab pos="1049338" algn="l"/>
              </a:tabLst>
            </a:pPr>
            <a:r>
              <a:rPr lang="en-US" sz="2000" b="1"/>
              <a:t>Proof:</a:t>
            </a:r>
            <a:r>
              <a:rPr lang="en-US" sz="2000"/>
              <a:t>   	Each augmentation has a bottleneck edge.</a:t>
            </a:r>
          </a:p>
          <a:p>
            <a:pPr defTabSz="1712913">
              <a:lnSpc>
                <a:spcPct val="125000"/>
              </a:lnSpc>
              <a:buFont typeface="Wingdings" pitchFamily="2" charset="2"/>
              <a:buNone/>
              <a:tabLst>
                <a:tab pos="1049338" algn="l"/>
              </a:tabLst>
            </a:pPr>
            <a:r>
              <a:rPr lang="en-US" sz="2000"/>
              <a:t>	An edge can become bottleneck of an augmentation O(V) times.</a:t>
            </a:r>
          </a:p>
          <a:p>
            <a:pPr defTabSz="1712913">
              <a:lnSpc>
                <a:spcPct val="125000"/>
              </a:lnSpc>
              <a:buFont typeface="Wingdings" pitchFamily="2" charset="2"/>
              <a:buNone/>
              <a:tabLst>
                <a:tab pos="1049338" algn="l"/>
              </a:tabLst>
            </a:pPr>
            <a:r>
              <a:rPr lang="en-US" sz="2000"/>
              <a:t>	So, there are O(VE) augmentations.</a:t>
            </a:r>
          </a:p>
          <a:p>
            <a:pPr defTabSz="1712913">
              <a:lnSpc>
                <a:spcPct val="125000"/>
              </a:lnSpc>
              <a:buFont typeface="Wingdings" pitchFamily="2" charset="2"/>
              <a:buNone/>
              <a:tabLst>
                <a:tab pos="1049338" algn="l"/>
              </a:tabLst>
            </a:pPr>
            <a:r>
              <a:rPr lang="en-US" sz="2000"/>
              <a:t>	Each augmenting iteration takes O(E) time.</a:t>
            </a:r>
          </a:p>
          <a:p>
            <a:pPr defTabSz="1712913">
              <a:lnSpc>
                <a:spcPct val="125000"/>
              </a:lnSpc>
              <a:buFont typeface="Wingdings" pitchFamily="2" charset="2"/>
              <a:buNone/>
              <a:tabLst>
                <a:tab pos="1049338" algn="l"/>
              </a:tabLst>
            </a:pPr>
            <a:r>
              <a:rPr lang="en-US" sz="2000"/>
              <a:t>	Total time is as claimed.</a:t>
            </a:r>
            <a:r>
              <a:rPr lang="en-US" sz="2000">
                <a:sym typeface="Symbol" pitchFamily="18" charset="2"/>
              </a:rPr>
              <a:t> </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150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8835"/>
                                        </p:tgtEl>
                                        <p:attrNameLst>
                                          <p:attrName>style.visibility</p:attrName>
                                        </p:attrNameLst>
                                      </p:cBhvr>
                                      <p:to>
                                        <p:strVal val="visible"/>
                                      </p:to>
                                    </p:set>
                                    <p:animEffect transition="in" filter="wipe(left)">
                                      <p:cBhvr>
                                        <p:cTn id="7" dur="500"/>
                                        <p:tgtEl>
                                          <p:spTgt spid="2488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8836">
                                            <p:txEl>
                                              <p:pRg st="0" end="0"/>
                                            </p:txEl>
                                          </p:spTgt>
                                        </p:tgtEl>
                                        <p:attrNameLst>
                                          <p:attrName>style.visibility</p:attrName>
                                        </p:attrNameLst>
                                      </p:cBhvr>
                                      <p:to>
                                        <p:strVal val="visible"/>
                                      </p:to>
                                    </p:set>
                                    <p:animEffect transition="in" filter="wipe(left)">
                                      <p:cBhvr>
                                        <p:cTn id="12" dur="500"/>
                                        <p:tgtEl>
                                          <p:spTgt spid="24883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8836">
                                            <p:txEl>
                                              <p:pRg st="1" end="1"/>
                                            </p:txEl>
                                          </p:spTgt>
                                        </p:tgtEl>
                                        <p:attrNameLst>
                                          <p:attrName>style.visibility</p:attrName>
                                        </p:attrNameLst>
                                      </p:cBhvr>
                                      <p:to>
                                        <p:strVal val="visible"/>
                                      </p:to>
                                    </p:set>
                                    <p:animEffect transition="in" filter="wipe(left)">
                                      <p:cBhvr>
                                        <p:cTn id="17" dur="500"/>
                                        <p:tgtEl>
                                          <p:spTgt spid="24883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8836">
                                            <p:txEl>
                                              <p:pRg st="2" end="2"/>
                                            </p:txEl>
                                          </p:spTgt>
                                        </p:tgtEl>
                                        <p:attrNameLst>
                                          <p:attrName>style.visibility</p:attrName>
                                        </p:attrNameLst>
                                      </p:cBhvr>
                                      <p:to>
                                        <p:strVal val="visible"/>
                                      </p:to>
                                    </p:set>
                                    <p:animEffect transition="in" filter="wipe(left)">
                                      <p:cBhvr>
                                        <p:cTn id="22" dur="500"/>
                                        <p:tgtEl>
                                          <p:spTgt spid="24883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8836">
                                            <p:txEl>
                                              <p:pRg st="3" end="3"/>
                                            </p:txEl>
                                          </p:spTgt>
                                        </p:tgtEl>
                                        <p:attrNameLst>
                                          <p:attrName>style.visibility</p:attrName>
                                        </p:attrNameLst>
                                      </p:cBhvr>
                                      <p:to>
                                        <p:strVal val="visible"/>
                                      </p:to>
                                    </p:set>
                                    <p:animEffect transition="in" filter="wipe(left)">
                                      <p:cBhvr>
                                        <p:cTn id="27" dur="500"/>
                                        <p:tgtEl>
                                          <p:spTgt spid="248836">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8836">
                                            <p:txEl>
                                              <p:pRg st="4" end="4"/>
                                            </p:txEl>
                                          </p:spTgt>
                                        </p:tgtEl>
                                        <p:attrNameLst>
                                          <p:attrName>style.visibility</p:attrName>
                                        </p:attrNameLst>
                                      </p:cBhvr>
                                      <p:to>
                                        <p:strVal val="visible"/>
                                      </p:to>
                                    </p:set>
                                    <p:animEffect transition="in" filter="wipe(left)">
                                      <p:cBhvr>
                                        <p:cTn id="32" dur="500"/>
                                        <p:tgtEl>
                                          <p:spTgt spid="24883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5" grpId="0" animBg="1" autoUpdateAnimBg="0"/>
      <p:bldP spid="248836" grpId="0" build="p" autoUpdateAnimBg="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4627" name="Text Box 2"/>
              <p:cNvSpPr txBox="1">
                <a:spLocks noChangeArrowheads="1"/>
              </p:cNvSpPr>
              <p:nvPr/>
            </p:nvSpPr>
            <p:spPr bwMode="auto">
              <a:xfrm>
                <a:off x="152400" y="228600"/>
                <a:ext cx="8839200" cy="4581525"/>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457200" indent="-457200" defTabSz="484188">
                  <a:defRPr sz="1600">
                    <a:solidFill>
                      <a:schemeClr val="tx1"/>
                    </a:solidFill>
                    <a:latin typeface="Times New Roman" pitchFamily="18" charset="0"/>
                  </a:defRPr>
                </a:lvl1pPr>
                <a:lvl2pPr marL="742950" indent="-285750" defTabSz="484188">
                  <a:defRPr sz="1600">
                    <a:solidFill>
                      <a:schemeClr val="tx1"/>
                    </a:solidFill>
                    <a:latin typeface="Times New Roman" pitchFamily="18" charset="0"/>
                  </a:defRPr>
                </a:lvl2pPr>
                <a:lvl3pPr marL="1143000" indent="-228600" defTabSz="484188">
                  <a:defRPr sz="1600">
                    <a:solidFill>
                      <a:schemeClr val="tx1"/>
                    </a:solidFill>
                    <a:latin typeface="Times New Roman" pitchFamily="18" charset="0"/>
                  </a:defRPr>
                </a:lvl3pPr>
                <a:lvl4pPr marL="1600200" indent="-228600" defTabSz="484188">
                  <a:defRPr sz="1600">
                    <a:solidFill>
                      <a:schemeClr val="tx1"/>
                    </a:solidFill>
                    <a:latin typeface="Times New Roman" pitchFamily="18" charset="0"/>
                  </a:defRPr>
                </a:lvl4pPr>
                <a:lvl5pPr marL="2057400" indent="-228600" defTabSz="484188">
                  <a:defRPr sz="1600">
                    <a:solidFill>
                      <a:schemeClr val="tx1"/>
                    </a:solidFill>
                    <a:latin typeface="Times New Roman" pitchFamily="18" charset="0"/>
                  </a:defRPr>
                </a:lvl5pPr>
                <a:lvl6pPr marL="2514600" indent="-228600" defTabSz="484188" eaLnBrk="0" fontAlgn="base" hangingPunct="0">
                  <a:spcBef>
                    <a:spcPct val="0"/>
                  </a:spcBef>
                  <a:spcAft>
                    <a:spcPct val="0"/>
                  </a:spcAft>
                  <a:buChar char="•"/>
                  <a:defRPr sz="1600">
                    <a:solidFill>
                      <a:schemeClr val="tx1"/>
                    </a:solidFill>
                    <a:latin typeface="Times New Roman" pitchFamily="18" charset="0"/>
                  </a:defRPr>
                </a:lvl6pPr>
                <a:lvl7pPr marL="2971800" indent="-228600" defTabSz="484188" eaLnBrk="0" fontAlgn="base" hangingPunct="0">
                  <a:spcBef>
                    <a:spcPct val="0"/>
                  </a:spcBef>
                  <a:spcAft>
                    <a:spcPct val="0"/>
                  </a:spcAft>
                  <a:buChar char="•"/>
                  <a:defRPr sz="1600">
                    <a:solidFill>
                      <a:schemeClr val="tx1"/>
                    </a:solidFill>
                    <a:latin typeface="Times New Roman" pitchFamily="18" charset="0"/>
                  </a:defRPr>
                </a:lvl7pPr>
                <a:lvl8pPr marL="3429000" indent="-228600" defTabSz="484188" eaLnBrk="0" fontAlgn="base" hangingPunct="0">
                  <a:spcBef>
                    <a:spcPct val="0"/>
                  </a:spcBef>
                  <a:spcAft>
                    <a:spcPct val="0"/>
                  </a:spcAft>
                  <a:buChar char="•"/>
                  <a:defRPr sz="1600">
                    <a:solidFill>
                      <a:schemeClr val="tx1"/>
                    </a:solidFill>
                    <a:latin typeface="Times New Roman" pitchFamily="18" charset="0"/>
                  </a:defRPr>
                </a:lvl8pPr>
                <a:lvl9pPr marL="3886200" indent="-228600" defTabSz="484188"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2400" b="1" dirty="0" smtClean="0"/>
                  <a:t>Algorithm</a:t>
                </a:r>
                <a:r>
                  <a:rPr lang="en-US" sz="2400" dirty="0">
                    <a:solidFill>
                      <a:schemeClr val="hlink"/>
                    </a:solidFill>
                  </a:rPr>
                  <a:t>  </a:t>
                </a:r>
                <a:r>
                  <a:rPr lang="en-US" sz="2400" b="1" dirty="0" err="1">
                    <a:solidFill>
                      <a:schemeClr val="hlink"/>
                    </a:solidFill>
                  </a:rPr>
                  <a:t>MaxFlowMinCut</a:t>
                </a:r>
                <a:r>
                  <a:rPr lang="en-US" sz="2400" b="1" dirty="0">
                    <a:solidFill>
                      <a:schemeClr val="hlink"/>
                    </a:solidFill>
                  </a:rPr>
                  <a:t> </a:t>
                </a:r>
                <a:r>
                  <a:rPr lang="en-US" sz="2400" dirty="0">
                    <a:solidFill>
                      <a:schemeClr val="hlink"/>
                    </a:solidFill>
                  </a:rPr>
                  <a:t>( </a:t>
                </a:r>
                <a:r>
                  <a:rPr lang="en-US" sz="2400" dirty="0">
                    <a:solidFill>
                      <a:schemeClr val="hlink"/>
                    </a:solidFill>
                    <a:sym typeface="Symbol" pitchFamily="18" charset="2"/>
                  </a:rPr>
                  <a:t>G=(</a:t>
                </a:r>
                <a:r>
                  <a:rPr lang="en-US" sz="2400" dirty="0" err="1">
                    <a:solidFill>
                      <a:schemeClr val="hlink"/>
                    </a:solidFill>
                    <a:sym typeface="Symbol" pitchFamily="18" charset="2"/>
                  </a:rPr>
                  <a:t>V,E,c,s,t</a:t>
                </a:r>
                <a:r>
                  <a:rPr lang="en-US" sz="2400" dirty="0">
                    <a:solidFill>
                      <a:schemeClr val="hlink"/>
                    </a:solidFill>
                    <a:sym typeface="Symbol" pitchFamily="18" charset="2"/>
                  </a:rPr>
                  <a:t>) </a:t>
                </a:r>
                <a:r>
                  <a:rPr lang="en-US" sz="2400" dirty="0">
                    <a:solidFill>
                      <a:schemeClr val="hlink"/>
                    </a:solidFill>
                  </a:rPr>
                  <a:t>)</a:t>
                </a:r>
                <a:r>
                  <a:rPr lang="en-US" sz="2000" dirty="0">
                    <a:solidFill>
                      <a:schemeClr val="tx2"/>
                    </a:solidFill>
                  </a:rPr>
                  <a:t>  	      </a:t>
                </a:r>
                <a:r>
                  <a:rPr lang="en-US" sz="2000" dirty="0">
                    <a:solidFill>
                      <a:srgbClr val="CC0000"/>
                    </a:solidFill>
                    <a:cs typeface="Arial" pitchFamily="34" charset="0"/>
                  </a:rPr>
                  <a:t>§  Ford-Fulkerson</a:t>
                </a:r>
                <a:endParaRPr lang="en-US" sz="2000" dirty="0">
                  <a:solidFill>
                    <a:schemeClr val="tx2"/>
                  </a:solidFill>
                </a:endParaRPr>
              </a:p>
              <a:p>
                <a:pPr eaLnBrk="1" hangingPunct="1">
                  <a:buFontTx/>
                  <a:buAutoNum type="arabicPeriod"/>
                </a:pPr>
                <a:r>
                  <a:rPr lang="en-US" sz="2000" dirty="0">
                    <a:solidFill>
                      <a:srgbClr val="CC0000"/>
                    </a:solidFill>
                    <a:sym typeface="Symbol" pitchFamily="18" charset="2"/>
                  </a:rPr>
                  <a:t> </a:t>
                </a:r>
                <a:r>
                  <a:rPr lang="en-US" sz="2000" b="1" dirty="0">
                    <a:solidFill>
                      <a:schemeClr val="tx2"/>
                    </a:solidFill>
                  </a:rPr>
                  <a:t>for</a:t>
                </a:r>
                <a:r>
                  <a:rPr lang="en-US" sz="2000" dirty="0">
                    <a:solidFill>
                      <a:schemeClr val="tx2"/>
                    </a:solidFill>
                  </a:rPr>
                  <a:t>  </a:t>
                </a:r>
                <a:r>
                  <a:rPr lang="en-US" sz="2000" dirty="0">
                    <a:solidFill>
                      <a:schemeClr val="hlink"/>
                    </a:solidFill>
                  </a:rPr>
                  <a:t>each e </a:t>
                </a:r>
                <a:r>
                  <a:rPr lang="en-US" sz="2000" dirty="0">
                    <a:solidFill>
                      <a:schemeClr val="hlink"/>
                    </a:solidFill>
                    <a:sym typeface="Symbol" pitchFamily="18" charset="2"/>
                  </a:rPr>
                  <a:t></a:t>
                </a:r>
                <a:r>
                  <a:rPr lang="en-US" sz="2000" dirty="0">
                    <a:solidFill>
                      <a:schemeClr val="hlink"/>
                    </a:solidFill>
                  </a:rPr>
                  <a:t> E </a:t>
                </a:r>
                <a:r>
                  <a:rPr lang="en-US" sz="2000" b="1" dirty="0">
                    <a:solidFill>
                      <a:schemeClr val="tx2"/>
                    </a:solidFill>
                  </a:rPr>
                  <a:t> do  </a:t>
                </a:r>
                <a:r>
                  <a:rPr lang="en-US" sz="2000" dirty="0">
                    <a:solidFill>
                      <a:schemeClr val="hlink"/>
                    </a:solidFill>
                    <a:sym typeface="Symbol" pitchFamily="18" charset="2"/>
                  </a:rPr>
                  <a:t>f(e) </a:t>
                </a:r>
                <a:r>
                  <a:rPr lang="en-US" sz="2000" dirty="0">
                    <a:solidFill>
                      <a:schemeClr val="hlink"/>
                    </a:solidFill>
                  </a:rPr>
                  <a:t> 0</a:t>
                </a:r>
                <a:r>
                  <a:rPr lang="en-US" sz="2000" b="1" dirty="0">
                    <a:solidFill>
                      <a:schemeClr val="tx2"/>
                    </a:solidFill>
                  </a:rPr>
                  <a:t>	                                            </a:t>
                </a:r>
                <a:r>
                  <a:rPr lang="en-US" sz="2000" dirty="0">
                    <a:solidFill>
                      <a:srgbClr val="CC0000"/>
                    </a:solidFill>
                    <a:cs typeface="Arial" pitchFamily="34" charset="0"/>
                  </a:rPr>
                  <a:t>§            +  </a:t>
                </a:r>
                <a:endParaRPr lang="en-US" sz="2000" b="1" dirty="0">
                  <a:solidFill>
                    <a:schemeClr val="tx2"/>
                  </a:solidFill>
                </a:endParaRP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optimal </a:t>
                </a:r>
                <a:r>
                  <a:rPr lang="en-US" sz="2000" dirty="0">
                    <a:solidFill>
                      <a:schemeClr val="hlink"/>
                    </a:solidFill>
                  </a:rPr>
                  <a:t> false                                                                        </a:t>
                </a:r>
                <a:r>
                  <a:rPr lang="en-US" sz="2000" dirty="0">
                    <a:solidFill>
                      <a:srgbClr val="CC0000"/>
                    </a:solidFill>
                    <a:cs typeface="Arial" pitchFamily="34" charset="0"/>
                  </a:rPr>
                  <a:t>§  Edmonds-Karp</a:t>
                </a:r>
                <a:endParaRPr lang="en-US" sz="2000" dirty="0">
                  <a:solidFill>
                    <a:schemeClr val="hlink"/>
                  </a:solidFill>
                </a:endParaRPr>
              </a:p>
              <a:p>
                <a:pPr eaLnBrk="1" hangingPunct="1">
                  <a:buFontTx/>
                  <a:buAutoNum type="arabicPeriod"/>
                </a:pPr>
                <a:r>
                  <a:rPr lang="en-US" sz="2000" dirty="0">
                    <a:solidFill>
                      <a:srgbClr val="CC0000"/>
                    </a:solidFill>
                  </a:rPr>
                  <a:t> </a:t>
                </a:r>
                <a:r>
                  <a:rPr lang="en-US" sz="2000" b="1" dirty="0">
                    <a:solidFill>
                      <a:schemeClr val="tx2"/>
                    </a:solidFill>
                  </a:rPr>
                  <a:t>while</a:t>
                </a:r>
                <a:r>
                  <a:rPr lang="en-US" sz="2000" dirty="0">
                    <a:solidFill>
                      <a:schemeClr val="tx2"/>
                    </a:solidFill>
                  </a:rPr>
                  <a:t>  </a:t>
                </a:r>
                <a:r>
                  <a:rPr lang="en-US" sz="2000" dirty="0">
                    <a:solidFill>
                      <a:schemeClr val="hlink"/>
                    </a:solidFill>
                  </a:rPr>
                  <a:t>not optimal </a:t>
                </a:r>
                <a:r>
                  <a:rPr lang="en-US" sz="2000" b="1" dirty="0">
                    <a:solidFill>
                      <a:schemeClr val="tx2"/>
                    </a:solidFill>
                  </a:rPr>
                  <a:t> do </a:t>
                </a:r>
              </a:p>
              <a:p>
                <a:pPr eaLnBrk="1" hangingPunct="1">
                  <a:buFontTx/>
                  <a:buAutoNum type="arabicPeriod"/>
                </a:pPr>
                <a:r>
                  <a:rPr lang="en-US" sz="2000" dirty="0">
                    <a:solidFill>
                      <a:srgbClr val="CC0000"/>
                    </a:solidFill>
                  </a:rPr>
                  <a:t> 	</a:t>
                </a:r>
                <a:r>
                  <a:rPr lang="en-US" sz="2000" b="1" dirty="0">
                    <a:solidFill>
                      <a:schemeClr val="tx2"/>
                    </a:solidFill>
                  </a:rPr>
                  <a:t> </a:t>
                </a:r>
                <a:r>
                  <a:rPr lang="en-US" sz="2000" dirty="0">
                    <a:solidFill>
                      <a:schemeClr val="hlink"/>
                    </a:solidFill>
                  </a:rPr>
                  <a:t>Construct residual graph G(f)</a:t>
                </a:r>
              </a:p>
              <a:p>
                <a:pPr eaLnBrk="1" hangingPunct="1">
                  <a:buFontTx/>
                  <a:buAutoNum type="arabicPeriod"/>
                </a:pPr>
                <a:r>
                  <a:rPr lang="en-US" sz="2000" dirty="0">
                    <a:solidFill>
                      <a:srgbClr val="CC0000"/>
                    </a:solidFill>
                  </a:rPr>
                  <a:t> 	</a:t>
                </a:r>
                <a:r>
                  <a:rPr lang="en-US" sz="2000" dirty="0">
                    <a:solidFill>
                      <a:schemeClr val="hlink"/>
                    </a:solidFill>
                  </a:rPr>
                  <a:t> Do a </a:t>
                </a:r>
                <a:r>
                  <a:rPr lang="en-US" sz="2000" b="1" dirty="0">
                    <a:solidFill>
                      <a:schemeClr val="hlink"/>
                    </a:solidFill>
                  </a:rPr>
                  <a:t>BFS</a:t>
                </a:r>
                <a:r>
                  <a:rPr lang="en-US" sz="2000" dirty="0">
                    <a:solidFill>
                      <a:schemeClr val="hlink"/>
                    </a:solidFill>
                  </a:rPr>
                  <a:t> on G(f) from source s : </a:t>
                </a:r>
                <a:br>
                  <a:rPr lang="en-US" sz="2000" dirty="0">
                    <a:solidFill>
                      <a:schemeClr val="hlink"/>
                    </a:solidFill>
                  </a:rPr>
                </a:br>
                <a:r>
                  <a:rPr lang="en-US" sz="2000" dirty="0">
                    <a:solidFill>
                      <a:schemeClr val="hlink"/>
                    </a:solidFill>
                  </a:rPr>
                  <a:t> 	 X </a:t>
                </a:r>
                <a:r>
                  <a:rPr lang="en-US" sz="2000" dirty="0">
                    <a:solidFill>
                      <a:schemeClr val="hlink"/>
                    </a:solidFill>
                    <a:sym typeface="Symbol" pitchFamily="18" charset="2"/>
                  </a:rPr>
                  <a:t></a:t>
                </a:r>
                <a:r>
                  <a:rPr lang="en-US" sz="2000" dirty="0">
                    <a:solidFill>
                      <a:schemeClr val="hlink"/>
                    </a:solidFill>
                  </a:rPr>
                  <a:t> nodes reachable from s in G(f)</a:t>
                </a:r>
                <a:endParaRPr lang="en-US" sz="2000" dirty="0">
                  <a:solidFill>
                    <a:srgbClr val="CC0000"/>
                  </a:solidFill>
                </a:endParaRPr>
              </a:p>
              <a:p>
                <a:pPr eaLnBrk="1" hangingPunct="1">
                  <a:buFontTx/>
                  <a:buAutoNum type="arabicPeriod"/>
                </a:pPr>
                <a:r>
                  <a:rPr lang="en-US" sz="2000" dirty="0">
                    <a:solidFill>
                      <a:srgbClr val="CC0000"/>
                    </a:solidFill>
                  </a:rPr>
                  <a:t>	 	 </a:t>
                </a:r>
                <a:r>
                  <a:rPr lang="en-US" sz="2000" b="1" dirty="0"/>
                  <a:t>if</a:t>
                </a:r>
                <a:r>
                  <a:rPr lang="en-US" sz="2000" dirty="0">
                    <a:solidFill>
                      <a:srgbClr val="CC0000"/>
                    </a:solidFill>
                  </a:rPr>
                  <a:t>  </a:t>
                </a:r>
                <a:r>
                  <a:rPr lang="en-US" sz="2000" dirty="0">
                    <a:solidFill>
                      <a:schemeClr val="hlink"/>
                    </a:solidFill>
                    <a:sym typeface="Symbol" pitchFamily="18" charset="2"/>
                  </a:rPr>
                  <a:t>t </a:t>
                </a:r>
                <a:r>
                  <a:rPr lang="en-US" sz="2000" dirty="0">
                    <a:solidFill>
                      <a:schemeClr val="hlink"/>
                    </a:solidFill>
                  </a:rPr>
                  <a:t> X</a:t>
                </a:r>
                <a:r>
                  <a:rPr lang="en-US" sz="2000" dirty="0">
                    <a:solidFill>
                      <a:schemeClr val="hlink"/>
                    </a:solidFill>
                    <a:sym typeface="Symbol" pitchFamily="18" charset="2"/>
                  </a:rPr>
                  <a:t> </a:t>
                </a:r>
                <a:endParaRPr lang="en-US" sz="2000" dirty="0">
                  <a:solidFill>
                    <a:srgbClr val="CC0000"/>
                  </a:solidFill>
                </a:endParaRP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		</a:t>
                </a:r>
                <a:r>
                  <a:rPr lang="en-US" sz="2000" b="1" dirty="0">
                    <a:sym typeface="Symbol" pitchFamily="18" charset="2"/>
                  </a:rPr>
                  <a:t>then   </a:t>
                </a:r>
                <a:r>
                  <a:rPr lang="en-US" sz="2000" dirty="0">
                    <a:solidFill>
                      <a:schemeClr val="hlink"/>
                    </a:solidFill>
                    <a:sym typeface="Symbol" pitchFamily="18" charset="2"/>
                  </a:rPr>
                  <a:t>p </a:t>
                </a:r>
                <a:r>
                  <a:rPr lang="en-US" sz="2000" dirty="0">
                    <a:solidFill>
                      <a:schemeClr val="hlink"/>
                    </a:solidFill>
                  </a:rPr>
                  <a:t> BFS tree path from s to t in G(f)</a:t>
                </a:r>
              </a:p>
              <a:p>
                <a:pPr eaLnBrk="1" hangingPunct="1">
                  <a:buFontTx/>
                  <a:buAutoNum type="arabicPeriod"/>
                </a:pPr>
                <a:r>
                  <a:rPr lang="en-US" sz="2000" dirty="0">
                    <a:solidFill>
                      <a:srgbClr val="CC0000"/>
                    </a:solidFill>
                  </a:rPr>
                  <a:t> 			</a:t>
                </a:r>
                <a:r>
                  <a:rPr lang="en-US" sz="2000" dirty="0">
                    <a:solidFill>
                      <a:schemeClr val="hlink"/>
                    </a:solidFill>
                  </a:rPr>
                  <a:t>   augment flow along p </a:t>
                </a: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		</a:t>
                </a:r>
                <a:r>
                  <a:rPr lang="en-US" sz="2000" b="1" dirty="0">
                    <a:sym typeface="Symbol" pitchFamily="18" charset="2"/>
                  </a:rPr>
                  <a:t>else    </a:t>
                </a:r>
                <a:r>
                  <a:rPr lang="en-US" sz="2000" dirty="0">
                    <a:solidFill>
                      <a:schemeClr val="hlink"/>
                    </a:solidFill>
                    <a:sym typeface="Symbol" pitchFamily="18" charset="2"/>
                  </a:rPr>
                  <a:t>optimal </a:t>
                </a:r>
                <a:r>
                  <a:rPr lang="en-US" sz="2000" dirty="0">
                    <a:solidFill>
                      <a:schemeClr val="hlink"/>
                    </a:solidFill>
                  </a:rPr>
                  <a:t> true </a:t>
                </a:r>
                <a:endParaRPr lang="en-US" sz="2000" dirty="0">
                  <a:solidFill>
                    <a:srgbClr val="CC0000"/>
                  </a:solidFill>
                </a:endParaRPr>
              </a:p>
              <a:p>
                <a:pPr eaLnBrk="1" hangingPunct="1">
                  <a:buFontTx/>
                  <a:buAutoNum type="arabicPeriod"/>
                </a:pPr>
                <a:r>
                  <a:rPr lang="en-US" sz="2000" dirty="0">
                    <a:solidFill>
                      <a:srgbClr val="CC0000"/>
                    </a:solidFill>
                  </a:rPr>
                  <a:t> </a:t>
                </a:r>
                <a:r>
                  <a:rPr lang="en-US" sz="2000" b="1" dirty="0"/>
                  <a:t>end-while</a:t>
                </a:r>
              </a:p>
              <a:p>
                <a:pPr eaLnBrk="1" hangingPunct="1">
                  <a:buFontTx/>
                  <a:buAutoNum type="arabicPeriod"/>
                </a:pPr>
                <a:r>
                  <a:rPr lang="en-US" sz="2000" dirty="0">
                    <a:solidFill>
                      <a:srgbClr val="CC0000"/>
                    </a:solidFill>
                  </a:rPr>
                  <a:t> </a:t>
                </a:r>
                <a:r>
                  <a:rPr lang="en-US" sz="2000" b="1" dirty="0"/>
                  <a:t>return  </a:t>
                </a:r>
                <a:r>
                  <a:rPr lang="en-US" sz="2000" dirty="0">
                    <a:solidFill>
                      <a:schemeClr val="hlink"/>
                    </a:solidFill>
                  </a:rPr>
                  <a:t>( max-flow f  ,  min-cut  ( </a:t>
                </a:r>
                <a14:m>
                  <m:oMath xmlns:m="http://schemas.openxmlformats.org/officeDocument/2006/math">
                    <m:r>
                      <a:rPr lang="en-US" sz="2000" i="1" dirty="0" smtClean="0">
                        <a:solidFill>
                          <a:schemeClr val="hlink"/>
                        </a:solidFill>
                        <a:latin typeface="Cambria Math"/>
                      </a:rPr>
                      <m:t>𝑋</m:t>
                    </m:r>
                    <m:r>
                      <a:rPr lang="en-US" sz="2000" i="1" dirty="0" smtClean="0">
                        <a:solidFill>
                          <a:schemeClr val="hlink"/>
                        </a:solidFill>
                        <a:latin typeface="Cambria Math"/>
                      </a:rPr>
                      <m:t>, </m:t>
                    </m:r>
                    <m:acc>
                      <m:accPr>
                        <m:chr m:val="̅"/>
                        <m:ctrlPr>
                          <a:rPr lang="en-US" sz="2000" i="1" dirty="0" smtClean="0">
                            <a:solidFill>
                              <a:schemeClr val="hlink"/>
                            </a:solidFill>
                            <a:latin typeface="Cambria Math"/>
                          </a:rPr>
                        </m:ctrlPr>
                      </m:accPr>
                      <m:e>
                        <m:r>
                          <a:rPr lang="en-CA" sz="2000" b="0" i="1" dirty="0" smtClean="0">
                            <a:solidFill>
                              <a:schemeClr val="hlink"/>
                            </a:solidFill>
                            <a:latin typeface="Cambria Math"/>
                          </a:rPr>
                          <m:t>𝑋</m:t>
                        </m:r>
                      </m:e>
                    </m:acc>
                    <m:r>
                      <a:rPr lang="en-US" sz="2000" i="1" dirty="0" smtClean="0">
                        <a:solidFill>
                          <a:schemeClr val="hlink"/>
                        </a:solidFill>
                        <a:latin typeface="Cambria Math"/>
                      </a:rPr>
                      <m:t> </m:t>
                    </m:r>
                  </m:oMath>
                </a14:m>
                <a:r>
                  <a:rPr lang="en-US" sz="2000" dirty="0">
                    <a:solidFill>
                      <a:schemeClr val="hlink"/>
                    </a:solidFill>
                  </a:rPr>
                  <a:t>)  )</a:t>
                </a:r>
                <a:r>
                  <a:rPr lang="en-US" sz="1800" dirty="0">
                    <a:solidFill>
                      <a:schemeClr val="hlink"/>
                    </a:solidFill>
                  </a:rPr>
                  <a:t> 		 	      </a:t>
                </a:r>
                <a:r>
                  <a:rPr lang="en-US" sz="2400" b="1" dirty="0">
                    <a:solidFill>
                      <a:srgbClr val="CC0000"/>
                    </a:solidFill>
                    <a:cs typeface="Arial" pitchFamily="34" charset="0"/>
                  </a:rPr>
                  <a:t>§ O(VE</a:t>
                </a:r>
                <a:r>
                  <a:rPr lang="en-US" sz="2400" b="1" baseline="30000" dirty="0">
                    <a:solidFill>
                      <a:srgbClr val="CC0000"/>
                    </a:solidFill>
                    <a:cs typeface="Arial" pitchFamily="34" charset="0"/>
                  </a:rPr>
                  <a:t>2</a:t>
                </a:r>
                <a:r>
                  <a:rPr lang="en-US" sz="2400" b="1" dirty="0">
                    <a:solidFill>
                      <a:srgbClr val="CC0000"/>
                    </a:solidFill>
                    <a:cs typeface="Arial" pitchFamily="34" charset="0"/>
                  </a:rPr>
                  <a:t>) time</a:t>
                </a:r>
                <a:endParaRPr lang="en-US" sz="2000" b="1" dirty="0">
                  <a:solidFill>
                    <a:srgbClr val="CC0000"/>
                  </a:solidFill>
                </a:endParaRPr>
              </a:p>
              <a:p>
                <a:pPr eaLnBrk="1" hangingPunct="1">
                  <a:buFontTx/>
                  <a:buNone/>
                </a:pPr>
                <a:r>
                  <a:rPr lang="en-US" sz="2000" b="1" dirty="0"/>
                  <a:t>end</a:t>
                </a:r>
                <a:r>
                  <a:rPr lang="en-US" sz="2000" dirty="0">
                    <a:solidFill>
                      <a:schemeClr val="hlink"/>
                    </a:solidFill>
                  </a:rPr>
                  <a:t> </a:t>
                </a:r>
              </a:p>
            </p:txBody>
          </p:sp>
        </mc:Choice>
        <mc:Fallback xmlns="">
          <p:sp>
            <p:nvSpPr>
              <p:cNvPr id="154627" name="Text Box 2"/>
              <p:cNvSpPr txBox="1">
                <a:spLocks noRot="1" noChangeAspect="1" noMove="1" noResize="1" noEditPoints="1" noAdjustHandles="1" noChangeArrowheads="1" noChangeShapeType="1" noTextEdit="1"/>
              </p:cNvSpPr>
              <p:nvPr/>
            </p:nvSpPr>
            <p:spPr bwMode="auto">
              <a:xfrm>
                <a:off x="152400" y="228600"/>
                <a:ext cx="8839200" cy="4581525"/>
              </a:xfrm>
              <a:prstGeom prst="rect">
                <a:avLst/>
              </a:prstGeom>
              <a:blipFill rotWithShape="1">
                <a:blip r:embed="rId2"/>
                <a:stretch>
                  <a:fillRect/>
                </a:stretch>
              </a:blipFill>
              <a:ln w="28575">
                <a:noFill/>
                <a:miter lim="800000"/>
                <a:headEnd/>
                <a:tailEnd/>
              </a:ln>
              <a:effectLst>
                <a:outerShdw blurRad="44450" dist="27940" dir="5400000" algn="ctr">
                  <a:srgbClr val="000000">
                    <a:alpha val="32000"/>
                  </a:srgbClr>
                </a:outerShdw>
              </a:effectLst>
              <a:extLst/>
            </p:spPr>
            <p:txBody>
              <a:bodyPr/>
              <a:lstStyle/>
              <a:p>
                <a:r>
                  <a:rPr lang="en-CA">
                    <a:noFill/>
                  </a:rPr>
                  <a:t> </a:t>
                </a:r>
              </a:p>
            </p:txBody>
          </p:sp>
        </mc:Fallback>
      </mc:AlternateContent>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151</a:t>
            </a:fld>
            <a:endParaRPr lang="en-US"/>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1129" name="Freeform 249"/>
          <p:cNvSpPr>
            <a:spLocks/>
          </p:cNvSpPr>
          <p:nvPr/>
        </p:nvSpPr>
        <p:spPr bwMode="auto">
          <a:xfrm>
            <a:off x="5529263" y="3032125"/>
            <a:ext cx="3530600" cy="2379663"/>
          </a:xfrm>
          <a:custGeom>
            <a:avLst/>
            <a:gdLst>
              <a:gd name="T0" fmla="*/ 142875 w 2224"/>
              <a:gd name="T1" fmla="*/ 2127250 h 1499"/>
              <a:gd name="T2" fmla="*/ 271463 w 2224"/>
              <a:gd name="T3" fmla="*/ 1620838 h 1499"/>
              <a:gd name="T4" fmla="*/ 1778000 w 2224"/>
              <a:gd name="T5" fmla="*/ 1417638 h 1499"/>
              <a:gd name="T6" fmla="*/ 1938338 w 2224"/>
              <a:gd name="T7" fmla="*/ 222250 h 1499"/>
              <a:gd name="T8" fmla="*/ 2530475 w 2224"/>
              <a:gd name="T9" fmla="*/ 82550 h 1499"/>
              <a:gd name="T10" fmla="*/ 3143250 w 2224"/>
              <a:gd name="T11" fmla="*/ 415925 h 1499"/>
              <a:gd name="T12" fmla="*/ 3433763 w 2224"/>
              <a:gd name="T13" fmla="*/ 1169988 h 1499"/>
              <a:gd name="T14" fmla="*/ 2562225 w 2224"/>
              <a:gd name="T15" fmla="*/ 2192338 h 1499"/>
              <a:gd name="T16" fmla="*/ 647700 w 2224"/>
              <a:gd name="T17" fmla="*/ 2298700 h 1499"/>
              <a:gd name="T18" fmla="*/ 142875 w 2224"/>
              <a:gd name="T19" fmla="*/ 2127250 h 14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24" h="1499">
                <a:moveTo>
                  <a:pt x="90" y="1340"/>
                </a:moveTo>
                <a:cubicBezTo>
                  <a:pt x="51" y="1269"/>
                  <a:pt x="0" y="1095"/>
                  <a:pt x="171" y="1021"/>
                </a:cubicBezTo>
                <a:cubicBezTo>
                  <a:pt x="342" y="947"/>
                  <a:pt x="945" y="1040"/>
                  <a:pt x="1120" y="893"/>
                </a:cubicBezTo>
                <a:cubicBezTo>
                  <a:pt x="1295" y="746"/>
                  <a:pt x="1142" y="280"/>
                  <a:pt x="1221" y="140"/>
                </a:cubicBezTo>
                <a:cubicBezTo>
                  <a:pt x="1300" y="0"/>
                  <a:pt x="1467" y="32"/>
                  <a:pt x="1594" y="52"/>
                </a:cubicBezTo>
                <a:cubicBezTo>
                  <a:pt x="1721" y="72"/>
                  <a:pt x="1885" y="148"/>
                  <a:pt x="1980" y="262"/>
                </a:cubicBezTo>
                <a:cubicBezTo>
                  <a:pt x="2075" y="376"/>
                  <a:pt x="2224" y="550"/>
                  <a:pt x="2163" y="737"/>
                </a:cubicBezTo>
                <a:cubicBezTo>
                  <a:pt x="2102" y="924"/>
                  <a:pt x="1906" y="1263"/>
                  <a:pt x="1614" y="1381"/>
                </a:cubicBezTo>
                <a:cubicBezTo>
                  <a:pt x="1322" y="1499"/>
                  <a:pt x="662" y="1455"/>
                  <a:pt x="408" y="1448"/>
                </a:cubicBezTo>
                <a:cubicBezTo>
                  <a:pt x="154" y="1441"/>
                  <a:pt x="129" y="1411"/>
                  <a:pt x="90" y="1340"/>
                </a:cubicBezTo>
                <a:close/>
              </a:path>
            </a:pathLst>
          </a:custGeom>
          <a:solidFill>
            <a:srgbClr val="FFCC99"/>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endParaRPr lang="en-CA"/>
          </a:p>
        </p:txBody>
      </p:sp>
      <p:sp>
        <p:nvSpPr>
          <p:cNvPr id="251128" name="Freeform 248"/>
          <p:cNvSpPr>
            <a:spLocks/>
          </p:cNvSpPr>
          <p:nvPr/>
        </p:nvSpPr>
        <p:spPr bwMode="auto">
          <a:xfrm>
            <a:off x="4741863" y="2978150"/>
            <a:ext cx="1693862" cy="1520825"/>
          </a:xfrm>
          <a:custGeom>
            <a:avLst/>
            <a:gdLst>
              <a:gd name="T0" fmla="*/ 133350 w 1067"/>
              <a:gd name="T1" fmla="*/ 1428750 h 958"/>
              <a:gd name="T2" fmla="*/ 166687 w 1067"/>
              <a:gd name="T3" fmla="*/ 822325 h 958"/>
              <a:gd name="T4" fmla="*/ 1133475 w 1067"/>
              <a:gd name="T5" fmla="*/ 104775 h 958"/>
              <a:gd name="T6" fmla="*/ 1585912 w 1067"/>
              <a:gd name="T7" fmla="*/ 190500 h 958"/>
              <a:gd name="T8" fmla="*/ 1585912 w 1067"/>
              <a:gd name="T9" fmla="*/ 600075 h 958"/>
              <a:gd name="T10" fmla="*/ 939800 w 1067"/>
              <a:gd name="T11" fmla="*/ 987425 h 958"/>
              <a:gd name="T12" fmla="*/ 595312 w 1067"/>
              <a:gd name="T13" fmla="*/ 1374775 h 958"/>
              <a:gd name="T14" fmla="*/ 133350 w 1067"/>
              <a:gd name="T15" fmla="*/ 1428750 h 95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67" h="958">
                <a:moveTo>
                  <a:pt x="84" y="900"/>
                </a:moveTo>
                <a:cubicBezTo>
                  <a:pt x="39" y="842"/>
                  <a:pt x="0" y="657"/>
                  <a:pt x="105" y="518"/>
                </a:cubicBezTo>
                <a:cubicBezTo>
                  <a:pt x="210" y="379"/>
                  <a:pt x="565" y="132"/>
                  <a:pt x="714" y="66"/>
                </a:cubicBezTo>
                <a:cubicBezTo>
                  <a:pt x="863" y="0"/>
                  <a:pt x="951" y="68"/>
                  <a:pt x="999" y="120"/>
                </a:cubicBezTo>
                <a:cubicBezTo>
                  <a:pt x="1047" y="172"/>
                  <a:pt x="1067" y="294"/>
                  <a:pt x="999" y="378"/>
                </a:cubicBezTo>
                <a:cubicBezTo>
                  <a:pt x="931" y="462"/>
                  <a:pt x="696" y="541"/>
                  <a:pt x="592" y="622"/>
                </a:cubicBezTo>
                <a:cubicBezTo>
                  <a:pt x="488" y="703"/>
                  <a:pt x="460" y="820"/>
                  <a:pt x="375" y="866"/>
                </a:cubicBezTo>
                <a:cubicBezTo>
                  <a:pt x="290" y="912"/>
                  <a:pt x="129" y="958"/>
                  <a:pt x="84" y="900"/>
                </a:cubicBezTo>
                <a:close/>
              </a:path>
            </a:pathLst>
          </a:custGeom>
          <a:solidFill>
            <a:srgbClr val="FFCC99"/>
          </a:solidFill>
          <a:ln w="12700"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endParaRPr lang="en-CA"/>
          </a:p>
        </p:txBody>
      </p:sp>
      <p:sp>
        <p:nvSpPr>
          <p:cNvPr id="25088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Example</a:t>
            </a:r>
          </a:p>
        </p:txBody>
      </p:sp>
      <p:grpSp>
        <p:nvGrpSpPr>
          <p:cNvPr id="250883" name="Group 3"/>
          <p:cNvGrpSpPr>
            <a:grpSpLocks/>
          </p:cNvGrpSpPr>
          <p:nvPr/>
        </p:nvGrpSpPr>
        <p:grpSpPr bwMode="auto">
          <a:xfrm>
            <a:off x="152400" y="685800"/>
            <a:ext cx="3892550" cy="2033588"/>
            <a:chOff x="96" y="432"/>
            <a:chExt cx="2452" cy="1281"/>
          </a:xfrm>
        </p:grpSpPr>
        <p:sp>
          <p:nvSpPr>
            <p:cNvPr id="155792" name="Line 4"/>
            <p:cNvSpPr>
              <a:spLocks noChangeShapeType="1"/>
            </p:cNvSpPr>
            <p:nvPr/>
          </p:nvSpPr>
          <p:spPr bwMode="auto">
            <a:xfrm flipV="1">
              <a:off x="1893" y="777"/>
              <a:ext cx="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55793" name="Line 5"/>
            <p:cNvSpPr>
              <a:spLocks noChangeShapeType="1"/>
            </p:cNvSpPr>
            <p:nvPr/>
          </p:nvSpPr>
          <p:spPr bwMode="auto">
            <a:xfrm flipV="1">
              <a:off x="816" y="762"/>
              <a:ext cx="0"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55794" name="Freeform 6"/>
            <p:cNvSpPr>
              <a:spLocks/>
            </p:cNvSpPr>
            <p:nvPr/>
          </p:nvSpPr>
          <p:spPr bwMode="auto">
            <a:xfrm>
              <a:off x="192" y="720"/>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95" name="Line 7"/>
            <p:cNvSpPr>
              <a:spLocks noChangeShapeType="1"/>
            </p:cNvSpPr>
            <p:nvPr/>
          </p:nvSpPr>
          <p:spPr bwMode="auto">
            <a:xfrm>
              <a:off x="912" y="62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96" name="Freeform 8"/>
            <p:cNvSpPr>
              <a:spLocks/>
            </p:cNvSpPr>
            <p:nvPr/>
          </p:nvSpPr>
          <p:spPr bwMode="auto">
            <a:xfrm>
              <a:off x="192" y="1152"/>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97" name="Line 9"/>
            <p:cNvSpPr>
              <a:spLocks noChangeShapeType="1"/>
            </p:cNvSpPr>
            <p:nvPr/>
          </p:nvSpPr>
          <p:spPr bwMode="auto">
            <a:xfrm>
              <a:off x="912" y="158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98" name="Freeform 10"/>
            <p:cNvSpPr>
              <a:spLocks/>
            </p:cNvSpPr>
            <p:nvPr/>
          </p:nvSpPr>
          <p:spPr bwMode="auto">
            <a:xfrm>
              <a:off x="846" y="717"/>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99" name="Freeform 11"/>
            <p:cNvSpPr>
              <a:spLocks/>
            </p:cNvSpPr>
            <p:nvPr/>
          </p:nvSpPr>
          <p:spPr bwMode="auto">
            <a:xfrm>
              <a:off x="1909" y="645"/>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800" name="Freeform 12"/>
            <p:cNvSpPr>
              <a:spLocks/>
            </p:cNvSpPr>
            <p:nvPr/>
          </p:nvSpPr>
          <p:spPr bwMode="auto">
            <a:xfrm>
              <a:off x="1872" y="1152"/>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801" name="Oval 13"/>
            <p:cNvSpPr>
              <a:spLocks noChangeArrowheads="1"/>
            </p:cNvSpPr>
            <p:nvPr/>
          </p:nvSpPr>
          <p:spPr bwMode="auto">
            <a:xfrm>
              <a:off x="672" y="148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55802" name="Oval 14"/>
            <p:cNvSpPr>
              <a:spLocks noChangeArrowheads="1"/>
            </p:cNvSpPr>
            <p:nvPr/>
          </p:nvSpPr>
          <p:spPr bwMode="auto">
            <a:xfrm>
              <a:off x="96" y="100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55803" name="Oval 15"/>
            <p:cNvSpPr>
              <a:spLocks noChangeArrowheads="1"/>
            </p:cNvSpPr>
            <p:nvPr/>
          </p:nvSpPr>
          <p:spPr bwMode="auto">
            <a:xfrm>
              <a:off x="672" y="53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a</a:t>
              </a:r>
            </a:p>
          </p:txBody>
        </p:sp>
        <p:sp>
          <p:nvSpPr>
            <p:cNvPr id="155804" name="Oval 16"/>
            <p:cNvSpPr>
              <a:spLocks noChangeArrowheads="1"/>
            </p:cNvSpPr>
            <p:nvPr/>
          </p:nvSpPr>
          <p:spPr bwMode="auto">
            <a:xfrm>
              <a:off x="1776"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d</a:t>
              </a:r>
            </a:p>
          </p:txBody>
        </p:sp>
        <p:sp>
          <p:nvSpPr>
            <p:cNvPr id="155805" name="Oval 17"/>
            <p:cNvSpPr>
              <a:spLocks noChangeArrowheads="1"/>
            </p:cNvSpPr>
            <p:nvPr/>
          </p:nvSpPr>
          <p:spPr bwMode="auto">
            <a:xfrm>
              <a:off x="1776" y="5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c</a:t>
              </a:r>
            </a:p>
          </p:txBody>
        </p:sp>
        <p:sp>
          <p:nvSpPr>
            <p:cNvPr id="155806" name="Oval 18"/>
            <p:cNvSpPr>
              <a:spLocks noChangeArrowheads="1"/>
            </p:cNvSpPr>
            <p:nvPr/>
          </p:nvSpPr>
          <p:spPr bwMode="auto">
            <a:xfrm>
              <a:off x="2304" y="96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55807" name="Text Box 19"/>
            <p:cNvSpPr txBox="1">
              <a:spLocks noChangeArrowheads="1"/>
            </p:cNvSpPr>
            <p:nvPr/>
          </p:nvSpPr>
          <p:spPr bwMode="auto">
            <a:xfrm>
              <a:off x="96" y="720"/>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 / 15</a:t>
              </a:r>
            </a:p>
          </p:txBody>
        </p:sp>
        <p:sp>
          <p:nvSpPr>
            <p:cNvPr id="155808" name="Text Box 20"/>
            <p:cNvSpPr txBox="1">
              <a:spLocks noChangeArrowheads="1"/>
            </p:cNvSpPr>
            <p:nvPr/>
          </p:nvSpPr>
          <p:spPr bwMode="auto">
            <a:xfrm>
              <a:off x="1152" y="432"/>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 </a:t>
              </a:r>
              <a:r>
                <a:rPr lang="en-US" sz="1800" b="1"/>
                <a:t>/ 4</a:t>
              </a:r>
            </a:p>
          </p:txBody>
        </p:sp>
        <p:sp>
          <p:nvSpPr>
            <p:cNvPr id="155809" name="Text Box 21"/>
            <p:cNvSpPr txBox="1">
              <a:spLocks noChangeArrowheads="1"/>
            </p:cNvSpPr>
            <p:nvPr/>
          </p:nvSpPr>
          <p:spPr bwMode="auto">
            <a:xfrm>
              <a:off x="96" y="134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 / 8</a:t>
              </a:r>
            </a:p>
          </p:txBody>
        </p:sp>
        <p:sp>
          <p:nvSpPr>
            <p:cNvPr id="155810" name="Text Box 22"/>
            <p:cNvSpPr txBox="1">
              <a:spLocks noChangeArrowheads="1"/>
            </p:cNvSpPr>
            <p:nvPr/>
          </p:nvSpPr>
          <p:spPr bwMode="auto">
            <a:xfrm>
              <a:off x="480"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/15</a:t>
              </a:r>
            </a:p>
          </p:txBody>
        </p:sp>
        <p:sp>
          <p:nvSpPr>
            <p:cNvPr id="155811" name="Text Box 23"/>
            <p:cNvSpPr txBox="1">
              <a:spLocks noChangeArrowheads="1"/>
            </p:cNvSpPr>
            <p:nvPr/>
          </p:nvSpPr>
          <p:spPr bwMode="auto">
            <a:xfrm>
              <a:off x="1200" y="86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 </a:t>
              </a:r>
              <a:r>
                <a:rPr lang="en-US" sz="1800" b="1"/>
                <a:t>/ 5</a:t>
              </a:r>
            </a:p>
          </p:txBody>
        </p:sp>
        <p:sp>
          <p:nvSpPr>
            <p:cNvPr id="155812" name="Text Box 24"/>
            <p:cNvSpPr txBox="1">
              <a:spLocks noChangeArrowheads="1"/>
            </p:cNvSpPr>
            <p:nvPr/>
          </p:nvSpPr>
          <p:spPr bwMode="auto">
            <a:xfrm>
              <a:off x="1824"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/8</a:t>
              </a:r>
            </a:p>
          </p:txBody>
        </p:sp>
        <p:sp>
          <p:nvSpPr>
            <p:cNvPr id="155813" name="Text Box 25"/>
            <p:cNvSpPr txBox="1">
              <a:spLocks noChangeArrowheads="1"/>
            </p:cNvSpPr>
            <p:nvPr/>
          </p:nvSpPr>
          <p:spPr bwMode="auto">
            <a:xfrm>
              <a:off x="2148" y="129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/7</a:t>
              </a:r>
            </a:p>
          </p:txBody>
        </p:sp>
        <p:sp>
          <p:nvSpPr>
            <p:cNvPr id="155814" name="Text Box 26"/>
            <p:cNvSpPr txBox="1">
              <a:spLocks noChangeArrowheads="1"/>
            </p:cNvSpPr>
            <p:nvPr/>
          </p:nvSpPr>
          <p:spPr bwMode="auto">
            <a:xfrm>
              <a:off x="2064" y="62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/12</a:t>
              </a:r>
            </a:p>
          </p:txBody>
        </p:sp>
        <p:sp>
          <p:nvSpPr>
            <p:cNvPr id="155815" name="Text Box 27"/>
            <p:cNvSpPr txBox="1">
              <a:spLocks noChangeArrowheads="1"/>
            </p:cNvSpPr>
            <p:nvPr/>
          </p:nvSpPr>
          <p:spPr bwMode="auto">
            <a:xfrm>
              <a:off x="1104" y="1392"/>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 / 18</a:t>
              </a:r>
            </a:p>
          </p:txBody>
        </p:sp>
      </p:grpSp>
      <p:grpSp>
        <p:nvGrpSpPr>
          <p:cNvPr id="250908" name="Group 28"/>
          <p:cNvGrpSpPr>
            <a:grpSpLocks/>
          </p:cNvGrpSpPr>
          <p:nvPr/>
        </p:nvGrpSpPr>
        <p:grpSpPr bwMode="auto">
          <a:xfrm>
            <a:off x="152400" y="841375"/>
            <a:ext cx="3892550" cy="1119188"/>
            <a:chOff x="2304" y="1680"/>
            <a:chExt cx="2452" cy="705"/>
          </a:xfrm>
        </p:grpSpPr>
        <p:sp>
          <p:nvSpPr>
            <p:cNvPr id="155785" name="Freeform 29"/>
            <p:cNvSpPr>
              <a:spLocks/>
            </p:cNvSpPr>
            <p:nvPr/>
          </p:nvSpPr>
          <p:spPr bwMode="auto">
            <a:xfrm>
              <a:off x="2400" y="1872"/>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86" name="Line 30"/>
            <p:cNvSpPr>
              <a:spLocks noChangeShapeType="1"/>
            </p:cNvSpPr>
            <p:nvPr/>
          </p:nvSpPr>
          <p:spPr bwMode="auto">
            <a:xfrm>
              <a:off x="3120" y="1776"/>
              <a:ext cx="864" cy="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87" name="Freeform 31"/>
            <p:cNvSpPr>
              <a:spLocks/>
            </p:cNvSpPr>
            <p:nvPr/>
          </p:nvSpPr>
          <p:spPr bwMode="auto">
            <a:xfrm>
              <a:off x="4117" y="1797"/>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88" name="Oval 32"/>
            <p:cNvSpPr>
              <a:spLocks noChangeArrowheads="1"/>
            </p:cNvSpPr>
            <p:nvPr/>
          </p:nvSpPr>
          <p:spPr bwMode="auto">
            <a:xfrm>
              <a:off x="2304" y="216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55789" name="Oval 33"/>
            <p:cNvSpPr>
              <a:spLocks noChangeArrowheads="1"/>
            </p:cNvSpPr>
            <p:nvPr/>
          </p:nvSpPr>
          <p:spPr bwMode="auto">
            <a:xfrm>
              <a:off x="2880" y="1682"/>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a</a:t>
              </a:r>
            </a:p>
          </p:txBody>
        </p:sp>
        <p:sp>
          <p:nvSpPr>
            <p:cNvPr id="155790" name="Oval 34"/>
            <p:cNvSpPr>
              <a:spLocks noChangeArrowheads="1"/>
            </p:cNvSpPr>
            <p:nvPr/>
          </p:nvSpPr>
          <p:spPr bwMode="auto">
            <a:xfrm>
              <a:off x="3984" y="168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c</a:t>
              </a:r>
            </a:p>
          </p:txBody>
        </p:sp>
        <p:sp>
          <p:nvSpPr>
            <p:cNvPr id="155791" name="Oval 35"/>
            <p:cNvSpPr>
              <a:spLocks noChangeArrowheads="1"/>
            </p:cNvSpPr>
            <p:nvPr/>
          </p:nvSpPr>
          <p:spPr bwMode="auto">
            <a:xfrm>
              <a:off x="4512" y="2112"/>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grpSp>
      <p:grpSp>
        <p:nvGrpSpPr>
          <p:cNvPr id="250916" name="Group 36"/>
          <p:cNvGrpSpPr>
            <a:grpSpLocks/>
          </p:cNvGrpSpPr>
          <p:nvPr/>
        </p:nvGrpSpPr>
        <p:grpSpPr bwMode="auto">
          <a:xfrm>
            <a:off x="152400" y="2667000"/>
            <a:ext cx="3892550" cy="2033588"/>
            <a:chOff x="96" y="432"/>
            <a:chExt cx="2452" cy="1281"/>
          </a:xfrm>
        </p:grpSpPr>
        <p:sp>
          <p:nvSpPr>
            <p:cNvPr id="155761" name="Line 37"/>
            <p:cNvSpPr>
              <a:spLocks noChangeShapeType="1"/>
            </p:cNvSpPr>
            <p:nvPr/>
          </p:nvSpPr>
          <p:spPr bwMode="auto">
            <a:xfrm flipV="1">
              <a:off x="1904" y="753"/>
              <a:ext cx="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55762" name="Line 38"/>
            <p:cNvSpPr>
              <a:spLocks noChangeShapeType="1"/>
            </p:cNvSpPr>
            <p:nvPr/>
          </p:nvSpPr>
          <p:spPr bwMode="auto">
            <a:xfrm flipV="1">
              <a:off x="814" y="777"/>
              <a:ext cx="0"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55763" name="Freeform 39"/>
            <p:cNvSpPr>
              <a:spLocks/>
            </p:cNvSpPr>
            <p:nvPr/>
          </p:nvSpPr>
          <p:spPr bwMode="auto">
            <a:xfrm>
              <a:off x="192" y="720"/>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64" name="Line 40"/>
            <p:cNvSpPr>
              <a:spLocks noChangeShapeType="1"/>
            </p:cNvSpPr>
            <p:nvPr/>
          </p:nvSpPr>
          <p:spPr bwMode="auto">
            <a:xfrm>
              <a:off x="912" y="62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65" name="Freeform 41"/>
            <p:cNvSpPr>
              <a:spLocks/>
            </p:cNvSpPr>
            <p:nvPr/>
          </p:nvSpPr>
          <p:spPr bwMode="auto">
            <a:xfrm>
              <a:off x="192" y="1152"/>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66" name="Line 42"/>
            <p:cNvSpPr>
              <a:spLocks noChangeShapeType="1"/>
            </p:cNvSpPr>
            <p:nvPr/>
          </p:nvSpPr>
          <p:spPr bwMode="auto">
            <a:xfrm>
              <a:off x="912" y="158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67" name="Freeform 43"/>
            <p:cNvSpPr>
              <a:spLocks/>
            </p:cNvSpPr>
            <p:nvPr/>
          </p:nvSpPr>
          <p:spPr bwMode="auto">
            <a:xfrm>
              <a:off x="852" y="698"/>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68" name="Freeform 44"/>
            <p:cNvSpPr>
              <a:spLocks/>
            </p:cNvSpPr>
            <p:nvPr/>
          </p:nvSpPr>
          <p:spPr bwMode="auto">
            <a:xfrm>
              <a:off x="1909" y="645"/>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69" name="Freeform 45"/>
            <p:cNvSpPr>
              <a:spLocks/>
            </p:cNvSpPr>
            <p:nvPr/>
          </p:nvSpPr>
          <p:spPr bwMode="auto">
            <a:xfrm>
              <a:off x="1872" y="1152"/>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70" name="Oval 46"/>
            <p:cNvSpPr>
              <a:spLocks noChangeArrowheads="1"/>
            </p:cNvSpPr>
            <p:nvPr/>
          </p:nvSpPr>
          <p:spPr bwMode="auto">
            <a:xfrm>
              <a:off x="672" y="148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b</a:t>
              </a:r>
            </a:p>
          </p:txBody>
        </p:sp>
        <p:sp>
          <p:nvSpPr>
            <p:cNvPr id="155771" name="Oval 47"/>
            <p:cNvSpPr>
              <a:spLocks noChangeArrowheads="1"/>
            </p:cNvSpPr>
            <p:nvPr/>
          </p:nvSpPr>
          <p:spPr bwMode="auto">
            <a:xfrm>
              <a:off x="96" y="100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55772" name="Oval 48"/>
            <p:cNvSpPr>
              <a:spLocks noChangeArrowheads="1"/>
            </p:cNvSpPr>
            <p:nvPr/>
          </p:nvSpPr>
          <p:spPr bwMode="auto">
            <a:xfrm>
              <a:off x="672" y="53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55773" name="Oval 49"/>
            <p:cNvSpPr>
              <a:spLocks noChangeArrowheads="1"/>
            </p:cNvSpPr>
            <p:nvPr/>
          </p:nvSpPr>
          <p:spPr bwMode="auto">
            <a:xfrm>
              <a:off x="1776"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55774" name="Oval 50"/>
            <p:cNvSpPr>
              <a:spLocks noChangeArrowheads="1"/>
            </p:cNvSpPr>
            <p:nvPr/>
          </p:nvSpPr>
          <p:spPr bwMode="auto">
            <a:xfrm>
              <a:off x="1776" y="5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c</a:t>
              </a:r>
            </a:p>
          </p:txBody>
        </p:sp>
        <p:sp>
          <p:nvSpPr>
            <p:cNvPr id="155775" name="Oval 51"/>
            <p:cNvSpPr>
              <a:spLocks noChangeArrowheads="1"/>
            </p:cNvSpPr>
            <p:nvPr/>
          </p:nvSpPr>
          <p:spPr bwMode="auto">
            <a:xfrm>
              <a:off x="2304" y="96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55776" name="Text Box 52"/>
            <p:cNvSpPr txBox="1">
              <a:spLocks noChangeArrowheads="1"/>
            </p:cNvSpPr>
            <p:nvPr/>
          </p:nvSpPr>
          <p:spPr bwMode="auto">
            <a:xfrm>
              <a:off x="96" y="720"/>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 / 15</a:t>
              </a:r>
            </a:p>
          </p:txBody>
        </p:sp>
        <p:sp>
          <p:nvSpPr>
            <p:cNvPr id="155777" name="Text Box 53"/>
            <p:cNvSpPr txBox="1">
              <a:spLocks noChangeArrowheads="1"/>
            </p:cNvSpPr>
            <p:nvPr/>
          </p:nvSpPr>
          <p:spPr bwMode="auto">
            <a:xfrm>
              <a:off x="1152" y="432"/>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 </a:t>
              </a:r>
              <a:r>
                <a:rPr lang="en-US" sz="1800" b="1"/>
                <a:t>/ 4</a:t>
              </a:r>
            </a:p>
          </p:txBody>
        </p:sp>
        <p:sp>
          <p:nvSpPr>
            <p:cNvPr id="155778" name="Text Box 54"/>
            <p:cNvSpPr txBox="1">
              <a:spLocks noChangeArrowheads="1"/>
            </p:cNvSpPr>
            <p:nvPr/>
          </p:nvSpPr>
          <p:spPr bwMode="auto">
            <a:xfrm>
              <a:off x="96" y="134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 / 8</a:t>
              </a:r>
            </a:p>
          </p:txBody>
        </p:sp>
        <p:sp>
          <p:nvSpPr>
            <p:cNvPr id="155779" name="Text Box 55"/>
            <p:cNvSpPr txBox="1">
              <a:spLocks noChangeArrowheads="1"/>
            </p:cNvSpPr>
            <p:nvPr/>
          </p:nvSpPr>
          <p:spPr bwMode="auto">
            <a:xfrm>
              <a:off x="480"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/15</a:t>
              </a:r>
            </a:p>
          </p:txBody>
        </p:sp>
        <p:sp>
          <p:nvSpPr>
            <p:cNvPr id="155780" name="Text Box 56"/>
            <p:cNvSpPr txBox="1">
              <a:spLocks noChangeArrowheads="1"/>
            </p:cNvSpPr>
            <p:nvPr/>
          </p:nvSpPr>
          <p:spPr bwMode="auto">
            <a:xfrm>
              <a:off x="1200" y="86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 </a:t>
              </a:r>
              <a:r>
                <a:rPr lang="en-US" sz="1800" b="1"/>
                <a:t>/ 5</a:t>
              </a:r>
            </a:p>
          </p:txBody>
        </p:sp>
        <p:sp>
          <p:nvSpPr>
            <p:cNvPr id="155781" name="Text Box 57"/>
            <p:cNvSpPr txBox="1">
              <a:spLocks noChangeArrowheads="1"/>
            </p:cNvSpPr>
            <p:nvPr/>
          </p:nvSpPr>
          <p:spPr bwMode="auto">
            <a:xfrm>
              <a:off x="1824"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/8</a:t>
              </a:r>
            </a:p>
          </p:txBody>
        </p:sp>
        <p:sp>
          <p:nvSpPr>
            <p:cNvPr id="155782" name="Text Box 58"/>
            <p:cNvSpPr txBox="1">
              <a:spLocks noChangeArrowheads="1"/>
            </p:cNvSpPr>
            <p:nvPr/>
          </p:nvSpPr>
          <p:spPr bwMode="auto">
            <a:xfrm>
              <a:off x="2148" y="129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/7</a:t>
              </a:r>
            </a:p>
          </p:txBody>
        </p:sp>
        <p:sp>
          <p:nvSpPr>
            <p:cNvPr id="155783" name="Text Box 59"/>
            <p:cNvSpPr txBox="1">
              <a:spLocks noChangeArrowheads="1"/>
            </p:cNvSpPr>
            <p:nvPr/>
          </p:nvSpPr>
          <p:spPr bwMode="auto">
            <a:xfrm>
              <a:off x="2064" y="62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/12</a:t>
              </a:r>
            </a:p>
          </p:txBody>
        </p:sp>
        <p:sp>
          <p:nvSpPr>
            <p:cNvPr id="155784" name="Text Box 60"/>
            <p:cNvSpPr txBox="1">
              <a:spLocks noChangeArrowheads="1"/>
            </p:cNvSpPr>
            <p:nvPr/>
          </p:nvSpPr>
          <p:spPr bwMode="auto">
            <a:xfrm>
              <a:off x="1104" y="1392"/>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 / 18</a:t>
              </a:r>
            </a:p>
          </p:txBody>
        </p:sp>
      </p:grpSp>
      <p:grpSp>
        <p:nvGrpSpPr>
          <p:cNvPr id="250941" name="Group 61"/>
          <p:cNvGrpSpPr>
            <a:grpSpLocks/>
          </p:cNvGrpSpPr>
          <p:nvPr/>
        </p:nvGrpSpPr>
        <p:grpSpPr bwMode="auto">
          <a:xfrm>
            <a:off x="150249" y="3505200"/>
            <a:ext cx="3892550" cy="1195388"/>
            <a:chOff x="3120" y="2208"/>
            <a:chExt cx="2452" cy="753"/>
          </a:xfrm>
        </p:grpSpPr>
        <p:sp>
          <p:nvSpPr>
            <p:cNvPr id="155754" name="Freeform 62"/>
            <p:cNvSpPr>
              <a:spLocks/>
            </p:cNvSpPr>
            <p:nvPr/>
          </p:nvSpPr>
          <p:spPr bwMode="auto">
            <a:xfrm>
              <a:off x="3216" y="2400"/>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55" name="Line 63"/>
            <p:cNvSpPr>
              <a:spLocks noChangeShapeType="1"/>
            </p:cNvSpPr>
            <p:nvPr/>
          </p:nvSpPr>
          <p:spPr bwMode="auto">
            <a:xfrm>
              <a:off x="3936" y="2832"/>
              <a:ext cx="864" cy="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56" name="Freeform 64"/>
            <p:cNvSpPr>
              <a:spLocks/>
            </p:cNvSpPr>
            <p:nvPr/>
          </p:nvSpPr>
          <p:spPr bwMode="auto">
            <a:xfrm>
              <a:off x="4896" y="2400"/>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57" name="Oval 65"/>
            <p:cNvSpPr>
              <a:spLocks noChangeArrowheads="1"/>
            </p:cNvSpPr>
            <p:nvPr/>
          </p:nvSpPr>
          <p:spPr bwMode="auto">
            <a:xfrm>
              <a:off x="3696" y="273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55758" name="Oval 66"/>
            <p:cNvSpPr>
              <a:spLocks noChangeArrowheads="1"/>
            </p:cNvSpPr>
            <p:nvPr/>
          </p:nvSpPr>
          <p:spPr bwMode="auto">
            <a:xfrm>
              <a:off x="3120" y="225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55759" name="Oval 67"/>
            <p:cNvSpPr>
              <a:spLocks noChangeArrowheads="1"/>
            </p:cNvSpPr>
            <p:nvPr/>
          </p:nvSpPr>
          <p:spPr bwMode="auto">
            <a:xfrm>
              <a:off x="4800" y="268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55760" name="Oval 68"/>
            <p:cNvSpPr>
              <a:spLocks noChangeArrowheads="1"/>
            </p:cNvSpPr>
            <p:nvPr/>
          </p:nvSpPr>
          <p:spPr bwMode="auto">
            <a:xfrm>
              <a:off x="5328" y="220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grpSp>
      <p:grpSp>
        <p:nvGrpSpPr>
          <p:cNvPr id="250949" name="Group 69"/>
          <p:cNvGrpSpPr>
            <a:grpSpLocks/>
          </p:cNvGrpSpPr>
          <p:nvPr/>
        </p:nvGrpSpPr>
        <p:grpSpPr bwMode="auto">
          <a:xfrm>
            <a:off x="152400" y="4648200"/>
            <a:ext cx="3892550" cy="2033588"/>
            <a:chOff x="96" y="432"/>
            <a:chExt cx="2452" cy="1281"/>
          </a:xfrm>
        </p:grpSpPr>
        <p:sp>
          <p:nvSpPr>
            <p:cNvPr id="155730" name="Line 70"/>
            <p:cNvSpPr>
              <a:spLocks noChangeShapeType="1"/>
            </p:cNvSpPr>
            <p:nvPr/>
          </p:nvSpPr>
          <p:spPr bwMode="auto">
            <a:xfrm flipV="1">
              <a:off x="1897" y="763"/>
              <a:ext cx="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55731" name="Line 71"/>
            <p:cNvSpPr>
              <a:spLocks noChangeShapeType="1"/>
            </p:cNvSpPr>
            <p:nvPr/>
          </p:nvSpPr>
          <p:spPr bwMode="auto">
            <a:xfrm flipV="1">
              <a:off x="816" y="776"/>
              <a:ext cx="0"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55732" name="Freeform 72"/>
            <p:cNvSpPr>
              <a:spLocks/>
            </p:cNvSpPr>
            <p:nvPr/>
          </p:nvSpPr>
          <p:spPr bwMode="auto">
            <a:xfrm>
              <a:off x="192" y="720"/>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33" name="Line 73"/>
            <p:cNvSpPr>
              <a:spLocks noChangeShapeType="1"/>
            </p:cNvSpPr>
            <p:nvPr/>
          </p:nvSpPr>
          <p:spPr bwMode="auto">
            <a:xfrm>
              <a:off x="912" y="62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34" name="Freeform 74"/>
            <p:cNvSpPr>
              <a:spLocks/>
            </p:cNvSpPr>
            <p:nvPr/>
          </p:nvSpPr>
          <p:spPr bwMode="auto">
            <a:xfrm>
              <a:off x="192" y="1152"/>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35" name="Line 75"/>
            <p:cNvSpPr>
              <a:spLocks noChangeShapeType="1"/>
            </p:cNvSpPr>
            <p:nvPr/>
          </p:nvSpPr>
          <p:spPr bwMode="auto">
            <a:xfrm>
              <a:off x="912" y="158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36" name="Freeform 76"/>
            <p:cNvSpPr>
              <a:spLocks/>
            </p:cNvSpPr>
            <p:nvPr/>
          </p:nvSpPr>
          <p:spPr bwMode="auto">
            <a:xfrm>
              <a:off x="846" y="720"/>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37" name="Freeform 77"/>
            <p:cNvSpPr>
              <a:spLocks/>
            </p:cNvSpPr>
            <p:nvPr/>
          </p:nvSpPr>
          <p:spPr bwMode="auto">
            <a:xfrm>
              <a:off x="1909" y="645"/>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38" name="Freeform 78"/>
            <p:cNvSpPr>
              <a:spLocks/>
            </p:cNvSpPr>
            <p:nvPr/>
          </p:nvSpPr>
          <p:spPr bwMode="auto">
            <a:xfrm>
              <a:off x="1872" y="1152"/>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39" name="Oval 79"/>
            <p:cNvSpPr>
              <a:spLocks noChangeArrowheads="1"/>
            </p:cNvSpPr>
            <p:nvPr/>
          </p:nvSpPr>
          <p:spPr bwMode="auto">
            <a:xfrm>
              <a:off x="672" y="148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55740" name="Oval 80"/>
            <p:cNvSpPr>
              <a:spLocks noChangeArrowheads="1"/>
            </p:cNvSpPr>
            <p:nvPr/>
          </p:nvSpPr>
          <p:spPr bwMode="auto">
            <a:xfrm>
              <a:off x="96" y="100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55741" name="Oval 81"/>
            <p:cNvSpPr>
              <a:spLocks noChangeArrowheads="1"/>
            </p:cNvSpPr>
            <p:nvPr/>
          </p:nvSpPr>
          <p:spPr bwMode="auto">
            <a:xfrm>
              <a:off x="672" y="53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55742" name="Oval 82"/>
            <p:cNvSpPr>
              <a:spLocks noChangeArrowheads="1"/>
            </p:cNvSpPr>
            <p:nvPr/>
          </p:nvSpPr>
          <p:spPr bwMode="auto">
            <a:xfrm>
              <a:off x="1776"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55743" name="Oval 83"/>
            <p:cNvSpPr>
              <a:spLocks noChangeArrowheads="1"/>
            </p:cNvSpPr>
            <p:nvPr/>
          </p:nvSpPr>
          <p:spPr bwMode="auto">
            <a:xfrm>
              <a:off x="1776" y="5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c</a:t>
              </a:r>
            </a:p>
          </p:txBody>
        </p:sp>
        <p:sp>
          <p:nvSpPr>
            <p:cNvPr id="155744" name="Oval 84"/>
            <p:cNvSpPr>
              <a:spLocks noChangeArrowheads="1"/>
            </p:cNvSpPr>
            <p:nvPr/>
          </p:nvSpPr>
          <p:spPr bwMode="auto">
            <a:xfrm>
              <a:off x="2304" y="96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55745" name="Text Box 85"/>
            <p:cNvSpPr txBox="1">
              <a:spLocks noChangeArrowheads="1"/>
            </p:cNvSpPr>
            <p:nvPr/>
          </p:nvSpPr>
          <p:spPr bwMode="auto">
            <a:xfrm>
              <a:off x="96" y="720"/>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 / 15</a:t>
              </a:r>
            </a:p>
          </p:txBody>
        </p:sp>
        <p:sp>
          <p:nvSpPr>
            <p:cNvPr id="155746" name="Text Box 86"/>
            <p:cNvSpPr txBox="1">
              <a:spLocks noChangeArrowheads="1"/>
            </p:cNvSpPr>
            <p:nvPr/>
          </p:nvSpPr>
          <p:spPr bwMode="auto">
            <a:xfrm>
              <a:off x="1152" y="432"/>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 </a:t>
              </a:r>
              <a:r>
                <a:rPr lang="en-US" sz="1800" b="1"/>
                <a:t>/ 4</a:t>
              </a:r>
            </a:p>
          </p:txBody>
        </p:sp>
        <p:sp>
          <p:nvSpPr>
            <p:cNvPr id="155747" name="Text Box 87"/>
            <p:cNvSpPr txBox="1">
              <a:spLocks noChangeArrowheads="1"/>
            </p:cNvSpPr>
            <p:nvPr/>
          </p:nvSpPr>
          <p:spPr bwMode="auto">
            <a:xfrm>
              <a:off x="96" y="134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 / 8</a:t>
              </a:r>
            </a:p>
          </p:txBody>
        </p:sp>
        <p:sp>
          <p:nvSpPr>
            <p:cNvPr id="155748" name="Text Box 88"/>
            <p:cNvSpPr txBox="1">
              <a:spLocks noChangeArrowheads="1"/>
            </p:cNvSpPr>
            <p:nvPr/>
          </p:nvSpPr>
          <p:spPr bwMode="auto">
            <a:xfrm>
              <a:off x="480"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/15</a:t>
              </a:r>
            </a:p>
          </p:txBody>
        </p:sp>
        <p:sp>
          <p:nvSpPr>
            <p:cNvPr id="155749" name="Text Box 89"/>
            <p:cNvSpPr txBox="1">
              <a:spLocks noChangeArrowheads="1"/>
            </p:cNvSpPr>
            <p:nvPr/>
          </p:nvSpPr>
          <p:spPr bwMode="auto">
            <a:xfrm>
              <a:off x="1200" y="86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 </a:t>
              </a:r>
              <a:r>
                <a:rPr lang="en-US" sz="1800" b="1"/>
                <a:t>/ 5</a:t>
              </a:r>
            </a:p>
          </p:txBody>
        </p:sp>
        <p:sp>
          <p:nvSpPr>
            <p:cNvPr id="155750" name="Text Box 90"/>
            <p:cNvSpPr txBox="1">
              <a:spLocks noChangeArrowheads="1"/>
            </p:cNvSpPr>
            <p:nvPr/>
          </p:nvSpPr>
          <p:spPr bwMode="auto">
            <a:xfrm>
              <a:off x="1824"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/8</a:t>
              </a:r>
            </a:p>
          </p:txBody>
        </p:sp>
        <p:sp>
          <p:nvSpPr>
            <p:cNvPr id="155751" name="Text Box 91"/>
            <p:cNvSpPr txBox="1">
              <a:spLocks noChangeArrowheads="1"/>
            </p:cNvSpPr>
            <p:nvPr/>
          </p:nvSpPr>
          <p:spPr bwMode="auto">
            <a:xfrm>
              <a:off x="2148" y="129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/7</a:t>
              </a:r>
            </a:p>
          </p:txBody>
        </p:sp>
        <p:sp>
          <p:nvSpPr>
            <p:cNvPr id="155752" name="Text Box 92"/>
            <p:cNvSpPr txBox="1">
              <a:spLocks noChangeArrowheads="1"/>
            </p:cNvSpPr>
            <p:nvPr/>
          </p:nvSpPr>
          <p:spPr bwMode="auto">
            <a:xfrm>
              <a:off x="2064" y="62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a:t>
              </a:r>
              <a:r>
                <a:rPr lang="en-US" sz="1800" b="1"/>
                <a:t>/12</a:t>
              </a:r>
            </a:p>
          </p:txBody>
        </p:sp>
        <p:sp>
          <p:nvSpPr>
            <p:cNvPr id="155753" name="Text Box 93"/>
            <p:cNvSpPr txBox="1">
              <a:spLocks noChangeArrowheads="1"/>
            </p:cNvSpPr>
            <p:nvPr/>
          </p:nvSpPr>
          <p:spPr bwMode="auto">
            <a:xfrm>
              <a:off x="1104" y="1392"/>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 / 18</a:t>
              </a:r>
            </a:p>
          </p:txBody>
        </p:sp>
      </p:grpSp>
      <p:grpSp>
        <p:nvGrpSpPr>
          <p:cNvPr id="250986" name="Group 106"/>
          <p:cNvGrpSpPr>
            <a:grpSpLocks/>
          </p:cNvGrpSpPr>
          <p:nvPr/>
        </p:nvGrpSpPr>
        <p:grpSpPr bwMode="auto">
          <a:xfrm>
            <a:off x="4943475" y="3089275"/>
            <a:ext cx="3892550" cy="2033588"/>
            <a:chOff x="96" y="432"/>
            <a:chExt cx="2452" cy="1281"/>
          </a:xfrm>
        </p:grpSpPr>
        <p:sp>
          <p:nvSpPr>
            <p:cNvPr id="155706" name="Line 107"/>
            <p:cNvSpPr>
              <a:spLocks noChangeShapeType="1"/>
            </p:cNvSpPr>
            <p:nvPr/>
          </p:nvSpPr>
          <p:spPr bwMode="auto">
            <a:xfrm flipV="1">
              <a:off x="1907" y="755"/>
              <a:ext cx="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55707" name="Line 108"/>
            <p:cNvSpPr>
              <a:spLocks noChangeShapeType="1"/>
            </p:cNvSpPr>
            <p:nvPr/>
          </p:nvSpPr>
          <p:spPr bwMode="auto">
            <a:xfrm flipV="1">
              <a:off x="816" y="768"/>
              <a:ext cx="0"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55708" name="Freeform 109"/>
            <p:cNvSpPr>
              <a:spLocks/>
            </p:cNvSpPr>
            <p:nvPr/>
          </p:nvSpPr>
          <p:spPr bwMode="auto">
            <a:xfrm>
              <a:off x="192" y="720"/>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09" name="Line 110"/>
            <p:cNvSpPr>
              <a:spLocks noChangeShapeType="1"/>
            </p:cNvSpPr>
            <p:nvPr/>
          </p:nvSpPr>
          <p:spPr bwMode="auto">
            <a:xfrm>
              <a:off x="912" y="62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10" name="Freeform 111"/>
            <p:cNvSpPr>
              <a:spLocks/>
            </p:cNvSpPr>
            <p:nvPr/>
          </p:nvSpPr>
          <p:spPr bwMode="auto">
            <a:xfrm>
              <a:off x="192" y="1152"/>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11" name="Line 112"/>
            <p:cNvSpPr>
              <a:spLocks noChangeShapeType="1"/>
            </p:cNvSpPr>
            <p:nvPr/>
          </p:nvSpPr>
          <p:spPr bwMode="auto">
            <a:xfrm>
              <a:off x="912" y="158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12" name="Freeform 113"/>
            <p:cNvSpPr>
              <a:spLocks/>
            </p:cNvSpPr>
            <p:nvPr/>
          </p:nvSpPr>
          <p:spPr bwMode="auto">
            <a:xfrm>
              <a:off x="842" y="698"/>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13" name="Freeform 114"/>
            <p:cNvSpPr>
              <a:spLocks/>
            </p:cNvSpPr>
            <p:nvPr/>
          </p:nvSpPr>
          <p:spPr bwMode="auto">
            <a:xfrm>
              <a:off x="1909" y="645"/>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14" name="Freeform 115"/>
            <p:cNvSpPr>
              <a:spLocks/>
            </p:cNvSpPr>
            <p:nvPr/>
          </p:nvSpPr>
          <p:spPr bwMode="auto">
            <a:xfrm>
              <a:off x="1872" y="1152"/>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715" name="Oval 116"/>
            <p:cNvSpPr>
              <a:spLocks noChangeArrowheads="1"/>
            </p:cNvSpPr>
            <p:nvPr/>
          </p:nvSpPr>
          <p:spPr bwMode="auto">
            <a:xfrm>
              <a:off x="672" y="148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55716" name="Oval 117"/>
            <p:cNvSpPr>
              <a:spLocks noChangeArrowheads="1"/>
            </p:cNvSpPr>
            <p:nvPr/>
          </p:nvSpPr>
          <p:spPr bwMode="auto">
            <a:xfrm>
              <a:off x="96" y="100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55717" name="Oval 118"/>
            <p:cNvSpPr>
              <a:spLocks noChangeArrowheads="1"/>
            </p:cNvSpPr>
            <p:nvPr/>
          </p:nvSpPr>
          <p:spPr bwMode="auto">
            <a:xfrm>
              <a:off x="672" y="53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55718" name="Oval 119"/>
            <p:cNvSpPr>
              <a:spLocks noChangeArrowheads="1"/>
            </p:cNvSpPr>
            <p:nvPr/>
          </p:nvSpPr>
          <p:spPr bwMode="auto">
            <a:xfrm>
              <a:off x="1776"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55719" name="Oval 120"/>
            <p:cNvSpPr>
              <a:spLocks noChangeArrowheads="1"/>
            </p:cNvSpPr>
            <p:nvPr/>
          </p:nvSpPr>
          <p:spPr bwMode="auto">
            <a:xfrm>
              <a:off x="1776" y="5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c</a:t>
              </a:r>
            </a:p>
          </p:txBody>
        </p:sp>
        <p:sp>
          <p:nvSpPr>
            <p:cNvPr id="155720" name="Oval 121"/>
            <p:cNvSpPr>
              <a:spLocks noChangeArrowheads="1"/>
            </p:cNvSpPr>
            <p:nvPr/>
          </p:nvSpPr>
          <p:spPr bwMode="auto">
            <a:xfrm>
              <a:off x="2304" y="96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55721" name="Text Box 122"/>
            <p:cNvSpPr txBox="1">
              <a:spLocks noChangeArrowheads="1"/>
            </p:cNvSpPr>
            <p:nvPr/>
          </p:nvSpPr>
          <p:spPr bwMode="auto">
            <a:xfrm>
              <a:off x="96" y="720"/>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9</a:t>
              </a:r>
              <a:r>
                <a:rPr lang="en-US" sz="1800" b="1"/>
                <a:t> / 15</a:t>
              </a:r>
            </a:p>
          </p:txBody>
        </p:sp>
        <p:sp>
          <p:nvSpPr>
            <p:cNvPr id="155722" name="Text Box 123"/>
            <p:cNvSpPr txBox="1">
              <a:spLocks noChangeArrowheads="1"/>
            </p:cNvSpPr>
            <p:nvPr/>
          </p:nvSpPr>
          <p:spPr bwMode="auto">
            <a:xfrm>
              <a:off x="1152" y="432"/>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 </a:t>
              </a:r>
              <a:r>
                <a:rPr lang="en-US" sz="1800" b="1"/>
                <a:t>/ 4</a:t>
              </a:r>
            </a:p>
          </p:txBody>
        </p:sp>
        <p:sp>
          <p:nvSpPr>
            <p:cNvPr id="155723" name="Text Box 124"/>
            <p:cNvSpPr txBox="1">
              <a:spLocks noChangeArrowheads="1"/>
            </p:cNvSpPr>
            <p:nvPr/>
          </p:nvSpPr>
          <p:spPr bwMode="auto">
            <a:xfrm>
              <a:off x="96" y="134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8</a:t>
              </a:r>
              <a:r>
                <a:rPr lang="en-US" sz="1800" b="1"/>
                <a:t> / 8</a:t>
              </a:r>
            </a:p>
          </p:txBody>
        </p:sp>
        <p:sp>
          <p:nvSpPr>
            <p:cNvPr id="155724" name="Text Box 125"/>
            <p:cNvSpPr txBox="1">
              <a:spLocks noChangeArrowheads="1"/>
            </p:cNvSpPr>
            <p:nvPr/>
          </p:nvSpPr>
          <p:spPr bwMode="auto">
            <a:xfrm>
              <a:off x="480"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/15</a:t>
              </a:r>
            </a:p>
          </p:txBody>
        </p:sp>
        <p:sp>
          <p:nvSpPr>
            <p:cNvPr id="155725" name="Text Box 126"/>
            <p:cNvSpPr txBox="1">
              <a:spLocks noChangeArrowheads="1"/>
            </p:cNvSpPr>
            <p:nvPr/>
          </p:nvSpPr>
          <p:spPr bwMode="auto">
            <a:xfrm>
              <a:off x="1200" y="86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 </a:t>
              </a:r>
              <a:r>
                <a:rPr lang="en-US" sz="1800" b="1"/>
                <a:t>/ 5</a:t>
              </a:r>
            </a:p>
          </p:txBody>
        </p:sp>
        <p:sp>
          <p:nvSpPr>
            <p:cNvPr id="155726" name="Text Box 127"/>
            <p:cNvSpPr txBox="1">
              <a:spLocks noChangeArrowheads="1"/>
            </p:cNvSpPr>
            <p:nvPr/>
          </p:nvSpPr>
          <p:spPr bwMode="auto">
            <a:xfrm>
              <a:off x="1824"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6</a:t>
              </a:r>
              <a:r>
                <a:rPr lang="en-US" sz="1800" b="1"/>
                <a:t>/8</a:t>
              </a:r>
            </a:p>
          </p:txBody>
        </p:sp>
        <p:sp>
          <p:nvSpPr>
            <p:cNvPr id="155727" name="Text Box 128"/>
            <p:cNvSpPr txBox="1">
              <a:spLocks noChangeArrowheads="1"/>
            </p:cNvSpPr>
            <p:nvPr/>
          </p:nvSpPr>
          <p:spPr bwMode="auto">
            <a:xfrm>
              <a:off x="2148" y="129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/7</a:t>
              </a:r>
            </a:p>
          </p:txBody>
        </p:sp>
        <p:sp>
          <p:nvSpPr>
            <p:cNvPr id="155728" name="Text Box 129"/>
            <p:cNvSpPr txBox="1">
              <a:spLocks noChangeArrowheads="1"/>
            </p:cNvSpPr>
            <p:nvPr/>
          </p:nvSpPr>
          <p:spPr bwMode="auto">
            <a:xfrm>
              <a:off x="2028" y="624"/>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10</a:t>
              </a:r>
              <a:r>
                <a:rPr lang="en-US" sz="1800" b="1"/>
                <a:t>/12</a:t>
              </a:r>
            </a:p>
          </p:txBody>
        </p:sp>
        <p:sp>
          <p:nvSpPr>
            <p:cNvPr id="155729" name="Text Box 130"/>
            <p:cNvSpPr txBox="1">
              <a:spLocks noChangeArrowheads="1"/>
            </p:cNvSpPr>
            <p:nvPr/>
          </p:nvSpPr>
          <p:spPr bwMode="auto">
            <a:xfrm>
              <a:off x="1104" y="1392"/>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8</a:t>
              </a:r>
              <a:r>
                <a:rPr lang="en-US" sz="1800" b="1"/>
                <a:t> / 18</a:t>
              </a:r>
            </a:p>
          </p:txBody>
        </p:sp>
      </p:grpSp>
      <p:grpSp>
        <p:nvGrpSpPr>
          <p:cNvPr id="251048" name="Group 168"/>
          <p:cNvGrpSpPr>
            <a:grpSpLocks/>
          </p:cNvGrpSpPr>
          <p:nvPr/>
        </p:nvGrpSpPr>
        <p:grpSpPr bwMode="auto">
          <a:xfrm>
            <a:off x="4953000" y="685800"/>
            <a:ext cx="3892550" cy="2033588"/>
            <a:chOff x="96" y="432"/>
            <a:chExt cx="2452" cy="1281"/>
          </a:xfrm>
        </p:grpSpPr>
        <p:sp>
          <p:nvSpPr>
            <p:cNvPr id="155682" name="Line 169"/>
            <p:cNvSpPr>
              <a:spLocks noChangeShapeType="1"/>
            </p:cNvSpPr>
            <p:nvPr/>
          </p:nvSpPr>
          <p:spPr bwMode="auto">
            <a:xfrm flipV="1">
              <a:off x="1898" y="751"/>
              <a:ext cx="0" cy="8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55683" name="Line 170"/>
            <p:cNvSpPr>
              <a:spLocks noChangeShapeType="1"/>
            </p:cNvSpPr>
            <p:nvPr/>
          </p:nvSpPr>
          <p:spPr bwMode="auto">
            <a:xfrm flipV="1">
              <a:off x="816" y="763"/>
              <a:ext cx="0" cy="86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55684" name="Freeform 171"/>
            <p:cNvSpPr>
              <a:spLocks/>
            </p:cNvSpPr>
            <p:nvPr/>
          </p:nvSpPr>
          <p:spPr bwMode="auto">
            <a:xfrm>
              <a:off x="192" y="720"/>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685" name="Line 172"/>
            <p:cNvSpPr>
              <a:spLocks noChangeShapeType="1"/>
            </p:cNvSpPr>
            <p:nvPr/>
          </p:nvSpPr>
          <p:spPr bwMode="auto">
            <a:xfrm>
              <a:off x="912" y="62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686" name="Freeform 173"/>
            <p:cNvSpPr>
              <a:spLocks/>
            </p:cNvSpPr>
            <p:nvPr/>
          </p:nvSpPr>
          <p:spPr bwMode="auto">
            <a:xfrm>
              <a:off x="192" y="1152"/>
              <a:ext cx="480" cy="432"/>
            </a:xfrm>
            <a:custGeom>
              <a:avLst/>
              <a:gdLst>
                <a:gd name="T0" fmla="*/ 0 w 630"/>
                <a:gd name="T1" fmla="*/ 0 h 671"/>
                <a:gd name="T2" fmla="*/ 480 w 630"/>
                <a:gd name="T3" fmla="*/ 432 h 671"/>
                <a:gd name="T4" fmla="*/ 0 60000 65536"/>
                <a:gd name="T5" fmla="*/ 0 60000 65536"/>
              </a:gdLst>
              <a:ahLst/>
              <a:cxnLst>
                <a:cxn ang="T4">
                  <a:pos x="T0" y="T1"/>
                </a:cxn>
                <a:cxn ang="T5">
                  <a:pos x="T2" y="T3"/>
                </a:cxn>
              </a:cxnLst>
              <a:rect l="0" t="0" r="r" b="b"/>
              <a:pathLst>
                <a:path w="630" h="671">
                  <a:moveTo>
                    <a:pt x="0" y="0"/>
                  </a:moveTo>
                  <a:lnTo>
                    <a:pt x="630" y="67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687" name="Line 174"/>
            <p:cNvSpPr>
              <a:spLocks noChangeShapeType="1"/>
            </p:cNvSpPr>
            <p:nvPr/>
          </p:nvSpPr>
          <p:spPr bwMode="auto">
            <a:xfrm>
              <a:off x="912" y="1584"/>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688" name="Freeform 175"/>
            <p:cNvSpPr>
              <a:spLocks/>
            </p:cNvSpPr>
            <p:nvPr/>
          </p:nvSpPr>
          <p:spPr bwMode="auto">
            <a:xfrm>
              <a:off x="836" y="713"/>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689" name="Freeform 176"/>
            <p:cNvSpPr>
              <a:spLocks/>
            </p:cNvSpPr>
            <p:nvPr/>
          </p:nvSpPr>
          <p:spPr bwMode="auto">
            <a:xfrm>
              <a:off x="1909" y="645"/>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690" name="Freeform 177"/>
            <p:cNvSpPr>
              <a:spLocks/>
            </p:cNvSpPr>
            <p:nvPr/>
          </p:nvSpPr>
          <p:spPr bwMode="auto">
            <a:xfrm>
              <a:off x="1872" y="1152"/>
              <a:ext cx="480" cy="432"/>
            </a:xfrm>
            <a:custGeom>
              <a:avLst/>
              <a:gdLst>
                <a:gd name="T0" fmla="*/ 0 w 719"/>
                <a:gd name="T1" fmla="*/ 432 h 677"/>
                <a:gd name="T2" fmla="*/ 480 w 719"/>
                <a:gd name="T3" fmla="*/ 0 h 677"/>
                <a:gd name="T4" fmla="*/ 0 60000 65536"/>
                <a:gd name="T5" fmla="*/ 0 60000 65536"/>
              </a:gdLst>
              <a:ahLst/>
              <a:cxnLst>
                <a:cxn ang="T4">
                  <a:pos x="T0" y="T1"/>
                </a:cxn>
                <a:cxn ang="T5">
                  <a:pos x="T2" y="T3"/>
                </a:cxn>
              </a:cxnLst>
              <a:rect l="0" t="0" r="r" b="b"/>
              <a:pathLst>
                <a:path w="719" h="677">
                  <a:moveTo>
                    <a:pt x="0" y="677"/>
                  </a:moveTo>
                  <a:lnTo>
                    <a:pt x="719" y="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691" name="Oval 178"/>
            <p:cNvSpPr>
              <a:spLocks noChangeArrowheads="1"/>
            </p:cNvSpPr>
            <p:nvPr/>
          </p:nvSpPr>
          <p:spPr bwMode="auto">
            <a:xfrm>
              <a:off x="672" y="148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55692" name="Oval 179"/>
            <p:cNvSpPr>
              <a:spLocks noChangeArrowheads="1"/>
            </p:cNvSpPr>
            <p:nvPr/>
          </p:nvSpPr>
          <p:spPr bwMode="auto">
            <a:xfrm>
              <a:off x="96" y="100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s</a:t>
              </a:r>
            </a:p>
          </p:txBody>
        </p:sp>
        <p:sp>
          <p:nvSpPr>
            <p:cNvPr id="155693" name="Oval 180"/>
            <p:cNvSpPr>
              <a:spLocks noChangeArrowheads="1"/>
            </p:cNvSpPr>
            <p:nvPr/>
          </p:nvSpPr>
          <p:spPr bwMode="auto">
            <a:xfrm>
              <a:off x="672" y="53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a</a:t>
              </a:r>
            </a:p>
          </p:txBody>
        </p:sp>
        <p:sp>
          <p:nvSpPr>
            <p:cNvPr id="155694" name="Oval 181"/>
            <p:cNvSpPr>
              <a:spLocks noChangeArrowheads="1"/>
            </p:cNvSpPr>
            <p:nvPr/>
          </p:nvSpPr>
          <p:spPr bwMode="auto">
            <a:xfrm>
              <a:off x="1776"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55695" name="Oval 182"/>
            <p:cNvSpPr>
              <a:spLocks noChangeArrowheads="1"/>
            </p:cNvSpPr>
            <p:nvPr/>
          </p:nvSpPr>
          <p:spPr bwMode="auto">
            <a:xfrm>
              <a:off x="1776" y="5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c</a:t>
              </a:r>
            </a:p>
          </p:txBody>
        </p:sp>
        <p:sp>
          <p:nvSpPr>
            <p:cNvPr id="155696" name="Oval 183"/>
            <p:cNvSpPr>
              <a:spLocks noChangeArrowheads="1"/>
            </p:cNvSpPr>
            <p:nvPr/>
          </p:nvSpPr>
          <p:spPr bwMode="auto">
            <a:xfrm>
              <a:off x="2304" y="96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sp>
          <p:nvSpPr>
            <p:cNvPr id="155697" name="Text Box 184"/>
            <p:cNvSpPr txBox="1">
              <a:spLocks noChangeArrowheads="1"/>
            </p:cNvSpPr>
            <p:nvPr/>
          </p:nvSpPr>
          <p:spPr bwMode="auto">
            <a:xfrm>
              <a:off x="96" y="720"/>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9</a:t>
              </a:r>
              <a:r>
                <a:rPr lang="en-US" sz="1800" b="1"/>
                <a:t> / 15</a:t>
              </a:r>
            </a:p>
          </p:txBody>
        </p:sp>
        <p:sp>
          <p:nvSpPr>
            <p:cNvPr id="155698" name="Text Box 185"/>
            <p:cNvSpPr txBox="1">
              <a:spLocks noChangeArrowheads="1"/>
            </p:cNvSpPr>
            <p:nvPr/>
          </p:nvSpPr>
          <p:spPr bwMode="auto">
            <a:xfrm>
              <a:off x="1152" y="432"/>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4 </a:t>
              </a:r>
              <a:r>
                <a:rPr lang="en-US" sz="1800" b="1"/>
                <a:t>/ 4</a:t>
              </a:r>
            </a:p>
          </p:txBody>
        </p:sp>
        <p:sp>
          <p:nvSpPr>
            <p:cNvPr id="155699" name="Text Box 186"/>
            <p:cNvSpPr txBox="1">
              <a:spLocks noChangeArrowheads="1"/>
            </p:cNvSpPr>
            <p:nvPr/>
          </p:nvSpPr>
          <p:spPr bwMode="auto">
            <a:xfrm>
              <a:off x="96" y="134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 / 8</a:t>
              </a:r>
            </a:p>
          </p:txBody>
        </p:sp>
        <p:sp>
          <p:nvSpPr>
            <p:cNvPr id="155700" name="Text Box 187"/>
            <p:cNvSpPr txBox="1">
              <a:spLocks noChangeArrowheads="1"/>
            </p:cNvSpPr>
            <p:nvPr/>
          </p:nvSpPr>
          <p:spPr bwMode="auto">
            <a:xfrm>
              <a:off x="480"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0</a:t>
              </a:r>
              <a:r>
                <a:rPr lang="en-US" sz="1800" b="1"/>
                <a:t>/15</a:t>
              </a:r>
            </a:p>
          </p:txBody>
        </p:sp>
        <p:sp>
          <p:nvSpPr>
            <p:cNvPr id="155701" name="Text Box 188"/>
            <p:cNvSpPr txBox="1">
              <a:spLocks noChangeArrowheads="1"/>
            </p:cNvSpPr>
            <p:nvPr/>
          </p:nvSpPr>
          <p:spPr bwMode="auto">
            <a:xfrm>
              <a:off x="1200" y="86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 </a:t>
              </a:r>
              <a:r>
                <a:rPr lang="en-US" sz="1800" b="1"/>
                <a:t>/ 5</a:t>
              </a:r>
            </a:p>
          </p:txBody>
        </p:sp>
        <p:sp>
          <p:nvSpPr>
            <p:cNvPr id="155702" name="Text Box 189"/>
            <p:cNvSpPr txBox="1">
              <a:spLocks noChangeArrowheads="1"/>
            </p:cNvSpPr>
            <p:nvPr/>
          </p:nvSpPr>
          <p:spPr bwMode="auto">
            <a:xfrm>
              <a:off x="1824" y="1008"/>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5</a:t>
              </a:r>
              <a:r>
                <a:rPr lang="en-US" sz="1800" b="1"/>
                <a:t>/8</a:t>
              </a:r>
            </a:p>
          </p:txBody>
        </p:sp>
        <p:sp>
          <p:nvSpPr>
            <p:cNvPr id="155703" name="Text Box 190"/>
            <p:cNvSpPr txBox="1">
              <a:spLocks noChangeArrowheads="1"/>
            </p:cNvSpPr>
            <p:nvPr/>
          </p:nvSpPr>
          <p:spPr bwMode="auto">
            <a:xfrm>
              <a:off x="2148" y="1296"/>
              <a:ext cx="300"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/7</a:t>
              </a:r>
            </a:p>
          </p:txBody>
        </p:sp>
        <p:sp>
          <p:nvSpPr>
            <p:cNvPr id="155704" name="Text Box 191"/>
            <p:cNvSpPr txBox="1">
              <a:spLocks noChangeArrowheads="1"/>
            </p:cNvSpPr>
            <p:nvPr/>
          </p:nvSpPr>
          <p:spPr bwMode="auto">
            <a:xfrm>
              <a:off x="2064" y="624"/>
              <a:ext cx="372"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9</a:t>
              </a:r>
              <a:r>
                <a:rPr lang="en-US" sz="1800" b="1"/>
                <a:t>/12</a:t>
              </a:r>
            </a:p>
          </p:txBody>
        </p:sp>
        <p:sp>
          <p:nvSpPr>
            <p:cNvPr id="155705" name="Text Box 192"/>
            <p:cNvSpPr txBox="1">
              <a:spLocks noChangeArrowheads="1"/>
            </p:cNvSpPr>
            <p:nvPr/>
          </p:nvSpPr>
          <p:spPr bwMode="auto">
            <a:xfrm>
              <a:off x="1104" y="1392"/>
              <a:ext cx="444" cy="20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1800" b="1">
                  <a:solidFill>
                    <a:srgbClr val="CC0000"/>
                  </a:solidFill>
                </a:rPr>
                <a:t>7</a:t>
              </a:r>
              <a:r>
                <a:rPr lang="en-US" sz="1800" b="1"/>
                <a:t> / 18</a:t>
              </a:r>
            </a:p>
          </p:txBody>
        </p:sp>
      </p:grpSp>
      <p:grpSp>
        <p:nvGrpSpPr>
          <p:cNvPr id="251073" name="Group 193"/>
          <p:cNvGrpSpPr>
            <a:grpSpLocks/>
          </p:cNvGrpSpPr>
          <p:nvPr/>
        </p:nvGrpSpPr>
        <p:grpSpPr bwMode="auto">
          <a:xfrm>
            <a:off x="156497" y="4800600"/>
            <a:ext cx="3892550" cy="1881188"/>
            <a:chOff x="96" y="3024"/>
            <a:chExt cx="2452" cy="1185"/>
          </a:xfrm>
        </p:grpSpPr>
        <p:sp>
          <p:nvSpPr>
            <p:cNvPr id="155672" name="Freeform 194"/>
            <p:cNvSpPr>
              <a:spLocks/>
            </p:cNvSpPr>
            <p:nvPr/>
          </p:nvSpPr>
          <p:spPr bwMode="auto">
            <a:xfrm>
              <a:off x="192" y="3216"/>
              <a:ext cx="528" cy="384"/>
            </a:xfrm>
            <a:custGeom>
              <a:avLst/>
              <a:gdLst>
                <a:gd name="T0" fmla="*/ 0 w 643"/>
                <a:gd name="T1" fmla="*/ 384 h 583"/>
                <a:gd name="T2" fmla="*/ 528 w 643"/>
                <a:gd name="T3" fmla="*/ 0 h 583"/>
                <a:gd name="T4" fmla="*/ 0 60000 65536"/>
                <a:gd name="T5" fmla="*/ 0 60000 65536"/>
              </a:gdLst>
              <a:ahLst/>
              <a:cxnLst>
                <a:cxn ang="T4">
                  <a:pos x="T0" y="T1"/>
                </a:cxn>
                <a:cxn ang="T5">
                  <a:pos x="T2" y="T3"/>
                </a:cxn>
              </a:cxnLst>
              <a:rect l="0" t="0" r="r" b="b"/>
              <a:pathLst>
                <a:path w="643" h="583">
                  <a:moveTo>
                    <a:pt x="0" y="583"/>
                  </a:moveTo>
                  <a:lnTo>
                    <a:pt x="643" y="0"/>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673" name="Line 195"/>
            <p:cNvSpPr>
              <a:spLocks noChangeShapeType="1"/>
            </p:cNvSpPr>
            <p:nvPr/>
          </p:nvSpPr>
          <p:spPr bwMode="auto">
            <a:xfrm flipV="1">
              <a:off x="1890" y="3233"/>
              <a:ext cx="0" cy="816"/>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55674" name="Freeform 196"/>
            <p:cNvSpPr>
              <a:spLocks/>
            </p:cNvSpPr>
            <p:nvPr/>
          </p:nvSpPr>
          <p:spPr bwMode="auto">
            <a:xfrm>
              <a:off x="864" y="3216"/>
              <a:ext cx="960" cy="768"/>
            </a:xfrm>
            <a:custGeom>
              <a:avLst/>
              <a:gdLst>
                <a:gd name="T0" fmla="*/ 0 w 1334"/>
                <a:gd name="T1" fmla="*/ 0 h 1281"/>
                <a:gd name="T2" fmla="*/ 960 w 1334"/>
                <a:gd name="T3" fmla="*/ 768 h 1281"/>
                <a:gd name="T4" fmla="*/ 0 60000 65536"/>
                <a:gd name="T5" fmla="*/ 0 60000 65536"/>
              </a:gdLst>
              <a:ahLst/>
              <a:cxnLst>
                <a:cxn ang="T4">
                  <a:pos x="T0" y="T1"/>
                </a:cxn>
                <a:cxn ang="T5">
                  <a:pos x="T2" y="T3"/>
                </a:cxn>
              </a:cxnLst>
              <a:rect l="0" t="0" r="r" b="b"/>
              <a:pathLst>
                <a:path w="1334" h="1281">
                  <a:moveTo>
                    <a:pt x="0" y="0"/>
                  </a:moveTo>
                  <a:lnTo>
                    <a:pt x="1334" y="1281"/>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675" name="Freeform 197"/>
            <p:cNvSpPr>
              <a:spLocks/>
            </p:cNvSpPr>
            <p:nvPr/>
          </p:nvSpPr>
          <p:spPr bwMode="auto">
            <a:xfrm>
              <a:off x="1909" y="3141"/>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676" name="Oval 198"/>
            <p:cNvSpPr>
              <a:spLocks noChangeArrowheads="1"/>
            </p:cNvSpPr>
            <p:nvPr/>
          </p:nvSpPr>
          <p:spPr bwMode="auto">
            <a:xfrm>
              <a:off x="672" y="398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b</a:t>
              </a:r>
            </a:p>
          </p:txBody>
        </p:sp>
        <p:sp>
          <p:nvSpPr>
            <p:cNvPr id="155677" name="Oval 199"/>
            <p:cNvSpPr>
              <a:spLocks noChangeArrowheads="1"/>
            </p:cNvSpPr>
            <p:nvPr/>
          </p:nvSpPr>
          <p:spPr bwMode="auto">
            <a:xfrm>
              <a:off x="96" y="350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55678" name="Oval 200"/>
            <p:cNvSpPr>
              <a:spLocks noChangeArrowheads="1"/>
            </p:cNvSpPr>
            <p:nvPr/>
          </p:nvSpPr>
          <p:spPr bwMode="auto">
            <a:xfrm>
              <a:off x="672" y="302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55679" name="Oval 201"/>
            <p:cNvSpPr>
              <a:spLocks noChangeArrowheads="1"/>
            </p:cNvSpPr>
            <p:nvPr/>
          </p:nvSpPr>
          <p:spPr bwMode="auto">
            <a:xfrm>
              <a:off x="1776" y="393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55680" name="Oval 202"/>
            <p:cNvSpPr>
              <a:spLocks noChangeArrowheads="1"/>
            </p:cNvSpPr>
            <p:nvPr/>
          </p:nvSpPr>
          <p:spPr bwMode="auto">
            <a:xfrm>
              <a:off x="1776" y="302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c</a:t>
              </a:r>
            </a:p>
          </p:txBody>
        </p:sp>
        <p:sp>
          <p:nvSpPr>
            <p:cNvPr id="155681" name="Oval 203"/>
            <p:cNvSpPr>
              <a:spLocks noChangeArrowheads="1"/>
            </p:cNvSpPr>
            <p:nvPr/>
          </p:nvSpPr>
          <p:spPr bwMode="auto">
            <a:xfrm>
              <a:off x="2304" y="345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t</a:t>
              </a:r>
            </a:p>
          </p:txBody>
        </p:sp>
      </p:grpSp>
      <p:grpSp>
        <p:nvGrpSpPr>
          <p:cNvPr id="251117" name="Group 237"/>
          <p:cNvGrpSpPr>
            <a:grpSpLocks/>
          </p:cNvGrpSpPr>
          <p:nvPr/>
        </p:nvGrpSpPr>
        <p:grpSpPr bwMode="auto">
          <a:xfrm>
            <a:off x="4953000" y="838800"/>
            <a:ext cx="3892550" cy="1881188"/>
            <a:chOff x="2208" y="1584"/>
            <a:chExt cx="2452" cy="1185"/>
          </a:xfrm>
        </p:grpSpPr>
        <p:sp>
          <p:nvSpPr>
            <p:cNvPr id="155662" name="Line 238"/>
            <p:cNvSpPr>
              <a:spLocks noChangeShapeType="1"/>
            </p:cNvSpPr>
            <p:nvPr/>
          </p:nvSpPr>
          <p:spPr bwMode="auto">
            <a:xfrm flipV="1">
              <a:off x="4010" y="1787"/>
              <a:ext cx="0" cy="816"/>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55663" name="Freeform 239"/>
            <p:cNvSpPr>
              <a:spLocks/>
            </p:cNvSpPr>
            <p:nvPr/>
          </p:nvSpPr>
          <p:spPr bwMode="auto">
            <a:xfrm>
              <a:off x="2318" y="2216"/>
              <a:ext cx="487" cy="434"/>
            </a:xfrm>
            <a:custGeom>
              <a:avLst/>
              <a:gdLst>
                <a:gd name="T0" fmla="*/ 0 w 487"/>
                <a:gd name="T1" fmla="*/ 0 h 434"/>
                <a:gd name="T2" fmla="*/ 487 w 487"/>
                <a:gd name="T3" fmla="*/ 434 h 434"/>
                <a:gd name="T4" fmla="*/ 0 60000 65536"/>
                <a:gd name="T5" fmla="*/ 0 60000 65536"/>
              </a:gdLst>
              <a:ahLst/>
              <a:cxnLst>
                <a:cxn ang="T4">
                  <a:pos x="T0" y="T1"/>
                </a:cxn>
                <a:cxn ang="T5">
                  <a:pos x="T2" y="T3"/>
                </a:cxn>
              </a:cxnLst>
              <a:rect l="0" t="0" r="r" b="b"/>
              <a:pathLst>
                <a:path w="487" h="434">
                  <a:moveTo>
                    <a:pt x="0" y="0"/>
                  </a:moveTo>
                  <a:lnTo>
                    <a:pt x="487" y="434"/>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664" name="Line 240"/>
            <p:cNvSpPr>
              <a:spLocks noChangeShapeType="1"/>
            </p:cNvSpPr>
            <p:nvPr/>
          </p:nvSpPr>
          <p:spPr bwMode="auto">
            <a:xfrm>
              <a:off x="3024" y="2640"/>
              <a:ext cx="864" cy="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665" name="Freeform 241"/>
            <p:cNvSpPr>
              <a:spLocks/>
            </p:cNvSpPr>
            <p:nvPr/>
          </p:nvSpPr>
          <p:spPr bwMode="auto">
            <a:xfrm>
              <a:off x="4021" y="1701"/>
              <a:ext cx="395" cy="363"/>
            </a:xfrm>
            <a:custGeom>
              <a:avLst/>
              <a:gdLst>
                <a:gd name="T0" fmla="*/ 0 w 731"/>
                <a:gd name="T1" fmla="*/ 0 h 603"/>
                <a:gd name="T2" fmla="*/ 395 w 731"/>
                <a:gd name="T3" fmla="*/ 363 h 603"/>
                <a:gd name="T4" fmla="*/ 0 60000 65536"/>
                <a:gd name="T5" fmla="*/ 0 60000 65536"/>
              </a:gdLst>
              <a:ahLst/>
              <a:cxnLst>
                <a:cxn ang="T4">
                  <a:pos x="T0" y="T1"/>
                </a:cxn>
                <a:cxn ang="T5">
                  <a:pos x="T2" y="T3"/>
                </a:cxn>
              </a:cxnLst>
              <a:rect l="0" t="0" r="r" b="b"/>
              <a:pathLst>
                <a:path w="731" h="603">
                  <a:moveTo>
                    <a:pt x="0" y="0"/>
                  </a:moveTo>
                  <a:lnTo>
                    <a:pt x="731" y="603"/>
                  </a:lnTo>
                </a:path>
              </a:pathLst>
            </a:custGeom>
            <a:noFill/>
            <a:ln w="5715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55666" name="Oval 242"/>
            <p:cNvSpPr>
              <a:spLocks noChangeArrowheads="1"/>
            </p:cNvSpPr>
            <p:nvPr/>
          </p:nvSpPr>
          <p:spPr bwMode="auto">
            <a:xfrm>
              <a:off x="2784" y="254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55667" name="Oval 243"/>
            <p:cNvSpPr>
              <a:spLocks noChangeArrowheads="1"/>
            </p:cNvSpPr>
            <p:nvPr/>
          </p:nvSpPr>
          <p:spPr bwMode="auto">
            <a:xfrm>
              <a:off x="2208" y="206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55668" name="Oval 244"/>
            <p:cNvSpPr>
              <a:spLocks noChangeArrowheads="1"/>
            </p:cNvSpPr>
            <p:nvPr/>
          </p:nvSpPr>
          <p:spPr bwMode="auto">
            <a:xfrm>
              <a:off x="2784" y="158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55669" name="Oval 245"/>
            <p:cNvSpPr>
              <a:spLocks noChangeArrowheads="1"/>
            </p:cNvSpPr>
            <p:nvPr/>
          </p:nvSpPr>
          <p:spPr bwMode="auto">
            <a:xfrm>
              <a:off x="3888" y="249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55670" name="Oval 246"/>
            <p:cNvSpPr>
              <a:spLocks noChangeArrowheads="1"/>
            </p:cNvSpPr>
            <p:nvPr/>
          </p:nvSpPr>
          <p:spPr bwMode="auto">
            <a:xfrm>
              <a:off x="3888" y="158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c</a:t>
              </a:r>
            </a:p>
          </p:txBody>
        </p:sp>
        <p:sp>
          <p:nvSpPr>
            <p:cNvPr id="155671" name="Oval 247"/>
            <p:cNvSpPr>
              <a:spLocks noChangeArrowheads="1"/>
            </p:cNvSpPr>
            <p:nvPr/>
          </p:nvSpPr>
          <p:spPr bwMode="auto">
            <a:xfrm>
              <a:off x="4416" y="2016"/>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grpSp>
      <p:sp>
        <p:nvSpPr>
          <p:cNvPr id="3" name="Rectangular Callout 2"/>
          <p:cNvSpPr/>
          <p:nvPr/>
        </p:nvSpPr>
        <p:spPr bwMode="auto">
          <a:xfrm>
            <a:off x="4982079" y="5894388"/>
            <a:ext cx="3218946" cy="830997"/>
          </a:xfrm>
          <a:prstGeom prst="wedgeRectCallout">
            <a:avLst>
              <a:gd name="adj1" fmla="val -11139"/>
              <a:gd name="adj2" fmla="val -90794"/>
            </a:avLst>
          </a:prstGeom>
          <a:solidFill>
            <a:schemeClr val="accent3">
              <a:lumMod val="85000"/>
            </a:schemeClr>
          </a:solidFill>
          <a:ln w="3175" cap="flat" cmpd="sng" algn="ctr">
            <a:solidFill>
              <a:srgbClr val="000066"/>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vert="horz" wrap="square" lIns="91440" tIns="45720" rIns="91440" bIns="45720" numCol="1" rtlCol="0" anchor="t" anchorCtr="0" compatLnSpc="1">
            <a:prstTxWarp prst="textNoShape">
              <a:avLst/>
            </a:prstTxWarp>
            <a:spAutoFit/>
          </a:bodyPr>
          <a:lstStyle/>
          <a:p>
            <a:pPr algn="ctr">
              <a:buNone/>
            </a:pPr>
            <a:r>
              <a:rPr lang="en-CA" b="1" dirty="0" smtClean="0">
                <a:solidFill>
                  <a:schemeClr val="accent2"/>
                </a:solidFill>
              </a:rPr>
              <a:t>Max-Flow &amp; Min-Cut:</a:t>
            </a:r>
          </a:p>
          <a:p>
            <a:pPr algn="ctr">
              <a:buNone/>
            </a:pPr>
            <a:r>
              <a:rPr lang="en-CA" dirty="0" smtClean="0">
                <a:solidFill>
                  <a:schemeClr val="accent2"/>
                </a:solidFill>
              </a:rPr>
              <a:t>Forward </a:t>
            </a:r>
            <a:r>
              <a:rPr lang="en-CA" dirty="0">
                <a:solidFill>
                  <a:schemeClr val="accent2"/>
                </a:solidFill>
              </a:rPr>
              <a:t>cross edges </a:t>
            </a:r>
            <a:r>
              <a:rPr lang="en-CA" dirty="0" smtClean="0">
                <a:solidFill>
                  <a:schemeClr val="accent2"/>
                </a:solidFill>
              </a:rPr>
              <a:t>are saturated</a:t>
            </a:r>
            <a:r>
              <a:rPr lang="en-CA" dirty="0">
                <a:solidFill>
                  <a:schemeClr val="accent2"/>
                </a:solidFill>
              </a:rPr>
              <a:t>.</a:t>
            </a:r>
          </a:p>
          <a:p>
            <a:pPr algn="ctr">
              <a:buNone/>
            </a:pPr>
            <a:r>
              <a:rPr lang="en-CA" dirty="0">
                <a:solidFill>
                  <a:schemeClr val="accent2"/>
                </a:solidFill>
              </a:rPr>
              <a:t>Backward cross edges </a:t>
            </a:r>
            <a:r>
              <a:rPr lang="en-CA" dirty="0" smtClean="0">
                <a:solidFill>
                  <a:schemeClr val="accent2"/>
                </a:solidFill>
              </a:rPr>
              <a:t>are empty.</a:t>
            </a:r>
            <a:endParaRPr kumimoji="0" lang="en-CA" sz="1600" b="0" i="0" u="none" strike="noStrike" cap="none" normalizeH="0" baseline="0" dirty="0" smtClean="0">
              <a:ln>
                <a:noFill/>
              </a:ln>
              <a:solidFill>
                <a:schemeClr val="accent2"/>
              </a:solidFill>
              <a:effectLst/>
            </a:endParaRP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152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50882"/>
                                        </p:tgtEl>
                                        <p:attrNameLst>
                                          <p:attrName>style.visibility</p:attrName>
                                        </p:attrNameLst>
                                      </p:cBhvr>
                                      <p:to>
                                        <p:strVal val="visible"/>
                                      </p:to>
                                    </p:set>
                                    <p:anim calcmode="lin" valueType="num">
                                      <p:cBhvr>
                                        <p:cTn id="7" dur="500" fill="hold"/>
                                        <p:tgtEl>
                                          <p:spTgt spid="250882"/>
                                        </p:tgtEl>
                                        <p:attrNameLst>
                                          <p:attrName>ppt_w</p:attrName>
                                        </p:attrNameLst>
                                      </p:cBhvr>
                                      <p:tavLst>
                                        <p:tav tm="0">
                                          <p:val>
                                            <p:fltVal val="0"/>
                                          </p:val>
                                        </p:tav>
                                        <p:tav tm="100000">
                                          <p:val>
                                            <p:strVal val="#ppt_w"/>
                                          </p:val>
                                        </p:tav>
                                      </p:tavLst>
                                    </p:anim>
                                    <p:anim calcmode="lin" valueType="num">
                                      <p:cBhvr>
                                        <p:cTn id="8" dur="500" fill="hold"/>
                                        <p:tgtEl>
                                          <p:spTgt spid="25088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250883"/>
                                        </p:tgtEl>
                                        <p:attrNameLst>
                                          <p:attrName>style.visibility</p:attrName>
                                        </p:attrNameLst>
                                      </p:cBhvr>
                                      <p:to>
                                        <p:strVal val="visible"/>
                                      </p:to>
                                    </p:set>
                                    <p:animEffect transition="in" filter="wipe(up)">
                                      <p:cBhvr>
                                        <p:cTn id="13" dur="500"/>
                                        <p:tgtEl>
                                          <p:spTgt spid="25088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50908"/>
                                        </p:tgtEl>
                                        <p:attrNameLst>
                                          <p:attrName>style.visibility</p:attrName>
                                        </p:attrNameLst>
                                      </p:cBhvr>
                                      <p:to>
                                        <p:strVal val="visible"/>
                                      </p:to>
                                    </p:set>
                                    <p:animEffect transition="in" filter="wipe(left)">
                                      <p:cBhvr>
                                        <p:cTn id="18" dur="500"/>
                                        <p:tgtEl>
                                          <p:spTgt spid="25090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250916"/>
                                        </p:tgtEl>
                                        <p:attrNameLst>
                                          <p:attrName>style.visibility</p:attrName>
                                        </p:attrNameLst>
                                      </p:cBhvr>
                                      <p:to>
                                        <p:strVal val="visible"/>
                                      </p:to>
                                    </p:set>
                                    <p:animEffect transition="in" filter="wipe(up)">
                                      <p:cBhvr>
                                        <p:cTn id="23" dur="500"/>
                                        <p:tgtEl>
                                          <p:spTgt spid="25091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50941"/>
                                        </p:tgtEl>
                                        <p:attrNameLst>
                                          <p:attrName>style.visibility</p:attrName>
                                        </p:attrNameLst>
                                      </p:cBhvr>
                                      <p:to>
                                        <p:strVal val="visible"/>
                                      </p:to>
                                    </p:set>
                                    <p:animEffect transition="in" filter="wipe(left)">
                                      <p:cBhvr>
                                        <p:cTn id="28" dur="500"/>
                                        <p:tgtEl>
                                          <p:spTgt spid="25094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250949"/>
                                        </p:tgtEl>
                                        <p:attrNameLst>
                                          <p:attrName>style.visibility</p:attrName>
                                        </p:attrNameLst>
                                      </p:cBhvr>
                                      <p:to>
                                        <p:strVal val="visible"/>
                                      </p:to>
                                    </p:set>
                                    <p:animEffect transition="in" filter="wipe(up)">
                                      <p:cBhvr>
                                        <p:cTn id="33" dur="500"/>
                                        <p:tgtEl>
                                          <p:spTgt spid="25094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51073"/>
                                        </p:tgtEl>
                                        <p:attrNameLst>
                                          <p:attrName>style.visibility</p:attrName>
                                        </p:attrNameLst>
                                      </p:cBhvr>
                                      <p:to>
                                        <p:strVal val="visible"/>
                                      </p:to>
                                    </p:set>
                                    <p:animEffect transition="in" filter="wipe(left)">
                                      <p:cBhvr>
                                        <p:cTn id="38" dur="500"/>
                                        <p:tgtEl>
                                          <p:spTgt spid="25107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251048"/>
                                        </p:tgtEl>
                                        <p:attrNameLst>
                                          <p:attrName>style.visibility</p:attrName>
                                        </p:attrNameLst>
                                      </p:cBhvr>
                                      <p:to>
                                        <p:strVal val="visible"/>
                                      </p:to>
                                    </p:set>
                                    <p:animEffect transition="in" filter="wipe(up)">
                                      <p:cBhvr>
                                        <p:cTn id="43" dur="500"/>
                                        <p:tgtEl>
                                          <p:spTgt spid="25104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251117"/>
                                        </p:tgtEl>
                                        <p:attrNameLst>
                                          <p:attrName>style.visibility</p:attrName>
                                        </p:attrNameLst>
                                      </p:cBhvr>
                                      <p:to>
                                        <p:strVal val="visible"/>
                                      </p:to>
                                    </p:set>
                                    <p:animEffect transition="in" filter="wipe(left)">
                                      <p:cBhvr>
                                        <p:cTn id="48" dur="500"/>
                                        <p:tgtEl>
                                          <p:spTgt spid="25111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nodeType="clickEffect">
                                  <p:stCondLst>
                                    <p:cond delay="0"/>
                                  </p:stCondLst>
                                  <p:childTnLst>
                                    <p:set>
                                      <p:cBhvr>
                                        <p:cTn id="52" dur="1" fill="hold">
                                          <p:stCondLst>
                                            <p:cond delay="0"/>
                                          </p:stCondLst>
                                        </p:cTn>
                                        <p:tgtEl>
                                          <p:spTgt spid="250986"/>
                                        </p:tgtEl>
                                        <p:attrNameLst>
                                          <p:attrName>style.visibility</p:attrName>
                                        </p:attrNameLst>
                                      </p:cBhvr>
                                      <p:to>
                                        <p:strVal val="visible"/>
                                      </p:to>
                                    </p:set>
                                    <p:animEffect transition="in" filter="wipe(up)">
                                      <p:cBhvr>
                                        <p:cTn id="53" dur="500"/>
                                        <p:tgtEl>
                                          <p:spTgt spid="25098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51128"/>
                                        </p:tgtEl>
                                        <p:attrNameLst>
                                          <p:attrName>style.visibility</p:attrName>
                                        </p:attrNameLst>
                                      </p:cBhvr>
                                      <p:to>
                                        <p:strVal val="visible"/>
                                      </p:to>
                                    </p:set>
                                    <p:animEffect transition="in" filter="wipe(left)">
                                      <p:cBhvr>
                                        <p:cTn id="58" dur="500"/>
                                        <p:tgtEl>
                                          <p:spTgt spid="251128"/>
                                        </p:tgtEl>
                                      </p:cBhvr>
                                    </p:animEffect>
                                  </p:childTnLst>
                                </p:cTn>
                              </p:par>
                            </p:childTnLst>
                          </p:cTn>
                        </p:par>
                        <p:par>
                          <p:cTn id="59" fill="hold" nodeType="afterGroup">
                            <p:stCondLst>
                              <p:cond delay="500"/>
                            </p:stCondLst>
                            <p:childTnLst>
                              <p:par>
                                <p:cTn id="60" presetID="9" presetClass="entr" presetSubtype="0" fill="hold" grpId="0" nodeType="afterEffect">
                                  <p:stCondLst>
                                    <p:cond delay="1000"/>
                                  </p:stCondLst>
                                  <p:childTnLst>
                                    <p:set>
                                      <p:cBhvr>
                                        <p:cTn id="61" dur="1" fill="hold">
                                          <p:stCondLst>
                                            <p:cond delay="0"/>
                                          </p:stCondLst>
                                        </p:cTn>
                                        <p:tgtEl>
                                          <p:spTgt spid="251129"/>
                                        </p:tgtEl>
                                        <p:attrNameLst>
                                          <p:attrName>style.visibility</p:attrName>
                                        </p:attrNameLst>
                                      </p:cBhvr>
                                      <p:to>
                                        <p:strVal val="visible"/>
                                      </p:to>
                                    </p:set>
                                    <p:animEffect transition="in" filter="dissolve">
                                      <p:cBhvr>
                                        <p:cTn id="62" dur="500"/>
                                        <p:tgtEl>
                                          <p:spTgt spid="251129"/>
                                        </p:tgtEl>
                                      </p:cBhvr>
                                    </p:animEffect>
                                  </p:childTnLst>
                                </p:cTn>
                              </p:par>
                            </p:childTnLst>
                          </p:cTn>
                        </p:par>
                        <p:par>
                          <p:cTn id="63" fill="hold">
                            <p:stCondLst>
                              <p:cond delay="2000"/>
                            </p:stCondLst>
                            <p:childTnLst>
                              <p:par>
                                <p:cTn id="64" presetID="42" presetClass="entr" presetSubtype="0" fill="hold" grpId="0" nodeType="afterEffect">
                                  <p:stCondLst>
                                    <p:cond delay="500"/>
                                  </p:stCondLst>
                                  <p:childTnLst>
                                    <p:set>
                                      <p:cBhvr>
                                        <p:cTn id="65" dur="1" fill="hold">
                                          <p:stCondLst>
                                            <p:cond delay="0"/>
                                          </p:stCondLst>
                                        </p:cTn>
                                        <p:tgtEl>
                                          <p:spTgt spid="3"/>
                                        </p:tgtEl>
                                        <p:attrNameLst>
                                          <p:attrName>style.visibility</p:attrName>
                                        </p:attrNameLst>
                                      </p:cBhvr>
                                      <p:to>
                                        <p:strVal val="visible"/>
                                      </p:to>
                                    </p:set>
                                    <p:animEffect transition="in" filter="fade">
                                      <p:cBhvr>
                                        <p:cTn id="66" dur="1000"/>
                                        <p:tgtEl>
                                          <p:spTgt spid="3"/>
                                        </p:tgtEl>
                                      </p:cBhvr>
                                    </p:animEffect>
                                    <p:anim calcmode="lin" valueType="num">
                                      <p:cBhvr>
                                        <p:cTn id="67" dur="1000" fill="hold"/>
                                        <p:tgtEl>
                                          <p:spTgt spid="3"/>
                                        </p:tgtEl>
                                        <p:attrNameLst>
                                          <p:attrName>ppt_x</p:attrName>
                                        </p:attrNameLst>
                                      </p:cBhvr>
                                      <p:tavLst>
                                        <p:tav tm="0">
                                          <p:val>
                                            <p:strVal val="#ppt_x"/>
                                          </p:val>
                                        </p:tav>
                                        <p:tav tm="100000">
                                          <p:val>
                                            <p:strVal val="#ppt_x"/>
                                          </p:val>
                                        </p:tav>
                                      </p:tavLst>
                                    </p:anim>
                                    <p:anim calcmode="lin" valueType="num">
                                      <p:cBhvr>
                                        <p:cTn id="6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129" grpId="0" animBg="1"/>
      <p:bldP spid="251128" grpId="0" animBg="1"/>
      <p:bldP spid="250882" grpId="0" animBg="1" autoUpdateAnimBg="0"/>
      <p:bldP spid="3" grpId="0" animBg="1"/>
    </p:bldLst>
  </p:timing>
</p:sld>
</file>

<file path=ppt/slides/slide1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2932" name="Rectangle 4"/>
          <p:cNvSpPr>
            <a:spLocks noGrp="1" noChangeArrowheads="1"/>
          </p:cNvSpPr>
          <p:nvPr>
            <p:ph type="title"/>
          </p:nvPr>
        </p:nvSpPr>
        <p:spPr>
          <a:xfrm>
            <a:off x="152400" y="152400"/>
            <a:ext cx="8839200" cy="4572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400" dirty="0" smtClean="0">
                <a:solidFill>
                  <a:srgbClr val="FF0000"/>
                </a:solidFill>
                <a:latin typeface="Arial Rounded MT Bold" pitchFamily="34" charset="0"/>
              </a:rPr>
              <a:t>Bibliography:  </a:t>
            </a:r>
            <a:r>
              <a:rPr lang="en-US" sz="2400" dirty="0" smtClean="0">
                <a:solidFill>
                  <a:schemeClr val="tx1"/>
                </a:solidFill>
                <a:latin typeface="Arial Rounded MT Bold" pitchFamily="34" charset="0"/>
              </a:rPr>
              <a:t>Max Flow</a:t>
            </a:r>
          </a:p>
        </p:txBody>
      </p:sp>
      <p:sp>
        <p:nvSpPr>
          <p:cNvPr id="253230" name="Rectangle 302"/>
          <p:cNvSpPr>
            <a:spLocks noChangeArrowheads="1"/>
          </p:cNvSpPr>
          <p:nvPr/>
        </p:nvSpPr>
        <p:spPr bwMode="auto">
          <a:xfrm>
            <a:off x="152400" y="838200"/>
            <a:ext cx="8763000" cy="573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282575" indent="-282575" eaLnBrk="1" hangingPunct="1">
              <a:lnSpc>
                <a:spcPct val="105000"/>
              </a:lnSpc>
              <a:spcBef>
                <a:spcPct val="50000"/>
              </a:spcBef>
              <a:buFont typeface="Wingdings" pitchFamily="2" charset="2"/>
              <a:buChar char="§"/>
            </a:pPr>
            <a:r>
              <a:rPr lang="en-US" sz="1800" b="1">
                <a:solidFill>
                  <a:srgbClr val="CC0000"/>
                </a:solidFill>
                <a:latin typeface="Arial" pitchFamily="34" charset="0"/>
              </a:rPr>
              <a:t>Ahuja, Magnanti, Orlin[1993] </a:t>
            </a:r>
            <a:r>
              <a:rPr lang="en-US" sz="1800">
                <a:solidFill>
                  <a:schemeClr val="hlink"/>
                </a:solidFill>
                <a:latin typeface="Arial" pitchFamily="34" charset="0"/>
              </a:rPr>
              <a:t>is a comprehensive book in this area.</a:t>
            </a:r>
          </a:p>
          <a:p>
            <a:pPr marL="282575" indent="-282575" eaLnBrk="1" hangingPunct="1">
              <a:lnSpc>
                <a:spcPct val="105000"/>
              </a:lnSpc>
              <a:spcBef>
                <a:spcPct val="50000"/>
              </a:spcBef>
              <a:buFont typeface="Wingdings" pitchFamily="2" charset="2"/>
              <a:buChar char="§"/>
            </a:pPr>
            <a:r>
              <a:rPr lang="en-US" sz="1800" b="1">
                <a:solidFill>
                  <a:srgbClr val="CC0000"/>
                </a:solidFill>
                <a:latin typeface="Arial" pitchFamily="34" charset="0"/>
              </a:rPr>
              <a:t>Edmonds-Karp [1972]:</a:t>
            </a:r>
            <a:r>
              <a:rPr lang="en-US" sz="1800">
                <a:solidFill>
                  <a:schemeClr val="hlink"/>
                </a:solidFill>
                <a:latin typeface="Arial" pitchFamily="34" charset="0"/>
              </a:rPr>
              <a:t>  gave the first polynomial time max-flow algorithm based on Ford-Fulkerson’s algorithm with BFS augmentation:   </a:t>
            </a:r>
            <a:r>
              <a:rPr lang="en-US" sz="1800">
                <a:latin typeface="Arial" pitchFamily="34" charset="0"/>
              </a:rPr>
              <a:t>O(VE</a:t>
            </a:r>
            <a:r>
              <a:rPr lang="en-US" sz="1800" baseline="30000">
                <a:latin typeface="Arial" pitchFamily="34" charset="0"/>
              </a:rPr>
              <a:t>2</a:t>
            </a:r>
            <a:r>
              <a:rPr lang="en-US" sz="1800">
                <a:latin typeface="Arial" pitchFamily="34" charset="0"/>
              </a:rPr>
              <a:t>)</a:t>
            </a:r>
            <a:r>
              <a:rPr lang="en-US" sz="2400"/>
              <a:t> </a:t>
            </a:r>
            <a:r>
              <a:rPr lang="en-US" sz="1800">
                <a:latin typeface="Arial" pitchFamily="34" charset="0"/>
              </a:rPr>
              <a:t>time.</a:t>
            </a:r>
          </a:p>
          <a:p>
            <a:pPr marL="282575" indent="-282575" eaLnBrk="1" hangingPunct="1">
              <a:lnSpc>
                <a:spcPct val="105000"/>
              </a:lnSpc>
              <a:spcBef>
                <a:spcPct val="50000"/>
              </a:spcBef>
              <a:buFont typeface="Wingdings" pitchFamily="2" charset="2"/>
              <a:buChar char="§"/>
            </a:pPr>
            <a:r>
              <a:rPr lang="en-US" sz="1800" b="1">
                <a:solidFill>
                  <a:srgbClr val="CC0000"/>
                </a:solidFill>
                <a:latin typeface="Arial" pitchFamily="34" charset="0"/>
              </a:rPr>
              <a:t>Dinits [1970</a:t>
            </a:r>
            <a:r>
              <a:rPr lang="en-US" sz="1800" b="1">
                <a:solidFill>
                  <a:srgbClr val="CC0000"/>
                </a:solidFill>
                <a:latin typeface="Arial" pitchFamily="34" charset="0"/>
                <a:sym typeface="Wingdings" pitchFamily="2" charset="2"/>
              </a:rPr>
              <a:t>]:</a:t>
            </a:r>
            <a:r>
              <a:rPr lang="en-US" sz="1800">
                <a:solidFill>
                  <a:schemeClr val="hlink"/>
                </a:solidFill>
                <a:latin typeface="Arial" pitchFamily="34" charset="0"/>
                <a:sym typeface="Wingdings" pitchFamily="2" charset="2"/>
              </a:rPr>
              <a:t> independently suggested BFS augmentation. In addition, he proposed a faster algorithm by augmenting along many paths simultaneously, known as “blocking flows”:    </a:t>
            </a:r>
            <a:r>
              <a:rPr lang="en-US" sz="1800">
                <a:latin typeface="Arial" pitchFamily="34" charset="0"/>
              </a:rPr>
              <a:t>O(EV</a:t>
            </a:r>
            <a:r>
              <a:rPr lang="en-US" sz="1800" baseline="30000">
                <a:latin typeface="Arial" pitchFamily="34" charset="0"/>
              </a:rPr>
              <a:t>2</a:t>
            </a:r>
            <a:r>
              <a:rPr lang="en-US" sz="1800">
                <a:latin typeface="Arial" pitchFamily="34" charset="0"/>
              </a:rPr>
              <a:t>)</a:t>
            </a:r>
            <a:r>
              <a:rPr lang="en-US" sz="2400"/>
              <a:t> </a:t>
            </a:r>
            <a:r>
              <a:rPr lang="en-US" sz="1800">
                <a:latin typeface="Arial" pitchFamily="34" charset="0"/>
              </a:rPr>
              <a:t>time.</a:t>
            </a:r>
            <a:endParaRPr lang="en-US" sz="1800" b="1">
              <a:latin typeface="Arial" pitchFamily="34" charset="0"/>
            </a:endParaRPr>
          </a:p>
          <a:p>
            <a:pPr marL="282575" indent="-282575" eaLnBrk="1" hangingPunct="1">
              <a:lnSpc>
                <a:spcPct val="105000"/>
              </a:lnSpc>
              <a:spcBef>
                <a:spcPct val="50000"/>
              </a:spcBef>
              <a:buFont typeface="Wingdings" pitchFamily="2" charset="2"/>
              <a:buChar char="§"/>
            </a:pPr>
            <a:r>
              <a:rPr lang="en-US" sz="1800" b="1">
                <a:solidFill>
                  <a:srgbClr val="CC0000"/>
                </a:solidFill>
                <a:latin typeface="Arial" pitchFamily="34" charset="0"/>
              </a:rPr>
              <a:t>Karzanov [1974]</a:t>
            </a:r>
            <a:r>
              <a:rPr lang="en-US" sz="1800">
                <a:solidFill>
                  <a:schemeClr val="hlink"/>
                </a:solidFill>
                <a:latin typeface="Arial" pitchFamily="34" charset="0"/>
              </a:rPr>
              <a:t>:  gave the fastest known max-flow algorithm on dense graphs based on the notion of preflows:   </a:t>
            </a:r>
            <a:r>
              <a:rPr lang="en-US" sz="1800">
                <a:latin typeface="Arial" pitchFamily="34" charset="0"/>
              </a:rPr>
              <a:t>O(V</a:t>
            </a:r>
            <a:r>
              <a:rPr lang="en-US" sz="1800" baseline="30000">
                <a:latin typeface="Arial" pitchFamily="34" charset="0"/>
              </a:rPr>
              <a:t>3</a:t>
            </a:r>
            <a:r>
              <a:rPr lang="en-US" sz="1800">
                <a:latin typeface="Arial" pitchFamily="34" charset="0"/>
              </a:rPr>
              <a:t>)</a:t>
            </a:r>
            <a:r>
              <a:rPr lang="en-US" sz="2400"/>
              <a:t> </a:t>
            </a:r>
            <a:r>
              <a:rPr lang="en-US" sz="1800">
                <a:latin typeface="Arial" pitchFamily="34" charset="0"/>
              </a:rPr>
              <a:t>time.</a:t>
            </a:r>
          </a:p>
          <a:p>
            <a:pPr marL="282575" indent="-282575" eaLnBrk="1" hangingPunct="1">
              <a:lnSpc>
                <a:spcPct val="105000"/>
              </a:lnSpc>
              <a:spcBef>
                <a:spcPct val="50000"/>
              </a:spcBef>
              <a:buFont typeface="Wingdings" pitchFamily="2" charset="2"/>
              <a:buChar char="§"/>
            </a:pPr>
            <a:r>
              <a:rPr lang="en-US" sz="1800" b="1">
                <a:solidFill>
                  <a:srgbClr val="CC0000"/>
                </a:solidFill>
                <a:latin typeface="Arial" pitchFamily="34" charset="0"/>
              </a:rPr>
              <a:t>Melhotra, Kumar, Maheshvari [1978]:</a:t>
            </a:r>
            <a:r>
              <a:rPr lang="en-US" sz="1800">
                <a:solidFill>
                  <a:schemeClr val="hlink"/>
                </a:solidFill>
                <a:latin typeface="Arial" pitchFamily="34" charset="0"/>
              </a:rPr>
              <a:t> gave a simplified algorithm with the same time complexity: </a:t>
            </a:r>
            <a:r>
              <a:rPr lang="en-US" sz="1800">
                <a:latin typeface="Arial" pitchFamily="34" charset="0"/>
              </a:rPr>
              <a:t>O(V</a:t>
            </a:r>
            <a:r>
              <a:rPr lang="en-US" sz="1800" baseline="30000">
                <a:latin typeface="Arial" pitchFamily="34" charset="0"/>
              </a:rPr>
              <a:t>3</a:t>
            </a:r>
            <a:r>
              <a:rPr lang="en-US" sz="1800">
                <a:latin typeface="Arial" pitchFamily="34" charset="0"/>
              </a:rPr>
              <a:t>)</a:t>
            </a:r>
            <a:r>
              <a:rPr lang="en-US" sz="2400"/>
              <a:t> </a:t>
            </a:r>
            <a:r>
              <a:rPr lang="en-US" sz="1800">
                <a:latin typeface="Arial" pitchFamily="34" charset="0"/>
              </a:rPr>
              <a:t>time.</a:t>
            </a:r>
            <a:endParaRPr lang="en-US" sz="1800">
              <a:solidFill>
                <a:schemeClr val="hlink"/>
              </a:solidFill>
              <a:latin typeface="Arial" pitchFamily="34" charset="0"/>
            </a:endParaRPr>
          </a:p>
          <a:p>
            <a:pPr marL="282575" indent="-282575" eaLnBrk="1" hangingPunct="1">
              <a:lnSpc>
                <a:spcPct val="105000"/>
              </a:lnSpc>
              <a:spcBef>
                <a:spcPct val="50000"/>
              </a:spcBef>
              <a:buFont typeface="Wingdings" pitchFamily="2" charset="2"/>
              <a:buChar char="§"/>
            </a:pPr>
            <a:r>
              <a:rPr lang="en-US" sz="1800" b="1">
                <a:solidFill>
                  <a:srgbClr val="CC0000"/>
                </a:solidFill>
                <a:latin typeface="Arial" pitchFamily="34" charset="0"/>
              </a:rPr>
              <a:t>Sleator, Tarjan [1983]:</a:t>
            </a:r>
            <a:r>
              <a:rPr lang="en-US" sz="1800">
                <a:solidFill>
                  <a:schemeClr val="hlink"/>
                </a:solidFill>
                <a:latin typeface="Arial" pitchFamily="34" charset="0"/>
              </a:rPr>
              <a:t> gave the fastest known max-flow algorithm on sparse graphs by devising an efficient link-&amp;-cut tree data structure: </a:t>
            </a:r>
            <a:r>
              <a:rPr lang="en-US" sz="1800">
                <a:latin typeface="Arial" pitchFamily="34" charset="0"/>
              </a:rPr>
              <a:t>O(E V log V)</a:t>
            </a:r>
            <a:r>
              <a:rPr lang="en-US" sz="2400"/>
              <a:t> </a:t>
            </a:r>
            <a:r>
              <a:rPr lang="en-US" sz="1800">
                <a:latin typeface="Arial" pitchFamily="34" charset="0"/>
              </a:rPr>
              <a:t>time.</a:t>
            </a:r>
            <a:endParaRPr lang="en-US" sz="1800">
              <a:solidFill>
                <a:schemeClr val="hlink"/>
              </a:solidFill>
              <a:latin typeface="Arial" pitchFamily="34" charset="0"/>
            </a:endParaRPr>
          </a:p>
          <a:p>
            <a:pPr marL="282575" indent="-282575" eaLnBrk="1" hangingPunct="1">
              <a:lnSpc>
                <a:spcPct val="105000"/>
              </a:lnSpc>
              <a:spcBef>
                <a:spcPct val="50000"/>
              </a:spcBef>
              <a:buFont typeface="Wingdings" pitchFamily="2" charset="2"/>
              <a:buChar char="§"/>
            </a:pPr>
            <a:r>
              <a:rPr lang="en-US" sz="1800" b="1">
                <a:solidFill>
                  <a:srgbClr val="CC0000"/>
                </a:solidFill>
                <a:latin typeface="Arial" pitchFamily="34" charset="0"/>
              </a:rPr>
              <a:t>Borradaile, Klein [2009]:</a:t>
            </a:r>
            <a:r>
              <a:rPr lang="en-US" sz="1800">
                <a:solidFill>
                  <a:schemeClr val="hlink"/>
                </a:solidFill>
                <a:latin typeface="Arial" pitchFamily="34" charset="0"/>
              </a:rPr>
              <a:t> give a faster max-flow algorithm on planar graphs.</a:t>
            </a:r>
            <a:br>
              <a:rPr lang="en-US" sz="1800">
                <a:solidFill>
                  <a:schemeClr val="hlink"/>
                </a:solidFill>
                <a:latin typeface="Arial" pitchFamily="34" charset="0"/>
              </a:rPr>
            </a:br>
            <a:r>
              <a:rPr lang="en-US" sz="1800">
                <a:solidFill>
                  <a:schemeClr val="hlink"/>
                </a:solidFill>
                <a:latin typeface="Arial" pitchFamily="34" charset="0"/>
              </a:rPr>
              <a:t/>
            </a:r>
            <a:br>
              <a:rPr lang="en-US" sz="1800">
                <a:solidFill>
                  <a:schemeClr val="hlink"/>
                </a:solidFill>
                <a:latin typeface="Arial" pitchFamily="34" charset="0"/>
              </a:rPr>
            </a:br>
            <a:r>
              <a:rPr lang="en-US" sz="1800">
                <a:solidFill>
                  <a:schemeClr val="hlink"/>
                </a:solidFill>
                <a:latin typeface="Arial" pitchFamily="34" charset="0"/>
              </a:rPr>
              <a:t>								</a:t>
            </a:r>
            <a:r>
              <a:rPr lang="en-US" sz="1800">
                <a:solidFill>
                  <a:srgbClr val="CC0000"/>
                </a:solidFill>
                <a:latin typeface="Arial" pitchFamily="34" charset="0"/>
              </a:rPr>
              <a:t>P.T.O.</a:t>
            </a:r>
            <a:r>
              <a:rPr lang="en-US"/>
              <a:t> </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153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52932"/>
                                        </p:tgtEl>
                                        <p:attrNameLst>
                                          <p:attrName>style.visibility</p:attrName>
                                        </p:attrNameLst>
                                      </p:cBhvr>
                                      <p:to>
                                        <p:strVal val="visible"/>
                                      </p:to>
                                    </p:set>
                                    <p:anim calcmode="lin" valueType="num">
                                      <p:cBhvr>
                                        <p:cTn id="7" dur="500" fill="hold"/>
                                        <p:tgtEl>
                                          <p:spTgt spid="252932"/>
                                        </p:tgtEl>
                                        <p:attrNameLst>
                                          <p:attrName>ppt_w</p:attrName>
                                        </p:attrNameLst>
                                      </p:cBhvr>
                                      <p:tavLst>
                                        <p:tav tm="0">
                                          <p:val>
                                            <p:fltVal val="0"/>
                                          </p:val>
                                        </p:tav>
                                        <p:tav tm="100000">
                                          <p:val>
                                            <p:strVal val="#ppt_w"/>
                                          </p:val>
                                        </p:tav>
                                      </p:tavLst>
                                    </p:anim>
                                    <p:anim calcmode="lin" valueType="num">
                                      <p:cBhvr>
                                        <p:cTn id="8" dur="500" fill="hold"/>
                                        <p:tgtEl>
                                          <p:spTgt spid="25293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53230">
                                            <p:txEl>
                                              <p:pRg st="0" end="0"/>
                                            </p:txEl>
                                          </p:spTgt>
                                        </p:tgtEl>
                                        <p:attrNameLst>
                                          <p:attrName>style.visibility</p:attrName>
                                        </p:attrNameLst>
                                      </p:cBhvr>
                                      <p:to>
                                        <p:strVal val="visible"/>
                                      </p:to>
                                    </p:set>
                                    <p:animEffect transition="in" filter="wipe(left)">
                                      <p:cBhvr>
                                        <p:cTn id="13" dur="500"/>
                                        <p:tgtEl>
                                          <p:spTgt spid="253230">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53230">
                                            <p:txEl>
                                              <p:pRg st="1" end="1"/>
                                            </p:txEl>
                                          </p:spTgt>
                                        </p:tgtEl>
                                        <p:attrNameLst>
                                          <p:attrName>style.visibility</p:attrName>
                                        </p:attrNameLst>
                                      </p:cBhvr>
                                      <p:to>
                                        <p:strVal val="visible"/>
                                      </p:to>
                                    </p:set>
                                    <p:animEffect transition="in" filter="wipe(left)">
                                      <p:cBhvr>
                                        <p:cTn id="18" dur="500"/>
                                        <p:tgtEl>
                                          <p:spTgt spid="253230">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53230">
                                            <p:txEl>
                                              <p:pRg st="2" end="2"/>
                                            </p:txEl>
                                          </p:spTgt>
                                        </p:tgtEl>
                                        <p:attrNameLst>
                                          <p:attrName>style.visibility</p:attrName>
                                        </p:attrNameLst>
                                      </p:cBhvr>
                                      <p:to>
                                        <p:strVal val="visible"/>
                                      </p:to>
                                    </p:set>
                                    <p:animEffect transition="in" filter="wipe(left)">
                                      <p:cBhvr>
                                        <p:cTn id="23" dur="500"/>
                                        <p:tgtEl>
                                          <p:spTgt spid="253230">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53230">
                                            <p:txEl>
                                              <p:pRg st="3" end="3"/>
                                            </p:txEl>
                                          </p:spTgt>
                                        </p:tgtEl>
                                        <p:attrNameLst>
                                          <p:attrName>style.visibility</p:attrName>
                                        </p:attrNameLst>
                                      </p:cBhvr>
                                      <p:to>
                                        <p:strVal val="visible"/>
                                      </p:to>
                                    </p:set>
                                    <p:animEffect transition="in" filter="wipe(left)">
                                      <p:cBhvr>
                                        <p:cTn id="28" dur="500"/>
                                        <p:tgtEl>
                                          <p:spTgt spid="253230">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53230">
                                            <p:txEl>
                                              <p:pRg st="4" end="4"/>
                                            </p:txEl>
                                          </p:spTgt>
                                        </p:tgtEl>
                                        <p:attrNameLst>
                                          <p:attrName>style.visibility</p:attrName>
                                        </p:attrNameLst>
                                      </p:cBhvr>
                                      <p:to>
                                        <p:strVal val="visible"/>
                                      </p:to>
                                    </p:set>
                                    <p:animEffect transition="in" filter="wipe(left)">
                                      <p:cBhvr>
                                        <p:cTn id="33" dur="500"/>
                                        <p:tgtEl>
                                          <p:spTgt spid="253230">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53230">
                                            <p:txEl>
                                              <p:pRg st="5" end="5"/>
                                            </p:txEl>
                                          </p:spTgt>
                                        </p:tgtEl>
                                        <p:attrNameLst>
                                          <p:attrName>style.visibility</p:attrName>
                                        </p:attrNameLst>
                                      </p:cBhvr>
                                      <p:to>
                                        <p:strVal val="visible"/>
                                      </p:to>
                                    </p:set>
                                    <p:animEffect transition="in" filter="wipe(left)">
                                      <p:cBhvr>
                                        <p:cTn id="38" dur="500"/>
                                        <p:tgtEl>
                                          <p:spTgt spid="253230">
                                            <p:txEl>
                                              <p:pRg st="5" end="5"/>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53230">
                                            <p:txEl>
                                              <p:pRg st="6" end="6"/>
                                            </p:txEl>
                                          </p:spTgt>
                                        </p:tgtEl>
                                        <p:attrNameLst>
                                          <p:attrName>style.visibility</p:attrName>
                                        </p:attrNameLst>
                                      </p:cBhvr>
                                      <p:to>
                                        <p:strVal val="visible"/>
                                      </p:to>
                                    </p:set>
                                    <p:animEffect transition="in" filter="wipe(left)">
                                      <p:cBhvr>
                                        <p:cTn id="43" dur="500"/>
                                        <p:tgtEl>
                                          <p:spTgt spid="25323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2" grpId="0" animBg="1" autoUpdateAnimBg="0"/>
      <p:bldP spid="253230" grpId="0" build="p" autoUpdateAnimBg="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3"/>
          <p:cNvSpPr>
            <a:spLocks noChangeArrowheads="1"/>
          </p:cNvSpPr>
          <p:nvPr/>
        </p:nvSpPr>
        <p:spPr bwMode="auto">
          <a:xfrm>
            <a:off x="304800" y="762000"/>
            <a:ext cx="8686800" cy="5837238"/>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571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282575" indent="-282575">
              <a:buFont typeface="Wingdings" pitchFamily="2" charset="2"/>
              <a:buChar char="§"/>
            </a:pPr>
            <a:r>
              <a:rPr lang="en-US"/>
              <a:t>R.K. Ahuja, T.L. Magnanti, J.B. Orlin, </a:t>
            </a:r>
            <a:r>
              <a:rPr lang="en-US">
                <a:solidFill>
                  <a:srgbClr val="CC0000"/>
                </a:solidFill>
              </a:rPr>
              <a:t>“Network Flows: Theory, Algorithms, and Applications,”</a:t>
            </a:r>
            <a:r>
              <a:rPr lang="en-US" b="1"/>
              <a:t> </a:t>
            </a:r>
            <a:r>
              <a:rPr lang="en-US"/>
              <a:t>Prentice Hall, 1993.</a:t>
            </a:r>
            <a:br>
              <a:rPr lang="en-US"/>
            </a:br>
            <a:endParaRPr lang="en-US"/>
          </a:p>
          <a:p>
            <a:pPr marL="282575" indent="-282575">
              <a:buFont typeface="Wingdings" pitchFamily="2" charset="2"/>
              <a:buChar char="§"/>
            </a:pPr>
            <a:r>
              <a:rPr lang="en-US"/>
              <a:t>G. Borradaile, P. Klein, </a:t>
            </a:r>
            <a:r>
              <a:rPr lang="en-US">
                <a:solidFill>
                  <a:srgbClr val="CC0000"/>
                </a:solidFill>
              </a:rPr>
              <a:t>“An O(n log n) algorithm for maximum st-flow in a directed planar graph,”</a:t>
            </a:r>
            <a:r>
              <a:rPr lang="en-US" b="1"/>
              <a:t/>
            </a:r>
            <a:br>
              <a:rPr lang="en-US" b="1"/>
            </a:br>
            <a:r>
              <a:rPr lang="en-US"/>
              <a:t>JACM 56(2), 9:1-9:30, 2009.</a:t>
            </a:r>
            <a:br>
              <a:rPr lang="en-US"/>
            </a:br>
            <a:endParaRPr lang="en-US"/>
          </a:p>
          <a:p>
            <a:pPr marL="282575" indent="-282575">
              <a:buFont typeface="Wingdings" pitchFamily="2" charset="2"/>
              <a:buChar char="§"/>
            </a:pPr>
            <a:r>
              <a:rPr lang="en-US"/>
              <a:t>E.A. Dinits, </a:t>
            </a:r>
            <a:r>
              <a:rPr lang="en-US">
                <a:solidFill>
                  <a:srgbClr val="CC0000"/>
                </a:solidFill>
              </a:rPr>
              <a:t>“Algorithm for solution of a problem of maximum flow in a network with power estimation,”</a:t>
            </a:r>
            <a:r>
              <a:rPr lang="en-US" b="1"/>
              <a:t> </a:t>
            </a:r>
            <a:r>
              <a:rPr lang="en-US"/>
              <a:t>Soviet Mathematics Doklady, 11(5):1277-1280, 1970.</a:t>
            </a:r>
          </a:p>
          <a:p>
            <a:pPr marL="282575" indent="-282575" eaLnBrk="1" hangingPunct="1">
              <a:spcBef>
                <a:spcPct val="50000"/>
              </a:spcBef>
              <a:buFont typeface="Wingdings" pitchFamily="2" charset="2"/>
              <a:buChar char="§"/>
            </a:pPr>
            <a:r>
              <a:rPr lang="en-US"/>
              <a:t>Jack Edmonds, R.M. Karp, </a:t>
            </a:r>
            <a:r>
              <a:rPr lang="en-US">
                <a:solidFill>
                  <a:srgbClr val="CC0000"/>
                </a:solidFill>
              </a:rPr>
              <a:t>“Theoretical improvements in algorithmic efficiency for network flow problems,”  </a:t>
            </a:r>
            <a:r>
              <a:rPr lang="en-US"/>
              <a:t>J. ACM 19:248-264, 1972.</a:t>
            </a:r>
          </a:p>
          <a:p>
            <a:pPr marL="282575" indent="-282575" eaLnBrk="1" hangingPunct="1">
              <a:spcBef>
                <a:spcPct val="50000"/>
              </a:spcBef>
              <a:buFont typeface="Wingdings" pitchFamily="2" charset="2"/>
              <a:buChar char="§"/>
            </a:pPr>
            <a:r>
              <a:rPr lang="en-US"/>
              <a:t>L.R. Ford, Jr., D.R. Fulkerson, </a:t>
            </a:r>
            <a:r>
              <a:rPr lang="en-US">
                <a:solidFill>
                  <a:srgbClr val="CC0000"/>
                </a:solidFill>
              </a:rPr>
              <a:t>“Flows in Networks,”  </a:t>
            </a:r>
            <a:r>
              <a:rPr lang="en-US"/>
              <a:t>Princeton University Press, 1962.</a:t>
            </a:r>
            <a:br>
              <a:rPr lang="en-US"/>
            </a:br>
            <a:endParaRPr lang="en-US"/>
          </a:p>
          <a:p>
            <a:pPr marL="282575" indent="-282575">
              <a:buFont typeface="Wingdings" pitchFamily="2" charset="2"/>
              <a:buChar char="§"/>
            </a:pPr>
            <a:r>
              <a:rPr lang="en-US"/>
              <a:t>A.V. Karzanov, </a:t>
            </a:r>
            <a:r>
              <a:rPr lang="en-US">
                <a:solidFill>
                  <a:srgbClr val="CC0000"/>
                </a:solidFill>
              </a:rPr>
              <a:t>“Determining the maximal flow in a network by the method of preflows,”</a:t>
            </a:r>
            <a:r>
              <a:rPr lang="en-US" b="1"/>
              <a:t> </a:t>
            </a:r>
            <a:r>
              <a:rPr lang="en-US"/>
              <a:t>Soviet Mathematics Doklady, 15:434-437, 1974.</a:t>
            </a:r>
            <a:br>
              <a:rPr lang="en-US"/>
            </a:br>
            <a:endParaRPr lang="en-US"/>
          </a:p>
          <a:p>
            <a:pPr marL="282575" indent="-282575">
              <a:buFont typeface="Wingdings" pitchFamily="2" charset="2"/>
              <a:buChar char="§"/>
            </a:pPr>
            <a:r>
              <a:rPr lang="en-US"/>
              <a:t>V.M. Melhotra, M.P. Kumar, S.N. Maheshvari, </a:t>
            </a:r>
            <a:r>
              <a:rPr lang="en-US">
                <a:solidFill>
                  <a:srgbClr val="CC0000"/>
                </a:solidFill>
              </a:rPr>
              <a:t>“An O(|V|</a:t>
            </a:r>
            <a:r>
              <a:rPr lang="en-US" baseline="30000">
                <a:solidFill>
                  <a:srgbClr val="CC0000"/>
                </a:solidFill>
              </a:rPr>
              <a:t>3</a:t>
            </a:r>
            <a:r>
              <a:rPr lang="en-US">
                <a:solidFill>
                  <a:srgbClr val="CC0000"/>
                </a:solidFill>
              </a:rPr>
              <a:t>) algorithm for finding maximum flows in networks,”</a:t>
            </a:r>
            <a:r>
              <a:rPr lang="en-US" b="1"/>
              <a:t> </a:t>
            </a:r>
            <a:r>
              <a:rPr lang="en-US"/>
              <a:t>Information Processing Letters, 7(6):277-278, 1978.</a:t>
            </a:r>
          </a:p>
          <a:p>
            <a:pPr marL="282575" indent="-282575" eaLnBrk="1" hangingPunct="1">
              <a:spcBef>
                <a:spcPct val="50000"/>
              </a:spcBef>
              <a:buFont typeface="Wingdings" pitchFamily="2" charset="2"/>
              <a:buChar char="§"/>
            </a:pPr>
            <a:r>
              <a:rPr lang="en-US"/>
              <a:t>C. Papadimitriou, K. Steiglitz, </a:t>
            </a:r>
            <a:r>
              <a:rPr lang="en-US">
                <a:solidFill>
                  <a:srgbClr val="CC0000"/>
                </a:solidFill>
              </a:rPr>
              <a:t>“Combinatorial Optimization: Algorithms and Complexity,”</a:t>
            </a:r>
            <a:r>
              <a:rPr lang="en-US" b="1"/>
              <a:t> </a:t>
            </a:r>
            <a:br>
              <a:rPr lang="en-US" b="1"/>
            </a:br>
            <a:r>
              <a:rPr lang="en-US"/>
              <a:t>1</a:t>
            </a:r>
            <a:r>
              <a:rPr lang="en-US" baseline="30000"/>
              <a:t>st</a:t>
            </a:r>
            <a:r>
              <a:rPr lang="en-US"/>
              <a:t> edition Prentice Hall, 1982;  2</a:t>
            </a:r>
            <a:r>
              <a:rPr lang="en-US" baseline="30000"/>
              <a:t>nd</a:t>
            </a:r>
            <a:r>
              <a:rPr lang="en-US"/>
              <a:t> edition, Courier Dover, 1998.</a:t>
            </a:r>
            <a:br>
              <a:rPr lang="en-US"/>
            </a:br>
            <a:endParaRPr lang="en-US"/>
          </a:p>
          <a:p>
            <a:pPr marL="282575" indent="-282575">
              <a:buFont typeface="Wingdings" pitchFamily="2" charset="2"/>
              <a:buChar char="§"/>
            </a:pPr>
            <a:r>
              <a:rPr lang="en-US"/>
              <a:t>D.D. Sleator, R.E. Tarjan, </a:t>
            </a:r>
            <a:r>
              <a:rPr lang="en-US">
                <a:solidFill>
                  <a:srgbClr val="CC0000"/>
                </a:solidFill>
              </a:rPr>
              <a:t>“A Data Structure for Dynamic Trees,”</a:t>
            </a:r>
            <a:r>
              <a:rPr lang="en-US"/>
              <a:t> Journal of Computer and System Sciences, 26(3):362-391, 1983. </a:t>
            </a:r>
          </a:p>
        </p:txBody>
      </p:sp>
      <p:sp>
        <p:nvSpPr>
          <p:cNvPr id="157699" name="Rectangle 6"/>
          <p:cNvSpPr>
            <a:spLocks noGrp="1" noChangeArrowheads="1"/>
          </p:cNvSpPr>
          <p:nvPr>
            <p:ph type="title"/>
          </p:nvPr>
        </p:nvSpPr>
        <p:spPr>
          <a:xfrm>
            <a:off x="228600" y="152400"/>
            <a:ext cx="8686800" cy="4572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400" dirty="0" smtClean="0">
                <a:solidFill>
                  <a:srgbClr val="FF0000"/>
                </a:solidFill>
                <a:latin typeface="Arial Rounded MT Bold" pitchFamily="34" charset="0"/>
              </a:rPr>
              <a:t>Bibliography:  </a:t>
            </a:r>
            <a:r>
              <a:rPr lang="en-US" sz="2400" dirty="0" smtClean="0">
                <a:solidFill>
                  <a:schemeClr val="tx1"/>
                </a:solidFill>
                <a:latin typeface="Arial Rounded MT Bold" pitchFamily="34" charset="0"/>
              </a:rPr>
              <a:t>Max Flow</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154</a:t>
            </a:fld>
            <a:endParaRPr lang="en-US"/>
          </a:p>
        </p:txBody>
      </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4" name="Rectangle 2"/>
          <p:cNvSpPr>
            <a:spLocks noGrp="1" noChangeArrowheads="1"/>
          </p:cNvSpPr>
          <p:nvPr>
            <p:ph type="ctrTitle"/>
          </p:nvPr>
        </p:nvSpPr>
        <p:spPr>
          <a:xfrm>
            <a:off x="685800" y="2286000"/>
            <a:ext cx="7772400" cy="1371600"/>
          </a:xfrm>
          <a:solidFill>
            <a:srgbClr val="FFCCCC"/>
          </a:solidFill>
          <a:ln w="762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1"/>
          <a:lstStyle/>
          <a:p>
            <a:pPr eaLnBrk="1" hangingPunct="1"/>
            <a:r>
              <a:rPr lang="en-US" sz="6000" dirty="0" smtClean="0">
                <a:solidFill>
                  <a:schemeClr val="accent2"/>
                </a:solidFill>
                <a:latin typeface="Arial Rounded MT Bold" pitchFamily="34" charset="0"/>
              </a:rPr>
              <a:t>GRAPH  MATCHING</a:t>
            </a:r>
          </a:p>
        </p:txBody>
      </p:sp>
      <p:sp>
        <p:nvSpPr>
          <p:cNvPr id="2" name="Slide Number Placeholder 1"/>
          <p:cNvSpPr>
            <a:spLocks noGrp="1"/>
          </p:cNvSpPr>
          <p:nvPr>
            <p:ph type="sldNum" sz="quarter" idx="12"/>
          </p:nvPr>
        </p:nvSpPr>
        <p:spPr/>
        <p:txBody>
          <a:bodyPr/>
          <a:lstStyle/>
          <a:p>
            <a:pPr>
              <a:defRPr/>
            </a:pPr>
            <a:fld id="{90683EDB-7658-49F0-B96C-482436AB937A}" type="slidenum">
              <a:rPr lang="en-US" smtClean="0"/>
              <a:pPr>
                <a:defRPr/>
              </a:pPr>
              <a:t>155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95234"/>
                                        </p:tgtEl>
                                        <p:attrNameLst>
                                          <p:attrName>style.visibility</p:attrName>
                                        </p:attrNameLst>
                                      </p:cBhvr>
                                      <p:to>
                                        <p:strVal val="visible"/>
                                      </p:to>
                                    </p:set>
                                    <p:anim calcmode="lin" valueType="num">
                                      <p:cBhvr>
                                        <p:cTn id="7" dur="500" fill="hold"/>
                                        <p:tgtEl>
                                          <p:spTgt spid="95234"/>
                                        </p:tgtEl>
                                        <p:attrNameLst>
                                          <p:attrName>ppt_w</p:attrName>
                                        </p:attrNameLst>
                                      </p:cBhvr>
                                      <p:tavLst>
                                        <p:tav tm="0">
                                          <p:val>
                                            <p:fltVal val="0"/>
                                          </p:val>
                                        </p:tav>
                                        <p:tav tm="100000">
                                          <p:val>
                                            <p:strVal val="#ppt_w"/>
                                          </p:val>
                                        </p:tav>
                                      </p:tavLst>
                                    </p:anim>
                                    <p:anim calcmode="lin" valueType="num">
                                      <p:cBhvr>
                                        <p:cTn id="8" dur="500" fill="hold"/>
                                        <p:tgtEl>
                                          <p:spTgt spid="9523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4" grpId="0" animBg="1" autoUpdateAnimBg="0"/>
    </p:bldLst>
  </p:timing>
</p:sld>
</file>

<file path=ppt/slides/slide1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Graph Matching</a:t>
            </a:r>
          </a:p>
        </p:txBody>
      </p:sp>
      <p:sp>
        <p:nvSpPr>
          <p:cNvPr id="228356" name="Rectangle 4"/>
          <p:cNvSpPr>
            <a:spLocks noChangeArrowheads="1"/>
          </p:cNvSpPr>
          <p:nvPr/>
        </p:nvSpPr>
        <p:spPr bwMode="auto">
          <a:xfrm>
            <a:off x="1676400" y="838200"/>
            <a:ext cx="5715000" cy="7270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eaLnBrk="1" hangingPunct="1">
              <a:spcBef>
                <a:spcPct val="50000"/>
              </a:spcBef>
              <a:buFont typeface="Wingdings" pitchFamily="2" charset="2"/>
              <a:buNone/>
            </a:pPr>
            <a:r>
              <a:rPr lang="en-US" sz="2000" dirty="0">
                <a:solidFill>
                  <a:schemeClr val="tx2"/>
                </a:solidFill>
              </a:rPr>
              <a:t>M </a:t>
            </a:r>
            <a:r>
              <a:rPr lang="en-US" sz="2000" dirty="0">
                <a:solidFill>
                  <a:schemeClr val="tx2"/>
                </a:solidFill>
                <a:sym typeface="Symbol" pitchFamily="18" charset="2"/>
              </a:rPr>
              <a:t> </a:t>
            </a:r>
            <a:r>
              <a:rPr lang="en-US" sz="2000" dirty="0">
                <a:solidFill>
                  <a:schemeClr val="tx2"/>
                </a:solidFill>
              </a:rPr>
              <a:t>E(G) is a </a:t>
            </a:r>
            <a:r>
              <a:rPr lang="en-US" sz="2400" b="1" dirty="0">
                <a:solidFill>
                  <a:srgbClr val="CC0000"/>
                </a:solidFill>
              </a:rPr>
              <a:t>matching</a:t>
            </a:r>
            <a:r>
              <a:rPr lang="en-US" sz="2000" dirty="0">
                <a:solidFill>
                  <a:schemeClr val="tx2"/>
                </a:solidFill>
              </a:rPr>
              <a:t> in undirected graph G </a:t>
            </a:r>
            <a:br>
              <a:rPr lang="en-US" sz="2000" dirty="0">
                <a:solidFill>
                  <a:schemeClr val="tx2"/>
                </a:solidFill>
              </a:rPr>
            </a:br>
            <a:r>
              <a:rPr lang="en-US" sz="2000" dirty="0">
                <a:solidFill>
                  <a:schemeClr val="tx2"/>
                </a:solidFill>
              </a:rPr>
              <a:t>if no two edges in M share a common vertex.</a:t>
            </a:r>
          </a:p>
        </p:txBody>
      </p:sp>
      <p:grpSp>
        <p:nvGrpSpPr>
          <p:cNvPr id="228596" name="Group 244"/>
          <p:cNvGrpSpPr>
            <a:grpSpLocks/>
          </p:cNvGrpSpPr>
          <p:nvPr/>
        </p:nvGrpSpPr>
        <p:grpSpPr bwMode="auto">
          <a:xfrm>
            <a:off x="762000" y="1828800"/>
            <a:ext cx="7343775" cy="2768600"/>
            <a:chOff x="480" y="1152"/>
            <a:chExt cx="4626" cy="1744"/>
          </a:xfrm>
          <a:scene3d>
            <a:camera prst="orthographicFront">
              <a:rot lat="0" lon="0" rev="0"/>
            </a:camera>
            <a:lightRig rig="balanced" dir="t">
              <a:rot lat="0" lon="0" rev="8700000"/>
            </a:lightRig>
          </a:scene3d>
        </p:grpSpPr>
        <p:sp>
          <p:nvSpPr>
            <p:cNvPr id="159805" name="Oval 5"/>
            <p:cNvSpPr>
              <a:spLocks noChangeArrowheads="1"/>
            </p:cNvSpPr>
            <p:nvPr/>
          </p:nvSpPr>
          <p:spPr bwMode="auto">
            <a:xfrm>
              <a:off x="490" y="1516"/>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06" name="Oval 6"/>
            <p:cNvSpPr>
              <a:spLocks noChangeArrowheads="1"/>
            </p:cNvSpPr>
            <p:nvPr/>
          </p:nvSpPr>
          <p:spPr bwMode="auto">
            <a:xfrm>
              <a:off x="490" y="1852"/>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07" name="Oval 7"/>
            <p:cNvSpPr>
              <a:spLocks noChangeArrowheads="1"/>
            </p:cNvSpPr>
            <p:nvPr/>
          </p:nvSpPr>
          <p:spPr bwMode="auto">
            <a:xfrm>
              <a:off x="490" y="2188"/>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08" name="Oval 8"/>
            <p:cNvSpPr>
              <a:spLocks noChangeArrowheads="1"/>
            </p:cNvSpPr>
            <p:nvPr/>
          </p:nvSpPr>
          <p:spPr bwMode="auto">
            <a:xfrm>
              <a:off x="922" y="1516"/>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09" name="Oval 9"/>
            <p:cNvSpPr>
              <a:spLocks noChangeArrowheads="1"/>
            </p:cNvSpPr>
            <p:nvPr/>
          </p:nvSpPr>
          <p:spPr bwMode="auto">
            <a:xfrm>
              <a:off x="922" y="1852"/>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10" name="Oval 10"/>
            <p:cNvSpPr>
              <a:spLocks noChangeArrowheads="1"/>
            </p:cNvSpPr>
            <p:nvPr/>
          </p:nvSpPr>
          <p:spPr bwMode="auto">
            <a:xfrm>
              <a:off x="922" y="2188"/>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11" name="Oval 11"/>
            <p:cNvSpPr>
              <a:spLocks noChangeArrowheads="1"/>
            </p:cNvSpPr>
            <p:nvPr/>
          </p:nvSpPr>
          <p:spPr bwMode="auto">
            <a:xfrm>
              <a:off x="1402" y="1516"/>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12" name="Oval 12"/>
            <p:cNvSpPr>
              <a:spLocks noChangeArrowheads="1"/>
            </p:cNvSpPr>
            <p:nvPr/>
          </p:nvSpPr>
          <p:spPr bwMode="auto">
            <a:xfrm>
              <a:off x="1402" y="1852"/>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13" name="Oval 13"/>
            <p:cNvSpPr>
              <a:spLocks noChangeArrowheads="1"/>
            </p:cNvSpPr>
            <p:nvPr/>
          </p:nvSpPr>
          <p:spPr bwMode="auto">
            <a:xfrm>
              <a:off x="1402" y="2188"/>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14" name="Oval 15"/>
            <p:cNvSpPr>
              <a:spLocks noChangeArrowheads="1"/>
            </p:cNvSpPr>
            <p:nvPr/>
          </p:nvSpPr>
          <p:spPr bwMode="auto">
            <a:xfrm>
              <a:off x="922" y="2572"/>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15" name="Line 17"/>
            <p:cNvSpPr>
              <a:spLocks noChangeShapeType="1"/>
            </p:cNvSpPr>
            <p:nvPr/>
          </p:nvSpPr>
          <p:spPr bwMode="auto">
            <a:xfrm>
              <a:off x="538" y="1564"/>
              <a:ext cx="432"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16" name="Line 18"/>
            <p:cNvSpPr>
              <a:spLocks noChangeShapeType="1"/>
            </p:cNvSpPr>
            <p:nvPr/>
          </p:nvSpPr>
          <p:spPr bwMode="auto">
            <a:xfrm>
              <a:off x="970" y="1564"/>
              <a:ext cx="480"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17" name="Line 19"/>
            <p:cNvSpPr>
              <a:spLocks noChangeShapeType="1"/>
            </p:cNvSpPr>
            <p:nvPr/>
          </p:nvSpPr>
          <p:spPr bwMode="auto">
            <a:xfrm>
              <a:off x="538" y="1900"/>
              <a:ext cx="432"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18" name="Line 20"/>
            <p:cNvSpPr>
              <a:spLocks noChangeShapeType="1"/>
            </p:cNvSpPr>
            <p:nvPr/>
          </p:nvSpPr>
          <p:spPr bwMode="auto">
            <a:xfrm>
              <a:off x="970" y="1900"/>
              <a:ext cx="480"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19" name="Line 21"/>
            <p:cNvSpPr>
              <a:spLocks noChangeShapeType="1"/>
            </p:cNvSpPr>
            <p:nvPr/>
          </p:nvSpPr>
          <p:spPr bwMode="auto">
            <a:xfrm>
              <a:off x="538" y="2236"/>
              <a:ext cx="432"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20" name="Line 22"/>
            <p:cNvSpPr>
              <a:spLocks noChangeShapeType="1"/>
            </p:cNvSpPr>
            <p:nvPr/>
          </p:nvSpPr>
          <p:spPr bwMode="auto">
            <a:xfrm>
              <a:off x="970" y="2236"/>
              <a:ext cx="480"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21" name="Line 23"/>
            <p:cNvSpPr>
              <a:spLocks noChangeShapeType="1"/>
            </p:cNvSpPr>
            <p:nvPr/>
          </p:nvSpPr>
          <p:spPr bwMode="auto">
            <a:xfrm>
              <a:off x="1450" y="1564"/>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22" name="Line 24"/>
            <p:cNvSpPr>
              <a:spLocks noChangeShapeType="1"/>
            </p:cNvSpPr>
            <p:nvPr/>
          </p:nvSpPr>
          <p:spPr bwMode="auto">
            <a:xfrm>
              <a:off x="1450" y="1900"/>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23" name="Line 25"/>
            <p:cNvSpPr>
              <a:spLocks noChangeShapeType="1"/>
            </p:cNvSpPr>
            <p:nvPr/>
          </p:nvSpPr>
          <p:spPr bwMode="auto">
            <a:xfrm flipH="1">
              <a:off x="970" y="2236"/>
              <a:ext cx="480" cy="384"/>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24" name="Line 26"/>
            <p:cNvSpPr>
              <a:spLocks noChangeShapeType="1"/>
            </p:cNvSpPr>
            <p:nvPr/>
          </p:nvSpPr>
          <p:spPr bwMode="auto">
            <a:xfrm>
              <a:off x="970" y="1564"/>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25" name="Line 27"/>
            <p:cNvSpPr>
              <a:spLocks noChangeShapeType="1"/>
            </p:cNvSpPr>
            <p:nvPr/>
          </p:nvSpPr>
          <p:spPr bwMode="auto">
            <a:xfrm>
              <a:off x="970" y="1900"/>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26" name="Line 28"/>
            <p:cNvSpPr>
              <a:spLocks noChangeShapeType="1"/>
            </p:cNvSpPr>
            <p:nvPr/>
          </p:nvSpPr>
          <p:spPr bwMode="auto">
            <a:xfrm>
              <a:off x="970" y="2236"/>
              <a:ext cx="0" cy="384"/>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27" name="Line 29"/>
            <p:cNvSpPr>
              <a:spLocks noChangeShapeType="1"/>
            </p:cNvSpPr>
            <p:nvPr/>
          </p:nvSpPr>
          <p:spPr bwMode="auto">
            <a:xfrm>
              <a:off x="538" y="1564"/>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28" name="Line 30"/>
            <p:cNvSpPr>
              <a:spLocks noChangeShapeType="1"/>
            </p:cNvSpPr>
            <p:nvPr/>
          </p:nvSpPr>
          <p:spPr bwMode="auto">
            <a:xfrm>
              <a:off x="538" y="1900"/>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29" name="Line 31"/>
            <p:cNvSpPr>
              <a:spLocks noChangeShapeType="1"/>
            </p:cNvSpPr>
            <p:nvPr/>
          </p:nvSpPr>
          <p:spPr bwMode="auto">
            <a:xfrm>
              <a:off x="538" y="2236"/>
              <a:ext cx="432" cy="384"/>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30" name="Line 32"/>
            <p:cNvSpPr>
              <a:spLocks noChangeShapeType="1"/>
            </p:cNvSpPr>
            <p:nvPr/>
          </p:nvSpPr>
          <p:spPr bwMode="auto">
            <a:xfrm flipH="1">
              <a:off x="970" y="1564"/>
              <a:ext cx="48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31" name="Line 33"/>
            <p:cNvSpPr>
              <a:spLocks noChangeShapeType="1"/>
            </p:cNvSpPr>
            <p:nvPr/>
          </p:nvSpPr>
          <p:spPr bwMode="auto">
            <a:xfrm flipH="1">
              <a:off x="970" y="1900"/>
              <a:ext cx="48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32" name="Line 45"/>
            <p:cNvSpPr>
              <a:spLocks noChangeShapeType="1"/>
            </p:cNvSpPr>
            <p:nvPr/>
          </p:nvSpPr>
          <p:spPr bwMode="auto">
            <a:xfrm>
              <a:off x="2650" y="1564"/>
              <a:ext cx="480" cy="0"/>
            </a:xfrm>
            <a:prstGeom prst="line">
              <a:avLst/>
            </a:prstGeom>
            <a:noFill/>
            <a:ln w="5715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33" name="Line 46"/>
            <p:cNvSpPr>
              <a:spLocks noChangeShapeType="1"/>
            </p:cNvSpPr>
            <p:nvPr/>
          </p:nvSpPr>
          <p:spPr bwMode="auto">
            <a:xfrm>
              <a:off x="2218" y="1900"/>
              <a:ext cx="432" cy="0"/>
            </a:xfrm>
            <a:prstGeom prst="line">
              <a:avLst/>
            </a:prstGeom>
            <a:noFill/>
            <a:ln w="5715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34" name="Line 60"/>
            <p:cNvSpPr>
              <a:spLocks noChangeShapeType="1"/>
            </p:cNvSpPr>
            <p:nvPr/>
          </p:nvSpPr>
          <p:spPr bwMode="auto">
            <a:xfrm flipH="1">
              <a:off x="2650" y="1900"/>
              <a:ext cx="480" cy="336"/>
            </a:xfrm>
            <a:prstGeom prst="line">
              <a:avLst/>
            </a:prstGeom>
            <a:noFill/>
            <a:ln w="5715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35" name="Line 58"/>
            <p:cNvSpPr>
              <a:spLocks noChangeShapeType="1"/>
            </p:cNvSpPr>
            <p:nvPr/>
          </p:nvSpPr>
          <p:spPr bwMode="auto">
            <a:xfrm>
              <a:off x="2218" y="2236"/>
              <a:ext cx="432" cy="384"/>
            </a:xfrm>
            <a:prstGeom prst="line">
              <a:avLst/>
            </a:prstGeom>
            <a:noFill/>
            <a:ln w="5715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36" name="Oval 34"/>
            <p:cNvSpPr>
              <a:spLocks noChangeArrowheads="1"/>
            </p:cNvSpPr>
            <p:nvPr/>
          </p:nvSpPr>
          <p:spPr bwMode="auto">
            <a:xfrm>
              <a:off x="2170" y="1516"/>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37" name="Oval 35"/>
            <p:cNvSpPr>
              <a:spLocks noChangeArrowheads="1"/>
            </p:cNvSpPr>
            <p:nvPr/>
          </p:nvSpPr>
          <p:spPr bwMode="auto">
            <a:xfrm>
              <a:off x="2170" y="1852"/>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38" name="Oval 36"/>
            <p:cNvSpPr>
              <a:spLocks noChangeArrowheads="1"/>
            </p:cNvSpPr>
            <p:nvPr/>
          </p:nvSpPr>
          <p:spPr bwMode="auto">
            <a:xfrm>
              <a:off x="2170" y="2188"/>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39" name="Oval 37"/>
            <p:cNvSpPr>
              <a:spLocks noChangeArrowheads="1"/>
            </p:cNvSpPr>
            <p:nvPr/>
          </p:nvSpPr>
          <p:spPr bwMode="auto">
            <a:xfrm>
              <a:off x="2602" y="1516"/>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40" name="Oval 38"/>
            <p:cNvSpPr>
              <a:spLocks noChangeArrowheads="1"/>
            </p:cNvSpPr>
            <p:nvPr/>
          </p:nvSpPr>
          <p:spPr bwMode="auto">
            <a:xfrm>
              <a:off x="2602" y="1852"/>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41" name="Oval 39"/>
            <p:cNvSpPr>
              <a:spLocks noChangeArrowheads="1"/>
            </p:cNvSpPr>
            <p:nvPr/>
          </p:nvSpPr>
          <p:spPr bwMode="auto">
            <a:xfrm>
              <a:off x="2602" y="2188"/>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42" name="Oval 40"/>
            <p:cNvSpPr>
              <a:spLocks noChangeArrowheads="1"/>
            </p:cNvSpPr>
            <p:nvPr/>
          </p:nvSpPr>
          <p:spPr bwMode="auto">
            <a:xfrm>
              <a:off x="3082" y="1516"/>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43" name="Oval 41"/>
            <p:cNvSpPr>
              <a:spLocks noChangeArrowheads="1"/>
            </p:cNvSpPr>
            <p:nvPr/>
          </p:nvSpPr>
          <p:spPr bwMode="auto">
            <a:xfrm>
              <a:off x="3082" y="1852"/>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44" name="Oval 42"/>
            <p:cNvSpPr>
              <a:spLocks noChangeArrowheads="1"/>
            </p:cNvSpPr>
            <p:nvPr/>
          </p:nvSpPr>
          <p:spPr bwMode="auto">
            <a:xfrm>
              <a:off x="3082" y="2188"/>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45" name="Oval 43"/>
            <p:cNvSpPr>
              <a:spLocks noChangeArrowheads="1"/>
            </p:cNvSpPr>
            <p:nvPr/>
          </p:nvSpPr>
          <p:spPr bwMode="auto">
            <a:xfrm>
              <a:off x="2602" y="2572"/>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46" name="Line 44"/>
            <p:cNvSpPr>
              <a:spLocks noChangeShapeType="1"/>
            </p:cNvSpPr>
            <p:nvPr/>
          </p:nvSpPr>
          <p:spPr bwMode="auto">
            <a:xfrm>
              <a:off x="2218" y="1564"/>
              <a:ext cx="432"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47" name="Line 47"/>
            <p:cNvSpPr>
              <a:spLocks noChangeShapeType="1"/>
            </p:cNvSpPr>
            <p:nvPr/>
          </p:nvSpPr>
          <p:spPr bwMode="auto">
            <a:xfrm>
              <a:off x="2650" y="1900"/>
              <a:ext cx="480"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48" name="Line 48"/>
            <p:cNvSpPr>
              <a:spLocks noChangeShapeType="1"/>
            </p:cNvSpPr>
            <p:nvPr/>
          </p:nvSpPr>
          <p:spPr bwMode="auto">
            <a:xfrm>
              <a:off x="2218" y="2236"/>
              <a:ext cx="432"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49" name="Line 49"/>
            <p:cNvSpPr>
              <a:spLocks noChangeShapeType="1"/>
            </p:cNvSpPr>
            <p:nvPr/>
          </p:nvSpPr>
          <p:spPr bwMode="auto">
            <a:xfrm>
              <a:off x="2650" y="2236"/>
              <a:ext cx="480"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50" name="Line 50"/>
            <p:cNvSpPr>
              <a:spLocks noChangeShapeType="1"/>
            </p:cNvSpPr>
            <p:nvPr/>
          </p:nvSpPr>
          <p:spPr bwMode="auto">
            <a:xfrm>
              <a:off x="3130" y="1564"/>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51" name="Line 51"/>
            <p:cNvSpPr>
              <a:spLocks noChangeShapeType="1"/>
            </p:cNvSpPr>
            <p:nvPr/>
          </p:nvSpPr>
          <p:spPr bwMode="auto">
            <a:xfrm>
              <a:off x="3130" y="1900"/>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52" name="Line 52"/>
            <p:cNvSpPr>
              <a:spLocks noChangeShapeType="1"/>
            </p:cNvSpPr>
            <p:nvPr/>
          </p:nvSpPr>
          <p:spPr bwMode="auto">
            <a:xfrm flipH="1">
              <a:off x="2650" y="2236"/>
              <a:ext cx="480" cy="384"/>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53" name="Line 53"/>
            <p:cNvSpPr>
              <a:spLocks noChangeShapeType="1"/>
            </p:cNvSpPr>
            <p:nvPr/>
          </p:nvSpPr>
          <p:spPr bwMode="auto">
            <a:xfrm>
              <a:off x="2650" y="1564"/>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54" name="Line 54"/>
            <p:cNvSpPr>
              <a:spLocks noChangeShapeType="1"/>
            </p:cNvSpPr>
            <p:nvPr/>
          </p:nvSpPr>
          <p:spPr bwMode="auto">
            <a:xfrm>
              <a:off x="2650" y="1900"/>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55" name="Line 55"/>
            <p:cNvSpPr>
              <a:spLocks noChangeShapeType="1"/>
            </p:cNvSpPr>
            <p:nvPr/>
          </p:nvSpPr>
          <p:spPr bwMode="auto">
            <a:xfrm>
              <a:off x="2650" y="2236"/>
              <a:ext cx="0" cy="384"/>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56" name="Line 56"/>
            <p:cNvSpPr>
              <a:spLocks noChangeShapeType="1"/>
            </p:cNvSpPr>
            <p:nvPr/>
          </p:nvSpPr>
          <p:spPr bwMode="auto">
            <a:xfrm>
              <a:off x="2218" y="1564"/>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57" name="Line 57"/>
            <p:cNvSpPr>
              <a:spLocks noChangeShapeType="1"/>
            </p:cNvSpPr>
            <p:nvPr/>
          </p:nvSpPr>
          <p:spPr bwMode="auto">
            <a:xfrm>
              <a:off x="2218" y="1900"/>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58" name="Line 59"/>
            <p:cNvSpPr>
              <a:spLocks noChangeShapeType="1"/>
            </p:cNvSpPr>
            <p:nvPr/>
          </p:nvSpPr>
          <p:spPr bwMode="auto">
            <a:xfrm flipH="1">
              <a:off x="2650" y="1564"/>
              <a:ext cx="48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59" name="Text Box 89"/>
            <p:cNvSpPr txBox="1">
              <a:spLocks noChangeArrowheads="1"/>
            </p:cNvSpPr>
            <p:nvPr/>
          </p:nvSpPr>
          <p:spPr bwMode="auto">
            <a:xfrm>
              <a:off x="2122" y="2428"/>
              <a:ext cx="310" cy="228"/>
            </a:xfrm>
            <a:prstGeom prst="rect">
              <a:avLst/>
            </a:prstGeom>
            <a:noFill/>
            <a:ln w="12700">
              <a:noFill/>
              <a:miter lim="800000"/>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rgbClr val="FFFFFF"/>
                  </a:solidFill>
                </a14:hiddenFill>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000" dirty="0"/>
                <a:t>M</a:t>
              </a:r>
              <a:r>
                <a:rPr lang="en-US" sz="2000" baseline="-25000" dirty="0"/>
                <a:t>1</a:t>
              </a:r>
            </a:p>
          </p:txBody>
        </p:sp>
        <p:sp>
          <p:nvSpPr>
            <p:cNvPr id="159860" name="Line 83"/>
            <p:cNvSpPr>
              <a:spLocks noChangeShapeType="1"/>
            </p:cNvSpPr>
            <p:nvPr/>
          </p:nvSpPr>
          <p:spPr bwMode="auto">
            <a:xfrm>
              <a:off x="3898" y="1516"/>
              <a:ext cx="0" cy="336"/>
            </a:xfrm>
            <a:prstGeom prst="line">
              <a:avLst/>
            </a:prstGeom>
            <a:noFill/>
            <a:ln w="5715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61" name="Line 72"/>
            <p:cNvSpPr>
              <a:spLocks noChangeShapeType="1"/>
            </p:cNvSpPr>
            <p:nvPr/>
          </p:nvSpPr>
          <p:spPr bwMode="auto">
            <a:xfrm>
              <a:off x="4330" y="1516"/>
              <a:ext cx="480" cy="0"/>
            </a:xfrm>
            <a:prstGeom prst="line">
              <a:avLst/>
            </a:prstGeom>
            <a:noFill/>
            <a:ln w="5715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62" name="Line 74"/>
            <p:cNvSpPr>
              <a:spLocks noChangeShapeType="1"/>
            </p:cNvSpPr>
            <p:nvPr/>
          </p:nvSpPr>
          <p:spPr bwMode="auto">
            <a:xfrm>
              <a:off x="4330" y="1852"/>
              <a:ext cx="480" cy="0"/>
            </a:xfrm>
            <a:prstGeom prst="line">
              <a:avLst/>
            </a:prstGeom>
            <a:noFill/>
            <a:ln w="5715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63" name="Line 76"/>
            <p:cNvSpPr>
              <a:spLocks noChangeShapeType="1"/>
            </p:cNvSpPr>
            <p:nvPr/>
          </p:nvSpPr>
          <p:spPr bwMode="auto">
            <a:xfrm>
              <a:off x="4330" y="2188"/>
              <a:ext cx="480" cy="0"/>
            </a:xfrm>
            <a:prstGeom prst="line">
              <a:avLst/>
            </a:prstGeom>
            <a:noFill/>
            <a:ln w="5715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64" name="Line 85"/>
            <p:cNvSpPr>
              <a:spLocks noChangeShapeType="1"/>
            </p:cNvSpPr>
            <p:nvPr/>
          </p:nvSpPr>
          <p:spPr bwMode="auto">
            <a:xfrm>
              <a:off x="3898" y="2188"/>
              <a:ext cx="432" cy="384"/>
            </a:xfrm>
            <a:prstGeom prst="line">
              <a:avLst/>
            </a:prstGeom>
            <a:noFill/>
            <a:ln w="5715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65" name="Oval 61"/>
            <p:cNvSpPr>
              <a:spLocks noChangeArrowheads="1"/>
            </p:cNvSpPr>
            <p:nvPr/>
          </p:nvSpPr>
          <p:spPr bwMode="auto">
            <a:xfrm>
              <a:off x="3850" y="1468"/>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66" name="Oval 62"/>
            <p:cNvSpPr>
              <a:spLocks noChangeArrowheads="1"/>
            </p:cNvSpPr>
            <p:nvPr/>
          </p:nvSpPr>
          <p:spPr bwMode="auto">
            <a:xfrm>
              <a:off x="3850" y="1804"/>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67" name="Oval 63"/>
            <p:cNvSpPr>
              <a:spLocks noChangeArrowheads="1"/>
            </p:cNvSpPr>
            <p:nvPr/>
          </p:nvSpPr>
          <p:spPr bwMode="auto">
            <a:xfrm>
              <a:off x="3850" y="2140"/>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68" name="Oval 64"/>
            <p:cNvSpPr>
              <a:spLocks noChangeArrowheads="1"/>
            </p:cNvSpPr>
            <p:nvPr/>
          </p:nvSpPr>
          <p:spPr bwMode="auto">
            <a:xfrm>
              <a:off x="4282" y="1468"/>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69" name="Oval 65"/>
            <p:cNvSpPr>
              <a:spLocks noChangeArrowheads="1"/>
            </p:cNvSpPr>
            <p:nvPr/>
          </p:nvSpPr>
          <p:spPr bwMode="auto">
            <a:xfrm>
              <a:off x="4282" y="1804"/>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70" name="Oval 66"/>
            <p:cNvSpPr>
              <a:spLocks noChangeArrowheads="1"/>
            </p:cNvSpPr>
            <p:nvPr/>
          </p:nvSpPr>
          <p:spPr bwMode="auto">
            <a:xfrm>
              <a:off x="4282" y="2140"/>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71" name="Oval 67"/>
            <p:cNvSpPr>
              <a:spLocks noChangeArrowheads="1"/>
            </p:cNvSpPr>
            <p:nvPr/>
          </p:nvSpPr>
          <p:spPr bwMode="auto">
            <a:xfrm>
              <a:off x="4762" y="1468"/>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72" name="Oval 68"/>
            <p:cNvSpPr>
              <a:spLocks noChangeArrowheads="1"/>
            </p:cNvSpPr>
            <p:nvPr/>
          </p:nvSpPr>
          <p:spPr bwMode="auto">
            <a:xfrm>
              <a:off x="4762" y="1804"/>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73" name="Oval 69"/>
            <p:cNvSpPr>
              <a:spLocks noChangeArrowheads="1"/>
            </p:cNvSpPr>
            <p:nvPr/>
          </p:nvSpPr>
          <p:spPr bwMode="auto">
            <a:xfrm>
              <a:off x="4762" y="2140"/>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74" name="Oval 70"/>
            <p:cNvSpPr>
              <a:spLocks noChangeArrowheads="1"/>
            </p:cNvSpPr>
            <p:nvPr/>
          </p:nvSpPr>
          <p:spPr bwMode="auto">
            <a:xfrm>
              <a:off x="4282" y="2524"/>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75" name="Line 71"/>
            <p:cNvSpPr>
              <a:spLocks noChangeShapeType="1"/>
            </p:cNvSpPr>
            <p:nvPr/>
          </p:nvSpPr>
          <p:spPr bwMode="auto">
            <a:xfrm>
              <a:off x="3898" y="1516"/>
              <a:ext cx="432"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76" name="Line 73"/>
            <p:cNvSpPr>
              <a:spLocks noChangeShapeType="1"/>
            </p:cNvSpPr>
            <p:nvPr/>
          </p:nvSpPr>
          <p:spPr bwMode="auto">
            <a:xfrm>
              <a:off x="3898" y="1852"/>
              <a:ext cx="432"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77" name="Line 75"/>
            <p:cNvSpPr>
              <a:spLocks noChangeShapeType="1"/>
            </p:cNvSpPr>
            <p:nvPr/>
          </p:nvSpPr>
          <p:spPr bwMode="auto">
            <a:xfrm>
              <a:off x="3898" y="2188"/>
              <a:ext cx="432"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78" name="Line 77"/>
            <p:cNvSpPr>
              <a:spLocks noChangeShapeType="1"/>
            </p:cNvSpPr>
            <p:nvPr/>
          </p:nvSpPr>
          <p:spPr bwMode="auto">
            <a:xfrm>
              <a:off x="4810" y="1516"/>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79" name="Line 78"/>
            <p:cNvSpPr>
              <a:spLocks noChangeShapeType="1"/>
            </p:cNvSpPr>
            <p:nvPr/>
          </p:nvSpPr>
          <p:spPr bwMode="auto">
            <a:xfrm>
              <a:off x="4810" y="1852"/>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80" name="Line 79"/>
            <p:cNvSpPr>
              <a:spLocks noChangeShapeType="1"/>
            </p:cNvSpPr>
            <p:nvPr/>
          </p:nvSpPr>
          <p:spPr bwMode="auto">
            <a:xfrm flipH="1">
              <a:off x="4330" y="2188"/>
              <a:ext cx="480" cy="384"/>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81" name="Line 80"/>
            <p:cNvSpPr>
              <a:spLocks noChangeShapeType="1"/>
            </p:cNvSpPr>
            <p:nvPr/>
          </p:nvSpPr>
          <p:spPr bwMode="auto">
            <a:xfrm>
              <a:off x="4330" y="1516"/>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82" name="Line 81"/>
            <p:cNvSpPr>
              <a:spLocks noChangeShapeType="1"/>
            </p:cNvSpPr>
            <p:nvPr/>
          </p:nvSpPr>
          <p:spPr bwMode="auto">
            <a:xfrm>
              <a:off x="4330" y="1852"/>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83" name="Line 82"/>
            <p:cNvSpPr>
              <a:spLocks noChangeShapeType="1"/>
            </p:cNvSpPr>
            <p:nvPr/>
          </p:nvSpPr>
          <p:spPr bwMode="auto">
            <a:xfrm>
              <a:off x="4330" y="2188"/>
              <a:ext cx="0" cy="384"/>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84" name="Line 84"/>
            <p:cNvSpPr>
              <a:spLocks noChangeShapeType="1"/>
            </p:cNvSpPr>
            <p:nvPr/>
          </p:nvSpPr>
          <p:spPr bwMode="auto">
            <a:xfrm>
              <a:off x="3898" y="1852"/>
              <a:ext cx="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85" name="Line 86"/>
            <p:cNvSpPr>
              <a:spLocks noChangeShapeType="1"/>
            </p:cNvSpPr>
            <p:nvPr/>
          </p:nvSpPr>
          <p:spPr bwMode="auto">
            <a:xfrm flipH="1">
              <a:off x="4330" y="1516"/>
              <a:ext cx="48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86" name="Line 87"/>
            <p:cNvSpPr>
              <a:spLocks noChangeShapeType="1"/>
            </p:cNvSpPr>
            <p:nvPr/>
          </p:nvSpPr>
          <p:spPr bwMode="auto">
            <a:xfrm flipH="1">
              <a:off x="4330" y="1852"/>
              <a:ext cx="480" cy="336"/>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nchor="ctr" anchorCtr="1">
              <a:spAutoFit/>
            </a:bodyPr>
            <a:lstStyle/>
            <a:p>
              <a:endParaRPr lang="en-CA"/>
            </a:p>
          </p:txBody>
        </p:sp>
        <p:sp>
          <p:nvSpPr>
            <p:cNvPr id="159887" name="Text Box 90"/>
            <p:cNvSpPr txBox="1">
              <a:spLocks noChangeArrowheads="1"/>
            </p:cNvSpPr>
            <p:nvPr/>
          </p:nvSpPr>
          <p:spPr bwMode="auto">
            <a:xfrm>
              <a:off x="3802" y="2332"/>
              <a:ext cx="310" cy="228"/>
            </a:xfrm>
            <a:prstGeom prst="rect">
              <a:avLst/>
            </a:prstGeom>
            <a:noFill/>
            <a:ln w="12700">
              <a:noFill/>
              <a:miter lim="800000"/>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rgbClr val="FFFFFF"/>
                  </a:solidFill>
                </a14:hiddenFill>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000" dirty="0"/>
                <a:t>M</a:t>
              </a:r>
              <a:r>
                <a:rPr lang="en-US" sz="2000" baseline="-25000" dirty="0"/>
                <a:t>2</a:t>
              </a:r>
            </a:p>
          </p:txBody>
        </p:sp>
        <p:sp>
          <p:nvSpPr>
            <p:cNvPr id="159888" name="Text Box 96"/>
            <p:cNvSpPr txBox="1">
              <a:spLocks noChangeArrowheads="1"/>
            </p:cNvSpPr>
            <p:nvPr/>
          </p:nvSpPr>
          <p:spPr bwMode="auto">
            <a:xfrm>
              <a:off x="3802" y="2668"/>
              <a:ext cx="1304" cy="228"/>
            </a:xfrm>
            <a:prstGeom prst="rect">
              <a:avLst/>
            </a:prstGeom>
            <a:noFill/>
            <a:ln w="12700">
              <a:noFill/>
              <a:miter lim="800000"/>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rgbClr val="FFFF66"/>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None/>
              </a:pPr>
              <a:r>
                <a:rPr lang="en-US" sz="2000" dirty="0"/>
                <a:t>a perfect matching</a:t>
              </a:r>
            </a:p>
          </p:txBody>
        </p:sp>
        <p:sp>
          <p:nvSpPr>
            <p:cNvPr id="159889" name="Text Box 104"/>
            <p:cNvSpPr txBox="1">
              <a:spLocks noChangeArrowheads="1"/>
            </p:cNvSpPr>
            <p:nvPr/>
          </p:nvSpPr>
          <p:spPr bwMode="auto">
            <a:xfrm>
              <a:off x="480" y="1152"/>
              <a:ext cx="1699" cy="228"/>
            </a:xfrm>
            <a:prstGeom prst="rect">
              <a:avLst/>
            </a:prstGeom>
            <a:noFill/>
            <a:ln w="12700">
              <a:noFill/>
              <a:miter lim="800000"/>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rgbClr val="FFFF66"/>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None/>
              </a:pPr>
              <a:r>
                <a:rPr lang="en-US" sz="2000" dirty="0"/>
                <a:t>G: a non-bipartite graph:</a:t>
              </a:r>
            </a:p>
          </p:txBody>
        </p:sp>
      </p:grpSp>
      <p:grpSp>
        <p:nvGrpSpPr>
          <p:cNvPr id="228598" name="Group 246"/>
          <p:cNvGrpSpPr>
            <a:grpSpLocks/>
          </p:cNvGrpSpPr>
          <p:nvPr/>
        </p:nvGrpSpPr>
        <p:grpSpPr bwMode="auto">
          <a:xfrm>
            <a:off x="304800" y="4724400"/>
            <a:ext cx="8534400" cy="1752600"/>
            <a:chOff x="192" y="2976"/>
            <a:chExt cx="5376" cy="1104"/>
          </a:xfrm>
          <a:scene3d>
            <a:camera prst="orthographicFront">
              <a:rot lat="0" lon="0" rev="0"/>
            </a:camera>
            <a:lightRig rig="balanced" dir="t">
              <a:rot lat="0" lon="0" rev="8700000"/>
            </a:lightRig>
          </a:scene3d>
        </p:grpSpPr>
        <p:sp>
          <p:nvSpPr>
            <p:cNvPr id="159750" name="Text Box 191"/>
            <p:cNvSpPr txBox="1">
              <a:spLocks noChangeArrowheads="1"/>
            </p:cNvSpPr>
            <p:nvPr/>
          </p:nvSpPr>
          <p:spPr bwMode="auto">
            <a:xfrm>
              <a:off x="384" y="2976"/>
              <a:ext cx="1406" cy="228"/>
            </a:xfrm>
            <a:prstGeom prst="rect">
              <a:avLst/>
            </a:prstGeom>
            <a:noFill/>
            <a:ln w="12700">
              <a:noFill/>
              <a:miter lim="800000"/>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rgbClr val="FFFF66"/>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None/>
              </a:pPr>
              <a:r>
                <a:rPr lang="en-US" sz="2000" dirty="0"/>
                <a:t>G: a bipartite graph:</a:t>
              </a:r>
            </a:p>
          </p:txBody>
        </p:sp>
        <p:sp>
          <p:nvSpPr>
            <p:cNvPr id="159751" name="Line 198"/>
            <p:cNvSpPr>
              <a:spLocks noChangeShapeType="1"/>
            </p:cNvSpPr>
            <p:nvPr/>
          </p:nvSpPr>
          <p:spPr bwMode="auto">
            <a:xfrm flipH="1">
              <a:off x="3216" y="3360"/>
              <a:ext cx="192" cy="672"/>
            </a:xfrm>
            <a:prstGeom prst="line">
              <a:avLst/>
            </a:prstGeom>
            <a:noFill/>
            <a:ln w="5715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52" name="Line 199"/>
            <p:cNvSpPr>
              <a:spLocks noChangeShapeType="1"/>
            </p:cNvSpPr>
            <p:nvPr/>
          </p:nvSpPr>
          <p:spPr bwMode="auto">
            <a:xfrm>
              <a:off x="3408" y="3360"/>
              <a:ext cx="1200"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53" name="Line 200"/>
            <p:cNvSpPr>
              <a:spLocks noChangeShapeType="1"/>
            </p:cNvSpPr>
            <p:nvPr/>
          </p:nvSpPr>
          <p:spPr bwMode="auto">
            <a:xfrm>
              <a:off x="3408" y="3360"/>
              <a:ext cx="240"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54" name="Line 201"/>
            <p:cNvSpPr>
              <a:spLocks noChangeShapeType="1"/>
            </p:cNvSpPr>
            <p:nvPr/>
          </p:nvSpPr>
          <p:spPr bwMode="auto">
            <a:xfrm>
              <a:off x="3408" y="3360"/>
              <a:ext cx="2112"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55" name="Line 202"/>
            <p:cNvSpPr>
              <a:spLocks noChangeShapeType="1"/>
            </p:cNvSpPr>
            <p:nvPr/>
          </p:nvSpPr>
          <p:spPr bwMode="auto">
            <a:xfrm flipH="1">
              <a:off x="3648" y="3360"/>
              <a:ext cx="192" cy="672"/>
            </a:xfrm>
            <a:prstGeom prst="line">
              <a:avLst/>
            </a:prstGeom>
            <a:noFill/>
            <a:ln w="5715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56" name="Line 203"/>
            <p:cNvSpPr>
              <a:spLocks noChangeShapeType="1"/>
            </p:cNvSpPr>
            <p:nvPr/>
          </p:nvSpPr>
          <p:spPr bwMode="auto">
            <a:xfrm>
              <a:off x="3840" y="3360"/>
              <a:ext cx="288"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57" name="Line 204"/>
            <p:cNvSpPr>
              <a:spLocks noChangeShapeType="1"/>
            </p:cNvSpPr>
            <p:nvPr/>
          </p:nvSpPr>
          <p:spPr bwMode="auto">
            <a:xfrm>
              <a:off x="3840" y="3360"/>
              <a:ext cx="1200"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58" name="Line 205"/>
            <p:cNvSpPr>
              <a:spLocks noChangeShapeType="1"/>
            </p:cNvSpPr>
            <p:nvPr/>
          </p:nvSpPr>
          <p:spPr bwMode="auto">
            <a:xfrm flipH="1">
              <a:off x="3216" y="3360"/>
              <a:ext cx="1104"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59" name="Line 206"/>
            <p:cNvSpPr>
              <a:spLocks noChangeShapeType="1"/>
            </p:cNvSpPr>
            <p:nvPr/>
          </p:nvSpPr>
          <p:spPr bwMode="auto">
            <a:xfrm flipH="1">
              <a:off x="4128" y="3360"/>
              <a:ext cx="192"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60" name="Line 207"/>
            <p:cNvSpPr>
              <a:spLocks noChangeShapeType="1"/>
            </p:cNvSpPr>
            <p:nvPr/>
          </p:nvSpPr>
          <p:spPr bwMode="auto">
            <a:xfrm>
              <a:off x="4320" y="3360"/>
              <a:ext cx="288"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61" name="Line 208"/>
            <p:cNvSpPr>
              <a:spLocks noChangeShapeType="1"/>
            </p:cNvSpPr>
            <p:nvPr/>
          </p:nvSpPr>
          <p:spPr bwMode="auto">
            <a:xfrm>
              <a:off x="4320" y="3360"/>
              <a:ext cx="1200" cy="672"/>
            </a:xfrm>
            <a:prstGeom prst="line">
              <a:avLst/>
            </a:prstGeom>
            <a:noFill/>
            <a:ln w="5715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62" name="Line 210"/>
            <p:cNvSpPr>
              <a:spLocks noChangeShapeType="1"/>
            </p:cNvSpPr>
            <p:nvPr/>
          </p:nvSpPr>
          <p:spPr bwMode="auto">
            <a:xfrm>
              <a:off x="4800" y="3360"/>
              <a:ext cx="240"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63" name="Line 211"/>
            <p:cNvSpPr>
              <a:spLocks noChangeShapeType="1"/>
            </p:cNvSpPr>
            <p:nvPr/>
          </p:nvSpPr>
          <p:spPr bwMode="auto">
            <a:xfrm flipH="1">
              <a:off x="4128" y="3360"/>
              <a:ext cx="672" cy="672"/>
            </a:xfrm>
            <a:prstGeom prst="line">
              <a:avLst/>
            </a:prstGeom>
            <a:noFill/>
            <a:ln w="5715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64" name="Line 212"/>
            <p:cNvSpPr>
              <a:spLocks noChangeShapeType="1"/>
            </p:cNvSpPr>
            <p:nvPr/>
          </p:nvSpPr>
          <p:spPr bwMode="auto">
            <a:xfrm flipH="1">
              <a:off x="5040" y="3360"/>
              <a:ext cx="192" cy="672"/>
            </a:xfrm>
            <a:prstGeom prst="line">
              <a:avLst/>
            </a:prstGeom>
            <a:noFill/>
            <a:ln w="5715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65" name="Line 213"/>
            <p:cNvSpPr>
              <a:spLocks noChangeShapeType="1"/>
            </p:cNvSpPr>
            <p:nvPr/>
          </p:nvSpPr>
          <p:spPr bwMode="auto">
            <a:xfrm flipH="1">
              <a:off x="3216" y="3360"/>
              <a:ext cx="2016"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66" name="Line 214"/>
            <p:cNvSpPr>
              <a:spLocks noChangeShapeType="1"/>
            </p:cNvSpPr>
            <p:nvPr/>
          </p:nvSpPr>
          <p:spPr bwMode="auto">
            <a:xfrm flipH="1">
              <a:off x="4128" y="3360"/>
              <a:ext cx="1104"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67" name="Oval 108"/>
            <p:cNvSpPr>
              <a:spLocks noChangeArrowheads="1"/>
            </p:cNvSpPr>
            <p:nvPr/>
          </p:nvSpPr>
          <p:spPr bwMode="auto">
            <a:xfrm>
              <a:off x="3168" y="3984"/>
              <a:ext cx="96" cy="96"/>
            </a:xfrm>
            <a:prstGeom prst="ellipse">
              <a:avLst/>
            </a:prstGeom>
            <a:solidFill>
              <a:srgbClr val="339933"/>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68" name="Oval 111"/>
            <p:cNvSpPr>
              <a:spLocks noChangeArrowheads="1"/>
            </p:cNvSpPr>
            <p:nvPr/>
          </p:nvSpPr>
          <p:spPr bwMode="auto">
            <a:xfrm>
              <a:off x="3600" y="3984"/>
              <a:ext cx="96" cy="96"/>
            </a:xfrm>
            <a:prstGeom prst="ellipse">
              <a:avLst/>
            </a:prstGeom>
            <a:solidFill>
              <a:srgbClr val="339933"/>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69" name="Oval 114"/>
            <p:cNvSpPr>
              <a:spLocks noChangeArrowheads="1"/>
            </p:cNvSpPr>
            <p:nvPr/>
          </p:nvSpPr>
          <p:spPr bwMode="auto">
            <a:xfrm>
              <a:off x="4080" y="3984"/>
              <a:ext cx="96" cy="96"/>
            </a:xfrm>
            <a:prstGeom prst="ellipse">
              <a:avLst/>
            </a:prstGeom>
            <a:solidFill>
              <a:srgbClr val="339933"/>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70" name="Oval 139"/>
            <p:cNvSpPr>
              <a:spLocks noChangeArrowheads="1"/>
            </p:cNvSpPr>
            <p:nvPr/>
          </p:nvSpPr>
          <p:spPr bwMode="auto">
            <a:xfrm>
              <a:off x="4560" y="3984"/>
              <a:ext cx="96" cy="96"/>
            </a:xfrm>
            <a:prstGeom prst="ellipse">
              <a:avLst/>
            </a:prstGeom>
            <a:solidFill>
              <a:srgbClr val="339933"/>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71" name="Oval 142"/>
            <p:cNvSpPr>
              <a:spLocks noChangeArrowheads="1"/>
            </p:cNvSpPr>
            <p:nvPr/>
          </p:nvSpPr>
          <p:spPr bwMode="auto">
            <a:xfrm>
              <a:off x="4992" y="3984"/>
              <a:ext cx="96" cy="96"/>
            </a:xfrm>
            <a:prstGeom prst="ellipse">
              <a:avLst/>
            </a:prstGeom>
            <a:solidFill>
              <a:srgbClr val="339933"/>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72" name="Oval 145"/>
            <p:cNvSpPr>
              <a:spLocks noChangeArrowheads="1"/>
            </p:cNvSpPr>
            <p:nvPr/>
          </p:nvSpPr>
          <p:spPr bwMode="auto">
            <a:xfrm>
              <a:off x="5472" y="3984"/>
              <a:ext cx="96" cy="96"/>
            </a:xfrm>
            <a:prstGeom prst="ellipse">
              <a:avLst/>
            </a:prstGeom>
            <a:solidFill>
              <a:srgbClr val="339933"/>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73" name="Oval 192"/>
            <p:cNvSpPr>
              <a:spLocks noChangeArrowheads="1"/>
            </p:cNvSpPr>
            <p:nvPr/>
          </p:nvSpPr>
          <p:spPr bwMode="auto">
            <a:xfrm>
              <a:off x="3360" y="3312"/>
              <a:ext cx="96" cy="96"/>
            </a:xfrm>
            <a:prstGeom prst="ellipse">
              <a:avLst/>
            </a:prstGeom>
            <a:solidFill>
              <a:schemeClr val="hlink"/>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74" name="Oval 193"/>
            <p:cNvSpPr>
              <a:spLocks noChangeArrowheads="1"/>
            </p:cNvSpPr>
            <p:nvPr/>
          </p:nvSpPr>
          <p:spPr bwMode="auto">
            <a:xfrm>
              <a:off x="3792" y="3312"/>
              <a:ext cx="96" cy="96"/>
            </a:xfrm>
            <a:prstGeom prst="ellipse">
              <a:avLst/>
            </a:prstGeom>
            <a:solidFill>
              <a:schemeClr val="hlink"/>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75" name="Oval 194"/>
            <p:cNvSpPr>
              <a:spLocks noChangeArrowheads="1"/>
            </p:cNvSpPr>
            <p:nvPr/>
          </p:nvSpPr>
          <p:spPr bwMode="auto">
            <a:xfrm>
              <a:off x="4272" y="3312"/>
              <a:ext cx="96" cy="96"/>
            </a:xfrm>
            <a:prstGeom prst="ellipse">
              <a:avLst/>
            </a:prstGeom>
            <a:solidFill>
              <a:schemeClr val="hlink"/>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76" name="Oval 195"/>
            <p:cNvSpPr>
              <a:spLocks noChangeArrowheads="1"/>
            </p:cNvSpPr>
            <p:nvPr/>
          </p:nvSpPr>
          <p:spPr bwMode="auto">
            <a:xfrm>
              <a:off x="4752" y="3312"/>
              <a:ext cx="96" cy="96"/>
            </a:xfrm>
            <a:prstGeom prst="ellipse">
              <a:avLst/>
            </a:prstGeom>
            <a:solidFill>
              <a:schemeClr val="hlink"/>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77" name="Oval 196"/>
            <p:cNvSpPr>
              <a:spLocks noChangeArrowheads="1"/>
            </p:cNvSpPr>
            <p:nvPr/>
          </p:nvSpPr>
          <p:spPr bwMode="auto">
            <a:xfrm>
              <a:off x="5184" y="3312"/>
              <a:ext cx="96" cy="96"/>
            </a:xfrm>
            <a:prstGeom prst="ellipse">
              <a:avLst/>
            </a:prstGeom>
            <a:solidFill>
              <a:schemeClr val="hlink"/>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78" name="Line 215"/>
            <p:cNvSpPr>
              <a:spLocks noChangeShapeType="1"/>
            </p:cNvSpPr>
            <p:nvPr/>
          </p:nvSpPr>
          <p:spPr bwMode="auto">
            <a:xfrm flipH="1">
              <a:off x="240" y="3360"/>
              <a:ext cx="192"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79" name="Line 216"/>
            <p:cNvSpPr>
              <a:spLocks noChangeShapeType="1"/>
            </p:cNvSpPr>
            <p:nvPr/>
          </p:nvSpPr>
          <p:spPr bwMode="auto">
            <a:xfrm>
              <a:off x="432" y="3360"/>
              <a:ext cx="1200"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80" name="Line 217"/>
            <p:cNvSpPr>
              <a:spLocks noChangeShapeType="1"/>
            </p:cNvSpPr>
            <p:nvPr/>
          </p:nvSpPr>
          <p:spPr bwMode="auto">
            <a:xfrm>
              <a:off x="432" y="3360"/>
              <a:ext cx="240"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81" name="Line 218"/>
            <p:cNvSpPr>
              <a:spLocks noChangeShapeType="1"/>
            </p:cNvSpPr>
            <p:nvPr/>
          </p:nvSpPr>
          <p:spPr bwMode="auto">
            <a:xfrm>
              <a:off x="432" y="3360"/>
              <a:ext cx="2112"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82" name="Line 219"/>
            <p:cNvSpPr>
              <a:spLocks noChangeShapeType="1"/>
            </p:cNvSpPr>
            <p:nvPr/>
          </p:nvSpPr>
          <p:spPr bwMode="auto">
            <a:xfrm flipH="1">
              <a:off x="672" y="3360"/>
              <a:ext cx="192"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83" name="Line 220"/>
            <p:cNvSpPr>
              <a:spLocks noChangeShapeType="1"/>
            </p:cNvSpPr>
            <p:nvPr/>
          </p:nvSpPr>
          <p:spPr bwMode="auto">
            <a:xfrm>
              <a:off x="864" y="3360"/>
              <a:ext cx="288"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84" name="Line 221"/>
            <p:cNvSpPr>
              <a:spLocks noChangeShapeType="1"/>
            </p:cNvSpPr>
            <p:nvPr/>
          </p:nvSpPr>
          <p:spPr bwMode="auto">
            <a:xfrm>
              <a:off x="864" y="3360"/>
              <a:ext cx="1200"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85" name="Line 222"/>
            <p:cNvSpPr>
              <a:spLocks noChangeShapeType="1"/>
            </p:cNvSpPr>
            <p:nvPr/>
          </p:nvSpPr>
          <p:spPr bwMode="auto">
            <a:xfrm flipH="1">
              <a:off x="240" y="3360"/>
              <a:ext cx="1104"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86" name="Line 223"/>
            <p:cNvSpPr>
              <a:spLocks noChangeShapeType="1"/>
            </p:cNvSpPr>
            <p:nvPr/>
          </p:nvSpPr>
          <p:spPr bwMode="auto">
            <a:xfrm flipH="1">
              <a:off x="1152" y="3360"/>
              <a:ext cx="192"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87" name="Line 224"/>
            <p:cNvSpPr>
              <a:spLocks noChangeShapeType="1"/>
            </p:cNvSpPr>
            <p:nvPr/>
          </p:nvSpPr>
          <p:spPr bwMode="auto">
            <a:xfrm>
              <a:off x="1344" y="3360"/>
              <a:ext cx="288"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88" name="Line 225"/>
            <p:cNvSpPr>
              <a:spLocks noChangeShapeType="1"/>
            </p:cNvSpPr>
            <p:nvPr/>
          </p:nvSpPr>
          <p:spPr bwMode="auto">
            <a:xfrm>
              <a:off x="1344" y="3360"/>
              <a:ext cx="1200"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89" name="Line 226"/>
            <p:cNvSpPr>
              <a:spLocks noChangeShapeType="1"/>
            </p:cNvSpPr>
            <p:nvPr/>
          </p:nvSpPr>
          <p:spPr bwMode="auto">
            <a:xfrm>
              <a:off x="1824" y="3360"/>
              <a:ext cx="240"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90" name="Line 227"/>
            <p:cNvSpPr>
              <a:spLocks noChangeShapeType="1"/>
            </p:cNvSpPr>
            <p:nvPr/>
          </p:nvSpPr>
          <p:spPr bwMode="auto">
            <a:xfrm flipH="1">
              <a:off x="1152" y="3360"/>
              <a:ext cx="672"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91" name="Line 228"/>
            <p:cNvSpPr>
              <a:spLocks noChangeShapeType="1"/>
            </p:cNvSpPr>
            <p:nvPr/>
          </p:nvSpPr>
          <p:spPr bwMode="auto">
            <a:xfrm flipH="1">
              <a:off x="2064" y="3360"/>
              <a:ext cx="192"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92" name="Line 229"/>
            <p:cNvSpPr>
              <a:spLocks noChangeShapeType="1"/>
            </p:cNvSpPr>
            <p:nvPr/>
          </p:nvSpPr>
          <p:spPr bwMode="auto">
            <a:xfrm flipH="1">
              <a:off x="240" y="3360"/>
              <a:ext cx="2016"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93" name="Line 230"/>
            <p:cNvSpPr>
              <a:spLocks noChangeShapeType="1"/>
            </p:cNvSpPr>
            <p:nvPr/>
          </p:nvSpPr>
          <p:spPr bwMode="auto">
            <a:xfrm flipH="1">
              <a:off x="1152" y="3360"/>
              <a:ext cx="1104" cy="672"/>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59794" name="Oval 231"/>
            <p:cNvSpPr>
              <a:spLocks noChangeArrowheads="1"/>
            </p:cNvSpPr>
            <p:nvPr/>
          </p:nvSpPr>
          <p:spPr bwMode="auto">
            <a:xfrm>
              <a:off x="192" y="3984"/>
              <a:ext cx="96" cy="96"/>
            </a:xfrm>
            <a:prstGeom prst="ellipse">
              <a:avLst/>
            </a:prstGeom>
            <a:solidFill>
              <a:srgbClr val="339933"/>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95" name="Oval 232"/>
            <p:cNvSpPr>
              <a:spLocks noChangeArrowheads="1"/>
            </p:cNvSpPr>
            <p:nvPr/>
          </p:nvSpPr>
          <p:spPr bwMode="auto">
            <a:xfrm>
              <a:off x="624" y="3984"/>
              <a:ext cx="96" cy="96"/>
            </a:xfrm>
            <a:prstGeom prst="ellipse">
              <a:avLst/>
            </a:prstGeom>
            <a:solidFill>
              <a:srgbClr val="339933"/>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96" name="Oval 233"/>
            <p:cNvSpPr>
              <a:spLocks noChangeArrowheads="1"/>
            </p:cNvSpPr>
            <p:nvPr/>
          </p:nvSpPr>
          <p:spPr bwMode="auto">
            <a:xfrm>
              <a:off x="1104" y="3984"/>
              <a:ext cx="96" cy="96"/>
            </a:xfrm>
            <a:prstGeom prst="ellipse">
              <a:avLst/>
            </a:prstGeom>
            <a:solidFill>
              <a:srgbClr val="339933"/>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97" name="Oval 234"/>
            <p:cNvSpPr>
              <a:spLocks noChangeArrowheads="1"/>
            </p:cNvSpPr>
            <p:nvPr/>
          </p:nvSpPr>
          <p:spPr bwMode="auto">
            <a:xfrm>
              <a:off x="1584" y="3984"/>
              <a:ext cx="96" cy="96"/>
            </a:xfrm>
            <a:prstGeom prst="ellipse">
              <a:avLst/>
            </a:prstGeom>
            <a:solidFill>
              <a:srgbClr val="339933"/>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98" name="Oval 235"/>
            <p:cNvSpPr>
              <a:spLocks noChangeArrowheads="1"/>
            </p:cNvSpPr>
            <p:nvPr/>
          </p:nvSpPr>
          <p:spPr bwMode="auto">
            <a:xfrm>
              <a:off x="2016" y="3984"/>
              <a:ext cx="96" cy="96"/>
            </a:xfrm>
            <a:prstGeom prst="ellipse">
              <a:avLst/>
            </a:prstGeom>
            <a:solidFill>
              <a:srgbClr val="339933"/>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799" name="Oval 236"/>
            <p:cNvSpPr>
              <a:spLocks noChangeArrowheads="1"/>
            </p:cNvSpPr>
            <p:nvPr/>
          </p:nvSpPr>
          <p:spPr bwMode="auto">
            <a:xfrm>
              <a:off x="2496" y="3984"/>
              <a:ext cx="96" cy="96"/>
            </a:xfrm>
            <a:prstGeom prst="ellipse">
              <a:avLst/>
            </a:prstGeom>
            <a:solidFill>
              <a:srgbClr val="339933"/>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00" name="Oval 237"/>
            <p:cNvSpPr>
              <a:spLocks noChangeArrowheads="1"/>
            </p:cNvSpPr>
            <p:nvPr/>
          </p:nvSpPr>
          <p:spPr bwMode="auto">
            <a:xfrm>
              <a:off x="384" y="3312"/>
              <a:ext cx="96" cy="96"/>
            </a:xfrm>
            <a:prstGeom prst="ellipse">
              <a:avLst/>
            </a:prstGeom>
            <a:solidFill>
              <a:schemeClr val="hlink"/>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01" name="Oval 238"/>
            <p:cNvSpPr>
              <a:spLocks noChangeArrowheads="1"/>
            </p:cNvSpPr>
            <p:nvPr/>
          </p:nvSpPr>
          <p:spPr bwMode="auto">
            <a:xfrm>
              <a:off x="816" y="3312"/>
              <a:ext cx="96" cy="96"/>
            </a:xfrm>
            <a:prstGeom prst="ellipse">
              <a:avLst/>
            </a:prstGeom>
            <a:solidFill>
              <a:schemeClr val="hlink"/>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02" name="Oval 239"/>
            <p:cNvSpPr>
              <a:spLocks noChangeArrowheads="1"/>
            </p:cNvSpPr>
            <p:nvPr/>
          </p:nvSpPr>
          <p:spPr bwMode="auto">
            <a:xfrm>
              <a:off x="1296" y="3312"/>
              <a:ext cx="96" cy="96"/>
            </a:xfrm>
            <a:prstGeom prst="ellipse">
              <a:avLst/>
            </a:prstGeom>
            <a:solidFill>
              <a:schemeClr val="hlink"/>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03" name="Oval 240"/>
            <p:cNvSpPr>
              <a:spLocks noChangeArrowheads="1"/>
            </p:cNvSpPr>
            <p:nvPr/>
          </p:nvSpPr>
          <p:spPr bwMode="auto">
            <a:xfrm>
              <a:off x="1776" y="3312"/>
              <a:ext cx="96" cy="96"/>
            </a:xfrm>
            <a:prstGeom prst="ellipse">
              <a:avLst/>
            </a:prstGeom>
            <a:solidFill>
              <a:schemeClr val="hlink"/>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sp>
          <p:nvSpPr>
            <p:cNvPr id="159804" name="Oval 241"/>
            <p:cNvSpPr>
              <a:spLocks noChangeArrowheads="1"/>
            </p:cNvSpPr>
            <p:nvPr/>
          </p:nvSpPr>
          <p:spPr bwMode="auto">
            <a:xfrm>
              <a:off x="2208" y="3312"/>
              <a:ext cx="96" cy="96"/>
            </a:xfrm>
            <a:prstGeom prst="ellipse">
              <a:avLst/>
            </a:prstGeom>
            <a:solidFill>
              <a:schemeClr val="hlink"/>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bIns="10800" anchor="ctr">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156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28354"/>
                                        </p:tgtEl>
                                        <p:attrNameLst>
                                          <p:attrName>style.visibility</p:attrName>
                                        </p:attrNameLst>
                                      </p:cBhvr>
                                      <p:to>
                                        <p:strVal val="visible"/>
                                      </p:to>
                                    </p:set>
                                    <p:anim calcmode="lin" valueType="num">
                                      <p:cBhvr>
                                        <p:cTn id="7" dur="500" fill="hold"/>
                                        <p:tgtEl>
                                          <p:spTgt spid="228354"/>
                                        </p:tgtEl>
                                        <p:attrNameLst>
                                          <p:attrName>ppt_w</p:attrName>
                                        </p:attrNameLst>
                                      </p:cBhvr>
                                      <p:tavLst>
                                        <p:tav tm="0">
                                          <p:val>
                                            <p:fltVal val="0"/>
                                          </p:val>
                                        </p:tav>
                                        <p:tav tm="100000">
                                          <p:val>
                                            <p:strVal val="#ppt_w"/>
                                          </p:val>
                                        </p:tav>
                                      </p:tavLst>
                                    </p:anim>
                                    <p:anim calcmode="lin" valueType="num">
                                      <p:cBhvr>
                                        <p:cTn id="8" dur="500" fill="hold"/>
                                        <p:tgtEl>
                                          <p:spTgt spid="228354"/>
                                        </p:tgtEl>
                                        <p:attrNameLst>
                                          <p:attrName>ppt_h</p:attrName>
                                        </p:attrNameLst>
                                      </p:cBhvr>
                                      <p:tavLst>
                                        <p:tav tm="0">
                                          <p:val>
                                            <p:strVal val="#ppt_h"/>
                                          </p:val>
                                        </p:tav>
                                        <p:tav tm="100000">
                                          <p:val>
                                            <p:strVal val="#ppt_h"/>
                                          </p:val>
                                        </p:tav>
                                      </p:tavLst>
                                    </p:anim>
                                  </p:childTnLst>
                                </p:cTn>
                              </p:par>
                            </p:childTnLst>
                          </p:cTn>
                        </p:par>
                        <p:par>
                          <p:cTn id="9" fill="hold" nodeType="with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228356"/>
                                        </p:tgtEl>
                                        <p:attrNameLst>
                                          <p:attrName>style.visibility</p:attrName>
                                        </p:attrNameLst>
                                      </p:cBhvr>
                                      <p:to>
                                        <p:strVal val="visible"/>
                                      </p:to>
                                    </p:set>
                                    <p:animEffect transition="in" filter="wipe(up)">
                                      <p:cBhvr>
                                        <p:cTn id="12" dur="500"/>
                                        <p:tgtEl>
                                          <p:spTgt spid="2283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8596"/>
                                        </p:tgtEl>
                                        <p:attrNameLst>
                                          <p:attrName>style.visibility</p:attrName>
                                        </p:attrNameLst>
                                      </p:cBhvr>
                                      <p:to>
                                        <p:strVal val="visible"/>
                                      </p:to>
                                    </p:set>
                                    <p:animEffect transition="in" filter="wipe(left)">
                                      <p:cBhvr>
                                        <p:cTn id="17" dur="500"/>
                                        <p:tgtEl>
                                          <p:spTgt spid="2285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8598"/>
                                        </p:tgtEl>
                                        <p:attrNameLst>
                                          <p:attrName>style.visibility</p:attrName>
                                        </p:attrNameLst>
                                      </p:cBhvr>
                                      <p:to>
                                        <p:strVal val="visible"/>
                                      </p:to>
                                    </p:set>
                                    <p:animEffect transition="in" filter="wipe(left)">
                                      <p:cBhvr>
                                        <p:cTn id="22" dur="500"/>
                                        <p:tgtEl>
                                          <p:spTgt spid="228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4" grpId="0" animBg="1" autoUpdateAnimBg="0"/>
      <p:bldP spid="228356" grpId="0" autoUpdateAnimBg="0"/>
    </p:bldLst>
  </p:timing>
</p:sld>
</file>

<file path=ppt/slides/slide1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Graph Matching Problems</a:t>
            </a:r>
          </a:p>
        </p:txBody>
      </p:sp>
      <p:grpSp>
        <p:nvGrpSpPr>
          <p:cNvPr id="256099" name="Group 99"/>
          <p:cNvGrpSpPr>
            <a:grpSpLocks/>
          </p:cNvGrpSpPr>
          <p:nvPr/>
        </p:nvGrpSpPr>
        <p:grpSpPr bwMode="auto">
          <a:xfrm>
            <a:off x="762000" y="838200"/>
            <a:ext cx="7472363" cy="819150"/>
            <a:chOff x="480" y="528"/>
            <a:chExt cx="4707" cy="516"/>
          </a:xfrm>
        </p:grpSpPr>
        <p:sp>
          <p:nvSpPr>
            <p:cNvPr id="160773" name="Text Box 91"/>
            <p:cNvSpPr txBox="1">
              <a:spLocks noChangeArrowheads="1"/>
            </p:cNvSpPr>
            <p:nvPr/>
          </p:nvSpPr>
          <p:spPr bwMode="auto">
            <a:xfrm>
              <a:off x="480" y="528"/>
              <a:ext cx="4707" cy="51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None/>
              </a:pPr>
              <a:r>
                <a:rPr lang="en-US" sz="2000"/>
                <a:t>                        bipartite graphs 		  max cardinality matching</a:t>
              </a:r>
            </a:p>
            <a:p>
              <a:pPr eaLnBrk="1" hangingPunct="1">
                <a:spcBef>
                  <a:spcPct val="50000"/>
                </a:spcBef>
                <a:buFont typeface="Wingdings" pitchFamily="2" charset="2"/>
                <a:buNone/>
              </a:pPr>
              <a:r>
                <a:rPr lang="en-US" sz="2000"/>
                <a:t> general (non-bipartite) graphs 	        	  weighted matching</a:t>
              </a:r>
            </a:p>
          </p:txBody>
        </p:sp>
        <p:grpSp>
          <p:nvGrpSpPr>
            <p:cNvPr id="160774" name="Group 96"/>
            <p:cNvGrpSpPr>
              <a:grpSpLocks/>
            </p:cNvGrpSpPr>
            <p:nvPr/>
          </p:nvGrpSpPr>
          <p:grpSpPr bwMode="auto">
            <a:xfrm>
              <a:off x="2544" y="672"/>
              <a:ext cx="864" cy="288"/>
              <a:chOff x="2448" y="3696"/>
              <a:chExt cx="864" cy="288"/>
            </a:xfrm>
          </p:grpSpPr>
          <p:sp>
            <p:nvSpPr>
              <p:cNvPr id="160775" name="Line 92"/>
              <p:cNvSpPr>
                <a:spLocks noChangeShapeType="1"/>
              </p:cNvSpPr>
              <p:nvPr/>
            </p:nvSpPr>
            <p:spPr bwMode="auto">
              <a:xfrm>
                <a:off x="2448" y="3696"/>
                <a:ext cx="8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0776" name="Line 93"/>
              <p:cNvSpPr>
                <a:spLocks noChangeShapeType="1"/>
              </p:cNvSpPr>
              <p:nvPr/>
            </p:nvSpPr>
            <p:spPr bwMode="auto">
              <a:xfrm>
                <a:off x="2448" y="3984"/>
                <a:ext cx="86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0777" name="Line 94"/>
              <p:cNvSpPr>
                <a:spLocks noChangeShapeType="1"/>
              </p:cNvSpPr>
              <p:nvPr/>
            </p:nvSpPr>
            <p:spPr bwMode="auto">
              <a:xfrm>
                <a:off x="2448" y="3696"/>
                <a:ext cx="864"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0778" name="Line 95"/>
              <p:cNvSpPr>
                <a:spLocks noChangeShapeType="1"/>
              </p:cNvSpPr>
              <p:nvPr/>
            </p:nvSpPr>
            <p:spPr bwMode="auto">
              <a:xfrm flipV="1">
                <a:off x="2448" y="3696"/>
                <a:ext cx="864"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grpSp>
      </p:grpSp>
      <p:sp>
        <p:nvSpPr>
          <p:cNvPr id="256098" name="Text Box 98"/>
          <p:cNvSpPr txBox="1">
            <a:spLocks noChangeArrowheads="1"/>
          </p:cNvSpPr>
          <p:nvPr/>
        </p:nvSpPr>
        <p:spPr bwMode="auto">
          <a:xfrm>
            <a:off x="228600" y="2133600"/>
            <a:ext cx="7497763" cy="356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marL="288925" indent="-288925">
              <a:defRPr sz="1600">
                <a:solidFill>
                  <a:schemeClr val="tx1"/>
                </a:solidFill>
                <a:latin typeface="Times New Roman" pitchFamily="18" charset="0"/>
              </a:defRPr>
            </a:lvl1pPr>
            <a:lvl2pPr marL="855663" indent="-376238">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Char char="§"/>
            </a:pPr>
            <a:r>
              <a:rPr lang="en-US" sz="2000"/>
              <a:t>All 4 problems can be solved in polynomial time.</a:t>
            </a:r>
          </a:p>
          <a:p>
            <a:pPr eaLnBrk="1" hangingPunct="1">
              <a:spcBef>
                <a:spcPct val="50000"/>
              </a:spcBef>
              <a:buFont typeface="Wingdings" pitchFamily="2" charset="2"/>
              <a:buChar char="§"/>
            </a:pPr>
            <a:r>
              <a:rPr lang="en-US" sz="2000"/>
              <a:t>The most general of them is </a:t>
            </a:r>
            <a:r>
              <a:rPr lang="en-US" sz="2000" b="1">
                <a:solidFill>
                  <a:srgbClr val="CC0000"/>
                </a:solidFill>
              </a:rPr>
              <a:t>weighted matching on general graphs</a:t>
            </a:r>
            <a:r>
              <a:rPr lang="en-US" sz="2000"/>
              <a:t>.</a:t>
            </a:r>
            <a:br>
              <a:rPr lang="en-US" sz="2000"/>
            </a:br>
            <a:r>
              <a:rPr lang="en-US" sz="2000"/>
              <a:t>It can be solved in O(V</a:t>
            </a:r>
            <a:r>
              <a:rPr lang="en-US" sz="2000" baseline="30000"/>
              <a:t>3</a:t>
            </a:r>
            <a:r>
              <a:rPr lang="en-US" sz="2000"/>
              <a:t>) time.   (See references.)</a:t>
            </a:r>
          </a:p>
          <a:p>
            <a:pPr eaLnBrk="1" hangingPunct="1">
              <a:spcBef>
                <a:spcPct val="50000"/>
              </a:spcBef>
              <a:buFont typeface="Wingdings" pitchFamily="2" charset="2"/>
              <a:buChar char="§"/>
            </a:pPr>
            <a:endParaRPr lang="en-US" sz="2000"/>
          </a:p>
          <a:p>
            <a:pPr eaLnBrk="1" hangingPunct="1">
              <a:spcBef>
                <a:spcPct val="50000"/>
              </a:spcBef>
              <a:buFont typeface="Wingdings" pitchFamily="2" charset="2"/>
              <a:buChar char="§"/>
            </a:pPr>
            <a:r>
              <a:rPr lang="en-US" sz="2000"/>
              <a:t>We will show </a:t>
            </a:r>
            <a:r>
              <a:rPr lang="en-US" sz="2000" b="1">
                <a:solidFill>
                  <a:srgbClr val="CC0000"/>
                </a:solidFill>
              </a:rPr>
              <a:t>Max Cardinality</a:t>
            </a:r>
            <a:r>
              <a:rPr lang="en-US" sz="2000"/>
              <a:t> matching algorithms: </a:t>
            </a:r>
          </a:p>
          <a:p>
            <a:pPr lvl="1" eaLnBrk="1" hangingPunct="1">
              <a:spcBef>
                <a:spcPct val="50000"/>
              </a:spcBef>
              <a:buFont typeface="Wingdings" pitchFamily="2" charset="2"/>
              <a:buChar char="Ø"/>
            </a:pPr>
            <a:r>
              <a:rPr lang="en-US" sz="2000" b="1">
                <a:solidFill>
                  <a:srgbClr val="CC0000"/>
                </a:solidFill>
              </a:rPr>
              <a:t>Bipartite Matching: </a:t>
            </a:r>
            <a:r>
              <a:rPr lang="en-US" sz="2000"/>
              <a:t> an O(VE)-time algorithm</a:t>
            </a:r>
            <a:br>
              <a:rPr lang="en-US" sz="2000"/>
            </a:br>
            <a:r>
              <a:rPr lang="en-US" sz="2000"/>
              <a:t>by a transformation to the Max Flow Problem,</a:t>
            </a:r>
            <a:br>
              <a:rPr lang="en-US" sz="2000"/>
            </a:br>
            <a:r>
              <a:rPr lang="en-US" sz="2000"/>
              <a:t>	</a:t>
            </a:r>
          </a:p>
          <a:p>
            <a:pPr lvl="1" eaLnBrk="1" hangingPunct="1">
              <a:spcBef>
                <a:spcPct val="50000"/>
              </a:spcBef>
              <a:buFont typeface="Wingdings" pitchFamily="2" charset="2"/>
              <a:buChar char="Ø"/>
            </a:pPr>
            <a:r>
              <a:rPr lang="en-US" sz="2000" b="1">
                <a:solidFill>
                  <a:srgbClr val="CC0000"/>
                </a:solidFill>
              </a:rPr>
              <a:t>Non-Bipartite Matching:</a:t>
            </a:r>
            <a:r>
              <a:rPr lang="en-US" sz="2000"/>
              <a:t>  sketch an O(V</a:t>
            </a:r>
            <a:r>
              <a:rPr lang="en-US" sz="2000" baseline="30000"/>
              <a:t>2</a:t>
            </a:r>
            <a:r>
              <a:rPr lang="en-US" sz="2000"/>
              <a:t>E)-time algorithm.</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157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56002"/>
                                        </p:tgtEl>
                                        <p:attrNameLst>
                                          <p:attrName>style.visibility</p:attrName>
                                        </p:attrNameLst>
                                      </p:cBhvr>
                                      <p:to>
                                        <p:strVal val="visible"/>
                                      </p:to>
                                    </p:set>
                                    <p:anim calcmode="lin" valueType="num">
                                      <p:cBhvr>
                                        <p:cTn id="7" dur="500" fill="hold"/>
                                        <p:tgtEl>
                                          <p:spTgt spid="256002"/>
                                        </p:tgtEl>
                                        <p:attrNameLst>
                                          <p:attrName>ppt_w</p:attrName>
                                        </p:attrNameLst>
                                      </p:cBhvr>
                                      <p:tavLst>
                                        <p:tav tm="0">
                                          <p:val>
                                            <p:fltVal val="0"/>
                                          </p:val>
                                        </p:tav>
                                        <p:tav tm="100000">
                                          <p:val>
                                            <p:strVal val="#ppt_w"/>
                                          </p:val>
                                        </p:tav>
                                      </p:tavLst>
                                    </p:anim>
                                    <p:anim calcmode="lin" valueType="num">
                                      <p:cBhvr>
                                        <p:cTn id="8" dur="500" fill="hold"/>
                                        <p:tgtEl>
                                          <p:spTgt spid="25600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56099"/>
                                        </p:tgtEl>
                                        <p:attrNameLst>
                                          <p:attrName>style.visibility</p:attrName>
                                        </p:attrNameLst>
                                      </p:cBhvr>
                                      <p:to>
                                        <p:strVal val="visible"/>
                                      </p:to>
                                    </p:set>
                                    <p:animEffect transition="in" filter="wipe(left)">
                                      <p:cBhvr>
                                        <p:cTn id="13" dur="500"/>
                                        <p:tgtEl>
                                          <p:spTgt spid="25609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56098">
                                            <p:txEl>
                                              <p:pRg st="0" end="0"/>
                                            </p:txEl>
                                          </p:spTgt>
                                        </p:tgtEl>
                                        <p:attrNameLst>
                                          <p:attrName>style.visibility</p:attrName>
                                        </p:attrNameLst>
                                      </p:cBhvr>
                                      <p:to>
                                        <p:strVal val="visible"/>
                                      </p:to>
                                    </p:set>
                                    <p:animEffect transition="in" filter="wipe(up)">
                                      <p:cBhvr>
                                        <p:cTn id="18" dur="500"/>
                                        <p:tgtEl>
                                          <p:spTgt spid="256098">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256098">
                                            <p:txEl>
                                              <p:pRg st="1" end="1"/>
                                            </p:txEl>
                                          </p:spTgt>
                                        </p:tgtEl>
                                        <p:attrNameLst>
                                          <p:attrName>style.visibility</p:attrName>
                                        </p:attrNameLst>
                                      </p:cBhvr>
                                      <p:to>
                                        <p:strVal val="visible"/>
                                      </p:to>
                                    </p:set>
                                    <p:animEffect transition="in" filter="wipe(up)">
                                      <p:cBhvr>
                                        <p:cTn id="23" dur="500"/>
                                        <p:tgtEl>
                                          <p:spTgt spid="256098">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256098">
                                            <p:txEl>
                                              <p:pRg st="3" end="3"/>
                                            </p:txEl>
                                          </p:spTgt>
                                        </p:tgtEl>
                                        <p:attrNameLst>
                                          <p:attrName>style.visibility</p:attrName>
                                        </p:attrNameLst>
                                      </p:cBhvr>
                                      <p:to>
                                        <p:strVal val="visible"/>
                                      </p:to>
                                    </p:set>
                                    <p:animEffect transition="in" filter="wipe(up)">
                                      <p:cBhvr>
                                        <p:cTn id="28" dur="500"/>
                                        <p:tgtEl>
                                          <p:spTgt spid="256098">
                                            <p:txEl>
                                              <p:pRg st="3" end="3"/>
                                            </p:txEl>
                                          </p:spTgt>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256098">
                                            <p:txEl>
                                              <p:pRg st="4" end="4"/>
                                            </p:txEl>
                                          </p:spTgt>
                                        </p:tgtEl>
                                        <p:attrNameLst>
                                          <p:attrName>style.visibility</p:attrName>
                                        </p:attrNameLst>
                                      </p:cBhvr>
                                      <p:to>
                                        <p:strVal val="visible"/>
                                      </p:to>
                                    </p:set>
                                    <p:animEffect transition="in" filter="wipe(up)">
                                      <p:cBhvr>
                                        <p:cTn id="31" dur="500"/>
                                        <p:tgtEl>
                                          <p:spTgt spid="256098">
                                            <p:txEl>
                                              <p:pRg st="4" end="4"/>
                                            </p:txEl>
                                          </p:spTgt>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256098">
                                            <p:txEl>
                                              <p:pRg st="5" end="5"/>
                                            </p:txEl>
                                          </p:spTgt>
                                        </p:tgtEl>
                                        <p:attrNameLst>
                                          <p:attrName>style.visibility</p:attrName>
                                        </p:attrNameLst>
                                      </p:cBhvr>
                                      <p:to>
                                        <p:strVal val="visible"/>
                                      </p:to>
                                    </p:set>
                                    <p:animEffect transition="in" filter="wipe(up)">
                                      <p:cBhvr>
                                        <p:cTn id="34" dur="500"/>
                                        <p:tgtEl>
                                          <p:spTgt spid="25609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2" grpId="0" animBg="1" autoUpdateAnimBg="0"/>
      <p:bldP spid="256098" grpId="0" build="p" autoUpdateAnimBg="0"/>
    </p:bldLst>
  </p:timing>
</p:sld>
</file>

<file path=ppt/slides/slide1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Some Applications</a:t>
            </a:r>
          </a:p>
        </p:txBody>
      </p:sp>
      <p:sp>
        <p:nvSpPr>
          <p:cNvPr id="258194" name="Text Box 146"/>
          <p:cNvSpPr txBox="1">
            <a:spLocks noChangeArrowheads="1"/>
          </p:cNvSpPr>
          <p:nvPr/>
        </p:nvSpPr>
        <p:spPr bwMode="auto">
          <a:xfrm>
            <a:off x="304800" y="838200"/>
            <a:ext cx="7039106" cy="559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marL="288925" indent="-288925">
              <a:defRPr sz="1600">
                <a:solidFill>
                  <a:schemeClr val="tx1"/>
                </a:solidFill>
                <a:latin typeface="Times New Roman" pitchFamily="18" charset="0"/>
              </a:defRPr>
            </a:lvl1pPr>
            <a:lvl2pPr marL="854075" indent="-3746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None/>
            </a:pPr>
            <a:r>
              <a:rPr lang="en-US" sz="2000" b="1" dirty="0">
                <a:solidFill>
                  <a:srgbClr val="CC0000"/>
                </a:solidFill>
              </a:rPr>
              <a:t>Bipartite Matching:</a:t>
            </a:r>
            <a:r>
              <a:rPr lang="en-US" sz="2000" dirty="0"/>
              <a:t> </a:t>
            </a:r>
          </a:p>
          <a:p>
            <a:pPr lvl="1" eaLnBrk="1" hangingPunct="1">
              <a:spcBef>
                <a:spcPct val="50000"/>
              </a:spcBef>
              <a:buFont typeface="Wingdings" pitchFamily="2" charset="2"/>
              <a:buChar char="§"/>
            </a:pPr>
            <a:r>
              <a:rPr lang="en-US" sz="2000" dirty="0"/>
              <a:t>assign jobs to workers: </a:t>
            </a:r>
            <a:br>
              <a:rPr lang="en-US" sz="2000" dirty="0"/>
            </a:br>
            <a:r>
              <a:rPr lang="en-US" sz="2000" dirty="0"/>
              <a:t>maximize employment (</a:t>
            </a:r>
            <a:r>
              <a:rPr lang="en-US" sz="2000" dirty="0" err="1"/>
              <a:t>unweighted</a:t>
            </a:r>
            <a:r>
              <a:rPr lang="en-US" sz="2000" dirty="0"/>
              <a:t>) or profit (weighted</a:t>
            </a:r>
            <a:r>
              <a:rPr lang="en-US" sz="2000" dirty="0" smtClean="0"/>
              <a:t>). </a:t>
            </a:r>
            <a:endParaRPr lang="en-US" sz="2000" dirty="0"/>
          </a:p>
          <a:p>
            <a:pPr lvl="1" eaLnBrk="1" hangingPunct="1">
              <a:spcBef>
                <a:spcPct val="50000"/>
              </a:spcBef>
              <a:buFont typeface="Wingdings" pitchFamily="2" charset="2"/>
              <a:buChar char="§"/>
            </a:pPr>
            <a:r>
              <a:rPr lang="en-US" sz="2000" dirty="0"/>
              <a:t>2 processor scheduling with job conflict constraints: </a:t>
            </a:r>
            <a:br>
              <a:rPr lang="en-US" sz="2000" dirty="0"/>
            </a:br>
            <a:r>
              <a:rPr lang="en-US" sz="2000" dirty="0"/>
              <a:t>minimize completion time.</a:t>
            </a:r>
          </a:p>
          <a:p>
            <a:pPr eaLnBrk="1" hangingPunct="1">
              <a:spcBef>
                <a:spcPct val="50000"/>
              </a:spcBef>
              <a:buFont typeface="Wingdings" pitchFamily="2" charset="2"/>
              <a:buNone/>
            </a:pPr>
            <a:r>
              <a:rPr lang="en-US" sz="2000" b="1" dirty="0">
                <a:solidFill>
                  <a:srgbClr val="CC0000"/>
                </a:solidFill>
              </a:rPr>
              <a:t>Non-Bipartite Matching:</a:t>
            </a:r>
          </a:p>
          <a:p>
            <a:pPr lvl="1" eaLnBrk="1" hangingPunct="1">
              <a:spcBef>
                <a:spcPct val="50000"/>
              </a:spcBef>
              <a:buFont typeface="Wingdings" pitchFamily="2" charset="2"/>
              <a:buChar char="§"/>
            </a:pPr>
            <a:r>
              <a:rPr lang="en-US" sz="2000" dirty="0"/>
              <a:t>2 processor scheduling with job precedence constraints: </a:t>
            </a:r>
            <a:br>
              <a:rPr lang="en-US" sz="2000" dirty="0"/>
            </a:br>
            <a:r>
              <a:rPr lang="en-US" sz="2000" dirty="0"/>
              <a:t>minimize completion time.</a:t>
            </a:r>
          </a:p>
          <a:p>
            <a:pPr lvl="1" eaLnBrk="1" hangingPunct="1">
              <a:spcBef>
                <a:spcPct val="50000"/>
              </a:spcBef>
              <a:buFont typeface="Wingdings" pitchFamily="2" charset="2"/>
              <a:buChar char="§"/>
            </a:pPr>
            <a:r>
              <a:rPr lang="en-US" sz="2000" dirty="0"/>
              <a:t>Traveling Salesman </a:t>
            </a:r>
            <a:r>
              <a:rPr lang="en-US" sz="2000" dirty="0" smtClean="0"/>
              <a:t>Problem.</a:t>
            </a:r>
            <a:endParaRPr lang="en-US" sz="2000" dirty="0"/>
          </a:p>
          <a:p>
            <a:pPr lvl="1" eaLnBrk="1" hangingPunct="1">
              <a:spcBef>
                <a:spcPct val="50000"/>
              </a:spcBef>
              <a:buFont typeface="Wingdings" pitchFamily="2" charset="2"/>
              <a:buChar char="§"/>
            </a:pPr>
            <a:r>
              <a:rPr lang="en-US" sz="2000" dirty="0"/>
              <a:t>The Chinese Postman Problem</a:t>
            </a:r>
            <a:br>
              <a:rPr lang="en-US" sz="2000" dirty="0"/>
            </a:br>
            <a:r>
              <a:rPr lang="en-US" sz="2000" dirty="0"/>
              <a:t>(MST + Shortest Paths + Min Weight Perfect Matching</a:t>
            </a:r>
            <a:r>
              <a:rPr lang="en-US" sz="2000" dirty="0" smtClean="0"/>
              <a:t>).</a:t>
            </a:r>
            <a:endParaRPr lang="en-US" sz="2000" dirty="0"/>
          </a:p>
          <a:p>
            <a:pPr lvl="1" eaLnBrk="1" hangingPunct="1">
              <a:spcBef>
                <a:spcPct val="50000"/>
              </a:spcBef>
              <a:buFont typeface="Wingdings" pitchFamily="2" charset="2"/>
              <a:buChar char="§"/>
            </a:pPr>
            <a:r>
              <a:rPr lang="en-US" sz="2000" dirty="0"/>
              <a:t>Covering and Packing </a:t>
            </a:r>
            <a:r>
              <a:rPr lang="en-US" sz="2000" dirty="0" smtClean="0"/>
              <a:t>Problems.</a:t>
            </a:r>
            <a:endParaRPr lang="en-US" sz="2000" dirty="0"/>
          </a:p>
          <a:p>
            <a:pPr lvl="1" eaLnBrk="1" hangingPunct="1">
              <a:spcBef>
                <a:spcPct val="50000"/>
              </a:spcBef>
              <a:buFont typeface="Wingdings" pitchFamily="2" charset="2"/>
              <a:buChar char="§"/>
            </a:pPr>
            <a:r>
              <a:rPr lang="en-US" sz="2000" dirty="0"/>
              <a:t>Assign 2n students to n 2-bed dorm-rooms </a:t>
            </a:r>
            <a:br>
              <a:rPr lang="en-US" sz="2000" dirty="0"/>
            </a:br>
            <a:r>
              <a:rPr lang="en-US" sz="2000" dirty="0"/>
              <a:t>with student acquaintance-pair </a:t>
            </a:r>
            <a:r>
              <a:rPr lang="en-US" sz="2000" dirty="0" smtClean="0"/>
              <a:t>constraints.</a:t>
            </a:r>
            <a:endParaRPr lang="en-US" sz="2000" dirty="0"/>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158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58050"/>
                                        </p:tgtEl>
                                        <p:attrNameLst>
                                          <p:attrName>style.visibility</p:attrName>
                                        </p:attrNameLst>
                                      </p:cBhvr>
                                      <p:to>
                                        <p:strVal val="visible"/>
                                      </p:to>
                                    </p:set>
                                    <p:anim calcmode="lin" valueType="num">
                                      <p:cBhvr>
                                        <p:cTn id="7" dur="500" fill="hold"/>
                                        <p:tgtEl>
                                          <p:spTgt spid="258050"/>
                                        </p:tgtEl>
                                        <p:attrNameLst>
                                          <p:attrName>ppt_w</p:attrName>
                                        </p:attrNameLst>
                                      </p:cBhvr>
                                      <p:tavLst>
                                        <p:tav tm="0">
                                          <p:val>
                                            <p:fltVal val="0"/>
                                          </p:val>
                                        </p:tav>
                                        <p:tav tm="100000">
                                          <p:val>
                                            <p:strVal val="#ppt_w"/>
                                          </p:val>
                                        </p:tav>
                                      </p:tavLst>
                                    </p:anim>
                                    <p:anim calcmode="lin" valueType="num">
                                      <p:cBhvr>
                                        <p:cTn id="8" dur="500" fill="hold"/>
                                        <p:tgtEl>
                                          <p:spTgt spid="258050"/>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258194"/>
                                        </p:tgtEl>
                                        <p:attrNameLst>
                                          <p:attrName>style.visibility</p:attrName>
                                        </p:attrNameLst>
                                      </p:cBhvr>
                                      <p:to>
                                        <p:strVal val="visible"/>
                                      </p:to>
                                    </p:set>
                                    <p:animEffect transition="in" filter="wipe(up)">
                                      <p:cBhvr>
                                        <p:cTn id="12" dur="500"/>
                                        <p:tgtEl>
                                          <p:spTgt spid="25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0" grpId="0" animBg="1" autoUpdateAnimBg="0"/>
      <p:bldP spid="258194" grpId="0" autoUpdateAnimBg="0"/>
    </p:bldLst>
  </p:timing>
</p:sld>
</file>

<file path=ppt/slides/slide1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rgbClr val="FF0000"/>
                </a:solidFill>
                <a:latin typeface="Arial Rounded MT Bold" pitchFamily="34" charset="0"/>
              </a:rPr>
              <a:t>Max Cardinality </a:t>
            </a:r>
            <a:r>
              <a:rPr lang="en-US" sz="2800" dirty="0" smtClean="0">
                <a:solidFill>
                  <a:schemeClr val="tx1"/>
                </a:solidFill>
                <a:latin typeface="Arial Rounded MT Bold" pitchFamily="34" charset="0"/>
              </a:rPr>
              <a:t>Bipartite Matching</a:t>
            </a:r>
          </a:p>
        </p:txBody>
      </p:sp>
      <p:grpSp>
        <p:nvGrpSpPr>
          <p:cNvPr id="257076" name="Group 52"/>
          <p:cNvGrpSpPr>
            <a:grpSpLocks/>
          </p:cNvGrpSpPr>
          <p:nvPr/>
        </p:nvGrpSpPr>
        <p:grpSpPr bwMode="auto">
          <a:xfrm>
            <a:off x="762000" y="1905000"/>
            <a:ext cx="3282950" cy="1652588"/>
            <a:chOff x="528" y="1440"/>
            <a:chExt cx="2068" cy="1041"/>
          </a:xfrm>
        </p:grpSpPr>
        <p:sp>
          <p:nvSpPr>
            <p:cNvPr id="162881" name="Line 22"/>
            <p:cNvSpPr>
              <a:spLocks noChangeShapeType="1"/>
            </p:cNvSpPr>
            <p:nvPr/>
          </p:nvSpPr>
          <p:spPr bwMode="auto">
            <a:xfrm>
              <a:off x="672" y="1536"/>
              <a:ext cx="144" cy="8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82" name="Line 23"/>
            <p:cNvSpPr>
              <a:spLocks noChangeShapeType="1"/>
            </p:cNvSpPr>
            <p:nvPr/>
          </p:nvSpPr>
          <p:spPr bwMode="auto">
            <a:xfrm>
              <a:off x="672" y="1536"/>
              <a:ext cx="864" cy="8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83" name="Line 24"/>
            <p:cNvSpPr>
              <a:spLocks noChangeShapeType="1"/>
            </p:cNvSpPr>
            <p:nvPr/>
          </p:nvSpPr>
          <p:spPr bwMode="auto">
            <a:xfrm>
              <a:off x="1248" y="1536"/>
              <a:ext cx="1008" cy="8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84" name="Line 25"/>
            <p:cNvSpPr>
              <a:spLocks noChangeShapeType="1"/>
            </p:cNvSpPr>
            <p:nvPr/>
          </p:nvSpPr>
          <p:spPr bwMode="auto">
            <a:xfrm flipH="1">
              <a:off x="816" y="1536"/>
              <a:ext cx="1056" cy="8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85" name="Line 26"/>
            <p:cNvSpPr>
              <a:spLocks noChangeShapeType="1"/>
            </p:cNvSpPr>
            <p:nvPr/>
          </p:nvSpPr>
          <p:spPr bwMode="auto">
            <a:xfrm flipH="1">
              <a:off x="1536" y="1536"/>
              <a:ext cx="336" cy="8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86" name="Line 27"/>
            <p:cNvSpPr>
              <a:spLocks noChangeShapeType="1"/>
            </p:cNvSpPr>
            <p:nvPr/>
          </p:nvSpPr>
          <p:spPr bwMode="auto">
            <a:xfrm flipH="1">
              <a:off x="1536" y="1536"/>
              <a:ext cx="960" cy="81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87" name="Line 28"/>
            <p:cNvSpPr>
              <a:spLocks noChangeShapeType="1"/>
            </p:cNvSpPr>
            <p:nvPr/>
          </p:nvSpPr>
          <p:spPr bwMode="auto">
            <a:xfrm flipH="1">
              <a:off x="2208" y="1536"/>
              <a:ext cx="288" cy="76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88" name="Oval 16"/>
            <p:cNvSpPr>
              <a:spLocks noChangeArrowheads="1"/>
            </p:cNvSpPr>
            <p:nvPr/>
          </p:nvSpPr>
          <p:spPr bwMode="auto">
            <a:xfrm>
              <a:off x="528"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62889" name="Oval 17"/>
            <p:cNvSpPr>
              <a:spLocks noChangeArrowheads="1"/>
            </p:cNvSpPr>
            <p:nvPr/>
          </p:nvSpPr>
          <p:spPr bwMode="auto">
            <a:xfrm>
              <a:off x="1152"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b</a:t>
              </a:r>
            </a:p>
          </p:txBody>
        </p:sp>
        <p:sp>
          <p:nvSpPr>
            <p:cNvPr id="162890" name="Oval 19"/>
            <p:cNvSpPr>
              <a:spLocks noChangeArrowheads="1"/>
            </p:cNvSpPr>
            <p:nvPr/>
          </p:nvSpPr>
          <p:spPr bwMode="auto">
            <a:xfrm>
              <a:off x="1776"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c</a:t>
              </a:r>
            </a:p>
          </p:txBody>
        </p:sp>
        <p:sp>
          <p:nvSpPr>
            <p:cNvPr id="162891" name="Oval 20"/>
            <p:cNvSpPr>
              <a:spLocks noChangeArrowheads="1"/>
            </p:cNvSpPr>
            <p:nvPr/>
          </p:nvSpPr>
          <p:spPr bwMode="auto">
            <a:xfrm>
              <a:off x="2352"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62892" name="Oval 15"/>
            <p:cNvSpPr>
              <a:spLocks noChangeArrowheads="1"/>
            </p:cNvSpPr>
            <p:nvPr/>
          </p:nvSpPr>
          <p:spPr bwMode="auto">
            <a:xfrm>
              <a:off x="720" y="2256"/>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1</a:t>
              </a:r>
            </a:p>
          </p:txBody>
        </p:sp>
        <p:sp>
          <p:nvSpPr>
            <p:cNvPr id="162893" name="Oval 18"/>
            <p:cNvSpPr>
              <a:spLocks noChangeArrowheads="1"/>
            </p:cNvSpPr>
            <p:nvPr/>
          </p:nvSpPr>
          <p:spPr bwMode="auto">
            <a:xfrm>
              <a:off x="1440" y="2256"/>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2</a:t>
              </a:r>
            </a:p>
          </p:txBody>
        </p:sp>
        <p:sp>
          <p:nvSpPr>
            <p:cNvPr id="162894" name="Oval 21"/>
            <p:cNvSpPr>
              <a:spLocks noChangeArrowheads="1"/>
            </p:cNvSpPr>
            <p:nvPr/>
          </p:nvSpPr>
          <p:spPr bwMode="auto">
            <a:xfrm>
              <a:off x="2112" y="2256"/>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3</a:t>
              </a:r>
            </a:p>
          </p:txBody>
        </p:sp>
      </p:grpSp>
      <p:grpSp>
        <p:nvGrpSpPr>
          <p:cNvPr id="257078" name="Group 54"/>
          <p:cNvGrpSpPr>
            <a:grpSpLocks/>
          </p:cNvGrpSpPr>
          <p:nvPr/>
        </p:nvGrpSpPr>
        <p:grpSpPr bwMode="auto">
          <a:xfrm>
            <a:off x="5181600" y="762000"/>
            <a:ext cx="3282950" cy="4629150"/>
            <a:chOff x="3264" y="720"/>
            <a:chExt cx="2068" cy="2916"/>
          </a:xfrm>
        </p:grpSpPr>
        <p:sp>
          <p:nvSpPr>
            <p:cNvPr id="162857" name="Line 29"/>
            <p:cNvSpPr>
              <a:spLocks noChangeShapeType="1"/>
            </p:cNvSpPr>
            <p:nvPr/>
          </p:nvSpPr>
          <p:spPr bwMode="auto">
            <a:xfrm>
              <a:off x="3408" y="1536"/>
              <a:ext cx="144" cy="72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58" name="Freeform 30"/>
            <p:cNvSpPr>
              <a:spLocks/>
            </p:cNvSpPr>
            <p:nvPr/>
          </p:nvSpPr>
          <p:spPr bwMode="auto">
            <a:xfrm>
              <a:off x="3408" y="1536"/>
              <a:ext cx="793" cy="754"/>
            </a:xfrm>
            <a:custGeom>
              <a:avLst/>
              <a:gdLst>
                <a:gd name="T0" fmla="*/ 0 w 793"/>
                <a:gd name="T1" fmla="*/ 0 h 754"/>
                <a:gd name="T2" fmla="*/ 793 w 793"/>
                <a:gd name="T3" fmla="*/ 754 h 754"/>
                <a:gd name="T4" fmla="*/ 0 60000 65536"/>
                <a:gd name="T5" fmla="*/ 0 60000 65536"/>
              </a:gdLst>
              <a:ahLst/>
              <a:cxnLst>
                <a:cxn ang="T4">
                  <a:pos x="T0" y="T1"/>
                </a:cxn>
                <a:cxn ang="T5">
                  <a:pos x="T2" y="T3"/>
                </a:cxn>
              </a:cxnLst>
              <a:rect l="0" t="0" r="r" b="b"/>
              <a:pathLst>
                <a:path w="793" h="754">
                  <a:moveTo>
                    <a:pt x="0" y="0"/>
                  </a:moveTo>
                  <a:lnTo>
                    <a:pt x="793" y="754"/>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59" name="Freeform 31"/>
            <p:cNvSpPr>
              <a:spLocks/>
            </p:cNvSpPr>
            <p:nvPr/>
          </p:nvSpPr>
          <p:spPr bwMode="auto">
            <a:xfrm>
              <a:off x="3984" y="1536"/>
              <a:ext cx="895" cy="754"/>
            </a:xfrm>
            <a:custGeom>
              <a:avLst/>
              <a:gdLst>
                <a:gd name="T0" fmla="*/ 0 w 895"/>
                <a:gd name="T1" fmla="*/ 0 h 754"/>
                <a:gd name="T2" fmla="*/ 895 w 895"/>
                <a:gd name="T3" fmla="*/ 754 h 754"/>
                <a:gd name="T4" fmla="*/ 0 60000 65536"/>
                <a:gd name="T5" fmla="*/ 0 60000 65536"/>
              </a:gdLst>
              <a:ahLst/>
              <a:cxnLst>
                <a:cxn ang="T4">
                  <a:pos x="T0" y="T1"/>
                </a:cxn>
                <a:cxn ang="T5">
                  <a:pos x="T2" y="T3"/>
                </a:cxn>
              </a:cxnLst>
              <a:rect l="0" t="0" r="r" b="b"/>
              <a:pathLst>
                <a:path w="895" h="754">
                  <a:moveTo>
                    <a:pt x="0" y="0"/>
                  </a:moveTo>
                  <a:lnTo>
                    <a:pt x="895" y="754"/>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60" name="Freeform 32"/>
            <p:cNvSpPr>
              <a:spLocks/>
            </p:cNvSpPr>
            <p:nvPr/>
          </p:nvSpPr>
          <p:spPr bwMode="auto">
            <a:xfrm>
              <a:off x="3659" y="1536"/>
              <a:ext cx="949" cy="748"/>
            </a:xfrm>
            <a:custGeom>
              <a:avLst/>
              <a:gdLst>
                <a:gd name="T0" fmla="*/ 949 w 949"/>
                <a:gd name="T1" fmla="*/ 0 h 748"/>
                <a:gd name="T2" fmla="*/ 0 w 949"/>
                <a:gd name="T3" fmla="*/ 748 h 748"/>
                <a:gd name="T4" fmla="*/ 0 60000 65536"/>
                <a:gd name="T5" fmla="*/ 0 60000 65536"/>
              </a:gdLst>
              <a:ahLst/>
              <a:cxnLst>
                <a:cxn ang="T4">
                  <a:pos x="T0" y="T1"/>
                </a:cxn>
                <a:cxn ang="T5">
                  <a:pos x="T2" y="T3"/>
                </a:cxn>
              </a:cxnLst>
              <a:rect l="0" t="0" r="r" b="b"/>
              <a:pathLst>
                <a:path w="949" h="748">
                  <a:moveTo>
                    <a:pt x="949" y="0"/>
                  </a:moveTo>
                  <a:lnTo>
                    <a:pt x="0" y="748"/>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61" name="Freeform 33"/>
            <p:cNvSpPr>
              <a:spLocks/>
            </p:cNvSpPr>
            <p:nvPr/>
          </p:nvSpPr>
          <p:spPr bwMode="auto">
            <a:xfrm>
              <a:off x="4323" y="1536"/>
              <a:ext cx="285" cy="721"/>
            </a:xfrm>
            <a:custGeom>
              <a:avLst/>
              <a:gdLst>
                <a:gd name="T0" fmla="*/ 285 w 285"/>
                <a:gd name="T1" fmla="*/ 0 h 721"/>
                <a:gd name="T2" fmla="*/ 0 w 285"/>
                <a:gd name="T3" fmla="*/ 721 h 721"/>
                <a:gd name="T4" fmla="*/ 0 60000 65536"/>
                <a:gd name="T5" fmla="*/ 0 60000 65536"/>
              </a:gdLst>
              <a:ahLst/>
              <a:cxnLst>
                <a:cxn ang="T4">
                  <a:pos x="T0" y="T1"/>
                </a:cxn>
                <a:cxn ang="T5">
                  <a:pos x="T2" y="T3"/>
                </a:cxn>
              </a:cxnLst>
              <a:rect l="0" t="0" r="r" b="b"/>
              <a:pathLst>
                <a:path w="285" h="721">
                  <a:moveTo>
                    <a:pt x="285" y="0"/>
                  </a:moveTo>
                  <a:lnTo>
                    <a:pt x="0" y="72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62" name="Freeform 34"/>
            <p:cNvSpPr>
              <a:spLocks/>
            </p:cNvSpPr>
            <p:nvPr/>
          </p:nvSpPr>
          <p:spPr bwMode="auto">
            <a:xfrm>
              <a:off x="4391" y="1536"/>
              <a:ext cx="841" cy="754"/>
            </a:xfrm>
            <a:custGeom>
              <a:avLst/>
              <a:gdLst>
                <a:gd name="T0" fmla="*/ 841 w 841"/>
                <a:gd name="T1" fmla="*/ 0 h 754"/>
                <a:gd name="T2" fmla="*/ 0 w 841"/>
                <a:gd name="T3" fmla="*/ 754 h 754"/>
                <a:gd name="T4" fmla="*/ 0 60000 65536"/>
                <a:gd name="T5" fmla="*/ 0 60000 65536"/>
              </a:gdLst>
              <a:ahLst/>
              <a:cxnLst>
                <a:cxn ang="T4">
                  <a:pos x="T0" y="T1"/>
                </a:cxn>
                <a:cxn ang="T5">
                  <a:pos x="T2" y="T3"/>
                </a:cxn>
              </a:cxnLst>
              <a:rect l="0" t="0" r="r" b="b"/>
              <a:pathLst>
                <a:path w="841" h="754">
                  <a:moveTo>
                    <a:pt x="841" y="0"/>
                  </a:moveTo>
                  <a:lnTo>
                    <a:pt x="0" y="754"/>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63" name="Line 35"/>
            <p:cNvSpPr>
              <a:spLocks noChangeShapeType="1"/>
            </p:cNvSpPr>
            <p:nvPr/>
          </p:nvSpPr>
          <p:spPr bwMode="auto">
            <a:xfrm flipH="1">
              <a:off x="4992" y="1536"/>
              <a:ext cx="240" cy="72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64" name="Oval 36"/>
            <p:cNvSpPr>
              <a:spLocks noChangeArrowheads="1"/>
            </p:cNvSpPr>
            <p:nvPr/>
          </p:nvSpPr>
          <p:spPr bwMode="auto">
            <a:xfrm>
              <a:off x="3264"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62865" name="Oval 37"/>
            <p:cNvSpPr>
              <a:spLocks noChangeArrowheads="1"/>
            </p:cNvSpPr>
            <p:nvPr/>
          </p:nvSpPr>
          <p:spPr bwMode="auto">
            <a:xfrm>
              <a:off x="3888"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62866" name="Oval 38"/>
            <p:cNvSpPr>
              <a:spLocks noChangeArrowheads="1"/>
            </p:cNvSpPr>
            <p:nvPr/>
          </p:nvSpPr>
          <p:spPr bwMode="auto">
            <a:xfrm>
              <a:off x="4512"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c</a:t>
              </a:r>
            </a:p>
          </p:txBody>
        </p:sp>
        <p:sp>
          <p:nvSpPr>
            <p:cNvPr id="162867" name="Oval 39"/>
            <p:cNvSpPr>
              <a:spLocks noChangeArrowheads="1"/>
            </p:cNvSpPr>
            <p:nvPr/>
          </p:nvSpPr>
          <p:spPr bwMode="auto">
            <a:xfrm>
              <a:off x="5088" y="1440"/>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d</a:t>
              </a:r>
            </a:p>
          </p:txBody>
        </p:sp>
        <p:sp>
          <p:nvSpPr>
            <p:cNvPr id="162868" name="Oval 44"/>
            <p:cNvSpPr>
              <a:spLocks noChangeArrowheads="1"/>
            </p:cNvSpPr>
            <p:nvPr/>
          </p:nvSpPr>
          <p:spPr bwMode="auto">
            <a:xfrm>
              <a:off x="4128" y="2976"/>
              <a:ext cx="244" cy="225"/>
            </a:xfrm>
            <a:prstGeom prst="ellipse">
              <a:avLst/>
            </a:prstGeom>
            <a:solidFill>
              <a:srgbClr val="FF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62869" name="Line 45"/>
            <p:cNvSpPr>
              <a:spLocks noChangeShapeType="1"/>
            </p:cNvSpPr>
            <p:nvPr/>
          </p:nvSpPr>
          <p:spPr bwMode="auto">
            <a:xfrm flipH="1">
              <a:off x="3456" y="816"/>
              <a:ext cx="768" cy="6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70" name="Line 46"/>
            <p:cNvSpPr>
              <a:spLocks noChangeShapeType="1"/>
            </p:cNvSpPr>
            <p:nvPr/>
          </p:nvSpPr>
          <p:spPr bwMode="auto">
            <a:xfrm flipH="1">
              <a:off x="4032" y="816"/>
              <a:ext cx="192" cy="6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71" name="Line 47"/>
            <p:cNvSpPr>
              <a:spLocks noChangeShapeType="1"/>
            </p:cNvSpPr>
            <p:nvPr/>
          </p:nvSpPr>
          <p:spPr bwMode="auto">
            <a:xfrm>
              <a:off x="4224" y="816"/>
              <a:ext cx="384" cy="6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72" name="Line 48"/>
            <p:cNvSpPr>
              <a:spLocks noChangeShapeType="1"/>
            </p:cNvSpPr>
            <p:nvPr/>
          </p:nvSpPr>
          <p:spPr bwMode="auto">
            <a:xfrm>
              <a:off x="4224" y="816"/>
              <a:ext cx="960" cy="6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73" name="Line 49"/>
            <p:cNvSpPr>
              <a:spLocks noChangeShapeType="1"/>
            </p:cNvSpPr>
            <p:nvPr/>
          </p:nvSpPr>
          <p:spPr bwMode="auto">
            <a:xfrm flipH="1">
              <a:off x="4345" y="2400"/>
              <a:ext cx="599" cy="613"/>
            </a:xfrm>
            <a:custGeom>
              <a:avLst/>
              <a:gdLst>
                <a:gd name="connsiteX0" fmla="*/ 0 w 941388"/>
                <a:gd name="connsiteY0" fmla="*/ 0 h 914400"/>
                <a:gd name="connsiteX1" fmla="*/ 941388 w 941388"/>
                <a:gd name="connsiteY1" fmla="*/ 914400 h 914400"/>
                <a:gd name="connsiteX0" fmla="*/ 0 w 951221"/>
                <a:gd name="connsiteY0" fmla="*/ 0 h 973394"/>
                <a:gd name="connsiteX1" fmla="*/ 951221 w 951221"/>
                <a:gd name="connsiteY1" fmla="*/ 973394 h 973394"/>
              </a:gdLst>
              <a:ahLst/>
              <a:cxnLst>
                <a:cxn ang="0">
                  <a:pos x="connsiteX0" y="connsiteY0"/>
                </a:cxn>
                <a:cxn ang="0">
                  <a:pos x="connsiteX1" y="connsiteY1"/>
                </a:cxn>
              </a:cxnLst>
              <a:rect l="l" t="t" r="r" b="b"/>
              <a:pathLst>
                <a:path w="951221" h="973394">
                  <a:moveTo>
                    <a:pt x="0" y="0"/>
                  </a:moveTo>
                  <a:cubicBezTo>
                    <a:pt x="313796" y="304800"/>
                    <a:pt x="637425" y="668594"/>
                    <a:pt x="951221" y="973394"/>
                  </a:cubicBezTo>
                </a:path>
              </a:pathLst>
            </a:cu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10800">
              <a:spAutoFit/>
            </a:bodyPr>
            <a:lstStyle/>
            <a:p>
              <a:endParaRPr lang="en-CA"/>
            </a:p>
          </p:txBody>
        </p:sp>
        <p:sp>
          <p:nvSpPr>
            <p:cNvPr id="162874" name="Line 50"/>
            <p:cNvSpPr>
              <a:spLocks noChangeShapeType="1"/>
            </p:cNvSpPr>
            <p:nvPr/>
          </p:nvSpPr>
          <p:spPr bwMode="auto">
            <a:xfrm flipH="1">
              <a:off x="4269" y="2400"/>
              <a:ext cx="3" cy="580"/>
            </a:xfrm>
            <a:custGeom>
              <a:avLst/>
              <a:gdLst>
                <a:gd name="connsiteX0" fmla="*/ 0 w 34925"/>
                <a:gd name="connsiteY0" fmla="*/ 0 h 852488"/>
                <a:gd name="connsiteX1" fmla="*/ 34925 w 34925"/>
                <a:gd name="connsiteY1" fmla="*/ 852488 h 852488"/>
                <a:gd name="connsiteX0" fmla="*/ 0 w 5428"/>
                <a:gd name="connsiteY0" fmla="*/ 0 h 921313"/>
                <a:gd name="connsiteX1" fmla="*/ 5428 w 5428"/>
                <a:gd name="connsiteY1" fmla="*/ 921313 h 921313"/>
              </a:gdLst>
              <a:ahLst/>
              <a:cxnLst>
                <a:cxn ang="0">
                  <a:pos x="connsiteX0" y="connsiteY0"/>
                </a:cxn>
                <a:cxn ang="0">
                  <a:pos x="connsiteX1" y="connsiteY1"/>
                </a:cxn>
              </a:cxnLst>
              <a:rect l="l" t="t" r="r" b="b"/>
              <a:pathLst>
                <a:path w="5428" h="921313">
                  <a:moveTo>
                    <a:pt x="0" y="0"/>
                  </a:moveTo>
                  <a:cubicBezTo>
                    <a:pt x="11642" y="284163"/>
                    <a:pt x="-6214" y="637150"/>
                    <a:pt x="5428" y="921313"/>
                  </a:cubicBezTo>
                </a:path>
              </a:pathLst>
            </a:cu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10800">
              <a:spAutoFit/>
            </a:bodyPr>
            <a:lstStyle/>
            <a:p>
              <a:endParaRPr lang="en-CA"/>
            </a:p>
          </p:txBody>
        </p:sp>
        <p:sp>
          <p:nvSpPr>
            <p:cNvPr id="162875" name="Line 51"/>
            <p:cNvSpPr>
              <a:spLocks noChangeShapeType="1"/>
            </p:cNvSpPr>
            <p:nvPr/>
          </p:nvSpPr>
          <p:spPr bwMode="auto">
            <a:xfrm>
              <a:off x="3600" y="2400"/>
              <a:ext cx="559" cy="613"/>
            </a:xfrm>
            <a:custGeom>
              <a:avLst/>
              <a:gdLst>
                <a:gd name="connsiteX0" fmla="*/ 0 w 847725"/>
                <a:gd name="connsiteY0" fmla="*/ 0 h 914400"/>
                <a:gd name="connsiteX1" fmla="*/ 847725 w 847725"/>
                <a:gd name="connsiteY1" fmla="*/ 914400 h 914400"/>
                <a:gd name="connsiteX0" fmla="*/ 0 w 887054"/>
                <a:gd name="connsiteY0" fmla="*/ 0 h 973394"/>
                <a:gd name="connsiteX1" fmla="*/ 887054 w 887054"/>
                <a:gd name="connsiteY1" fmla="*/ 973394 h 973394"/>
              </a:gdLst>
              <a:ahLst/>
              <a:cxnLst>
                <a:cxn ang="0">
                  <a:pos x="connsiteX0" y="connsiteY0"/>
                </a:cxn>
                <a:cxn ang="0">
                  <a:pos x="connsiteX1" y="connsiteY1"/>
                </a:cxn>
              </a:cxnLst>
              <a:rect l="l" t="t" r="r" b="b"/>
              <a:pathLst>
                <a:path w="887054" h="973394">
                  <a:moveTo>
                    <a:pt x="0" y="0"/>
                  </a:moveTo>
                  <a:cubicBezTo>
                    <a:pt x="282575" y="304800"/>
                    <a:pt x="604479" y="668594"/>
                    <a:pt x="887054" y="973394"/>
                  </a:cubicBezTo>
                </a:path>
              </a:pathLst>
            </a:cu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10800">
              <a:spAutoFit/>
            </a:bodyPr>
            <a:lstStyle/>
            <a:p>
              <a:endParaRPr lang="en-CA"/>
            </a:p>
          </p:txBody>
        </p:sp>
        <p:sp>
          <p:nvSpPr>
            <p:cNvPr id="162876" name="Oval 43"/>
            <p:cNvSpPr>
              <a:spLocks noChangeArrowheads="1"/>
            </p:cNvSpPr>
            <p:nvPr/>
          </p:nvSpPr>
          <p:spPr bwMode="auto">
            <a:xfrm>
              <a:off x="4080" y="720"/>
              <a:ext cx="244" cy="225"/>
            </a:xfrm>
            <a:prstGeom prst="ellipse">
              <a:avLst/>
            </a:prstGeom>
            <a:solidFill>
              <a:srgbClr val="FF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62877" name="Oval 40"/>
            <p:cNvSpPr>
              <a:spLocks noChangeArrowheads="1"/>
            </p:cNvSpPr>
            <p:nvPr/>
          </p:nvSpPr>
          <p:spPr bwMode="auto">
            <a:xfrm>
              <a:off x="3456" y="2256"/>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1</a:t>
              </a:r>
            </a:p>
          </p:txBody>
        </p:sp>
        <p:sp>
          <p:nvSpPr>
            <p:cNvPr id="162878" name="Oval 41"/>
            <p:cNvSpPr>
              <a:spLocks noChangeArrowheads="1"/>
            </p:cNvSpPr>
            <p:nvPr/>
          </p:nvSpPr>
          <p:spPr bwMode="auto">
            <a:xfrm>
              <a:off x="4176" y="2256"/>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2</a:t>
              </a:r>
            </a:p>
          </p:txBody>
        </p:sp>
        <p:sp>
          <p:nvSpPr>
            <p:cNvPr id="162879" name="Oval 42"/>
            <p:cNvSpPr>
              <a:spLocks noChangeArrowheads="1"/>
            </p:cNvSpPr>
            <p:nvPr/>
          </p:nvSpPr>
          <p:spPr bwMode="auto">
            <a:xfrm>
              <a:off x="4848" y="2256"/>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3</a:t>
              </a:r>
            </a:p>
          </p:txBody>
        </p:sp>
        <p:sp>
          <p:nvSpPr>
            <p:cNvPr id="162880" name="Text Box 53"/>
            <p:cNvSpPr txBox="1">
              <a:spLocks noChangeArrowheads="1"/>
            </p:cNvSpPr>
            <p:nvPr/>
          </p:nvSpPr>
          <p:spPr bwMode="auto">
            <a:xfrm>
              <a:off x="3583" y="3408"/>
              <a:ext cx="153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all edge capacities = 1</a:t>
              </a:r>
            </a:p>
          </p:txBody>
        </p:sp>
      </p:grpSp>
      <p:grpSp>
        <p:nvGrpSpPr>
          <p:cNvPr id="257094" name="Group 70"/>
          <p:cNvGrpSpPr>
            <a:grpSpLocks/>
          </p:cNvGrpSpPr>
          <p:nvPr/>
        </p:nvGrpSpPr>
        <p:grpSpPr bwMode="auto">
          <a:xfrm>
            <a:off x="759600" y="1900800"/>
            <a:ext cx="3282950" cy="1652588"/>
            <a:chOff x="480" y="2928"/>
            <a:chExt cx="2068" cy="1041"/>
          </a:xfrm>
        </p:grpSpPr>
        <p:sp>
          <p:nvSpPr>
            <p:cNvPr id="162847" name="Line 56"/>
            <p:cNvSpPr>
              <a:spLocks noChangeShapeType="1"/>
            </p:cNvSpPr>
            <p:nvPr/>
          </p:nvSpPr>
          <p:spPr bwMode="auto">
            <a:xfrm>
              <a:off x="624" y="3024"/>
              <a:ext cx="144" cy="816"/>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48" name="Line 58"/>
            <p:cNvSpPr>
              <a:spLocks noChangeShapeType="1"/>
            </p:cNvSpPr>
            <p:nvPr/>
          </p:nvSpPr>
          <p:spPr bwMode="auto">
            <a:xfrm>
              <a:off x="1200" y="3024"/>
              <a:ext cx="1008" cy="816"/>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49" name="Line 61"/>
            <p:cNvSpPr>
              <a:spLocks noChangeShapeType="1"/>
            </p:cNvSpPr>
            <p:nvPr/>
          </p:nvSpPr>
          <p:spPr bwMode="auto">
            <a:xfrm flipH="1">
              <a:off x="1488" y="3024"/>
              <a:ext cx="960" cy="816"/>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50" name="Oval 63"/>
            <p:cNvSpPr>
              <a:spLocks noChangeArrowheads="1"/>
            </p:cNvSpPr>
            <p:nvPr/>
          </p:nvSpPr>
          <p:spPr bwMode="auto">
            <a:xfrm>
              <a:off x="480" y="29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62851" name="Oval 64"/>
            <p:cNvSpPr>
              <a:spLocks noChangeArrowheads="1"/>
            </p:cNvSpPr>
            <p:nvPr/>
          </p:nvSpPr>
          <p:spPr bwMode="auto">
            <a:xfrm>
              <a:off x="1104" y="29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sp>
          <p:nvSpPr>
            <p:cNvPr id="162852" name="Oval 65"/>
            <p:cNvSpPr>
              <a:spLocks noChangeArrowheads="1"/>
            </p:cNvSpPr>
            <p:nvPr/>
          </p:nvSpPr>
          <p:spPr bwMode="auto">
            <a:xfrm>
              <a:off x="1728" y="29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c</a:t>
              </a:r>
            </a:p>
          </p:txBody>
        </p:sp>
        <p:sp>
          <p:nvSpPr>
            <p:cNvPr id="162853" name="Oval 66"/>
            <p:cNvSpPr>
              <a:spLocks noChangeArrowheads="1"/>
            </p:cNvSpPr>
            <p:nvPr/>
          </p:nvSpPr>
          <p:spPr bwMode="auto">
            <a:xfrm>
              <a:off x="2304" y="2928"/>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d</a:t>
              </a:r>
            </a:p>
          </p:txBody>
        </p:sp>
        <p:sp>
          <p:nvSpPr>
            <p:cNvPr id="162854" name="Oval 67"/>
            <p:cNvSpPr>
              <a:spLocks noChangeArrowheads="1"/>
            </p:cNvSpPr>
            <p:nvPr/>
          </p:nvSpPr>
          <p:spPr bwMode="auto">
            <a:xfrm>
              <a:off x="672" y="3744"/>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1</a:t>
              </a:r>
            </a:p>
          </p:txBody>
        </p:sp>
        <p:sp>
          <p:nvSpPr>
            <p:cNvPr id="162855" name="Oval 68"/>
            <p:cNvSpPr>
              <a:spLocks noChangeArrowheads="1"/>
            </p:cNvSpPr>
            <p:nvPr/>
          </p:nvSpPr>
          <p:spPr bwMode="auto">
            <a:xfrm>
              <a:off x="1392" y="3744"/>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2</a:t>
              </a:r>
            </a:p>
          </p:txBody>
        </p:sp>
        <p:sp>
          <p:nvSpPr>
            <p:cNvPr id="162856" name="Oval 69"/>
            <p:cNvSpPr>
              <a:spLocks noChangeArrowheads="1"/>
            </p:cNvSpPr>
            <p:nvPr/>
          </p:nvSpPr>
          <p:spPr bwMode="auto">
            <a:xfrm>
              <a:off x="2064" y="3744"/>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3</a:t>
              </a:r>
            </a:p>
          </p:txBody>
        </p:sp>
      </p:grpSp>
      <p:grpSp>
        <p:nvGrpSpPr>
          <p:cNvPr id="257120" name="Group 96"/>
          <p:cNvGrpSpPr>
            <a:grpSpLocks/>
          </p:cNvGrpSpPr>
          <p:nvPr/>
        </p:nvGrpSpPr>
        <p:grpSpPr bwMode="auto">
          <a:xfrm>
            <a:off x="5181600" y="762000"/>
            <a:ext cx="3282950" cy="3938588"/>
            <a:chOff x="624" y="1584"/>
            <a:chExt cx="2068" cy="2481"/>
          </a:xfrm>
        </p:grpSpPr>
        <p:sp>
          <p:nvSpPr>
            <p:cNvPr id="162824" name="Line 72"/>
            <p:cNvSpPr>
              <a:spLocks noChangeShapeType="1"/>
            </p:cNvSpPr>
            <p:nvPr/>
          </p:nvSpPr>
          <p:spPr bwMode="auto">
            <a:xfrm>
              <a:off x="768" y="2400"/>
              <a:ext cx="144" cy="72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25" name="Freeform 73"/>
            <p:cNvSpPr>
              <a:spLocks/>
            </p:cNvSpPr>
            <p:nvPr/>
          </p:nvSpPr>
          <p:spPr bwMode="auto">
            <a:xfrm>
              <a:off x="768" y="2400"/>
              <a:ext cx="793" cy="754"/>
            </a:xfrm>
            <a:custGeom>
              <a:avLst/>
              <a:gdLst>
                <a:gd name="T0" fmla="*/ 0 w 793"/>
                <a:gd name="T1" fmla="*/ 0 h 754"/>
                <a:gd name="T2" fmla="*/ 793 w 793"/>
                <a:gd name="T3" fmla="*/ 754 h 754"/>
                <a:gd name="T4" fmla="*/ 0 60000 65536"/>
                <a:gd name="T5" fmla="*/ 0 60000 65536"/>
              </a:gdLst>
              <a:ahLst/>
              <a:cxnLst>
                <a:cxn ang="T4">
                  <a:pos x="T0" y="T1"/>
                </a:cxn>
                <a:cxn ang="T5">
                  <a:pos x="T2" y="T3"/>
                </a:cxn>
              </a:cxnLst>
              <a:rect l="0" t="0" r="r" b="b"/>
              <a:pathLst>
                <a:path w="793" h="754">
                  <a:moveTo>
                    <a:pt x="0" y="0"/>
                  </a:moveTo>
                  <a:lnTo>
                    <a:pt x="793" y="754"/>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27" name="Freeform 75"/>
            <p:cNvSpPr>
              <a:spLocks/>
            </p:cNvSpPr>
            <p:nvPr/>
          </p:nvSpPr>
          <p:spPr bwMode="auto">
            <a:xfrm>
              <a:off x="1019" y="2400"/>
              <a:ext cx="949" cy="748"/>
            </a:xfrm>
            <a:custGeom>
              <a:avLst/>
              <a:gdLst>
                <a:gd name="T0" fmla="*/ 949 w 949"/>
                <a:gd name="T1" fmla="*/ 0 h 748"/>
                <a:gd name="T2" fmla="*/ 0 w 949"/>
                <a:gd name="T3" fmla="*/ 748 h 748"/>
                <a:gd name="T4" fmla="*/ 0 60000 65536"/>
                <a:gd name="T5" fmla="*/ 0 60000 65536"/>
              </a:gdLst>
              <a:ahLst/>
              <a:cxnLst>
                <a:cxn ang="T4">
                  <a:pos x="T0" y="T1"/>
                </a:cxn>
                <a:cxn ang="T5">
                  <a:pos x="T2" y="T3"/>
                </a:cxn>
              </a:cxnLst>
              <a:rect l="0" t="0" r="r" b="b"/>
              <a:pathLst>
                <a:path w="949" h="748">
                  <a:moveTo>
                    <a:pt x="949" y="0"/>
                  </a:moveTo>
                  <a:lnTo>
                    <a:pt x="0" y="748"/>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28" name="Freeform 76"/>
            <p:cNvSpPr>
              <a:spLocks/>
            </p:cNvSpPr>
            <p:nvPr/>
          </p:nvSpPr>
          <p:spPr bwMode="auto">
            <a:xfrm>
              <a:off x="1683" y="2400"/>
              <a:ext cx="285" cy="721"/>
            </a:xfrm>
            <a:custGeom>
              <a:avLst/>
              <a:gdLst>
                <a:gd name="T0" fmla="*/ 285 w 285"/>
                <a:gd name="T1" fmla="*/ 0 h 721"/>
                <a:gd name="T2" fmla="*/ 0 w 285"/>
                <a:gd name="T3" fmla="*/ 721 h 721"/>
                <a:gd name="T4" fmla="*/ 0 60000 65536"/>
                <a:gd name="T5" fmla="*/ 0 60000 65536"/>
              </a:gdLst>
              <a:ahLst/>
              <a:cxnLst>
                <a:cxn ang="T4">
                  <a:pos x="T0" y="T1"/>
                </a:cxn>
                <a:cxn ang="T5">
                  <a:pos x="T2" y="T3"/>
                </a:cxn>
              </a:cxnLst>
              <a:rect l="0" t="0" r="r" b="b"/>
              <a:pathLst>
                <a:path w="285" h="721">
                  <a:moveTo>
                    <a:pt x="285" y="0"/>
                  </a:moveTo>
                  <a:lnTo>
                    <a:pt x="0" y="72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29" name="Freeform 77"/>
            <p:cNvSpPr>
              <a:spLocks/>
            </p:cNvSpPr>
            <p:nvPr/>
          </p:nvSpPr>
          <p:spPr bwMode="auto">
            <a:xfrm>
              <a:off x="1751" y="2400"/>
              <a:ext cx="841" cy="754"/>
            </a:xfrm>
            <a:custGeom>
              <a:avLst/>
              <a:gdLst>
                <a:gd name="T0" fmla="*/ 841 w 841"/>
                <a:gd name="T1" fmla="*/ 0 h 754"/>
                <a:gd name="T2" fmla="*/ 0 w 841"/>
                <a:gd name="T3" fmla="*/ 754 h 754"/>
                <a:gd name="T4" fmla="*/ 0 60000 65536"/>
                <a:gd name="T5" fmla="*/ 0 60000 65536"/>
              </a:gdLst>
              <a:ahLst/>
              <a:cxnLst>
                <a:cxn ang="T4">
                  <a:pos x="T0" y="T1"/>
                </a:cxn>
                <a:cxn ang="T5">
                  <a:pos x="T2" y="T3"/>
                </a:cxn>
              </a:cxnLst>
              <a:rect l="0" t="0" r="r" b="b"/>
              <a:pathLst>
                <a:path w="841" h="754">
                  <a:moveTo>
                    <a:pt x="841" y="0"/>
                  </a:moveTo>
                  <a:lnTo>
                    <a:pt x="0" y="754"/>
                  </a:lnTo>
                </a:path>
              </a:pathLst>
            </a:custGeom>
            <a:noFill/>
            <a:ln w="3810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30" name="Line 78"/>
            <p:cNvSpPr>
              <a:spLocks noChangeShapeType="1"/>
            </p:cNvSpPr>
            <p:nvPr/>
          </p:nvSpPr>
          <p:spPr bwMode="auto">
            <a:xfrm flipH="1">
              <a:off x="2352" y="2400"/>
              <a:ext cx="240" cy="72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31" name="Oval 79"/>
            <p:cNvSpPr>
              <a:spLocks noChangeArrowheads="1"/>
            </p:cNvSpPr>
            <p:nvPr/>
          </p:nvSpPr>
          <p:spPr bwMode="auto">
            <a:xfrm>
              <a:off x="624" y="230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a</a:t>
              </a:r>
            </a:p>
          </p:txBody>
        </p:sp>
        <p:sp>
          <p:nvSpPr>
            <p:cNvPr id="162833" name="Oval 81"/>
            <p:cNvSpPr>
              <a:spLocks noChangeArrowheads="1"/>
            </p:cNvSpPr>
            <p:nvPr/>
          </p:nvSpPr>
          <p:spPr bwMode="auto">
            <a:xfrm>
              <a:off x="1872" y="230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c</a:t>
              </a:r>
            </a:p>
          </p:txBody>
        </p:sp>
        <p:sp>
          <p:nvSpPr>
            <p:cNvPr id="162834" name="Oval 82"/>
            <p:cNvSpPr>
              <a:spLocks noChangeArrowheads="1"/>
            </p:cNvSpPr>
            <p:nvPr/>
          </p:nvSpPr>
          <p:spPr bwMode="auto">
            <a:xfrm>
              <a:off x="2448" y="230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d</a:t>
              </a:r>
            </a:p>
          </p:txBody>
        </p:sp>
        <p:sp>
          <p:nvSpPr>
            <p:cNvPr id="162835" name="Oval 83"/>
            <p:cNvSpPr>
              <a:spLocks noChangeArrowheads="1"/>
            </p:cNvSpPr>
            <p:nvPr/>
          </p:nvSpPr>
          <p:spPr bwMode="auto">
            <a:xfrm>
              <a:off x="1488" y="3840"/>
              <a:ext cx="244" cy="225"/>
            </a:xfrm>
            <a:prstGeom prst="ellipse">
              <a:avLst/>
            </a:prstGeom>
            <a:solidFill>
              <a:srgbClr val="FF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t</a:t>
              </a:r>
            </a:p>
          </p:txBody>
        </p:sp>
        <p:sp>
          <p:nvSpPr>
            <p:cNvPr id="162836" name="Line 84"/>
            <p:cNvSpPr>
              <a:spLocks noChangeShapeType="1"/>
            </p:cNvSpPr>
            <p:nvPr/>
          </p:nvSpPr>
          <p:spPr bwMode="auto">
            <a:xfrm flipH="1">
              <a:off x="816" y="1680"/>
              <a:ext cx="768" cy="624"/>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37" name="Line 85"/>
            <p:cNvSpPr>
              <a:spLocks noChangeShapeType="1"/>
            </p:cNvSpPr>
            <p:nvPr/>
          </p:nvSpPr>
          <p:spPr bwMode="auto">
            <a:xfrm flipH="1">
              <a:off x="1392" y="1680"/>
              <a:ext cx="192" cy="624"/>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38" name="Line 86"/>
            <p:cNvSpPr>
              <a:spLocks noChangeShapeType="1"/>
            </p:cNvSpPr>
            <p:nvPr/>
          </p:nvSpPr>
          <p:spPr bwMode="auto">
            <a:xfrm>
              <a:off x="1584" y="1680"/>
              <a:ext cx="384" cy="6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39" name="Line 87"/>
            <p:cNvSpPr>
              <a:spLocks noChangeShapeType="1"/>
            </p:cNvSpPr>
            <p:nvPr/>
          </p:nvSpPr>
          <p:spPr bwMode="auto">
            <a:xfrm>
              <a:off x="1584" y="1680"/>
              <a:ext cx="960" cy="624"/>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40" name="Line 88"/>
            <p:cNvSpPr>
              <a:spLocks noChangeShapeType="1"/>
            </p:cNvSpPr>
            <p:nvPr/>
          </p:nvSpPr>
          <p:spPr bwMode="auto">
            <a:xfrm flipH="1">
              <a:off x="1705" y="3264"/>
              <a:ext cx="599" cy="624"/>
            </a:xfrm>
            <a:custGeom>
              <a:avLst/>
              <a:gdLst>
                <a:gd name="connsiteX0" fmla="*/ 0 w 990600"/>
                <a:gd name="connsiteY0" fmla="*/ 0 h 990600"/>
                <a:gd name="connsiteX1" fmla="*/ 990600 w 990600"/>
                <a:gd name="connsiteY1" fmla="*/ 990600 h 990600"/>
                <a:gd name="connsiteX0" fmla="*/ 0 w 941439"/>
                <a:gd name="connsiteY0" fmla="*/ 0 h 980768"/>
                <a:gd name="connsiteX1" fmla="*/ 941439 w 941439"/>
                <a:gd name="connsiteY1" fmla="*/ 980768 h 980768"/>
                <a:gd name="connsiteX0" fmla="*/ 0 w 951324"/>
                <a:gd name="connsiteY0" fmla="*/ 0 h 990290"/>
                <a:gd name="connsiteX1" fmla="*/ 951324 w 951324"/>
                <a:gd name="connsiteY1" fmla="*/ 990290 h 990290"/>
              </a:gdLst>
              <a:ahLst/>
              <a:cxnLst>
                <a:cxn ang="0">
                  <a:pos x="connsiteX0" y="connsiteY0"/>
                </a:cxn>
                <a:cxn ang="0">
                  <a:pos x="connsiteX1" y="connsiteY1"/>
                </a:cxn>
              </a:cxnLst>
              <a:rect l="l" t="t" r="r" b="b"/>
              <a:pathLst>
                <a:path w="951324" h="990290">
                  <a:moveTo>
                    <a:pt x="0" y="0"/>
                  </a:moveTo>
                  <a:cubicBezTo>
                    <a:pt x="330200" y="330200"/>
                    <a:pt x="621124" y="660090"/>
                    <a:pt x="951324" y="990290"/>
                  </a:cubicBezTo>
                </a:path>
              </a:pathLst>
            </a:cu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41" name="Line 89"/>
            <p:cNvSpPr>
              <a:spLocks noChangeShapeType="1"/>
            </p:cNvSpPr>
            <p:nvPr/>
          </p:nvSpPr>
          <p:spPr bwMode="auto">
            <a:xfrm flipH="1">
              <a:off x="1627" y="3264"/>
              <a:ext cx="6" cy="595"/>
            </a:xfrm>
            <a:custGeom>
              <a:avLst/>
              <a:gdLst>
                <a:gd name="connsiteX0" fmla="*/ 0 w 76200"/>
                <a:gd name="connsiteY0" fmla="*/ 0 h 914400"/>
                <a:gd name="connsiteX1" fmla="*/ 76200 w 76200"/>
                <a:gd name="connsiteY1" fmla="*/ 914400 h 914400"/>
                <a:gd name="connsiteX0" fmla="*/ 925 w 9224"/>
                <a:gd name="connsiteY0" fmla="*/ 0 h 894735"/>
                <a:gd name="connsiteX1" fmla="*/ 8299 w 9224"/>
                <a:gd name="connsiteY1" fmla="*/ 894735 h 894735"/>
                <a:gd name="connsiteX0" fmla="*/ 1003 w 10000"/>
                <a:gd name="connsiteY0" fmla="*/ 0 h 10549"/>
                <a:gd name="connsiteX1" fmla="*/ 8997 w 10000"/>
                <a:gd name="connsiteY1" fmla="*/ 10549 h 10549"/>
              </a:gdLst>
              <a:ahLst/>
              <a:cxnLst>
                <a:cxn ang="0">
                  <a:pos x="connsiteX0" y="connsiteY0"/>
                </a:cxn>
                <a:cxn ang="0">
                  <a:pos x="connsiteX1" y="connsiteY1"/>
                </a:cxn>
              </a:cxnLst>
              <a:rect l="l" t="t" r="r" b="b"/>
              <a:pathLst>
                <a:path w="10000" h="10549">
                  <a:moveTo>
                    <a:pt x="1003" y="0"/>
                  </a:moveTo>
                  <a:cubicBezTo>
                    <a:pt x="28540" y="3407"/>
                    <a:pt x="-18540" y="7142"/>
                    <a:pt x="8997" y="10549"/>
                  </a:cubicBezTo>
                </a:path>
              </a:pathLst>
            </a:cu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42" name="Line 90"/>
            <p:cNvSpPr>
              <a:spLocks noChangeShapeType="1"/>
            </p:cNvSpPr>
            <p:nvPr/>
          </p:nvSpPr>
          <p:spPr bwMode="auto">
            <a:xfrm>
              <a:off x="960" y="3264"/>
              <a:ext cx="576" cy="624"/>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43" name="Oval 91"/>
            <p:cNvSpPr>
              <a:spLocks noChangeArrowheads="1"/>
            </p:cNvSpPr>
            <p:nvPr/>
          </p:nvSpPr>
          <p:spPr bwMode="auto">
            <a:xfrm>
              <a:off x="1440" y="1584"/>
              <a:ext cx="244" cy="225"/>
            </a:xfrm>
            <a:prstGeom prst="ellipse">
              <a:avLst/>
            </a:prstGeom>
            <a:solidFill>
              <a:srgbClr val="FF0000"/>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s</a:t>
              </a:r>
            </a:p>
          </p:txBody>
        </p:sp>
        <p:sp>
          <p:nvSpPr>
            <p:cNvPr id="162844" name="Oval 92"/>
            <p:cNvSpPr>
              <a:spLocks noChangeArrowheads="1"/>
            </p:cNvSpPr>
            <p:nvPr/>
          </p:nvSpPr>
          <p:spPr bwMode="auto">
            <a:xfrm>
              <a:off x="816" y="3120"/>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1</a:t>
              </a:r>
            </a:p>
          </p:txBody>
        </p:sp>
        <p:sp>
          <p:nvSpPr>
            <p:cNvPr id="162845" name="Oval 93"/>
            <p:cNvSpPr>
              <a:spLocks noChangeArrowheads="1"/>
            </p:cNvSpPr>
            <p:nvPr/>
          </p:nvSpPr>
          <p:spPr bwMode="auto">
            <a:xfrm>
              <a:off x="1536" y="3120"/>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2</a:t>
              </a:r>
            </a:p>
          </p:txBody>
        </p:sp>
        <p:sp>
          <p:nvSpPr>
            <p:cNvPr id="162846" name="Oval 94"/>
            <p:cNvSpPr>
              <a:spLocks noChangeArrowheads="1"/>
            </p:cNvSpPr>
            <p:nvPr/>
          </p:nvSpPr>
          <p:spPr bwMode="auto">
            <a:xfrm>
              <a:off x="2208" y="3120"/>
              <a:ext cx="244" cy="225"/>
            </a:xfrm>
            <a:prstGeom prst="ellipse">
              <a:avLst/>
            </a:prstGeom>
            <a:solidFill>
              <a:schemeClr val="bg1"/>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a:t>3</a:t>
              </a:r>
            </a:p>
          </p:txBody>
        </p:sp>
        <p:sp>
          <p:nvSpPr>
            <p:cNvPr id="162826" name="Freeform 74"/>
            <p:cNvSpPr>
              <a:spLocks/>
            </p:cNvSpPr>
            <p:nvPr/>
          </p:nvSpPr>
          <p:spPr bwMode="auto">
            <a:xfrm>
              <a:off x="1344" y="2400"/>
              <a:ext cx="895" cy="754"/>
            </a:xfrm>
            <a:custGeom>
              <a:avLst/>
              <a:gdLst>
                <a:gd name="T0" fmla="*/ 0 w 895"/>
                <a:gd name="T1" fmla="*/ 0 h 754"/>
                <a:gd name="T2" fmla="*/ 895 w 895"/>
                <a:gd name="T3" fmla="*/ 754 h 754"/>
                <a:gd name="T4" fmla="*/ 0 60000 65536"/>
                <a:gd name="T5" fmla="*/ 0 60000 65536"/>
              </a:gdLst>
              <a:ahLst/>
              <a:cxnLst>
                <a:cxn ang="T4">
                  <a:pos x="T0" y="T1"/>
                </a:cxn>
                <a:cxn ang="T5">
                  <a:pos x="T2" y="T3"/>
                </a:cxn>
              </a:cxnLst>
              <a:rect l="0" t="0" r="r" b="b"/>
              <a:pathLst>
                <a:path w="895" h="754">
                  <a:moveTo>
                    <a:pt x="0" y="0"/>
                  </a:moveTo>
                  <a:lnTo>
                    <a:pt x="895" y="754"/>
                  </a:lnTo>
                </a:path>
              </a:pathLst>
            </a:custGeom>
            <a:noFill/>
            <a:ln w="38100"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2832" name="Oval 80"/>
            <p:cNvSpPr>
              <a:spLocks noChangeArrowheads="1"/>
            </p:cNvSpPr>
            <p:nvPr/>
          </p:nvSpPr>
          <p:spPr bwMode="auto">
            <a:xfrm>
              <a:off x="1248" y="2304"/>
              <a:ext cx="244" cy="225"/>
            </a:xfrm>
            <a:prstGeom prst="ellipse">
              <a:avLst/>
            </a:prstGeom>
            <a:solidFill>
              <a:schemeClr val="accent3">
                <a:lumMod val="75000"/>
              </a:schemeClr>
            </a:solidFill>
            <a:ln w="19050">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nchorCtr="1">
              <a:spAutoFit/>
            </a:bodyPr>
            <a:lstStyle/>
            <a:p>
              <a:pPr algn="ctr">
                <a:lnSpc>
                  <a:spcPct val="65000"/>
                </a:lnSpc>
                <a:buFont typeface="Wingdings" pitchFamily="2" charset="2"/>
                <a:buNone/>
              </a:pPr>
              <a:r>
                <a:rPr lang="en-US" sz="2000" b="1" dirty="0"/>
                <a:t>b</a:t>
              </a:r>
            </a:p>
          </p:txBody>
        </p:sp>
      </p:grpSp>
      <p:sp>
        <p:nvSpPr>
          <p:cNvPr id="257121" name="Text Box 97" descr="Stationery"/>
          <p:cNvSpPr txBox="1">
            <a:spLocks noChangeArrowheads="1"/>
          </p:cNvSpPr>
          <p:nvPr/>
        </p:nvSpPr>
        <p:spPr bwMode="auto">
          <a:xfrm>
            <a:off x="454025" y="3810000"/>
            <a:ext cx="4079875" cy="2808288"/>
          </a:xfrm>
          <a:prstGeom prst="rect">
            <a:avLst/>
          </a:prstGeom>
          <a:blipFill dpi="0" rotWithShape="0">
            <a:blip r:embed="rId2"/>
            <a:srcRect/>
            <a:tile tx="0" ty="0" sx="100000" sy="100000" flip="none" algn="tl"/>
          </a:blip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None/>
            </a:pPr>
            <a:r>
              <a:rPr lang="en-US" sz="2400" dirty="0"/>
              <a:t>By </a:t>
            </a:r>
            <a:r>
              <a:rPr lang="en-US" sz="2400" b="1" dirty="0"/>
              <a:t>Flow Integrality Theorem</a:t>
            </a:r>
            <a:r>
              <a:rPr lang="en-US" sz="2400" dirty="0"/>
              <a:t>:</a:t>
            </a:r>
            <a:br>
              <a:rPr lang="en-US" sz="2400" dirty="0"/>
            </a:br>
            <a:r>
              <a:rPr lang="en-US" sz="2400" dirty="0"/>
              <a:t>	max |M|  = max v(f).</a:t>
            </a:r>
          </a:p>
          <a:p>
            <a:pPr eaLnBrk="1" hangingPunct="1">
              <a:spcBef>
                <a:spcPct val="50000"/>
              </a:spcBef>
              <a:buFont typeface="Wingdings" pitchFamily="2" charset="2"/>
              <a:buNone/>
            </a:pPr>
            <a:r>
              <a:rPr lang="en-US" sz="2400" dirty="0"/>
              <a:t/>
            </a:r>
            <a:br>
              <a:rPr lang="en-US" sz="2400" dirty="0"/>
            </a:br>
            <a:r>
              <a:rPr lang="en-US" sz="2400" dirty="0"/>
              <a:t>On this special flow network</a:t>
            </a:r>
          </a:p>
          <a:p>
            <a:pPr eaLnBrk="1" hangingPunct="1">
              <a:spcBef>
                <a:spcPct val="50000"/>
              </a:spcBef>
              <a:buFont typeface="Wingdings" pitchFamily="2" charset="2"/>
              <a:buNone/>
            </a:pPr>
            <a:r>
              <a:rPr lang="en-US" sz="2400" dirty="0"/>
              <a:t>Ford-Fulkerson’s algorithm</a:t>
            </a:r>
          </a:p>
          <a:p>
            <a:pPr eaLnBrk="1" hangingPunct="1">
              <a:spcBef>
                <a:spcPct val="50000"/>
              </a:spcBef>
              <a:buFont typeface="Wingdings" pitchFamily="2" charset="2"/>
              <a:buNone/>
            </a:pPr>
            <a:r>
              <a:rPr lang="en-US" sz="2400" dirty="0"/>
              <a:t>takes O(VE) time.</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159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57026"/>
                                        </p:tgtEl>
                                        <p:attrNameLst>
                                          <p:attrName>style.visibility</p:attrName>
                                        </p:attrNameLst>
                                      </p:cBhvr>
                                      <p:to>
                                        <p:strVal val="visible"/>
                                      </p:to>
                                    </p:set>
                                    <p:anim calcmode="lin" valueType="num">
                                      <p:cBhvr>
                                        <p:cTn id="7" dur="500" fill="hold"/>
                                        <p:tgtEl>
                                          <p:spTgt spid="257026"/>
                                        </p:tgtEl>
                                        <p:attrNameLst>
                                          <p:attrName>ppt_w</p:attrName>
                                        </p:attrNameLst>
                                      </p:cBhvr>
                                      <p:tavLst>
                                        <p:tav tm="0">
                                          <p:val>
                                            <p:fltVal val="0"/>
                                          </p:val>
                                        </p:tav>
                                        <p:tav tm="100000">
                                          <p:val>
                                            <p:strVal val="#ppt_w"/>
                                          </p:val>
                                        </p:tav>
                                      </p:tavLst>
                                    </p:anim>
                                    <p:anim calcmode="lin" valueType="num">
                                      <p:cBhvr>
                                        <p:cTn id="8" dur="500" fill="hold"/>
                                        <p:tgtEl>
                                          <p:spTgt spid="25702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257076"/>
                                        </p:tgtEl>
                                        <p:attrNameLst>
                                          <p:attrName>style.visibility</p:attrName>
                                        </p:attrNameLst>
                                      </p:cBhvr>
                                      <p:to>
                                        <p:strVal val="visible"/>
                                      </p:to>
                                    </p:set>
                                    <p:animEffect transition="in" filter="wipe(up)">
                                      <p:cBhvr>
                                        <p:cTn id="13" dur="500"/>
                                        <p:tgtEl>
                                          <p:spTgt spid="25707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257078"/>
                                        </p:tgtEl>
                                        <p:attrNameLst>
                                          <p:attrName>style.visibility</p:attrName>
                                        </p:attrNameLst>
                                      </p:cBhvr>
                                      <p:to>
                                        <p:strVal val="visible"/>
                                      </p:to>
                                    </p:set>
                                    <p:animEffect transition="in" filter="wipe(up)">
                                      <p:cBhvr>
                                        <p:cTn id="18" dur="500"/>
                                        <p:tgtEl>
                                          <p:spTgt spid="25707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257094"/>
                                        </p:tgtEl>
                                        <p:attrNameLst>
                                          <p:attrName>style.visibility</p:attrName>
                                        </p:attrNameLst>
                                      </p:cBhvr>
                                      <p:to>
                                        <p:strVal val="visible"/>
                                      </p:to>
                                    </p:set>
                                    <p:animEffect transition="in" filter="wipe(up)">
                                      <p:cBhvr>
                                        <p:cTn id="23" dur="500"/>
                                        <p:tgtEl>
                                          <p:spTgt spid="25709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257120"/>
                                        </p:tgtEl>
                                        <p:attrNameLst>
                                          <p:attrName>style.visibility</p:attrName>
                                        </p:attrNameLst>
                                      </p:cBhvr>
                                      <p:to>
                                        <p:strVal val="visible"/>
                                      </p:to>
                                    </p:set>
                                    <p:animEffect transition="in" filter="wipe(up)">
                                      <p:cBhvr>
                                        <p:cTn id="28" dur="500"/>
                                        <p:tgtEl>
                                          <p:spTgt spid="25712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257121"/>
                                        </p:tgtEl>
                                        <p:attrNameLst>
                                          <p:attrName>style.visibility</p:attrName>
                                        </p:attrNameLst>
                                      </p:cBhvr>
                                      <p:to>
                                        <p:strVal val="visible"/>
                                      </p:to>
                                    </p:set>
                                    <p:animEffect transition="in" filter="wipe(up)">
                                      <p:cBhvr>
                                        <p:cTn id="33" dur="500"/>
                                        <p:tgtEl>
                                          <p:spTgt spid="257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6" grpId="0" animBg="1" autoUpdateAnimBg="0"/>
      <p:bldP spid="257121" grpId="0" animBg="1" autoUpdateAnimBg="0"/>
    </p:bldLst>
  </p:timing>
</p:sld>
</file>

<file path=ppt/slides/slide1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Augmenting Paths</a:t>
            </a:r>
          </a:p>
        </p:txBody>
      </p:sp>
      <p:sp>
        <p:nvSpPr>
          <p:cNvPr id="275459" name="Text Box 3"/>
          <p:cNvSpPr txBox="1">
            <a:spLocks noChangeArrowheads="1"/>
          </p:cNvSpPr>
          <p:nvPr/>
        </p:nvSpPr>
        <p:spPr bwMode="auto">
          <a:xfrm>
            <a:off x="304800" y="838200"/>
            <a:ext cx="8686800" cy="371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marL="288925" indent="-288925">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None/>
            </a:pPr>
            <a:r>
              <a:rPr lang="en-US" sz="2000"/>
              <a:t>Suppose M is a matching in graph G = (V, E).</a:t>
            </a:r>
          </a:p>
          <a:p>
            <a:pPr eaLnBrk="1" hangingPunct="1">
              <a:spcBef>
                <a:spcPct val="50000"/>
              </a:spcBef>
              <a:buFont typeface="Wingdings" pitchFamily="2" charset="2"/>
              <a:buChar char="§"/>
            </a:pPr>
            <a:r>
              <a:rPr lang="en-US" sz="2000"/>
              <a:t>A node of G is </a:t>
            </a:r>
            <a:r>
              <a:rPr lang="en-US" sz="2000" b="1">
                <a:solidFill>
                  <a:srgbClr val="CC0000"/>
                </a:solidFill>
              </a:rPr>
              <a:t>matched</a:t>
            </a:r>
            <a:r>
              <a:rPr lang="en-US" sz="2000"/>
              <a:t> if it is incident to some edge in M. </a:t>
            </a:r>
            <a:br>
              <a:rPr lang="en-US" sz="2000"/>
            </a:br>
            <a:r>
              <a:rPr lang="en-US" sz="2000"/>
              <a:t>Otherwise, it is </a:t>
            </a:r>
            <a:r>
              <a:rPr lang="en-US" sz="2000" b="1">
                <a:solidFill>
                  <a:srgbClr val="CC0000"/>
                </a:solidFill>
              </a:rPr>
              <a:t>exposed</a:t>
            </a:r>
            <a:r>
              <a:rPr lang="en-US" sz="2000"/>
              <a:t>. </a:t>
            </a:r>
          </a:p>
          <a:p>
            <a:pPr eaLnBrk="1" hangingPunct="1">
              <a:spcBef>
                <a:spcPct val="50000"/>
              </a:spcBef>
              <a:buFont typeface="Wingdings" pitchFamily="2" charset="2"/>
              <a:buChar char="§"/>
            </a:pPr>
            <a:r>
              <a:rPr lang="en-US" sz="2000"/>
              <a:t>An </a:t>
            </a:r>
            <a:r>
              <a:rPr lang="en-US" sz="2000" b="1">
                <a:solidFill>
                  <a:srgbClr val="CC0000"/>
                </a:solidFill>
              </a:rPr>
              <a:t>alternating</a:t>
            </a:r>
            <a:r>
              <a:rPr lang="en-US" sz="2000"/>
              <a:t> path (cycle) with respect to M in G is a path (cycle) such that the edges along the path (cycle) alternate between being in M and being in E – M.</a:t>
            </a:r>
          </a:p>
          <a:p>
            <a:pPr eaLnBrk="1" hangingPunct="1">
              <a:spcBef>
                <a:spcPct val="50000"/>
              </a:spcBef>
              <a:buFont typeface="Wingdings" pitchFamily="2" charset="2"/>
              <a:buChar char="§"/>
            </a:pPr>
            <a:r>
              <a:rPr lang="en-US" sz="2000"/>
              <a:t>An </a:t>
            </a:r>
            <a:r>
              <a:rPr lang="en-US" sz="2000" b="1">
                <a:solidFill>
                  <a:srgbClr val="CC0000"/>
                </a:solidFill>
              </a:rPr>
              <a:t>augmenting path</a:t>
            </a:r>
            <a:r>
              <a:rPr lang="en-US" sz="2000"/>
              <a:t> is an alternating path between two exposed nodes.</a:t>
            </a:r>
            <a:br>
              <a:rPr lang="en-US" sz="2000"/>
            </a:br>
            <a:r>
              <a:rPr lang="en-US" sz="2000"/>
              <a:t>(By necessity, an augmenting path has odd length.)</a:t>
            </a:r>
          </a:p>
          <a:p>
            <a:pPr eaLnBrk="1" hangingPunct="1">
              <a:spcBef>
                <a:spcPct val="50000"/>
              </a:spcBef>
              <a:buFont typeface="Wingdings" pitchFamily="2" charset="2"/>
              <a:buChar char="§"/>
            </a:pPr>
            <a:r>
              <a:rPr lang="en-US" sz="2000"/>
              <a:t>Augmenting M along an augmenting path P is changing M to </a:t>
            </a:r>
            <a:br>
              <a:rPr lang="en-US" sz="2000"/>
            </a:br>
            <a:r>
              <a:rPr lang="en-US" sz="2000"/>
              <a:t>M</a:t>
            </a:r>
            <a:r>
              <a:rPr lang="en-US" sz="2000">
                <a:sym typeface="Symbol" pitchFamily="18" charset="2"/>
              </a:rPr>
              <a:t>P = (M – P)  (P – M)     (i.e., edges in M or in P but not both)</a:t>
            </a:r>
            <a:br>
              <a:rPr lang="en-US" sz="2000">
                <a:sym typeface="Symbol" pitchFamily="18" charset="2"/>
              </a:rPr>
            </a:br>
            <a:r>
              <a:rPr lang="en-US" sz="2000">
                <a:sym typeface="Symbol" pitchFamily="18" charset="2"/>
              </a:rPr>
              <a:t>				    </a:t>
            </a:r>
            <a:r>
              <a:rPr lang="en-US" sz="2000" b="1">
                <a:solidFill>
                  <a:srgbClr val="CC0000"/>
                </a:solidFill>
                <a:sym typeface="Symbol" pitchFamily="18" charset="2"/>
              </a:rPr>
              <a:t>Note that |</a:t>
            </a:r>
            <a:r>
              <a:rPr lang="en-US" sz="2000" b="1">
                <a:solidFill>
                  <a:srgbClr val="CC0000"/>
                </a:solidFill>
              </a:rPr>
              <a:t>M</a:t>
            </a:r>
            <a:r>
              <a:rPr lang="en-US" sz="2000" b="1">
                <a:solidFill>
                  <a:srgbClr val="CC0000"/>
                </a:solidFill>
                <a:sym typeface="Symbol" pitchFamily="18" charset="2"/>
              </a:rPr>
              <a:t>P|  = |M| + 1.</a:t>
            </a:r>
            <a:r>
              <a:rPr lang="en-US" sz="2000">
                <a:sym typeface="Symbol" pitchFamily="18" charset="2"/>
              </a:rPr>
              <a:t> </a:t>
            </a:r>
          </a:p>
        </p:txBody>
      </p:sp>
      <p:grpSp>
        <p:nvGrpSpPr>
          <p:cNvPr id="275582" name="Group 126"/>
          <p:cNvGrpSpPr>
            <a:grpSpLocks/>
          </p:cNvGrpSpPr>
          <p:nvPr/>
        </p:nvGrpSpPr>
        <p:grpSpPr bwMode="auto">
          <a:xfrm>
            <a:off x="762000" y="4724400"/>
            <a:ext cx="6400800" cy="1949450"/>
            <a:chOff x="864" y="3024"/>
            <a:chExt cx="4032" cy="1228"/>
          </a:xfrm>
        </p:grpSpPr>
        <p:sp>
          <p:nvSpPr>
            <p:cNvPr id="163845" name="Line 113"/>
            <p:cNvSpPr>
              <a:spLocks noChangeShapeType="1"/>
            </p:cNvSpPr>
            <p:nvPr/>
          </p:nvSpPr>
          <p:spPr bwMode="auto">
            <a:xfrm>
              <a:off x="4368" y="3744"/>
              <a:ext cx="480" cy="0"/>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46" name="Line 114"/>
            <p:cNvSpPr>
              <a:spLocks noChangeShapeType="1"/>
            </p:cNvSpPr>
            <p:nvPr/>
          </p:nvSpPr>
          <p:spPr bwMode="auto">
            <a:xfrm>
              <a:off x="4848" y="3072"/>
              <a:ext cx="0" cy="336"/>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47" name="Line 110"/>
            <p:cNvSpPr>
              <a:spLocks noChangeShapeType="1"/>
            </p:cNvSpPr>
            <p:nvPr/>
          </p:nvSpPr>
          <p:spPr bwMode="auto">
            <a:xfrm>
              <a:off x="3936" y="3072"/>
              <a:ext cx="432" cy="0"/>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48" name="Line 32"/>
            <p:cNvSpPr>
              <a:spLocks noChangeShapeType="1"/>
            </p:cNvSpPr>
            <p:nvPr/>
          </p:nvSpPr>
          <p:spPr bwMode="auto">
            <a:xfrm>
              <a:off x="1810" y="3148"/>
              <a:ext cx="480" cy="0"/>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49" name="Line 33"/>
            <p:cNvSpPr>
              <a:spLocks noChangeShapeType="1"/>
            </p:cNvSpPr>
            <p:nvPr/>
          </p:nvSpPr>
          <p:spPr bwMode="auto">
            <a:xfrm>
              <a:off x="1378" y="3484"/>
              <a:ext cx="432" cy="0"/>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50" name="Line 34"/>
            <p:cNvSpPr>
              <a:spLocks noChangeShapeType="1"/>
            </p:cNvSpPr>
            <p:nvPr/>
          </p:nvSpPr>
          <p:spPr bwMode="auto">
            <a:xfrm flipH="1">
              <a:off x="1810" y="3484"/>
              <a:ext cx="480" cy="336"/>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51" name="Line 35"/>
            <p:cNvSpPr>
              <a:spLocks noChangeShapeType="1"/>
            </p:cNvSpPr>
            <p:nvPr/>
          </p:nvSpPr>
          <p:spPr bwMode="auto">
            <a:xfrm>
              <a:off x="1378" y="3820"/>
              <a:ext cx="432" cy="384"/>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52" name="Oval 36"/>
            <p:cNvSpPr>
              <a:spLocks noChangeArrowheads="1"/>
            </p:cNvSpPr>
            <p:nvPr/>
          </p:nvSpPr>
          <p:spPr bwMode="auto">
            <a:xfrm>
              <a:off x="1330" y="310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53" name="Oval 37"/>
            <p:cNvSpPr>
              <a:spLocks noChangeArrowheads="1"/>
            </p:cNvSpPr>
            <p:nvPr/>
          </p:nvSpPr>
          <p:spPr bwMode="auto">
            <a:xfrm>
              <a:off x="1330" y="3436"/>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54" name="Oval 38"/>
            <p:cNvSpPr>
              <a:spLocks noChangeArrowheads="1"/>
            </p:cNvSpPr>
            <p:nvPr/>
          </p:nvSpPr>
          <p:spPr bwMode="auto">
            <a:xfrm>
              <a:off x="1330" y="3772"/>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55" name="Oval 39"/>
            <p:cNvSpPr>
              <a:spLocks noChangeArrowheads="1"/>
            </p:cNvSpPr>
            <p:nvPr/>
          </p:nvSpPr>
          <p:spPr bwMode="auto">
            <a:xfrm>
              <a:off x="1762" y="310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56" name="Oval 40"/>
            <p:cNvSpPr>
              <a:spLocks noChangeArrowheads="1"/>
            </p:cNvSpPr>
            <p:nvPr/>
          </p:nvSpPr>
          <p:spPr bwMode="auto">
            <a:xfrm>
              <a:off x="1762" y="3436"/>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57" name="Oval 41"/>
            <p:cNvSpPr>
              <a:spLocks noChangeArrowheads="1"/>
            </p:cNvSpPr>
            <p:nvPr/>
          </p:nvSpPr>
          <p:spPr bwMode="auto">
            <a:xfrm>
              <a:off x="1762" y="3772"/>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58" name="Oval 42"/>
            <p:cNvSpPr>
              <a:spLocks noChangeArrowheads="1"/>
            </p:cNvSpPr>
            <p:nvPr/>
          </p:nvSpPr>
          <p:spPr bwMode="auto">
            <a:xfrm>
              <a:off x="2242" y="310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59" name="Oval 43"/>
            <p:cNvSpPr>
              <a:spLocks noChangeArrowheads="1"/>
            </p:cNvSpPr>
            <p:nvPr/>
          </p:nvSpPr>
          <p:spPr bwMode="auto">
            <a:xfrm>
              <a:off x="2242" y="3436"/>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60" name="Oval 44"/>
            <p:cNvSpPr>
              <a:spLocks noChangeArrowheads="1"/>
            </p:cNvSpPr>
            <p:nvPr/>
          </p:nvSpPr>
          <p:spPr bwMode="auto">
            <a:xfrm>
              <a:off x="2242" y="3772"/>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61" name="Oval 45"/>
            <p:cNvSpPr>
              <a:spLocks noChangeArrowheads="1"/>
            </p:cNvSpPr>
            <p:nvPr/>
          </p:nvSpPr>
          <p:spPr bwMode="auto">
            <a:xfrm>
              <a:off x="1762" y="4156"/>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62" name="Line 46"/>
            <p:cNvSpPr>
              <a:spLocks noChangeShapeType="1"/>
            </p:cNvSpPr>
            <p:nvPr/>
          </p:nvSpPr>
          <p:spPr bwMode="auto">
            <a:xfrm>
              <a:off x="1378" y="3148"/>
              <a:ext cx="4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63" name="Line 47"/>
            <p:cNvSpPr>
              <a:spLocks noChangeShapeType="1"/>
            </p:cNvSpPr>
            <p:nvPr/>
          </p:nvSpPr>
          <p:spPr bwMode="auto">
            <a:xfrm>
              <a:off x="1810" y="3484"/>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64" name="Line 48"/>
            <p:cNvSpPr>
              <a:spLocks noChangeShapeType="1"/>
            </p:cNvSpPr>
            <p:nvPr/>
          </p:nvSpPr>
          <p:spPr bwMode="auto">
            <a:xfrm>
              <a:off x="1378" y="3820"/>
              <a:ext cx="4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65" name="Line 49"/>
            <p:cNvSpPr>
              <a:spLocks noChangeShapeType="1"/>
            </p:cNvSpPr>
            <p:nvPr/>
          </p:nvSpPr>
          <p:spPr bwMode="auto">
            <a:xfrm>
              <a:off x="1810" y="3820"/>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66" name="Line 50"/>
            <p:cNvSpPr>
              <a:spLocks noChangeShapeType="1"/>
            </p:cNvSpPr>
            <p:nvPr/>
          </p:nvSpPr>
          <p:spPr bwMode="auto">
            <a:xfrm>
              <a:off x="2290" y="3148"/>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67" name="Line 51"/>
            <p:cNvSpPr>
              <a:spLocks noChangeShapeType="1"/>
            </p:cNvSpPr>
            <p:nvPr/>
          </p:nvSpPr>
          <p:spPr bwMode="auto">
            <a:xfrm>
              <a:off x="2290" y="3484"/>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68" name="Line 52"/>
            <p:cNvSpPr>
              <a:spLocks noChangeShapeType="1"/>
            </p:cNvSpPr>
            <p:nvPr/>
          </p:nvSpPr>
          <p:spPr bwMode="auto">
            <a:xfrm flipH="1">
              <a:off x="1810" y="3820"/>
              <a:ext cx="48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69" name="Line 53"/>
            <p:cNvSpPr>
              <a:spLocks noChangeShapeType="1"/>
            </p:cNvSpPr>
            <p:nvPr/>
          </p:nvSpPr>
          <p:spPr bwMode="auto">
            <a:xfrm>
              <a:off x="1810" y="3148"/>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70" name="Line 54"/>
            <p:cNvSpPr>
              <a:spLocks noChangeShapeType="1"/>
            </p:cNvSpPr>
            <p:nvPr/>
          </p:nvSpPr>
          <p:spPr bwMode="auto">
            <a:xfrm>
              <a:off x="1810" y="3484"/>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71" name="Line 55"/>
            <p:cNvSpPr>
              <a:spLocks noChangeShapeType="1"/>
            </p:cNvSpPr>
            <p:nvPr/>
          </p:nvSpPr>
          <p:spPr bwMode="auto">
            <a:xfrm>
              <a:off x="1810" y="3820"/>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72" name="Line 56"/>
            <p:cNvSpPr>
              <a:spLocks noChangeShapeType="1"/>
            </p:cNvSpPr>
            <p:nvPr/>
          </p:nvSpPr>
          <p:spPr bwMode="auto">
            <a:xfrm>
              <a:off x="1378" y="3148"/>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73" name="Line 57"/>
            <p:cNvSpPr>
              <a:spLocks noChangeShapeType="1"/>
            </p:cNvSpPr>
            <p:nvPr/>
          </p:nvSpPr>
          <p:spPr bwMode="auto">
            <a:xfrm>
              <a:off x="1378" y="3484"/>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74" name="Line 58"/>
            <p:cNvSpPr>
              <a:spLocks noChangeShapeType="1"/>
            </p:cNvSpPr>
            <p:nvPr/>
          </p:nvSpPr>
          <p:spPr bwMode="auto">
            <a:xfrm flipH="1">
              <a:off x="1810" y="3148"/>
              <a:ext cx="48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75" name="Text Box 59"/>
            <p:cNvSpPr txBox="1">
              <a:spLocks noChangeArrowheads="1"/>
            </p:cNvSpPr>
            <p:nvPr/>
          </p:nvSpPr>
          <p:spPr bwMode="auto">
            <a:xfrm>
              <a:off x="864" y="3312"/>
              <a:ext cx="258"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000"/>
                <a:t>M</a:t>
              </a:r>
              <a:endParaRPr lang="en-US" sz="2000" baseline="-25000"/>
            </a:p>
          </p:txBody>
        </p:sp>
        <p:sp>
          <p:nvSpPr>
            <p:cNvPr id="163876" name="Freeform 92"/>
            <p:cNvSpPr>
              <a:spLocks/>
            </p:cNvSpPr>
            <p:nvPr/>
          </p:nvSpPr>
          <p:spPr bwMode="auto">
            <a:xfrm>
              <a:off x="1368" y="3072"/>
              <a:ext cx="1008" cy="864"/>
            </a:xfrm>
            <a:custGeom>
              <a:avLst/>
              <a:gdLst>
                <a:gd name="T0" fmla="*/ 0 w 1008"/>
                <a:gd name="T1" fmla="*/ 0 h 864"/>
                <a:gd name="T2" fmla="*/ 1008 w 1008"/>
                <a:gd name="T3" fmla="*/ 0 h 864"/>
                <a:gd name="T4" fmla="*/ 1008 w 1008"/>
                <a:gd name="T5" fmla="*/ 480 h 864"/>
                <a:gd name="T6" fmla="*/ 480 w 1008"/>
                <a:gd name="T7" fmla="*/ 864 h 864"/>
                <a:gd name="T8" fmla="*/ 960 w 1008"/>
                <a:gd name="T9" fmla="*/ 864 h 8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8" h="864">
                  <a:moveTo>
                    <a:pt x="0" y="0"/>
                  </a:moveTo>
                  <a:lnTo>
                    <a:pt x="1008" y="0"/>
                  </a:lnTo>
                  <a:lnTo>
                    <a:pt x="1008" y="480"/>
                  </a:lnTo>
                  <a:lnTo>
                    <a:pt x="480" y="864"/>
                  </a:lnTo>
                  <a:lnTo>
                    <a:pt x="960" y="864"/>
                  </a:lnTo>
                </a:path>
              </a:pathLst>
            </a:custGeom>
            <a:noFill/>
            <a:ln w="19050" cap="flat" cmpd="sng">
              <a:solidFill>
                <a:srgbClr val="96969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63877" name="Rectangle 94"/>
            <p:cNvSpPr>
              <a:spLocks noChangeArrowheads="1"/>
            </p:cNvSpPr>
            <p:nvPr/>
          </p:nvSpPr>
          <p:spPr bwMode="auto">
            <a:xfrm>
              <a:off x="2378" y="3216"/>
              <a:ext cx="205"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75000"/>
                </a:lnSpc>
                <a:spcBef>
                  <a:spcPct val="50000"/>
                </a:spcBef>
                <a:buFont typeface="Wingdings" pitchFamily="2" charset="2"/>
                <a:buNone/>
              </a:pPr>
              <a:r>
                <a:rPr lang="en-US" sz="2000"/>
                <a:t>P</a:t>
              </a:r>
            </a:p>
          </p:txBody>
        </p:sp>
        <p:sp>
          <p:nvSpPr>
            <p:cNvPr id="163878" name="AutoShape 95"/>
            <p:cNvSpPr>
              <a:spLocks noChangeArrowheads="1"/>
            </p:cNvSpPr>
            <p:nvPr/>
          </p:nvSpPr>
          <p:spPr bwMode="auto">
            <a:xfrm>
              <a:off x="2784" y="3456"/>
              <a:ext cx="432" cy="144"/>
            </a:xfrm>
            <a:prstGeom prst="rightArrow">
              <a:avLst>
                <a:gd name="adj1" fmla="val 50000"/>
                <a:gd name="adj2" fmla="val 75000"/>
              </a:avLst>
            </a:prstGeom>
            <a:solidFill>
              <a:srgbClr val="CC0000"/>
            </a:solidFill>
            <a:ln w="571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3879" name="Line 96"/>
            <p:cNvSpPr>
              <a:spLocks noChangeShapeType="1"/>
            </p:cNvSpPr>
            <p:nvPr/>
          </p:nvSpPr>
          <p:spPr bwMode="auto">
            <a:xfrm>
              <a:off x="4368" y="3072"/>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80" name="Line 97"/>
            <p:cNvSpPr>
              <a:spLocks noChangeShapeType="1"/>
            </p:cNvSpPr>
            <p:nvPr/>
          </p:nvSpPr>
          <p:spPr bwMode="auto">
            <a:xfrm>
              <a:off x="3936" y="3408"/>
              <a:ext cx="432" cy="0"/>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81" name="Line 98"/>
            <p:cNvSpPr>
              <a:spLocks noChangeShapeType="1"/>
            </p:cNvSpPr>
            <p:nvPr/>
          </p:nvSpPr>
          <p:spPr bwMode="auto">
            <a:xfrm flipH="1">
              <a:off x="4368" y="3408"/>
              <a:ext cx="48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82" name="Line 99"/>
            <p:cNvSpPr>
              <a:spLocks noChangeShapeType="1"/>
            </p:cNvSpPr>
            <p:nvPr/>
          </p:nvSpPr>
          <p:spPr bwMode="auto">
            <a:xfrm>
              <a:off x="3936" y="3744"/>
              <a:ext cx="432" cy="384"/>
            </a:xfrm>
            <a:prstGeom prst="line">
              <a:avLst/>
            </a:prstGeom>
            <a:noFill/>
            <a:ln w="571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83" name="Oval 100"/>
            <p:cNvSpPr>
              <a:spLocks noChangeArrowheads="1"/>
            </p:cNvSpPr>
            <p:nvPr/>
          </p:nvSpPr>
          <p:spPr bwMode="auto">
            <a:xfrm>
              <a:off x="3888" y="3024"/>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84" name="Oval 101"/>
            <p:cNvSpPr>
              <a:spLocks noChangeArrowheads="1"/>
            </p:cNvSpPr>
            <p:nvPr/>
          </p:nvSpPr>
          <p:spPr bwMode="auto">
            <a:xfrm>
              <a:off x="3888" y="336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85" name="Oval 102"/>
            <p:cNvSpPr>
              <a:spLocks noChangeArrowheads="1"/>
            </p:cNvSpPr>
            <p:nvPr/>
          </p:nvSpPr>
          <p:spPr bwMode="auto">
            <a:xfrm>
              <a:off x="3888" y="3696"/>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86" name="Oval 103"/>
            <p:cNvSpPr>
              <a:spLocks noChangeArrowheads="1"/>
            </p:cNvSpPr>
            <p:nvPr/>
          </p:nvSpPr>
          <p:spPr bwMode="auto">
            <a:xfrm>
              <a:off x="4320" y="3024"/>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87" name="Oval 104"/>
            <p:cNvSpPr>
              <a:spLocks noChangeArrowheads="1"/>
            </p:cNvSpPr>
            <p:nvPr/>
          </p:nvSpPr>
          <p:spPr bwMode="auto">
            <a:xfrm>
              <a:off x="4320" y="336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88" name="Oval 105"/>
            <p:cNvSpPr>
              <a:spLocks noChangeArrowheads="1"/>
            </p:cNvSpPr>
            <p:nvPr/>
          </p:nvSpPr>
          <p:spPr bwMode="auto">
            <a:xfrm>
              <a:off x="4320" y="3696"/>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89" name="Oval 106"/>
            <p:cNvSpPr>
              <a:spLocks noChangeArrowheads="1"/>
            </p:cNvSpPr>
            <p:nvPr/>
          </p:nvSpPr>
          <p:spPr bwMode="auto">
            <a:xfrm>
              <a:off x="4800" y="3024"/>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90" name="Oval 107"/>
            <p:cNvSpPr>
              <a:spLocks noChangeArrowheads="1"/>
            </p:cNvSpPr>
            <p:nvPr/>
          </p:nvSpPr>
          <p:spPr bwMode="auto">
            <a:xfrm>
              <a:off x="4800" y="336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91" name="Oval 108"/>
            <p:cNvSpPr>
              <a:spLocks noChangeArrowheads="1"/>
            </p:cNvSpPr>
            <p:nvPr/>
          </p:nvSpPr>
          <p:spPr bwMode="auto">
            <a:xfrm>
              <a:off x="4800" y="3696"/>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92" name="Oval 109"/>
            <p:cNvSpPr>
              <a:spLocks noChangeArrowheads="1"/>
            </p:cNvSpPr>
            <p:nvPr/>
          </p:nvSpPr>
          <p:spPr bwMode="auto">
            <a:xfrm>
              <a:off x="4320" y="408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3893" name="Line 111"/>
            <p:cNvSpPr>
              <a:spLocks noChangeShapeType="1"/>
            </p:cNvSpPr>
            <p:nvPr/>
          </p:nvSpPr>
          <p:spPr bwMode="auto">
            <a:xfrm>
              <a:off x="4368" y="3408"/>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94" name="Line 112"/>
            <p:cNvSpPr>
              <a:spLocks noChangeShapeType="1"/>
            </p:cNvSpPr>
            <p:nvPr/>
          </p:nvSpPr>
          <p:spPr bwMode="auto">
            <a:xfrm>
              <a:off x="3936" y="3744"/>
              <a:ext cx="4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95" name="Line 115"/>
            <p:cNvSpPr>
              <a:spLocks noChangeShapeType="1"/>
            </p:cNvSpPr>
            <p:nvPr/>
          </p:nvSpPr>
          <p:spPr bwMode="auto">
            <a:xfrm>
              <a:off x="4848" y="3408"/>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96" name="Line 116"/>
            <p:cNvSpPr>
              <a:spLocks noChangeShapeType="1"/>
            </p:cNvSpPr>
            <p:nvPr/>
          </p:nvSpPr>
          <p:spPr bwMode="auto">
            <a:xfrm flipH="1">
              <a:off x="4368" y="3744"/>
              <a:ext cx="48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97" name="Line 117"/>
            <p:cNvSpPr>
              <a:spLocks noChangeShapeType="1"/>
            </p:cNvSpPr>
            <p:nvPr/>
          </p:nvSpPr>
          <p:spPr bwMode="auto">
            <a:xfrm>
              <a:off x="4368" y="3072"/>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98" name="Line 118"/>
            <p:cNvSpPr>
              <a:spLocks noChangeShapeType="1"/>
            </p:cNvSpPr>
            <p:nvPr/>
          </p:nvSpPr>
          <p:spPr bwMode="auto">
            <a:xfrm>
              <a:off x="4368" y="3408"/>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899" name="Line 119"/>
            <p:cNvSpPr>
              <a:spLocks noChangeShapeType="1"/>
            </p:cNvSpPr>
            <p:nvPr/>
          </p:nvSpPr>
          <p:spPr bwMode="auto">
            <a:xfrm>
              <a:off x="4368" y="3744"/>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900" name="Line 120"/>
            <p:cNvSpPr>
              <a:spLocks noChangeShapeType="1"/>
            </p:cNvSpPr>
            <p:nvPr/>
          </p:nvSpPr>
          <p:spPr bwMode="auto">
            <a:xfrm>
              <a:off x="3936" y="3072"/>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901" name="Line 121"/>
            <p:cNvSpPr>
              <a:spLocks noChangeShapeType="1"/>
            </p:cNvSpPr>
            <p:nvPr/>
          </p:nvSpPr>
          <p:spPr bwMode="auto">
            <a:xfrm>
              <a:off x="3936" y="3408"/>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902" name="Line 122"/>
            <p:cNvSpPr>
              <a:spLocks noChangeShapeType="1"/>
            </p:cNvSpPr>
            <p:nvPr/>
          </p:nvSpPr>
          <p:spPr bwMode="auto">
            <a:xfrm flipH="1">
              <a:off x="4368" y="3072"/>
              <a:ext cx="48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nchorCtr="1">
              <a:spAutoFit/>
            </a:bodyPr>
            <a:lstStyle/>
            <a:p>
              <a:endParaRPr lang="en-CA"/>
            </a:p>
          </p:txBody>
        </p:sp>
        <p:sp>
          <p:nvSpPr>
            <p:cNvPr id="163903" name="Rectangle 125"/>
            <p:cNvSpPr>
              <a:spLocks noChangeArrowheads="1"/>
            </p:cNvSpPr>
            <p:nvPr/>
          </p:nvSpPr>
          <p:spPr bwMode="auto">
            <a:xfrm>
              <a:off x="3377" y="3405"/>
              <a:ext cx="470"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75000"/>
                </a:lnSpc>
                <a:spcBef>
                  <a:spcPct val="50000"/>
                </a:spcBef>
                <a:buFont typeface="Wingdings" pitchFamily="2" charset="2"/>
                <a:buNone/>
              </a:pPr>
              <a:r>
                <a:rPr lang="en-US" sz="2000"/>
                <a:t>M</a:t>
              </a:r>
              <a:r>
                <a:rPr lang="en-US" sz="2000">
                  <a:sym typeface="Symbol" pitchFamily="18" charset="2"/>
                </a:rPr>
                <a:t>P</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160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75458"/>
                                        </p:tgtEl>
                                        <p:attrNameLst>
                                          <p:attrName>style.visibility</p:attrName>
                                        </p:attrNameLst>
                                      </p:cBhvr>
                                      <p:to>
                                        <p:strVal val="visible"/>
                                      </p:to>
                                    </p:set>
                                    <p:anim calcmode="lin" valueType="num">
                                      <p:cBhvr>
                                        <p:cTn id="7" dur="500" fill="hold"/>
                                        <p:tgtEl>
                                          <p:spTgt spid="275458"/>
                                        </p:tgtEl>
                                        <p:attrNameLst>
                                          <p:attrName>ppt_w</p:attrName>
                                        </p:attrNameLst>
                                      </p:cBhvr>
                                      <p:tavLst>
                                        <p:tav tm="0">
                                          <p:val>
                                            <p:fltVal val="0"/>
                                          </p:val>
                                        </p:tav>
                                        <p:tav tm="100000">
                                          <p:val>
                                            <p:strVal val="#ppt_w"/>
                                          </p:val>
                                        </p:tav>
                                      </p:tavLst>
                                    </p:anim>
                                    <p:anim calcmode="lin" valueType="num">
                                      <p:cBhvr>
                                        <p:cTn id="8" dur="500" fill="hold"/>
                                        <p:tgtEl>
                                          <p:spTgt spid="27545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75459">
                                            <p:txEl>
                                              <p:pRg st="0" end="0"/>
                                            </p:txEl>
                                          </p:spTgt>
                                        </p:tgtEl>
                                        <p:attrNameLst>
                                          <p:attrName>style.visibility</p:attrName>
                                        </p:attrNameLst>
                                      </p:cBhvr>
                                      <p:to>
                                        <p:strVal val="visible"/>
                                      </p:to>
                                    </p:set>
                                    <p:animEffect transition="in" filter="wipe(left)">
                                      <p:cBhvr>
                                        <p:cTn id="13" dur="500"/>
                                        <p:tgtEl>
                                          <p:spTgt spid="275459">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75459">
                                            <p:txEl>
                                              <p:pRg st="1" end="1"/>
                                            </p:txEl>
                                          </p:spTgt>
                                        </p:tgtEl>
                                        <p:attrNameLst>
                                          <p:attrName>style.visibility</p:attrName>
                                        </p:attrNameLst>
                                      </p:cBhvr>
                                      <p:to>
                                        <p:strVal val="visible"/>
                                      </p:to>
                                    </p:set>
                                    <p:animEffect transition="in" filter="wipe(left)">
                                      <p:cBhvr>
                                        <p:cTn id="18" dur="500"/>
                                        <p:tgtEl>
                                          <p:spTgt spid="275459">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75459">
                                            <p:txEl>
                                              <p:pRg st="2" end="2"/>
                                            </p:txEl>
                                          </p:spTgt>
                                        </p:tgtEl>
                                        <p:attrNameLst>
                                          <p:attrName>style.visibility</p:attrName>
                                        </p:attrNameLst>
                                      </p:cBhvr>
                                      <p:to>
                                        <p:strVal val="visible"/>
                                      </p:to>
                                    </p:set>
                                    <p:animEffect transition="in" filter="wipe(left)">
                                      <p:cBhvr>
                                        <p:cTn id="23" dur="500"/>
                                        <p:tgtEl>
                                          <p:spTgt spid="275459">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75459">
                                            <p:txEl>
                                              <p:pRg st="3" end="3"/>
                                            </p:txEl>
                                          </p:spTgt>
                                        </p:tgtEl>
                                        <p:attrNameLst>
                                          <p:attrName>style.visibility</p:attrName>
                                        </p:attrNameLst>
                                      </p:cBhvr>
                                      <p:to>
                                        <p:strVal val="visible"/>
                                      </p:to>
                                    </p:set>
                                    <p:animEffect transition="in" filter="wipe(left)">
                                      <p:cBhvr>
                                        <p:cTn id="28" dur="500"/>
                                        <p:tgtEl>
                                          <p:spTgt spid="275459">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75459">
                                            <p:txEl>
                                              <p:pRg st="4" end="4"/>
                                            </p:txEl>
                                          </p:spTgt>
                                        </p:tgtEl>
                                        <p:attrNameLst>
                                          <p:attrName>style.visibility</p:attrName>
                                        </p:attrNameLst>
                                      </p:cBhvr>
                                      <p:to>
                                        <p:strVal val="visible"/>
                                      </p:to>
                                    </p:set>
                                    <p:animEffect transition="in" filter="wipe(left)">
                                      <p:cBhvr>
                                        <p:cTn id="33" dur="500"/>
                                        <p:tgtEl>
                                          <p:spTgt spid="275459">
                                            <p:txEl>
                                              <p:pRg st="4" end="4"/>
                                            </p:txEl>
                                          </p:spTgt>
                                        </p:tgtEl>
                                      </p:cBhvr>
                                    </p:animEffect>
                                  </p:childTnLst>
                                </p:cTn>
                              </p:par>
                            </p:childTnLst>
                          </p:cTn>
                        </p:par>
                        <p:par>
                          <p:cTn id="34" fill="hold" nodeType="afterGroup">
                            <p:stCondLst>
                              <p:cond delay="500"/>
                            </p:stCondLst>
                            <p:childTnLst>
                              <p:par>
                                <p:cTn id="35" presetID="22" presetClass="entr" presetSubtype="8" fill="hold" nodeType="afterEffect">
                                  <p:stCondLst>
                                    <p:cond delay="1000"/>
                                  </p:stCondLst>
                                  <p:childTnLst>
                                    <p:set>
                                      <p:cBhvr>
                                        <p:cTn id="36" dur="1" fill="hold">
                                          <p:stCondLst>
                                            <p:cond delay="0"/>
                                          </p:stCondLst>
                                        </p:cTn>
                                        <p:tgtEl>
                                          <p:spTgt spid="275582"/>
                                        </p:tgtEl>
                                        <p:attrNameLst>
                                          <p:attrName>style.visibility</p:attrName>
                                        </p:attrNameLst>
                                      </p:cBhvr>
                                      <p:to>
                                        <p:strVal val="visible"/>
                                      </p:to>
                                    </p:set>
                                    <p:animEffect transition="in" filter="wipe(left)">
                                      <p:cBhvr>
                                        <p:cTn id="37" dur="500"/>
                                        <p:tgtEl>
                                          <p:spTgt spid="2755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58" grpId="0" animBg="1" autoUpdateAnimBg="0"/>
      <p:bldP spid="275459" grpId="0" build="p" autoUpdateAnimBg="0"/>
    </p:bldLst>
  </p:timing>
</p:sld>
</file>

<file path=ppt/slides/slide1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The Augmenting Path </a:t>
            </a:r>
            <a:r>
              <a:rPr lang="en-US" sz="2800" dirty="0" smtClean="0">
                <a:solidFill>
                  <a:srgbClr val="FF0000"/>
                </a:solidFill>
                <a:latin typeface="Arial Rounded MT Bold" pitchFamily="34" charset="0"/>
              </a:rPr>
              <a:t>Theorem</a:t>
            </a:r>
          </a:p>
        </p:txBody>
      </p:sp>
      <p:sp>
        <p:nvSpPr>
          <p:cNvPr id="276544" name="Rectangle 64" descr="Recycled paper"/>
          <p:cNvSpPr>
            <a:spLocks noChangeArrowheads="1"/>
          </p:cNvSpPr>
          <p:nvPr/>
        </p:nvSpPr>
        <p:spPr bwMode="auto">
          <a:xfrm>
            <a:off x="152400" y="838200"/>
            <a:ext cx="8839200" cy="841375"/>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385763" indent="-385763" eaLnBrk="1" hangingPunct="1">
              <a:spcBef>
                <a:spcPct val="50000"/>
              </a:spcBef>
              <a:buFontTx/>
              <a:buNone/>
            </a:pPr>
            <a:r>
              <a:rPr lang="en-US" sz="2400" b="1" dirty="0">
                <a:solidFill>
                  <a:srgbClr val="CC0000"/>
                </a:solidFill>
              </a:rPr>
              <a:t>THEOREM:</a:t>
            </a:r>
            <a:r>
              <a:rPr lang="en-US" sz="2400" dirty="0">
                <a:solidFill>
                  <a:schemeClr val="hlink"/>
                </a:solidFill>
              </a:rPr>
              <a:t>     A matching M in a graph G has maximum cardinality </a:t>
            </a:r>
            <a:br>
              <a:rPr lang="en-US" sz="2400" dirty="0">
                <a:solidFill>
                  <a:schemeClr val="hlink"/>
                </a:solidFill>
              </a:rPr>
            </a:br>
            <a:r>
              <a:rPr lang="en-US" sz="2400" dirty="0">
                <a:solidFill>
                  <a:srgbClr val="CC0000"/>
                </a:solidFill>
              </a:rPr>
              <a:t>if and only if</a:t>
            </a:r>
            <a:r>
              <a:rPr lang="en-US" sz="2400" dirty="0">
                <a:solidFill>
                  <a:schemeClr val="hlink"/>
                </a:solidFill>
              </a:rPr>
              <a:t>  there is no augmenting path in G with respect to M.</a:t>
            </a:r>
          </a:p>
        </p:txBody>
      </p:sp>
      <p:sp>
        <p:nvSpPr>
          <p:cNvPr id="276545" name="Text Box 65"/>
          <p:cNvSpPr txBox="1">
            <a:spLocks noChangeArrowheads="1"/>
          </p:cNvSpPr>
          <p:nvPr/>
        </p:nvSpPr>
        <p:spPr bwMode="auto">
          <a:xfrm>
            <a:off x="152400" y="1844675"/>
            <a:ext cx="8839200" cy="280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marL="566738" indent="-566738">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None/>
            </a:pPr>
            <a:r>
              <a:rPr lang="en-US" sz="2000" b="1"/>
              <a:t>Proof:</a:t>
            </a:r>
            <a:endParaRPr lang="en-US" sz="2000"/>
          </a:p>
          <a:p>
            <a:pPr eaLnBrk="1" hangingPunct="1">
              <a:spcBef>
                <a:spcPct val="50000"/>
              </a:spcBef>
              <a:buFont typeface="Wingdings" pitchFamily="2" charset="2"/>
              <a:buNone/>
            </a:pPr>
            <a:r>
              <a:rPr lang="en-US" sz="2000"/>
              <a:t>[</a:t>
            </a:r>
            <a:r>
              <a:rPr lang="en-US" sz="2000">
                <a:sym typeface="Symbol" pitchFamily="18" charset="2"/>
              </a:rPr>
              <a:t>]:  Obvious.</a:t>
            </a:r>
          </a:p>
          <a:p>
            <a:pPr eaLnBrk="1" hangingPunct="1">
              <a:spcBef>
                <a:spcPct val="50000"/>
              </a:spcBef>
              <a:buFont typeface="Wingdings" pitchFamily="2" charset="2"/>
              <a:buNone/>
            </a:pPr>
            <a:r>
              <a:rPr lang="en-US" sz="2000">
                <a:sym typeface="Symbol" pitchFamily="18" charset="2"/>
              </a:rPr>
              <a:t>[]: Suppose there is a matching M’ in G such that |M’| &gt; |M|.</a:t>
            </a:r>
            <a:br>
              <a:rPr lang="en-US" sz="2000">
                <a:sym typeface="Symbol" pitchFamily="18" charset="2"/>
              </a:rPr>
            </a:br>
            <a:r>
              <a:rPr lang="en-US" sz="2000">
                <a:sym typeface="Symbol" pitchFamily="18" charset="2"/>
              </a:rPr>
              <a:t>Consider </a:t>
            </a:r>
            <a:r>
              <a:rPr lang="en-US" sz="2000"/>
              <a:t>M</a:t>
            </a:r>
            <a:r>
              <a:rPr lang="en-US" sz="2000">
                <a:sym typeface="Symbol" pitchFamily="18" charset="2"/>
              </a:rPr>
              <a:t>M’. Every node in </a:t>
            </a:r>
            <a:r>
              <a:rPr lang="en-US" sz="2000"/>
              <a:t>M</a:t>
            </a:r>
            <a:r>
              <a:rPr lang="en-US" sz="2000">
                <a:sym typeface="Symbol" pitchFamily="18" charset="2"/>
              </a:rPr>
              <a:t>M’ has degree at most 2.</a:t>
            </a:r>
            <a:br>
              <a:rPr lang="en-US" sz="2000">
                <a:sym typeface="Symbol" pitchFamily="18" charset="2"/>
              </a:rPr>
            </a:br>
            <a:r>
              <a:rPr lang="en-US" sz="2000">
                <a:sym typeface="Symbol" pitchFamily="18" charset="2"/>
              </a:rPr>
              <a:t>So </a:t>
            </a:r>
            <a:r>
              <a:rPr lang="en-US" sz="2000"/>
              <a:t>M</a:t>
            </a:r>
            <a:r>
              <a:rPr lang="en-US" sz="2000">
                <a:sym typeface="Symbol" pitchFamily="18" charset="2"/>
              </a:rPr>
              <a:t>M’ consists of a node-disjoint collection of alternating paths and cycles.</a:t>
            </a:r>
            <a:br>
              <a:rPr lang="en-US" sz="2000">
                <a:sym typeface="Symbol" pitchFamily="18" charset="2"/>
              </a:rPr>
            </a:br>
            <a:r>
              <a:rPr lang="en-US" sz="2000">
                <a:sym typeface="Symbol" pitchFamily="18" charset="2"/>
              </a:rPr>
              <a:t>Since there are more edges in M’ than in M, at least one of the connected components in </a:t>
            </a:r>
            <a:r>
              <a:rPr lang="en-US" sz="2000"/>
              <a:t>M</a:t>
            </a:r>
            <a:r>
              <a:rPr lang="en-US" sz="2000">
                <a:sym typeface="Symbol" pitchFamily="18" charset="2"/>
              </a:rPr>
              <a:t>M’ must be a path P that starts and ends in an edge in M’.</a:t>
            </a:r>
            <a:br>
              <a:rPr lang="en-US" sz="2000">
                <a:sym typeface="Symbol" pitchFamily="18" charset="2"/>
              </a:rPr>
            </a:br>
            <a:r>
              <a:rPr lang="en-US" sz="2000">
                <a:sym typeface="Symbol" pitchFamily="18" charset="2"/>
              </a:rPr>
              <a:t>P is an augmenting path in G with respect to M.</a:t>
            </a:r>
          </a:p>
        </p:txBody>
      </p:sp>
      <p:grpSp>
        <p:nvGrpSpPr>
          <p:cNvPr id="276620" name="Group 140"/>
          <p:cNvGrpSpPr>
            <a:grpSpLocks/>
          </p:cNvGrpSpPr>
          <p:nvPr/>
        </p:nvGrpSpPr>
        <p:grpSpPr bwMode="auto">
          <a:xfrm>
            <a:off x="1524000" y="4648200"/>
            <a:ext cx="6248400" cy="1600200"/>
            <a:chOff x="960" y="2928"/>
            <a:chExt cx="3936" cy="1008"/>
          </a:xfrm>
        </p:grpSpPr>
        <p:sp>
          <p:nvSpPr>
            <p:cNvPr id="164870" name="Line 101"/>
            <p:cNvSpPr>
              <a:spLocks noChangeShapeType="1"/>
            </p:cNvSpPr>
            <p:nvPr/>
          </p:nvSpPr>
          <p:spPr bwMode="auto">
            <a:xfrm>
              <a:off x="2976" y="3696"/>
              <a:ext cx="480"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871" name="Line 100"/>
            <p:cNvSpPr>
              <a:spLocks noChangeShapeType="1"/>
            </p:cNvSpPr>
            <p:nvPr/>
          </p:nvSpPr>
          <p:spPr bwMode="auto">
            <a:xfrm>
              <a:off x="1920" y="3696"/>
              <a:ext cx="624"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4872" name="Line 99"/>
            <p:cNvSpPr>
              <a:spLocks noChangeShapeType="1"/>
            </p:cNvSpPr>
            <p:nvPr/>
          </p:nvSpPr>
          <p:spPr bwMode="auto">
            <a:xfrm>
              <a:off x="1008" y="3696"/>
              <a:ext cx="432"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873" name="Line 83"/>
            <p:cNvSpPr>
              <a:spLocks noChangeShapeType="1"/>
            </p:cNvSpPr>
            <p:nvPr/>
          </p:nvSpPr>
          <p:spPr bwMode="auto">
            <a:xfrm>
              <a:off x="4656" y="3072"/>
              <a:ext cx="192"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874" name="Line 87"/>
            <p:cNvSpPr>
              <a:spLocks noChangeShapeType="1"/>
            </p:cNvSpPr>
            <p:nvPr/>
          </p:nvSpPr>
          <p:spPr bwMode="auto">
            <a:xfrm flipV="1">
              <a:off x="4080" y="3072"/>
              <a:ext cx="144" cy="384"/>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875" name="Line 85"/>
            <p:cNvSpPr>
              <a:spLocks noChangeShapeType="1"/>
            </p:cNvSpPr>
            <p:nvPr/>
          </p:nvSpPr>
          <p:spPr bwMode="auto">
            <a:xfrm flipH="1">
              <a:off x="4272" y="3792"/>
              <a:ext cx="432"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876" name="Line 72"/>
            <p:cNvSpPr>
              <a:spLocks noChangeShapeType="1"/>
            </p:cNvSpPr>
            <p:nvPr/>
          </p:nvSpPr>
          <p:spPr bwMode="auto">
            <a:xfrm>
              <a:off x="2544" y="3168"/>
              <a:ext cx="432"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877" name="Line 70"/>
            <p:cNvSpPr>
              <a:spLocks noChangeShapeType="1"/>
            </p:cNvSpPr>
            <p:nvPr/>
          </p:nvSpPr>
          <p:spPr bwMode="auto">
            <a:xfrm>
              <a:off x="1440" y="3168"/>
              <a:ext cx="480"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878" name="Oval 12"/>
            <p:cNvSpPr>
              <a:spLocks noChangeArrowheads="1"/>
            </p:cNvSpPr>
            <p:nvPr/>
          </p:nvSpPr>
          <p:spPr bwMode="auto">
            <a:xfrm>
              <a:off x="960" y="312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879" name="Oval 13"/>
            <p:cNvSpPr>
              <a:spLocks noChangeArrowheads="1"/>
            </p:cNvSpPr>
            <p:nvPr/>
          </p:nvSpPr>
          <p:spPr bwMode="auto">
            <a:xfrm>
              <a:off x="2496" y="312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880" name="Oval 14"/>
            <p:cNvSpPr>
              <a:spLocks noChangeArrowheads="1"/>
            </p:cNvSpPr>
            <p:nvPr/>
          </p:nvSpPr>
          <p:spPr bwMode="auto">
            <a:xfrm>
              <a:off x="4176" y="3024"/>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881" name="Oval 15"/>
            <p:cNvSpPr>
              <a:spLocks noChangeArrowheads="1"/>
            </p:cNvSpPr>
            <p:nvPr/>
          </p:nvSpPr>
          <p:spPr bwMode="auto">
            <a:xfrm>
              <a:off x="1392" y="312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882" name="Oval 16"/>
            <p:cNvSpPr>
              <a:spLocks noChangeArrowheads="1"/>
            </p:cNvSpPr>
            <p:nvPr/>
          </p:nvSpPr>
          <p:spPr bwMode="auto">
            <a:xfrm>
              <a:off x="2928" y="312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883" name="Oval 17"/>
            <p:cNvSpPr>
              <a:spLocks noChangeArrowheads="1"/>
            </p:cNvSpPr>
            <p:nvPr/>
          </p:nvSpPr>
          <p:spPr bwMode="auto">
            <a:xfrm>
              <a:off x="4608" y="3024"/>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884" name="Oval 18"/>
            <p:cNvSpPr>
              <a:spLocks noChangeArrowheads="1"/>
            </p:cNvSpPr>
            <p:nvPr/>
          </p:nvSpPr>
          <p:spPr bwMode="auto">
            <a:xfrm>
              <a:off x="1872" y="312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885" name="Oval 19"/>
            <p:cNvSpPr>
              <a:spLocks noChangeArrowheads="1"/>
            </p:cNvSpPr>
            <p:nvPr/>
          </p:nvSpPr>
          <p:spPr bwMode="auto">
            <a:xfrm>
              <a:off x="3408" y="312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886" name="Oval 20"/>
            <p:cNvSpPr>
              <a:spLocks noChangeArrowheads="1"/>
            </p:cNvSpPr>
            <p:nvPr/>
          </p:nvSpPr>
          <p:spPr bwMode="auto">
            <a:xfrm>
              <a:off x="4800" y="336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887" name="Oval 21"/>
            <p:cNvSpPr>
              <a:spLocks noChangeArrowheads="1"/>
            </p:cNvSpPr>
            <p:nvPr/>
          </p:nvSpPr>
          <p:spPr bwMode="auto">
            <a:xfrm>
              <a:off x="4032" y="3408"/>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888" name="Text Box 35"/>
            <p:cNvSpPr txBox="1">
              <a:spLocks noChangeArrowheads="1"/>
            </p:cNvSpPr>
            <p:nvPr/>
          </p:nvSpPr>
          <p:spPr bwMode="auto">
            <a:xfrm>
              <a:off x="1536" y="2928"/>
              <a:ext cx="258"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000"/>
                <a:t>M</a:t>
              </a:r>
              <a:endParaRPr lang="en-US" sz="2000" baseline="-25000"/>
            </a:p>
          </p:txBody>
        </p:sp>
        <p:sp>
          <p:nvSpPr>
            <p:cNvPr id="164889" name="Oval 66"/>
            <p:cNvSpPr>
              <a:spLocks noChangeArrowheads="1"/>
            </p:cNvSpPr>
            <p:nvPr/>
          </p:nvSpPr>
          <p:spPr bwMode="auto">
            <a:xfrm>
              <a:off x="4224" y="3744"/>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890" name="Oval 67"/>
            <p:cNvSpPr>
              <a:spLocks noChangeArrowheads="1"/>
            </p:cNvSpPr>
            <p:nvPr/>
          </p:nvSpPr>
          <p:spPr bwMode="auto">
            <a:xfrm>
              <a:off x="4656" y="3744"/>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891" name="Line 69"/>
            <p:cNvSpPr>
              <a:spLocks noChangeShapeType="1"/>
            </p:cNvSpPr>
            <p:nvPr/>
          </p:nvSpPr>
          <p:spPr bwMode="auto">
            <a:xfrm>
              <a:off x="1008" y="3168"/>
              <a:ext cx="43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892" name="Line 71"/>
            <p:cNvSpPr>
              <a:spLocks noChangeShapeType="1"/>
            </p:cNvSpPr>
            <p:nvPr/>
          </p:nvSpPr>
          <p:spPr bwMode="auto">
            <a:xfrm>
              <a:off x="1920" y="3168"/>
              <a:ext cx="6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4893" name="Line 73"/>
            <p:cNvSpPr>
              <a:spLocks noChangeShapeType="1"/>
            </p:cNvSpPr>
            <p:nvPr/>
          </p:nvSpPr>
          <p:spPr bwMode="auto">
            <a:xfrm>
              <a:off x="2976" y="3168"/>
              <a:ext cx="48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894" name="Line 82"/>
            <p:cNvSpPr>
              <a:spLocks noChangeShapeType="1"/>
            </p:cNvSpPr>
            <p:nvPr/>
          </p:nvSpPr>
          <p:spPr bwMode="auto">
            <a:xfrm>
              <a:off x="4224" y="3072"/>
              <a:ext cx="43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895" name="Line 84"/>
            <p:cNvSpPr>
              <a:spLocks noChangeShapeType="1"/>
            </p:cNvSpPr>
            <p:nvPr/>
          </p:nvSpPr>
          <p:spPr bwMode="auto">
            <a:xfrm flipH="1">
              <a:off x="4704" y="3408"/>
              <a:ext cx="144"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896" name="Line 86"/>
            <p:cNvSpPr>
              <a:spLocks noChangeShapeType="1"/>
            </p:cNvSpPr>
            <p:nvPr/>
          </p:nvSpPr>
          <p:spPr bwMode="auto">
            <a:xfrm flipH="1" flipV="1">
              <a:off x="4080" y="3456"/>
              <a:ext cx="192"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897" name="Text Box 88"/>
            <p:cNvSpPr txBox="1">
              <a:spLocks noChangeArrowheads="1"/>
            </p:cNvSpPr>
            <p:nvPr/>
          </p:nvSpPr>
          <p:spPr bwMode="auto">
            <a:xfrm>
              <a:off x="1078" y="2928"/>
              <a:ext cx="311"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1">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a:buFont typeface="Wingdings" pitchFamily="2" charset="2"/>
                <a:buNone/>
              </a:pPr>
              <a:r>
                <a:rPr lang="en-US" sz="2000"/>
                <a:t>M’</a:t>
              </a:r>
              <a:endParaRPr lang="en-US" sz="2000" baseline="-25000"/>
            </a:p>
          </p:txBody>
        </p:sp>
        <p:sp>
          <p:nvSpPr>
            <p:cNvPr id="164898" name="Line 89"/>
            <p:cNvSpPr>
              <a:spLocks noChangeShapeType="1"/>
            </p:cNvSpPr>
            <p:nvPr/>
          </p:nvSpPr>
          <p:spPr bwMode="auto">
            <a:xfrm>
              <a:off x="2112" y="3168"/>
              <a:ext cx="240" cy="0"/>
            </a:xfrm>
            <a:prstGeom prst="line">
              <a:avLst/>
            </a:prstGeom>
            <a:noFill/>
            <a:ln w="57150">
              <a:solidFill>
                <a:srgbClr val="FFCC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4899" name="Line 90"/>
            <p:cNvSpPr>
              <a:spLocks noChangeShapeType="1"/>
            </p:cNvSpPr>
            <p:nvPr/>
          </p:nvSpPr>
          <p:spPr bwMode="auto">
            <a:xfrm>
              <a:off x="2544" y="3696"/>
              <a:ext cx="43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900" name="Line 91"/>
            <p:cNvSpPr>
              <a:spLocks noChangeShapeType="1"/>
            </p:cNvSpPr>
            <p:nvPr/>
          </p:nvSpPr>
          <p:spPr bwMode="auto">
            <a:xfrm>
              <a:off x="1440" y="3696"/>
              <a:ext cx="48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901" name="Oval 92"/>
            <p:cNvSpPr>
              <a:spLocks noChangeArrowheads="1"/>
            </p:cNvSpPr>
            <p:nvPr/>
          </p:nvSpPr>
          <p:spPr bwMode="auto">
            <a:xfrm>
              <a:off x="960" y="3648"/>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902" name="Oval 93"/>
            <p:cNvSpPr>
              <a:spLocks noChangeArrowheads="1"/>
            </p:cNvSpPr>
            <p:nvPr/>
          </p:nvSpPr>
          <p:spPr bwMode="auto">
            <a:xfrm>
              <a:off x="2496" y="3648"/>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903" name="Oval 94"/>
            <p:cNvSpPr>
              <a:spLocks noChangeArrowheads="1"/>
            </p:cNvSpPr>
            <p:nvPr/>
          </p:nvSpPr>
          <p:spPr bwMode="auto">
            <a:xfrm>
              <a:off x="1392" y="3648"/>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904" name="Oval 95"/>
            <p:cNvSpPr>
              <a:spLocks noChangeArrowheads="1"/>
            </p:cNvSpPr>
            <p:nvPr/>
          </p:nvSpPr>
          <p:spPr bwMode="auto">
            <a:xfrm>
              <a:off x="2928" y="3648"/>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905" name="Oval 96"/>
            <p:cNvSpPr>
              <a:spLocks noChangeArrowheads="1"/>
            </p:cNvSpPr>
            <p:nvPr/>
          </p:nvSpPr>
          <p:spPr bwMode="auto">
            <a:xfrm>
              <a:off x="1872" y="3648"/>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906" name="Oval 97"/>
            <p:cNvSpPr>
              <a:spLocks noChangeArrowheads="1"/>
            </p:cNvSpPr>
            <p:nvPr/>
          </p:nvSpPr>
          <p:spPr bwMode="auto">
            <a:xfrm>
              <a:off x="3408" y="3648"/>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907" name="Line 103"/>
            <p:cNvSpPr>
              <a:spLocks noChangeShapeType="1"/>
            </p:cNvSpPr>
            <p:nvPr/>
          </p:nvSpPr>
          <p:spPr bwMode="auto">
            <a:xfrm>
              <a:off x="2112" y="3696"/>
              <a:ext cx="240" cy="0"/>
            </a:xfrm>
            <a:prstGeom prst="line">
              <a:avLst/>
            </a:prstGeom>
            <a:noFill/>
            <a:ln w="57150">
              <a:solidFill>
                <a:srgbClr val="FFCC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4908" name="Line 104"/>
            <p:cNvSpPr>
              <a:spLocks noChangeShapeType="1"/>
            </p:cNvSpPr>
            <p:nvPr/>
          </p:nvSpPr>
          <p:spPr bwMode="auto">
            <a:xfrm>
              <a:off x="2544" y="3888"/>
              <a:ext cx="432"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909" name="Line 105"/>
            <p:cNvSpPr>
              <a:spLocks noChangeShapeType="1"/>
            </p:cNvSpPr>
            <p:nvPr/>
          </p:nvSpPr>
          <p:spPr bwMode="auto">
            <a:xfrm>
              <a:off x="1440" y="3888"/>
              <a:ext cx="480"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910" name="Oval 106"/>
            <p:cNvSpPr>
              <a:spLocks noChangeArrowheads="1"/>
            </p:cNvSpPr>
            <p:nvPr/>
          </p:nvSpPr>
          <p:spPr bwMode="auto">
            <a:xfrm>
              <a:off x="960" y="384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911" name="Oval 107"/>
            <p:cNvSpPr>
              <a:spLocks noChangeArrowheads="1"/>
            </p:cNvSpPr>
            <p:nvPr/>
          </p:nvSpPr>
          <p:spPr bwMode="auto">
            <a:xfrm>
              <a:off x="2496" y="384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912" name="Oval 108"/>
            <p:cNvSpPr>
              <a:spLocks noChangeArrowheads="1"/>
            </p:cNvSpPr>
            <p:nvPr/>
          </p:nvSpPr>
          <p:spPr bwMode="auto">
            <a:xfrm>
              <a:off x="1392" y="384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913" name="Oval 109"/>
            <p:cNvSpPr>
              <a:spLocks noChangeArrowheads="1"/>
            </p:cNvSpPr>
            <p:nvPr/>
          </p:nvSpPr>
          <p:spPr bwMode="auto">
            <a:xfrm>
              <a:off x="2928" y="384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914" name="Oval 110"/>
            <p:cNvSpPr>
              <a:spLocks noChangeArrowheads="1"/>
            </p:cNvSpPr>
            <p:nvPr/>
          </p:nvSpPr>
          <p:spPr bwMode="auto">
            <a:xfrm>
              <a:off x="1872" y="3840"/>
              <a:ext cx="96" cy="96"/>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64915" name="Line 112"/>
            <p:cNvSpPr>
              <a:spLocks noChangeShapeType="1"/>
            </p:cNvSpPr>
            <p:nvPr/>
          </p:nvSpPr>
          <p:spPr bwMode="auto">
            <a:xfrm>
              <a:off x="1008" y="3888"/>
              <a:ext cx="43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4916" name="Line 113"/>
            <p:cNvSpPr>
              <a:spLocks noChangeShapeType="1"/>
            </p:cNvSpPr>
            <p:nvPr/>
          </p:nvSpPr>
          <p:spPr bwMode="auto">
            <a:xfrm>
              <a:off x="1920" y="3888"/>
              <a:ext cx="6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4917" name="Line 115"/>
            <p:cNvSpPr>
              <a:spLocks noChangeShapeType="1"/>
            </p:cNvSpPr>
            <p:nvPr/>
          </p:nvSpPr>
          <p:spPr bwMode="auto">
            <a:xfrm>
              <a:off x="2112" y="3888"/>
              <a:ext cx="240" cy="0"/>
            </a:xfrm>
            <a:prstGeom prst="line">
              <a:avLst/>
            </a:prstGeom>
            <a:noFill/>
            <a:ln w="57150">
              <a:solidFill>
                <a:srgbClr val="FFCC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161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76482"/>
                                        </p:tgtEl>
                                        <p:attrNameLst>
                                          <p:attrName>style.visibility</p:attrName>
                                        </p:attrNameLst>
                                      </p:cBhvr>
                                      <p:to>
                                        <p:strVal val="visible"/>
                                      </p:to>
                                    </p:set>
                                    <p:anim calcmode="lin" valueType="num">
                                      <p:cBhvr>
                                        <p:cTn id="7" dur="500" fill="hold"/>
                                        <p:tgtEl>
                                          <p:spTgt spid="276482"/>
                                        </p:tgtEl>
                                        <p:attrNameLst>
                                          <p:attrName>ppt_w</p:attrName>
                                        </p:attrNameLst>
                                      </p:cBhvr>
                                      <p:tavLst>
                                        <p:tav tm="0">
                                          <p:val>
                                            <p:fltVal val="0"/>
                                          </p:val>
                                        </p:tav>
                                        <p:tav tm="100000">
                                          <p:val>
                                            <p:strVal val="#ppt_w"/>
                                          </p:val>
                                        </p:tav>
                                      </p:tavLst>
                                    </p:anim>
                                    <p:anim calcmode="lin" valueType="num">
                                      <p:cBhvr>
                                        <p:cTn id="8" dur="500" fill="hold"/>
                                        <p:tgtEl>
                                          <p:spTgt spid="27648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76544"/>
                                        </p:tgtEl>
                                        <p:attrNameLst>
                                          <p:attrName>style.visibility</p:attrName>
                                        </p:attrNameLst>
                                      </p:cBhvr>
                                      <p:to>
                                        <p:strVal val="visible"/>
                                      </p:to>
                                    </p:set>
                                    <p:animEffect transition="in" filter="wipe(left)">
                                      <p:cBhvr>
                                        <p:cTn id="13" dur="500"/>
                                        <p:tgtEl>
                                          <p:spTgt spid="27654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76545">
                                            <p:txEl>
                                              <p:pRg st="0" end="0"/>
                                            </p:txEl>
                                          </p:spTgt>
                                        </p:tgtEl>
                                        <p:attrNameLst>
                                          <p:attrName>style.visibility</p:attrName>
                                        </p:attrNameLst>
                                      </p:cBhvr>
                                      <p:to>
                                        <p:strVal val="visible"/>
                                      </p:to>
                                    </p:set>
                                    <p:animEffect transition="in" filter="wipe(up)">
                                      <p:cBhvr>
                                        <p:cTn id="18" dur="500"/>
                                        <p:tgtEl>
                                          <p:spTgt spid="276545">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276545">
                                            <p:txEl>
                                              <p:pRg st="1" end="1"/>
                                            </p:txEl>
                                          </p:spTgt>
                                        </p:tgtEl>
                                        <p:attrNameLst>
                                          <p:attrName>style.visibility</p:attrName>
                                        </p:attrNameLst>
                                      </p:cBhvr>
                                      <p:to>
                                        <p:strVal val="visible"/>
                                      </p:to>
                                    </p:set>
                                    <p:animEffect transition="in" filter="wipe(up)">
                                      <p:cBhvr>
                                        <p:cTn id="23" dur="500"/>
                                        <p:tgtEl>
                                          <p:spTgt spid="276545">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276545">
                                            <p:txEl>
                                              <p:pRg st="2" end="2"/>
                                            </p:txEl>
                                          </p:spTgt>
                                        </p:tgtEl>
                                        <p:attrNameLst>
                                          <p:attrName>style.visibility</p:attrName>
                                        </p:attrNameLst>
                                      </p:cBhvr>
                                      <p:to>
                                        <p:strVal val="visible"/>
                                      </p:to>
                                    </p:set>
                                    <p:animEffect transition="in" filter="wipe(up)">
                                      <p:cBhvr>
                                        <p:cTn id="28" dur="500"/>
                                        <p:tgtEl>
                                          <p:spTgt spid="276545">
                                            <p:txEl>
                                              <p:pRg st="2" end="2"/>
                                            </p:txEl>
                                          </p:spTgt>
                                        </p:tgtEl>
                                      </p:cBhvr>
                                    </p:animEffect>
                                  </p:childTnLst>
                                </p:cTn>
                              </p:par>
                            </p:childTnLst>
                          </p:cTn>
                        </p:par>
                        <p:par>
                          <p:cTn id="29" fill="hold" nodeType="afterGroup">
                            <p:stCondLst>
                              <p:cond delay="500"/>
                            </p:stCondLst>
                            <p:childTnLst>
                              <p:par>
                                <p:cTn id="30" presetID="22" presetClass="entr" presetSubtype="1" fill="hold" nodeType="afterEffect">
                                  <p:stCondLst>
                                    <p:cond delay="1000"/>
                                  </p:stCondLst>
                                  <p:childTnLst>
                                    <p:set>
                                      <p:cBhvr>
                                        <p:cTn id="31" dur="1" fill="hold">
                                          <p:stCondLst>
                                            <p:cond delay="0"/>
                                          </p:stCondLst>
                                        </p:cTn>
                                        <p:tgtEl>
                                          <p:spTgt spid="276620"/>
                                        </p:tgtEl>
                                        <p:attrNameLst>
                                          <p:attrName>style.visibility</p:attrName>
                                        </p:attrNameLst>
                                      </p:cBhvr>
                                      <p:to>
                                        <p:strVal val="visible"/>
                                      </p:to>
                                    </p:set>
                                    <p:animEffect transition="in" filter="wipe(up)">
                                      <p:cBhvr>
                                        <p:cTn id="32" dur="500"/>
                                        <p:tgtEl>
                                          <p:spTgt spid="276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2" grpId="0" animBg="1" autoUpdateAnimBg="0"/>
      <p:bldP spid="276544" grpId="0" animBg="1" autoUpdateAnimBg="0"/>
      <p:bldP spid="276545" grpId="0" build="p" autoUpdateAnimBg="0"/>
    </p:bldLst>
  </p:timing>
</p:sld>
</file>

<file path=ppt/slides/slide1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rgbClr val="CC0000"/>
                </a:solidFill>
                <a:latin typeface="Arial Rounded MT Bold" pitchFamily="34" charset="0"/>
              </a:rPr>
              <a:t>Generic</a:t>
            </a:r>
            <a:r>
              <a:rPr lang="en-US" sz="2800" dirty="0" smtClean="0">
                <a:solidFill>
                  <a:schemeClr val="tx1"/>
                </a:solidFill>
                <a:latin typeface="Arial Rounded MT Bold" pitchFamily="34" charset="0"/>
              </a:rPr>
              <a:t> Max-Cardinality Matching </a:t>
            </a:r>
            <a:r>
              <a:rPr lang="en-US" sz="2800" dirty="0" smtClean="0">
                <a:solidFill>
                  <a:srgbClr val="CC0000"/>
                </a:solidFill>
                <a:latin typeface="Arial Rounded MT Bold" pitchFamily="34" charset="0"/>
              </a:rPr>
              <a:t>Method</a:t>
            </a:r>
          </a:p>
        </p:txBody>
      </p:sp>
      <p:sp>
        <p:nvSpPr>
          <p:cNvPr id="280630" name="Text Box 54"/>
          <p:cNvSpPr txBox="1">
            <a:spLocks noChangeArrowheads="1"/>
          </p:cNvSpPr>
          <p:nvPr/>
        </p:nvSpPr>
        <p:spPr bwMode="auto">
          <a:xfrm>
            <a:off x="152400" y="838200"/>
            <a:ext cx="8839200" cy="3606800"/>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457200" indent="-457200" defTabSz="484188">
              <a:defRPr sz="1600">
                <a:solidFill>
                  <a:schemeClr val="tx1"/>
                </a:solidFill>
                <a:latin typeface="Times New Roman" pitchFamily="18" charset="0"/>
              </a:defRPr>
            </a:lvl1pPr>
            <a:lvl2pPr marL="742950" indent="-285750" defTabSz="484188">
              <a:defRPr sz="1600">
                <a:solidFill>
                  <a:schemeClr val="tx1"/>
                </a:solidFill>
                <a:latin typeface="Times New Roman" pitchFamily="18" charset="0"/>
              </a:defRPr>
            </a:lvl2pPr>
            <a:lvl3pPr marL="1143000" indent="-228600" defTabSz="484188">
              <a:defRPr sz="1600">
                <a:solidFill>
                  <a:schemeClr val="tx1"/>
                </a:solidFill>
                <a:latin typeface="Times New Roman" pitchFamily="18" charset="0"/>
              </a:defRPr>
            </a:lvl3pPr>
            <a:lvl4pPr marL="1600200" indent="-228600" defTabSz="484188">
              <a:defRPr sz="1600">
                <a:solidFill>
                  <a:schemeClr val="tx1"/>
                </a:solidFill>
                <a:latin typeface="Times New Roman" pitchFamily="18" charset="0"/>
              </a:defRPr>
            </a:lvl4pPr>
            <a:lvl5pPr marL="2057400" indent="-228600" defTabSz="484188">
              <a:defRPr sz="1600">
                <a:solidFill>
                  <a:schemeClr val="tx1"/>
                </a:solidFill>
                <a:latin typeface="Times New Roman" pitchFamily="18" charset="0"/>
              </a:defRPr>
            </a:lvl5pPr>
            <a:lvl6pPr marL="2514600" indent="-228600" defTabSz="484188" eaLnBrk="0" fontAlgn="base" hangingPunct="0">
              <a:spcBef>
                <a:spcPct val="0"/>
              </a:spcBef>
              <a:spcAft>
                <a:spcPct val="0"/>
              </a:spcAft>
              <a:buChar char="•"/>
              <a:defRPr sz="1600">
                <a:solidFill>
                  <a:schemeClr val="tx1"/>
                </a:solidFill>
                <a:latin typeface="Times New Roman" pitchFamily="18" charset="0"/>
              </a:defRPr>
            </a:lvl6pPr>
            <a:lvl7pPr marL="2971800" indent="-228600" defTabSz="484188" eaLnBrk="0" fontAlgn="base" hangingPunct="0">
              <a:spcBef>
                <a:spcPct val="0"/>
              </a:spcBef>
              <a:spcAft>
                <a:spcPct val="0"/>
              </a:spcAft>
              <a:buChar char="•"/>
              <a:defRPr sz="1600">
                <a:solidFill>
                  <a:schemeClr val="tx1"/>
                </a:solidFill>
                <a:latin typeface="Times New Roman" pitchFamily="18" charset="0"/>
              </a:defRPr>
            </a:lvl7pPr>
            <a:lvl8pPr marL="3429000" indent="-228600" defTabSz="484188" eaLnBrk="0" fontAlgn="base" hangingPunct="0">
              <a:spcBef>
                <a:spcPct val="0"/>
              </a:spcBef>
              <a:spcAft>
                <a:spcPct val="0"/>
              </a:spcAft>
              <a:buChar char="•"/>
              <a:defRPr sz="1600">
                <a:solidFill>
                  <a:schemeClr val="tx1"/>
                </a:solidFill>
                <a:latin typeface="Times New Roman" pitchFamily="18" charset="0"/>
              </a:defRPr>
            </a:lvl8pPr>
            <a:lvl9pPr marL="3886200" indent="-228600" defTabSz="484188"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2400" b="1" dirty="0"/>
              <a:t>Algorithm</a:t>
            </a:r>
            <a:r>
              <a:rPr lang="en-US" sz="2400" dirty="0">
                <a:solidFill>
                  <a:schemeClr val="hlink"/>
                </a:solidFill>
              </a:rPr>
              <a:t>  </a:t>
            </a:r>
            <a:r>
              <a:rPr lang="en-US" sz="2400" b="1" dirty="0" err="1">
                <a:solidFill>
                  <a:schemeClr val="hlink"/>
                </a:solidFill>
              </a:rPr>
              <a:t>MaxCardinalityMatching</a:t>
            </a:r>
            <a:r>
              <a:rPr lang="en-US" sz="2400" dirty="0">
                <a:solidFill>
                  <a:schemeClr val="hlink"/>
                </a:solidFill>
              </a:rPr>
              <a:t>( </a:t>
            </a:r>
            <a:r>
              <a:rPr lang="en-US" sz="2400" dirty="0">
                <a:solidFill>
                  <a:schemeClr val="hlink"/>
                </a:solidFill>
                <a:sym typeface="Symbol" pitchFamily="18" charset="2"/>
              </a:rPr>
              <a:t>G = (V,E) </a:t>
            </a:r>
            <a:r>
              <a:rPr lang="en-US" sz="2400" dirty="0">
                <a:solidFill>
                  <a:schemeClr val="hlink"/>
                </a:solidFill>
              </a:rPr>
              <a:t>)</a:t>
            </a:r>
            <a:r>
              <a:rPr lang="en-US" sz="2000" dirty="0">
                <a:solidFill>
                  <a:schemeClr val="tx2"/>
                </a:solidFill>
              </a:rPr>
              <a:t>  	</a:t>
            </a:r>
          </a:p>
          <a:p>
            <a:pPr eaLnBrk="1" hangingPunct="1">
              <a:buFontTx/>
              <a:buAutoNum type="arabicPeriod"/>
            </a:pPr>
            <a:r>
              <a:rPr lang="en-US" sz="2000" dirty="0">
                <a:solidFill>
                  <a:schemeClr val="hlink"/>
                </a:solidFill>
                <a:sym typeface="Symbol" pitchFamily="18" charset="2"/>
              </a:rPr>
              <a:t>M </a:t>
            </a:r>
            <a:r>
              <a:rPr lang="en-US" sz="2000" dirty="0">
                <a:solidFill>
                  <a:schemeClr val="hlink"/>
                </a:solidFill>
              </a:rPr>
              <a:t> </a:t>
            </a:r>
            <a:r>
              <a:rPr lang="en-US" sz="2000" dirty="0">
                <a:solidFill>
                  <a:schemeClr val="hlink"/>
                </a:solidFill>
                <a:cs typeface="Times New Roman" pitchFamily="18" charset="0"/>
                <a:sym typeface="Symbol" pitchFamily="18" charset="2"/>
              </a:rPr>
              <a:t></a:t>
            </a:r>
            <a:r>
              <a:rPr lang="en-US" sz="2000" dirty="0">
                <a:solidFill>
                  <a:schemeClr val="hlink"/>
                </a:solidFill>
              </a:rPr>
              <a:t>	</a:t>
            </a:r>
            <a:r>
              <a:rPr lang="en-US" sz="2000" b="1" dirty="0">
                <a:solidFill>
                  <a:schemeClr val="tx2"/>
                </a:solidFill>
              </a:rPr>
              <a:t>				</a:t>
            </a: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optimal </a:t>
            </a:r>
            <a:r>
              <a:rPr lang="en-US" sz="2000" dirty="0">
                <a:solidFill>
                  <a:schemeClr val="hlink"/>
                </a:solidFill>
              </a:rPr>
              <a:t> false</a:t>
            </a:r>
          </a:p>
          <a:p>
            <a:pPr eaLnBrk="1" hangingPunct="1">
              <a:buFontTx/>
              <a:buAutoNum type="arabicPeriod"/>
            </a:pPr>
            <a:r>
              <a:rPr lang="en-US" sz="2000" dirty="0">
                <a:solidFill>
                  <a:srgbClr val="CC0000"/>
                </a:solidFill>
              </a:rPr>
              <a:t> </a:t>
            </a:r>
            <a:r>
              <a:rPr lang="en-US" sz="2000" b="1" dirty="0">
                <a:solidFill>
                  <a:schemeClr val="tx2"/>
                </a:solidFill>
              </a:rPr>
              <a:t>while</a:t>
            </a:r>
            <a:r>
              <a:rPr lang="en-US" sz="2000" dirty="0">
                <a:solidFill>
                  <a:schemeClr val="tx2"/>
                </a:solidFill>
              </a:rPr>
              <a:t>  </a:t>
            </a:r>
            <a:r>
              <a:rPr lang="en-US" sz="2000" dirty="0">
                <a:solidFill>
                  <a:schemeClr val="hlink"/>
                </a:solidFill>
              </a:rPr>
              <a:t>not optimal </a:t>
            </a:r>
            <a:r>
              <a:rPr lang="en-US" sz="2000" b="1" dirty="0">
                <a:solidFill>
                  <a:schemeClr val="tx2"/>
                </a:solidFill>
              </a:rPr>
              <a:t> do 							</a:t>
            </a:r>
            <a:r>
              <a:rPr lang="en-US" sz="2000" dirty="0">
                <a:solidFill>
                  <a:srgbClr val="CC0000"/>
                </a:solidFill>
                <a:cs typeface="Arial" pitchFamily="34" charset="0"/>
              </a:rPr>
              <a:t>§ O(V) iterations  </a:t>
            </a:r>
            <a:endParaRPr lang="en-US" sz="2000" b="1" dirty="0">
              <a:solidFill>
                <a:schemeClr val="tx2"/>
              </a:solidFill>
            </a:endParaRPr>
          </a:p>
          <a:p>
            <a:pPr eaLnBrk="1" hangingPunct="1">
              <a:buFontTx/>
              <a:buAutoNum type="arabicPeriod"/>
            </a:pPr>
            <a:r>
              <a:rPr lang="en-US" sz="2000" dirty="0">
                <a:solidFill>
                  <a:srgbClr val="CC0000"/>
                </a:solidFill>
              </a:rPr>
              <a:t> 	</a:t>
            </a:r>
            <a:r>
              <a:rPr lang="en-US" sz="2000" b="1" dirty="0">
                <a:solidFill>
                  <a:schemeClr val="tx2"/>
                </a:solidFill>
              </a:rPr>
              <a:t> </a:t>
            </a:r>
            <a:r>
              <a:rPr lang="en-US" sz="2000" dirty="0">
                <a:solidFill>
                  <a:schemeClr val="hlink"/>
                </a:solidFill>
              </a:rPr>
              <a:t>Search for an augmenting path P in G </a:t>
            </a:r>
            <a:r>
              <a:rPr lang="en-US" sz="2000" dirty="0" err="1">
                <a:solidFill>
                  <a:schemeClr val="hlink"/>
                </a:solidFill>
              </a:rPr>
              <a:t>wrt</a:t>
            </a:r>
            <a:r>
              <a:rPr lang="en-US" sz="2000" dirty="0">
                <a:solidFill>
                  <a:schemeClr val="hlink"/>
                </a:solidFill>
              </a:rPr>
              <a:t> M 	</a:t>
            </a:r>
            <a:r>
              <a:rPr lang="en-US" sz="2000" dirty="0">
                <a:solidFill>
                  <a:srgbClr val="CC0000"/>
                </a:solidFill>
                <a:cs typeface="Arial" pitchFamily="34" charset="0"/>
              </a:rPr>
              <a:t>§ This is the key step</a:t>
            </a:r>
            <a:endParaRPr lang="en-US" sz="2000" dirty="0">
              <a:solidFill>
                <a:srgbClr val="CC0000"/>
              </a:solidFill>
            </a:endParaRPr>
          </a:p>
          <a:p>
            <a:pPr eaLnBrk="1" hangingPunct="1">
              <a:buFontTx/>
              <a:buAutoNum type="arabicPeriod"/>
            </a:pPr>
            <a:r>
              <a:rPr lang="en-US" sz="2000" dirty="0">
                <a:solidFill>
                  <a:srgbClr val="CC0000"/>
                </a:solidFill>
              </a:rPr>
              <a:t>	 	 </a:t>
            </a:r>
            <a:r>
              <a:rPr lang="en-US" sz="2000" b="1" dirty="0"/>
              <a:t>if</a:t>
            </a:r>
            <a:r>
              <a:rPr lang="en-US" sz="2000" dirty="0">
                <a:solidFill>
                  <a:srgbClr val="CC0000"/>
                </a:solidFill>
              </a:rPr>
              <a:t>  </a:t>
            </a:r>
            <a:r>
              <a:rPr lang="en-US" sz="2000" dirty="0">
                <a:solidFill>
                  <a:schemeClr val="hlink"/>
                </a:solidFill>
                <a:sym typeface="Symbol" pitchFamily="18" charset="2"/>
              </a:rPr>
              <a:t>P found   </a:t>
            </a:r>
            <a:endParaRPr lang="en-US" sz="2000" dirty="0">
              <a:solidFill>
                <a:srgbClr val="CC0000"/>
              </a:solidFill>
            </a:endParaRP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		</a:t>
            </a:r>
            <a:r>
              <a:rPr lang="en-US" sz="2000" b="1" dirty="0">
                <a:sym typeface="Symbol" pitchFamily="18" charset="2"/>
              </a:rPr>
              <a:t>then </a:t>
            </a:r>
            <a:r>
              <a:rPr lang="en-US" sz="2000" dirty="0">
                <a:solidFill>
                  <a:schemeClr val="hlink"/>
                </a:solidFill>
                <a:sym typeface="Symbol" pitchFamily="18" charset="2"/>
              </a:rPr>
              <a:t>  M </a:t>
            </a:r>
            <a:r>
              <a:rPr lang="en-US" sz="2000" dirty="0">
                <a:solidFill>
                  <a:schemeClr val="hlink"/>
                </a:solidFill>
              </a:rPr>
              <a:t> M </a:t>
            </a:r>
            <a:r>
              <a:rPr lang="en-US" sz="2000" dirty="0">
                <a:solidFill>
                  <a:schemeClr val="hlink"/>
                </a:solidFill>
                <a:sym typeface="Symbol" pitchFamily="18" charset="2"/>
              </a:rPr>
              <a:t> </a:t>
            </a:r>
            <a:r>
              <a:rPr lang="en-US" sz="2000" dirty="0">
                <a:solidFill>
                  <a:schemeClr val="hlink"/>
                </a:solidFill>
              </a:rPr>
              <a:t>P </a:t>
            </a: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		</a:t>
            </a:r>
            <a:r>
              <a:rPr lang="en-US" sz="2000" b="1" dirty="0">
                <a:sym typeface="Symbol" pitchFamily="18" charset="2"/>
              </a:rPr>
              <a:t>else    </a:t>
            </a:r>
            <a:r>
              <a:rPr lang="en-US" sz="2000" dirty="0">
                <a:solidFill>
                  <a:schemeClr val="hlink"/>
                </a:solidFill>
                <a:sym typeface="Symbol" pitchFamily="18" charset="2"/>
              </a:rPr>
              <a:t>optimal </a:t>
            </a:r>
            <a:r>
              <a:rPr lang="en-US" sz="2000" dirty="0">
                <a:solidFill>
                  <a:schemeClr val="hlink"/>
                </a:solidFill>
              </a:rPr>
              <a:t> true  </a:t>
            </a:r>
            <a:endParaRPr lang="en-US" sz="2000" dirty="0">
              <a:solidFill>
                <a:srgbClr val="CC0000"/>
              </a:solidFill>
            </a:endParaRPr>
          </a:p>
          <a:p>
            <a:pPr eaLnBrk="1" hangingPunct="1">
              <a:buFontTx/>
              <a:buAutoNum type="arabicPeriod"/>
            </a:pPr>
            <a:r>
              <a:rPr lang="en-US" sz="2000" dirty="0">
                <a:solidFill>
                  <a:srgbClr val="CC0000"/>
                </a:solidFill>
              </a:rPr>
              <a:t> </a:t>
            </a:r>
            <a:r>
              <a:rPr lang="en-US" sz="2000" b="1" dirty="0"/>
              <a:t>end-while</a:t>
            </a:r>
          </a:p>
          <a:p>
            <a:pPr eaLnBrk="1" hangingPunct="1">
              <a:buFontTx/>
              <a:buAutoNum type="arabicPeriod"/>
            </a:pPr>
            <a:r>
              <a:rPr lang="en-US" sz="2000" dirty="0">
                <a:solidFill>
                  <a:srgbClr val="CC0000"/>
                </a:solidFill>
              </a:rPr>
              <a:t> </a:t>
            </a:r>
            <a:r>
              <a:rPr lang="en-US" sz="2000" b="1" dirty="0"/>
              <a:t>return </a:t>
            </a:r>
            <a:r>
              <a:rPr lang="en-US" sz="2000" dirty="0">
                <a:solidFill>
                  <a:schemeClr val="hlink"/>
                </a:solidFill>
              </a:rPr>
              <a:t>M</a:t>
            </a:r>
            <a:r>
              <a:rPr lang="en-US" sz="1800" dirty="0">
                <a:solidFill>
                  <a:schemeClr val="hlink"/>
                </a:solidFill>
              </a:rPr>
              <a:t> 							</a:t>
            </a:r>
            <a:endParaRPr lang="en-US" sz="2000" b="1" dirty="0"/>
          </a:p>
          <a:p>
            <a:pPr eaLnBrk="1" hangingPunct="1">
              <a:buFontTx/>
              <a:buNone/>
            </a:pPr>
            <a:r>
              <a:rPr lang="en-US" sz="2000" b="1" dirty="0"/>
              <a:t>end</a:t>
            </a:r>
            <a:r>
              <a:rPr lang="en-US" sz="2000" dirty="0">
                <a:solidFill>
                  <a:schemeClr val="hlink"/>
                </a:solidFill>
              </a:rPr>
              <a:t> </a:t>
            </a:r>
          </a:p>
        </p:txBody>
      </p:sp>
      <p:sp>
        <p:nvSpPr>
          <p:cNvPr id="280632" name="Text Box 56"/>
          <p:cNvSpPr txBox="1">
            <a:spLocks noChangeArrowheads="1"/>
          </p:cNvSpPr>
          <p:nvPr/>
        </p:nvSpPr>
        <p:spPr bwMode="auto">
          <a:xfrm>
            <a:off x="365125" y="4756150"/>
            <a:ext cx="7651750"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marL="288925" indent="-288925">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Char char="§"/>
            </a:pPr>
            <a:r>
              <a:rPr lang="en-US" sz="2000"/>
              <a:t>In the following pages we sketch a method to do step 4 in O(VE) time.</a:t>
            </a:r>
          </a:p>
          <a:p>
            <a:pPr eaLnBrk="1" hangingPunct="1">
              <a:spcBef>
                <a:spcPct val="50000"/>
              </a:spcBef>
              <a:buFont typeface="Wingdings" pitchFamily="2" charset="2"/>
              <a:buChar char="§"/>
            </a:pPr>
            <a:r>
              <a:rPr lang="en-US" sz="2000"/>
              <a:t>This results in an O(V</a:t>
            </a:r>
            <a:r>
              <a:rPr lang="en-US" sz="2000" baseline="30000"/>
              <a:t>2</a:t>
            </a:r>
            <a:r>
              <a:rPr lang="en-US" sz="2000"/>
              <a:t>E)-time max-cardinality matching algorithm.</a:t>
            </a:r>
          </a:p>
          <a:p>
            <a:pPr eaLnBrk="1" hangingPunct="1">
              <a:spcBef>
                <a:spcPct val="50000"/>
              </a:spcBef>
              <a:buFont typeface="Wingdings" pitchFamily="2" charset="2"/>
              <a:buChar char="§"/>
            </a:pPr>
            <a:r>
              <a:rPr lang="en-US" sz="2000"/>
              <a:t>The fastest known method takes O(V</a:t>
            </a:r>
            <a:r>
              <a:rPr lang="en-US" sz="2000" baseline="30000"/>
              <a:t>3</a:t>
            </a:r>
            <a:r>
              <a:rPr lang="en-US" sz="2000"/>
              <a:t>) time.</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162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80578"/>
                                        </p:tgtEl>
                                        <p:attrNameLst>
                                          <p:attrName>style.visibility</p:attrName>
                                        </p:attrNameLst>
                                      </p:cBhvr>
                                      <p:to>
                                        <p:strVal val="visible"/>
                                      </p:to>
                                    </p:set>
                                    <p:anim calcmode="lin" valueType="num">
                                      <p:cBhvr>
                                        <p:cTn id="7" dur="500" fill="hold"/>
                                        <p:tgtEl>
                                          <p:spTgt spid="280578"/>
                                        </p:tgtEl>
                                        <p:attrNameLst>
                                          <p:attrName>ppt_w</p:attrName>
                                        </p:attrNameLst>
                                      </p:cBhvr>
                                      <p:tavLst>
                                        <p:tav tm="0">
                                          <p:val>
                                            <p:fltVal val="0"/>
                                          </p:val>
                                        </p:tav>
                                        <p:tav tm="100000">
                                          <p:val>
                                            <p:strVal val="#ppt_w"/>
                                          </p:val>
                                        </p:tav>
                                      </p:tavLst>
                                    </p:anim>
                                    <p:anim calcmode="lin" valueType="num">
                                      <p:cBhvr>
                                        <p:cTn id="8" dur="500" fill="hold"/>
                                        <p:tgtEl>
                                          <p:spTgt spid="28057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80630"/>
                                        </p:tgtEl>
                                        <p:attrNameLst>
                                          <p:attrName>style.visibility</p:attrName>
                                        </p:attrNameLst>
                                      </p:cBhvr>
                                      <p:to>
                                        <p:strVal val="visible"/>
                                      </p:to>
                                    </p:set>
                                    <p:animEffect transition="in" filter="wipe(up)">
                                      <p:cBhvr>
                                        <p:cTn id="13" dur="500"/>
                                        <p:tgtEl>
                                          <p:spTgt spid="28063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80632">
                                            <p:txEl>
                                              <p:pRg st="0" end="0"/>
                                            </p:txEl>
                                          </p:spTgt>
                                        </p:tgtEl>
                                        <p:attrNameLst>
                                          <p:attrName>style.visibility</p:attrName>
                                        </p:attrNameLst>
                                      </p:cBhvr>
                                      <p:to>
                                        <p:strVal val="visible"/>
                                      </p:to>
                                    </p:set>
                                    <p:animEffect transition="in" filter="wipe(left)">
                                      <p:cBhvr>
                                        <p:cTn id="18" dur="500"/>
                                        <p:tgtEl>
                                          <p:spTgt spid="280632">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80632">
                                            <p:txEl>
                                              <p:pRg st="1" end="1"/>
                                            </p:txEl>
                                          </p:spTgt>
                                        </p:tgtEl>
                                        <p:attrNameLst>
                                          <p:attrName>style.visibility</p:attrName>
                                        </p:attrNameLst>
                                      </p:cBhvr>
                                      <p:to>
                                        <p:strVal val="visible"/>
                                      </p:to>
                                    </p:set>
                                    <p:animEffect transition="in" filter="wipe(left)">
                                      <p:cBhvr>
                                        <p:cTn id="23" dur="500"/>
                                        <p:tgtEl>
                                          <p:spTgt spid="280632">
                                            <p:txEl>
                                              <p:pRg st="1" end="1"/>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80632">
                                            <p:txEl>
                                              <p:pRg st="2" end="2"/>
                                            </p:txEl>
                                          </p:spTgt>
                                        </p:tgtEl>
                                        <p:attrNameLst>
                                          <p:attrName>style.visibility</p:attrName>
                                        </p:attrNameLst>
                                      </p:cBhvr>
                                      <p:to>
                                        <p:strVal val="visible"/>
                                      </p:to>
                                    </p:set>
                                    <p:animEffect transition="in" filter="wipe(left)">
                                      <p:cBhvr>
                                        <p:cTn id="28" dur="500"/>
                                        <p:tgtEl>
                                          <p:spTgt spid="2806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578" grpId="0" animBg="1" autoUpdateAnimBg="0"/>
      <p:bldP spid="280630" grpId="0" animBg="1" autoUpdateAnimBg="0"/>
      <p:bldP spid="280632" grpId="0" build="p" autoUpdateAnimBg="0"/>
    </p:bldLst>
  </p:timing>
</p:sld>
</file>

<file path=ppt/slides/slide1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Matched  </a:t>
            </a:r>
            <a:r>
              <a:rPr lang="en-US" sz="2800" dirty="0" smtClean="0">
                <a:solidFill>
                  <a:srgbClr val="FF0000"/>
                </a:solidFill>
                <a:latin typeface="Arial Rounded MT Bold" pitchFamily="34" charset="0"/>
              </a:rPr>
              <a:t>&amp;</a:t>
            </a:r>
            <a:r>
              <a:rPr lang="en-US" sz="2800" dirty="0" smtClean="0">
                <a:solidFill>
                  <a:schemeClr val="tx1"/>
                </a:solidFill>
                <a:latin typeface="Arial Rounded MT Bold" pitchFamily="34" charset="0"/>
              </a:rPr>
              <a:t>  Exposed  </a:t>
            </a:r>
            <a:r>
              <a:rPr lang="en-US" sz="2800" dirty="0" smtClean="0">
                <a:solidFill>
                  <a:srgbClr val="FF0000"/>
                </a:solidFill>
                <a:latin typeface="Arial Rounded MT Bold" pitchFamily="34" charset="0"/>
              </a:rPr>
              <a:t>Nodes</a:t>
            </a:r>
          </a:p>
        </p:txBody>
      </p:sp>
      <p:sp>
        <p:nvSpPr>
          <p:cNvPr id="277910" name="Rectangle 406" descr="Recycled paper"/>
          <p:cNvSpPr>
            <a:spLocks noChangeArrowheads="1"/>
          </p:cNvSpPr>
          <p:nvPr/>
        </p:nvSpPr>
        <p:spPr bwMode="auto">
          <a:xfrm>
            <a:off x="152400" y="838200"/>
            <a:ext cx="8839200" cy="4762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385763" indent="-385763" eaLnBrk="1" hangingPunct="1">
              <a:spcBef>
                <a:spcPct val="50000"/>
              </a:spcBef>
              <a:buFontTx/>
              <a:buNone/>
            </a:pPr>
            <a:r>
              <a:rPr lang="en-US" sz="2400" b="1" dirty="0">
                <a:solidFill>
                  <a:srgbClr val="CC0000"/>
                </a:solidFill>
              </a:rPr>
              <a:t>FACT 1:</a:t>
            </a:r>
            <a:r>
              <a:rPr lang="en-US" sz="2400" dirty="0">
                <a:solidFill>
                  <a:schemeClr val="hlink"/>
                </a:solidFill>
              </a:rPr>
              <a:t>  If a node becomes matched, it will remain matched.</a:t>
            </a:r>
          </a:p>
        </p:txBody>
      </p:sp>
      <p:sp>
        <p:nvSpPr>
          <p:cNvPr id="277911" name="Rectangle 407" descr="Recycled paper"/>
          <p:cNvSpPr>
            <a:spLocks noChangeArrowheads="1"/>
          </p:cNvSpPr>
          <p:nvPr/>
        </p:nvSpPr>
        <p:spPr bwMode="auto">
          <a:xfrm>
            <a:off x="152400" y="1905000"/>
            <a:ext cx="8839200" cy="841375"/>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1338263" indent="-1338263" eaLnBrk="1" hangingPunct="1">
              <a:spcBef>
                <a:spcPct val="50000"/>
              </a:spcBef>
              <a:buFontTx/>
              <a:buNone/>
            </a:pPr>
            <a:r>
              <a:rPr lang="en-US" sz="2400" b="1" dirty="0">
                <a:solidFill>
                  <a:srgbClr val="CC0000"/>
                </a:solidFill>
              </a:rPr>
              <a:t>FACT 2:</a:t>
            </a:r>
            <a:r>
              <a:rPr lang="en-US" sz="2400" dirty="0">
                <a:solidFill>
                  <a:schemeClr val="hlink"/>
                </a:solidFill>
              </a:rPr>
              <a:t>  If at some iteration there is no u-augmenting-path, </a:t>
            </a:r>
            <a:br>
              <a:rPr lang="en-US" sz="2400" dirty="0">
                <a:solidFill>
                  <a:schemeClr val="hlink"/>
                </a:solidFill>
              </a:rPr>
            </a:br>
            <a:r>
              <a:rPr lang="en-US" sz="2400" dirty="0">
                <a:solidFill>
                  <a:schemeClr val="hlink"/>
                </a:solidFill>
              </a:rPr>
              <a:t>then there will never be a u-augmenting-path later on.</a:t>
            </a:r>
          </a:p>
        </p:txBody>
      </p:sp>
      <p:sp>
        <p:nvSpPr>
          <p:cNvPr id="277912" name="Text Box 408"/>
          <p:cNvSpPr txBox="1">
            <a:spLocks noChangeArrowheads="1"/>
          </p:cNvSpPr>
          <p:nvPr/>
        </p:nvSpPr>
        <p:spPr bwMode="auto">
          <a:xfrm>
            <a:off x="152400" y="1447800"/>
            <a:ext cx="8855075"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defTabSz="1338263">
              <a:defRPr sz="1600">
                <a:solidFill>
                  <a:schemeClr val="tx1"/>
                </a:solidFill>
                <a:latin typeface="Times New Roman" pitchFamily="18" charset="0"/>
              </a:defRPr>
            </a:lvl1pPr>
            <a:lvl2pPr marL="742950" indent="-285750" defTabSz="1338263">
              <a:defRPr sz="1600">
                <a:solidFill>
                  <a:schemeClr val="tx1"/>
                </a:solidFill>
                <a:latin typeface="Times New Roman" pitchFamily="18" charset="0"/>
              </a:defRPr>
            </a:lvl2pPr>
            <a:lvl3pPr marL="1143000" indent="-228600" defTabSz="1338263">
              <a:defRPr sz="1600">
                <a:solidFill>
                  <a:schemeClr val="tx1"/>
                </a:solidFill>
                <a:latin typeface="Times New Roman" pitchFamily="18" charset="0"/>
              </a:defRPr>
            </a:lvl3pPr>
            <a:lvl4pPr marL="1600200" indent="-228600" defTabSz="1338263">
              <a:defRPr sz="1600">
                <a:solidFill>
                  <a:schemeClr val="tx1"/>
                </a:solidFill>
                <a:latin typeface="Times New Roman" pitchFamily="18" charset="0"/>
              </a:defRPr>
            </a:lvl4pPr>
            <a:lvl5pPr marL="2057400" indent="-228600" defTabSz="1338263">
              <a:defRPr sz="1600">
                <a:solidFill>
                  <a:schemeClr val="tx1"/>
                </a:solidFill>
                <a:latin typeface="Times New Roman" pitchFamily="18" charset="0"/>
              </a:defRPr>
            </a:lvl5pPr>
            <a:lvl6pPr marL="2514600" indent="-228600" defTabSz="1338263" eaLnBrk="0" fontAlgn="base" hangingPunct="0">
              <a:spcBef>
                <a:spcPct val="0"/>
              </a:spcBef>
              <a:spcAft>
                <a:spcPct val="0"/>
              </a:spcAft>
              <a:buChar char="•"/>
              <a:defRPr sz="1600">
                <a:solidFill>
                  <a:schemeClr val="tx1"/>
                </a:solidFill>
                <a:latin typeface="Times New Roman" pitchFamily="18" charset="0"/>
              </a:defRPr>
            </a:lvl6pPr>
            <a:lvl7pPr marL="2971800" indent="-228600" defTabSz="1338263" eaLnBrk="0" fontAlgn="base" hangingPunct="0">
              <a:spcBef>
                <a:spcPct val="0"/>
              </a:spcBef>
              <a:spcAft>
                <a:spcPct val="0"/>
              </a:spcAft>
              <a:buChar char="•"/>
              <a:defRPr sz="1600">
                <a:solidFill>
                  <a:schemeClr val="tx1"/>
                </a:solidFill>
                <a:latin typeface="Times New Roman" pitchFamily="18" charset="0"/>
              </a:defRPr>
            </a:lvl7pPr>
            <a:lvl8pPr marL="3429000" indent="-228600" defTabSz="1338263" eaLnBrk="0" fontAlgn="base" hangingPunct="0">
              <a:spcBef>
                <a:spcPct val="0"/>
              </a:spcBef>
              <a:spcAft>
                <a:spcPct val="0"/>
              </a:spcAft>
              <a:buChar char="•"/>
              <a:defRPr sz="1600">
                <a:solidFill>
                  <a:schemeClr val="tx1"/>
                </a:solidFill>
                <a:latin typeface="Times New Roman" pitchFamily="18" charset="0"/>
              </a:defRPr>
            </a:lvl8pPr>
            <a:lvl9pPr marL="3886200" indent="-228600" defTabSz="1338263"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None/>
            </a:pPr>
            <a:r>
              <a:rPr lang="en-US" sz="2000"/>
              <a:t>A </a:t>
            </a:r>
            <a:r>
              <a:rPr lang="en-US" sz="2000" b="1">
                <a:solidFill>
                  <a:srgbClr val="CC0000"/>
                </a:solidFill>
              </a:rPr>
              <a:t>u-augmenting-path</a:t>
            </a:r>
            <a:r>
              <a:rPr lang="en-US" sz="2000"/>
              <a:t> is an augmenting path where exposed node u is one end of it.</a:t>
            </a:r>
          </a:p>
        </p:txBody>
      </p:sp>
      <p:grpSp>
        <p:nvGrpSpPr>
          <p:cNvPr id="277922" name="Group 418"/>
          <p:cNvGrpSpPr>
            <a:grpSpLocks/>
          </p:cNvGrpSpPr>
          <p:nvPr/>
        </p:nvGrpSpPr>
        <p:grpSpPr bwMode="auto">
          <a:xfrm>
            <a:off x="3962400" y="4267200"/>
            <a:ext cx="4545013" cy="2114550"/>
            <a:chOff x="1200" y="2208"/>
            <a:chExt cx="2863" cy="1332"/>
          </a:xfrm>
        </p:grpSpPr>
        <p:sp>
          <p:nvSpPr>
            <p:cNvPr id="166921" name="Line 123"/>
            <p:cNvSpPr>
              <a:spLocks noChangeShapeType="1"/>
            </p:cNvSpPr>
            <p:nvPr/>
          </p:nvSpPr>
          <p:spPr bwMode="auto">
            <a:xfrm flipV="1">
              <a:off x="2064" y="2592"/>
              <a:ext cx="192"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6922" name="Line 126"/>
            <p:cNvSpPr>
              <a:spLocks noChangeShapeType="1"/>
            </p:cNvSpPr>
            <p:nvPr/>
          </p:nvSpPr>
          <p:spPr bwMode="auto">
            <a:xfrm flipV="1">
              <a:off x="2736" y="2400"/>
              <a:ext cx="576"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6923" name="Line 128"/>
            <p:cNvSpPr>
              <a:spLocks noChangeShapeType="1"/>
            </p:cNvSpPr>
            <p:nvPr/>
          </p:nvSpPr>
          <p:spPr bwMode="auto">
            <a:xfrm>
              <a:off x="1440" y="2304"/>
              <a:ext cx="480" cy="9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6924" name="Oval 55"/>
            <p:cNvSpPr>
              <a:spLocks noChangeArrowheads="1"/>
            </p:cNvSpPr>
            <p:nvPr/>
          </p:nvSpPr>
          <p:spPr bwMode="auto">
            <a:xfrm>
              <a:off x="1392" y="2256"/>
              <a:ext cx="96" cy="96"/>
            </a:xfrm>
            <a:prstGeom prst="ellipse">
              <a:avLst/>
            </a:prstGeom>
            <a:solidFill>
              <a:srgbClr val="FFFF00"/>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6925" name="Line 313"/>
            <p:cNvSpPr>
              <a:spLocks noChangeShapeType="1"/>
            </p:cNvSpPr>
            <p:nvPr/>
          </p:nvSpPr>
          <p:spPr bwMode="auto">
            <a:xfrm>
              <a:off x="1872" y="2400"/>
              <a:ext cx="384"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6926" name="Line 314"/>
            <p:cNvSpPr>
              <a:spLocks noChangeShapeType="1"/>
            </p:cNvSpPr>
            <p:nvPr/>
          </p:nvSpPr>
          <p:spPr bwMode="auto">
            <a:xfrm>
              <a:off x="2256" y="2592"/>
              <a:ext cx="480"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6927" name="Oval 315"/>
            <p:cNvSpPr>
              <a:spLocks noChangeArrowheads="1"/>
            </p:cNvSpPr>
            <p:nvPr/>
          </p:nvSpPr>
          <p:spPr bwMode="auto">
            <a:xfrm>
              <a:off x="2208" y="254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6928" name="Line 317"/>
            <p:cNvSpPr>
              <a:spLocks noChangeShapeType="1"/>
            </p:cNvSpPr>
            <p:nvPr/>
          </p:nvSpPr>
          <p:spPr bwMode="auto">
            <a:xfrm flipH="1">
              <a:off x="1872" y="3216"/>
              <a:ext cx="528"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6929" name="Line 318"/>
            <p:cNvSpPr>
              <a:spLocks noChangeShapeType="1"/>
            </p:cNvSpPr>
            <p:nvPr/>
          </p:nvSpPr>
          <p:spPr bwMode="auto">
            <a:xfrm>
              <a:off x="3312" y="2400"/>
              <a:ext cx="480"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6930" name="Oval 319"/>
            <p:cNvSpPr>
              <a:spLocks noChangeArrowheads="1"/>
            </p:cNvSpPr>
            <p:nvPr/>
          </p:nvSpPr>
          <p:spPr bwMode="auto">
            <a:xfrm>
              <a:off x="3264"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6931" name="Oval 320"/>
            <p:cNvSpPr>
              <a:spLocks noChangeArrowheads="1"/>
            </p:cNvSpPr>
            <p:nvPr/>
          </p:nvSpPr>
          <p:spPr bwMode="auto">
            <a:xfrm>
              <a:off x="3744" y="2352"/>
              <a:ext cx="96" cy="96"/>
            </a:xfrm>
            <a:prstGeom prst="ellipse">
              <a:avLst/>
            </a:prstGeom>
            <a:solidFill>
              <a:srgbClr val="FFFF00"/>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6932" name="Line 322"/>
            <p:cNvSpPr>
              <a:spLocks noChangeShapeType="1"/>
            </p:cNvSpPr>
            <p:nvPr/>
          </p:nvSpPr>
          <p:spPr bwMode="auto">
            <a:xfrm>
              <a:off x="2736" y="2592"/>
              <a:ext cx="432"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6933" name="Line 323"/>
            <p:cNvSpPr>
              <a:spLocks noChangeShapeType="1"/>
            </p:cNvSpPr>
            <p:nvPr/>
          </p:nvSpPr>
          <p:spPr bwMode="auto">
            <a:xfrm>
              <a:off x="2064" y="2928"/>
              <a:ext cx="336" cy="288"/>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6934" name="Oval 324"/>
            <p:cNvSpPr>
              <a:spLocks noChangeArrowheads="1"/>
            </p:cNvSpPr>
            <p:nvPr/>
          </p:nvSpPr>
          <p:spPr bwMode="auto">
            <a:xfrm>
              <a:off x="2016" y="288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6935" name="Oval 325"/>
            <p:cNvSpPr>
              <a:spLocks noChangeArrowheads="1"/>
            </p:cNvSpPr>
            <p:nvPr/>
          </p:nvSpPr>
          <p:spPr bwMode="auto">
            <a:xfrm>
              <a:off x="2352" y="3168"/>
              <a:ext cx="96" cy="96"/>
            </a:xfrm>
            <a:prstGeom prst="ellipse">
              <a:avLst/>
            </a:prstGeom>
            <a:solidFill>
              <a:srgbClr val="FFFFFF"/>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6936" name="Text Box 395"/>
            <p:cNvSpPr txBox="1">
              <a:spLocks noChangeArrowheads="1"/>
            </p:cNvSpPr>
            <p:nvPr/>
          </p:nvSpPr>
          <p:spPr bwMode="auto">
            <a:xfrm>
              <a:off x="1632" y="3312"/>
              <a:ext cx="196"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u</a:t>
              </a:r>
            </a:p>
          </p:txBody>
        </p:sp>
        <p:sp>
          <p:nvSpPr>
            <p:cNvPr id="166937" name="Text Box 396"/>
            <p:cNvSpPr txBox="1">
              <a:spLocks noChangeArrowheads="1"/>
            </p:cNvSpPr>
            <p:nvPr/>
          </p:nvSpPr>
          <p:spPr bwMode="auto">
            <a:xfrm>
              <a:off x="1200" y="2208"/>
              <a:ext cx="196"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v</a:t>
              </a:r>
            </a:p>
          </p:txBody>
        </p:sp>
        <p:sp>
          <p:nvSpPr>
            <p:cNvPr id="166938" name="Oval 56"/>
            <p:cNvSpPr>
              <a:spLocks noChangeArrowheads="1"/>
            </p:cNvSpPr>
            <p:nvPr/>
          </p:nvSpPr>
          <p:spPr bwMode="auto">
            <a:xfrm>
              <a:off x="1824"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6939" name="Oval 62"/>
            <p:cNvSpPr>
              <a:spLocks noChangeArrowheads="1"/>
            </p:cNvSpPr>
            <p:nvPr/>
          </p:nvSpPr>
          <p:spPr bwMode="auto">
            <a:xfrm>
              <a:off x="1824" y="3360"/>
              <a:ext cx="96" cy="96"/>
            </a:xfrm>
            <a:prstGeom prst="ellipse">
              <a:avLst/>
            </a:prstGeom>
            <a:solidFill>
              <a:srgbClr val="FFFF00"/>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6940" name="Oval 316"/>
            <p:cNvSpPr>
              <a:spLocks noChangeArrowheads="1"/>
            </p:cNvSpPr>
            <p:nvPr/>
          </p:nvSpPr>
          <p:spPr bwMode="auto">
            <a:xfrm>
              <a:off x="2688" y="2544"/>
              <a:ext cx="96" cy="96"/>
            </a:xfrm>
            <a:prstGeom prst="ellipse">
              <a:avLst/>
            </a:prstGeom>
            <a:solidFill>
              <a:srgbClr val="FFFFFF"/>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6941" name="Line 409"/>
            <p:cNvSpPr>
              <a:spLocks noChangeShapeType="1"/>
            </p:cNvSpPr>
            <p:nvPr/>
          </p:nvSpPr>
          <p:spPr bwMode="auto">
            <a:xfrm>
              <a:off x="2928" y="3168"/>
              <a:ext cx="576"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6942" name="Line 410"/>
            <p:cNvSpPr>
              <a:spLocks noChangeShapeType="1"/>
            </p:cNvSpPr>
            <p:nvPr/>
          </p:nvSpPr>
          <p:spPr bwMode="auto">
            <a:xfrm flipH="1">
              <a:off x="2928" y="2784"/>
              <a:ext cx="240" cy="384"/>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6943" name="Oval 411"/>
            <p:cNvSpPr>
              <a:spLocks noChangeArrowheads="1"/>
            </p:cNvSpPr>
            <p:nvPr/>
          </p:nvSpPr>
          <p:spPr bwMode="auto">
            <a:xfrm>
              <a:off x="3120" y="273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6944" name="Oval 412"/>
            <p:cNvSpPr>
              <a:spLocks noChangeArrowheads="1"/>
            </p:cNvSpPr>
            <p:nvPr/>
          </p:nvSpPr>
          <p:spPr bwMode="auto">
            <a:xfrm>
              <a:off x="2880" y="3120"/>
              <a:ext cx="96" cy="96"/>
            </a:xfrm>
            <a:prstGeom prst="ellipse">
              <a:avLst/>
            </a:prstGeom>
            <a:solidFill>
              <a:srgbClr val="FFFFFF"/>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6945" name="Text Box 413"/>
            <p:cNvSpPr txBox="1">
              <a:spLocks noChangeArrowheads="1"/>
            </p:cNvSpPr>
            <p:nvPr/>
          </p:nvSpPr>
          <p:spPr bwMode="auto">
            <a:xfrm>
              <a:off x="3552" y="3168"/>
              <a:ext cx="249"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u’</a:t>
              </a:r>
            </a:p>
          </p:txBody>
        </p:sp>
        <p:sp>
          <p:nvSpPr>
            <p:cNvPr id="166946" name="Oval 414"/>
            <p:cNvSpPr>
              <a:spLocks noChangeArrowheads="1"/>
            </p:cNvSpPr>
            <p:nvPr/>
          </p:nvSpPr>
          <p:spPr bwMode="auto">
            <a:xfrm>
              <a:off x="3408" y="3216"/>
              <a:ext cx="96" cy="96"/>
            </a:xfrm>
            <a:prstGeom prst="ellipse">
              <a:avLst/>
            </a:prstGeom>
            <a:solidFill>
              <a:srgbClr val="FFFF00"/>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6947" name="Text Box 415"/>
            <p:cNvSpPr txBox="1">
              <a:spLocks noChangeArrowheads="1"/>
            </p:cNvSpPr>
            <p:nvPr/>
          </p:nvSpPr>
          <p:spPr bwMode="auto">
            <a:xfrm>
              <a:off x="3814" y="2256"/>
              <a:ext cx="249"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v’</a:t>
              </a:r>
            </a:p>
          </p:txBody>
        </p:sp>
        <p:sp>
          <p:nvSpPr>
            <p:cNvPr id="166948" name="Freeform 416"/>
            <p:cNvSpPr>
              <a:spLocks/>
            </p:cNvSpPr>
            <p:nvPr/>
          </p:nvSpPr>
          <p:spPr bwMode="auto">
            <a:xfrm>
              <a:off x="1440" y="2208"/>
              <a:ext cx="2400" cy="288"/>
            </a:xfrm>
            <a:custGeom>
              <a:avLst/>
              <a:gdLst>
                <a:gd name="T0" fmla="*/ 0 w 2400"/>
                <a:gd name="T1" fmla="*/ 0 h 288"/>
                <a:gd name="T2" fmla="*/ 480 w 2400"/>
                <a:gd name="T3" fmla="*/ 96 h 288"/>
                <a:gd name="T4" fmla="*/ 816 w 2400"/>
                <a:gd name="T5" fmla="*/ 288 h 288"/>
                <a:gd name="T6" fmla="*/ 1296 w 2400"/>
                <a:gd name="T7" fmla="*/ 288 h 288"/>
                <a:gd name="T8" fmla="*/ 1824 w 2400"/>
                <a:gd name="T9" fmla="*/ 96 h 288"/>
                <a:gd name="T10" fmla="*/ 2400 w 2400"/>
                <a:gd name="T11" fmla="*/ 96 h 28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00" h="288">
                  <a:moveTo>
                    <a:pt x="0" y="0"/>
                  </a:moveTo>
                  <a:lnTo>
                    <a:pt x="480" y="96"/>
                  </a:lnTo>
                  <a:lnTo>
                    <a:pt x="816" y="288"/>
                  </a:lnTo>
                  <a:lnTo>
                    <a:pt x="1296" y="288"/>
                  </a:lnTo>
                  <a:lnTo>
                    <a:pt x="1824" y="96"/>
                  </a:lnTo>
                  <a:lnTo>
                    <a:pt x="2400" y="96"/>
                  </a:lnTo>
                </a:path>
              </a:pathLst>
            </a:custGeom>
            <a:noFill/>
            <a:ln w="38100" cap="flat" cmpd="sng">
              <a:solidFill>
                <a:srgbClr val="969696"/>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6949" name="Text Box 417"/>
            <p:cNvSpPr txBox="1">
              <a:spLocks noChangeArrowheads="1"/>
            </p:cNvSpPr>
            <p:nvPr/>
          </p:nvSpPr>
          <p:spPr bwMode="auto">
            <a:xfrm>
              <a:off x="2250" y="2228"/>
              <a:ext cx="205"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P</a:t>
              </a:r>
            </a:p>
          </p:txBody>
        </p:sp>
      </p:grpSp>
      <p:sp>
        <p:nvSpPr>
          <p:cNvPr id="277923" name="Text Box 419"/>
          <p:cNvSpPr txBox="1">
            <a:spLocks noChangeArrowheads="1"/>
          </p:cNvSpPr>
          <p:nvPr/>
        </p:nvSpPr>
        <p:spPr bwMode="auto">
          <a:xfrm>
            <a:off x="228600" y="2819400"/>
            <a:ext cx="7086600"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marL="855663" indent="-855663">
              <a:tabLst>
                <a:tab pos="1620838" algn="l"/>
              </a:tabLst>
              <a:defRPr sz="1600">
                <a:solidFill>
                  <a:schemeClr val="tx1"/>
                </a:solidFill>
                <a:latin typeface="Times New Roman" pitchFamily="18" charset="0"/>
              </a:defRPr>
            </a:lvl1pPr>
            <a:lvl2pPr marL="742950" indent="-285750">
              <a:tabLst>
                <a:tab pos="1620838" algn="l"/>
              </a:tabLst>
              <a:defRPr sz="1600">
                <a:solidFill>
                  <a:schemeClr val="tx1"/>
                </a:solidFill>
                <a:latin typeface="Times New Roman" pitchFamily="18" charset="0"/>
              </a:defRPr>
            </a:lvl2pPr>
            <a:lvl3pPr marL="1143000" indent="-228600">
              <a:tabLst>
                <a:tab pos="1620838" algn="l"/>
              </a:tabLst>
              <a:defRPr sz="1600">
                <a:solidFill>
                  <a:schemeClr val="tx1"/>
                </a:solidFill>
                <a:latin typeface="Times New Roman" pitchFamily="18" charset="0"/>
              </a:defRPr>
            </a:lvl3pPr>
            <a:lvl4pPr marL="1600200" indent="-228600">
              <a:tabLst>
                <a:tab pos="1620838" algn="l"/>
              </a:tabLst>
              <a:defRPr sz="1600">
                <a:solidFill>
                  <a:schemeClr val="tx1"/>
                </a:solidFill>
                <a:latin typeface="Times New Roman" pitchFamily="18" charset="0"/>
              </a:defRPr>
            </a:lvl4pPr>
            <a:lvl5pPr marL="2057400" indent="-228600">
              <a:tabLst>
                <a:tab pos="1620838" algn="l"/>
              </a:tabLst>
              <a:defRPr sz="1600">
                <a:solidFill>
                  <a:schemeClr val="tx1"/>
                </a:solidFill>
                <a:latin typeface="Times New Roman" pitchFamily="18" charset="0"/>
              </a:defRPr>
            </a:lvl5pPr>
            <a:lvl6pPr marL="2514600" indent="-228600" eaLnBrk="0" fontAlgn="base" hangingPunct="0">
              <a:spcBef>
                <a:spcPct val="0"/>
              </a:spcBef>
              <a:spcAft>
                <a:spcPct val="0"/>
              </a:spcAft>
              <a:buChar char="•"/>
              <a:tabLst>
                <a:tab pos="1620838" algn="l"/>
              </a:tabLst>
              <a:defRPr sz="1600">
                <a:solidFill>
                  <a:schemeClr val="tx1"/>
                </a:solidFill>
                <a:latin typeface="Times New Roman" pitchFamily="18" charset="0"/>
              </a:defRPr>
            </a:lvl6pPr>
            <a:lvl7pPr marL="2971800" indent="-228600" eaLnBrk="0" fontAlgn="base" hangingPunct="0">
              <a:spcBef>
                <a:spcPct val="0"/>
              </a:spcBef>
              <a:spcAft>
                <a:spcPct val="0"/>
              </a:spcAft>
              <a:buChar char="•"/>
              <a:tabLst>
                <a:tab pos="1620838" algn="l"/>
              </a:tabLst>
              <a:defRPr sz="1600">
                <a:solidFill>
                  <a:schemeClr val="tx1"/>
                </a:solidFill>
                <a:latin typeface="Times New Roman" pitchFamily="18" charset="0"/>
              </a:defRPr>
            </a:lvl7pPr>
            <a:lvl8pPr marL="3429000" indent="-228600" eaLnBrk="0" fontAlgn="base" hangingPunct="0">
              <a:spcBef>
                <a:spcPct val="0"/>
              </a:spcBef>
              <a:spcAft>
                <a:spcPct val="0"/>
              </a:spcAft>
              <a:buChar char="•"/>
              <a:tabLst>
                <a:tab pos="1620838" algn="l"/>
              </a:tabLst>
              <a:defRPr sz="1600">
                <a:solidFill>
                  <a:schemeClr val="tx1"/>
                </a:solidFill>
                <a:latin typeface="Times New Roman" pitchFamily="18" charset="0"/>
              </a:defRPr>
            </a:lvl8pPr>
            <a:lvl9pPr marL="3886200" indent="-228600" eaLnBrk="0" fontAlgn="base" hangingPunct="0">
              <a:spcBef>
                <a:spcPct val="0"/>
              </a:spcBef>
              <a:spcAft>
                <a:spcPct val="0"/>
              </a:spcAft>
              <a:buChar char="•"/>
              <a:tabLst>
                <a:tab pos="1620838" algn="l"/>
              </a:tabLst>
              <a:defRPr sz="1600">
                <a:solidFill>
                  <a:schemeClr val="tx1"/>
                </a:solidFill>
                <a:latin typeface="Times New Roman" pitchFamily="18" charset="0"/>
              </a:defRPr>
            </a:lvl9pPr>
          </a:lstStyle>
          <a:p>
            <a:pPr eaLnBrk="1" hangingPunct="1">
              <a:spcBef>
                <a:spcPct val="50000"/>
              </a:spcBef>
              <a:buFont typeface="Wingdings" pitchFamily="2" charset="2"/>
              <a:buNone/>
            </a:pPr>
            <a:r>
              <a:rPr lang="en-US" sz="2000" b="1"/>
              <a:t>Proof sketch:</a:t>
            </a:r>
            <a:r>
              <a:rPr lang="en-US" sz="2000"/>
              <a:t>   Suppose there is no u-augmenting-path in M.</a:t>
            </a:r>
            <a:br>
              <a:rPr lang="en-US" sz="2000"/>
            </a:br>
            <a:r>
              <a:rPr lang="en-US" sz="2000"/>
              <a:t>	Suppose P is an augmenting path wrt M.</a:t>
            </a:r>
            <a:br>
              <a:rPr lang="en-US" sz="2000"/>
            </a:br>
            <a:r>
              <a:rPr lang="en-US" sz="2000"/>
              <a:t>	There cannot be a u-augmenting path in M</a:t>
            </a:r>
            <a:r>
              <a:rPr lang="en-US" sz="2000">
                <a:sym typeface="Symbol" pitchFamily="18" charset="2"/>
              </a:rPr>
              <a:t></a:t>
            </a:r>
            <a:r>
              <a:rPr lang="en-US" sz="2000"/>
              <a:t>P.</a:t>
            </a:r>
          </a:p>
        </p:txBody>
      </p:sp>
      <p:sp>
        <p:nvSpPr>
          <p:cNvPr id="277924" name="Text Box 420" descr="Stationery"/>
          <p:cNvSpPr txBox="1">
            <a:spLocks noChangeArrowheads="1"/>
          </p:cNvSpPr>
          <p:nvPr/>
        </p:nvSpPr>
        <p:spPr bwMode="auto">
          <a:xfrm>
            <a:off x="685800" y="4191000"/>
            <a:ext cx="2505075" cy="2217738"/>
          </a:xfrm>
          <a:prstGeom prst="rect">
            <a:avLst/>
          </a:prstGeom>
          <a:blipFill dpi="0" rotWithShape="0">
            <a:blip r:embed="rId3"/>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tIns="10800" bIns="82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dirty="0"/>
              <a:t>So, in our search, </a:t>
            </a:r>
            <a:br>
              <a:rPr lang="en-US" sz="2000" dirty="0"/>
            </a:br>
            <a:r>
              <a:rPr lang="en-US" sz="2000" dirty="0"/>
              <a:t>we can test </a:t>
            </a:r>
            <a:br>
              <a:rPr lang="en-US" sz="2000" dirty="0"/>
            </a:br>
            <a:r>
              <a:rPr lang="en-US" sz="2000" dirty="0"/>
              <a:t>each exposed node u</a:t>
            </a:r>
            <a:br>
              <a:rPr lang="en-US" sz="2000" dirty="0"/>
            </a:br>
            <a:r>
              <a:rPr lang="en-US" sz="2000" dirty="0"/>
              <a:t>once, and only once, </a:t>
            </a:r>
            <a:br>
              <a:rPr lang="en-US" sz="2000" dirty="0"/>
            </a:br>
            <a:r>
              <a:rPr lang="en-US" sz="2000" dirty="0"/>
              <a:t>as the starting node of </a:t>
            </a:r>
            <a:br>
              <a:rPr lang="en-US" sz="2000" dirty="0"/>
            </a:br>
            <a:r>
              <a:rPr lang="en-US" sz="2000" dirty="0"/>
              <a:t>an augmenting path.</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163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77506"/>
                                        </p:tgtEl>
                                        <p:attrNameLst>
                                          <p:attrName>style.visibility</p:attrName>
                                        </p:attrNameLst>
                                      </p:cBhvr>
                                      <p:to>
                                        <p:strVal val="visible"/>
                                      </p:to>
                                    </p:set>
                                    <p:anim calcmode="lin" valueType="num">
                                      <p:cBhvr>
                                        <p:cTn id="7" dur="500" fill="hold"/>
                                        <p:tgtEl>
                                          <p:spTgt spid="277506"/>
                                        </p:tgtEl>
                                        <p:attrNameLst>
                                          <p:attrName>ppt_w</p:attrName>
                                        </p:attrNameLst>
                                      </p:cBhvr>
                                      <p:tavLst>
                                        <p:tav tm="0">
                                          <p:val>
                                            <p:fltVal val="0"/>
                                          </p:val>
                                        </p:tav>
                                        <p:tav tm="100000">
                                          <p:val>
                                            <p:strVal val="#ppt_w"/>
                                          </p:val>
                                        </p:tav>
                                      </p:tavLst>
                                    </p:anim>
                                    <p:anim calcmode="lin" valueType="num">
                                      <p:cBhvr>
                                        <p:cTn id="8" dur="500" fill="hold"/>
                                        <p:tgtEl>
                                          <p:spTgt spid="277506"/>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77910"/>
                                        </p:tgtEl>
                                        <p:attrNameLst>
                                          <p:attrName>style.visibility</p:attrName>
                                        </p:attrNameLst>
                                      </p:cBhvr>
                                      <p:to>
                                        <p:strVal val="visible"/>
                                      </p:to>
                                    </p:set>
                                    <p:animEffect transition="in" filter="wipe(left)">
                                      <p:cBhvr>
                                        <p:cTn id="13" dur="500"/>
                                        <p:tgtEl>
                                          <p:spTgt spid="27791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77912"/>
                                        </p:tgtEl>
                                        <p:attrNameLst>
                                          <p:attrName>style.visibility</p:attrName>
                                        </p:attrNameLst>
                                      </p:cBhvr>
                                      <p:to>
                                        <p:strVal val="visible"/>
                                      </p:to>
                                    </p:set>
                                    <p:animEffect transition="in" filter="wipe(left)">
                                      <p:cBhvr>
                                        <p:cTn id="18" dur="500"/>
                                        <p:tgtEl>
                                          <p:spTgt spid="27791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77911"/>
                                        </p:tgtEl>
                                        <p:attrNameLst>
                                          <p:attrName>style.visibility</p:attrName>
                                        </p:attrNameLst>
                                      </p:cBhvr>
                                      <p:to>
                                        <p:strVal val="visible"/>
                                      </p:to>
                                    </p:set>
                                    <p:animEffect transition="in" filter="wipe(left)">
                                      <p:cBhvr>
                                        <p:cTn id="23" dur="500"/>
                                        <p:tgtEl>
                                          <p:spTgt spid="27791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277923"/>
                                        </p:tgtEl>
                                        <p:attrNameLst>
                                          <p:attrName>style.visibility</p:attrName>
                                        </p:attrNameLst>
                                      </p:cBhvr>
                                      <p:to>
                                        <p:strVal val="visible"/>
                                      </p:to>
                                    </p:set>
                                    <p:animEffect transition="in" filter="wipe(up)">
                                      <p:cBhvr>
                                        <p:cTn id="28" dur="500"/>
                                        <p:tgtEl>
                                          <p:spTgt spid="277923"/>
                                        </p:tgtEl>
                                      </p:cBhvr>
                                    </p:animEffect>
                                  </p:childTnLst>
                                </p:cTn>
                              </p:par>
                            </p:childTnLst>
                          </p:cTn>
                        </p:par>
                        <p:par>
                          <p:cTn id="29" fill="hold" nodeType="afterGroup">
                            <p:stCondLst>
                              <p:cond delay="500"/>
                            </p:stCondLst>
                            <p:childTnLst>
                              <p:par>
                                <p:cTn id="30" presetID="22" presetClass="entr" presetSubtype="8" fill="hold" nodeType="afterEffect">
                                  <p:stCondLst>
                                    <p:cond delay="1000"/>
                                  </p:stCondLst>
                                  <p:childTnLst>
                                    <p:set>
                                      <p:cBhvr>
                                        <p:cTn id="31" dur="1" fill="hold">
                                          <p:stCondLst>
                                            <p:cond delay="0"/>
                                          </p:stCondLst>
                                        </p:cTn>
                                        <p:tgtEl>
                                          <p:spTgt spid="277922"/>
                                        </p:tgtEl>
                                        <p:attrNameLst>
                                          <p:attrName>style.visibility</p:attrName>
                                        </p:attrNameLst>
                                      </p:cBhvr>
                                      <p:to>
                                        <p:strVal val="visible"/>
                                      </p:to>
                                    </p:set>
                                    <p:animEffect transition="in" filter="wipe(left)">
                                      <p:cBhvr>
                                        <p:cTn id="32" dur="500"/>
                                        <p:tgtEl>
                                          <p:spTgt spid="27792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77924"/>
                                        </p:tgtEl>
                                        <p:attrNameLst>
                                          <p:attrName>style.visibility</p:attrName>
                                        </p:attrNameLst>
                                      </p:cBhvr>
                                      <p:to>
                                        <p:strVal val="visible"/>
                                      </p:to>
                                    </p:set>
                                    <p:animEffect transition="in" filter="wipe(up)">
                                      <p:cBhvr>
                                        <p:cTn id="37" dur="500"/>
                                        <p:tgtEl>
                                          <p:spTgt spid="277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6" grpId="0" animBg="1" autoUpdateAnimBg="0"/>
      <p:bldP spid="277910" grpId="0" animBg="1" autoUpdateAnimBg="0"/>
      <p:bldP spid="277911" grpId="0" animBg="1" autoUpdateAnimBg="0"/>
      <p:bldP spid="277912" grpId="0" autoUpdateAnimBg="0"/>
      <p:bldP spid="277923" grpId="0" autoUpdateAnimBg="0"/>
      <p:bldP spid="277924" grpId="0" animBg="1" autoUpdateAnimBg="0"/>
    </p:bldLst>
  </p:timing>
</p:sld>
</file>

<file path=ppt/slides/slide1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Search  </a:t>
            </a:r>
            <a:r>
              <a:rPr lang="en-US" sz="2800" dirty="0" smtClean="0">
                <a:solidFill>
                  <a:srgbClr val="FF0000"/>
                </a:solidFill>
                <a:latin typeface="Arial Rounded MT Bold" pitchFamily="34" charset="0"/>
              </a:rPr>
              <a:t>for a</a:t>
            </a:r>
            <a:r>
              <a:rPr lang="en-US" sz="2800" dirty="0" smtClean="0">
                <a:solidFill>
                  <a:schemeClr val="tx1"/>
                </a:solidFill>
                <a:latin typeface="Arial Rounded MT Bold" pitchFamily="34" charset="0"/>
              </a:rPr>
              <a:t>  u-augmenting  </a:t>
            </a:r>
            <a:r>
              <a:rPr lang="en-US" sz="2800" dirty="0" smtClean="0">
                <a:solidFill>
                  <a:srgbClr val="FF0000"/>
                </a:solidFill>
                <a:latin typeface="Arial Rounded MT Bold" pitchFamily="34" charset="0"/>
              </a:rPr>
              <a:t>path</a:t>
            </a:r>
          </a:p>
        </p:txBody>
      </p:sp>
      <p:grpSp>
        <p:nvGrpSpPr>
          <p:cNvPr id="282778" name="Group 154"/>
          <p:cNvGrpSpPr>
            <a:grpSpLocks/>
          </p:cNvGrpSpPr>
          <p:nvPr/>
        </p:nvGrpSpPr>
        <p:grpSpPr bwMode="auto">
          <a:xfrm>
            <a:off x="1447800" y="1066800"/>
            <a:ext cx="5621338" cy="4751388"/>
            <a:chOff x="912" y="672"/>
            <a:chExt cx="3541" cy="2993"/>
          </a:xfrm>
        </p:grpSpPr>
        <p:sp>
          <p:nvSpPr>
            <p:cNvPr id="167940" name="Line 47"/>
            <p:cNvSpPr>
              <a:spLocks noChangeShapeType="1"/>
            </p:cNvSpPr>
            <p:nvPr/>
          </p:nvSpPr>
          <p:spPr bwMode="auto">
            <a:xfrm>
              <a:off x="1248" y="1824"/>
              <a:ext cx="0" cy="384"/>
            </a:xfrm>
            <a:prstGeom prst="line">
              <a:avLst/>
            </a:prstGeom>
            <a:noFill/>
            <a:ln w="3810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7941" name="Line 49"/>
            <p:cNvSpPr>
              <a:spLocks noChangeShapeType="1"/>
            </p:cNvSpPr>
            <p:nvPr/>
          </p:nvSpPr>
          <p:spPr bwMode="auto">
            <a:xfrm>
              <a:off x="3216" y="1824"/>
              <a:ext cx="0" cy="336"/>
            </a:xfrm>
            <a:prstGeom prst="line">
              <a:avLst/>
            </a:prstGeom>
            <a:noFill/>
            <a:ln w="3810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7942" name="Line 51"/>
            <p:cNvSpPr>
              <a:spLocks noChangeShapeType="1"/>
            </p:cNvSpPr>
            <p:nvPr/>
          </p:nvSpPr>
          <p:spPr bwMode="auto">
            <a:xfrm>
              <a:off x="2160" y="1824"/>
              <a:ext cx="0" cy="336"/>
            </a:xfrm>
            <a:prstGeom prst="line">
              <a:avLst/>
            </a:prstGeom>
            <a:noFill/>
            <a:ln w="3810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7943" name="Line 53"/>
            <p:cNvSpPr>
              <a:spLocks noChangeShapeType="1"/>
            </p:cNvSpPr>
            <p:nvPr/>
          </p:nvSpPr>
          <p:spPr bwMode="auto">
            <a:xfrm flipV="1">
              <a:off x="1248" y="1248"/>
              <a:ext cx="1392" cy="5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7944" name="Line 54"/>
            <p:cNvSpPr>
              <a:spLocks noChangeShapeType="1"/>
            </p:cNvSpPr>
            <p:nvPr/>
          </p:nvSpPr>
          <p:spPr bwMode="auto">
            <a:xfrm flipH="1">
              <a:off x="2160" y="1248"/>
              <a:ext cx="480" cy="5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7945" name="Line 55"/>
            <p:cNvSpPr>
              <a:spLocks noChangeShapeType="1"/>
            </p:cNvSpPr>
            <p:nvPr/>
          </p:nvSpPr>
          <p:spPr bwMode="auto">
            <a:xfrm>
              <a:off x="2640" y="1248"/>
              <a:ext cx="576" cy="5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7946" name="Line 85"/>
            <p:cNvSpPr>
              <a:spLocks noChangeShapeType="1"/>
            </p:cNvSpPr>
            <p:nvPr/>
          </p:nvSpPr>
          <p:spPr bwMode="auto">
            <a:xfrm>
              <a:off x="2640" y="1248"/>
              <a:ext cx="1584" cy="5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7947" name="Line 88"/>
            <p:cNvSpPr>
              <a:spLocks noChangeShapeType="1"/>
            </p:cNvSpPr>
            <p:nvPr/>
          </p:nvSpPr>
          <p:spPr bwMode="auto">
            <a:xfrm>
              <a:off x="4224" y="1824"/>
              <a:ext cx="0" cy="384"/>
            </a:xfrm>
            <a:prstGeom prst="line">
              <a:avLst/>
            </a:prstGeom>
            <a:noFill/>
            <a:ln w="3810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7948" name="Oval 48"/>
            <p:cNvSpPr>
              <a:spLocks noChangeArrowheads="1"/>
            </p:cNvSpPr>
            <p:nvPr/>
          </p:nvSpPr>
          <p:spPr bwMode="auto">
            <a:xfrm>
              <a:off x="2112" y="177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49" name="Oval 50"/>
            <p:cNvSpPr>
              <a:spLocks noChangeArrowheads="1"/>
            </p:cNvSpPr>
            <p:nvPr/>
          </p:nvSpPr>
          <p:spPr bwMode="auto">
            <a:xfrm>
              <a:off x="4176" y="177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50" name="Oval 57"/>
            <p:cNvSpPr>
              <a:spLocks noChangeArrowheads="1"/>
            </p:cNvSpPr>
            <p:nvPr/>
          </p:nvSpPr>
          <p:spPr bwMode="auto">
            <a:xfrm>
              <a:off x="1200" y="177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51" name="Oval 58"/>
            <p:cNvSpPr>
              <a:spLocks noChangeArrowheads="1"/>
            </p:cNvSpPr>
            <p:nvPr/>
          </p:nvSpPr>
          <p:spPr bwMode="auto">
            <a:xfrm>
              <a:off x="3168" y="177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52" name="Oval 56"/>
            <p:cNvSpPr>
              <a:spLocks noChangeArrowheads="1"/>
            </p:cNvSpPr>
            <p:nvPr/>
          </p:nvSpPr>
          <p:spPr bwMode="auto">
            <a:xfrm>
              <a:off x="2592" y="1200"/>
              <a:ext cx="96" cy="96"/>
            </a:xfrm>
            <a:prstGeom prst="ellipse">
              <a:avLst/>
            </a:prstGeom>
            <a:solidFill>
              <a:srgbClr val="FFFF00"/>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53" name="Line 102"/>
            <p:cNvSpPr>
              <a:spLocks noChangeShapeType="1"/>
            </p:cNvSpPr>
            <p:nvPr/>
          </p:nvSpPr>
          <p:spPr bwMode="auto">
            <a:xfrm>
              <a:off x="1248" y="2688"/>
              <a:ext cx="0" cy="384"/>
            </a:xfrm>
            <a:prstGeom prst="line">
              <a:avLst/>
            </a:prstGeom>
            <a:noFill/>
            <a:ln w="3810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7954" name="Line 103"/>
            <p:cNvSpPr>
              <a:spLocks noChangeShapeType="1"/>
            </p:cNvSpPr>
            <p:nvPr/>
          </p:nvSpPr>
          <p:spPr bwMode="auto">
            <a:xfrm>
              <a:off x="3216" y="2688"/>
              <a:ext cx="0" cy="336"/>
            </a:xfrm>
            <a:prstGeom prst="line">
              <a:avLst/>
            </a:prstGeom>
            <a:noFill/>
            <a:ln w="3810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7955" name="Line 104"/>
            <p:cNvSpPr>
              <a:spLocks noChangeShapeType="1"/>
            </p:cNvSpPr>
            <p:nvPr/>
          </p:nvSpPr>
          <p:spPr bwMode="auto">
            <a:xfrm>
              <a:off x="2064" y="2688"/>
              <a:ext cx="0" cy="336"/>
            </a:xfrm>
            <a:prstGeom prst="line">
              <a:avLst/>
            </a:prstGeom>
            <a:noFill/>
            <a:ln w="3810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7956" name="Oval 105"/>
            <p:cNvSpPr>
              <a:spLocks noChangeArrowheads="1"/>
            </p:cNvSpPr>
            <p:nvPr/>
          </p:nvSpPr>
          <p:spPr bwMode="auto">
            <a:xfrm>
              <a:off x="1200" y="302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57" name="Oval 106"/>
            <p:cNvSpPr>
              <a:spLocks noChangeArrowheads="1"/>
            </p:cNvSpPr>
            <p:nvPr/>
          </p:nvSpPr>
          <p:spPr bwMode="auto">
            <a:xfrm>
              <a:off x="2016" y="302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58" name="Oval 107"/>
            <p:cNvSpPr>
              <a:spLocks noChangeArrowheads="1"/>
            </p:cNvSpPr>
            <p:nvPr/>
          </p:nvSpPr>
          <p:spPr bwMode="auto">
            <a:xfrm>
              <a:off x="3168" y="302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59" name="Line 108"/>
            <p:cNvSpPr>
              <a:spLocks noChangeShapeType="1"/>
            </p:cNvSpPr>
            <p:nvPr/>
          </p:nvSpPr>
          <p:spPr bwMode="auto">
            <a:xfrm>
              <a:off x="4128" y="2688"/>
              <a:ext cx="0" cy="384"/>
            </a:xfrm>
            <a:prstGeom prst="line">
              <a:avLst/>
            </a:prstGeom>
            <a:noFill/>
            <a:ln w="3810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7960" name="Oval 113"/>
            <p:cNvSpPr>
              <a:spLocks noChangeArrowheads="1"/>
            </p:cNvSpPr>
            <p:nvPr/>
          </p:nvSpPr>
          <p:spPr bwMode="auto">
            <a:xfrm>
              <a:off x="4080" y="302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61" name="Line 114"/>
            <p:cNvSpPr>
              <a:spLocks noChangeShapeType="1"/>
            </p:cNvSpPr>
            <p:nvPr/>
          </p:nvSpPr>
          <p:spPr bwMode="auto">
            <a:xfrm>
              <a:off x="960" y="2688"/>
              <a:ext cx="0" cy="384"/>
            </a:xfrm>
            <a:prstGeom prst="line">
              <a:avLst/>
            </a:prstGeom>
            <a:noFill/>
            <a:ln w="3810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7962" name="Line 115"/>
            <p:cNvSpPr>
              <a:spLocks noChangeShapeType="1"/>
            </p:cNvSpPr>
            <p:nvPr/>
          </p:nvSpPr>
          <p:spPr bwMode="auto">
            <a:xfrm>
              <a:off x="2928" y="2688"/>
              <a:ext cx="0" cy="336"/>
            </a:xfrm>
            <a:prstGeom prst="line">
              <a:avLst/>
            </a:prstGeom>
            <a:noFill/>
            <a:ln w="3810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7963" name="Oval 117"/>
            <p:cNvSpPr>
              <a:spLocks noChangeArrowheads="1"/>
            </p:cNvSpPr>
            <p:nvPr/>
          </p:nvSpPr>
          <p:spPr bwMode="auto">
            <a:xfrm>
              <a:off x="912" y="302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64" name="Oval 119"/>
            <p:cNvSpPr>
              <a:spLocks noChangeArrowheads="1"/>
            </p:cNvSpPr>
            <p:nvPr/>
          </p:nvSpPr>
          <p:spPr bwMode="auto">
            <a:xfrm>
              <a:off x="2880" y="302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65" name="Line 126"/>
            <p:cNvSpPr>
              <a:spLocks noChangeShapeType="1"/>
            </p:cNvSpPr>
            <p:nvPr/>
          </p:nvSpPr>
          <p:spPr bwMode="auto">
            <a:xfrm>
              <a:off x="1488" y="2688"/>
              <a:ext cx="0" cy="384"/>
            </a:xfrm>
            <a:prstGeom prst="line">
              <a:avLst/>
            </a:prstGeom>
            <a:noFill/>
            <a:ln w="3810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7966" name="Line 127"/>
            <p:cNvSpPr>
              <a:spLocks noChangeShapeType="1"/>
            </p:cNvSpPr>
            <p:nvPr/>
          </p:nvSpPr>
          <p:spPr bwMode="auto">
            <a:xfrm>
              <a:off x="3456" y="2688"/>
              <a:ext cx="0" cy="336"/>
            </a:xfrm>
            <a:prstGeom prst="line">
              <a:avLst/>
            </a:prstGeom>
            <a:noFill/>
            <a:ln w="3810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7967" name="Line 128"/>
            <p:cNvSpPr>
              <a:spLocks noChangeShapeType="1"/>
            </p:cNvSpPr>
            <p:nvPr/>
          </p:nvSpPr>
          <p:spPr bwMode="auto">
            <a:xfrm>
              <a:off x="2304" y="2688"/>
              <a:ext cx="0" cy="336"/>
            </a:xfrm>
            <a:prstGeom prst="line">
              <a:avLst/>
            </a:prstGeom>
            <a:noFill/>
            <a:ln w="3810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7968" name="Oval 129"/>
            <p:cNvSpPr>
              <a:spLocks noChangeArrowheads="1"/>
            </p:cNvSpPr>
            <p:nvPr/>
          </p:nvSpPr>
          <p:spPr bwMode="auto">
            <a:xfrm>
              <a:off x="1440" y="302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69" name="Oval 131"/>
            <p:cNvSpPr>
              <a:spLocks noChangeArrowheads="1"/>
            </p:cNvSpPr>
            <p:nvPr/>
          </p:nvSpPr>
          <p:spPr bwMode="auto">
            <a:xfrm>
              <a:off x="3408" y="302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70" name="Line 132"/>
            <p:cNvSpPr>
              <a:spLocks noChangeShapeType="1"/>
            </p:cNvSpPr>
            <p:nvPr/>
          </p:nvSpPr>
          <p:spPr bwMode="auto">
            <a:xfrm>
              <a:off x="4368" y="2688"/>
              <a:ext cx="0" cy="384"/>
            </a:xfrm>
            <a:prstGeom prst="line">
              <a:avLst/>
            </a:prstGeom>
            <a:noFill/>
            <a:ln w="38100">
              <a:solidFill>
                <a:srgbClr val="FF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7971" name="Oval 137"/>
            <p:cNvSpPr>
              <a:spLocks noChangeArrowheads="1"/>
            </p:cNvSpPr>
            <p:nvPr/>
          </p:nvSpPr>
          <p:spPr bwMode="auto">
            <a:xfrm>
              <a:off x="4320" y="302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72" name="Line 138"/>
            <p:cNvSpPr>
              <a:spLocks noChangeShapeType="1"/>
            </p:cNvSpPr>
            <p:nvPr/>
          </p:nvSpPr>
          <p:spPr bwMode="auto">
            <a:xfrm flipH="1">
              <a:off x="960" y="2208"/>
              <a:ext cx="288"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7973" name="Line 139"/>
            <p:cNvSpPr>
              <a:spLocks noChangeShapeType="1"/>
            </p:cNvSpPr>
            <p:nvPr/>
          </p:nvSpPr>
          <p:spPr bwMode="auto">
            <a:xfrm>
              <a:off x="1248" y="2208"/>
              <a:ext cx="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7974" name="Line 140"/>
            <p:cNvSpPr>
              <a:spLocks noChangeShapeType="1"/>
            </p:cNvSpPr>
            <p:nvPr/>
          </p:nvSpPr>
          <p:spPr bwMode="auto">
            <a:xfrm>
              <a:off x="1248" y="2208"/>
              <a:ext cx="24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7975" name="Line 141"/>
            <p:cNvSpPr>
              <a:spLocks noChangeShapeType="1"/>
            </p:cNvSpPr>
            <p:nvPr/>
          </p:nvSpPr>
          <p:spPr bwMode="auto">
            <a:xfrm flipH="1">
              <a:off x="2928" y="2208"/>
              <a:ext cx="288"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7976" name="Line 142"/>
            <p:cNvSpPr>
              <a:spLocks noChangeShapeType="1"/>
            </p:cNvSpPr>
            <p:nvPr/>
          </p:nvSpPr>
          <p:spPr bwMode="auto">
            <a:xfrm>
              <a:off x="3216" y="2208"/>
              <a:ext cx="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7977" name="Line 143"/>
            <p:cNvSpPr>
              <a:spLocks noChangeShapeType="1"/>
            </p:cNvSpPr>
            <p:nvPr/>
          </p:nvSpPr>
          <p:spPr bwMode="auto">
            <a:xfrm>
              <a:off x="3216" y="2208"/>
              <a:ext cx="24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7978" name="Line 144"/>
            <p:cNvSpPr>
              <a:spLocks noChangeShapeType="1"/>
            </p:cNvSpPr>
            <p:nvPr/>
          </p:nvSpPr>
          <p:spPr bwMode="auto">
            <a:xfrm flipH="1">
              <a:off x="2064" y="2208"/>
              <a:ext cx="9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7979" name="Line 145"/>
            <p:cNvSpPr>
              <a:spLocks noChangeShapeType="1"/>
            </p:cNvSpPr>
            <p:nvPr/>
          </p:nvSpPr>
          <p:spPr bwMode="auto">
            <a:xfrm>
              <a:off x="2160" y="2208"/>
              <a:ext cx="144"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7980" name="Line 146"/>
            <p:cNvSpPr>
              <a:spLocks noChangeShapeType="1"/>
            </p:cNvSpPr>
            <p:nvPr/>
          </p:nvSpPr>
          <p:spPr bwMode="auto">
            <a:xfrm flipH="1">
              <a:off x="4128" y="2208"/>
              <a:ext cx="9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7981" name="Line 147"/>
            <p:cNvSpPr>
              <a:spLocks noChangeShapeType="1"/>
            </p:cNvSpPr>
            <p:nvPr/>
          </p:nvSpPr>
          <p:spPr bwMode="auto">
            <a:xfrm>
              <a:off x="4224" y="2208"/>
              <a:ext cx="144"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7982" name="Oval 52"/>
            <p:cNvSpPr>
              <a:spLocks noChangeArrowheads="1"/>
            </p:cNvSpPr>
            <p:nvPr/>
          </p:nvSpPr>
          <p:spPr bwMode="auto">
            <a:xfrm>
              <a:off x="1200" y="216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83" name="Oval 59"/>
            <p:cNvSpPr>
              <a:spLocks noChangeArrowheads="1"/>
            </p:cNvSpPr>
            <p:nvPr/>
          </p:nvSpPr>
          <p:spPr bwMode="auto">
            <a:xfrm>
              <a:off x="2112" y="216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84" name="Oval 86"/>
            <p:cNvSpPr>
              <a:spLocks noChangeArrowheads="1"/>
            </p:cNvSpPr>
            <p:nvPr/>
          </p:nvSpPr>
          <p:spPr bwMode="auto">
            <a:xfrm>
              <a:off x="3168" y="216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85" name="Oval 87"/>
            <p:cNvSpPr>
              <a:spLocks noChangeArrowheads="1"/>
            </p:cNvSpPr>
            <p:nvPr/>
          </p:nvSpPr>
          <p:spPr bwMode="auto">
            <a:xfrm>
              <a:off x="4176" y="216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86" name="Oval 109"/>
            <p:cNvSpPr>
              <a:spLocks noChangeArrowheads="1"/>
            </p:cNvSpPr>
            <p:nvPr/>
          </p:nvSpPr>
          <p:spPr bwMode="auto">
            <a:xfrm>
              <a:off x="2016"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87" name="Oval 110"/>
            <p:cNvSpPr>
              <a:spLocks noChangeArrowheads="1"/>
            </p:cNvSpPr>
            <p:nvPr/>
          </p:nvSpPr>
          <p:spPr bwMode="auto">
            <a:xfrm>
              <a:off x="4080"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88" name="Oval 111"/>
            <p:cNvSpPr>
              <a:spLocks noChangeArrowheads="1"/>
            </p:cNvSpPr>
            <p:nvPr/>
          </p:nvSpPr>
          <p:spPr bwMode="auto">
            <a:xfrm>
              <a:off x="1200"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89" name="Oval 112"/>
            <p:cNvSpPr>
              <a:spLocks noChangeArrowheads="1"/>
            </p:cNvSpPr>
            <p:nvPr/>
          </p:nvSpPr>
          <p:spPr bwMode="auto">
            <a:xfrm>
              <a:off x="3168"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90" name="Oval 123"/>
            <p:cNvSpPr>
              <a:spLocks noChangeArrowheads="1"/>
            </p:cNvSpPr>
            <p:nvPr/>
          </p:nvSpPr>
          <p:spPr bwMode="auto">
            <a:xfrm>
              <a:off x="912"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91" name="Oval 124"/>
            <p:cNvSpPr>
              <a:spLocks noChangeArrowheads="1"/>
            </p:cNvSpPr>
            <p:nvPr/>
          </p:nvSpPr>
          <p:spPr bwMode="auto">
            <a:xfrm>
              <a:off x="2880"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92" name="Oval 133"/>
            <p:cNvSpPr>
              <a:spLocks noChangeArrowheads="1"/>
            </p:cNvSpPr>
            <p:nvPr/>
          </p:nvSpPr>
          <p:spPr bwMode="auto">
            <a:xfrm>
              <a:off x="2256"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93" name="Oval 134"/>
            <p:cNvSpPr>
              <a:spLocks noChangeArrowheads="1"/>
            </p:cNvSpPr>
            <p:nvPr/>
          </p:nvSpPr>
          <p:spPr bwMode="auto">
            <a:xfrm>
              <a:off x="4320"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94" name="Oval 135"/>
            <p:cNvSpPr>
              <a:spLocks noChangeArrowheads="1"/>
            </p:cNvSpPr>
            <p:nvPr/>
          </p:nvSpPr>
          <p:spPr bwMode="auto">
            <a:xfrm>
              <a:off x="1440"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95" name="Oval 136"/>
            <p:cNvSpPr>
              <a:spLocks noChangeArrowheads="1"/>
            </p:cNvSpPr>
            <p:nvPr/>
          </p:nvSpPr>
          <p:spPr bwMode="auto">
            <a:xfrm>
              <a:off x="3408"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96" name="Line 148"/>
            <p:cNvSpPr>
              <a:spLocks noChangeShapeType="1"/>
            </p:cNvSpPr>
            <p:nvPr/>
          </p:nvSpPr>
          <p:spPr bwMode="auto">
            <a:xfrm>
              <a:off x="2304" y="3072"/>
              <a:ext cx="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7997" name="Oval 149"/>
            <p:cNvSpPr>
              <a:spLocks noChangeArrowheads="1"/>
            </p:cNvSpPr>
            <p:nvPr/>
          </p:nvSpPr>
          <p:spPr bwMode="auto">
            <a:xfrm>
              <a:off x="2256" y="3504"/>
              <a:ext cx="96" cy="96"/>
            </a:xfrm>
            <a:prstGeom prst="ellipse">
              <a:avLst/>
            </a:prstGeom>
            <a:solidFill>
              <a:srgbClr val="FFFF00"/>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98" name="Oval 130"/>
            <p:cNvSpPr>
              <a:spLocks noChangeArrowheads="1"/>
            </p:cNvSpPr>
            <p:nvPr/>
          </p:nvSpPr>
          <p:spPr bwMode="auto">
            <a:xfrm>
              <a:off x="2256" y="302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67999" name="Text Box 150"/>
            <p:cNvSpPr txBox="1">
              <a:spLocks noChangeArrowheads="1"/>
            </p:cNvSpPr>
            <p:nvPr/>
          </p:nvSpPr>
          <p:spPr bwMode="auto">
            <a:xfrm>
              <a:off x="2400" y="1056"/>
              <a:ext cx="1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u</a:t>
              </a:r>
            </a:p>
          </p:txBody>
        </p:sp>
        <p:sp>
          <p:nvSpPr>
            <p:cNvPr id="168000" name="Text Box 151"/>
            <p:cNvSpPr txBox="1">
              <a:spLocks noChangeArrowheads="1"/>
            </p:cNvSpPr>
            <p:nvPr/>
          </p:nvSpPr>
          <p:spPr bwMode="auto">
            <a:xfrm>
              <a:off x="2352" y="3408"/>
              <a:ext cx="249"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u’</a:t>
              </a:r>
            </a:p>
          </p:txBody>
        </p:sp>
        <p:sp>
          <p:nvSpPr>
            <p:cNvPr id="168001" name="Text Box 153"/>
            <p:cNvSpPr txBox="1">
              <a:spLocks noChangeArrowheads="1"/>
            </p:cNvSpPr>
            <p:nvPr/>
          </p:nvSpPr>
          <p:spPr bwMode="auto">
            <a:xfrm>
              <a:off x="1104" y="672"/>
              <a:ext cx="3349"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None/>
              </a:pPr>
              <a:r>
                <a:rPr lang="en-US" sz="2000"/>
                <a:t>Grow a tree of alternating paths rooted at vertex u:</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164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82626"/>
                                        </p:tgtEl>
                                        <p:attrNameLst>
                                          <p:attrName>style.visibility</p:attrName>
                                        </p:attrNameLst>
                                      </p:cBhvr>
                                      <p:to>
                                        <p:strVal val="visible"/>
                                      </p:to>
                                    </p:set>
                                    <p:anim calcmode="lin" valueType="num">
                                      <p:cBhvr>
                                        <p:cTn id="7" dur="500" fill="hold"/>
                                        <p:tgtEl>
                                          <p:spTgt spid="282626"/>
                                        </p:tgtEl>
                                        <p:attrNameLst>
                                          <p:attrName>ppt_w</p:attrName>
                                        </p:attrNameLst>
                                      </p:cBhvr>
                                      <p:tavLst>
                                        <p:tav tm="0">
                                          <p:val>
                                            <p:fltVal val="0"/>
                                          </p:val>
                                        </p:tav>
                                        <p:tav tm="100000">
                                          <p:val>
                                            <p:strVal val="#ppt_w"/>
                                          </p:val>
                                        </p:tav>
                                      </p:tavLst>
                                    </p:anim>
                                    <p:anim calcmode="lin" valueType="num">
                                      <p:cBhvr>
                                        <p:cTn id="8" dur="500" fill="hold"/>
                                        <p:tgtEl>
                                          <p:spTgt spid="282626"/>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282778"/>
                                        </p:tgtEl>
                                        <p:attrNameLst>
                                          <p:attrName>style.visibility</p:attrName>
                                        </p:attrNameLst>
                                      </p:cBhvr>
                                      <p:to>
                                        <p:strVal val="visible"/>
                                      </p:to>
                                    </p:set>
                                    <p:animEffect transition="in" filter="wipe(up)">
                                      <p:cBhvr>
                                        <p:cTn id="12" dur="500"/>
                                        <p:tgtEl>
                                          <p:spTgt spid="282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6" grpId="0" animBg="1" autoUpdateAnimBg="0"/>
    </p:bldLst>
  </p:timing>
</p:sld>
</file>

<file path=ppt/slides/slide1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hlink"/>
                </a:solidFill>
                <a:latin typeface="Arial Rounded MT Bold" pitchFamily="34" charset="0"/>
              </a:rPr>
              <a:t>Augmenting Path Search</a:t>
            </a:r>
            <a:r>
              <a:rPr lang="en-US" sz="2800" dirty="0" smtClean="0">
                <a:solidFill>
                  <a:schemeClr val="tx1"/>
                </a:solidFill>
                <a:latin typeface="Arial Rounded MT Bold" pitchFamily="34" charset="0"/>
              </a:rPr>
              <a:t>  as  </a:t>
            </a:r>
            <a:r>
              <a:rPr lang="en-US" sz="2800" dirty="0" smtClean="0">
                <a:solidFill>
                  <a:srgbClr val="CC0000"/>
                </a:solidFill>
                <a:latin typeface="Arial Rounded MT Bold" pitchFamily="34" charset="0"/>
              </a:rPr>
              <a:t>Digraph Search</a:t>
            </a:r>
          </a:p>
        </p:txBody>
      </p:sp>
      <p:sp>
        <p:nvSpPr>
          <p:cNvPr id="289795" name="Text Box 3"/>
          <p:cNvSpPr txBox="1">
            <a:spLocks noChangeArrowheads="1"/>
          </p:cNvSpPr>
          <p:nvPr/>
        </p:nvSpPr>
        <p:spPr bwMode="auto">
          <a:xfrm>
            <a:off x="609600" y="5638800"/>
            <a:ext cx="7467600" cy="990600"/>
          </a:xfrm>
          <a:prstGeom prst="rect">
            <a:avLst/>
          </a:prstGeom>
          <a:solidFill>
            <a:schemeClr val="accent3">
              <a:lumMod val="85000"/>
            </a:schemeClr>
          </a:solid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dirty="0"/>
              <a:t>Now in the </a:t>
            </a:r>
            <a:r>
              <a:rPr lang="en-US" sz="2000" b="1" dirty="0">
                <a:solidFill>
                  <a:srgbClr val="CC0000"/>
                </a:solidFill>
              </a:rPr>
              <a:t>auxiliary digraph</a:t>
            </a:r>
            <a:r>
              <a:rPr lang="en-US" sz="2000" dirty="0"/>
              <a:t> G’ = (V, E’),  search for a directed path </a:t>
            </a:r>
            <a:br>
              <a:rPr lang="en-US" sz="2000" dirty="0"/>
            </a:br>
            <a:r>
              <a:rPr lang="en-US" sz="2000" dirty="0"/>
              <a:t>from a node marked “exposed” (yellow) </a:t>
            </a:r>
            <a:br>
              <a:rPr lang="en-US" sz="2000" dirty="0"/>
            </a:br>
            <a:r>
              <a:rPr lang="en-US" sz="2000" dirty="0"/>
              <a:t>to a “target” node (solid black: adjacent to an exposed node).</a:t>
            </a:r>
          </a:p>
        </p:txBody>
      </p:sp>
      <p:sp>
        <p:nvSpPr>
          <p:cNvPr id="289796" name="AutoShape 4"/>
          <p:cNvSpPr>
            <a:spLocks noChangeArrowheads="1"/>
          </p:cNvSpPr>
          <p:nvPr/>
        </p:nvSpPr>
        <p:spPr bwMode="auto">
          <a:xfrm>
            <a:off x="4191000" y="1295400"/>
            <a:ext cx="304800" cy="457200"/>
          </a:xfrm>
          <a:prstGeom prst="downArrow">
            <a:avLst>
              <a:gd name="adj1" fmla="val 50000"/>
              <a:gd name="adj2" fmla="val 37500"/>
            </a:avLst>
          </a:prstGeom>
          <a:solidFill>
            <a:srgbClr val="CC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grpSp>
        <p:nvGrpSpPr>
          <p:cNvPr id="289797" name="Group 5"/>
          <p:cNvGrpSpPr>
            <a:grpSpLocks/>
          </p:cNvGrpSpPr>
          <p:nvPr/>
        </p:nvGrpSpPr>
        <p:grpSpPr bwMode="auto">
          <a:xfrm>
            <a:off x="838200" y="914400"/>
            <a:ext cx="7162800" cy="438150"/>
            <a:chOff x="480" y="816"/>
            <a:chExt cx="4512" cy="276"/>
          </a:xfrm>
        </p:grpSpPr>
        <p:sp>
          <p:nvSpPr>
            <p:cNvPr id="169016" name="Line 6"/>
            <p:cNvSpPr>
              <a:spLocks noChangeShapeType="1"/>
            </p:cNvSpPr>
            <p:nvPr/>
          </p:nvSpPr>
          <p:spPr bwMode="auto">
            <a:xfrm>
              <a:off x="576" y="864"/>
              <a:ext cx="480"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9017" name="Line 7"/>
            <p:cNvSpPr>
              <a:spLocks noChangeShapeType="1"/>
            </p:cNvSpPr>
            <p:nvPr/>
          </p:nvSpPr>
          <p:spPr bwMode="auto">
            <a:xfrm>
              <a:off x="1536" y="864"/>
              <a:ext cx="480"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9018" name="Line 8"/>
            <p:cNvSpPr>
              <a:spLocks noChangeShapeType="1"/>
            </p:cNvSpPr>
            <p:nvPr/>
          </p:nvSpPr>
          <p:spPr bwMode="auto">
            <a:xfrm>
              <a:off x="1056" y="864"/>
              <a:ext cx="480" cy="0"/>
            </a:xfrm>
            <a:prstGeom prst="line">
              <a:avLst/>
            </a:prstGeom>
            <a:noFill/>
            <a:ln w="38100">
              <a:solidFill>
                <a:srgbClr val="FF0000"/>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9019" name="Oval 9"/>
            <p:cNvSpPr>
              <a:spLocks noChangeArrowheads="1"/>
            </p:cNvSpPr>
            <p:nvPr/>
          </p:nvSpPr>
          <p:spPr bwMode="auto">
            <a:xfrm>
              <a:off x="528" y="816"/>
              <a:ext cx="96" cy="96"/>
            </a:xfrm>
            <a:prstGeom prst="ellipse">
              <a:avLst/>
            </a:prstGeom>
            <a:solidFill>
              <a:srgbClr val="FFFF00"/>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20" name="Oval 10"/>
            <p:cNvSpPr>
              <a:spLocks noChangeArrowheads="1"/>
            </p:cNvSpPr>
            <p:nvPr/>
          </p:nvSpPr>
          <p:spPr bwMode="auto">
            <a:xfrm>
              <a:off x="1008" y="81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21" name="Oval 11"/>
            <p:cNvSpPr>
              <a:spLocks noChangeArrowheads="1"/>
            </p:cNvSpPr>
            <p:nvPr/>
          </p:nvSpPr>
          <p:spPr bwMode="auto">
            <a:xfrm>
              <a:off x="1488" y="816"/>
              <a:ext cx="96" cy="96"/>
            </a:xfrm>
            <a:prstGeom prst="ellipse">
              <a:avLst/>
            </a:prstGeom>
            <a:solidFill>
              <a:srgbClr val="FFFFFF"/>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22" name="Line 12"/>
            <p:cNvSpPr>
              <a:spLocks noChangeShapeType="1"/>
            </p:cNvSpPr>
            <p:nvPr/>
          </p:nvSpPr>
          <p:spPr bwMode="auto">
            <a:xfrm>
              <a:off x="2496" y="864"/>
              <a:ext cx="480"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9023" name="Line 13"/>
            <p:cNvSpPr>
              <a:spLocks noChangeShapeType="1"/>
            </p:cNvSpPr>
            <p:nvPr/>
          </p:nvSpPr>
          <p:spPr bwMode="auto">
            <a:xfrm>
              <a:off x="2016" y="864"/>
              <a:ext cx="480" cy="0"/>
            </a:xfrm>
            <a:prstGeom prst="line">
              <a:avLst/>
            </a:prstGeom>
            <a:noFill/>
            <a:ln w="38100">
              <a:solidFill>
                <a:srgbClr val="FF0000"/>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9024" name="Oval 14"/>
            <p:cNvSpPr>
              <a:spLocks noChangeArrowheads="1"/>
            </p:cNvSpPr>
            <p:nvPr/>
          </p:nvSpPr>
          <p:spPr bwMode="auto">
            <a:xfrm>
              <a:off x="1968" y="81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25" name="Oval 15"/>
            <p:cNvSpPr>
              <a:spLocks noChangeArrowheads="1"/>
            </p:cNvSpPr>
            <p:nvPr/>
          </p:nvSpPr>
          <p:spPr bwMode="auto">
            <a:xfrm>
              <a:off x="2448" y="816"/>
              <a:ext cx="96" cy="96"/>
            </a:xfrm>
            <a:prstGeom prst="ellipse">
              <a:avLst/>
            </a:prstGeom>
            <a:solidFill>
              <a:srgbClr val="FFFFFF"/>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26" name="Line 16"/>
            <p:cNvSpPr>
              <a:spLocks noChangeShapeType="1"/>
            </p:cNvSpPr>
            <p:nvPr/>
          </p:nvSpPr>
          <p:spPr bwMode="auto">
            <a:xfrm>
              <a:off x="3456" y="864"/>
              <a:ext cx="480"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9027" name="Line 17"/>
            <p:cNvSpPr>
              <a:spLocks noChangeShapeType="1"/>
            </p:cNvSpPr>
            <p:nvPr/>
          </p:nvSpPr>
          <p:spPr bwMode="auto">
            <a:xfrm>
              <a:off x="2976" y="864"/>
              <a:ext cx="480" cy="0"/>
            </a:xfrm>
            <a:prstGeom prst="line">
              <a:avLst/>
            </a:prstGeom>
            <a:noFill/>
            <a:ln w="38100">
              <a:solidFill>
                <a:srgbClr val="FF0000"/>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9028" name="Oval 18"/>
            <p:cNvSpPr>
              <a:spLocks noChangeArrowheads="1"/>
            </p:cNvSpPr>
            <p:nvPr/>
          </p:nvSpPr>
          <p:spPr bwMode="auto">
            <a:xfrm>
              <a:off x="2928" y="81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29" name="Oval 19"/>
            <p:cNvSpPr>
              <a:spLocks noChangeArrowheads="1"/>
            </p:cNvSpPr>
            <p:nvPr/>
          </p:nvSpPr>
          <p:spPr bwMode="auto">
            <a:xfrm>
              <a:off x="3408" y="816"/>
              <a:ext cx="96" cy="96"/>
            </a:xfrm>
            <a:prstGeom prst="ellipse">
              <a:avLst/>
            </a:prstGeom>
            <a:solidFill>
              <a:srgbClr val="FFFFFF"/>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30" name="Oval 20"/>
            <p:cNvSpPr>
              <a:spLocks noChangeArrowheads="1"/>
            </p:cNvSpPr>
            <p:nvPr/>
          </p:nvSpPr>
          <p:spPr bwMode="auto">
            <a:xfrm>
              <a:off x="4896" y="816"/>
              <a:ext cx="96" cy="96"/>
            </a:xfrm>
            <a:prstGeom prst="ellipse">
              <a:avLst/>
            </a:prstGeom>
            <a:solidFill>
              <a:srgbClr val="FFFF00"/>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31" name="Line 21"/>
            <p:cNvSpPr>
              <a:spLocks noChangeShapeType="1"/>
            </p:cNvSpPr>
            <p:nvPr/>
          </p:nvSpPr>
          <p:spPr bwMode="auto">
            <a:xfrm>
              <a:off x="4416" y="864"/>
              <a:ext cx="480"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9032" name="Line 22"/>
            <p:cNvSpPr>
              <a:spLocks noChangeShapeType="1"/>
            </p:cNvSpPr>
            <p:nvPr/>
          </p:nvSpPr>
          <p:spPr bwMode="auto">
            <a:xfrm>
              <a:off x="3936" y="864"/>
              <a:ext cx="480" cy="0"/>
            </a:xfrm>
            <a:prstGeom prst="line">
              <a:avLst/>
            </a:prstGeom>
            <a:noFill/>
            <a:ln w="38100">
              <a:solidFill>
                <a:srgbClr val="FF0000"/>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9033" name="Oval 23"/>
            <p:cNvSpPr>
              <a:spLocks noChangeArrowheads="1"/>
            </p:cNvSpPr>
            <p:nvPr/>
          </p:nvSpPr>
          <p:spPr bwMode="auto">
            <a:xfrm>
              <a:off x="3888" y="81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34" name="Oval 24"/>
            <p:cNvSpPr>
              <a:spLocks noChangeArrowheads="1"/>
            </p:cNvSpPr>
            <p:nvPr/>
          </p:nvSpPr>
          <p:spPr bwMode="auto">
            <a:xfrm>
              <a:off x="4368" y="816"/>
              <a:ext cx="96" cy="96"/>
            </a:xfrm>
            <a:prstGeom prst="ellipse">
              <a:avLst/>
            </a:prstGeom>
            <a:solidFill>
              <a:srgbClr val="FFFFFF"/>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35" name="Text Box 25"/>
            <p:cNvSpPr txBox="1">
              <a:spLocks noChangeArrowheads="1"/>
            </p:cNvSpPr>
            <p:nvPr/>
          </p:nvSpPr>
          <p:spPr bwMode="auto">
            <a:xfrm>
              <a:off x="480" y="864"/>
              <a:ext cx="196" cy="228"/>
            </a:xfrm>
            <a:prstGeom prst="rect">
              <a:avLst/>
            </a:prstGeom>
            <a:noFill/>
            <a:ln w="12700">
              <a:noFill/>
              <a:miter lim="800000"/>
              <a:headEnd/>
              <a:tailEnd/>
            </a:ln>
            <a:effectLst>
              <a:outerShdw blurRad="44450" dist="27940" dir="5400000" algn="ctr">
                <a:srgbClr val="000000">
                  <a:alpha val="32000"/>
                </a:srgbClr>
              </a:outerShdw>
            </a:effectLst>
            <a:extLst>
              <a:ext uri="{909E8E84-426E-40DD-AFC4-6F175D3DCCD1}">
                <a14:hiddenFill xmlns:a14="http://schemas.microsoft.com/office/drawing/2010/main">
                  <a:solidFill>
                    <a:schemeClr val="accent1"/>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dirty="0"/>
                <a:t>u</a:t>
              </a:r>
            </a:p>
          </p:txBody>
        </p:sp>
        <p:sp>
          <p:nvSpPr>
            <p:cNvPr id="169036" name="Text Box 26"/>
            <p:cNvSpPr txBox="1">
              <a:spLocks noChangeArrowheads="1"/>
            </p:cNvSpPr>
            <p:nvPr/>
          </p:nvSpPr>
          <p:spPr bwMode="auto">
            <a:xfrm>
              <a:off x="960" y="864"/>
              <a:ext cx="196" cy="228"/>
            </a:xfrm>
            <a:prstGeom prst="rect">
              <a:avLst/>
            </a:prstGeom>
            <a:noFill/>
            <a:ln w="12700">
              <a:noFill/>
              <a:miter lim="800000"/>
              <a:headEnd/>
              <a:tailEnd/>
            </a:ln>
            <a:effectLst>
              <a:outerShdw blurRad="44450" dist="27940" dir="5400000" algn="ctr">
                <a:srgbClr val="000000">
                  <a:alpha val="32000"/>
                </a:srgbClr>
              </a:outerShdw>
            </a:effectLst>
            <a:extLst>
              <a:ext uri="{909E8E84-426E-40DD-AFC4-6F175D3DCCD1}">
                <a14:hiddenFill xmlns:a14="http://schemas.microsoft.com/office/drawing/2010/main">
                  <a:solidFill>
                    <a:schemeClr val="accent1"/>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dirty="0"/>
                <a:t>v</a:t>
              </a:r>
            </a:p>
          </p:txBody>
        </p:sp>
        <p:sp>
          <p:nvSpPr>
            <p:cNvPr id="169037" name="Text Box 27"/>
            <p:cNvSpPr txBox="1">
              <a:spLocks noChangeArrowheads="1"/>
            </p:cNvSpPr>
            <p:nvPr/>
          </p:nvSpPr>
          <p:spPr bwMode="auto">
            <a:xfrm>
              <a:off x="1248" y="864"/>
              <a:ext cx="612" cy="228"/>
            </a:xfrm>
            <a:prstGeom prst="rect">
              <a:avLst/>
            </a:prstGeom>
            <a:noFill/>
            <a:ln w="12700">
              <a:noFill/>
              <a:miter lim="800000"/>
              <a:headEnd/>
              <a:tailEnd/>
            </a:ln>
            <a:effectLst>
              <a:outerShdw blurRad="44450" dist="27940" dir="5400000" algn="ctr">
                <a:srgbClr val="000000">
                  <a:alpha val="32000"/>
                </a:srgbClr>
              </a:outerShdw>
            </a:effectLst>
            <a:extLst>
              <a:ext uri="{909E8E84-426E-40DD-AFC4-6F175D3DCCD1}">
                <a14:hiddenFill xmlns:a14="http://schemas.microsoft.com/office/drawing/2010/main">
                  <a:solidFill>
                    <a:schemeClr val="accent1"/>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dirty="0"/>
                <a:t>mate[v]</a:t>
              </a:r>
            </a:p>
          </p:txBody>
        </p:sp>
      </p:grpSp>
      <p:grpSp>
        <p:nvGrpSpPr>
          <p:cNvPr id="289820" name="Group 28"/>
          <p:cNvGrpSpPr>
            <a:grpSpLocks/>
          </p:cNvGrpSpPr>
          <p:nvPr/>
        </p:nvGrpSpPr>
        <p:grpSpPr bwMode="auto">
          <a:xfrm>
            <a:off x="838200" y="1981200"/>
            <a:ext cx="7162800" cy="666750"/>
            <a:chOff x="480" y="1488"/>
            <a:chExt cx="4512" cy="420"/>
          </a:xfrm>
          <a:scene3d>
            <a:camera prst="orthographicFront">
              <a:rot lat="0" lon="0" rev="0"/>
            </a:camera>
            <a:lightRig rig="balanced" dir="t">
              <a:rot lat="0" lon="0" rev="8700000"/>
            </a:lightRig>
          </a:scene3d>
        </p:grpSpPr>
        <p:sp>
          <p:nvSpPr>
            <p:cNvPr id="168999" name="Line 29"/>
            <p:cNvSpPr>
              <a:spLocks noChangeShapeType="1"/>
            </p:cNvSpPr>
            <p:nvPr/>
          </p:nvSpPr>
          <p:spPr bwMode="auto">
            <a:xfrm>
              <a:off x="576" y="1632"/>
              <a:ext cx="4368" cy="0"/>
            </a:xfrm>
            <a:prstGeom prst="line">
              <a:avLst/>
            </a:prstGeom>
            <a:noFill/>
            <a:ln w="12700">
              <a:solidFill>
                <a:schemeClr val="tx1"/>
              </a:solidFill>
              <a:prstDash val="sysDot"/>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wrap="none" bIns="10800">
              <a:spAutoFit/>
            </a:bodyPr>
            <a:lstStyle/>
            <a:p>
              <a:endParaRPr lang="en-CA"/>
            </a:p>
          </p:txBody>
        </p:sp>
        <p:sp>
          <p:nvSpPr>
            <p:cNvPr id="169000" name="Freeform 30"/>
            <p:cNvSpPr>
              <a:spLocks/>
            </p:cNvSpPr>
            <p:nvPr/>
          </p:nvSpPr>
          <p:spPr bwMode="auto">
            <a:xfrm>
              <a:off x="590" y="1523"/>
              <a:ext cx="898" cy="69"/>
            </a:xfrm>
            <a:custGeom>
              <a:avLst/>
              <a:gdLst>
                <a:gd name="T0" fmla="*/ 0 w 935"/>
                <a:gd name="T1" fmla="*/ 89 h 89"/>
                <a:gd name="T2" fmla="*/ 474 w 935"/>
                <a:gd name="T3" fmla="*/ 1 h 89"/>
                <a:gd name="T4" fmla="*/ 935 w 935"/>
                <a:gd name="T5" fmla="*/ 82 h 89"/>
                <a:gd name="T6" fmla="*/ 0 60000 65536"/>
                <a:gd name="T7" fmla="*/ 0 60000 65536"/>
                <a:gd name="T8" fmla="*/ 0 60000 65536"/>
              </a:gdLst>
              <a:ahLst/>
              <a:cxnLst>
                <a:cxn ang="T6">
                  <a:pos x="T0" y="T1"/>
                </a:cxn>
                <a:cxn ang="T7">
                  <a:pos x="T2" y="T3"/>
                </a:cxn>
                <a:cxn ang="T8">
                  <a:pos x="T4" y="T5"/>
                </a:cxn>
              </a:cxnLst>
              <a:rect l="0" t="0" r="r" b="b"/>
              <a:pathLst>
                <a:path w="935" h="89">
                  <a:moveTo>
                    <a:pt x="0" y="89"/>
                  </a:moveTo>
                  <a:cubicBezTo>
                    <a:pt x="79" y="74"/>
                    <a:pt x="318" y="2"/>
                    <a:pt x="474" y="1"/>
                  </a:cubicBezTo>
                  <a:cubicBezTo>
                    <a:pt x="630" y="0"/>
                    <a:pt x="839" y="65"/>
                    <a:pt x="935" y="82"/>
                  </a:cubicBezTo>
                </a:path>
              </a:pathLst>
            </a:custGeom>
            <a:noFill/>
            <a:ln w="28575" cmpd="sng">
              <a:solidFill>
                <a:schemeClr val="tx1"/>
              </a:solidFill>
              <a:round/>
              <a:headEnd type="none" w="med" len="med"/>
              <a:tailEnd type="triangle" w="med" len="me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rgbClr val="FFFFFF"/>
                  </a:solidFill>
                </a14:hiddenFill>
              </a:ext>
            </a:extLst>
          </p:spPr>
          <p:txBody>
            <a:bodyPr wrap="square" bIns="10800">
              <a:spAutoFit/>
            </a:bodyPr>
            <a:lstStyle/>
            <a:p>
              <a:endParaRPr lang="en-CA"/>
            </a:p>
          </p:txBody>
        </p:sp>
        <p:sp>
          <p:nvSpPr>
            <p:cNvPr id="169001" name="Freeform 31"/>
            <p:cNvSpPr>
              <a:spLocks/>
            </p:cNvSpPr>
            <p:nvPr/>
          </p:nvSpPr>
          <p:spPr bwMode="auto">
            <a:xfrm>
              <a:off x="1546" y="1494"/>
              <a:ext cx="902" cy="118"/>
            </a:xfrm>
            <a:custGeom>
              <a:avLst/>
              <a:gdLst>
                <a:gd name="T0" fmla="*/ 0 w 928"/>
                <a:gd name="T1" fmla="*/ 125 h 125"/>
                <a:gd name="T2" fmla="*/ 481 w 928"/>
                <a:gd name="T3" fmla="*/ 3 h 125"/>
                <a:gd name="T4" fmla="*/ 928 w 928"/>
                <a:gd name="T5" fmla="*/ 104 h 125"/>
                <a:gd name="T6" fmla="*/ 0 60000 65536"/>
                <a:gd name="T7" fmla="*/ 0 60000 65536"/>
                <a:gd name="T8" fmla="*/ 0 60000 65536"/>
              </a:gdLst>
              <a:ahLst/>
              <a:cxnLst>
                <a:cxn ang="T6">
                  <a:pos x="T0" y="T1"/>
                </a:cxn>
                <a:cxn ang="T7">
                  <a:pos x="T2" y="T3"/>
                </a:cxn>
                <a:cxn ang="T8">
                  <a:pos x="T4" y="T5"/>
                </a:cxn>
              </a:cxnLst>
              <a:rect l="0" t="0" r="r" b="b"/>
              <a:pathLst>
                <a:path w="928" h="125">
                  <a:moveTo>
                    <a:pt x="0" y="125"/>
                  </a:moveTo>
                  <a:cubicBezTo>
                    <a:pt x="80" y="105"/>
                    <a:pt x="326" y="6"/>
                    <a:pt x="481" y="3"/>
                  </a:cubicBezTo>
                  <a:cubicBezTo>
                    <a:pt x="636" y="0"/>
                    <a:pt x="835" y="83"/>
                    <a:pt x="928" y="104"/>
                  </a:cubicBezTo>
                </a:path>
              </a:pathLst>
            </a:custGeom>
            <a:noFill/>
            <a:ln w="28575" cmpd="sng">
              <a:solidFill>
                <a:schemeClr val="tx1"/>
              </a:solidFill>
              <a:round/>
              <a:headEnd type="none" w="med" len="med"/>
              <a:tailEnd type="triangle" w="med" len="me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rgbClr val="FFFFFF"/>
                  </a:solidFill>
                </a14:hiddenFill>
              </a:ext>
            </a:extLst>
          </p:spPr>
          <p:txBody>
            <a:bodyPr wrap="square" bIns="10800">
              <a:spAutoFit/>
            </a:bodyPr>
            <a:lstStyle/>
            <a:p>
              <a:endParaRPr lang="en-CA"/>
            </a:p>
          </p:txBody>
        </p:sp>
        <p:sp>
          <p:nvSpPr>
            <p:cNvPr id="169002" name="Oval 32"/>
            <p:cNvSpPr>
              <a:spLocks noChangeArrowheads="1"/>
            </p:cNvSpPr>
            <p:nvPr/>
          </p:nvSpPr>
          <p:spPr bwMode="auto">
            <a:xfrm>
              <a:off x="528" y="1592"/>
              <a:ext cx="96" cy="96"/>
            </a:xfrm>
            <a:prstGeom prst="ellipse">
              <a:avLst/>
            </a:prstGeom>
            <a:solidFill>
              <a:srgbClr val="FFFF00"/>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03" name="Oval 33"/>
            <p:cNvSpPr>
              <a:spLocks noChangeArrowheads="1"/>
            </p:cNvSpPr>
            <p:nvPr/>
          </p:nvSpPr>
          <p:spPr bwMode="auto">
            <a:xfrm>
              <a:off x="1008" y="1592"/>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04" name="Oval 34"/>
            <p:cNvSpPr>
              <a:spLocks noChangeArrowheads="1"/>
            </p:cNvSpPr>
            <p:nvPr/>
          </p:nvSpPr>
          <p:spPr bwMode="auto">
            <a:xfrm>
              <a:off x="1488" y="1592"/>
              <a:ext cx="96" cy="96"/>
            </a:xfrm>
            <a:prstGeom prst="ellipse">
              <a:avLst/>
            </a:prstGeom>
            <a:solidFill>
              <a:srgbClr val="FFFFFF"/>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05" name="Freeform 35"/>
            <p:cNvSpPr>
              <a:spLocks/>
            </p:cNvSpPr>
            <p:nvPr/>
          </p:nvSpPr>
          <p:spPr bwMode="auto">
            <a:xfrm>
              <a:off x="2501" y="1488"/>
              <a:ext cx="913" cy="124"/>
            </a:xfrm>
            <a:custGeom>
              <a:avLst/>
              <a:gdLst>
                <a:gd name="T0" fmla="*/ 0 w 942"/>
                <a:gd name="T1" fmla="*/ 124 h 124"/>
                <a:gd name="T2" fmla="*/ 481 w 942"/>
                <a:gd name="T3" fmla="*/ 2 h 124"/>
                <a:gd name="T4" fmla="*/ 942 w 942"/>
                <a:gd name="T5" fmla="*/ 110 h 124"/>
                <a:gd name="T6" fmla="*/ 0 60000 65536"/>
                <a:gd name="T7" fmla="*/ 0 60000 65536"/>
                <a:gd name="T8" fmla="*/ 0 60000 65536"/>
              </a:gdLst>
              <a:ahLst/>
              <a:cxnLst>
                <a:cxn ang="T6">
                  <a:pos x="T0" y="T1"/>
                </a:cxn>
                <a:cxn ang="T7">
                  <a:pos x="T2" y="T3"/>
                </a:cxn>
                <a:cxn ang="T8">
                  <a:pos x="T4" y="T5"/>
                </a:cxn>
              </a:cxnLst>
              <a:rect l="0" t="0" r="r" b="b"/>
              <a:pathLst>
                <a:path w="942" h="124">
                  <a:moveTo>
                    <a:pt x="0" y="124"/>
                  </a:moveTo>
                  <a:cubicBezTo>
                    <a:pt x="80" y="104"/>
                    <a:pt x="324" y="4"/>
                    <a:pt x="481" y="2"/>
                  </a:cubicBezTo>
                  <a:cubicBezTo>
                    <a:pt x="638" y="0"/>
                    <a:pt x="846" y="88"/>
                    <a:pt x="942" y="110"/>
                  </a:cubicBezTo>
                </a:path>
              </a:pathLst>
            </a:custGeom>
            <a:noFill/>
            <a:ln w="28575" cmpd="sng">
              <a:solidFill>
                <a:schemeClr val="tx1"/>
              </a:solidFill>
              <a:round/>
              <a:headEnd type="none" w="med" len="med"/>
              <a:tailEnd type="triangle" w="med" len="me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rgbClr val="FFFFFF"/>
                  </a:solidFill>
                </a14:hiddenFill>
              </a:ext>
            </a:extLst>
          </p:spPr>
          <p:txBody>
            <a:bodyPr wrap="square" bIns="10800">
              <a:spAutoFit/>
            </a:bodyPr>
            <a:lstStyle/>
            <a:p>
              <a:endParaRPr lang="en-CA"/>
            </a:p>
          </p:txBody>
        </p:sp>
        <p:sp>
          <p:nvSpPr>
            <p:cNvPr id="169006" name="Oval 36"/>
            <p:cNvSpPr>
              <a:spLocks noChangeArrowheads="1"/>
            </p:cNvSpPr>
            <p:nvPr/>
          </p:nvSpPr>
          <p:spPr bwMode="auto">
            <a:xfrm>
              <a:off x="1968" y="1592"/>
              <a:ext cx="96" cy="96"/>
            </a:xfrm>
            <a:prstGeom prst="ellipse">
              <a:avLst/>
            </a:prstGeom>
            <a:solidFill>
              <a:schemeClr val="bg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07" name="Oval 37"/>
            <p:cNvSpPr>
              <a:spLocks noChangeArrowheads="1"/>
            </p:cNvSpPr>
            <p:nvPr/>
          </p:nvSpPr>
          <p:spPr bwMode="auto">
            <a:xfrm>
              <a:off x="2448" y="1592"/>
              <a:ext cx="96" cy="96"/>
            </a:xfrm>
            <a:prstGeom prst="ellipse">
              <a:avLst/>
            </a:prstGeom>
            <a:solidFill>
              <a:srgbClr val="FFFFFF"/>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08" name="Freeform 38"/>
            <p:cNvSpPr>
              <a:spLocks/>
            </p:cNvSpPr>
            <p:nvPr/>
          </p:nvSpPr>
          <p:spPr bwMode="auto">
            <a:xfrm>
              <a:off x="3463" y="1495"/>
              <a:ext cx="905" cy="97"/>
            </a:xfrm>
            <a:custGeom>
              <a:avLst/>
              <a:gdLst>
                <a:gd name="T0" fmla="*/ 0 w 942"/>
                <a:gd name="T1" fmla="*/ 117 h 117"/>
                <a:gd name="T2" fmla="*/ 475 w 942"/>
                <a:gd name="T3" fmla="*/ 2 h 117"/>
                <a:gd name="T4" fmla="*/ 942 w 942"/>
                <a:gd name="T5" fmla="*/ 103 h 117"/>
                <a:gd name="T6" fmla="*/ 0 60000 65536"/>
                <a:gd name="T7" fmla="*/ 0 60000 65536"/>
                <a:gd name="T8" fmla="*/ 0 60000 65536"/>
              </a:gdLst>
              <a:ahLst/>
              <a:cxnLst>
                <a:cxn ang="T6">
                  <a:pos x="T0" y="T1"/>
                </a:cxn>
                <a:cxn ang="T7">
                  <a:pos x="T2" y="T3"/>
                </a:cxn>
                <a:cxn ang="T8">
                  <a:pos x="T4" y="T5"/>
                </a:cxn>
              </a:cxnLst>
              <a:rect l="0" t="0" r="r" b="b"/>
              <a:pathLst>
                <a:path w="942" h="117">
                  <a:moveTo>
                    <a:pt x="0" y="117"/>
                  </a:moveTo>
                  <a:cubicBezTo>
                    <a:pt x="79" y="98"/>
                    <a:pt x="318" y="4"/>
                    <a:pt x="475" y="2"/>
                  </a:cubicBezTo>
                  <a:cubicBezTo>
                    <a:pt x="632" y="0"/>
                    <a:pt x="845" y="82"/>
                    <a:pt x="942" y="103"/>
                  </a:cubicBezTo>
                </a:path>
              </a:pathLst>
            </a:custGeom>
            <a:noFill/>
            <a:ln w="28575" cmpd="sng">
              <a:solidFill>
                <a:schemeClr val="tx1"/>
              </a:solidFill>
              <a:round/>
              <a:headEnd type="none" w="med" len="med"/>
              <a:tailEnd type="triangle" w="med" len="me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rgbClr val="FFFFFF"/>
                  </a:solidFill>
                </a14:hiddenFill>
              </a:ext>
            </a:extLst>
          </p:spPr>
          <p:txBody>
            <a:bodyPr wrap="square" bIns="10800">
              <a:spAutoFit/>
            </a:bodyPr>
            <a:lstStyle/>
            <a:p>
              <a:endParaRPr lang="en-CA"/>
            </a:p>
          </p:txBody>
        </p:sp>
        <p:sp>
          <p:nvSpPr>
            <p:cNvPr id="169009" name="Oval 39"/>
            <p:cNvSpPr>
              <a:spLocks noChangeArrowheads="1"/>
            </p:cNvSpPr>
            <p:nvPr/>
          </p:nvSpPr>
          <p:spPr bwMode="auto">
            <a:xfrm>
              <a:off x="2928" y="1592"/>
              <a:ext cx="96" cy="96"/>
            </a:xfrm>
            <a:prstGeom prst="ellipse">
              <a:avLst/>
            </a:prstGeom>
            <a:solidFill>
              <a:schemeClr val="bg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10" name="Oval 40"/>
            <p:cNvSpPr>
              <a:spLocks noChangeArrowheads="1"/>
            </p:cNvSpPr>
            <p:nvPr/>
          </p:nvSpPr>
          <p:spPr bwMode="auto">
            <a:xfrm>
              <a:off x="3408" y="1592"/>
              <a:ext cx="96" cy="96"/>
            </a:xfrm>
            <a:prstGeom prst="ellipse">
              <a:avLst/>
            </a:prstGeom>
            <a:solidFill>
              <a:srgbClr val="FFFFFF"/>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11" name="Oval 41"/>
            <p:cNvSpPr>
              <a:spLocks noChangeArrowheads="1"/>
            </p:cNvSpPr>
            <p:nvPr/>
          </p:nvSpPr>
          <p:spPr bwMode="auto">
            <a:xfrm>
              <a:off x="3888" y="1592"/>
              <a:ext cx="96" cy="96"/>
            </a:xfrm>
            <a:prstGeom prst="ellipse">
              <a:avLst/>
            </a:prstGeom>
            <a:solidFill>
              <a:schemeClr val="bg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12" name="Oval 42"/>
            <p:cNvSpPr>
              <a:spLocks noChangeArrowheads="1"/>
            </p:cNvSpPr>
            <p:nvPr/>
          </p:nvSpPr>
          <p:spPr bwMode="auto">
            <a:xfrm>
              <a:off x="4368" y="1592"/>
              <a:ext cx="96" cy="96"/>
            </a:xfrm>
            <a:prstGeom prst="ellipse">
              <a:avLst/>
            </a:prstGeom>
            <a:solidFill>
              <a:schemeClr val="tx1"/>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13" name="Oval 43"/>
            <p:cNvSpPr>
              <a:spLocks noChangeArrowheads="1"/>
            </p:cNvSpPr>
            <p:nvPr/>
          </p:nvSpPr>
          <p:spPr bwMode="auto">
            <a:xfrm>
              <a:off x="4896" y="1592"/>
              <a:ext cx="96" cy="96"/>
            </a:xfrm>
            <a:prstGeom prst="ellipse">
              <a:avLst/>
            </a:prstGeom>
            <a:solidFill>
              <a:srgbClr val="FFFF00"/>
            </a:solidFill>
            <a:ln w="1905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9014" name="Text Box 44"/>
            <p:cNvSpPr txBox="1">
              <a:spLocks noChangeArrowheads="1"/>
            </p:cNvSpPr>
            <p:nvPr/>
          </p:nvSpPr>
          <p:spPr bwMode="auto">
            <a:xfrm>
              <a:off x="480" y="1680"/>
              <a:ext cx="196" cy="228"/>
            </a:xfrm>
            <a:prstGeom prst="rect">
              <a:avLst/>
            </a:prstGeom>
            <a:noFill/>
            <a:ln w="12700">
              <a:noFill/>
              <a:miter lim="800000"/>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chemeClr val="accent1"/>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dirty="0"/>
                <a:t>u</a:t>
              </a:r>
            </a:p>
          </p:txBody>
        </p:sp>
        <p:sp>
          <p:nvSpPr>
            <p:cNvPr id="169015" name="Text Box 45"/>
            <p:cNvSpPr txBox="1">
              <a:spLocks noChangeArrowheads="1"/>
            </p:cNvSpPr>
            <p:nvPr/>
          </p:nvSpPr>
          <p:spPr bwMode="auto">
            <a:xfrm>
              <a:off x="1248" y="1680"/>
              <a:ext cx="612" cy="228"/>
            </a:xfrm>
            <a:prstGeom prst="rect">
              <a:avLst/>
            </a:prstGeom>
            <a:noFill/>
            <a:ln w="12700">
              <a:noFill/>
              <a:miter lim="800000"/>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chemeClr val="accent1"/>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dirty="0"/>
                <a:t>mate[v]</a:t>
              </a:r>
            </a:p>
          </p:txBody>
        </p:sp>
      </p:grpSp>
      <p:grpSp>
        <p:nvGrpSpPr>
          <p:cNvPr id="289838" name="Group 46"/>
          <p:cNvGrpSpPr>
            <a:grpSpLocks/>
          </p:cNvGrpSpPr>
          <p:nvPr/>
        </p:nvGrpSpPr>
        <p:grpSpPr bwMode="auto">
          <a:xfrm>
            <a:off x="685800" y="3124200"/>
            <a:ext cx="7445375" cy="1946275"/>
            <a:chOff x="432" y="1968"/>
            <a:chExt cx="4690" cy="1226"/>
          </a:xfrm>
          <a:scene3d>
            <a:camera prst="orthographicFront">
              <a:rot lat="0" lon="0" rev="0"/>
            </a:camera>
            <a:lightRig rig="balanced" dir="t">
              <a:rot lat="0" lon="0" rev="8700000"/>
            </a:lightRig>
          </a:scene3d>
        </p:grpSpPr>
        <p:sp>
          <p:nvSpPr>
            <p:cNvPr id="168968" name="Line 47"/>
            <p:cNvSpPr>
              <a:spLocks noChangeShapeType="1"/>
            </p:cNvSpPr>
            <p:nvPr/>
          </p:nvSpPr>
          <p:spPr bwMode="auto">
            <a:xfrm>
              <a:off x="1202" y="2016"/>
              <a:ext cx="480" cy="0"/>
            </a:xfrm>
            <a:prstGeom prst="line">
              <a:avLst/>
            </a:prstGeom>
            <a:noFill/>
            <a:ln w="38100">
              <a:solidFill>
                <a:srgbClr val="FF0000"/>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wrap="none" bIns="10800">
              <a:spAutoFit/>
            </a:bodyPr>
            <a:lstStyle/>
            <a:p>
              <a:endParaRPr lang="en-CA"/>
            </a:p>
          </p:txBody>
        </p:sp>
        <p:sp>
          <p:nvSpPr>
            <p:cNvPr id="168969" name="Oval 48"/>
            <p:cNvSpPr>
              <a:spLocks noChangeArrowheads="1"/>
            </p:cNvSpPr>
            <p:nvPr/>
          </p:nvSpPr>
          <p:spPr bwMode="auto">
            <a:xfrm>
              <a:off x="1634" y="1968"/>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8970" name="Line 49"/>
            <p:cNvSpPr>
              <a:spLocks noChangeShapeType="1"/>
            </p:cNvSpPr>
            <p:nvPr/>
          </p:nvSpPr>
          <p:spPr bwMode="auto">
            <a:xfrm>
              <a:off x="1202" y="2400"/>
              <a:ext cx="480" cy="0"/>
            </a:xfrm>
            <a:prstGeom prst="line">
              <a:avLst/>
            </a:prstGeom>
            <a:noFill/>
            <a:ln w="38100">
              <a:solidFill>
                <a:srgbClr val="FF0000"/>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wrap="none" bIns="10800">
              <a:spAutoFit/>
            </a:bodyPr>
            <a:lstStyle/>
            <a:p>
              <a:endParaRPr lang="en-CA"/>
            </a:p>
          </p:txBody>
        </p:sp>
        <p:sp>
          <p:nvSpPr>
            <p:cNvPr id="168971" name="Oval 50"/>
            <p:cNvSpPr>
              <a:spLocks noChangeArrowheads="1"/>
            </p:cNvSpPr>
            <p:nvPr/>
          </p:nvSpPr>
          <p:spPr bwMode="auto">
            <a:xfrm>
              <a:off x="1634"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8972" name="Line 51"/>
            <p:cNvSpPr>
              <a:spLocks noChangeShapeType="1"/>
            </p:cNvSpPr>
            <p:nvPr/>
          </p:nvSpPr>
          <p:spPr bwMode="auto">
            <a:xfrm>
              <a:off x="1202" y="2784"/>
              <a:ext cx="480" cy="0"/>
            </a:xfrm>
            <a:prstGeom prst="line">
              <a:avLst/>
            </a:prstGeom>
            <a:noFill/>
            <a:ln w="38100">
              <a:solidFill>
                <a:srgbClr val="FF0000"/>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wrap="none" bIns="10800">
              <a:spAutoFit/>
            </a:bodyPr>
            <a:lstStyle/>
            <a:p>
              <a:endParaRPr lang="en-CA"/>
            </a:p>
          </p:txBody>
        </p:sp>
        <p:sp>
          <p:nvSpPr>
            <p:cNvPr id="168973" name="Oval 52"/>
            <p:cNvSpPr>
              <a:spLocks noChangeArrowheads="1"/>
            </p:cNvSpPr>
            <p:nvPr/>
          </p:nvSpPr>
          <p:spPr bwMode="auto">
            <a:xfrm>
              <a:off x="1634" y="273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8974" name="Line 53"/>
            <p:cNvSpPr>
              <a:spLocks noChangeShapeType="1"/>
            </p:cNvSpPr>
            <p:nvPr/>
          </p:nvSpPr>
          <p:spPr bwMode="auto">
            <a:xfrm flipV="1">
              <a:off x="722" y="2016"/>
              <a:ext cx="480" cy="384"/>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8975" name="Line 54"/>
            <p:cNvSpPr>
              <a:spLocks noChangeShapeType="1"/>
            </p:cNvSpPr>
            <p:nvPr/>
          </p:nvSpPr>
          <p:spPr bwMode="auto">
            <a:xfrm>
              <a:off x="722" y="2400"/>
              <a:ext cx="480" cy="0"/>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8976" name="Line 55"/>
            <p:cNvSpPr>
              <a:spLocks noChangeShapeType="1"/>
            </p:cNvSpPr>
            <p:nvPr/>
          </p:nvSpPr>
          <p:spPr bwMode="auto">
            <a:xfrm>
              <a:off x="722" y="2400"/>
              <a:ext cx="480" cy="384"/>
            </a:xfrm>
            <a:prstGeom prst="line">
              <a:avLst/>
            </a:prstGeom>
            <a:noFill/>
            <a:ln w="12700">
              <a:solidFill>
                <a:schemeClr val="tx1"/>
              </a:solidFill>
              <a:round/>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noFill/>
                </a14:hiddenFill>
              </a:ext>
            </a:extLst>
          </p:spPr>
          <p:txBody>
            <a:bodyPr bIns="10800">
              <a:spAutoFit/>
            </a:bodyPr>
            <a:lstStyle/>
            <a:p>
              <a:endParaRPr lang="en-CA"/>
            </a:p>
          </p:txBody>
        </p:sp>
        <p:sp>
          <p:nvSpPr>
            <p:cNvPr id="168977" name="Oval 56"/>
            <p:cNvSpPr>
              <a:spLocks noChangeArrowheads="1"/>
            </p:cNvSpPr>
            <p:nvPr/>
          </p:nvSpPr>
          <p:spPr bwMode="auto">
            <a:xfrm>
              <a:off x="674"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8978" name="Oval 57"/>
            <p:cNvSpPr>
              <a:spLocks noChangeArrowheads="1"/>
            </p:cNvSpPr>
            <p:nvPr/>
          </p:nvSpPr>
          <p:spPr bwMode="auto">
            <a:xfrm>
              <a:off x="1154" y="1968"/>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8979" name="Oval 58"/>
            <p:cNvSpPr>
              <a:spLocks noChangeArrowheads="1"/>
            </p:cNvSpPr>
            <p:nvPr/>
          </p:nvSpPr>
          <p:spPr bwMode="auto">
            <a:xfrm>
              <a:off x="1154"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8980" name="Oval 59"/>
            <p:cNvSpPr>
              <a:spLocks noChangeArrowheads="1"/>
            </p:cNvSpPr>
            <p:nvPr/>
          </p:nvSpPr>
          <p:spPr bwMode="auto">
            <a:xfrm>
              <a:off x="1154" y="273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8981" name="AutoShape 60"/>
            <p:cNvSpPr>
              <a:spLocks noChangeArrowheads="1"/>
            </p:cNvSpPr>
            <p:nvPr/>
          </p:nvSpPr>
          <p:spPr bwMode="auto">
            <a:xfrm>
              <a:off x="2448" y="2304"/>
              <a:ext cx="576" cy="240"/>
            </a:xfrm>
            <a:prstGeom prst="rightArrow">
              <a:avLst>
                <a:gd name="adj1" fmla="val 50000"/>
                <a:gd name="adj2" fmla="val 60000"/>
              </a:avLst>
            </a:prstGeom>
            <a:solidFill>
              <a:srgbClr val="CC0000"/>
            </a:solidFill>
            <a:ln w="12700">
              <a:noFill/>
              <a:miter lim="800000"/>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8982" name="Oval 61"/>
            <p:cNvSpPr>
              <a:spLocks noChangeArrowheads="1"/>
            </p:cNvSpPr>
            <p:nvPr/>
          </p:nvSpPr>
          <p:spPr bwMode="auto">
            <a:xfrm>
              <a:off x="4416" y="1968"/>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8983" name="Oval 62"/>
            <p:cNvSpPr>
              <a:spLocks noChangeArrowheads="1"/>
            </p:cNvSpPr>
            <p:nvPr/>
          </p:nvSpPr>
          <p:spPr bwMode="auto">
            <a:xfrm>
              <a:off x="4416"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8984" name="Oval 63"/>
            <p:cNvSpPr>
              <a:spLocks noChangeArrowheads="1"/>
            </p:cNvSpPr>
            <p:nvPr/>
          </p:nvSpPr>
          <p:spPr bwMode="auto">
            <a:xfrm>
              <a:off x="4416" y="273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8985" name="Freeform 64"/>
            <p:cNvSpPr>
              <a:spLocks/>
            </p:cNvSpPr>
            <p:nvPr/>
          </p:nvSpPr>
          <p:spPr bwMode="auto">
            <a:xfrm>
              <a:off x="3504" y="2043"/>
              <a:ext cx="921" cy="357"/>
            </a:xfrm>
            <a:custGeom>
              <a:avLst/>
              <a:gdLst>
                <a:gd name="T0" fmla="*/ 0 w 921"/>
                <a:gd name="T1" fmla="*/ 357 h 357"/>
                <a:gd name="T2" fmla="*/ 467 w 921"/>
                <a:gd name="T3" fmla="*/ 115 h 357"/>
                <a:gd name="T4" fmla="*/ 921 w 921"/>
                <a:gd name="T5" fmla="*/ 0 h 357"/>
                <a:gd name="T6" fmla="*/ 0 60000 65536"/>
                <a:gd name="T7" fmla="*/ 0 60000 65536"/>
                <a:gd name="T8" fmla="*/ 0 60000 65536"/>
              </a:gdLst>
              <a:ahLst/>
              <a:cxnLst>
                <a:cxn ang="T6">
                  <a:pos x="T0" y="T1"/>
                </a:cxn>
                <a:cxn ang="T7">
                  <a:pos x="T2" y="T3"/>
                </a:cxn>
                <a:cxn ang="T8">
                  <a:pos x="T4" y="T5"/>
                </a:cxn>
              </a:cxnLst>
              <a:rect l="0" t="0" r="r" b="b"/>
              <a:pathLst>
                <a:path w="921" h="357">
                  <a:moveTo>
                    <a:pt x="0" y="357"/>
                  </a:moveTo>
                  <a:cubicBezTo>
                    <a:pt x="78" y="317"/>
                    <a:pt x="314" y="174"/>
                    <a:pt x="467" y="115"/>
                  </a:cubicBezTo>
                  <a:cubicBezTo>
                    <a:pt x="620" y="56"/>
                    <a:pt x="827" y="24"/>
                    <a:pt x="921" y="0"/>
                  </a:cubicBezTo>
                </a:path>
              </a:pathLst>
            </a:custGeom>
            <a:noFill/>
            <a:ln w="28575" cap="flat" cmpd="sng">
              <a:solidFill>
                <a:schemeClr val="tx1"/>
              </a:solidFill>
              <a:prstDash val="solid"/>
              <a:round/>
              <a:headEnd type="none" w="med" len="med"/>
              <a:tailEnd type="triangle" w="med" len="me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rgbClr val="FFFFFF"/>
                  </a:solidFill>
                </a14:hiddenFill>
              </a:ext>
            </a:extLst>
          </p:spPr>
          <p:txBody>
            <a:bodyPr bIns="10800">
              <a:spAutoFit/>
            </a:bodyPr>
            <a:lstStyle/>
            <a:p>
              <a:endParaRPr lang="en-CA"/>
            </a:p>
          </p:txBody>
        </p:sp>
        <p:sp>
          <p:nvSpPr>
            <p:cNvPr id="168986" name="Freeform 65"/>
            <p:cNvSpPr>
              <a:spLocks/>
            </p:cNvSpPr>
            <p:nvPr/>
          </p:nvSpPr>
          <p:spPr bwMode="auto">
            <a:xfrm>
              <a:off x="3504" y="2292"/>
              <a:ext cx="914" cy="117"/>
            </a:xfrm>
            <a:custGeom>
              <a:avLst/>
              <a:gdLst>
                <a:gd name="T0" fmla="*/ 0 w 914"/>
                <a:gd name="T1" fmla="*/ 108 h 117"/>
                <a:gd name="T2" fmla="*/ 481 w 914"/>
                <a:gd name="T3" fmla="*/ 2 h 117"/>
                <a:gd name="T4" fmla="*/ 914 w 914"/>
                <a:gd name="T5" fmla="*/ 117 h 117"/>
                <a:gd name="T6" fmla="*/ 0 60000 65536"/>
                <a:gd name="T7" fmla="*/ 0 60000 65536"/>
                <a:gd name="T8" fmla="*/ 0 60000 65536"/>
              </a:gdLst>
              <a:ahLst/>
              <a:cxnLst>
                <a:cxn ang="T6">
                  <a:pos x="T0" y="T1"/>
                </a:cxn>
                <a:cxn ang="T7">
                  <a:pos x="T2" y="T3"/>
                </a:cxn>
                <a:cxn ang="T8">
                  <a:pos x="T4" y="T5"/>
                </a:cxn>
              </a:cxnLst>
              <a:rect l="0" t="0" r="r" b="b"/>
              <a:pathLst>
                <a:path w="914" h="117">
                  <a:moveTo>
                    <a:pt x="0" y="108"/>
                  </a:moveTo>
                  <a:cubicBezTo>
                    <a:pt x="80" y="90"/>
                    <a:pt x="329" y="0"/>
                    <a:pt x="481" y="2"/>
                  </a:cubicBezTo>
                  <a:cubicBezTo>
                    <a:pt x="633" y="4"/>
                    <a:pt x="824" y="93"/>
                    <a:pt x="914" y="117"/>
                  </a:cubicBezTo>
                </a:path>
              </a:pathLst>
            </a:custGeom>
            <a:noFill/>
            <a:ln w="28575" cap="flat" cmpd="sng">
              <a:solidFill>
                <a:schemeClr val="tx1"/>
              </a:solidFill>
              <a:prstDash val="solid"/>
              <a:round/>
              <a:headEnd type="none" w="med" len="med"/>
              <a:tailEnd type="triangle" w="med" len="me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rgbClr val="FFFFFF"/>
                  </a:solidFill>
                </a14:hiddenFill>
              </a:ext>
            </a:extLst>
          </p:spPr>
          <p:txBody>
            <a:bodyPr bIns="10800">
              <a:spAutoFit/>
            </a:bodyPr>
            <a:lstStyle/>
            <a:p>
              <a:endParaRPr lang="en-CA"/>
            </a:p>
          </p:txBody>
        </p:sp>
        <p:sp>
          <p:nvSpPr>
            <p:cNvPr id="168987" name="Freeform 66"/>
            <p:cNvSpPr>
              <a:spLocks/>
            </p:cNvSpPr>
            <p:nvPr/>
          </p:nvSpPr>
          <p:spPr bwMode="auto">
            <a:xfrm>
              <a:off x="3504" y="2400"/>
              <a:ext cx="921" cy="375"/>
            </a:xfrm>
            <a:custGeom>
              <a:avLst/>
              <a:gdLst>
                <a:gd name="T0" fmla="*/ 0 w 921"/>
                <a:gd name="T1" fmla="*/ 0 h 375"/>
                <a:gd name="T2" fmla="*/ 508 w 921"/>
                <a:gd name="T3" fmla="*/ 260 h 375"/>
                <a:gd name="T4" fmla="*/ 921 w 921"/>
                <a:gd name="T5" fmla="*/ 375 h 375"/>
                <a:gd name="T6" fmla="*/ 0 60000 65536"/>
                <a:gd name="T7" fmla="*/ 0 60000 65536"/>
                <a:gd name="T8" fmla="*/ 0 60000 65536"/>
              </a:gdLst>
              <a:ahLst/>
              <a:cxnLst>
                <a:cxn ang="T6">
                  <a:pos x="T0" y="T1"/>
                </a:cxn>
                <a:cxn ang="T7">
                  <a:pos x="T2" y="T3"/>
                </a:cxn>
                <a:cxn ang="T8">
                  <a:pos x="T4" y="T5"/>
                </a:cxn>
              </a:cxnLst>
              <a:rect l="0" t="0" r="r" b="b"/>
              <a:pathLst>
                <a:path w="921" h="375">
                  <a:moveTo>
                    <a:pt x="0" y="0"/>
                  </a:moveTo>
                  <a:cubicBezTo>
                    <a:pt x="85" y="43"/>
                    <a:pt x="355" y="198"/>
                    <a:pt x="508" y="260"/>
                  </a:cubicBezTo>
                  <a:cubicBezTo>
                    <a:pt x="661" y="322"/>
                    <a:pt x="835" y="351"/>
                    <a:pt x="921" y="375"/>
                  </a:cubicBezTo>
                </a:path>
              </a:pathLst>
            </a:custGeom>
            <a:noFill/>
            <a:ln w="28575" cap="flat" cmpd="sng">
              <a:solidFill>
                <a:schemeClr val="tx1"/>
              </a:solidFill>
              <a:prstDash val="solid"/>
              <a:round/>
              <a:headEnd type="none" w="med" len="med"/>
              <a:tailEnd type="triangle" w="med" len="me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rgbClr val="FFFFFF"/>
                  </a:solidFill>
                </a14:hiddenFill>
              </a:ext>
            </a:extLst>
          </p:spPr>
          <p:txBody>
            <a:bodyPr bIns="10800">
              <a:spAutoFit/>
            </a:bodyPr>
            <a:lstStyle/>
            <a:p>
              <a:endParaRPr lang="en-CA"/>
            </a:p>
          </p:txBody>
        </p:sp>
        <p:sp>
          <p:nvSpPr>
            <p:cNvPr id="168988" name="Oval 67"/>
            <p:cNvSpPr>
              <a:spLocks noChangeArrowheads="1"/>
            </p:cNvSpPr>
            <p:nvPr/>
          </p:nvSpPr>
          <p:spPr bwMode="auto">
            <a:xfrm>
              <a:off x="3456"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8989" name="Oval 68"/>
            <p:cNvSpPr>
              <a:spLocks noChangeArrowheads="1"/>
            </p:cNvSpPr>
            <p:nvPr/>
          </p:nvSpPr>
          <p:spPr bwMode="auto">
            <a:xfrm>
              <a:off x="3936" y="1968"/>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8990" name="Oval 69"/>
            <p:cNvSpPr>
              <a:spLocks noChangeArrowheads="1"/>
            </p:cNvSpPr>
            <p:nvPr/>
          </p:nvSpPr>
          <p:spPr bwMode="auto">
            <a:xfrm>
              <a:off x="3936"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8991" name="Oval 70"/>
            <p:cNvSpPr>
              <a:spLocks noChangeArrowheads="1"/>
            </p:cNvSpPr>
            <p:nvPr/>
          </p:nvSpPr>
          <p:spPr bwMode="auto">
            <a:xfrm>
              <a:off x="3936" y="273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p3d>
              <a:bevelT w="190500" h="38100"/>
            </a:sp3d>
            <a:extLst/>
          </p:spPr>
          <p:txBody>
            <a:bodyPr wrap="none" bIns="10800" anchor="ctr">
              <a:spAutoFit/>
            </a:bodyPr>
            <a:lstStyle/>
            <a:p>
              <a:endParaRPr lang="en-CA"/>
            </a:p>
          </p:txBody>
        </p:sp>
        <p:sp>
          <p:nvSpPr>
            <p:cNvPr id="168992" name="Text Box 71"/>
            <p:cNvSpPr txBox="1">
              <a:spLocks noChangeArrowheads="1"/>
            </p:cNvSpPr>
            <p:nvPr/>
          </p:nvSpPr>
          <p:spPr bwMode="auto">
            <a:xfrm>
              <a:off x="432" y="2228"/>
              <a:ext cx="196" cy="228"/>
            </a:xfrm>
            <a:prstGeom prst="rect">
              <a:avLst/>
            </a:prstGeom>
            <a:noFill/>
            <a:ln w="12700">
              <a:noFill/>
              <a:miter lim="800000"/>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chemeClr val="accent1"/>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dirty="0"/>
                <a:t>x</a:t>
              </a:r>
            </a:p>
          </p:txBody>
        </p:sp>
        <p:sp>
          <p:nvSpPr>
            <p:cNvPr id="168993" name="Text Box 72"/>
            <p:cNvSpPr txBox="1">
              <a:spLocks noChangeArrowheads="1"/>
            </p:cNvSpPr>
            <p:nvPr/>
          </p:nvSpPr>
          <p:spPr bwMode="auto">
            <a:xfrm>
              <a:off x="3266" y="2112"/>
              <a:ext cx="196" cy="228"/>
            </a:xfrm>
            <a:prstGeom prst="rect">
              <a:avLst/>
            </a:prstGeom>
            <a:noFill/>
            <a:ln w="12700">
              <a:noFill/>
              <a:miter lim="800000"/>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chemeClr val="accent1"/>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dirty="0"/>
                <a:t>x</a:t>
              </a:r>
            </a:p>
          </p:txBody>
        </p:sp>
        <p:sp>
          <p:nvSpPr>
            <p:cNvPr id="168994" name="Text Box 73"/>
            <p:cNvSpPr txBox="1">
              <a:spLocks noChangeArrowheads="1"/>
            </p:cNvSpPr>
            <p:nvPr/>
          </p:nvSpPr>
          <p:spPr bwMode="auto">
            <a:xfrm>
              <a:off x="1488" y="2400"/>
              <a:ext cx="612" cy="228"/>
            </a:xfrm>
            <a:prstGeom prst="rect">
              <a:avLst/>
            </a:prstGeom>
            <a:noFill/>
            <a:ln w="12700">
              <a:noFill/>
              <a:miter lim="800000"/>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chemeClr val="accent1"/>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dirty="0"/>
                <a:t>mate[y]</a:t>
              </a:r>
            </a:p>
          </p:txBody>
        </p:sp>
        <p:sp>
          <p:nvSpPr>
            <p:cNvPr id="168995" name="Text Box 74"/>
            <p:cNvSpPr txBox="1">
              <a:spLocks noChangeArrowheads="1"/>
            </p:cNvSpPr>
            <p:nvPr/>
          </p:nvSpPr>
          <p:spPr bwMode="auto">
            <a:xfrm>
              <a:off x="4510" y="2256"/>
              <a:ext cx="612" cy="228"/>
            </a:xfrm>
            <a:prstGeom prst="rect">
              <a:avLst/>
            </a:prstGeom>
            <a:noFill/>
            <a:ln w="12700">
              <a:noFill/>
              <a:miter lim="800000"/>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chemeClr val="accent1"/>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dirty="0"/>
                <a:t>mate[y]</a:t>
              </a:r>
            </a:p>
          </p:txBody>
        </p:sp>
        <p:sp>
          <p:nvSpPr>
            <p:cNvPr id="168996" name="Rectangle 75"/>
            <p:cNvSpPr>
              <a:spLocks noChangeArrowheads="1"/>
            </p:cNvSpPr>
            <p:nvPr/>
          </p:nvSpPr>
          <p:spPr bwMode="auto">
            <a:xfrm>
              <a:off x="2208" y="2112"/>
              <a:ext cx="1055" cy="228"/>
            </a:xfrm>
            <a:prstGeom prst="rect">
              <a:avLst/>
            </a:prstGeom>
            <a:noFill/>
            <a:ln w="12700">
              <a:noFill/>
              <a:miter lim="800000"/>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chemeClr val="accent1"/>
                  </a:solidFill>
                </a14:hiddenFill>
              </a:ext>
            </a:extLst>
          </p:spPr>
          <p:txBody>
            <a:bodyPr wrap="none" bIns="10800">
              <a:spAutoFit/>
            </a:bodyPr>
            <a:lstStyle/>
            <a:p>
              <a:pPr algn="ctr" eaLnBrk="1" hangingPunct="1">
                <a:spcBef>
                  <a:spcPct val="50000"/>
                </a:spcBef>
                <a:buFont typeface="Wingdings" pitchFamily="2" charset="2"/>
                <a:buNone/>
              </a:pPr>
              <a:r>
                <a:rPr lang="en-US" sz="2000" dirty="0">
                  <a:solidFill>
                    <a:srgbClr val="CC0000"/>
                  </a:solidFill>
                </a:rPr>
                <a:t>transformation</a:t>
              </a:r>
            </a:p>
          </p:txBody>
        </p:sp>
        <p:sp>
          <p:nvSpPr>
            <p:cNvPr id="168997" name="Text Box 76"/>
            <p:cNvSpPr txBox="1">
              <a:spLocks noChangeArrowheads="1"/>
            </p:cNvSpPr>
            <p:nvPr/>
          </p:nvSpPr>
          <p:spPr bwMode="auto">
            <a:xfrm>
              <a:off x="1008" y="2928"/>
              <a:ext cx="3632" cy="266"/>
            </a:xfrm>
            <a:prstGeom prst="rect">
              <a:avLst/>
            </a:prstGeom>
            <a:noFill/>
            <a:ln w="12700">
              <a:noFill/>
              <a:miter lim="800000"/>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solidFill>
                    <a:schemeClr val="accent1"/>
                  </a:solidFill>
                </a14:hiddenFill>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None/>
              </a:pPr>
              <a:r>
                <a:rPr lang="en-US" sz="2000" dirty="0"/>
                <a:t>(</a:t>
              </a:r>
              <a:r>
                <a:rPr lang="en-US" sz="2000" dirty="0" err="1"/>
                <a:t>x,y</a:t>
              </a:r>
              <a:r>
                <a:rPr lang="en-US" sz="2000" dirty="0"/>
                <a:t>) </a:t>
              </a:r>
              <a:r>
                <a:rPr lang="en-US" sz="2000" dirty="0">
                  <a:sym typeface="Symbol" pitchFamily="18" charset="2"/>
                </a:rPr>
                <a:t> </a:t>
              </a:r>
              <a:r>
                <a:rPr lang="en-US" sz="2000" dirty="0"/>
                <a:t>E – M </a:t>
              </a:r>
              <a:r>
                <a:rPr lang="en-US" sz="2000" dirty="0">
                  <a:sym typeface="Symbol" pitchFamily="18" charset="2"/>
                </a:rPr>
                <a:t>    </a:t>
              </a:r>
              <a:r>
                <a:rPr lang="en-US" sz="2400" dirty="0">
                  <a:sym typeface="Symbol" pitchFamily="18" charset="2"/>
                </a:rPr>
                <a:t></a:t>
              </a:r>
              <a:r>
                <a:rPr lang="en-US" sz="2000" dirty="0">
                  <a:sym typeface="Symbol" pitchFamily="18" charset="2"/>
                </a:rPr>
                <a:t>    (x, mate[y])  E’</a:t>
              </a:r>
            </a:p>
          </p:txBody>
        </p:sp>
        <p:sp>
          <p:nvSpPr>
            <p:cNvPr id="168998" name="Rectangle 77" descr="Stationery"/>
            <p:cNvSpPr>
              <a:spLocks noChangeArrowheads="1"/>
            </p:cNvSpPr>
            <p:nvPr/>
          </p:nvSpPr>
          <p:spPr bwMode="auto">
            <a:xfrm>
              <a:off x="1104" y="2352"/>
              <a:ext cx="196" cy="257"/>
            </a:xfrm>
            <a:prstGeom prst="rect">
              <a:avLst/>
            </a:prstGeom>
            <a:noFill/>
            <a:ln w="12700">
              <a:noFill/>
              <a:miter lim="800000"/>
              <a:headEnd/>
              <a:tailEnd/>
            </a:ln>
            <a:effectLst>
              <a:outerShdw blurRad="44450" dist="27940" dir="5400000" algn="ctr">
                <a:srgbClr val="000000">
                  <a:alpha val="32000"/>
                </a:srgbClr>
              </a:outerShdw>
            </a:effectLst>
            <a:sp3d>
              <a:bevelT w="190500" h="38100"/>
            </a:sp3d>
            <a:extLst>
              <a:ext uri="{909E8E84-426E-40DD-AFC4-6F175D3DCCD1}">
                <a14:hiddenFill xmlns:a14="http://schemas.microsoft.com/office/drawing/2010/main">
                  <a:blipFill dpi="0" rotWithShape="0">
                    <a:blip r:embed="rId2"/>
                    <a:srcRect/>
                    <a:tile tx="0" ty="0" sx="100000" sy="100000" flip="none" algn="tl"/>
                  </a:blipFill>
                </a14:hiddenFill>
              </a:ext>
            </a:extLst>
          </p:spPr>
          <p:txBody>
            <a:bodyPr wrap="none" bIns="10800">
              <a:spAutoFit/>
            </a:bodyPr>
            <a:lstStyle/>
            <a:p>
              <a:pPr algn="ctr" eaLnBrk="1" hangingPunct="1">
                <a:lnSpc>
                  <a:spcPct val="115000"/>
                </a:lnSpc>
                <a:spcBef>
                  <a:spcPct val="50000"/>
                </a:spcBef>
                <a:buFont typeface="Wingdings" pitchFamily="2" charset="2"/>
                <a:buNone/>
              </a:pPr>
              <a:r>
                <a:rPr lang="en-US" sz="2000" dirty="0"/>
                <a:t>y</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165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89794"/>
                                        </p:tgtEl>
                                        <p:attrNameLst>
                                          <p:attrName>style.visibility</p:attrName>
                                        </p:attrNameLst>
                                      </p:cBhvr>
                                      <p:to>
                                        <p:strVal val="visible"/>
                                      </p:to>
                                    </p:set>
                                    <p:anim calcmode="lin" valueType="num">
                                      <p:cBhvr>
                                        <p:cTn id="7" dur="500" fill="hold"/>
                                        <p:tgtEl>
                                          <p:spTgt spid="289794"/>
                                        </p:tgtEl>
                                        <p:attrNameLst>
                                          <p:attrName>ppt_w</p:attrName>
                                        </p:attrNameLst>
                                      </p:cBhvr>
                                      <p:tavLst>
                                        <p:tav tm="0">
                                          <p:val>
                                            <p:fltVal val="0"/>
                                          </p:val>
                                        </p:tav>
                                        <p:tav tm="100000">
                                          <p:val>
                                            <p:strVal val="#ppt_w"/>
                                          </p:val>
                                        </p:tav>
                                      </p:tavLst>
                                    </p:anim>
                                    <p:anim calcmode="lin" valueType="num">
                                      <p:cBhvr>
                                        <p:cTn id="8" dur="500" fill="hold"/>
                                        <p:tgtEl>
                                          <p:spTgt spid="28979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89797"/>
                                        </p:tgtEl>
                                        <p:attrNameLst>
                                          <p:attrName>style.visibility</p:attrName>
                                        </p:attrNameLst>
                                      </p:cBhvr>
                                      <p:to>
                                        <p:strVal val="visible"/>
                                      </p:to>
                                    </p:set>
                                    <p:animEffect transition="in" filter="wipe(left)">
                                      <p:cBhvr>
                                        <p:cTn id="13" dur="500"/>
                                        <p:tgtEl>
                                          <p:spTgt spid="28979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89796"/>
                                        </p:tgtEl>
                                        <p:attrNameLst>
                                          <p:attrName>style.visibility</p:attrName>
                                        </p:attrNameLst>
                                      </p:cBhvr>
                                      <p:to>
                                        <p:strVal val="visible"/>
                                      </p:to>
                                    </p:set>
                                    <p:animEffect transition="in" filter="wipe(up)">
                                      <p:cBhvr>
                                        <p:cTn id="18" dur="500"/>
                                        <p:tgtEl>
                                          <p:spTgt spid="289796"/>
                                        </p:tgtEl>
                                      </p:cBhvr>
                                    </p:animEffect>
                                  </p:childTnLst>
                                </p:cTn>
                              </p:par>
                            </p:childTnLst>
                          </p:cTn>
                        </p:par>
                        <p:par>
                          <p:cTn id="19" fill="hold" nodeType="afterGroup">
                            <p:stCondLst>
                              <p:cond delay="500"/>
                            </p:stCondLst>
                            <p:childTnLst>
                              <p:par>
                                <p:cTn id="20" presetID="22" presetClass="entr" presetSubtype="8" fill="hold" nodeType="afterEffect">
                                  <p:stCondLst>
                                    <p:cond delay="0"/>
                                  </p:stCondLst>
                                  <p:childTnLst>
                                    <p:set>
                                      <p:cBhvr>
                                        <p:cTn id="21" dur="1" fill="hold">
                                          <p:stCondLst>
                                            <p:cond delay="0"/>
                                          </p:stCondLst>
                                        </p:cTn>
                                        <p:tgtEl>
                                          <p:spTgt spid="289820"/>
                                        </p:tgtEl>
                                        <p:attrNameLst>
                                          <p:attrName>style.visibility</p:attrName>
                                        </p:attrNameLst>
                                      </p:cBhvr>
                                      <p:to>
                                        <p:strVal val="visible"/>
                                      </p:to>
                                    </p:set>
                                    <p:animEffect transition="in" filter="wipe(left)">
                                      <p:cBhvr>
                                        <p:cTn id="22" dur="500"/>
                                        <p:tgtEl>
                                          <p:spTgt spid="2898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89838"/>
                                        </p:tgtEl>
                                        <p:attrNameLst>
                                          <p:attrName>style.visibility</p:attrName>
                                        </p:attrNameLst>
                                      </p:cBhvr>
                                      <p:to>
                                        <p:strVal val="visible"/>
                                      </p:to>
                                    </p:set>
                                    <p:animEffect transition="in" filter="wipe(left)">
                                      <p:cBhvr>
                                        <p:cTn id="27" dur="500"/>
                                        <p:tgtEl>
                                          <p:spTgt spid="28983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89795"/>
                                        </p:tgtEl>
                                        <p:attrNameLst>
                                          <p:attrName>style.visibility</p:attrName>
                                        </p:attrNameLst>
                                      </p:cBhvr>
                                      <p:to>
                                        <p:strVal val="visible"/>
                                      </p:to>
                                    </p:set>
                                    <p:animEffect transition="in" filter="wipe(up)">
                                      <p:cBhvr>
                                        <p:cTn id="32" dur="500"/>
                                        <p:tgtEl>
                                          <p:spTgt spid="289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4" grpId="0" animBg="1" autoUpdateAnimBg="0"/>
      <p:bldP spid="289795" grpId="0" animBg="1" autoUpdateAnimBg="0"/>
      <p:bldP spid="289796" grpId="0" animBg="1"/>
    </p:bldLst>
  </p:timing>
</p:sld>
</file>

<file path=ppt/slides/slide1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Odd Cycles  </a:t>
            </a:r>
            <a:r>
              <a:rPr lang="en-US" sz="2800" dirty="0" smtClean="0">
                <a:solidFill>
                  <a:srgbClr val="FF0000"/>
                </a:solidFill>
                <a:latin typeface="Arial Rounded MT Bold" pitchFamily="34" charset="0"/>
              </a:rPr>
              <a:t>&amp;</a:t>
            </a:r>
            <a:r>
              <a:rPr lang="en-US" sz="2800" dirty="0" smtClean="0">
                <a:solidFill>
                  <a:schemeClr val="tx1"/>
                </a:solidFill>
                <a:latin typeface="Arial Rounded MT Bold" pitchFamily="34" charset="0"/>
              </a:rPr>
              <a:t>  Blossoms</a:t>
            </a:r>
          </a:p>
        </p:txBody>
      </p:sp>
      <p:sp>
        <p:nvSpPr>
          <p:cNvPr id="278638" name="Text Box 110"/>
          <p:cNvSpPr txBox="1">
            <a:spLocks noChangeArrowheads="1"/>
          </p:cNvSpPr>
          <p:nvPr/>
        </p:nvSpPr>
        <p:spPr bwMode="auto">
          <a:xfrm>
            <a:off x="4114800" y="5029200"/>
            <a:ext cx="1368425"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None/>
            </a:pPr>
            <a:r>
              <a:rPr lang="en-US" sz="2800"/>
              <a:t>blossom</a:t>
            </a:r>
          </a:p>
        </p:txBody>
      </p:sp>
      <p:sp>
        <p:nvSpPr>
          <p:cNvPr id="278639" name="Text Box 111"/>
          <p:cNvSpPr txBox="1">
            <a:spLocks noChangeArrowheads="1"/>
          </p:cNvSpPr>
          <p:nvPr/>
        </p:nvSpPr>
        <p:spPr bwMode="auto">
          <a:xfrm>
            <a:off x="990600" y="838200"/>
            <a:ext cx="6356350"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spcBef>
                <a:spcPct val="50000"/>
              </a:spcBef>
              <a:buFont typeface="Wingdings" pitchFamily="2" charset="2"/>
              <a:buNone/>
            </a:pPr>
            <a:r>
              <a:rPr lang="en-US" sz="2000"/>
              <a:t>Existence of odd length cycles creates further complications:</a:t>
            </a:r>
          </a:p>
        </p:txBody>
      </p:sp>
      <p:sp>
        <p:nvSpPr>
          <p:cNvPr id="278642" name="Text Box 114"/>
          <p:cNvSpPr txBox="1">
            <a:spLocks noChangeArrowheads="1"/>
          </p:cNvSpPr>
          <p:nvPr/>
        </p:nvSpPr>
        <p:spPr bwMode="auto">
          <a:xfrm>
            <a:off x="457200" y="3200400"/>
            <a:ext cx="6705600"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80000"/>
              </a:lnSpc>
              <a:spcBef>
                <a:spcPct val="50000"/>
              </a:spcBef>
              <a:buFont typeface="Wingdings" pitchFamily="2" charset="2"/>
              <a:buNone/>
            </a:pPr>
            <a:r>
              <a:rPr lang="en-US" sz="2400"/>
              <a:t>         </a:t>
            </a:r>
            <a:r>
              <a:rPr lang="en-US" sz="2400" u="sng"/>
              <a:t>augmenting path</a:t>
            </a:r>
            <a:r>
              <a:rPr lang="en-US" sz="2400"/>
              <a:t>         </a:t>
            </a:r>
            <a:r>
              <a:rPr lang="en-US" sz="2400">
                <a:sym typeface="Symbol" pitchFamily="18" charset="2"/>
              </a:rPr>
              <a:t>      </a:t>
            </a:r>
            <a:r>
              <a:rPr lang="en-US" sz="2400" u="sng">
                <a:sym typeface="Symbol" pitchFamily="18" charset="2"/>
              </a:rPr>
              <a:t>directed path</a:t>
            </a:r>
            <a:endParaRPr lang="en-US" sz="2400" u="sng"/>
          </a:p>
          <a:p>
            <a:pPr algn="ctr" eaLnBrk="1" hangingPunct="1">
              <a:lnSpc>
                <a:spcPct val="80000"/>
              </a:lnSpc>
              <a:spcBef>
                <a:spcPct val="50000"/>
              </a:spcBef>
              <a:buFont typeface="Wingdings" pitchFamily="2" charset="2"/>
              <a:buNone/>
            </a:pPr>
            <a:r>
              <a:rPr lang="en-US" sz="2400"/>
              <a:t> (a, b, c, d, g, h, j, i, f, e)      </a:t>
            </a:r>
            <a:r>
              <a:rPr lang="en-US" sz="2400">
                <a:sym typeface="Symbol" pitchFamily="18" charset="2"/>
              </a:rPr>
              <a:t>        (a, c, g, j, f) </a:t>
            </a:r>
          </a:p>
          <a:p>
            <a:pPr algn="ctr" eaLnBrk="1" hangingPunct="1">
              <a:lnSpc>
                <a:spcPct val="80000"/>
              </a:lnSpc>
              <a:spcBef>
                <a:spcPct val="50000"/>
              </a:spcBef>
              <a:buFont typeface="Wingdings" pitchFamily="2" charset="2"/>
              <a:buNone/>
            </a:pPr>
            <a:r>
              <a:rPr lang="en-US" sz="2400">
                <a:sym typeface="Symbol" pitchFamily="18" charset="2"/>
              </a:rPr>
              <a:t>                     ?                               (a, c, g, h, d, b)</a:t>
            </a:r>
          </a:p>
        </p:txBody>
      </p:sp>
      <p:grpSp>
        <p:nvGrpSpPr>
          <p:cNvPr id="278650" name="Group 122"/>
          <p:cNvGrpSpPr>
            <a:grpSpLocks/>
          </p:cNvGrpSpPr>
          <p:nvPr/>
        </p:nvGrpSpPr>
        <p:grpSpPr bwMode="auto">
          <a:xfrm>
            <a:off x="1143000" y="4797425"/>
            <a:ext cx="5311775" cy="1065213"/>
            <a:chOff x="720" y="3022"/>
            <a:chExt cx="3346" cy="671"/>
          </a:xfrm>
        </p:grpSpPr>
        <p:sp>
          <p:nvSpPr>
            <p:cNvPr id="170061" name="Freeform 112"/>
            <p:cNvSpPr>
              <a:spLocks/>
            </p:cNvSpPr>
            <p:nvPr/>
          </p:nvSpPr>
          <p:spPr bwMode="auto">
            <a:xfrm>
              <a:off x="786" y="3330"/>
              <a:ext cx="894" cy="90"/>
            </a:xfrm>
            <a:custGeom>
              <a:avLst/>
              <a:gdLst>
                <a:gd name="T0" fmla="*/ 894 w 894"/>
                <a:gd name="T1" fmla="*/ 30 h 90"/>
                <a:gd name="T2" fmla="*/ 528 w 894"/>
                <a:gd name="T3" fmla="*/ 28 h 90"/>
                <a:gd name="T4" fmla="*/ 420 w 894"/>
                <a:gd name="T5" fmla="*/ 82 h 90"/>
                <a:gd name="T6" fmla="*/ 332 w 894"/>
                <a:gd name="T7" fmla="*/ 1 h 90"/>
                <a:gd name="T8" fmla="*/ 250 w 894"/>
                <a:gd name="T9" fmla="*/ 89 h 90"/>
                <a:gd name="T10" fmla="*/ 176 w 894"/>
                <a:gd name="T11" fmla="*/ 7 h 90"/>
                <a:gd name="T12" fmla="*/ 88 w 894"/>
                <a:gd name="T13" fmla="*/ 82 h 90"/>
                <a:gd name="T14" fmla="*/ 0 w 894"/>
                <a:gd name="T15" fmla="*/ 28 h 9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4" h="90">
                  <a:moveTo>
                    <a:pt x="894" y="30"/>
                  </a:moveTo>
                  <a:lnTo>
                    <a:pt x="528" y="28"/>
                  </a:lnTo>
                  <a:cubicBezTo>
                    <a:pt x="449" y="37"/>
                    <a:pt x="453" y="87"/>
                    <a:pt x="420" y="82"/>
                  </a:cubicBezTo>
                  <a:cubicBezTo>
                    <a:pt x="387" y="77"/>
                    <a:pt x="360" y="0"/>
                    <a:pt x="332" y="1"/>
                  </a:cubicBezTo>
                  <a:cubicBezTo>
                    <a:pt x="304" y="2"/>
                    <a:pt x="276" y="88"/>
                    <a:pt x="250" y="89"/>
                  </a:cubicBezTo>
                  <a:cubicBezTo>
                    <a:pt x="224" y="90"/>
                    <a:pt x="203" y="8"/>
                    <a:pt x="176" y="7"/>
                  </a:cubicBezTo>
                  <a:cubicBezTo>
                    <a:pt x="149" y="6"/>
                    <a:pt x="117" y="79"/>
                    <a:pt x="88" y="82"/>
                  </a:cubicBezTo>
                  <a:cubicBezTo>
                    <a:pt x="59" y="85"/>
                    <a:pt x="18" y="39"/>
                    <a:pt x="0" y="28"/>
                  </a:cubicBez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0062" name="Line 7"/>
            <p:cNvSpPr>
              <a:spLocks noChangeShapeType="1"/>
            </p:cNvSpPr>
            <p:nvPr/>
          </p:nvSpPr>
          <p:spPr bwMode="auto">
            <a:xfrm flipV="1">
              <a:off x="2016" y="3134"/>
              <a:ext cx="336"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63" name="Line 8"/>
            <p:cNvSpPr>
              <a:spLocks noChangeShapeType="1"/>
            </p:cNvSpPr>
            <p:nvPr/>
          </p:nvSpPr>
          <p:spPr bwMode="auto">
            <a:xfrm>
              <a:off x="2016" y="3374"/>
              <a:ext cx="336"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64" name="Line 9"/>
            <p:cNvSpPr>
              <a:spLocks noChangeShapeType="1"/>
            </p:cNvSpPr>
            <p:nvPr/>
          </p:nvSpPr>
          <p:spPr bwMode="auto">
            <a:xfrm>
              <a:off x="3888" y="3134"/>
              <a:ext cx="0" cy="43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65" name="Line 10"/>
            <p:cNvSpPr>
              <a:spLocks noChangeShapeType="1"/>
            </p:cNvSpPr>
            <p:nvPr/>
          </p:nvSpPr>
          <p:spPr bwMode="auto">
            <a:xfrm>
              <a:off x="3120" y="3134"/>
              <a:ext cx="384"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66" name="Line 11"/>
            <p:cNvSpPr>
              <a:spLocks noChangeShapeType="1"/>
            </p:cNvSpPr>
            <p:nvPr/>
          </p:nvSpPr>
          <p:spPr bwMode="auto">
            <a:xfrm>
              <a:off x="2736" y="3134"/>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67" name="Line 12"/>
            <p:cNvSpPr>
              <a:spLocks noChangeShapeType="1"/>
            </p:cNvSpPr>
            <p:nvPr/>
          </p:nvSpPr>
          <p:spPr bwMode="auto">
            <a:xfrm>
              <a:off x="2352" y="3134"/>
              <a:ext cx="384"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68" name="Oval 13"/>
            <p:cNvSpPr>
              <a:spLocks noChangeArrowheads="1"/>
            </p:cNvSpPr>
            <p:nvPr/>
          </p:nvSpPr>
          <p:spPr bwMode="auto">
            <a:xfrm>
              <a:off x="2304" y="3086"/>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69" name="Oval 14"/>
            <p:cNvSpPr>
              <a:spLocks noChangeArrowheads="1"/>
            </p:cNvSpPr>
            <p:nvPr/>
          </p:nvSpPr>
          <p:spPr bwMode="auto">
            <a:xfrm>
              <a:off x="3072" y="3086"/>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70" name="Oval 15"/>
            <p:cNvSpPr>
              <a:spLocks noChangeArrowheads="1"/>
            </p:cNvSpPr>
            <p:nvPr/>
          </p:nvSpPr>
          <p:spPr bwMode="auto">
            <a:xfrm>
              <a:off x="2688" y="3086"/>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71" name="Line 16"/>
            <p:cNvSpPr>
              <a:spLocks noChangeShapeType="1"/>
            </p:cNvSpPr>
            <p:nvPr/>
          </p:nvSpPr>
          <p:spPr bwMode="auto">
            <a:xfrm>
              <a:off x="3504" y="3134"/>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72" name="Oval 17"/>
            <p:cNvSpPr>
              <a:spLocks noChangeArrowheads="1"/>
            </p:cNvSpPr>
            <p:nvPr/>
          </p:nvSpPr>
          <p:spPr bwMode="auto">
            <a:xfrm>
              <a:off x="3840" y="3086"/>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73" name="Oval 18"/>
            <p:cNvSpPr>
              <a:spLocks noChangeArrowheads="1"/>
            </p:cNvSpPr>
            <p:nvPr/>
          </p:nvSpPr>
          <p:spPr bwMode="auto">
            <a:xfrm>
              <a:off x="3456" y="3086"/>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74" name="Line 19"/>
            <p:cNvSpPr>
              <a:spLocks noChangeShapeType="1"/>
            </p:cNvSpPr>
            <p:nvPr/>
          </p:nvSpPr>
          <p:spPr bwMode="auto">
            <a:xfrm>
              <a:off x="3120" y="3566"/>
              <a:ext cx="384"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75" name="Line 20"/>
            <p:cNvSpPr>
              <a:spLocks noChangeShapeType="1"/>
            </p:cNvSpPr>
            <p:nvPr/>
          </p:nvSpPr>
          <p:spPr bwMode="auto">
            <a:xfrm>
              <a:off x="2736" y="3566"/>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76" name="Line 21"/>
            <p:cNvSpPr>
              <a:spLocks noChangeShapeType="1"/>
            </p:cNvSpPr>
            <p:nvPr/>
          </p:nvSpPr>
          <p:spPr bwMode="auto">
            <a:xfrm>
              <a:off x="2352" y="3566"/>
              <a:ext cx="384"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77" name="Oval 22"/>
            <p:cNvSpPr>
              <a:spLocks noChangeArrowheads="1"/>
            </p:cNvSpPr>
            <p:nvPr/>
          </p:nvSpPr>
          <p:spPr bwMode="auto">
            <a:xfrm>
              <a:off x="2304" y="3518"/>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78" name="Oval 23"/>
            <p:cNvSpPr>
              <a:spLocks noChangeArrowheads="1"/>
            </p:cNvSpPr>
            <p:nvPr/>
          </p:nvSpPr>
          <p:spPr bwMode="auto">
            <a:xfrm>
              <a:off x="3072" y="3518"/>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79" name="Oval 24"/>
            <p:cNvSpPr>
              <a:spLocks noChangeArrowheads="1"/>
            </p:cNvSpPr>
            <p:nvPr/>
          </p:nvSpPr>
          <p:spPr bwMode="auto">
            <a:xfrm>
              <a:off x="2688" y="3518"/>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80" name="Line 25"/>
            <p:cNvSpPr>
              <a:spLocks noChangeShapeType="1"/>
            </p:cNvSpPr>
            <p:nvPr/>
          </p:nvSpPr>
          <p:spPr bwMode="auto">
            <a:xfrm>
              <a:off x="3504" y="3566"/>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81" name="Oval 26"/>
            <p:cNvSpPr>
              <a:spLocks noChangeArrowheads="1"/>
            </p:cNvSpPr>
            <p:nvPr/>
          </p:nvSpPr>
          <p:spPr bwMode="auto">
            <a:xfrm>
              <a:off x="3840" y="3518"/>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82" name="Oval 27"/>
            <p:cNvSpPr>
              <a:spLocks noChangeArrowheads="1"/>
            </p:cNvSpPr>
            <p:nvPr/>
          </p:nvSpPr>
          <p:spPr bwMode="auto">
            <a:xfrm>
              <a:off x="3456" y="3518"/>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83" name="Line 28"/>
            <p:cNvSpPr>
              <a:spLocks noChangeShapeType="1"/>
            </p:cNvSpPr>
            <p:nvPr/>
          </p:nvSpPr>
          <p:spPr bwMode="auto">
            <a:xfrm>
              <a:off x="1680" y="3374"/>
              <a:ext cx="336"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84" name="Oval 30"/>
            <p:cNvSpPr>
              <a:spLocks noChangeArrowheads="1"/>
            </p:cNvSpPr>
            <p:nvPr/>
          </p:nvSpPr>
          <p:spPr bwMode="auto">
            <a:xfrm>
              <a:off x="1632" y="3326"/>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70085" name="Oval 31"/>
            <p:cNvSpPr>
              <a:spLocks noChangeArrowheads="1"/>
            </p:cNvSpPr>
            <p:nvPr/>
          </p:nvSpPr>
          <p:spPr bwMode="auto">
            <a:xfrm>
              <a:off x="720" y="3312"/>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70086" name="Oval 32"/>
            <p:cNvSpPr>
              <a:spLocks noChangeArrowheads="1"/>
            </p:cNvSpPr>
            <p:nvPr/>
          </p:nvSpPr>
          <p:spPr bwMode="auto">
            <a:xfrm>
              <a:off x="1968" y="3326"/>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87" name="Freeform 39"/>
            <p:cNvSpPr>
              <a:spLocks/>
            </p:cNvSpPr>
            <p:nvPr/>
          </p:nvSpPr>
          <p:spPr bwMode="auto">
            <a:xfrm>
              <a:off x="799" y="3022"/>
              <a:ext cx="3267" cy="671"/>
            </a:xfrm>
            <a:custGeom>
              <a:avLst/>
              <a:gdLst>
                <a:gd name="T0" fmla="*/ 0 w 3267"/>
                <a:gd name="T1" fmla="*/ 254 h 671"/>
                <a:gd name="T2" fmla="*/ 1132 w 3267"/>
                <a:gd name="T3" fmla="*/ 251 h 671"/>
                <a:gd name="T4" fmla="*/ 1620 w 3267"/>
                <a:gd name="T5" fmla="*/ 2 h 671"/>
                <a:gd name="T6" fmla="*/ 3003 w 3267"/>
                <a:gd name="T7" fmla="*/ 0 h 671"/>
                <a:gd name="T8" fmla="*/ 3205 w 3267"/>
                <a:gd name="T9" fmla="*/ 173 h 671"/>
                <a:gd name="T10" fmla="*/ 3205 w 3267"/>
                <a:gd name="T11" fmla="*/ 498 h 671"/>
                <a:gd name="T12" fmla="*/ 2961 w 3267"/>
                <a:gd name="T13" fmla="*/ 668 h 671"/>
                <a:gd name="T14" fmla="*/ 1607 w 3267"/>
                <a:gd name="T15" fmla="*/ 671 h 671"/>
                <a:gd name="T16" fmla="*/ 1193 w 3267"/>
                <a:gd name="T17" fmla="*/ 454 h 671"/>
                <a:gd name="T18" fmla="*/ 888 w 3267"/>
                <a:gd name="T19" fmla="*/ 451 h 6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267" h="671">
                  <a:moveTo>
                    <a:pt x="0" y="254"/>
                  </a:moveTo>
                  <a:lnTo>
                    <a:pt x="1132" y="251"/>
                  </a:lnTo>
                  <a:cubicBezTo>
                    <a:pt x="1402" y="209"/>
                    <a:pt x="1308" y="44"/>
                    <a:pt x="1620" y="2"/>
                  </a:cubicBezTo>
                  <a:lnTo>
                    <a:pt x="3003" y="0"/>
                  </a:lnTo>
                  <a:cubicBezTo>
                    <a:pt x="3267" y="28"/>
                    <a:pt x="3171" y="90"/>
                    <a:pt x="3205" y="173"/>
                  </a:cubicBezTo>
                  <a:lnTo>
                    <a:pt x="3205" y="498"/>
                  </a:lnTo>
                  <a:cubicBezTo>
                    <a:pt x="3164" y="580"/>
                    <a:pt x="3227" y="639"/>
                    <a:pt x="2961" y="668"/>
                  </a:cubicBezTo>
                  <a:lnTo>
                    <a:pt x="1607" y="671"/>
                  </a:lnTo>
                  <a:cubicBezTo>
                    <a:pt x="1312" y="635"/>
                    <a:pt x="1313" y="491"/>
                    <a:pt x="1193" y="454"/>
                  </a:cubicBezTo>
                  <a:lnTo>
                    <a:pt x="888" y="45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grpSp>
      <p:sp>
        <p:nvSpPr>
          <p:cNvPr id="278649" name="Text Box 121" descr="Stationery"/>
          <p:cNvSpPr txBox="1">
            <a:spLocks noChangeArrowheads="1"/>
          </p:cNvSpPr>
          <p:nvPr/>
        </p:nvSpPr>
        <p:spPr bwMode="auto">
          <a:xfrm>
            <a:off x="152400" y="6019800"/>
            <a:ext cx="8763000" cy="60642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marL="1049338" indent="-1049338">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90000"/>
              </a:lnSpc>
              <a:spcBef>
                <a:spcPct val="50000"/>
              </a:spcBef>
              <a:buFont typeface="Wingdings" pitchFamily="2" charset="2"/>
              <a:buNone/>
            </a:pPr>
            <a:r>
              <a:rPr lang="en-US" sz="2000" b="1">
                <a:solidFill>
                  <a:srgbClr val="CC0000"/>
                </a:solidFill>
              </a:rPr>
              <a:t>Blossom:</a:t>
            </a:r>
            <a:r>
              <a:rPr lang="en-US" sz="2000"/>
              <a:t> An odd length cycle B with each of its nodes incident to an edge in M</a:t>
            </a:r>
            <a:r>
              <a:rPr lang="en-US" sz="2000">
                <a:sym typeface="Symbol" pitchFamily="18" charset="2"/>
              </a:rPr>
              <a:t></a:t>
            </a:r>
            <a:r>
              <a:rPr lang="en-US" sz="2000"/>
              <a:t>B, except for one node (base of the blossom) that has a mate outside B.</a:t>
            </a:r>
          </a:p>
        </p:txBody>
      </p:sp>
      <p:grpSp>
        <p:nvGrpSpPr>
          <p:cNvPr id="278653" name="Group 125"/>
          <p:cNvGrpSpPr>
            <a:grpSpLocks/>
          </p:cNvGrpSpPr>
          <p:nvPr/>
        </p:nvGrpSpPr>
        <p:grpSpPr bwMode="auto">
          <a:xfrm>
            <a:off x="152400" y="1219200"/>
            <a:ext cx="8616950" cy="2351088"/>
            <a:chOff x="96" y="768"/>
            <a:chExt cx="5428" cy="1481"/>
          </a:xfrm>
        </p:grpSpPr>
        <p:sp>
          <p:nvSpPr>
            <p:cNvPr id="169993" name="Freeform 42"/>
            <p:cNvSpPr>
              <a:spLocks/>
            </p:cNvSpPr>
            <p:nvPr/>
          </p:nvSpPr>
          <p:spPr bwMode="auto">
            <a:xfrm>
              <a:off x="4464" y="1104"/>
              <a:ext cx="449" cy="396"/>
            </a:xfrm>
            <a:custGeom>
              <a:avLst/>
              <a:gdLst>
                <a:gd name="T0" fmla="*/ 0 w 449"/>
                <a:gd name="T1" fmla="*/ 0 h 396"/>
                <a:gd name="T2" fmla="*/ 449 w 449"/>
                <a:gd name="T3" fmla="*/ 396 h 396"/>
                <a:gd name="T4" fmla="*/ 0 60000 65536"/>
                <a:gd name="T5" fmla="*/ 0 60000 65536"/>
              </a:gdLst>
              <a:ahLst/>
              <a:cxnLst>
                <a:cxn ang="T4">
                  <a:pos x="T0" y="T1"/>
                </a:cxn>
                <a:cxn ang="T5">
                  <a:pos x="T2" y="T3"/>
                </a:cxn>
              </a:cxnLst>
              <a:rect l="0" t="0" r="r" b="b"/>
              <a:pathLst>
                <a:path w="449" h="396">
                  <a:moveTo>
                    <a:pt x="0" y="0"/>
                  </a:moveTo>
                  <a:lnTo>
                    <a:pt x="449" y="396"/>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69994" name="Line 43"/>
            <p:cNvSpPr>
              <a:spLocks noChangeShapeType="1"/>
            </p:cNvSpPr>
            <p:nvPr/>
          </p:nvSpPr>
          <p:spPr bwMode="auto">
            <a:xfrm>
              <a:off x="1388" y="1440"/>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9995" name="Line 44"/>
            <p:cNvSpPr>
              <a:spLocks noChangeShapeType="1"/>
            </p:cNvSpPr>
            <p:nvPr/>
          </p:nvSpPr>
          <p:spPr bwMode="auto">
            <a:xfrm>
              <a:off x="1388" y="1872"/>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9996" name="Line 45"/>
            <p:cNvSpPr>
              <a:spLocks noChangeShapeType="1"/>
            </p:cNvSpPr>
            <p:nvPr/>
          </p:nvSpPr>
          <p:spPr bwMode="auto">
            <a:xfrm>
              <a:off x="1868" y="1440"/>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9997" name="Line 46"/>
            <p:cNvSpPr>
              <a:spLocks noChangeShapeType="1"/>
            </p:cNvSpPr>
            <p:nvPr/>
          </p:nvSpPr>
          <p:spPr bwMode="auto">
            <a:xfrm>
              <a:off x="1868" y="1488"/>
              <a:ext cx="0" cy="3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9998" name="Line 47"/>
            <p:cNvSpPr>
              <a:spLocks noChangeShapeType="1"/>
            </p:cNvSpPr>
            <p:nvPr/>
          </p:nvSpPr>
          <p:spPr bwMode="auto">
            <a:xfrm>
              <a:off x="428" y="1008"/>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69999" name="Line 48"/>
            <p:cNvSpPr>
              <a:spLocks noChangeShapeType="1"/>
            </p:cNvSpPr>
            <p:nvPr/>
          </p:nvSpPr>
          <p:spPr bwMode="auto">
            <a:xfrm flipH="1" flipV="1">
              <a:off x="908" y="1440"/>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00" name="Line 49"/>
            <p:cNvSpPr>
              <a:spLocks noChangeShapeType="1"/>
            </p:cNvSpPr>
            <p:nvPr/>
          </p:nvSpPr>
          <p:spPr bwMode="auto">
            <a:xfrm>
              <a:off x="908" y="1008"/>
              <a:ext cx="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01" name="Line 50"/>
            <p:cNvSpPr>
              <a:spLocks noChangeShapeType="1"/>
            </p:cNvSpPr>
            <p:nvPr/>
          </p:nvSpPr>
          <p:spPr bwMode="auto">
            <a:xfrm>
              <a:off x="1388" y="1008"/>
              <a:ext cx="4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02" name="Line 51"/>
            <p:cNvSpPr>
              <a:spLocks noChangeShapeType="1"/>
            </p:cNvSpPr>
            <p:nvPr/>
          </p:nvSpPr>
          <p:spPr bwMode="auto">
            <a:xfrm>
              <a:off x="908" y="1008"/>
              <a:ext cx="480"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03" name="Line 52"/>
            <p:cNvSpPr>
              <a:spLocks noChangeShapeType="1"/>
            </p:cNvSpPr>
            <p:nvPr/>
          </p:nvSpPr>
          <p:spPr bwMode="auto">
            <a:xfrm flipH="1">
              <a:off x="1868" y="1440"/>
              <a:ext cx="480" cy="43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04" name="Line 53"/>
            <p:cNvSpPr>
              <a:spLocks noChangeShapeType="1"/>
            </p:cNvSpPr>
            <p:nvPr/>
          </p:nvSpPr>
          <p:spPr bwMode="auto">
            <a:xfrm>
              <a:off x="1388" y="1440"/>
              <a:ext cx="0" cy="48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0005" name="Line 54"/>
            <p:cNvSpPr>
              <a:spLocks noChangeShapeType="1"/>
            </p:cNvSpPr>
            <p:nvPr/>
          </p:nvSpPr>
          <p:spPr bwMode="auto">
            <a:xfrm>
              <a:off x="1868" y="1008"/>
              <a:ext cx="0" cy="43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0006" name="Oval 55"/>
            <p:cNvSpPr>
              <a:spLocks noChangeArrowheads="1"/>
            </p:cNvSpPr>
            <p:nvPr/>
          </p:nvSpPr>
          <p:spPr bwMode="auto">
            <a:xfrm>
              <a:off x="380" y="960"/>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07" name="Oval 56"/>
            <p:cNvSpPr>
              <a:spLocks noChangeArrowheads="1"/>
            </p:cNvSpPr>
            <p:nvPr/>
          </p:nvSpPr>
          <p:spPr bwMode="auto">
            <a:xfrm>
              <a:off x="860" y="960"/>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08" name="Oval 57"/>
            <p:cNvSpPr>
              <a:spLocks noChangeArrowheads="1"/>
            </p:cNvSpPr>
            <p:nvPr/>
          </p:nvSpPr>
          <p:spPr bwMode="auto">
            <a:xfrm>
              <a:off x="1820" y="960"/>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09" name="Oval 58"/>
            <p:cNvSpPr>
              <a:spLocks noChangeArrowheads="1"/>
            </p:cNvSpPr>
            <p:nvPr/>
          </p:nvSpPr>
          <p:spPr bwMode="auto">
            <a:xfrm>
              <a:off x="1340" y="1392"/>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10" name="Oval 59"/>
            <p:cNvSpPr>
              <a:spLocks noChangeArrowheads="1"/>
            </p:cNvSpPr>
            <p:nvPr/>
          </p:nvSpPr>
          <p:spPr bwMode="auto">
            <a:xfrm>
              <a:off x="1820" y="1392"/>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11" name="Oval 60"/>
            <p:cNvSpPr>
              <a:spLocks noChangeArrowheads="1"/>
            </p:cNvSpPr>
            <p:nvPr/>
          </p:nvSpPr>
          <p:spPr bwMode="auto">
            <a:xfrm>
              <a:off x="1340" y="960"/>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12" name="Oval 61"/>
            <p:cNvSpPr>
              <a:spLocks noChangeArrowheads="1"/>
            </p:cNvSpPr>
            <p:nvPr/>
          </p:nvSpPr>
          <p:spPr bwMode="auto">
            <a:xfrm>
              <a:off x="860" y="1392"/>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13" name="Oval 62"/>
            <p:cNvSpPr>
              <a:spLocks noChangeArrowheads="1"/>
            </p:cNvSpPr>
            <p:nvPr/>
          </p:nvSpPr>
          <p:spPr bwMode="auto">
            <a:xfrm>
              <a:off x="1340" y="1824"/>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14" name="Oval 63"/>
            <p:cNvSpPr>
              <a:spLocks noChangeArrowheads="1"/>
            </p:cNvSpPr>
            <p:nvPr/>
          </p:nvSpPr>
          <p:spPr bwMode="auto">
            <a:xfrm>
              <a:off x="2300" y="1392"/>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15" name="Oval 64"/>
            <p:cNvSpPr>
              <a:spLocks noChangeArrowheads="1"/>
            </p:cNvSpPr>
            <p:nvPr/>
          </p:nvSpPr>
          <p:spPr bwMode="auto">
            <a:xfrm>
              <a:off x="1820" y="1824"/>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16" name="Text Box 65"/>
            <p:cNvSpPr txBox="1">
              <a:spLocks noChangeArrowheads="1"/>
            </p:cNvSpPr>
            <p:nvPr/>
          </p:nvSpPr>
          <p:spPr bwMode="auto">
            <a:xfrm>
              <a:off x="192" y="912"/>
              <a:ext cx="187"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a</a:t>
              </a:r>
            </a:p>
          </p:txBody>
        </p:sp>
        <p:sp>
          <p:nvSpPr>
            <p:cNvPr id="170017" name="Text Box 66"/>
            <p:cNvSpPr txBox="1">
              <a:spLocks noChangeArrowheads="1"/>
            </p:cNvSpPr>
            <p:nvPr/>
          </p:nvSpPr>
          <p:spPr bwMode="auto">
            <a:xfrm>
              <a:off x="672" y="1344"/>
              <a:ext cx="187"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e</a:t>
              </a:r>
            </a:p>
          </p:txBody>
        </p:sp>
        <p:sp>
          <p:nvSpPr>
            <p:cNvPr id="170018" name="Text Box 67"/>
            <p:cNvSpPr txBox="1">
              <a:spLocks noChangeArrowheads="1"/>
            </p:cNvSpPr>
            <p:nvPr/>
          </p:nvSpPr>
          <p:spPr bwMode="auto">
            <a:xfrm>
              <a:off x="812" y="768"/>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b</a:t>
              </a:r>
            </a:p>
          </p:txBody>
        </p:sp>
        <p:sp>
          <p:nvSpPr>
            <p:cNvPr id="170019" name="Text Box 68"/>
            <p:cNvSpPr txBox="1">
              <a:spLocks noChangeArrowheads="1"/>
            </p:cNvSpPr>
            <p:nvPr/>
          </p:nvSpPr>
          <p:spPr bwMode="auto">
            <a:xfrm>
              <a:off x="1296" y="768"/>
              <a:ext cx="187"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c</a:t>
              </a:r>
            </a:p>
          </p:txBody>
        </p:sp>
        <p:sp>
          <p:nvSpPr>
            <p:cNvPr id="170020" name="Text Box 69"/>
            <p:cNvSpPr txBox="1">
              <a:spLocks noChangeArrowheads="1"/>
            </p:cNvSpPr>
            <p:nvPr/>
          </p:nvSpPr>
          <p:spPr bwMode="auto">
            <a:xfrm>
              <a:off x="1772" y="768"/>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d</a:t>
              </a:r>
            </a:p>
          </p:txBody>
        </p:sp>
        <p:sp>
          <p:nvSpPr>
            <p:cNvPr id="170021" name="Text Box 70"/>
            <p:cNvSpPr txBox="1">
              <a:spLocks noChangeArrowheads="1"/>
            </p:cNvSpPr>
            <p:nvPr/>
          </p:nvSpPr>
          <p:spPr bwMode="auto">
            <a:xfrm>
              <a:off x="1305" y="1200"/>
              <a:ext cx="169"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f</a:t>
              </a:r>
            </a:p>
          </p:txBody>
        </p:sp>
        <p:sp>
          <p:nvSpPr>
            <p:cNvPr id="170022" name="Text Box 71"/>
            <p:cNvSpPr txBox="1">
              <a:spLocks noChangeArrowheads="1"/>
            </p:cNvSpPr>
            <p:nvPr/>
          </p:nvSpPr>
          <p:spPr bwMode="auto">
            <a:xfrm>
              <a:off x="1868" y="1200"/>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g</a:t>
              </a:r>
            </a:p>
          </p:txBody>
        </p:sp>
        <p:sp>
          <p:nvSpPr>
            <p:cNvPr id="170023" name="Text Box 72"/>
            <p:cNvSpPr txBox="1">
              <a:spLocks noChangeArrowheads="1"/>
            </p:cNvSpPr>
            <p:nvPr/>
          </p:nvSpPr>
          <p:spPr bwMode="auto">
            <a:xfrm>
              <a:off x="2252" y="1200"/>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h</a:t>
              </a:r>
            </a:p>
          </p:txBody>
        </p:sp>
        <p:sp>
          <p:nvSpPr>
            <p:cNvPr id="170024" name="Text Box 73"/>
            <p:cNvSpPr txBox="1">
              <a:spLocks noChangeArrowheads="1"/>
            </p:cNvSpPr>
            <p:nvPr/>
          </p:nvSpPr>
          <p:spPr bwMode="auto">
            <a:xfrm>
              <a:off x="1166" y="1728"/>
              <a:ext cx="160"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i</a:t>
              </a:r>
            </a:p>
          </p:txBody>
        </p:sp>
        <p:sp>
          <p:nvSpPr>
            <p:cNvPr id="170025" name="Text Box 74"/>
            <p:cNvSpPr txBox="1">
              <a:spLocks noChangeArrowheads="1"/>
            </p:cNvSpPr>
            <p:nvPr/>
          </p:nvSpPr>
          <p:spPr bwMode="auto">
            <a:xfrm>
              <a:off x="1934" y="1776"/>
              <a:ext cx="160"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j</a:t>
              </a:r>
            </a:p>
          </p:txBody>
        </p:sp>
        <p:sp>
          <p:nvSpPr>
            <p:cNvPr id="170026" name="Freeform 75"/>
            <p:cNvSpPr>
              <a:spLocks/>
            </p:cNvSpPr>
            <p:nvPr/>
          </p:nvSpPr>
          <p:spPr bwMode="auto">
            <a:xfrm>
              <a:off x="3504" y="1104"/>
              <a:ext cx="914" cy="152"/>
            </a:xfrm>
            <a:custGeom>
              <a:avLst/>
              <a:gdLst>
                <a:gd name="T0" fmla="*/ 0 w 914"/>
                <a:gd name="T1" fmla="*/ 0 h 152"/>
                <a:gd name="T2" fmla="*/ 359 w 914"/>
                <a:gd name="T3" fmla="*/ 152 h 152"/>
                <a:gd name="T4" fmla="*/ 914 w 914"/>
                <a:gd name="T5" fmla="*/ 3 h 152"/>
                <a:gd name="T6" fmla="*/ 0 60000 65536"/>
                <a:gd name="T7" fmla="*/ 0 60000 65536"/>
                <a:gd name="T8" fmla="*/ 0 60000 65536"/>
              </a:gdLst>
              <a:ahLst/>
              <a:cxnLst>
                <a:cxn ang="T6">
                  <a:pos x="T0" y="T1"/>
                </a:cxn>
                <a:cxn ang="T7">
                  <a:pos x="T2" y="T3"/>
                </a:cxn>
                <a:cxn ang="T8">
                  <a:pos x="T4" y="T5"/>
                </a:cxn>
              </a:cxnLst>
              <a:rect l="0" t="0" r="r" b="b"/>
              <a:pathLst>
                <a:path w="914" h="152">
                  <a:moveTo>
                    <a:pt x="0" y="0"/>
                  </a:moveTo>
                  <a:cubicBezTo>
                    <a:pt x="60" y="25"/>
                    <a:pt x="207" y="152"/>
                    <a:pt x="359" y="152"/>
                  </a:cubicBezTo>
                  <a:cubicBezTo>
                    <a:pt x="511" y="152"/>
                    <a:pt x="799" y="34"/>
                    <a:pt x="914" y="3"/>
                  </a:cubicBez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0027" name="Freeform 76"/>
            <p:cNvSpPr>
              <a:spLocks/>
            </p:cNvSpPr>
            <p:nvPr/>
          </p:nvSpPr>
          <p:spPr bwMode="auto">
            <a:xfrm>
              <a:off x="3984" y="1141"/>
              <a:ext cx="441" cy="395"/>
            </a:xfrm>
            <a:custGeom>
              <a:avLst/>
              <a:gdLst>
                <a:gd name="T0" fmla="*/ 0 w 441"/>
                <a:gd name="T1" fmla="*/ 395 h 395"/>
                <a:gd name="T2" fmla="*/ 441 w 441"/>
                <a:gd name="T3" fmla="*/ 0 h 395"/>
                <a:gd name="T4" fmla="*/ 0 60000 65536"/>
                <a:gd name="T5" fmla="*/ 0 60000 65536"/>
              </a:gdLst>
              <a:ahLst/>
              <a:cxnLst>
                <a:cxn ang="T4">
                  <a:pos x="T0" y="T1"/>
                </a:cxn>
                <a:cxn ang="T5">
                  <a:pos x="T2" y="T3"/>
                </a:cxn>
              </a:cxnLst>
              <a:rect l="0" t="0" r="r" b="b"/>
              <a:pathLst>
                <a:path w="441" h="395">
                  <a:moveTo>
                    <a:pt x="0" y="395"/>
                  </a:moveTo>
                  <a:lnTo>
                    <a:pt x="441"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0028" name="Freeform 77"/>
            <p:cNvSpPr>
              <a:spLocks/>
            </p:cNvSpPr>
            <p:nvPr/>
          </p:nvSpPr>
          <p:spPr bwMode="auto">
            <a:xfrm>
              <a:off x="3984" y="1536"/>
              <a:ext cx="448" cy="412"/>
            </a:xfrm>
            <a:custGeom>
              <a:avLst/>
              <a:gdLst>
                <a:gd name="T0" fmla="*/ 0 w 448"/>
                <a:gd name="T1" fmla="*/ 0 h 412"/>
                <a:gd name="T2" fmla="*/ 448 w 448"/>
                <a:gd name="T3" fmla="*/ 412 h 412"/>
                <a:gd name="T4" fmla="*/ 0 60000 65536"/>
                <a:gd name="T5" fmla="*/ 0 60000 65536"/>
              </a:gdLst>
              <a:ahLst/>
              <a:cxnLst>
                <a:cxn ang="T4">
                  <a:pos x="T0" y="T1"/>
                </a:cxn>
                <a:cxn ang="T5">
                  <a:pos x="T2" y="T3"/>
                </a:cxn>
              </a:cxnLst>
              <a:rect l="0" t="0" r="r" b="b"/>
              <a:pathLst>
                <a:path w="448" h="412">
                  <a:moveTo>
                    <a:pt x="0" y="0"/>
                  </a:moveTo>
                  <a:lnTo>
                    <a:pt x="448" y="412"/>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0029" name="Freeform 78"/>
            <p:cNvSpPr>
              <a:spLocks/>
            </p:cNvSpPr>
            <p:nvPr/>
          </p:nvSpPr>
          <p:spPr bwMode="auto">
            <a:xfrm>
              <a:off x="4464" y="1134"/>
              <a:ext cx="442" cy="402"/>
            </a:xfrm>
            <a:custGeom>
              <a:avLst/>
              <a:gdLst>
                <a:gd name="T0" fmla="*/ 0 w 442"/>
                <a:gd name="T1" fmla="*/ 402 h 402"/>
                <a:gd name="T2" fmla="*/ 442 w 442"/>
                <a:gd name="T3" fmla="*/ 0 h 402"/>
                <a:gd name="T4" fmla="*/ 0 60000 65536"/>
                <a:gd name="T5" fmla="*/ 0 60000 65536"/>
              </a:gdLst>
              <a:ahLst/>
              <a:cxnLst>
                <a:cxn ang="T4">
                  <a:pos x="T0" y="T1"/>
                </a:cxn>
                <a:cxn ang="T5">
                  <a:pos x="T2" y="T3"/>
                </a:cxn>
              </a:cxnLst>
              <a:rect l="0" t="0" r="r" b="b"/>
              <a:pathLst>
                <a:path w="442" h="402">
                  <a:moveTo>
                    <a:pt x="0" y="402"/>
                  </a:moveTo>
                  <a:lnTo>
                    <a:pt x="442"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0030" name="Freeform 79"/>
            <p:cNvSpPr>
              <a:spLocks/>
            </p:cNvSpPr>
            <p:nvPr/>
          </p:nvSpPr>
          <p:spPr bwMode="auto">
            <a:xfrm>
              <a:off x="4464" y="1582"/>
              <a:ext cx="944" cy="667"/>
            </a:xfrm>
            <a:custGeom>
              <a:avLst/>
              <a:gdLst>
                <a:gd name="T0" fmla="*/ 0 w 944"/>
                <a:gd name="T1" fmla="*/ 386 h 667"/>
                <a:gd name="T2" fmla="*/ 632 w 944"/>
                <a:gd name="T3" fmla="*/ 603 h 667"/>
                <a:gd name="T4" fmla="*/ 944 w 944"/>
                <a:gd name="T5" fmla="*/ 0 h 667"/>
                <a:gd name="T6" fmla="*/ 0 60000 65536"/>
                <a:gd name="T7" fmla="*/ 0 60000 65536"/>
                <a:gd name="T8" fmla="*/ 0 60000 65536"/>
              </a:gdLst>
              <a:ahLst/>
              <a:cxnLst>
                <a:cxn ang="T6">
                  <a:pos x="T0" y="T1"/>
                </a:cxn>
                <a:cxn ang="T7">
                  <a:pos x="T2" y="T3"/>
                </a:cxn>
                <a:cxn ang="T8">
                  <a:pos x="T4" y="T5"/>
                </a:cxn>
              </a:cxnLst>
              <a:rect l="0" t="0" r="r" b="b"/>
              <a:pathLst>
                <a:path w="944" h="667">
                  <a:moveTo>
                    <a:pt x="0" y="386"/>
                  </a:moveTo>
                  <a:cubicBezTo>
                    <a:pt x="105" y="422"/>
                    <a:pt x="475" y="667"/>
                    <a:pt x="632" y="603"/>
                  </a:cubicBezTo>
                  <a:cubicBezTo>
                    <a:pt x="789" y="539"/>
                    <a:pt x="879" y="126"/>
                    <a:pt x="944" y="0"/>
                  </a:cubicBez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0031" name="Freeform 80"/>
            <p:cNvSpPr>
              <a:spLocks/>
            </p:cNvSpPr>
            <p:nvPr/>
          </p:nvSpPr>
          <p:spPr bwMode="auto">
            <a:xfrm>
              <a:off x="4777" y="1152"/>
              <a:ext cx="167" cy="816"/>
            </a:xfrm>
            <a:custGeom>
              <a:avLst/>
              <a:gdLst>
                <a:gd name="T0" fmla="*/ 167 w 167"/>
                <a:gd name="T1" fmla="*/ 816 h 816"/>
                <a:gd name="T2" fmla="*/ 0 w 167"/>
                <a:gd name="T3" fmla="*/ 376 h 816"/>
                <a:gd name="T4" fmla="*/ 167 w 167"/>
                <a:gd name="T5" fmla="*/ 0 h 816"/>
                <a:gd name="T6" fmla="*/ 0 60000 65536"/>
                <a:gd name="T7" fmla="*/ 0 60000 65536"/>
                <a:gd name="T8" fmla="*/ 0 60000 65536"/>
              </a:gdLst>
              <a:ahLst/>
              <a:cxnLst>
                <a:cxn ang="T6">
                  <a:pos x="T0" y="T1"/>
                </a:cxn>
                <a:cxn ang="T7">
                  <a:pos x="T2" y="T3"/>
                </a:cxn>
                <a:cxn ang="T8">
                  <a:pos x="T4" y="T5"/>
                </a:cxn>
              </a:cxnLst>
              <a:rect l="0" t="0" r="r" b="b"/>
              <a:pathLst>
                <a:path w="167" h="816">
                  <a:moveTo>
                    <a:pt x="167" y="816"/>
                  </a:moveTo>
                  <a:cubicBezTo>
                    <a:pt x="139" y="743"/>
                    <a:pt x="0" y="512"/>
                    <a:pt x="0" y="376"/>
                  </a:cubicBezTo>
                  <a:cubicBezTo>
                    <a:pt x="0" y="240"/>
                    <a:pt x="132" y="78"/>
                    <a:pt x="167" y="0"/>
                  </a:cubicBez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0032" name="Freeform 81"/>
            <p:cNvSpPr>
              <a:spLocks/>
            </p:cNvSpPr>
            <p:nvPr/>
          </p:nvSpPr>
          <p:spPr bwMode="auto">
            <a:xfrm>
              <a:off x="4500" y="1536"/>
              <a:ext cx="444" cy="391"/>
            </a:xfrm>
            <a:custGeom>
              <a:avLst/>
              <a:gdLst>
                <a:gd name="T0" fmla="*/ 444 w 444"/>
                <a:gd name="T1" fmla="*/ 0 h 391"/>
                <a:gd name="T2" fmla="*/ 0 w 444"/>
                <a:gd name="T3" fmla="*/ 391 h 391"/>
                <a:gd name="T4" fmla="*/ 0 60000 65536"/>
                <a:gd name="T5" fmla="*/ 0 60000 65536"/>
              </a:gdLst>
              <a:ahLst/>
              <a:cxnLst>
                <a:cxn ang="T4">
                  <a:pos x="T0" y="T1"/>
                </a:cxn>
                <a:cxn ang="T5">
                  <a:pos x="T2" y="T3"/>
                </a:cxn>
              </a:cxnLst>
              <a:rect l="0" t="0" r="r" b="b"/>
              <a:pathLst>
                <a:path w="444" h="391">
                  <a:moveTo>
                    <a:pt x="444" y="0"/>
                  </a:moveTo>
                  <a:lnTo>
                    <a:pt x="0" y="39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0033" name="Line 82"/>
            <p:cNvSpPr>
              <a:spLocks noChangeShapeType="1"/>
            </p:cNvSpPr>
            <p:nvPr/>
          </p:nvSpPr>
          <p:spPr bwMode="auto">
            <a:xfrm>
              <a:off x="4944" y="1536"/>
              <a:ext cx="432"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0034" name="Line 83"/>
            <p:cNvSpPr>
              <a:spLocks noChangeShapeType="1"/>
            </p:cNvSpPr>
            <p:nvPr/>
          </p:nvSpPr>
          <p:spPr bwMode="auto">
            <a:xfrm>
              <a:off x="4944" y="1536"/>
              <a:ext cx="0" cy="3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0035" name="Freeform 84"/>
            <p:cNvSpPr>
              <a:spLocks/>
            </p:cNvSpPr>
            <p:nvPr/>
          </p:nvSpPr>
          <p:spPr bwMode="auto">
            <a:xfrm>
              <a:off x="4025" y="803"/>
              <a:ext cx="919" cy="301"/>
            </a:xfrm>
            <a:custGeom>
              <a:avLst/>
              <a:gdLst>
                <a:gd name="T0" fmla="*/ 919 w 919"/>
                <a:gd name="T1" fmla="*/ 301 h 301"/>
                <a:gd name="T2" fmla="*/ 441 w 919"/>
                <a:gd name="T3" fmla="*/ 6 h 301"/>
                <a:gd name="T4" fmla="*/ 0 w 919"/>
                <a:gd name="T5" fmla="*/ 264 h 301"/>
                <a:gd name="T6" fmla="*/ 0 60000 65536"/>
                <a:gd name="T7" fmla="*/ 0 60000 65536"/>
                <a:gd name="T8" fmla="*/ 0 60000 65536"/>
              </a:gdLst>
              <a:ahLst/>
              <a:cxnLst>
                <a:cxn ang="T6">
                  <a:pos x="T0" y="T1"/>
                </a:cxn>
                <a:cxn ang="T7">
                  <a:pos x="T2" y="T3"/>
                </a:cxn>
                <a:cxn ang="T8">
                  <a:pos x="T4" y="T5"/>
                </a:cxn>
              </a:cxnLst>
              <a:rect l="0" t="0" r="r" b="b"/>
              <a:pathLst>
                <a:path w="919" h="301">
                  <a:moveTo>
                    <a:pt x="919" y="301"/>
                  </a:moveTo>
                  <a:cubicBezTo>
                    <a:pt x="839" y="252"/>
                    <a:pt x="594" y="12"/>
                    <a:pt x="441" y="6"/>
                  </a:cubicBezTo>
                  <a:cubicBezTo>
                    <a:pt x="288" y="0"/>
                    <a:pt x="92" y="210"/>
                    <a:pt x="0" y="264"/>
                  </a:cubicBez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0036" name="Freeform 85"/>
            <p:cNvSpPr>
              <a:spLocks/>
            </p:cNvSpPr>
            <p:nvPr/>
          </p:nvSpPr>
          <p:spPr bwMode="auto">
            <a:xfrm>
              <a:off x="4500" y="1561"/>
              <a:ext cx="444" cy="407"/>
            </a:xfrm>
            <a:custGeom>
              <a:avLst/>
              <a:gdLst>
                <a:gd name="T0" fmla="*/ 444 w 444"/>
                <a:gd name="T1" fmla="*/ 407 h 407"/>
                <a:gd name="T2" fmla="*/ 0 w 444"/>
                <a:gd name="T3" fmla="*/ 0 h 407"/>
                <a:gd name="T4" fmla="*/ 0 60000 65536"/>
                <a:gd name="T5" fmla="*/ 0 60000 65536"/>
              </a:gdLst>
              <a:ahLst/>
              <a:cxnLst>
                <a:cxn ang="T4">
                  <a:pos x="T0" y="T1"/>
                </a:cxn>
                <a:cxn ang="T5">
                  <a:pos x="T2" y="T3"/>
                </a:cxn>
              </a:cxnLst>
              <a:rect l="0" t="0" r="r" b="b"/>
              <a:pathLst>
                <a:path w="444" h="407">
                  <a:moveTo>
                    <a:pt x="444" y="407"/>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0037" name="Freeform 86"/>
            <p:cNvSpPr>
              <a:spLocks/>
            </p:cNvSpPr>
            <p:nvPr/>
          </p:nvSpPr>
          <p:spPr bwMode="auto">
            <a:xfrm>
              <a:off x="4981" y="1148"/>
              <a:ext cx="443" cy="388"/>
            </a:xfrm>
            <a:custGeom>
              <a:avLst/>
              <a:gdLst>
                <a:gd name="T0" fmla="*/ 443 w 443"/>
                <a:gd name="T1" fmla="*/ 388 h 388"/>
                <a:gd name="T2" fmla="*/ 0 w 443"/>
                <a:gd name="T3" fmla="*/ 0 h 388"/>
                <a:gd name="T4" fmla="*/ 0 60000 65536"/>
                <a:gd name="T5" fmla="*/ 0 60000 65536"/>
              </a:gdLst>
              <a:ahLst/>
              <a:cxnLst>
                <a:cxn ang="T4">
                  <a:pos x="T0" y="T1"/>
                </a:cxn>
                <a:cxn ang="T5">
                  <a:pos x="T2" y="T3"/>
                </a:cxn>
              </a:cxnLst>
              <a:rect l="0" t="0" r="r" b="b"/>
              <a:pathLst>
                <a:path w="443" h="388">
                  <a:moveTo>
                    <a:pt x="443" y="388"/>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0038" name="Oval 87"/>
            <p:cNvSpPr>
              <a:spLocks noChangeArrowheads="1"/>
            </p:cNvSpPr>
            <p:nvPr/>
          </p:nvSpPr>
          <p:spPr bwMode="auto">
            <a:xfrm>
              <a:off x="3452" y="1056"/>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39" name="Oval 88"/>
            <p:cNvSpPr>
              <a:spLocks noChangeArrowheads="1"/>
            </p:cNvSpPr>
            <p:nvPr/>
          </p:nvSpPr>
          <p:spPr bwMode="auto">
            <a:xfrm>
              <a:off x="3932" y="1056"/>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40" name="Oval 89"/>
            <p:cNvSpPr>
              <a:spLocks noChangeArrowheads="1"/>
            </p:cNvSpPr>
            <p:nvPr/>
          </p:nvSpPr>
          <p:spPr bwMode="auto">
            <a:xfrm>
              <a:off x="4892" y="1056"/>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41" name="Oval 90"/>
            <p:cNvSpPr>
              <a:spLocks noChangeArrowheads="1"/>
            </p:cNvSpPr>
            <p:nvPr/>
          </p:nvSpPr>
          <p:spPr bwMode="auto">
            <a:xfrm>
              <a:off x="4412" y="1488"/>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42" name="Oval 91"/>
            <p:cNvSpPr>
              <a:spLocks noChangeArrowheads="1"/>
            </p:cNvSpPr>
            <p:nvPr/>
          </p:nvSpPr>
          <p:spPr bwMode="auto">
            <a:xfrm>
              <a:off x="4892" y="1488"/>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43" name="Oval 92"/>
            <p:cNvSpPr>
              <a:spLocks noChangeArrowheads="1"/>
            </p:cNvSpPr>
            <p:nvPr/>
          </p:nvSpPr>
          <p:spPr bwMode="auto">
            <a:xfrm>
              <a:off x="4412" y="1056"/>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44" name="Oval 93"/>
            <p:cNvSpPr>
              <a:spLocks noChangeArrowheads="1"/>
            </p:cNvSpPr>
            <p:nvPr/>
          </p:nvSpPr>
          <p:spPr bwMode="auto">
            <a:xfrm>
              <a:off x="3932" y="1488"/>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45" name="Oval 94"/>
            <p:cNvSpPr>
              <a:spLocks noChangeArrowheads="1"/>
            </p:cNvSpPr>
            <p:nvPr/>
          </p:nvSpPr>
          <p:spPr bwMode="auto">
            <a:xfrm>
              <a:off x="4412" y="1920"/>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46" name="Oval 95"/>
            <p:cNvSpPr>
              <a:spLocks noChangeArrowheads="1"/>
            </p:cNvSpPr>
            <p:nvPr/>
          </p:nvSpPr>
          <p:spPr bwMode="auto">
            <a:xfrm>
              <a:off x="5372" y="1488"/>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47" name="Oval 96"/>
            <p:cNvSpPr>
              <a:spLocks noChangeArrowheads="1"/>
            </p:cNvSpPr>
            <p:nvPr/>
          </p:nvSpPr>
          <p:spPr bwMode="auto">
            <a:xfrm>
              <a:off x="4892" y="1920"/>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0048" name="Text Box 97"/>
            <p:cNvSpPr txBox="1">
              <a:spLocks noChangeArrowheads="1"/>
            </p:cNvSpPr>
            <p:nvPr/>
          </p:nvSpPr>
          <p:spPr bwMode="auto">
            <a:xfrm>
              <a:off x="3264" y="1008"/>
              <a:ext cx="187"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a</a:t>
              </a:r>
            </a:p>
          </p:txBody>
        </p:sp>
        <p:sp>
          <p:nvSpPr>
            <p:cNvPr id="170049" name="Text Box 98"/>
            <p:cNvSpPr txBox="1">
              <a:spLocks noChangeArrowheads="1"/>
            </p:cNvSpPr>
            <p:nvPr/>
          </p:nvSpPr>
          <p:spPr bwMode="auto">
            <a:xfrm>
              <a:off x="3744" y="1440"/>
              <a:ext cx="187"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e</a:t>
              </a:r>
            </a:p>
          </p:txBody>
        </p:sp>
        <p:sp>
          <p:nvSpPr>
            <p:cNvPr id="170050" name="Text Box 99"/>
            <p:cNvSpPr txBox="1">
              <a:spLocks noChangeArrowheads="1"/>
            </p:cNvSpPr>
            <p:nvPr/>
          </p:nvSpPr>
          <p:spPr bwMode="auto">
            <a:xfrm>
              <a:off x="3888" y="816"/>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b</a:t>
              </a:r>
            </a:p>
          </p:txBody>
        </p:sp>
        <p:sp>
          <p:nvSpPr>
            <p:cNvPr id="170051" name="Text Box 100"/>
            <p:cNvSpPr txBox="1">
              <a:spLocks noChangeArrowheads="1"/>
            </p:cNvSpPr>
            <p:nvPr/>
          </p:nvSpPr>
          <p:spPr bwMode="auto">
            <a:xfrm>
              <a:off x="4368" y="816"/>
              <a:ext cx="187"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c</a:t>
              </a:r>
            </a:p>
          </p:txBody>
        </p:sp>
        <p:sp>
          <p:nvSpPr>
            <p:cNvPr id="170052" name="Text Box 101"/>
            <p:cNvSpPr txBox="1">
              <a:spLocks noChangeArrowheads="1"/>
            </p:cNvSpPr>
            <p:nvPr/>
          </p:nvSpPr>
          <p:spPr bwMode="auto">
            <a:xfrm>
              <a:off x="4848" y="816"/>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d</a:t>
              </a:r>
            </a:p>
          </p:txBody>
        </p:sp>
        <p:sp>
          <p:nvSpPr>
            <p:cNvPr id="170053" name="Text Box 102"/>
            <p:cNvSpPr txBox="1">
              <a:spLocks noChangeArrowheads="1"/>
            </p:cNvSpPr>
            <p:nvPr/>
          </p:nvSpPr>
          <p:spPr bwMode="auto">
            <a:xfrm>
              <a:off x="4377" y="1296"/>
              <a:ext cx="169"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f</a:t>
              </a:r>
            </a:p>
          </p:txBody>
        </p:sp>
        <p:sp>
          <p:nvSpPr>
            <p:cNvPr id="170054" name="Text Box 103"/>
            <p:cNvSpPr txBox="1">
              <a:spLocks noChangeArrowheads="1"/>
            </p:cNvSpPr>
            <p:nvPr/>
          </p:nvSpPr>
          <p:spPr bwMode="auto">
            <a:xfrm>
              <a:off x="4940" y="1296"/>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g</a:t>
              </a:r>
            </a:p>
          </p:txBody>
        </p:sp>
        <p:sp>
          <p:nvSpPr>
            <p:cNvPr id="170055" name="Text Box 104"/>
            <p:cNvSpPr txBox="1">
              <a:spLocks noChangeArrowheads="1"/>
            </p:cNvSpPr>
            <p:nvPr/>
          </p:nvSpPr>
          <p:spPr bwMode="auto">
            <a:xfrm>
              <a:off x="5328" y="1248"/>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h</a:t>
              </a:r>
            </a:p>
          </p:txBody>
        </p:sp>
        <p:sp>
          <p:nvSpPr>
            <p:cNvPr id="170056" name="Text Box 105"/>
            <p:cNvSpPr txBox="1">
              <a:spLocks noChangeArrowheads="1"/>
            </p:cNvSpPr>
            <p:nvPr/>
          </p:nvSpPr>
          <p:spPr bwMode="auto">
            <a:xfrm>
              <a:off x="4238" y="1824"/>
              <a:ext cx="160"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i</a:t>
              </a:r>
            </a:p>
          </p:txBody>
        </p:sp>
        <p:sp>
          <p:nvSpPr>
            <p:cNvPr id="170057" name="Text Box 106"/>
            <p:cNvSpPr txBox="1">
              <a:spLocks noChangeArrowheads="1"/>
            </p:cNvSpPr>
            <p:nvPr/>
          </p:nvSpPr>
          <p:spPr bwMode="auto">
            <a:xfrm>
              <a:off x="5006" y="1872"/>
              <a:ext cx="160"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j</a:t>
              </a:r>
            </a:p>
          </p:txBody>
        </p:sp>
        <p:sp>
          <p:nvSpPr>
            <p:cNvPr id="170058" name="AutoShape 107"/>
            <p:cNvSpPr>
              <a:spLocks noChangeArrowheads="1"/>
            </p:cNvSpPr>
            <p:nvPr/>
          </p:nvSpPr>
          <p:spPr bwMode="auto">
            <a:xfrm>
              <a:off x="2688" y="1344"/>
              <a:ext cx="384" cy="144"/>
            </a:xfrm>
            <a:prstGeom prst="rightArrow">
              <a:avLst>
                <a:gd name="adj1" fmla="val 50000"/>
                <a:gd name="adj2" fmla="val 66667"/>
              </a:avLst>
            </a:prstGeom>
            <a:solidFill>
              <a:srgbClr val="CC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70059" name="Text Box 123"/>
            <p:cNvSpPr txBox="1">
              <a:spLocks noChangeArrowheads="1"/>
            </p:cNvSpPr>
            <p:nvPr/>
          </p:nvSpPr>
          <p:spPr bwMode="auto">
            <a:xfrm>
              <a:off x="96" y="1584"/>
              <a:ext cx="498"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None/>
              </a:pPr>
              <a:r>
                <a:rPr lang="en-US" sz="2000"/>
                <a:t>G, M:</a:t>
              </a:r>
            </a:p>
          </p:txBody>
        </p:sp>
        <p:sp>
          <p:nvSpPr>
            <p:cNvPr id="170060" name="Text Box 124"/>
            <p:cNvSpPr txBox="1">
              <a:spLocks noChangeArrowheads="1"/>
            </p:cNvSpPr>
            <p:nvPr/>
          </p:nvSpPr>
          <p:spPr bwMode="auto">
            <a:xfrm>
              <a:off x="3312" y="1584"/>
              <a:ext cx="329"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None/>
              </a:pPr>
              <a:r>
                <a:rPr lang="en-US" sz="2000"/>
                <a:t>G’:</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166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78530"/>
                                        </p:tgtEl>
                                        <p:attrNameLst>
                                          <p:attrName>style.visibility</p:attrName>
                                        </p:attrNameLst>
                                      </p:cBhvr>
                                      <p:to>
                                        <p:strVal val="visible"/>
                                      </p:to>
                                    </p:set>
                                    <p:anim calcmode="lin" valueType="num">
                                      <p:cBhvr>
                                        <p:cTn id="7" dur="500" fill="hold"/>
                                        <p:tgtEl>
                                          <p:spTgt spid="278530"/>
                                        </p:tgtEl>
                                        <p:attrNameLst>
                                          <p:attrName>ppt_w</p:attrName>
                                        </p:attrNameLst>
                                      </p:cBhvr>
                                      <p:tavLst>
                                        <p:tav tm="0">
                                          <p:val>
                                            <p:fltVal val="0"/>
                                          </p:val>
                                        </p:tav>
                                        <p:tav tm="100000">
                                          <p:val>
                                            <p:strVal val="#ppt_w"/>
                                          </p:val>
                                        </p:tav>
                                      </p:tavLst>
                                    </p:anim>
                                    <p:anim calcmode="lin" valueType="num">
                                      <p:cBhvr>
                                        <p:cTn id="8" dur="500" fill="hold"/>
                                        <p:tgtEl>
                                          <p:spTgt spid="27853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78639"/>
                                        </p:tgtEl>
                                        <p:attrNameLst>
                                          <p:attrName>style.visibility</p:attrName>
                                        </p:attrNameLst>
                                      </p:cBhvr>
                                      <p:to>
                                        <p:strVal val="visible"/>
                                      </p:to>
                                    </p:set>
                                    <p:animEffect transition="in" filter="wipe(left)">
                                      <p:cBhvr>
                                        <p:cTn id="13" dur="500"/>
                                        <p:tgtEl>
                                          <p:spTgt spid="27863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78653"/>
                                        </p:tgtEl>
                                        <p:attrNameLst>
                                          <p:attrName>style.visibility</p:attrName>
                                        </p:attrNameLst>
                                      </p:cBhvr>
                                      <p:to>
                                        <p:strVal val="visible"/>
                                      </p:to>
                                    </p:set>
                                    <p:animEffect transition="in" filter="wipe(left)">
                                      <p:cBhvr>
                                        <p:cTn id="18" dur="500"/>
                                        <p:tgtEl>
                                          <p:spTgt spid="27865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2" fill="hold" grpId="0" nodeType="clickEffect">
                                  <p:stCondLst>
                                    <p:cond delay="0"/>
                                  </p:stCondLst>
                                  <p:childTnLst>
                                    <p:set>
                                      <p:cBhvr>
                                        <p:cTn id="22" dur="1" fill="hold">
                                          <p:stCondLst>
                                            <p:cond delay="0"/>
                                          </p:stCondLst>
                                        </p:cTn>
                                        <p:tgtEl>
                                          <p:spTgt spid="278642">
                                            <p:txEl>
                                              <p:pRg st="0" end="0"/>
                                            </p:txEl>
                                          </p:spTgt>
                                        </p:tgtEl>
                                        <p:attrNameLst>
                                          <p:attrName>style.visibility</p:attrName>
                                        </p:attrNameLst>
                                      </p:cBhvr>
                                      <p:to>
                                        <p:strVal val="visible"/>
                                      </p:to>
                                    </p:set>
                                    <p:animEffect transition="in" filter="wipe(right)">
                                      <p:cBhvr>
                                        <p:cTn id="23" dur="500"/>
                                        <p:tgtEl>
                                          <p:spTgt spid="278642">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2" fill="hold" grpId="0" nodeType="clickEffect">
                                  <p:stCondLst>
                                    <p:cond delay="0"/>
                                  </p:stCondLst>
                                  <p:childTnLst>
                                    <p:set>
                                      <p:cBhvr>
                                        <p:cTn id="27" dur="1" fill="hold">
                                          <p:stCondLst>
                                            <p:cond delay="0"/>
                                          </p:stCondLst>
                                        </p:cTn>
                                        <p:tgtEl>
                                          <p:spTgt spid="278642">
                                            <p:txEl>
                                              <p:pRg st="1" end="1"/>
                                            </p:txEl>
                                          </p:spTgt>
                                        </p:tgtEl>
                                        <p:attrNameLst>
                                          <p:attrName>style.visibility</p:attrName>
                                        </p:attrNameLst>
                                      </p:cBhvr>
                                      <p:to>
                                        <p:strVal val="visible"/>
                                      </p:to>
                                    </p:set>
                                    <p:animEffect transition="in" filter="wipe(right)">
                                      <p:cBhvr>
                                        <p:cTn id="28" dur="500"/>
                                        <p:tgtEl>
                                          <p:spTgt spid="278642">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2" fill="hold" grpId="0" nodeType="clickEffect">
                                  <p:stCondLst>
                                    <p:cond delay="0"/>
                                  </p:stCondLst>
                                  <p:childTnLst>
                                    <p:set>
                                      <p:cBhvr>
                                        <p:cTn id="32" dur="1" fill="hold">
                                          <p:stCondLst>
                                            <p:cond delay="0"/>
                                          </p:stCondLst>
                                        </p:cTn>
                                        <p:tgtEl>
                                          <p:spTgt spid="278642">
                                            <p:txEl>
                                              <p:pRg st="2" end="2"/>
                                            </p:txEl>
                                          </p:spTgt>
                                        </p:tgtEl>
                                        <p:attrNameLst>
                                          <p:attrName>style.visibility</p:attrName>
                                        </p:attrNameLst>
                                      </p:cBhvr>
                                      <p:to>
                                        <p:strVal val="visible"/>
                                      </p:to>
                                    </p:set>
                                    <p:animEffect transition="in" filter="wipe(right)">
                                      <p:cBhvr>
                                        <p:cTn id="33" dur="500"/>
                                        <p:tgtEl>
                                          <p:spTgt spid="278642">
                                            <p:txEl>
                                              <p:pRg st="2" end="2"/>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78650"/>
                                        </p:tgtEl>
                                        <p:attrNameLst>
                                          <p:attrName>style.visibility</p:attrName>
                                        </p:attrNameLst>
                                      </p:cBhvr>
                                      <p:to>
                                        <p:strVal val="visible"/>
                                      </p:to>
                                    </p:set>
                                    <p:animEffect transition="in" filter="wipe(left)">
                                      <p:cBhvr>
                                        <p:cTn id="38" dur="500"/>
                                        <p:tgtEl>
                                          <p:spTgt spid="27865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278638"/>
                                        </p:tgtEl>
                                        <p:attrNameLst>
                                          <p:attrName>style.visibility</p:attrName>
                                        </p:attrNameLst>
                                      </p:cBhvr>
                                      <p:to>
                                        <p:strVal val="visible"/>
                                      </p:to>
                                    </p:set>
                                    <p:anim calcmode="lin" valueType="num">
                                      <p:cBhvr>
                                        <p:cTn id="43" dur="500" fill="hold"/>
                                        <p:tgtEl>
                                          <p:spTgt spid="278638"/>
                                        </p:tgtEl>
                                        <p:attrNameLst>
                                          <p:attrName>ppt_w</p:attrName>
                                        </p:attrNameLst>
                                      </p:cBhvr>
                                      <p:tavLst>
                                        <p:tav tm="0">
                                          <p:val>
                                            <p:fltVal val="0"/>
                                          </p:val>
                                        </p:tav>
                                        <p:tav tm="100000">
                                          <p:val>
                                            <p:strVal val="#ppt_w"/>
                                          </p:val>
                                        </p:tav>
                                      </p:tavLst>
                                    </p:anim>
                                    <p:anim calcmode="lin" valueType="num">
                                      <p:cBhvr>
                                        <p:cTn id="44" dur="500" fill="hold"/>
                                        <p:tgtEl>
                                          <p:spTgt spid="278638"/>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78649"/>
                                        </p:tgtEl>
                                        <p:attrNameLst>
                                          <p:attrName>style.visibility</p:attrName>
                                        </p:attrNameLst>
                                      </p:cBhvr>
                                      <p:to>
                                        <p:strVal val="visible"/>
                                      </p:to>
                                    </p:set>
                                    <p:animEffect transition="in" filter="wipe(left)">
                                      <p:cBhvr>
                                        <p:cTn id="49" dur="500"/>
                                        <p:tgtEl>
                                          <p:spTgt spid="2786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0" grpId="0" animBg="1" autoUpdateAnimBg="0"/>
      <p:bldP spid="278638" grpId="0" autoUpdateAnimBg="0"/>
      <p:bldP spid="278639" grpId="0" autoUpdateAnimBg="0"/>
      <p:bldP spid="278642" grpId="0" build="p" autoUpdateAnimBg="0"/>
      <p:bldP spid="278649" grpId="0" autoUpdateAnimBg="0"/>
    </p:bldLst>
  </p:timing>
</p:sld>
</file>

<file path=ppt/slides/slide1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Discovering  a  Blossom</a:t>
            </a:r>
          </a:p>
        </p:txBody>
      </p:sp>
      <p:sp>
        <p:nvSpPr>
          <p:cNvPr id="290881" name="Text Box 65"/>
          <p:cNvSpPr txBox="1">
            <a:spLocks noChangeArrowheads="1"/>
          </p:cNvSpPr>
          <p:nvPr/>
        </p:nvSpPr>
        <p:spPr bwMode="auto">
          <a:xfrm>
            <a:off x="304800" y="914400"/>
            <a:ext cx="8534400" cy="1262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marL="192088" indent="-192088">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Char char="§"/>
            </a:pPr>
            <a:r>
              <a:rPr lang="en-US" sz="2000"/>
              <a:t>When search of G’ from u visits a node x’ whose mate x has been visited.</a:t>
            </a:r>
          </a:p>
          <a:p>
            <a:pPr eaLnBrk="1" hangingPunct="1">
              <a:lnSpc>
                <a:spcPct val="115000"/>
              </a:lnSpc>
              <a:spcBef>
                <a:spcPct val="50000"/>
              </a:spcBef>
              <a:buFont typeface="Wingdings" pitchFamily="2" charset="2"/>
              <a:buChar char="§"/>
            </a:pPr>
            <a:r>
              <a:rPr lang="en-US" sz="2000"/>
              <a:t>Backtrack up the search tree to lowest common ancestor of (x, x’)</a:t>
            </a:r>
            <a:br>
              <a:rPr lang="en-US" sz="2000"/>
            </a:br>
            <a:r>
              <a:rPr lang="en-US" sz="2000"/>
              <a:t>to find base of the blossom. </a:t>
            </a:r>
          </a:p>
        </p:txBody>
      </p:sp>
      <p:grpSp>
        <p:nvGrpSpPr>
          <p:cNvPr id="290899" name="Group 83"/>
          <p:cNvGrpSpPr>
            <a:grpSpLocks/>
          </p:cNvGrpSpPr>
          <p:nvPr/>
        </p:nvGrpSpPr>
        <p:grpSpPr bwMode="auto">
          <a:xfrm>
            <a:off x="838200" y="2057400"/>
            <a:ext cx="7239000" cy="4249738"/>
            <a:chOff x="480" y="1152"/>
            <a:chExt cx="4560" cy="2677"/>
          </a:xfrm>
        </p:grpSpPr>
        <p:sp>
          <p:nvSpPr>
            <p:cNvPr id="171013" name="Line 72"/>
            <p:cNvSpPr>
              <a:spLocks noChangeShapeType="1"/>
            </p:cNvSpPr>
            <p:nvPr/>
          </p:nvSpPr>
          <p:spPr bwMode="auto">
            <a:xfrm flipH="1">
              <a:off x="2400" y="3168"/>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14" name="Line 68"/>
            <p:cNvSpPr>
              <a:spLocks noChangeShapeType="1"/>
            </p:cNvSpPr>
            <p:nvPr/>
          </p:nvSpPr>
          <p:spPr bwMode="auto">
            <a:xfrm flipH="1">
              <a:off x="1872" y="3168"/>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15" name="Line 4"/>
            <p:cNvSpPr>
              <a:spLocks noChangeShapeType="1"/>
            </p:cNvSpPr>
            <p:nvPr/>
          </p:nvSpPr>
          <p:spPr bwMode="auto">
            <a:xfrm>
              <a:off x="816" y="1920"/>
              <a:ext cx="0" cy="384"/>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16" name="Line 5"/>
            <p:cNvSpPr>
              <a:spLocks noChangeShapeType="1"/>
            </p:cNvSpPr>
            <p:nvPr/>
          </p:nvSpPr>
          <p:spPr bwMode="auto">
            <a:xfrm>
              <a:off x="3840" y="1920"/>
              <a:ext cx="0"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17" name="Line 6"/>
            <p:cNvSpPr>
              <a:spLocks noChangeShapeType="1"/>
            </p:cNvSpPr>
            <p:nvPr/>
          </p:nvSpPr>
          <p:spPr bwMode="auto">
            <a:xfrm>
              <a:off x="2160" y="1920"/>
              <a:ext cx="0"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18" name="Line 7"/>
            <p:cNvSpPr>
              <a:spLocks noChangeShapeType="1"/>
            </p:cNvSpPr>
            <p:nvPr/>
          </p:nvSpPr>
          <p:spPr bwMode="auto">
            <a:xfrm flipV="1">
              <a:off x="816" y="1344"/>
              <a:ext cx="1824" cy="5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19" name="Line 8"/>
            <p:cNvSpPr>
              <a:spLocks noChangeShapeType="1"/>
            </p:cNvSpPr>
            <p:nvPr/>
          </p:nvSpPr>
          <p:spPr bwMode="auto">
            <a:xfrm flipH="1">
              <a:off x="2160" y="1344"/>
              <a:ext cx="480" cy="5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20" name="Line 9"/>
            <p:cNvSpPr>
              <a:spLocks noChangeShapeType="1"/>
            </p:cNvSpPr>
            <p:nvPr/>
          </p:nvSpPr>
          <p:spPr bwMode="auto">
            <a:xfrm>
              <a:off x="2640" y="1344"/>
              <a:ext cx="1200" cy="5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21" name="Line 10"/>
            <p:cNvSpPr>
              <a:spLocks noChangeShapeType="1"/>
            </p:cNvSpPr>
            <p:nvPr/>
          </p:nvSpPr>
          <p:spPr bwMode="auto">
            <a:xfrm>
              <a:off x="2640" y="1344"/>
              <a:ext cx="2208" cy="5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22" name="Line 11"/>
            <p:cNvSpPr>
              <a:spLocks noChangeShapeType="1"/>
            </p:cNvSpPr>
            <p:nvPr/>
          </p:nvSpPr>
          <p:spPr bwMode="auto">
            <a:xfrm>
              <a:off x="4848" y="1920"/>
              <a:ext cx="0" cy="384"/>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23" name="Oval 12"/>
            <p:cNvSpPr>
              <a:spLocks noChangeArrowheads="1"/>
            </p:cNvSpPr>
            <p:nvPr/>
          </p:nvSpPr>
          <p:spPr bwMode="auto">
            <a:xfrm>
              <a:off x="2112" y="187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24" name="Oval 13"/>
            <p:cNvSpPr>
              <a:spLocks noChangeArrowheads="1"/>
            </p:cNvSpPr>
            <p:nvPr/>
          </p:nvSpPr>
          <p:spPr bwMode="auto">
            <a:xfrm>
              <a:off x="4800" y="187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25" name="Oval 14"/>
            <p:cNvSpPr>
              <a:spLocks noChangeArrowheads="1"/>
            </p:cNvSpPr>
            <p:nvPr/>
          </p:nvSpPr>
          <p:spPr bwMode="auto">
            <a:xfrm>
              <a:off x="768" y="187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26" name="Oval 15"/>
            <p:cNvSpPr>
              <a:spLocks noChangeArrowheads="1"/>
            </p:cNvSpPr>
            <p:nvPr/>
          </p:nvSpPr>
          <p:spPr bwMode="auto">
            <a:xfrm>
              <a:off x="3792" y="187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27" name="Oval 16"/>
            <p:cNvSpPr>
              <a:spLocks noChangeArrowheads="1"/>
            </p:cNvSpPr>
            <p:nvPr/>
          </p:nvSpPr>
          <p:spPr bwMode="auto">
            <a:xfrm>
              <a:off x="2592" y="1296"/>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28" name="Line 17"/>
            <p:cNvSpPr>
              <a:spLocks noChangeShapeType="1"/>
            </p:cNvSpPr>
            <p:nvPr/>
          </p:nvSpPr>
          <p:spPr bwMode="auto">
            <a:xfrm>
              <a:off x="816" y="2784"/>
              <a:ext cx="0" cy="384"/>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29" name="Line 18"/>
            <p:cNvSpPr>
              <a:spLocks noChangeShapeType="1"/>
            </p:cNvSpPr>
            <p:nvPr/>
          </p:nvSpPr>
          <p:spPr bwMode="auto">
            <a:xfrm>
              <a:off x="3840" y="2784"/>
              <a:ext cx="0"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30" name="Line 19"/>
            <p:cNvSpPr>
              <a:spLocks noChangeShapeType="1"/>
            </p:cNvSpPr>
            <p:nvPr/>
          </p:nvSpPr>
          <p:spPr bwMode="auto">
            <a:xfrm>
              <a:off x="1872" y="2784"/>
              <a:ext cx="0"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31" name="Oval 20"/>
            <p:cNvSpPr>
              <a:spLocks noChangeArrowheads="1"/>
            </p:cNvSpPr>
            <p:nvPr/>
          </p:nvSpPr>
          <p:spPr bwMode="auto">
            <a:xfrm>
              <a:off x="768" y="3120"/>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32" name="Oval 22"/>
            <p:cNvSpPr>
              <a:spLocks noChangeArrowheads="1"/>
            </p:cNvSpPr>
            <p:nvPr/>
          </p:nvSpPr>
          <p:spPr bwMode="auto">
            <a:xfrm>
              <a:off x="3792" y="3120"/>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33" name="Line 23"/>
            <p:cNvSpPr>
              <a:spLocks noChangeShapeType="1"/>
            </p:cNvSpPr>
            <p:nvPr/>
          </p:nvSpPr>
          <p:spPr bwMode="auto">
            <a:xfrm>
              <a:off x="4752" y="2784"/>
              <a:ext cx="0" cy="384"/>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34" name="Oval 24"/>
            <p:cNvSpPr>
              <a:spLocks noChangeArrowheads="1"/>
            </p:cNvSpPr>
            <p:nvPr/>
          </p:nvSpPr>
          <p:spPr bwMode="auto">
            <a:xfrm>
              <a:off x="4704" y="3120"/>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35" name="Line 25"/>
            <p:cNvSpPr>
              <a:spLocks noChangeShapeType="1"/>
            </p:cNvSpPr>
            <p:nvPr/>
          </p:nvSpPr>
          <p:spPr bwMode="auto">
            <a:xfrm>
              <a:off x="528" y="2784"/>
              <a:ext cx="0" cy="384"/>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36" name="Line 26"/>
            <p:cNvSpPr>
              <a:spLocks noChangeShapeType="1"/>
            </p:cNvSpPr>
            <p:nvPr/>
          </p:nvSpPr>
          <p:spPr bwMode="auto">
            <a:xfrm>
              <a:off x="3552" y="2784"/>
              <a:ext cx="0"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37" name="Oval 27"/>
            <p:cNvSpPr>
              <a:spLocks noChangeArrowheads="1"/>
            </p:cNvSpPr>
            <p:nvPr/>
          </p:nvSpPr>
          <p:spPr bwMode="auto">
            <a:xfrm>
              <a:off x="480" y="3120"/>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38" name="Oval 28"/>
            <p:cNvSpPr>
              <a:spLocks noChangeArrowheads="1"/>
            </p:cNvSpPr>
            <p:nvPr/>
          </p:nvSpPr>
          <p:spPr bwMode="auto">
            <a:xfrm>
              <a:off x="3504" y="3120"/>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39" name="Line 29"/>
            <p:cNvSpPr>
              <a:spLocks noChangeShapeType="1"/>
            </p:cNvSpPr>
            <p:nvPr/>
          </p:nvSpPr>
          <p:spPr bwMode="auto">
            <a:xfrm>
              <a:off x="1056" y="2784"/>
              <a:ext cx="0" cy="384"/>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40" name="Line 30"/>
            <p:cNvSpPr>
              <a:spLocks noChangeShapeType="1"/>
            </p:cNvSpPr>
            <p:nvPr/>
          </p:nvSpPr>
          <p:spPr bwMode="auto">
            <a:xfrm>
              <a:off x="4080" y="2784"/>
              <a:ext cx="0"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41" name="Line 31"/>
            <p:cNvSpPr>
              <a:spLocks noChangeShapeType="1"/>
            </p:cNvSpPr>
            <p:nvPr/>
          </p:nvSpPr>
          <p:spPr bwMode="auto">
            <a:xfrm>
              <a:off x="2400" y="2784"/>
              <a:ext cx="0"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42" name="Oval 32"/>
            <p:cNvSpPr>
              <a:spLocks noChangeArrowheads="1"/>
            </p:cNvSpPr>
            <p:nvPr/>
          </p:nvSpPr>
          <p:spPr bwMode="auto">
            <a:xfrm>
              <a:off x="1008" y="3120"/>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43" name="Oval 33"/>
            <p:cNvSpPr>
              <a:spLocks noChangeArrowheads="1"/>
            </p:cNvSpPr>
            <p:nvPr/>
          </p:nvSpPr>
          <p:spPr bwMode="auto">
            <a:xfrm>
              <a:off x="4032" y="3120"/>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44" name="Line 34"/>
            <p:cNvSpPr>
              <a:spLocks noChangeShapeType="1"/>
            </p:cNvSpPr>
            <p:nvPr/>
          </p:nvSpPr>
          <p:spPr bwMode="auto">
            <a:xfrm>
              <a:off x="4992" y="2784"/>
              <a:ext cx="0" cy="384"/>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45" name="Oval 35"/>
            <p:cNvSpPr>
              <a:spLocks noChangeArrowheads="1"/>
            </p:cNvSpPr>
            <p:nvPr/>
          </p:nvSpPr>
          <p:spPr bwMode="auto">
            <a:xfrm>
              <a:off x="4944" y="3120"/>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46" name="Line 36"/>
            <p:cNvSpPr>
              <a:spLocks noChangeShapeType="1"/>
            </p:cNvSpPr>
            <p:nvPr/>
          </p:nvSpPr>
          <p:spPr bwMode="auto">
            <a:xfrm flipH="1">
              <a:off x="528" y="2304"/>
              <a:ext cx="288"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47" name="Line 37"/>
            <p:cNvSpPr>
              <a:spLocks noChangeShapeType="1"/>
            </p:cNvSpPr>
            <p:nvPr/>
          </p:nvSpPr>
          <p:spPr bwMode="auto">
            <a:xfrm>
              <a:off x="816" y="2304"/>
              <a:ext cx="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48" name="Line 38"/>
            <p:cNvSpPr>
              <a:spLocks noChangeShapeType="1"/>
            </p:cNvSpPr>
            <p:nvPr/>
          </p:nvSpPr>
          <p:spPr bwMode="auto">
            <a:xfrm>
              <a:off x="816" y="2304"/>
              <a:ext cx="24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49" name="Line 39"/>
            <p:cNvSpPr>
              <a:spLocks noChangeShapeType="1"/>
            </p:cNvSpPr>
            <p:nvPr/>
          </p:nvSpPr>
          <p:spPr bwMode="auto">
            <a:xfrm flipH="1">
              <a:off x="3552" y="2304"/>
              <a:ext cx="288"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50" name="Line 40"/>
            <p:cNvSpPr>
              <a:spLocks noChangeShapeType="1"/>
            </p:cNvSpPr>
            <p:nvPr/>
          </p:nvSpPr>
          <p:spPr bwMode="auto">
            <a:xfrm>
              <a:off x="3840" y="2304"/>
              <a:ext cx="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51" name="Line 41"/>
            <p:cNvSpPr>
              <a:spLocks noChangeShapeType="1"/>
            </p:cNvSpPr>
            <p:nvPr/>
          </p:nvSpPr>
          <p:spPr bwMode="auto">
            <a:xfrm>
              <a:off x="3840" y="2304"/>
              <a:ext cx="24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52" name="Line 42"/>
            <p:cNvSpPr>
              <a:spLocks noChangeShapeType="1"/>
            </p:cNvSpPr>
            <p:nvPr/>
          </p:nvSpPr>
          <p:spPr bwMode="auto">
            <a:xfrm flipH="1">
              <a:off x="1872" y="2304"/>
              <a:ext cx="288"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53" name="Line 43"/>
            <p:cNvSpPr>
              <a:spLocks noChangeShapeType="1"/>
            </p:cNvSpPr>
            <p:nvPr/>
          </p:nvSpPr>
          <p:spPr bwMode="auto">
            <a:xfrm>
              <a:off x="2160" y="2304"/>
              <a:ext cx="24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54" name="Line 44"/>
            <p:cNvSpPr>
              <a:spLocks noChangeShapeType="1"/>
            </p:cNvSpPr>
            <p:nvPr/>
          </p:nvSpPr>
          <p:spPr bwMode="auto">
            <a:xfrm flipH="1">
              <a:off x="4752" y="2304"/>
              <a:ext cx="9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55" name="Line 45"/>
            <p:cNvSpPr>
              <a:spLocks noChangeShapeType="1"/>
            </p:cNvSpPr>
            <p:nvPr/>
          </p:nvSpPr>
          <p:spPr bwMode="auto">
            <a:xfrm>
              <a:off x="4848" y="2304"/>
              <a:ext cx="144"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56" name="Oval 46"/>
            <p:cNvSpPr>
              <a:spLocks noChangeArrowheads="1"/>
            </p:cNvSpPr>
            <p:nvPr/>
          </p:nvSpPr>
          <p:spPr bwMode="auto">
            <a:xfrm>
              <a:off x="768" y="225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57" name="Oval 48"/>
            <p:cNvSpPr>
              <a:spLocks noChangeArrowheads="1"/>
            </p:cNvSpPr>
            <p:nvPr/>
          </p:nvSpPr>
          <p:spPr bwMode="auto">
            <a:xfrm>
              <a:off x="3792" y="225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58" name="Oval 49"/>
            <p:cNvSpPr>
              <a:spLocks noChangeArrowheads="1"/>
            </p:cNvSpPr>
            <p:nvPr/>
          </p:nvSpPr>
          <p:spPr bwMode="auto">
            <a:xfrm>
              <a:off x="4800" y="225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59" name="Oval 50"/>
            <p:cNvSpPr>
              <a:spLocks noChangeArrowheads="1"/>
            </p:cNvSpPr>
            <p:nvPr/>
          </p:nvSpPr>
          <p:spPr bwMode="auto">
            <a:xfrm>
              <a:off x="1824" y="273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60" name="Oval 51"/>
            <p:cNvSpPr>
              <a:spLocks noChangeArrowheads="1"/>
            </p:cNvSpPr>
            <p:nvPr/>
          </p:nvSpPr>
          <p:spPr bwMode="auto">
            <a:xfrm>
              <a:off x="4704" y="273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61" name="Oval 52"/>
            <p:cNvSpPr>
              <a:spLocks noChangeArrowheads="1"/>
            </p:cNvSpPr>
            <p:nvPr/>
          </p:nvSpPr>
          <p:spPr bwMode="auto">
            <a:xfrm>
              <a:off x="768" y="273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62" name="Oval 53"/>
            <p:cNvSpPr>
              <a:spLocks noChangeArrowheads="1"/>
            </p:cNvSpPr>
            <p:nvPr/>
          </p:nvSpPr>
          <p:spPr bwMode="auto">
            <a:xfrm>
              <a:off x="3792" y="273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63" name="Oval 54"/>
            <p:cNvSpPr>
              <a:spLocks noChangeArrowheads="1"/>
            </p:cNvSpPr>
            <p:nvPr/>
          </p:nvSpPr>
          <p:spPr bwMode="auto">
            <a:xfrm>
              <a:off x="480" y="273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64" name="Oval 55"/>
            <p:cNvSpPr>
              <a:spLocks noChangeArrowheads="1"/>
            </p:cNvSpPr>
            <p:nvPr/>
          </p:nvSpPr>
          <p:spPr bwMode="auto">
            <a:xfrm>
              <a:off x="3504" y="273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65" name="Oval 56"/>
            <p:cNvSpPr>
              <a:spLocks noChangeArrowheads="1"/>
            </p:cNvSpPr>
            <p:nvPr/>
          </p:nvSpPr>
          <p:spPr bwMode="auto">
            <a:xfrm>
              <a:off x="2352" y="273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66" name="Oval 57"/>
            <p:cNvSpPr>
              <a:spLocks noChangeArrowheads="1"/>
            </p:cNvSpPr>
            <p:nvPr/>
          </p:nvSpPr>
          <p:spPr bwMode="auto">
            <a:xfrm>
              <a:off x="4944" y="273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67" name="Oval 58"/>
            <p:cNvSpPr>
              <a:spLocks noChangeArrowheads="1"/>
            </p:cNvSpPr>
            <p:nvPr/>
          </p:nvSpPr>
          <p:spPr bwMode="auto">
            <a:xfrm>
              <a:off x="1008" y="273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68" name="Oval 59"/>
            <p:cNvSpPr>
              <a:spLocks noChangeArrowheads="1"/>
            </p:cNvSpPr>
            <p:nvPr/>
          </p:nvSpPr>
          <p:spPr bwMode="auto">
            <a:xfrm>
              <a:off x="4032" y="273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69" name="Text Box 63"/>
            <p:cNvSpPr txBox="1">
              <a:spLocks noChangeArrowheads="1"/>
            </p:cNvSpPr>
            <p:nvPr/>
          </p:nvSpPr>
          <p:spPr bwMode="auto">
            <a:xfrm>
              <a:off x="2400" y="1152"/>
              <a:ext cx="1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u</a:t>
              </a:r>
            </a:p>
          </p:txBody>
        </p:sp>
        <p:sp>
          <p:nvSpPr>
            <p:cNvPr id="171070" name="Line 69"/>
            <p:cNvSpPr>
              <a:spLocks noChangeShapeType="1"/>
            </p:cNvSpPr>
            <p:nvPr/>
          </p:nvSpPr>
          <p:spPr bwMode="auto">
            <a:xfrm>
              <a:off x="1872" y="3504"/>
              <a:ext cx="528"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71" name="Oval 70"/>
            <p:cNvSpPr>
              <a:spLocks noChangeArrowheads="1"/>
            </p:cNvSpPr>
            <p:nvPr/>
          </p:nvSpPr>
          <p:spPr bwMode="auto">
            <a:xfrm>
              <a:off x="2352" y="345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72" name="Oval 71"/>
            <p:cNvSpPr>
              <a:spLocks noChangeArrowheads="1"/>
            </p:cNvSpPr>
            <p:nvPr/>
          </p:nvSpPr>
          <p:spPr bwMode="auto">
            <a:xfrm>
              <a:off x="1824" y="345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73" name="Freeform 74"/>
            <p:cNvSpPr>
              <a:spLocks/>
            </p:cNvSpPr>
            <p:nvPr/>
          </p:nvSpPr>
          <p:spPr bwMode="auto">
            <a:xfrm>
              <a:off x="2209" y="1392"/>
              <a:ext cx="431" cy="879"/>
            </a:xfrm>
            <a:custGeom>
              <a:avLst/>
              <a:gdLst>
                <a:gd name="T0" fmla="*/ 431 w 431"/>
                <a:gd name="T1" fmla="*/ 0 h 879"/>
                <a:gd name="T2" fmla="*/ 285 w 431"/>
                <a:gd name="T3" fmla="*/ 479 h 879"/>
                <a:gd name="T4" fmla="*/ 0 w 431"/>
                <a:gd name="T5" fmla="*/ 879 h 879"/>
                <a:gd name="T6" fmla="*/ 0 60000 65536"/>
                <a:gd name="T7" fmla="*/ 0 60000 65536"/>
                <a:gd name="T8" fmla="*/ 0 60000 65536"/>
              </a:gdLst>
              <a:ahLst/>
              <a:cxnLst>
                <a:cxn ang="T6">
                  <a:pos x="T0" y="T1"/>
                </a:cxn>
                <a:cxn ang="T7">
                  <a:pos x="T2" y="T3"/>
                </a:cxn>
                <a:cxn ang="T8">
                  <a:pos x="T4" y="T5"/>
                </a:cxn>
              </a:cxnLst>
              <a:rect l="0" t="0" r="r" b="b"/>
              <a:pathLst>
                <a:path w="431" h="879">
                  <a:moveTo>
                    <a:pt x="431" y="0"/>
                  </a:moveTo>
                  <a:cubicBezTo>
                    <a:pt x="407" y="80"/>
                    <a:pt x="357" y="333"/>
                    <a:pt x="285" y="479"/>
                  </a:cubicBezTo>
                  <a:cubicBezTo>
                    <a:pt x="213" y="625"/>
                    <a:pt x="59" y="796"/>
                    <a:pt x="0" y="879"/>
                  </a:cubicBezTo>
                </a:path>
              </a:pathLst>
            </a:custGeom>
            <a:noFill/>
            <a:ln w="28575"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74" name="Freeform 75"/>
            <p:cNvSpPr>
              <a:spLocks/>
            </p:cNvSpPr>
            <p:nvPr/>
          </p:nvSpPr>
          <p:spPr bwMode="auto">
            <a:xfrm>
              <a:off x="1649" y="2298"/>
              <a:ext cx="526" cy="847"/>
            </a:xfrm>
            <a:custGeom>
              <a:avLst/>
              <a:gdLst>
                <a:gd name="T0" fmla="*/ 526 w 526"/>
                <a:gd name="T1" fmla="*/ 0 h 847"/>
                <a:gd name="T2" fmla="*/ 59 w 526"/>
                <a:gd name="T3" fmla="*/ 373 h 847"/>
                <a:gd name="T4" fmla="*/ 174 w 526"/>
                <a:gd name="T5" fmla="*/ 847 h 847"/>
                <a:gd name="T6" fmla="*/ 0 60000 65536"/>
                <a:gd name="T7" fmla="*/ 0 60000 65536"/>
                <a:gd name="T8" fmla="*/ 0 60000 65536"/>
              </a:gdLst>
              <a:ahLst/>
              <a:cxnLst>
                <a:cxn ang="T6">
                  <a:pos x="T0" y="T1"/>
                </a:cxn>
                <a:cxn ang="T7">
                  <a:pos x="T2" y="T3"/>
                </a:cxn>
                <a:cxn ang="T8">
                  <a:pos x="T4" y="T5"/>
                </a:cxn>
              </a:cxnLst>
              <a:rect l="0" t="0" r="r" b="b"/>
              <a:pathLst>
                <a:path w="526" h="847">
                  <a:moveTo>
                    <a:pt x="526" y="0"/>
                  </a:moveTo>
                  <a:cubicBezTo>
                    <a:pt x="448" y="62"/>
                    <a:pt x="118" y="232"/>
                    <a:pt x="59" y="373"/>
                  </a:cubicBezTo>
                  <a:cubicBezTo>
                    <a:pt x="0" y="514"/>
                    <a:pt x="150" y="748"/>
                    <a:pt x="174" y="847"/>
                  </a:cubicBezTo>
                </a:path>
              </a:pathLst>
            </a:custGeom>
            <a:noFill/>
            <a:ln w="28575"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75" name="Freeform 76"/>
            <p:cNvSpPr>
              <a:spLocks/>
            </p:cNvSpPr>
            <p:nvPr/>
          </p:nvSpPr>
          <p:spPr bwMode="auto">
            <a:xfrm>
              <a:off x="2168" y="2305"/>
              <a:ext cx="481" cy="840"/>
            </a:xfrm>
            <a:custGeom>
              <a:avLst/>
              <a:gdLst>
                <a:gd name="T0" fmla="*/ 0 w 481"/>
                <a:gd name="T1" fmla="*/ 0 h 840"/>
                <a:gd name="T2" fmla="*/ 434 w 481"/>
                <a:gd name="T3" fmla="*/ 393 h 840"/>
                <a:gd name="T4" fmla="*/ 285 w 481"/>
                <a:gd name="T5" fmla="*/ 840 h 840"/>
                <a:gd name="T6" fmla="*/ 0 60000 65536"/>
                <a:gd name="T7" fmla="*/ 0 60000 65536"/>
                <a:gd name="T8" fmla="*/ 0 60000 65536"/>
              </a:gdLst>
              <a:ahLst/>
              <a:cxnLst>
                <a:cxn ang="T6">
                  <a:pos x="T0" y="T1"/>
                </a:cxn>
                <a:cxn ang="T7">
                  <a:pos x="T2" y="T3"/>
                </a:cxn>
                <a:cxn ang="T8">
                  <a:pos x="T4" y="T5"/>
                </a:cxn>
              </a:cxnLst>
              <a:rect l="0" t="0" r="r" b="b"/>
              <a:pathLst>
                <a:path w="481" h="840">
                  <a:moveTo>
                    <a:pt x="0" y="0"/>
                  </a:moveTo>
                  <a:cubicBezTo>
                    <a:pt x="72" y="65"/>
                    <a:pt x="387" y="253"/>
                    <a:pt x="434" y="393"/>
                  </a:cubicBezTo>
                  <a:cubicBezTo>
                    <a:pt x="481" y="533"/>
                    <a:pt x="316" y="747"/>
                    <a:pt x="285" y="840"/>
                  </a:cubicBezTo>
                </a:path>
              </a:pathLst>
            </a:custGeom>
            <a:noFill/>
            <a:ln w="28575"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76" name="Freeform 77"/>
            <p:cNvSpPr>
              <a:spLocks/>
            </p:cNvSpPr>
            <p:nvPr/>
          </p:nvSpPr>
          <p:spPr bwMode="auto">
            <a:xfrm>
              <a:off x="1911" y="3179"/>
              <a:ext cx="765" cy="650"/>
            </a:xfrm>
            <a:custGeom>
              <a:avLst/>
              <a:gdLst>
                <a:gd name="T0" fmla="*/ 515 w 765"/>
                <a:gd name="T1" fmla="*/ 0 h 650"/>
                <a:gd name="T2" fmla="*/ 752 w 765"/>
                <a:gd name="T3" fmla="*/ 353 h 650"/>
                <a:gd name="T4" fmla="*/ 434 w 765"/>
                <a:gd name="T5" fmla="*/ 644 h 650"/>
                <a:gd name="T6" fmla="*/ 0 w 765"/>
                <a:gd name="T7" fmla="*/ 387 h 6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5" h="650">
                  <a:moveTo>
                    <a:pt x="515" y="0"/>
                  </a:moveTo>
                  <a:cubicBezTo>
                    <a:pt x="554" y="59"/>
                    <a:pt x="765" y="246"/>
                    <a:pt x="752" y="353"/>
                  </a:cubicBezTo>
                  <a:cubicBezTo>
                    <a:pt x="739" y="460"/>
                    <a:pt x="559" y="638"/>
                    <a:pt x="434" y="644"/>
                  </a:cubicBezTo>
                  <a:cubicBezTo>
                    <a:pt x="309" y="650"/>
                    <a:pt x="90" y="441"/>
                    <a:pt x="0" y="387"/>
                  </a:cubicBezTo>
                </a:path>
              </a:pathLst>
            </a:custGeom>
            <a:noFill/>
            <a:ln w="28575"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77" name="Freeform 78"/>
            <p:cNvSpPr>
              <a:spLocks/>
            </p:cNvSpPr>
            <p:nvPr/>
          </p:nvSpPr>
          <p:spPr bwMode="auto">
            <a:xfrm>
              <a:off x="1620" y="3166"/>
              <a:ext cx="765" cy="657"/>
            </a:xfrm>
            <a:custGeom>
              <a:avLst/>
              <a:gdLst>
                <a:gd name="T0" fmla="*/ 250 w 765"/>
                <a:gd name="T1" fmla="*/ 0 h 657"/>
                <a:gd name="T2" fmla="*/ 6 w 765"/>
                <a:gd name="T3" fmla="*/ 339 h 657"/>
                <a:gd name="T4" fmla="*/ 284 w 765"/>
                <a:gd name="T5" fmla="*/ 650 h 657"/>
                <a:gd name="T6" fmla="*/ 765 w 765"/>
                <a:gd name="T7" fmla="*/ 379 h 6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5" h="657">
                  <a:moveTo>
                    <a:pt x="250" y="0"/>
                  </a:moveTo>
                  <a:cubicBezTo>
                    <a:pt x="209" y="57"/>
                    <a:pt x="0" y="231"/>
                    <a:pt x="6" y="339"/>
                  </a:cubicBezTo>
                  <a:cubicBezTo>
                    <a:pt x="12" y="447"/>
                    <a:pt x="158" y="643"/>
                    <a:pt x="284" y="650"/>
                  </a:cubicBezTo>
                  <a:cubicBezTo>
                    <a:pt x="410" y="657"/>
                    <a:pt x="665" y="435"/>
                    <a:pt x="765" y="379"/>
                  </a:cubicBezTo>
                </a:path>
              </a:pathLst>
            </a:custGeom>
            <a:noFill/>
            <a:ln w="28575"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1078" name="Oval 47"/>
            <p:cNvSpPr>
              <a:spLocks noChangeArrowheads="1"/>
            </p:cNvSpPr>
            <p:nvPr/>
          </p:nvSpPr>
          <p:spPr bwMode="auto">
            <a:xfrm>
              <a:off x="2112" y="225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79" name="Oval 21"/>
            <p:cNvSpPr>
              <a:spLocks noChangeArrowheads="1"/>
            </p:cNvSpPr>
            <p:nvPr/>
          </p:nvSpPr>
          <p:spPr bwMode="auto">
            <a:xfrm>
              <a:off x="1824" y="3120"/>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80" name="Oval 62"/>
            <p:cNvSpPr>
              <a:spLocks noChangeArrowheads="1"/>
            </p:cNvSpPr>
            <p:nvPr/>
          </p:nvSpPr>
          <p:spPr bwMode="auto">
            <a:xfrm>
              <a:off x="2352" y="3120"/>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1081" name="Text Box 79"/>
            <p:cNvSpPr txBox="1">
              <a:spLocks noChangeArrowheads="1"/>
            </p:cNvSpPr>
            <p:nvPr/>
          </p:nvSpPr>
          <p:spPr bwMode="auto">
            <a:xfrm>
              <a:off x="1846" y="3216"/>
              <a:ext cx="249"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x’</a:t>
              </a:r>
            </a:p>
          </p:txBody>
        </p:sp>
        <p:sp>
          <p:nvSpPr>
            <p:cNvPr id="171082" name="Text Box 80"/>
            <p:cNvSpPr txBox="1">
              <a:spLocks noChangeArrowheads="1"/>
            </p:cNvSpPr>
            <p:nvPr/>
          </p:nvSpPr>
          <p:spPr bwMode="auto">
            <a:xfrm>
              <a:off x="2234" y="3216"/>
              <a:ext cx="196"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x</a:t>
              </a:r>
            </a:p>
          </p:txBody>
        </p:sp>
        <p:sp>
          <p:nvSpPr>
            <p:cNvPr id="171083" name="Text Box 81"/>
            <p:cNvSpPr txBox="1">
              <a:spLocks noChangeArrowheads="1"/>
            </p:cNvSpPr>
            <p:nvPr/>
          </p:nvSpPr>
          <p:spPr bwMode="auto">
            <a:xfrm>
              <a:off x="2784" y="3408"/>
              <a:ext cx="915"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x’ = mate[x]</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167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90818"/>
                                        </p:tgtEl>
                                        <p:attrNameLst>
                                          <p:attrName>style.visibility</p:attrName>
                                        </p:attrNameLst>
                                      </p:cBhvr>
                                      <p:to>
                                        <p:strVal val="visible"/>
                                      </p:to>
                                    </p:set>
                                    <p:anim calcmode="lin" valueType="num">
                                      <p:cBhvr>
                                        <p:cTn id="7" dur="500" fill="hold"/>
                                        <p:tgtEl>
                                          <p:spTgt spid="290818"/>
                                        </p:tgtEl>
                                        <p:attrNameLst>
                                          <p:attrName>ppt_w</p:attrName>
                                        </p:attrNameLst>
                                      </p:cBhvr>
                                      <p:tavLst>
                                        <p:tav tm="0">
                                          <p:val>
                                            <p:fltVal val="0"/>
                                          </p:val>
                                        </p:tav>
                                        <p:tav tm="100000">
                                          <p:val>
                                            <p:strVal val="#ppt_w"/>
                                          </p:val>
                                        </p:tav>
                                      </p:tavLst>
                                    </p:anim>
                                    <p:anim calcmode="lin" valueType="num">
                                      <p:cBhvr>
                                        <p:cTn id="8" dur="500" fill="hold"/>
                                        <p:tgtEl>
                                          <p:spTgt spid="29081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90881"/>
                                        </p:tgtEl>
                                        <p:attrNameLst>
                                          <p:attrName>style.visibility</p:attrName>
                                        </p:attrNameLst>
                                      </p:cBhvr>
                                      <p:to>
                                        <p:strVal val="visible"/>
                                      </p:to>
                                    </p:set>
                                    <p:animEffect transition="in" filter="wipe(up)">
                                      <p:cBhvr>
                                        <p:cTn id="13" dur="500"/>
                                        <p:tgtEl>
                                          <p:spTgt spid="290881"/>
                                        </p:tgtEl>
                                      </p:cBhvr>
                                    </p:animEffect>
                                  </p:childTnLst>
                                </p:cTn>
                              </p:par>
                            </p:childTnLst>
                          </p:cTn>
                        </p:par>
                        <p:par>
                          <p:cTn id="14" fill="hold" nodeType="afterGroup">
                            <p:stCondLst>
                              <p:cond delay="500"/>
                            </p:stCondLst>
                            <p:childTnLst>
                              <p:par>
                                <p:cTn id="15" presetID="22" presetClass="entr" presetSubtype="1" fill="hold" nodeType="afterEffect">
                                  <p:stCondLst>
                                    <p:cond delay="0"/>
                                  </p:stCondLst>
                                  <p:childTnLst>
                                    <p:set>
                                      <p:cBhvr>
                                        <p:cTn id="16" dur="1" fill="hold">
                                          <p:stCondLst>
                                            <p:cond delay="0"/>
                                          </p:stCondLst>
                                        </p:cTn>
                                        <p:tgtEl>
                                          <p:spTgt spid="290899"/>
                                        </p:tgtEl>
                                        <p:attrNameLst>
                                          <p:attrName>style.visibility</p:attrName>
                                        </p:attrNameLst>
                                      </p:cBhvr>
                                      <p:to>
                                        <p:strVal val="visible"/>
                                      </p:to>
                                    </p:set>
                                    <p:animEffect transition="in" filter="wipe(up)">
                                      <p:cBhvr>
                                        <p:cTn id="17" dur="500"/>
                                        <p:tgtEl>
                                          <p:spTgt spid="290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8" grpId="0" animBg="1" autoUpdateAnimBg="0"/>
      <p:bldP spid="290881" grpId="0" autoUpdateAnimBg="0"/>
    </p:bldLst>
  </p:timing>
</p:sld>
</file>

<file path=ppt/slides/slide1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smtClean="0">
                <a:solidFill>
                  <a:schemeClr val="tx1"/>
                </a:solidFill>
                <a:latin typeface="Arial Rounded MT Bold" pitchFamily="34" charset="0"/>
              </a:rPr>
              <a:t>Blossom Shrinking</a:t>
            </a:r>
          </a:p>
        </p:txBody>
      </p:sp>
      <p:sp>
        <p:nvSpPr>
          <p:cNvPr id="283651" name="Rectangle 3" descr="Recycled paper"/>
          <p:cNvSpPr>
            <a:spLocks noChangeArrowheads="1"/>
          </p:cNvSpPr>
          <p:nvPr/>
        </p:nvSpPr>
        <p:spPr bwMode="auto">
          <a:xfrm>
            <a:off x="152400" y="4267200"/>
            <a:ext cx="8839200" cy="1200329"/>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1338263" indent="-1338263" eaLnBrk="1" hangingPunct="1">
              <a:spcBef>
                <a:spcPct val="50000"/>
              </a:spcBef>
              <a:buFontTx/>
              <a:buNone/>
            </a:pPr>
            <a:r>
              <a:rPr lang="en-US" sz="2400" b="1" dirty="0">
                <a:solidFill>
                  <a:srgbClr val="CC0000"/>
                </a:solidFill>
              </a:rPr>
              <a:t>FACT 3:</a:t>
            </a:r>
            <a:r>
              <a:rPr lang="en-US" sz="2400" dirty="0">
                <a:solidFill>
                  <a:schemeClr val="hlink"/>
                </a:solidFill>
              </a:rPr>
              <a:t>  </a:t>
            </a:r>
            <a:r>
              <a:rPr lang="en-US" sz="2400" dirty="0" smtClean="0">
                <a:solidFill>
                  <a:schemeClr val="hlink"/>
                </a:solidFill>
              </a:rPr>
              <a:t>S</a:t>
            </a:r>
            <a:r>
              <a:rPr lang="en-US" sz="2400" dirty="0" smtClean="0">
                <a:solidFill>
                  <a:schemeClr val="hlink"/>
                </a:solidFill>
              </a:rPr>
              <a:t>hrinking a blossom found during the search for a u-augmenting path preserves </a:t>
            </a:r>
            <a:r>
              <a:rPr lang="en-US" sz="2400" dirty="0">
                <a:solidFill>
                  <a:schemeClr val="hlink"/>
                </a:solidFill>
              </a:rPr>
              <a:t>existence (non-existence) </a:t>
            </a:r>
            <a:br>
              <a:rPr lang="en-US" sz="2400" dirty="0">
                <a:solidFill>
                  <a:schemeClr val="hlink"/>
                </a:solidFill>
              </a:rPr>
            </a:br>
            <a:r>
              <a:rPr lang="en-US" sz="2400" dirty="0">
                <a:solidFill>
                  <a:schemeClr val="hlink"/>
                </a:solidFill>
              </a:rPr>
              <a:t>of augmenting paths.</a:t>
            </a:r>
          </a:p>
        </p:txBody>
      </p:sp>
      <p:sp>
        <p:nvSpPr>
          <p:cNvPr id="283652" name="Rectangle 4" descr="Recycled paper"/>
          <p:cNvSpPr>
            <a:spLocks noChangeArrowheads="1"/>
          </p:cNvSpPr>
          <p:nvPr/>
        </p:nvSpPr>
        <p:spPr bwMode="auto">
          <a:xfrm>
            <a:off x="163254" y="5638800"/>
            <a:ext cx="8839200" cy="841375"/>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1338263" indent="-1338263" eaLnBrk="1" hangingPunct="1">
              <a:spcBef>
                <a:spcPct val="50000"/>
              </a:spcBef>
              <a:buFontTx/>
              <a:buNone/>
            </a:pPr>
            <a:r>
              <a:rPr lang="en-US" sz="2400" b="1" dirty="0">
                <a:solidFill>
                  <a:srgbClr val="CC0000"/>
                </a:solidFill>
              </a:rPr>
              <a:t>FACT 4:</a:t>
            </a:r>
            <a:r>
              <a:rPr lang="en-US" sz="2400" dirty="0">
                <a:solidFill>
                  <a:schemeClr val="hlink"/>
                </a:solidFill>
              </a:rPr>
              <a:t>  There can be at most O(V) blossoms (possibly nested) </a:t>
            </a:r>
            <a:br>
              <a:rPr lang="en-US" sz="2400" dirty="0">
                <a:solidFill>
                  <a:schemeClr val="hlink"/>
                </a:solidFill>
              </a:rPr>
            </a:br>
            <a:r>
              <a:rPr lang="en-US" sz="2400" dirty="0">
                <a:solidFill>
                  <a:schemeClr val="hlink"/>
                </a:solidFill>
              </a:rPr>
              <a:t>in an augmenting iteration.</a:t>
            </a:r>
          </a:p>
        </p:txBody>
      </p:sp>
      <p:sp>
        <p:nvSpPr>
          <p:cNvPr id="283686" name="Text Box 38" descr="Stationery"/>
          <p:cNvSpPr txBox="1">
            <a:spLocks noChangeArrowheads="1"/>
          </p:cNvSpPr>
          <p:nvPr/>
        </p:nvSpPr>
        <p:spPr bwMode="auto">
          <a:xfrm>
            <a:off x="0" y="838200"/>
            <a:ext cx="8855075" cy="1109663"/>
          </a:xfrm>
          <a:prstGeom prst="rect">
            <a:avLst/>
          </a:prstGeom>
          <a:noFill/>
          <a:ln>
            <a:noFill/>
          </a:ln>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marL="481013" indent="-481013">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None/>
            </a:pPr>
            <a:r>
              <a:rPr lang="en-US" sz="2000" b="1">
                <a:solidFill>
                  <a:srgbClr val="CC0000"/>
                </a:solidFill>
              </a:rPr>
              <a:t>Blossom Shrinking:</a:t>
            </a:r>
            <a:r>
              <a:rPr lang="en-US" sz="2000"/>
              <a:t> </a:t>
            </a:r>
            <a:br>
              <a:rPr lang="en-US" sz="2000"/>
            </a:br>
            <a:r>
              <a:rPr lang="en-US" sz="2000"/>
              <a:t>When a blossom B is discovered, we shrink it to a new single node called B that inherits all incident edges to the blossom nodes. This can be done in O(E) time. </a:t>
            </a:r>
          </a:p>
        </p:txBody>
      </p:sp>
      <p:grpSp>
        <p:nvGrpSpPr>
          <p:cNvPr id="283825" name="Group 177"/>
          <p:cNvGrpSpPr>
            <a:grpSpLocks/>
          </p:cNvGrpSpPr>
          <p:nvPr/>
        </p:nvGrpSpPr>
        <p:grpSpPr bwMode="auto">
          <a:xfrm>
            <a:off x="234950" y="2057400"/>
            <a:ext cx="8293100" cy="2038350"/>
            <a:chOff x="148" y="1296"/>
            <a:chExt cx="5224" cy="1284"/>
          </a:xfrm>
        </p:grpSpPr>
        <p:sp>
          <p:nvSpPr>
            <p:cNvPr id="172039" name="Text Box 133"/>
            <p:cNvSpPr txBox="1">
              <a:spLocks noChangeArrowheads="1"/>
            </p:cNvSpPr>
            <p:nvPr/>
          </p:nvSpPr>
          <p:spPr bwMode="auto">
            <a:xfrm>
              <a:off x="2924" y="1296"/>
              <a:ext cx="187"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c</a:t>
              </a:r>
            </a:p>
          </p:txBody>
        </p:sp>
        <p:sp>
          <p:nvSpPr>
            <p:cNvPr id="172040" name="Line 142"/>
            <p:cNvSpPr>
              <a:spLocks noChangeShapeType="1"/>
            </p:cNvSpPr>
            <p:nvPr/>
          </p:nvSpPr>
          <p:spPr bwMode="auto">
            <a:xfrm>
              <a:off x="2632" y="2016"/>
              <a:ext cx="336"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2041" name="Line 141"/>
            <p:cNvSpPr>
              <a:spLocks noChangeShapeType="1"/>
            </p:cNvSpPr>
            <p:nvPr/>
          </p:nvSpPr>
          <p:spPr bwMode="auto">
            <a:xfrm>
              <a:off x="576" y="2016"/>
              <a:ext cx="336"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2042" name="Line 42"/>
            <p:cNvSpPr>
              <a:spLocks noChangeShapeType="1"/>
            </p:cNvSpPr>
            <p:nvPr/>
          </p:nvSpPr>
          <p:spPr bwMode="auto">
            <a:xfrm>
              <a:off x="912" y="2016"/>
              <a:ext cx="3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43" name="Line 43"/>
            <p:cNvSpPr>
              <a:spLocks noChangeShapeType="1"/>
            </p:cNvSpPr>
            <p:nvPr/>
          </p:nvSpPr>
          <p:spPr bwMode="auto">
            <a:xfrm>
              <a:off x="912" y="2448"/>
              <a:ext cx="3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44" name="Line 44"/>
            <p:cNvSpPr>
              <a:spLocks noChangeShapeType="1"/>
            </p:cNvSpPr>
            <p:nvPr/>
          </p:nvSpPr>
          <p:spPr bwMode="auto">
            <a:xfrm>
              <a:off x="1244" y="2016"/>
              <a:ext cx="3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45" name="Line 45"/>
            <p:cNvSpPr>
              <a:spLocks noChangeShapeType="1"/>
            </p:cNvSpPr>
            <p:nvPr/>
          </p:nvSpPr>
          <p:spPr bwMode="auto">
            <a:xfrm>
              <a:off x="1244" y="2064"/>
              <a:ext cx="0" cy="3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46" name="Line 46"/>
            <p:cNvSpPr>
              <a:spLocks noChangeShapeType="1"/>
            </p:cNvSpPr>
            <p:nvPr/>
          </p:nvSpPr>
          <p:spPr bwMode="auto">
            <a:xfrm>
              <a:off x="244" y="1584"/>
              <a:ext cx="3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47" name="Line 47"/>
            <p:cNvSpPr>
              <a:spLocks noChangeShapeType="1"/>
            </p:cNvSpPr>
            <p:nvPr/>
          </p:nvSpPr>
          <p:spPr bwMode="auto">
            <a:xfrm flipH="1" flipV="1">
              <a:off x="580" y="2016"/>
              <a:ext cx="3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48" name="Line 48"/>
            <p:cNvSpPr>
              <a:spLocks noChangeShapeType="1"/>
            </p:cNvSpPr>
            <p:nvPr/>
          </p:nvSpPr>
          <p:spPr bwMode="auto">
            <a:xfrm>
              <a:off x="576" y="1584"/>
              <a:ext cx="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49" name="Line 49"/>
            <p:cNvSpPr>
              <a:spLocks noChangeShapeType="1"/>
            </p:cNvSpPr>
            <p:nvPr/>
          </p:nvSpPr>
          <p:spPr bwMode="auto">
            <a:xfrm>
              <a:off x="912" y="1584"/>
              <a:ext cx="3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50" name="Line 50"/>
            <p:cNvSpPr>
              <a:spLocks noChangeShapeType="1"/>
            </p:cNvSpPr>
            <p:nvPr/>
          </p:nvSpPr>
          <p:spPr bwMode="auto">
            <a:xfrm>
              <a:off x="580" y="1584"/>
              <a:ext cx="332"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51" name="Line 51"/>
            <p:cNvSpPr>
              <a:spLocks noChangeShapeType="1"/>
            </p:cNvSpPr>
            <p:nvPr/>
          </p:nvSpPr>
          <p:spPr bwMode="auto">
            <a:xfrm flipH="1">
              <a:off x="1244" y="2016"/>
              <a:ext cx="388" cy="43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52" name="Line 52"/>
            <p:cNvSpPr>
              <a:spLocks noChangeShapeType="1"/>
            </p:cNvSpPr>
            <p:nvPr/>
          </p:nvSpPr>
          <p:spPr bwMode="auto">
            <a:xfrm>
              <a:off x="912" y="2016"/>
              <a:ext cx="0" cy="48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2053" name="Line 53"/>
            <p:cNvSpPr>
              <a:spLocks noChangeShapeType="1"/>
            </p:cNvSpPr>
            <p:nvPr/>
          </p:nvSpPr>
          <p:spPr bwMode="auto">
            <a:xfrm>
              <a:off x="1244" y="1584"/>
              <a:ext cx="0" cy="43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54" name="Oval 54"/>
            <p:cNvSpPr>
              <a:spLocks noChangeArrowheads="1"/>
            </p:cNvSpPr>
            <p:nvPr/>
          </p:nvSpPr>
          <p:spPr bwMode="auto">
            <a:xfrm>
              <a:off x="196" y="1536"/>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55" name="Oval 55"/>
            <p:cNvSpPr>
              <a:spLocks noChangeArrowheads="1"/>
            </p:cNvSpPr>
            <p:nvPr/>
          </p:nvSpPr>
          <p:spPr bwMode="auto">
            <a:xfrm>
              <a:off x="528" y="153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56" name="Oval 56"/>
            <p:cNvSpPr>
              <a:spLocks noChangeArrowheads="1"/>
            </p:cNvSpPr>
            <p:nvPr/>
          </p:nvSpPr>
          <p:spPr bwMode="auto">
            <a:xfrm>
              <a:off x="1196" y="1536"/>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57" name="Oval 57"/>
            <p:cNvSpPr>
              <a:spLocks noChangeArrowheads="1"/>
            </p:cNvSpPr>
            <p:nvPr/>
          </p:nvSpPr>
          <p:spPr bwMode="auto">
            <a:xfrm>
              <a:off x="864" y="1968"/>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58" name="Oval 58"/>
            <p:cNvSpPr>
              <a:spLocks noChangeArrowheads="1"/>
            </p:cNvSpPr>
            <p:nvPr/>
          </p:nvSpPr>
          <p:spPr bwMode="auto">
            <a:xfrm>
              <a:off x="1196" y="1968"/>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59" name="Oval 59"/>
            <p:cNvSpPr>
              <a:spLocks noChangeArrowheads="1"/>
            </p:cNvSpPr>
            <p:nvPr/>
          </p:nvSpPr>
          <p:spPr bwMode="auto">
            <a:xfrm>
              <a:off x="864" y="1536"/>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60" name="Oval 60"/>
            <p:cNvSpPr>
              <a:spLocks noChangeArrowheads="1"/>
            </p:cNvSpPr>
            <p:nvPr/>
          </p:nvSpPr>
          <p:spPr bwMode="auto">
            <a:xfrm>
              <a:off x="528" y="1968"/>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61" name="Oval 61"/>
            <p:cNvSpPr>
              <a:spLocks noChangeArrowheads="1"/>
            </p:cNvSpPr>
            <p:nvPr/>
          </p:nvSpPr>
          <p:spPr bwMode="auto">
            <a:xfrm>
              <a:off x="864" y="2400"/>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62" name="Oval 62"/>
            <p:cNvSpPr>
              <a:spLocks noChangeArrowheads="1"/>
            </p:cNvSpPr>
            <p:nvPr/>
          </p:nvSpPr>
          <p:spPr bwMode="auto">
            <a:xfrm>
              <a:off x="1584" y="1968"/>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63" name="Oval 63"/>
            <p:cNvSpPr>
              <a:spLocks noChangeArrowheads="1"/>
            </p:cNvSpPr>
            <p:nvPr/>
          </p:nvSpPr>
          <p:spPr bwMode="auto">
            <a:xfrm>
              <a:off x="1196" y="2400"/>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64" name="Text Box 64"/>
            <p:cNvSpPr txBox="1">
              <a:spLocks noChangeArrowheads="1"/>
            </p:cNvSpPr>
            <p:nvPr/>
          </p:nvSpPr>
          <p:spPr bwMode="auto">
            <a:xfrm>
              <a:off x="148" y="1584"/>
              <a:ext cx="187"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a</a:t>
              </a:r>
            </a:p>
          </p:txBody>
        </p:sp>
        <p:sp>
          <p:nvSpPr>
            <p:cNvPr id="172065" name="Text Box 65"/>
            <p:cNvSpPr txBox="1">
              <a:spLocks noChangeArrowheads="1"/>
            </p:cNvSpPr>
            <p:nvPr/>
          </p:nvSpPr>
          <p:spPr bwMode="auto">
            <a:xfrm>
              <a:off x="340" y="1920"/>
              <a:ext cx="187"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e</a:t>
              </a:r>
            </a:p>
          </p:txBody>
        </p:sp>
        <p:sp>
          <p:nvSpPr>
            <p:cNvPr id="172066" name="Text Box 66"/>
            <p:cNvSpPr txBox="1">
              <a:spLocks noChangeArrowheads="1"/>
            </p:cNvSpPr>
            <p:nvPr/>
          </p:nvSpPr>
          <p:spPr bwMode="auto">
            <a:xfrm>
              <a:off x="480" y="1344"/>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b</a:t>
              </a:r>
            </a:p>
          </p:txBody>
        </p:sp>
        <p:sp>
          <p:nvSpPr>
            <p:cNvPr id="172067" name="Text Box 67"/>
            <p:cNvSpPr txBox="1">
              <a:spLocks noChangeArrowheads="1"/>
            </p:cNvSpPr>
            <p:nvPr/>
          </p:nvSpPr>
          <p:spPr bwMode="auto">
            <a:xfrm>
              <a:off x="864" y="1296"/>
              <a:ext cx="187"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c</a:t>
              </a:r>
            </a:p>
          </p:txBody>
        </p:sp>
        <p:sp>
          <p:nvSpPr>
            <p:cNvPr id="172068" name="Text Box 68"/>
            <p:cNvSpPr txBox="1">
              <a:spLocks noChangeArrowheads="1"/>
            </p:cNvSpPr>
            <p:nvPr/>
          </p:nvSpPr>
          <p:spPr bwMode="auto">
            <a:xfrm>
              <a:off x="1248" y="1440"/>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d</a:t>
              </a:r>
            </a:p>
          </p:txBody>
        </p:sp>
        <p:sp>
          <p:nvSpPr>
            <p:cNvPr id="172069" name="Text Box 69"/>
            <p:cNvSpPr txBox="1">
              <a:spLocks noChangeArrowheads="1"/>
            </p:cNvSpPr>
            <p:nvPr/>
          </p:nvSpPr>
          <p:spPr bwMode="auto">
            <a:xfrm>
              <a:off x="816" y="1728"/>
              <a:ext cx="169"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f</a:t>
              </a:r>
            </a:p>
          </p:txBody>
        </p:sp>
        <p:sp>
          <p:nvSpPr>
            <p:cNvPr id="172070" name="Text Box 70"/>
            <p:cNvSpPr txBox="1">
              <a:spLocks noChangeArrowheads="1"/>
            </p:cNvSpPr>
            <p:nvPr/>
          </p:nvSpPr>
          <p:spPr bwMode="auto">
            <a:xfrm>
              <a:off x="1248" y="1776"/>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g</a:t>
              </a:r>
            </a:p>
          </p:txBody>
        </p:sp>
        <p:sp>
          <p:nvSpPr>
            <p:cNvPr id="172071" name="Text Box 71"/>
            <p:cNvSpPr txBox="1">
              <a:spLocks noChangeArrowheads="1"/>
            </p:cNvSpPr>
            <p:nvPr/>
          </p:nvSpPr>
          <p:spPr bwMode="auto">
            <a:xfrm>
              <a:off x="1584" y="2016"/>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h</a:t>
              </a:r>
            </a:p>
          </p:txBody>
        </p:sp>
        <p:sp>
          <p:nvSpPr>
            <p:cNvPr id="172072" name="Text Box 72"/>
            <p:cNvSpPr txBox="1">
              <a:spLocks noChangeArrowheads="1"/>
            </p:cNvSpPr>
            <p:nvPr/>
          </p:nvSpPr>
          <p:spPr bwMode="auto">
            <a:xfrm>
              <a:off x="690" y="2304"/>
              <a:ext cx="160"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i</a:t>
              </a:r>
            </a:p>
          </p:txBody>
        </p:sp>
        <p:sp>
          <p:nvSpPr>
            <p:cNvPr id="172073" name="Text Box 73"/>
            <p:cNvSpPr txBox="1">
              <a:spLocks noChangeArrowheads="1"/>
            </p:cNvSpPr>
            <p:nvPr/>
          </p:nvSpPr>
          <p:spPr bwMode="auto">
            <a:xfrm>
              <a:off x="1310" y="2352"/>
              <a:ext cx="160"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j</a:t>
              </a:r>
            </a:p>
          </p:txBody>
        </p:sp>
        <p:sp>
          <p:nvSpPr>
            <p:cNvPr id="172074" name="AutoShape 106"/>
            <p:cNvSpPr>
              <a:spLocks noChangeArrowheads="1"/>
            </p:cNvSpPr>
            <p:nvPr/>
          </p:nvSpPr>
          <p:spPr bwMode="auto">
            <a:xfrm>
              <a:off x="1728" y="1728"/>
              <a:ext cx="384" cy="144"/>
            </a:xfrm>
            <a:prstGeom prst="rightArrow">
              <a:avLst>
                <a:gd name="adj1" fmla="val 50000"/>
                <a:gd name="adj2" fmla="val 66667"/>
              </a:avLst>
            </a:prstGeom>
            <a:solidFill>
              <a:srgbClr val="CC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72075" name="Line 108"/>
            <p:cNvSpPr>
              <a:spLocks noChangeShapeType="1"/>
            </p:cNvSpPr>
            <p:nvPr/>
          </p:nvSpPr>
          <p:spPr bwMode="auto">
            <a:xfrm>
              <a:off x="2972" y="2016"/>
              <a:ext cx="4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76" name="Line 109"/>
            <p:cNvSpPr>
              <a:spLocks noChangeShapeType="1"/>
            </p:cNvSpPr>
            <p:nvPr/>
          </p:nvSpPr>
          <p:spPr bwMode="auto">
            <a:xfrm flipV="1">
              <a:off x="2972" y="2016"/>
              <a:ext cx="436"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77" name="Line 112"/>
            <p:cNvSpPr>
              <a:spLocks noChangeShapeType="1"/>
            </p:cNvSpPr>
            <p:nvPr/>
          </p:nvSpPr>
          <p:spPr bwMode="auto">
            <a:xfrm>
              <a:off x="2304" y="1584"/>
              <a:ext cx="3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78" name="Line 113"/>
            <p:cNvSpPr>
              <a:spLocks noChangeShapeType="1"/>
            </p:cNvSpPr>
            <p:nvPr/>
          </p:nvSpPr>
          <p:spPr bwMode="auto">
            <a:xfrm flipH="1" flipV="1">
              <a:off x="2640" y="2016"/>
              <a:ext cx="3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79" name="Line 114"/>
            <p:cNvSpPr>
              <a:spLocks noChangeShapeType="1"/>
            </p:cNvSpPr>
            <p:nvPr/>
          </p:nvSpPr>
          <p:spPr bwMode="auto">
            <a:xfrm>
              <a:off x="2636" y="1584"/>
              <a:ext cx="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80" name="Line 115"/>
            <p:cNvSpPr>
              <a:spLocks noChangeShapeType="1"/>
            </p:cNvSpPr>
            <p:nvPr/>
          </p:nvSpPr>
          <p:spPr bwMode="auto">
            <a:xfrm>
              <a:off x="2972" y="1584"/>
              <a:ext cx="4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81" name="Line 116"/>
            <p:cNvSpPr>
              <a:spLocks noChangeShapeType="1"/>
            </p:cNvSpPr>
            <p:nvPr/>
          </p:nvSpPr>
          <p:spPr bwMode="auto">
            <a:xfrm>
              <a:off x="2640" y="1584"/>
              <a:ext cx="332"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82" name="Line 118"/>
            <p:cNvSpPr>
              <a:spLocks noChangeShapeType="1"/>
            </p:cNvSpPr>
            <p:nvPr/>
          </p:nvSpPr>
          <p:spPr bwMode="auto">
            <a:xfrm>
              <a:off x="2972" y="2016"/>
              <a:ext cx="0" cy="48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2083" name="Line 119"/>
            <p:cNvSpPr>
              <a:spLocks noChangeShapeType="1"/>
            </p:cNvSpPr>
            <p:nvPr/>
          </p:nvSpPr>
          <p:spPr bwMode="auto">
            <a:xfrm>
              <a:off x="3408" y="1584"/>
              <a:ext cx="0" cy="43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084" name="Oval 120"/>
            <p:cNvSpPr>
              <a:spLocks noChangeArrowheads="1"/>
            </p:cNvSpPr>
            <p:nvPr/>
          </p:nvSpPr>
          <p:spPr bwMode="auto">
            <a:xfrm>
              <a:off x="2256" y="1536"/>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85" name="Oval 121"/>
            <p:cNvSpPr>
              <a:spLocks noChangeArrowheads="1"/>
            </p:cNvSpPr>
            <p:nvPr/>
          </p:nvSpPr>
          <p:spPr bwMode="auto">
            <a:xfrm>
              <a:off x="2588" y="153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86" name="Oval 122"/>
            <p:cNvSpPr>
              <a:spLocks noChangeArrowheads="1"/>
            </p:cNvSpPr>
            <p:nvPr/>
          </p:nvSpPr>
          <p:spPr bwMode="auto">
            <a:xfrm>
              <a:off x="3360" y="1536"/>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87" name="Oval 123"/>
            <p:cNvSpPr>
              <a:spLocks noChangeArrowheads="1"/>
            </p:cNvSpPr>
            <p:nvPr/>
          </p:nvSpPr>
          <p:spPr bwMode="auto">
            <a:xfrm>
              <a:off x="2924" y="1968"/>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88" name="Oval 124"/>
            <p:cNvSpPr>
              <a:spLocks noChangeArrowheads="1"/>
            </p:cNvSpPr>
            <p:nvPr/>
          </p:nvSpPr>
          <p:spPr bwMode="auto">
            <a:xfrm>
              <a:off x="3360" y="1968"/>
              <a:ext cx="96" cy="96"/>
            </a:xfrm>
            <a:prstGeom prst="ellipse">
              <a:avLst/>
            </a:prstGeom>
            <a:solidFill>
              <a:schemeClr val="hlink"/>
            </a:solidFill>
            <a:ln w="571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89" name="Oval 125"/>
            <p:cNvSpPr>
              <a:spLocks noChangeArrowheads="1"/>
            </p:cNvSpPr>
            <p:nvPr/>
          </p:nvSpPr>
          <p:spPr bwMode="auto">
            <a:xfrm>
              <a:off x="2924" y="1536"/>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90" name="Oval 126"/>
            <p:cNvSpPr>
              <a:spLocks noChangeArrowheads="1"/>
            </p:cNvSpPr>
            <p:nvPr/>
          </p:nvSpPr>
          <p:spPr bwMode="auto">
            <a:xfrm>
              <a:off x="2588" y="1968"/>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91" name="Oval 127"/>
            <p:cNvSpPr>
              <a:spLocks noChangeArrowheads="1"/>
            </p:cNvSpPr>
            <p:nvPr/>
          </p:nvSpPr>
          <p:spPr bwMode="auto">
            <a:xfrm>
              <a:off x="2924" y="2400"/>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092" name="Text Box 130"/>
            <p:cNvSpPr txBox="1">
              <a:spLocks noChangeArrowheads="1"/>
            </p:cNvSpPr>
            <p:nvPr/>
          </p:nvSpPr>
          <p:spPr bwMode="auto">
            <a:xfrm>
              <a:off x="2208" y="1584"/>
              <a:ext cx="187"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a</a:t>
              </a:r>
            </a:p>
          </p:txBody>
        </p:sp>
        <p:sp>
          <p:nvSpPr>
            <p:cNvPr id="172093" name="Text Box 131"/>
            <p:cNvSpPr txBox="1">
              <a:spLocks noChangeArrowheads="1"/>
            </p:cNvSpPr>
            <p:nvPr/>
          </p:nvSpPr>
          <p:spPr bwMode="auto">
            <a:xfrm>
              <a:off x="2400" y="1920"/>
              <a:ext cx="187"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e</a:t>
              </a:r>
            </a:p>
          </p:txBody>
        </p:sp>
        <p:sp>
          <p:nvSpPr>
            <p:cNvPr id="172094" name="Text Box 132"/>
            <p:cNvSpPr txBox="1">
              <a:spLocks noChangeArrowheads="1"/>
            </p:cNvSpPr>
            <p:nvPr/>
          </p:nvSpPr>
          <p:spPr bwMode="auto">
            <a:xfrm>
              <a:off x="2540" y="1344"/>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b</a:t>
              </a:r>
            </a:p>
          </p:txBody>
        </p:sp>
        <p:sp>
          <p:nvSpPr>
            <p:cNvPr id="172095" name="Text Box 134"/>
            <p:cNvSpPr txBox="1">
              <a:spLocks noChangeArrowheads="1"/>
            </p:cNvSpPr>
            <p:nvPr/>
          </p:nvSpPr>
          <p:spPr bwMode="auto">
            <a:xfrm>
              <a:off x="3408" y="1440"/>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d</a:t>
              </a:r>
            </a:p>
          </p:txBody>
        </p:sp>
        <p:sp>
          <p:nvSpPr>
            <p:cNvPr id="172096" name="Text Box 135"/>
            <p:cNvSpPr txBox="1">
              <a:spLocks noChangeArrowheads="1"/>
            </p:cNvSpPr>
            <p:nvPr/>
          </p:nvSpPr>
          <p:spPr bwMode="auto">
            <a:xfrm>
              <a:off x="2876" y="1728"/>
              <a:ext cx="169"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f</a:t>
              </a:r>
            </a:p>
          </p:txBody>
        </p:sp>
        <p:sp>
          <p:nvSpPr>
            <p:cNvPr id="172097" name="Text Box 138"/>
            <p:cNvSpPr txBox="1">
              <a:spLocks noChangeArrowheads="1"/>
            </p:cNvSpPr>
            <p:nvPr/>
          </p:nvSpPr>
          <p:spPr bwMode="auto">
            <a:xfrm>
              <a:off x="2750" y="2304"/>
              <a:ext cx="160"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i</a:t>
              </a:r>
            </a:p>
          </p:txBody>
        </p:sp>
        <p:sp>
          <p:nvSpPr>
            <p:cNvPr id="172098" name="Text Box 143" descr="Stationery"/>
            <p:cNvSpPr txBox="1">
              <a:spLocks noChangeArrowheads="1"/>
            </p:cNvSpPr>
            <p:nvPr/>
          </p:nvSpPr>
          <p:spPr bwMode="auto">
            <a:xfrm>
              <a:off x="2975" y="1985"/>
              <a:ext cx="260" cy="235"/>
            </a:xfrm>
            <a:prstGeom prst="rect">
              <a:avLst/>
            </a:prstGeom>
            <a:noFill/>
            <a:ln>
              <a:noFill/>
            </a:ln>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b="1">
                  <a:solidFill>
                    <a:schemeClr val="hlink"/>
                  </a:solidFill>
                </a:rPr>
                <a:t>B</a:t>
              </a:r>
              <a:r>
                <a:rPr lang="en-US" sz="1800" b="1" baseline="-25000">
                  <a:solidFill>
                    <a:schemeClr val="hlink"/>
                  </a:solidFill>
                </a:rPr>
                <a:t>2</a:t>
              </a:r>
            </a:p>
          </p:txBody>
        </p:sp>
        <p:sp>
          <p:nvSpPr>
            <p:cNvPr id="172099" name="Text Box 144" descr="Stationery"/>
            <p:cNvSpPr txBox="1">
              <a:spLocks noChangeArrowheads="1"/>
            </p:cNvSpPr>
            <p:nvPr/>
          </p:nvSpPr>
          <p:spPr bwMode="auto">
            <a:xfrm>
              <a:off x="3463" y="1889"/>
              <a:ext cx="260" cy="235"/>
            </a:xfrm>
            <a:prstGeom prst="rect">
              <a:avLst/>
            </a:prstGeom>
            <a:noFill/>
            <a:ln>
              <a:noFill/>
            </a:ln>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b="1">
                  <a:solidFill>
                    <a:schemeClr val="hlink"/>
                  </a:solidFill>
                </a:rPr>
                <a:t>B</a:t>
              </a:r>
              <a:r>
                <a:rPr lang="en-US" sz="1800" b="1" baseline="-25000">
                  <a:solidFill>
                    <a:schemeClr val="hlink"/>
                  </a:solidFill>
                </a:rPr>
                <a:t>1</a:t>
              </a:r>
            </a:p>
          </p:txBody>
        </p:sp>
        <p:sp>
          <p:nvSpPr>
            <p:cNvPr id="172100" name="Text Box 145" descr="Stationery"/>
            <p:cNvSpPr txBox="1">
              <a:spLocks noChangeArrowheads="1"/>
            </p:cNvSpPr>
            <p:nvPr/>
          </p:nvSpPr>
          <p:spPr bwMode="auto">
            <a:xfrm>
              <a:off x="1255" y="1985"/>
              <a:ext cx="260" cy="235"/>
            </a:xfrm>
            <a:prstGeom prst="rect">
              <a:avLst/>
            </a:prstGeom>
            <a:noFill/>
            <a:ln>
              <a:noFill/>
            </a:ln>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b="1">
                  <a:solidFill>
                    <a:schemeClr val="hlink"/>
                  </a:solidFill>
                </a:rPr>
                <a:t>B</a:t>
              </a:r>
              <a:r>
                <a:rPr lang="en-US" sz="1800" b="1" baseline="-25000">
                  <a:solidFill>
                    <a:schemeClr val="hlink"/>
                  </a:solidFill>
                </a:rPr>
                <a:t>1</a:t>
              </a:r>
            </a:p>
          </p:txBody>
        </p:sp>
        <p:sp>
          <p:nvSpPr>
            <p:cNvPr id="172101" name="AutoShape 146"/>
            <p:cNvSpPr>
              <a:spLocks noChangeArrowheads="1"/>
            </p:cNvSpPr>
            <p:nvPr/>
          </p:nvSpPr>
          <p:spPr bwMode="auto">
            <a:xfrm>
              <a:off x="3648" y="1776"/>
              <a:ext cx="384" cy="144"/>
            </a:xfrm>
            <a:prstGeom prst="rightArrow">
              <a:avLst>
                <a:gd name="adj1" fmla="val 50000"/>
                <a:gd name="adj2" fmla="val 66667"/>
              </a:avLst>
            </a:prstGeom>
            <a:solidFill>
              <a:srgbClr val="CC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72102" name="Line 150"/>
            <p:cNvSpPr>
              <a:spLocks noChangeShapeType="1"/>
            </p:cNvSpPr>
            <p:nvPr/>
          </p:nvSpPr>
          <p:spPr bwMode="auto">
            <a:xfrm>
              <a:off x="4176" y="1584"/>
              <a:ext cx="3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103" name="Line 151"/>
            <p:cNvSpPr>
              <a:spLocks noChangeShapeType="1"/>
            </p:cNvSpPr>
            <p:nvPr/>
          </p:nvSpPr>
          <p:spPr bwMode="auto">
            <a:xfrm flipH="1" flipV="1">
              <a:off x="4512" y="2016"/>
              <a:ext cx="3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104" name="Line 152"/>
            <p:cNvSpPr>
              <a:spLocks noChangeShapeType="1"/>
            </p:cNvSpPr>
            <p:nvPr/>
          </p:nvSpPr>
          <p:spPr bwMode="auto">
            <a:xfrm>
              <a:off x="4508" y="1584"/>
              <a:ext cx="0"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105" name="Line 153"/>
            <p:cNvSpPr>
              <a:spLocks noChangeShapeType="1"/>
            </p:cNvSpPr>
            <p:nvPr/>
          </p:nvSpPr>
          <p:spPr bwMode="auto">
            <a:xfrm>
              <a:off x="4844" y="1584"/>
              <a:ext cx="3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106" name="Line 154"/>
            <p:cNvSpPr>
              <a:spLocks noChangeShapeType="1"/>
            </p:cNvSpPr>
            <p:nvPr/>
          </p:nvSpPr>
          <p:spPr bwMode="auto">
            <a:xfrm>
              <a:off x="4512" y="1584"/>
              <a:ext cx="332"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107" name="Line 156"/>
            <p:cNvSpPr>
              <a:spLocks noChangeShapeType="1"/>
            </p:cNvSpPr>
            <p:nvPr/>
          </p:nvSpPr>
          <p:spPr bwMode="auto">
            <a:xfrm flipH="1">
              <a:off x="4895" y="1584"/>
              <a:ext cx="281" cy="401"/>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2108" name="Oval 157"/>
            <p:cNvSpPr>
              <a:spLocks noChangeArrowheads="1"/>
            </p:cNvSpPr>
            <p:nvPr/>
          </p:nvSpPr>
          <p:spPr bwMode="auto">
            <a:xfrm>
              <a:off x="4128" y="1536"/>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109" name="Oval 158"/>
            <p:cNvSpPr>
              <a:spLocks noChangeArrowheads="1"/>
            </p:cNvSpPr>
            <p:nvPr/>
          </p:nvSpPr>
          <p:spPr bwMode="auto">
            <a:xfrm>
              <a:off x="4460" y="153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110" name="Oval 159"/>
            <p:cNvSpPr>
              <a:spLocks noChangeArrowheads="1"/>
            </p:cNvSpPr>
            <p:nvPr/>
          </p:nvSpPr>
          <p:spPr bwMode="auto">
            <a:xfrm>
              <a:off x="5128" y="1536"/>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111" name="Oval 161"/>
            <p:cNvSpPr>
              <a:spLocks noChangeArrowheads="1"/>
            </p:cNvSpPr>
            <p:nvPr/>
          </p:nvSpPr>
          <p:spPr bwMode="auto">
            <a:xfrm>
              <a:off x="4847" y="1985"/>
              <a:ext cx="96" cy="96"/>
            </a:xfrm>
            <a:prstGeom prst="ellipse">
              <a:avLst/>
            </a:prstGeom>
            <a:solidFill>
              <a:schemeClr val="hlink"/>
            </a:solidFill>
            <a:ln w="571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112" name="Oval 162"/>
            <p:cNvSpPr>
              <a:spLocks noChangeArrowheads="1"/>
            </p:cNvSpPr>
            <p:nvPr/>
          </p:nvSpPr>
          <p:spPr bwMode="auto">
            <a:xfrm>
              <a:off x="4796" y="1536"/>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113" name="Oval 163"/>
            <p:cNvSpPr>
              <a:spLocks noChangeArrowheads="1"/>
            </p:cNvSpPr>
            <p:nvPr/>
          </p:nvSpPr>
          <p:spPr bwMode="auto">
            <a:xfrm>
              <a:off x="4460" y="1968"/>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2114" name="Text Box 165"/>
            <p:cNvSpPr txBox="1">
              <a:spLocks noChangeArrowheads="1"/>
            </p:cNvSpPr>
            <p:nvPr/>
          </p:nvSpPr>
          <p:spPr bwMode="auto">
            <a:xfrm>
              <a:off x="4080" y="1584"/>
              <a:ext cx="187"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a</a:t>
              </a:r>
            </a:p>
          </p:txBody>
        </p:sp>
        <p:sp>
          <p:nvSpPr>
            <p:cNvPr id="172115" name="Text Box 166"/>
            <p:cNvSpPr txBox="1">
              <a:spLocks noChangeArrowheads="1"/>
            </p:cNvSpPr>
            <p:nvPr/>
          </p:nvSpPr>
          <p:spPr bwMode="auto">
            <a:xfrm>
              <a:off x="4272" y="1920"/>
              <a:ext cx="187"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e</a:t>
              </a:r>
            </a:p>
          </p:txBody>
        </p:sp>
        <p:sp>
          <p:nvSpPr>
            <p:cNvPr id="172116" name="Text Box 167"/>
            <p:cNvSpPr txBox="1">
              <a:spLocks noChangeArrowheads="1"/>
            </p:cNvSpPr>
            <p:nvPr/>
          </p:nvSpPr>
          <p:spPr bwMode="auto">
            <a:xfrm>
              <a:off x="4412" y="1344"/>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b</a:t>
              </a:r>
            </a:p>
          </p:txBody>
        </p:sp>
        <p:sp>
          <p:nvSpPr>
            <p:cNvPr id="172117" name="Text Box 168"/>
            <p:cNvSpPr txBox="1">
              <a:spLocks noChangeArrowheads="1"/>
            </p:cNvSpPr>
            <p:nvPr/>
          </p:nvSpPr>
          <p:spPr bwMode="auto">
            <a:xfrm>
              <a:off x="4796" y="1296"/>
              <a:ext cx="187"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c</a:t>
              </a:r>
            </a:p>
          </p:txBody>
        </p:sp>
        <p:sp>
          <p:nvSpPr>
            <p:cNvPr id="172118" name="Text Box 169"/>
            <p:cNvSpPr txBox="1">
              <a:spLocks noChangeArrowheads="1"/>
            </p:cNvSpPr>
            <p:nvPr/>
          </p:nvSpPr>
          <p:spPr bwMode="auto">
            <a:xfrm>
              <a:off x="5176" y="1440"/>
              <a:ext cx="196"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2000"/>
                <a:t>d</a:t>
              </a:r>
            </a:p>
          </p:txBody>
        </p:sp>
        <p:sp>
          <p:nvSpPr>
            <p:cNvPr id="172119" name="Text Box 172" descr="Stationery"/>
            <p:cNvSpPr txBox="1">
              <a:spLocks noChangeArrowheads="1"/>
            </p:cNvSpPr>
            <p:nvPr/>
          </p:nvSpPr>
          <p:spPr bwMode="auto">
            <a:xfrm>
              <a:off x="4943" y="1937"/>
              <a:ext cx="260" cy="235"/>
            </a:xfrm>
            <a:prstGeom prst="rect">
              <a:avLst/>
            </a:prstGeom>
            <a:noFill/>
            <a:ln>
              <a:noFill/>
            </a:ln>
            <a:effectLst/>
            <a:extLst>
              <a:ext uri="{909E8E84-426E-40DD-AFC4-6F175D3DCCD1}">
                <a14:hiddenFill xmlns:a14="http://schemas.microsoft.com/office/drawing/2010/main">
                  <a:blipFill dpi="0" rotWithShape="0">
                    <a:blip r:embed="rId3"/>
                    <a:srcRect/>
                    <a:tile tx="0" ty="0" sx="100000" sy="100000" flip="none" algn="tl"/>
                  </a:blip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b="1">
                  <a:solidFill>
                    <a:schemeClr val="hlink"/>
                  </a:solidFill>
                </a:rPr>
                <a:t>B</a:t>
              </a:r>
              <a:r>
                <a:rPr lang="en-US" sz="1800" b="1" baseline="-25000">
                  <a:solidFill>
                    <a:schemeClr val="hlink"/>
                  </a:solidFill>
                </a:rPr>
                <a:t>2</a:t>
              </a:r>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168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83650"/>
                                        </p:tgtEl>
                                        <p:attrNameLst>
                                          <p:attrName>style.visibility</p:attrName>
                                        </p:attrNameLst>
                                      </p:cBhvr>
                                      <p:to>
                                        <p:strVal val="visible"/>
                                      </p:to>
                                    </p:set>
                                    <p:anim calcmode="lin" valueType="num">
                                      <p:cBhvr>
                                        <p:cTn id="7" dur="500" fill="hold"/>
                                        <p:tgtEl>
                                          <p:spTgt spid="283650"/>
                                        </p:tgtEl>
                                        <p:attrNameLst>
                                          <p:attrName>ppt_w</p:attrName>
                                        </p:attrNameLst>
                                      </p:cBhvr>
                                      <p:tavLst>
                                        <p:tav tm="0">
                                          <p:val>
                                            <p:fltVal val="0"/>
                                          </p:val>
                                        </p:tav>
                                        <p:tav tm="100000">
                                          <p:val>
                                            <p:strVal val="#ppt_w"/>
                                          </p:val>
                                        </p:tav>
                                      </p:tavLst>
                                    </p:anim>
                                    <p:anim calcmode="lin" valueType="num">
                                      <p:cBhvr>
                                        <p:cTn id="8" dur="500" fill="hold"/>
                                        <p:tgtEl>
                                          <p:spTgt spid="28365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83686"/>
                                        </p:tgtEl>
                                        <p:attrNameLst>
                                          <p:attrName>style.visibility</p:attrName>
                                        </p:attrNameLst>
                                      </p:cBhvr>
                                      <p:to>
                                        <p:strVal val="visible"/>
                                      </p:to>
                                    </p:set>
                                    <p:animEffect transition="in" filter="wipe(up)">
                                      <p:cBhvr>
                                        <p:cTn id="13" dur="500"/>
                                        <p:tgtEl>
                                          <p:spTgt spid="28368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83825"/>
                                        </p:tgtEl>
                                        <p:attrNameLst>
                                          <p:attrName>style.visibility</p:attrName>
                                        </p:attrNameLst>
                                      </p:cBhvr>
                                      <p:to>
                                        <p:strVal val="visible"/>
                                      </p:to>
                                    </p:set>
                                    <p:animEffect transition="in" filter="wipe(left)">
                                      <p:cBhvr>
                                        <p:cTn id="18" dur="500"/>
                                        <p:tgtEl>
                                          <p:spTgt spid="28382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83651"/>
                                        </p:tgtEl>
                                        <p:attrNameLst>
                                          <p:attrName>style.visibility</p:attrName>
                                        </p:attrNameLst>
                                      </p:cBhvr>
                                      <p:to>
                                        <p:strVal val="visible"/>
                                      </p:to>
                                    </p:set>
                                    <p:animEffect transition="in" filter="wipe(left)">
                                      <p:cBhvr>
                                        <p:cTn id="23" dur="500"/>
                                        <p:tgtEl>
                                          <p:spTgt spid="28365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83652"/>
                                        </p:tgtEl>
                                        <p:attrNameLst>
                                          <p:attrName>style.visibility</p:attrName>
                                        </p:attrNameLst>
                                      </p:cBhvr>
                                      <p:to>
                                        <p:strVal val="visible"/>
                                      </p:to>
                                    </p:set>
                                    <p:animEffect transition="in" filter="wipe(left)">
                                      <p:cBhvr>
                                        <p:cTn id="28" dur="500"/>
                                        <p:tgtEl>
                                          <p:spTgt spid="283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0" grpId="0" animBg="1" autoUpdateAnimBg="0"/>
      <p:bldP spid="283651" grpId="0" animBg="1" autoUpdateAnimBg="0"/>
      <p:bldP spid="283652" grpId="0" animBg="1" autoUpdateAnimBg="0"/>
      <p:bldP spid="283686" grpId="0" autoUpdateAnimBg="0"/>
    </p:bldLst>
  </p:timing>
</p:sld>
</file>

<file path=ppt/slides/slide1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chemeClr val="tx1"/>
                </a:solidFill>
                <a:latin typeface="Arial Rounded MT Bold" pitchFamily="34" charset="0"/>
              </a:rPr>
              <a:t>Blossom  Expansion</a:t>
            </a:r>
          </a:p>
        </p:txBody>
      </p:sp>
      <p:sp>
        <p:nvSpPr>
          <p:cNvPr id="284678" name="Text Box 6" descr="Stationery"/>
          <p:cNvSpPr txBox="1">
            <a:spLocks noChangeArrowheads="1"/>
          </p:cNvSpPr>
          <p:nvPr/>
        </p:nvSpPr>
        <p:spPr bwMode="auto">
          <a:xfrm>
            <a:off x="152400" y="838200"/>
            <a:ext cx="8839200" cy="216217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marL="385763" indent="-385763">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115000"/>
              </a:lnSpc>
              <a:spcBef>
                <a:spcPct val="50000"/>
              </a:spcBef>
              <a:buFont typeface="Wingdings" pitchFamily="2" charset="2"/>
              <a:buNone/>
            </a:pPr>
            <a:r>
              <a:rPr lang="en-US" sz="2000" b="1">
                <a:solidFill>
                  <a:srgbClr val="CC0000"/>
                </a:solidFill>
              </a:rPr>
              <a:t>Blossom Expansion:</a:t>
            </a:r>
            <a:r>
              <a:rPr lang="en-US" sz="2000"/>
              <a:t> </a:t>
            </a:r>
            <a:br>
              <a:rPr lang="en-US" sz="2000"/>
            </a:br>
            <a:r>
              <a:rPr lang="en-US" sz="2000"/>
              <a:t>When an augmenting path P is found, some of its nodes might be shrunken blossom nodes.</a:t>
            </a:r>
            <a:br>
              <a:rPr lang="en-US" sz="2000"/>
            </a:br>
            <a:r>
              <a:rPr lang="en-US" sz="2000" b="1">
                <a:solidFill>
                  <a:srgbClr val="CC0000"/>
                </a:solidFill>
              </a:rPr>
              <a:t>Expand</a:t>
            </a:r>
            <a:r>
              <a:rPr lang="en-US" sz="2000"/>
              <a:t> these blossoms back to their original state (in reverse order of nesting) and </a:t>
            </a:r>
            <a:r>
              <a:rPr lang="en-US" sz="2000">
                <a:solidFill>
                  <a:srgbClr val="CC0000"/>
                </a:solidFill>
              </a:rPr>
              <a:t>re-route P</a:t>
            </a:r>
            <a:r>
              <a:rPr lang="en-US" sz="2000"/>
              <a:t> </a:t>
            </a:r>
            <a:r>
              <a:rPr lang="en-US" sz="2000">
                <a:solidFill>
                  <a:srgbClr val="CC0000"/>
                </a:solidFill>
              </a:rPr>
              <a:t>appropriately</a:t>
            </a:r>
            <a:r>
              <a:rPr lang="en-US" sz="2000"/>
              <a:t> through the expanded blossoms until the expanded version of P is an augmenting path in G with no un-expanded blossom nodes.</a:t>
            </a:r>
          </a:p>
        </p:txBody>
      </p:sp>
      <p:grpSp>
        <p:nvGrpSpPr>
          <p:cNvPr id="284744" name="Group 72"/>
          <p:cNvGrpSpPr>
            <a:grpSpLocks/>
          </p:cNvGrpSpPr>
          <p:nvPr/>
        </p:nvGrpSpPr>
        <p:grpSpPr bwMode="auto">
          <a:xfrm>
            <a:off x="762000" y="3352800"/>
            <a:ext cx="7059613" cy="3267075"/>
            <a:chOff x="480" y="2112"/>
            <a:chExt cx="4447" cy="2058"/>
          </a:xfrm>
        </p:grpSpPr>
        <p:sp>
          <p:nvSpPr>
            <p:cNvPr id="173061" name="Line 68"/>
            <p:cNvSpPr>
              <a:spLocks noChangeShapeType="1"/>
            </p:cNvSpPr>
            <p:nvPr/>
          </p:nvSpPr>
          <p:spPr bwMode="auto">
            <a:xfrm>
              <a:off x="2256" y="2271"/>
              <a:ext cx="4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62" name="Line 43"/>
            <p:cNvSpPr>
              <a:spLocks noChangeShapeType="1"/>
            </p:cNvSpPr>
            <p:nvPr/>
          </p:nvSpPr>
          <p:spPr bwMode="auto">
            <a:xfrm>
              <a:off x="3456" y="3711"/>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63" name="Freeform 8"/>
            <p:cNvSpPr>
              <a:spLocks/>
            </p:cNvSpPr>
            <p:nvPr/>
          </p:nvSpPr>
          <p:spPr bwMode="auto">
            <a:xfrm>
              <a:off x="738" y="3475"/>
              <a:ext cx="894" cy="90"/>
            </a:xfrm>
            <a:custGeom>
              <a:avLst/>
              <a:gdLst>
                <a:gd name="T0" fmla="*/ 894 w 894"/>
                <a:gd name="T1" fmla="*/ 30 h 90"/>
                <a:gd name="T2" fmla="*/ 528 w 894"/>
                <a:gd name="T3" fmla="*/ 28 h 90"/>
                <a:gd name="T4" fmla="*/ 420 w 894"/>
                <a:gd name="T5" fmla="*/ 82 h 90"/>
                <a:gd name="T6" fmla="*/ 332 w 894"/>
                <a:gd name="T7" fmla="*/ 1 h 90"/>
                <a:gd name="T8" fmla="*/ 250 w 894"/>
                <a:gd name="T9" fmla="*/ 89 h 90"/>
                <a:gd name="T10" fmla="*/ 176 w 894"/>
                <a:gd name="T11" fmla="*/ 7 h 90"/>
                <a:gd name="T12" fmla="*/ 88 w 894"/>
                <a:gd name="T13" fmla="*/ 82 h 90"/>
                <a:gd name="T14" fmla="*/ 0 w 894"/>
                <a:gd name="T15" fmla="*/ 28 h 9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4" h="90">
                  <a:moveTo>
                    <a:pt x="894" y="30"/>
                  </a:moveTo>
                  <a:lnTo>
                    <a:pt x="528" y="28"/>
                  </a:lnTo>
                  <a:cubicBezTo>
                    <a:pt x="449" y="37"/>
                    <a:pt x="453" y="87"/>
                    <a:pt x="420" y="82"/>
                  </a:cubicBezTo>
                  <a:cubicBezTo>
                    <a:pt x="387" y="77"/>
                    <a:pt x="360" y="0"/>
                    <a:pt x="332" y="1"/>
                  </a:cubicBezTo>
                  <a:cubicBezTo>
                    <a:pt x="304" y="2"/>
                    <a:pt x="276" y="88"/>
                    <a:pt x="250" y="89"/>
                  </a:cubicBezTo>
                  <a:cubicBezTo>
                    <a:pt x="224" y="90"/>
                    <a:pt x="203" y="8"/>
                    <a:pt x="176" y="7"/>
                  </a:cubicBezTo>
                  <a:cubicBezTo>
                    <a:pt x="149" y="6"/>
                    <a:pt x="117" y="79"/>
                    <a:pt x="88" y="82"/>
                  </a:cubicBezTo>
                  <a:cubicBezTo>
                    <a:pt x="59" y="85"/>
                    <a:pt x="18" y="39"/>
                    <a:pt x="0" y="28"/>
                  </a:cubicBez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3064" name="Line 9"/>
            <p:cNvSpPr>
              <a:spLocks noChangeShapeType="1"/>
            </p:cNvSpPr>
            <p:nvPr/>
          </p:nvSpPr>
          <p:spPr bwMode="auto">
            <a:xfrm flipV="1">
              <a:off x="1968" y="3279"/>
              <a:ext cx="336"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65" name="Line 10"/>
            <p:cNvSpPr>
              <a:spLocks noChangeShapeType="1"/>
            </p:cNvSpPr>
            <p:nvPr/>
          </p:nvSpPr>
          <p:spPr bwMode="auto">
            <a:xfrm>
              <a:off x="1968" y="3519"/>
              <a:ext cx="336"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66" name="Line 11"/>
            <p:cNvSpPr>
              <a:spLocks noChangeShapeType="1"/>
            </p:cNvSpPr>
            <p:nvPr/>
          </p:nvSpPr>
          <p:spPr bwMode="auto">
            <a:xfrm>
              <a:off x="3840" y="3279"/>
              <a:ext cx="0" cy="432"/>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67" name="Line 12"/>
            <p:cNvSpPr>
              <a:spLocks noChangeShapeType="1"/>
            </p:cNvSpPr>
            <p:nvPr/>
          </p:nvSpPr>
          <p:spPr bwMode="auto">
            <a:xfrm>
              <a:off x="3072" y="3279"/>
              <a:ext cx="384"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68" name="Line 13"/>
            <p:cNvSpPr>
              <a:spLocks noChangeShapeType="1"/>
            </p:cNvSpPr>
            <p:nvPr/>
          </p:nvSpPr>
          <p:spPr bwMode="auto">
            <a:xfrm>
              <a:off x="2688" y="3279"/>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69" name="Line 14"/>
            <p:cNvSpPr>
              <a:spLocks noChangeShapeType="1"/>
            </p:cNvSpPr>
            <p:nvPr/>
          </p:nvSpPr>
          <p:spPr bwMode="auto">
            <a:xfrm>
              <a:off x="2304" y="3279"/>
              <a:ext cx="384"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70" name="Oval 15"/>
            <p:cNvSpPr>
              <a:spLocks noChangeArrowheads="1"/>
            </p:cNvSpPr>
            <p:nvPr/>
          </p:nvSpPr>
          <p:spPr bwMode="auto">
            <a:xfrm>
              <a:off x="2256" y="3231"/>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071" name="Oval 16"/>
            <p:cNvSpPr>
              <a:spLocks noChangeArrowheads="1"/>
            </p:cNvSpPr>
            <p:nvPr/>
          </p:nvSpPr>
          <p:spPr bwMode="auto">
            <a:xfrm>
              <a:off x="3024" y="3231"/>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072" name="Oval 17"/>
            <p:cNvSpPr>
              <a:spLocks noChangeArrowheads="1"/>
            </p:cNvSpPr>
            <p:nvPr/>
          </p:nvSpPr>
          <p:spPr bwMode="auto">
            <a:xfrm>
              <a:off x="2640" y="3231"/>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073" name="Line 18"/>
            <p:cNvSpPr>
              <a:spLocks noChangeShapeType="1"/>
            </p:cNvSpPr>
            <p:nvPr/>
          </p:nvSpPr>
          <p:spPr bwMode="auto">
            <a:xfrm>
              <a:off x="3456" y="3279"/>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74" name="Oval 19"/>
            <p:cNvSpPr>
              <a:spLocks noChangeArrowheads="1"/>
            </p:cNvSpPr>
            <p:nvPr/>
          </p:nvSpPr>
          <p:spPr bwMode="auto">
            <a:xfrm>
              <a:off x="3792" y="3231"/>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075" name="Oval 20"/>
            <p:cNvSpPr>
              <a:spLocks noChangeArrowheads="1"/>
            </p:cNvSpPr>
            <p:nvPr/>
          </p:nvSpPr>
          <p:spPr bwMode="auto">
            <a:xfrm>
              <a:off x="3408" y="3231"/>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076" name="Line 21"/>
            <p:cNvSpPr>
              <a:spLocks noChangeShapeType="1"/>
            </p:cNvSpPr>
            <p:nvPr/>
          </p:nvSpPr>
          <p:spPr bwMode="auto">
            <a:xfrm>
              <a:off x="3072" y="3711"/>
              <a:ext cx="384"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77" name="Line 22"/>
            <p:cNvSpPr>
              <a:spLocks noChangeShapeType="1"/>
            </p:cNvSpPr>
            <p:nvPr/>
          </p:nvSpPr>
          <p:spPr bwMode="auto">
            <a:xfrm>
              <a:off x="2688" y="3711"/>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78" name="Line 23"/>
            <p:cNvSpPr>
              <a:spLocks noChangeShapeType="1"/>
            </p:cNvSpPr>
            <p:nvPr/>
          </p:nvSpPr>
          <p:spPr bwMode="auto">
            <a:xfrm>
              <a:off x="2304" y="3711"/>
              <a:ext cx="384"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79" name="Oval 24"/>
            <p:cNvSpPr>
              <a:spLocks noChangeArrowheads="1"/>
            </p:cNvSpPr>
            <p:nvPr/>
          </p:nvSpPr>
          <p:spPr bwMode="auto">
            <a:xfrm>
              <a:off x="2256" y="3663"/>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080" name="Oval 25"/>
            <p:cNvSpPr>
              <a:spLocks noChangeArrowheads="1"/>
            </p:cNvSpPr>
            <p:nvPr/>
          </p:nvSpPr>
          <p:spPr bwMode="auto">
            <a:xfrm>
              <a:off x="3024" y="3663"/>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081" name="Oval 26"/>
            <p:cNvSpPr>
              <a:spLocks noChangeArrowheads="1"/>
            </p:cNvSpPr>
            <p:nvPr/>
          </p:nvSpPr>
          <p:spPr bwMode="auto">
            <a:xfrm>
              <a:off x="2640" y="3663"/>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082" name="Line 27"/>
            <p:cNvSpPr>
              <a:spLocks noChangeShapeType="1"/>
            </p:cNvSpPr>
            <p:nvPr/>
          </p:nvSpPr>
          <p:spPr bwMode="auto">
            <a:xfrm>
              <a:off x="3456" y="3711"/>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83" name="Oval 28"/>
            <p:cNvSpPr>
              <a:spLocks noChangeArrowheads="1"/>
            </p:cNvSpPr>
            <p:nvPr/>
          </p:nvSpPr>
          <p:spPr bwMode="auto">
            <a:xfrm>
              <a:off x="3792" y="3663"/>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084" name="Oval 29"/>
            <p:cNvSpPr>
              <a:spLocks noChangeArrowheads="1"/>
            </p:cNvSpPr>
            <p:nvPr/>
          </p:nvSpPr>
          <p:spPr bwMode="auto">
            <a:xfrm>
              <a:off x="3408" y="3663"/>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085" name="Line 30"/>
            <p:cNvSpPr>
              <a:spLocks noChangeShapeType="1"/>
            </p:cNvSpPr>
            <p:nvPr/>
          </p:nvSpPr>
          <p:spPr bwMode="auto">
            <a:xfrm>
              <a:off x="1632" y="3519"/>
              <a:ext cx="336"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86" name="Oval 31"/>
            <p:cNvSpPr>
              <a:spLocks noChangeArrowheads="1"/>
            </p:cNvSpPr>
            <p:nvPr/>
          </p:nvSpPr>
          <p:spPr bwMode="auto">
            <a:xfrm>
              <a:off x="1584" y="3471"/>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73087" name="Oval 32"/>
            <p:cNvSpPr>
              <a:spLocks noChangeArrowheads="1"/>
            </p:cNvSpPr>
            <p:nvPr/>
          </p:nvSpPr>
          <p:spPr bwMode="auto">
            <a:xfrm>
              <a:off x="672" y="3457"/>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73088" name="Oval 33"/>
            <p:cNvSpPr>
              <a:spLocks noChangeArrowheads="1"/>
            </p:cNvSpPr>
            <p:nvPr/>
          </p:nvSpPr>
          <p:spPr bwMode="auto">
            <a:xfrm>
              <a:off x="1920" y="3471"/>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089" name="Text Box 35" descr="Stationery"/>
            <p:cNvSpPr txBox="1">
              <a:spLocks noChangeArrowheads="1"/>
            </p:cNvSpPr>
            <p:nvPr/>
          </p:nvSpPr>
          <p:spPr bwMode="auto">
            <a:xfrm>
              <a:off x="480" y="3313"/>
              <a:ext cx="196" cy="257"/>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u</a:t>
              </a:r>
            </a:p>
          </p:txBody>
        </p:sp>
        <p:sp>
          <p:nvSpPr>
            <p:cNvPr id="173090" name="Line 36"/>
            <p:cNvSpPr>
              <a:spLocks noChangeShapeType="1"/>
            </p:cNvSpPr>
            <p:nvPr/>
          </p:nvSpPr>
          <p:spPr bwMode="auto">
            <a:xfrm>
              <a:off x="3456" y="4095"/>
              <a:ext cx="384"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91" name="Oval 38"/>
            <p:cNvSpPr>
              <a:spLocks noChangeArrowheads="1"/>
            </p:cNvSpPr>
            <p:nvPr/>
          </p:nvSpPr>
          <p:spPr bwMode="auto">
            <a:xfrm>
              <a:off x="3408" y="4047"/>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092" name="Freeform 40"/>
            <p:cNvSpPr>
              <a:spLocks/>
            </p:cNvSpPr>
            <p:nvPr/>
          </p:nvSpPr>
          <p:spPr bwMode="auto">
            <a:xfrm>
              <a:off x="3840" y="4080"/>
              <a:ext cx="958" cy="54"/>
            </a:xfrm>
            <a:custGeom>
              <a:avLst/>
              <a:gdLst>
                <a:gd name="T0" fmla="*/ 0 w 958"/>
                <a:gd name="T1" fmla="*/ 15 h 54"/>
                <a:gd name="T2" fmla="*/ 355 w 958"/>
                <a:gd name="T3" fmla="*/ 13 h 54"/>
                <a:gd name="T4" fmla="*/ 456 w 958"/>
                <a:gd name="T5" fmla="*/ 54 h 54"/>
                <a:gd name="T6" fmla="*/ 544 w 958"/>
                <a:gd name="T7" fmla="*/ 13 h 54"/>
                <a:gd name="T8" fmla="*/ 646 w 958"/>
                <a:gd name="T9" fmla="*/ 47 h 54"/>
                <a:gd name="T10" fmla="*/ 741 w 958"/>
                <a:gd name="T11" fmla="*/ 0 h 54"/>
                <a:gd name="T12" fmla="*/ 843 w 958"/>
                <a:gd name="T13" fmla="*/ 47 h 54"/>
                <a:gd name="T14" fmla="*/ 958 w 958"/>
                <a:gd name="T15" fmla="*/ 13 h 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58" h="54">
                  <a:moveTo>
                    <a:pt x="0" y="15"/>
                  </a:moveTo>
                  <a:lnTo>
                    <a:pt x="355" y="13"/>
                  </a:lnTo>
                  <a:cubicBezTo>
                    <a:pt x="431" y="19"/>
                    <a:pt x="425" y="54"/>
                    <a:pt x="456" y="54"/>
                  </a:cubicBezTo>
                  <a:cubicBezTo>
                    <a:pt x="487" y="54"/>
                    <a:pt x="512" y="14"/>
                    <a:pt x="544" y="13"/>
                  </a:cubicBezTo>
                  <a:cubicBezTo>
                    <a:pt x="576" y="12"/>
                    <a:pt x="613" y="49"/>
                    <a:pt x="646" y="47"/>
                  </a:cubicBezTo>
                  <a:cubicBezTo>
                    <a:pt x="679" y="45"/>
                    <a:pt x="708" y="0"/>
                    <a:pt x="741" y="0"/>
                  </a:cubicBezTo>
                  <a:cubicBezTo>
                    <a:pt x="774" y="0"/>
                    <a:pt x="807" y="45"/>
                    <a:pt x="843" y="47"/>
                  </a:cubicBezTo>
                  <a:cubicBezTo>
                    <a:pt x="879" y="49"/>
                    <a:pt x="934" y="20"/>
                    <a:pt x="958" y="13"/>
                  </a:cubicBez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093" name="Oval 41"/>
            <p:cNvSpPr>
              <a:spLocks noChangeArrowheads="1"/>
            </p:cNvSpPr>
            <p:nvPr/>
          </p:nvSpPr>
          <p:spPr bwMode="auto">
            <a:xfrm>
              <a:off x="4752" y="4047"/>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094" name="Oval 42"/>
            <p:cNvSpPr>
              <a:spLocks noChangeArrowheads="1"/>
            </p:cNvSpPr>
            <p:nvPr/>
          </p:nvSpPr>
          <p:spPr bwMode="auto">
            <a:xfrm>
              <a:off x="3792" y="4047"/>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095" name="Freeform 44" descr="Stationery"/>
            <p:cNvSpPr>
              <a:spLocks/>
            </p:cNvSpPr>
            <p:nvPr/>
          </p:nvSpPr>
          <p:spPr bwMode="auto">
            <a:xfrm>
              <a:off x="718" y="3145"/>
              <a:ext cx="3303" cy="698"/>
            </a:xfrm>
            <a:custGeom>
              <a:avLst/>
              <a:gdLst>
                <a:gd name="T0" fmla="*/ 0 w 3303"/>
                <a:gd name="T1" fmla="*/ 237 h 698"/>
                <a:gd name="T2" fmla="*/ 1159 w 3303"/>
                <a:gd name="T3" fmla="*/ 237 h 698"/>
                <a:gd name="T4" fmla="*/ 1640 w 3303"/>
                <a:gd name="T5" fmla="*/ 0 h 698"/>
                <a:gd name="T6" fmla="*/ 3029 w 3303"/>
                <a:gd name="T7" fmla="*/ 0 h 698"/>
                <a:gd name="T8" fmla="*/ 3287 w 3303"/>
                <a:gd name="T9" fmla="*/ 162 h 698"/>
                <a:gd name="T10" fmla="*/ 3287 w 3303"/>
                <a:gd name="T11" fmla="*/ 576 h 698"/>
                <a:gd name="T12" fmla="*/ 3145 w 3303"/>
                <a:gd name="T13" fmla="*/ 698 h 698"/>
                <a:gd name="T14" fmla="*/ 2826 w 3303"/>
                <a:gd name="T15" fmla="*/ 698 h 69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303" h="698">
                  <a:moveTo>
                    <a:pt x="0" y="237"/>
                  </a:moveTo>
                  <a:lnTo>
                    <a:pt x="1159" y="237"/>
                  </a:lnTo>
                  <a:cubicBezTo>
                    <a:pt x="1432" y="198"/>
                    <a:pt x="1328" y="39"/>
                    <a:pt x="1640" y="0"/>
                  </a:cubicBezTo>
                  <a:lnTo>
                    <a:pt x="3029" y="0"/>
                  </a:lnTo>
                  <a:cubicBezTo>
                    <a:pt x="3303" y="27"/>
                    <a:pt x="3244" y="66"/>
                    <a:pt x="3287" y="162"/>
                  </a:cubicBezTo>
                  <a:lnTo>
                    <a:pt x="3287" y="576"/>
                  </a:lnTo>
                  <a:cubicBezTo>
                    <a:pt x="3263" y="665"/>
                    <a:pt x="3222" y="678"/>
                    <a:pt x="3145" y="698"/>
                  </a:cubicBezTo>
                  <a:lnTo>
                    <a:pt x="2826" y="698"/>
                  </a:lnTo>
                </a:path>
              </a:pathLst>
            </a:custGeom>
            <a:noFill/>
            <a:ln w="12700" cap="flat" cmpd="sng">
              <a:solidFill>
                <a:schemeClr val="tx1"/>
              </a:solidFill>
              <a:prstDash val="sysDot"/>
              <a:round/>
              <a:headEnd type="none" w="med" len="med"/>
              <a:tailEnd type="triangle" w="med" len="me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3096" name="Freeform 45" descr="Stationery"/>
            <p:cNvSpPr>
              <a:spLocks/>
            </p:cNvSpPr>
            <p:nvPr/>
          </p:nvSpPr>
          <p:spPr bwMode="auto">
            <a:xfrm>
              <a:off x="705" y="3633"/>
              <a:ext cx="2655" cy="223"/>
            </a:xfrm>
            <a:custGeom>
              <a:avLst/>
              <a:gdLst>
                <a:gd name="T0" fmla="*/ 0 w 2655"/>
                <a:gd name="T1" fmla="*/ 0 h 223"/>
                <a:gd name="T2" fmla="*/ 1253 w 2655"/>
                <a:gd name="T3" fmla="*/ 0 h 223"/>
                <a:gd name="T4" fmla="*/ 1640 w 2655"/>
                <a:gd name="T5" fmla="*/ 223 h 223"/>
                <a:gd name="T6" fmla="*/ 2655 w 2655"/>
                <a:gd name="T7" fmla="*/ 222 h 2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55" h="223">
                  <a:moveTo>
                    <a:pt x="0" y="0"/>
                  </a:moveTo>
                  <a:lnTo>
                    <a:pt x="1253" y="0"/>
                  </a:lnTo>
                  <a:cubicBezTo>
                    <a:pt x="1526" y="37"/>
                    <a:pt x="1406" y="186"/>
                    <a:pt x="1640" y="223"/>
                  </a:cubicBezTo>
                  <a:lnTo>
                    <a:pt x="2655" y="222"/>
                  </a:lnTo>
                </a:path>
              </a:pathLst>
            </a:custGeom>
            <a:noFill/>
            <a:ln w="12700" cap="flat" cmpd="sng">
              <a:solidFill>
                <a:schemeClr val="tx1"/>
              </a:solidFill>
              <a:prstDash val="sysDot"/>
              <a:round/>
              <a:headEnd type="none" w="med" len="med"/>
              <a:tailEnd type="triangle" w="med" len="med"/>
            </a:ln>
            <a:effectLst/>
            <a:extLst>
              <a:ext uri="{909E8E84-426E-40DD-AFC4-6F175D3DCCD1}">
                <a14:hiddenFill xmlns:a14="http://schemas.microsoft.com/office/drawing/2010/main">
                  <a:blipFill dpi="0" rotWithShape="0">
                    <a:blip r:embed="rId2"/>
                    <a:srcRect/>
                    <a:tile tx="0" ty="0" sx="100000" sy="100000" flip="none" algn="tl"/>
                  </a:blip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3097" name="Text Box 49" descr="Stationery"/>
            <p:cNvSpPr txBox="1">
              <a:spLocks noChangeArrowheads="1"/>
            </p:cNvSpPr>
            <p:nvPr/>
          </p:nvSpPr>
          <p:spPr bwMode="auto">
            <a:xfrm>
              <a:off x="2855" y="3298"/>
              <a:ext cx="244" cy="30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400" b="1">
                  <a:solidFill>
                    <a:schemeClr val="hlink"/>
                  </a:solidFill>
                </a:rPr>
                <a:t>B</a:t>
              </a:r>
            </a:p>
          </p:txBody>
        </p:sp>
        <p:sp>
          <p:nvSpPr>
            <p:cNvPr id="173098" name="Text Box 50" descr="Stationery"/>
            <p:cNvSpPr txBox="1">
              <a:spLocks noChangeArrowheads="1"/>
            </p:cNvSpPr>
            <p:nvPr/>
          </p:nvSpPr>
          <p:spPr bwMode="auto">
            <a:xfrm>
              <a:off x="1604" y="3281"/>
              <a:ext cx="196" cy="257"/>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dirty="0"/>
                <a:t>v</a:t>
              </a:r>
            </a:p>
          </p:txBody>
        </p:sp>
        <p:sp>
          <p:nvSpPr>
            <p:cNvPr id="173099" name="Text Box 51" descr="Stationery"/>
            <p:cNvSpPr txBox="1">
              <a:spLocks noChangeArrowheads="1"/>
            </p:cNvSpPr>
            <p:nvPr/>
          </p:nvSpPr>
          <p:spPr bwMode="auto">
            <a:xfrm>
              <a:off x="3216" y="3913"/>
              <a:ext cx="232" cy="257"/>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w</a:t>
              </a:r>
            </a:p>
          </p:txBody>
        </p:sp>
        <p:sp>
          <p:nvSpPr>
            <p:cNvPr id="173100" name="Text Box 52" descr="Stationery"/>
            <p:cNvSpPr txBox="1">
              <a:spLocks noChangeArrowheads="1"/>
            </p:cNvSpPr>
            <p:nvPr/>
          </p:nvSpPr>
          <p:spPr bwMode="auto">
            <a:xfrm>
              <a:off x="4678" y="3817"/>
              <a:ext cx="249" cy="257"/>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u’</a:t>
              </a:r>
            </a:p>
          </p:txBody>
        </p:sp>
        <p:sp>
          <p:nvSpPr>
            <p:cNvPr id="173101" name="Freeform 53"/>
            <p:cNvSpPr>
              <a:spLocks/>
            </p:cNvSpPr>
            <p:nvPr/>
          </p:nvSpPr>
          <p:spPr bwMode="auto">
            <a:xfrm>
              <a:off x="1026" y="2227"/>
              <a:ext cx="894" cy="90"/>
            </a:xfrm>
            <a:custGeom>
              <a:avLst/>
              <a:gdLst>
                <a:gd name="T0" fmla="*/ 894 w 894"/>
                <a:gd name="T1" fmla="*/ 30 h 90"/>
                <a:gd name="T2" fmla="*/ 528 w 894"/>
                <a:gd name="T3" fmla="*/ 28 h 90"/>
                <a:gd name="T4" fmla="*/ 420 w 894"/>
                <a:gd name="T5" fmla="*/ 82 h 90"/>
                <a:gd name="T6" fmla="*/ 332 w 894"/>
                <a:gd name="T7" fmla="*/ 1 h 90"/>
                <a:gd name="T8" fmla="*/ 250 w 894"/>
                <a:gd name="T9" fmla="*/ 89 h 90"/>
                <a:gd name="T10" fmla="*/ 176 w 894"/>
                <a:gd name="T11" fmla="*/ 7 h 90"/>
                <a:gd name="T12" fmla="*/ 88 w 894"/>
                <a:gd name="T13" fmla="*/ 82 h 90"/>
                <a:gd name="T14" fmla="*/ 0 w 894"/>
                <a:gd name="T15" fmla="*/ 28 h 9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94" h="90">
                  <a:moveTo>
                    <a:pt x="894" y="30"/>
                  </a:moveTo>
                  <a:lnTo>
                    <a:pt x="528" y="28"/>
                  </a:lnTo>
                  <a:cubicBezTo>
                    <a:pt x="449" y="37"/>
                    <a:pt x="453" y="87"/>
                    <a:pt x="420" y="82"/>
                  </a:cubicBezTo>
                  <a:cubicBezTo>
                    <a:pt x="387" y="77"/>
                    <a:pt x="360" y="0"/>
                    <a:pt x="332" y="1"/>
                  </a:cubicBezTo>
                  <a:cubicBezTo>
                    <a:pt x="304" y="2"/>
                    <a:pt x="276" y="88"/>
                    <a:pt x="250" y="89"/>
                  </a:cubicBezTo>
                  <a:cubicBezTo>
                    <a:pt x="224" y="90"/>
                    <a:pt x="203" y="8"/>
                    <a:pt x="176" y="7"/>
                  </a:cubicBezTo>
                  <a:cubicBezTo>
                    <a:pt x="149" y="6"/>
                    <a:pt x="117" y="79"/>
                    <a:pt x="88" y="82"/>
                  </a:cubicBezTo>
                  <a:cubicBezTo>
                    <a:pt x="59" y="85"/>
                    <a:pt x="18" y="39"/>
                    <a:pt x="0" y="28"/>
                  </a:cubicBez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73102" name="Line 54"/>
            <p:cNvSpPr>
              <a:spLocks noChangeShapeType="1"/>
            </p:cNvSpPr>
            <p:nvPr/>
          </p:nvSpPr>
          <p:spPr bwMode="auto">
            <a:xfrm>
              <a:off x="1920" y="2271"/>
              <a:ext cx="336"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103" name="Oval 55"/>
            <p:cNvSpPr>
              <a:spLocks noChangeArrowheads="1"/>
            </p:cNvSpPr>
            <p:nvPr/>
          </p:nvSpPr>
          <p:spPr bwMode="auto">
            <a:xfrm>
              <a:off x="1872" y="2223"/>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73104" name="Oval 56"/>
            <p:cNvSpPr>
              <a:spLocks noChangeArrowheads="1"/>
            </p:cNvSpPr>
            <p:nvPr/>
          </p:nvSpPr>
          <p:spPr bwMode="auto">
            <a:xfrm>
              <a:off x="960" y="2209"/>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73105" name="Oval 57"/>
            <p:cNvSpPr>
              <a:spLocks noChangeArrowheads="1"/>
            </p:cNvSpPr>
            <p:nvPr/>
          </p:nvSpPr>
          <p:spPr bwMode="auto">
            <a:xfrm>
              <a:off x="2208" y="2223"/>
              <a:ext cx="96" cy="96"/>
            </a:xfrm>
            <a:prstGeom prst="ellipse">
              <a:avLst/>
            </a:prstGeom>
            <a:solidFill>
              <a:schemeClr val="hlink"/>
            </a:solidFill>
            <a:ln w="571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106" name="Text Box 58" descr="Stationery"/>
            <p:cNvSpPr txBox="1">
              <a:spLocks noChangeArrowheads="1"/>
            </p:cNvSpPr>
            <p:nvPr/>
          </p:nvSpPr>
          <p:spPr bwMode="auto">
            <a:xfrm>
              <a:off x="912" y="2223"/>
              <a:ext cx="196" cy="257"/>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u</a:t>
              </a:r>
            </a:p>
          </p:txBody>
        </p:sp>
        <p:sp>
          <p:nvSpPr>
            <p:cNvPr id="173107" name="Line 59"/>
            <p:cNvSpPr>
              <a:spLocks noChangeShapeType="1"/>
            </p:cNvSpPr>
            <p:nvPr/>
          </p:nvSpPr>
          <p:spPr bwMode="auto">
            <a:xfrm>
              <a:off x="2688" y="2271"/>
              <a:ext cx="384"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108" name="Oval 60"/>
            <p:cNvSpPr>
              <a:spLocks noChangeArrowheads="1"/>
            </p:cNvSpPr>
            <p:nvPr/>
          </p:nvSpPr>
          <p:spPr bwMode="auto">
            <a:xfrm>
              <a:off x="2640" y="2223"/>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109" name="Freeform 61"/>
            <p:cNvSpPr>
              <a:spLocks/>
            </p:cNvSpPr>
            <p:nvPr/>
          </p:nvSpPr>
          <p:spPr bwMode="auto">
            <a:xfrm>
              <a:off x="3072" y="2256"/>
              <a:ext cx="958" cy="54"/>
            </a:xfrm>
            <a:custGeom>
              <a:avLst/>
              <a:gdLst>
                <a:gd name="T0" fmla="*/ 0 w 958"/>
                <a:gd name="T1" fmla="*/ 15 h 54"/>
                <a:gd name="T2" fmla="*/ 355 w 958"/>
                <a:gd name="T3" fmla="*/ 13 h 54"/>
                <a:gd name="T4" fmla="*/ 456 w 958"/>
                <a:gd name="T5" fmla="*/ 54 h 54"/>
                <a:gd name="T6" fmla="*/ 544 w 958"/>
                <a:gd name="T7" fmla="*/ 13 h 54"/>
                <a:gd name="T8" fmla="*/ 646 w 958"/>
                <a:gd name="T9" fmla="*/ 47 h 54"/>
                <a:gd name="T10" fmla="*/ 741 w 958"/>
                <a:gd name="T11" fmla="*/ 0 h 54"/>
                <a:gd name="T12" fmla="*/ 843 w 958"/>
                <a:gd name="T13" fmla="*/ 47 h 54"/>
                <a:gd name="T14" fmla="*/ 958 w 958"/>
                <a:gd name="T15" fmla="*/ 13 h 5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58" h="54">
                  <a:moveTo>
                    <a:pt x="0" y="15"/>
                  </a:moveTo>
                  <a:lnTo>
                    <a:pt x="355" y="13"/>
                  </a:lnTo>
                  <a:cubicBezTo>
                    <a:pt x="431" y="19"/>
                    <a:pt x="425" y="54"/>
                    <a:pt x="456" y="54"/>
                  </a:cubicBezTo>
                  <a:cubicBezTo>
                    <a:pt x="487" y="54"/>
                    <a:pt x="512" y="14"/>
                    <a:pt x="544" y="13"/>
                  </a:cubicBezTo>
                  <a:cubicBezTo>
                    <a:pt x="576" y="12"/>
                    <a:pt x="613" y="49"/>
                    <a:pt x="646" y="47"/>
                  </a:cubicBezTo>
                  <a:cubicBezTo>
                    <a:pt x="679" y="45"/>
                    <a:pt x="708" y="0"/>
                    <a:pt x="741" y="0"/>
                  </a:cubicBezTo>
                  <a:cubicBezTo>
                    <a:pt x="774" y="0"/>
                    <a:pt x="807" y="45"/>
                    <a:pt x="843" y="47"/>
                  </a:cubicBezTo>
                  <a:cubicBezTo>
                    <a:pt x="879" y="49"/>
                    <a:pt x="934" y="20"/>
                    <a:pt x="958" y="13"/>
                  </a:cubicBez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73110" name="Oval 62"/>
            <p:cNvSpPr>
              <a:spLocks noChangeArrowheads="1"/>
            </p:cNvSpPr>
            <p:nvPr/>
          </p:nvSpPr>
          <p:spPr bwMode="auto">
            <a:xfrm>
              <a:off x="3984" y="2223"/>
              <a:ext cx="96" cy="96"/>
            </a:xfrm>
            <a:prstGeom prst="ellipse">
              <a:avLst/>
            </a:prstGeom>
            <a:solidFill>
              <a:srgbClr val="FFFF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111" name="Oval 63"/>
            <p:cNvSpPr>
              <a:spLocks noChangeArrowheads="1"/>
            </p:cNvSpPr>
            <p:nvPr/>
          </p:nvSpPr>
          <p:spPr bwMode="auto">
            <a:xfrm>
              <a:off x="3024" y="2223"/>
              <a:ext cx="96" cy="96"/>
            </a:xfrm>
            <a:prstGeom prst="ellipse">
              <a:avLst/>
            </a:prstGeom>
            <a:solidFill>
              <a:srgbClr val="FF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73112" name="Text Box 64" descr="Stationery"/>
            <p:cNvSpPr txBox="1">
              <a:spLocks noChangeArrowheads="1"/>
            </p:cNvSpPr>
            <p:nvPr/>
          </p:nvSpPr>
          <p:spPr bwMode="auto">
            <a:xfrm>
              <a:off x="2592" y="2208"/>
              <a:ext cx="232" cy="257"/>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w</a:t>
              </a:r>
            </a:p>
          </p:txBody>
        </p:sp>
        <p:sp>
          <p:nvSpPr>
            <p:cNvPr id="173113" name="Text Box 65" descr="Stationery"/>
            <p:cNvSpPr txBox="1">
              <a:spLocks noChangeArrowheads="1"/>
            </p:cNvSpPr>
            <p:nvPr/>
          </p:nvSpPr>
          <p:spPr bwMode="auto">
            <a:xfrm>
              <a:off x="3936" y="2256"/>
              <a:ext cx="249" cy="257"/>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u’</a:t>
              </a:r>
            </a:p>
          </p:txBody>
        </p:sp>
        <p:sp>
          <p:nvSpPr>
            <p:cNvPr id="173114" name="Text Box 66" descr="Stationery"/>
            <p:cNvSpPr txBox="1">
              <a:spLocks noChangeArrowheads="1"/>
            </p:cNvSpPr>
            <p:nvPr/>
          </p:nvSpPr>
          <p:spPr bwMode="auto">
            <a:xfrm>
              <a:off x="1824" y="2223"/>
              <a:ext cx="196" cy="257"/>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t>v</a:t>
              </a:r>
            </a:p>
          </p:txBody>
        </p:sp>
        <p:sp>
          <p:nvSpPr>
            <p:cNvPr id="173115" name="Text Box 67" descr="Stationery"/>
            <p:cNvSpPr txBox="1">
              <a:spLocks noChangeArrowheads="1"/>
            </p:cNvSpPr>
            <p:nvPr/>
          </p:nvSpPr>
          <p:spPr bwMode="auto">
            <a:xfrm>
              <a:off x="2074" y="2259"/>
              <a:ext cx="223" cy="257"/>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2000">
                  <a:solidFill>
                    <a:schemeClr val="hlink"/>
                  </a:solidFill>
                </a:rPr>
                <a:t>B</a:t>
              </a:r>
            </a:p>
          </p:txBody>
        </p:sp>
        <p:sp>
          <p:nvSpPr>
            <p:cNvPr id="173116" name="AutoShape 69"/>
            <p:cNvSpPr>
              <a:spLocks noChangeArrowheads="1"/>
            </p:cNvSpPr>
            <p:nvPr/>
          </p:nvSpPr>
          <p:spPr bwMode="auto">
            <a:xfrm>
              <a:off x="2352" y="2592"/>
              <a:ext cx="288" cy="399"/>
            </a:xfrm>
            <a:prstGeom prst="downArrow">
              <a:avLst>
                <a:gd name="adj1" fmla="val 50000"/>
                <a:gd name="adj2" fmla="val 34635"/>
              </a:avLst>
            </a:prstGeom>
            <a:solidFill>
              <a:srgbClr val="CC0000"/>
            </a:solidFill>
            <a:ln w="1270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73117" name="Line 71"/>
            <p:cNvSpPr>
              <a:spLocks noChangeShapeType="1"/>
            </p:cNvSpPr>
            <p:nvPr/>
          </p:nvSpPr>
          <p:spPr bwMode="auto">
            <a:xfrm>
              <a:off x="1008" y="2112"/>
              <a:ext cx="1248" cy="0"/>
            </a:xfrm>
            <a:prstGeom prst="line">
              <a:avLst/>
            </a:prstGeom>
            <a:noFill/>
            <a:ln w="127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gr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169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84674"/>
                                        </p:tgtEl>
                                        <p:attrNameLst>
                                          <p:attrName>style.visibility</p:attrName>
                                        </p:attrNameLst>
                                      </p:cBhvr>
                                      <p:to>
                                        <p:strVal val="visible"/>
                                      </p:to>
                                    </p:set>
                                    <p:anim calcmode="lin" valueType="num">
                                      <p:cBhvr>
                                        <p:cTn id="7" dur="500" fill="hold"/>
                                        <p:tgtEl>
                                          <p:spTgt spid="284674"/>
                                        </p:tgtEl>
                                        <p:attrNameLst>
                                          <p:attrName>ppt_w</p:attrName>
                                        </p:attrNameLst>
                                      </p:cBhvr>
                                      <p:tavLst>
                                        <p:tav tm="0">
                                          <p:val>
                                            <p:fltVal val="0"/>
                                          </p:val>
                                        </p:tav>
                                        <p:tav tm="100000">
                                          <p:val>
                                            <p:strVal val="#ppt_w"/>
                                          </p:val>
                                        </p:tav>
                                      </p:tavLst>
                                    </p:anim>
                                    <p:anim calcmode="lin" valueType="num">
                                      <p:cBhvr>
                                        <p:cTn id="8" dur="500" fill="hold"/>
                                        <p:tgtEl>
                                          <p:spTgt spid="28467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84678"/>
                                        </p:tgtEl>
                                        <p:attrNameLst>
                                          <p:attrName>style.visibility</p:attrName>
                                        </p:attrNameLst>
                                      </p:cBhvr>
                                      <p:to>
                                        <p:strVal val="visible"/>
                                      </p:to>
                                    </p:set>
                                    <p:animEffect transition="in" filter="wipe(up)">
                                      <p:cBhvr>
                                        <p:cTn id="13" dur="500"/>
                                        <p:tgtEl>
                                          <p:spTgt spid="28467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284744"/>
                                        </p:tgtEl>
                                        <p:attrNameLst>
                                          <p:attrName>style.visibility</p:attrName>
                                        </p:attrNameLst>
                                      </p:cBhvr>
                                      <p:to>
                                        <p:strVal val="visible"/>
                                      </p:to>
                                    </p:set>
                                    <p:animEffect transition="in" filter="wipe(up)">
                                      <p:cBhvr>
                                        <p:cTn id="18" dur="500"/>
                                        <p:tgtEl>
                                          <p:spTgt spid="2847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4" grpId="0" animBg="1" autoUpdateAnimBg="0"/>
      <p:bldP spid="284678" grpId="0" autoUpdateAnimBg="0"/>
    </p:bldLst>
  </p:timing>
</p:sld>
</file>

<file path=ppt/slides/slide1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5699" name="Rectangle 3"/>
          <p:cNvSpPr>
            <a:spLocks noGrp="1" noChangeArrowheads="1"/>
          </p:cNvSpPr>
          <p:nvPr>
            <p:ph type="title"/>
          </p:nvPr>
        </p:nvSpPr>
        <p:spPr>
          <a:xfrm>
            <a:off x="152400" y="152400"/>
            <a:ext cx="8839200" cy="5334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800" dirty="0" smtClean="0">
                <a:solidFill>
                  <a:srgbClr val="FF0000"/>
                </a:solidFill>
                <a:latin typeface="Arial Rounded MT Bold" pitchFamily="34" charset="0"/>
              </a:rPr>
              <a:t>Max Cardinality </a:t>
            </a:r>
            <a:r>
              <a:rPr lang="en-US" sz="2800" dirty="0" smtClean="0">
                <a:solidFill>
                  <a:schemeClr val="tx1"/>
                </a:solidFill>
                <a:latin typeface="Arial Rounded MT Bold" pitchFamily="34" charset="0"/>
              </a:rPr>
              <a:t>Matching Algorithm</a:t>
            </a:r>
          </a:p>
        </p:txBody>
      </p:sp>
      <p:sp>
        <p:nvSpPr>
          <p:cNvPr id="285736" name="Rectangle 40" descr="Recycled paper"/>
          <p:cNvSpPr>
            <a:spLocks noChangeArrowheads="1"/>
          </p:cNvSpPr>
          <p:nvPr/>
        </p:nvSpPr>
        <p:spPr bwMode="auto">
          <a:xfrm>
            <a:off x="152400" y="5715000"/>
            <a:ext cx="8839200" cy="476250"/>
          </a:xfrm>
          <a:prstGeom prst="rect">
            <a:avLst/>
          </a:prstGeom>
          <a:blipFill dpi="0" rotWithShape="0">
            <a:blip r:embed="rId2"/>
            <a:srcRect/>
            <a:tile tx="0" ty="0" sx="100000" sy="100000" flip="none" algn="tl"/>
          </a:blip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spAutoFit/>
          </a:bodyPr>
          <a:lstStyle/>
          <a:p>
            <a:pPr marL="760413" indent="-760413" eaLnBrk="1" hangingPunct="1">
              <a:spcBef>
                <a:spcPct val="50000"/>
              </a:spcBef>
              <a:buFontTx/>
              <a:buNone/>
            </a:pPr>
            <a:r>
              <a:rPr lang="en-US" sz="2400" b="1" dirty="0">
                <a:solidFill>
                  <a:srgbClr val="CC0000"/>
                </a:solidFill>
              </a:rPr>
              <a:t>THEOREM:</a:t>
            </a:r>
            <a:r>
              <a:rPr lang="en-US" sz="2400" dirty="0">
                <a:solidFill>
                  <a:schemeClr val="hlink"/>
                </a:solidFill>
              </a:rPr>
              <a:t>  The above algorithm takes O(V</a:t>
            </a:r>
            <a:r>
              <a:rPr lang="en-US" sz="2400" baseline="30000" dirty="0">
                <a:solidFill>
                  <a:schemeClr val="hlink"/>
                </a:solidFill>
              </a:rPr>
              <a:t>2</a:t>
            </a:r>
            <a:r>
              <a:rPr lang="en-US" sz="2400" dirty="0">
                <a:solidFill>
                  <a:schemeClr val="hlink"/>
                </a:solidFill>
              </a:rPr>
              <a:t>E) time.</a:t>
            </a:r>
          </a:p>
        </p:txBody>
      </p:sp>
      <p:sp>
        <p:nvSpPr>
          <p:cNvPr id="285756" name="Text Box 60"/>
          <p:cNvSpPr txBox="1">
            <a:spLocks noChangeArrowheads="1"/>
          </p:cNvSpPr>
          <p:nvPr/>
        </p:nvSpPr>
        <p:spPr bwMode="auto">
          <a:xfrm>
            <a:off x="152400" y="838200"/>
            <a:ext cx="8839200" cy="4521200"/>
          </a:xfrm>
          <a:prstGeom prst="rect">
            <a:avLst/>
          </a:prstGeom>
          <a:solidFill>
            <a:schemeClr val="accent3">
              <a:lumMod val="95000"/>
            </a:schemeClr>
          </a:solidFill>
          <a:ln w="2857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82800" bIns="82800">
            <a:spAutoFit/>
          </a:bodyPr>
          <a:lstStyle>
            <a:lvl1pPr marL="457200" indent="-457200" defTabSz="484188">
              <a:defRPr sz="1600">
                <a:solidFill>
                  <a:schemeClr val="tx1"/>
                </a:solidFill>
                <a:latin typeface="Times New Roman" pitchFamily="18" charset="0"/>
              </a:defRPr>
            </a:lvl1pPr>
            <a:lvl2pPr marL="742950" indent="-285750" defTabSz="484188">
              <a:defRPr sz="1600">
                <a:solidFill>
                  <a:schemeClr val="tx1"/>
                </a:solidFill>
                <a:latin typeface="Times New Roman" pitchFamily="18" charset="0"/>
              </a:defRPr>
            </a:lvl2pPr>
            <a:lvl3pPr marL="1143000" indent="-228600" defTabSz="484188">
              <a:defRPr sz="1600">
                <a:solidFill>
                  <a:schemeClr val="tx1"/>
                </a:solidFill>
                <a:latin typeface="Times New Roman" pitchFamily="18" charset="0"/>
              </a:defRPr>
            </a:lvl3pPr>
            <a:lvl4pPr marL="1600200" indent="-228600" defTabSz="484188">
              <a:defRPr sz="1600">
                <a:solidFill>
                  <a:schemeClr val="tx1"/>
                </a:solidFill>
                <a:latin typeface="Times New Roman" pitchFamily="18" charset="0"/>
              </a:defRPr>
            </a:lvl4pPr>
            <a:lvl5pPr marL="2057400" indent="-228600" defTabSz="484188">
              <a:defRPr sz="1600">
                <a:solidFill>
                  <a:schemeClr val="tx1"/>
                </a:solidFill>
                <a:latin typeface="Times New Roman" pitchFamily="18" charset="0"/>
              </a:defRPr>
            </a:lvl5pPr>
            <a:lvl6pPr marL="2514600" indent="-228600" defTabSz="484188" eaLnBrk="0" fontAlgn="base" hangingPunct="0">
              <a:spcBef>
                <a:spcPct val="0"/>
              </a:spcBef>
              <a:spcAft>
                <a:spcPct val="0"/>
              </a:spcAft>
              <a:buChar char="•"/>
              <a:defRPr sz="1600">
                <a:solidFill>
                  <a:schemeClr val="tx1"/>
                </a:solidFill>
                <a:latin typeface="Times New Roman" pitchFamily="18" charset="0"/>
              </a:defRPr>
            </a:lvl6pPr>
            <a:lvl7pPr marL="2971800" indent="-228600" defTabSz="484188" eaLnBrk="0" fontAlgn="base" hangingPunct="0">
              <a:spcBef>
                <a:spcPct val="0"/>
              </a:spcBef>
              <a:spcAft>
                <a:spcPct val="0"/>
              </a:spcAft>
              <a:buChar char="•"/>
              <a:defRPr sz="1600">
                <a:solidFill>
                  <a:schemeClr val="tx1"/>
                </a:solidFill>
                <a:latin typeface="Times New Roman" pitchFamily="18" charset="0"/>
              </a:defRPr>
            </a:lvl7pPr>
            <a:lvl8pPr marL="3429000" indent="-228600" defTabSz="484188" eaLnBrk="0" fontAlgn="base" hangingPunct="0">
              <a:spcBef>
                <a:spcPct val="0"/>
              </a:spcBef>
              <a:spcAft>
                <a:spcPct val="0"/>
              </a:spcAft>
              <a:buChar char="•"/>
              <a:defRPr sz="1600">
                <a:solidFill>
                  <a:schemeClr val="tx1"/>
                </a:solidFill>
                <a:latin typeface="Times New Roman" pitchFamily="18" charset="0"/>
              </a:defRPr>
            </a:lvl8pPr>
            <a:lvl9pPr marL="3886200" indent="-228600" defTabSz="484188" eaLnBrk="0" fontAlgn="base" hangingPunct="0">
              <a:spcBef>
                <a:spcPct val="0"/>
              </a:spcBef>
              <a:spcAft>
                <a:spcPct val="0"/>
              </a:spcAft>
              <a:buChar char="•"/>
              <a:defRPr sz="1600">
                <a:solidFill>
                  <a:schemeClr val="tx1"/>
                </a:solidFill>
                <a:latin typeface="Times New Roman" pitchFamily="18" charset="0"/>
              </a:defRPr>
            </a:lvl9pPr>
          </a:lstStyle>
          <a:p>
            <a:pPr eaLnBrk="1" hangingPunct="1">
              <a:buFontTx/>
              <a:buNone/>
            </a:pPr>
            <a:r>
              <a:rPr lang="en-US" sz="2400" b="1" dirty="0"/>
              <a:t>Algorithm</a:t>
            </a:r>
            <a:r>
              <a:rPr lang="en-US" sz="2400" dirty="0">
                <a:solidFill>
                  <a:schemeClr val="hlink"/>
                </a:solidFill>
              </a:rPr>
              <a:t>  </a:t>
            </a:r>
            <a:r>
              <a:rPr lang="en-US" sz="2400" b="1" dirty="0" err="1">
                <a:solidFill>
                  <a:schemeClr val="hlink"/>
                </a:solidFill>
              </a:rPr>
              <a:t>MaxCardinalityMatching</a:t>
            </a:r>
            <a:r>
              <a:rPr lang="en-US" sz="2400" dirty="0">
                <a:solidFill>
                  <a:schemeClr val="hlink"/>
                </a:solidFill>
              </a:rPr>
              <a:t>( </a:t>
            </a:r>
            <a:r>
              <a:rPr lang="en-US" sz="2400" dirty="0">
                <a:solidFill>
                  <a:schemeClr val="hlink"/>
                </a:solidFill>
                <a:sym typeface="Symbol" pitchFamily="18" charset="2"/>
              </a:rPr>
              <a:t>G = (V,E) </a:t>
            </a:r>
            <a:r>
              <a:rPr lang="en-US" sz="2400" dirty="0">
                <a:solidFill>
                  <a:schemeClr val="hlink"/>
                </a:solidFill>
              </a:rPr>
              <a:t>)</a:t>
            </a:r>
            <a:r>
              <a:rPr lang="en-US" sz="2000" dirty="0">
                <a:solidFill>
                  <a:schemeClr val="tx2"/>
                </a:solidFill>
              </a:rPr>
              <a:t>  	</a:t>
            </a:r>
          </a:p>
          <a:p>
            <a:pPr eaLnBrk="1" hangingPunct="1">
              <a:buFontTx/>
              <a:buAutoNum type="arabicPeriod"/>
            </a:pPr>
            <a:r>
              <a:rPr lang="en-US" sz="2000" dirty="0">
                <a:solidFill>
                  <a:schemeClr val="hlink"/>
                </a:solidFill>
                <a:sym typeface="Symbol" pitchFamily="18" charset="2"/>
              </a:rPr>
              <a:t>M </a:t>
            </a:r>
            <a:r>
              <a:rPr lang="en-US" sz="2000" dirty="0">
                <a:solidFill>
                  <a:schemeClr val="hlink"/>
                </a:solidFill>
              </a:rPr>
              <a:t> </a:t>
            </a:r>
            <a:r>
              <a:rPr lang="en-US" sz="2000" dirty="0">
                <a:solidFill>
                  <a:schemeClr val="hlink"/>
                </a:solidFill>
                <a:cs typeface="Times New Roman" pitchFamily="18" charset="0"/>
                <a:sym typeface="Symbol" pitchFamily="18" charset="2"/>
              </a:rPr>
              <a:t></a:t>
            </a:r>
            <a:r>
              <a:rPr lang="en-US" sz="2000" dirty="0">
                <a:solidFill>
                  <a:schemeClr val="hlink"/>
                </a:solidFill>
              </a:rPr>
              <a:t>	</a:t>
            </a:r>
            <a:r>
              <a:rPr lang="en-US" sz="2000" b="1" dirty="0">
                <a:solidFill>
                  <a:schemeClr val="tx2"/>
                </a:solidFill>
              </a:rPr>
              <a:t>				 				</a:t>
            </a:r>
            <a:r>
              <a:rPr lang="en-US" sz="2000" dirty="0">
                <a:solidFill>
                  <a:srgbClr val="CC0000"/>
                </a:solidFill>
                <a:cs typeface="Arial" pitchFamily="34" charset="0"/>
              </a:rPr>
              <a:t>§ matching edges </a:t>
            </a:r>
            <a:endParaRPr lang="en-US" sz="2000" b="1" dirty="0">
              <a:solidFill>
                <a:schemeClr val="tx2"/>
              </a:solidFill>
            </a:endParaRPr>
          </a:p>
          <a:p>
            <a:pPr eaLnBrk="1" hangingPunct="1">
              <a:buFontTx/>
              <a:buAutoNum type="arabicPeriod"/>
            </a:pPr>
            <a:r>
              <a:rPr lang="en-US" sz="2000" dirty="0">
                <a:solidFill>
                  <a:srgbClr val="CC0000"/>
                </a:solidFill>
              </a:rPr>
              <a:t>	</a:t>
            </a:r>
            <a:r>
              <a:rPr lang="en-US" sz="2000" dirty="0">
                <a:solidFill>
                  <a:schemeClr val="hlink"/>
                </a:solidFill>
                <a:sym typeface="Symbol" pitchFamily="18" charset="2"/>
              </a:rPr>
              <a:t>U </a:t>
            </a:r>
            <a:r>
              <a:rPr lang="en-US" sz="2000" dirty="0">
                <a:solidFill>
                  <a:schemeClr val="hlink"/>
                </a:solidFill>
              </a:rPr>
              <a:t> V 									</a:t>
            </a:r>
            <a:r>
              <a:rPr lang="en-US" sz="2000" dirty="0">
                <a:solidFill>
                  <a:srgbClr val="CC0000"/>
                </a:solidFill>
                <a:cs typeface="Arial" pitchFamily="34" charset="0"/>
              </a:rPr>
              <a:t>§ untested exposed nodes</a:t>
            </a:r>
            <a:endParaRPr lang="en-US" sz="2000" dirty="0">
              <a:solidFill>
                <a:schemeClr val="hlink"/>
              </a:solidFill>
            </a:endParaRPr>
          </a:p>
          <a:p>
            <a:pPr eaLnBrk="1" hangingPunct="1">
              <a:buFontTx/>
              <a:buAutoNum type="arabicPeriod"/>
            </a:pPr>
            <a:r>
              <a:rPr lang="en-US" sz="2000" dirty="0">
                <a:solidFill>
                  <a:srgbClr val="CC0000"/>
                </a:solidFill>
              </a:rPr>
              <a:t> </a:t>
            </a:r>
            <a:r>
              <a:rPr lang="en-US" sz="2000" b="1" dirty="0">
                <a:solidFill>
                  <a:schemeClr val="tx2"/>
                </a:solidFill>
              </a:rPr>
              <a:t>while</a:t>
            </a:r>
            <a:r>
              <a:rPr lang="en-US" sz="2000" dirty="0">
                <a:solidFill>
                  <a:schemeClr val="tx2"/>
                </a:solidFill>
              </a:rPr>
              <a:t>  </a:t>
            </a:r>
            <a:r>
              <a:rPr lang="en-US" sz="2000" dirty="0">
                <a:solidFill>
                  <a:schemeClr val="hlink"/>
                </a:solidFill>
              </a:rPr>
              <a:t>U </a:t>
            </a:r>
            <a:r>
              <a:rPr lang="en-US" sz="2000" dirty="0">
                <a:solidFill>
                  <a:schemeClr val="hlink"/>
                </a:solidFill>
                <a:sym typeface="Symbol" pitchFamily="18" charset="2"/>
              </a:rPr>
              <a:t> </a:t>
            </a:r>
            <a:r>
              <a:rPr lang="en-US" sz="2000" dirty="0">
                <a:solidFill>
                  <a:schemeClr val="hlink"/>
                </a:solidFill>
                <a:cs typeface="Times New Roman" pitchFamily="18" charset="0"/>
                <a:sym typeface="Symbol" pitchFamily="18" charset="2"/>
              </a:rPr>
              <a:t></a:t>
            </a:r>
            <a:r>
              <a:rPr lang="en-US" sz="2000" b="1" dirty="0">
                <a:solidFill>
                  <a:schemeClr val="tx2"/>
                </a:solidFill>
              </a:rPr>
              <a:t>  do 							</a:t>
            </a:r>
            <a:r>
              <a:rPr lang="en-US" sz="2000" dirty="0">
                <a:solidFill>
                  <a:srgbClr val="CC0000"/>
                </a:solidFill>
                <a:cs typeface="Arial" pitchFamily="34" charset="0"/>
              </a:rPr>
              <a:t>§ O(V) iterations  </a:t>
            </a:r>
          </a:p>
          <a:p>
            <a:pPr eaLnBrk="1" hangingPunct="1">
              <a:buFontTx/>
              <a:buAutoNum type="arabicPeriod"/>
            </a:pPr>
            <a:r>
              <a:rPr lang="en-US" sz="2000" dirty="0">
                <a:solidFill>
                  <a:srgbClr val="CC0000"/>
                </a:solidFill>
              </a:rPr>
              <a:t> 	</a:t>
            </a:r>
            <a:r>
              <a:rPr lang="en-US" sz="2000" dirty="0">
                <a:solidFill>
                  <a:schemeClr val="hlink"/>
                </a:solidFill>
              </a:rPr>
              <a:t>remove a node u from U</a:t>
            </a:r>
            <a:endParaRPr lang="en-US" sz="2000" b="1" dirty="0">
              <a:solidFill>
                <a:schemeClr val="tx2"/>
              </a:solidFill>
            </a:endParaRPr>
          </a:p>
          <a:p>
            <a:pPr eaLnBrk="1" hangingPunct="1">
              <a:buFontTx/>
              <a:buAutoNum type="arabicPeriod"/>
            </a:pPr>
            <a:r>
              <a:rPr lang="en-US" sz="2000" dirty="0">
                <a:solidFill>
                  <a:srgbClr val="CC0000"/>
                </a:solidFill>
              </a:rPr>
              <a:t> 	</a:t>
            </a:r>
            <a:r>
              <a:rPr lang="en-US" sz="2000" dirty="0">
                <a:solidFill>
                  <a:schemeClr val="hlink"/>
                </a:solidFill>
              </a:rPr>
              <a:t>Search for a u-augmenting-path P in G </a:t>
            </a:r>
            <a:r>
              <a:rPr lang="en-US" sz="2000" dirty="0" err="1">
                <a:solidFill>
                  <a:schemeClr val="hlink"/>
                </a:solidFill>
              </a:rPr>
              <a:t>wrt</a:t>
            </a:r>
            <a:r>
              <a:rPr lang="en-US" sz="2000" dirty="0">
                <a:solidFill>
                  <a:schemeClr val="hlink"/>
                </a:solidFill>
              </a:rPr>
              <a:t> M </a:t>
            </a:r>
            <a:br>
              <a:rPr lang="en-US" sz="2000" dirty="0">
                <a:solidFill>
                  <a:schemeClr val="hlink"/>
                </a:solidFill>
              </a:rPr>
            </a:br>
            <a:r>
              <a:rPr lang="en-US" sz="2000" dirty="0">
                <a:solidFill>
                  <a:schemeClr val="hlink"/>
                </a:solidFill>
              </a:rPr>
              <a:t>		using the auxiliary digraph G’ and blossom shrinking/expansion</a:t>
            </a:r>
            <a:endParaRPr lang="en-US" sz="2000" dirty="0">
              <a:solidFill>
                <a:srgbClr val="CC0000"/>
              </a:solidFill>
            </a:endParaRPr>
          </a:p>
          <a:p>
            <a:pPr eaLnBrk="1" hangingPunct="1">
              <a:buFontTx/>
              <a:buAutoNum type="arabicPeriod"/>
            </a:pPr>
            <a:r>
              <a:rPr lang="en-US" sz="2000" dirty="0">
                <a:solidFill>
                  <a:srgbClr val="CC0000"/>
                </a:solidFill>
              </a:rPr>
              <a:t>	 	 </a:t>
            </a:r>
            <a:r>
              <a:rPr lang="en-US" sz="2000" b="1" dirty="0"/>
              <a:t>if</a:t>
            </a:r>
            <a:r>
              <a:rPr lang="en-US" sz="2000" dirty="0">
                <a:solidFill>
                  <a:srgbClr val="CC0000"/>
                </a:solidFill>
              </a:rPr>
              <a:t>  </a:t>
            </a:r>
            <a:r>
              <a:rPr lang="en-US" sz="2000" dirty="0">
                <a:solidFill>
                  <a:schemeClr val="hlink"/>
                </a:solidFill>
                <a:sym typeface="Symbol" pitchFamily="18" charset="2"/>
              </a:rPr>
              <a:t>P found   </a:t>
            </a:r>
            <a:r>
              <a:rPr lang="en-US" sz="2000" b="1" dirty="0">
                <a:sym typeface="Symbol" pitchFamily="18" charset="2"/>
              </a:rPr>
              <a:t>then  do</a:t>
            </a: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 remove the other end node u’ of P from U</a:t>
            </a:r>
          </a:p>
          <a:p>
            <a:pPr eaLnBrk="1" hangingPunct="1">
              <a:buFontTx/>
              <a:buAutoNum type="arabicPeriod"/>
            </a:pPr>
            <a:r>
              <a:rPr lang="en-US" sz="2000" dirty="0">
                <a:solidFill>
                  <a:srgbClr val="CC0000"/>
                </a:solidFill>
                <a:sym typeface="Symbol" pitchFamily="18" charset="2"/>
              </a:rPr>
              <a:t> 	</a:t>
            </a:r>
            <a:r>
              <a:rPr lang="en-US" sz="2000" dirty="0">
                <a:solidFill>
                  <a:schemeClr val="hlink"/>
                </a:solidFill>
                <a:sym typeface="Symbol" pitchFamily="18" charset="2"/>
              </a:rPr>
              <a:t>	 M </a:t>
            </a:r>
            <a:r>
              <a:rPr lang="en-US" sz="2000" dirty="0">
                <a:solidFill>
                  <a:schemeClr val="hlink"/>
                </a:solidFill>
              </a:rPr>
              <a:t> M </a:t>
            </a:r>
            <a:r>
              <a:rPr lang="en-US" sz="2000" dirty="0">
                <a:solidFill>
                  <a:schemeClr val="hlink"/>
                </a:solidFill>
                <a:sym typeface="Symbol" pitchFamily="18" charset="2"/>
              </a:rPr>
              <a:t> </a:t>
            </a:r>
            <a:r>
              <a:rPr lang="en-US" sz="2000" dirty="0">
                <a:solidFill>
                  <a:schemeClr val="hlink"/>
                </a:solidFill>
              </a:rPr>
              <a:t>P </a:t>
            </a:r>
            <a:endParaRPr lang="en-US" sz="2000" dirty="0">
              <a:solidFill>
                <a:srgbClr val="CC0000"/>
              </a:solidFill>
            </a:endParaRPr>
          </a:p>
          <a:p>
            <a:pPr eaLnBrk="1" hangingPunct="1">
              <a:buFontTx/>
              <a:buAutoNum type="arabicPeriod"/>
            </a:pPr>
            <a:r>
              <a:rPr lang="en-US" sz="2000" dirty="0">
                <a:solidFill>
                  <a:srgbClr val="CC0000"/>
                </a:solidFill>
              </a:rPr>
              <a:t> 	</a:t>
            </a:r>
            <a:r>
              <a:rPr lang="en-US" sz="2000" b="1" dirty="0"/>
              <a:t>end-if</a:t>
            </a:r>
            <a:endParaRPr lang="en-US" sz="2000" dirty="0">
              <a:solidFill>
                <a:srgbClr val="CC0000"/>
              </a:solidFill>
            </a:endParaRPr>
          </a:p>
          <a:p>
            <a:pPr eaLnBrk="1" hangingPunct="1">
              <a:buFontTx/>
              <a:buAutoNum type="arabicPeriod"/>
            </a:pPr>
            <a:r>
              <a:rPr lang="en-US" sz="2000" dirty="0">
                <a:solidFill>
                  <a:srgbClr val="CC0000"/>
                </a:solidFill>
              </a:rPr>
              <a:t> </a:t>
            </a:r>
            <a:r>
              <a:rPr lang="en-US" sz="2000" b="1" dirty="0"/>
              <a:t>end-while</a:t>
            </a:r>
          </a:p>
          <a:p>
            <a:pPr eaLnBrk="1" hangingPunct="1">
              <a:buFontTx/>
              <a:buAutoNum type="arabicPeriod"/>
            </a:pPr>
            <a:r>
              <a:rPr lang="en-US" sz="2000" dirty="0">
                <a:solidFill>
                  <a:srgbClr val="CC0000"/>
                </a:solidFill>
              </a:rPr>
              <a:t> </a:t>
            </a:r>
            <a:r>
              <a:rPr lang="en-US" sz="2000" b="1" dirty="0"/>
              <a:t>return </a:t>
            </a:r>
            <a:r>
              <a:rPr lang="en-US" sz="2000" dirty="0">
                <a:solidFill>
                  <a:schemeClr val="hlink"/>
                </a:solidFill>
              </a:rPr>
              <a:t>M</a:t>
            </a:r>
            <a:r>
              <a:rPr lang="en-US" sz="1800" dirty="0">
                <a:solidFill>
                  <a:schemeClr val="hlink"/>
                </a:solidFill>
              </a:rPr>
              <a:t> 							</a:t>
            </a:r>
            <a:endParaRPr lang="en-US" sz="2000" b="1" dirty="0"/>
          </a:p>
          <a:p>
            <a:pPr eaLnBrk="1" hangingPunct="1">
              <a:buFontTx/>
              <a:buNone/>
            </a:pPr>
            <a:r>
              <a:rPr lang="en-US" sz="2000" b="1" dirty="0"/>
              <a:t>end</a:t>
            </a:r>
            <a:r>
              <a:rPr lang="en-US" sz="2000" dirty="0">
                <a:solidFill>
                  <a:schemeClr val="hlink"/>
                </a:solidFill>
              </a:rPr>
              <a:t> </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170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85699"/>
                                        </p:tgtEl>
                                        <p:attrNameLst>
                                          <p:attrName>style.visibility</p:attrName>
                                        </p:attrNameLst>
                                      </p:cBhvr>
                                      <p:to>
                                        <p:strVal val="visible"/>
                                      </p:to>
                                    </p:set>
                                    <p:anim calcmode="lin" valueType="num">
                                      <p:cBhvr>
                                        <p:cTn id="7" dur="500" fill="hold"/>
                                        <p:tgtEl>
                                          <p:spTgt spid="285699"/>
                                        </p:tgtEl>
                                        <p:attrNameLst>
                                          <p:attrName>ppt_w</p:attrName>
                                        </p:attrNameLst>
                                      </p:cBhvr>
                                      <p:tavLst>
                                        <p:tav tm="0">
                                          <p:val>
                                            <p:fltVal val="0"/>
                                          </p:val>
                                        </p:tav>
                                        <p:tav tm="100000">
                                          <p:val>
                                            <p:strVal val="#ppt_w"/>
                                          </p:val>
                                        </p:tav>
                                      </p:tavLst>
                                    </p:anim>
                                    <p:anim calcmode="lin" valueType="num">
                                      <p:cBhvr>
                                        <p:cTn id="8" dur="500" fill="hold"/>
                                        <p:tgtEl>
                                          <p:spTgt spid="285699"/>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85756"/>
                                        </p:tgtEl>
                                        <p:attrNameLst>
                                          <p:attrName>style.visibility</p:attrName>
                                        </p:attrNameLst>
                                      </p:cBhvr>
                                      <p:to>
                                        <p:strVal val="visible"/>
                                      </p:to>
                                    </p:set>
                                    <p:animEffect transition="in" filter="wipe(up)">
                                      <p:cBhvr>
                                        <p:cTn id="13" dur="500"/>
                                        <p:tgtEl>
                                          <p:spTgt spid="28575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85736"/>
                                        </p:tgtEl>
                                        <p:attrNameLst>
                                          <p:attrName>style.visibility</p:attrName>
                                        </p:attrNameLst>
                                      </p:cBhvr>
                                      <p:to>
                                        <p:strVal val="visible"/>
                                      </p:to>
                                    </p:set>
                                    <p:animEffect transition="in" filter="wipe(left)">
                                      <p:cBhvr>
                                        <p:cTn id="18" dur="500"/>
                                        <p:tgtEl>
                                          <p:spTgt spid="2857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9" grpId="0" animBg="1" autoUpdateAnimBg="0"/>
      <p:bldP spid="285736" grpId="0" animBg="1" autoUpdateAnimBg="0"/>
      <p:bldP spid="285756" grpId="0" animBg="1" autoUpdateAnimBg="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ChangeArrowheads="1"/>
          </p:cNvSpPr>
          <p:nvPr/>
        </p:nvSpPr>
        <p:spPr bwMode="auto">
          <a:xfrm>
            <a:off x="304800" y="609600"/>
            <a:ext cx="8686800" cy="5959475"/>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571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282575" indent="-282575" eaLnBrk="1" hangingPunct="1">
              <a:spcBef>
                <a:spcPct val="50000"/>
              </a:spcBef>
              <a:buFont typeface="Wingdings" pitchFamily="2" charset="2"/>
              <a:buNone/>
            </a:pPr>
            <a:r>
              <a:rPr lang="en-US" dirty="0">
                <a:solidFill>
                  <a:schemeClr val="hlink"/>
                </a:solidFill>
              </a:rPr>
              <a:t>Recommended books in the area:</a:t>
            </a:r>
          </a:p>
          <a:p>
            <a:pPr marL="282575" indent="-282575">
              <a:buFont typeface="Wingdings" pitchFamily="2" charset="2"/>
              <a:buChar char="§"/>
            </a:pPr>
            <a:r>
              <a:rPr lang="en-US" dirty="0"/>
              <a:t>L. </a:t>
            </a:r>
            <a:r>
              <a:rPr lang="en-US" dirty="0" err="1"/>
              <a:t>Lov</a:t>
            </a:r>
            <a:r>
              <a:rPr lang="en-US" dirty="0" err="1">
                <a:cs typeface="Times New Roman" pitchFamily="18" charset="0"/>
              </a:rPr>
              <a:t>á</a:t>
            </a:r>
            <a:r>
              <a:rPr lang="en-US" dirty="0" err="1"/>
              <a:t>sz</a:t>
            </a:r>
            <a:r>
              <a:rPr lang="en-US" dirty="0"/>
              <a:t>, M.D. Plummer, </a:t>
            </a:r>
            <a:r>
              <a:rPr lang="en-US" dirty="0">
                <a:solidFill>
                  <a:srgbClr val="CC0000"/>
                </a:solidFill>
              </a:rPr>
              <a:t>“Matching Theory,”</a:t>
            </a:r>
            <a:r>
              <a:rPr lang="en-US" dirty="0"/>
              <a:t> Volume 121 of Annals of Discrete Mathematics. North Holland, 1986.</a:t>
            </a:r>
          </a:p>
          <a:p>
            <a:pPr marL="282575" indent="-282575">
              <a:buFont typeface="Wingdings" pitchFamily="2" charset="2"/>
              <a:buChar char="§"/>
            </a:pPr>
            <a:r>
              <a:rPr lang="en-US" dirty="0"/>
              <a:t>C. Papadimitriou, K. </a:t>
            </a:r>
            <a:r>
              <a:rPr lang="en-US" dirty="0" err="1"/>
              <a:t>Steiglitz</a:t>
            </a:r>
            <a:r>
              <a:rPr lang="en-US" dirty="0"/>
              <a:t>, </a:t>
            </a:r>
            <a:r>
              <a:rPr lang="en-US" dirty="0">
                <a:solidFill>
                  <a:srgbClr val="CC0000"/>
                </a:solidFill>
              </a:rPr>
              <a:t>“Combinatorial Optimization: Algorithms and Complexity,”</a:t>
            </a:r>
            <a:r>
              <a:rPr lang="en-US" b="1" dirty="0"/>
              <a:t> </a:t>
            </a:r>
            <a:br>
              <a:rPr lang="en-US" b="1" dirty="0"/>
            </a:br>
            <a:r>
              <a:rPr lang="en-US" dirty="0"/>
              <a:t>1</a:t>
            </a:r>
            <a:r>
              <a:rPr lang="en-US" baseline="30000" dirty="0"/>
              <a:t>st</a:t>
            </a:r>
            <a:r>
              <a:rPr lang="en-US" dirty="0"/>
              <a:t> </a:t>
            </a:r>
            <a:r>
              <a:rPr lang="en-US" dirty="0" smtClean="0"/>
              <a:t>edition, </a:t>
            </a:r>
            <a:r>
              <a:rPr lang="en-US" dirty="0"/>
              <a:t>Prentice Hall, 1982;   or  2</a:t>
            </a:r>
            <a:r>
              <a:rPr lang="en-US" baseline="30000" dirty="0"/>
              <a:t>nd</a:t>
            </a:r>
            <a:r>
              <a:rPr lang="en-US" dirty="0"/>
              <a:t> edition, Courier Dover, 1998.</a:t>
            </a:r>
          </a:p>
          <a:p>
            <a:pPr marL="282575" indent="-282575">
              <a:buFont typeface="Wingdings" pitchFamily="2" charset="2"/>
              <a:buChar char="§"/>
            </a:pPr>
            <a:r>
              <a:rPr lang="en-US" dirty="0"/>
              <a:t>E.L. Lawler, </a:t>
            </a:r>
            <a:r>
              <a:rPr lang="en-US" dirty="0">
                <a:solidFill>
                  <a:srgbClr val="CC0000"/>
                </a:solidFill>
              </a:rPr>
              <a:t>“Combinatorial Optimization: Networks and </a:t>
            </a:r>
            <a:r>
              <a:rPr lang="en-US" dirty="0" err="1">
                <a:solidFill>
                  <a:srgbClr val="CC0000"/>
                </a:solidFill>
              </a:rPr>
              <a:t>Matroids</a:t>
            </a:r>
            <a:r>
              <a:rPr lang="en-US" dirty="0">
                <a:solidFill>
                  <a:srgbClr val="CC0000"/>
                </a:solidFill>
              </a:rPr>
              <a:t>,”</a:t>
            </a:r>
            <a:r>
              <a:rPr lang="en-US" dirty="0"/>
              <a:t> Holt, Rinehart &amp; Winston, 1976.</a:t>
            </a:r>
            <a:r>
              <a:rPr lang="en-US" dirty="0">
                <a:solidFill>
                  <a:schemeClr val="hlink"/>
                </a:solidFill>
              </a:rPr>
              <a:t>   </a:t>
            </a:r>
            <a:r>
              <a:rPr lang="en-US" dirty="0">
                <a:solidFill>
                  <a:srgbClr val="990033"/>
                </a:solidFill>
              </a:rPr>
              <a:t>[gives the first O(V</a:t>
            </a:r>
            <a:r>
              <a:rPr lang="en-US" baseline="30000" dirty="0">
                <a:solidFill>
                  <a:srgbClr val="990033"/>
                </a:solidFill>
              </a:rPr>
              <a:t>3</a:t>
            </a:r>
            <a:r>
              <a:rPr lang="en-US" dirty="0">
                <a:solidFill>
                  <a:srgbClr val="990033"/>
                </a:solidFill>
              </a:rPr>
              <a:t>)-time non-bipartite matching algorithm]</a:t>
            </a:r>
            <a:r>
              <a:rPr lang="en-US" dirty="0"/>
              <a:t> </a:t>
            </a:r>
            <a:endParaRPr lang="en-US" dirty="0">
              <a:solidFill>
                <a:schemeClr val="hlink"/>
              </a:solidFill>
            </a:endParaRPr>
          </a:p>
          <a:p>
            <a:pPr marL="282575" indent="-282575" eaLnBrk="1" hangingPunct="1">
              <a:spcBef>
                <a:spcPct val="50000"/>
              </a:spcBef>
              <a:buFont typeface="Wingdings" pitchFamily="2" charset="2"/>
              <a:buNone/>
            </a:pPr>
            <a:r>
              <a:rPr lang="en-US" dirty="0">
                <a:solidFill>
                  <a:schemeClr val="hlink"/>
                </a:solidFill>
              </a:rPr>
              <a:t>Algorithms for bipartite matching have been known for some time:</a:t>
            </a:r>
          </a:p>
          <a:p>
            <a:pPr marL="282575" indent="-282575" eaLnBrk="1" hangingPunct="1">
              <a:spcBef>
                <a:spcPct val="50000"/>
              </a:spcBef>
              <a:buFont typeface="Wingdings" pitchFamily="2" charset="2"/>
              <a:buChar char="§"/>
            </a:pPr>
            <a:r>
              <a:rPr lang="en-US" dirty="0"/>
              <a:t>M. Hall Jr., </a:t>
            </a:r>
            <a:r>
              <a:rPr lang="en-US" dirty="0">
                <a:solidFill>
                  <a:srgbClr val="CC0000"/>
                </a:solidFill>
              </a:rPr>
              <a:t>“An algorithm for distinct representatives,”</a:t>
            </a:r>
            <a:r>
              <a:rPr lang="en-US" dirty="0"/>
              <a:t> American Math. Monthly 63:716-717, 1956.</a:t>
            </a:r>
          </a:p>
          <a:p>
            <a:pPr marL="282575" indent="-282575" eaLnBrk="1" hangingPunct="1">
              <a:spcBef>
                <a:spcPct val="50000"/>
              </a:spcBef>
              <a:buFont typeface="Wingdings" pitchFamily="2" charset="2"/>
              <a:buChar char="§"/>
            </a:pPr>
            <a:r>
              <a:rPr lang="en-US" dirty="0"/>
              <a:t>L.R. Ford, Jr., D.R. Fulkerson, </a:t>
            </a:r>
            <a:r>
              <a:rPr lang="en-US" dirty="0">
                <a:solidFill>
                  <a:srgbClr val="CC0000"/>
                </a:solidFill>
              </a:rPr>
              <a:t>“Flows in Networks,”  </a:t>
            </a:r>
            <a:r>
              <a:rPr lang="en-US" dirty="0"/>
              <a:t>Princeton University Press, 1962.</a:t>
            </a:r>
          </a:p>
          <a:p>
            <a:pPr marL="282575" indent="-282575" eaLnBrk="1" hangingPunct="1">
              <a:spcBef>
                <a:spcPct val="50000"/>
              </a:spcBef>
              <a:buFont typeface="Wingdings" pitchFamily="2" charset="2"/>
              <a:buNone/>
            </a:pPr>
            <a:r>
              <a:rPr lang="en-US" dirty="0">
                <a:solidFill>
                  <a:schemeClr val="hlink"/>
                </a:solidFill>
              </a:rPr>
              <a:t>The simple transformation of bipartite matching to max-flow was first pointed out by</a:t>
            </a:r>
            <a:r>
              <a:rPr lang="en-US" dirty="0"/>
              <a:t> </a:t>
            </a:r>
          </a:p>
          <a:p>
            <a:pPr marL="282575" indent="-282575" eaLnBrk="1" hangingPunct="1">
              <a:spcBef>
                <a:spcPct val="50000"/>
              </a:spcBef>
              <a:buFont typeface="Wingdings" pitchFamily="2" charset="2"/>
              <a:buChar char="§"/>
            </a:pPr>
            <a:r>
              <a:rPr lang="en-US" dirty="0"/>
              <a:t>S. Even, R.E. </a:t>
            </a:r>
            <a:r>
              <a:rPr lang="en-US" dirty="0" err="1"/>
              <a:t>Tarjan</a:t>
            </a:r>
            <a:r>
              <a:rPr lang="en-US" dirty="0"/>
              <a:t>, </a:t>
            </a:r>
            <a:r>
              <a:rPr lang="en-US" dirty="0">
                <a:solidFill>
                  <a:srgbClr val="CC0000"/>
                </a:solidFill>
              </a:rPr>
              <a:t>“Network flow and testing graph connectivity,”  </a:t>
            </a:r>
            <a:r>
              <a:rPr lang="en-US" dirty="0"/>
              <a:t>SIAM J. Computing 4(4):507-512, 1975.</a:t>
            </a:r>
          </a:p>
          <a:p>
            <a:pPr marL="282575" indent="-282575" eaLnBrk="1" hangingPunct="1">
              <a:spcBef>
                <a:spcPct val="50000"/>
              </a:spcBef>
              <a:buFont typeface="Wingdings" pitchFamily="2" charset="2"/>
              <a:buNone/>
            </a:pPr>
            <a:r>
              <a:rPr lang="en-US" dirty="0">
                <a:solidFill>
                  <a:schemeClr val="hlink"/>
                </a:solidFill>
              </a:rPr>
              <a:t>The first polynomial time algorithm for non-bipartite matching is from</a:t>
            </a:r>
          </a:p>
          <a:p>
            <a:pPr marL="282575" indent="-282575" eaLnBrk="1" hangingPunct="1">
              <a:spcBef>
                <a:spcPct val="50000"/>
              </a:spcBef>
              <a:buFont typeface="Wingdings" pitchFamily="2" charset="2"/>
              <a:buChar char="§"/>
            </a:pPr>
            <a:r>
              <a:rPr lang="en-US" dirty="0"/>
              <a:t>Jack Edmonds, </a:t>
            </a:r>
            <a:r>
              <a:rPr lang="en-US" dirty="0">
                <a:solidFill>
                  <a:srgbClr val="CC0000"/>
                </a:solidFill>
              </a:rPr>
              <a:t>“Paths, trees, flowers,”  </a:t>
            </a:r>
            <a:r>
              <a:rPr lang="en-US" dirty="0"/>
              <a:t>Canadian Journal of Mathematics, 17:449-467, 1965.</a:t>
            </a:r>
          </a:p>
          <a:p>
            <a:pPr marL="282575" indent="-282575" eaLnBrk="1" hangingPunct="1">
              <a:spcBef>
                <a:spcPct val="50000"/>
              </a:spcBef>
              <a:buFont typeface="Wingdings" pitchFamily="2" charset="2"/>
              <a:buChar char="§"/>
            </a:pPr>
            <a:r>
              <a:rPr lang="en-US" dirty="0"/>
              <a:t>Jack Edmonds, </a:t>
            </a:r>
            <a:r>
              <a:rPr lang="en-US" dirty="0">
                <a:solidFill>
                  <a:srgbClr val="CC0000"/>
                </a:solidFill>
              </a:rPr>
              <a:t>“Matching and a polyhedron with 0-1 vertices,”  </a:t>
            </a:r>
            <a:r>
              <a:rPr lang="en-US" dirty="0"/>
              <a:t>J. Res. NBS, 69B:125-130, 1965.</a:t>
            </a:r>
            <a:br>
              <a:rPr lang="en-US" dirty="0"/>
            </a:br>
            <a:r>
              <a:rPr lang="en-US" dirty="0">
                <a:solidFill>
                  <a:srgbClr val="990033"/>
                </a:solidFill>
              </a:rPr>
              <a:t>[gives an algorithm for the weighted matching problem]</a:t>
            </a:r>
          </a:p>
          <a:p>
            <a:pPr marL="282575" indent="-282575" eaLnBrk="1" hangingPunct="1">
              <a:spcBef>
                <a:spcPct val="50000"/>
              </a:spcBef>
              <a:buFont typeface="Wingdings" pitchFamily="2" charset="2"/>
              <a:buNone/>
            </a:pPr>
            <a:r>
              <a:rPr lang="en-US" dirty="0">
                <a:solidFill>
                  <a:schemeClr val="hlink"/>
                </a:solidFill>
              </a:rPr>
              <a:t>Faster than O(V</a:t>
            </a:r>
            <a:r>
              <a:rPr lang="en-US" baseline="30000" dirty="0">
                <a:solidFill>
                  <a:schemeClr val="hlink"/>
                </a:solidFill>
              </a:rPr>
              <a:t>3</a:t>
            </a:r>
            <a:r>
              <a:rPr lang="en-US" dirty="0">
                <a:solidFill>
                  <a:schemeClr val="hlink"/>
                </a:solidFill>
              </a:rPr>
              <a:t>)-time algorithm for the geometric version of the problem was first discovered by</a:t>
            </a:r>
          </a:p>
          <a:p>
            <a:pPr marL="282575" indent="-282575" eaLnBrk="1" hangingPunct="1">
              <a:spcBef>
                <a:spcPct val="50000"/>
              </a:spcBef>
              <a:buFont typeface="Wingdings" pitchFamily="2" charset="2"/>
              <a:buChar char="§"/>
            </a:pPr>
            <a:r>
              <a:rPr lang="en-US" dirty="0"/>
              <a:t>P. </a:t>
            </a:r>
            <a:r>
              <a:rPr lang="en-US" dirty="0" err="1"/>
              <a:t>Vaidya</a:t>
            </a:r>
            <a:r>
              <a:rPr lang="en-US" dirty="0"/>
              <a:t>, </a:t>
            </a:r>
            <a:r>
              <a:rPr lang="en-US" dirty="0">
                <a:solidFill>
                  <a:srgbClr val="CC0000"/>
                </a:solidFill>
              </a:rPr>
              <a:t>“Geometry helps in matching,”</a:t>
            </a:r>
            <a:r>
              <a:rPr lang="en-US" dirty="0"/>
              <a:t> STOC, </a:t>
            </a:r>
            <a:r>
              <a:rPr lang="en-US" dirty="0" err="1"/>
              <a:t>pp</a:t>
            </a:r>
            <a:r>
              <a:rPr lang="en-US" dirty="0"/>
              <a:t>: 422-425, 1988.</a:t>
            </a:r>
          </a:p>
        </p:txBody>
      </p:sp>
      <p:sp>
        <p:nvSpPr>
          <p:cNvPr id="175107" name="Rectangle 4"/>
          <p:cNvSpPr>
            <a:spLocks noGrp="1" noChangeArrowheads="1"/>
          </p:cNvSpPr>
          <p:nvPr>
            <p:ph type="title"/>
          </p:nvPr>
        </p:nvSpPr>
        <p:spPr>
          <a:xfrm>
            <a:off x="228600" y="152400"/>
            <a:ext cx="8686800" cy="457200"/>
          </a:xfrm>
          <a:solidFill>
            <a:srgbClr val="FFCCCC"/>
          </a:solidFill>
          <a:ln>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eaLnBrk="1" hangingPunct="1"/>
            <a:r>
              <a:rPr lang="en-US" sz="2400" dirty="0" smtClean="0">
                <a:solidFill>
                  <a:srgbClr val="FF0000"/>
                </a:solidFill>
                <a:latin typeface="Arial Rounded MT Bold" pitchFamily="34" charset="0"/>
              </a:rPr>
              <a:t>Bibliography:  </a:t>
            </a:r>
            <a:r>
              <a:rPr lang="en-US" sz="2400" dirty="0" smtClean="0">
                <a:solidFill>
                  <a:schemeClr val="tx1"/>
                </a:solidFill>
                <a:latin typeface="Arial Rounded MT Bold" pitchFamily="34" charset="0"/>
              </a:rPr>
              <a:t>Graph Matching</a:t>
            </a:r>
          </a:p>
        </p:txBody>
      </p:sp>
      <p:sp>
        <p:nvSpPr>
          <p:cNvPr id="2" name="Slide Number Placeholder 1"/>
          <p:cNvSpPr>
            <a:spLocks noGrp="1"/>
          </p:cNvSpPr>
          <p:nvPr>
            <p:ph type="sldNum" sz="quarter" idx="12"/>
          </p:nvPr>
        </p:nvSpPr>
        <p:spPr/>
        <p:txBody>
          <a:bodyPr/>
          <a:lstStyle/>
          <a:p>
            <a:pPr>
              <a:defRPr/>
            </a:pPr>
            <a:fld id="{2EA72CB5-5472-4B1F-9EF4-151FAEB37976}" type="slidenum">
              <a:rPr lang="en-US" smtClean="0"/>
              <a:pPr>
                <a:defRPr/>
              </a:pPr>
              <a:t>171</a:t>
            </a:fld>
            <a:endParaRPr lang="en-US"/>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3954" name="Rectangle 2"/>
          <p:cNvSpPr>
            <a:spLocks noGrp="1" noChangeArrowheads="1"/>
          </p:cNvSpPr>
          <p:nvPr>
            <p:ph type="ctrTitle"/>
          </p:nvPr>
        </p:nvSpPr>
        <p:spPr>
          <a:xfrm>
            <a:off x="685800" y="2286000"/>
            <a:ext cx="7772400" cy="1143000"/>
          </a:xfrm>
          <a:solidFill>
            <a:srgbClr val="FFCCCC"/>
          </a:solidFill>
          <a:ln w="762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eaLnBrk="1" hangingPunct="1"/>
            <a:r>
              <a:rPr lang="en-US" sz="6000" smtClean="0">
                <a:solidFill>
                  <a:schemeClr val="accent2"/>
                </a:solidFill>
                <a:latin typeface="Arial Rounded MT Bold" pitchFamily="34" charset="0"/>
              </a:rPr>
              <a:t>Exercises</a:t>
            </a:r>
          </a:p>
        </p:txBody>
      </p:sp>
      <p:sp>
        <p:nvSpPr>
          <p:cNvPr id="2" name="Slide Number Placeholder 1"/>
          <p:cNvSpPr>
            <a:spLocks noGrp="1"/>
          </p:cNvSpPr>
          <p:nvPr>
            <p:ph type="sldNum" sz="quarter" idx="12"/>
          </p:nvPr>
        </p:nvSpPr>
        <p:spPr/>
        <p:txBody>
          <a:bodyPr/>
          <a:lstStyle/>
          <a:p>
            <a:pPr>
              <a:defRPr/>
            </a:pPr>
            <a:fld id="{90683EDB-7658-49F0-B96C-482436AB937A}" type="slidenum">
              <a:rPr lang="en-US" smtClean="0"/>
              <a:pPr>
                <a:defRPr/>
              </a:pPr>
              <a:t>172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53954"/>
                                        </p:tgtEl>
                                        <p:attrNameLst>
                                          <p:attrName>style.visibility</p:attrName>
                                        </p:attrNameLst>
                                      </p:cBhvr>
                                      <p:to>
                                        <p:strVal val="visible"/>
                                      </p:to>
                                    </p:set>
                                    <p:anim calcmode="lin" valueType="num">
                                      <p:cBhvr>
                                        <p:cTn id="7" dur="500" fill="hold"/>
                                        <p:tgtEl>
                                          <p:spTgt spid="253954"/>
                                        </p:tgtEl>
                                        <p:attrNameLst>
                                          <p:attrName>ppt_w</p:attrName>
                                        </p:attrNameLst>
                                      </p:cBhvr>
                                      <p:tavLst>
                                        <p:tav tm="0">
                                          <p:val>
                                            <p:fltVal val="0"/>
                                          </p:val>
                                        </p:tav>
                                        <p:tav tm="100000">
                                          <p:val>
                                            <p:strVal val="#ppt_w"/>
                                          </p:val>
                                        </p:tav>
                                      </p:tavLst>
                                    </p:anim>
                                    <p:anim calcmode="lin" valueType="num">
                                      <p:cBhvr>
                                        <p:cTn id="8" dur="500" fill="hold"/>
                                        <p:tgtEl>
                                          <p:spTgt spid="25395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4" grpId="0" animBg="1" autoUpdateAnimBg="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7154"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77602" name="Equation" r:id="rId3" imgW="114151" imgH="215619" progId="Equation.3">
                  <p:embed/>
                </p:oleObj>
              </mc:Choice>
              <mc:Fallback>
                <p:oleObj name="Equation" r:id="rId3"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7155"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77603" name="Equation" r:id="rId5" imgW="114151" imgH="215619" progId="Equation.3">
                  <p:embed/>
                </p:oleObj>
              </mc:Choice>
              <mc:Fallback>
                <p:oleObj name="Equation" r:id="rId5"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7156" name="Object 5"/>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77604" name="Equation" r:id="rId6" imgW="114151" imgH="215619" progId="Equation.3">
                  <p:embed/>
                </p:oleObj>
              </mc:Choice>
              <mc:Fallback>
                <p:oleObj name="Equation" r:id="rId6" imgW="114151" imgH="215619"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7157" name="Rectangle 6"/>
          <p:cNvSpPr>
            <a:spLocks noChangeArrowheads="1"/>
          </p:cNvSpPr>
          <p:nvPr/>
        </p:nvSpPr>
        <p:spPr bwMode="auto">
          <a:xfrm>
            <a:off x="381000" y="228600"/>
            <a:ext cx="8534400" cy="421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85763" indent="-376238" eaLnBrk="1" hangingPunct="1">
              <a:lnSpc>
                <a:spcPct val="90000"/>
              </a:lnSpc>
              <a:spcBef>
                <a:spcPct val="20000"/>
              </a:spcBef>
              <a:buFontTx/>
              <a:buAutoNum type="arabicPeriod"/>
            </a:pPr>
            <a:r>
              <a:rPr lang="en-US"/>
              <a:t>Given the adjacency list structure of a graph G = (V, E), give an O(V+E)-time algorithm that reorders the vertices in each adjacency list in sorted order (say numerically, or alphabetically).</a:t>
            </a:r>
            <a:br>
              <a:rPr lang="en-US"/>
            </a:br>
            <a:r>
              <a:rPr lang="en-US"/>
              <a:t> </a:t>
            </a:r>
          </a:p>
          <a:p>
            <a:pPr marL="385763" indent="-376238" eaLnBrk="1" hangingPunct="1">
              <a:lnSpc>
                <a:spcPct val="90000"/>
              </a:lnSpc>
              <a:spcBef>
                <a:spcPct val="20000"/>
              </a:spcBef>
              <a:buFontTx/>
              <a:buAutoNum type="arabicPeriod"/>
            </a:pPr>
            <a:r>
              <a:rPr lang="en-US" b="1"/>
              <a:t>[CLRS, Exercise 22.1-3, p. 592]</a:t>
            </a:r>
            <a:r>
              <a:rPr lang="en-US"/>
              <a:t>  The </a:t>
            </a:r>
            <a:r>
              <a:rPr lang="en-US" b="1">
                <a:solidFill>
                  <a:srgbClr val="CC0000"/>
                </a:solidFill>
              </a:rPr>
              <a:t>transpose</a:t>
            </a:r>
            <a:r>
              <a:rPr lang="en-US"/>
              <a:t> of a digraph G = (V , E) is the digraph </a:t>
            </a:r>
            <a:br>
              <a:rPr lang="en-US"/>
            </a:br>
            <a:r>
              <a:rPr lang="en-US"/>
              <a:t>G</a:t>
            </a:r>
            <a:r>
              <a:rPr lang="en-US" baseline="30000"/>
              <a:t>T</a:t>
            </a:r>
            <a:r>
              <a:rPr lang="en-US"/>
              <a:t> = (V , E</a:t>
            </a:r>
            <a:r>
              <a:rPr lang="en-US" baseline="30000"/>
              <a:t>T</a:t>
            </a:r>
            <a:r>
              <a:rPr lang="en-US"/>
              <a:t> ), where  E</a:t>
            </a:r>
            <a:r>
              <a:rPr lang="en-US" baseline="30000"/>
              <a:t>T</a:t>
            </a:r>
            <a:r>
              <a:rPr lang="en-US"/>
              <a:t> = { (v,u)  |  v</a:t>
            </a:r>
            <a:r>
              <a:rPr lang="en-US">
                <a:sym typeface="Symbol" pitchFamily="18" charset="2"/>
              </a:rPr>
              <a:t>V, uV, (u,v)E }. Thus, </a:t>
            </a:r>
            <a:r>
              <a:rPr lang="en-US"/>
              <a:t>G</a:t>
            </a:r>
            <a:r>
              <a:rPr lang="en-US" baseline="30000"/>
              <a:t>T</a:t>
            </a:r>
            <a:r>
              <a:rPr lang="en-US"/>
              <a:t> is G with all its edges reversed. Describe efficient algorithms for computing G</a:t>
            </a:r>
            <a:r>
              <a:rPr lang="en-US" baseline="30000"/>
              <a:t>T</a:t>
            </a:r>
            <a:r>
              <a:rPr lang="en-US"/>
              <a:t> from G, for both the adjacency list and adjacency matrix representations of G. Analyze the running times of your algorithms.</a:t>
            </a:r>
            <a:br>
              <a:rPr lang="en-US"/>
            </a:br>
            <a:endParaRPr lang="en-US"/>
          </a:p>
          <a:p>
            <a:pPr marL="385763" indent="-376238" eaLnBrk="1" hangingPunct="1">
              <a:lnSpc>
                <a:spcPct val="90000"/>
              </a:lnSpc>
              <a:spcBef>
                <a:spcPct val="20000"/>
              </a:spcBef>
              <a:buFontTx/>
              <a:buAutoNum type="arabicPeriod"/>
            </a:pPr>
            <a:r>
              <a:rPr lang="en-US" b="1"/>
              <a:t>[CLRS, Exercise 22.1-5, p. 593]</a:t>
            </a:r>
            <a:r>
              <a:rPr lang="en-US"/>
              <a:t>  The </a:t>
            </a:r>
            <a:r>
              <a:rPr lang="en-US" b="1">
                <a:solidFill>
                  <a:srgbClr val="CC0000"/>
                </a:solidFill>
              </a:rPr>
              <a:t>square </a:t>
            </a:r>
            <a:r>
              <a:rPr lang="en-US"/>
              <a:t>of a digraph G = (V , E) is the digraph </a:t>
            </a:r>
            <a:br>
              <a:rPr lang="en-US"/>
            </a:br>
            <a:r>
              <a:rPr lang="en-US"/>
              <a:t>G</a:t>
            </a:r>
            <a:r>
              <a:rPr lang="en-US" baseline="30000"/>
              <a:t>2</a:t>
            </a:r>
            <a:r>
              <a:rPr lang="en-US"/>
              <a:t> = (V , E</a:t>
            </a:r>
            <a:r>
              <a:rPr lang="en-US" baseline="30000"/>
              <a:t>2</a:t>
            </a:r>
            <a:r>
              <a:rPr lang="en-US"/>
              <a:t> ) such that </a:t>
            </a:r>
            <a:r>
              <a:rPr lang="en-US">
                <a:sym typeface="Symbol" pitchFamily="18" charset="2"/>
              </a:rPr>
              <a:t>(u,w)</a:t>
            </a:r>
            <a:r>
              <a:rPr lang="en-US"/>
              <a:t>E</a:t>
            </a:r>
            <a:r>
              <a:rPr lang="en-US" baseline="30000"/>
              <a:t>2</a:t>
            </a:r>
            <a:r>
              <a:rPr lang="en-US"/>
              <a:t> if and only if for some v</a:t>
            </a:r>
            <a:r>
              <a:rPr lang="en-US">
                <a:sym typeface="Symbol" pitchFamily="18" charset="2"/>
              </a:rPr>
              <a:t>V, both (u,v)</a:t>
            </a:r>
            <a:r>
              <a:rPr lang="en-US"/>
              <a:t>E and </a:t>
            </a:r>
            <a:r>
              <a:rPr lang="en-US">
                <a:sym typeface="Symbol" pitchFamily="18" charset="2"/>
              </a:rPr>
              <a:t>(v,w)</a:t>
            </a:r>
            <a:r>
              <a:rPr lang="en-US"/>
              <a:t>E.</a:t>
            </a:r>
            <a:br>
              <a:rPr lang="en-US"/>
            </a:br>
            <a:r>
              <a:rPr lang="en-US"/>
              <a:t>That is, G</a:t>
            </a:r>
            <a:r>
              <a:rPr lang="en-US" baseline="30000"/>
              <a:t>2</a:t>
            </a:r>
            <a:r>
              <a:rPr lang="en-US"/>
              <a:t> contains an edge from u to w whenever G contains a path from u to w with exactly two edges.  Describe efficient algorithms for computing G</a:t>
            </a:r>
            <a:r>
              <a:rPr lang="en-US" baseline="30000"/>
              <a:t>2</a:t>
            </a:r>
            <a:r>
              <a:rPr lang="en-US"/>
              <a:t> from G for both the adjacency list and adjacency matrix representations of G. Analyze the running times of your algorithms.</a:t>
            </a:r>
            <a:br>
              <a:rPr lang="en-US"/>
            </a:br>
            <a:r>
              <a:rPr lang="en-US"/>
              <a:t> </a:t>
            </a:r>
          </a:p>
          <a:p>
            <a:pPr marL="385763" indent="-376238" eaLnBrk="1" hangingPunct="1">
              <a:lnSpc>
                <a:spcPct val="90000"/>
              </a:lnSpc>
              <a:spcBef>
                <a:spcPct val="20000"/>
              </a:spcBef>
              <a:buFontTx/>
              <a:buAutoNum type="arabicPeriod"/>
            </a:pPr>
            <a:r>
              <a:rPr lang="en-US" b="1"/>
              <a:t>[CLRS,  Exercise 22.1-6, p. 593]</a:t>
            </a:r>
            <a:r>
              <a:rPr lang="en-US"/>
              <a:t>  When an adjacency matrix representation is used, most graph algorithms require time </a:t>
            </a:r>
            <a:r>
              <a:rPr lang="en-US">
                <a:latin typeface="Symbol" pitchFamily="18" charset="2"/>
              </a:rPr>
              <a:t>W</a:t>
            </a:r>
            <a:r>
              <a:rPr lang="en-US"/>
              <a:t>(V</a:t>
            </a:r>
            <a:r>
              <a:rPr lang="en-US" baseline="30000"/>
              <a:t>2</a:t>
            </a:r>
            <a:r>
              <a:rPr lang="en-US"/>
              <a:t>), but there are some exceptions.  Show that determining whether a digraph G contains a </a:t>
            </a:r>
            <a:r>
              <a:rPr lang="en-US" b="1">
                <a:solidFill>
                  <a:srgbClr val="CC0000"/>
                </a:solidFill>
              </a:rPr>
              <a:t>universal sink</a:t>
            </a:r>
            <a:r>
              <a:rPr lang="en-US"/>
              <a:t>   (a vertex with in-degree |V| – 1 and out-degree 0) can be determined in time O(V), given the adjacency matrix for G.  </a:t>
            </a:r>
          </a:p>
        </p:txBody>
      </p:sp>
      <p:grpSp>
        <p:nvGrpSpPr>
          <p:cNvPr id="177158" name="Group 11"/>
          <p:cNvGrpSpPr>
            <a:grpSpLocks/>
          </p:cNvGrpSpPr>
          <p:nvPr/>
        </p:nvGrpSpPr>
        <p:grpSpPr bwMode="auto">
          <a:xfrm>
            <a:off x="381000" y="4572000"/>
            <a:ext cx="8382000" cy="2130425"/>
            <a:chOff x="240" y="2592"/>
            <a:chExt cx="5280" cy="1342"/>
          </a:xfrm>
        </p:grpSpPr>
        <p:sp>
          <p:nvSpPr>
            <p:cNvPr id="177159" name="Rectangle 8"/>
            <p:cNvSpPr>
              <a:spLocks noChangeArrowheads="1"/>
            </p:cNvSpPr>
            <p:nvPr/>
          </p:nvSpPr>
          <p:spPr bwMode="auto">
            <a:xfrm>
              <a:off x="576" y="3744"/>
              <a:ext cx="4522"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eaLnBrk="1" hangingPunct="1">
                <a:spcBef>
                  <a:spcPct val="50000"/>
                </a:spcBef>
                <a:buFont typeface="Wingdings" pitchFamily="2" charset="2"/>
                <a:buNone/>
              </a:pPr>
              <a:r>
                <a:rPr lang="en-US"/>
                <a:t>Describe what the entries of the matrix BB</a:t>
              </a:r>
              <a:r>
                <a:rPr lang="en-US" baseline="30000"/>
                <a:t>T</a:t>
              </a:r>
              <a:r>
                <a:rPr lang="en-US"/>
                <a:t> represent, where B</a:t>
              </a:r>
              <a:r>
                <a:rPr lang="en-US" baseline="30000"/>
                <a:t>T </a:t>
              </a:r>
              <a:r>
                <a:rPr lang="en-US"/>
                <a:t>is the transpose of B.</a:t>
              </a:r>
            </a:p>
          </p:txBody>
        </p:sp>
        <p:graphicFrame>
          <p:nvGraphicFramePr>
            <p:cNvPr id="177160" name="Object 9"/>
            <p:cNvGraphicFramePr>
              <a:graphicFrameLocks noChangeAspect="1"/>
            </p:cNvGraphicFramePr>
            <p:nvPr/>
          </p:nvGraphicFramePr>
          <p:xfrm>
            <a:off x="940" y="2976"/>
            <a:ext cx="3284" cy="720"/>
          </p:xfrm>
          <a:graphic>
            <a:graphicData uri="http://schemas.openxmlformats.org/presentationml/2006/ole">
              <mc:AlternateContent xmlns:mc="http://schemas.openxmlformats.org/markup-compatibility/2006">
                <mc:Choice xmlns:v="urn:schemas-microsoft-com:vml" Requires="v">
                  <p:oleObj spid="_x0000_s177605" name="Equation" r:id="rId7" imgW="3022600" imgH="685800" progId="Equation.3">
                    <p:embed/>
                  </p:oleObj>
                </mc:Choice>
                <mc:Fallback>
                  <p:oleObj name="Equation" r:id="rId7" imgW="3022600" imgH="6858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0" y="2976"/>
                          <a:ext cx="3284"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7161" name="Rectangle 10"/>
            <p:cNvSpPr>
              <a:spLocks noChangeArrowheads="1"/>
            </p:cNvSpPr>
            <p:nvPr/>
          </p:nvSpPr>
          <p:spPr bwMode="auto">
            <a:xfrm>
              <a:off x="240" y="2592"/>
              <a:ext cx="5280"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marL="457200" indent="-457200" eaLnBrk="1" hangingPunct="1">
                <a:lnSpc>
                  <a:spcPct val="90000"/>
                </a:lnSpc>
                <a:spcBef>
                  <a:spcPct val="20000"/>
                </a:spcBef>
                <a:buFontTx/>
                <a:buAutoNum type="arabicPeriod" startAt="5"/>
              </a:pPr>
              <a:r>
                <a:rPr lang="en-US" b="1"/>
                <a:t>[CLRS, Exercise 22.1-7, p. 593]</a:t>
              </a:r>
              <a:r>
                <a:rPr lang="en-US"/>
                <a:t>  The </a:t>
              </a:r>
              <a:r>
                <a:rPr lang="en-US" b="1">
                  <a:solidFill>
                    <a:srgbClr val="CC0000"/>
                  </a:solidFill>
                </a:rPr>
                <a:t>vertex-edge incidence matrix</a:t>
              </a:r>
              <a:r>
                <a:rPr lang="en-US"/>
                <a:t> of a digraph G = (V, E) is a matrix B[V,E] = (b</a:t>
              </a:r>
              <a:r>
                <a:rPr lang="en-US" sz="2000" baseline="-25000"/>
                <a:t>ue</a:t>
              </a:r>
              <a:r>
                <a:rPr lang="en-US"/>
                <a:t>) such that</a:t>
              </a:r>
            </a:p>
          </p:txBody>
        </p:sp>
      </p:gr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173</a:t>
            </a:fld>
            <a:endParaRPr lang="en-US"/>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5"/>
          <p:cNvSpPr>
            <a:spLocks noChangeArrowheads="1"/>
          </p:cNvSpPr>
          <p:nvPr/>
        </p:nvSpPr>
        <p:spPr bwMode="auto">
          <a:xfrm>
            <a:off x="381000" y="228600"/>
            <a:ext cx="8610600"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85763" indent="-376238" eaLnBrk="1" hangingPunct="1">
              <a:lnSpc>
                <a:spcPct val="90000"/>
              </a:lnSpc>
              <a:spcBef>
                <a:spcPct val="20000"/>
              </a:spcBef>
              <a:buFontTx/>
              <a:buAutoNum type="arabicPeriod" startAt="6"/>
            </a:pPr>
            <a:r>
              <a:rPr lang="en-US" b="1"/>
              <a:t>[BFS &amp; DFS Example] </a:t>
            </a:r>
            <a:r>
              <a:rPr lang="en-US"/>
              <a:t>Consider the example digraph G shown below.</a:t>
            </a:r>
            <a:br>
              <a:rPr lang="en-US"/>
            </a:br>
            <a:r>
              <a:rPr lang="en-US"/>
              <a:t>We are given the adjacency list structure of G with each adjacency list </a:t>
            </a:r>
            <a:r>
              <a:rPr lang="en-US">
                <a:solidFill>
                  <a:srgbClr val="CC0000"/>
                </a:solidFill>
              </a:rPr>
              <a:t>alphabetically ordered</a:t>
            </a:r>
            <a:r>
              <a:rPr lang="en-US"/>
              <a:t>. </a:t>
            </a:r>
            <a:br>
              <a:rPr lang="en-US"/>
            </a:br>
            <a:r>
              <a:rPr lang="en-US"/>
              <a:t>(a)   Show the BFS structure of G starting at the source vertex a.</a:t>
            </a:r>
            <a:br>
              <a:rPr lang="en-US"/>
            </a:br>
            <a:r>
              <a:rPr lang="en-US"/>
              <a:t>       Show the d and </a:t>
            </a:r>
            <a:r>
              <a:rPr lang="en-US">
                <a:latin typeface="Symbol" pitchFamily="18" charset="2"/>
              </a:rPr>
              <a:t>p</a:t>
            </a:r>
            <a:r>
              <a:rPr lang="en-US"/>
              <a:t> values of each vertex.</a:t>
            </a:r>
            <a:br>
              <a:rPr lang="en-US"/>
            </a:br>
            <a:r>
              <a:rPr lang="en-US"/>
              <a:t>(b)   Do the same as in part (a), except that start at the source vertex j.</a:t>
            </a:r>
            <a:br>
              <a:rPr lang="en-US"/>
            </a:br>
            <a:r>
              <a:rPr lang="en-US"/>
              <a:t>(c)   Do a DFS of G (also assume DFS root scanning order is alphabetical).</a:t>
            </a:r>
            <a:br>
              <a:rPr lang="en-US"/>
            </a:br>
            <a:r>
              <a:rPr lang="en-US"/>
              <a:t>       Show the </a:t>
            </a:r>
            <a:r>
              <a:rPr lang="en-US">
                <a:latin typeface="Symbol" pitchFamily="18" charset="2"/>
              </a:rPr>
              <a:t>p</a:t>
            </a:r>
            <a:r>
              <a:rPr lang="en-US"/>
              <a:t> values by our drawing convention, as well as the DFS starting and finishing time  </a:t>
            </a:r>
            <a:br>
              <a:rPr lang="en-US"/>
            </a:br>
            <a:r>
              <a:rPr lang="en-US"/>
              <a:t>       stamps d and f for each vertex.  Classify tree-, back-, forward-, and cross- edges.</a:t>
            </a:r>
          </a:p>
        </p:txBody>
      </p:sp>
      <p:grpSp>
        <p:nvGrpSpPr>
          <p:cNvPr id="178179" name="Group 52"/>
          <p:cNvGrpSpPr>
            <a:grpSpLocks/>
          </p:cNvGrpSpPr>
          <p:nvPr/>
        </p:nvGrpSpPr>
        <p:grpSpPr bwMode="auto">
          <a:xfrm>
            <a:off x="2590800" y="2286000"/>
            <a:ext cx="2940050" cy="2728913"/>
            <a:chOff x="1728" y="1152"/>
            <a:chExt cx="1852" cy="1719"/>
          </a:xfrm>
        </p:grpSpPr>
        <p:sp>
          <p:nvSpPr>
            <p:cNvPr id="178181" name="Line 51"/>
            <p:cNvSpPr>
              <a:spLocks noChangeShapeType="1"/>
            </p:cNvSpPr>
            <p:nvPr/>
          </p:nvSpPr>
          <p:spPr bwMode="auto">
            <a:xfrm flipH="1">
              <a:off x="1872" y="2640"/>
              <a:ext cx="48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aphicFrame>
          <p:nvGraphicFramePr>
            <p:cNvPr id="178182" name="Object 2"/>
            <p:cNvGraphicFramePr>
              <a:graphicFrameLocks noChangeAspect="1"/>
            </p:cNvGraphicFramePr>
            <p:nvPr/>
          </p:nvGraphicFramePr>
          <p:xfrm>
            <a:off x="3180" y="1948"/>
            <a:ext cx="72" cy="136"/>
          </p:xfrm>
          <a:graphic>
            <a:graphicData uri="http://schemas.openxmlformats.org/presentationml/2006/ole">
              <mc:AlternateContent xmlns:mc="http://schemas.openxmlformats.org/markup-compatibility/2006">
                <mc:Choice xmlns:v="urn:schemas-microsoft-com:vml" Requires="v">
                  <p:oleObj spid="_x0000_s178556"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0" y="1948"/>
                          <a:ext cx="72"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8183" name="Object 3"/>
            <p:cNvGraphicFramePr>
              <a:graphicFrameLocks noChangeAspect="1"/>
            </p:cNvGraphicFramePr>
            <p:nvPr/>
          </p:nvGraphicFramePr>
          <p:xfrm>
            <a:off x="3180" y="1948"/>
            <a:ext cx="72" cy="136"/>
          </p:xfrm>
          <a:graphic>
            <a:graphicData uri="http://schemas.openxmlformats.org/presentationml/2006/ole">
              <mc:AlternateContent xmlns:mc="http://schemas.openxmlformats.org/markup-compatibility/2006">
                <mc:Choice xmlns:v="urn:schemas-microsoft-com:vml" Requires="v">
                  <p:oleObj spid="_x0000_s178557"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0" y="1948"/>
                          <a:ext cx="72"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8184" name="Object 4"/>
            <p:cNvGraphicFramePr>
              <a:graphicFrameLocks noChangeAspect="1"/>
            </p:cNvGraphicFramePr>
            <p:nvPr/>
          </p:nvGraphicFramePr>
          <p:xfrm>
            <a:off x="3180" y="1948"/>
            <a:ext cx="72" cy="136"/>
          </p:xfrm>
          <a:graphic>
            <a:graphicData uri="http://schemas.openxmlformats.org/presentationml/2006/ole">
              <mc:AlternateContent xmlns:mc="http://schemas.openxmlformats.org/markup-compatibility/2006">
                <mc:Choice xmlns:v="urn:schemas-microsoft-com:vml" Requires="v">
                  <p:oleObj spid="_x0000_s178558"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0" y="1948"/>
                          <a:ext cx="72"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8185" name="Oval 10"/>
            <p:cNvSpPr>
              <a:spLocks noChangeArrowheads="1"/>
            </p:cNvSpPr>
            <p:nvPr/>
          </p:nvSpPr>
          <p:spPr bwMode="auto">
            <a:xfrm>
              <a:off x="1780" y="2592"/>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78186" name="Oval 11"/>
            <p:cNvSpPr>
              <a:spLocks noChangeArrowheads="1"/>
            </p:cNvSpPr>
            <p:nvPr/>
          </p:nvSpPr>
          <p:spPr bwMode="auto">
            <a:xfrm>
              <a:off x="2356" y="1680"/>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78187" name="Oval 12"/>
            <p:cNvSpPr>
              <a:spLocks noChangeArrowheads="1"/>
            </p:cNvSpPr>
            <p:nvPr/>
          </p:nvSpPr>
          <p:spPr bwMode="auto">
            <a:xfrm>
              <a:off x="2596" y="2112"/>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78188" name="Oval 13"/>
            <p:cNvSpPr>
              <a:spLocks noChangeArrowheads="1"/>
            </p:cNvSpPr>
            <p:nvPr/>
          </p:nvSpPr>
          <p:spPr bwMode="auto">
            <a:xfrm>
              <a:off x="2068" y="2112"/>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78189" name="Oval 14"/>
            <p:cNvSpPr>
              <a:spLocks noChangeArrowheads="1"/>
            </p:cNvSpPr>
            <p:nvPr/>
          </p:nvSpPr>
          <p:spPr bwMode="auto">
            <a:xfrm>
              <a:off x="2308" y="2592"/>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78190" name="Oval 15"/>
            <p:cNvSpPr>
              <a:spLocks noChangeArrowheads="1"/>
            </p:cNvSpPr>
            <p:nvPr/>
          </p:nvSpPr>
          <p:spPr bwMode="auto">
            <a:xfrm>
              <a:off x="2884" y="2592"/>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78191" name="Oval 16"/>
            <p:cNvSpPr>
              <a:spLocks noChangeArrowheads="1"/>
            </p:cNvSpPr>
            <p:nvPr/>
          </p:nvSpPr>
          <p:spPr bwMode="auto">
            <a:xfrm>
              <a:off x="2932" y="1680"/>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78192" name="Oval 17"/>
            <p:cNvSpPr>
              <a:spLocks noChangeArrowheads="1"/>
            </p:cNvSpPr>
            <p:nvPr/>
          </p:nvSpPr>
          <p:spPr bwMode="auto">
            <a:xfrm>
              <a:off x="3172" y="2112"/>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78193" name="Oval 18"/>
            <p:cNvSpPr>
              <a:spLocks noChangeArrowheads="1"/>
            </p:cNvSpPr>
            <p:nvPr/>
          </p:nvSpPr>
          <p:spPr bwMode="auto">
            <a:xfrm>
              <a:off x="2692" y="1200"/>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78194" name="Oval 19"/>
            <p:cNvSpPr>
              <a:spLocks noChangeArrowheads="1"/>
            </p:cNvSpPr>
            <p:nvPr/>
          </p:nvSpPr>
          <p:spPr bwMode="auto">
            <a:xfrm>
              <a:off x="3460" y="2592"/>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78195" name="Freeform 20"/>
            <p:cNvSpPr>
              <a:spLocks/>
            </p:cNvSpPr>
            <p:nvPr/>
          </p:nvSpPr>
          <p:spPr bwMode="auto">
            <a:xfrm>
              <a:off x="2424" y="1288"/>
              <a:ext cx="285" cy="397"/>
            </a:xfrm>
            <a:custGeom>
              <a:avLst/>
              <a:gdLst>
                <a:gd name="T0" fmla="*/ 285 w 285"/>
                <a:gd name="T1" fmla="*/ 0 h 397"/>
                <a:gd name="T2" fmla="*/ 0 w 285"/>
                <a:gd name="T3" fmla="*/ 397 h 397"/>
                <a:gd name="T4" fmla="*/ 0 60000 65536"/>
                <a:gd name="T5" fmla="*/ 0 60000 65536"/>
              </a:gdLst>
              <a:ahLst/>
              <a:cxnLst>
                <a:cxn ang="T4">
                  <a:pos x="T0" y="T1"/>
                </a:cxn>
                <a:cxn ang="T5">
                  <a:pos x="T2" y="T3"/>
                </a:cxn>
              </a:cxnLst>
              <a:rect l="0" t="0" r="r" b="b"/>
              <a:pathLst>
                <a:path w="285" h="397">
                  <a:moveTo>
                    <a:pt x="285" y="0"/>
                  </a:moveTo>
                  <a:lnTo>
                    <a:pt x="0" y="397"/>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196" name="Freeform 21"/>
            <p:cNvSpPr>
              <a:spLocks/>
            </p:cNvSpPr>
            <p:nvPr/>
          </p:nvSpPr>
          <p:spPr bwMode="auto">
            <a:xfrm>
              <a:off x="2146" y="1776"/>
              <a:ext cx="210" cy="333"/>
            </a:xfrm>
            <a:custGeom>
              <a:avLst/>
              <a:gdLst>
                <a:gd name="T0" fmla="*/ 210 w 210"/>
                <a:gd name="T1" fmla="*/ 0 h 333"/>
                <a:gd name="T2" fmla="*/ 0 w 210"/>
                <a:gd name="T3" fmla="*/ 333 h 333"/>
                <a:gd name="T4" fmla="*/ 0 60000 65536"/>
                <a:gd name="T5" fmla="*/ 0 60000 65536"/>
              </a:gdLst>
              <a:ahLst/>
              <a:cxnLst>
                <a:cxn ang="T4">
                  <a:pos x="T0" y="T1"/>
                </a:cxn>
                <a:cxn ang="T5">
                  <a:pos x="T2" y="T3"/>
                </a:cxn>
              </a:cxnLst>
              <a:rect l="0" t="0" r="r" b="b"/>
              <a:pathLst>
                <a:path w="210" h="333">
                  <a:moveTo>
                    <a:pt x="210" y="0"/>
                  </a:moveTo>
                  <a:lnTo>
                    <a:pt x="0" y="333"/>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197" name="Freeform 22"/>
            <p:cNvSpPr>
              <a:spLocks/>
            </p:cNvSpPr>
            <p:nvPr/>
          </p:nvSpPr>
          <p:spPr bwMode="auto">
            <a:xfrm>
              <a:off x="1848" y="2201"/>
              <a:ext cx="238" cy="398"/>
            </a:xfrm>
            <a:custGeom>
              <a:avLst/>
              <a:gdLst>
                <a:gd name="T0" fmla="*/ 0 w 238"/>
                <a:gd name="T1" fmla="*/ 398 h 398"/>
                <a:gd name="T2" fmla="*/ 238 w 238"/>
                <a:gd name="T3" fmla="*/ 0 h 398"/>
                <a:gd name="T4" fmla="*/ 0 60000 65536"/>
                <a:gd name="T5" fmla="*/ 0 60000 65536"/>
              </a:gdLst>
              <a:ahLst/>
              <a:cxnLst>
                <a:cxn ang="T4">
                  <a:pos x="T0" y="T1"/>
                </a:cxn>
                <a:cxn ang="T5">
                  <a:pos x="T2" y="T3"/>
                </a:cxn>
              </a:cxnLst>
              <a:rect l="0" t="0" r="r" b="b"/>
              <a:pathLst>
                <a:path w="238" h="398">
                  <a:moveTo>
                    <a:pt x="0" y="398"/>
                  </a:moveTo>
                  <a:lnTo>
                    <a:pt x="238"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198" name="Freeform 23"/>
            <p:cNvSpPr>
              <a:spLocks/>
            </p:cNvSpPr>
            <p:nvPr/>
          </p:nvSpPr>
          <p:spPr bwMode="auto">
            <a:xfrm>
              <a:off x="2755" y="1288"/>
              <a:ext cx="199" cy="390"/>
            </a:xfrm>
            <a:custGeom>
              <a:avLst/>
              <a:gdLst>
                <a:gd name="T0" fmla="*/ 199 w 199"/>
                <a:gd name="T1" fmla="*/ 390 h 390"/>
                <a:gd name="T2" fmla="*/ 0 w 199"/>
                <a:gd name="T3" fmla="*/ 0 h 390"/>
                <a:gd name="T4" fmla="*/ 0 60000 65536"/>
                <a:gd name="T5" fmla="*/ 0 60000 65536"/>
              </a:gdLst>
              <a:ahLst/>
              <a:cxnLst>
                <a:cxn ang="T4">
                  <a:pos x="T0" y="T1"/>
                </a:cxn>
                <a:cxn ang="T5">
                  <a:pos x="T2" y="T3"/>
                </a:cxn>
              </a:cxnLst>
              <a:rect l="0" t="0" r="r" b="b"/>
              <a:pathLst>
                <a:path w="199" h="390">
                  <a:moveTo>
                    <a:pt x="199" y="390"/>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199" name="Freeform 25"/>
            <p:cNvSpPr>
              <a:spLocks/>
            </p:cNvSpPr>
            <p:nvPr/>
          </p:nvSpPr>
          <p:spPr bwMode="auto">
            <a:xfrm>
              <a:off x="2689" y="1764"/>
              <a:ext cx="258" cy="358"/>
            </a:xfrm>
            <a:custGeom>
              <a:avLst/>
              <a:gdLst>
                <a:gd name="T0" fmla="*/ 258 w 258"/>
                <a:gd name="T1" fmla="*/ 0 h 358"/>
                <a:gd name="T2" fmla="*/ 0 w 258"/>
                <a:gd name="T3" fmla="*/ 358 h 358"/>
                <a:gd name="T4" fmla="*/ 0 60000 65536"/>
                <a:gd name="T5" fmla="*/ 0 60000 65536"/>
              </a:gdLst>
              <a:ahLst/>
              <a:cxnLst>
                <a:cxn ang="T4">
                  <a:pos x="T0" y="T1"/>
                </a:cxn>
                <a:cxn ang="T5">
                  <a:pos x="T2" y="T3"/>
                </a:cxn>
              </a:cxnLst>
              <a:rect l="0" t="0" r="r" b="b"/>
              <a:pathLst>
                <a:path w="258" h="358">
                  <a:moveTo>
                    <a:pt x="258" y="0"/>
                  </a:moveTo>
                  <a:lnTo>
                    <a:pt x="0" y="358"/>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200" name="Freeform 26"/>
            <p:cNvSpPr>
              <a:spLocks/>
            </p:cNvSpPr>
            <p:nvPr/>
          </p:nvSpPr>
          <p:spPr bwMode="auto">
            <a:xfrm>
              <a:off x="2424" y="1764"/>
              <a:ext cx="185" cy="351"/>
            </a:xfrm>
            <a:custGeom>
              <a:avLst/>
              <a:gdLst>
                <a:gd name="T0" fmla="*/ 0 w 185"/>
                <a:gd name="T1" fmla="*/ 0 h 351"/>
                <a:gd name="T2" fmla="*/ 185 w 185"/>
                <a:gd name="T3" fmla="*/ 351 h 351"/>
                <a:gd name="T4" fmla="*/ 0 60000 65536"/>
                <a:gd name="T5" fmla="*/ 0 60000 65536"/>
              </a:gdLst>
              <a:ahLst/>
              <a:cxnLst>
                <a:cxn ang="T4">
                  <a:pos x="T0" y="T1"/>
                </a:cxn>
                <a:cxn ang="T5">
                  <a:pos x="T2" y="T3"/>
                </a:cxn>
              </a:cxnLst>
              <a:rect l="0" t="0" r="r" b="b"/>
              <a:pathLst>
                <a:path w="185" h="351">
                  <a:moveTo>
                    <a:pt x="0" y="0"/>
                  </a:moveTo>
                  <a:lnTo>
                    <a:pt x="185" y="35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201" name="Freeform 27"/>
            <p:cNvSpPr>
              <a:spLocks/>
            </p:cNvSpPr>
            <p:nvPr/>
          </p:nvSpPr>
          <p:spPr bwMode="auto">
            <a:xfrm>
              <a:off x="2164" y="2161"/>
              <a:ext cx="439" cy="1"/>
            </a:xfrm>
            <a:custGeom>
              <a:avLst/>
              <a:gdLst>
                <a:gd name="T0" fmla="*/ 439 w 439"/>
                <a:gd name="T1" fmla="*/ 1 h 1"/>
                <a:gd name="T2" fmla="*/ 0 w 439"/>
                <a:gd name="T3" fmla="*/ 0 h 1"/>
                <a:gd name="T4" fmla="*/ 0 60000 65536"/>
                <a:gd name="T5" fmla="*/ 0 60000 65536"/>
              </a:gdLst>
              <a:ahLst/>
              <a:cxnLst>
                <a:cxn ang="T4">
                  <a:pos x="T0" y="T1"/>
                </a:cxn>
                <a:cxn ang="T5">
                  <a:pos x="T2" y="T3"/>
                </a:cxn>
              </a:cxnLst>
              <a:rect l="0" t="0" r="r" b="b"/>
              <a:pathLst>
                <a:path w="439" h="1">
                  <a:moveTo>
                    <a:pt x="439" y="1"/>
                  </a:moveTo>
                  <a:lnTo>
                    <a:pt x="0" y="0"/>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202" name="Freeform 28"/>
            <p:cNvSpPr>
              <a:spLocks/>
            </p:cNvSpPr>
            <p:nvPr/>
          </p:nvSpPr>
          <p:spPr bwMode="auto">
            <a:xfrm>
              <a:off x="2139" y="2201"/>
              <a:ext cx="199" cy="391"/>
            </a:xfrm>
            <a:custGeom>
              <a:avLst/>
              <a:gdLst>
                <a:gd name="T0" fmla="*/ 0 w 199"/>
                <a:gd name="T1" fmla="*/ 0 h 391"/>
                <a:gd name="T2" fmla="*/ 199 w 199"/>
                <a:gd name="T3" fmla="*/ 391 h 391"/>
                <a:gd name="T4" fmla="*/ 0 60000 65536"/>
                <a:gd name="T5" fmla="*/ 0 60000 65536"/>
              </a:gdLst>
              <a:ahLst/>
              <a:cxnLst>
                <a:cxn ang="T4">
                  <a:pos x="T0" y="T1"/>
                </a:cxn>
                <a:cxn ang="T5">
                  <a:pos x="T2" y="T3"/>
                </a:cxn>
              </a:cxnLst>
              <a:rect l="0" t="0" r="r" b="b"/>
              <a:pathLst>
                <a:path w="199" h="391">
                  <a:moveTo>
                    <a:pt x="0" y="0"/>
                  </a:moveTo>
                  <a:lnTo>
                    <a:pt x="199" y="39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203" name="Line 30"/>
            <p:cNvSpPr>
              <a:spLocks noChangeShapeType="1"/>
            </p:cNvSpPr>
            <p:nvPr/>
          </p:nvSpPr>
          <p:spPr bwMode="auto">
            <a:xfrm flipH="1">
              <a:off x="2404" y="2640"/>
              <a:ext cx="48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204" name="Line 31"/>
            <p:cNvSpPr>
              <a:spLocks noChangeShapeType="1"/>
            </p:cNvSpPr>
            <p:nvPr/>
          </p:nvSpPr>
          <p:spPr bwMode="auto">
            <a:xfrm>
              <a:off x="2980" y="2640"/>
              <a:ext cx="48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205" name="Freeform 32"/>
            <p:cNvSpPr>
              <a:spLocks/>
            </p:cNvSpPr>
            <p:nvPr/>
          </p:nvSpPr>
          <p:spPr bwMode="auto">
            <a:xfrm>
              <a:off x="2384" y="2201"/>
              <a:ext cx="232" cy="391"/>
            </a:xfrm>
            <a:custGeom>
              <a:avLst/>
              <a:gdLst>
                <a:gd name="T0" fmla="*/ 232 w 232"/>
                <a:gd name="T1" fmla="*/ 0 h 391"/>
                <a:gd name="T2" fmla="*/ 0 w 232"/>
                <a:gd name="T3" fmla="*/ 391 h 391"/>
                <a:gd name="T4" fmla="*/ 0 60000 65536"/>
                <a:gd name="T5" fmla="*/ 0 60000 65536"/>
              </a:gdLst>
              <a:ahLst/>
              <a:cxnLst>
                <a:cxn ang="T4">
                  <a:pos x="T0" y="T1"/>
                </a:cxn>
                <a:cxn ang="T5">
                  <a:pos x="T2" y="T3"/>
                </a:cxn>
              </a:cxnLst>
              <a:rect l="0" t="0" r="r" b="b"/>
              <a:pathLst>
                <a:path w="232" h="391">
                  <a:moveTo>
                    <a:pt x="232" y="0"/>
                  </a:moveTo>
                  <a:lnTo>
                    <a:pt x="0" y="391"/>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206" name="Freeform 33"/>
            <p:cNvSpPr>
              <a:spLocks/>
            </p:cNvSpPr>
            <p:nvPr/>
          </p:nvSpPr>
          <p:spPr bwMode="auto">
            <a:xfrm>
              <a:off x="2669" y="2195"/>
              <a:ext cx="238" cy="404"/>
            </a:xfrm>
            <a:custGeom>
              <a:avLst/>
              <a:gdLst>
                <a:gd name="T0" fmla="*/ 0 w 238"/>
                <a:gd name="T1" fmla="*/ 0 h 404"/>
                <a:gd name="T2" fmla="*/ 238 w 238"/>
                <a:gd name="T3" fmla="*/ 404 h 404"/>
                <a:gd name="T4" fmla="*/ 0 60000 65536"/>
                <a:gd name="T5" fmla="*/ 0 60000 65536"/>
              </a:gdLst>
              <a:ahLst/>
              <a:cxnLst>
                <a:cxn ang="T4">
                  <a:pos x="T0" y="T1"/>
                </a:cxn>
                <a:cxn ang="T5">
                  <a:pos x="T2" y="T3"/>
                </a:cxn>
              </a:cxnLst>
              <a:rect l="0" t="0" r="r" b="b"/>
              <a:pathLst>
                <a:path w="238" h="404">
                  <a:moveTo>
                    <a:pt x="0" y="0"/>
                  </a:moveTo>
                  <a:lnTo>
                    <a:pt x="238" y="404"/>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207" name="Line 34"/>
            <p:cNvSpPr>
              <a:spLocks noChangeShapeType="1"/>
            </p:cNvSpPr>
            <p:nvPr/>
          </p:nvSpPr>
          <p:spPr bwMode="auto">
            <a:xfrm flipH="1">
              <a:off x="2932" y="2208"/>
              <a:ext cx="240" cy="3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208" name="Freeform 35"/>
            <p:cNvSpPr>
              <a:spLocks/>
            </p:cNvSpPr>
            <p:nvPr/>
          </p:nvSpPr>
          <p:spPr bwMode="auto">
            <a:xfrm>
              <a:off x="3245" y="2208"/>
              <a:ext cx="245" cy="391"/>
            </a:xfrm>
            <a:custGeom>
              <a:avLst/>
              <a:gdLst>
                <a:gd name="T0" fmla="*/ 245 w 245"/>
                <a:gd name="T1" fmla="*/ 391 h 391"/>
                <a:gd name="T2" fmla="*/ 0 w 245"/>
                <a:gd name="T3" fmla="*/ 0 h 391"/>
                <a:gd name="T4" fmla="*/ 0 60000 65536"/>
                <a:gd name="T5" fmla="*/ 0 60000 65536"/>
              </a:gdLst>
              <a:ahLst/>
              <a:cxnLst>
                <a:cxn ang="T4">
                  <a:pos x="T0" y="T1"/>
                </a:cxn>
                <a:cxn ang="T5">
                  <a:pos x="T2" y="T3"/>
                </a:cxn>
              </a:cxnLst>
              <a:rect l="0" t="0" r="r" b="b"/>
              <a:pathLst>
                <a:path w="245" h="391">
                  <a:moveTo>
                    <a:pt x="245" y="391"/>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209" name="Line 36"/>
            <p:cNvSpPr>
              <a:spLocks noChangeShapeType="1"/>
            </p:cNvSpPr>
            <p:nvPr/>
          </p:nvSpPr>
          <p:spPr bwMode="auto">
            <a:xfrm>
              <a:off x="2692" y="2160"/>
              <a:ext cx="48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210" name="Freeform 37"/>
            <p:cNvSpPr>
              <a:spLocks/>
            </p:cNvSpPr>
            <p:nvPr/>
          </p:nvSpPr>
          <p:spPr bwMode="auto">
            <a:xfrm>
              <a:off x="3000" y="1771"/>
              <a:ext cx="198" cy="351"/>
            </a:xfrm>
            <a:custGeom>
              <a:avLst/>
              <a:gdLst>
                <a:gd name="T0" fmla="*/ 0 w 198"/>
                <a:gd name="T1" fmla="*/ 0 h 351"/>
                <a:gd name="T2" fmla="*/ 198 w 198"/>
                <a:gd name="T3" fmla="*/ 351 h 351"/>
                <a:gd name="T4" fmla="*/ 0 60000 65536"/>
                <a:gd name="T5" fmla="*/ 0 60000 65536"/>
              </a:gdLst>
              <a:ahLst/>
              <a:cxnLst>
                <a:cxn ang="T4">
                  <a:pos x="T0" y="T1"/>
                </a:cxn>
                <a:cxn ang="T5">
                  <a:pos x="T2" y="T3"/>
                </a:cxn>
              </a:cxnLst>
              <a:rect l="0" t="0" r="r" b="b"/>
              <a:pathLst>
                <a:path w="198" h="351">
                  <a:moveTo>
                    <a:pt x="0" y="0"/>
                  </a:moveTo>
                  <a:lnTo>
                    <a:pt x="198" y="351"/>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78211" name="Text Box 38"/>
            <p:cNvSpPr txBox="1">
              <a:spLocks noChangeArrowheads="1"/>
            </p:cNvSpPr>
            <p:nvPr/>
          </p:nvSpPr>
          <p:spPr bwMode="auto">
            <a:xfrm>
              <a:off x="2548" y="1152"/>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a</a:t>
              </a:r>
            </a:p>
          </p:txBody>
        </p:sp>
        <p:sp>
          <p:nvSpPr>
            <p:cNvPr id="178212" name="Text Box 39"/>
            <p:cNvSpPr txBox="1">
              <a:spLocks noChangeArrowheads="1"/>
            </p:cNvSpPr>
            <p:nvPr/>
          </p:nvSpPr>
          <p:spPr bwMode="auto">
            <a:xfrm>
              <a:off x="2208" y="1536"/>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b</a:t>
              </a:r>
            </a:p>
          </p:txBody>
        </p:sp>
        <p:sp>
          <p:nvSpPr>
            <p:cNvPr id="178213" name="Text Box 40"/>
            <p:cNvSpPr txBox="1">
              <a:spLocks noChangeArrowheads="1"/>
            </p:cNvSpPr>
            <p:nvPr/>
          </p:nvSpPr>
          <p:spPr bwMode="auto">
            <a:xfrm>
              <a:off x="2980" y="1536"/>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c</a:t>
              </a:r>
            </a:p>
          </p:txBody>
        </p:sp>
        <p:sp>
          <p:nvSpPr>
            <p:cNvPr id="178214" name="Text Box 41"/>
            <p:cNvSpPr txBox="1">
              <a:spLocks noChangeArrowheads="1"/>
            </p:cNvSpPr>
            <p:nvPr/>
          </p:nvSpPr>
          <p:spPr bwMode="auto">
            <a:xfrm>
              <a:off x="1920" y="1968"/>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d</a:t>
              </a:r>
            </a:p>
          </p:txBody>
        </p:sp>
        <p:sp>
          <p:nvSpPr>
            <p:cNvPr id="178215" name="Text Box 42"/>
            <p:cNvSpPr txBox="1">
              <a:spLocks noChangeArrowheads="1"/>
            </p:cNvSpPr>
            <p:nvPr/>
          </p:nvSpPr>
          <p:spPr bwMode="auto">
            <a:xfrm>
              <a:off x="2592" y="1824"/>
              <a:ext cx="19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e</a:t>
              </a:r>
            </a:p>
          </p:txBody>
        </p:sp>
        <p:sp>
          <p:nvSpPr>
            <p:cNvPr id="178216" name="Text Box 43"/>
            <p:cNvSpPr txBox="1">
              <a:spLocks noChangeArrowheads="1"/>
            </p:cNvSpPr>
            <p:nvPr/>
          </p:nvSpPr>
          <p:spPr bwMode="auto">
            <a:xfrm>
              <a:off x="3276" y="1968"/>
              <a:ext cx="16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f</a:t>
              </a:r>
            </a:p>
          </p:txBody>
        </p:sp>
        <p:sp>
          <p:nvSpPr>
            <p:cNvPr id="178217" name="Text Box 44"/>
            <p:cNvSpPr txBox="1">
              <a:spLocks noChangeArrowheads="1"/>
            </p:cNvSpPr>
            <p:nvPr/>
          </p:nvSpPr>
          <p:spPr bwMode="auto">
            <a:xfrm>
              <a:off x="1728" y="264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g</a:t>
              </a:r>
            </a:p>
          </p:txBody>
        </p:sp>
        <p:sp>
          <p:nvSpPr>
            <p:cNvPr id="178218" name="Text Box 45"/>
            <p:cNvSpPr txBox="1">
              <a:spLocks noChangeArrowheads="1"/>
            </p:cNvSpPr>
            <p:nvPr/>
          </p:nvSpPr>
          <p:spPr bwMode="auto">
            <a:xfrm>
              <a:off x="2256" y="2640"/>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h</a:t>
              </a:r>
            </a:p>
          </p:txBody>
        </p:sp>
        <p:sp>
          <p:nvSpPr>
            <p:cNvPr id="178219" name="Text Box 46"/>
            <p:cNvSpPr txBox="1">
              <a:spLocks noChangeArrowheads="1"/>
            </p:cNvSpPr>
            <p:nvPr/>
          </p:nvSpPr>
          <p:spPr bwMode="auto">
            <a:xfrm>
              <a:off x="2848" y="2640"/>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i</a:t>
              </a:r>
            </a:p>
          </p:txBody>
        </p:sp>
        <p:sp>
          <p:nvSpPr>
            <p:cNvPr id="178220" name="Text Box 47"/>
            <p:cNvSpPr txBox="1">
              <a:spLocks noChangeArrowheads="1"/>
            </p:cNvSpPr>
            <p:nvPr/>
          </p:nvSpPr>
          <p:spPr bwMode="auto">
            <a:xfrm>
              <a:off x="3424" y="2640"/>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j</a:t>
              </a:r>
            </a:p>
          </p:txBody>
        </p:sp>
        <p:sp>
          <p:nvSpPr>
            <p:cNvPr id="178221" name="Text Box 48"/>
            <p:cNvSpPr txBox="1">
              <a:spLocks noChangeArrowheads="1"/>
            </p:cNvSpPr>
            <p:nvPr/>
          </p:nvSpPr>
          <p:spPr bwMode="auto">
            <a:xfrm>
              <a:off x="1824" y="1392"/>
              <a:ext cx="26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latin typeface="Arial" pitchFamily="34" charset="0"/>
                </a:rPr>
                <a:t>G:</a:t>
              </a:r>
            </a:p>
          </p:txBody>
        </p:sp>
        <p:sp>
          <p:nvSpPr>
            <p:cNvPr id="178222" name="Line 49"/>
            <p:cNvSpPr>
              <a:spLocks noChangeShapeType="1"/>
            </p:cNvSpPr>
            <p:nvPr/>
          </p:nvSpPr>
          <p:spPr bwMode="auto">
            <a:xfrm flipH="1">
              <a:off x="2448" y="1728"/>
              <a:ext cx="48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sp>
        <p:nvSpPr>
          <p:cNvPr id="178180" name="Rectangle 53"/>
          <p:cNvSpPr>
            <a:spLocks noChangeArrowheads="1"/>
          </p:cNvSpPr>
          <p:nvPr/>
        </p:nvSpPr>
        <p:spPr bwMode="auto">
          <a:xfrm>
            <a:off x="533400" y="5257800"/>
            <a:ext cx="8229600" cy="103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marL="385763" indent="-385763" eaLnBrk="1" hangingPunct="1">
              <a:spcBef>
                <a:spcPct val="50000"/>
              </a:spcBef>
              <a:buFont typeface="Wingdings" pitchFamily="2" charset="2"/>
              <a:buAutoNum type="arabicPeriod" startAt="7"/>
            </a:pPr>
            <a:r>
              <a:rPr lang="en-US" b="1"/>
              <a:t>[CLRS, Exercise 22.2-5, p. 602]</a:t>
            </a:r>
            <a:r>
              <a:rPr lang="en-US"/>
              <a:t>   Argue that in a BFS from a given source vertex, the value d[u] assigned to each vertex u is independent of the order in which the vertices appear in each adjacency list.  However, show that the BFS tree structure  (the </a:t>
            </a:r>
            <a:r>
              <a:rPr lang="en-US">
                <a:latin typeface="Symbol" pitchFamily="18" charset="2"/>
              </a:rPr>
              <a:t>p</a:t>
            </a:r>
            <a:r>
              <a:rPr lang="en-US"/>
              <a:t> values) may depend on the said ordering.</a:t>
            </a:r>
          </a:p>
        </p:txBody>
      </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174</a:t>
            </a:fld>
            <a:endParaRPr lang="en-US"/>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9202"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79536"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03"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79537"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04"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79538"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9205" name="Rectangle 5"/>
          <p:cNvSpPr>
            <a:spLocks noChangeArrowheads="1"/>
          </p:cNvSpPr>
          <p:nvPr/>
        </p:nvSpPr>
        <p:spPr bwMode="auto">
          <a:xfrm>
            <a:off x="381000" y="228600"/>
            <a:ext cx="8610600" cy="614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85763" indent="-376238" eaLnBrk="1" hangingPunct="1">
              <a:lnSpc>
                <a:spcPct val="90000"/>
              </a:lnSpc>
              <a:spcBef>
                <a:spcPct val="20000"/>
              </a:spcBef>
              <a:buFontTx/>
              <a:buAutoNum type="arabicPeriod" startAt="8"/>
            </a:pPr>
            <a:r>
              <a:rPr lang="en-US" b="1" dirty="0"/>
              <a:t>[CLRS, Exercise 22.2-6, p. 602]   </a:t>
            </a:r>
            <a:r>
              <a:rPr lang="en-US" dirty="0"/>
              <a:t>Give an example digraph G = (V, E), a source vertex </a:t>
            </a:r>
            <a:r>
              <a:rPr lang="en-US" dirty="0" err="1"/>
              <a:t>s</a:t>
            </a:r>
            <a:r>
              <a:rPr lang="en-US" dirty="0" err="1">
                <a:sym typeface="Symbol" pitchFamily="18" charset="2"/>
              </a:rPr>
              <a:t>V</a:t>
            </a:r>
            <a:r>
              <a:rPr lang="en-US" dirty="0">
                <a:sym typeface="Symbol" pitchFamily="18" charset="2"/>
              </a:rPr>
              <a:t>, and a set of tree edges </a:t>
            </a:r>
            <a:r>
              <a:rPr lang="en-US" dirty="0" err="1">
                <a:sym typeface="Symbol" pitchFamily="18" charset="2"/>
              </a:rPr>
              <a:t>E</a:t>
            </a:r>
            <a:r>
              <a:rPr lang="en-US" sz="2400" baseline="-25000" dirty="0" err="1">
                <a:latin typeface="Symbol" pitchFamily="18" charset="2"/>
                <a:sym typeface="Symbol" pitchFamily="18" charset="2"/>
              </a:rPr>
              <a:t>p</a:t>
            </a:r>
            <a:r>
              <a:rPr lang="en-US" dirty="0">
                <a:sym typeface="Symbol" pitchFamily="18" charset="2"/>
              </a:rPr>
              <a:t>  E such that for each vertex </a:t>
            </a:r>
            <a:r>
              <a:rPr lang="en-US" dirty="0" err="1"/>
              <a:t>v</a:t>
            </a:r>
            <a:r>
              <a:rPr lang="en-US" dirty="0" err="1">
                <a:sym typeface="Symbol" pitchFamily="18" charset="2"/>
              </a:rPr>
              <a:t>V</a:t>
            </a:r>
            <a:r>
              <a:rPr lang="en-US" dirty="0">
                <a:sym typeface="Symbol" pitchFamily="18" charset="2"/>
              </a:rPr>
              <a:t>, the unique path in the graph </a:t>
            </a:r>
            <a:br>
              <a:rPr lang="en-US" dirty="0">
                <a:sym typeface="Symbol" pitchFamily="18" charset="2"/>
              </a:rPr>
            </a:br>
            <a:r>
              <a:rPr lang="en-US" dirty="0">
                <a:sym typeface="Symbol" pitchFamily="18" charset="2"/>
              </a:rPr>
              <a:t>(V, </a:t>
            </a:r>
            <a:r>
              <a:rPr lang="en-US" dirty="0" err="1">
                <a:sym typeface="Symbol" pitchFamily="18" charset="2"/>
              </a:rPr>
              <a:t>E</a:t>
            </a:r>
            <a:r>
              <a:rPr lang="en-US" sz="2400" baseline="-25000" dirty="0" err="1">
                <a:latin typeface="Symbol" pitchFamily="18" charset="2"/>
                <a:sym typeface="Symbol" pitchFamily="18" charset="2"/>
              </a:rPr>
              <a:t>p</a:t>
            </a:r>
            <a:r>
              <a:rPr lang="en-US" dirty="0">
                <a:sym typeface="Symbol" pitchFamily="18" charset="2"/>
              </a:rPr>
              <a:t> ) from s to v is a shortest path in G, yet the set of edges </a:t>
            </a:r>
            <a:r>
              <a:rPr lang="en-US" dirty="0" err="1">
                <a:sym typeface="Symbol" pitchFamily="18" charset="2"/>
              </a:rPr>
              <a:t>E</a:t>
            </a:r>
            <a:r>
              <a:rPr lang="en-US" sz="2400" baseline="-25000" dirty="0" err="1">
                <a:latin typeface="Symbol" pitchFamily="18" charset="2"/>
                <a:sym typeface="Symbol" pitchFamily="18" charset="2"/>
              </a:rPr>
              <a:t>p</a:t>
            </a:r>
            <a:r>
              <a:rPr lang="en-US" dirty="0">
                <a:sym typeface="Symbol" pitchFamily="18" charset="2"/>
              </a:rPr>
              <a:t> cannot be produced by running BFS on G, no matter how the vertices are ordered in each adjacency list.</a:t>
            </a:r>
          </a:p>
          <a:p>
            <a:pPr marL="385763" indent="-376238" eaLnBrk="1" hangingPunct="1">
              <a:lnSpc>
                <a:spcPct val="90000"/>
              </a:lnSpc>
              <a:spcBef>
                <a:spcPct val="20000"/>
              </a:spcBef>
              <a:buFontTx/>
              <a:buAutoNum type="arabicPeriod" startAt="8"/>
            </a:pPr>
            <a:endParaRPr lang="en-US" dirty="0">
              <a:sym typeface="Symbol" pitchFamily="18" charset="2"/>
            </a:endParaRPr>
          </a:p>
          <a:p>
            <a:pPr marL="385763" indent="-376238" eaLnBrk="1" hangingPunct="1">
              <a:lnSpc>
                <a:spcPct val="90000"/>
              </a:lnSpc>
              <a:spcBef>
                <a:spcPct val="20000"/>
              </a:spcBef>
              <a:buFontTx/>
              <a:buAutoNum type="arabicPeriod" startAt="8"/>
            </a:pPr>
            <a:r>
              <a:rPr lang="en-US" b="1" dirty="0"/>
              <a:t>[CLRS, Exercise 22.2-8, p. 602]   </a:t>
            </a:r>
            <a:r>
              <a:rPr lang="en-US" dirty="0"/>
              <a:t>The </a:t>
            </a:r>
            <a:r>
              <a:rPr lang="en-US" b="1" dirty="0"/>
              <a:t>diameter</a:t>
            </a:r>
            <a:r>
              <a:rPr lang="en-US" dirty="0"/>
              <a:t> of an un-weighted undirected tree T = (V, E) is the largest of all shortest-path distances in the tree. Design and analyze an efficient algorithm to compute the diameter of a given tree.</a:t>
            </a:r>
          </a:p>
          <a:p>
            <a:pPr marL="385763" indent="-376238" eaLnBrk="1" hangingPunct="1">
              <a:lnSpc>
                <a:spcPct val="90000"/>
              </a:lnSpc>
              <a:spcBef>
                <a:spcPct val="20000"/>
              </a:spcBef>
              <a:buFontTx/>
              <a:buAutoNum type="arabicPeriod" startAt="8"/>
            </a:pPr>
            <a:endParaRPr lang="en-US" dirty="0"/>
          </a:p>
          <a:p>
            <a:pPr marL="385763" indent="-376238" eaLnBrk="1" hangingPunct="1">
              <a:lnSpc>
                <a:spcPct val="90000"/>
              </a:lnSpc>
              <a:spcBef>
                <a:spcPct val="20000"/>
              </a:spcBef>
              <a:buFontTx/>
              <a:buAutoNum type="arabicPeriod" startAt="8"/>
            </a:pPr>
            <a:r>
              <a:rPr lang="en-US" b="1" dirty="0"/>
              <a:t>[CLRS, Exercise 22.2-9, p. 602]    </a:t>
            </a:r>
            <a:r>
              <a:rPr lang="en-US" dirty="0" smtClean="0"/>
              <a:t>We are given </a:t>
            </a:r>
            <a:r>
              <a:rPr lang="en-US" dirty="0"/>
              <a:t> a connected undirected </a:t>
            </a:r>
            <a:r>
              <a:rPr lang="en-US" dirty="0" smtClean="0"/>
              <a:t>graph G </a:t>
            </a:r>
            <a:r>
              <a:rPr lang="en-US" dirty="0"/>
              <a:t>= (V, E) </a:t>
            </a:r>
            <a:r>
              <a:rPr lang="en-US" dirty="0" smtClean="0"/>
              <a:t>. </a:t>
            </a:r>
            <a:br>
              <a:rPr lang="en-US" dirty="0" smtClean="0"/>
            </a:br>
            <a:r>
              <a:rPr lang="en-US" dirty="0" smtClean="0"/>
              <a:t>(a)  Give </a:t>
            </a:r>
            <a:r>
              <a:rPr lang="en-US" dirty="0"/>
              <a:t>an O(V+E)-time algorithm to compute a path in G that traverses each edge in E exactly </a:t>
            </a:r>
            <a:r>
              <a:rPr lang="en-US" dirty="0" smtClean="0"/>
              <a:t/>
            </a:r>
            <a:br>
              <a:rPr lang="en-US" dirty="0" smtClean="0"/>
            </a:br>
            <a:r>
              <a:rPr lang="en-US" dirty="0" smtClean="0"/>
              <a:t>       twice</a:t>
            </a:r>
            <a:r>
              <a:rPr lang="en-US" dirty="0"/>
              <a:t>, once in each direction.  The output should be the sequence of edges along such a path.</a:t>
            </a:r>
            <a:br>
              <a:rPr lang="en-US" dirty="0"/>
            </a:br>
            <a:r>
              <a:rPr lang="en-US" dirty="0" smtClean="0"/>
              <a:t>(b)  Describe </a:t>
            </a:r>
            <a:r>
              <a:rPr lang="en-US" dirty="0"/>
              <a:t>how you can find your way out of a maze if you are given a large supply of pennies.</a:t>
            </a:r>
            <a:r>
              <a:rPr lang="en-US" dirty="0">
                <a:solidFill>
                  <a:srgbClr val="CC0000"/>
                </a:solidFill>
              </a:rPr>
              <a:t/>
            </a:r>
            <a:br>
              <a:rPr lang="en-US" dirty="0">
                <a:solidFill>
                  <a:srgbClr val="CC0000"/>
                </a:solidFill>
              </a:rPr>
            </a:br>
            <a:endParaRPr lang="en-US" dirty="0"/>
          </a:p>
          <a:p>
            <a:pPr marL="385763" indent="-376238" eaLnBrk="1" hangingPunct="1">
              <a:lnSpc>
                <a:spcPct val="90000"/>
              </a:lnSpc>
              <a:spcBef>
                <a:spcPct val="20000"/>
              </a:spcBef>
              <a:buFontTx/>
              <a:buAutoNum type="arabicPeriod" startAt="8"/>
            </a:pPr>
            <a:r>
              <a:rPr lang="en-US" b="1" dirty="0"/>
              <a:t>[CLRS, Exercise 22.3-7, p. 611] </a:t>
            </a:r>
            <a:r>
              <a:rPr lang="en-US" dirty="0"/>
              <a:t>Rewrite the procedure DFS, using a stack to eliminate recursion.</a:t>
            </a:r>
          </a:p>
          <a:p>
            <a:pPr marL="385763" indent="-376238" eaLnBrk="1" hangingPunct="1">
              <a:lnSpc>
                <a:spcPct val="90000"/>
              </a:lnSpc>
              <a:spcBef>
                <a:spcPct val="20000"/>
              </a:spcBef>
              <a:buFontTx/>
              <a:buAutoNum type="arabicPeriod" startAt="8"/>
            </a:pPr>
            <a:endParaRPr lang="en-US" dirty="0"/>
          </a:p>
          <a:p>
            <a:pPr marL="385763" indent="-376238" eaLnBrk="1" hangingPunct="1">
              <a:lnSpc>
                <a:spcPct val="90000"/>
              </a:lnSpc>
              <a:spcBef>
                <a:spcPct val="20000"/>
              </a:spcBef>
              <a:buFontTx/>
              <a:buAutoNum type="arabicPeriod" startAt="8"/>
            </a:pPr>
            <a:r>
              <a:rPr lang="en-US" b="1" dirty="0"/>
              <a:t>[CLRS, Exercise 22.3-8, p. 611]</a:t>
            </a:r>
            <a:r>
              <a:rPr lang="en-US" dirty="0">
                <a:sym typeface="Symbol" pitchFamily="18" charset="2"/>
              </a:rPr>
              <a:t>  Give a counter-example to the conjecture that if there is a path from u to v in a digraph G, and if d[u] &lt; d[v] in a DFS of G, then v is a descendant of u in the DFS forest produced.</a:t>
            </a:r>
          </a:p>
          <a:p>
            <a:pPr marL="385763" indent="-376238" eaLnBrk="1" hangingPunct="1">
              <a:lnSpc>
                <a:spcPct val="90000"/>
              </a:lnSpc>
              <a:spcBef>
                <a:spcPct val="20000"/>
              </a:spcBef>
              <a:buFontTx/>
              <a:buAutoNum type="arabicPeriod" startAt="8"/>
            </a:pPr>
            <a:endParaRPr lang="en-US" dirty="0">
              <a:sym typeface="Symbol" pitchFamily="18" charset="2"/>
            </a:endParaRPr>
          </a:p>
          <a:p>
            <a:pPr marL="385763" indent="-376238" eaLnBrk="1" hangingPunct="1">
              <a:lnSpc>
                <a:spcPct val="90000"/>
              </a:lnSpc>
              <a:spcBef>
                <a:spcPct val="20000"/>
              </a:spcBef>
              <a:buFontTx/>
              <a:buAutoNum type="arabicPeriod" startAt="8"/>
            </a:pPr>
            <a:r>
              <a:rPr lang="en-US" b="1" dirty="0"/>
              <a:t>[CLRS, Exercise 22.3-9, p. 612]</a:t>
            </a:r>
            <a:r>
              <a:rPr lang="en-US" dirty="0">
                <a:sym typeface="Symbol" pitchFamily="18" charset="2"/>
              </a:rPr>
              <a:t>  Give a counter-example to the conjecture that if there is a path from u to v in a digraph G, then any DFS must result in d[v]  f[u].</a:t>
            </a:r>
          </a:p>
          <a:p>
            <a:pPr marL="385763" indent="-376238" eaLnBrk="1" hangingPunct="1">
              <a:lnSpc>
                <a:spcPct val="90000"/>
              </a:lnSpc>
              <a:spcBef>
                <a:spcPct val="20000"/>
              </a:spcBef>
              <a:buFontTx/>
              <a:buAutoNum type="arabicPeriod" startAt="8"/>
            </a:pPr>
            <a:endParaRPr lang="en-US" dirty="0">
              <a:sym typeface="Symbol" pitchFamily="18" charset="2"/>
            </a:endParaRPr>
          </a:p>
          <a:p>
            <a:pPr marL="385763" indent="-376238" eaLnBrk="1" hangingPunct="1">
              <a:lnSpc>
                <a:spcPct val="90000"/>
              </a:lnSpc>
              <a:spcBef>
                <a:spcPct val="20000"/>
              </a:spcBef>
              <a:buFontTx/>
              <a:buAutoNum type="arabicPeriod" startAt="8"/>
            </a:pPr>
            <a:r>
              <a:rPr lang="en-US" b="1" dirty="0"/>
              <a:t>[CLRS, Exercise 22.3-12, p. 612]</a:t>
            </a:r>
            <a:r>
              <a:rPr lang="en-US" dirty="0">
                <a:sym typeface="Symbol" pitchFamily="18" charset="2"/>
              </a:rPr>
              <a:t>  Give an O(V+E)-time algorithm that outputs the vertex set of each connected component of a given undirected graph G = (V, E).</a:t>
            </a:r>
          </a:p>
        </p:txBody>
      </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175</a:t>
            </a:fld>
            <a:endParaRPr lang="en-US"/>
          </a:p>
        </p:txBody>
      </p:sp>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0226"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0603"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0227"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0604"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0228"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0605"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80229" name="Rectangle 5"/>
              <p:cNvSpPr>
                <a:spLocks noChangeArrowheads="1"/>
              </p:cNvSpPr>
              <p:nvPr/>
            </p:nvSpPr>
            <p:spPr bwMode="auto">
              <a:xfrm>
                <a:off x="228600" y="228600"/>
                <a:ext cx="8763000" cy="4668970"/>
              </a:xfrm>
              <a:prstGeom prst="rect">
                <a:avLst/>
              </a:prstGeom>
              <a:noFill/>
              <a:ln>
                <a:noFill/>
              </a:ln>
              <a:effectLst/>
              <a:extLst>
                <a:ext uri="{909E8E84-426E-40DD-AFC4-6F175D3DCCD1}">
                  <a14:hiddenFill>
                    <a:solidFill>
                      <a:schemeClr val="accent1"/>
                    </a:solidFill>
                  </a14:hiddenFill>
                </a:ext>
                <a:ext uri="{91240B29-F687-4F45-9708-019B960494DF}">
                  <a14:hiddenLine w="3175">
                    <a:solidFill>
                      <a:srgbClr val="000066"/>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marL="265113" indent="-255588" eaLnBrk="1" hangingPunct="1">
                  <a:lnSpc>
                    <a:spcPct val="90000"/>
                  </a:lnSpc>
                  <a:spcBef>
                    <a:spcPct val="20000"/>
                  </a:spcBef>
                  <a:buFont typeface="+mj-lt"/>
                  <a:buAutoNum type="arabicPeriod" startAt="15"/>
                </a:pPr>
                <a:r>
                  <a:rPr lang="en-US" sz="1400" b="1" dirty="0" smtClean="0"/>
                  <a:t>Tree Broadcast:</a:t>
                </a:r>
                <a:r>
                  <a:rPr lang="en-US" sz="1400" dirty="0" smtClean="0"/>
                  <a:t/>
                </a:r>
                <a:br>
                  <a:rPr lang="en-US" sz="1400" dirty="0" smtClean="0"/>
                </a:br>
                <a:r>
                  <a:rPr lang="en-US" sz="1400" dirty="0" smtClean="0"/>
                  <a:t>The </a:t>
                </a:r>
                <a:r>
                  <a:rPr lang="en-US" sz="1400" dirty="0"/>
                  <a:t>CEO of a large company has an urgent and important message, and she needs to notify every employee by phone.  The company hierarchy can be described by a tree T, rooted at the CEO, in which each other node v has a parent node u where u is the direct superior officer of v, and v is a </a:t>
                </a:r>
                <a:r>
                  <a:rPr lang="en-US" sz="1400" b="1" dirty="0"/>
                  <a:t>direct subordinate</a:t>
                </a:r>
                <a:r>
                  <a:rPr lang="en-US" sz="1400" dirty="0"/>
                  <a:t> of </a:t>
                </a:r>
                <a:r>
                  <a:rPr lang="en-US" sz="1400" dirty="0" smtClean="0"/>
                  <a:t>u.</a:t>
                </a:r>
                <a:r>
                  <a:rPr lang="en-US" sz="1400" dirty="0"/>
                  <a:t> </a:t>
                </a:r>
                <a:r>
                  <a:rPr lang="en-US" sz="1400" dirty="0" smtClean="0"/>
                  <a:t> To </a:t>
                </a:r>
                <a:r>
                  <a:rPr lang="en-US" sz="1400" dirty="0"/>
                  <a:t>notify everyone of the message, the CEO first calls each of her direct subordinates, one at a time. As soon as each subordinate gets the phone call, he or she must notify each of his or her direct subordinates, one at a time. The process continues this way until everyone has been notified. (Note that each person in this process can only call direct subordinates on the phone</a:t>
                </a:r>
                <a:r>
                  <a:rPr lang="en-US" sz="1400" dirty="0" smtClean="0"/>
                  <a:t>.)</a:t>
                </a:r>
                <a:r>
                  <a:rPr lang="en-US" sz="1400" dirty="0"/>
                  <a:t> </a:t>
                </a:r>
                <a:r>
                  <a:rPr lang="en-US" sz="1400" dirty="0" smtClean="0"/>
                  <a:t> We </a:t>
                </a:r>
                <a:r>
                  <a:rPr lang="en-US" sz="1400" dirty="0"/>
                  <a:t>can picture this process as being divided into </a:t>
                </a:r>
                <a:r>
                  <a:rPr lang="en-US" sz="1400" b="1" dirty="0"/>
                  <a:t>rounds</a:t>
                </a:r>
                <a:r>
                  <a:rPr lang="en-US" sz="1400" dirty="0"/>
                  <a:t>. In one round, each person who has already learned the message can call one of his or her direct subordinates on the phone. </a:t>
                </a:r>
                <a:r>
                  <a:rPr lang="en-US" sz="1400" dirty="0">
                    <a:solidFill>
                      <a:srgbClr val="C00000"/>
                    </a:solidFill>
                    <a:cs typeface="Times New Roman" pitchFamily="18" charset="0"/>
                  </a:rPr>
                  <a:t>[Interpret T as a digraph (each edge directed from parent to child) given by its adjacency list structure. So, </a:t>
                </a:r>
                <a:r>
                  <a:rPr lang="en-US" sz="1400" dirty="0" err="1">
                    <a:solidFill>
                      <a:srgbClr val="C00000"/>
                    </a:solidFill>
                    <a:cs typeface="Times New Roman" pitchFamily="18" charset="0"/>
                  </a:rPr>
                  <a:t>Adj</a:t>
                </a:r>
                <a:r>
                  <a:rPr lang="en-US" sz="1400" dirty="0">
                    <a:solidFill>
                      <a:srgbClr val="C00000"/>
                    </a:solidFill>
                    <a:cs typeface="Times New Roman" pitchFamily="18" charset="0"/>
                  </a:rPr>
                  <a:t>[x] is the list of direct subordinates of employee x</a:t>
                </a:r>
                <a:r>
                  <a:rPr lang="en-US" sz="1400" dirty="0" smtClean="0">
                    <a:solidFill>
                      <a:srgbClr val="C00000"/>
                    </a:solidFill>
                    <a:cs typeface="Times New Roman" pitchFamily="18" charset="0"/>
                  </a:rPr>
                  <a:t>.]</a:t>
                </a:r>
                <a:r>
                  <a:rPr lang="en-US" sz="1400" dirty="0" smtClean="0">
                    <a:cs typeface="Times New Roman" pitchFamily="18" charset="0"/>
                  </a:rPr>
                  <a:t>     </a:t>
                </a:r>
                <a:r>
                  <a:rPr lang="en-US" sz="1400" dirty="0" smtClean="0"/>
                  <a:t>The </a:t>
                </a:r>
                <a:r>
                  <a:rPr lang="en-US" sz="1400" dirty="0"/>
                  <a:t>number of rounds it takes for everyone to be notified depends on the order in which each person calls their direct subordinates. </a:t>
                </a:r>
                <a:r>
                  <a:rPr lang="en-US" sz="1400" dirty="0" smtClean="0"/>
                  <a:t> For </a:t>
                </a:r>
                <a:r>
                  <a:rPr lang="en-US" sz="1400" dirty="0"/>
                  <a:t>example, in </a:t>
                </a:r>
                <a:r>
                  <a:rPr lang="en-US" sz="1400" dirty="0" smtClean="0"/>
                  <a:t>Figure (1) </a:t>
                </a:r>
                <a:r>
                  <a:rPr lang="en-US" sz="1400" dirty="0"/>
                  <a:t>below, it will take only two rounds if A starts by calling B, but it will take three rounds if A starts by calling </a:t>
                </a:r>
                <a:r>
                  <a:rPr lang="en-US" sz="1400" dirty="0" smtClean="0"/>
                  <a:t>D.</a:t>
                </a:r>
                <a:endParaRPr lang="en-US" sz="1400" dirty="0"/>
              </a:p>
              <a:p>
                <a:pPr marL="539750" lvl="1" indent="-274638" eaLnBrk="1" hangingPunct="1">
                  <a:lnSpc>
                    <a:spcPct val="90000"/>
                  </a:lnSpc>
                  <a:spcBef>
                    <a:spcPct val="20000"/>
                  </a:spcBef>
                  <a:buFont typeface="+mj-lt"/>
                  <a:buAutoNum type="alphaLcParenR"/>
                </a:pPr>
                <a:r>
                  <a:rPr lang="en-US" sz="1400" dirty="0" smtClean="0"/>
                  <a:t>Consider </a:t>
                </a:r>
                <a:r>
                  <a:rPr lang="en-US" sz="1400" dirty="0"/>
                  <a:t>the example </a:t>
                </a:r>
                <a:r>
                  <a:rPr lang="en-US" sz="1400" dirty="0" smtClean="0"/>
                  <a:t>Figure (2). </a:t>
                </a:r>
                <a:r>
                  <a:rPr lang="en-US" sz="1400" dirty="0"/>
                  <a:t>Show an optimum solution by labeling each edge by its round number. </a:t>
                </a:r>
                <a:r>
                  <a:rPr lang="en-US" sz="1400" dirty="0" smtClean="0"/>
                  <a:t/>
                </a:r>
                <a:br>
                  <a:rPr lang="en-US" sz="1400" dirty="0" smtClean="0"/>
                </a:br>
                <a:r>
                  <a:rPr lang="en-US" sz="1400" dirty="0" smtClean="0"/>
                  <a:t>What </a:t>
                </a:r>
                <a:r>
                  <a:rPr lang="en-US" sz="1400" dirty="0"/>
                  <a:t>is the </a:t>
                </a:r>
                <a:r>
                  <a:rPr lang="en-US" sz="1400" dirty="0" smtClean="0"/>
                  <a:t>required </a:t>
                </a:r>
                <a:r>
                  <a:rPr lang="en-US" sz="1400" dirty="0"/>
                  <a:t>minimum number of </a:t>
                </a:r>
                <a:r>
                  <a:rPr lang="en-US" sz="1400" dirty="0" smtClean="0"/>
                  <a:t>rounds?</a:t>
                </a:r>
              </a:p>
              <a:p>
                <a:pPr marL="542925" lvl="1" indent="-271463">
                  <a:lnSpc>
                    <a:spcPct val="90000"/>
                  </a:lnSpc>
                  <a:spcBef>
                    <a:spcPct val="20000"/>
                  </a:spcBef>
                  <a:buFont typeface="+mj-lt"/>
                  <a:buAutoNum type="alphaLcParenR"/>
                </a:pPr>
                <a:r>
                  <a:rPr lang="en-US" sz="1400" dirty="0">
                    <a:cs typeface="Times New Roman" pitchFamily="18" charset="0"/>
                  </a:rPr>
                  <a:t>Define </a:t>
                </a:r>
                <a:r>
                  <a:rPr lang="en-US" sz="1400" b="1" dirty="0" err="1">
                    <a:cs typeface="Times New Roman" pitchFamily="18" charset="0"/>
                  </a:rPr>
                  <a:t>MinRounds</a:t>
                </a:r>
                <a:r>
                  <a:rPr lang="en-US" sz="1400" b="1" dirty="0">
                    <a:cs typeface="Times New Roman" pitchFamily="18" charset="0"/>
                  </a:rPr>
                  <a:t>(x) </a:t>
                </a:r>
                <a:r>
                  <a:rPr lang="en-US" sz="1400" dirty="0">
                    <a:cs typeface="Times New Roman" pitchFamily="18" charset="0"/>
                  </a:rPr>
                  <a:t>to be the minimum number of rounds it takes, counted from the time employee x learns the message, to broadcast the message to all subordinates of x (i.e., all nodes in the </a:t>
                </a:r>
                <a:r>
                  <a:rPr lang="en-US" sz="1400" dirty="0" err="1">
                    <a:cs typeface="Times New Roman" pitchFamily="18" charset="0"/>
                  </a:rPr>
                  <a:t>subtree</a:t>
                </a:r>
                <a:r>
                  <a:rPr lang="en-US" sz="1400" dirty="0">
                    <a:cs typeface="Times New Roman" pitchFamily="18" charset="0"/>
                  </a:rPr>
                  <a:t> rooted at x). Develop a </a:t>
                </a:r>
                <a:r>
                  <a:rPr lang="en-US" sz="1400" dirty="0" smtClean="0">
                    <a:cs typeface="Times New Roman" pitchFamily="18" charset="0"/>
                  </a:rPr>
                  <a:t>recurrence </a:t>
                </a:r>
                <a:r>
                  <a:rPr lang="en-US" sz="1400" dirty="0">
                    <a:cs typeface="Times New Roman" pitchFamily="18" charset="0"/>
                  </a:rPr>
                  <a:t>that expresses </a:t>
                </a:r>
                <a:r>
                  <a:rPr lang="en-US" sz="1400" dirty="0" err="1">
                    <a:cs typeface="Times New Roman" pitchFamily="18" charset="0"/>
                  </a:rPr>
                  <a:t>MinRounds</a:t>
                </a:r>
                <a:r>
                  <a:rPr lang="en-US" sz="1400" dirty="0">
                    <a:cs typeface="Times New Roman" pitchFamily="18" charset="0"/>
                  </a:rPr>
                  <a:t>(x) </a:t>
                </a:r>
                <a:r>
                  <a:rPr lang="en-US" sz="1400" dirty="0" smtClean="0">
                    <a:cs typeface="Times New Roman" pitchFamily="18" charset="0"/>
                  </a:rPr>
                  <a:t>in </a:t>
                </a:r>
                <a:r>
                  <a:rPr lang="en-US" sz="1400" dirty="0">
                    <a:cs typeface="Times New Roman" pitchFamily="18" charset="0"/>
                  </a:rPr>
                  <a:t>terms of that of its direct subordinates  </a:t>
                </a:r>
                <a:r>
                  <a:rPr lang="en-US" sz="1400" dirty="0" err="1">
                    <a:cs typeface="Times New Roman" pitchFamily="18" charset="0"/>
                  </a:rPr>
                  <a:t>MinRounds</a:t>
                </a:r>
                <a:r>
                  <a:rPr lang="en-US" sz="1400" dirty="0">
                    <a:cs typeface="Times New Roman" pitchFamily="18" charset="0"/>
                  </a:rPr>
                  <a:t>(y</a:t>
                </a:r>
                <a:r>
                  <a:rPr lang="en-US" sz="1400" dirty="0" smtClean="0">
                    <a:cs typeface="Times New Roman" pitchFamily="18" charset="0"/>
                  </a:rPr>
                  <a:t>), </a:t>
                </a:r>
                <a:r>
                  <a:rPr lang="en-US" sz="1400" dirty="0" smtClean="0">
                    <a:cs typeface="Times New Roman" pitchFamily="18" charset="0"/>
                    <a:sym typeface="Symbol"/>
                  </a:rPr>
                  <a:t></a:t>
                </a:r>
                <a:r>
                  <a:rPr lang="en-US" sz="1400" dirty="0" smtClean="0">
                    <a:cs typeface="Times New Roman" pitchFamily="18" charset="0"/>
                  </a:rPr>
                  <a:t>y</a:t>
                </a:r>
                <a14:m>
                  <m:oMath xmlns:m="http://schemas.openxmlformats.org/officeDocument/2006/math">
                    <m:r>
                      <a:rPr lang="en-US" sz="1100" i="1">
                        <a:latin typeface="Cambria Math"/>
                        <a:ea typeface="Cambria Math"/>
                        <a:cs typeface="Times New Roman" pitchFamily="18" charset="0"/>
                      </a:rPr>
                      <m:t>∈</m:t>
                    </m:r>
                  </m:oMath>
                </a14:m>
                <a:r>
                  <a:rPr lang="en-US" sz="1400" dirty="0" err="1">
                    <a:cs typeface="Times New Roman" pitchFamily="18" charset="0"/>
                  </a:rPr>
                  <a:t>Adj</a:t>
                </a:r>
                <a:r>
                  <a:rPr lang="en-US" sz="1400" dirty="0">
                    <a:cs typeface="Times New Roman" pitchFamily="18" charset="0"/>
                  </a:rPr>
                  <a:t>[x]. </a:t>
                </a:r>
                <a:r>
                  <a:rPr lang="en-US" sz="1400" dirty="0" smtClean="0">
                    <a:cs typeface="Times New Roman" pitchFamily="18" charset="0"/>
                  </a:rPr>
                  <a:t> </a:t>
                </a:r>
                <a:r>
                  <a:rPr lang="en-US" sz="1200" dirty="0" smtClean="0">
                    <a:solidFill>
                      <a:srgbClr val="C00000"/>
                    </a:solidFill>
                    <a:cs typeface="Times New Roman" pitchFamily="18" charset="0"/>
                  </a:rPr>
                  <a:t>[Hint: In Figure (3)  suppose  </a:t>
                </a:r>
                <a:r>
                  <a:rPr lang="en-US" sz="1200" dirty="0" err="1" smtClean="0">
                    <a:solidFill>
                      <a:srgbClr val="C00000"/>
                    </a:solidFill>
                    <a:cs typeface="Times New Roman" pitchFamily="18" charset="0"/>
                  </a:rPr>
                  <a:t>MinRounds</a:t>
                </a:r>
                <a:r>
                  <a:rPr lang="en-US" sz="1200" dirty="0" smtClean="0">
                    <a:solidFill>
                      <a:srgbClr val="C00000"/>
                    </a:solidFill>
                    <a:cs typeface="Times New Roman" pitchFamily="18" charset="0"/>
                  </a:rPr>
                  <a:t>(B) = 15,  </a:t>
                </a:r>
                <a:r>
                  <a:rPr lang="en-US" sz="1200" dirty="0" err="1" smtClean="0">
                    <a:solidFill>
                      <a:srgbClr val="C00000"/>
                    </a:solidFill>
                    <a:cs typeface="Times New Roman" pitchFamily="18" charset="0"/>
                  </a:rPr>
                  <a:t>MinRounds</a:t>
                </a:r>
                <a:r>
                  <a:rPr lang="en-US" sz="1200" dirty="0" smtClean="0">
                    <a:solidFill>
                      <a:srgbClr val="C00000"/>
                    </a:solidFill>
                    <a:cs typeface="Times New Roman" pitchFamily="18" charset="0"/>
                  </a:rPr>
                  <a:t>(C) = 16,  </a:t>
                </a:r>
                <a:r>
                  <a:rPr lang="en-US" sz="1200" dirty="0" err="1" smtClean="0">
                    <a:solidFill>
                      <a:srgbClr val="C00000"/>
                    </a:solidFill>
                    <a:cs typeface="Times New Roman" pitchFamily="18" charset="0"/>
                  </a:rPr>
                  <a:t>MinRounds</a:t>
                </a:r>
                <a:r>
                  <a:rPr lang="en-US" sz="1200" dirty="0" smtClean="0">
                    <a:solidFill>
                      <a:srgbClr val="C00000"/>
                    </a:solidFill>
                    <a:cs typeface="Times New Roman" pitchFamily="18" charset="0"/>
                  </a:rPr>
                  <a:t>(D) = 15.  In what order should A call its direct subordinates B, C, D? What is  </a:t>
                </a:r>
                <a:r>
                  <a:rPr lang="en-US" sz="1200" dirty="0" err="1" smtClean="0">
                    <a:solidFill>
                      <a:srgbClr val="C00000"/>
                    </a:solidFill>
                    <a:cs typeface="Times New Roman" pitchFamily="18" charset="0"/>
                  </a:rPr>
                  <a:t>MinRounds</a:t>
                </a:r>
                <a:r>
                  <a:rPr lang="en-US" sz="1200" dirty="0" smtClean="0">
                    <a:solidFill>
                      <a:srgbClr val="C00000"/>
                    </a:solidFill>
                    <a:cs typeface="Times New Roman" pitchFamily="18" charset="0"/>
                  </a:rPr>
                  <a:t>(A)?]</a:t>
                </a:r>
                <a:endParaRPr lang="en-US" sz="1400" dirty="0">
                  <a:solidFill>
                    <a:srgbClr val="C00000"/>
                  </a:solidFill>
                  <a:cs typeface="Times New Roman" pitchFamily="18" charset="0"/>
                </a:endParaRPr>
              </a:p>
              <a:p>
                <a:pPr marL="539750" lvl="1" indent="-274638" eaLnBrk="1" hangingPunct="1">
                  <a:lnSpc>
                    <a:spcPct val="90000"/>
                  </a:lnSpc>
                  <a:spcBef>
                    <a:spcPct val="20000"/>
                  </a:spcBef>
                  <a:buFont typeface="+mj-lt"/>
                  <a:buAutoNum type="alphaLcParenR"/>
                </a:pPr>
                <a:r>
                  <a:rPr lang="en-US" sz="1400" dirty="0" smtClean="0">
                    <a:cs typeface="Times New Roman" pitchFamily="18" charset="0"/>
                  </a:rPr>
                  <a:t>Using part (b), design </a:t>
                </a:r>
                <a:r>
                  <a:rPr lang="en-US" sz="1400" dirty="0">
                    <a:cs typeface="Times New Roman" pitchFamily="18" charset="0"/>
                  </a:rPr>
                  <a:t>an efficient algorithm that takes as input a broadcast tree T </a:t>
                </a:r>
                <a:r>
                  <a:rPr lang="en-US" sz="1400" dirty="0" smtClean="0">
                    <a:cs typeface="Times New Roman" pitchFamily="18" charset="0"/>
                  </a:rPr>
                  <a:t>(rooted at root[T]) given </a:t>
                </a:r>
                <a:r>
                  <a:rPr lang="en-US" sz="1400" dirty="0">
                    <a:cs typeface="Times New Roman" pitchFamily="18" charset="0"/>
                  </a:rPr>
                  <a:t>by its adjacency list structure, and outputs the minimum number of rounds needed to broadcast a message in T</a:t>
                </a:r>
                <a:r>
                  <a:rPr lang="en-US" sz="1400" dirty="0" smtClean="0">
                    <a:cs typeface="Times New Roman" pitchFamily="18" charset="0"/>
                  </a:rPr>
                  <a:t>.</a:t>
                </a:r>
              </a:p>
              <a:p>
                <a:pPr marL="539750" lvl="1" indent="-274638" eaLnBrk="1" hangingPunct="1">
                  <a:lnSpc>
                    <a:spcPct val="90000"/>
                  </a:lnSpc>
                  <a:spcBef>
                    <a:spcPct val="20000"/>
                  </a:spcBef>
                  <a:buFont typeface="+mj-lt"/>
                  <a:buAutoNum type="alphaLcParenR"/>
                </a:pPr>
                <a:r>
                  <a:rPr lang="en-US" sz="1400" dirty="0">
                    <a:cs typeface="Times New Roman" pitchFamily="18" charset="0"/>
                  </a:rPr>
                  <a:t>Analyze the worst-case time complexity of your algorithm in (c) as a function of n (# nodes in T</a:t>
                </a:r>
                <a:r>
                  <a:rPr lang="en-US" sz="1400" dirty="0" smtClean="0">
                    <a:cs typeface="Times New Roman" pitchFamily="18" charset="0"/>
                  </a:rPr>
                  <a:t>).</a:t>
                </a:r>
                <a:endParaRPr lang="en-US" sz="1400" dirty="0">
                  <a:cs typeface="Times New Roman" pitchFamily="18" charset="0"/>
                </a:endParaRPr>
              </a:p>
            </p:txBody>
          </p:sp>
        </mc:Choice>
        <mc:Fallback xmlns="">
          <p:sp>
            <p:nvSpPr>
              <p:cNvPr id="180229" name="Rectangle 5"/>
              <p:cNvSpPr>
                <a:spLocks noRot="1" noChangeAspect="1" noMove="1" noResize="1" noEditPoints="1" noAdjustHandles="1" noChangeArrowheads="1" noChangeShapeType="1" noTextEdit="1"/>
              </p:cNvSpPr>
              <p:nvPr/>
            </p:nvSpPr>
            <p:spPr bwMode="auto">
              <a:xfrm>
                <a:off x="228600" y="228600"/>
                <a:ext cx="8763000" cy="4668970"/>
              </a:xfrm>
              <a:prstGeom prst="rect">
                <a:avLst/>
              </a:prstGeom>
              <a:blipFill rotWithShape="1">
                <a:blip r:embed="rId7"/>
                <a:stretch>
                  <a:fillRect t="-523" r="-765" b="-39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p:grpSp>
        <p:nvGrpSpPr>
          <p:cNvPr id="2" name="Group 1"/>
          <p:cNvGrpSpPr/>
          <p:nvPr/>
        </p:nvGrpSpPr>
        <p:grpSpPr>
          <a:xfrm>
            <a:off x="805955" y="5209216"/>
            <a:ext cx="1375242" cy="1332989"/>
            <a:chOff x="1462977" y="4819980"/>
            <a:chExt cx="1375242" cy="1332989"/>
          </a:xfrm>
        </p:grpSpPr>
        <p:sp>
          <p:nvSpPr>
            <p:cNvPr id="180231" name="Freeform 33"/>
            <p:cNvSpPr>
              <a:spLocks/>
            </p:cNvSpPr>
            <p:nvPr/>
          </p:nvSpPr>
          <p:spPr bwMode="auto">
            <a:xfrm>
              <a:off x="2158528" y="5005387"/>
              <a:ext cx="369096" cy="195593"/>
            </a:xfrm>
            <a:custGeom>
              <a:avLst/>
              <a:gdLst>
                <a:gd name="T0" fmla="*/ 0 w 366"/>
                <a:gd name="T1" fmla="*/ 0 h 170"/>
                <a:gd name="T2" fmla="*/ 366 w 366"/>
                <a:gd name="T3" fmla="*/ 170 h 170"/>
                <a:gd name="T4" fmla="*/ 0 60000 65536"/>
                <a:gd name="T5" fmla="*/ 0 60000 65536"/>
              </a:gdLst>
              <a:ahLst/>
              <a:cxnLst>
                <a:cxn ang="T4">
                  <a:pos x="T0" y="T1"/>
                </a:cxn>
                <a:cxn ang="T5">
                  <a:pos x="T2" y="T3"/>
                </a:cxn>
              </a:cxnLst>
              <a:rect l="0" t="0" r="r" b="b"/>
              <a:pathLst>
                <a:path w="366" h="170">
                  <a:moveTo>
                    <a:pt x="0" y="0"/>
                  </a:moveTo>
                  <a:lnTo>
                    <a:pt x="366" y="17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10800">
              <a:spAutoFit/>
            </a:bodyPr>
            <a:lstStyle/>
            <a:p>
              <a:endParaRPr lang="en-CA"/>
            </a:p>
          </p:txBody>
        </p:sp>
        <p:sp>
          <p:nvSpPr>
            <p:cNvPr id="180232" name="Freeform 31"/>
            <p:cNvSpPr>
              <a:spLocks/>
            </p:cNvSpPr>
            <p:nvPr/>
          </p:nvSpPr>
          <p:spPr bwMode="auto">
            <a:xfrm>
              <a:off x="1691577" y="5005387"/>
              <a:ext cx="370585" cy="195593"/>
            </a:xfrm>
            <a:custGeom>
              <a:avLst/>
              <a:gdLst>
                <a:gd name="T0" fmla="*/ 370 w 370"/>
                <a:gd name="T1" fmla="*/ 0 h 177"/>
                <a:gd name="T2" fmla="*/ 0 w 370"/>
                <a:gd name="T3" fmla="*/ 177 h 177"/>
                <a:gd name="T4" fmla="*/ 0 60000 65536"/>
                <a:gd name="T5" fmla="*/ 0 60000 65536"/>
              </a:gdLst>
              <a:ahLst/>
              <a:cxnLst>
                <a:cxn ang="T4">
                  <a:pos x="T0" y="T1"/>
                </a:cxn>
                <a:cxn ang="T5">
                  <a:pos x="T2" y="T3"/>
                </a:cxn>
              </a:cxnLst>
              <a:rect l="0" t="0" r="r" b="b"/>
              <a:pathLst>
                <a:path w="370" h="177">
                  <a:moveTo>
                    <a:pt x="370" y="0"/>
                  </a:moveTo>
                  <a:lnTo>
                    <a:pt x="0" y="177"/>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10800">
              <a:spAutoFit/>
            </a:bodyPr>
            <a:lstStyle/>
            <a:p>
              <a:endParaRPr lang="en-CA"/>
            </a:p>
          </p:txBody>
        </p:sp>
        <p:sp>
          <p:nvSpPr>
            <p:cNvPr id="180233" name="Freeform 32"/>
            <p:cNvSpPr>
              <a:spLocks/>
            </p:cNvSpPr>
            <p:nvPr/>
          </p:nvSpPr>
          <p:spPr bwMode="auto">
            <a:xfrm>
              <a:off x="1607471" y="5395913"/>
              <a:ext cx="1588" cy="407988"/>
            </a:xfrm>
            <a:custGeom>
              <a:avLst/>
              <a:gdLst>
                <a:gd name="T0" fmla="*/ 0 w 1"/>
                <a:gd name="T1" fmla="*/ 0 h 257"/>
                <a:gd name="T2" fmla="*/ 0 w 1"/>
                <a:gd name="T3" fmla="*/ 257 h 257"/>
                <a:gd name="T4" fmla="*/ 0 60000 65536"/>
                <a:gd name="T5" fmla="*/ 0 60000 65536"/>
              </a:gdLst>
              <a:ahLst/>
              <a:cxnLst>
                <a:cxn ang="T4">
                  <a:pos x="T0" y="T1"/>
                </a:cxn>
                <a:cxn ang="T5">
                  <a:pos x="T2" y="T3"/>
                </a:cxn>
              </a:cxnLst>
              <a:rect l="0" t="0" r="r" b="b"/>
              <a:pathLst>
                <a:path w="1" h="257">
                  <a:moveTo>
                    <a:pt x="0" y="0"/>
                  </a:moveTo>
                  <a:lnTo>
                    <a:pt x="0" y="257"/>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0234" name="Oval 14"/>
            <p:cNvSpPr>
              <a:spLocks noChangeArrowheads="1"/>
            </p:cNvSpPr>
            <p:nvPr/>
          </p:nvSpPr>
          <p:spPr bwMode="auto">
            <a:xfrm>
              <a:off x="1975897" y="4819980"/>
              <a:ext cx="318857" cy="316840"/>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square" anchor="ctr">
              <a:spAutoFit/>
            </a:bodyPr>
            <a:lstStyle/>
            <a:p>
              <a:pPr algn="ctr" eaLnBrk="1" hangingPunct="1">
                <a:lnSpc>
                  <a:spcPct val="70000"/>
                </a:lnSpc>
                <a:spcBef>
                  <a:spcPct val="50000"/>
                </a:spcBef>
                <a:buFont typeface="Wingdings" pitchFamily="2" charset="2"/>
                <a:buNone/>
              </a:pPr>
              <a:r>
                <a:rPr lang="en-US" sz="1200" b="1" dirty="0"/>
                <a:t>A</a:t>
              </a:r>
            </a:p>
          </p:txBody>
        </p:sp>
        <p:sp>
          <p:nvSpPr>
            <p:cNvPr id="180235" name="Oval 28"/>
            <p:cNvSpPr>
              <a:spLocks noChangeArrowheads="1"/>
            </p:cNvSpPr>
            <p:nvPr/>
          </p:nvSpPr>
          <p:spPr bwMode="auto">
            <a:xfrm>
              <a:off x="1462977" y="5200980"/>
              <a:ext cx="305498" cy="316840"/>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square" anchor="ctr">
              <a:spAutoFit/>
            </a:bodyPr>
            <a:lstStyle/>
            <a:p>
              <a:pPr algn="ctr" eaLnBrk="1" hangingPunct="1">
                <a:lnSpc>
                  <a:spcPct val="70000"/>
                </a:lnSpc>
                <a:spcBef>
                  <a:spcPct val="50000"/>
                </a:spcBef>
                <a:buFont typeface="Wingdings" pitchFamily="2" charset="2"/>
                <a:buNone/>
              </a:pPr>
              <a:r>
                <a:rPr lang="en-US" sz="1200" b="1" dirty="0"/>
                <a:t>B</a:t>
              </a:r>
            </a:p>
          </p:txBody>
        </p:sp>
        <p:sp>
          <p:nvSpPr>
            <p:cNvPr id="180236" name="Oval 29"/>
            <p:cNvSpPr>
              <a:spLocks noChangeArrowheads="1"/>
            </p:cNvSpPr>
            <p:nvPr/>
          </p:nvSpPr>
          <p:spPr bwMode="auto">
            <a:xfrm>
              <a:off x="1462977" y="5836129"/>
              <a:ext cx="305498" cy="316840"/>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square" anchor="ctr">
              <a:spAutoFit/>
            </a:bodyPr>
            <a:lstStyle/>
            <a:p>
              <a:pPr algn="ctr" eaLnBrk="1" hangingPunct="1">
                <a:lnSpc>
                  <a:spcPct val="70000"/>
                </a:lnSpc>
                <a:spcBef>
                  <a:spcPct val="50000"/>
                </a:spcBef>
                <a:buFont typeface="Wingdings" pitchFamily="2" charset="2"/>
                <a:buNone/>
              </a:pPr>
              <a:r>
                <a:rPr lang="en-US" sz="1200" b="1" dirty="0"/>
                <a:t>C</a:t>
              </a:r>
            </a:p>
          </p:txBody>
        </p:sp>
        <p:sp>
          <p:nvSpPr>
            <p:cNvPr id="180237" name="Oval 30"/>
            <p:cNvSpPr>
              <a:spLocks noChangeArrowheads="1"/>
            </p:cNvSpPr>
            <p:nvPr/>
          </p:nvSpPr>
          <p:spPr bwMode="auto">
            <a:xfrm>
              <a:off x="2519362" y="5145747"/>
              <a:ext cx="318857" cy="316840"/>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square" anchor="ctr">
              <a:spAutoFit/>
            </a:bodyPr>
            <a:lstStyle/>
            <a:p>
              <a:pPr algn="ctr" eaLnBrk="1" hangingPunct="1">
                <a:lnSpc>
                  <a:spcPct val="70000"/>
                </a:lnSpc>
                <a:spcBef>
                  <a:spcPct val="50000"/>
                </a:spcBef>
                <a:buFont typeface="Wingdings" pitchFamily="2" charset="2"/>
                <a:buNone/>
              </a:pPr>
              <a:r>
                <a:rPr lang="en-US" sz="1200" b="1" dirty="0"/>
                <a:t>D</a:t>
              </a:r>
            </a:p>
          </p:txBody>
        </p:sp>
        <p:sp>
          <p:nvSpPr>
            <p:cNvPr id="180238" name="Text Box 34"/>
            <p:cNvSpPr txBox="1">
              <a:spLocks noChangeArrowheads="1"/>
            </p:cNvSpPr>
            <p:nvPr/>
          </p:nvSpPr>
          <p:spPr bwMode="auto">
            <a:xfrm>
              <a:off x="1876869" y="5858291"/>
              <a:ext cx="721671" cy="27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1400" dirty="0"/>
                <a:t>Fig </a:t>
              </a:r>
              <a:r>
                <a:rPr lang="en-US" sz="1400" dirty="0" smtClean="0"/>
                <a:t>(1).</a:t>
              </a:r>
              <a:endParaRPr lang="en-US" sz="1400" dirty="0"/>
            </a:p>
          </p:txBody>
        </p:sp>
      </p:grpSp>
      <p:grpSp>
        <p:nvGrpSpPr>
          <p:cNvPr id="3" name="Group 2"/>
          <p:cNvGrpSpPr/>
          <p:nvPr/>
        </p:nvGrpSpPr>
        <p:grpSpPr>
          <a:xfrm>
            <a:off x="3264027" y="4821913"/>
            <a:ext cx="2209800" cy="1721903"/>
            <a:chOff x="5349875" y="4572000"/>
            <a:chExt cx="2209800" cy="1721903"/>
          </a:xfrm>
        </p:grpSpPr>
        <p:sp>
          <p:nvSpPr>
            <p:cNvPr id="180239" name="Oval 35"/>
            <p:cNvSpPr>
              <a:spLocks noChangeArrowheads="1"/>
            </p:cNvSpPr>
            <p:nvPr/>
          </p:nvSpPr>
          <p:spPr bwMode="auto">
            <a:xfrm>
              <a:off x="6035675" y="4800600"/>
              <a:ext cx="152400" cy="152400"/>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0240" name="Oval 36"/>
            <p:cNvSpPr>
              <a:spLocks noChangeArrowheads="1"/>
            </p:cNvSpPr>
            <p:nvPr/>
          </p:nvSpPr>
          <p:spPr bwMode="auto">
            <a:xfrm>
              <a:off x="5349875" y="5638800"/>
              <a:ext cx="152400" cy="152400"/>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0241" name="Oval 37"/>
            <p:cNvSpPr>
              <a:spLocks noChangeArrowheads="1"/>
            </p:cNvSpPr>
            <p:nvPr/>
          </p:nvSpPr>
          <p:spPr bwMode="auto">
            <a:xfrm>
              <a:off x="5349875" y="6096000"/>
              <a:ext cx="152400" cy="152400"/>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0242" name="Oval 38"/>
            <p:cNvSpPr>
              <a:spLocks noChangeArrowheads="1"/>
            </p:cNvSpPr>
            <p:nvPr/>
          </p:nvSpPr>
          <p:spPr bwMode="auto">
            <a:xfrm>
              <a:off x="6035675" y="5181600"/>
              <a:ext cx="152400" cy="152400"/>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0243" name="Oval 39"/>
            <p:cNvSpPr>
              <a:spLocks noChangeArrowheads="1"/>
            </p:cNvSpPr>
            <p:nvPr/>
          </p:nvSpPr>
          <p:spPr bwMode="auto">
            <a:xfrm>
              <a:off x="6950075" y="5181600"/>
              <a:ext cx="152400" cy="152400"/>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0244" name="Oval 40"/>
            <p:cNvSpPr>
              <a:spLocks noChangeArrowheads="1"/>
            </p:cNvSpPr>
            <p:nvPr/>
          </p:nvSpPr>
          <p:spPr bwMode="auto">
            <a:xfrm>
              <a:off x="6569075" y="5638800"/>
              <a:ext cx="152400" cy="152400"/>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0245" name="Oval 41"/>
            <p:cNvSpPr>
              <a:spLocks noChangeArrowheads="1"/>
            </p:cNvSpPr>
            <p:nvPr/>
          </p:nvSpPr>
          <p:spPr bwMode="auto">
            <a:xfrm>
              <a:off x="7407275" y="5638800"/>
              <a:ext cx="152400" cy="152400"/>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0246" name="Oval 42"/>
            <p:cNvSpPr>
              <a:spLocks noChangeArrowheads="1"/>
            </p:cNvSpPr>
            <p:nvPr/>
          </p:nvSpPr>
          <p:spPr bwMode="auto">
            <a:xfrm>
              <a:off x="6950075" y="5638800"/>
              <a:ext cx="152400" cy="152400"/>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0247" name="Oval 43"/>
            <p:cNvSpPr>
              <a:spLocks noChangeArrowheads="1"/>
            </p:cNvSpPr>
            <p:nvPr/>
          </p:nvSpPr>
          <p:spPr bwMode="auto">
            <a:xfrm>
              <a:off x="5349875" y="5257800"/>
              <a:ext cx="152400" cy="152400"/>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0248" name="Text Box 44"/>
            <p:cNvSpPr txBox="1">
              <a:spLocks noChangeArrowheads="1"/>
            </p:cNvSpPr>
            <p:nvPr/>
          </p:nvSpPr>
          <p:spPr bwMode="auto">
            <a:xfrm>
              <a:off x="5926459" y="6021387"/>
              <a:ext cx="721671" cy="27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1400" dirty="0"/>
                <a:t>Fig </a:t>
              </a:r>
              <a:r>
                <a:rPr lang="en-US" sz="1400" dirty="0" smtClean="0"/>
                <a:t>(2).</a:t>
              </a:r>
              <a:endParaRPr lang="en-US" sz="1400" dirty="0"/>
            </a:p>
          </p:txBody>
        </p:sp>
        <p:sp>
          <p:nvSpPr>
            <p:cNvPr id="180249" name="Freeform 45"/>
            <p:cNvSpPr>
              <a:spLocks/>
            </p:cNvSpPr>
            <p:nvPr/>
          </p:nvSpPr>
          <p:spPr bwMode="auto">
            <a:xfrm>
              <a:off x="5486400" y="4876800"/>
              <a:ext cx="625475" cy="400050"/>
            </a:xfrm>
            <a:custGeom>
              <a:avLst/>
              <a:gdLst>
                <a:gd name="T0" fmla="*/ 394 w 394"/>
                <a:gd name="T1" fmla="*/ 0 h 252"/>
                <a:gd name="T2" fmla="*/ 0 w 394"/>
                <a:gd name="T3" fmla="*/ 252 h 252"/>
                <a:gd name="T4" fmla="*/ 0 60000 65536"/>
                <a:gd name="T5" fmla="*/ 0 60000 65536"/>
              </a:gdLst>
              <a:ahLst/>
              <a:cxnLst>
                <a:cxn ang="T4">
                  <a:pos x="T0" y="T1"/>
                </a:cxn>
                <a:cxn ang="T5">
                  <a:pos x="T2" y="T3"/>
                </a:cxn>
              </a:cxnLst>
              <a:rect l="0" t="0" r="r" b="b"/>
              <a:pathLst>
                <a:path w="394" h="252">
                  <a:moveTo>
                    <a:pt x="394" y="0"/>
                  </a:moveTo>
                  <a:lnTo>
                    <a:pt x="0" y="252"/>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0250" name="Line 46"/>
            <p:cNvSpPr>
              <a:spLocks noChangeShapeType="1"/>
            </p:cNvSpPr>
            <p:nvPr/>
          </p:nvSpPr>
          <p:spPr bwMode="auto">
            <a:xfrm>
              <a:off x="6111875" y="4876800"/>
              <a:ext cx="0" cy="304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0251" name="Freeform 47"/>
            <p:cNvSpPr>
              <a:spLocks/>
            </p:cNvSpPr>
            <p:nvPr/>
          </p:nvSpPr>
          <p:spPr bwMode="auto">
            <a:xfrm>
              <a:off x="6111875" y="4876800"/>
              <a:ext cx="858838" cy="325438"/>
            </a:xfrm>
            <a:custGeom>
              <a:avLst/>
              <a:gdLst>
                <a:gd name="T0" fmla="*/ 0 w 541"/>
                <a:gd name="T1" fmla="*/ 0 h 205"/>
                <a:gd name="T2" fmla="*/ 541 w 541"/>
                <a:gd name="T3" fmla="*/ 205 h 205"/>
                <a:gd name="T4" fmla="*/ 0 60000 65536"/>
                <a:gd name="T5" fmla="*/ 0 60000 65536"/>
              </a:gdLst>
              <a:ahLst/>
              <a:cxnLst>
                <a:cxn ang="T4">
                  <a:pos x="T0" y="T1"/>
                </a:cxn>
                <a:cxn ang="T5">
                  <a:pos x="T2" y="T3"/>
                </a:cxn>
              </a:cxnLst>
              <a:rect l="0" t="0" r="r" b="b"/>
              <a:pathLst>
                <a:path w="541" h="205">
                  <a:moveTo>
                    <a:pt x="0" y="0"/>
                  </a:moveTo>
                  <a:lnTo>
                    <a:pt x="541" y="205"/>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0252" name="Freeform 48"/>
            <p:cNvSpPr>
              <a:spLocks/>
            </p:cNvSpPr>
            <p:nvPr/>
          </p:nvSpPr>
          <p:spPr bwMode="auto">
            <a:xfrm>
              <a:off x="6702425" y="5257800"/>
              <a:ext cx="323850" cy="396875"/>
            </a:xfrm>
            <a:custGeom>
              <a:avLst/>
              <a:gdLst>
                <a:gd name="T0" fmla="*/ 204 w 204"/>
                <a:gd name="T1" fmla="*/ 0 h 250"/>
                <a:gd name="T2" fmla="*/ 0 w 204"/>
                <a:gd name="T3" fmla="*/ 250 h 250"/>
                <a:gd name="T4" fmla="*/ 0 60000 65536"/>
                <a:gd name="T5" fmla="*/ 0 60000 65536"/>
              </a:gdLst>
              <a:ahLst/>
              <a:cxnLst>
                <a:cxn ang="T4">
                  <a:pos x="T0" y="T1"/>
                </a:cxn>
                <a:cxn ang="T5">
                  <a:pos x="T2" y="T3"/>
                </a:cxn>
              </a:cxnLst>
              <a:rect l="0" t="0" r="r" b="b"/>
              <a:pathLst>
                <a:path w="204" h="250">
                  <a:moveTo>
                    <a:pt x="204" y="0"/>
                  </a:moveTo>
                  <a:lnTo>
                    <a:pt x="0" y="25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0253" name="Line 49"/>
            <p:cNvSpPr>
              <a:spLocks noChangeShapeType="1"/>
            </p:cNvSpPr>
            <p:nvPr/>
          </p:nvSpPr>
          <p:spPr bwMode="auto">
            <a:xfrm>
              <a:off x="7026275" y="5257800"/>
              <a:ext cx="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0254" name="Freeform 50"/>
            <p:cNvSpPr>
              <a:spLocks/>
            </p:cNvSpPr>
            <p:nvPr/>
          </p:nvSpPr>
          <p:spPr bwMode="auto">
            <a:xfrm>
              <a:off x="7026275" y="5257800"/>
              <a:ext cx="428625" cy="396875"/>
            </a:xfrm>
            <a:custGeom>
              <a:avLst/>
              <a:gdLst>
                <a:gd name="T0" fmla="*/ 0 w 270"/>
                <a:gd name="T1" fmla="*/ 0 h 250"/>
                <a:gd name="T2" fmla="*/ 270 w 270"/>
                <a:gd name="T3" fmla="*/ 250 h 250"/>
                <a:gd name="T4" fmla="*/ 0 60000 65536"/>
                <a:gd name="T5" fmla="*/ 0 60000 65536"/>
              </a:gdLst>
              <a:ahLst/>
              <a:cxnLst>
                <a:cxn ang="T4">
                  <a:pos x="T0" y="T1"/>
                </a:cxn>
                <a:cxn ang="T5">
                  <a:pos x="T2" y="T3"/>
                </a:cxn>
              </a:cxnLst>
              <a:rect l="0" t="0" r="r" b="b"/>
              <a:pathLst>
                <a:path w="270" h="250">
                  <a:moveTo>
                    <a:pt x="0" y="0"/>
                  </a:moveTo>
                  <a:lnTo>
                    <a:pt x="270" y="25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0255" name="Line 51"/>
            <p:cNvSpPr>
              <a:spLocks noChangeShapeType="1"/>
            </p:cNvSpPr>
            <p:nvPr/>
          </p:nvSpPr>
          <p:spPr bwMode="auto">
            <a:xfrm>
              <a:off x="5426075" y="5334000"/>
              <a:ext cx="0" cy="304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0256" name="Line 52"/>
            <p:cNvSpPr>
              <a:spLocks noChangeShapeType="1"/>
            </p:cNvSpPr>
            <p:nvPr/>
          </p:nvSpPr>
          <p:spPr bwMode="auto">
            <a:xfrm>
              <a:off x="5426075" y="5715000"/>
              <a:ext cx="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0257" name="Text Box 53"/>
            <p:cNvSpPr txBox="1">
              <a:spLocks noChangeArrowheads="1"/>
            </p:cNvSpPr>
            <p:nvPr/>
          </p:nvSpPr>
          <p:spPr bwMode="auto">
            <a:xfrm>
              <a:off x="6118612" y="4572000"/>
              <a:ext cx="543739" cy="27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1400" dirty="0"/>
                <a:t>CEO</a:t>
              </a:r>
            </a:p>
          </p:txBody>
        </p:sp>
      </p:grpSp>
      <p:grpSp>
        <p:nvGrpSpPr>
          <p:cNvPr id="36" name="Group 35"/>
          <p:cNvGrpSpPr/>
          <p:nvPr/>
        </p:nvGrpSpPr>
        <p:grpSpPr>
          <a:xfrm>
            <a:off x="6246454" y="4845450"/>
            <a:ext cx="2503678" cy="1921681"/>
            <a:chOff x="6228906" y="4551473"/>
            <a:chExt cx="2503678" cy="1921681"/>
          </a:xfrm>
        </p:grpSpPr>
        <p:sp>
          <p:nvSpPr>
            <p:cNvPr id="76" name="Isosceles Triangle 75"/>
            <p:cNvSpPr/>
            <p:nvPr/>
          </p:nvSpPr>
          <p:spPr bwMode="auto">
            <a:xfrm>
              <a:off x="7167119" y="5283470"/>
              <a:ext cx="662347" cy="828000"/>
            </a:xfrm>
            <a:prstGeom prst="triangle">
              <a:avLst>
                <a:gd name="adj" fmla="val 51380"/>
              </a:avLst>
            </a:prstGeom>
            <a:solidFill>
              <a:schemeClr val="bg1">
                <a:lumMod val="85000"/>
              </a:schemeClr>
            </a:solidFill>
            <a:ln w="1905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spAutoFit/>
            </a:bodyPr>
            <a:lstStyle/>
            <a:p>
              <a:pPr marL="396875" marR="0" indent="-387350" algn="l" defTabSz="914400" rtl="0" eaLnBrk="0" fontAlgn="base" latinLnBrk="0" hangingPunct="0">
                <a:lnSpc>
                  <a:spcPct val="100000"/>
                </a:lnSpc>
                <a:spcBef>
                  <a:spcPct val="0"/>
                </a:spcBef>
                <a:spcAft>
                  <a:spcPct val="0"/>
                </a:spcAft>
                <a:buClrTx/>
                <a:buSzTx/>
                <a:buFontTx/>
                <a:buAutoNum type="arabicPeriod" startAt="51"/>
                <a:tabLst/>
              </a:pPr>
              <a:endParaRPr kumimoji="0" lang="en-CA" sz="1600" b="0" i="0" u="none" strike="noStrike" cap="none" normalizeH="0" baseline="0" smtClean="0">
                <a:ln>
                  <a:noFill/>
                </a:ln>
                <a:solidFill>
                  <a:schemeClr val="tx1"/>
                </a:solidFill>
                <a:effectLst/>
                <a:latin typeface="Times New Roman" pitchFamily="18" charset="0"/>
              </a:endParaRPr>
            </a:p>
          </p:txBody>
        </p:sp>
        <p:sp>
          <p:nvSpPr>
            <p:cNvPr id="77" name="Isosceles Triangle 76"/>
            <p:cNvSpPr/>
            <p:nvPr/>
          </p:nvSpPr>
          <p:spPr bwMode="auto">
            <a:xfrm>
              <a:off x="8070237" y="5276297"/>
              <a:ext cx="662347" cy="828000"/>
            </a:xfrm>
            <a:prstGeom prst="triangle">
              <a:avLst>
                <a:gd name="adj" fmla="val 51380"/>
              </a:avLst>
            </a:prstGeom>
            <a:solidFill>
              <a:schemeClr val="bg1">
                <a:lumMod val="85000"/>
              </a:schemeClr>
            </a:solidFill>
            <a:ln w="1905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spAutoFit/>
            </a:bodyPr>
            <a:lstStyle/>
            <a:p>
              <a:pPr marL="396875" marR="0" indent="-387350" algn="l" defTabSz="914400" rtl="0" eaLnBrk="0" fontAlgn="base" latinLnBrk="0" hangingPunct="0">
                <a:lnSpc>
                  <a:spcPct val="100000"/>
                </a:lnSpc>
                <a:spcBef>
                  <a:spcPct val="0"/>
                </a:spcBef>
                <a:spcAft>
                  <a:spcPct val="0"/>
                </a:spcAft>
                <a:buClrTx/>
                <a:buSzTx/>
                <a:buFontTx/>
                <a:buAutoNum type="arabicPeriod" startAt="51"/>
                <a:tabLst/>
              </a:pPr>
              <a:endParaRPr kumimoji="0" lang="en-CA" sz="1600" b="0" i="0" u="none" strike="noStrike" cap="none" normalizeH="0" baseline="0" smtClean="0">
                <a:ln>
                  <a:noFill/>
                </a:ln>
                <a:solidFill>
                  <a:schemeClr val="tx1"/>
                </a:solidFill>
                <a:effectLst/>
                <a:latin typeface="Times New Roman" pitchFamily="18" charset="0"/>
              </a:endParaRPr>
            </a:p>
          </p:txBody>
        </p:sp>
        <p:sp>
          <p:nvSpPr>
            <p:cNvPr id="34" name="Isosceles Triangle 33"/>
            <p:cNvSpPr/>
            <p:nvPr/>
          </p:nvSpPr>
          <p:spPr bwMode="auto">
            <a:xfrm>
              <a:off x="6228906" y="5276297"/>
              <a:ext cx="662347" cy="828000"/>
            </a:xfrm>
            <a:prstGeom prst="triangle">
              <a:avLst>
                <a:gd name="adj" fmla="val 51380"/>
              </a:avLst>
            </a:prstGeom>
            <a:solidFill>
              <a:schemeClr val="bg1">
                <a:lumMod val="85000"/>
              </a:schemeClr>
            </a:solidFill>
            <a:ln w="1905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spAutoFit/>
            </a:bodyPr>
            <a:lstStyle/>
            <a:p>
              <a:pPr marL="396875" marR="0" indent="-387350" algn="l" defTabSz="914400" rtl="0" eaLnBrk="0" fontAlgn="base" latinLnBrk="0" hangingPunct="0">
                <a:lnSpc>
                  <a:spcPct val="100000"/>
                </a:lnSpc>
                <a:spcBef>
                  <a:spcPct val="0"/>
                </a:spcBef>
                <a:spcAft>
                  <a:spcPct val="0"/>
                </a:spcAft>
                <a:buClrTx/>
                <a:buSzTx/>
                <a:buFontTx/>
                <a:buAutoNum type="arabicPeriod" startAt="51"/>
                <a:tabLst/>
              </a:pPr>
              <a:endParaRPr kumimoji="0" lang="en-CA" sz="1600" b="0" i="0" u="none" strike="noStrike" cap="none" normalizeH="0" baseline="0" smtClean="0">
                <a:ln>
                  <a:noFill/>
                </a:ln>
                <a:solidFill>
                  <a:schemeClr val="tx1"/>
                </a:solidFill>
                <a:effectLst/>
                <a:latin typeface="Times New Roman" pitchFamily="18" charset="0"/>
              </a:endParaRPr>
            </a:p>
          </p:txBody>
        </p:sp>
        <p:sp>
          <p:nvSpPr>
            <p:cNvPr id="38" name="Oval 14"/>
            <p:cNvSpPr>
              <a:spLocks noChangeArrowheads="1"/>
            </p:cNvSpPr>
            <p:nvPr/>
          </p:nvSpPr>
          <p:spPr bwMode="auto">
            <a:xfrm>
              <a:off x="7325718" y="4551473"/>
              <a:ext cx="345149" cy="316840"/>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square" anchor="ctr">
              <a:spAutoFit/>
            </a:bodyPr>
            <a:lstStyle/>
            <a:p>
              <a:pPr algn="ctr" eaLnBrk="1" hangingPunct="1">
                <a:lnSpc>
                  <a:spcPct val="70000"/>
                </a:lnSpc>
                <a:spcBef>
                  <a:spcPct val="50000"/>
                </a:spcBef>
                <a:buFont typeface="Wingdings" pitchFamily="2" charset="2"/>
                <a:buNone/>
              </a:pPr>
              <a:r>
                <a:rPr lang="en-US" sz="1200" b="1" dirty="0"/>
                <a:t>A</a:t>
              </a:r>
            </a:p>
          </p:txBody>
        </p:sp>
        <p:sp>
          <p:nvSpPr>
            <p:cNvPr id="39" name="Oval 14"/>
            <p:cNvSpPr>
              <a:spLocks noChangeArrowheads="1"/>
            </p:cNvSpPr>
            <p:nvPr/>
          </p:nvSpPr>
          <p:spPr bwMode="auto">
            <a:xfrm>
              <a:off x="6418347" y="5128392"/>
              <a:ext cx="318857" cy="316840"/>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square" anchor="ctr">
              <a:spAutoFit/>
            </a:bodyPr>
            <a:lstStyle/>
            <a:p>
              <a:pPr algn="ctr" eaLnBrk="1" hangingPunct="1">
                <a:lnSpc>
                  <a:spcPct val="70000"/>
                </a:lnSpc>
                <a:spcBef>
                  <a:spcPct val="50000"/>
                </a:spcBef>
                <a:buFont typeface="Wingdings" pitchFamily="2" charset="2"/>
                <a:buNone/>
              </a:pPr>
              <a:r>
                <a:rPr lang="en-US" sz="1200" b="1" dirty="0" smtClean="0"/>
                <a:t>B</a:t>
              </a:r>
              <a:endParaRPr lang="en-US" sz="1200" b="1" dirty="0"/>
            </a:p>
          </p:txBody>
        </p:sp>
        <p:sp>
          <p:nvSpPr>
            <p:cNvPr id="40" name="Oval 14"/>
            <p:cNvSpPr>
              <a:spLocks noChangeArrowheads="1"/>
            </p:cNvSpPr>
            <p:nvPr/>
          </p:nvSpPr>
          <p:spPr bwMode="auto">
            <a:xfrm>
              <a:off x="7338864" y="5129332"/>
              <a:ext cx="318857" cy="316840"/>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square" anchor="ctr">
              <a:spAutoFit/>
            </a:bodyPr>
            <a:lstStyle/>
            <a:p>
              <a:pPr algn="ctr" eaLnBrk="1" hangingPunct="1">
                <a:lnSpc>
                  <a:spcPct val="70000"/>
                </a:lnSpc>
                <a:spcBef>
                  <a:spcPct val="50000"/>
                </a:spcBef>
                <a:buFont typeface="Wingdings" pitchFamily="2" charset="2"/>
                <a:buNone/>
              </a:pPr>
              <a:r>
                <a:rPr lang="en-US" sz="1200" b="1" dirty="0" smtClean="0"/>
                <a:t>C</a:t>
              </a:r>
              <a:endParaRPr lang="en-US" sz="1200" b="1" dirty="0"/>
            </a:p>
          </p:txBody>
        </p:sp>
        <p:sp>
          <p:nvSpPr>
            <p:cNvPr id="41" name="Oval 14"/>
            <p:cNvSpPr>
              <a:spLocks noChangeArrowheads="1"/>
            </p:cNvSpPr>
            <p:nvPr/>
          </p:nvSpPr>
          <p:spPr bwMode="auto">
            <a:xfrm>
              <a:off x="8241983" y="5091848"/>
              <a:ext cx="318857" cy="316840"/>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square" anchor="ctr">
              <a:spAutoFit/>
            </a:bodyPr>
            <a:lstStyle/>
            <a:p>
              <a:pPr algn="ctr" eaLnBrk="1" hangingPunct="1">
                <a:lnSpc>
                  <a:spcPct val="70000"/>
                </a:lnSpc>
                <a:spcBef>
                  <a:spcPct val="50000"/>
                </a:spcBef>
                <a:buFont typeface="Wingdings" pitchFamily="2" charset="2"/>
                <a:buNone/>
              </a:pPr>
              <a:r>
                <a:rPr lang="en-US" sz="1200" b="1" dirty="0" smtClean="0"/>
                <a:t>D</a:t>
              </a:r>
              <a:endParaRPr lang="en-US" sz="1200" b="1" dirty="0"/>
            </a:p>
          </p:txBody>
        </p:sp>
        <p:cxnSp>
          <p:nvCxnSpPr>
            <p:cNvPr id="18" name="Straight Arrow Connector 17"/>
            <p:cNvCxnSpPr>
              <a:stCxn id="38" idx="3"/>
              <a:endCxn id="39" idx="7"/>
            </p:cNvCxnSpPr>
            <p:nvPr/>
          </p:nvCxnSpPr>
          <p:spPr bwMode="auto">
            <a:xfrm flipH="1">
              <a:off x="6690508" y="4821913"/>
              <a:ext cx="685756" cy="352879"/>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Straight Arrow Connector 19"/>
            <p:cNvCxnSpPr>
              <a:stCxn id="38" idx="4"/>
              <a:endCxn id="40" idx="0"/>
            </p:cNvCxnSpPr>
            <p:nvPr/>
          </p:nvCxnSpPr>
          <p:spPr bwMode="auto">
            <a:xfrm>
              <a:off x="7498293" y="4868313"/>
              <a:ext cx="0" cy="261019"/>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Arrow Connector 21"/>
            <p:cNvCxnSpPr>
              <a:stCxn id="38" idx="5"/>
              <a:endCxn id="41" idx="1"/>
            </p:cNvCxnSpPr>
            <p:nvPr/>
          </p:nvCxnSpPr>
          <p:spPr bwMode="auto">
            <a:xfrm>
              <a:off x="7620321" y="4821913"/>
              <a:ext cx="668358" cy="316335"/>
            </a:xfrm>
            <a:prstGeom prst="straightConnector1">
              <a:avLst/>
            </a:prstGeom>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Text Box 44"/>
            <p:cNvSpPr txBox="1">
              <a:spLocks noChangeArrowheads="1"/>
            </p:cNvSpPr>
            <p:nvPr/>
          </p:nvSpPr>
          <p:spPr bwMode="auto">
            <a:xfrm>
              <a:off x="7137457" y="6200638"/>
              <a:ext cx="721671" cy="27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sz="1400" dirty="0"/>
                <a:t>Fig </a:t>
              </a:r>
              <a:r>
                <a:rPr lang="en-US" sz="1400" dirty="0" smtClean="0"/>
                <a:t>(3).</a:t>
              </a:r>
              <a:endParaRPr lang="en-US" sz="1400" dirty="0"/>
            </a:p>
          </p:txBody>
        </p:sp>
      </p:grpSp>
      <p:sp>
        <p:nvSpPr>
          <p:cNvPr id="4" name="Slide Number Placeholder 3"/>
          <p:cNvSpPr>
            <a:spLocks noGrp="1"/>
          </p:cNvSpPr>
          <p:nvPr>
            <p:ph type="sldNum" sz="quarter" idx="12"/>
          </p:nvPr>
        </p:nvSpPr>
        <p:spPr/>
        <p:txBody>
          <a:bodyPr/>
          <a:lstStyle/>
          <a:p>
            <a:pPr>
              <a:defRPr/>
            </a:pPr>
            <a:fld id="{ED68C6A5-5F34-433B-BEF2-D75336D8F66B}" type="slidenum">
              <a:rPr lang="en-US" smtClean="0"/>
              <a:pPr>
                <a:defRPr/>
              </a:pPr>
              <a:t>176</a:t>
            </a:fld>
            <a:endParaRPr lang="en-US"/>
          </a:p>
        </p:txBody>
      </p:sp>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5"/>
          <p:cNvSpPr>
            <a:spLocks noChangeArrowheads="1"/>
          </p:cNvSpPr>
          <p:nvPr/>
        </p:nvSpPr>
        <p:spPr bwMode="auto">
          <a:xfrm>
            <a:off x="381000" y="381000"/>
            <a:ext cx="8610600" cy="2357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85763" indent="-376238" eaLnBrk="1" hangingPunct="1">
              <a:lnSpc>
                <a:spcPct val="90000"/>
              </a:lnSpc>
              <a:spcBef>
                <a:spcPct val="20000"/>
              </a:spcBef>
              <a:buFontTx/>
              <a:buAutoNum type="arabicPeriod" startAt="16"/>
              <a:tabLst>
                <a:tab pos="385763" algn="l"/>
              </a:tabLst>
            </a:pPr>
            <a:r>
              <a:rPr lang="en-US" b="1" dirty="0"/>
              <a:t>[CLRS, Exercise 22.4-1, p. 614]</a:t>
            </a:r>
            <a:r>
              <a:rPr lang="en-US" dirty="0">
                <a:sym typeface="Symbol" pitchFamily="18" charset="2"/>
              </a:rPr>
              <a:t>  Run the Topological Sort Algorithm of the example DAG of </a:t>
            </a:r>
            <a:r>
              <a:rPr lang="en-US" dirty="0" smtClean="0">
                <a:sym typeface="Symbol" pitchFamily="18" charset="2"/>
              </a:rPr>
              <a:t/>
            </a:r>
            <a:br>
              <a:rPr lang="en-US" dirty="0" smtClean="0">
                <a:sym typeface="Symbol" pitchFamily="18" charset="2"/>
              </a:rPr>
            </a:br>
            <a:r>
              <a:rPr lang="en-US" dirty="0" smtClean="0">
                <a:sym typeface="Symbol" pitchFamily="18" charset="2"/>
              </a:rPr>
              <a:t>Fig </a:t>
            </a:r>
            <a:r>
              <a:rPr lang="en-US" dirty="0">
                <a:sym typeface="Symbol" pitchFamily="18" charset="2"/>
              </a:rPr>
              <a:t>(a) below and show the pertinent results.</a:t>
            </a:r>
            <a:br>
              <a:rPr lang="en-US" dirty="0">
                <a:sym typeface="Symbol" pitchFamily="18" charset="2"/>
              </a:rPr>
            </a:br>
            <a:endParaRPr lang="en-US" dirty="0"/>
          </a:p>
          <a:p>
            <a:pPr marL="385763" indent="-376238" eaLnBrk="1" hangingPunct="1">
              <a:lnSpc>
                <a:spcPct val="90000"/>
              </a:lnSpc>
              <a:spcBef>
                <a:spcPct val="20000"/>
              </a:spcBef>
              <a:buFontTx/>
              <a:buAutoNum type="arabicPeriod" startAt="16"/>
              <a:tabLst>
                <a:tab pos="385763" algn="l"/>
              </a:tabLst>
            </a:pPr>
            <a:r>
              <a:rPr lang="en-US" dirty="0"/>
              <a:t>A </a:t>
            </a:r>
            <a:r>
              <a:rPr lang="en-US" b="1" dirty="0">
                <a:solidFill>
                  <a:srgbClr val="CC0000"/>
                </a:solidFill>
              </a:rPr>
              <a:t>Hamiltonian path</a:t>
            </a:r>
            <a:r>
              <a:rPr lang="en-US" dirty="0"/>
              <a:t> in a directed graph G=(V,E) is a directed simple path that visits each vertex of G exactly once. (Note that we are referring to a Hamiltonian </a:t>
            </a:r>
            <a:r>
              <a:rPr lang="en-US" b="1" dirty="0">
                <a:solidFill>
                  <a:srgbClr val="CC0000"/>
                </a:solidFill>
              </a:rPr>
              <a:t>path</a:t>
            </a:r>
            <a:r>
              <a:rPr lang="en-US" dirty="0"/>
              <a:t>, not a </a:t>
            </a:r>
            <a:r>
              <a:rPr lang="en-US" b="1" dirty="0">
                <a:solidFill>
                  <a:srgbClr val="CC0000"/>
                </a:solidFill>
              </a:rPr>
              <a:t>cycle</a:t>
            </a:r>
            <a:r>
              <a:rPr lang="en-US" dirty="0"/>
              <a:t>.)  In general, the problem of deciding whether a given digraph has a Hamiltonian path is known to be NP-complete.</a:t>
            </a:r>
            <a:br>
              <a:rPr lang="en-US" dirty="0"/>
            </a:br>
            <a:r>
              <a:rPr lang="en-US" dirty="0"/>
              <a:t>(a)  Does the graph shown in Fig (b) below contain a Hamiltonian path? </a:t>
            </a:r>
            <a:br>
              <a:rPr lang="en-US" dirty="0"/>
            </a:br>
            <a:r>
              <a:rPr lang="en-US" dirty="0"/>
              <a:t>      If yes, show one by highlighting the edges on the path. </a:t>
            </a:r>
            <a:br>
              <a:rPr lang="en-US" dirty="0"/>
            </a:br>
            <a:r>
              <a:rPr lang="en-US" dirty="0"/>
              <a:t>(b)  If the graph G happens to be a DAG, how does finding a topological sort of G help in </a:t>
            </a:r>
            <a:br>
              <a:rPr lang="en-US" dirty="0"/>
            </a:br>
            <a:r>
              <a:rPr lang="en-US" dirty="0"/>
              <a:t>       finding a Hamiltonian path of G?</a:t>
            </a:r>
          </a:p>
        </p:txBody>
      </p:sp>
      <p:grpSp>
        <p:nvGrpSpPr>
          <p:cNvPr id="181251" name="Group 77"/>
          <p:cNvGrpSpPr>
            <a:grpSpLocks/>
          </p:cNvGrpSpPr>
          <p:nvPr/>
        </p:nvGrpSpPr>
        <p:grpSpPr bwMode="auto">
          <a:xfrm>
            <a:off x="5867400" y="3505200"/>
            <a:ext cx="1905000" cy="1825625"/>
            <a:chOff x="4128" y="2880"/>
            <a:chExt cx="1200" cy="1150"/>
          </a:xfrm>
        </p:grpSpPr>
        <p:grpSp>
          <p:nvGrpSpPr>
            <p:cNvPr id="181292" name="Group 75"/>
            <p:cNvGrpSpPr>
              <a:grpSpLocks/>
            </p:cNvGrpSpPr>
            <p:nvPr/>
          </p:nvGrpSpPr>
          <p:grpSpPr bwMode="auto">
            <a:xfrm>
              <a:off x="4128" y="2880"/>
              <a:ext cx="1200" cy="912"/>
              <a:chOff x="2544" y="2496"/>
              <a:chExt cx="1200" cy="912"/>
            </a:xfrm>
          </p:grpSpPr>
          <p:sp>
            <p:nvSpPr>
              <p:cNvPr id="181294" name="Freeform 60"/>
              <p:cNvSpPr>
                <a:spLocks/>
              </p:cNvSpPr>
              <p:nvPr/>
            </p:nvSpPr>
            <p:spPr bwMode="auto">
              <a:xfrm>
                <a:off x="2866" y="2575"/>
                <a:ext cx="302" cy="161"/>
              </a:xfrm>
              <a:custGeom>
                <a:avLst/>
                <a:gdLst>
                  <a:gd name="T0" fmla="*/ 302 w 302"/>
                  <a:gd name="T1" fmla="*/ 161 h 161"/>
                  <a:gd name="T2" fmla="*/ 0 w 302"/>
                  <a:gd name="T3" fmla="*/ 0 h 161"/>
                  <a:gd name="T4" fmla="*/ 0 60000 65536"/>
                  <a:gd name="T5" fmla="*/ 0 60000 65536"/>
                </a:gdLst>
                <a:ahLst/>
                <a:cxnLst>
                  <a:cxn ang="T4">
                    <a:pos x="T0" y="T1"/>
                  </a:cxn>
                  <a:cxn ang="T5">
                    <a:pos x="T2" y="T3"/>
                  </a:cxn>
                </a:cxnLst>
                <a:rect l="0" t="0" r="r" b="b"/>
                <a:pathLst>
                  <a:path w="302" h="161">
                    <a:moveTo>
                      <a:pt x="302" y="161"/>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95" name="Line 58"/>
              <p:cNvSpPr>
                <a:spLocks noChangeShapeType="1"/>
              </p:cNvSpPr>
              <p:nvPr/>
            </p:nvSpPr>
            <p:spPr bwMode="auto">
              <a:xfrm>
                <a:off x="2832" y="2544"/>
                <a:ext cx="57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96" name="Freeform 63"/>
              <p:cNvSpPr>
                <a:spLocks/>
              </p:cNvSpPr>
              <p:nvPr/>
            </p:nvSpPr>
            <p:spPr bwMode="auto">
              <a:xfrm>
                <a:off x="3205" y="2544"/>
                <a:ext cx="251" cy="160"/>
              </a:xfrm>
              <a:custGeom>
                <a:avLst/>
                <a:gdLst>
                  <a:gd name="T0" fmla="*/ 251 w 251"/>
                  <a:gd name="T1" fmla="*/ 0 h 160"/>
                  <a:gd name="T2" fmla="*/ 0 w 251"/>
                  <a:gd name="T3" fmla="*/ 160 h 160"/>
                  <a:gd name="T4" fmla="*/ 0 60000 65536"/>
                  <a:gd name="T5" fmla="*/ 0 60000 65536"/>
                </a:gdLst>
                <a:ahLst/>
                <a:cxnLst>
                  <a:cxn ang="T4">
                    <a:pos x="T0" y="T1"/>
                  </a:cxn>
                  <a:cxn ang="T5">
                    <a:pos x="T2" y="T3"/>
                  </a:cxn>
                </a:cxnLst>
                <a:rect l="0" t="0" r="r" b="b"/>
                <a:pathLst>
                  <a:path w="251" h="160">
                    <a:moveTo>
                      <a:pt x="251" y="0"/>
                    </a:moveTo>
                    <a:lnTo>
                      <a:pt x="0" y="16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97" name="Freeform 64"/>
              <p:cNvSpPr>
                <a:spLocks/>
              </p:cNvSpPr>
              <p:nvPr/>
            </p:nvSpPr>
            <p:spPr bwMode="auto">
              <a:xfrm>
                <a:off x="3198" y="2765"/>
                <a:ext cx="210" cy="259"/>
              </a:xfrm>
              <a:custGeom>
                <a:avLst/>
                <a:gdLst>
                  <a:gd name="T0" fmla="*/ 210 w 210"/>
                  <a:gd name="T1" fmla="*/ 259 h 259"/>
                  <a:gd name="T2" fmla="*/ 0 w 210"/>
                  <a:gd name="T3" fmla="*/ 0 h 259"/>
                  <a:gd name="T4" fmla="*/ 0 60000 65536"/>
                  <a:gd name="T5" fmla="*/ 0 60000 65536"/>
                </a:gdLst>
                <a:ahLst/>
                <a:cxnLst>
                  <a:cxn ang="T4">
                    <a:pos x="T0" y="T1"/>
                  </a:cxn>
                  <a:cxn ang="T5">
                    <a:pos x="T2" y="T3"/>
                  </a:cxn>
                </a:cxnLst>
                <a:rect l="0" t="0" r="r" b="b"/>
                <a:pathLst>
                  <a:path w="210" h="259">
                    <a:moveTo>
                      <a:pt x="210" y="259"/>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98" name="Freeform 65"/>
              <p:cNvSpPr>
                <a:spLocks/>
              </p:cNvSpPr>
              <p:nvPr/>
            </p:nvSpPr>
            <p:spPr bwMode="auto">
              <a:xfrm>
                <a:off x="3408" y="2819"/>
                <a:ext cx="265" cy="205"/>
              </a:xfrm>
              <a:custGeom>
                <a:avLst/>
                <a:gdLst>
                  <a:gd name="T0" fmla="*/ 0 w 265"/>
                  <a:gd name="T1" fmla="*/ 205 h 205"/>
                  <a:gd name="T2" fmla="*/ 265 w 265"/>
                  <a:gd name="T3" fmla="*/ 0 h 205"/>
                  <a:gd name="T4" fmla="*/ 0 60000 65536"/>
                  <a:gd name="T5" fmla="*/ 0 60000 65536"/>
                </a:gdLst>
                <a:ahLst/>
                <a:cxnLst>
                  <a:cxn ang="T4">
                    <a:pos x="T0" y="T1"/>
                  </a:cxn>
                  <a:cxn ang="T5">
                    <a:pos x="T2" y="T3"/>
                  </a:cxn>
                </a:cxnLst>
                <a:rect l="0" t="0" r="r" b="b"/>
                <a:pathLst>
                  <a:path w="265" h="205">
                    <a:moveTo>
                      <a:pt x="0" y="205"/>
                    </a:moveTo>
                    <a:lnTo>
                      <a:pt x="265"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99" name="Line 66"/>
              <p:cNvSpPr>
                <a:spLocks noChangeShapeType="1"/>
              </p:cNvSpPr>
              <p:nvPr/>
            </p:nvSpPr>
            <p:spPr bwMode="auto">
              <a:xfrm flipH="1" flipV="1">
                <a:off x="3504" y="2544"/>
                <a:ext cx="192" cy="2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300" name="Freeform 67"/>
              <p:cNvSpPr>
                <a:spLocks/>
              </p:cNvSpPr>
              <p:nvPr/>
            </p:nvSpPr>
            <p:spPr bwMode="auto">
              <a:xfrm>
                <a:off x="2928" y="2772"/>
                <a:ext cx="210" cy="252"/>
              </a:xfrm>
              <a:custGeom>
                <a:avLst/>
                <a:gdLst>
                  <a:gd name="T0" fmla="*/ 0 w 210"/>
                  <a:gd name="T1" fmla="*/ 252 h 252"/>
                  <a:gd name="T2" fmla="*/ 210 w 210"/>
                  <a:gd name="T3" fmla="*/ 0 h 252"/>
                  <a:gd name="T4" fmla="*/ 0 60000 65536"/>
                  <a:gd name="T5" fmla="*/ 0 60000 65536"/>
                </a:gdLst>
                <a:ahLst/>
                <a:cxnLst>
                  <a:cxn ang="T4">
                    <a:pos x="T0" y="T1"/>
                  </a:cxn>
                  <a:cxn ang="T5">
                    <a:pos x="T2" y="T3"/>
                  </a:cxn>
                </a:cxnLst>
                <a:rect l="0" t="0" r="r" b="b"/>
                <a:pathLst>
                  <a:path w="210" h="252">
                    <a:moveTo>
                      <a:pt x="0" y="252"/>
                    </a:moveTo>
                    <a:lnTo>
                      <a:pt x="21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301" name="Freeform 68"/>
              <p:cNvSpPr>
                <a:spLocks/>
              </p:cNvSpPr>
              <p:nvPr/>
            </p:nvSpPr>
            <p:spPr bwMode="auto">
              <a:xfrm>
                <a:off x="2636" y="2846"/>
                <a:ext cx="292" cy="178"/>
              </a:xfrm>
              <a:custGeom>
                <a:avLst/>
                <a:gdLst>
                  <a:gd name="T0" fmla="*/ 292 w 292"/>
                  <a:gd name="T1" fmla="*/ 178 h 178"/>
                  <a:gd name="T2" fmla="*/ 0 w 292"/>
                  <a:gd name="T3" fmla="*/ 0 h 178"/>
                  <a:gd name="T4" fmla="*/ 0 60000 65536"/>
                  <a:gd name="T5" fmla="*/ 0 60000 65536"/>
                </a:gdLst>
                <a:ahLst/>
                <a:cxnLst>
                  <a:cxn ang="T4">
                    <a:pos x="T0" y="T1"/>
                  </a:cxn>
                  <a:cxn ang="T5">
                    <a:pos x="T2" y="T3"/>
                  </a:cxn>
                </a:cxnLst>
                <a:rect l="0" t="0" r="r" b="b"/>
                <a:pathLst>
                  <a:path w="292" h="178">
                    <a:moveTo>
                      <a:pt x="292" y="178"/>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302" name="Line 69"/>
              <p:cNvSpPr>
                <a:spLocks noChangeShapeType="1"/>
              </p:cNvSpPr>
              <p:nvPr/>
            </p:nvSpPr>
            <p:spPr bwMode="auto">
              <a:xfrm>
                <a:off x="2592" y="2832"/>
                <a:ext cx="288" cy="52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303" name="Line 70"/>
              <p:cNvSpPr>
                <a:spLocks noChangeShapeType="1"/>
              </p:cNvSpPr>
              <p:nvPr/>
            </p:nvSpPr>
            <p:spPr bwMode="auto">
              <a:xfrm flipV="1">
                <a:off x="2928" y="3072"/>
                <a:ext cx="0"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304" name="Line 71"/>
              <p:cNvSpPr>
                <a:spLocks noChangeShapeType="1"/>
              </p:cNvSpPr>
              <p:nvPr/>
            </p:nvSpPr>
            <p:spPr bwMode="auto">
              <a:xfrm>
                <a:off x="2928" y="3360"/>
                <a:ext cx="432"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305" name="Line 72"/>
              <p:cNvSpPr>
                <a:spLocks noChangeShapeType="1"/>
              </p:cNvSpPr>
              <p:nvPr/>
            </p:nvSpPr>
            <p:spPr bwMode="auto">
              <a:xfrm>
                <a:off x="2928" y="3024"/>
                <a:ext cx="432"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306" name="Line 73"/>
              <p:cNvSpPr>
                <a:spLocks noChangeShapeType="1"/>
              </p:cNvSpPr>
              <p:nvPr/>
            </p:nvSpPr>
            <p:spPr bwMode="auto">
              <a:xfrm>
                <a:off x="3408" y="3024"/>
                <a:ext cx="0"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307" name="Freeform 74"/>
              <p:cNvSpPr>
                <a:spLocks/>
              </p:cNvSpPr>
              <p:nvPr/>
            </p:nvSpPr>
            <p:spPr bwMode="auto">
              <a:xfrm>
                <a:off x="3449" y="2832"/>
                <a:ext cx="247" cy="509"/>
              </a:xfrm>
              <a:custGeom>
                <a:avLst/>
                <a:gdLst>
                  <a:gd name="T0" fmla="*/ 247 w 247"/>
                  <a:gd name="T1" fmla="*/ 0 h 509"/>
                  <a:gd name="T2" fmla="*/ 0 w 247"/>
                  <a:gd name="T3" fmla="*/ 509 h 509"/>
                  <a:gd name="T4" fmla="*/ 0 60000 65536"/>
                  <a:gd name="T5" fmla="*/ 0 60000 65536"/>
                </a:gdLst>
                <a:ahLst/>
                <a:cxnLst>
                  <a:cxn ang="T4">
                    <a:pos x="T0" y="T1"/>
                  </a:cxn>
                  <a:cxn ang="T5">
                    <a:pos x="T2" y="T3"/>
                  </a:cxn>
                </a:cxnLst>
                <a:rect l="0" t="0" r="r" b="b"/>
                <a:pathLst>
                  <a:path w="247" h="509">
                    <a:moveTo>
                      <a:pt x="247" y="0"/>
                    </a:moveTo>
                    <a:lnTo>
                      <a:pt x="0" y="509"/>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308" name="Freeform 59"/>
              <p:cNvSpPr>
                <a:spLocks/>
              </p:cNvSpPr>
              <p:nvPr/>
            </p:nvSpPr>
            <p:spPr bwMode="auto">
              <a:xfrm>
                <a:off x="2616" y="2544"/>
                <a:ext cx="216" cy="248"/>
              </a:xfrm>
              <a:custGeom>
                <a:avLst/>
                <a:gdLst>
                  <a:gd name="T0" fmla="*/ 216 w 216"/>
                  <a:gd name="T1" fmla="*/ 0 h 248"/>
                  <a:gd name="T2" fmla="*/ 0 w 216"/>
                  <a:gd name="T3" fmla="*/ 248 h 248"/>
                  <a:gd name="T4" fmla="*/ 0 60000 65536"/>
                  <a:gd name="T5" fmla="*/ 0 60000 65536"/>
                </a:gdLst>
                <a:ahLst/>
                <a:cxnLst>
                  <a:cxn ang="T4">
                    <a:pos x="T0" y="T1"/>
                  </a:cxn>
                  <a:cxn ang="T5">
                    <a:pos x="T2" y="T3"/>
                  </a:cxn>
                </a:cxnLst>
                <a:rect l="0" t="0" r="r" b="b"/>
                <a:pathLst>
                  <a:path w="216" h="248">
                    <a:moveTo>
                      <a:pt x="216" y="0"/>
                    </a:moveTo>
                    <a:lnTo>
                      <a:pt x="0" y="248"/>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309" name="Oval 57"/>
              <p:cNvSpPr>
                <a:spLocks noChangeArrowheads="1"/>
              </p:cNvSpPr>
              <p:nvPr/>
            </p:nvSpPr>
            <p:spPr bwMode="auto">
              <a:xfrm>
                <a:off x="2544" y="2784"/>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1310" name="Oval 53"/>
              <p:cNvSpPr>
                <a:spLocks noChangeArrowheads="1"/>
              </p:cNvSpPr>
              <p:nvPr/>
            </p:nvSpPr>
            <p:spPr bwMode="auto">
              <a:xfrm>
                <a:off x="2880" y="2976"/>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1311" name="Oval 56"/>
              <p:cNvSpPr>
                <a:spLocks noChangeArrowheads="1"/>
              </p:cNvSpPr>
              <p:nvPr/>
            </p:nvSpPr>
            <p:spPr bwMode="auto">
              <a:xfrm>
                <a:off x="2880" y="3312"/>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1312" name="Oval 55"/>
              <p:cNvSpPr>
                <a:spLocks noChangeArrowheads="1"/>
              </p:cNvSpPr>
              <p:nvPr/>
            </p:nvSpPr>
            <p:spPr bwMode="auto">
              <a:xfrm>
                <a:off x="3360" y="3312"/>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1313" name="Oval 52"/>
              <p:cNvSpPr>
                <a:spLocks noChangeArrowheads="1"/>
              </p:cNvSpPr>
              <p:nvPr/>
            </p:nvSpPr>
            <p:spPr bwMode="auto">
              <a:xfrm>
                <a:off x="3360" y="2976"/>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1314" name="Oval 54"/>
              <p:cNvSpPr>
                <a:spLocks noChangeArrowheads="1"/>
              </p:cNvSpPr>
              <p:nvPr/>
            </p:nvSpPr>
            <p:spPr bwMode="auto">
              <a:xfrm>
                <a:off x="3648" y="2736"/>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1315" name="Oval 51"/>
              <p:cNvSpPr>
                <a:spLocks noChangeArrowheads="1"/>
              </p:cNvSpPr>
              <p:nvPr/>
            </p:nvSpPr>
            <p:spPr bwMode="auto">
              <a:xfrm>
                <a:off x="3408" y="2496"/>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1316" name="Oval 50"/>
              <p:cNvSpPr>
                <a:spLocks noChangeArrowheads="1"/>
              </p:cNvSpPr>
              <p:nvPr/>
            </p:nvSpPr>
            <p:spPr bwMode="auto">
              <a:xfrm>
                <a:off x="3120" y="268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1317" name="Oval 20"/>
              <p:cNvSpPr>
                <a:spLocks noChangeArrowheads="1"/>
              </p:cNvSpPr>
              <p:nvPr/>
            </p:nvSpPr>
            <p:spPr bwMode="auto">
              <a:xfrm>
                <a:off x="2784" y="2496"/>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grpSp>
        <p:sp>
          <p:nvSpPr>
            <p:cNvPr id="181293" name="Rectangle 76"/>
            <p:cNvSpPr>
              <a:spLocks noChangeArrowheads="1"/>
            </p:cNvSpPr>
            <p:nvPr/>
          </p:nvSpPr>
          <p:spPr bwMode="auto">
            <a:xfrm>
              <a:off x="4576" y="3840"/>
              <a:ext cx="469"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Fig (b)</a:t>
              </a:r>
            </a:p>
          </p:txBody>
        </p:sp>
      </p:grpSp>
      <p:grpSp>
        <p:nvGrpSpPr>
          <p:cNvPr id="181252" name="Group 141"/>
          <p:cNvGrpSpPr>
            <a:grpSpLocks/>
          </p:cNvGrpSpPr>
          <p:nvPr/>
        </p:nvGrpSpPr>
        <p:grpSpPr bwMode="auto">
          <a:xfrm>
            <a:off x="1447800" y="3124200"/>
            <a:ext cx="3638550" cy="3152775"/>
            <a:chOff x="624" y="2092"/>
            <a:chExt cx="2292" cy="1986"/>
          </a:xfrm>
        </p:grpSpPr>
        <p:sp>
          <p:nvSpPr>
            <p:cNvPr id="181253" name="Line 140"/>
            <p:cNvSpPr>
              <a:spLocks noChangeShapeType="1"/>
            </p:cNvSpPr>
            <p:nvPr/>
          </p:nvSpPr>
          <p:spPr bwMode="auto">
            <a:xfrm>
              <a:off x="816" y="2256"/>
              <a:ext cx="768" cy="43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graphicFrame>
          <p:nvGraphicFramePr>
            <p:cNvPr id="181254" name="Object 2"/>
            <p:cNvGraphicFramePr>
              <a:graphicFrameLocks noChangeAspect="1"/>
            </p:cNvGraphicFramePr>
            <p:nvPr/>
          </p:nvGraphicFramePr>
          <p:xfrm>
            <a:off x="2844" y="2092"/>
            <a:ext cx="72" cy="136"/>
          </p:xfrm>
          <a:graphic>
            <a:graphicData uri="http://schemas.openxmlformats.org/presentationml/2006/ole">
              <mc:AlternateContent xmlns:mc="http://schemas.openxmlformats.org/markup-compatibility/2006">
                <mc:Choice xmlns:v="urn:schemas-microsoft-com:vml" Requires="v">
                  <p:oleObj spid="_x0000_s181651"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 y="2092"/>
                          <a:ext cx="72"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1255" name="Object 3"/>
            <p:cNvGraphicFramePr>
              <a:graphicFrameLocks noChangeAspect="1"/>
            </p:cNvGraphicFramePr>
            <p:nvPr/>
          </p:nvGraphicFramePr>
          <p:xfrm>
            <a:off x="2844" y="2092"/>
            <a:ext cx="72" cy="136"/>
          </p:xfrm>
          <a:graphic>
            <a:graphicData uri="http://schemas.openxmlformats.org/presentationml/2006/ole">
              <mc:AlternateContent xmlns:mc="http://schemas.openxmlformats.org/markup-compatibility/2006">
                <mc:Choice xmlns:v="urn:schemas-microsoft-com:vml" Requires="v">
                  <p:oleObj spid="_x0000_s181652"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 y="2092"/>
                          <a:ext cx="72"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1256" name="Object 4"/>
            <p:cNvGraphicFramePr>
              <a:graphicFrameLocks noChangeAspect="1"/>
            </p:cNvGraphicFramePr>
            <p:nvPr/>
          </p:nvGraphicFramePr>
          <p:xfrm>
            <a:off x="2844" y="2092"/>
            <a:ext cx="72" cy="136"/>
          </p:xfrm>
          <a:graphic>
            <a:graphicData uri="http://schemas.openxmlformats.org/presentationml/2006/ole">
              <mc:AlternateContent xmlns:mc="http://schemas.openxmlformats.org/markup-compatibility/2006">
                <mc:Choice xmlns:v="urn:schemas-microsoft-com:vml" Requires="v">
                  <p:oleObj spid="_x0000_s181653"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 y="2092"/>
                          <a:ext cx="72"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1257" name="Rectangle 104"/>
            <p:cNvSpPr>
              <a:spLocks noChangeArrowheads="1"/>
            </p:cNvSpPr>
            <p:nvPr/>
          </p:nvSpPr>
          <p:spPr bwMode="auto">
            <a:xfrm>
              <a:off x="1360" y="3888"/>
              <a:ext cx="462"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Fig (a)</a:t>
              </a:r>
            </a:p>
          </p:txBody>
        </p:sp>
        <p:sp>
          <p:nvSpPr>
            <p:cNvPr id="181258" name="Oval 119"/>
            <p:cNvSpPr>
              <a:spLocks noChangeArrowheads="1"/>
            </p:cNvSpPr>
            <p:nvPr/>
          </p:nvSpPr>
          <p:spPr bwMode="auto">
            <a:xfrm>
              <a:off x="2117" y="3504"/>
              <a:ext cx="209"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z</a:t>
              </a:r>
            </a:p>
          </p:txBody>
        </p:sp>
        <p:sp>
          <p:nvSpPr>
            <p:cNvPr id="181259" name="Line 120"/>
            <p:cNvSpPr>
              <a:spLocks noChangeShapeType="1"/>
            </p:cNvSpPr>
            <p:nvPr/>
          </p:nvSpPr>
          <p:spPr bwMode="auto">
            <a:xfrm>
              <a:off x="1440" y="2256"/>
              <a:ext cx="432"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60" name="Line 121"/>
            <p:cNvSpPr>
              <a:spLocks noChangeShapeType="1"/>
            </p:cNvSpPr>
            <p:nvPr/>
          </p:nvSpPr>
          <p:spPr bwMode="auto">
            <a:xfrm flipH="1">
              <a:off x="2112" y="2256"/>
              <a:ext cx="432"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61" name="Line 122"/>
            <p:cNvSpPr>
              <a:spLocks noChangeShapeType="1"/>
            </p:cNvSpPr>
            <p:nvPr/>
          </p:nvSpPr>
          <p:spPr bwMode="auto">
            <a:xfrm flipH="1">
              <a:off x="2304" y="2256"/>
              <a:ext cx="240" cy="3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62" name="Line 123"/>
            <p:cNvSpPr>
              <a:spLocks noChangeShapeType="1"/>
            </p:cNvSpPr>
            <p:nvPr/>
          </p:nvSpPr>
          <p:spPr bwMode="auto">
            <a:xfrm>
              <a:off x="1968" y="2304"/>
              <a:ext cx="240" cy="33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63" name="Line 124"/>
            <p:cNvSpPr>
              <a:spLocks noChangeShapeType="1"/>
            </p:cNvSpPr>
            <p:nvPr/>
          </p:nvSpPr>
          <p:spPr bwMode="auto">
            <a:xfrm flipH="1">
              <a:off x="1776" y="2784"/>
              <a:ext cx="48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64" name="Line 125"/>
            <p:cNvSpPr>
              <a:spLocks noChangeShapeType="1"/>
            </p:cNvSpPr>
            <p:nvPr/>
          </p:nvSpPr>
          <p:spPr bwMode="auto">
            <a:xfrm flipH="1">
              <a:off x="1728" y="2304"/>
              <a:ext cx="240" cy="33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65" name="Line 126"/>
            <p:cNvSpPr>
              <a:spLocks noChangeShapeType="1"/>
            </p:cNvSpPr>
            <p:nvPr/>
          </p:nvSpPr>
          <p:spPr bwMode="auto">
            <a:xfrm>
              <a:off x="1392" y="2256"/>
              <a:ext cx="0" cy="81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66" name="Line 127"/>
            <p:cNvSpPr>
              <a:spLocks noChangeShapeType="1"/>
            </p:cNvSpPr>
            <p:nvPr/>
          </p:nvSpPr>
          <p:spPr bwMode="auto">
            <a:xfrm>
              <a:off x="1968" y="2304"/>
              <a:ext cx="0" cy="76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67" name="Line 128"/>
            <p:cNvSpPr>
              <a:spLocks noChangeShapeType="1"/>
            </p:cNvSpPr>
            <p:nvPr/>
          </p:nvSpPr>
          <p:spPr bwMode="auto">
            <a:xfrm>
              <a:off x="816" y="2304"/>
              <a:ext cx="240" cy="33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68" name="Line 129"/>
            <p:cNvSpPr>
              <a:spLocks noChangeShapeType="1"/>
            </p:cNvSpPr>
            <p:nvPr/>
          </p:nvSpPr>
          <p:spPr bwMode="auto">
            <a:xfrm flipH="1">
              <a:off x="1152" y="2256"/>
              <a:ext cx="240" cy="3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69" name="Line 130"/>
            <p:cNvSpPr>
              <a:spLocks noChangeShapeType="1"/>
            </p:cNvSpPr>
            <p:nvPr/>
          </p:nvSpPr>
          <p:spPr bwMode="auto">
            <a:xfrm flipH="1">
              <a:off x="816" y="2784"/>
              <a:ext cx="288"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70" name="Line 131"/>
            <p:cNvSpPr>
              <a:spLocks noChangeShapeType="1"/>
            </p:cNvSpPr>
            <p:nvPr/>
          </p:nvSpPr>
          <p:spPr bwMode="auto">
            <a:xfrm flipH="1">
              <a:off x="864" y="3168"/>
              <a:ext cx="52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71" name="Line 132"/>
            <p:cNvSpPr>
              <a:spLocks noChangeShapeType="1"/>
            </p:cNvSpPr>
            <p:nvPr/>
          </p:nvSpPr>
          <p:spPr bwMode="auto">
            <a:xfrm>
              <a:off x="1968" y="3168"/>
              <a:ext cx="48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72" name="Line 133"/>
            <p:cNvSpPr>
              <a:spLocks noChangeShapeType="1"/>
            </p:cNvSpPr>
            <p:nvPr/>
          </p:nvSpPr>
          <p:spPr bwMode="auto">
            <a:xfrm flipH="1">
              <a:off x="2208" y="2304"/>
              <a:ext cx="336" cy="1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73" name="Line 134"/>
            <p:cNvSpPr>
              <a:spLocks noChangeShapeType="1"/>
            </p:cNvSpPr>
            <p:nvPr/>
          </p:nvSpPr>
          <p:spPr bwMode="auto">
            <a:xfrm flipH="1">
              <a:off x="2304" y="3216"/>
              <a:ext cx="288"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74" name="Line 135"/>
            <p:cNvSpPr>
              <a:spLocks noChangeShapeType="1"/>
            </p:cNvSpPr>
            <p:nvPr/>
          </p:nvSpPr>
          <p:spPr bwMode="auto">
            <a:xfrm flipV="1">
              <a:off x="1632" y="3264"/>
              <a:ext cx="288" cy="33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75" name="Line 136"/>
            <p:cNvSpPr>
              <a:spLocks noChangeShapeType="1"/>
            </p:cNvSpPr>
            <p:nvPr/>
          </p:nvSpPr>
          <p:spPr bwMode="auto">
            <a:xfrm flipH="1">
              <a:off x="1152" y="3168"/>
              <a:ext cx="816" cy="3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76" name="Line 137"/>
            <p:cNvSpPr>
              <a:spLocks noChangeShapeType="1"/>
            </p:cNvSpPr>
            <p:nvPr/>
          </p:nvSpPr>
          <p:spPr bwMode="auto">
            <a:xfrm>
              <a:off x="768" y="2304"/>
              <a:ext cx="288" cy="1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77" name="Line 138"/>
            <p:cNvSpPr>
              <a:spLocks noChangeShapeType="1"/>
            </p:cNvSpPr>
            <p:nvPr/>
          </p:nvSpPr>
          <p:spPr bwMode="auto">
            <a:xfrm flipH="1">
              <a:off x="1488" y="2736"/>
              <a:ext cx="192" cy="33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78" name="Line 139"/>
            <p:cNvSpPr>
              <a:spLocks noChangeShapeType="1"/>
            </p:cNvSpPr>
            <p:nvPr/>
          </p:nvSpPr>
          <p:spPr bwMode="auto">
            <a:xfrm>
              <a:off x="1680" y="2736"/>
              <a:ext cx="0" cy="76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1279" name="Oval 103"/>
            <p:cNvSpPr>
              <a:spLocks noChangeArrowheads="1"/>
            </p:cNvSpPr>
            <p:nvPr/>
          </p:nvSpPr>
          <p:spPr bwMode="auto">
            <a:xfrm>
              <a:off x="642" y="2160"/>
              <a:ext cx="281"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dirty="0"/>
                <a:t>m</a:t>
              </a:r>
            </a:p>
          </p:txBody>
        </p:sp>
        <p:sp>
          <p:nvSpPr>
            <p:cNvPr id="181280" name="Oval 105"/>
            <p:cNvSpPr>
              <a:spLocks noChangeArrowheads="1"/>
            </p:cNvSpPr>
            <p:nvPr/>
          </p:nvSpPr>
          <p:spPr bwMode="auto">
            <a:xfrm>
              <a:off x="1292" y="2160"/>
              <a:ext cx="229"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n</a:t>
              </a:r>
            </a:p>
          </p:txBody>
        </p:sp>
        <p:sp>
          <p:nvSpPr>
            <p:cNvPr id="181281" name="Oval 106"/>
            <p:cNvSpPr>
              <a:spLocks noChangeArrowheads="1"/>
            </p:cNvSpPr>
            <p:nvPr/>
          </p:nvSpPr>
          <p:spPr bwMode="auto">
            <a:xfrm>
              <a:off x="1872" y="2160"/>
              <a:ext cx="220"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o</a:t>
              </a:r>
            </a:p>
          </p:txBody>
        </p:sp>
        <p:sp>
          <p:nvSpPr>
            <p:cNvPr id="181282" name="Oval 107"/>
            <p:cNvSpPr>
              <a:spLocks noChangeArrowheads="1"/>
            </p:cNvSpPr>
            <p:nvPr/>
          </p:nvSpPr>
          <p:spPr bwMode="auto">
            <a:xfrm>
              <a:off x="2444" y="2160"/>
              <a:ext cx="229"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p</a:t>
              </a:r>
            </a:p>
          </p:txBody>
        </p:sp>
        <p:sp>
          <p:nvSpPr>
            <p:cNvPr id="181283" name="Oval 110"/>
            <p:cNvSpPr>
              <a:spLocks noChangeArrowheads="1"/>
            </p:cNvSpPr>
            <p:nvPr/>
          </p:nvSpPr>
          <p:spPr bwMode="auto">
            <a:xfrm>
              <a:off x="2170" y="2640"/>
              <a:ext cx="200"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s</a:t>
              </a:r>
            </a:p>
          </p:txBody>
        </p:sp>
        <p:sp>
          <p:nvSpPr>
            <p:cNvPr id="181284" name="Oval 108"/>
            <p:cNvSpPr>
              <a:spLocks noChangeArrowheads="1"/>
            </p:cNvSpPr>
            <p:nvPr/>
          </p:nvSpPr>
          <p:spPr bwMode="auto">
            <a:xfrm>
              <a:off x="1589" y="2640"/>
              <a:ext cx="209"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r</a:t>
              </a:r>
            </a:p>
          </p:txBody>
        </p:sp>
        <p:sp>
          <p:nvSpPr>
            <p:cNvPr id="181285" name="Oval 109"/>
            <p:cNvSpPr>
              <a:spLocks noChangeArrowheads="1"/>
            </p:cNvSpPr>
            <p:nvPr/>
          </p:nvSpPr>
          <p:spPr bwMode="auto">
            <a:xfrm>
              <a:off x="1004" y="2640"/>
              <a:ext cx="229"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q</a:t>
              </a:r>
            </a:p>
          </p:txBody>
        </p:sp>
        <p:sp>
          <p:nvSpPr>
            <p:cNvPr id="181286" name="Oval 111"/>
            <p:cNvSpPr>
              <a:spLocks noChangeArrowheads="1"/>
            </p:cNvSpPr>
            <p:nvPr/>
          </p:nvSpPr>
          <p:spPr bwMode="auto">
            <a:xfrm>
              <a:off x="624" y="3072"/>
              <a:ext cx="252"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lnSpc>
                  <a:spcPct val="70000"/>
                </a:lnSpc>
                <a:spcBef>
                  <a:spcPct val="50000"/>
                </a:spcBef>
                <a:buFont typeface="Wingdings" pitchFamily="2" charset="2"/>
                <a:buNone/>
              </a:pPr>
              <a:r>
                <a:rPr lang="en-US" b="1"/>
                <a:t>t</a:t>
              </a:r>
            </a:p>
          </p:txBody>
        </p:sp>
        <p:sp>
          <p:nvSpPr>
            <p:cNvPr id="181287" name="Oval 118"/>
            <p:cNvSpPr>
              <a:spLocks noChangeArrowheads="1"/>
            </p:cNvSpPr>
            <p:nvPr/>
          </p:nvSpPr>
          <p:spPr bwMode="auto">
            <a:xfrm>
              <a:off x="960" y="3504"/>
              <a:ext cx="220"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x</a:t>
              </a:r>
            </a:p>
          </p:txBody>
        </p:sp>
        <p:sp>
          <p:nvSpPr>
            <p:cNvPr id="181288" name="Oval 112"/>
            <p:cNvSpPr>
              <a:spLocks noChangeArrowheads="1"/>
            </p:cNvSpPr>
            <p:nvPr/>
          </p:nvSpPr>
          <p:spPr bwMode="auto">
            <a:xfrm>
              <a:off x="1292" y="3072"/>
              <a:ext cx="229"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u</a:t>
              </a:r>
            </a:p>
          </p:txBody>
        </p:sp>
        <p:sp>
          <p:nvSpPr>
            <p:cNvPr id="181289" name="Oval 114"/>
            <p:cNvSpPr>
              <a:spLocks noChangeArrowheads="1"/>
            </p:cNvSpPr>
            <p:nvPr/>
          </p:nvSpPr>
          <p:spPr bwMode="auto">
            <a:xfrm>
              <a:off x="1872" y="3072"/>
              <a:ext cx="220"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v</a:t>
              </a:r>
            </a:p>
          </p:txBody>
        </p:sp>
        <p:sp>
          <p:nvSpPr>
            <p:cNvPr id="181290" name="Oval 113"/>
            <p:cNvSpPr>
              <a:spLocks noChangeArrowheads="1"/>
            </p:cNvSpPr>
            <p:nvPr/>
          </p:nvSpPr>
          <p:spPr bwMode="auto">
            <a:xfrm>
              <a:off x="2428" y="3072"/>
              <a:ext cx="260"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w</a:t>
              </a:r>
            </a:p>
          </p:txBody>
        </p:sp>
        <p:sp>
          <p:nvSpPr>
            <p:cNvPr id="181291" name="Oval 117"/>
            <p:cNvSpPr>
              <a:spLocks noChangeArrowheads="1"/>
            </p:cNvSpPr>
            <p:nvPr/>
          </p:nvSpPr>
          <p:spPr bwMode="auto">
            <a:xfrm>
              <a:off x="1536" y="3504"/>
              <a:ext cx="220"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y</a:t>
              </a:r>
            </a:p>
          </p:txBody>
        </p:sp>
      </p:gr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177</a:t>
            </a:fld>
            <a:endParaRPr lang="en-US"/>
          </a:p>
        </p:txBody>
      </p:sp>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ChangeArrowheads="1"/>
          </p:cNvSpPr>
          <p:nvPr/>
        </p:nvSpPr>
        <p:spPr bwMode="auto">
          <a:xfrm>
            <a:off x="228600" y="381000"/>
            <a:ext cx="8915400" cy="622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85763" indent="-376238" eaLnBrk="1" hangingPunct="1">
              <a:lnSpc>
                <a:spcPct val="90000"/>
              </a:lnSpc>
              <a:spcBef>
                <a:spcPct val="20000"/>
              </a:spcBef>
              <a:buFontTx/>
              <a:buAutoNum type="arabicPeriod" startAt="18"/>
              <a:tabLst>
                <a:tab pos="385763" algn="l"/>
              </a:tabLst>
            </a:pPr>
            <a:r>
              <a:rPr lang="en-US" b="1" dirty="0"/>
              <a:t>[CLRS, Exercise 22.4-2, p. 614]</a:t>
            </a:r>
            <a:r>
              <a:rPr lang="en-US" dirty="0">
                <a:sym typeface="Symbol" pitchFamily="18" charset="2"/>
              </a:rPr>
              <a:t>  Give a linear-time algorithm that takes as input a DAG G and two vertices s and t, and returns the number of paths from s to t in G. For example, in the digraph in </a:t>
            </a:r>
            <a:r>
              <a:rPr lang="en-US" dirty="0" smtClean="0">
                <a:sym typeface="Symbol" pitchFamily="18" charset="2"/>
              </a:rPr>
              <a:t/>
            </a:r>
            <a:br>
              <a:rPr lang="en-US" dirty="0" smtClean="0">
                <a:sym typeface="Symbol" pitchFamily="18" charset="2"/>
              </a:rPr>
            </a:br>
            <a:r>
              <a:rPr lang="en-US" dirty="0" smtClean="0">
                <a:sym typeface="Symbol" pitchFamily="18" charset="2"/>
              </a:rPr>
              <a:t>Fig </a:t>
            </a:r>
            <a:r>
              <a:rPr lang="en-US" dirty="0">
                <a:sym typeface="Symbol" pitchFamily="18" charset="2"/>
              </a:rPr>
              <a:t>(a) on the previous page, there are exactly 4 paths from vertex p to vertex v: </a:t>
            </a:r>
            <a:r>
              <a:rPr lang="en-US" dirty="0" err="1">
                <a:sym typeface="Symbol" pitchFamily="18" charset="2"/>
              </a:rPr>
              <a:t>pov</a:t>
            </a:r>
            <a:r>
              <a:rPr lang="en-US" dirty="0">
                <a:sym typeface="Symbol" pitchFamily="18" charset="2"/>
              </a:rPr>
              <a:t>, </a:t>
            </a:r>
            <a:r>
              <a:rPr lang="en-US" dirty="0" err="1">
                <a:sym typeface="Symbol" pitchFamily="18" charset="2"/>
              </a:rPr>
              <a:t>poryv</a:t>
            </a:r>
            <a:r>
              <a:rPr lang="en-US" dirty="0">
                <a:sym typeface="Symbol" pitchFamily="18" charset="2"/>
              </a:rPr>
              <a:t>, </a:t>
            </a:r>
            <a:r>
              <a:rPr lang="en-US" dirty="0" err="1">
                <a:sym typeface="Symbol" pitchFamily="18" charset="2"/>
              </a:rPr>
              <a:t>posryv</a:t>
            </a:r>
            <a:r>
              <a:rPr lang="en-US" dirty="0">
                <a:sym typeface="Symbol" pitchFamily="18" charset="2"/>
              </a:rPr>
              <a:t>, </a:t>
            </a:r>
            <a:r>
              <a:rPr lang="en-US" dirty="0" err="1">
                <a:sym typeface="Symbol" pitchFamily="18" charset="2"/>
              </a:rPr>
              <a:t>psryv</a:t>
            </a:r>
            <a:r>
              <a:rPr lang="en-US" dirty="0">
                <a:sym typeface="Symbol" pitchFamily="18" charset="2"/>
              </a:rPr>
              <a:t>. (Your algorithm needs to </a:t>
            </a:r>
            <a:r>
              <a:rPr lang="en-US" dirty="0" smtClean="0">
                <a:sym typeface="Symbol" pitchFamily="18" charset="2"/>
              </a:rPr>
              <a:t>give </a:t>
            </a:r>
            <a:r>
              <a:rPr lang="en-US" dirty="0">
                <a:sym typeface="Symbol" pitchFamily="18" charset="2"/>
              </a:rPr>
              <a:t>the number of paths, not list them.)</a:t>
            </a:r>
          </a:p>
          <a:p>
            <a:pPr marL="385763" indent="-376238" eaLnBrk="1" hangingPunct="1">
              <a:lnSpc>
                <a:spcPct val="90000"/>
              </a:lnSpc>
              <a:spcBef>
                <a:spcPct val="20000"/>
              </a:spcBef>
              <a:buFontTx/>
              <a:buAutoNum type="arabicPeriod" startAt="18"/>
              <a:tabLst>
                <a:tab pos="385763" algn="l"/>
              </a:tabLst>
            </a:pPr>
            <a:endParaRPr lang="en-US" dirty="0">
              <a:sym typeface="Symbol" pitchFamily="18" charset="2"/>
            </a:endParaRPr>
          </a:p>
          <a:p>
            <a:pPr marL="385763" indent="-376238" eaLnBrk="1" hangingPunct="1">
              <a:lnSpc>
                <a:spcPct val="90000"/>
              </a:lnSpc>
              <a:spcBef>
                <a:spcPct val="20000"/>
              </a:spcBef>
              <a:buFontTx/>
              <a:buAutoNum type="arabicPeriod" startAt="18"/>
              <a:tabLst>
                <a:tab pos="385763" algn="l"/>
              </a:tabLst>
            </a:pPr>
            <a:r>
              <a:rPr lang="en-US" b="1" dirty="0"/>
              <a:t>[CLRS, Exercise 22.4-3, p. 615]</a:t>
            </a:r>
            <a:r>
              <a:rPr lang="en-US" dirty="0">
                <a:sym typeface="Symbol" pitchFamily="18" charset="2"/>
              </a:rPr>
              <a:t>  Give an algorithm that determines whether or not a given undirected graph G = (V, E) contains a cycle. Your algorithm should run in O(V) time, </a:t>
            </a:r>
            <a:r>
              <a:rPr lang="en-US" dirty="0" smtClean="0">
                <a:sym typeface="Symbol" pitchFamily="18" charset="2"/>
              </a:rPr>
              <a:t/>
            </a:r>
            <a:br>
              <a:rPr lang="en-US" dirty="0" smtClean="0">
                <a:sym typeface="Symbol" pitchFamily="18" charset="2"/>
              </a:rPr>
            </a:br>
            <a:r>
              <a:rPr lang="en-US" dirty="0" smtClean="0">
                <a:sym typeface="Symbol" pitchFamily="18" charset="2"/>
              </a:rPr>
              <a:t>independent </a:t>
            </a:r>
            <a:r>
              <a:rPr lang="en-US" dirty="0">
                <a:sym typeface="Symbol" pitchFamily="18" charset="2"/>
              </a:rPr>
              <a:t>of |E|.</a:t>
            </a:r>
          </a:p>
          <a:p>
            <a:pPr marL="385763" indent="-376238" eaLnBrk="1" hangingPunct="1">
              <a:lnSpc>
                <a:spcPct val="90000"/>
              </a:lnSpc>
              <a:spcBef>
                <a:spcPct val="20000"/>
              </a:spcBef>
              <a:buFontTx/>
              <a:buAutoNum type="arabicPeriod" startAt="18"/>
              <a:tabLst>
                <a:tab pos="385763" algn="l"/>
              </a:tabLst>
            </a:pPr>
            <a:endParaRPr lang="en-US" dirty="0">
              <a:sym typeface="Symbol" pitchFamily="18" charset="2"/>
            </a:endParaRPr>
          </a:p>
          <a:p>
            <a:pPr marL="385763" indent="-376238" eaLnBrk="1" hangingPunct="1">
              <a:lnSpc>
                <a:spcPct val="90000"/>
              </a:lnSpc>
              <a:spcBef>
                <a:spcPct val="20000"/>
              </a:spcBef>
              <a:buFontTx/>
              <a:buAutoNum type="arabicPeriod" startAt="18"/>
              <a:tabLst>
                <a:tab pos="385763" algn="l"/>
              </a:tabLst>
            </a:pPr>
            <a:r>
              <a:rPr lang="en-US" b="1" dirty="0"/>
              <a:t>[CLRS, Exercise 22.4-4, p. 615]</a:t>
            </a:r>
            <a:r>
              <a:rPr lang="en-US" dirty="0">
                <a:sym typeface="Symbol" pitchFamily="18" charset="2"/>
              </a:rPr>
              <a:t>  Prove or disprove: If a digraph G contains cycles, then </a:t>
            </a:r>
            <a:r>
              <a:rPr lang="en-US" dirty="0" err="1">
                <a:sym typeface="Symbol" pitchFamily="18" charset="2"/>
              </a:rPr>
              <a:t>TopologicalSort</a:t>
            </a:r>
            <a:r>
              <a:rPr lang="en-US" dirty="0">
                <a:sym typeface="Symbol" pitchFamily="18" charset="2"/>
              </a:rPr>
              <a:t>(G) produces a vertex ordering that minimizes the number of “bad” edges that are inconsistent with the ordering produced.</a:t>
            </a:r>
          </a:p>
          <a:p>
            <a:pPr marL="385763" indent="-376238" eaLnBrk="1" hangingPunct="1">
              <a:lnSpc>
                <a:spcPct val="90000"/>
              </a:lnSpc>
              <a:spcBef>
                <a:spcPct val="20000"/>
              </a:spcBef>
              <a:buFontTx/>
              <a:buAutoNum type="arabicPeriod" startAt="18"/>
              <a:tabLst>
                <a:tab pos="385763" algn="l"/>
              </a:tabLst>
            </a:pPr>
            <a:endParaRPr lang="en-US" dirty="0">
              <a:sym typeface="Symbol" pitchFamily="18" charset="2"/>
            </a:endParaRPr>
          </a:p>
          <a:p>
            <a:pPr marL="385763" indent="-376238" eaLnBrk="1" hangingPunct="1">
              <a:lnSpc>
                <a:spcPct val="90000"/>
              </a:lnSpc>
              <a:spcBef>
                <a:spcPct val="20000"/>
              </a:spcBef>
              <a:buFontTx/>
              <a:buAutoNum type="arabicPeriod" startAt="18"/>
              <a:tabLst>
                <a:tab pos="385763" algn="l"/>
              </a:tabLst>
            </a:pPr>
            <a:r>
              <a:rPr lang="en-US" b="1" dirty="0"/>
              <a:t>[CLRS, Exercise 22.4-5, p. 615]</a:t>
            </a:r>
            <a:r>
              <a:rPr lang="en-US" dirty="0">
                <a:sym typeface="Symbol" pitchFamily="18" charset="2"/>
              </a:rPr>
              <a:t>  Another way to perform topological sorting on a DAG G = (V, E) is to repeatedly find a vertex of in-degree 0, output it, and remove it and all its outgoing edges from the graph. Explain how to implement this idea so that it runs in time O(V+E). </a:t>
            </a:r>
            <a:br>
              <a:rPr lang="en-US" dirty="0">
                <a:sym typeface="Symbol" pitchFamily="18" charset="2"/>
              </a:rPr>
            </a:br>
            <a:r>
              <a:rPr lang="en-US" dirty="0">
                <a:sym typeface="Symbol" pitchFamily="18" charset="2"/>
              </a:rPr>
              <a:t>What happens to the algorithm if G has cycles?</a:t>
            </a:r>
          </a:p>
          <a:p>
            <a:pPr marL="385763" indent="-376238" eaLnBrk="1" hangingPunct="1">
              <a:lnSpc>
                <a:spcPct val="90000"/>
              </a:lnSpc>
              <a:spcBef>
                <a:spcPct val="20000"/>
              </a:spcBef>
              <a:buFontTx/>
              <a:buAutoNum type="arabicPeriod" startAt="18"/>
              <a:tabLst>
                <a:tab pos="385763" algn="l"/>
              </a:tabLst>
            </a:pPr>
            <a:endParaRPr lang="en-US" dirty="0">
              <a:sym typeface="Symbol" pitchFamily="18" charset="2"/>
            </a:endParaRPr>
          </a:p>
          <a:p>
            <a:pPr marL="385763" indent="-376238" eaLnBrk="1" hangingPunct="1">
              <a:lnSpc>
                <a:spcPct val="90000"/>
              </a:lnSpc>
              <a:spcBef>
                <a:spcPct val="20000"/>
              </a:spcBef>
              <a:buFontTx/>
              <a:buAutoNum type="arabicPeriod" startAt="18"/>
              <a:tabLst>
                <a:tab pos="385763" algn="l"/>
              </a:tabLst>
            </a:pPr>
            <a:r>
              <a:rPr lang="en-US" b="1" dirty="0"/>
              <a:t>[CLRS, Problem 22-3, p. 623]</a:t>
            </a:r>
            <a:r>
              <a:rPr lang="en-US" dirty="0">
                <a:sym typeface="Symbol" pitchFamily="18" charset="2"/>
              </a:rPr>
              <a:t>  An </a:t>
            </a:r>
            <a:r>
              <a:rPr lang="en-US" b="1" dirty="0">
                <a:solidFill>
                  <a:srgbClr val="CC0000"/>
                </a:solidFill>
                <a:sym typeface="Symbol" pitchFamily="18" charset="2"/>
              </a:rPr>
              <a:t>Euler tour</a:t>
            </a:r>
            <a:r>
              <a:rPr lang="en-US" dirty="0">
                <a:sym typeface="Symbol" pitchFamily="18" charset="2"/>
              </a:rPr>
              <a:t> of a connected graph G = (V, E) is a cycle that traverses each edge of G exactly once, although it may visit a vertex more than once.</a:t>
            </a:r>
            <a:br>
              <a:rPr lang="en-US" dirty="0">
                <a:sym typeface="Symbol" pitchFamily="18" charset="2"/>
              </a:rPr>
            </a:br>
            <a:r>
              <a:rPr lang="en-US" dirty="0">
                <a:sym typeface="Symbol" pitchFamily="18" charset="2"/>
              </a:rPr>
              <a:t>G is </a:t>
            </a:r>
            <a:r>
              <a:rPr lang="en-US" dirty="0" err="1">
                <a:sym typeface="Symbol" pitchFamily="18" charset="2"/>
              </a:rPr>
              <a:t>Eulerian</a:t>
            </a:r>
            <a:r>
              <a:rPr lang="en-US" dirty="0">
                <a:sym typeface="Symbol" pitchFamily="18" charset="2"/>
              </a:rPr>
              <a:t> if it has an Euler tour.</a:t>
            </a:r>
            <a:br>
              <a:rPr lang="en-US" dirty="0">
                <a:sym typeface="Symbol" pitchFamily="18" charset="2"/>
              </a:rPr>
            </a:br>
            <a:r>
              <a:rPr lang="en-US" dirty="0">
                <a:sym typeface="Symbol" pitchFamily="18" charset="2"/>
              </a:rPr>
              <a:t>(a)  Show that a connected digraph G is </a:t>
            </a:r>
            <a:r>
              <a:rPr lang="en-US" dirty="0" err="1">
                <a:sym typeface="Symbol" pitchFamily="18" charset="2"/>
              </a:rPr>
              <a:t>Eulerian</a:t>
            </a:r>
            <a:r>
              <a:rPr lang="en-US" dirty="0">
                <a:sym typeface="Symbol" pitchFamily="18" charset="2"/>
              </a:rPr>
              <a:t> if and only if in-degree(v) = out-degree(v) </a:t>
            </a:r>
            <a:r>
              <a:rPr lang="en-US" dirty="0" err="1">
                <a:sym typeface="Symbol" pitchFamily="18" charset="2"/>
              </a:rPr>
              <a:t>vV</a:t>
            </a:r>
            <a:r>
              <a:rPr lang="en-US" dirty="0">
                <a:sym typeface="Symbol" pitchFamily="18" charset="2"/>
              </a:rPr>
              <a:t>.</a:t>
            </a:r>
            <a:br>
              <a:rPr lang="en-US" dirty="0">
                <a:sym typeface="Symbol" pitchFamily="18" charset="2"/>
              </a:rPr>
            </a:br>
            <a:r>
              <a:rPr lang="en-US" dirty="0">
                <a:sym typeface="Symbol" pitchFamily="18" charset="2"/>
              </a:rPr>
              <a:t>(b)  Show that a connected undirected graph G is </a:t>
            </a:r>
            <a:r>
              <a:rPr lang="en-US" dirty="0" err="1">
                <a:sym typeface="Symbol" pitchFamily="18" charset="2"/>
              </a:rPr>
              <a:t>Eulerian</a:t>
            </a:r>
            <a:r>
              <a:rPr lang="en-US" dirty="0">
                <a:sym typeface="Symbol" pitchFamily="18" charset="2"/>
              </a:rPr>
              <a:t> if and only if degree(v) is even </a:t>
            </a:r>
            <a:r>
              <a:rPr lang="en-US" dirty="0" err="1">
                <a:sym typeface="Symbol" pitchFamily="18" charset="2"/>
              </a:rPr>
              <a:t>vV</a:t>
            </a:r>
            <a:r>
              <a:rPr lang="en-US" dirty="0">
                <a:sym typeface="Symbol" pitchFamily="18" charset="2"/>
              </a:rPr>
              <a:t>.</a:t>
            </a:r>
            <a:br>
              <a:rPr lang="en-US" dirty="0">
                <a:sym typeface="Symbol" pitchFamily="18" charset="2"/>
              </a:rPr>
            </a:br>
            <a:r>
              <a:rPr lang="en-US" dirty="0">
                <a:sym typeface="Symbol" pitchFamily="18" charset="2"/>
              </a:rPr>
              <a:t>(c)  Describe an O(E)-time algorithm to find an Euler tour of G if one exists, once assuming G is  </a:t>
            </a:r>
            <a:br>
              <a:rPr lang="en-US" dirty="0">
                <a:sym typeface="Symbol" pitchFamily="18" charset="2"/>
              </a:rPr>
            </a:br>
            <a:r>
              <a:rPr lang="en-US" dirty="0">
                <a:sym typeface="Symbol" pitchFamily="18" charset="2"/>
              </a:rPr>
              <a:t>      directed, and once assuming G is undirected.</a:t>
            </a:r>
            <a:br>
              <a:rPr lang="en-US" dirty="0">
                <a:sym typeface="Symbol" pitchFamily="18" charset="2"/>
              </a:rPr>
            </a:br>
            <a:r>
              <a:rPr lang="en-US" dirty="0">
                <a:sym typeface="Symbol" pitchFamily="18" charset="2"/>
              </a:rPr>
              <a:t>      </a:t>
            </a:r>
            <a:r>
              <a:rPr lang="en-US" dirty="0">
                <a:solidFill>
                  <a:srgbClr val="CC0000"/>
                </a:solidFill>
                <a:sym typeface="Symbol" pitchFamily="18" charset="2"/>
              </a:rPr>
              <a:t>[Hint: Merge edge-disjoint cycles.]</a:t>
            </a:r>
          </a:p>
        </p:txBody>
      </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178</a:t>
            </a:fld>
            <a:endParaRPr lang="en-US"/>
          </a:p>
        </p:txBody>
      </p:sp>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3298"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3656"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3299"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3657"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3300"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3658"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3301" name="Rectangle 5"/>
          <p:cNvSpPr>
            <a:spLocks noChangeArrowheads="1"/>
          </p:cNvSpPr>
          <p:nvPr/>
        </p:nvSpPr>
        <p:spPr bwMode="auto">
          <a:xfrm>
            <a:off x="381000" y="228600"/>
            <a:ext cx="8534400" cy="4351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85763" indent="-376238" eaLnBrk="1" hangingPunct="1">
              <a:lnSpc>
                <a:spcPct val="90000"/>
              </a:lnSpc>
              <a:spcBef>
                <a:spcPct val="20000"/>
              </a:spcBef>
              <a:buFontTx/>
              <a:buAutoNum type="arabicPeriod" startAt="23"/>
            </a:pPr>
            <a:r>
              <a:rPr lang="en-US" dirty="0"/>
              <a:t>The following algorithm is </a:t>
            </a:r>
            <a:r>
              <a:rPr lang="en-US" b="1" dirty="0">
                <a:solidFill>
                  <a:srgbClr val="CC0000"/>
                </a:solidFill>
              </a:rPr>
              <a:t>purported</a:t>
            </a:r>
            <a:r>
              <a:rPr lang="en-US" dirty="0"/>
              <a:t> to find an Euler tour in a given </a:t>
            </a:r>
            <a:r>
              <a:rPr lang="en-US" dirty="0" err="1"/>
              <a:t>Eulerian</a:t>
            </a:r>
            <a:r>
              <a:rPr lang="en-US" dirty="0"/>
              <a:t> graph G.</a:t>
            </a:r>
            <a:br>
              <a:rPr lang="en-US" dirty="0"/>
            </a:br>
            <a:r>
              <a:rPr lang="en-US" dirty="0"/>
              <a:t/>
            </a:r>
            <a:br>
              <a:rPr lang="en-US" dirty="0"/>
            </a:br>
            <a:r>
              <a:rPr lang="en-US" b="1" dirty="0"/>
              <a:t>Algorithm</a:t>
            </a:r>
            <a:r>
              <a:rPr lang="en-US" dirty="0"/>
              <a:t> </a:t>
            </a:r>
            <a:r>
              <a:rPr lang="en-US" dirty="0" err="1">
                <a:solidFill>
                  <a:schemeClr val="hlink"/>
                </a:solidFill>
              </a:rPr>
              <a:t>EulerTour</a:t>
            </a:r>
            <a:r>
              <a:rPr lang="en-US" dirty="0">
                <a:solidFill>
                  <a:schemeClr val="hlink"/>
                </a:solidFill>
              </a:rPr>
              <a:t> (G)</a:t>
            </a:r>
            <a:r>
              <a:rPr lang="en-US" dirty="0"/>
              <a:t>   </a:t>
            </a:r>
            <a:r>
              <a:rPr lang="en-US" dirty="0">
                <a:solidFill>
                  <a:srgbClr val="CC0000"/>
                </a:solidFill>
                <a:cs typeface="Times New Roman" pitchFamily="18" charset="0"/>
              </a:rPr>
              <a:t/>
            </a:r>
            <a:br>
              <a:rPr lang="en-US" dirty="0">
                <a:solidFill>
                  <a:srgbClr val="CC0000"/>
                </a:solidFill>
                <a:cs typeface="Times New Roman" pitchFamily="18" charset="0"/>
              </a:rPr>
            </a:br>
            <a:r>
              <a:rPr lang="en-US" dirty="0" smtClean="0">
                <a:solidFill>
                  <a:srgbClr val="CC0000"/>
                </a:solidFill>
                <a:cs typeface="Times New Roman" pitchFamily="18" charset="0"/>
              </a:rPr>
              <a:t>Pre-Cond:  </a:t>
            </a:r>
            <a:r>
              <a:rPr lang="en-US" dirty="0" smtClean="0">
                <a:solidFill>
                  <a:srgbClr val="CC0000"/>
                </a:solidFill>
              </a:rPr>
              <a:t>G </a:t>
            </a:r>
            <a:r>
              <a:rPr lang="en-US" dirty="0">
                <a:solidFill>
                  <a:srgbClr val="CC0000"/>
                </a:solidFill>
              </a:rPr>
              <a:t>is an </a:t>
            </a:r>
            <a:r>
              <a:rPr lang="en-US" dirty="0" err="1">
                <a:solidFill>
                  <a:srgbClr val="CC0000"/>
                </a:solidFill>
              </a:rPr>
              <a:t>Eulerian</a:t>
            </a:r>
            <a:r>
              <a:rPr lang="en-US" dirty="0">
                <a:solidFill>
                  <a:srgbClr val="CC0000"/>
                </a:solidFill>
              </a:rPr>
              <a:t> graph. </a:t>
            </a:r>
            <a:r>
              <a:rPr lang="en-US" dirty="0" smtClean="0">
                <a:solidFill>
                  <a:srgbClr val="CC0000"/>
                </a:solidFill>
              </a:rPr>
              <a:t/>
            </a:r>
            <a:br>
              <a:rPr lang="en-US" dirty="0" smtClean="0">
                <a:solidFill>
                  <a:srgbClr val="CC0000"/>
                </a:solidFill>
              </a:rPr>
            </a:br>
            <a:r>
              <a:rPr lang="en-US" dirty="0" smtClean="0">
                <a:solidFill>
                  <a:srgbClr val="CC0000"/>
                </a:solidFill>
              </a:rPr>
              <a:t>Post-Cond: Outputs </a:t>
            </a:r>
            <a:r>
              <a:rPr lang="en-US" dirty="0">
                <a:solidFill>
                  <a:srgbClr val="CC0000"/>
                </a:solidFill>
              </a:rPr>
              <a:t>a cycle in G</a:t>
            </a:r>
            <a:br>
              <a:rPr lang="en-US" dirty="0">
                <a:solidFill>
                  <a:srgbClr val="CC0000"/>
                </a:solidFill>
              </a:rPr>
            </a:br>
            <a:r>
              <a:rPr lang="en-US" dirty="0">
                <a:solidFill>
                  <a:srgbClr val="CC0000"/>
                </a:solidFill>
              </a:rPr>
              <a:t>1.</a:t>
            </a:r>
            <a:r>
              <a:rPr lang="en-US" dirty="0">
                <a:solidFill>
                  <a:schemeClr val="hlink"/>
                </a:solidFill>
              </a:rPr>
              <a:t>  Perform a DFS traversal of G and number the vertices in DFS-preorder.</a:t>
            </a:r>
            <a:br>
              <a:rPr lang="en-US" dirty="0">
                <a:solidFill>
                  <a:schemeClr val="hlink"/>
                </a:solidFill>
              </a:rPr>
            </a:br>
            <a:r>
              <a:rPr lang="en-US" dirty="0">
                <a:solidFill>
                  <a:srgbClr val="CC0000"/>
                </a:solidFill>
              </a:rPr>
              <a:t>2.</a:t>
            </a:r>
            <a:r>
              <a:rPr lang="en-US" dirty="0">
                <a:solidFill>
                  <a:schemeClr val="hlink"/>
                </a:solidFill>
              </a:rPr>
              <a:t>  Re-initialize all vertices and edges of G as unused.</a:t>
            </a:r>
            <a:br>
              <a:rPr lang="en-US" dirty="0">
                <a:solidFill>
                  <a:schemeClr val="hlink"/>
                </a:solidFill>
              </a:rPr>
            </a:br>
            <a:r>
              <a:rPr lang="en-US" dirty="0">
                <a:solidFill>
                  <a:srgbClr val="CC0000"/>
                </a:solidFill>
              </a:rPr>
              <a:t>3.</a:t>
            </a:r>
            <a:r>
              <a:rPr lang="en-US" dirty="0">
                <a:solidFill>
                  <a:schemeClr val="hlink"/>
                </a:solidFill>
              </a:rPr>
              <a:t>  Produce a cycle as follows: </a:t>
            </a:r>
            <a:br>
              <a:rPr lang="en-US" dirty="0">
                <a:solidFill>
                  <a:schemeClr val="hlink"/>
                </a:solidFill>
              </a:rPr>
            </a:br>
            <a:r>
              <a:rPr lang="en-US" dirty="0">
                <a:solidFill>
                  <a:schemeClr val="hlink"/>
                </a:solidFill>
              </a:rPr>
              <a:t>	Start from the vertex with preorder number 1 (computed in step 1), and </a:t>
            </a:r>
            <a:br>
              <a:rPr lang="en-US" dirty="0">
                <a:solidFill>
                  <a:schemeClr val="hlink"/>
                </a:solidFill>
              </a:rPr>
            </a:br>
            <a:r>
              <a:rPr lang="en-US" dirty="0">
                <a:solidFill>
                  <a:schemeClr val="hlink"/>
                </a:solidFill>
              </a:rPr>
              <a:t>	repeatedly go to the vertex with highest preorder number possible along an unused edge. </a:t>
            </a:r>
          </a:p>
          <a:p>
            <a:pPr marL="385763" indent="-376238" eaLnBrk="1" hangingPunct="1">
              <a:lnSpc>
                <a:spcPct val="90000"/>
              </a:lnSpc>
              <a:spcBef>
                <a:spcPct val="20000"/>
              </a:spcBef>
              <a:buFontTx/>
              <a:buNone/>
            </a:pPr>
            <a:r>
              <a:rPr lang="en-US" dirty="0">
                <a:solidFill>
                  <a:schemeClr val="hlink"/>
                </a:solidFill>
              </a:rPr>
              <a:t>		</a:t>
            </a:r>
            <a:r>
              <a:rPr lang="en-US" b="1" dirty="0"/>
              <a:t>Stop</a:t>
            </a:r>
            <a:r>
              <a:rPr lang="en-US" dirty="0">
                <a:solidFill>
                  <a:schemeClr val="hlink"/>
                </a:solidFill>
              </a:rPr>
              <a:t> when all edges incident to the current vertex are used.</a:t>
            </a:r>
            <a:r>
              <a:rPr lang="en-US" dirty="0"/>
              <a:t> </a:t>
            </a:r>
            <a:br>
              <a:rPr lang="en-US" dirty="0"/>
            </a:br>
            <a:r>
              <a:rPr lang="en-US" b="1" dirty="0"/>
              <a:t>end</a:t>
            </a:r>
            <a:br>
              <a:rPr lang="en-US" b="1" dirty="0"/>
            </a:br>
            <a:r>
              <a:rPr lang="en-US" b="1" dirty="0"/>
              <a:t/>
            </a:r>
            <a:br>
              <a:rPr lang="en-US" b="1" dirty="0"/>
            </a:br>
            <a:r>
              <a:rPr lang="en-US" dirty="0"/>
              <a:t>For example, if the figure below is the DFS structure after step 1, then in step 3 the algorithm will produce the cycle   </a:t>
            </a:r>
            <a:r>
              <a:rPr lang="en-US" dirty="0">
                <a:sym typeface="Symbol" pitchFamily="18" charset="2"/>
              </a:rPr>
              <a:t></a:t>
            </a:r>
            <a:r>
              <a:rPr lang="en-US" dirty="0"/>
              <a:t>a, g, d, f, e, d, a, c, b, a</a:t>
            </a:r>
            <a:r>
              <a:rPr lang="en-US" dirty="0">
                <a:sym typeface="Symbol" pitchFamily="18" charset="2"/>
              </a:rPr>
              <a:t></a:t>
            </a:r>
            <a:r>
              <a:rPr lang="en-US" dirty="0"/>
              <a:t>.   This is indeed an Euler tour of the graph.</a:t>
            </a:r>
            <a:br>
              <a:rPr lang="en-US" dirty="0"/>
            </a:br>
            <a:r>
              <a:rPr lang="en-US" dirty="0"/>
              <a:t/>
            </a:r>
            <a:br>
              <a:rPr lang="en-US" dirty="0"/>
            </a:br>
            <a:r>
              <a:rPr lang="en-US" dirty="0"/>
              <a:t>Give a counter-example to show that the above algorithm is not always capable of finding an Euler tour, even though there exists one. Therefore, the algorithm does not work!</a:t>
            </a:r>
            <a:br>
              <a:rPr lang="en-US" dirty="0"/>
            </a:br>
            <a:r>
              <a:rPr lang="en-US" dirty="0">
                <a:solidFill>
                  <a:srgbClr val="CC0000"/>
                </a:solidFill>
              </a:rPr>
              <a:t>[Hint: the smallest counter-example has less than 10 vertices.]</a:t>
            </a:r>
            <a:endParaRPr lang="en-US" dirty="0">
              <a:solidFill>
                <a:srgbClr val="CC0000"/>
              </a:solidFill>
              <a:sym typeface="Symbol" pitchFamily="18" charset="2"/>
            </a:endParaRPr>
          </a:p>
        </p:txBody>
      </p:sp>
      <p:grpSp>
        <p:nvGrpSpPr>
          <p:cNvPr id="183302" name="Group 67"/>
          <p:cNvGrpSpPr>
            <a:grpSpLocks/>
          </p:cNvGrpSpPr>
          <p:nvPr/>
        </p:nvGrpSpPr>
        <p:grpSpPr bwMode="auto">
          <a:xfrm>
            <a:off x="2376333" y="4580561"/>
            <a:ext cx="3783013" cy="2054225"/>
            <a:chOff x="1536" y="2688"/>
            <a:chExt cx="2383" cy="1294"/>
          </a:xfrm>
        </p:grpSpPr>
        <p:sp>
          <p:nvSpPr>
            <p:cNvPr id="183303" name="Freeform 56"/>
            <p:cNvSpPr>
              <a:spLocks/>
            </p:cNvSpPr>
            <p:nvPr/>
          </p:nvSpPr>
          <p:spPr bwMode="auto">
            <a:xfrm>
              <a:off x="2414" y="3041"/>
              <a:ext cx="712" cy="766"/>
            </a:xfrm>
            <a:custGeom>
              <a:avLst/>
              <a:gdLst>
                <a:gd name="T0" fmla="*/ 0 w 712"/>
                <a:gd name="T1" fmla="*/ 766 h 766"/>
                <a:gd name="T2" fmla="*/ 170 w 712"/>
                <a:gd name="T3" fmla="*/ 271 h 766"/>
                <a:gd name="T4" fmla="*/ 712 w 712"/>
                <a:gd name="T5" fmla="*/ 0 h 766"/>
                <a:gd name="T6" fmla="*/ 0 60000 65536"/>
                <a:gd name="T7" fmla="*/ 0 60000 65536"/>
                <a:gd name="T8" fmla="*/ 0 60000 65536"/>
              </a:gdLst>
              <a:ahLst/>
              <a:cxnLst>
                <a:cxn ang="T6">
                  <a:pos x="T0" y="T1"/>
                </a:cxn>
                <a:cxn ang="T7">
                  <a:pos x="T2" y="T3"/>
                </a:cxn>
                <a:cxn ang="T8">
                  <a:pos x="T4" y="T5"/>
                </a:cxn>
              </a:cxnLst>
              <a:rect l="0" t="0" r="r" b="b"/>
              <a:pathLst>
                <a:path w="712" h="766">
                  <a:moveTo>
                    <a:pt x="0" y="766"/>
                  </a:moveTo>
                  <a:cubicBezTo>
                    <a:pt x="28" y="684"/>
                    <a:pt x="51" y="399"/>
                    <a:pt x="170" y="271"/>
                  </a:cubicBezTo>
                  <a:cubicBezTo>
                    <a:pt x="289" y="143"/>
                    <a:pt x="599" y="56"/>
                    <a:pt x="712" y="0"/>
                  </a:cubicBezTo>
                </a:path>
              </a:pathLst>
            </a:custGeom>
            <a:noFill/>
            <a:ln w="19050" cap="flat" cmpd="sng">
              <a:solidFill>
                <a:srgbClr val="80808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3304" name="Freeform 57"/>
            <p:cNvSpPr>
              <a:spLocks/>
            </p:cNvSpPr>
            <p:nvPr/>
          </p:nvSpPr>
          <p:spPr bwMode="auto">
            <a:xfrm>
              <a:off x="2502" y="2734"/>
              <a:ext cx="1179" cy="605"/>
            </a:xfrm>
            <a:custGeom>
              <a:avLst/>
              <a:gdLst>
                <a:gd name="T0" fmla="*/ 0 w 1179"/>
                <a:gd name="T1" fmla="*/ 63 h 605"/>
                <a:gd name="T2" fmla="*/ 705 w 1179"/>
                <a:gd name="T3" fmla="*/ 90 h 605"/>
                <a:gd name="T4" fmla="*/ 1179 w 1179"/>
                <a:gd name="T5" fmla="*/ 605 h 605"/>
                <a:gd name="T6" fmla="*/ 0 60000 65536"/>
                <a:gd name="T7" fmla="*/ 0 60000 65536"/>
                <a:gd name="T8" fmla="*/ 0 60000 65536"/>
              </a:gdLst>
              <a:ahLst/>
              <a:cxnLst>
                <a:cxn ang="T6">
                  <a:pos x="T0" y="T1"/>
                </a:cxn>
                <a:cxn ang="T7">
                  <a:pos x="T2" y="T3"/>
                </a:cxn>
                <a:cxn ang="T8">
                  <a:pos x="T4" y="T5"/>
                </a:cxn>
              </a:cxnLst>
              <a:rect l="0" t="0" r="r" b="b"/>
              <a:pathLst>
                <a:path w="1179" h="605">
                  <a:moveTo>
                    <a:pt x="0" y="63"/>
                  </a:moveTo>
                  <a:cubicBezTo>
                    <a:pt x="117" y="67"/>
                    <a:pt x="508" y="0"/>
                    <a:pt x="705" y="90"/>
                  </a:cubicBezTo>
                  <a:cubicBezTo>
                    <a:pt x="902" y="180"/>
                    <a:pt x="1080" y="498"/>
                    <a:pt x="1179" y="605"/>
                  </a:cubicBezTo>
                </a:path>
              </a:pathLst>
            </a:custGeom>
            <a:noFill/>
            <a:ln w="19050" cap="flat" cmpd="sng">
              <a:solidFill>
                <a:srgbClr val="80808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3305" name="Freeform 58"/>
            <p:cNvSpPr>
              <a:spLocks/>
            </p:cNvSpPr>
            <p:nvPr/>
          </p:nvSpPr>
          <p:spPr bwMode="auto">
            <a:xfrm>
              <a:off x="1628" y="2783"/>
              <a:ext cx="861" cy="834"/>
            </a:xfrm>
            <a:custGeom>
              <a:avLst/>
              <a:gdLst>
                <a:gd name="T0" fmla="*/ 861 w 861"/>
                <a:gd name="T1" fmla="*/ 0 h 834"/>
                <a:gd name="T2" fmla="*/ 258 w 861"/>
                <a:gd name="T3" fmla="*/ 238 h 834"/>
                <a:gd name="T4" fmla="*/ 0 w 861"/>
                <a:gd name="T5" fmla="*/ 834 h 834"/>
                <a:gd name="T6" fmla="*/ 0 60000 65536"/>
                <a:gd name="T7" fmla="*/ 0 60000 65536"/>
                <a:gd name="T8" fmla="*/ 0 60000 65536"/>
              </a:gdLst>
              <a:ahLst/>
              <a:cxnLst>
                <a:cxn ang="T6">
                  <a:pos x="T0" y="T1"/>
                </a:cxn>
                <a:cxn ang="T7">
                  <a:pos x="T2" y="T3"/>
                </a:cxn>
                <a:cxn ang="T8">
                  <a:pos x="T4" y="T5"/>
                </a:cxn>
              </a:cxnLst>
              <a:rect l="0" t="0" r="r" b="b"/>
              <a:pathLst>
                <a:path w="861" h="834">
                  <a:moveTo>
                    <a:pt x="861" y="0"/>
                  </a:moveTo>
                  <a:cubicBezTo>
                    <a:pt x="761" y="40"/>
                    <a:pt x="401" y="99"/>
                    <a:pt x="258" y="238"/>
                  </a:cubicBezTo>
                  <a:cubicBezTo>
                    <a:pt x="115" y="377"/>
                    <a:pt x="54" y="710"/>
                    <a:pt x="0" y="834"/>
                  </a:cubicBezTo>
                </a:path>
              </a:pathLst>
            </a:custGeom>
            <a:noFill/>
            <a:ln w="19050" cap="flat" cmpd="sng">
              <a:solidFill>
                <a:srgbClr val="80808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3306" name="Line 53"/>
            <p:cNvSpPr>
              <a:spLocks noChangeShapeType="1"/>
            </p:cNvSpPr>
            <p:nvPr/>
          </p:nvSpPr>
          <p:spPr bwMode="auto">
            <a:xfrm flipH="1">
              <a:off x="1627" y="2784"/>
              <a:ext cx="864" cy="8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3307" name="Line 55"/>
            <p:cNvSpPr>
              <a:spLocks noChangeShapeType="1"/>
            </p:cNvSpPr>
            <p:nvPr/>
          </p:nvSpPr>
          <p:spPr bwMode="auto">
            <a:xfrm flipH="1">
              <a:off x="2395" y="3072"/>
              <a:ext cx="720" cy="76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3308" name="Line 54"/>
            <p:cNvSpPr>
              <a:spLocks noChangeShapeType="1"/>
            </p:cNvSpPr>
            <p:nvPr/>
          </p:nvSpPr>
          <p:spPr bwMode="auto">
            <a:xfrm>
              <a:off x="2491" y="2784"/>
              <a:ext cx="1200" cy="5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3309" name="Oval 37"/>
            <p:cNvSpPr>
              <a:spLocks noChangeArrowheads="1"/>
            </p:cNvSpPr>
            <p:nvPr/>
          </p:nvSpPr>
          <p:spPr bwMode="auto">
            <a:xfrm>
              <a:off x="2395" y="2688"/>
              <a:ext cx="220"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a</a:t>
              </a:r>
            </a:p>
          </p:txBody>
        </p:sp>
        <p:sp>
          <p:nvSpPr>
            <p:cNvPr id="183310" name="Oval 47"/>
            <p:cNvSpPr>
              <a:spLocks noChangeArrowheads="1"/>
            </p:cNvSpPr>
            <p:nvPr/>
          </p:nvSpPr>
          <p:spPr bwMode="auto">
            <a:xfrm>
              <a:off x="1963" y="3072"/>
              <a:ext cx="229"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b</a:t>
              </a:r>
            </a:p>
          </p:txBody>
        </p:sp>
        <p:sp>
          <p:nvSpPr>
            <p:cNvPr id="183311" name="Oval 48"/>
            <p:cNvSpPr>
              <a:spLocks noChangeArrowheads="1"/>
            </p:cNvSpPr>
            <p:nvPr/>
          </p:nvSpPr>
          <p:spPr bwMode="auto">
            <a:xfrm>
              <a:off x="1536" y="3504"/>
              <a:ext cx="235"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lnSpc>
                  <a:spcPct val="70000"/>
                </a:lnSpc>
                <a:spcBef>
                  <a:spcPct val="50000"/>
                </a:spcBef>
                <a:buFont typeface="Wingdings" pitchFamily="2" charset="2"/>
                <a:buNone/>
              </a:pPr>
              <a:r>
                <a:rPr lang="en-US" b="1" dirty="0"/>
                <a:t>c</a:t>
              </a:r>
            </a:p>
          </p:txBody>
        </p:sp>
        <p:sp>
          <p:nvSpPr>
            <p:cNvPr id="183312" name="Oval 49"/>
            <p:cNvSpPr>
              <a:spLocks noChangeArrowheads="1"/>
            </p:cNvSpPr>
            <p:nvPr/>
          </p:nvSpPr>
          <p:spPr bwMode="auto">
            <a:xfrm>
              <a:off x="3015" y="2928"/>
              <a:ext cx="229"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d</a:t>
              </a:r>
            </a:p>
          </p:txBody>
        </p:sp>
        <p:sp>
          <p:nvSpPr>
            <p:cNvPr id="183313" name="Oval 50"/>
            <p:cNvSpPr>
              <a:spLocks noChangeArrowheads="1"/>
            </p:cNvSpPr>
            <p:nvPr/>
          </p:nvSpPr>
          <p:spPr bwMode="auto">
            <a:xfrm>
              <a:off x="3547" y="3216"/>
              <a:ext cx="220"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pPr algn="ctr" eaLnBrk="1" hangingPunct="1">
                <a:lnSpc>
                  <a:spcPct val="70000"/>
                </a:lnSpc>
                <a:spcBef>
                  <a:spcPct val="50000"/>
                </a:spcBef>
                <a:buFont typeface="Wingdings" pitchFamily="2" charset="2"/>
                <a:buNone/>
              </a:pPr>
              <a:r>
                <a:rPr lang="en-US" b="1"/>
                <a:t>g</a:t>
              </a:r>
            </a:p>
          </p:txBody>
        </p:sp>
        <p:sp>
          <p:nvSpPr>
            <p:cNvPr id="183314" name="Oval 51"/>
            <p:cNvSpPr>
              <a:spLocks noChangeArrowheads="1"/>
            </p:cNvSpPr>
            <p:nvPr/>
          </p:nvSpPr>
          <p:spPr bwMode="auto">
            <a:xfrm>
              <a:off x="2688" y="3312"/>
              <a:ext cx="235"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lnSpc>
                  <a:spcPct val="70000"/>
                </a:lnSpc>
                <a:spcBef>
                  <a:spcPct val="50000"/>
                </a:spcBef>
                <a:buFont typeface="Wingdings" pitchFamily="2" charset="2"/>
                <a:buNone/>
              </a:pPr>
              <a:r>
                <a:rPr lang="en-US" b="1"/>
                <a:t>e</a:t>
              </a:r>
            </a:p>
          </p:txBody>
        </p:sp>
        <p:sp>
          <p:nvSpPr>
            <p:cNvPr id="183315" name="Oval 52"/>
            <p:cNvSpPr>
              <a:spLocks noChangeArrowheads="1"/>
            </p:cNvSpPr>
            <p:nvPr/>
          </p:nvSpPr>
          <p:spPr bwMode="auto">
            <a:xfrm>
              <a:off x="2251" y="3696"/>
              <a:ext cx="252" cy="224"/>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anchor="ctr">
              <a:spAutoFit/>
            </a:bodyPr>
            <a:lstStyle/>
            <a:p>
              <a:pPr algn="ctr" eaLnBrk="1" hangingPunct="1">
                <a:lnSpc>
                  <a:spcPct val="70000"/>
                </a:lnSpc>
                <a:spcBef>
                  <a:spcPct val="50000"/>
                </a:spcBef>
                <a:buFont typeface="Wingdings" pitchFamily="2" charset="2"/>
                <a:buNone/>
              </a:pPr>
              <a:r>
                <a:rPr lang="en-US" b="1"/>
                <a:t>f</a:t>
              </a:r>
            </a:p>
          </p:txBody>
        </p:sp>
        <p:sp>
          <p:nvSpPr>
            <p:cNvPr id="183316" name="Text Box 59"/>
            <p:cNvSpPr txBox="1">
              <a:spLocks noChangeArrowheads="1"/>
            </p:cNvSpPr>
            <p:nvPr/>
          </p:nvSpPr>
          <p:spPr bwMode="auto">
            <a:xfrm>
              <a:off x="2443" y="2880"/>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1</a:t>
              </a:r>
            </a:p>
          </p:txBody>
        </p:sp>
        <p:sp>
          <p:nvSpPr>
            <p:cNvPr id="183317" name="Text Box 60"/>
            <p:cNvSpPr txBox="1">
              <a:spLocks noChangeArrowheads="1"/>
            </p:cNvSpPr>
            <p:nvPr/>
          </p:nvSpPr>
          <p:spPr bwMode="auto">
            <a:xfrm>
              <a:off x="2155" y="3120"/>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2</a:t>
              </a:r>
            </a:p>
          </p:txBody>
        </p:sp>
        <p:sp>
          <p:nvSpPr>
            <p:cNvPr id="183318" name="Text Box 61"/>
            <p:cNvSpPr txBox="1">
              <a:spLocks noChangeArrowheads="1"/>
            </p:cNvSpPr>
            <p:nvPr/>
          </p:nvSpPr>
          <p:spPr bwMode="auto">
            <a:xfrm>
              <a:off x="1579" y="3696"/>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3</a:t>
              </a:r>
            </a:p>
          </p:txBody>
        </p:sp>
        <p:sp>
          <p:nvSpPr>
            <p:cNvPr id="183319" name="Text Box 62"/>
            <p:cNvSpPr txBox="1">
              <a:spLocks noChangeArrowheads="1"/>
            </p:cNvSpPr>
            <p:nvPr/>
          </p:nvSpPr>
          <p:spPr bwMode="auto">
            <a:xfrm>
              <a:off x="3067" y="3120"/>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4</a:t>
              </a:r>
            </a:p>
          </p:txBody>
        </p:sp>
        <p:sp>
          <p:nvSpPr>
            <p:cNvPr id="183320" name="Text Box 63"/>
            <p:cNvSpPr txBox="1">
              <a:spLocks noChangeArrowheads="1"/>
            </p:cNvSpPr>
            <p:nvPr/>
          </p:nvSpPr>
          <p:spPr bwMode="auto">
            <a:xfrm>
              <a:off x="2827" y="3456"/>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5</a:t>
              </a:r>
            </a:p>
          </p:txBody>
        </p:sp>
        <p:sp>
          <p:nvSpPr>
            <p:cNvPr id="183321" name="Text Box 64"/>
            <p:cNvSpPr txBox="1">
              <a:spLocks noChangeArrowheads="1"/>
            </p:cNvSpPr>
            <p:nvPr/>
          </p:nvSpPr>
          <p:spPr bwMode="auto">
            <a:xfrm>
              <a:off x="2491" y="3792"/>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6</a:t>
              </a:r>
            </a:p>
          </p:txBody>
        </p:sp>
        <p:sp>
          <p:nvSpPr>
            <p:cNvPr id="183322" name="Text Box 65"/>
            <p:cNvSpPr txBox="1">
              <a:spLocks noChangeArrowheads="1"/>
            </p:cNvSpPr>
            <p:nvPr/>
          </p:nvSpPr>
          <p:spPr bwMode="auto">
            <a:xfrm>
              <a:off x="3739" y="3264"/>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7</a:t>
              </a:r>
            </a:p>
          </p:txBody>
        </p:sp>
      </p:gr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179</a:t>
            </a:fld>
            <a:endParaRPr lang="en-US"/>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22"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5035"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23"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5036"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24"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5037"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25" name="Rectangle 5"/>
          <p:cNvSpPr>
            <a:spLocks noChangeArrowheads="1"/>
          </p:cNvSpPr>
          <p:nvPr/>
        </p:nvSpPr>
        <p:spPr bwMode="auto">
          <a:xfrm>
            <a:off x="304800" y="228600"/>
            <a:ext cx="8610600" cy="377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85763" indent="-376238" eaLnBrk="1" hangingPunct="1">
              <a:lnSpc>
                <a:spcPct val="90000"/>
              </a:lnSpc>
              <a:spcBef>
                <a:spcPct val="20000"/>
              </a:spcBef>
              <a:buFontTx/>
              <a:buAutoNum type="arabicPeriod" startAt="24"/>
            </a:pPr>
            <a:r>
              <a:rPr lang="en-US"/>
              <a:t>Show how the Strongly Connected Components (SCC) algorithm as presented in this lecture slide works on the graph shown below. </a:t>
            </a:r>
            <a:r>
              <a:rPr lang="en-US">
                <a:solidFill>
                  <a:srgbClr val="CC0000"/>
                </a:solidFill>
              </a:rPr>
              <a:t>(Assume adjacency lists are alphabetically ordered.)</a:t>
            </a:r>
            <a:r>
              <a:rPr lang="en-US"/>
              <a:t> </a:t>
            </a:r>
            <a:br>
              <a:rPr lang="en-US"/>
            </a:br>
            <a:r>
              <a:rPr lang="en-US"/>
              <a:t>(a) Show the stack and the DFS-structure after step 1.</a:t>
            </a:r>
            <a:br>
              <a:rPr lang="en-US"/>
            </a:br>
            <a:r>
              <a:rPr lang="en-US"/>
              <a:t>(b) Show the DFS-structure of the transpose graph G</a:t>
            </a:r>
            <a:r>
              <a:rPr lang="en-US" baseline="30000"/>
              <a:t>T</a:t>
            </a:r>
            <a:r>
              <a:rPr lang="en-US"/>
              <a:t> after step 3.</a:t>
            </a:r>
            <a:br>
              <a:rPr lang="en-US"/>
            </a:br>
            <a:r>
              <a:rPr lang="en-US"/>
              <a:t>(c) Show the SCC Component graph of G.</a:t>
            </a:r>
            <a:br>
              <a:rPr lang="en-US"/>
            </a:br>
            <a:endParaRPr lang="en-US">
              <a:sym typeface="Symbol" pitchFamily="18" charset="2"/>
            </a:endParaRPr>
          </a:p>
          <a:p>
            <a:pPr marL="385763" indent="-376238" eaLnBrk="1" hangingPunct="1">
              <a:lnSpc>
                <a:spcPct val="90000"/>
              </a:lnSpc>
              <a:spcBef>
                <a:spcPct val="20000"/>
              </a:spcBef>
              <a:buFontTx/>
              <a:buAutoNum type="arabicPeriod" startAt="24"/>
            </a:pPr>
            <a:r>
              <a:rPr lang="en-US" b="1"/>
              <a:t>[CLRS, Exercise 22.5-5, p. 620] </a:t>
            </a:r>
            <a:r>
              <a:rPr lang="en-US"/>
              <a:t> Give an O(V+E)-time algorithm to compute the SCC Component graph of a digraph G = (V, E). Make sure that there is at most one edge between two vertices in the component graph that your algorithm produces.   </a:t>
            </a:r>
          </a:p>
          <a:p>
            <a:pPr marL="385763" indent="-376238" eaLnBrk="1" hangingPunct="1">
              <a:lnSpc>
                <a:spcPct val="90000"/>
              </a:lnSpc>
              <a:spcBef>
                <a:spcPct val="20000"/>
              </a:spcBef>
              <a:buFontTx/>
              <a:buAutoNum type="arabicPeriod" startAt="24"/>
            </a:pPr>
            <a:endParaRPr lang="en-US"/>
          </a:p>
          <a:p>
            <a:pPr marL="385763" indent="-376238" eaLnBrk="1" hangingPunct="1">
              <a:lnSpc>
                <a:spcPct val="90000"/>
              </a:lnSpc>
              <a:spcBef>
                <a:spcPct val="20000"/>
              </a:spcBef>
              <a:buFontTx/>
              <a:buAutoNum type="arabicPeriod" startAt="24"/>
            </a:pPr>
            <a:r>
              <a:rPr lang="en-US" b="1"/>
              <a:t>[CLRS, Exercise 22.5-6, p. 621] </a:t>
            </a:r>
            <a:r>
              <a:rPr lang="en-US"/>
              <a:t> Given a digraph G = (V, E), explain how to create another digraph G’ = (V, E’) such that </a:t>
            </a:r>
            <a:br>
              <a:rPr lang="en-US"/>
            </a:br>
            <a:r>
              <a:rPr lang="en-US"/>
              <a:t>	(i) The strongly connected components of G and G’ form the same vertex partition of V,</a:t>
            </a:r>
            <a:br>
              <a:rPr lang="en-US"/>
            </a:br>
            <a:r>
              <a:rPr lang="en-US"/>
              <a:t>	(ii) G’ has the same SCC Component graph as G, and</a:t>
            </a:r>
            <a:br>
              <a:rPr lang="en-US"/>
            </a:br>
            <a:r>
              <a:rPr lang="en-US"/>
              <a:t>	(iii) E’ is as small as possible.  </a:t>
            </a:r>
            <a:r>
              <a:rPr lang="en-US">
                <a:solidFill>
                  <a:srgbClr val="CC0000"/>
                </a:solidFill>
              </a:rPr>
              <a:t>[Note: E’ may not necessarily be a subset of E.]</a:t>
            </a:r>
            <a:r>
              <a:rPr lang="en-US"/>
              <a:t/>
            </a:r>
            <a:br>
              <a:rPr lang="en-US"/>
            </a:br>
            <a:r>
              <a:rPr lang="en-US"/>
              <a:t>Describe an efficient algorithm to compute G’. </a:t>
            </a:r>
          </a:p>
        </p:txBody>
      </p:sp>
      <p:grpSp>
        <p:nvGrpSpPr>
          <p:cNvPr id="184326" name="Group 130"/>
          <p:cNvGrpSpPr>
            <a:grpSpLocks/>
          </p:cNvGrpSpPr>
          <p:nvPr/>
        </p:nvGrpSpPr>
        <p:grpSpPr bwMode="auto">
          <a:xfrm>
            <a:off x="4651375" y="3886200"/>
            <a:ext cx="2940050" cy="2728913"/>
            <a:chOff x="2930" y="2448"/>
            <a:chExt cx="1852" cy="1719"/>
          </a:xfrm>
        </p:grpSpPr>
        <p:sp>
          <p:nvSpPr>
            <p:cNvPr id="184327" name="Freeform 126"/>
            <p:cNvSpPr>
              <a:spLocks/>
            </p:cNvSpPr>
            <p:nvPr/>
          </p:nvSpPr>
          <p:spPr bwMode="auto">
            <a:xfrm>
              <a:off x="4202" y="3024"/>
              <a:ext cx="217" cy="386"/>
            </a:xfrm>
            <a:custGeom>
              <a:avLst/>
              <a:gdLst>
                <a:gd name="T0" fmla="*/ 0 w 217"/>
                <a:gd name="T1" fmla="*/ 0 h 386"/>
                <a:gd name="T2" fmla="*/ 149 w 217"/>
                <a:gd name="T3" fmla="*/ 197 h 386"/>
                <a:gd name="T4" fmla="*/ 217 w 217"/>
                <a:gd name="T5" fmla="*/ 386 h 386"/>
                <a:gd name="T6" fmla="*/ 0 60000 65536"/>
                <a:gd name="T7" fmla="*/ 0 60000 65536"/>
                <a:gd name="T8" fmla="*/ 0 60000 65536"/>
              </a:gdLst>
              <a:ahLst/>
              <a:cxnLst>
                <a:cxn ang="T6">
                  <a:pos x="T0" y="T1"/>
                </a:cxn>
                <a:cxn ang="T7">
                  <a:pos x="T2" y="T3"/>
                </a:cxn>
                <a:cxn ang="T8">
                  <a:pos x="T4" y="T5"/>
                </a:cxn>
              </a:cxnLst>
              <a:rect l="0" t="0" r="r" b="b"/>
              <a:pathLst>
                <a:path w="217" h="386">
                  <a:moveTo>
                    <a:pt x="0" y="0"/>
                  </a:moveTo>
                  <a:cubicBezTo>
                    <a:pt x="25" y="33"/>
                    <a:pt x="113" y="133"/>
                    <a:pt x="149" y="197"/>
                  </a:cubicBezTo>
                  <a:cubicBezTo>
                    <a:pt x="185" y="261"/>
                    <a:pt x="203" y="347"/>
                    <a:pt x="217" y="386"/>
                  </a:cubicBez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28" name="Line 84"/>
            <p:cNvSpPr>
              <a:spLocks noChangeShapeType="1"/>
            </p:cNvSpPr>
            <p:nvPr/>
          </p:nvSpPr>
          <p:spPr bwMode="auto">
            <a:xfrm flipH="1">
              <a:off x="3074" y="3936"/>
              <a:ext cx="48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aphicFrame>
          <p:nvGraphicFramePr>
            <p:cNvPr id="184329" name="Object 85"/>
            <p:cNvGraphicFramePr>
              <a:graphicFrameLocks noChangeAspect="1"/>
            </p:cNvGraphicFramePr>
            <p:nvPr/>
          </p:nvGraphicFramePr>
          <p:xfrm>
            <a:off x="4382" y="3244"/>
            <a:ext cx="72" cy="136"/>
          </p:xfrm>
          <a:graphic>
            <a:graphicData uri="http://schemas.openxmlformats.org/presentationml/2006/ole">
              <mc:AlternateContent xmlns:mc="http://schemas.openxmlformats.org/markup-compatibility/2006">
                <mc:Choice xmlns:v="urn:schemas-microsoft-com:vml" Requires="v">
                  <p:oleObj spid="_x0000_s185038" name="Equation" r:id="rId7" imgW="114151" imgH="215619" progId="Equation.3">
                    <p:embed/>
                  </p:oleObj>
                </mc:Choice>
                <mc:Fallback>
                  <p:oleObj name="Equation" r:id="rId7" imgW="114151" imgH="215619" progId="Equation.3">
                    <p:embed/>
                    <p:pic>
                      <p:nvPicPr>
                        <p:cNvPr id="0" name="Object 8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2" y="3244"/>
                          <a:ext cx="72"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30" name="Object 86"/>
            <p:cNvGraphicFramePr>
              <a:graphicFrameLocks noChangeAspect="1"/>
            </p:cNvGraphicFramePr>
            <p:nvPr/>
          </p:nvGraphicFramePr>
          <p:xfrm>
            <a:off x="4382" y="3244"/>
            <a:ext cx="72" cy="136"/>
          </p:xfrm>
          <a:graphic>
            <a:graphicData uri="http://schemas.openxmlformats.org/presentationml/2006/ole">
              <mc:AlternateContent xmlns:mc="http://schemas.openxmlformats.org/markup-compatibility/2006">
                <mc:Choice xmlns:v="urn:schemas-microsoft-com:vml" Requires="v">
                  <p:oleObj spid="_x0000_s185039" name="Equation" r:id="rId8" imgW="114151" imgH="215619" progId="Equation.3">
                    <p:embed/>
                  </p:oleObj>
                </mc:Choice>
                <mc:Fallback>
                  <p:oleObj name="Equation" r:id="rId8" imgW="114151" imgH="215619" progId="Equation.3">
                    <p:embed/>
                    <p:pic>
                      <p:nvPicPr>
                        <p:cNvPr id="0" name="Object 8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2" y="3244"/>
                          <a:ext cx="72"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31" name="Object 87"/>
            <p:cNvGraphicFramePr>
              <a:graphicFrameLocks noChangeAspect="1"/>
            </p:cNvGraphicFramePr>
            <p:nvPr/>
          </p:nvGraphicFramePr>
          <p:xfrm>
            <a:off x="4382" y="3244"/>
            <a:ext cx="72" cy="136"/>
          </p:xfrm>
          <a:graphic>
            <a:graphicData uri="http://schemas.openxmlformats.org/presentationml/2006/ole">
              <mc:AlternateContent xmlns:mc="http://schemas.openxmlformats.org/markup-compatibility/2006">
                <mc:Choice xmlns:v="urn:schemas-microsoft-com:vml" Requires="v">
                  <p:oleObj spid="_x0000_s185040" name="Equation" r:id="rId9" imgW="114151" imgH="215619" progId="Equation.3">
                    <p:embed/>
                  </p:oleObj>
                </mc:Choice>
                <mc:Fallback>
                  <p:oleObj name="Equation" r:id="rId9" imgW="114151" imgH="215619" progId="Equation.3">
                    <p:embed/>
                    <p:pic>
                      <p:nvPicPr>
                        <p:cNvPr id="0" name="Object 8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2" y="3244"/>
                          <a:ext cx="72"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32" name="Oval 88"/>
            <p:cNvSpPr>
              <a:spLocks noChangeArrowheads="1"/>
            </p:cNvSpPr>
            <p:nvPr/>
          </p:nvSpPr>
          <p:spPr bwMode="auto">
            <a:xfrm>
              <a:off x="2982" y="388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4333" name="Oval 89"/>
            <p:cNvSpPr>
              <a:spLocks noChangeArrowheads="1"/>
            </p:cNvSpPr>
            <p:nvPr/>
          </p:nvSpPr>
          <p:spPr bwMode="auto">
            <a:xfrm>
              <a:off x="3558" y="2976"/>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4334" name="Oval 90"/>
            <p:cNvSpPr>
              <a:spLocks noChangeArrowheads="1"/>
            </p:cNvSpPr>
            <p:nvPr/>
          </p:nvSpPr>
          <p:spPr bwMode="auto">
            <a:xfrm>
              <a:off x="3798" y="340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4335" name="Oval 91"/>
            <p:cNvSpPr>
              <a:spLocks noChangeArrowheads="1"/>
            </p:cNvSpPr>
            <p:nvPr/>
          </p:nvSpPr>
          <p:spPr bwMode="auto">
            <a:xfrm>
              <a:off x="3270" y="340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4336" name="Oval 92"/>
            <p:cNvSpPr>
              <a:spLocks noChangeArrowheads="1"/>
            </p:cNvSpPr>
            <p:nvPr/>
          </p:nvSpPr>
          <p:spPr bwMode="auto">
            <a:xfrm>
              <a:off x="3510" y="388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4337" name="Oval 93"/>
            <p:cNvSpPr>
              <a:spLocks noChangeArrowheads="1"/>
            </p:cNvSpPr>
            <p:nvPr/>
          </p:nvSpPr>
          <p:spPr bwMode="auto">
            <a:xfrm>
              <a:off x="4086" y="388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4338" name="Oval 94"/>
            <p:cNvSpPr>
              <a:spLocks noChangeArrowheads="1"/>
            </p:cNvSpPr>
            <p:nvPr/>
          </p:nvSpPr>
          <p:spPr bwMode="auto">
            <a:xfrm>
              <a:off x="4134" y="2976"/>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4339" name="Oval 95"/>
            <p:cNvSpPr>
              <a:spLocks noChangeArrowheads="1"/>
            </p:cNvSpPr>
            <p:nvPr/>
          </p:nvSpPr>
          <p:spPr bwMode="auto">
            <a:xfrm>
              <a:off x="4374" y="340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4340" name="Oval 96"/>
            <p:cNvSpPr>
              <a:spLocks noChangeArrowheads="1"/>
            </p:cNvSpPr>
            <p:nvPr/>
          </p:nvSpPr>
          <p:spPr bwMode="auto">
            <a:xfrm>
              <a:off x="3894" y="2496"/>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4341" name="Oval 97"/>
            <p:cNvSpPr>
              <a:spLocks noChangeArrowheads="1"/>
            </p:cNvSpPr>
            <p:nvPr/>
          </p:nvSpPr>
          <p:spPr bwMode="auto">
            <a:xfrm>
              <a:off x="4662" y="388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anchor="ctr">
              <a:spAutoFit/>
            </a:bodyPr>
            <a:lstStyle/>
            <a:p>
              <a:endParaRPr lang="en-CA"/>
            </a:p>
          </p:txBody>
        </p:sp>
        <p:sp>
          <p:nvSpPr>
            <p:cNvPr id="184342" name="Freeform 98"/>
            <p:cNvSpPr>
              <a:spLocks/>
            </p:cNvSpPr>
            <p:nvPr/>
          </p:nvSpPr>
          <p:spPr bwMode="auto">
            <a:xfrm>
              <a:off x="3626" y="2584"/>
              <a:ext cx="285" cy="397"/>
            </a:xfrm>
            <a:custGeom>
              <a:avLst/>
              <a:gdLst>
                <a:gd name="T0" fmla="*/ 285 w 285"/>
                <a:gd name="T1" fmla="*/ 0 h 397"/>
                <a:gd name="T2" fmla="*/ 0 w 285"/>
                <a:gd name="T3" fmla="*/ 397 h 397"/>
                <a:gd name="T4" fmla="*/ 0 60000 65536"/>
                <a:gd name="T5" fmla="*/ 0 60000 65536"/>
              </a:gdLst>
              <a:ahLst/>
              <a:cxnLst>
                <a:cxn ang="T4">
                  <a:pos x="T0" y="T1"/>
                </a:cxn>
                <a:cxn ang="T5">
                  <a:pos x="T2" y="T3"/>
                </a:cxn>
              </a:cxnLst>
              <a:rect l="0" t="0" r="r" b="b"/>
              <a:pathLst>
                <a:path w="285" h="397">
                  <a:moveTo>
                    <a:pt x="285" y="0"/>
                  </a:moveTo>
                  <a:lnTo>
                    <a:pt x="0" y="397"/>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43" name="Freeform 99"/>
            <p:cNvSpPr>
              <a:spLocks/>
            </p:cNvSpPr>
            <p:nvPr/>
          </p:nvSpPr>
          <p:spPr bwMode="auto">
            <a:xfrm>
              <a:off x="3348" y="3072"/>
              <a:ext cx="210" cy="333"/>
            </a:xfrm>
            <a:custGeom>
              <a:avLst/>
              <a:gdLst>
                <a:gd name="T0" fmla="*/ 210 w 210"/>
                <a:gd name="T1" fmla="*/ 0 h 333"/>
                <a:gd name="T2" fmla="*/ 0 w 210"/>
                <a:gd name="T3" fmla="*/ 333 h 333"/>
                <a:gd name="T4" fmla="*/ 0 60000 65536"/>
                <a:gd name="T5" fmla="*/ 0 60000 65536"/>
              </a:gdLst>
              <a:ahLst/>
              <a:cxnLst>
                <a:cxn ang="T4">
                  <a:pos x="T0" y="T1"/>
                </a:cxn>
                <a:cxn ang="T5">
                  <a:pos x="T2" y="T3"/>
                </a:cxn>
              </a:cxnLst>
              <a:rect l="0" t="0" r="r" b="b"/>
              <a:pathLst>
                <a:path w="210" h="333">
                  <a:moveTo>
                    <a:pt x="210" y="0"/>
                  </a:moveTo>
                  <a:lnTo>
                    <a:pt x="0" y="333"/>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44" name="Freeform 100"/>
            <p:cNvSpPr>
              <a:spLocks/>
            </p:cNvSpPr>
            <p:nvPr/>
          </p:nvSpPr>
          <p:spPr bwMode="auto">
            <a:xfrm>
              <a:off x="3050" y="3497"/>
              <a:ext cx="238" cy="398"/>
            </a:xfrm>
            <a:custGeom>
              <a:avLst/>
              <a:gdLst>
                <a:gd name="T0" fmla="*/ 0 w 238"/>
                <a:gd name="T1" fmla="*/ 398 h 398"/>
                <a:gd name="T2" fmla="*/ 238 w 238"/>
                <a:gd name="T3" fmla="*/ 0 h 398"/>
                <a:gd name="T4" fmla="*/ 0 60000 65536"/>
                <a:gd name="T5" fmla="*/ 0 60000 65536"/>
              </a:gdLst>
              <a:ahLst/>
              <a:cxnLst>
                <a:cxn ang="T4">
                  <a:pos x="T0" y="T1"/>
                </a:cxn>
                <a:cxn ang="T5">
                  <a:pos x="T2" y="T3"/>
                </a:cxn>
              </a:cxnLst>
              <a:rect l="0" t="0" r="r" b="b"/>
              <a:pathLst>
                <a:path w="238" h="398">
                  <a:moveTo>
                    <a:pt x="0" y="398"/>
                  </a:moveTo>
                  <a:lnTo>
                    <a:pt x="238"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45" name="Freeform 101"/>
            <p:cNvSpPr>
              <a:spLocks/>
            </p:cNvSpPr>
            <p:nvPr/>
          </p:nvSpPr>
          <p:spPr bwMode="auto">
            <a:xfrm>
              <a:off x="3957" y="2584"/>
              <a:ext cx="199" cy="390"/>
            </a:xfrm>
            <a:custGeom>
              <a:avLst/>
              <a:gdLst>
                <a:gd name="T0" fmla="*/ 199 w 199"/>
                <a:gd name="T1" fmla="*/ 390 h 390"/>
                <a:gd name="T2" fmla="*/ 0 w 199"/>
                <a:gd name="T3" fmla="*/ 0 h 390"/>
                <a:gd name="T4" fmla="*/ 0 60000 65536"/>
                <a:gd name="T5" fmla="*/ 0 60000 65536"/>
              </a:gdLst>
              <a:ahLst/>
              <a:cxnLst>
                <a:cxn ang="T4">
                  <a:pos x="T0" y="T1"/>
                </a:cxn>
                <a:cxn ang="T5">
                  <a:pos x="T2" y="T3"/>
                </a:cxn>
              </a:cxnLst>
              <a:rect l="0" t="0" r="r" b="b"/>
              <a:pathLst>
                <a:path w="199" h="390">
                  <a:moveTo>
                    <a:pt x="199" y="390"/>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46" name="Freeform 102"/>
            <p:cNvSpPr>
              <a:spLocks/>
            </p:cNvSpPr>
            <p:nvPr/>
          </p:nvSpPr>
          <p:spPr bwMode="auto">
            <a:xfrm>
              <a:off x="3891" y="3060"/>
              <a:ext cx="258" cy="358"/>
            </a:xfrm>
            <a:custGeom>
              <a:avLst/>
              <a:gdLst>
                <a:gd name="T0" fmla="*/ 258 w 258"/>
                <a:gd name="T1" fmla="*/ 0 h 358"/>
                <a:gd name="T2" fmla="*/ 0 w 258"/>
                <a:gd name="T3" fmla="*/ 358 h 358"/>
                <a:gd name="T4" fmla="*/ 0 60000 65536"/>
                <a:gd name="T5" fmla="*/ 0 60000 65536"/>
              </a:gdLst>
              <a:ahLst/>
              <a:cxnLst>
                <a:cxn ang="T4">
                  <a:pos x="T0" y="T1"/>
                </a:cxn>
                <a:cxn ang="T5">
                  <a:pos x="T2" y="T3"/>
                </a:cxn>
              </a:cxnLst>
              <a:rect l="0" t="0" r="r" b="b"/>
              <a:pathLst>
                <a:path w="258" h="358">
                  <a:moveTo>
                    <a:pt x="258" y="0"/>
                  </a:moveTo>
                  <a:lnTo>
                    <a:pt x="0" y="358"/>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47" name="Freeform 103"/>
            <p:cNvSpPr>
              <a:spLocks/>
            </p:cNvSpPr>
            <p:nvPr/>
          </p:nvSpPr>
          <p:spPr bwMode="auto">
            <a:xfrm>
              <a:off x="3626" y="3060"/>
              <a:ext cx="185" cy="351"/>
            </a:xfrm>
            <a:custGeom>
              <a:avLst/>
              <a:gdLst>
                <a:gd name="T0" fmla="*/ 0 w 185"/>
                <a:gd name="T1" fmla="*/ 0 h 351"/>
                <a:gd name="T2" fmla="*/ 185 w 185"/>
                <a:gd name="T3" fmla="*/ 351 h 351"/>
                <a:gd name="T4" fmla="*/ 0 60000 65536"/>
                <a:gd name="T5" fmla="*/ 0 60000 65536"/>
              </a:gdLst>
              <a:ahLst/>
              <a:cxnLst>
                <a:cxn ang="T4">
                  <a:pos x="T0" y="T1"/>
                </a:cxn>
                <a:cxn ang="T5">
                  <a:pos x="T2" y="T3"/>
                </a:cxn>
              </a:cxnLst>
              <a:rect l="0" t="0" r="r" b="b"/>
              <a:pathLst>
                <a:path w="185" h="351">
                  <a:moveTo>
                    <a:pt x="0" y="0"/>
                  </a:moveTo>
                  <a:lnTo>
                    <a:pt x="185" y="35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48" name="Freeform 104"/>
            <p:cNvSpPr>
              <a:spLocks/>
            </p:cNvSpPr>
            <p:nvPr/>
          </p:nvSpPr>
          <p:spPr bwMode="auto">
            <a:xfrm>
              <a:off x="3366" y="3457"/>
              <a:ext cx="439" cy="1"/>
            </a:xfrm>
            <a:custGeom>
              <a:avLst/>
              <a:gdLst>
                <a:gd name="T0" fmla="*/ 439 w 439"/>
                <a:gd name="T1" fmla="*/ 1 h 1"/>
                <a:gd name="T2" fmla="*/ 0 w 439"/>
                <a:gd name="T3" fmla="*/ 0 h 1"/>
                <a:gd name="T4" fmla="*/ 0 60000 65536"/>
                <a:gd name="T5" fmla="*/ 0 60000 65536"/>
              </a:gdLst>
              <a:ahLst/>
              <a:cxnLst>
                <a:cxn ang="T4">
                  <a:pos x="T0" y="T1"/>
                </a:cxn>
                <a:cxn ang="T5">
                  <a:pos x="T2" y="T3"/>
                </a:cxn>
              </a:cxnLst>
              <a:rect l="0" t="0" r="r" b="b"/>
              <a:pathLst>
                <a:path w="439" h="1">
                  <a:moveTo>
                    <a:pt x="439" y="1"/>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49" name="Freeform 105"/>
            <p:cNvSpPr>
              <a:spLocks/>
            </p:cNvSpPr>
            <p:nvPr/>
          </p:nvSpPr>
          <p:spPr bwMode="auto">
            <a:xfrm>
              <a:off x="3341" y="3497"/>
              <a:ext cx="199" cy="391"/>
            </a:xfrm>
            <a:custGeom>
              <a:avLst/>
              <a:gdLst>
                <a:gd name="T0" fmla="*/ 0 w 199"/>
                <a:gd name="T1" fmla="*/ 0 h 391"/>
                <a:gd name="T2" fmla="*/ 199 w 199"/>
                <a:gd name="T3" fmla="*/ 391 h 391"/>
                <a:gd name="T4" fmla="*/ 0 60000 65536"/>
                <a:gd name="T5" fmla="*/ 0 60000 65536"/>
              </a:gdLst>
              <a:ahLst/>
              <a:cxnLst>
                <a:cxn ang="T4">
                  <a:pos x="T0" y="T1"/>
                </a:cxn>
                <a:cxn ang="T5">
                  <a:pos x="T2" y="T3"/>
                </a:cxn>
              </a:cxnLst>
              <a:rect l="0" t="0" r="r" b="b"/>
              <a:pathLst>
                <a:path w="199" h="391">
                  <a:moveTo>
                    <a:pt x="0" y="0"/>
                  </a:moveTo>
                  <a:lnTo>
                    <a:pt x="199" y="391"/>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50" name="Line 106"/>
            <p:cNvSpPr>
              <a:spLocks noChangeShapeType="1"/>
            </p:cNvSpPr>
            <p:nvPr/>
          </p:nvSpPr>
          <p:spPr bwMode="auto">
            <a:xfrm flipH="1">
              <a:off x="3606" y="3936"/>
              <a:ext cx="48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51" name="Line 107"/>
            <p:cNvSpPr>
              <a:spLocks noChangeShapeType="1"/>
            </p:cNvSpPr>
            <p:nvPr/>
          </p:nvSpPr>
          <p:spPr bwMode="auto">
            <a:xfrm>
              <a:off x="4182" y="3936"/>
              <a:ext cx="48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52" name="Freeform 108"/>
            <p:cNvSpPr>
              <a:spLocks/>
            </p:cNvSpPr>
            <p:nvPr/>
          </p:nvSpPr>
          <p:spPr bwMode="auto">
            <a:xfrm>
              <a:off x="3586" y="3497"/>
              <a:ext cx="232" cy="391"/>
            </a:xfrm>
            <a:custGeom>
              <a:avLst/>
              <a:gdLst>
                <a:gd name="T0" fmla="*/ 232 w 232"/>
                <a:gd name="T1" fmla="*/ 0 h 391"/>
                <a:gd name="T2" fmla="*/ 0 w 232"/>
                <a:gd name="T3" fmla="*/ 391 h 391"/>
                <a:gd name="T4" fmla="*/ 0 60000 65536"/>
                <a:gd name="T5" fmla="*/ 0 60000 65536"/>
              </a:gdLst>
              <a:ahLst/>
              <a:cxnLst>
                <a:cxn ang="T4">
                  <a:pos x="T0" y="T1"/>
                </a:cxn>
                <a:cxn ang="T5">
                  <a:pos x="T2" y="T3"/>
                </a:cxn>
              </a:cxnLst>
              <a:rect l="0" t="0" r="r" b="b"/>
              <a:pathLst>
                <a:path w="232" h="391">
                  <a:moveTo>
                    <a:pt x="232" y="0"/>
                  </a:moveTo>
                  <a:lnTo>
                    <a:pt x="0" y="391"/>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53" name="Freeform 109"/>
            <p:cNvSpPr>
              <a:spLocks/>
            </p:cNvSpPr>
            <p:nvPr/>
          </p:nvSpPr>
          <p:spPr bwMode="auto">
            <a:xfrm>
              <a:off x="3871" y="3491"/>
              <a:ext cx="238" cy="404"/>
            </a:xfrm>
            <a:custGeom>
              <a:avLst/>
              <a:gdLst>
                <a:gd name="T0" fmla="*/ 0 w 238"/>
                <a:gd name="T1" fmla="*/ 0 h 404"/>
                <a:gd name="T2" fmla="*/ 238 w 238"/>
                <a:gd name="T3" fmla="*/ 404 h 404"/>
                <a:gd name="T4" fmla="*/ 0 60000 65536"/>
                <a:gd name="T5" fmla="*/ 0 60000 65536"/>
              </a:gdLst>
              <a:ahLst/>
              <a:cxnLst>
                <a:cxn ang="T4">
                  <a:pos x="T0" y="T1"/>
                </a:cxn>
                <a:cxn ang="T5">
                  <a:pos x="T2" y="T3"/>
                </a:cxn>
              </a:cxnLst>
              <a:rect l="0" t="0" r="r" b="b"/>
              <a:pathLst>
                <a:path w="238" h="404">
                  <a:moveTo>
                    <a:pt x="0" y="0"/>
                  </a:moveTo>
                  <a:lnTo>
                    <a:pt x="238" y="404"/>
                  </a:ln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54" name="Line 110"/>
            <p:cNvSpPr>
              <a:spLocks noChangeShapeType="1"/>
            </p:cNvSpPr>
            <p:nvPr/>
          </p:nvSpPr>
          <p:spPr bwMode="auto">
            <a:xfrm flipH="1">
              <a:off x="4134" y="3504"/>
              <a:ext cx="240" cy="3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55" name="Freeform 111"/>
            <p:cNvSpPr>
              <a:spLocks/>
            </p:cNvSpPr>
            <p:nvPr/>
          </p:nvSpPr>
          <p:spPr bwMode="auto">
            <a:xfrm>
              <a:off x="4447" y="3504"/>
              <a:ext cx="245" cy="391"/>
            </a:xfrm>
            <a:custGeom>
              <a:avLst/>
              <a:gdLst>
                <a:gd name="T0" fmla="*/ 245 w 245"/>
                <a:gd name="T1" fmla="*/ 391 h 391"/>
                <a:gd name="T2" fmla="*/ 0 w 245"/>
                <a:gd name="T3" fmla="*/ 0 h 391"/>
                <a:gd name="T4" fmla="*/ 0 60000 65536"/>
                <a:gd name="T5" fmla="*/ 0 60000 65536"/>
              </a:gdLst>
              <a:ahLst/>
              <a:cxnLst>
                <a:cxn ang="T4">
                  <a:pos x="T0" y="T1"/>
                </a:cxn>
                <a:cxn ang="T5">
                  <a:pos x="T2" y="T3"/>
                </a:cxn>
              </a:cxnLst>
              <a:rect l="0" t="0" r="r" b="b"/>
              <a:pathLst>
                <a:path w="245" h="391">
                  <a:moveTo>
                    <a:pt x="245" y="391"/>
                  </a:moveTo>
                  <a:lnTo>
                    <a:pt x="0"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56" name="Line 112"/>
            <p:cNvSpPr>
              <a:spLocks noChangeShapeType="1"/>
            </p:cNvSpPr>
            <p:nvPr/>
          </p:nvSpPr>
          <p:spPr bwMode="auto">
            <a:xfrm>
              <a:off x="3894" y="3456"/>
              <a:ext cx="48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57" name="Freeform 113"/>
            <p:cNvSpPr>
              <a:spLocks/>
            </p:cNvSpPr>
            <p:nvPr/>
          </p:nvSpPr>
          <p:spPr bwMode="auto">
            <a:xfrm>
              <a:off x="4181" y="3071"/>
              <a:ext cx="219" cy="347"/>
            </a:xfrm>
            <a:custGeom>
              <a:avLst/>
              <a:gdLst>
                <a:gd name="T0" fmla="*/ 0 w 219"/>
                <a:gd name="T1" fmla="*/ 0 h 347"/>
                <a:gd name="T2" fmla="*/ 82 w 219"/>
                <a:gd name="T3" fmla="*/ 204 h 347"/>
                <a:gd name="T4" fmla="*/ 219 w 219"/>
                <a:gd name="T5" fmla="*/ 347 h 347"/>
                <a:gd name="T6" fmla="*/ 0 60000 65536"/>
                <a:gd name="T7" fmla="*/ 0 60000 65536"/>
                <a:gd name="T8" fmla="*/ 0 60000 65536"/>
              </a:gdLst>
              <a:ahLst/>
              <a:cxnLst>
                <a:cxn ang="T6">
                  <a:pos x="T0" y="T1"/>
                </a:cxn>
                <a:cxn ang="T7">
                  <a:pos x="T2" y="T3"/>
                </a:cxn>
                <a:cxn ang="T8">
                  <a:pos x="T4" y="T5"/>
                </a:cxn>
              </a:cxnLst>
              <a:rect l="0" t="0" r="r" b="b"/>
              <a:pathLst>
                <a:path w="219" h="347">
                  <a:moveTo>
                    <a:pt x="0" y="0"/>
                  </a:moveTo>
                  <a:cubicBezTo>
                    <a:pt x="14" y="34"/>
                    <a:pt x="45" y="146"/>
                    <a:pt x="82" y="204"/>
                  </a:cubicBezTo>
                  <a:cubicBezTo>
                    <a:pt x="119" y="262"/>
                    <a:pt x="191" y="317"/>
                    <a:pt x="219" y="347"/>
                  </a:cubicBez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sp>
          <p:nvSpPr>
            <p:cNvPr id="184358" name="Text Box 114"/>
            <p:cNvSpPr txBox="1">
              <a:spLocks noChangeArrowheads="1"/>
            </p:cNvSpPr>
            <p:nvPr/>
          </p:nvSpPr>
          <p:spPr bwMode="auto">
            <a:xfrm>
              <a:off x="3750" y="2448"/>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a</a:t>
              </a:r>
            </a:p>
          </p:txBody>
        </p:sp>
        <p:sp>
          <p:nvSpPr>
            <p:cNvPr id="184359" name="Text Box 115"/>
            <p:cNvSpPr txBox="1">
              <a:spLocks noChangeArrowheads="1"/>
            </p:cNvSpPr>
            <p:nvPr/>
          </p:nvSpPr>
          <p:spPr bwMode="auto">
            <a:xfrm>
              <a:off x="3410" y="2832"/>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b</a:t>
              </a:r>
            </a:p>
          </p:txBody>
        </p:sp>
        <p:sp>
          <p:nvSpPr>
            <p:cNvPr id="184360" name="Text Box 116"/>
            <p:cNvSpPr txBox="1">
              <a:spLocks noChangeArrowheads="1"/>
            </p:cNvSpPr>
            <p:nvPr/>
          </p:nvSpPr>
          <p:spPr bwMode="auto">
            <a:xfrm>
              <a:off x="4182" y="2832"/>
              <a:ext cx="18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c</a:t>
              </a:r>
            </a:p>
          </p:txBody>
        </p:sp>
        <p:sp>
          <p:nvSpPr>
            <p:cNvPr id="184361" name="Text Box 117"/>
            <p:cNvSpPr txBox="1">
              <a:spLocks noChangeArrowheads="1"/>
            </p:cNvSpPr>
            <p:nvPr/>
          </p:nvSpPr>
          <p:spPr bwMode="auto">
            <a:xfrm>
              <a:off x="3122" y="3264"/>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d</a:t>
              </a:r>
            </a:p>
          </p:txBody>
        </p:sp>
        <p:sp>
          <p:nvSpPr>
            <p:cNvPr id="184362" name="Text Box 118"/>
            <p:cNvSpPr txBox="1">
              <a:spLocks noChangeArrowheads="1"/>
            </p:cNvSpPr>
            <p:nvPr/>
          </p:nvSpPr>
          <p:spPr bwMode="auto">
            <a:xfrm>
              <a:off x="3794" y="3120"/>
              <a:ext cx="19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e</a:t>
              </a:r>
            </a:p>
          </p:txBody>
        </p:sp>
        <p:sp>
          <p:nvSpPr>
            <p:cNvPr id="184363" name="Text Box 119"/>
            <p:cNvSpPr txBox="1">
              <a:spLocks noChangeArrowheads="1"/>
            </p:cNvSpPr>
            <p:nvPr/>
          </p:nvSpPr>
          <p:spPr bwMode="auto">
            <a:xfrm>
              <a:off x="4478" y="3264"/>
              <a:ext cx="16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f</a:t>
              </a:r>
            </a:p>
          </p:txBody>
        </p:sp>
        <p:sp>
          <p:nvSpPr>
            <p:cNvPr id="184364" name="Text Box 120"/>
            <p:cNvSpPr txBox="1">
              <a:spLocks noChangeArrowheads="1"/>
            </p:cNvSpPr>
            <p:nvPr/>
          </p:nvSpPr>
          <p:spPr bwMode="auto">
            <a:xfrm>
              <a:off x="2930" y="3936"/>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dirty="0">
                  <a:solidFill>
                    <a:schemeClr val="tx2"/>
                  </a:solidFill>
                </a:rPr>
                <a:t>g</a:t>
              </a:r>
            </a:p>
          </p:txBody>
        </p:sp>
        <p:sp>
          <p:nvSpPr>
            <p:cNvPr id="184365" name="Text Box 121"/>
            <p:cNvSpPr txBox="1">
              <a:spLocks noChangeArrowheads="1"/>
            </p:cNvSpPr>
            <p:nvPr/>
          </p:nvSpPr>
          <p:spPr bwMode="auto">
            <a:xfrm>
              <a:off x="3458" y="3936"/>
              <a:ext cx="18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h</a:t>
              </a:r>
            </a:p>
          </p:txBody>
        </p:sp>
        <p:sp>
          <p:nvSpPr>
            <p:cNvPr id="184366" name="Text Box 122"/>
            <p:cNvSpPr txBox="1">
              <a:spLocks noChangeArrowheads="1"/>
            </p:cNvSpPr>
            <p:nvPr/>
          </p:nvSpPr>
          <p:spPr bwMode="auto">
            <a:xfrm>
              <a:off x="4050" y="3936"/>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i</a:t>
              </a:r>
            </a:p>
          </p:txBody>
        </p:sp>
        <p:sp>
          <p:nvSpPr>
            <p:cNvPr id="184367" name="Text Box 123"/>
            <p:cNvSpPr txBox="1">
              <a:spLocks noChangeArrowheads="1"/>
            </p:cNvSpPr>
            <p:nvPr/>
          </p:nvSpPr>
          <p:spPr bwMode="auto">
            <a:xfrm>
              <a:off x="4626" y="3936"/>
              <a:ext cx="15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buFontTx/>
                <a:buNone/>
              </a:pPr>
              <a:r>
                <a:rPr lang="en-US" sz="1800">
                  <a:solidFill>
                    <a:schemeClr val="tx2"/>
                  </a:solidFill>
                </a:rPr>
                <a:t>j</a:t>
              </a:r>
            </a:p>
          </p:txBody>
        </p:sp>
        <p:sp>
          <p:nvSpPr>
            <p:cNvPr id="184368" name="Line 125"/>
            <p:cNvSpPr>
              <a:spLocks noChangeShapeType="1"/>
            </p:cNvSpPr>
            <p:nvPr/>
          </p:nvSpPr>
          <p:spPr bwMode="auto">
            <a:xfrm flipH="1">
              <a:off x="3650" y="3024"/>
              <a:ext cx="48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CA"/>
            </a:p>
          </p:txBody>
        </p:sp>
      </p:gr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180</a:t>
            </a:fld>
            <a:endParaRPr lang="en-US"/>
          </a:p>
        </p:txBody>
      </p:sp>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5346"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5732"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5347"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5733"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5348"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5734"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85349" name="Rectangle 5"/>
              <p:cNvSpPr>
                <a:spLocks noChangeArrowheads="1"/>
              </p:cNvSpPr>
              <p:nvPr/>
            </p:nvSpPr>
            <p:spPr bwMode="auto">
              <a:xfrm>
                <a:off x="304800" y="228600"/>
                <a:ext cx="8382000" cy="3046988"/>
              </a:xfrm>
              <a:prstGeom prst="rect">
                <a:avLst/>
              </a:prstGeom>
              <a:noFill/>
              <a:ln>
                <a:noFill/>
              </a:ln>
              <a:effectLst/>
              <a:extLst>
                <a:ext uri="{909E8E84-426E-40DD-AFC4-6F175D3DCCD1}">
                  <a14:hiddenFill>
                    <a:solidFill>
                      <a:schemeClr val="accent1"/>
                    </a:solidFill>
                  </a14:hiddenFill>
                </a:ext>
                <a:ext uri="{91240B29-F687-4F45-9708-019B960494DF}">
                  <a14:hiddenLine w="3175">
                    <a:solidFill>
                      <a:srgbClr val="000066"/>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marL="342900" indent="-342900">
                  <a:buFont typeface="+mj-lt"/>
                  <a:buAutoNum type="arabicPeriod" startAt="27"/>
                </a:pPr>
                <a:r>
                  <a:rPr lang="en-CA" b="1" dirty="0">
                    <a:cs typeface="Times New Roman" pitchFamily="18" charset="0"/>
                  </a:rPr>
                  <a:t>Treasure Hunt:  </a:t>
                </a:r>
                <a:br>
                  <a:rPr lang="en-CA" b="1" dirty="0">
                    <a:cs typeface="Times New Roman" pitchFamily="18" charset="0"/>
                  </a:rPr>
                </a:br>
                <a:r>
                  <a:rPr lang="en-CA" dirty="0">
                    <a:cs typeface="Times New Roman" pitchFamily="18" charset="0"/>
                  </a:rPr>
                  <a:t>You are given a directed graph G = (</a:t>
                </a:r>
                <a:r>
                  <a:rPr lang="en-CA" dirty="0" smtClean="0">
                    <a:cs typeface="Times New Roman" pitchFamily="18" charset="0"/>
                  </a:rPr>
                  <a:t>V , E</a:t>
                </a:r>
                <a:r>
                  <a:rPr lang="en-CA" dirty="0">
                    <a:cs typeface="Times New Roman" pitchFamily="18" charset="0"/>
                  </a:rPr>
                  <a:t>), where each node v</a:t>
                </a:r>
                <a14:m>
                  <m:oMath xmlns:m="http://schemas.openxmlformats.org/officeDocument/2006/math">
                    <m:r>
                      <a:rPr lang="en-US" i="1">
                        <a:latin typeface="Cambria Math"/>
                        <a:ea typeface="Cambria Math"/>
                        <a:cs typeface="Times New Roman" pitchFamily="18" charset="0"/>
                      </a:rPr>
                      <m:t>∈</m:t>
                    </m:r>
                  </m:oMath>
                </a14:m>
                <a:r>
                  <a:rPr lang="en-CA" dirty="0">
                    <a:cs typeface="Times New Roman" pitchFamily="18" charset="0"/>
                  </a:rPr>
                  <a:t>V in the graph has a certain amount of money m(v</a:t>
                </a:r>
                <a:r>
                  <a:rPr lang="en-CA" dirty="0" smtClean="0">
                    <a:cs typeface="Times New Roman" pitchFamily="18" charset="0"/>
                  </a:rPr>
                  <a:t>) &gt; </a:t>
                </a:r>
                <a:r>
                  <a:rPr lang="en-CA" dirty="0">
                    <a:cs typeface="Times New Roman" pitchFamily="18" charset="0"/>
                  </a:rPr>
                  <a:t>0 sitting on it. You are also given vertices s, t </a:t>
                </a:r>
                <a14:m>
                  <m:oMath xmlns:m="http://schemas.openxmlformats.org/officeDocument/2006/math">
                    <m:r>
                      <a:rPr lang="en-US" i="1">
                        <a:latin typeface="Cambria Math"/>
                        <a:ea typeface="Cambria Math"/>
                        <a:cs typeface="Times New Roman" pitchFamily="18" charset="0"/>
                      </a:rPr>
                      <m:t>∈ </m:t>
                    </m:r>
                  </m:oMath>
                </a14:m>
                <a:r>
                  <a:rPr lang="en-CA" dirty="0">
                    <a:cs typeface="Times New Roman" pitchFamily="18" charset="0"/>
                  </a:rPr>
                  <a:t>V . The goal is to start at s and follow a directed path in G to reach t, picking up as much money along the way as you can. You may visit the same node more than once, but once you have picked up the money at that node, it is gone. Define M(G, m, s, t) to be the maximum money that can be picked up on any path </a:t>
                </a:r>
                <a:r>
                  <a:rPr lang="en-CA" dirty="0" smtClean="0">
                    <a:cs typeface="Times New Roman" pitchFamily="18" charset="0"/>
                  </a:rPr>
                  <a:t>in G from </a:t>
                </a:r>
                <a:r>
                  <a:rPr lang="en-CA" dirty="0">
                    <a:cs typeface="Times New Roman" pitchFamily="18" charset="0"/>
                  </a:rPr>
                  <a:t>s to t  (paths need not be simple</a:t>
                </a:r>
                <a:r>
                  <a:rPr lang="en-CA" dirty="0" smtClean="0">
                    <a:cs typeface="Times New Roman" pitchFamily="18" charset="0"/>
                  </a:rPr>
                  <a:t>).</a:t>
                </a:r>
                <a:endParaRPr lang="en-CA" dirty="0">
                  <a:cs typeface="Times New Roman" pitchFamily="18" charset="0"/>
                </a:endParaRPr>
              </a:p>
              <a:p>
                <a:pPr marL="630238" lvl="1" indent="-273050">
                  <a:buFont typeface="+mj-lt"/>
                  <a:buAutoNum type="alphaLcParenR"/>
                </a:pPr>
                <a:r>
                  <a:rPr lang="en-CA" dirty="0">
                    <a:cs typeface="Times New Roman" pitchFamily="18" charset="0"/>
                  </a:rPr>
                  <a:t>Show M(G, m, s, t) and a corresponding optimum </a:t>
                </a:r>
                <a:r>
                  <a:rPr lang="en-CA" dirty="0" err="1">
                    <a:cs typeface="Times New Roman" pitchFamily="18" charset="0"/>
                  </a:rPr>
                  <a:t>st</a:t>
                </a:r>
                <a:r>
                  <a:rPr lang="en-CA" dirty="0">
                    <a:cs typeface="Times New Roman" pitchFamily="18" charset="0"/>
                  </a:rPr>
                  <a:t>-path  for the instance </a:t>
                </a:r>
                <a:r>
                  <a:rPr lang="en-CA" dirty="0" smtClean="0">
                    <a:cs typeface="Times New Roman" pitchFamily="18" charset="0"/>
                  </a:rPr>
                  <a:t>shown in the Figure below.</a:t>
                </a:r>
              </a:p>
              <a:p>
                <a:pPr marL="630238" lvl="1" indent="-273050">
                  <a:buFont typeface="+mj-lt"/>
                  <a:buAutoNum type="alphaLcParenR"/>
                </a:pPr>
                <a:r>
                  <a:rPr lang="en-CA" dirty="0">
                    <a:cs typeface="Times New Roman" pitchFamily="18" charset="0"/>
                  </a:rPr>
                  <a:t>Design and analyze an efficient algorithm to compute M(G, m, s, t).  </a:t>
                </a:r>
                <a:br>
                  <a:rPr lang="en-CA" dirty="0">
                    <a:cs typeface="Times New Roman" pitchFamily="18" charset="0"/>
                  </a:rPr>
                </a:br>
                <a:r>
                  <a:rPr lang="en-CA" dirty="0">
                    <a:cs typeface="Times New Roman" pitchFamily="18" charset="0"/>
                  </a:rPr>
                  <a:t>(You are not required to compute the optimum </a:t>
                </a:r>
                <a:r>
                  <a:rPr lang="en-CA" dirty="0" err="1">
                    <a:cs typeface="Times New Roman" pitchFamily="18" charset="0"/>
                  </a:rPr>
                  <a:t>st</a:t>
                </a:r>
                <a:r>
                  <a:rPr lang="en-CA" dirty="0">
                    <a:cs typeface="Times New Roman" pitchFamily="18" charset="0"/>
                  </a:rPr>
                  <a:t>-path.) </a:t>
                </a:r>
                <a:br>
                  <a:rPr lang="en-CA" dirty="0">
                    <a:cs typeface="Times New Roman" pitchFamily="18" charset="0"/>
                  </a:rPr>
                </a:br>
                <a:r>
                  <a:rPr lang="en-CA" dirty="0">
                    <a:cs typeface="Times New Roman" pitchFamily="18" charset="0"/>
                  </a:rPr>
                  <a:t>For full credit, your algorithm should run in time O( |V| + |E| ).    </a:t>
                </a:r>
                <a:r>
                  <a:rPr lang="en-CA" dirty="0" smtClean="0">
                    <a:solidFill>
                      <a:srgbClr val="C00000"/>
                    </a:solidFill>
                    <a:cs typeface="Times New Roman" pitchFamily="18" charset="0"/>
                  </a:rPr>
                  <a:t>[</a:t>
                </a:r>
                <a:r>
                  <a:rPr lang="en-CA" dirty="0">
                    <a:solidFill>
                      <a:srgbClr val="C00000"/>
                    </a:solidFill>
                    <a:cs typeface="Times New Roman" pitchFamily="18" charset="0"/>
                  </a:rPr>
                  <a:t>Hint: think about SCC.]</a:t>
                </a:r>
              </a:p>
            </p:txBody>
          </p:sp>
        </mc:Choice>
        <mc:Fallback xmlns="">
          <p:sp>
            <p:nvSpPr>
              <p:cNvPr id="185349" name="Rectangle 5"/>
              <p:cNvSpPr>
                <a:spLocks noRot="1" noChangeAspect="1" noMove="1" noResize="1" noEditPoints="1" noAdjustHandles="1" noChangeArrowheads="1" noChangeShapeType="1" noTextEdit="1"/>
              </p:cNvSpPr>
              <p:nvPr/>
            </p:nvSpPr>
            <p:spPr bwMode="auto">
              <a:xfrm>
                <a:off x="304800" y="228600"/>
                <a:ext cx="8382000" cy="3046988"/>
              </a:xfrm>
              <a:prstGeom prst="rect">
                <a:avLst/>
              </a:prstGeom>
              <a:blipFill rotWithShape="1">
                <a:blip r:embed="rId7"/>
                <a:stretch>
                  <a:fillRect l="-218" t="-601" r="-218" b="-160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p:grpSp>
        <p:nvGrpSpPr>
          <p:cNvPr id="55" name="Group 54"/>
          <p:cNvGrpSpPr/>
          <p:nvPr/>
        </p:nvGrpSpPr>
        <p:grpSpPr>
          <a:xfrm>
            <a:off x="2493635" y="3956486"/>
            <a:ext cx="3148099" cy="1970688"/>
            <a:chOff x="1520884" y="5149797"/>
            <a:chExt cx="3148099" cy="1970688"/>
          </a:xfrm>
        </p:grpSpPr>
        <p:sp>
          <p:nvSpPr>
            <p:cNvPr id="56" name="Oval 14"/>
            <p:cNvSpPr>
              <a:spLocks noChangeArrowheads="1"/>
            </p:cNvSpPr>
            <p:nvPr/>
          </p:nvSpPr>
          <p:spPr bwMode="auto">
            <a:xfrm>
              <a:off x="1777209" y="6016287"/>
              <a:ext cx="358857" cy="301332"/>
            </a:xfrm>
            <a:prstGeom prst="ellipse">
              <a:avLst/>
            </a:prstGeom>
            <a:solidFill>
              <a:schemeClr val="bg1">
                <a:lumMod val="85000"/>
              </a:schemeClr>
            </a:solidFill>
            <a:ln w="28575">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100" b="1" dirty="0" smtClean="0"/>
                <a:t>1</a:t>
              </a:r>
              <a:endParaRPr lang="en-US" sz="1100" b="1" dirty="0"/>
            </a:p>
          </p:txBody>
        </p:sp>
        <p:sp>
          <p:nvSpPr>
            <p:cNvPr id="57" name="Oval 14"/>
            <p:cNvSpPr>
              <a:spLocks noChangeArrowheads="1"/>
            </p:cNvSpPr>
            <p:nvPr/>
          </p:nvSpPr>
          <p:spPr bwMode="auto">
            <a:xfrm>
              <a:off x="2496253" y="6016287"/>
              <a:ext cx="358857" cy="301332"/>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100" b="1" dirty="0" smtClean="0"/>
                <a:t>2</a:t>
              </a:r>
              <a:endParaRPr lang="en-US" sz="1100" b="1" dirty="0"/>
            </a:p>
          </p:txBody>
        </p:sp>
        <p:sp>
          <p:nvSpPr>
            <p:cNvPr id="58" name="Oval 14"/>
            <p:cNvSpPr>
              <a:spLocks noChangeArrowheads="1"/>
            </p:cNvSpPr>
            <p:nvPr/>
          </p:nvSpPr>
          <p:spPr bwMode="auto">
            <a:xfrm>
              <a:off x="4081465" y="6015091"/>
              <a:ext cx="358857" cy="301332"/>
            </a:xfrm>
            <a:prstGeom prst="ellipse">
              <a:avLst/>
            </a:prstGeom>
            <a:solidFill>
              <a:schemeClr val="bg1">
                <a:lumMod val="85000"/>
              </a:schemeClr>
            </a:solidFill>
            <a:ln w="28575">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100" b="1" dirty="0"/>
                <a:t>2</a:t>
              </a:r>
            </a:p>
          </p:txBody>
        </p:sp>
        <p:sp>
          <p:nvSpPr>
            <p:cNvPr id="59" name="Oval 14"/>
            <p:cNvSpPr>
              <a:spLocks noChangeArrowheads="1"/>
            </p:cNvSpPr>
            <p:nvPr/>
          </p:nvSpPr>
          <p:spPr bwMode="auto">
            <a:xfrm>
              <a:off x="3284922" y="6816761"/>
              <a:ext cx="358857" cy="301332"/>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100" b="1" dirty="0"/>
                <a:t>3</a:t>
              </a:r>
            </a:p>
          </p:txBody>
        </p:sp>
        <p:sp>
          <p:nvSpPr>
            <p:cNvPr id="60" name="Oval 14"/>
            <p:cNvSpPr>
              <a:spLocks noChangeArrowheads="1"/>
            </p:cNvSpPr>
            <p:nvPr/>
          </p:nvSpPr>
          <p:spPr bwMode="auto">
            <a:xfrm>
              <a:off x="2501742" y="6819153"/>
              <a:ext cx="358857" cy="301332"/>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100" b="1" dirty="0" smtClean="0"/>
                <a:t>4</a:t>
              </a:r>
              <a:endParaRPr lang="en-US" sz="1100" b="1" dirty="0"/>
            </a:p>
          </p:txBody>
        </p:sp>
        <p:sp>
          <p:nvSpPr>
            <p:cNvPr id="61" name="Oval 14"/>
            <p:cNvSpPr>
              <a:spLocks noChangeArrowheads="1"/>
            </p:cNvSpPr>
            <p:nvPr/>
          </p:nvSpPr>
          <p:spPr bwMode="auto">
            <a:xfrm>
              <a:off x="3284922" y="6016287"/>
              <a:ext cx="358857" cy="301332"/>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100" b="1" dirty="0" smtClean="0"/>
                <a:t>6</a:t>
              </a:r>
              <a:endParaRPr lang="en-US" sz="1100" b="1" dirty="0"/>
            </a:p>
          </p:txBody>
        </p:sp>
        <p:sp>
          <p:nvSpPr>
            <p:cNvPr id="62" name="Oval 14"/>
            <p:cNvSpPr>
              <a:spLocks noChangeArrowheads="1"/>
            </p:cNvSpPr>
            <p:nvPr/>
          </p:nvSpPr>
          <p:spPr bwMode="auto">
            <a:xfrm>
              <a:off x="1777209" y="6819153"/>
              <a:ext cx="358857" cy="301332"/>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100" b="1" dirty="0" smtClean="0"/>
                <a:t>2</a:t>
              </a:r>
              <a:endParaRPr lang="en-US" sz="1100" b="1" dirty="0"/>
            </a:p>
          </p:txBody>
        </p:sp>
        <p:sp>
          <p:nvSpPr>
            <p:cNvPr id="63" name="Oval 14"/>
            <p:cNvSpPr>
              <a:spLocks noChangeArrowheads="1"/>
            </p:cNvSpPr>
            <p:nvPr/>
          </p:nvSpPr>
          <p:spPr bwMode="auto">
            <a:xfrm>
              <a:off x="4081465" y="6819153"/>
              <a:ext cx="358857" cy="301332"/>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100" b="1" dirty="0" smtClean="0"/>
                <a:t>8</a:t>
              </a:r>
              <a:endParaRPr lang="en-US" sz="1100" b="1" dirty="0"/>
            </a:p>
          </p:txBody>
        </p:sp>
        <p:cxnSp>
          <p:nvCxnSpPr>
            <p:cNvPr id="64" name="Straight Arrow Connector 63"/>
            <p:cNvCxnSpPr>
              <a:stCxn id="56" idx="4"/>
              <a:endCxn id="62" idx="0"/>
            </p:cNvCxnSpPr>
            <p:nvPr/>
          </p:nvCxnSpPr>
          <p:spPr>
            <a:xfrm>
              <a:off x="1956638" y="6317619"/>
              <a:ext cx="0" cy="501534"/>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56" idx="6"/>
              <a:endCxn id="57" idx="2"/>
            </p:cNvCxnSpPr>
            <p:nvPr/>
          </p:nvCxnSpPr>
          <p:spPr>
            <a:xfrm>
              <a:off x="2136066" y="6166953"/>
              <a:ext cx="360187"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61" idx="4"/>
              <a:endCxn id="59" idx="0"/>
            </p:cNvCxnSpPr>
            <p:nvPr/>
          </p:nvCxnSpPr>
          <p:spPr>
            <a:xfrm>
              <a:off x="3464351" y="6317619"/>
              <a:ext cx="0" cy="49914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61" idx="6"/>
              <a:endCxn id="58" idx="2"/>
            </p:cNvCxnSpPr>
            <p:nvPr/>
          </p:nvCxnSpPr>
          <p:spPr>
            <a:xfrm flipV="1">
              <a:off x="3643779" y="6165757"/>
              <a:ext cx="437686" cy="119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63" idx="0"/>
              <a:endCxn id="58" idx="4"/>
            </p:cNvCxnSpPr>
            <p:nvPr/>
          </p:nvCxnSpPr>
          <p:spPr>
            <a:xfrm flipV="1">
              <a:off x="4260894" y="6316423"/>
              <a:ext cx="0" cy="50273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57" idx="6"/>
              <a:endCxn id="61" idx="2"/>
            </p:cNvCxnSpPr>
            <p:nvPr/>
          </p:nvCxnSpPr>
          <p:spPr>
            <a:xfrm>
              <a:off x="2855110" y="6166953"/>
              <a:ext cx="429812"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60" idx="0"/>
              <a:endCxn id="57" idx="4"/>
            </p:cNvCxnSpPr>
            <p:nvPr/>
          </p:nvCxnSpPr>
          <p:spPr>
            <a:xfrm flipH="1" flipV="1">
              <a:off x="2675682" y="6317619"/>
              <a:ext cx="5489" cy="501534"/>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62" idx="7"/>
              <a:endCxn id="57" idx="3"/>
            </p:cNvCxnSpPr>
            <p:nvPr/>
          </p:nvCxnSpPr>
          <p:spPr>
            <a:xfrm flipV="1">
              <a:off x="2083513" y="6273490"/>
              <a:ext cx="465293" cy="58979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59" idx="1"/>
              <a:endCxn id="57" idx="5"/>
            </p:cNvCxnSpPr>
            <p:nvPr/>
          </p:nvCxnSpPr>
          <p:spPr>
            <a:xfrm flipH="1" flipV="1">
              <a:off x="2802557" y="6273490"/>
              <a:ext cx="534918" cy="5874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61" idx="3"/>
              <a:endCxn id="60" idx="7"/>
            </p:cNvCxnSpPr>
            <p:nvPr/>
          </p:nvCxnSpPr>
          <p:spPr>
            <a:xfrm flipH="1">
              <a:off x="2808046" y="6273490"/>
              <a:ext cx="529429" cy="58979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1520884" y="6011576"/>
              <a:ext cx="266420" cy="338554"/>
            </a:xfrm>
            <a:prstGeom prst="rect">
              <a:avLst/>
            </a:prstGeom>
            <a:noFill/>
          </p:spPr>
          <p:txBody>
            <a:bodyPr wrap="none" rtlCol="0">
              <a:spAutoFit/>
            </a:bodyPr>
            <a:lstStyle/>
            <a:p>
              <a:pPr>
                <a:buNone/>
              </a:pPr>
              <a:r>
                <a:rPr lang="en-CA" sz="1600" b="1" dirty="0" smtClean="0"/>
                <a:t>s</a:t>
              </a:r>
              <a:endParaRPr lang="en-CA" sz="1600" b="1" dirty="0"/>
            </a:p>
          </p:txBody>
        </p:sp>
        <p:sp>
          <p:nvSpPr>
            <p:cNvPr id="75" name="TextBox 74"/>
            <p:cNvSpPr txBox="1"/>
            <p:nvPr/>
          </p:nvSpPr>
          <p:spPr>
            <a:xfrm>
              <a:off x="4413785" y="6009262"/>
              <a:ext cx="255198" cy="338554"/>
            </a:xfrm>
            <a:prstGeom prst="rect">
              <a:avLst/>
            </a:prstGeom>
            <a:noFill/>
          </p:spPr>
          <p:txBody>
            <a:bodyPr wrap="none" rtlCol="0">
              <a:spAutoFit/>
            </a:bodyPr>
            <a:lstStyle/>
            <a:p>
              <a:pPr>
                <a:buNone/>
              </a:pPr>
              <a:r>
                <a:rPr lang="en-CA" sz="1600" b="1" dirty="0" smtClean="0"/>
                <a:t>t</a:t>
              </a:r>
              <a:endParaRPr lang="en-CA" sz="1600" b="1" dirty="0"/>
            </a:p>
          </p:txBody>
        </p:sp>
        <p:sp>
          <p:nvSpPr>
            <p:cNvPr id="76" name="Oval 14"/>
            <p:cNvSpPr>
              <a:spLocks noChangeArrowheads="1"/>
            </p:cNvSpPr>
            <p:nvPr/>
          </p:nvSpPr>
          <p:spPr bwMode="auto">
            <a:xfrm>
              <a:off x="1777209" y="5150994"/>
              <a:ext cx="358857" cy="301332"/>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100" b="1" dirty="0" smtClean="0"/>
                <a:t>9</a:t>
              </a:r>
              <a:endParaRPr lang="en-US" sz="1100" b="1" dirty="0"/>
            </a:p>
          </p:txBody>
        </p:sp>
        <p:sp>
          <p:nvSpPr>
            <p:cNvPr id="77" name="Oval 14"/>
            <p:cNvSpPr>
              <a:spLocks noChangeArrowheads="1"/>
            </p:cNvSpPr>
            <p:nvPr/>
          </p:nvSpPr>
          <p:spPr bwMode="auto">
            <a:xfrm>
              <a:off x="2496253" y="5150994"/>
              <a:ext cx="358857" cy="301332"/>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100" b="1" dirty="0" smtClean="0"/>
                <a:t>4</a:t>
              </a:r>
              <a:endParaRPr lang="en-US" sz="1100" b="1" dirty="0"/>
            </a:p>
          </p:txBody>
        </p:sp>
        <p:sp>
          <p:nvSpPr>
            <p:cNvPr id="78" name="Oval 14"/>
            <p:cNvSpPr>
              <a:spLocks noChangeArrowheads="1"/>
            </p:cNvSpPr>
            <p:nvPr/>
          </p:nvSpPr>
          <p:spPr bwMode="auto">
            <a:xfrm>
              <a:off x="4081465" y="5149797"/>
              <a:ext cx="358857" cy="301332"/>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100" b="1" dirty="0" smtClean="0"/>
                <a:t>5</a:t>
              </a:r>
              <a:endParaRPr lang="en-US" sz="1100" b="1" dirty="0"/>
            </a:p>
          </p:txBody>
        </p:sp>
        <p:sp>
          <p:nvSpPr>
            <p:cNvPr id="79" name="Oval 14"/>
            <p:cNvSpPr>
              <a:spLocks noChangeArrowheads="1"/>
            </p:cNvSpPr>
            <p:nvPr/>
          </p:nvSpPr>
          <p:spPr bwMode="auto">
            <a:xfrm>
              <a:off x="3284922" y="5150994"/>
              <a:ext cx="358857" cy="301332"/>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100" b="1" dirty="0" smtClean="0"/>
                <a:t>3</a:t>
              </a:r>
              <a:endParaRPr lang="en-US" sz="1100" b="1" dirty="0"/>
            </a:p>
          </p:txBody>
        </p:sp>
        <p:cxnSp>
          <p:nvCxnSpPr>
            <p:cNvPr id="80" name="Straight Arrow Connector 79"/>
            <p:cNvCxnSpPr>
              <a:stCxn id="76" idx="6"/>
              <a:endCxn id="77" idx="2"/>
            </p:cNvCxnSpPr>
            <p:nvPr/>
          </p:nvCxnSpPr>
          <p:spPr>
            <a:xfrm>
              <a:off x="2136066" y="5301660"/>
              <a:ext cx="360187"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79" idx="6"/>
              <a:endCxn id="78" idx="2"/>
            </p:cNvCxnSpPr>
            <p:nvPr/>
          </p:nvCxnSpPr>
          <p:spPr>
            <a:xfrm flipV="1">
              <a:off x="3643779" y="5300463"/>
              <a:ext cx="437686" cy="119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77" idx="6"/>
              <a:endCxn id="79" idx="2"/>
            </p:cNvCxnSpPr>
            <p:nvPr/>
          </p:nvCxnSpPr>
          <p:spPr>
            <a:xfrm>
              <a:off x="2855110" y="5301660"/>
              <a:ext cx="429812"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76" idx="5"/>
              <a:endCxn id="57" idx="1"/>
            </p:cNvCxnSpPr>
            <p:nvPr/>
          </p:nvCxnSpPr>
          <p:spPr>
            <a:xfrm>
              <a:off x="2083513" y="5408197"/>
              <a:ext cx="465293" cy="652219"/>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56" idx="0"/>
              <a:endCxn id="76" idx="4"/>
            </p:cNvCxnSpPr>
            <p:nvPr/>
          </p:nvCxnSpPr>
          <p:spPr>
            <a:xfrm flipV="1">
              <a:off x="1956638" y="5452326"/>
              <a:ext cx="0" cy="56396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61" idx="5"/>
              <a:endCxn id="63" idx="1"/>
            </p:cNvCxnSpPr>
            <p:nvPr/>
          </p:nvCxnSpPr>
          <p:spPr>
            <a:xfrm>
              <a:off x="3591226" y="6273490"/>
              <a:ext cx="542792" cy="58979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58" idx="0"/>
              <a:endCxn id="78" idx="4"/>
            </p:cNvCxnSpPr>
            <p:nvPr/>
          </p:nvCxnSpPr>
          <p:spPr>
            <a:xfrm flipV="1">
              <a:off x="4260894" y="5451129"/>
              <a:ext cx="0" cy="563962"/>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79" idx="5"/>
              <a:endCxn id="58" idx="1"/>
            </p:cNvCxnSpPr>
            <p:nvPr/>
          </p:nvCxnSpPr>
          <p:spPr>
            <a:xfrm>
              <a:off x="3591226" y="5408197"/>
              <a:ext cx="542792" cy="65102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stCxn id="57" idx="0"/>
              <a:endCxn id="77" idx="4"/>
            </p:cNvCxnSpPr>
            <p:nvPr/>
          </p:nvCxnSpPr>
          <p:spPr>
            <a:xfrm flipV="1">
              <a:off x="2675682" y="5452326"/>
              <a:ext cx="0" cy="56396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61" idx="0"/>
              <a:endCxn id="79" idx="4"/>
            </p:cNvCxnSpPr>
            <p:nvPr/>
          </p:nvCxnSpPr>
          <p:spPr>
            <a:xfrm flipV="1">
              <a:off x="3464351" y="5452326"/>
              <a:ext cx="0" cy="56396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61" idx="1"/>
              <a:endCxn id="77" idx="5"/>
            </p:cNvCxnSpPr>
            <p:nvPr/>
          </p:nvCxnSpPr>
          <p:spPr>
            <a:xfrm flipH="1" flipV="1">
              <a:off x="2802557" y="5408197"/>
              <a:ext cx="534918" cy="652219"/>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a:stCxn id="57" idx="7"/>
              <a:endCxn id="79" idx="3"/>
            </p:cNvCxnSpPr>
            <p:nvPr/>
          </p:nvCxnSpPr>
          <p:spPr>
            <a:xfrm flipV="1">
              <a:off x="2802557" y="5408197"/>
              <a:ext cx="534918" cy="652219"/>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181</a:t>
            </a:fld>
            <a:endParaRPr lang="en-US"/>
          </a:p>
        </p:txBody>
      </p:sp>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5346"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04829" name="Equation" r:id="rId3" imgW="114151" imgH="215619" progId="Equation.3">
                  <p:embed/>
                </p:oleObj>
              </mc:Choice>
              <mc:Fallback>
                <p:oleObj name="Equation" r:id="rId3" imgW="114151"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5347"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04830" name="Equation" r:id="rId5" imgW="114151" imgH="215619" progId="Equation.3">
                  <p:embed/>
                </p:oleObj>
              </mc:Choice>
              <mc:Fallback>
                <p:oleObj name="Equation" r:id="rId5" imgW="114151"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5348"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04831" name="Equation" r:id="rId6" imgW="114151" imgH="215619" progId="Equation.3">
                  <p:embed/>
                </p:oleObj>
              </mc:Choice>
              <mc:Fallback>
                <p:oleObj name="Equation" r:id="rId6" imgW="114151"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5349" name="Rectangle 5"/>
          <p:cNvSpPr>
            <a:spLocks noChangeArrowheads="1"/>
          </p:cNvSpPr>
          <p:nvPr/>
        </p:nvSpPr>
        <p:spPr bwMode="auto">
          <a:xfrm>
            <a:off x="304800" y="228600"/>
            <a:ext cx="8534400" cy="4302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85763" indent="-376238" eaLnBrk="1" hangingPunct="1">
              <a:lnSpc>
                <a:spcPct val="90000"/>
              </a:lnSpc>
              <a:spcBef>
                <a:spcPct val="20000"/>
              </a:spcBef>
              <a:buFont typeface="+mj-lt"/>
              <a:buAutoNum type="arabicPeriod" startAt="28"/>
            </a:pPr>
            <a:r>
              <a:rPr lang="en-US" dirty="0"/>
              <a:t>The City Hall has decided to convert every down-town street to a one-way street without restricting traffic accessibility, i.e., we should still be able to drive from any city block to any other city block without ever leaving the down-town area.</a:t>
            </a:r>
            <a:br>
              <a:rPr lang="en-US" dirty="0"/>
            </a:br>
            <a:r>
              <a:rPr lang="en-US" dirty="0"/>
              <a:t>The problem is how to assign one-way directions to the down-town streets to achieve the City Hall's objective.</a:t>
            </a:r>
            <a:br>
              <a:rPr lang="en-US" dirty="0"/>
            </a:br>
            <a:r>
              <a:rPr lang="en-US" dirty="0"/>
              <a:t>This can be formulated as a graph problem as follows: We are given an undirected connected graph G = (V, E). We want to assign a (one way) direction to each edge of G in such a way that the resulting directed graph G’ = (V ,  E’ ) is strongly connected. </a:t>
            </a:r>
            <a:br>
              <a:rPr lang="en-US" dirty="0"/>
            </a:br>
            <a:r>
              <a:rPr lang="en-US" dirty="0"/>
              <a:t>In this case we say G’ is a </a:t>
            </a:r>
            <a:r>
              <a:rPr lang="en-US" b="1" dirty="0">
                <a:solidFill>
                  <a:srgbClr val="CC0000"/>
                </a:solidFill>
              </a:rPr>
              <a:t>strong orientation</a:t>
            </a:r>
            <a:r>
              <a:rPr lang="en-US" dirty="0"/>
              <a:t> of G.</a:t>
            </a:r>
            <a:br>
              <a:rPr lang="en-US" dirty="0"/>
            </a:br>
            <a:r>
              <a:rPr lang="en-US" dirty="0"/>
              <a:t>We say G is </a:t>
            </a:r>
            <a:r>
              <a:rPr lang="en-US" b="1" dirty="0">
                <a:solidFill>
                  <a:srgbClr val="CC0000"/>
                </a:solidFill>
              </a:rPr>
              <a:t>strongly </a:t>
            </a:r>
            <a:r>
              <a:rPr lang="en-US" b="1" dirty="0" err="1">
                <a:solidFill>
                  <a:srgbClr val="CC0000"/>
                </a:solidFill>
              </a:rPr>
              <a:t>orientable</a:t>
            </a:r>
            <a:r>
              <a:rPr lang="en-US" dirty="0"/>
              <a:t>, if it has at least one strong orientation.</a:t>
            </a:r>
            <a:br>
              <a:rPr lang="en-US" dirty="0"/>
            </a:br>
            <a:r>
              <a:rPr lang="en-US" dirty="0"/>
              <a:t>(a) The graph shown below is strongly </a:t>
            </a:r>
            <a:r>
              <a:rPr lang="en-US" dirty="0" err="1"/>
              <a:t>orientable</a:t>
            </a:r>
            <a:r>
              <a:rPr lang="en-US" dirty="0"/>
              <a:t>. Show one of its strong orientations by  </a:t>
            </a:r>
            <a:br>
              <a:rPr lang="en-US" dirty="0"/>
            </a:br>
            <a:r>
              <a:rPr lang="en-US" dirty="0"/>
              <a:t>      assigning an appropriate direction to each of its edges.</a:t>
            </a:r>
            <a:br>
              <a:rPr lang="en-US" dirty="0"/>
            </a:br>
            <a:r>
              <a:rPr lang="en-US" dirty="0"/>
              <a:t>(b) Show that a connected undirected graph G is strongly </a:t>
            </a:r>
            <a:r>
              <a:rPr lang="en-US" dirty="0" err="1"/>
              <a:t>orientable</a:t>
            </a:r>
            <a:r>
              <a:rPr lang="en-US" dirty="0"/>
              <a:t> if and only if it has no </a:t>
            </a:r>
            <a:br>
              <a:rPr lang="en-US" dirty="0"/>
            </a:br>
            <a:r>
              <a:rPr lang="en-US" dirty="0"/>
              <a:t>      </a:t>
            </a:r>
            <a:r>
              <a:rPr lang="en-US" b="1" dirty="0">
                <a:solidFill>
                  <a:srgbClr val="CC0000"/>
                </a:solidFill>
              </a:rPr>
              <a:t>bridges</a:t>
            </a:r>
            <a:r>
              <a:rPr lang="en-US" dirty="0"/>
              <a:t>. A bridge is an edge whose removal will disconnect the graph. </a:t>
            </a:r>
            <a:br>
              <a:rPr lang="en-US" dirty="0"/>
            </a:br>
            <a:r>
              <a:rPr lang="en-US" dirty="0"/>
              <a:t>      </a:t>
            </a:r>
            <a:r>
              <a:rPr lang="en-US" dirty="0">
                <a:solidFill>
                  <a:srgbClr val="990033"/>
                </a:solidFill>
              </a:rPr>
              <a:t>[Note: make sure to prove both directions of the “if and only if”.]</a:t>
            </a:r>
            <a:r>
              <a:rPr lang="en-US" dirty="0"/>
              <a:t/>
            </a:r>
            <a:br>
              <a:rPr lang="en-US" dirty="0"/>
            </a:br>
            <a:r>
              <a:rPr lang="en-US" dirty="0"/>
              <a:t>(c) Using DFS and part (b), design and analyze an efficient algorithm to construct a strong  </a:t>
            </a:r>
            <a:br>
              <a:rPr lang="en-US" dirty="0"/>
            </a:br>
            <a:r>
              <a:rPr lang="en-US" dirty="0"/>
              <a:t>      orientation of a given undirected graph G if there is one; otherwise, report that no strong </a:t>
            </a:r>
            <a:br>
              <a:rPr lang="en-US" dirty="0"/>
            </a:br>
            <a:r>
              <a:rPr lang="en-US" dirty="0"/>
              <a:t>      orientation of G </a:t>
            </a:r>
            <a:r>
              <a:rPr lang="en-US" dirty="0" smtClean="0"/>
              <a:t>exists, and as a </a:t>
            </a:r>
            <a:r>
              <a:rPr lang="en-US" dirty="0"/>
              <a:t>w</a:t>
            </a:r>
            <a:r>
              <a:rPr lang="en-US" dirty="0" smtClean="0"/>
              <a:t>itness output a bridge in G. </a:t>
            </a:r>
            <a:br>
              <a:rPr lang="en-US" dirty="0" smtClean="0"/>
            </a:br>
            <a:r>
              <a:rPr lang="en-US" dirty="0" smtClean="0"/>
              <a:t>      Justify </a:t>
            </a:r>
            <a:r>
              <a:rPr lang="en-US" dirty="0"/>
              <a:t>the correctness and time complexity of your algorithm</a:t>
            </a:r>
            <a:r>
              <a:rPr lang="en-US" dirty="0" smtClean="0"/>
              <a:t>.</a:t>
            </a:r>
            <a:endParaRPr lang="en-US" dirty="0"/>
          </a:p>
        </p:txBody>
      </p:sp>
      <p:grpSp>
        <p:nvGrpSpPr>
          <p:cNvPr id="185350" name="Group 60"/>
          <p:cNvGrpSpPr>
            <a:grpSpLocks/>
          </p:cNvGrpSpPr>
          <p:nvPr/>
        </p:nvGrpSpPr>
        <p:grpSpPr bwMode="auto">
          <a:xfrm>
            <a:off x="2133600" y="4494212"/>
            <a:ext cx="4694238" cy="1933575"/>
            <a:chOff x="1014" y="2766"/>
            <a:chExt cx="2957" cy="1218"/>
          </a:xfrm>
        </p:grpSpPr>
        <p:sp>
          <p:nvSpPr>
            <p:cNvPr id="185351" name="Line 40"/>
            <p:cNvSpPr>
              <a:spLocks noChangeShapeType="1"/>
            </p:cNvSpPr>
            <p:nvPr/>
          </p:nvSpPr>
          <p:spPr bwMode="auto">
            <a:xfrm>
              <a:off x="1104" y="3024"/>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52" name="Line 41"/>
            <p:cNvSpPr>
              <a:spLocks noChangeShapeType="1"/>
            </p:cNvSpPr>
            <p:nvPr/>
          </p:nvSpPr>
          <p:spPr bwMode="auto">
            <a:xfrm>
              <a:off x="1728" y="3024"/>
              <a:ext cx="0" cy="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53" name="Line 42"/>
            <p:cNvSpPr>
              <a:spLocks noChangeShapeType="1"/>
            </p:cNvSpPr>
            <p:nvPr/>
          </p:nvSpPr>
          <p:spPr bwMode="auto">
            <a:xfrm flipH="1">
              <a:off x="1104" y="3936"/>
              <a:ext cx="6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54" name="Line 43"/>
            <p:cNvSpPr>
              <a:spLocks noChangeShapeType="1"/>
            </p:cNvSpPr>
            <p:nvPr/>
          </p:nvSpPr>
          <p:spPr bwMode="auto">
            <a:xfrm flipV="1">
              <a:off x="1104" y="3024"/>
              <a:ext cx="0" cy="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55" name="Line 44"/>
            <p:cNvSpPr>
              <a:spLocks noChangeShapeType="1"/>
            </p:cNvSpPr>
            <p:nvPr/>
          </p:nvSpPr>
          <p:spPr bwMode="auto">
            <a:xfrm>
              <a:off x="1104" y="3024"/>
              <a:ext cx="288"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56" name="Line 45"/>
            <p:cNvSpPr>
              <a:spLocks noChangeShapeType="1"/>
            </p:cNvSpPr>
            <p:nvPr/>
          </p:nvSpPr>
          <p:spPr bwMode="auto">
            <a:xfrm>
              <a:off x="1392" y="3456"/>
              <a:ext cx="33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57" name="Line 46"/>
            <p:cNvSpPr>
              <a:spLocks noChangeShapeType="1"/>
            </p:cNvSpPr>
            <p:nvPr/>
          </p:nvSpPr>
          <p:spPr bwMode="auto">
            <a:xfrm flipV="1">
              <a:off x="1728" y="3456"/>
              <a:ext cx="57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58" name="Line 47"/>
            <p:cNvSpPr>
              <a:spLocks noChangeShapeType="1"/>
            </p:cNvSpPr>
            <p:nvPr/>
          </p:nvSpPr>
          <p:spPr bwMode="auto">
            <a:xfrm flipH="1" flipV="1">
              <a:off x="1728" y="3024"/>
              <a:ext cx="576"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59" name="Line 48"/>
            <p:cNvSpPr>
              <a:spLocks noChangeShapeType="1"/>
            </p:cNvSpPr>
            <p:nvPr/>
          </p:nvSpPr>
          <p:spPr bwMode="auto">
            <a:xfrm flipV="1">
              <a:off x="2304" y="3024"/>
              <a:ext cx="336"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60" name="Line 49"/>
            <p:cNvSpPr>
              <a:spLocks noChangeShapeType="1"/>
            </p:cNvSpPr>
            <p:nvPr/>
          </p:nvSpPr>
          <p:spPr bwMode="auto">
            <a:xfrm>
              <a:off x="2640" y="3024"/>
              <a:ext cx="52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61" name="Line 50"/>
            <p:cNvSpPr>
              <a:spLocks noChangeShapeType="1"/>
            </p:cNvSpPr>
            <p:nvPr/>
          </p:nvSpPr>
          <p:spPr bwMode="auto">
            <a:xfrm>
              <a:off x="3168" y="3024"/>
              <a:ext cx="7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62" name="Line 51"/>
            <p:cNvSpPr>
              <a:spLocks noChangeShapeType="1"/>
            </p:cNvSpPr>
            <p:nvPr/>
          </p:nvSpPr>
          <p:spPr bwMode="auto">
            <a:xfrm>
              <a:off x="3888" y="3024"/>
              <a:ext cx="0" cy="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63" name="Line 52"/>
            <p:cNvSpPr>
              <a:spLocks noChangeShapeType="1"/>
            </p:cNvSpPr>
            <p:nvPr/>
          </p:nvSpPr>
          <p:spPr bwMode="auto">
            <a:xfrm flipH="1" flipV="1">
              <a:off x="3504" y="3456"/>
              <a:ext cx="384"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64" name="Line 53"/>
            <p:cNvSpPr>
              <a:spLocks noChangeShapeType="1"/>
            </p:cNvSpPr>
            <p:nvPr/>
          </p:nvSpPr>
          <p:spPr bwMode="auto">
            <a:xfrm flipV="1">
              <a:off x="3504" y="3024"/>
              <a:ext cx="384"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65" name="Line 54"/>
            <p:cNvSpPr>
              <a:spLocks noChangeShapeType="1"/>
            </p:cNvSpPr>
            <p:nvPr/>
          </p:nvSpPr>
          <p:spPr bwMode="auto">
            <a:xfrm flipH="1" flipV="1">
              <a:off x="3168" y="3024"/>
              <a:ext cx="336"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66" name="Line 55"/>
            <p:cNvSpPr>
              <a:spLocks noChangeShapeType="1"/>
            </p:cNvSpPr>
            <p:nvPr/>
          </p:nvSpPr>
          <p:spPr bwMode="auto">
            <a:xfrm>
              <a:off x="3168" y="3024"/>
              <a:ext cx="0" cy="9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67" name="Line 56"/>
            <p:cNvSpPr>
              <a:spLocks noChangeShapeType="1"/>
            </p:cNvSpPr>
            <p:nvPr/>
          </p:nvSpPr>
          <p:spPr bwMode="auto">
            <a:xfrm flipH="1">
              <a:off x="2640" y="3936"/>
              <a:ext cx="52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68" name="Line 57"/>
            <p:cNvSpPr>
              <a:spLocks noChangeShapeType="1"/>
            </p:cNvSpPr>
            <p:nvPr/>
          </p:nvSpPr>
          <p:spPr bwMode="auto">
            <a:xfrm flipH="1" flipV="1">
              <a:off x="2304" y="3456"/>
              <a:ext cx="336" cy="48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69" name="Line 58"/>
            <p:cNvSpPr>
              <a:spLocks noChangeShapeType="1"/>
            </p:cNvSpPr>
            <p:nvPr/>
          </p:nvSpPr>
          <p:spPr bwMode="auto">
            <a:xfrm>
              <a:off x="2304" y="3456"/>
              <a:ext cx="52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70" name="Line 59"/>
            <p:cNvSpPr>
              <a:spLocks noChangeShapeType="1"/>
            </p:cNvSpPr>
            <p:nvPr/>
          </p:nvSpPr>
          <p:spPr bwMode="auto">
            <a:xfrm flipV="1">
              <a:off x="2832" y="3024"/>
              <a:ext cx="336" cy="4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5371" name="Oval 7"/>
            <p:cNvSpPr>
              <a:spLocks noChangeArrowheads="1"/>
            </p:cNvSpPr>
            <p:nvPr/>
          </p:nvSpPr>
          <p:spPr bwMode="auto">
            <a:xfrm>
              <a:off x="1056" y="2976"/>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5372" name="Text Box 9"/>
            <p:cNvSpPr txBox="1">
              <a:spLocks noChangeArrowheads="1"/>
            </p:cNvSpPr>
            <p:nvPr/>
          </p:nvSpPr>
          <p:spPr bwMode="auto">
            <a:xfrm>
              <a:off x="1014" y="2766"/>
              <a:ext cx="173"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a</a:t>
              </a:r>
            </a:p>
          </p:txBody>
        </p:sp>
        <p:sp>
          <p:nvSpPr>
            <p:cNvPr id="185373" name="Oval 10"/>
            <p:cNvSpPr>
              <a:spLocks noChangeArrowheads="1"/>
            </p:cNvSpPr>
            <p:nvPr/>
          </p:nvSpPr>
          <p:spPr bwMode="auto">
            <a:xfrm>
              <a:off x="1680" y="2976"/>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5374" name="Text Box 11"/>
            <p:cNvSpPr txBox="1">
              <a:spLocks noChangeArrowheads="1"/>
            </p:cNvSpPr>
            <p:nvPr/>
          </p:nvSpPr>
          <p:spPr bwMode="auto">
            <a:xfrm>
              <a:off x="1635" y="2766"/>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b</a:t>
              </a:r>
            </a:p>
          </p:txBody>
        </p:sp>
        <p:sp>
          <p:nvSpPr>
            <p:cNvPr id="185375" name="Oval 12"/>
            <p:cNvSpPr>
              <a:spLocks noChangeArrowheads="1"/>
            </p:cNvSpPr>
            <p:nvPr/>
          </p:nvSpPr>
          <p:spPr bwMode="auto">
            <a:xfrm>
              <a:off x="2592" y="2976"/>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5376" name="Text Box 13"/>
            <p:cNvSpPr txBox="1">
              <a:spLocks noChangeArrowheads="1"/>
            </p:cNvSpPr>
            <p:nvPr/>
          </p:nvSpPr>
          <p:spPr bwMode="auto">
            <a:xfrm>
              <a:off x="2550" y="2766"/>
              <a:ext cx="173"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c</a:t>
              </a:r>
            </a:p>
          </p:txBody>
        </p:sp>
        <p:sp>
          <p:nvSpPr>
            <p:cNvPr id="185377" name="Oval 14"/>
            <p:cNvSpPr>
              <a:spLocks noChangeArrowheads="1"/>
            </p:cNvSpPr>
            <p:nvPr/>
          </p:nvSpPr>
          <p:spPr bwMode="auto">
            <a:xfrm>
              <a:off x="3120" y="2976"/>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5378" name="Text Box 15"/>
            <p:cNvSpPr txBox="1">
              <a:spLocks noChangeArrowheads="1"/>
            </p:cNvSpPr>
            <p:nvPr/>
          </p:nvSpPr>
          <p:spPr bwMode="auto">
            <a:xfrm>
              <a:off x="3075" y="2766"/>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d</a:t>
              </a:r>
            </a:p>
          </p:txBody>
        </p:sp>
        <p:sp>
          <p:nvSpPr>
            <p:cNvPr id="185379" name="Oval 16"/>
            <p:cNvSpPr>
              <a:spLocks noChangeArrowheads="1"/>
            </p:cNvSpPr>
            <p:nvPr/>
          </p:nvSpPr>
          <p:spPr bwMode="auto">
            <a:xfrm>
              <a:off x="2256" y="340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5380" name="Text Box 17"/>
            <p:cNvSpPr txBox="1">
              <a:spLocks noChangeArrowheads="1"/>
            </p:cNvSpPr>
            <p:nvPr/>
          </p:nvSpPr>
          <p:spPr bwMode="auto">
            <a:xfrm>
              <a:off x="2211" y="3198"/>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g</a:t>
              </a:r>
            </a:p>
          </p:txBody>
        </p:sp>
        <p:sp>
          <p:nvSpPr>
            <p:cNvPr id="185381" name="Oval 18"/>
            <p:cNvSpPr>
              <a:spLocks noChangeArrowheads="1"/>
            </p:cNvSpPr>
            <p:nvPr/>
          </p:nvSpPr>
          <p:spPr bwMode="auto">
            <a:xfrm>
              <a:off x="2784" y="340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5382" name="Text Box 19"/>
            <p:cNvSpPr txBox="1">
              <a:spLocks noChangeArrowheads="1"/>
            </p:cNvSpPr>
            <p:nvPr/>
          </p:nvSpPr>
          <p:spPr bwMode="auto">
            <a:xfrm>
              <a:off x="2739" y="3198"/>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h</a:t>
              </a:r>
            </a:p>
          </p:txBody>
        </p:sp>
        <p:sp>
          <p:nvSpPr>
            <p:cNvPr id="185383" name="Oval 20"/>
            <p:cNvSpPr>
              <a:spLocks noChangeArrowheads="1"/>
            </p:cNvSpPr>
            <p:nvPr/>
          </p:nvSpPr>
          <p:spPr bwMode="auto">
            <a:xfrm>
              <a:off x="2592" y="388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5384" name="Text Box 21"/>
            <p:cNvSpPr txBox="1">
              <a:spLocks noChangeArrowheads="1"/>
            </p:cNvSpPr>
            <p:nvPr/>
          </p:nvSpPr>
          <p:spPr bwMode="auto">
            <a:xfrm>
              <a:off x="2640" y="3744"/>
              <a:ext cx="152"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l</a:t>
              </a:r>
            </a:p>
          </p:txBody>
        </p:sp>
        <p:sp>
          <p:nvSpPr>
            <p:cNvPr id="185385" name="Oval 22"/>
            <p:cNvSpPr>
              <a:spLocks noChangeArrowheads="1"/>
            </p:cNvSpPr>
            <p:nvPr/>
          </p:nvSpPr>
          <p:spPr bwMode="auto">
            <a:xfrm>
              <a:off x="3120" y="388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5386" name="Text Box 23"/>
            <p:cNvSpPr txBox="1">
              <a:spLocks noChangeArrowheads="1"/>
            </p:cNvSpPr>
            <p:nvPr/>
          </p:nvSpPr>
          <p:spPr bwMode="auto">
            <a:xfrm>
              <a:off x="3168" y="3696"/>
              <a:ext cx="216"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m</a:t>
              </a:r>
            </a:p>
          </p:txBody>
        </p:sp>
        <p:sp>
          <p:nvSpPr>
            <p:cNvPr id="185387" name="Oval 24"/>
            <p:cNvSpPr>
              <a:spLocks noChangeArrowheads="1"/>
            </p:cNvSpPr>
            <p:nvPr/>
          </p:nvSpPr>
          <p:spPr bwMode="auto">
            <a:xfrm>
              <a:off x="1059" y="388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5388" name="Text Box 25"/>
            <p:cNvSpPr txBox="1">
              <a:spLocks noChangeArrowheads="1"/>
            </p:cNvSpPr>
            <p:nvPr/>
          </p:nvSpPr>
          <p:spPr bwMode="auto">
            <a:xfrm>
              <a:off x="1104" y="3696"/>
              <a:ext cx="152"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j</a:t>
              </a:r>
            </a:p>
          </p:txBody>
        </p:sp>
        <p:sp>
          <p:nvSpPr>
            <p:cNvPr id="185389" name="Oval 26"/>
            <p:cNvSpPr>
              <a:spLocks noChangeArrowheads="1"/>
            </p:cNvSpPr>
            <p:nvPr/>
          </p:nvSpPr>
          <p:spPr bwMode="auto">
            <a:xfrm>
              <a:off x="1683" y="388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5390" name="Text Box 27"/>
            <p:cNvSpPr txBox="1">
              <a:spLocks noChangeArrowheads="1"/>
            </p:cNvSpPr>
            <p:nvPr/>
          </p:nvSpPr>
          <p:spPr bwMode="auto">
            <a:xfrm>
              <a:off x="1776" y="3792"/>
              <a:ext cx="192"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k</a:t>
              </a:r>
            </a:p>
          </p:txBody>
        </p:sp>
        <p:sp>
          <p:nvSpPr>
            <p:cNvPr id="185391" name="Oval 28"/>
            <p:cNvSpPr>
              <a:spLocks noChangeArrowheads="1"/>
            </p:cNvSpPr>
            <p:nvPr/>
          </p:nvSpPr>
          <p:spPr bwMode="auto">
            <a:xfrm>
              <a:off x="3456" y="340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5392" name="Text Box 29"/>
            <p:cNvSpPr txBox="1">
              <a:spLocks noChangeArrowheads="1"/>
            </p:cNvSpPr>
            <p:nvPr/>
          </p:nvSpPr>
          <p:spPr bwMode="auto">
            <a:xfrm>
              <a:off x="3424" y="3198"/>
              <a:ext cx="152"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i</a:t>
              </a:r>
            </a:p>
          </p:txBody>
        </p:sp>
        <p:sp>
          <p:nvSpPr>
            <p:cNvPr id="185393" name="Oval 30"/>
            <p:cNvSpPr>
              <a:spLocks noChangeArrowheads="1"/>
            </p:cNvSpPr>
            <p:nvPr/>
          </p:nvSpPr>
          <p:spPr bwMode="auto">
            <a:xfrm>
              <a:off x="1344" y="340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5394" name="Text Box 31"/>
            <p:cNvSpPr txBox="1">
              <a:spLocks noChangeArrowheads="1"/>
            </p:cNvSpPr>
            <p:nvPr/>
          </p:nvSpPr>
          <p:spPr bwMode="auto">
            <a:xfrm>
              <a:off x="1309" y="3198"/>
              <a:ext cx="159"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f</a:t>
              </a:r>
            </a:p>
          </p:txBody>
        </p:sp>
        <p:sp>
          <p:nvSpPr>
            <p:cNvPr id="185395" name="Oval 32"/>
            <p:cNvSpPr>
              <a:spLocks noChangeArrowheads="1"/>
            </p:cNvSpPr>
            <p:nvPr/>
          </p:nvSpPr>
          <p:spPr bwMode="auto">
            <a:xfrm>
              <a:off x="3840" y="2976"/>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5396" name="Text Box 33"/>
            <p:cNvSpPr txBox="1">
              <a:spLocks noChangeArrowheads="1"/>
            </p:cNvSpPr>
            <p:nvPr/>
          </p:nvSpPr>
          <p:spPr bwMode="auto">
            <a:xfrm>
              <a:off x="3798" y="2766"/>
              <a:ext cx="173"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e</a:t>
              </a:r>
            </a:p>
          </p:txBody>
        </p:sp>
        <p:sp>
          <p:nvSpPr>
            <p:cNvPr id="185397" name="Oval 34"/>
            <p:cNvSpPr>
              <a:spLocks noChangeArrowheads="1"/>
            </p:cNvSpPr>
            <p:nvPr/>
          </p:nvSpPr>
          <p:spPr bwMode="auto">
            <a:xfrm>
              <a:off x="3840" y="3888"/>
              <a:ext cx="96" cy="96"/>
            </a:xfrm>
            <a:prstGeom prst="ellipse">
              <a:avLst/>
            </a:prstGeom>
            <a:solidFill>
              <a:schemeClr val="accent3">
                <a:lumMod val="85000"/>
              </a:schemeClr>
            </a:solidFill>
            <a:ln w="1905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5398" name="Text Box 35"/>
            <p:cNvSpPr txBox="1">
              <a:spLocks noChangeArrowheads="1"/>
            </p:cNvSpPr>
            <p:nvPr/>
          </p:nvSpPr>
          <p:spPr bwMode="auto">
            <a:xfrm>
              <a:off x="3648" y="3744"/>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n</a:t>
              </a:r>
            </a:p>
          </p:txBody>
        </p:sp>
      </p:gr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182</a:t>
            </a:fld>
            <a:endParaRPr lang="en-US"/>
          </a:p>
        </p:txBody>
      </p:sp>
    </p:spTree>
    <p:extLst>
      <p:ext uri="{BB962C8B-B14F-4D97-AF65-F5344CB8AC3E}">
        <p14:creationId xmlns:p14="http://schemas.microsoft.com/office/powerpoint/2010/main" val="1262990089"/>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6370"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6769"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6371"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6770"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6372"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6771"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6373" name="Rectangle 5"/>
          <p:cNvSpPr>
            <a:spLocks noChangeArrowheads="1"/>
          </p:cNvSpPr>
          <p:nvPr/>
        </p:nvSpPr>
        <p:spPr bwMode="auto">
          <a:xfrm>
            <a:off x="304800" y="228600"/>
            <a:ext cx="8610600" cy="3761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85763" indent="-376238">
              <a:buFont typeface="+mj-lt"/>
              <a:buAutoNum type="arabicPeriod" startAt="29"/>
            </a:pPr>
            <a:r>
              <a:rPr lang="en-US" b="1" dirty="0"/>
              <a:t>[CLRS, Exercise 22.5-7, p. 621] </a:t>
            </a:r>
            <a:r>
              <a:rPr lang="en-US" dirty="0"/>
              <a:t> A digraph G = (V, E) is said to be </a:t>
            </a:r>
            <a:r>
              <a:rPr lang="en-US" b="1" dirty="0">
                <a:solidFill>
                  <a:srgbClr val="CC0000"/>
                </a:solidFill>
              </a:rPr>
              <a:t>semi-connected</a:t>
            </a:r>
            <a:r>
              <a:rPr lang="en-US" dirty="0"/>
              <a:t> if, for all pairs of vertices u, v </a:t>
            </a:r>
            <a:r>
              <a:rPr lang="en-US" dirty="0">
                <a:sym typeface="Symbol" pitchFamily="18" charset="2"/>
              </a:rPr>
              <a:t>V, at least one of u or v is reachable from the other. </a:t>
            </a:r>
            <a:br>
              <a:rPr lang="en-US" dirty="0">
                <a:sym typeface="Symbol" pitchFamily="18" charset="2"/>
              </a:rPr>
            </a:br>
            <a:r>
              <a:rPr lang="en-US" dirty="0">
                <a:sym typeface="Symbol" pitchFamily="18" charset="2"/>
              </a:rPr>
              <a:t>Design and analyze an efficient algorithm to determine whether or not G is semi-connected.</a:t>
            </a:r>
            <a:br>
              <a:rPr lang="en-US" dirty="0">
                <a:sym typeface="Symbol" pitchFamily="18" charset="2"/>
              </a:rPr>
            </a:br>
            <a:endParaRPr lang="en-US" dirty="0">
              <a:sym typeface="Symbol" pitchFamily="18" charset="2"/>
            </a:endParaRPr>
          </a:p>
          <a:p>
            <a:pPr marL="385763" indent="-376238" eaLnBrk="1" hangingPunct="1">
              <a:lnSpc>
                <a:spcPct val="90000"/>
              </a:lnSpc>
              <a:spcBef>
                <a:spcPct val="20000"/>
              </a:spcBef>
              <a:buFontTx/>
              <a:buAutoNum type="arabicPeriod" startAt="29"/>
            </a:pPr>
            <a:r>
              <a:rPr lang="en-US" dirty="0">
                <a:sym typeface="Symbol" pitchFamily="18" charset="2"/>
              </a:rPr>
              <a:t>Given a digraph G = (V, E) and three of its vertices x, y, z V, give an efficient algorithm that determines whether or not G has a cycle that includes vertices x and y but excludes vertex z.</a:t>
            </a:r>
          </a:p>
          <a:p>
            <a:pPr marL="385763" indent="-376238" eaLnBrk="1" hangingPunct="1">
              <a:lnSpc>
                <a:spcPct val="90000"/>
              </a:lnSpc>
              <a:spcBef>
                <a:spcPct val="20000"/>
              </a:spcBef>
              <a:buFontTx/>
              <a:buAutoNum type="arabicPeriod" startAt="29"/>
            </a:pPr>
            <a:endParaRPr lang="en-US" dirty="0">
              <a:sym typeface="Symbol" pitchFamily="18" charset="2"/>
            </a:endParaRPr>
          </a:p>
          <a:p>
            <a:pPr marL="385763" indent="-376238" eaLnBrk="1" hangingPunct="1">
              <a:lnSpc>
                <a:spcPct val="90000"/>
              </a:lnSpc>
              <a:spcBef>
                <a:spcPct val="20000"/>
              </a:spcBef>
              <a:buFontTx/>
              <a:buAutoNum type="arabicPeriod" startAt="29"/>
            </a:pPr>
            <a:r>
              <a:rPr lang="en-US" dirty="0">
                <a:sym typeface="Symbol" pitchFamily="18" charset="2"/>
              </a:rPr>
              <a:t>Trace the </a:t>
            </a:r>
            <a:r>
              <a:rPr lang="en-US" dirty="0" err="1">
                <a:sym typeface="Symbol" pitchFamily="18" charset="2"/>
              </a:rPr>
              <a:t>BiConnectivity</a:t>
            </a:r>
            <a:r>
              <a:rPr lang="en-US" dirty="0">
                <a:sym typeface="Symbol" pitchFamily="18" charset="2"/>
              </a:rPr>
              <a:t> algorithm on the example graph G shown below. </a:t>
            </a:r>
            <a:br>
              <a:rPr lang="en-US" dirty="0">
                <a:sym typeface="Symbol" pitchFamily="18" charset="2"/>
              </a:rPr>
            </a:br>
            <a:r>
              <a:rPr lang="en-US" dirty="0">
                <a:sym typeface="Symbol" pitchFamily="18" charset="2"/>
              </a:rPr>
              <a:t>Show the articulation points and the </a:t>
            </a:r>
            <a:r>
              <a:rPr lang="en-US" dirty="0" err="1">
                <a:sym typeface="Symbol" pitchFamily="18" charset="2"/>
              </a:rPr>
              <a:t>biconnected</a:t>
            </a:r>
            <a:r>
              <a:rPr lang="en-US" dirty="0">
                <a:sym typeface="Symbol" pitchFamily="18" charset="2"/>
              </a:rPr>
              <a:t> components of G.</a:t>
            </a:r>
          </a:p>
          <a:p>
            <a:pPr marL="385763" indent="-376238" eaLnBrk="1" hangingPunct="1">
              <a:lnSpc>
                <a:spcPct val="90000"/>
              </a:lnSpc>
              <a:spcBef>
                <a:spcPct val="20000"/>
              </a:spcBef>
              <a:buFontTx/>
              <a:buAutoNum type="arabicPeriod" startAt="29"/>
            </a:pPr>
            <a:endParaRPr lang="en-US" dirty="0">
              <a:sym typeface="Symbol" pitchFamily="18" charset="2"/>
            </a:endParaRPr>
          </a:p>
          <a:p>
            <a:pPr marL="385763" indent="-376238" eaLnBrk="1" hangingPunct="1">
              <a:lnSpc>
                <a:spcPct val="90000"/>
              </a:lnSpc>
              <a:spcBef>
                <a:spcPct val="20000"/>
              </a:spcBef>
              <a:buFontTx/>
              <a:buAutoNum type="arabicPeriod" startAt="29"/>
            </a:pPr>
            <a:r>
              <a:rPr lang="en-US" dirty="0">
                <a:sym typeface="Symbol" pitchFamily="18" charset="2"/>
              </a:rPr>
              <a:t>Let G = (V, E) be a </a:t>
            </a:r>
            <a:r>
              <a:rPr lang="en-US" dirty="0" err="1">
                <a:sym typeface="Symbol" pitchFamily="18" charset="2"/>
              </a:rPr>
              <a:t>biconnected</a:t>
            </a:r>
            <a:r>
              <a:rPr lang="en-US" dirty="0">
                <a:sym typeface="Symbol" pitchFamily="18" charset="2"/>
              </a:rPr>
              <a:t> graph. Let (</a:t>
            </a:r>
            <a:r>
              <a:rPr lang="en-US" dirty="0" err="1">
                <a:sym typeface="Symbol" pitchFamily="18" charset="2"/>
              </a:rPr>
              <a:t>v,w</a:t>
            </a:r>
            <a:r>
              <a:rPr lang="en-US" dirty="0">
                <a:sym typeface="Symbol" pitchFamily="18" charset="2"/>
              </a:rPr>
              <a:t>)E. </a:t>
            </a:r>
            <a:r>
              <a:rPr lang="en-US" dirty="0" smtClean="0">
                <a:sym typeface="Symbol" pitchFamily="18" charset="2"/>
              </a:rPr>
              <a:t>Start with the graph </a:t>
            </a:r>
            <a:r>
              <a:rPr lang="en-US" dirty="0">
                <a:sym typeface="Symbol" pitchFamily="18" charset="2"/>
              </a:rPr>
              <a:t>G’ = ( {</a:t>
            </a:r>
            <a:r>
              <a:rPr lang="en-US" dirty="0" err="1">
                <a:sym typeface="Symbol" pitchFamily="18" charset="2"/>
              </a:rPr>
              <a:t>v,w</a:t>
            </a:r>
            <a:r>
              <a:rPr lang="en-US" dirty="0">
                <a:sym typeface="Symbol" pitchFamily="18" charset="2"/>
              </a:rPr>
              <a:t>}, {(</a:t>
            </a:r>
            <a:r>
              <a:rPr lang="en-US" dirty="0" err="1">
                <a:sym typeface="Symbol" pitchFamily="18" charset="2"/>
              </a:rPr>
              <a:t>v,w</a:t>
            </a:r>
            <a:r>
              <a:rPr lang="en-US" dirty="0">
                <a:sym typeface="Symbol" pitchFamily="18" charset="2"/>
              </a:rPr>
              <a:t>)}). </a:t>
            </a:r>
            <a:br>
              <a:rPr lang="en-US" dirty="0">
                <a:sym typeface="Symbol" pitchFamily="18" charset="2"/>
              </a:rPr>
            </a:br>
            <a:r>
              <a:rPr lang="en-US" dirty="0">
                <a:sym typeface="Symbol" pitchFamily="18" charset="2"/>
              </a:rPr>
              <a:t>A </a:t>
            </a:r>
            <a:r>
              <a:rPr lang="en-US" b="1" dirty="0">
                <a:solidFill>
                  <a:srgbClr val="CC0000"/>
                </a:solidFill>
                <a:sym typeface="Symbol" pitchFamily="18" charset="2"/>
              </a:rPr>
              <a:t>petal</a:t>
            </a:r>
            <a:r>
              <a:rPr lang="en-US" dirty="0">
                <a:sym typeface="Symbol" pitchFamily="18" charset="2"/>
              </a:rPr>
              <a:t> is a simple path in G whose two end nodes are its only nodes that are also in G’.</a:t>
            </a:r>
            <a:br>
              <a:rPr lang="en-US" dirty="0">
                <a:sym typeface="Symbol" pitchFamily="18" charset="2"/>
              </a:rPr>
            </a:br>
            <a:r>
              <a:rPr lang="en-US" dirty="0">
                <a:sym typeface="Symbol" pitchFamily="18" charset="2"/>
              </a:rPr>
              <a:t>Describe an on-line algorithm </a:t>
            </a:r>
            <a:r>
              <a:rPr lang="en-US" b="1" dirty="0" err="1">
                <a:solidFill>
                  <a:srgbClr val="CC0000"/>
                </a:solidFill>
                <a:sym typeface="Symbol" pitchFamily="18" charset="2"/>
              </a:rPr>
              <a:t>AddPetal</a:t>
            </a:r>
            <a:r>
              <a:rPr lang="en-US" b="1" dirty="0">
                <a:solidFill>
                  <a:srgbClr val="CC0000"/>
                </a:solidFill>
                <a:sym typeface="Symbol" pitchFamily="18" charset="2"/>
              </a:rPr>
              <a:t>(</a:t>
            </a:r>
            <a:r>
              <a:rPr lang="en-US" b="1" dirty="0" err="1">
                <a:solidFill>
                  <a:srgbClr val="CC0000"/>
                </a:solidFill>
                <a:sym typeface="Symbol" pitchFamily="18" charset="2"/>
              </a:rPr>
              <a:t>s,t</a:t>
            </a:r>
            <a:r>
              <a:rPr lang="en-US" b="1" dirty="0">
                <a:solidFill>
                  <a:srgbClr val="CC0000"/>
                </a:solidFill>
                <a:sym typeface="Symbol" pitchFamily="18" charset="2"/>
              </a:rPr>
              <a:t>)</a:t>
            </a:r>
            <a:r>
              <a:rPr lang="en-US" dirty="0">
                <a:sym typeface="Symbol" pitchFamily="18" charset="2"/>
              </a:rPr>
              <a:t>, where s is a node of G’ and (</a:t>
            </a:r>
            <a:r>
              <a:rPr lang="en-US" dirty="0" err="1">
                <a:sym typeface="Symbol" pitchFamily="18" charset="2"/>
              </a:rPr>
              <a:t>s,t</a:t>
            </a:r>
            <a:r>
              <a:rPr lang="en-US" dirty="0">
                <a:sym typeface="Symbol" pitchFamily="18" charset="2"/>
              </a:rPr>
              <a:t>) is an edge of G not in G’. </a:t>
            </a:r>
            <a:r>
              <a:rPr lang="en-US" dirty="0" err="1">
                <a:sym typeface="Symbol" pitchFamily="18" charset="2"/>
              </a:rPr>
              <a:t>AddPetal</a:t>
            </a:r>
            <a:r>
              <a:rPr lang="en-US" dirty="0">
                <a:sym typeface="Symbol" pitchFamily="18" charset="2"/>
              </a:rPr>
              <a:t>(</a:t>
            </a:r>
            <a:r>
              <a:rPr lang="en-US" dirty="0" err="1">
                <a:sym typeface="Symbol" pitchFamily="18" charset="2"/>
              </a:rPr>
              <a:t>s,t</a:t>
            </a:r>
            <a:r>
              <a:rPr lang="en-US" dirty="0">
                <a:sym typeface="Symbol" pitchFamily="18" charset="2"/>
              </a:rPr>
              <a:t>) finds a petal starting with edge (</a:t>
            </a:r>
            <a:r>
              <a:rPr lang="en-US" dirty="0" err="1">
                <a:sym typeface="Symbol" pitchFamily="18" charset="2"/>
              </a:rPr>
              <a:t>s,t</a:t>
            </a:r>
            <a:r>
              <a:rPr lang="en-US" dirty="0">
                <a:sym typeface="Symbol" pitchFamily="18" charset="2"/>
              </a:rPr>
              <a:t>), and adds the nodes and edges of that petal to G’.  </a:t>
            </a:r>
            <a:r>
              <a:rPr lang="en-US" dirty="0" smtClean="0">
                <a:sym typeface="Symbol" pitchFamily="18" charset="2"/>
              </a:rPr>
              <a:t>The </a:t>
            </a:r>
            <a:r>
              <a:rPr lang="en-US" dirty="0">
                <a:sym typeface="Symbol" pitchFamily="18" charset="2"/>
              </a:rPr>
              <a:t>execution of </a:t>
            </a:r>
            <a:r>
              <a:rPr lang="en-US" dirty="0" smtClean="0">
                <a:sym typeface="Symbol" pitchFamily="18" charset="2"/>
              </a:rPr>
              <a:t>any on-line </a:t>
            </a:r>
            <a:r>
              <a:rPr lang="en-US" dirty="0">
                <a:sym typeface="Symbol" pitchFamily="18" charset="2"/>
              </a:rPr>
              <a:t>sequence of </a:t>
            </a:r>
            <a:r>
              <a:rPr lang="en-US" dirty="0" err="1">
                <a:sym typeface="Symbol" pitchFamily="18" charset="2"/>
              </a:rPr>
              <a:t>AddPetal</a:t>
            </a:r>
            <a:r>
              <a:rPr lang="en-US" dirty="0">
                <a:sym typeface="Symbol" pitchFamily="18" charset="2"/>
              </a:rPr>
              <a:t> operations should take O(E) time.</a:t>
            </a:r>
          </a:p>
        </p:txBody>
      </p:sp>
      <p:grpSp>
        <p:nvGrpSpPr>
          <p:cNvPr id="186374" name="Group 125"/>
          <p:cNvGrpSpPr>
            <a:grpSpLocks/>
          </p:cNvGrpSpPr>
          <p:nvPr/>
        </p:nvGrpSpPr>
        <p:grpSpPr bwMode="auto">
          <a:xfrm>
            <a:off x="2209800" y="4191000"/>
            <a:ext cx="3886200" cy="2049463"/>
            <a:chOff x="1392" y="2736"/>
            <a:chExt cx="2448" cy="1291"/>
          </a:xfrm>
        </p:grpSpPr>
        <p:sp>
          <p:nvSpPr>
            <p:cNvPr id="186375" name="Line 99"/>
            <p:cNvSpPr>
              <a:spLocks noChangeShapeType="1"/>
            </p:cNvSpPr>
            <p:nvPr/>
          </p:nvSpPr>
          <p:spPr bwMode="auto">
            <a:xfrm flipH="1" flipV="1">
              <a:off x="1512" y="3024"/>
              <a:ext cx="432"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76" name="Line 98"/>
            <p:cNvSpPr>
              <a:spLocks noChangeShapeType="1"/>
            </p:cNvSpPr>
            <p:nvPr/>
          </p:nvSpPr>
          <p:spPr bwMode="auto">
            <a:xfrm flipH="1" flipV="1">
              <a:off x="1944" y="3408"/>
              <a:ext cx="45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77" name="Line 96"/>
            <p:cNvSpPr>
              <a:spLocks noChangeShapeType="1"/>
            </p:cNvSpPr>
            <p:nvPr/>
          </p:nvSpPr>
          <p:spPr bwMode="auto">
            <a:xfrm>
              <a:off x="3672" y="3408"/>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78" name="Line 97"/>
            <p:cNvSpPr>
              <a:spLocks noChangeShapeType="1"/>
            </p:cNvSpPr>
            <p:nvPr/>
          </p:nvSpPr>
          <p:spPr bwMode="auto">
            <a:xfrm flipH="1" flipV="1">
              <a:off x="3240" y="3408"/>
              <a:ext cx="432"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79" name="Line 95"/>
            <p:cNvSpPr>
              <a:spLocks noChangeShapeType="1"/>
            </p:cNvSpPr>
            <p:nvPr/>
          </p:nvSpPr>
          <p:spPr bwMode="auto">
            <a:xfrm flipH="1">
              <a:off x="1512" y="3792"/>
              <a:ext cx="4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80" name="Line 92"/>
            <p:cNvSpPr>
              <a:spLocks noChangeShapeType="1"/>
            </p:cNvSpPr>
            <p:nvPr/>
          </p:nvSpPr>
          <p:spPr bwMode="auto">
            <a:xfrm>
              <a:off x="2808" y="3408"/>
              <a:ext cx="432"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81" name="Line 91"/>
            <p:cNvSpPr>
              <a:spLocks noChangeShapeType="1"/>
            </p:cNvSpPr>
            <p:nvPr/>
          </p:nvSpPr>
          <p:spPr bwMode="auto">
            <a:xfrm flipH="1" flipV="1">
              <a:off x="2808" y="3024"/>
              <a:ext cx="432"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82" name="Line 69"/>
            <p:cNvSpPr>
              <a:spLocks noChangeShapeType="1"/>
            </p:cNvSpPr>
            <p:nvPr/>
          </p:nvSpPr>
          <p:spPr bwMode="auto">
            <a:xfrm>
              <a:off x="1512" y="3408"/>
              <a:ext cx="4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83" name="Line 71"/>
            <p:cNvSpPr>
              <a:spLocks noChangeShapeType="1"/>
            </p:cNvSpPr>
            <p:nvPr/>
          </p:nvSpPr>
          <p:spPr bwMode="auto">
            <a:xfrm flipV="1">
              <a:off x="1512" y="3024"/>
              <a:ext cx="432" cy="76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84" name="Line 72"/>
            <p:cNvSpPr>
              <a:spLocks noChangeShapeType="1"/>
            </p:cNvSpPr>
            <p:nvPr/>
          </p:nvSpPr>
          <p:spPr bwMode="auto">
            <a:xfrm flipV="1">
              <a:off x="1512" y="3024"/>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85" name="Line 74"/>
            <p:cNvSpPr>
              <a:spLocks noChangeShapeType="1"/>
            </p:cNvSpPr>
            <p:nvPr/>
          </p:nvSpPr>
          <p:spPr bwMode="auto">
            <a:xfrm>
              <a:off x="1944" y="3024"/>
              <a:ext cx="432"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86" name="Line 77"/>
            <p:cNvSpPr>
              <a:spLocks noChangeShapeType="1"/>
            </p:cNvSpPr>
            <p:nvPr/>
          </p:nvSpPr>
          <p:spPr bwMode="auto">
            <a:xfrm>
              <a:off x="1944" y="3792"/>
              <a:ext cx="4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87" name="Line 78"/>
            <p:cNvSpPr>
              <a:spLocks noChangeShapeType="1"/>
            </p:cNvSpPr>
            <p:nvPr/>
          </p:nvSpPr>
          <p:spPr bwMode="auto">
            <a:xfrm flipV="1">
              <a:off x="2376" y="3408"/>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88" name="Line 79"/>
            <p:cNvSpPr>
              <a:spLocks noChangeShapeType="1"/>
            </p:cNvSpPr>
            <p:nvPr/>
          </p:nvSpPr>
          <p:spPr bwMode="auto">
            <a:xfrm flipH="1">
              <a:off x="1944" y="3408"/>
              <a:ext cx="432"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89" name="Line 80"/>
            <p:cNvSpPr>
              <a:spLocks noChangeShapeType="1"/>
            </p:cNvSpPr>
            <p:nvPr/>
          </p:nvSpPr>
          <p:spPr bwMode="auto">
            <a:xfrm flipV="1">
              <a:off x="2376" y="3024"/>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90" name="Line 81"/>
            <p:cNvSpPr>
              <a:spLocks noChangeShapeType="1"/>
            </p:cNvSpPr>
            <p:nvPr/>
          </p:nvSpPr>
          <p:spPr bwMode="auto">
            <a:xfrm>
              <a:off x="2376" y="3024"/>
              <a:ext cx="4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91" name="Line 82"/>
            <p:cNvSpPr>
              <a:spLocks noChangeShapeType="1"/>
            </p:cNvSpPr>
            <p:nvPr/>
          </p:nvSpPr>
          <p:spPr bwMode="auto">
            <a:xfrm>
              <a:off x="2808" y="3024"/>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92" name="Line 83"/>
            <p:cNvSpPr>
              <a:spLocks noChangeShapeType="1"/>
            </p:cNvSpPr>
            <p:nvPr/>
          </p:nvSpPr>
          <p:spPr bwMode="auto">
            <a:xfrm flipH="1">
              <a:off x="2376" y="3408"/>
              <a:ext cx="4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93" name="Line 84"/>
            <p:cNvSpPr>
              <a:spLocks noChangeShapeType="1"/>
            </p:cNvSpPr>
            <p:nvPr/>
          </p:nvSpPr>
          <p:spPr bwMode="auto">
            <a:xfrm>
              <a:off x="2376" y="3408"/>
              <a:ext cx="432"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94" name="Line 85"/>
            <p:cNvSpPr>
              <a:spLocks noChangeShapeType="1"/>
            </p:cNvSpPr>
            <p:nvPr/>
          </p:nvSpPr>
          <p:spPr bwMode="auto">
            <a:xfrm>
              <a:off x="2856" y="3792"/>
              <a:ext cx="4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95" name="Line 86"/>
            <p:cNvSpPr>
              <a:spLocks noChangeShapeType="1"/>
            </p:cNvSpPr>
            <p:nvPr/>
          </p:nvSpPr>
          <p:spPr bwMode="auto">
            <a:xfrm flipH="1" flipV="1">
              <a:off x="3240" y="3408"/>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96" name="Line 87"/>
            <p:cNvSpPr>
              <a:spLocks noChangeShapeType="1"/>
            </p:cNvSpPr>
            <p:nvPr/>
          </p:nvSpPr>
          <p:spPr bwMode="auto">
            <a:xfrm flipV="1">
              <a:off x="3240" y="3024"/>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97" name="Line 88"/>
            <p:cNvSpPr>
              <a:spLocks noChangeShapeType="1"/>
            </p:cNvSpPr>
            <p:nvPr/>
          </p:nvSpPr>
          <p:spPr bwMode="auto">
            <a:xfrm>
              <a:off x="3240" y="3024"/>
              <a:ext cx="4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98" name="Line 89"/>
            <p:cNvSpPr>
              <a:spLocks noChangeShapeType="1"/>
            </p:cNvSpPr>
            <p:nvPr/>
          </p:nvSpPr>
          <p:spPr bwMode="auto">
            <a:xfrm>
              <a:off x="3672" y="3024"/>
              <a:ext cx="0" cy="3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399" name="Line 90"/>
            <p:cNvSpPr>
              <a:spLocks noChangeShapeType="1"/>
            </p:cNvSpPr>
            <p:nvPr/>
          </p:nvSpPr>
          <p:spPr bwMode="auto">
            <a:xfrm flipH="1">
              <a:off x="3240" y="3408"/>
              <a:ext cx="4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6400" name="Oval 51"/>
            <p:cNvSpPr>
              <a:spLocks noChangeArrowheads="1"/>
            </p:cNvSpPr>
            <p:nvPr/>
          </p:nvSpPr>
          <p:spPr bwMode="auto">
            <a:xfrm>
              <a:off x="1464" y="2976"/>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01" name="Oval 52"/>
            <p:cNvSpPr>
              <a:spLocks noChangeArrowheads="1"/>
            </p:cNvSpPr>
            <p:nvPr/>
          </p:nvSpPr>
          <p:spPr bwMode="auto">
            <a:xfrm>
              <a:off x="1896" y="2976"/>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02" name="Oval 53"/>
            <p:cNvSpPr>
              <a:spLocks noChangeArrowheads="1"/>
            </p:cNvSpPr>
            <p:nvPr/>
          </p:nvSpPr>
          <p:spPr bwMode="auto">
            <a:xfrm>
              <a:off x="1464" y="336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03" name="Oval 54"/>
            <p:cNvSpPr>
              <a:spLocks noChangeArrowheads="1"/>
            </p:cNvSpPr>
            <p:nvPr/>
          </p:nvSpPr>
          <p:spPr bwMode="auto">
            <a:xfrm>
              <a:off x="1896" y="336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04" name="Oval 55"/>
            <p:cNvSpPr>
              <a:spLocks noChangeArrowheads="1"/>
            </p:cNvSpPr>
            <p:nvPr/>
          </p:nvSpPr>
          <p:spPr bwMode="auto">
            <a:xfrm>
              <a:off x="2328" y="2976"/>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05" name="Oval 56"/>
            <p:cNvSpPr>
              <a:spLocks noChangeArrowheads="1"/>
            </p:cNvSpPr>
            <p:nvPr/>
          </p:nvSpPr>
          <p:spPr bwMode="auto">
            <a:xfrm>
              <a:off x="2760" y="2976"/>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06" name="Oval 57"/>
            <p:cNvSpPr>
              <a:spLocks noChangeArrowheads="1"/>
            </p:cNvSpPr>
            <p:nvPr/>
          </p:nvSpPr>
          <p:spPr bwMode="auto">
            <a:xfrm>
              <a:off x="2328" y="336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07" name="Oval 58"/>
            <p:cNvSpPr>
              <a:spLocks noChangeArrowheads="1"/>
            </p:cNvSpPr>
            <p:nvPr/>
          </p:nvSpPr>
          <p:spPr bwMode="auto">
            <a:xfrm>
              <a:off x="2760" y="336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08" name="Oval 59"/>
            <p:cNvSpPr>
              <a:spLocks noChangeArrowheads="1"/>
            </p:cNvSpPr>
            <p:nvPr/>
          </p:nvSpPr>
          <p:spPr bwMode="auto">
            <a:xfrm>
              <a:off x="1896" y="3744"/>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09" name="Oval 60"/>
            <p:cNvSpPr>
              <a:spLocks noChangeArrowheads="1"/>
            </p:cNvSpPr>
            <p:nvPr/>
          </p:nvSpPr>
          <p:spPr bwMode="auto">
            <a:xfrm>
              <a:off x="2328" y="3744"/>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10" name="Oval 61"/>
            <p:cNvSpPr>
              <a:spLocks noChangeArrowheads="1"/>
            </p:cNvSpPr>
            <p:nvPr/>
          </p:nvSpPr>
          <p:spPr bwMode="auto">
            <a:xfrm>
              <a:off x="2760" y="3744"/>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11" name="Oval 62"/>
            <p:cNvSpPr>
              <a:spLocks noChangeArrowheads="1"/>
            </p:cNvSpPr>
            <p:nvPr/>
          </p:nvSpPr>
          <p:spPr bwMode="auto">
            <a:xfrm>
              <a:off x="3192" y="3744"/>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12" name="Oval 63"/>
            <p:cNvSpPr>
              <a:spLocks noChangeArrowheads="1"/>
            </p:cNvSpPr>
            <p:nvPr/>
          </p:nvSpPr>
          <p:spPr bwMode="auto">
            <a:xfrm>
              <a:off x="3192" y="2976"/>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13" name="Oval 64"/>
            <p:cNvSpPr>
              <a:spLocks noChangeArrowheads="1"/>
            </p:cNvSpPr>
            <p:nvPr/>
          </p:nvSpPr>
          <p:spPr bwMode="auto">
            <a:xfrm>
              <a:off x="3624" y="2976"/>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14" name="Oval 65"/>
            <p:cNvSpPr>
              <a:spLocks noChangeArrowheads="1"/>
            </p:cNvSpPr>
            <p:nvPr/>
          </p:nvSpPr>
          <p:spPr bwMode="auto">
            <a:xfrm>
              <a:off x="3192" y="336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15" name="Oval 66"/>
            <p:cNvSpPr>
              <a:spLocks noChangeArrowheads="1"/>
            </p:cNvSpPr>
            <p:nvPr/>
          </p:nvSpPr>
          <p:spPr bwMode="auto">
            <a:xfrm>
              <a:off x="3624" y="336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16" name="Oval 93"/>
            <p:cNvSpPr>
              <a:spLocks noChangeArrowheads="1"/>
            </p:cNvSpPr>
            <p:nvPr/>
          </p:nvSpPr>
          <p:spPr bwMode="auto">
            <a:xfrm>
              <a:off x="1464" y="3744"/>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17" name="Oval 94"/>
            <p:cNvSpPr>
              <a:spLocks noChangeArrowheads="1"/>
            </p:cNvSpPr>
            <p:nvPr/>
          </p:nvSpPr>
          <p:spPr bwMode="auto">
            <a:xfrm>
              <a:off x="3624" y="3744"/>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6418" name="Text Box 100"/>
            <p:cNvSpPr txBox="1">
              <a:spLocks noChangeArrowheads="1"/>
            </p:cNvSpPr>
            <p:nvPr/>
          </p:nvSpPr>
          <p:spPr bwMode="auto">
            <a:xfrm>
              <a:off x="1416" y="2736"/>
              <a:ext cx="18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a</a:t>
              </a:r>
            </a:p>
          </p:txBody>
        </p:sp>
        <p:sp>
          <p:nvSpPr>
            <p:cNvPr id="186419" name="Text Box 101"/>
            <p:cNvSpPr txBox="1">
              <a:spLocks noChangeArrowheads="1"/>
            </p:cNvSpPr>
            <p:nvPr/>
          </p:nvSpPr>
          <p:spPr bwMode="auto">
            <a:xfrm>
              <a:off x="1844" y="2736"/>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b</a:t>
              </a:r>
            </a:p>
          </p:txBody>
        </p:sp>
        <p:sp>
          <p:nvSpPr>
            <p:cNvPr id="186420" name="Text Box 102"/>
            <p:cNvSpPr txBox="1">
              <a:spLocks noChangeArrowheads="1"/>
            </p:cNvSpPr>
            <p:nvPr/>
          </p:nvSpPr>
          <p:spPr bwMode="auto">
            <a:xfrm>
              <a:off x="2280" y="2736"/>
              <a:ext cx="18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c</a:t>
              </a:r>
            </a:p>
          </p:txBody>
        </p:sp>
        <p:sp>
          <p:nvSpPr>
            <p:cNvPr id="186421" name="Text Box 103"/>
            <p:cNvSpPr txBox="1">
              <a:spLocks noChangeArrowheads="1"/>
            </p:cNvSpPr>
            <p:nvPr/>
          </p:nvSpPr>
          <p:spPr bwMode="auto">
            <a:xfrm>
              <a:off x="2708" y="2736"/>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d</a:t>
              </a:r>
            </a:p>
          </p:txBody>
        </p:sp>
        <p:sp>
          <p:nvSpPr>
            <p:cNvPr id="186422" name="Text Box 104"/>
            <p:cNvSpPr txBox="1">
              <a:spLocks noChangeArrowheads="1"/>
            </p:cNvSpPr>
            <p:nvPr/>
          </p:nvSpPr>
          <p:spPr bwMode="auto">
            <a:xfrm>
              <a:off x="3144" y="2736"/>
              <a:ext cx="18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e</a:t>
              </a:r>
            </a:p>
          </p:txBody>
        </p:sp>
        <p:sp>
          <p:nvSpPr>
            <p:cNvPr id="186423" name="Text Box 105"/>
            <p:cNvSpPr txBox="1">
              <a:spLocks noChangeArrowheads="1"/>
            </p:cNvSpPr>
            <p:nvPr/>
          </p:nvSpPr>
          <p:spPr bwMode="auto">
            <a:xfrm>
              <a:off x="3584" y="2736"/>
              <a:ext cx="164"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f</a:t>
              </a:r>
            </a:p>
          </p:txBody>
        </p:sp>
        <p:sp>
          <p:nvSpPr>
            <p:cNvPr id="186424" name="Text Box 112"/>
            <p:cNvSpPr txBox="1">
              <a:spLocks noChangeArrowheads="1"/>
            </p:cNvSpPr>
            <p:nvPr/>
          </p:nvSpPr>
          <p:spPr bwMode="auto">
            <a:xfrm>
              <a:off x="1392" y="3792"/>
              <a:ext cx="22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m</a:t>
              </a:r>
            </a:p>
          </p:txBody>
        </p:sp>
        <p:sp>
          <p:nvSpPr>
            <p:cNvPr id="186425" name="Text Box 113"/>
            <p:cNvSpPr txBox="1">
              <a:spLocks noChangeArrowheads="1"/>
            </p:cNvSpPr>
            <p:nvPr/>
          </p:nvSpPr>
          <p:spPr bwMode="auto">
            <a:xfrm>
              <a:off x="1844" y="3792"/>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n</a:t>
              </a:r>
            </a:p>
          </p:txBody>
        </p:sp>
        <p:sp>
          <p:nvSpPr>
            <p:cNvPr id="186426" name="Text Box 114"/>
            <p:cNvSpPr txBox="1">
              <a:spLocks noChangeArrowheads="1"/>
            </p:cNvSpPr>
            <p:nvPr/>
          </p:nvSpPr>
          <p:spPr bwMode="auto">
            <a:xfrm>
              <a:off x="2276" y="3792"/>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o</a:t>
              </a:r>
            </a:p>
          </p:txBody>
        </p:sp>
        <p:sp>
          <p:nvSpPr>
            <p:cNvPr id="186427" name="Text Box 115"/>
            <p:cNvSpPr txBox="1">
              <a:spLocks noChangeArrowheads="1"/>
            </p:cNvSpPr>
            <p:nvPr/>
          </p:nvSpPr>
          <p:spPr bwMode="auto">
            <a:xfrm>
              <a:off x="2708" y="3792"/>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p</a:t>
              </a:r>
            </a:p>
          </p:txBody>
        </p:sp>
        <p:sp>
          <p:nvSpPr>
            <p:cNvPr id="186428" name="Text Box 116"/>
            <p:cNvSpPr txBox="1">
              <a:spLocks noChangeArrowheads="1"/>
            </p:cNvSpPr>
            <p:nvPr/>
          </p:nvSpPr>
          <p:spPr bwMode="auto">
            <a:xfrm>
              <a:off x="3140" y="3792"/>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q</a:t>
              </a:r>
            </a:p>
          </p:txBody>
        </p:sp>
        <p:sp>
          <p:nvSpPr>
            <p:cNvPr id="186429" name="Text Box 117"/>
            <p:cNvSpPr txBox="1">
              <a:spLocks noChangeArrowheads="1"/>
            </p:cNvSpPr>
            <p:nvPr/>
          </p:nvSpPr>
          <p:spPr bwMode="auto">
            <a:xfrm>
              <a:off x="3584" y="3792"/>
              <a:ext cx="164"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r</a:t>
              </a:r>
            </a:p>
          </p:txBody>
        </p:sp>
        <p:sp>
          <p:nvSpPr>
            <p:cNvPr id="186430" name="Text Box 118"/>
            <p:cNvSpPr txBox="1">
              <a:spLocks noChangeArrowheads="1"/>
            </p:cNvSpPr>
            <p:nvPr/>
          </p:nvSpPr>
          <p:spPr bwMode="auto">
            <a:xfrm>
              <a:off x="1508" y="3168"/>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g</a:t>
              </a:r>
            </a:p>
          </p:txBody>
        </p:sp>
        <p:sp>
          <p:nvSpPr>
            <p:cNvPr id="186431" name="Text Box 119"/>
            <p:cNvSpPr txBox="1">
              <a:spLocks noChangeArrowheads="1"/>
            </p:cNvSpPr>
            <p:nvPr/>
          </p:nvSpPr>
          <p:spPr bwMode="auto">
            <a:xfrm>
              <a:off x="1940" y="3168"/>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h</a:t>
              </a:r>
            </a:p>
          </p:txBody>
        </p:sp>
        <p:sp>
          <p:nvSpPr>
            <p:cNvPr id="186432" name="Text Box 120"/>
            <p:cNvSpPr txBox="1">
              <a:spLocks noChangeArrowheads="1"/>
            </p:cNvSpPr>
            <p:nvPr/>
          </p:nvSpPr>
          <p:spPr bwMode="auto">
            <a:xfrm>
              <a:off x="2388" y="3168"/>
              <a:ext cx="156"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i</a:t>
              </a:r>
            </a:p>
          </p:txBody>
        </p:sp>
        <p:sp>
          <p:nvSpPr>
            <p:cNvPr id="186433" name="Text Box 121"/>
            <p:cNvSpPr txBox="1">
              <a:spLocks noChangeArrowheads="1"/>
            </p:cNvSpPr>
            <p:nvPr/>
          </p:nvSpPr>
          <p:spPr bwMode="auto">
            <a:xfrm>
              <a:off x="2820" y="3168"/>
              <a:ext cx="156"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j</a:t>
              </a:r>
            </a:p>
          </p:txBody>
        </p:sp>
        <p:sp>
          <p:nvSpPr>
            <p:cNvPr id="186434" name="Text Box 122"/>
            <p:cNvSpPr txBox="1">
              <a:spLocks noChangeArrowheads="1"/>
            </p:cNvSpPr>
            <p:nvPr/>
          </p:nvSpPr>
          <p:spPr bwMode="auto">
            <a:xfrm>
              <a:off x="3236" y="3168"/>
              <a:ext cx="18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k</a:t>
              </a:r>
            </a:p>
          </p:txBody>
        </p:sp>
        <p:sp>
          <p:nvSpPr>
            <p:cNvPr id="186435" name="Text Box 123"/>
            <p:cNvSpPr txBox="1">
              <a:spLocks noChangeArrowheads="1"/>
            </p:cNvSpPr>
            <p:nvPr/>
          </p:nvSpPr>
          <p:spPr bwMode="auto">
            <a:xfrm>
              <a:off x="3684" y="3168"/>
              <a:ext cx="156"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l</a:t>
              </a:r>
            </a:p>
          </p:txBody>
        </p:sp>
      </p:gr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183</a:t>
            </a:fld>
            <a:endParaRPr lang="en-US"/>
          </a:p>
        </p:txBody>
      </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7394"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7781"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7395"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7782"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7396"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7783"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7397" name="Rectangle 5"/>
          <p:cNvSpPr>
            <a:spLocks noChangeArrowheads="1"/>
          </p:cNvSpPr>
          <p:nvPr/>
        </p:nvSpPr>
        <p:spPr bwMode="auto">
          <a:xfrm>
            <a:off x="228600" y="228600"/>
            <a:ext cx="8686800" cy="3859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85763" indent="-376238" eaLnBrk="1" hangingPunct="1">
              <a:lnSpc>
                <a:spcPct val="85000"/>
              </a:lnSpc>
              <a:spcBef>
                <a:spcPct val="20000"/>
              </a:spcBef>
              <a:buFont typeface="+mj-lt"/>
              <a:buAutoNum type="arabicPeriod" startAt="33"/>
            </a:pPr>
            <a:r>
              <a:rPr lang="en-US" b="1" dirty="0" err="1" smtClean="0"/>
              <a:t>Biconnectification</a:t>
            </a:r>
            <a:r>
              <a:rPr lang="en-US" b="1" dirty="0" smtClean="0"/>
              <a:t> Problem</a:t>
            </a:r>
            <a:r>
              <a:rPr lang="en-US" b="1" dirty="0"/>
              <a:t>:</a:t>
            </a:r>
            <a:r>
              <a:rPr lang="en-US" dirty="0"/>
              <a:t> given a connected undirected graph G, add a minimum number of new edges to G to make it </a:t>
            </a:r>
            <a:r>
              <a:rPr lang="en-US" dirty="0" err="1"/>
              <a:t>biconnected</a:t>
            </a:r>
            <a:r>
              <a:rPr lang="en-US" dirty="0"/>
              <a:t>.</a:t>
            </a:r>
            <a:br>
              <a:rPr lang="en-US" dirty="0"/>
            </a:br>
            <a:r>
              <a:rPr lang="en-US" dirty="0"/>
              <a:t/>
            </a:r>
            <a:br>
              <a:rPr lang="en-US" dirty="0"/>
            </a:br>
            <a:r>
              <a:rPr lang="en-US" dirty="0"/>
              <a:t>Let us first consider the simpler case when G is a tree. Let L be the set of leaves of G.</a:t>
            </a:r>
            <a:br>
              <a:rPr lang="en-US" dirty="0"/>
            </a:br>
            <a:r>
              <a:rPr lang="en-US" dirty="0"/>
              <a:t/>
            </a:r>
            <a:br>
              <a:rPr lang="en-US" dirty="0"/>
            </a:br>
            <a:r>
              <a:rPr lang="en-US" dirty="0"/>
              <a:t>(a)  Show that in this case there is always a solution where the added edges are between </a:t>
            </a:r>
            <a:r>
              <a:rPr lang="en-US" dirty="0" smtClean="0"/>
              <a:t>nodes </a:t>
            </a:r>
            <a:r>
              <a:rPr lang="en-US" dirty="0"/>
              <a:t>in L.</a:t>
            </a:r>
            <a:br>
              <a:rPr lang="en-US" dirty="0"/>
            </a:br>
            <a:r>
              <a:rPr lang="en-US" dirty="0"/>
              <a:t>(b)  Show that there is a solution where the added edges form a spanning tree of L.</a:t>
            </a:r>
            <a:br>
              <a:rPr lang="en-US" dirty="0"/>
            </a:br>
            <a:r>
              <a:rPr lang="en-US" dirty="0"/>
              <a:t>       Hence, the number of new edges is |L|  – 1.</a:t>
            </a:r>
            <a:br>
              <a:rPr lang="en-US" dirty="0"/>
            </a:br>
            <a:r>
              <a:rPr lang="en-US" dirty="0"/>
              <a:t/>
            </a:r>
            <a:br>
              <a:rPr lang="en-US" dirty="0"/>
            </a:br>
            <a:r>
              <a:rPr lang="en-US" dirty="0"/>
              <a:t>Now consider the general case.  Suppose the </a:t>
            </a:r>
            <a:r>
              <a:rPr lang="en-US" dirty="0" err="1"/>
              <a:t>biconnected</a:t>
            </a:r>
            <a:r>
              <a:rPr lang="en-US" dirty="0"/>
              <a:t> components of G are </a:t>
            </a:r>
            <a:br>
              <a:rPr lang="en-US" dirty="0"/>
            </a:br>
            <a:r>
              <a:rPr lang="en-US" dirty="0" err="1"/>
              <a:t>G</a:t>
            </a:r>
            <a:r>
              <a:rPr lang="en-US" baseline="-25000" dirty="0" err="1"/>
              <a:t>i</a:t>
            </a:r>
            <a:r>
              <a:rPr lang="en-US" dirty="0"/>
              <a:t> , for i = 1..k,  and let A denote the set of articulation points of G.</a:t>
            </a:r>
            <a:br>
              <a:rPr lang="en-US" dirty="0"/>
            </a:br>
            <a:r>
              <a:rPr lang="en-US" dirty="0"/>
              <a:t>Define the skeleton graph </a:t>
            </a:r>
            <a:r>
              <a:rPr lang="en-US" dirty="0">
                <a:cs typeface="Times New Roman" pitchFamily="18" charset="0"/>
              </a:rPr>
              <a:t>Ĝ </a:t>
            </a:r>
            <a:r>
              <a:rPr lang="en-US" dirty="0"/>
              <a:t>of G as follows:  (See the illustrative figure below.) </a:t>
            </a:r>
            <a:br>
              <a:rPr lang="en-US" dirty="0"/>
            </a:br>
            <a:r>
              <a:rPr lang="en-US" dirty="0"/>
              <a:t>	V(</a:t>
            </a:r>
            <a:r>
              <a:rPr lang="en-US" dirty="0">
                <a:cs typeface="Times New Roman" pitchFamily="18" charset="0"/>
              </a:rPr>
              <a:t>Ĝ</a:t>
            </a:r>
            <a:r>
              <a:rPr lang="en-US" dirty="0"/>
              <a:t>)</a:t>
            </a:r>
            <a:r>
              <a:rPr lang="en-US" dirty="0">
                <a:cs typeface="Times New Roman" pitchFamily="18" charset="0"/>
              </a:rPr>
              <a:t> = {</a:t>
            </a:r>
            <a:r>
              <a:rPr lang="en-US" dirty="0" err="1"/>
              <a:t>G</a:t>
            </a:r>
            <a:r>
              <a:rPr lang="en-US" baseline="-25000" dirty="0" err="1"/>
              <a:t>i</a:t>
            </a:r>
            <a:r>
              <a:rPr lang="en-US" dirty="0">
                <a:cs typeface="Times New Roman" pitchFamily="18" charset="0"/>
              </a:rPr>
              <a:t> |  i = 1..k}  </a:t>
            </a:r>
            <a:r>
              <a:rPr lang="en-US" dirty="0">
                <a:cs typeface="Times New Roman" pitchFamily="18" charset="0"/>
                <a:sym typeface="Symbol" pitchFamily="18" charset="2"/>
              </a:rPr>
              <a:t> </a:t>
            </a:r>
            <a:r>
              <a:rPr lang="en-US" dirty="0">
                <a:cs typeface="Times New Roman" pitchFamily="18" charset="0"/>
              </a:rPr>
              <a:t>A</a:t>
            </a:r>
            <a:br>
              <a:rPr lang="en-US" dirty="0">
                <a:cs typeface="Times New Roman" pitchFamily="18" charset="0"/>
              </a:rPr>
            </a:br>
            <a:r>
              <a:rPr lang="en-US" dirty="0">
                <a:cs typeface="Times New Roman" pitchFamily="18" charset="0"/>
              </a:rPr>
              <a:t>	E(Ĝ) = {(</a:t>
            </a:r>
            <a:r>
              <a:rPr lang="en-US" dirty="0" err="1"/>
              <a:t>G</a:t>
            </a:r>
            <a:r>
              <a:rPr lang="en-US" baseline="-25000" dirty="0" err="1"/>
              <a:t>i</a:t>
            </a:r>
            <a:r>
              <a:rPr lang="en-US" dirty="0"/>
              <a:t> , x)  |  </a:t>
            </a:r>
            <a:r>
              <a:rPr lang="en-US" dirty="0" err="1"/>
              <a:t>x</a:t>
            </a:r>
            <a:r>
              <a:rPr lang="en-US" dirty="0" err="1">
                <a:sym typeface="Symbol" pitchFamily="18" charset="2"/>
              </a:rPr>
              <a:t></a:t>
            </a:r>
            <a:r>
              <a:rPr lang="en-US" dirty="0" err="1"/>
              <a:t>A</a:t>
            </a:r>
            <a:r>
              <a:rPr lang="en-US" dirty="0"/>
              <a:t> </a:t>
            </a:r>
            <a:r>
              <a:rPr lang="en-US" dirty="0">
                <a:sym typeface="Symbol" pitchFamily="18" charset="2"/>
              </a:rPr>
              <a:t></a:t>
            </a:r>
            <a:r>
              <a:rPr lang="en-US" dirty="0"/>
              <a:t>V(</a:t>
            </a:r>
            <a:r>
              <a:rPr lang="en-US" dirty="0" err="1"/>
              <a:t>G</a:t>
            </a:r>
            <a:r>
              <a:rPr lang="en-US" baseline="-25000" dirty="0" err="1"/>
              <a:t>i</a:t>
            </a:r>
            <a:r>
              <a:rPr lang="en-US" dirty="0">
                <a:cs typeface="Times New Roman" pitchFamily="18" charset="0"/>
              </a:rPr>
              <a:t>)</a:t>
            </a:r>
            <a:r>
              <a:rPr lang="en-US" dirty="0"/>
              <a:t>}</a:t>
            </a:r>
            <a:br>
              <a:rPr lang="en-US" dirty="0"/>
            </a:br>
            <a:r>
              <a:rPr lang="en-US" dirty="0"/>
              <a:t/>
            </a:r>
            <a:br>
              <a:rPr lang="en-US" dirty="0"/>
            </a:br>
            <a:r>
              <a:rPr lang="en-US" dirty="0"/>
              <a:t>(c)  Show that </a:t>
            </a:r>
            <a:r>
              <a:rPr lang="en-US" dirty="0">
                <a:cs typeface="Times New Roman" pitchFamily="18" charset="0"/>
              </a:rPr>
              <a:t>Ĝ is a tree</a:t>
            </a:r>
            <a:r>
              <a:rPr lang="en-US" dirty="0" smtClean="0">
                <a:cs typeface="Times New Roman" pitchFamily="18" charset="0"/>
              </a:rPr>
              <a:t>.</a:t>
            </a:r>
            <a:br>
              <a:rPr lang="en-US" dirty="0" smtClean="0">
                <a:cs typeface="Times New Roman" pitchFamily="18" charset="0"/>
              </a:rPr>
            </a:br>
            <a:r>
              <a:rPr lang="en-US" dirty="0">
                <a:cs typeface="Times New Roman" pitchFamily="18" charset="0"/>
              </a:rPr>
              <a:t/>
            </a:r>
            <a:br>
              <a:rPr lang="en-US" dirty="0">
                <a:cs typeface="Times New Roman" pitchFamily="18" charset="0"/>
              </a:rPr>
            </a:br>
            <a:r>
              <a:rPr lang="en-US" dirty="0">
                <a:cs typeface="Times New Roman" pitchFamily="18" charset="0"/>
              </a:rPr>
              <a:t>(d) Design &amp; analyze a linear-time algorithm to solve the problem using (a-c) above.</a:t>
            </a:r>
          </a:p>
        </p:txBody>
      </p:sp>
      <p:grpSp>
        <p:nvGrpSpPr>
          <p:cNvPr id="187398" name="Group 106"/>
          <p:cNvGrpSpPr>
            <a:grpSpLocks/>
          </p:cNvGrpSpPr>
          <p:nvPr/>
        </p:nvGrpSpPr>
        <p:grpSpPr bwMode="auto">
          <a:xfrm>
            <a:off x="762000" y="4724400"/>
            <a:ext cx="7391400" cy="2008188"/>
            <a:chOff x="460" y="2832"/>
            <a:chExt cx="4656" cy="1265"/>
          </a:xfrm>
        </p:grpSpPr>
        <p:sp>
          <p:nvSpPr>
            <p:cNvPr id="187399" name="Line 102"/>
            <p:cNvSpPr>
              <a:spLocks noChangeShapeType="1"/>
            </p:cNvSpPr>
            <p:nvPr/>
          </p:nvSpPr>
          <p:spPr bwMode="auto">
            <a:xfrm>
              <a:off x="4464" y="3408"/>
              <a:ext cx="336"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7400" name="Line 101"/>
            <p:cNvSpPr>
              <a:spLocks noChangeShapeType="1"/>
            </p:cNvSpPr>
            <p:nvPr/>
          </p:nvSpPr>
          <p:spPr bwMode="auto">
            <a:xfrm flipH="1">
              <a:off x="4320" y="3408"/>
              <a:ext cx="144"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87401" name="Line 100"/>
            <p:cNvSpPr>
              <a:spLocks noChangeShapeType="1"/>
            </p:cNvSpPr>
            <p:nvPr/>
          </p:nvSpPr>
          <p:spPr bwMode="auto">
            <a:xfrm>
              <a:off x="4368" y="3072"/>
              <a:ext cx="96"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87402" name="Line 99"/>
            <p:cNvSpPr>
              <a:spLocks noChangeShapeType="1"/>
            </p:cNvSpPr>
            <p:nvPr/>
          </p:nvSpPr>
          <p:spPr bwMode="auto">
            <a:xfrm>
              <a:off x="3936" y="3072"/>
              <a:ext cx="43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87403" name="Line 98"/>
            <p:cNvSpPr>
              <a:spLocks noChangeShapeType="1"/>
            </p:cNvSpPr>
            <p:nvPr/>
          </p:nvSpPr>
          <p:spPr bwMode="auto">
            <a:xfrm flipV="1">
              <a:off x="3600" y="3072"/>
              <a:ext cx="336"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87404" name="Line 103"/>
            <p:cNvSpPr>
              <a:spLocks noChangeShapeType="1"/>
            </p:cNvSpPr>
            <p:nvPr/>
          </p:nvSpPr>
          <p:spPr bwMode="auto">
            <a:xfrm>
              <a:off x="3600" y="3264"/>
              <a:ext cx="192"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endParaRPr lang="en-CA"/>
            </a:p>
          </p:txBody>
        </p:sp>
        <p:sp>
          <p:nvSpPr>
            <p:cNvPr id="187405" name="Line 105"/>
            <p:cNvSpPr>
              <a:spLocks noChangeShapeType="1"/>
            </p:cNvSpPr>
            <p:nvPr/>
          </p:nvSpPr>
          <p:spPr bwMode="auto">
            <a:xfrm>
              <a:off x="3792" y="3600"/>
              <a:ext cx="192"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7406" name="Line 104"/>
            <p:cNvSpPr>
              <a:spLocks noChangeShapeType="1"/>
            </p:cNvSpPr>
            <p:nvPr/>
          </p:nvSpPr>
          <p:spPr bwMode="auto">
            <a:xfrm flipH="1">
              <a:off x="3504" y="3600"/>
              <a:ext cx="288" cy="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7407" name="Freeform 9"/>
            <p:cNvSpPr>
              <a:spLocks/>
            </p:cNvSpPr>
            <p:nvPr/>
          </p:nvSpPr>
          <p:spPr bwMode="auto">
            <a:xfrm rot="1888765">
              <a:off x="1248" y="2976"/>
              <a:ext cx="593" cy="364"/>
            </a:xfrm>
            <a:custGeom>
              <a:avLst/>
              <a:gdLst>
                <a:gd name="T0" fmla="*/ 0 w 593"/>
                <a:gd name="T1" fmla="*/ 176 h 364"/>
                <a:gd name="T2" fmla="*/ 102 w 593"/>
                <a:gd name="T3" fmla="*/ 135 h 364"/>
                <a:gd name="T4" fmla="*/ 406 w 593"/>
                <a:gd name="T5" fmla="*/ 6 h 364"/>
                <a:gd name="T6" fmla="*/ 591 w 593"/>
                <a:gd name="T7" fmla="*/ 171 h 364"/>
                <a:gd name="T8" fmla="*/ 420 w 593"/>
                <a:gd name="T9" fmla="*/ 358 h 364"/>
                <a:gd name="T10" fmla="*/ 88 w 593"/>
                <a:gd name="T11" fmla="*/ 209 h 364"/>
                <a:gd name="T12" fmla="*/ 0 w 593"/>
                <a:gd name="T13" fmla="*/ 176 h 3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3" h="364">
                  <a:moveTo>
                    <a:pt x="0" y="176"/>
                  </a:moveTo>
                  <a:cubicBezTo>
                    <a:pt x="2" y="164"/>
                    <a:pt x="34" y="163"/>
                    <a:pt x="102" y="135"/>
                  </a:cubicBezTo>
                  <a:cubicBezTo>
                    <a:pt x="170" y="107"/>
                    <a:pt x="325" y="0"/>
                    <a:pt x="406" y="6"/>
                  </a:cubicBezTo>
                  <a:cubicBezTo>
                    <a:pt x="487" y="12"/>
                    <a:pt x="589" y="112"/>
                    <a:pt x="591" y="171"/>
                  </a:cubicBezTo>
                  <a:cubicBezTo>
                    <a:pt x="593" y="230"/>
                    <a:pt x="504" y="352"/>
                    <a:pt x="420" y="358"/>
                  </a:cubicBezTo>
                  <a:cubicBezTo>
                    <a:pt x="336" y="364"/>
                    <a:pt x="158" y="239"/>
                    <a:pt x="88" y="209"/>
                  </a:cubicBezTo>
                  <a:cubicBezTo>
                    <a:pt x="18" y="179"/>
                    <a:pt x="18" y="183"/>
                    <a:pt x="0" y="176"/>
                  </a:cubicBezTo>
                  <a:close/>
                </a:path>
              </a:pathLst>
            </a:custGeom>
            <a:solidFill>
              <a:schemeClr val="accent3">
                <a:lumMod val="75000"/>
              </a:schemeClr>
            </a:solidFill>
            <a:ln w="12700" cap="flat" cmpd="sng">
              <a:solidFill>
                <a:schemeClr val="accent3">
                  <a:lumMod val="75000"/>
                </a:schemeClr>
              </a:solidFill>
              <a:prstDash val="solid"/>
              <a:round/>
              <a:headEnd type="none" w="med" len="med"/>
              <a:tailEnd type="none" w="med" len="med"/>
            </a:ln>
            <a:effectLst>
              <a:outerShdw blurRad="44450" dist="27940" dir="5400000" algn="ctr">
                <a:srgbClr val="000000">
                  <a:alpha val="32000"/>
                </a:srgbClr>
              </a:outerShdw>
            </a:effectLst>
            <a:extLst/>
          </p:spPr>
          <p:txBody>
            <a:bodyPr bIns="10800">
              <a:spAutoFit/>
            </a:bodyPr>
            <a:lstStyle/>
            <a:p>
              <a:endParaRPr lang="en-CA"/>
            </a:p>
          </p:txBody>
        </p:sp>
        <p:sp>
          <p:nvSpPr>
            <p:cNvPr id="187408" name="Freeform 10"/>
            <p:cNvSpPr>
              <a:spLocks/>
            </p:cNvSpPr>
            <p:nvPr/>
          </p:nvSpPr>
          <p:spPr bwMode="auto">
            <a:xfrm rot="6622799">
              <a:off x="845" y="3043"/>
              <a:ext cx="593" cy="364"/>
            </a:xfrm>
            <a:custGeom>
              <a:avLst/>
              <a:gdLst>
                <a:gd name="T0" fmla="*/ 0 w 593"/>
                <a:gd name="T1" fmla="*/ 176 h 364"/>
                <a:gd name="T2" fmla="*/ 102 w 593"/>
                <a:gd name="T3" fmla="*/ 135 h 364"/>
                <a:gd name="T4" fmla="*/ 406 w 593"/>
                <a:gd name="T5" fmla="*/ 6 h 364"/>
                <a:gd name="T6" fmla="*/ 591 w 593"/>
                <a:gd name="T7" fmla="*/ 171 h 364"/>
                <a:gd name="T8" fmla="*/ 420 w 593"/>
                <a:gd name="T9" fmla="*/ 358 h 364"/>
                <a:gd name="T10" fmla="*/ 88 w 593"/>
                <a:gd name="T11" fmla="*/ 209 h 364"/>
                <a:gd name="T12" fmla="*/ 0 w 593"/>
                <a:gd name="T13" fmla="*/ 176 h 3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3" h="364">
                  <a:moveTo>
                    <a:pt x="0" y="176"/>
                  </a:moveTo>
                  <a:cubicBezTo>
                    <a:pt x="2" y="164"/>
                    <a:pt x="34" y="163"/>
                    <a:pt x="102" y="135"/>
                  </a:cubicBezTo>
                  <a:cubicBezTo>
                    <a:pt x="170" y="107"/>
                    <a:pt x="325" y="0"/>
                    <a:pt x="406" y="6"/>
                  </a:cubicBezTo>
                  <a:cubicBezTo>
                    <a:pt x="487" y="12"/>
                    <a:pt x="589" y="112"/>
                    <a:pt x="591" y="171"/>
                  </a:cubicBezTo>
                  <a:cubicBezTo>
                    <a:pt x="593" y="230"/>
                    <a:pt x="504" y="352"/>
                    <a:pt x="420" y="358"/>
                  </a:cubicBezTo>
                  <a:cubicBezTo>
                    <a:pt x="336" y="364"/>
                    <a:pt x="158" y="239"/>
                    <a:pt x="88" y="209"/>
                  </a:cubicBezTo>
                  <a:cubicBezTo>
                    <a:pt x="18" y="179"/>
                    <a:pt x="18" y="183"/>
                    <a:pt x="0" y="176"/>
                  </a:cubicBezTo>
                  <a:close/>
                </a:path>
              </a:pathLst>
            </a:custGeom>
            <a:solidFill>
              <a:schemeClr val="accent3">
                <a:lumMod val="75000"/>
              </a:schemeClr>
            </a:solidFill>
            <a:ln w="12700" cap="flat" cmpd="sng">
              <a:solidFill>
                <a:schemeClr val="accent3">
                  <a:lumMod val="75000"/>
                </a:schemeClr>
              </a:solidFill>
              <a:prstDash val="solid"/>
              <a:round/>
              <a:headEnd type="none" w="med" len="med"/>
              <a:tailEnd type="none" w="med" len="med"/>
            </a:ln>
            <a:effectLst>
              <a:outerShdw blurRad="44450" dist="27940" dir="5400000" algn="ctr">
                <a:srgbClr val="000000">
                  <a:alpha val="32000"/>
                </a:srgbClr>
              </a:outerShdw>
            </a:effectLst>
            <a:extLst/>
          </p:spPr>
          <p:txBody>
            <a:bodyPr bIns="10800">
              <a:spAutoFit/>
            </a:bodyPr>
            <a:lstStyle/>
            <a:p>
              <a:endParaRPr lang="en-CA"/>
            </a:p>
          </p:txBody>
        </p:sp>
        <p:sp>
          <p:nvSpPr>
            <p:cNvPr id="187409" name="Oval 11"/>
            <p:cNvSpPr>
              <a:spLocks noChangeArrowheads="1"/>
            </p:cNvSpPr>
            <p:nvPr/>
          </p:nvSpPr>
          <p:spPr bwMode="auto">
            <a:xfrm>
              <a:off x="1200" y="2928"/>
              <a:ext cx="96" cy="96"/>
            </a:xfrm>
            <a:prstGeom prst="ellipse">
              <a:avLst/>
            </a:prstGeom>
            <a:solidFill>
              <a:srgbClr val="C00000"/>
            </a:solidFill>
            <a:ln w="12700">
              <a:solidFill>
                <a:srgbClr val="C0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7410" name="Freeform 14"/>
            <p:cNvSpPr>
              <a:spLocks/>
            </p:cNvSpPr>
            <p:nvPr/>
          </p:nvSpPr>
          <p:spPr bwMode="auto">
            <a:xfrm rot="1888765">
              <a:off x="1728" y="3312"/>
              <a:ext cx="593" cy="364"/>
            </a:xfrm>
            <a:custGeom>
              <a:avLst/>
              <a:gdLst>
                <a:gd name="T0" fmla="*/ 0 w 593"/>
                <a:gd name="T1" fmla="*/ 176 h 364"/>
                <a:gd name="T2" fmla="*/ 102 w 593"/>
                <a:gd name="T3" fmla="*/ 135 h 364"/>
                <a:gd name="T4" fmla="*/ 406 w 593"/>
                <a:gd name="T5" fmla="*/ 6 h 364"/>
                <a:gd name="T6" fmla="*/ 591 w 593"/>
                <a:gd name="T7" fmla="*/ 171 h 364"/>
                <a:gd name="T8" fmla="*/ 420 w 593"/>
                <a:gd name="T9" fmla="*/ 358 h 364"/>
                <a:gd name="T10" fmla="*/ 88 w 593"/>
                <a:gd name="T11" fmla="*/ 209 h 364"/>
                <a:gd name="T12" fmla="*/ 0 w 593"/>
                <a:gd name="T13" fmla="*/ 176 h 3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3" h="364">
                  <a:moveTo>
                    <a:pt x="0" y="176"/>
                  </a:moveTo>
                  <a:cubicBezTo>
                    <a:pt x="2" y="164"/>
                    <a:pt x="34" y="163"/>
                    <a:pt x="102" y="135"/>
                  </a:cubicBezTo>
                  <a:cubicBezTo>
                    <a:pt x="170" y="107"/>
                    <a:pt x="325" y="0"/>
                    <a:pt x="406" y="6"/>
                  </a:cubicBezTo>
                  <a:cubicBezTo>
                    <a:pt x="487" y="12"/>
                    <a:pt x="589" y="112"/>
                    <a:pt x="591" y="171"/>
                  </a:cubicBezTo>
                  <a:cubicBezTo>
                    <a:pt x="593" y="230"/>
                    <a:pt x="504" y="352"/>
                    <a:pt x="420" y="358"/>
                  </a:cubicBezTo>
                  <a:cubicBezTo>
                    <a:pt x="336" y="364"/>
                    <a:pt x="158" y="239"/>
                    <a:pt x="88" y="209"/>
                  </a:cubicBezTo>
                  <a:cubicBezTo>
                    <a:pt x="18" y="179"/>
                    <a:pt x="18" y="183"/>
                    <a:pt x="0" y="176"/>
                  </a:cubicBezTo>
                  <a:close/>
                </a:path>
              </a:pathLst>
            </a:custGeom>
            <a:solidFill>
              <a:schemeClr val="accent3">
                <a:lumMod val="75000"/>
              </a:schemeClr>
            </a:solidFill>
            <a:ln w="12700" cap="flat" cmpd="sng">
              <a:solidFill>
                <a:schemeClr val="accent3">
                  <a:lumMod val="75000"/>
                </a:schemeClr>
              </a:solidFill>
              <a:prstDash val="solid"/>
              <a:round/>
              <a:headEnd type="none" w="med" len="med"/>
              <a:tailEnd type="none" w="med" len="med"/>
            </a:ln>
            <a:effectLst>
              <a:outerShdw blurRad="44450" dist="27940" dir="5400000" algn="ctr">
                <a:srgbClr val="000000">
                  <a:alpha val="32000"/>
                </a:srgbClr>
              </a:outerShdw>
            </a:effectLst>
            <a:extLst/>
          </p:spPr>
          <p:txBody>
            <a:bodyPr bIns="10800">
              <a:spAutoFit/>
            </a:bodyPr>
            <a:lstStyle/>
            <a:p>
              <a:endParaRPr lang="en-CA"/>
            </a:p>
          </p:txBody>
        </p:sp>
        <p:sp>
          <p:nvSpPr>
            <p:cNvPr id="187411" name="Freeform 15"/>
            <p:cNvSpPr>
              <a:spLocks/>
            </p:cNvSpPr>
            <p:nvPr/>
          </p:nvSpPr>
          <p:spPr bwMode="auto">
            <a:xfrm rot="6710522">
              <a:off x="1373" y="3427"/>
              <a:ext cx="593" cy="364"/>
            </a:xfrm>
            <a:custGeom>
              <a:avLst/>
              <a:gdLst>
                <a:gd name="T0" fmla="*/ 0 w 593"/>
                <a:gd name="T1" fmla="*/ 176 h 364"/>
                <a:gd name="T2" fmla="*/ 102 w 593"/>
                <a:gd name="T3" fmla="*/ 135 h 364"/>
                <a:gd name="T4" fmla="*/ 406 w 593"/>
                <a:gd name="T5" fmla="*/ 6 h 364"/>
                <a:gd name="T6" fmla="*/ 591 w 593"/>
                <a:gd name="T7" fmla="*/ 171 h 364"/>
                <a:gd name="T8" fmla="*/ 420 w 593"/>
                <a:gd name="T9" fmla="*/ 358 h 364"/>
                <a:gd name="T10" fmla="*/ 88 w 593"/>
                <a:gd name="T11" fmla="*/ 209 h 364"/>
                <a:gd name="T12" fmla="*/ 0 w 593"/>
                <a:gd name="T13" fmla="*/ 176 h 3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3" h="364">
                  <a:moveTo>
                    <a:pt x="0" y="176"/>
                  </a:moveTo>
                  <a:cubicBezTo>
                    <a:pt x="2" y="164"/>
                    <a:pt x="34" y="163"/>
                    <a:pt x="102" y="135"/>
                  </a:cubicBezTo>
                  <a:cubicBezTo>
                    <a:pt x="170" y="107"/>
                    <a:pt x="325" y="0"/>
                    <a:pt x="406" y="6"/>
                  </a:cubicBezTo>
                  <a:cubicBezTo>
                    <a:pt x="487" y="12"/>
                    <a:pt x="589" y="112"/>
                    <a:pt x="591" y="171"/>
                  </a:cubicBezTo>
                  <a:cubicBezTo>
                    <a:pt x="593" y="230"/>
                    <a:pt x="504" y="352"/>
                    <a:pt x="420" y="358"/>
                  </a:cubicBezTo>
                  <a:cubicBezTo>
                    <a:pt x="336" y="364"/>
                    <a:pt x="158" y="239"/>
                    <a:pt x="88" y="209"/>
                  </a:cubicBezTo>
                  <a:cubicBezTo>
                    <a:pt x="18" y="179"/>
                    <a:pt x="18" y="183"/>
                    <a:pt x="0" y="176"/>
                  </a:cubicBezTo>
                  <a:close/>
                </a:path>
              </a:pathLst>
            </a:custGeom>
            <a:solidFill>
              <a:schemeClr val="accent3">
                <a:lumMod val="75000"/>
              </a:schemeClr>
            </a:solidFill>
            <a:ln w="12700" cap="flat" cmpd="sng">
              <a:solidFill>
                <a:schemeClr val="accent3">
                  <a:lumMod val="75000"/>
                </a:schemeClr>
              </a:solidFill>
              <a:prstDash val="solid"/>
              <a:round/>
              <a:headEnd type="none" w="med" len="med"/>
              <a:tailEnd type="none" w="med" len="med"/>
            </a:ln>
            <a:effectLst>
              <a:outerShdw blurRad="44450" dist="27940" dir="5400000" algn="ctr">
                <a:srgbClr val="000000">
                  <a:alpha val="32000"/>
                </a:srgbClr>
              </a:outerShdw>
            </a:effectLst>
            <a:extLst/>
          </p:spPr>
          <p:txBody>
            <a:bodyPr bIns="10800">
              <a:spAutoFit/>
            </a:bodyPr>
            <a:lstStyle/>
            <a:p>
              <a:endParaRPr lang="en-CA"/>
            </a:p>
          </p:txBody>
        </p:sp>
        <p:sp>
          <p:nvSpPr>
            <p:cNvPr id="187412" name="Oval 17"/>
            <p:cNvSpPr>
              <a:spLocks noChangeArrowheads="1"/>
            </p:cNvSpPr>
            <p:nvPr/>
          </p:nvSpPr>
          <p:spPr bwMode="auto">
            <a:xfrm>
              <a:off x="1728" y="3264"/>
              <a:ext cx="96" cy="96"/>
            </a:xfrm>
            <a:prstGeom prst="ellipse">
              <a:avLst/>
            </a:prstGeom>
            <a:solidFill>
              <a:srgbClr val="C00000"/>
            </a:solidFill>
            <a:ln w="12700">
              <a:solidFill>
                <a:srgbClr val="C0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7413" name="Freeform 53"/>
            <p:cNvSpPr>
              <a:spLocks/>
            </p:cNvSpPr>
            <p:nvPr/>
          </p:nvSpPr>
          <p:spPr bwMode="auto">
            <a:xfrm rot="8639140">
              <a:off x="576" y="3504"/>
              <a:ext cx="593" cy="364"/>
            </a:xfrm>
            <a:custGeom>
              <a:avLst/>
              <a:gdLst>
                <a:gd name="T0" fmla="*/ 0 w 593"/>
                <a:gd name="T1" fmla="*/ 176 h 364"/>
                <a:gd name="T2" fmla="*/ 102 w 593"/>
                <a:gd name="T3" fmla="*/ 135 h 364"/>
                <a:gd name="T4" fmla="*/ 406 w 593"/>
                <a:gd name="T5" fmla="*/ 6 h 364"/>
                <a:gd name="T6" fmla="*/ 591 w 593"/>
                <a:gd name="T7" fmla="*/ 171 h 364"/>
                <a:gd name="T8" fmla="*/ 420 w 593"/>
                <a:gd name="T9" fmla="*/ 358 h 364"/>
                <a:gd name="T10" fmla="*/ 88 w 593"/>
                <a:gd name="T11" fmla="*/ 209 h 364"/>
                <a:gd name="T12" fmla="*/ 0 w 593"/>
                <a:gd name="T13" fmla="*/ 176 h 3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3" h="364">
                  <a:moveTo>
                    <a:pt x="0" y="176"/>
                  </a:moveTo>
                  <a:cubicBezTo>
                    <a:pt x="2" y="164"/>
                    <a:pt x="34" y="163"/>
                    <a:pt x="102" y="135"/>
                  </a:cubicBezTo>
                  <a:cubicBezTo>
                    <a:pt x="170" y="107"/>
                    <a:pt x="325" y="0"/>
                    <a:pt x="406" y="6"/>
                  </a:cubicBezTo>
                  <a:cubicBezTo>
                    <a:pt x="487" y="12"/>
                    <a:pt x="589" y="112"/>
                    <a:pt x="591" y="171"/>
                  </a:cubicBezTo>
                  <a:cubicBezTo>
                    <a:pt x="593" y="230"/>
                    <a:pt x="504" y="352"/>
                    <a:pt x="420" y="358"/>
                  </a:cubicBezTo>
                  <a:cubicBezTo>
                    <a:pt x="336" y="364"/>
                    <a:pt x="158" y="239"/>
                    <a:pt x="88" y="209"/>
                  </a:cubicBezTo>
                  <a:cubicBezTo>
                    <a:pt x="18" y="179"/>
                    <a:pt x="18" y="183"/>
                    <a:pt x="0" y="176"/>
                  </a:cubicBezTo>
                  <a:close/>
                </a:path>
              </a:pathLst>
            </a:custGeom>
            <a:solidFill>
              <a:schemeClr val="accent3">
                <a:lumMod val="75000"/>
              </a:schemeClr>
            </a:solidFill>
            <a:ln w="12700" cap="flat" cmpd="sng">
              <a:solidFill>
                <a:schemeClr val="accent3">
                  <a:lumMod val="75000"/>
                </a:schemeClr>
              </a:solidFill>
              <a:prstDash val="solid"/>
              <a:round/>
              <a:headEnd type="none" w="med" len="med"/>
              <a:tailEnd type="none" w="med" len="med"/>
            </a:ln>
            <a:effectLst>
              <a:outerShdw blurRad="44450" dist="27940" dir="5400000" algn="ctr">
                <a:srgbClr val="000000">
                  <a:alpha val="32000"/>
                </a:srgbClr>
              </a:outerShdw>
            </a:effectLst>
            <a:extLst/>
          </p:spPr>
          <p:txBody>
            <a:bodyPr bIns="10800">
              <a:spAutoFit/>
            </a:bodyPr>
            <a:lstStyle/>
            <a:p>
              <a:endParaRPr lang="en-CA"/>
            </a:p>
          </p:txBody>
        </p:sp>
        <p:sp>
          <p:nvSpPr>
            <p:cNvPr id="187414" name="Freeform 54"/>
            <p:cNvSpPr>
              <a:spLocks/>
            </p:cNvSpPr>
            <p:nvPr/>
          </p:nvSpPr>
          <p:spPr bwMode="auto">
            <a:xfrm rot="3799709">
              <a:off x="941" y="3619"/>
              <a:ext cx="593" cy="364"/>
            </a:xfrm>
            <a:custGeom>
              <a:avLst/>
              <a:gdLst>
                <a:gd name="T0" fmla="*/ 0 w 593"/>
                <a:gd name="T1" fmla="*/ 176 h 364"/>
                <a:gd name="T2" fmla="*/ 102 w 593"/>
                <a:gd name="T3" fmla="*/ 135 h 364"/>
                <a:gd name="T4" fmla="*/ 406 w 593"/>
                <a:gd name="T5" fmla="*/ 6 h 364"/>
                <a:gd name="T6" fmla="*/ 591 w 593"/>
                <a:gd name="T7" fmla="*/ 171 h 364"/>
                <a:gd name="T8" fmla="*/ 420 w 593"/>
                <a:gd name="T9" fmla="*/ 358 h 364"/>
                <a:gd name="T10" fmla="*/ 88 w 593"/>
                <a:gd name="T11" fmla="*/ 209 h 364"/>
                <a:gd name="T12" fmla="*/ 0 w 593"/>
                <a:gd name="T13" fmla="*/ 176 h 3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3" h="364">
                  <a:moveTo>
                    <a:pt x="0" y="176"/>
                  </a:moveTo>
                  <a:cubicBezTo>
                    <a:pt x="2" y="164"/>
                    <a:pt x="34" y="163"/>
                    <a:pt x="102" y="135"/>
                  </a:cubicBezTo>
                  <a:cubicBezTo>
                    <a:pt x="170" y="107"/>
                    <a:pt x="325" y="0"/>
                    <a:pt x="406" y="6"/>
                  </a:cubicBezTo>
                  <a:cubicBezTo>
                    <a:pt x="487" y="12"/>
                    <a:pt x="589" y="112"/>
                    <a:pt x="591" y="171"/>
                  </a:cubicBezTo>
                  <a:cubicBezTo>
                    <a:pt x="593" y="230"/>
                    <a:pt x="504" y="352"/>
                    <a:pt x="420" y="358"/>
                  </a:cubicBezTo>
                  <a:cubicBezTo>
                    <a:pt x="336" y="364"/>
                    <a:pt x="158" y="239"/>
                    <a:pt x="88" y="209"/>
                  </a:cubicBezTo>
                  <a:cubicBezTo>
                    <a:pt x="18" y="179"/>
                    <a:pt x="18" y="183"/>
                    <a:pt x="0" y="176"/>
                  </a:cubicBezTo>
                  <a:close/>
                </a:path>
              </a:pathLst>
            </a:custGeom>
            <a:solidFill>
              <a:schemeClr val="accent3">
                <a:lumMod val="75000"/>
              </a:schemeClr>
            </a:solidFill>
            <a:ln w="12700" cap="flat" cmpd="sng">
              <a:solidFill>
                <a:schemeClr val="accent3">
                  <a:lumMod val="75000"/>
                </a:schemeClr>
              </a:solidFill>
              <a:prstDash val="solid"/>
              <a:round/>
              <a:headEnd type="none" w="med" len="med"/>
              <a:tailEnd type="none" w="med" len="med"/>
            </a:ln>
            <a:effectLst>
              <a:outerShdw blurRad="44450" dist="27940" dir="5400000" algn="ctr">
                <a:srgbClr val="000000">
                  <a:alpha val="32000"/>
                </a:srgbClr>
              </a:outerShdw>
            </a:effectLst>
            <a:extLst/>
          </p:spPr>
          <p:txBody>
            <a:bodyPr bIns="10800">
              <a:spAutoFit/>
            </a:bodyPr>
            <a:lstStyle/>
            <a:p>
              <a:endParaRPr lang="en-CA"/>
            </a:p>
          </p:txBody>
        </p:sp>
        <p:sp>
          <p:nvSpPr>
            <p:cNvPr id="187415" name="Oval 55"/>
            <p:cNvSpPr>
              <a:spLocks noChangeArrowheads="1"/>
            </p:cNvSpPr>
            <p:nvPr/>
          </p:nvSpPr>
          <p:spPr bwMode="auto">
            <a:xfrm>
              <a:off x="1056" y="3456"/>
              <a:ext cx="96" cy="96"/>
            </a:xfrm>
            <a:prstGeom prst="ellipse">
              <a:avLst/>
            </a:prstGeom>
            <a:solidFill>
              <a:srgbClr val="C00000"/>
            </a:solidFill>
            <a:ln w="12700">
              <a:solidFill>
                <a:srgbClr val="C0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7416" name="Rectangle 63"/>
            <p:cNvSpPr>
              <a:spLocks noChangeArrowheads="1"/>
            </p:cNvSpPr>
            <p:nvPr/>
          </p:nvSpPr>
          <p:spPr bwMode="auto">
            <a:xfrm>
              <a:off x="662" y="3600"/>
              <a:ext cx="26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G</a:t>
              </a:r>
              <a:r>
                <a:rPr lang="en-US" sz="1800" baseline="-25000"/>
                <a:t>1</a:t>
              </a:r>
            </a:p>
          </p:txBody>
        </p:sp>
        <p:sp>
          <p:nvSpPr>
            <p:cNvPr id="187417" name="Rectangle 64"/>
            <p:cNvSpPr>
              <a:spLocks noChangeArrowheads="1"/>
            </p:cNvSpPr>
            <p:nvPr/>
          </p:nvSpPr>
          <p:spPr bwMode="auto">
            <a:xfrm>
              <a:off x="950" y="3168"/>
              <a:ext cx="26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G</a:t>
              </a:r>
              <a:r>
                <a:rPr lang="en-US" sz="1800" baseline="-25000"/>
                <a:t>2</a:t>
              </a:r>
            </a:p>
          </p:txBody>
        </p:sp>
        <p:sp>
          <p:nvSpPr>
            <p:cNvPr id="187418" name="Rectangle 65"/>
            <p:cNvSpPr>
              <a:spLocks noChangeArrowheads="1"/>
            </p:cNvSpPr>
            <p:nvPr/>
          </p:nvSpPr>
          <p:spPr bwMode="auto">
            <a:xfrm>
              <a:off x="1478" y="3072"/>
              <a:ext cx="26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G</a:t>
              </a:r>
              <a:r>
                <a:rPr lang="en-US" sz="1800" baseline="-25000"/>
                <a:t>3</a:t>
              </a:r>
            </a:p>
          </p:txBody>
        </p:sp>
        <p:sp>
          <p:nvSpPr>
            <p:cNvPr id="187419" name="Rectangle 66"/>
            <p:cNvSpPr>
              <a:spLocks noChangeArrowheads="1"/>
            </p:cNvSpPr>
            <p:nvPr/>
          </p:nvSpPr>
          <p:spPr bwMode="auto">
            <a:xfrm>
              <a:off x="1526" y="3552"/>
              <a:ext cx="26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G</a:t>
              </a:r>
              <a:r>
                <a:rPr lang="en-US" sz="1800" baseline="-25000"/>
                <a:t>5</a:t>
              </a:r>
            </a:p>
          </p:txBody>
        </p:sp>
        <p:sp>
          <p:nvSpPr>
            <p:cNvPr id="187420" name="Rectangle 67"/>
            <p:cNvSpPr>
              <a:spLocks noChangeArrowheads="1"/>
            </p:cNvSpPr>
            <p:nvPr/>
          </p:nvSpPr>
          <p:spPr bwMode="auto">
            <a:xfrm>
              <a:off x="1910" y="3408"/>
              <a:ext cx="26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dirty="0"/>
                <a:t>G</a:t>
              </a:r>
              <a:r>
                <a:rPr lang="en-US" sz="1800" baseline="-25000" dirty="0"/>
                <a:t>4</a:t>
              </a:r>
            </a:p>
          </p:txBody>
        </p:sp>
        <p:sp>
          <p:nvSpPr>
            <p:cNvPr id="187421" name="Rectangle 68"/>
            <p:cNvSpPr>
              <a:spLocks noChangeArrowheads="1"/>
            </p:cNvSpPr>
            <p:nvPr/>
          </p:nvSpPr>
          <p:spPr bwMode="auto">
            <a:xfrm>
              <a:off x="1142" y="3744"/>
              <a:ext cx="26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G</a:t>
              </a:r>
              <a:r>
                <a:rPr lang="en-US" sz="1800" baseline="-25000"/>
                <a:t>6</a:t>
              </a:r>
            </a:p>
          </p:txBody>
        </p:sp>
        <p:sp>
          <p:nvSpPr>
            <p:cNvPr id="187422" name="Rectangle 69"/>
            <p:cNvSpPr>
              <a:spLocks noChangeArrowheads="1"/>
            </p:cNvSpPr>
            <p:nvPr/>
          </p:nvSpPr>
          <p:spPr bwMode="auto">
            <a:xfrm>
              <a:off x="1776" y="3120"/>
              <a:ext cx="219"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algn="ctr" eaLnBrk="1" hangingPunct="1">
                <a:lnSpc>
                  <a:spcPct val="115000"/>
                </a:lnSpc>
                <a:spcBef>
                  <a:spcPct val="50000"/>
                </a:spcBef>
                <a:buFont typeface="Wingdings" pitchFamily="2" charset="2"/>
                <a:buNone/>
              </a:pPr>
              <a:r>
                <a:rPr lang="en-US" sz="1800"/>
                <a:t>z</a:t>
              </a:r>
              <a:endParaRPr lang="en-US" sz="1800" baseline="-25000"/>
            </a:p>
          </p:txBody>
        </p:sp>
        <p:sp>
          <p:nvSpPr>
            <p:cNvPr id="187423" name="Rectangle 70"/>
            <p:cNvSpPr>
              <a:spLocks noChangeArrowheads="1"/>
            </p:cNvSpPr>
            <p:nvPr/>
          </p:nvSpPr>
          <p:spPr bwMode="auto">
            <a:xfrm>
              <a:off x="1008" y="2832"/>
              <a:ext cx="219"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algn="ctr" eaLnBrk="1" hangingPunct="1">
                <a:lnSpc>
                  <a:spcPct val="115000"/>
                </a:lnSpc>
                <a:spcBef>
                  <a:spcPct val="50000"/>
                </a:spcBef>
                <a:buFont typeface="Wingdings" pitchFamily="2" charset="2"/>
                <a:buNone/>
              </a:pPr>
              <a:r>
                <a:rPr lang="en-US" sz="1800"/>
                <a:t>x</a:t>
              </a:r>
              <a:endParaRPr lang="en-US" sz="1800" baseline="-25000"/>
            </a:p>
          </p:txBody>
        </p:sp>
        <p:sp>
          <p:nvSpPr>
            <p:cNvPr id="187424" name="Rectangle 71"/>
            <p:cNvSpPr>
              <a:spLocks noChangeArrowheads="1"/>
            </p:cNvSpPr>
            <p:nvPr/>
          </p:nvSpPr>
          <p:spPr bwMode="auto">
            <a:xfrm>
              <a:off x="1152" y="3360"/>
              <a:ext cx="219"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algn="ctr" eaLnBrk="1" hangingPunct="1">
                <a:lnSpc>
                  <a:spcPct val="115000"/>
                </a:lnSpc>
                <a:spcBef>
                  <a:spcPct val="50000"/>
                </a:spcBef>
                <a:buFont typeface="Wingdings" pitchFamily="2" charset="2"/>
                <a:buNone/>
              </a:pPr>
              <a:r>
                <a:rPr lang="en-US" sz="1800"/>
                <a:t>y</a:t>
              </a:r>
              <a:endParaRPr lang="en-US" sz="1800" baseline="-25000"/>
            </a:p>
          </p:txBody>
        </p:sp>
        <p:sp>
          <p:nvSpPr>
            <p:cNvPr id="187425" name="Oval 74"/>
            <p:cNvSpPr>
              <a:spLocks noChangeArrowheads="1"/>
            </p:cNvSpPr>
            <p:nvPr/>
          </p:nvSpPr>
          <p:spPr bwMode="auto">
            <a:xfrm>
              <a:off x="3898" y="3024"/>
              <a:ext cx="96" cy="96"/>
            </a:xfrm>
            <a:prstGeom prst="ellipse">
              <a:avLst/>
            </a:prstGeom>
            <a:solidFill>
              <a:srgbClr val="C00000"/>
            </a:solidFill>
            <a:ln w="12700">
              <a:solidFill>
                <a:srgbClr val="C0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7426" name="Oval 77"/>
            <p:cNvSpPr>
              <a:spLocks noChangeArrowheads="1"/>
            </p:cNvSpPr>
            <p:nvPr/>
          </p:nvSpPr>
          <p:spPr bwMode="auto">
            <a:xfrm>
              <a:off x="4426" y="3360"/>
              <a:ext cx="96" cy="96"/>
            </a:xfrm>
            <a:prstGeom prst="ellipse">
              <a:avLst/>
            </a:prstGeom>
            <a:solidFill>
              <a:srgbClr val="C00000"/>
            </a:solidFill>
            <a:ln w="12700">
              <a:solidFill>
                <a:srgbClr val="C0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7427" name="Oval 80"/>
            <p:cNvSpPr>
              <a:spLocks noChangeArrowheads="1"/>
            </p:cNvSpPr>
            <p:nvPr/>
          </p:nvSpPr>
          <p:spPr bwMode="auto">
            <a:xfrm>
              <a:off x="3754" y="3552"/>
              <a:ext cx="96" cy="96"/>
            </a:xfrm>
            <a:prstGeom prst="ellipse">
              <a:avLst/>
            </a:prstGeom>
            <a:solidFill>
              <a:srgbClr val="C00000"/>
            </a:solidFill>
            <a:ln w="12700">
              <a:solidFill>
                <a:srgbClr val="C00000"/>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7428" name="Rectangle 81"/>
            <p:cNvSpPr>
              <a:spLocks noChangeArrowheads="1"/>
            </p:cNvSpPr>
            <p:nvPr/>
          </p:nvSpPr>
          <p:spPr bwMode="auto">
            <a:xfrm>
              <a:off x="3264" y="3744"/>
              <a:ext cx="26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G</a:t>
              </a:r>
              <a:r>
                <a:rPr lang="en-US" sz="1800" baseline="-25000"/>
                <a:t>1</a:t>
              </a:r>
            </a:p>
          </p:txBody>
        </p:sp>
        <p:sp>
          <p:nvSpPr>
            <p:cNvPr id="187429" name="Rectangle 82"/>
            <p:cNvSpPr>
              <a:spLocks noChangeArrowheads="1"/>
            </p:cNvSpPr>
            <p:nvPr/>
          </p:nvSpPr>
          <p:spPr bwMode="auto">
            <a:xfrm>
              <a:off x="3360" y="3168"/>
              <a:ext cx="26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G</a:t>
              </a:r>
              <a:r>
                <a:rPr lang="en-US" sz="1800" baseline="-25000"/>
                <a:t>2</a:t>
              </a:r>
            </a:p>
          </p:txBody>
        </p:sp>
        <p:sp>
          <p:nvSpPr>
            <p:cNvPr id="187430" name="Rectangle 83"/>
            <p:cNvSpPr>
              <a:spLocks noChangeArrowheads="1"/>
            </p:cNvSpPr>
            <p:nvPr/>
          </p:nvSpPr>
          <p:spPr bwMode="auto">
            <a:xfrm>
              <a:off x="4368" y="2928"/>
              <a:ext cx="26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G</a:t>
              </a:r>
              <a:r>
                <a:rPr lang="en-US" sz="1800" baseline="-25000"/>
                <a:t>3</a:t>
              </a:r>
            </a:p>
          </p:txBody>
        </p:sp>
        <p:sp>
          <p:nvSpPr>
            <p:cNvPr id="187431" name="Rectangle 84"/>
            <p:cNvSpPr>
              <a:spLocks noChangeArrowheads="1"/>
            </p:cNvSpPr>
            <p:nvPr/>
          </p:nvSpPr>
          <p:spPr bwMode="auto">
            <a:xfrm>
              <a:off x="4224" y="3648"/>
              <a:ext cx="26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G</a:t>
              </a:r>
              <a:r>
                <a:rPr lang="en-US" sz="1800" baseline="-25000"/>
                <a:t>5</a:t>
              </a:r>
            </a:p>
          </p:txBody>
        </p:sp>
        <p:sp>
          <p:nvSpPr>
            <p:cNvPr id="187432" name="Rectangle 85"/>
            <p:cNvSpPr>
              <a:spLocks noChangeArrowheads="1"/>
            </p:cNvSpPr>
            <p:nvPr/>
          </p:nvSpPr>
          <p:spPr bwMode="auto">
            <a:xfrm>
              <a:off x="4848" y="3456"/>
              <a:ext cx="26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G</a:t>
              </a:r>
              <a:r>
                <a:rPr lang="en-US" sz="1800" baseline="-25000"/>
                <a:t>4</a:t>
              </a:r>
            </a:p>
          </p:txBody>
        </p:sp>
        <p:sp>
          <p:nvSpPr>
            <p:cNvPr id="187433" name="Rectangle 86"/>
            <p:cNvSpPr>
              <a:spLocks noChangeArrowheads="1"/>
            </p:cNvSpPr>
            <p:nvPr/>
          </p:nvSpPr>
          <p:spPr bwMode="auto">
            <a:xfrm>
              <a:off x="3840" y="3840"/>
              <a:ext cx="268"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G</a:t>
              </a:r>
              <a:r>
                <a:rPr lang="en-US" sz="1800" baseline="-25000"/>
                <a:t>6</a:t>
              </a:r>
            </a:p>
          </p:txBody>
        </p:sp>
        <p:sp>
          <p:nvSpPr>
            <p:cNvPr id="187434" name="Rectangle 87"/>
            <p:cNvSpPr>
              <a:spLocks noChangeArrowheads="1"/>
            </p:cNvSpPr>
            <p:nvPr/>
          </p:nvSpPr>
          <p:spPr bwMode="auto">
            <a:xfrm>
              <a:off x="4474" y="3216"/>
              <a:ext cx="219"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algn="ctr" eaLnBrk="1" hangingPunct="1">
                <a:lnSpc>
                  <a:spcPct val="115000"/>
                </a:lnSpc>
                <a:spcBef>
                  <a:spcPct val="50000"/>
                </a:spcBef>
                <a:buFont typeface="Wingdings" pitchFamily="2" charset="2"/>
                <a:buNone/>
              </a:pPr>
              <a:r>
                <a:rPr lang="en-US" sz="1800"/>
                <a:t>z</a:t>
              </a:r>
              <a:endParaRPr lang="en-US" sz="1800" baseline="-25000"/>
            </a:p>
          </p:txBody>
        </p:sp>
        <p:sp>
          <p:nvSpPr>
            <p:cNvPr id="187435" name="Rectangle 88"/>
            <p:cNvSpPr>
              <a:spLocks noChangeArrowheads="1"/>
            </p:cNvSpPr>
            <p:nvPr/>
          </p:nvSpPr>
          <p:spPr bwMode="auto">
            <a:xfrm>
              <a:off x="3706" y="2928"/>
              <a:ext cx="219"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algn="ctr" eaLnBrk="1" hangingPunct="1">
                <a:lnSpc>
                  <a:spcPct val="115000"/>
                </a:lnSpc>
                <a:spcBef>
                  <a:spcPct val="50000"/>
                </a:spcBef>
                <a:buFont typeface="Wingdings" pitchFamily="2" charset="2"/>
                <a:buNone/>
              </a:pPr>
              <a:r>
                <a:rPr lang="en-US" sz="1800"/>
                <a:t>x</a:t>
              </a:r>
              <a:endParaRPr lang="en-US" sz="1800" baseline="-25000"/>
            </a:p>
          </p:txBody>
        </p:sp>
        <p:sp>
          <p:nvSpPr>
            <p:cNvPr id="187436" name="Rectangle 89"/>
            <p:cNvSpPr>
              <a:spLocks noChangeArrowheads="1"/>
            </p:cNvSpPr>
            <p:nvPr/>
          </p:nvSpPr>
          <p:spPr bwMode="auto">
            <a:xfrm>
              <a:off x="3850" y="3456"/>
              <a:ext cx="219"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algn="ctr" eaLnBrk="1" hangingPunct="1">
                <a:lnSpc>
                  <a:spcPct val="115000"/>
                </a:lnSpc>
                <a:spcBef>
                  <a:spcPct val="50000"/>
                </a:spcBef>
                <a:buFont typeface="Wingdings" pitchFamily="2" charset="2"/>
                <a:buNone/>
              </a:pPr>
              <a:r>
                <a:rPr lang="en-US" sz="1800"/>
                <a:t>y</a:t>
              </a:r>
              <a:endParaRPr lang="en-US" sz="1800" baseline="-25000"/>
            </a:p>
          </p:txBody>
        </p:sp>
        <p:sp>
          <p:nvSpPr>
            <p:cNvPr id="187437" name="Rectangle 90"/>
            <p:cNvSpPr>
              <a:spLocks noChangeArrowheads="1"/>
            </p:cNvSpPr>
            <p:nvPr/>
          </p:nvSpPr>
          <p:spPr bwMode="auto">
            <a:xfrm>
              <a:off x="460" y="3024"/>
              <a:ext cx="260"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t>G:</a:t>
              </a:r>
            </a:p>
          </p:txBody>
        </p:sp>
        <p:sp>
          <p:nvSpPr>
            <p:cNvPr id="187438" name="Rectangle 91"/>
            <p:cNvSpPr>
              <a:spLocks noChangeArrowheads="1"/>
            </p:cNvSpPr>
            <p:nvPr/>
          </p:nvSpPr>
          <p:spPr bwMode="auto">
            <a:xfrm>
              <a:off x="2958" y="2976"/>
              <a:ext cx="296"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lnSpc>
                  <a:spcPct val="115000"/>
                </a:lnSpc>
                <a:spcBef>
                  <a:spcPct val="50000"/>
                </a:spcBef>
                <a:buFont typeface="Wingdings" pitchFamily="2" charset="2"/>
                <a:buNone/>
              </a:pPr>
              <a:r>
                <a:rPr lang="en-US" sz="1800">
                  <a:cs typeface="Times New Roman" pitchFamily="18" charset="0"/>
                </a:rPr>
                <a:t>Ĝ</a:t>
              </a:r>
              <a:r>
                <a:rPr lang="en-US" sz="1800"/>
                <a:t> :</a:t>
              </a:r>
            </a:p>
          </p:txBody>
        </p:sp>
        <p:sp>
          <p:nvSpPr>
            <p:cNvPr id="187439" name="Oval 92"/>
            <p:cNvSpPr>
              <a:spLocks noChangeArrowheads="1"/>
            </p:cNvSpPr>
            <p:nvPr/>
          </p:nvSpPr>
          <p:spPr bwMode="auto">
            <a:xfrm>
              <a:off x="3552" y="3216"/>
              <a:ext cx="96" cy="96"/>
            </a:xfrm>
            <a:prstGeom prst="ellipse">
              <a:avLst/>
            </a:prstGeom>
            <a:solidFill>
              <a:schemeClr val="accent3">
                <a:lumMod val="7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7440" name="Oval 93"/>
            <p:cNvSpPr>
              <a:spLocks noChangeArrowheads="1"/>
            </p:cNvSpPr>
            <p:nvPr/>
          </p:nvSpPr>
          <p:spPr bwMode="auto">
            <a:xfrm>
              <a:off x="4320" y="3024"/>
              <a:ext cx="96" cy="96"/>
            </a:xfrm>
            <a:prstGeom prst="ellipse">
              <a:avLst/>
            </a:prstGeom>
            <a:solidFill>
              <a:schemeClr val="accent3">
                <a:lumMod val="7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7441" name="Oval 94"/>
            <p:cNvSpPr>
              <a:spLocks noChangeArrowheads="1"/>
            </p:cNvSpPr>
            <p:nvPr/>
          </p:nvSpPr>
          <p:spPr bwMode="auto">
            <a:xfrm>
              <a:off x="3456" y="3696"/>
              <a:ext cx="96" cy="96"/>
            </a:xfrm>
            <a:prstGeom prst="ellipse">
              <a:avLst/>
            </a:prstGeom>
            <a:solidFill>
              <a:schemeClr val="accent3">
                <a:lumMod val="7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7442" name="Oval 95"/>
            <p:cNvSpPr>
              <a:spLocks noChangeArrowheads="1"/>
            </p:cNvSpPr>
            <p:nvPr/>
          </p:nvSpPr>
          <p:spPr bwMode="auto">
            <a:xfrm>
              <a:off x="3936" y="3792"/>
              <a:ext cx="96" cy="96"/>
            </a:xfrm>
            <a:prstGeom prst="ellipse">
              <a:avLst/>
            </a:prstGeom>
            <a:solidFill>
              <a:schemeClr val="accent3">
                <a:lumMod val="7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7443" name="Oval 96"/>
            <p:cNvSpPr>
              <a:spLocks noChangeArrowheads="1"/>
            </p:cNvSpPr>
            <p:nvPr/>
          </p:nvSpPr>
          <p:spPr bwMode="auto">
            <a:xfrm>
              <a:off x="4272" y="3600"/>
              <a:ext cx="96" cy="96"/>
            </a:xfrm>
            <a:prstGeom prst="ellipse">
              <a:avLst/>
            </a:prstGeom>
            <a:solidFill>
              <a:schemeClr val="accent3">
                <a:lumMod val="7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187444" name="Oval 97"/>
            <p:cNvSpPr>
              <a:spLocks noChangeArrowheads="1"/>
            </p:cNvSpPr>
            <p:nvPr/>
          </p:nvSpPr>
          <p:spPr bwMode="auto">
            <a:xfrm>
              <a:off x="4752" y="3456"/>
              <a:ext cx="96" cy="96"/>
            </a:xfrm>
            <a:prstGeom prst="ellipse">
              <a:avLst/>
            </a:prstGeom>
            <a:solidFill>
              <a:schemeClr val="accent3">
                <a:lumMod val="7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gr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184</a:t>
            </a:fld>
            <a:endParaRPr lang="en-US"/>
          </a:p>
        </p:txBody>
      </p:sp>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8418"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8752"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8419"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8753"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8420"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8754"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8421" name="Rectangle 5"/>
          <p:cNvSpPr>
            <a:spLocks noChangeArrowheads="1"/>
          </p:cNvSpPr>
          <p:nvPr/>
        </p:nvSpPr>
        <p:spPr bwMode="auto">
          <a:xfrm>
            <a:off x="228600" y="228600"/>
            <a:ext cx="8686800" cy="656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85763" indent="-376238" eaLnBrk="1" hangingPunct="1">
              <a:lnSpc>
                <a:spcPct val="85000"/>
              </a:lnSpc>
              <a:spcBef>
                <a:spcPct val="20000"/>
              </a:spcBef>
              <a:buFont typeface="+mj-lt"/>
              <a:buAutoNum type="arabicPeriod" startAt="34"/>
            </a:pPr>
            <a:r>
              <a:rPr lang="en-US" dirty="0"/>
              <a:t>Consider an arbitrary iteration of the generic MST algorithm that uses the Red and Blue Rules with the Red-Blue Invariant. The set B of blue edges at that point forms a forest of one or more blue components. By the Red-Blue Invariant we know that there is an MST T that contains B. Assume we still have more than one blue component. Form a cut C by partitioning these blue components into two non-empty subsets. Consider an arbitrary edge e of T that crosses the cut C. Give a counter-example to the conjecture that e must be a min-weight cross edge of the cut C.</a:t>
            </a:r>
          </a:p>
          <a:p>
            <a:pPr marL="385763" indent="-376238" eaLnBrk="1" hangingPunct="1">
              <a:lnSpc>
                <a:spcPct val="85000"/>
              </a:lnSpc>
              <a:spcBef>
                <a:spcPct val="20000"/>
              </a:spcBef>
              <a:buFontTx/>
              <a:buAutoNum type="arabicPeriod" startAt="34"/>
            </a:pPr>
            <a:endParaRPr lang="en-US" dirty="0"/>
          </a:p>
          <a:p>
            <a:pPr marL="385763" indent="-376238" eaLnBrk="1" hangingPunct="1">
              <a:lnSpc>
                <a:spcPct val="85000"/>
              </a:lnSpc>
              <a:spcBef>
                <a:spcPct val="20000"/>
              </a:spcBef>
              <a:buFontTx/>
              <a:buAutoNum type="arabicPeriod" startAt="34"/>
            </a:pPr>
            <a:r>
              <a:rPr lang="en-US" dirty="0"/>
              <a:t>Is the following divide-&amp;-conquer algorithm guaranteed to find a MST of a given graph G? : Divide V(G) in two arbitrary subsets of roughly equal size X and Y. Let G’ and G’’ be the </a:t>
            </a:r>
            <a:r>
              <a:rPr lang="en-US" dirty="0" err="1"/>
              <a:t>subgraphs</a:t>
            </a:r>
            <a:r>
              <a:rPr lang="en-US" dirty="0"/>
              <a:t> of G induced by X and Y, respectively. Recursively find an MST T’ of G’ and an MST T’’ of G’’. Let e be the minimum weight edge of G incident to X and to Y. </a:t>
            </a:r>
            <a:br>
              <a:rPr lang="en-US" dirty="0"/>
            </a:br>
            <a:r>
              <a:rPr lang="en-US" dirty="0"/>
              <a:t>Return T = T’ </a:t>
            </a:r>
            <a:r>
              <a:rPr lang="en-US" dirty="0">
                <a:sym typeface="Symbol" pitchFamily="18" charset="2"/>
              </a:rPr>
              <a:t> </a:t>
            </a:r>
            <a:r>
              <a:rPr lang="en-US" dirty="0"/>
              <a:t>T” </a:t>
            </a:r>
            <a:r>
              <a:rPr lang="en-US" dirty="0">
                <a:sym typeface="Symbol" pitchFamily="18" charset="2"/>
              </a:rPr>
              <a:t> </a:t>
            </a:r>
            <a:r>
              <a:rPr lang="en-US" dirty="0"/>
              <a:t>{e} as the MST of G.</a:t>
            </a:r>
            <a:endParaRPr lang="en-US" dirty="0">
              <a:sym typeface="Symbol" pitchFamily="18" charset="2"/>
            </a:endParaRPr>
          </a:p>
          <a:p>
            <a:pPr marL="385763" indent="-376238" eaLnBrk="1" hangingPunct="1">
              <a:lnSpc>
                <a:spcPct val="85000"/>
              </a:lnSpc>
              <a:spcBef>
                <a:spcPct val="20000"/>
              </a:spcBef>
              <a:buFontTx/>
              <a:buAutoNum type="arabicPeriod" startAt="34"/>
            </a:pPr>
            <a:endParaRPr lang="en-US" dirty="0">
              <a:sym typeface="Symbol" pitchFamily="18" charset="2"/>
            </a:endParaRPr>
          </a:p>
          <a:p>
            <a:pPr marL="385763" indent="-376238" eaLnBrk="1" hangingPunct="1">
              <a:lnSpc>
                <a:spcPct val="85000"/>
              </a:lnSpc>
              <a:spcBef>
                <a:spcPct val="20000"/>
              </a:spcBef>
              <a:buFontTx/>
              <a:buAutoNum type="arabicPeriod" startAt="34"/>
            </a:pPr>
            <a:r>
              <a:rPr lang="en-US" b="1" dirty="0"/>
              <a:t>[CLRS, Exercise 23.1-4, p. 629]  </a:t>
            </a:r>
            <a:r>
              <a:rPr lang="en-US" dirty="0"/>
              <a:t>Give a simple example of a graph G such that the edge set </a:t>
            </a:r>
            <a:br>
              <a:rPr lang="en-US" dirty="0"/>
            </a:br>
            <a:r>
              <a:rPr lang="en-US" dirty="0"/>
              <a:t>{ </a:t>
            </a:r>
            <a:r>
              <a:rPr lang="en-US" dirty="0" err="1"/>
              <a:t>e</a:t>
            </a:r>
            <a:r>
              <a:rPr lang="en-US" dirty="0" err="1">
                <a:sym typeface="Symbol" pitchFamily="18" charset="2"/>
              </a:rPr>
              <a:t>E</a:t>
            </a:r>
            <a:r>
              <a:rPr lang="en-US" dirty="0">
                <a:sym typeface="Symbol" pitchFamily="18" charset="2"/>
              </a:rPr>
              <a:t>(G) |  e is a minimum-weight cross edge of some cut in G}   does not form a MST of G.</a:t>
            </a:r>
            <a:br>
              <a:rPr lang="en-US" dirty="0">
                <a:sym typeface="Symbol" pitchFamily="18" charset="2"/>
              </a:rPr>
            </a:br>
            <a:endParaRPr lang="en-US" dirty="0">
              <a:sym typeface="Symbol" pitchFamily="18" charset="2"/>
            </a:endParaRPr>
          </a:p>
          <a:p>
            <a:pPr marL="385763" indent="-376238" eaLnBrk="1" hangingPunct="1">
              <a:lnSpc>
                <a:spcPct val="85000"/>
              </a:lnSpc>
              <a:spcBef>
                <a:spcPct val="20000"/>
              </a:spcBef>
              <a:buFontTx/>
              <a:buAutoNum type="arabicPeriod" startAt="34"/>
            </a:pPr>
            <a:r>
              <a:rPr lang="en-US" b="1" dirty="0"/>
              <a:t>[CLRS, Exercise 23.1-6, p. 630]  </a:t>
            </a:r>
            <a:r>
              <a:rPr lang="en-US" dirty="0"/>
              <a:t>Show that a graph G has a unique MST if, for every cut of G, there is a unique minimum-weight crossing edge of the cut. </a:t>
            </a:r>
            <a:br>
              <a:rPr lang="en-US" dirty="0"/>
            </a:br>
            <a:r>
              <a:rPr lang="en-US" dirty="0"/>
              <a:t>Show that the converse is not true by giving a counter-example.</a:t>
            </a:r>
            <a:endParaRPr lang="en-US" dirty="0">
              <a:sym typeface="Symbol" pitchFamily="18" charset="2"/>
            </a:endParaRPr>
          </a:p>
          <a:p>
            <a:pPr marL="385763" indent="-376238" eaLnBrk="1" hangingPunct="1">
              <a:lnSpc>
                <a:spcPct val="85000"/>
              </a:lnSpc>
              <a:spcBef>
                <a:spcPct val="20000"/>
              </a:spcBef>
              <a:buFontTx/>
              <a:buAutoNum type="arabicPeriod" startAt="34"/>
            </a:pPr>
            <a:endParaRPr lang="en-US" dirty="0">
              <a:sym typeface="Symbol" pitchFamily="18" charset="2"/>
            </a:endParaRPr>
          </a:p>
          <a:p>
            <a:pPr marL="385763" indent="-376238" eaLnBrk="1" hangingPunct="1">
              <a:lnSpc>
                <a:spcPct val="85000"/>
              </a:lnSpc>
              <a:spcBef>
                <a:spcPct val="20000"/>
              </a:spcBef>
              <a:buFontTx/>
              <a:buAutoNum type="arabicPeriod" startAt="34"/>
            </a:pPr>
            <a:r>
              <a:rPr lang="en-US" b="1" dirty="0"/>
              <a:t>[CLRS, Exercise 23.1-9, p. 630] </a:t>
            </a:r>
            <a:r>
              <a:rPr lang="en-US" dirty="0"/>
              <a:t>Let T be a MST of G, and let V’ be a subset of V(G). Let T’ be the </a:t>
            </a:r>
            <a:r>
              <a:rPr lang="en-US" dirty="0" err="1"/>
              <a:t>subgraph</a:t>
            </a:r>
            <a:r>
              <a:rPr lang="en-US" dirty="0"/>
              <a:t> of T induced by V’, and let G’ be the </a:t>
            </a:r>
            <a:r>
              <a:rPr lang="en-US" dirty="0" err="1"/>
              <a:t>subgraph</a:t>
            </a:r>
            <a:r>
              <a:rPr lang="en-US" dirty="0"/>
              <a:t> of G induced by V’. Show that if </a:t>
            </a:r>
            <a:r>
              <a:rPr lang="en-US" dirty="0" smtClean="0"/>
              <a:t>T’ </a:t>
            </a:r>
            <a:r>
              <a:rPr lang="en-US" dirty="0"/>
              <a:t>is connected, then </a:t>
            </a:r>
            <a:r>
              <a:rPr lang="en-US" dirty="0" smtClean="0"/>
              <a:t>T’ </a:t>
            </a:r>
            <a:r>
              <a:rPr lang="en-US" dirty="0"/>
              <a:t>is a MST of G’.</a:t>
            </a:r>
          </a:p>
          <a:p>
            <a:pPr marL="385763" indent="-376238" eaLnBrk="1" hangingPunct="1">
              <a:lnSpc>
                <a:spcPct val="85000"/>
              </a:lnSpc>
              <a:spcBef>
                <a:spcPct val="20000"/>
              </a:spcBef>
              <a:buFontTx/>
              <a:buAutoNum type="arabicPeriod" startAt="34"/>
            </a:pPr>
            <a:endParaRPr lang="en-US" b="1" dirty="0"/>
          </a:p>
          <a:p>
            <a:pPr marL="385763" indent="-376238" eaLnBrk="1" hangingPunct="1">
              <a:lnSpc>
                <a:spcPct val="85000"/>
              </a:lnSpc>
              <a:spcBef>
                <a:spcPct val="20000"/>
              </a:spcBef>
              <a:buFontTx/>
              <a:buAutoNum type="arabicPeriod" startAt="34"/>
            </a:pPr>
            <a:r>
              <a:rPr lang="en-US" b="1" dirty="0"/>
              <a:t>[CLRS, Exercise 23.2-4, 23.2-5, p. 637]  </a:t>
            </a:r>
            <a:br>
              <a:rPr lang="en-US" b="1" dirty="0"/>
            </a:br>
            <a:r>
              <a:rPr lang="en-US" dirty="0"/>
              <a:t>(a)</a:t>
            </a:r>
            <a:r>
              <a:rPr lang="en-US" b="1" dirty="0"/>
              <a:t>  </a:t>
            </a:r>
            <a:r>
              <a:rPr lang="en-US" dirty="0"/>
              <a:t>Suppose that all edge weights in a graph are integers in the range 1 to |V|. How fast can you </a:t>
            </a:r>
            <a:br>
              <a:rPr lang="en-US" dirty="0"/>
            </a:br>
            <a:r>
              <a:rPr lang="en-US" dirty="0"/>
              <a:t>       make </a:t>
            </a:r>
            <a:r>
              <a:rPr lang="en-US" dirty="0" err="1"/>
              <a:t>Kruskal’s</a:t>
            </a:r>
            <a:r>
              <a:rPr lang="en-US" dirty="0"/>
              <a:t> algorithm run? What if the edge weights are integers in the range 1 to W </a:t>
            </a:r>
            <a:br>
              <a:rPr lang="en-US" dirty="0"/>
            </a:br>
            <a:r>
              <a:rPr lang="en-US" dirty="0"/>
              <a:t>       for a give positive integer W? Express the running  time in terms of the graph size and W.</a:t>
            </a:r>
            <a:br>
              <a:rPr lang="en-US" dirty="0"/>
            </a:br>
            <a:r>
              <a:rPr lang="en-US" dirty="0"/>
              <a:t>(b)</a:t>
            </a:r>
            <a:r>
              <a:rPr lang="en-US" b="1" dirty="0"/>
              <a:t>  </a:t>
            </a:r>
            <a:r>
              <a:rPr lang="en-US" dirty="0"/>
              <a:t>Answer these same questions with respect to Prim’s algorithm.</a:t>
            </a:r>
          </a:p>
        </p:txBody>
      </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185</a:t>
            </a:fld>
            <a:endParaRPr lang="en-US"/>
          </a:p>
        </p:txBody>
      </p:sp>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9442"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9846"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9443"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9847"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9444"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89848"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9445" name="Rectangle 5"/>
          <p:cNvSpPr>
            <a:spLocks noChangeArrowheads="1"/>
          </p:cNvSpPr>
          <p:nvPr/>
        </p:nvSpPr>
        <p:spPr bwMode="auto">
          <a:xfrm>
            <a:off x="304800" y="2133600"/>
            <a:ext cx="8458200" cy="411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85763" indent="-385763" eaLnBrk="1" hangingPunct="1">
              <a:lnSpc>
                <a:spcPct val="90000"/>
              </a:lnSpc>
              <a:spcBef>
                <a:spcPct val="20000"/>
              </a:spcBef>
              <a:buFont typeface="+mj-lt"/>
              <a:buAutoNum type="arabicPeriod" startAt="40"/>
              <a:tabLst>
                <a:tab pos="385763" algn="l"/>
              </a:tabLst>
            </a:pPr>
            <a:r>
              <a:rPr lang="en-US" dirty="0"/>
              <a:t>We want to explore some MST properties of the graph shown above.</a:t>
            </a:r>
            <a:br>
              <a:rPr lang="en-US" dirty="0"/>
            </a:br>
            <a:r>
              <a:rPr lang="en-US" dirty="0"/>
              <a:t>(a)  Show the sequence of edges in the order that they are added to the MST using </a:t>
            </a:r>
            <a:r>
              <a:rPr lang="en-US" dirty="0" err="1"/>
              <a:t>Kruskal's</a:t>
            </a:r>
            <a:r>
              <a:rPr lang="en-US" dirty="0"/>
              <a:t> </a:t>
            </a:r>
            <a:br>
              <a:rPr lang="en-US" dirty="0"/>
            </a:br>
            <a:r>
              <a:rPr lang="en-US" dirty="0"/>
              <a:t>      algorithm. Highlight the chosen MST edges in the graph, and indicate in what order they </a:t>
            </a:r>
            <a:br>
              <a:rPr lang="en-US" dirty="0"/>
            </a:br>
            <a:r>
              <a:rPr lang="en-US" dirty="0"/>
              <a:t>      are added to the MST (e.g., by labeling them 1, 2, 3, ...).</a:t>
            </a:r>
            <a:br>
              <a:rPr lang="en-US" dirty="0"/>
            </a:br>
            <a:r>
              <a:rPr lang="en-US" dirty="0"/>
              <a:t>(b)  Show the sequence of edges in the order that they are added to the MST using Prim's </a:t>
            </a:r>
            <a:br>
              <a:rPr lang="en-US" dirty="0"/>
            </a:br>
            <a:r>
              <a:rPr lang="en-US" dirty="0"/>
              <a:t>       algorithm, starting from vertex a.</a:t>
            </a:r>
            <a:br>
              <a:rPr lang="en-US" dirty="0"/>
            </a:br>
            <a:r>
              <a:rPr lang="en-US" dirty="0"/>
              <a:t>(c)  Suppose we decide to change the weight of edge (a, b) to any real number from -</a:t>
            </a:r>
            <a:r>
              <a:rPr lang="en-US" dirty="0">
                <a:sym typeface="Symbol" pitchFamily="18" charset="2"/>
              </a:rPr>
              <a:t></a:t>
            </a:r>
            <a:r>
              <a:rPr lang="en-US" dirty="0"/>
              <a:t> to +</a:t>
            </a:r>
            <a:r>
              <a:rPr lang="en-US" dirty="0">
                <a:sym typeface="Symbol" pitchFamily="18" charset="2"/>
              </a:rPr>
              <a:t>.</a:t>
            </a:r>
            <a:r>
              <a:rPr lang="en-US" dirty="0"/>
              <a:t> </a:t>
            </a:r>
            <a:br>
              <a:rPr lang="en-US" dirty="0"/>
            </a:br>
            <a:r>
              <a:rPr lang="en-US" dirty="0"/>
              <a:t>      What is the interval of weight values for this edge, for which the spanning tree in part (a) </a:t>
            </a:r>
            <a:br>
              <a:rPr lang="en-US" dirty="0"/>
            </a:br>
            <a:r>
              <a:rPr lang="en-US" dirty="0"/>
              <a:t>       above (as a set of edges) remains an MST of the new graph. Explain your answer.</a:t>
            </a:r>
            <a:br>
              <a:rPr lang="en-US" dirty="0"/>
            </a:br>
            <a:r>
              <a:rPr lang="en-US" dirty="0"/>
              <a:t>(d)  Suppose we decide to change the weight of edge (i, j) to any real number from -</a:t>
            </a:r>
            <a:r>
              <a:rPr lang="en-US" dirty="0">
                <a:sym typeface="Symbol" pitchFamily="18" charset="2"/>
              </a:rPr>
              <a:t></a:t>
            </a:r>
            <a:r>
              <a:rPr lang="en-US" dirty="0"/>
              <a:t> to +</a:t>
            </a:r>
            <a:r>
              <a:rPr lang="en-US" dirty="0">
                <a:sym typeface="Symbol" pitchFamily="18" charset="2"/>
              </a:rPr>
              <a:t>.</a:t>
            </a:r>
            <a:r>
              <a:rPr lang="en-US" dirty="0"/>
              <a:t> </a:t>
            </a:r>
            <a:br>
              <a:rPr lang="en-US" dirty="0"/>
            </a:br>
            <a:r>
              <a:rPr lang="en-US" dirty="0"/>
              <a:t>       What is the interval of weight values for this edge, for which the spanning tree in part (a) </a:t>
            </a:r>
            <a:br>
              <a:rPr lang="en-US" dirty="0"/>
            </a:br>
            <a:r>
              <a:rPr lang="en-US" dirty="0"/>
              <a:t>       above remains an MST of the graph. Explain your answer.</a:t>
            </a:r>
            <a:br>
              <a:rPr lang="en-US" dirty="0"/>
            </a:br>
            <a:endParaRPr lang="en-US" dirty="0"/>
          </a:p>
          <a:p>
            <a:pPr marL="385763" indent="-385763" eaLnBrk="1" hangingPunct="1">
              <a:lnSpc>
                <a:spcPct val="90000"/>
              </a:lnSpc>
              <a:spcBef>
                <a:spcPct val="20000"/>
              </a:spcBef>
              <a:buFontTx/>
              <a:buAutoNum type="arabicPeriod" startAt="40"/>
              <a:tabLst>
                <a:tab pos="385763" algn="l"/>
              </a:tabLst>
            </a:pPr>
            <a:r>
              <a:rPr lang="en-US" dirty="0"/>
              <a:t>Let T be a MST of G = (V, E, w). Suppose the weight w(e) of one of the edges </a:t>
            </a:r>
            <a:r>
              <a:rPr lang="en-US" dirty="0" err="1"/>
              <a:t>e</a:t>
            </a:r>
            <a:r>
              <a:rPr lang="en-US" dirty="0" err="1">
                <a:sym typeface="Symbol" pitchFamily="18" charset="2"/>
              </a:rPr>
              <a:t></a:t>
            </a:r>
            <a:r>
              <a:rPr lang="en-US" dirty="0" err="1"/>
              <a:t>E</a:t>
            </a:r>
            <a:r>
              <a:rPr lang="en-US" dirty="0"/>
              <a:t> is altered. (a)  Characterize the complete real valued range for w(e) for which T still remains a MST of G.</a:t>
            </a:r>
            <a:br>
              <a:rPr lang="en-US" dirty="0"/>
            </a:br>
            <a:r>
              <a:rPr lang="en-US" dirty="0"/>
              <a:t>       Consider two cases depending on whether e </a:t>
            </a:r>
            <a:r>
              <a:rPr lang="en-US" dirty="0">
                <a:sym typeface="Symbol" pitchFamily="18" charset="2"/>
              </a:rPr>
              <a:t>T or e T.</a:t>
            </a:r>
            <a:r>
              <a:rPr lang="en-US" dirty="0"/>
              <a:t> </a:t>
            </a:r>
            <a:br>
              <a:rPr lang="en-US" dirty="0"/>
            </a:br>
            <a:r>
              <a:rPr lang="en-US" dirty="0"/>
              <a:t>(b)  Using the characterization in part (a), describe an algorithm to update the MST T if the </a:t>
            </a:r>
            <a:br>
              <a:rPr lang="en-US" dirty="0"/>
            </a:br>
            <a:r>
              <a:rPr lang="en-US" dirty="0"/>
              <a:t>       weight w(e) of a given edge </a:t>
            </a:r>
            <a:r>
              <a:rPr lang="en-US" dirty="0" err="1"/>
              <a:t>e</a:t>
            </a:r>
            <a:r>
              <a:rPr lang="en-US" dirty="0" err="1">
                <a:sym typeface="Symbol" pitchFamily="18" charset="2"/>
              </a:rPr>
              <a:t></a:t>
            </a:r>
            <a:r>
              <a:rPr lang="en-US" dirty="0" err="1"/>
              <a:t>E</a:t>
            </a:r>
            <a:r>
              <a:rPr lang="en-US" dirty="0"/>
              <a:t> changes to a new given value w’.</a:t>
            </a:r>
          </a:p>
        </p:txBody>
      </p:sp>
      <p:grpSp>
        <p:nvGrpSpPr>
          <p:cNvPr id="189446" name="Group 76"/>
          <p:cNvGrpSpPr>
            <a:grpSpLocks/>
          </p:cNvGrpSpPr>
          <p:nvPr/>
        </p:nvGrpSpPr>
        <p:grpSpPr bwMode="auto">
          <a:xfrm>
            <a:off x="2209800" y="152400"/>
            <a:ext cx="3979863" cy="1825625"/>
            <a:chOff x="1063" y="2928"/>
            <a:chExt cx="2507" cy="1150"/>
          </a:xfrm>
        </p:grpSpPr>
        <p:sp>
          <p:nvSpPr>
            <p:cNvPr id="189447" name="Line 40"/>
            <p:cNvSpPr>
              <a:spLocks noChangeShapeType="1"/>
            </p:cNvSpPr>
            <p:nvPr/>
          </p:nvSpPr>
          <p:spPr bwMode="auto">
            <a:xfrm>
              <a:off x="1248" y="3168"/>
              <a:ext cx="21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9448" name="Line 41"/>
            <p:cNvSpPr>
              <a:spLocks noChangeShapeType="1"/>
            </p:cNvSpPr>
            <p:nvPr/>
          </p:nvSpPr>
          <p:spPr bwMode="auto">
            <a:xfrm>
              <a:off x="1248" y="3552"/>
              <a:ext cx="21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9449" name="Line 42"/>
            <p:cNvSpPr>
              <a:spLocks noChangeShapeType="1"/>
            </p:cNvSpPr>
            <p:nvPr/>
          </p:nvSpPr>
          <p:spPr bwMode="auto">
            <a:xfrm>
              <a:off x="1248" y="3888"/>
              <a:ext cx="21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9450" name="Line 43"/>
            <p:cNvSpPr>
              <a:spLocks noChangeShapeType="1"/>
            </p:cNvSpPr>
            <p:nvPr/>
          </p:nvSpPr>
          <p:spPr bwMode="auto">
            <a:xfrm>
              <a:off x="3360" y="3168"/>
              <a:ext cx="0"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9451" name="Line 44"/>
            <p:cNvSpPr>
              <a:spLocks noChangeShapeType="1"/>
            </p:cNvSpPr>
            <p:nvPr/>
          </p:nvSpPr>
          <p:spPr bwMode="auto">
            <a:xfrm>
              <a:off x="2832" y="3168"/>
              <a:ext cx="0"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9452" name="Line 45"/>
            <p:cNvSpPr>
              <a:spLocks noChangeShapeType="1"/>
            </p:cNvSpPr>
            <p:nvPr/>
          </p:nvSpPr>
          <p:spPr bwMode="auto">
            <a:xfrm>
              <a:off x="2304" y="3168"/>
              <a:ext cx="0"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9453" name="Line 46"/>
            <p:cNvSpPr>
              <a:spLocks noChangeShapeType="1"/>
            </p:cNvSpPr>
            <p:nvPr/>
          </p:nvSpPr>
          <p:spPr bwMode="auto">
            <a:xfrm>
              <a:off x="1776" y="3168"/>
              <a:ext cx="0"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9454" name="Line 47"/>
            <p:cNvSpPr>
              <a:spLocks noChangeShapeType="1"/>
            </p:cNvSpPr>
            <p:nvPr/>
          </p:nvSpPr>
          <p:spPr bwMode="auto">
            <a:xfrm>
              <a:off x="1248" y="3168"/>
              <a:ext cx="0"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9455" name="Line 48"/>
            <p:cNvSpPr>
              <a:spLocks noChangeShapeType="1"/>
            </p:cNvSpPr>
            <p:nvPr/>
          </p:nvSpPr>
          <p:spPr bwMode="auto">
            <a:xfrm>
              <a:off x="1248" y="3168"/>
              <a:ext cx="1056"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9456" name="Line 49"/>
            <p:cNvSpPr>
              <a:spLocks noChangeShapeType="1"/>
            </p:cNvSpPr>
            <p:nvPr/>
          </p:nvSpPr>
          <p:spPr bwMode="auto">
            <a:xfrm flipH="1">
              <a:off x="2304" y="3168"/>
              <a:ext cx="1056" cy="72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189457" name="Oval 7"/>
            <p:cNvSpPr>
              <a:spLocks noChangeArrowheads="1"/>
            </p:cNvSpPr>
            <p:nvPr/>
          </p:nvSpPr>
          <p:spPr bwMode="auto">
            <a:xfrm>
              <a:off x="1200" y="312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9458" name="Text Box 10"/>
            <p:cNvSpPr txBox="1">
              <a:spLocks noChangeArrowheads="1"/>
            </p:cNvSpPr>
            <p:nvPr/>
          </p:nvSpPr>
          <p:spPr bwMode="auto">
            <a:xfrm>
              <a:off x="1152" y="2928"/>
              <a:ext cx="173"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a</a:t>
              </a:r>
            </a:p>
          </p:txBody>
        </p:sp>
        <p:sp>
          <p:nvSpPr>
            <p:cNvPr id="189459" name="Oval 11"/>
            <p:cNvSpPr>
              <a:spLocks noChangeArrowheads="1"/>
            </p:cNvSpPr>
            <p:nvPr/>
          </p:nvSpPr>
          <p:spPr bwMode="auto">
            <a:xfrm>
              <a:off x="1200" y="3504"/>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9460" name="Text Box 12"/>
            <p:cNvSpPr txBox="1">
              <a:spLocks noChangeArrowheads="1"/>
            </p:cNvSpPr>
            <p:nvPr/>
          </p:nvSpPr>
          <p:spPr bwMode="auto">
            <a:xfrm>
              <a:off x="1063" y="3408"/>
              <a:ext cx="159"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f</a:t>
              </a:r>
            </a:p>
          </p:txBody>
        </p:sp>
        <p:sp>
          <p:nvSpPr>
            <p:cNvPr id="189461" name="Oval 13"/>
            <p:cNvSpPr>
              <a:spLocks noChangeArrowheads="1"/>
            </p:cNvSpPr>
            <p:nvPr/>
          </p:nvSpPr>
          <p:spPr bwMode="auto">
            <a:xfrm>
              <a:off x="1200" y="384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9462" name="Text Box 14"/>
            <p:cNvSpPr txBox="1">
              <a:spLocks noChangeArrowheads="1"/>
            </p:cNvSpPr>
            <p:nvPr/>
          </p:nvSpPr>
          <p:spPr bwMode="auto">
            <a:xfrm>
              <a:off x="1149" y="3888"/>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k</a:t>
              </a:r>
            </a:p>
          </p:txBody>
        </p:sp>
        <p:sp>
          <p:nvSpPr>
            <p:cNvPr id="189463" name="Oval 15"/>
            <p:cNvSpPr>
              <a:spLocks noChangeArrowheads="1"/>
            </p:cNvSpPr>
            <p:nvPr/>
          </p:nvSpPr>
          <p:spPr bwMode="auto">
            <a:xfrm>
              <a:off x="1728" y="312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9464" name="Text Box 16"/>
            <p:cNvSpPr txBox="1">
              <a:spLocks noChangeArrowheads="1"/>
            </p:cNvSpPr>
            <p:nvPr/>
          </p:nvSpPr>
          <p:spPr bwMode="auto">
            <a:xfrm>
              <a:off x="1677" y="2928"/>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b</a:t>
              </a:r>
            </a:p>
          </p:txBody>
        </p:sp>
        <p:sp>
          <p:nvSpPr>
            <p:cNvPr id="189465" name="Oval 17"/>
            <p:cNvSpPr>
              <a:spLocks noChangeArrowheads="1"/>
            </p:cNvSpPr>
            <p:nvPr/>
          </p:nvSpPr>
          <p:spPr bwMode="auto">
            <a:xfrm>
              <a:off x="1728" y="3504"/>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9466" name="Text Box 18"/>
            <p:cNvSpPr txBox="1">
              <a:spLocks noChangeArrowheads="1"/>
            </p:cNvSpPr>
            <p:nvPr/>
          </p:nvSpPr>
          <p:spPr bwMode="auto">
            <a:xfrm>
              <a:off x="1773" y="3360"/>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g</a:t>
              </a:r>
            </a:p>
          </p:txBody>
        </p:sp>
        <p:sp>
          <p:nvSpPr>
            <p:cNvPr id="189467" name="Oval 19"/>
            <p:cNvSpPr>
              <a:spLocks noChangeArrowheads="1"/>
            </p:cNvSpPr>
            <p:nvPr/>
          </p:nvSpPr>
          <p:spPr bwMode="auto">
            <a:xfrm>
              <a:off x="1728" y="384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9468" name="Text Box 20"/>
            <p:cNvSpPr txBox="1">
              <a:spLocks noChangeArrowheads="1"/>
            </p:cNvSpPr>
            <p:nvPr/>
          </p:nvSpPr>
          <p:spPr bwMode="auto">
            <a:xfrm>
              <a:off x="1690" y="3888"/>
              <a:ext cx="152"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l</a:t>
              </a:r>
            </a:p>
          </p:txBody>
        </p:sp>
        <p:sp>
          <p:nvSpPr>
            <p:cNvPr id="189469" name="Oval 21"/>
            <p:cNvSpPr>
              <a:spLocks noChangeArrowheads="1"/>
            </p:cNvSpPr>
            <p:nvPr/>
          </p:nvSpPr>
          <p:spPr bwMode="auto">
            <a:xfrm>
              <a:off x="2256" y="312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9470" name="Text Box 22"/>
            <p:cNvSpPr txBox="1">
              <a:spLocks noChangeArrowheads="1"/>
            </p:cNvSpPr>
            <p:nvPr/>
          </p:nvSpPr>
          <p:spPr bwMode="auto">
            <a:xfrm>
              <a:off x="2208" y="2928"/>
              <a:ext cx="173"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c</a:t>
              </a:r>
            </a:p>
          </p:txBody>
        </p:sp>
        <p:sp>
          <p:nvSpPr>
            <p:cNvPr id="189471" name="Oval 23"/>
            <p:cNvSpPr>
              <a:spLocks noChangeArrowheads="1"/>
            </p:cNvSpPr>
            <p:nvPr/>
          </p:nvSpPr>
          <p:spPr bwMode="auto">
            <a:xfrm>
              <a:off x="2256" y="3504"/>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9472" name="Text Box 24"/>
            <p:cNvSpPr txBox="1">
              <a:spLocks noChangeArrowheads="1"/>
            </p:cNvSpPr>
            <p:nvPr/>
          </p:nvSpPr>
          <p:spPr bwMode="auto">
            <a:xfrm>
              <a:off x="2304" y="3504"/>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h</a:t>
              </a:r>
            </a:p>
          </p:txBody>
        </p:sp>
        <p:sp>
          <p:nvSpPr>
            <p:cNvPr id="189473" name="Oval 25"/>
            <p:cNvSpPr>
              <a:spLocks noChangeArrowheads="1"/>
            </p:cNvSpPr>
            <p:nvPr/>
          </p:nvSpPr>
          <p:spPr bwMode="auto">
            <a:xfrm>
              <a:off x="2256" y="384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9474" name="Text Box 26"/>
            <p:cNvSpPr txBox="1">
              <a:spLocks noChangeArrowheads="1"/>
            </p:cNvSpPr>
            <p:nvPr/>
          </p:nvSpPr>
          <p:spPr bwMode="auto">
            <a:xfrm>
              <a:off x="2187" y="3888"/>
              <a:ext cx="216"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m</a:t>
              </a:r>
            </a:p>
          </p:txBody>
        </p:sp>
        <p:sp>
          <p:nvSpPr>
            <p:cNvPr id="189475" name="Oval 27"/>
            <p:cNvSpPr>
              <a:spLocks noChangeArrowheads="1"/>
            </p:cNvSpPr>
            <p:nvPr/>
          </p:nvSpPr>
          <p:spPr bwMode="auto">
            <a:xfrm>
              <a:off x="2784" y="312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9476" name="Text Box 28"/>
            <p:cNvSpPr txBox="1">
              <a:spLocks noChangeArrowheads="1"/>
            </p:cNvSpPr>
            <p:nvPr/>
          </p:nvSpPr>
          <p:spPr bwMode="auto">
            <a:xfrm>
              <a:off x="2733" y="2928"/>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d</a:t>
              </a:r>
            </a:p>
          </p:txBody>
        </p:sp>
        <p:sp>
          <p:nvSpPr>
            <p:cNvPr id="189477" name="Oval 29"/>
            <p:cNvSpPr>
              <a:spLocks noChangeArrowheads="1"/>
            </p:cNvSpPr>
            <p:nvPr/>
          </p:nvSpPr>
          <p:spPr bwMode="auto">
            <a:xfrm>
              <a:off x="2784" y="3504"/>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9478" name="Text Box 30"/>
            <p:cNvSpPr txBox="1">
              <a:spLocks noChangeArrowheads="1"/>
            </p:cNvSpPr>
            <p:nvPr/>
          </p:nvSpPr>
          <p:spPr bwMode="auto">
            <a:xfrm>
              <a:off x="2698" y="3360"/>
              <a:ext cx="152"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i</a:t>
              </a:r>
            </a:p>
          </p:txBody>
        </p:sp>
        <p:sp>
          <p:nvSpPr>
            <p:cNvPr id="189479" name="Oval 31"/>
            <p:cNvSpPr>
              <a:spLocks noChangeArrowheads="1"/>
            </p:cNvSpPr>
            <p:nvPr/>
          </p:nvSpPr>
          <p:spPr bwMode="auto">
            <a:xfrm>
              <a:off x="2784" y="384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9480" name="Text Box 32"/>
            <p:cNvSpPr txBox="1">
              <a:spLocks noChangeArrowheads="1"/>
            </p:cNvSpPr>
            <p:nvPr/>
          </p:nvSpPr>
          <p:spPr bwMode="auto">
            <a:xfrm>
              <a:off x="2733" y="3888"/>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n</a:t>
              </a:r>
            </a:p>
          </p:txBody>
        </p:sp>
        <p:sp>
          <p:nvSpPr>
            <p:cNvPr id="189481" name="Oval 33"/>
            <p:cNvSpPr>
              <a:spLocks noChangeArrowheads="1"/>
            </p:cNvSpPr>
            <p:nvPr/>
          </p:nvSpPr>
          <p:spPr bwMode="auto">
            <a:xfrm>
              <a:off x="3312" y="312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9482" name="Text Box 34"/>
            <p:cNvSpPr txBox="1">
              <a:spLocks noChangeArrowheads="1"/>
            </p:cNvSpPr>
            <p:nvPr/>
          </p:nvSpPr>
          <p:spPr bwMode="auto">
            <a:xfrm>
              <a:off x="3264" y="2928"/>
              <a:ext cx="173"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e</a:t>
              </a:r>
            </a:p>
          </p:txBody>
        </p:sp>
        <p:sp>
          <p:nvSpPr>
            <p:cNvPr id="189483" name="Oval 35"/>
            <p:cNvSpPr>
              <a:spLocks noChangeArrowheads="1"/>
            </p:cNvSpPr>
            <p:nvPr/>
          </p:nvSpPr>
          <p:spPr bwMode="auto">
            <a:xfrm>
              <a:off x="3312" y="3504"/>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9484" name="Text Box 36"/>
            <p:cNvSpPr txBox="1">
              <a:spLocks noChangeArrowheads="1"/>
            </p:cNvSpPr>
            <p:nvPr/>
          </p:nvSpPr>
          <p:spPr bwMode="auto">
            <a:xfrm>
              <a:off x="3418" y="3408"/>
              <a:ext cx="152"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j</a:t>
              </a:r>
            </a:p>
          </p:txBody>
        </p:sp>
        <p:sp>
          <p:nvSpPr>
            <p:cNvPr id="189485" name="Oval 37"/>
            <p:cNvSpPr>
              <a:spLocks noChangeArrowheads="1"/>
            </p:cNvSpPr>
            <p:nvPr/>
          </p:nvSpPr>
          <p:spPr bwMode="auto">
            <a:xfrm>
              <a:off x="3312" y="384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89486" name="Text Box 38"/>
            <p:cNvSpPr txBox="1">
              <a:spLocks noChangeArrowheads="1"/>
            </p:cNvSpPr>
            <p:nvPr/>
          </p:nvSpPr>
          <p:spPr bwMode="auto">
            <a:xfrm>
              <a:off x="3261" y="3888"/>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spcBef>
                  <a:spcPct val="50000"/>
                </a:spcBef>
                <a:buFont typeface="Wingdings" pitchFamily="2" charset="2"/>
                <a:buNone/>
              </a:pPr>
              <a:r>
                <a:rPr lang="en-US"/>
                <a:t>o</a:t>
              </a:r>
            </a:p>
          </p:txBody>
        </p:sp>
        <p:sp>
          <p:nvSpPr>
            <p:cNvPr id="189487" name="Rectangle 50"/>
            <p:cNvSpPr>
              <a:spLocks noChangeArrowheads="1"/>
            </p:cNvSpPr>
            <p:nvPr/>
          </p:nvSpPr>
          <p:spPr bwMode="auto">
            <a:xfrm>
              <a:off x="1357" y="2976"/>
              <a:ext cx="244"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10</a:t>
              </a:r>
            </a:p>
          </p:txBody>
        </p:sp>
        <p:sp>
          <p:nvSpPr>
            <p:cNvPr id="189488" name="Rectangle 51"/>
            <p:cNvSpPr>
              <a:spLocks noChangeArrowheads="1"/>
            </p:cNvSpPr>
            <p:nvPr/>
          </p:nvSpPr>
          <p:spPr bwMode="auto">
            <a:xfrm>
              <a:off x="1088" y="3216"/>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3</a:t>
              </a:r>
            </a:p>
          </p:txBody>
        </p:sp>
        <p:sp>
          <p:nvSpPr>
            <p:cNvPr id="189489" name="Rectangle 52"/>
            <p:cNvSpPr>
              <a:spLocks noChangeArrowheads="1"/>
            </p:cNvSpPr>
            <p:nvPr/>
          </p:nvSpPr>
          <p:spPr bwMode="auto">
            <a:xfrm>
              <a:off x="1376" y="3264"/>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8</a:t>
              </a:r>
            </a:p>
          </p:txBody>
        </p:sp>
        <p:sp>
          <p:nvSpPr>
            <p:cNvPr id="189490" name="Rectangle 53"/>
            <p:cNvSpPr>
              <a:spLocks noChangeArrowheads="1"/>
            </p:cNvSpPr>
            <p:nvPr/>
          </p:nvSpPr>
          <p:spPr bwMode="auto">
            <a:xfrm>
              <a:off x="1392" y="3504"/>
              <a:ext cx="244"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19</a:t>
              </a:r>
            </a:p>
          </p:txBody>
        </p:sp>
        <p:sp>
          <p:nvSpPr>
            <p:cNvPr id="189491" name="Rectangle 54"/>
            <p:cNvSpPr>
              <a:spLocks noChangeArrowheads="1"/>
            </p:cNvSpPr>
            <p:nvPr/>
          </p:nvSpPr>
          <p:spPr bwMode="auto">
            <a:xfrm>
              <a:off x="1104" y="3600"/>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9</a:t>
              </a:r>
            </a:p>
          </p:txBody>
        </p:sp>
        <p:sp>
          <p:nvSpPr>
            <p:cNvPr id="189492" name="Rectangle 55"/>
            <p:cNvSpPr>
              <a:spLocks noChangeArrowheads="1"/>
            </p:cNvSpPr>
            <p:nvPr/>
          </p:nvSpPr>
          <p:spPr bwMode="auto">
            <a:xfrm>
              <a:off x="1376" y="3840"/>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4</a:t>
              </a:r>
            </a:p>
          </p:txBody>
        </p:sp>
        <p:sp>
          <p:nvSpPr>
            <p:cNvPr id="189493" name="Rectangle 56"/>
            <p:cNvSpPr>
              <a:spLocks noChangeArrowheads="1"/>
            </p:cNvSpPr>
            <p:nvPr/>
          </p:nvSpPr>
          <p:spPr bwMode="auto">
            <a:xfrm>
              <a:off x="1952" y="2976"/>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5</a:t>
              </a:r>
            </a:p>
          </p:txBody>
        </p:sp>
        <p:sp>
          <p:nvSpPr>
            <p:cNvPr id="189494" name="Rectangle 57"/>
            <p:cNvSpPr>
              <a:spLocks noChangeArrowheads="1"/>
            </p:cNvSpPr>
            <p:nvPr/>
          </p:nvSpPr>
          <p:spPr bwMode="auto">
            <a:xfrm>
              <a:off x="1728" y="3216"/>
              <a:ext cx="244"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11</a:t>
              </a:r>
            </a:p>
          </p:txBody>
        </p:sp>
        <p:sp>
          <p:nvSpPr>
            <p:cNvPr id="189495" name="Rectangle 58"/>
            <p:cNvSpPr>
              <a:spLocks noChangeArrowheads="1"/>
            </p:cNvSpPr>
            <p:nvPr/>
          </p:nvSpPr>
          <p:spPr bwMode="auto">
            <a:xfrm>
              <a:off x="2016" y="3360"/>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8</a:t>
              </a:r>
            </a:p>
          </p:txBody>
        </p:sp>
        <p:sp>
          <p:nvSpPr>
            <p:cNvPr id="189496" name="Rectangle 59"/>
            <p:cNvSpPr>
              <a:spLocks noChangeArrowheads="1"/>
            </p:cNvSpPr>
            <p:nvPr/>
          </p:nvSpPr>
          <p:spPr bwMode="auto">
            <a:xfrm>
              <a:off x="2304" y="3216"/>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9</a:t>
              </a:r>
            </a:p>
          </p:txBody>
        </p:sp>
        <p:sp>
          <p:nvSpPr>
            <p:cNvPr id="189497" name="Rectangle 60"/>
            <p:cNvSpPr>
              <a:spLocks noChangeArrowheads="1"/>
            </p:cNvSpPr>
            <p:nvPr/>
          </p:nvSpPr>
          <p:spPr bwMode="auto">
            <a:xfrm>
              <a:off x="2496" y="2976"/>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7</a:t>
              </a:r>
            </a:p>
          </p:txBody>
        </p:sp>
        <p:sp>
          <p:nvSpPr>
            <p:cNvPr id="189498" name="Rectangle 61"/>
            <p:cNvSpPr>
              <a:spLocks noChangeArrowheads="1"/>
            </p:cNvSpPr>
            <p:nvPr/>
          </p:nvSpPr>
          <p:spPr bwMode="auto">
            <a:xfrm>
              <a:off x="2448" y="3360"/>
              <a:ext cx="244"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17</a:t>
              </a:r>
            </a:p>
          </p:txBody>
        </p:sp>
        <p:sp>
          <p:nvSpPr>
            <p:cNvPr id="189499" name="Rectangle 62"/>
            <p:cNvSpPr>
              <a:spLocks noChangeArrowheads="1"/>
            </p:cNvSpPr>
            <p:nvPr/>
          </p:nvSpPr>
          <p:spPr bwMode="auto">
            <a:xfrm>
              <a:off x="2784" y="3216"/>
              <a:ext cx="244"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16</a:t>
              </a:r>
            </a:p>
          </p:txBody>
        </p:sp>
        <p:sp>
          <p:nvSpPr>
            <p:cNvPr id="189500" name="Rectangle 63"/>
            <p:cNvSpPr>
              <a:spLocks noChangeArrowheads="1"/>
            </p:cNvSpPr>
            <p:nvPr/>
          </p:nvSpPr>
          <p:spPr bwMode="auto">
            <a:xfrm>
              <a:off x="2976" y="2976"/>
              <a:ext cx="244"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15</a:t>
              </a:r>
            </a:p>
          </p:txBody>
        </p:sp>
        <p:sp>
          <p:nvSpPr>
            <p:cNvPr id="189501" name="Rectangle 64"/>
            <p:cNvSpPr>
              <a:spLocks noChangeArrowheads="1"/>
            </p:cNvSpPr>
            <p:nvPr/>
          </p:nvSpPr>
          <p:spPr bwMode="auto">
            <a:xfrm>
              <a:off x="3072" y="3264"/>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4</a:t>
              </a:r>
            </a:p>
          </p:txBody>
        </p:sp>
        <p:sp>
          <p:nvSpPr>
            <p:cNvPr id="189502" name="Rectangle 65"/>
            <p:cNvSpPr>
              <a:spLocks noChangeArrowheads="1"/>
            </p:cNvSpPr>
            <p:nvPr/>
          </p:nvSpPr>
          <p:spPr bwMode="auto">
            <a:xfrm>
              <a:off x="3024" y="3504"/>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2</a:t>
              </a:r>
            </a:p>
          </p:txBody>
        </p:sp>
        <p:sp>
          <p:nvSpPr>
            <p:cNvPr id="189503" name="Rectangle 66"/>
            <p:cNvSpPr>
              <a:spLocks noChangeArrowheads="1"/>
            </p:cNvSpPr>
            <p:nvPr/>
          </p:nvSpPr>
          <p:spPr bwMode="auto">
            <a:xfrm>
              <a:off x="3344" y="3216"/>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6</a:t>
              </a:r>
            </a:p>
          </p:txBody>
        </p:sp>
        <p:sp>
          <p:nvSpPr>
            <p:cNvPr id="189504" name="Rectangle 67"/>
            <p:cNvSpPr>
              <a:spLocks noChangeArrowheads="1"/>
            </p:cNvSpPr>
            <p:nvPr/>
          </p:nvSpPr>
          <p:spPr bwMode="auto">
            <a:xfrm>
              <a:off x="1904" y="3648"/>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4</a:t>
              </a:r>
            </a:p>
          </p:txBody>
        </p:sp>
        <p:sp>
          <p:nvSpPr>
            <p:cNvPr id="189505" name="Rectangle 68"/>
            <p:cNvSpPr>
              <a:spLocks noChangeArrowheads="1"/>
            </p:cNvSpPr>
            <p:nvPr/>
          </p:nvSpPr>
          <p:spPr bwMode="auto">
            <a:xfrm>
              <a:off x="1632" y="3648"/>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3</a:t>
              </a:r>
            </a:p>
          </p:txBody>
        </p:sp>
        <p:sp>
          <p:nvSpPr>
            <p:cNvPr id="189506" name="Rectangle 69"/>
            <p:cNvSpPr>
              <a:spLocks noChangeArrowheads="1"/>
            </p:cNvSpPr>
            <p:nvPr/>
          </p:nvSpPr>
          <p:spPr bwMode="auto">
            <a:xfrm>
              <a:off x="1952" y="3840"/>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6</a:t>
              </a:r>
            </a:p>
          </p:txBody>
        </p:sp>
        <p:sp>
          <p:nvSpPr>
            <p:cNvPr id="189507" name="Rectangle 70"/>
            <p:cNvSpPr>
              <a:spLocks noChangeArrowheads="1"/>
            </p:cNvSpPr>
            <p:nvPr/>
          </p:nvSpPr>
          <p:spPr bwMode="auto">
            <a:xfrm>
              <a:off x="2192" y="3600"/>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7</a:t>
              </a:r>
            </a:p>
          </p:txBody>
        </p:sp>
        <p:sp>
          <p:nvSpPr>
            <p:cNvPr id="189508" name="Rectangle 71"/>
            <p:cNvSpPr>
              <a:spLocks noChangeArrowheads="1"/>
            </p:cNvSpPr>
            <p:nvPr/>
          </p:nvSpPr>
          <p:spPr bwMode="auto">
            <a:xfrm>
              <a:off x="2496" y="3648"/>
              <a:ext cx="244"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18</a:t>
              </a:r>
            </a:p>
          </p:txBody>
        </p:sp>
        <p:sp>
          <p:nvSpPr>
            <p:cNvPr id="189509" name="Rectangle 72"/>
            <p:cNvSpPr>
              <a:spLocks noChangeArrowheads="1"/>
            </p:cNvSpPr>
            <p:nvPr/>
          </p:nvSpPr>
          <p:spPr bwMode="auto">
            <a:xfrm>
              <a:off x="2784" y="3648"/>
              <a:ext cx="244"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19</a:t>
              </a:r>
            </a:p>
          </p:txBody>
        </p:sp>
        <p:sp>
          <p:nvSpPr>
            <p:cNvPr id="189510" name="Rectangle 73"/>
            <p:cNvSpPr>
              <a:spLocks noChangeArrowheads="1"/>
            </p:cNvSpPr>
            <p:nvPr/>
          </p:nvSpPr>
          <p:spPr bwMode="auto">
            <a:xfrm>
              <a:off x="3008" y="3840"/>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4</a:t>
              </a:r>
            </a:p>
          </p:txBody>
        </p:sp>
        <p:sp>
          <p:nvSpPr>
            <p:cNvPr id="189511" name="Rectangle 74"/>
            <p:cNvSpPr>
              <a:spLocks noChangeArrowheads="1"/>
            </p:cNvSpPr>
            <p:nvPr/>
          </p:nvSpPr>
          <p:spPr bwMode="auto">
            <a:xfrm>
              <a:off x="2448" y="3840"/>
              <a:ext cx="244"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14</a:t>
              </a:r>
            </a:p>
          </p:txBody>
        </p:sp>
        <p:sp>
          <p:nvSpPr>
            <p:cNvPr id="189512" name="Rectangle 75"/>
            <p:cNvSpPr>
              <a:spLocks noChangeArrowheads="1"/>
            </p:cNvSpPr>
            <p:nvPr/>
          </p:nvSpPr>
          <p:spPr bwMode="auto">
            <a:xfrm>
              <a:off x="3344" y="3600"/>
              <a:ext cx="180"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p>
              <a:pPr algn="ctr" eaLnBrk="1" hangingPunct="1">
                <a:spcBef>
                  <a:spcPct val="50000"/>
                </a:spcBef>
                <a:buFont typeface="Wingdings" pitchFamily="2" charset="2"/>
                <a:buNone/>
              </a:pPr>
              <a:r>
                <a:rPr lang="en-US"/>
                <a:t>8</a:t>
              </a:r>
            </a:p>
          </p:txBody>
        </p:sp>
      </p:gr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186</a:t>
            </a:fld>
            <a:endParaRPr lang="en-US"/>
          </a:p>
        </p:txBody>
      </p:sp>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0466"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0800"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7"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0801"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0468"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0802"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0469" name="Rectangle 5"/>
          <p:cNvSpPr>
            <a:spLocks noChangeArrowheads="1"/>
          </p:cNvSpPr>
          <p:nvPr/>
        </p:nvSpPr>
        <p:spPr bwMode="auto">
          <a:xfrm>
            <a:off x="381000" y="228600"/>
            <a:ext cx="8458200" cy="636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85763" indent="-376238" eaLnBrk="1" hangingPunct="1">
              <a:lnSpc>
                <a:spcPct val="90000"/>
              </a:lnSpc>
              <a:spcBef>
                <a:spcPct val="20000"/>
              </a:spcBef>
              <a:buFont typeface="+mj-lt"/>
              <a:buAutoNum type="arabicPeriod" startAt="42"/>
            </a:pPr>
            <a:r>
              <a:rPr lang="en-US" b="1" dirty="0"/>
              <a:t>[CLRS, Problem 23-3, p. 640] </a:t>
            </a:r>
            <a:r>
              <a:rPr lang="en-US" dirty="0"/>
              <a:t> </a:t>
            </a:r>
            <a:r>
              <a:rPr lang="en-US" b="1" dirty="0"/>
              <a:t>Bottleneck Spanning Tree:</a:t>
            </a:r>
            <a:r>
              <a:rPr lang="en-US" dirty="0"/>
              <a:t> </a:t>
            </a:r>
            <a:br>
              <a:rPr lang="en-US" dirty="0"/>
            </a:br>
            <a:r>
              <a:rPr lang="en-US" dirty="0"/>
              <a:t>A </a:t>
            </a:r>
            <a:r>
              <a:rPr lang="en-US" b="1" dirty="0">
                <a:solidFill>
                  <a:srgbClr val="CC0000"/>
                </a:solidFill>
              </a:rPr>
              <a:t>bottleneck spanning tree</a:t>
            </a:r>
            <a:r>
              <a:rPr lang="en-US" dirty="0"/>
              <a:t> T of a weighted connected undirected graph G is a spanning tree of G whose largest edge weight is minimum over all spanning trees of G. We say that the value of the bottleneck spanning tree is the weight of the maximum-weight edge in T.</a:t>
            </a:r>
            <a:br>
              <a:rPr lang="en-US" dirty="0"/>
            </a:br>
            <a:r>
              <a:rPr lang="en-US" dirty="0"/>
              <a:t/>
            </a:r>
            <a:br>
              <a:rPr lang="en-US" dirty="0"/>
            </a:br>
            <a:r>
              <a:rPr lang="en-US" dirty="0"/>
              <a:t>(a) Show a graph G with two of its bottleneck spanning trees such that only one of them is a </a:t>
            </a:r>
            <a:br>
              <a:rPr lang="en-US" dirty="0"/>
            </a:br>
            <a:r>
              <a:rPr lang="en-US" dirty="0"/>
              <a:t>      minimum spanning tree.</a:t>
            </a:r>
            <a:br>
              <a:rPr lang="en-US" dirty="0"/>
            </a:br>
            <a:r>
              <a:rPr lang="en-US" dirty="0"/>
              <a:t/>
            </a:r>
            <a:br>
              <a:rPr lang="en-US" dirty="0"/>
            </a:br>
            <a:r>
              <a:rPr lang="en-US" dirty="0"/>
              <a:t>(b) Show that any minimum spanning tree is always a bottleneck spanning tree.</a:t>
            </a:r>
            <a:br>
              <a:rPr lang="en-US" dirty="0"/>
            </a:br>
            <a:r>
              <a:rPr lang="en-US" dirty="0"/>
              <a:t>      </a:t>
            </a:r>
            <a:r>
              <a:rPr lang="en-US" dirty="0">
                <a:solidFill>
                  <a:srgbClr val="CC0000"/>
                </a:solidFill>
              </a:rPr>
              <a:t>[This shows that finding a bottleneck spanning tree is no harder than finding a minimum  </a:t>
            </a:r>
            <a:br>
              <a:rPr lang="en-US" dirty="0">
                <a:solidFill>
                  <a:srgbClr val="CC0000"/>
                </a:solidFill>
              </a:rPr>
            </a:br>
            <a:r>
              <a:rPr lang="en-US" dirty="0">
                <a:solidFill>
                  <a:srgbClr val="CC0000"/>
                </a:solidFill>
              </a:rPr>
              <a:t>      spanning tree. In the remaining parts, we will show that one can be found in linear time.]</a:t>
            </a:r>
            <a:br>
              <a:rPr lang="en-US" dirty="0">
                <a:solidFill>
                  <a:srgbClr val="CC0000"/>
                </a:solidFill>
              </a:rPr>
            </a:br>
            <a:r>
              <a:rPr lang="en-US" dirty="0"/>
              <a:t/>
            </a:r>
            <a:br>
              <a:rPr lang="en-US" dirty="0"/>
            </a:br>
            <a:r>
              <a:rPr lang="en-US" dirty="0"/>
              <a:t>(c) Give a linear-time algorithm that given a graph G and a real number b, determines whether </a:t>
            </a:r>
            <a:br>
              <a:rPr lang="en-US" dirty="0"/>
            </a:br>
            <a:r>
              <a:rPr lang="en-US" dirty="0"/>
              <a:t>      the value of the bottleneck spanning tree of G is at most b. </a:t>
            </a:r>
            <a:br>
              <a:rPr lang="en-US" dirty="0"/>
            </a:br>
            <a:r>
              <a:rPr lang="en-US" dirty="0"/>
              <a:t>      </a:t>
            </a:r>
            <a:r>
              <a:rPr lang="en-US" dirty="0">
                <a:solidFill>
                  <a:srgbClr val="CC0000"/>
                </a:solidFill>
              </a:rPr>
              <a:t>[Hint: consider the edges of G that have weight at most b. Do they contain a spanning tree?]</a:t>
            </a:r>
            <a:r>
              <a:rPr lang="en-US" dirty="0"/>
              <a:t/>
            </a:r>
            <a:br>
              <a:rPr lang="en-US" dirty="0"/>
            </a:br>
            <a:r>
              <a:rPr lang="en-US" dirty="0"/>
              <a:t/>
            </a:r>
            <a:br>
              <a:rPr lang="en-US" dirty="0"/>
            </a:br>
            <a:r>
              <a:rPr lang="en-US" dirty="0"/>
              <a:t>(d) Use your algorithm for part (c) as a subroutine in a linear-time algorithm for the bottleneck </a:t>
            </a:r>
            <a:br>
              <a:rPr lang="en-US" dirty="0"/>
            </a:br>
            <a:r>
              <a:rPr lang="en-US" dirty="0"/>
              <a:t>      spanning tree problem. </a:t>
            </a:r>
            <a:br>
              <a:rPr lang="en-US" dirty="0"/>
            </a:br>
            <a:r>
              <a:rPr lang="en-US" dirty="0"/>
              <a:t>      </a:t>
            </a:r>
            <a:r>
              <a:rPr lang="en-US" dirty="0">
                <a:solidFill>
                  <a:srgbClr val="CC0000"/>
                </a:solidFill>
              </a:rPr>
              <a:t>[Hint: use prune-&amp;-search and the hint for part (c)]</a:t>
            </a:r>
          </a:p>
          <a:p>
            <a:pPr marL="385763" indent="-376238" eaLnBrk="1" hangingPunct="1">
              <a:lnSpc>
                <a:spcPct val="90000"/>
              </a:lnSpc>
              <a:spcBef>
                <a:spcPct val="20000"/>
              </a:spcBef>
              <a:buFontTx/>
              <a:buAutoNum type="arabicPeriod" startAt="42"/>
            </a:pPr>
            <a:endParaRPr lang="en-US" dirty="0">
              <a:solidFill>
                <a:srgbClr val="CC0000"/>
              </a:solidFill>
            </a:endParaRPr>
          </a:p>
          <a:p>
            <a:pPr marL="385763" indent="-376238" eaLnBrk="1" hangingPunct="1">
              <a:lnSpc>
                <a:spcPct val="90000"/>
              </a:lnSpc>
              <a:spcBef>
                <a:spcPct val="20000"/>
              </a:spcBef>
              <a:buFontTx/>
              <a:buAutoNum type="arabicPeriod" startAt="42"/>
            </a:pPr>
            <a:r>
              <a:rPr lang="en-US" dirty="0"/>
              <a:t>Let T be an arbitrary spanning tree of a weighted connected undirected graph G = (V, E, w). </a:t>
            </a:r>
            <a:br>
              <a:rPr lang="en-US" dirty="0"/>
            </a:br>
            <a:r>
              <a:rPr lang="en-US" dirty="0"/>
              <a:t>Let  L(T) = </a:t>
            </a:r>
            <a:r>
              <a:rPr lang="en-US" dirty="0">
                <a:sym typeface="Symbol" pitchFamily="18" charset="2"/>
              </a:rPr>
              <a:t>e</a:t>
            </a:r>
            <a:r>
              <a:rPr lang="en-US" baseline="-25000" dirty="0">
                <a:sym typeface="Symbol" pitchFamily="18" charset="2"/>
              </a:rPr>
              <a:t>1</a:t>
            </a:r>
            <a:r>
              <a:rPr lang="en-US" dirty="0">
                <a:sym typeface="Symbol" pitchFamily="18" charset="2"/>
              </a:rPr>
              <a:t>, e</a:t>
            </a:r>
            <a:r>
              <a:rPr lang="en-US" baseline="-25000" dirty="0">
                <a:sym typeface="Symbol" pitchFamily="18" charset="2"/>
              </a:rPr>
              <a:t>2</a:t>
            </a:r>
            <a:r>
              <a:rPr lang="en-US" dirty="0">
                <a:sym typeface="Symbol" pitchFamily="18" charset="2"/>
              </a:rPr>
              <a:t>, …, e</a:t>
            </a:r>
            <a:r>
              <a:rPr lang="en-US" baseline="-25000" dirty="0">
                <a:sym typeface="Symbol" pitchFamily="18" charset="2"/>
              </a:rPr>
              <a:t>n-1</a:t>
            </a:r>
            <a:r>
              <a:rPr lang="en-US" dirty="0">
                <a:sym typeface="Symbol" pitchFamily="18" charset="2"/>
              </a:rPr>
              <a:t> be the list of edges in T sorted in non-decreasing order of weight, that is,  w(e</a:t>
            </a:r>
            <a:r>
              <a:rPr lang="en-US" baseline="-25000" dirty="0">
                <a:sym typeface="Symbol" pitchFamily="18" charset="2"/>
              </a:rPr>
              <a:t>1</a:t>
            </a:r>
            <a:r>
              <a:rPr lang="en-US" dirty="0">
                <a:sym typeface="Symbol" pitchFamily="18" charset="2"/>
              </a:rPr>
              <a:t>)  w(e</a:t>
            </a:r>
            <a:r>
              <a:rPr lang="en-US" baseline="-25000" dirty="0">
                <a:sym typeface="Symbol" pitchFamily="18" charset="2"/>
              </a:rPr>
              <a:t>2</a:t>
            </a:r>
            <a:r>
              <a:rPr lang="en-US" dirty="0">
                <a:sym typeface="Symbol" pitchFamily="18" charset="2"/>
              </a:rPr>
              <a:t>)  …   w(e</a:t>
            </a:r>
            <a:r>
              <a:rPr lang="en-US" baseline="-25000" dirty="0">
                <a:sym typeface="Symbol" pitchFamily="18" charset="2"/>
              </a:rPr>
              <a:t>n-1</a:t>
            </a:r>
            <a:r>
              <a:rPr lang="en-US" dirty="0">
                <a:sym typeface="Symbol" pitchFamily="18" charset="2"/>
              </a:rPr>
              <a:t>), where n = |V(G)|. </a:t>
            </a:r>
            <a:br>
              <a:rPr lang="en-US" dirty="0">
                <a:sym typeface="Symbol" pitchFamily="18" charset="2"/>
              </a:rPr>
            </a:br>
            <a:r>
              <a:rPr lang="en-US" dirty="0">
                <a:sym typeface="Symbol" pitchFamily="18" charset="2"/>
              </a:rPr>
              <a:t>Let T’ be another spanning tree of G with </a:t>
            </a:r>
            <a:r>
              <a:rPr lang="en-US" dirty="0"/>
              <a:t>L(T’) = </a:t>
            </a:r>
            <a:r>
              <a:rPr lang="en-US" dirty="0">
                <a:sym typeface="Symbol" pitchFamily="18" charset="2"/>
              </a:rPr>
              <a:t>e’</a:t>
            </a:r>
            <a:r>
              <a:rPr lang="en-US" baseline="-25000" dirty="0">
                <a:sym typeface="Symbol" pitchFamily="18" charset="2"/>
              </a:rPr>
              <a:t>1</a:t>
            </a:r>
            <a:r>
              <a:rPr lang="en-US" dirty="0">
                <a:sym typeface="Symbol" pitchFamily="18" charset="2"/>
              </a:rPr>
              <a:t>, e’</a:t>
            </a:r>
            <a:r>
              <a:rPr lang="en-US" baseline="-25000" dirty="0">
                <a:sym typeface="Symbol" pitchFamily="18" charset="2"/>
              </a:rPr>
              <a:t>2</a:t>
            </a:r>
            <a:r>
              <a:rPr lang="en-US" dirty="0">
                <a:sym typeface="Symbol" pitchFamily="18" charset="2"/>
              </a:rPr>
              <a:t>, …, e’</a:t>
            </a:r>
            <a:r>
              <a:rPr lang="en-US" baseline="-25000" dirty="0">
                <a:sym typeface="Symbol" pitchFamily="18" charset="2"/>
              </a:rPr>
              <a:t>n-1</a:t>
            </a:r>
            <a:r>
              <a:rPr lang="en-US" dirty="0">
                <a:sym typeface="Symbol" pitchFamily="18" charset="2"/>
              </a:rPr>
              <a:t> sorted in the same manner.</a:t>
            </a:r>
            <a:br>
              <a:rPr lang="en-US" dirty="0">
                <a:sym typeface="Symbol" pitchFamily="18" charset="2"/>
              </a:rPr>
            </a:br>
            <a:r>
              <a:rPr lang="en-US" dirty="0">
                <a:sym typeface="Symbol" pitchFamily="18" charset="2"/>
              </a:rPr>
              <a:t/>
            </a:r>
            <a:br>
              <a:rPr lang="en-US" dirty="0">
                <a:sym typeface="Symbol" pitchFamily="18" charset="2"/>
              </a:rPr>
            </a:br>
            <a:r>
              <a:rPr lang="en-US" dirty="0">
                <a:sym typeface="Symbol" pitchFamily="18" charset="2"/>
              </a:rPr>
              <a:t>(a)  Prove that if T is a MST of G, then w(</a:t>
            </a:r>
            <a:r>
              <a:rPr lang="en-US" dirty="0" err="1">
                <a:sym typeface="Symbol" pitchFamily="18" charset="2"/>
              </a:rPr>
              <a:t>e</a:t>
            </a:r>
            <a:r>
              <a:rPr lang="en-US" baseline="-25000" dirty="0" err="1">
                <a:sym typeface="Symbol" pitchFamily="18" charset="2"/>
              </a:rPr>
              <a:t>k</a:t>
            </a:r>
            <a:r>
              <a:rPr lang="en-US" dirty="0">
                <a:sym typeface="Symbol" pitchFamily="18" charset="2"/>
              </a:rPr>
              <a:t>)  w(</a:t>
            </a:r>
            <a:r>
              <a:rPr lang="en-US" dirty="0" err="1">
                <a:sym typeface="Symbol" pitchFamily="18" charset="2"/>
              </a:rPr>
              <a:t>e’</a:t>
            </a:r>
            <a:r>
              <a:rPr lang="en-US" baseline="-25000" dirty="0" err="1">
                <a:sym typeface="Symbol" pitchFamily="18" charset="2"/>
              </a:rPr>
              <a:t>k</a:t>
            </a:r>
            <a:r>
              <a:rPr lang="en-US" dirty="0">
                <a:sym typeface="Symbol" pitchFamily="18" charset="2"/>
              </a:rPr>
              <a:t>), for all k = 1..n-1.</a:t>
            </a:r>
            <a:br>
              <a:rPr lang="en-US" dirty="0">
                <a:sym typeface="Symbol" pitchFamily="18" charset="2"/>
              </a:rPr>
            </a:br>
            <a:r>
              <a:rPr lang="en-US" dirty="0">
                <a:sym typeface="Symbol" pitchFamily="18" charset="2"/>
              </a:rPr>
              <a:t/>
            </a:r>
            <a:br>
              <a:rPr lang="en-US" dirty="0">
                <a:sym typeface="Symbol" pitchFamily="18" charset="2"/>
              </a:rPr>
            </a:br>
            <a:r>
              <a:rPr lang="en-US" dirty="0">
                <a:sym typeface="Symbol" pitchFamily="18" charset="2"/>
              </a:rPr>
              <a:t>(b) Show that if T and T’ are both MSTs of G, then w(</a:t>
            </a:r>
            <a:r>
              <a:rPr lang="en-US" dirty="0" err="1">
                <a:sym typeface="Symbol" pitchFamily="18" charset="2"/>
              </a:rPr>
              <a:t>e</a:t>
            </a:r>
            <a:r>
              <a:rPr lang="en-US" baseline="-25000" dirty="0" err="1">
                <a:sym typeface="Symbol" pitchFamily="18" charset="2"/>
              </a:rPr>
              <a:t>k</a:t>
            </a:r>
            <a:r>
              <a:rPr lang="en-US" dirty="0">
                <a:sym typeface="Symbol" pitchFamily="18" charset="2"/>
              </a:rPr>
              <a:t>) = w(</a:t>
            </a:r>
            <a:r>
              <a:rPr lang="en-US" dirty="0" err="1">
                <a:sym typeface="Symbol" pitchFamily="18" charset="2"/>
              </a:rPr>
              <a:t>e’</a:t>
            </a:r>
            <a:r>
              <a:rPr lang="en-US" baseline="-25000" dirty="0" err="1">
                <a:sym typeface="Symbol" pitchFamily="18" charset="2"/>
              </a:rPr>
              <a:t>k</a:t>
            </a:r>
            <a:r>
              <a:rPr lang="en-US" dirty="0">
                <a:sym typeface="Symbol" pitchFamily="18" charset="2"/>
              </a:rPr>
              <a:t>), for all k = 1..n-1.</a:t>
            </a:r>
          </a:p>
        </p:txBody>
      </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187</a:t>
            </a:fld>
            <a:endParaRPr lang="en-US"/>
          </a:p>
        </p:txBody>
      </p:sp>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ChangeArrowheads="1"/>
          </p:cNvSpPr>
          <p:nvPr/>
        </p:nvSpPr>
        <p:spPr bwMode="auto">
          <a:xfrm>
            <a:off x="304800" y="228600"/>
            <a:ext cx="8610600" cy="6046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marL="457200" indent="-457200" eaLnBrk="1" hangingPunct="1">
              <a:spcBef>
                <a:spcPct val="50000"/>
              </a:spcBef>
              <a:buFont typeface="+mj-lt"/>
              <a:buAutoNum type="arabicPeriod" startAt="44"/>
            </a:pPr>
            <a:r>
              <a:rPr lang="en-US" dirty="0"/>
              <a:t>Let us say a connected weighted undirected graph G = (V, E, w) is a </a:t>
            </a:r>
            <a:r>
              <a:rPr lang="en-US" b="1" dirty="0">
                <a:solidFill>
                  <a:srgbClr val="CC0000"/>
                </a:solidFill>
              </a:rPr>
              <a:t>near-tree</a:t>
            </a:r>
            <a:r>
              <a:rPr lang="en-US" dirty="0"/>
              <a:t> if |E| </a:t>
            </a:r>
            <a:r>
              <a:rPr lang="en-US" dirty="0">
                <a:sym typeface="Symbol" pitchFamily="18" charset="2"/>
              </a:rPr>
              <a:t> </a:t>
            </a:r>
            <a:r>
              <a:rPr lang="en-US" dirty="0"/>
              <a:t>|V| + 8.</a:t>
            </a:r>
            <a:br>
              <a:rPr lang="en-US" dirty="0"/>
            </a:br>
            <a:r>
              <a:rPr lang="en-US" dirty="0"/>
              <a:t>Design and analyze an algorithm with running time O(V) that takes a near-tree G and returns a MST of G.  (You may assume that all the edge weights are distinct.)</a:t>
            </a:r>
            <a:br>
              <a:rPr lang="en-US" dirty="0"/>
            </a:br>
            <a:endParaRPr lang="en-US" dirty="0"/>
          </a:p>
          <a:p>
            <a:pPr marL="457200" indent="-457200" eaLnBrk="1" hangingPunct="1">
              <a:spcBef>
                <a:spcPct val="50000"/>
              </a:spcBef>
              <a:buFont typeface="Wingdings" pitchFamily="2" charset="2"/>
              <a:buAutoNum type="arabicPeriod" startAt="44"/>
            </a:pPr>
            <a:r>
              <a:rPr lang="en-US" dirty="0"/>
              <a:t>Suppose you are given a directed graph G = (V, E) with arbitrary real valued costs on its edges and a sink vertex  </a:t>
            </a:r>
            <a:r>
              <a:rPr lang="en-US" dirty="0" err="1"/>
              <a:t>t</a:t>
            </a:r>
            <a:r>
              <a:rPr lang="en-US" dirty="0" err="1">
                <a:sym typeface="Symbol" pitchFamily="18" charset="2"/>
              </a:rPr>
              <a:t></a:t>
            </a:r>
            <a:r>
              <a:rPr lang="en-US" dirty="0" err="1"/>
              <a:t>V</a:t>
            </a:r>
            <a:r>
              <a:rPr lang="en-US" dirty="0"/>
              <a:t>.   Edge costs may be </a:t>
            </a:r>
            <a:r>
              <a:rPr lang="en-US" b="1" dirty="0">
                <a:solidFill>
                  <a:srgbClr val="CC0000"/>
                </a:solidFill>
              </a:rPr>
              <a:t>negative</a:t>
            </a:r>
            <a:r>
              <a:rPr lang="en-US" dirty="0"/>
              <a:t>, </a:t>
            </a:r>
            <a:r>
              <a:rPr lang="en-US" b="1" dirty="0">
                <a:solidFill>
                  <a:srgbClr val="CC0000"/>
                </a:solidFill>
              </a:rPr>
              <a:t>zero</a:t>
            </a:r>
            <a:r>
              <a:rPr lang="en-US" dirty="0"/>
              <a:t>, or </a:t>
            </a:r>
            <a:r>
              <a:rPr lang="en-US" b="1" dirty="0">
                <a:solidFill>
                  <a:srgbClr val="CC0000"/>
                </a:solidFill>
              </a:rPr>
              <a:t>positive</a:t>
            </a:r>
            <a:r>
              <a:rPr lang="en-US" dirty="0"/>
              <a:t>. Assume that you are also given finite values d(v) for all </a:t>
            </a:r>
            <a:r>
              <a:rPr lang="en-US" dirty="0" err="1"/>
              <a:t>v</a:t>
            </a:r>
            <a:r>
              <a:rPr lang="en-US" dirty="0" err="1">
                <a:sym typeface="Symbol" pitchFamily="18" charset="2"/>
              </a:rPr>
              <a:t></a:t>
            </a:r>
            <a:r>
              <a:rPr lang="en-US" dirty="0" err="1"/>
              <a:t>V</a:t>
            </a:r>
            <a:r>
              <a:rPr lang="en-US" dirty="0"/>
              <a:t>.   Someone claims that, for each vertex </a:t>
            </a:r>
            <a:r>
              <a:rPr lang="en-US" dirty="0" err="1"/>
              <a:t>v</a:t>
            </a:r>
            <a:r>
              <a:rPr lang="en-US" dirty="0" err="1">
                <a:sym typeface="Symbol" pitchFamily="18" charset="2"/>
              </a:rPr>
              <a:t></a:t>
            </a:r>
            <a:r>
              <a:rPr lang="en-US" dirty="0" err="1"/>
              <a:t>V</a:t>
            </a:r>
            <a:r>
              <a:rPr lang="en-US" dirty="0"/>
              <a:t>, the quantity d(v) is the cost of the shortest path from vertex v to the sink t.</a:t>
            </a:r>
            <a:br>
              <a:rPr lang="en-US" dirty="0"/>
            </a:br>
            <a:r>
              <a:rPr lang="en-US" dirty="0"/>
              <a:t/>
            </a:r>
            <a:br>
              <a:rPr lang="en-US" dirty="0"/>
            </a:br>
            <a:r>
              <a:rPr lang="en-US" dirty="0"/>
              <a:t>(a) Give a linear-time algorithm that verifies whether this claim is correct.</a:t>
            </a:r>
            <a:br>
              <a:rPr lang="en-US" dirty="0"/>
            </a:br>
            <a:r>
              <a:rPr lang="en-US" dirty="0"/>
              <a:t/>
            </a:r>
            <a:br>
              <a:rPr lang="en-US" dirty="0"/>
            </a:br>
            <a:r>
              <a:rPr lang="en-US" dirty="0"/>
              <a:t>(b) Assume in part (a) the verification turns out correct.  </a:t>
            </a:r>
            <a:br>
              <a:rPr lang="en-US" dirty="0"/>
            </a:br>
            <a:r>
              <a:rPr lang="en-US" dirty="0"/>
              <a:t>      Now you are asked to compute distances to a different sink </a:t>
            </a:r>
            <a:r>
              <a:rPr lang="en-US" dirty="0" err="1"/>
              <a:t>t′</a:t>
            </a:r>
            <a:r>
              <a:rPr lang="en-US" dirty="0" err="1">
                <a:sym typeface="Symbol" pitchFamily="18" charset="2"/>
              </a:rPr>
              <a:t></a:t>
            </a:r>
            <a:r>
              <a:rPr lang="en-US" dirty="0" err="1"/>
              <a:t>V</a:t>
            </a:r>
            <a:r>
              <a:rPr lang="en-US" dirty="0"/>
              <a:t>.  </a:t>
            </a:r>
            <a:br>
              <a:rPr lang="en-US" dirty="0"/>
            </a:br>
            <a:r>
              <a:rPr lang="en-US" dirty="0"/>
              <a:t>      Design and analyze an O( E log V) time algorithm for computing the shortest path distances </a:t>
            </a:r>
            <a:br>
              <a:rPr lang="en-US" dirty="0"/>
            </a:br>
            <a:r>
              <a:rPr lang="en-US" dirty="0"/>
              <a:t>      d′(v) for all vertices  </a:t>
            </a:r>
            <a:r>
              <a:rPr lang="en-US" dirty="0" err="1"/>
              <a:t>v</a:t>
            </a:r>
            <a:r>
              <a:rPr lang="en-US" dirty="0" err="1">
                <a:sym typeface="Symbol" pitchFamily="18" charset="2"/>
              </a:rPr>
              <a:t></a:t>
            </a:r>
            <a:r>
              <a:rPr lang="en-US" dirty="0" err="1"/>
              <a:t>V</a:t>
            </a:r>
            <a:r>
              <a:rPr lang="en-US" dirty="0"/>
              <a:t>  to the new sink t′. </a:t>
            </a:r>
            <a:br>
              <a:rPr lang="en-US" dirty="0"/>
            </a:br>
            <a:r>
              <a:rPr lang="en-US" dirty="0"/>
              <a:t>      </a:t>
            </a:r>
            <a:r>
              <a:rPr lang="en-US" dirty="0">
                <a:solidFill>
                  <a:srgbClr val="CC0000"/>
                </a:solidFill>
              </a:rPr>
              <a:t>(Remember that G may have negative cost edges.)</a:t>
            </a:r>
            <a:r>
              <a:rPr lang="en-US" dirty="0"/>
              <a:t/>
            </a:r>
            <a:br>
              <a:rPr lang="en-US" dirty="0"/>
            </a:br>
            <a:endParaRPr lang="en-US" dirty="0"/>
          </a:p>
          <a:p>
            <a:pPr marL="457200" indent="-457200" eaLnBrk="1" hangingPunct="1">
              <a:spcBef>
                <a:spcPct val="50000"/>
              </a:spcBef>
              <a:buFont typeface="Wingdings" pitchFamily="2" charset="2"/>
              <a:buAutoNum type="arabicPeriod" startAt="44"/>
            </a:pPr>
            <a:r>
              <a:rPr lang="en-US" dirty="0"/>
              <a:t>Show that the single source longest paths in a weighted DAG can be computed in linear time.</a:t>
            </a:r>
            <a:br>
              <a:rPr lang="en-US" dirty="0"/>
            </a:br>
            <a:endParaRPr lang="en-US" dirty="0"/>
          </a:p>
          <a:p>
            <a:pPr marL="457200" indent="-457200" eaLnBrk="1" hangingPunct="1">
              <a:spcBef>
                <a:spcPct val="50000"/>
              </a:spcBef>
              <a:buFont typeface="Wingdings" pitchFamily="2" charset="2"/>
              <a:buAutoNum type="arabicPeriod" startAt="44"/>
            </a:pPr>
            <a:r>
              <a:rPr lang="en-US" dirty="0"/>
              <a:t>A </a:t>
            </a:r>
            <a:r>
              <a:rPr lang="en-US" b="1" dirty="0">
                <a:solidFill>
                  <a:srgbClr val="CC0000"/>
                </a:solidFill>
              </a:rPr>
              <a:t>tournament</a:t>
            </a:r>
            <a:r>
              <a:rPr lang="en-US" dirty="0"/>
              <a:t> is a directed graph formed by taking the complete undirected graph and assigning arbitrary directions on the edges, i.e. a graph G = (V,E) such that for each </a:t>
            </a:r>
            <a:r>
              <a:rPr lang="en-US" dirty="0" err="1"/>
              <a:t>u,v</a:t>
            </a:r>
            <a:r>
              <a:rPr lang="en-US" dirty="0" err="1">
                <a:sym typeface="Symbol" pitchFamily="18" charset="2"/>
              </a:rPr>
              <a:t></a:t>
            </a:r>
            <a:r>
              <a:rPr lang="en-US" dirty="0" err="1"/>
              <a:t>V</a:t>
            </a:r>
            <a:r>
              <a:rPr lang="en-US" dirty="0"/>
              <a:t>, exactly one of (</a:t>
            </a:r>
            <a:r>
              <a:rPr lang="en-US" dirty="0" err="1"/>
              <a:t>u,v</a:t>
            </a:r>
            <a:r>
              <a:rPr lang="en-US" dirty="0"/>
              <a:t>) or (</a:t>
            </a:r>
            <a:r>
              <a:rPr lang="en-US" dirty="0" err="1"/>
              <a:t>v,u</a:t>
            </a:r>
            <a:r>
              <a:rPr lang="en-US" dirty="0"/>
              <a:t>) is in E. Show that every tournament has a Hamiltonian path, that is, a path that visits every vertex exactly once.</a:t>
            </a:r>
          </a:p>
        </p:txBody>
      </p:sp>
      <p:sp>
        <p:nvSpPr>
          <p:cNvPr id="2" name="Slide Number Placeholder 1"/>
          <p:cNvSpPr>
            <a:spLocks noGrp="1"/>
          </p:cNvSpPr>
          <p:nvPr>
            <p:ph type="sldNum" sz="quarter" idx="12"/>
          </p:nvPr>
        </p:nvSpPr>
        <p:spPr/>
        <p:txBody>
          <a:bodyPr/>
          <a:lstStyle/>
          <a:p>
            <a:pPr>
              <a:defRPr/>
            </a:pPr>
            <a:fld id="{5019D0FD-30FE-4170-95C0-BCF9C0F390F3}" type="slidenum">
              <a:rPr lang="en-US" smtClean="0"/>
              <a:pPr>
                <a:defRPr/>
              </a:pPr>
              <a:t>188</a:t>
            </a:fld>
            <a:endParaRPr lang="en-US"/>
          </a:p>
        </p:txBody>
      </p:sp>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2514"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2848"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2515"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2849"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2516"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2850"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2517" name="Rectangle 5"/>
          <p:cNvSpPr>
            <a:spLocks noChangeArrowheads="1"/>
          </p:cNvSpPr>
          <p:nvPr/>
        </p:nvSpPr>
        <p:spPr bwMode="auto">
          <a:xfrm>
            <a:off x="304800" y="228600"/>
            <a:ext cx="8686800" cy="612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96875" indent="-387350" eaLnBrk="1" hangingPunct="1">
              <a:lnSpc>
                <a:spcPct val="90000"/>
              </a:lnSpc>
              <a:spcBef>
                <a:spcPct val="20000"/>
              </a:spcBef>
              <a:buFont typeface="+mj-lt"/>
              <a:buAutoNum type="arabicPeriod" startAt="48"/>
            </a:pPr>
            <a:r>
              <a:rPr lang="en-US" b="1" dirty="0"/>
              <a:t>Color Constrained Single Source Shortest Paths:</a:t>
            </a:r>
            <a:r>
              <a:rPr lang="en-US" dirty="0"/>
              <a:t>   </a:t>
            </a:r>
            <a:br>
              <a:rPr lang="en-US" dirty="0"/>
            </a:br>
            <a:r>
              <a:rPr lang="en-US" dirty="0"/>
              <a:t>Design and analyze an efficient algorithm for the following problem:</a:t>
            </a:r>
            <a:br>
              <a:rPr lang="en-US" dirty="0"/>
            </a:br>
            <a:r>
              <a:rPr lang="en-US" b="1" dirty="0"/>
              <a:t>Input:</a:t>
            </a:r>
            <a:r>
              <a:rPr lang="en-US" dirty="0"/>
              <a:t>     A digraph G = (V, E) in which each node </a:t>
            </a:r>
            <a:r>
              <a:rPr lang="en-US" dirty="0" err="1"/>
              <a:t>v</a:t>
            </a:r>
            <a:r>
              <a:rPr lang="en-US" dirty="0" err="1">
                <a:sym typeface="Symbol" pitchFamily="18" charset="2"/>
              </a:rPr>
              <a:t></a:t>
            </a:r>
            <a:r>
              <a:rPr lang="en-US" dirty="0" err="1"/>
              <a:t>V</a:t>
            </a:r>
            <a:r>
              <a:rPr lang="en-US" dirty="0"/>
              <a:t> is allocated a color c(v)</a:t>
            </a:r>
            <a:r>
              <a:rPr lang="en-US" dirty="0">
                <a:sym typeface="Symbol" pitchFamily="18" charset="2"/>
              </a:rPr>
              <a:t></a:t>
            </a:r>
            <a:r>
              <a:rPr lang="en-US" dirty="0"/>
              <a:t>{</a:t>
            </a:r>
            <a:r>
              <a:rPr lang="en-US" dirty="0" err="1"/>
              <a:t>red,blue</a:t>
            </a:r>
            <a:r>
              <a:rPr lang="en-US" dirty="0"/>
              <a:t>};  </a:t>
            </a:r>
            <a:br>
              <a:rPr lang="en-US" dirty="0"/>
            </a:br>
            <a:r>
              <a:rPr lang="en-US" dirty="0"/>
              <a:t>                and a source node </a:t>
            </a:r>
            <a:r>
              <a:rPr lang="en-US" dirty="0" err="1"/>
              <a:t>s</a:t>
            </a:r>
            <a:r>
              <a:rPr lang="en-US" dirty="0" err="1">
                <a:sym typeface="Symbol" pitchFamily="18" charset="2"/>
              </a:rPr>
              <a:t></a:t>
            </a:r>
            <a:r>
              <a:rPr lang="en-US" dirty="0" err="1"/>
              <a:t>V</a:t>
            </a:r>
            <a:r>
              <a:rPr lang="en-US" dirty="0"/>
              <a:t>. </a:t>
            </a:r>
            <a:br>
              <a:rPr lang="en-US" dirty="0"/>
            </a:br>
            <a:r>
              <a:rPr lang="en-US" b="1" dirty="0"/>
              <a:t>Output:</a:t>
            </a:r>
            <a:r>
              <a:rPr lang="en-US" dirty="0"/>
              <a:t>  For each node </a:t>
            </a:r>
            <a:r>
              <a:rPr lang="en-US" dirty="0" err="1"/>
              <a:t>v</a:t>
            </a:r>
            <a:r>
              <a:rPr lang="en-US" dirty="0" err="1">
                <a:sym typeface="Symbol" pitchFamily="18" charset="2"/>
              </a:rPr>
              <a:t></a:t>
            </a:r>
            <a:r>
              <a:rPr lang="en-US" dirty="0" err="1"/>
              <a:t>V</a:t>
            </a:r>
            <a:r>
              <a:rPr lang="en-US" dirty="0"/>
              <a:t>, find a path from s to v that contains the minimum number of red </a:t>
            </a:r>
            <a:br>
              <a:rPr lang="en-US" dirty="0"/>
            </a:br>
            <a:r>
              <a:rPr lang="en-US" dirty="0"/>
              <a:t>                nodes (including s and v). </a:t>
            </a:r>
          </a:p>
          <a:p>
            <a:pPr marL="396875" indent="-387350" eaLnBrk="1" hangingPunct="1">
              <a:lnSpc>
                <a:spcPct val="90000"/>
              </a:lnSpc>
              <a:spcBef>
                <a:spcPct val="20000"/>
              </a:spcBef>
              <a:buFontTx/>
              <a:buAutoNum type="arabicPeriod" startAt="48"/>
            </a:pPr>
            <a:endParaRPr lang="en-US" dirty="0"/>
          </a:p>
          <a:p>
            <a:pPr marL="396875" indent="-387350" eaLnBrk="1" hangingPunct="1">
              <a:lnSpc>
                <a:spcPct val="90000"/>
              </a:lnSpc>
              <a:spcBef>
                <a:spcPct val="20000"/>
              </a:spcBef>
              <a:buFontTx/>
              <a:buAutoNum type="arabicPeriod" startAt="48"/>
            </a:pPr>
            <a:r>
              <a:rPr lang="en-US" b="1" dirty="0">
                <a:latin typeface="+mj-lt"/>
              </a:rPr>
              <a:t>Another Color Constrained Single Source Shortest Paths:</a:t>
            </a:r>
            <a:r>
              <a:rPr lang="en-US" dirty="0">
                <a:latin typeface="+mj-lt"/>
              </a:rPr>
              <a:t> </a:t>
            </a:r>
            <a:br>
              <a:rPr lang="en-US" dirty="0">
                <a:latin typeface="+mj-lt"/>
              </a:rPr>
            </a:br>
            <a:r>
              <a:rPr lang="en-US" dirty="0">
                <a:latin typeface="+mj-lt"/>
              </a:rPr>
              <a:t>Modify </a:t>
            </a:r>
            <a:r>
              <a:rPr lang="en-US" dirty="0" err="1">
                <a:latin typeface="+mj-lt"/>
              </a:rPr>
              <a:t>Dijkstra’s</a:t>
            </a:r>
            <a:r>
              <a:rPr lang="en-US" dirty="0">
                <a:latin typeface="+mj-lt"/>
              </a:rPr>
              <a:t> algorithm to solve the problem:</a:t>
            </a:r>
            <a:br>
              <a:rPr lang="en-US" dirty="0">
                <a:latin typeface="+mj-lt"/>
              </a:rPr>
            </a:br>
            <a:r>
              <a:rPr lang="en-US" b="1" dirty="0">
                <a:latin typeface="+mj-lt"/>
              </a:rPr>
              <a:t>Input:</a:t>
            </a:r>
            <a:r>
              <a:rPr lang="en-US" dirty="0">
                <a:latin typeface="+mj-lt"/>
              </a:rPr>
              <a:t>   A weighted digraph G = (V, E, w), in which each node </a:t>
            </a:r>
            <a:r>
              <a:rPr lang="en-US" dirty="0" err="1">
                <a:latin typeface="+mj-lt"/>
              </a:rPr>
              <a:t>v</a:t>
            </a:r>
            <a:r>
              <a:rPr lang="en-US" dirty="0" err="1">
                <a:latin typeface="+mj-lt"/>
                <a:sym typeface="Symbol" pitchFamily="18" charset="2"/>
              </a:rPr>
              <a:t></a:t>
            </a:r>
            <a:r>
              <a:rPr lang="en-US" dirty="0" err="1">
                <a:latin typeface="+mj-lt"/>
              </a:rPr>
              <a:t>V</a:t>
            </a:r>
            <a:r>
              <a:rPr lang="en-US" dirty="0">
                <a:latin typeface="+mj-lt"/>
              </a:rPr>
              <a:t> is allocated a color </a:t>
            </a:r>
            <a:br>
              <a:rPr lang="en-US" dirty="0">
                <a:latin typeface="+mj-lt"/>
              </a:rPr>
            </a:br>
            <a:r>
              <a:rPr lang="en-US" dirty="0">
                <a:latin typeface="+mj-lt"/>
              </a:rPr>
              <a:t>              c(v)</a:t>
            </a:r>
            <a:r>
              <a:rPr lang="en-US" dirty="0">
                <a:latin typeface="+mj-lt"/>
                <a:sym typeface="Symbol" pitchFamily="18" charset="2"/>
              </a:rPr>
              <a:t></a:t>
            </a:r>
            <a:r>
              <a:rPr lang="en-US" dirty="0">
                <a:latin typeface="+mj-lt"/>
              </a:rPr>
              <a:t>{</a:t>
            </a:r>
            <a:r>
              <a:rPr lang="en-US" dirty="0" err="1">
                <a:latin typeface="+mj-lt"/>
              </a:rPr>
              <a:t>red,blue</a:t>
            </a:r>
            <a:r>
              <a:rPr lang="en-US" dirty="0">
                <a:latin typeface="+mj-lt"/>
              </a:rPr>
              <a:t>}; a source node </a:t>
            </a:r>
            <a:r>
              <a:rPr lang="en-US" dirty="0" err="1">
                <a:latin typeface="+mj-lt"/>
              </a:rPr>
              <a:t>s</a:t>
            </a:r>
            <a:r>
              <a:rPr lang="en-US" dirty="0" err="1">
                <a:latin typeface="+mj-lt"/>
                <a:sym typeface="Symbol" pitchFamily="18" charset="2"/>
              </a:rPr>
              <a:t></a:t>
            </a:r>
            <a:r>
              <a:rPr lang="en-US" dirty="0" err="1">
                <a:latin typeface="+mj-lt"/>
              </a:rPr>
              <a:t>V</a:t>
            </a:r>
            <a:r>
              <a:rPr lang="en-US" dirty="0">
                <a:latin typeface="+mj-lt"/>
              </a:rPr>
              <a:t>; and a positive integer K.</a:t>
            </a:r>
            <a:br>
              <a:rPr lang="en-US" dirty="0">
                <a:latin typeface="+mj-lt"/>
              </a:rPr>
            </a:br>
            <a:r>
              <a:rPr lang="en-US" b="1" dirty="0">
                <a:latin typeface="+mj-lt"/>
              </a:rPr>
              <a:t>Output:</a:t>
            </a:r>
            <a:r>
              <a:rPr lang="en-US" dirty="0">
                <a:latin typeface="+mj-lt"/>
              </a:rPr>
              <a:t> For each vertex </a:t>
            </a:r>
            <a:r>
              <a:rPr lang="en-US" dirty="0" err="1">
                <a:latin typeface="+mj-lt"/>
              </a:rPr>
              <a:t>v</a:t>
            </a:r>
            <a:r>
              <a:rPr lang="en-US" dirty="0" err="1">
                <a:latin typeface="+mj-lt"/>
                <a:sym typeface="Symbol" pitchFamily="18" charset="2"/>
              </a:rPr>
              <a:t></a:t>
            </a:r>
            <a:r>
              <a:rPr lang="en-US" dirty="0" err="1">
                <a:latin typeface="+mj-lt"/>
              </a:rPr>
              <a:t>V</a:t>
            </a:r>
            <a:r>
              <a:rPr lang="en-US" dirty="0">
                <a:latin typeface="+mj-lt"/>
              </a:rPr>
              <a:t>, find the shortest path from s to v subject to the constraint that it does not contain more than K red nodes (including s and v).</a:t>
            </a:r>
            <a:br>
              <a:rPr lang="en-US" dirty="0">
                <a:latin typeface="+mj-lt"/>
              </a:rPr>
            </a:br>
            <a:r>
              <a:rPr lang="en-US" dirty="0">
                <a:solidFill>
                  <a:srgbClr val="CC0000"/>
                </a:solidFill>
                <a:latin typeface="+mj-lt"/>
              </a:rPr>
              <a:t>[Hint: For each vertex </a:t>
            </a:r>
            <a:r>
              <a:rPr lang="en-US" dirty="0" err="1">
                <a:solidFill>
                  <a:srgbClr val="CC0000"/>
                </a:solidFill>
                <a:latin typeface="+mj-lt"/>
              </a:rPr>
              <a:t>v</a:t>
            </a:r>
            <a:r>
              <a:rPr lang="en-US" dirty="0" err="1">
                <a:solidFill>
                  <a:srgbClr val="CC0000"/>
                </a:solidFill>
                <a:latin typeface="+mj-lt"/>
                <a:sym typeface="Symbol" pitchFamily="18" charset="2"/>
              </a:rPr>
              <a:t></a:t>
            </a:r>
            <a:r>
              <a:rPr lang="en-US" dirty="0" err="1">
                <a:solidFill>
                  <a:srgbClr val="CC0000"/>
                </a:solidFill>
                <a:latin typeface="+mj-lt"/>
              </a:rPr>
              <a:t>V</a:t>
            </a:r>
            <a:r>
              <a:rPr lang="en-US" dirty="0">
                <a:solidFill>
                  <a:srgbClr val="CC0000"/>
                </a:solidFill>
                <a:latin typeface="+mj-lt"/>
              </a:rPr>
              <a:t> and integer r</a:t>
            </a:r>
            <a:r>
              <a:rPr lang="en-US" dirty="0">
                <a:solidFill>
                  <a:srgbClr val="CC0000"/>
                </a:solidFill>
                <a:latin typeface="+mj-lt"/>
                <a:sym typeface="Symbol" pitchFamily="18" charset="2"/>
              </a:rPr>
              <a:t></a:t>
            </a:r>
            <a:r>
              <a:rPr lang="en-US" dirty="0">
                <a:solidFill>
                  <a:srgbClr val="CC0000"/>
                </a:solidFill>
                <a:latin typeface="+mj-lt"/>
              </a:rPr>
              <a:t>[0..K] extend the definitions of d[v] and </a:t>
            </a:r>
            <a:r>
              <a:rPr lang="en-US" dirty="0">
                <a:solidFill>
                  <a:srgbClr val="CC0000"/>
                </a:solidFill>
                <a:latin typeface="Symbol" pitchFamily="18" charset="2"/>
              </a:rPr>
              <a:t>p</a:t>
            </a:r>
            <a:r>
              <a:rPr lang="en-US" dirty="0">
                <a:solidFill>
                  <a:srgbClr val="CC0000"/>
                </a:solidFill>
                <a:latin typeface="+mj-lt"/>
              </a:rPr>
              <a:t>[v] in </a:t>
            </a:r>
            <a:r>
              <a:rPr lang="en-US" dirty="0" err="1">
                <a:solidFill>
                  <a:srgbClr val="CC0000"/>
                </a:solidFill>
                <a:latin typeface="+mj-lt"/>
              </a:rPr>
              <a:t>Dijkstra’s</a:t>
            </a:r>
            <a:r>
              <a:rPr lang="en-US" dirty="0">
                <a:solidFill>
                  <a:srgbClr val="CC0000"/>
                </a:solidFill>
                <a:latin typeface="+mj-lt"/>
              </a:rPr>
              <a:t> algorithm from the one parameter v to two parameters v and r, in order to account for not only (the weight of) the path from s to v, but also something about the number of red nodes on that path.]</a:t>
            </a:r>
          </a:p>
          <a:p>
            <a:pPr marL="396875" indent="-387350" eaLnBrk="1" hangingPunct="1">
              <a:lnSpc>
                <a:spcPct val="90000"/>
              </a:lnSpc>
              <a:spcBef>
                <a:spcPct val="20000"/>
              </a:spcBef>
              <a:buFontTx/>
              <a:buAutoNum type="arabicPeriod" startAt="48"/>
            </a:pPr>
            <a:endParaRPr lang="en-US" dirty="0"/>
          </a:p>
          <a:p>
            <a:pPr marL="396875" indent="-387350" eaLnBrk="1" hangingPunct="1">
              <a:lnSpc>
                <a:spcPct val="90000"/>
              </a:lnSpc>
              <a:spcBef>
                <a:spcPct val="20000"/>
              </a:spcBef>
              <a:buFontTx/>
              <a:buAutoNum type="arabicPeriod" startAt="48"/>
            </a:pPr>
            <a:r>
              <a:rPr lang="en-US" b="1" dirty="0"/>
              <a:t>[CLRS, Exercises 24.3-8 &amp; 24.3-9, p. 664]  </a:t>
            </a:r>
            <a:r>
              <a:rPr lang="en-US" dirty="0"/>
              <a:t>Modify </a:t>
            </a:r>
            <a:r>
              <a:rPr lang="en-US" dirty="0" err="1"/>
              <a:t>Dijkstra's</a:t>
            </a:r>
            <a:r>
              <a:rPr lang="en-US" dirty="0"/>
              <a:t> algorithm so that it runs faster when all the edge weights are restricted to being in the integer range [0..W], where W is a given positive integer.  </a:t>
            </a:r>
            <a:br>
              <a:rPr lang="en-US" dirty="0"/>
            </a:br>
            <a:r>
              <a:rPr lang="en-US" dirty="0"/>
              <a:t>(a) Give a O(W V + E ) time algorithm.</a:t>
            </a:r>
            <a:br>
              <a:rPr lang="en-US" dirty="0"/>
            </a:br>
            <a:r>
              <a:rPr lang="en-US" dirty="0"/>
              <a:t>(b) Give a O((V+E) log W ) time algorithm.  </a:t>
            </a:r>
            <a:r>
              <a:rPr lang="en-US" dirty="0">
                <a:solidFill>
                  <a:srgbClr val="CC0000"/>
                </a:solidFill>
              </a:rPr>
              <a:t>[Hint: implement the priority queue by buckets.]</a:t>
            </a:r>
          </a:p>
          <a:p>
            <a:pPr marL="396875" indent="-387350" eaLnBrk="1" hangingPunct="1">
              <a:lnSpc>
                <a:spcPct val="90000"/>
              </a:lnSpc>
              <a:spcBef>
                <a:spcPct val="20000"/>
              </a:spcBef>
              <a:buFontTx/>
              <a:buAutoNum type="arabicPeriod" startAt="48"/>
            </a:pPr>
            <a:endParaRPr lang="en-US" dirty="0"/>
          </a:p>
          <a:p>
            <a:pPr marL="396875" indent="-387350" eaLnBrk="1" hangingPunct="1">
              <a:lnSpc>
                <a:spcPct val="90000"/>
              </a:lnSpc>
              <a:spcBef>
                <a:spcPct val="20000"/>
              </a:spcBef>
              <a:buFontTx/>
              <a:buAutoNum type="arabicPeriod" startAt="48"/>
            </a:pPr>
            <a:r>
              <a:rPr lang="en-US" dirty="0"/>
              <a:t>We are given the adjacency matrix of an un-weighted directed graph G =  (V, E). For each pair of vertices  </a:t>
            </a:r>
            <a:r>
              <a:rPr lang="en-US" dirty="0" err="1"/>
              <a:t>s,t</a:t>
            </a:r>
            <a:r>
              <a:rPr lang="en-US" dirty="0" err="1">
                <a:sym typeface="Symbol" pitchFamily="18" charset="2"/>
              </a:rPr>
              <a:t></a:t>
            </a:r>
            <a:r>
              <a:rPr lang="en-US" dirty="0" err="1"/>
              <a:t>V</a:t>
            </a:r>
            <a:r>
              <a:rPr lang="en-US" dirty="0"/>
              <a:t>, compute the number of simple paths in G from s to t. </a:t>
            </a:r>
          </a:p>
        </p:txBody>
      </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189</a:t>
            </a:fld>
            <a:endParaRPr lang="en-US"/>
          </a:p>
        </p:txBody>
      </p:sp>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3538"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3872"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39"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3873"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40"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3874"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3541" name="Rectangle 5"/>
          <p:cNvSpPr>
            <a:spLocks noChangeArrowheads="1"/>
          </p:cNvSpPr>
          <p:nvPr/>
        </p:nvSpPr>
        <p:spPr bwMode="auto">
          <a:xfrm>
            <a:off x="304800" y="228600"/>
            <a:ext cx="8534400" cy="434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66725" indent="-457200" eaLnBrk="1" hangingPunct="1">
              <a:lnSpc>
                <a:spcPct val="90000"/>
              </a:lnSpc>
              <a:spcBef>
                <a:spcPct val="20000"/>
              </a:spcBef>
              <a:buFont typeface="+mj-lt"/>
              <a:buAutoNum type="arabicPeriod" startAt="52"/>
            </a:pPr>
            <a:r>
              <a:rPr lang="en-US" b="1" dirty="0"/>
              <a:t>[CLRS, Exercise 24.3-6, p. 663]  </a:t>
            </a:r>
            <a:r>
              <a:rPr lang="en-US" dirty="0"/>
              <a:t>We are given a digraph G = (V, E) on which each edge (</a:t>
            </a:r>
            <a:r>
              <a:rPr lang="en-US" dirty="0" err="1"/>
              <a:t>u,v</a:t>
            </a:r>
            <a:r>
              <a:rPr lang="en-US" dirty="0"/>
              <a:t>) </a:t>
            </a:r>
            <a:r>
              <a:rPr lang="en-US" dirty="0">
                <a:sym typeface="Symbol" pitchFamily="18" charset="2"/>
              </a:rPr>
              <a:t> </a:t>
            </a:r>
            <a:r>
              <a:rPr lang="en-US" dirty="0"/>
              <a:t>E has an associated value r(</a:t>
            </a:r>
            <a:r>
              <a:rPr lang="en-US" dirty="0" err="1"/>
              <a:t>u,v</a:t>
            </a:r>
            <a:r>
              <a:rPr lang="en-US" dirty="0"/>
              <a:t>), which is a real number in the range 0 </a:t>
            </a:r>
            <a:r>
              <a:rPr lang="en-US" dirty="0">
                <a:sym typeface="Symbol" pitchFamily="18" charset="2"/>
              </a:rPr>
              <a:t> </a:t>
            </a:r>
            <a:r>
              <a:rPr lang="en-US" dirty="0"/>
              <a:t>r(</a:t>
            </a:r>
            <a:r>
              <a:rPr lang="en-US" dirty="0" err="1"/>
              <a:t>u,v</a:t>
            </a:r>
            <a:r>
              <a:rPr lang="en-US" dirty="0"/>
              <a:t>) </a:t>
            </a:r>
            <a:r>
              <a:rPr lang="en-US" dirty="0">
                <a:sym typeface="Symbol" pitchFamily="18" charset="2"/>
              </a:rPr>
              <a:t></a:t>
            </a:r>
            <a:r>
              <a:rPr lang="en-US" dirty="0"/>
              <a:t> 1 that represents the reliability of a communication channel from vertex u to vertex v. We interpret r(</a:t>
            </a:r>
            <a:r>
              <a:rPr lang="en-US" dirty="0" err="1"/>
              <a:t>u,v</a:t>
            </a:r>
            <a:r>
              <a:rPr lang="en-US" dirty="0"/>
              <a:t>) as the probability that the channel from u to v will not fail, and we assume that these probabilities are independent. Thus, the reliability of a path is the product of the reliabilities of its edges. Give an efficient algorithm to find the most reliable path between two given vertices.</a:t>
            </a:r>
          </a:p>
          <a:p>
            <a:pPr marL="466725" indent="-457200">
              <a:buFontTx/>
              <a:buAutoNum type="arabicPeriod" startAt="52"/>
            </a:pPr>
            <a:endParaRPr lang="en-US" dirty="0"/>
          </a:p>
          <a:p>
            <a:pPr marL="466725" indent="-457200">
              <a:buFontTx/>
              <a:buAutoNum type="arabicPeriod" startAt="52"/>
            </a:pPr>
            <a:r>
              <a:rPr lang="en-US" b="1" dirty="0"/>
              <a:t>[CLRS, Exercise 25.3-4, p. 705]  </a:t>
            </a:r>
            <a:r>
              <a:rPr lang="en-US" dirty="0"/>
              <a:t>Suppose instead of the Edmonds-Karp &amp; Johnson’s edge weight transformation, we use the following simpler and faster strategy: </a:t>
            </a:r>
            <a:br>
              <a:rPr lang="en-US" dirty="0"/>
            </a:br>
            <a:r>
              <a:rPr lang="en-US" dirty="0"/>
              <a:t>Let   w* = min { w(</a:t>
            </a:r>
            <a:r>
              <a:rPr lang="en-US" dirty="0" err="1"/>
              <a:t>u,v</a:t>
            </a:r>
            <a:r>
              <a:rPr lang="en-US" dirty="0"/>
              <a:t>) |  (</a:t>
            </a:r>
            <a:r>
              <a:rPr lang="en-US" dirty="0" err="1"/>
              <a:t>u,v</a:t>
            </a:r>
            <a:r>
              <a:rPr lang="en-US" dirty="0"/>
              <a:t>) </a:t>
            </a:r>
            <a:r>
              <a:rPr lang="en-US" dirty="0">
                <a:sym typeface="Symbol" pitchFamily="18" charset="2"/>
              </a:rPr>
              <a:t> </a:t>
            </a:r>
            <a:r>
              <a:rPr lang="en-US" dirty="0"/>
              <a:t>E(G) }.</a:t>
            </a:r>
            <a:br>
              <a:rPr lang="en-US" dirty="0"/>
            </a:br>
            <a:r>
              <a:rPr lang="en-US" dirty="0"/>
              <a:t>Define </a:t>
            </a:r>
            <a:r>
              <a:rPr lang="en-US" dirty="0">
                <a:cs typeface="Times New Roman" pitchFamily="18" charset="0"/>
              </a:rPr>
              <a:t>ŵ(</a:t>
            </a:r>
            <a:r>
              <a:rPr lang="en-US" dirty="0" err="1">
                <a:cs typeface="Times New Roman" pitchFamily="18" charset="0"/>
              </a:rPr>
              <a:t>u,v</a:t>
            </a:r>
            <a:r>
              <a:rPr lang="en-US" dirty="0">
                <a:cs typeface="Times New Roman" pitchFamily="18" charset="0"/>
              </a:rPr>
              <a:t>) = w(</a:t>
            </a:r>
            <a:r>
              <a:rPr lang="en-US" dirty="0" err="1">
                <a:cs typeface="Times New Roman" pitchFamily="18" charset="0"/>
              </a:rPr>
              <a:t>u,v</a:t>
            </a:r>
            <a:r>
              <a:rPr lang="en-US" dirty="0">
                <a:cs typeface="Times New Roman" pitchFamily="18" charset="0"/>
              </a:rPr>
              <a:t>) – w*  for all edges </a:t>
            </a:r>
            <a:r>
              <a:rPr lang="en-US" dirty="0"/>
              <a:t>(</a:t>
            </a:r>
            <a:r>
              <a:rPr lang="en-US" dirty="0" err="1"/>
              <a:t>u,v</a:t>
            </a:r>
            <a:r>
              <a:rPr lang="en-US" dirty="0"/>
              <a:t>) </a:t>
            </a:r>
            <a:r>
              <a:rPr lang="en-US" dirty="0">
                <a:sym typeface="Symbol" pitchFamily="18" charset="2"/>
              </a:rPr>
              <a:t> </a:t>
            </a:r>
            <a:r>
              <a:rPr lang="en-US" dirty="0"/>
              <a:t>E(G).</a:t>
            </a:r>
            <a:br>
              <a:rPr lang="en-US" dirty="0"/>
            </a:br>
            <a:r>
              <a:rPr lang="en-US" dirty="0"/>
              <a:t>What is wrong with this edge weight transformation?</a:t>
            </a:r>
          </a:p>
          <a:p>
            <a:pPr marL="466725" indent="-457200">
              <a:buFontTx/>
              <a:buAutoNum type="arabicPeriod" startAt="52"/>
            </a:pPr>
            <a:endParaRPr lang="en-US" dirty="0"/>
          </a:p>
          <a:p>
            <a:pPr marL="466725" indent="-457200">
              <a:buFontTx/>
              <a:buAutoNum type="arabicPeriod" startAt="52"/>
            </a:pPr>
            <a:r>
              <a:rPr lang="en-US" b="1" dirty="0"/>
              <a:t>A Variation of the Single Source Shortest Paths (SSSP):</a:t>
            </a:r>
            <a:br>
              <a:rPr lang="en-US" b="1" dirty="0"/>
            </a:br>
            <a:r>
              <a:rPr lang="en-US" b="1" dirty="0">
                <a:solidFill>
                  <a:srgbClr val="CC0000"/>
                </a:solidFill>
              </a:rPr>
              <a:t>Input:</a:t>
            </a:r>
            <a:r>
              <a:rPr lang="en-US" dirty="0"/>
              <a:t> a digraph G with profit labels on nodes and cost labels on edges; and a source </a:t>
            </a:r>
            <a:r>
              <a:rPr lang="en-US" dirty="0" err="1"/>
              <a:t>s</a:t>
            </a:r>
            <a:r>
              <a:rPr lang="en-US" dirty="0" err="1">
                <a:sym typeface="Symbol" pitchFamily="18" charset="2"/>
              </a:rPr>
              <a:t></a:t>
            </a:r>
            <a:r>
              <a:rPr lang="en-US" dirty="0" err="1"/>
              <a:t>V</a:t>
            </a:r>
            <a:r>
              <a:rPr lang="en-US" dirty="0"/>
              <a:t>(G).</a:t>
            </a:r>
            <a:br>
              <a:rPr lang="en-US" dirty="0"/>
            </a:br>
            <a:r>
              <a:rPr lang="en-US" dirty="0"/>
              <a:t>Define </a:t>
            </a:r>
            <a:r>
              <a:rPr lang="en-US" b="1" dirty="0">
                <a:solidFill>
                  <a:srgbClr val="CC0000"/>
                </a:solidFill>
              </a:rPr>
              <a:t>Cost(path P)</a:t>
            </a:r>
            <a:r>
              <a:rPr lang="en-US" dirty="0"/>
              <a:t> := sum of costs of edges on P minus sum of profits of nodes on P.</a:t>
            </a:r>
            <a:br>
              <a:rPr lang="en-US" dirty="0"/>
            </a:br>
            <a:r>
              <a:rPr lang="en-US" dirty="0"/>
              <a:t>Design and analyze an efficient algorithm for this version of the SSSP problem.</a:t>
            </a:r>
            <a:br>
              <a:rPr lang="en-US" dirty="0"/>
            </a:br>
            <a:r>
              <a:rPr lang="en-US" dirty="0">
                <a:solidFill>
                  <a:srgbClr val="CC0000"/>
                </a:solidFill>
              </a:rPr>
              <a:t>[Hint: Transform it to the standard SSSP problem.]</a:t>
            </a:r>
          </a:p>
        </p:txBody>
      </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190</a:t>
            </a:fld>
            <a:endParaRPr lang="en-US"/>
          </a:p>
        </p:txBody>
      </p:sp>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62"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4927"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563"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4928"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564"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4929"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565" name="Rectangle 5"/>
          <p:cNvSpPr>
            <a:spLocks noChangeArrowheads="1"/>
          </p:cNvSpPr>
          <p:nvPr/>
        </p:nvSpPr>
        <p:spPr bwMode="auto">
          <a:xfrm>
            <a:off x="381000" y="228600"/>
            <a:ext cx="8534400" cy="340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96875" indent="-387350" eaLnBrk="1" hangingPunct="1">
              <a:lnSpc>
                <a:spcPct val="90000"/>
              </a:lnSpc>
              <a:spcBef>
                <a:spcPct val="20000"/>
              </a:spcBef>
              <a:buFont typeface="+mj-lt"/>
              <a:buAutoNum type="arabicPeriod" startAt="55"/>
              <a:tabLst>
                <a:tab pos="396875" algn="l"/>
              </a:tabLst>
            </a:pPr>
            <a:r>
              <a:rPr lang="en-US" b="1" dirty="0"/>
              <a:t>Single-source bottleneck </a:t>
            </a:r>
            <a:r>
              <a:rPr lang="en-US" b="1" dirty="0" smtClean="0"/>
              <a:t>paths </a:t>
            </a:r>
            <a:r>
              <a:rPr lang="en-US" b="1" dirty="0"/>
              <a:t>problem (SSBPP)</a:t>
            </a:r>
            <a:r>
              <a:rPr lang="en-US" dirty="0"/>
              <a:t>:   Given a weighted digraph G =(V, E, w), define the </a:t>
            </a:r>
            <a:r>
              <a:rPr lang="en-US" b="1" dirty="0">
                <a:solidFill>
                  <a:srgbClr val="CC0000"/>
                </a:solidFill>
              </a:rPr>
              <a:t>bottleneck cost</a:t>
            </a:r>
            <a:r>
              <a:rPr lang="en-US" dirty="0"/>
              <a:t> of a path to be the maximum of the weights of the edges on the path. The optimum bottleneck path from a vertex s to  a vertex t is a path from s to t in G with minimum bottleneck cost (i.e., the heaviest edge on the path is as light as possible). The problem is: given a source vertex </a:t>
            </a:r>
            <a:r>
              <a:rPr lang="en-US" dirty="0" err="1"/>
              <a:t>s</a:t>
            </a:r>
            <a:r>
              <a:rPr lang="en-US" dirty="0" err="1">
                <a:sym typeface="Symbol" pitchFamily="18" charset="2"/>
              </a:rPr>
              <a:t>V</a:t>
            </a:r>
            <a:r>
              <a:rPr lang="en-US" dirty="0"/>
              <a:t> find the optimum bottleneck paths from s to each vertex in G.</a:t>
            </a:r>
            <a:br>
              <a:rPr lang="en-US" dirty="0"/>
            </a:br>
            <a:r>
              <a:rPr lang="en-US" dirty="0"/>
              <a:t>(a)  Consider the example digraph shown below.</a:t>
            </a:r>
            <a:br>
              <a:rPr lang="en-US" dirty="0"/>
            </a:br>
            <a:r>
              <a:rPr lang="en-US" dirty="0"/>
              <a:t>	(i) What is the bottleneck cost of the path ( a, e, f )?</a:t>
            </a:r>
            <a:br>
              <a:rPr lang="en-US" dirty="0"/>
            </a:br>
            <a:r>
              <a:rPr lang="en-US" dirty="0"/>
              <a:t>	(ii) What is the optimum bottleneck path from vertex a to f?</a:t>
            </a:r>
            <a:br>
              <a:rPr lang="en-US" dirty="0"/>
            </a:br>
            <a:r>
              <a:rPr lang="en-US" dirty="0"/>
              <a:t>	(iii) What is the bottleneck cost of that path?</a:t>
            </a:r>
            <a:br>
              <a:rPr lang="en-US" dirty="0"/>
            </a:br>
            <a:r>
              <a:rPr lang="en-US" dirty="0"/>
              <a:t>(b)  Describe how to modify the initialization and the labeling step of Ford's single-source </a:t>
            </a:r>
            <a:br>
              <a:rPr lang="en-US" dirty="0"/>
            </a:br>
            <a:r>
              <a:rPr lang="en-US" dirty="0"/>
              <a:t>       shortest paths method for the solution of SSBPP.</a:t>
            </a:r>
            <a:br>
              <a:rPr lang="en-US" dirty="0"/>
            </a:br>
            <a:r>
              <a:rPr lang="en-US" dirty="0"/>
              <a:t>(c)  Would the existence of negative cost edges create any complication in part (b)? Explain.</a:t>
            </a:r>
            <a:br>
              <a:rPr lang="en-US" dirty="0"/>
            </a:br>
            <a:r>
              <a:rPr lang="en-US" dirty="0"/>
              <a:t>(d)  Describe an algorithm that solves SSBPP in O(V+E) time if G is a DAG.</a:t>
            </a:r>
            <a:br>
              <a:rPr lang="en-US" dirty="0"/>
            </a:br>
            <a:r>
              <a:rPr lang="en-US" dirty="0"/>
              <a:t>(e)  Design and analyze an efficient algorithm that solves SSBPP on a general digraph. </a:t>
            </a:r>
            <a:br>
              <a:rPr lang="en-US" dirty="0"/>
            </a:br>
            <a:r>
              <a:rPr lang="en-US" dirty="0"/>
              <a:t>      </a:t>
            </a:r>
            <a:r>
              <a:rPr lang="en-US" dirty="0">
                <a:solidFill>
                  <a:srgbClr val="CC0000"/>
                </a:solidFill>
              </a:rPr>
              <a:t>[Hint: Modify </a:t>
            </a:r>
            <a:r>
              <a:rPr lang="en-US" dirty="0" err="1">
                <a:solidFill>
                  <a:srgbClr val="CC0000"/>
                </a:solidFill>
              </a:rPr>
              <a:t>Dijkstra's</a:t>
            </a:r>
            <a:r>
              <a:rPr lang="en-US" dirty="0">
                <a:solidFill>
                  <a:srgbClr val="CC0000"/>
                </a:solidFill>
              </a:rPr>
              <a:t> algorithm.]</a:t>
            </a:r>
            <a:endParaRPr lang="en-US" dirty="0">
              <a:solidFill>
                <a:srgbClr val="CC0000"/>
              </a:solidFill>
              <a:sym typeface="Symbol" pitchFamily="18" charset="2"/>
            </a:endParaRPr>
          </a:p>
        </p:txBody>
      </p:sp>
      <p:grpSp>
        <p:nvGrpSpPr>
          <p:cNvPr id="194566" name="Group 31"/>
          <p:cNvGrpSpPr>
            <a:grpSpLocks/>
          </p:cNvGrpSpPr>
          <p:nvPr/>
        </p:nvGrpSpPr>
        <p:grpSpPr bwMode="auto">
          <a:xfrm>
            <a:off x="2438400" y="4114800"/>
            <a:ext cx="3257550" cy="1150938"/>
            <a:chOff x="1584" y="3312"/>
            <a:chExt cx="2052" cy="725"/>
          </a:xfrm>
        </p:grpSpPr>
        <p:sp>
          <p:nvSpPr>
            <p:cNvPr id="194567" name="Line 9"/>
            <p:cNvSpPr>
              <a:spLocks noChangeShapeType="1"/>
            </p:cNvSpPr>
            <p:nvPr/>
          </p:nvSpPr>
          <p:spPr bwMode="auto">
            <a:xfrm flipV="1">
              <a:off x="1728" y="3552"/>
              <a:ext cx="0" cy="3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4568" name="Line 10"/>
            <p:cNvSpPr>
              <a:spLocks noChangeShapeType="1"/>
            </p:cNvSpPr>
            <p:nvPr/>
          </p:nvSpPr>
          <p:spPr bwMode="auto">
            <a:xfrm flipV="1">
              <a:off x="2592" y="3552"/>
              <a:ext cx="0" cy="3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4569" name="Line 13"/>
            <p:cNvSpPr>
              <a:spLocks noChangeShapeType="1"/>
            </p:cNvSpPr>
            <p:nvPr/>
          </p:nvSpPr>
          <p:spPr bwMode="auto">
            <a:xfrm flipV="1">
              <a:off x="3456" y="3552"/>
              <a:ext cx="0" cy="3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4570" name="Line 16"/>
            <p:cNvSpPr>
              <a:spLocks noChangeShapeType="1"/>
            </p:cNvSpPr>
            <p:nvPr/>
          </p:nvSpPr>
          <p:spPr bwMode="auto">
            <a:xfrm>
              <a:off x="1776" y="3456"/>
              <a:ext cx="72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4571" name="Line 17"/>
            <p:cNvSpPr>
              <a:spLocks noChangeShapeType="1"/>
            </p:cNvSpPr>
            <p:nvPr/>
          </p:nvSpPr>
          <p:spPr bwMode="auto">
            <a:xfrm>
              <a:off x="2592" y="3456"/>
              <a:ext cx="76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4572" name="Line 18"/>
            <p:cNvSpPr>
              <a:spLocks noChangeShapeType="1"/>
            </p:cNvSpPr>
            <p:nvPr/>
          </p:nvSpPr>
          <p:spPr bwMode="auto">
            <a:xfrm>
              <a:off x="1728" y="3936"/>
              <a:ext cx="76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4573" name="Line 19"/>
            <p:cNvSpPr>
              <a:spLocks noChangeShapeType="1"/>
            </p:cNvSpPr>
            <p:nvPr/>
          </p:nvSpPr>
          <p:spPr bwMode="auto">
            <a:xfrm>
              <a:off x="2592" y="3936"/>
              <a:ext cx="76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4574" name="Line 20"/>
            <p:cNvSpPr>
              <a:spLocks noChangeShapeType="1"/>
            </p:cNvSpPr>
            <p:nvPr/>
          </p:nvSpPr>
          <p:spPr bwMode="auto">
            <a:xfrm flipH="1">
              <a:off x="2688" y="3456"/>
              <a:ext cx="768" cy="43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4575" name="Line 21"/>
            <p:cNvSpPr>
              <a:spLocks noChangeShapeType="1"/>
            </p:cNvSpPr>
            <p:nvPr/>
          </p:nvSpPr>
          <p:spPr bwMode="auto">
            <a:xfrm>
              <a:off x="1728" y="3456"/>
              <a:ext cx="793" cy="418"/>
            </a:xfrm>
            <a:custGeom>
              <a:avLst/>
              <a:gdLst>
                <a:gd name="connsiteX0" fmla="*/ 0 w 1219200"/>
                <a:gd name="connsiteY0" fmla="*/ 0 h 654050"/>
                <a:gd name="connsiteX1" fmla="*/ 1219200 w 1219200"/>
                <a:gd name="connsiteY1" fmla="*/ 654050 h 654050"/>
                <a:gd name="connsiteX0" fmla="*/ 0 w 1259394"/>
                <a:gd name="connsiteY0" fmla="*/ 0 h 664098"/>
                <a:gd name="connsiteX1" fmla="*/ 1259394 w 1259394"/>
                <a:gd name="connsiteY1" fmla="*/ 664098 h 664098"/>
              </a:gdLst>
              <a:ahLst/>
              <a:cxnLst>
                <a:cxn ang="0">
                  <a:pos x="connsiteX0" y="connsiteY0"/>
                </a:cxn>
                <a:cxn ang="0">
                  <a:pos x="connsiteX1" y="connsiteY1"/>
                </a:cxn>
              </a:cxnLst>
              <a:rect l="l" t="t" r="r" b="b"/>
              <a:pathLst>
                <a:path w="1259394" h="664098">
                  <a:moveTo>
                    <a:pt x="0" y="0"/>
                  </a:moveTo>
                  <a:lnTo>
                    <a:pt x="1259394" y="664098"/>
                  </a:lnTo>
                </a:path>
              </a:pathLst>
            </a:cu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10800" anchor="ctr">
              <a:spAutoFit/>
            </a:bodyPr>
            <a:lstStyle/>
            <a:p>
              <a:endParaRPr lang="en-CA"/>
            </a:p>
          </p:txBody>
        </p:sp>
        <p:sp>
          <p:nvSpPr>
            <p:cNvPr id="194576" name="Oval 7"/>
            <p:cNvSpPr>
              <a:spLocks noChangeArrowheads="1"/>
            </p:cNvSpPr>
            <p:nvPr/>
          </p:nvSpPr>
          <p:spPr bwMode="auto">
            <a:xfrm>
              <a:off x="1625" y="3356"/>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dirty="0"/>
                <a:t>a</a:t>
              </a:r>
            </a:p>
          </p:txBody>
        </p:sp>
        <p:sp>
          <p:nvSpPr>
            <p:cNvPr id="194577" name="Oval 11"/>
            <p:cNvSpPr>
              <a:spLocks noChangeArrowheads="1"/>
            </p:cNvSpPr>
            <p:nvPr/>
          </p:nvSpPr>
          <p:spPr bwMode="auto">
            <a:xfrm>
              <a:off x="2489" y="3356"/>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a:t>b</a:t>
              </a:r>
            </a:p>
          </p:txBody>
        </p:sp>
        <p:sp>
          <p:nvSpPr>
            <p:cNvPr id="194578" name="Oval 14"/>
            <p:cNvSpPr>
              <a:spLocks noChangeArrowheads="1"/>
            </p:cNvSpPr>
            <p:nvPr/>
          </p:nvSpPr>
          <p:spPr bwMode="auto">
            <a:xfrm>
              <a:off x="3353" y="3356"/>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a:t>c</a:t>
              </a:r>
            </a:p>
          </p:txBody>
        </p:sp>
        <p:sp>
          <p:nvSpPr>
            <p:cNvPr id="194579" name="Oval 15"/>
            <p:cNvSpPr>
              <a:spLocks noChangeArrowheads="1"/>
            </p:cNvSpPr>
            <p:nvPr/>
          </p:nvSpPr>
          <p:spPr bwMode="auto">
            <a:xfrm>
              <a:off x="3360" y="3840"/>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a:t>f</a:t>
              </a:r>
            </a:p>
          </p:txBody>
        </p:sp>
        <p:sp>
          <p:nvSpPr>
            <p:cNvPr id="194580" name="Oval 12"/>
            <p:cNvSpPr>
              <a:spLocks noChangeArrowheads="1"/>
            </p:cNvSpPr>
            <p:nvPr/>
          </p:nvSpPr>
          <p:spPr bwMode="auto">
            <a:xfrm>
              <a:off x="2496" y="3840"/>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a:t>e</a:t>
              </a:r>
            </a:p>
          </p:txBody>
        </p:sp>
        <p:sp>
          <p:nvSpPr>
            <p:cNvPr id="194581" name="Oval 8"/>
            <p:cNvSpPr>
              <a:spLocks noChangeArrowheads="1"/>
            </p:cNvSpPr>
            <p:nvPr/>
          </p:nvSpPr>
          <p:spPr bwMode="auto">
            <a:xfrm>
              <a:off x="1632" y="3840"/>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dirty="0"/>
                <a:t>d</a:t>
              </a:r>
            </a:p>
          </p:txBody>
        </p:sp>
        <p:sp>
          <p:nvSpPr>
            <p:cNvPr id="194582" name="Text Box 22"/>
            <p:cNvSpPr txBox="1">
              <a:spLocks noChangeArrowheads="1"/>
            </p:cNvSpPr>
            <p:nvPr/>
          </p:nvSpPr>
          <p:spPr bwMode="auto">
            <a:xfrm>
              <a:off x="1584" y="3648"/>
              <a:ext cx="1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7</a:t>
              </a:r>
            </a:p>
          </p:txBody>
        </p:sp>
        <p:sp>
          <p:nvSpPr>
            <p:cNvPr id="194583" name="Text Box 23"/>
            <p:cNvSpPr txBox="1">
              <a:spLocks noChangeArrowheads="1"/>
            </p:cNvSpPr>
            <p:nvPr/>
          </p:nvSpPr>
          <p:spPr bwMode="auto">
            <a:xfrm>
              <a:off x="2016" y="3312"/>
              <a:ext cx="1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2</a:t>
              </a:r>
            </a:p>
          </p:txBody>
        </p:sp>
        <p:sp>
          <p:nvSpPr>
            <p:cNvPr id="194584" name="Text Box 24"/>
            <p:cNvSpPr txBox="1">
              <a:spLocks noChangeArrowheads="1"/>
            </p:cNvSpPr>
            <p:nvPr/>
          </p:nvSpPr>
          <p:spPr bwMode="auto">
            <a:xfrm>
              <a:off x="2160" y="3600"/>
              <a:ext cx="1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8</a:t>
              </a:r>
            </a:p>
          </p:txBody>
        </p:sp>
        <p:sp>
          <p:nvSpPr>
            <p:cNvPr id="194585" name="Text Box 25"/>
            <p:cNvSpPr txBox="1">
              <a:spLocks noChangeArrowheads="1"/>
            </p:cNvSpPr>
            <p:nvPr/>
          </p:nvSpPr>
          <p:spPr bwMode="auto">
            <a:xfrm>
              <a:off x="1968" y="3792"/>
              <a:ext cx="1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3</a:t>
              </a:r>
            </a:p>
          </p:txBody>
        </p:sp>
        <p:sp>
          <p:nvSpPr>
            <p:cNvPr id="194586" name="Text Box 26"/>
            <p:cNvSpPr txBox="1">
              <a:spLocks noChangeArrowheads="1"/>
            </p:cNvSpPr>
            <p:nvPr/>
          </p:nvSpPr>
          <p:spPr bwMode="auto">
            <a:xfrm>
              <a:off x="2880" y="3312"/>
              <a:ext cx="1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5</a:t>
              </a:r>
            </a:p>
          </p:txBody>
        </p:sp>
        <p:sp>
          <p:nvSpPr>
            <p:cNvPr id="194587" name="Text Box 27"/>
            <p:cNvSpPr txBox="1">
              <a:spLocks noChangeArrowheads="1"/>
            </p:cNvSpPr>
            <p:nvPr/>
          </p:nvSpPr>
          <p:spPr bwMode="auto">
            <a:xfrm>
              <a:off x="2544" y="3648"/>
              <a:ext cx="1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4</a:t>
              </a:r>
            </a:p>
          </p:txBody>
        </p:sp>
        <p:sp>
          <p:nvSpPr>
            <p:cNvPr id="194588" name="Text Box 28"/>
            <p:cNvSpPr txBox="1">
              <a:spLocks noChangeArrowheads="1"/>
            </p:cNvSpPr>
            <p:nvPr/>
          </p:nvSpPr>
          <p:spPr bwMode="auto">
            <a:xfrm>
              <a:off x="2880" y="3600"/>
              <a:ext cx="1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3</a:t>
              </a:r>
            </a:p>
          </p:txBody>
        </p:sp>
        <p:sp>
          <p:nvSpPr>
            <p:cNvPr id="194589" name="Text Box 29"/>
            <p:cNvSpPr txBox="1">
              <a:spLocks noChangeArrowheads="1"/>
            </p:cNvSpPr>
            <p:nvPr/>
          </p:nvSpPr>
          <p:spPr bwMode="auto">
            <a:xfrm>
              <a:off x="3024" y="3792"/>
              <a:ext cx="1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4</a:t>
              </a:r>
            </a:p>
          </p:txBody>
        </p:sp>
        <p:sp>
          <p:nvSpPr>
            <p:cNvPr id="194590" name="Text Box 30"/>
            <p:cNvSpPr txBox="1">
              <a:spLocks noChangeArrowheads="1"/>
            </p:cNvSpPr>
            <p:nvPr/>
          </p:nvSpPr>
          <p:spPr bwMode="auto">
            <a:xfrm>
              <a:off x="3456" y="3648"/>
              <a:ext cx="1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6</a:t>
              </a:r>
            </a:p>
          </p:txBody>
        </p:sp>
      </p:gr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191</a:t>
            </a:fld>
            <a:endParaRPr lang="en-US"/>
          </a:p>
        </p:txBody>
      </p:sp>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5586"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5950"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5587"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5951"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5588"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5952"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589" name="Rectangle 5"/>
          <p:cNvSpPr>
            <a:spLocks noChangeArrowheads="1"/>
          </p:cNvSpPr>
          <p:nvPr/>
        </p:nvSpPr>
        <p:spPr bwMode="auto">
          <a:xfrm>
            <a:off x="228600" y="228600"/>
            <a:ext cx="8763000" cy="3598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96875" indent="-387350" eaLnBrk="1" hangingPunct="1">
              <a:lnSpc>
                <a:spcPct val="90000"/>
              </a:lnSpc>
              <a:spcBef>
                <a:spcPct val="20000"/>
              </a:spcBef>
              <a:buFont typeface="+mj-lt"/>
              <a:buAutoNum type="arabicPeriod" startAt="56"/>
              <a:tabLst>
                <a:tab pos="396875" algn="l"/>
              </a:tabLst>
            </a:pPr>
            <a:r>
              <a:rPr lang="en-US" b="1" dirty="0"/>
              <a:t>[CLRS, Exercise 25.2-1, p. 699]  </a:t>
            </a:r>
            <a:r>
              <a:rPr lang="en-US" dirty="0"/>
              <a:t>Run the Floyd-</a:t>
            </a:r>
            <a:r>
              <a:rPr lang="en-US" dirty="0" err="1"/>
              <a:t>Warshall</a:t>
            </a:r>
            <a:r>
              <a:rPr lang="en-US" dirty="0"/>
              <a:t> algorithm on the weighted digraph shown below. Show the d and </a:t>
            </a:r>
            <a:r>
              <a:rPr lang="en-US" dirty="0">
                <a:latin typeface="Symbol" pitchFamily="18" charset="2"/>
              </a:rPr>
              <a:t>p</a:t>
            </a:r>
            <a:r>
              <a:rPr lang="en-US" dirty="0"/>
              <a:t> matrices after each iteration of the outer k-loop. </a:t>
            </a:r>
          </a:p>
          <a:p>
            <a:pPr marL="396875" indent="-387350" eaLnBrk="1" hangingPunct="1">
              <a:lnSpc>
                <a:spcPct val="90000"/>
              </a:lnSpc>
              <a:spcBef>
                <a:spcPct val="20000"/>
              </a:spcBef>
              <a:buFontTx/>
              <a:buAutoNum type="arabicPeriod" startAt="56"/>
              <a:tabLst>
                <a:tab pos="396875" algn="l"/>
              </a:tabLst>
            </a:pPr>
            <a:endParaRPr lang="en-US" dirty="0"/>
          </a:p>
          <a:p>
            <a:pPr marL="396875" indent="-387350" eaLnBrk="1" hangingPunct="1">
              <a:lnSpc>
                <a:spcPct val="90000"/>
              </a:lnSpc>
              <a:spcBef>
                <a:spcPct val="20000"/>
              </a:spcBef>
              <a:buFontTx/>
              <a:buAutoNum type="arabicPeriod" startAt="56"/>
              <a:tabLst>
                <a:tab pos="396875" algn="l"/>
              </a:tabLst>
            </a:pPr>
            <a:r>
              <a:rPr lang="en-US" dirty="0"/>
              <a:t>The problem is to compute the transitive closure of a digraph G = (V, E), given its adjacency list structure. </a:t>
            </a:r>
            <a:br>
              <a:rPr lang="en-US" dirty="0"/>
            </a:br>
            <a:r>
              <a:rPr lang="en-US" dirty="0"/>
              <a:t>(a)  Describe an O(VE) time algorithm assuming G is a DAG.</a:t>
            </a:r>
            <a:br>
              <a:rPr lang="en-US" dirty="0"/>
            </a:br>
            <a:r>
              <a:rPr lang="en-US" dirty="0"/>
              <a:t>(b)  Describe an O(VE) time algorithm for a general digraph G. </a:t>
            </a:r>
            <a:br>
              <a:rPr lang="en-US" dirty="0"/>
            </a:br>
            <a:r>
              <a:rPr lang="en-US" dirty="0"/>
              <a:t>       </a:t>
            </a:r>
            <a:r>
              <a:rPr lang="en-US" dirty="0">
                <a:solidFill>
                  <a:srgbClr val="CC0000"/>
                </a:solidFill>
              </a:rPr>
              <a:t>[Hint: compute strongly connected components first.]</a:t>
            </a:r>
          </a:p>
          <a:p>
            <a:pPr marL="396875" indent="-387350" eaLnBrk="1" hangingPunct="1">
              <a:lnSpc>
                <a:spcPct val="90000"/>
              </a:lnSpc>
              <a:spcBef>
                <a:spcPct val="20000"/>
              </a:spcBef>
              <a:buFontTx/>
              <a:buAutoNum type="arabicPeriod" startAt="56"/>
              <a:tabLst>
                <a:tab pos="396875" algn="l"/>
              </a:tabLst>
            </a:pPr>
            <a:endParaRPr lang="en-US" dirty="0"/>
          </a:p>
          <a:p>
            <a:pPr marL="396875" indent="-387350" eaLnBrk="1" hangingPunct="1">
              <a:lnSpc>
                <a:spcPct val="90000"/>
              </a:lnSpc>
              <a:spcBef>
                <a:spcPct val="20000"/>
              </a:spcBef>
              <a:buFontTx/>
              <a:buAutoNum type="arabicPeriod" startAt="56"/>
              <a:tabLst>
                <a:tab pos="396875" algn="l"/>
              </a:tabLst>
            </a:pPr>
            <a:r>
              <a:rPr lang="en-US" b="1" dirty="0"/>
              <a:t>Even length paths:</a:t>
            </a:r>
            <a:r>
              <a:rPr lang="en-US" dirty="0"/>
              <a:t>  We are given the 0/1 adjacency matrix A[V, V] of an n vertex directed graph G = (V, E). Assume all diagonal entries of A are 0 (i.e., G has no self-loops).</a:t>
            </a:r>
            <a:br>
              <a:rPr lang="en-US" dirty="0"/>
            </a:br>
            <a:r>
              <a:rPr lang="en-US" dirty="0"/>
              <a:t>We want to compute the 0/1 matrix P[V, V], such that for all vertices u and v in G, </a:t>
            </a:r>
            <a:br>
              <a:rPr lang="en-US" dirty="0"/>
            </a:br>
            <a:r>
              <a:rPr lang="en-US" dirty="0"/>
              <a:t>P[</a:t>
            </a:r>
            <a:r>
              <a:rPr lang="en-US" dirty="0" err="1"/>
              <a:t>u,v</a:t>
            </a:r>
            <a:r>
              <a:rPr lang="en-US" dirty="0"/>
              <a:t>] = 1 if and only if there is a path of </a:t>
            </a:r>
            <a:r>
              <a:rPr lang="en-US" b="1" dirty="0">
                <a:solidFill>
                  <a:srgbClr val="CC0000"/>
                </a:solidFill>
              </a:rPr>
              <a:t>even</a:t>
            </a:r>
            <a:r>
              <a:rPr lang="en-US" dirty="0"/>
              <a:t> length from vertex u to v in G, where the length of a path is the number of edges on it.  Design and analyze an efficient algorithm for this problem.</a:t>
            </a:r>
            <a:br>
              <a:rPr lang="en-US" dirty="0"/>
            </a:br>
            <a:r>
              <a:rPr lang="en-US" dirty="0">
                <a:solidFill>
                  <a:srgbClr val="CC0000"/>
                </a:solidFill>
              </a:rPr>
              <a:t>[Hint: also think about odd length paths.]</a:t>
            </a:r>
          </a:p>
        </p:txBody>
      </p:sp>
      <p:grpSp>
        <p:nvGrpSpPr>
          <p:cNvPr id="195590" name="Group 8"/>
          <p:cNvGrpSpPr>
            <a:grpSpLocks/>
          </p:cNvGrpSpPr>
          <p:nvPr/>
        </p:nvGrpSpPr>
        <p:grpSpPr bwMode="auto">
          <a:xfrm>
            <a:off x="2667000" y="4191000"/>
            <a:ext cx="3603625" cy="1765300"/>
            <a:chOff x="1584" y="2880"/>
            <a:chExt cx="2270" cy="1112"/>
          </a:xfrm>
        </p:grpSpPr>
        <p:sp>
          <p:nvSpPr>
            <p:cNvPr id="195591" name="Freeform 9"/>
            <p:cNvSpPr>
              <a:spLocks/>
            </p:cNvSpPr>
            <p:nvPr/>
          </p:nvSpPr>
          <p:spPr bwMode="auto">
            <a:xfrm>
              <a:off x="3566" y="3035"/>
              <a:ext cx="102" cy="685"/>
            </a:xfrm>
            <a:custGeom>
              <a:avLst/>
              <a:gdLst>
                <a:gd name="T0" fmla="*/ 41 w 102"/>
                <a:gd name="T1" fmla="*/ 685 h 685"/>
                <a:gd name="T2" fmla="*/ 95 w 102"/>
                <a:gd name="T3" fmla="*/ 387 h 685"/>
                <a:gd name="T4" fmla="*/ 0 w 102"/>
                <a:gd name="T5" fmla="*/ 0 h 685"/>
                <a:gd name="T6" fmla="*/ 0 60000 65536"/>
                <a:gd name="T7" fmla="*/ 0 60000 65536"/>
                <a:gd name="T8" fmla="*/ 0 60000 65536"/>
              </a:gdLst>
              <a:ahLst/>
              <a:cxnLst>
                <a:cxn ang="T6">
                  <a:pos x="T0" y="T1"/>
                </a:cxn>
                <a:cxn ang="T7">
                  <a:pos x="T2" y="T3"/>
                </a:cxn>
                <a:cxn ang="T8">
                  <a:pos x="T4" y="T5"/>
                </a:cxn>
              </a:cxnLst>
              <a:rect l="0" t="0" r="r" b="b"/>
              <a:pathLst>
                <a:path w="102" h="685">
                  <a:moveTo>
                    <a:pt x="41" y="685"/>
                  </a:moveTo>
                  <a:cubicBezTo>
                    <a:pt x="50" y="635"/>
                    <a:pt x="102" y="501"/>
                    <a:pt x="95" y="387"/>
                  </a:cubicBezTo>
                  <a:cubicBezTo>
                    <a:pt x="88" y="273"/>
                    <a:pt x="20" y="81"/>
                    <a:pt x="0" y="0"/>
                  </a:cubicBezTo>
                </a:path>
              </a:pathLst>
            </a:custGeom>
            <a:noFill/>
            <a:ln w="12700" cap="flat" cmpd="sng">
              <a:solidFill>
                <a:schemeClr val="tx1"/>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95592" name="Line 10"/>
            <p:cNvSpPr>
              <a:spLocks noChangeShapeType="1"/>
            </p:cNvSpPr>
            <p:nvPr/>
          </p:nvSpPr>
          <p:spPr bwMode="auto">
            <a:xfrm flipV="1">
              <a:off x="1797" y="3120"/>
              <a:ext cx="0" cy="62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95593" name="Line 11"/>
            <p:cNvSpPr>
              <a:spLocks noChangeShapeType="1"/>
            </p:cNvSpPr>
            <p:nvPr/>
          </p:nvSpPr>
          <p:spPr bwMode="auto">
            <a:xfrm flipV="1">
              <a:off x="2661" y="3120"/>
              <a:ext cx="0" cy="57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95594" name="Freeform 12"/>
            <p:cNvSpPr>
              <a:spLocks/>
            </p:cNvSpPr>
            <p:nvPr/>
          </p:nvSpPr>
          <p:spPr bwMode="auto">
            <a:xfrm>
              <a:off x="3465" y="3120"/>
              <a:ext cx="60" cy="624"/>
            </a:xfrm>
            <a:custGeom>
              <a:avLst/>
              <a:gdLst>
                <a:gd name="T0" fmla="*/ 60 w 60"/>
                <a:gd name="T1" fmla="*/ 624 h 624"/>
                <a:gd name="T2" fmla="*/ 0 w 60"/>
                <a:gd name="T3" fmla="*/ 322 h 624"/>
                <a:gd name="T4" fmla="*/ 60 w 60"/>
                <a:gd name="T5" fmla="*/ 0 h 624"/>
                <a:gd name="T6" fmla="*/ 0 60000 65536"/>
                <a:gd name="T7" fmla="*/ 0 60000 65536"/>
                <a:gd name="T8" fmla="*/ 0 60000 65536"/>
              </a:gdLst>
              <a:ahLst/>
              <a:cxnLst>
                <a:cxn ang="T6">
                  <a:pos x="T0" y="T1"/>
                </a:cxn>
                <a:cxn ang="T7">
                  <a:pos x="T2" y="T3"/>
                </a:cxn>
                <a:cxn ang="T8">
                  <a:pos x="T4" y="T5"/>
                </a:cxn>
              </a:cxnLst>
              <a:rect l="0" t="0" r="r" b="b"/>
              <a:pathLst>
                <a:path w="60" h="624">
                  <a:moveTo>
                    <a:pt x="60" y="624"/>
                  </a:moveTo>
                  <a:cubicBezTo>
                    <a:pt x="50" y="574"/>
                    <a:pt x="0" y="426"/>
                    <a:pt x="0" y="322"/>
                  </a:cubicBezTo>
                  <a:cubicBezTo>
                    <a:pt x="0" y="218"/>
                    <a:pt x="48" y="67"/>
                    <a:pt x="60" y="0"/>
                  </a:cubicBez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95595" name="Line 13"/>
            <p:cNvSpPr>
              <a:spLocks noChangeShapeType="1"/>
            </p:cNvSpPr>
            <p:nvPr/>
          </p:nvSpPr>
          <p:spPr bwMode="auto">
            <a:xfrm>
              <a:off x="1845" y="3024"/>
              <a:ext cx="72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5596" name="Line 14"/>
            <p:cNvSpPr>
              <a:spLocks noChangeShapeType="1"/>
            </p:cNvSpPr>
            <p:nvPr/>
          </p:nvSpPr>
          <p:spPr bwMode="auto">
            <a:xfrm>
              <a:off x="2661" y="3024"/>
              <a:ext cx="76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5597" name="Line 15"/>
            <p:cNvSpPr>
              <a:spLocks noChangeShapeType="1"/>
            </p:cNvSpPr>
            <p:nvPr/>
          </p:nvSpPr>
          <p:spPr bwMode="auto">
            <a:xfrm>
              <a:off x="1797" y="3792"/>
              <a:ext cx="76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5598" name="Line 16"/>
            <p:cNvSpPr>
              <a:spLocks noChangeShapeType="1"/>
            </p:cNvSpPr>
            <p:nvPr/>
          </p:nvSpPr>
          <p:spPr bwMode="auto">
            <a:xfrm flipH="1" flipV="1">
              <a:off x="2751" y="3120"/>
              <a:ext cx="774" cy="67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10800" anchor="ctr">
              <a:spAutoFit/>
            </a:bodyPr>
            <a:lstStyle/>
            <a:p>
              <a:endParaRPr lang="en-CA"/>
            </a:p>
          </p:txBody>
        </p:sp>
        <p:sp>
          <p:nvSpPr>
            <p:cNvPr id="195599" name="Line 17"/>
            <p:cNvSpPr>
              <a:spLocks noChangeShapeType="1"/>
            </p:cNvSpPr>
            <p:nvPr/>
          </p:nvSpPr>
          <p:spPr bwMode="auto">
            <a:xfrm>
              <a:off x="1797" y="3024"/>
              <a:ext cx="768" cy="69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bIns="10800" anchor="ctr">
              <a:spAutoFit/>
            </a:bodyPr>
            <a:lstStyle/>
            <a:p>
              <a:endParaRPr lang="en-CA"/>
            </a:p>
          </p:txBody>
        </p:sp>
        <p:sp>
          <p:nvSpPr>
            <p:cNvPr id="195600" name="Oval 18"/>
            <p:cNvSpPr>
              <a:spLocks noChangeArrowheads="1"/>
            </p:cNvSpPr>
            <p:nvPr/>
          </p:nvSpPr>
          <p:spPr bwMode="auto">
            <a:xfrm>
              <a:off x="1694" y="2924"/>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dirty="0"/>
                <a:t>a</a:t>
              </a:r>
            </a:p>
          </p:txBody>
        </p:sp>
        <p:sp>
          <p:nvSpPr>
            <p:cNvPr id="195601" name="Oval 19"/>
            <p:cNvSpPr>
              <a:spLocks noChangeArrowheads="1"/>
            </p:cNvSpPr>
            <p:nvPr/>
          </p:nvSpPr>
          <p:spPr bwMode="auto">
            <a:xfrm>
              <a:off x="3422" y="2924"/>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a:t>c</a:t>
              </a:r>
            </a:p>
          </p:txBody>
        </p:sp>
        <p:sp>
          <p:nvSpPr>
            <p:cNvPr id="195602" name="Oval 20"/>
            <p:cNvSpPr>
              <a:spLocks noChangeArrowheads="1"/>
            </p:cNvSpPr>
            <p:nvPr/>
          </p:nvSpPr>
          <p:spPr bwMode="auto">
            <a:xfrm>
              <a:off x="3429" y="3696"/>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a:t>f</a:t>
              </a:r>
            </a:p>
          </p:txBody>
        </p:sp>
        <p:sp>
          <p:nvSpPr>
            <p:cNvPr id="195603" name="Oval 21"/>
            <p:cNvSpPr>
              <a:spLocks noChangeArrowheads="1"/>
            </p:cNvSpPr>
            <p:nvPr/>
          </p:nvSpPr>
          <p:spPr bwMode="auto">
            <a:xfrm>
              <a:off x="2565" y="3696"/>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dirty="0"/>
                <a:t>e</a:t>
              </a:r>
            </a:p>
          </p:txBody>
        </p:sp>
        <p:sp>
          <p:nvSpPr>
            <p:cNvPr id="195604" name="Oval 22"/>
            <p:cNvSpPr>
              <a:spLocks noChangeArrowheads="1"/>
            </p:cNvSpPr>
            <p:nvPr/>
          </p:nvSpPr>
          <p:spPr bwMode="auto">
            <a:xfrm>
              <a:off x="1701" y="3696"/>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dirty="0"/>
                <a:t>d</a:t>
              </a:r>
            </a:p>
          </p:txBody>
        </p:sp>
        <p:sp>
          <p:nvSpPr>
            <p:cNvPr id="195605" name="Text Box 23"/>
            <p:cNvSpPr txBox="1">
              <a:spLocks noChangeArrowheads="1"/>
            </p:cNvSpPr>
            <p:nvPr/>
          </p:nvSpPr>
          <p:spPr bwMode="auto">
            <a:xfrm>
              <a:off x="1584" y="3312"/>
              <a:ext cx="223"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-4</a:t>
              </a:r>
            </a:p>
          </p:txBody>
        </p:sp>
        <p:sp>
          <p:nvSpPr>
            <p:cNvPr id="195606" name="Text Box 24"/>
            <p:cNvSpPr txBox="1">
              <a:spLocks noChangeArrowheads="1"/>
            </p:cNvSpPr>
            <p:nvPr/>
          </p:nvSpPr>
          <p:spPr bwMode="auto">
            <a:xfrm>
              <a:off x="2085" y="2880"/>
              <a:ext cx="1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1</a:t>
              </a:r>
            </a:p>
          </p:txBody>
        </p:sp>
        <p:sp>
          <p:nvSpPr>
            <p:cNvPr id="195607" name="Text Box 25"/>
            <p:cNvSpPr txBox="1">
              <a:spLocks noChangeArrowheads="1"/>
            </p:cNvSpPr>
            <p:nvPr/>
          </p:nvSpPr>
          <p:spPr bwMode="auto">
            <a:xfrm>
              <a:off x="1941" y="3456"/>
              <a:ext cx="181" cy="15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smtClean="0"/>
                <a:t>4</a:t>
              </a:r>
              <a:endParaRPr lang="en-US" dirty="0"/>
            </a:p>
          </p:txBody>
        </p:sp>
        <p:sp>
          <p:nvSpPr>
            <p:cNvPr id="195608" name="Text Box 26"/>
            <p:cNvSpPr txBox="1">
              <a:spLocks noChangeArrowheads="1"/>
            </p:cNvSpPr>
            <p:nvPr/>
          </p:nvSpPr>
          <p:spPr bwMode="auto">
            <a:xfrm>
              <a:off x="2133" y="3840"/>
              <a:ext cx="1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3</a:t>
              </a:r>
            </a:p>
          </p:txBody>
        </p:sp>
        <p:sp>
          <p:nvSpPr>
            <p:cNvPr id="195609" name="Text Box 27"/>
            <p:cNvSpPr txBox="1">
              <a:spLocks noChangeArrowheads="1"/>
            </p:cNvSpPr>
            <p:nvPr/>
          </p:nvSpPr>
          <p:spPr bwMode="auto">
            <a:xfrm>
              <a:off x="2997" y="2880"/>
              <a:ext cx="181" cy="15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dirty="0" smtClean="0"/>
                <a:t>4</a:t>
              </a:r>
              <a:endParaRPr lang="en-US" dirty="0"/>
            </a:p>
          </p:txBody>
        </p:sp>
        <p:sp>
          <p:nvSpPr>
            <p:cNvPr id="195610" name="Text Box 28"/>
            <p:cNvSpPr txBox="1">
              <a:spLocks noChangeArrowheads="1"/>
            </p:cNvSpPr>
            <p:nvPr/>
          </p:nvSpPr>
          <p:spPr bwMode="auto">
            <a:xfrm>
              <a:off x="2661" y="3360"/>
              <a:ext cx="1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7</a:t>
              </a:r>
            </a:p>
          </p:txBody>
        </p:sp>
        <p:sp>
          <p:nvSpPr>
            <p:cNvPr id="195611" name="Text Box 29"/>
            <p:cNvSpPr txBox="1">
              <a:spLocks noChangeArrowheads="1"/>
            </p:cNvSpPr>
            <p:nvPr/>
          </p:nvSpPr>
          <p:spPr bwMode="auto">
            <a:xfrm>
              <a:off x="3045" y="3264"/>
              <a:ext cx="1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5</a:t>
              </a:r>
            </a:p>
          </p:txBody>
        </p:sp>
        <p:sp>
          <p:nvSpPr>
            <p:cNvPr id="195612" name="Text Box 30"/>
            <p:cNvSpPr txBox="1">
              <a:spLocks noChangeArrowheads="1"/>
            </p:cNvSpPr>
            <p:nvPr/>
          </p:nvSpPr>
          <p:spPr bwMode="auto">
            <a:xfrm>
              <a:off x="3285" y="3216"/>
              <a:ext cx="244"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10</a:t>
              </a:r>
            </a:p>
          </p:txBody>
        </p:sp>
        <p:sp>
          <p:nvSpPr>
            <p:cNvPr id="195613" name="Line 31"/>
            <p:cNvSpPr>
              <a:spLocks noChangeShapeType="1"/>
            </p:cNvSpPr>
            <p:nvPr/>
          </p:nvSpPr>
          <p:spPr bwMode="auto">
            <a:xfrm flipH="1">
              <a:off x="1893" y="3072"/>
              <a:ext cx="768" cy="67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95614" name="Text Box 32"/>
            <p:cNvSpPr txBox="1">
              <a:spLocks noChangeArrowheads="1"/>
            </p:cNvSpPr>
            <p:nvPr/>
          </p:nvSpPr>
          <p:spPr bwMode="auto">
            <a:xfrm>
              <a:off x="2325" y="3456"/>
              <a:ext cx="288"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75000"/>
                </a:lnSpc>
                <a:spcBef>
                  <a:spcPct val="50000"/>
                </a:spcBef>
                <a:buFont typeface="Wingdings" pitchFamily="2" charset="2"/>
                <a:buNone/>
              </a:pPr>
              <a:r>
                <a:rPr lang="en-US"/>
                <a:t> -1</a:t>
              </a:r>
            </a:p>
          </p:txBody>
        </p:sp>
        <p:sp>
          <p:nvSpPr>
            <p:cNvPr id="195615" name="Text Box 33"/>
            <p:cNvSpPr txBox="1">
              <a:spLocks noChangeArrowheads="1"/>
            </p:cNvSpPr>
            <p:nvPr/>
          </p:nvSpPr>
          <p:spPr bwMode="auto">
            <a:xfrm>
              <a:off x="3631" y="3312"/>
              <a:ext cx="223"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-8</a:t>
              </a:r>
            </a:p>
          </p:txBody>
        </p:sp>
        <p:sp>
          <p:nvSpPr>
            <p:cNvPr id="195616" name="Oval 34"/>
            <p:cNvSpPr>
              <a:spLocks noChangeArrowheads="1"/>
            </p:cNvSpPr>
            <p:nvPr/>
          </p:nvSpPr>
          <p:spPr bwMode="auto">
            <a:xfrm>
              <a:off x="2558" y="2924"/>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a:t>b</a:t>
              </a:r>
            </a:p>
          </p:txBody>
        </p:sp>
      </p:gr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192</a:t>
            </a:fld>
            <a:endParaRPr lang="en-US"/>
          </a:p>
        </p:txBody>
      </p:sp>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6610"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6944"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6611"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6945"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6612"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6946"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6613" name="Rectangle 5"/>
          <p:cNvSpPr>
            <a:spLocks noChangeArrowheads="1"/>
          </p:cNvSpPr>
          <p:nvPr/>
        </p:nvSpPr>
        <p:spPr bwMode="auto">
          <a:xfrm>
            <a:off x="228600" y="228600"/>
            <a:ext cx="8763000" cy="573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96875" indent="-387350" eaLnBrk="1" hangingPunct="1">
              <a:lnSpc>
                <a:spcPct val="90000"/>
              </a:lnSpc>
              <a:spcBef>
                <a:spcPct val="20000"/>
              </a:spcBef>
              <a:buFont typeface="+mj-lt"/>
              <a:buAutoNum type="arabicPeriod" startAt="59"/>
              <a:tabLst>
                <a:tab pos="396875" algn="l"/>
              </a:tabLst>
            </a:pPr>
            <a:r>
              <a:rPr lang="en-US" b="1" dirty="0"/>
              <a:t>[CLRS, Problem 24-2, p. 678]  Nesting Boxes</a:t>
            </a:r>
            <a:br>
              <a:rPr lang="en-US" b="1" dirty="0"/>
            </a:br>
            <a:r>
              <a:rPr lang="en-US" dirty="0"/>
              <a:t>A d-dimensional box with dimensions  </a:t>
            </a:r>
            <a:r>
              <a:rPr lang="en-US" dirty="0">
                <a:sym typeface="Symbol" pitchFamily="18" charset="2"/>
              </a:rPr>
              <a:t>(x</a:t>
            </a:r>
            <a:r>
              <a:rPr lang="en-US" baseline="-25000" dirty="0">
                <a:sym typeface="Symbol" pitchFamily="18" charset="2"/>
              </a:rPr>
              <a:t>1</a:t>
            </a:r>
            <a:r>
              <a:rPr lang="en-US" dirty="0">
                <a:sym typeface="Symbol" pitchFamily="18" charset="2"/>
              </a:rPr>
              <a:t>, x</a:t>
            </a:r>
            <a:r>
              <a:rPr lang="en-US" baseline="-25000" dirty="0">
                <a:sym typeface="Symbol" pitchFamily="18" charset="2"/>
              </a:rPr>
              <a:t>2</a:t>
            </a:r>
            <a:r>
              <a:rPr lang="en-US" dirty="0">
                <a:sym typeface="Symbol" pitchFamily="18" charset="2"/>
              </a:rPr>
              <a:t>, …, </a:t>
            </a:r>
            <a:r>
              <a:rPr lang="en-US" dirty="0" err="1">
                <a:sym typeface="Symbol" pitchFamily="18" charset="2"/>
              </a:rPr>
              <a:t>x</a:t>
            </a:r>
            <a:r>
              <a:rPr lang="en-US" baseline="-25000" dirty="0" err="1">
                <a:sym typeface="Symbol" pitchFamily="18" charset="2"/>
              </a:rPr>
              <a:t>d</a:t>
            </a:r>
            <a:r>
              <a:rPr lang="en-US" dirty="0">
                <a:sym typeface="Symbol" pitchFamily="18" charset="2"/>
              </a:rPr>
              <a:t>) </a:t>
            </a:r>
            <a:r>
              <a:rPr lang="en-US" b="1" dirty="0">
                <a:solidFill>
                  <a:srgbClr val="CC0000"/>
                </a:solidFill>
              </a:rPr>
              <a:t>nests </a:t>
            </a:r>
            <a:r>
              <a:rPr lang="en-US" dirty="0"/>
              <a:t>within another box with dimensions</a:t>
            </a:r>
            <a:br>
              <a:rPr lang="en-US" dirty="0"/>
            </a:br>
            <a:r>
              <a:rPr lang="en-US" dirty="0">
                <a:sym typeface="Symbol" pitchFamily="18" charset="2"/>
              </a:rPr>
              <a:t>(y</a:t>
            </a:r>
            <a:r>
              <a:rPr lang="en-US" baseline="-25000" dirty="0">
                <a:sym typeface="Symbol" pitchFamily="18" charset="2"/>
              </a:rPr>
              <a:t>1</a:t>
            </a:r>
            <a:r>
              <a:rPr lang="en-US" dirty="0">
                <a:sym typeface="Symbol" pitchFamily="18" charset="2"/>
              </a:rPr>
              <a:t>, y</a:t>
            </a:r>
            <a:r>
              <a:rPr lang="en-US" baseline="-25000" dirty="0">
                <a:sym typeface="Symbol" pitchFamily="18" charset="2"/>
              </a:rPr>
              <a:t>2</a:t>
            </a:r>
            <a:r>
              <a:rPr lang="en-US" dirty="0">
                <a:sym typeface="Symbol" pitchFamily="18" charset="2"/>
              </a:rPr>
              <a:t>, …, </a:t>
            </a:r>
            <a:r>
              <a:rPr lang="en-US" dirty="0" err="1">
                <a:sym typeface="Symbol" pitchFamily="18" charset="2"/>
              </a:rPr>
              <a:t>y</a:t>
            </a:r>
            <a:r>
              <a:rPr lang="en-US" baseline="-25000" dirty="0" err="1">
                <a:sym typeface="Symbol" pitchFamily="18" charset="2"/>
              </a:rPr>
              <a:t>d</a:t>
            </a:r>
            <a:r>
              <a:rPr lang="en-US" dirty="0">
                <a:sym typeface="Symbol" pitchFamily="18" charset="2"/>
              </a:rPr>
              <a:t>) if there exists a permutation </a:t>
            </a:r>
            <a:r>
              <a:rPr lang="en-US" dirty="0">
                <a:latin typeface="Symbol" pitchFamily="18" charset="2"/>
                <a:sym typeface="Symbol" pitchFamily="18" charset="2"/>
              </a:rPr>
              <a:t>p</a:t>
            </a:r>
            <a:r>
              <a:rPr lang="en-US" dirty="0">
                <a:sym typeface="Symbol" pitchFamily="18" charset="2"/>
              </a:rPr>
              <a:t>[1..d] such that </a:t>
            </a:r>
            <a:r>
              <a:rPr lang="en-US" sz="1800" dirty="0" err="1">
                <a:sym typeface="Symbol" pitchFamily="18" charset="2"/>
              </a:rPr>
              <a:t>x</a:t>
            </a:r>
            <a:r>
              <a:rPr lang="en-US" sz="1800" baseline="-25000" dirty="0" err="1">
                <a:latin typeface="Symbol" pitchFamily="18" charset="2"/>
                <a:sym typeface="Symbol" pitchFamily="18" charset="2"/>
              </a:rPr>
              <a:t>p</a:t>
            </a:r>
            <a:r>
              <a:rPr lang="en-US" sz="1800" baseline="-25000" dirty="0">
                <a:sym typeface="Symbol" pitchFamily="18" charset="2"/>
              </a:rPr>
              <a:t>(1)</a:t>
            </a:r>
            <a:r>
              <a:rPr lang="en-US" sz="1800" dirty="0">
                <a:sym typeface="Symbol" pitchFamily="18" charset="2"/>
              </a:rPr>
              <a:t>  y</a:t>
            </a:r>
            <a:r>
              <a:rPr lang="en-US" sz="1800" baseline="-25000" dirty="0">
                <a:sym typeface="Symbol" pitchFamily="18" charset="2"/>
              </a:rPr>
              <a:t>1</a:t>
            </a:r>
            <a:r>
              <a:rPr lang="en-US" sz="1800" dirty="0">
                <a:sym typeface="Symbol" pitchFamily="18" charset="2"/>
              </a:rPr>
              <a:t>, </a:t>
            </a:r>
            <a:r>
              <a:rPr lang="en-US" sz="1800" dirty="0" err="1">
                <a:sym typeface="Symbol" pitchFamily="18" charset="2"/>
              </a:rPr>
              <a:t>x</a:t>
            </a:r>
            <a:r>
              <a:rPr lang="en-US" sz="1800" baseline="-25000" dirty="0" err="1">
                <a:latin typeface="Symbol" pitchFamily="18" charset="2"/>
                <a:sym typeface="Symbol" pitchFamily="18" charset="2"/>
              </a:rPr>
              <a:t>p</a:t>
            </a:r>
            <a:r>
              <a:rPr lang="en-US" sz="1800" baseline="-25000" dirty="0">
                <a:sym typeface="Symbol" pitchFamily="18" charset="2"/>
              </a:rPr>
              <a:t>(2)</a:t>
            </a:r>
            <a:r>
              <a:rPr lang="en-US" sz="1800" dirty="0">
                <a:sym typeface="Symbol" pitchFamily="18" charset="2"/>
              </a:rPr>
              <a:t>  y</a:t>
            </a:r>
            <a:r>
              <a:rPr lang="en-US" sz="1800" baseline="-25000" dirty="0">
                <a:sym typeface="Symbol" pitchFamily="18" charset="2"/>
              </a:rPr>
              <a:t>2</a:t>
            </a:r>
            <a:r>
              <a:rPr lang="en-US" sz="1800" dirty="0">
                <a:sym typeface="Symbol" pitchFamily="18" charset="2"/>
              </a:rPr>
              <a:t>, … , </a:t>
            </a:r>
            <a:r>
              <a:rPr lang="en-US" sz="1800" dirty="0" err="1">
                <a:sym typeface="Symbol" pitchFamily="18" charset="2"/>
              </a:rPr>
              <a:t>x</a:t>
            </a:r>
            <a:r>
              <a:rPr lang="en-US" sz="1800" baseline="-25000" dirty="0" err="1">
                <a:latin typeface="Symbol" pitchFamily="18" charset="2"/>
                <a:sym typeface="Symbol" pitchFamily="18" charset="2"/>
              </a:rPr>
              <a:t>p</a:t>
            </a:r>
            <a:r>
              <a:rPr lang="en-US" sz="1800" baseline="-25000" dirty="0">
                <a:sym typeface="Symbol" pitchFamily="18" charset="2"/>
              </a:rPr>
              <a:t>(d)</a:t>
            </a:r>
            <a:r>
              <a:rPr lang="en-US" sz="1800" dirty="0">
                <a:sym typeface="Symbol" pitchFamily="18" charset="2"/>
              </a:rPr>
              <a:t>  y</a:t>
            </a:r>
            <a:r>
              <a:rPr lang="en-US" sz="1800" baseline="-25000" dirty="0">
                <a:sym typeface="Symbol" pitchFamily="18" charset="2"/>
              </a:rPr>
              <a:t>d</a:t>
            </a:r>
            <a:r>
              <a:rPr lang="en-US" sz="1800" dirty="0">
                <a:sym typeface="Symbol" pitchFamily="18" charset="2"/>
              </a:rPr>
              <a:t>.</a:t>
            </a:r>
            <a:br>
              <a:rPr lang="en-US" sz="1800" dirty="0">
                <a:sym typeface="Symbol" pitchFamily="18" charset="2"/>
              </a:rPr>
            </a:br>
            <a:r>
              <a:rPr lang="en-US" dirty="0">
                <a:sym typeface="Symbol" pitchFamily="18" charset="2"/>
              </a:rPr>
              <a:t>(a)  Argue that nesting relation is transitive.</a:t>
            </a:r>
            <a:br>
              <a:rPr lang="en-US" dirty="0">
                <a:sym typeface="Symbol" pitchFamily="18" charset="2"/>
              </a:rPr>
            </a:br>
            <a:r>
              <a:rPr lang="en-US" dirty="0">
                <a:sym typeface="Symbol" pitchFamily="18" charset="2"/>
              </a:rPr>
              <a:t>(b) Describe an efficient method to determine whether or not one box nests inside another.</a:t>
            </a:r>
            <a:br>
              <a:rPr lang="en-US" dirty="0">
                <a:sym typeface="Symbol" pitchFamily="18" charset="2"/>
              </a:rPr>
            </a:br>
            <a:r>
              <a:rPr lang="en-US" dirty="0">
                <a:sym typeface="Symbol" pitchFamily="18" charset="2"/>
              </a:rPr>
              <a:t>(c) Suppose that you are given a set of n d-dimensional boxes {B(1), B(2), …, B(n)}. </a:t>
            </a:r>
            <a:br>
              <a:rPr lang="en-US" dirty="0">
                <a:sym typeface="Symbol" pitchFamily="18" charset="2"/>
              </a:rPr>
            </a:br>
            <a:r>
              <a:rPr lang="en-US" dirty="0">
                <a:sym typeface="Symbol" pitchFamily="18" charset="2"/>
              </a:rPr>
              <a:t>      Describe an efficient algorithm to determine the longest sequence   B(i</a:t>
            </a:r>
            <a:r>
              <a:rPr lang="en-US" baseline="-25000" dirty="0">
                <a:sym typeface="Symbol" pitchFamily="18" charset="2"/>
              </a:rPr>
              <a:t>1</a:t>
            </a:r>
            <a:r>
              <a:rPr lang="en-US" dirty="0">
                <a:sym typeface="Symbol" pitchFamily="18" charset="2"/>
              </a:rPr>
              <a:t>), B(i</a:t>
            </a:r>
            <a:r>
              <a:rPr lang="en-US" baseline="-25000" dirty="0">
                <a:sym typeface="Symbol" pitchFamily="18" charset="2"/>
              </a:rPr>
              <a:t>2</a:t>
            </a:r>
            <a:r>
              <a:rPr lang="en-US" dirty="0">
                <a:sym typeface="Symbol" pitchFamily="18" charset="2"/>
              </a:rPr>
              <a:t>), …, B(</a:t>
            </a:r>
            <a:r>
              <a:rPr lang="en-US" dirty="0" err="1">
                <a:sym typeface="Symbol" pitchFamily="18" charset="2"/>
              </a:rPr>
              <a:t>i</a:t>
            </a:r>
            <a:r>
              <a:rPr lang="en-US" baseline="-25000" dirty="0" err="1">
                <a:sym typeface="Symbol" pitchFamily="18" charset="2"/>
              </a:rPr>
              <a:t>k</a:t>
            </a:r>
            <a:r>
              <a:rPr lang="en-US" dirty="0">
                <a:sym typeface="Symbol" pitchFamily="18" charset="2"/>
              </a:rPr>
              <a:t>) of </a:t>
            </a:r>
            <a:br>
              <a:rPr lang="en-US" dirty="0">
                <a:sym typeface="Symbol" pitchFamily="18" charset="2"/>
              </a:rPr>
            </a:br>
            <a:r>
              <a:rPr lang="en-US" dirty="0">
                <a:sym typeface="Symbol" pitchFamily="18" charset="2"/>
              </a:rPr>
              <a:t>      boxes such that B(</a:t>
            </a:r>
            <a:r>
              <a:rPr lang="en-US" dirty="0" err="1">
                <a:sym typeface="Symbol" pitchFamily="18" charset="2"/>
              </a:rPr>
              <a:t>i</a:t>
            </a:r>
            <a:r>
              <a:rPr lang="en-US" baseline="-25000" dirty="0" err="1">
                <a:sym typeface="Symbol" pitchFamily="18" charset="2"/>
              </a:rPr>
              <a:t>j</a:t>
            </a:r>
            <a:r>
              <a:rPr lang="en-US" dirty="0">
                <a:sym typeface="Symbol" pitchFamily="18" charset="2"/>
              </a:rPr>
              <a:t>) nests within B(i</a:t>
            </a:r>
            <a:r>
              <a:rPr lang="en-US" baseline="-25000" dirty="0">
                <a:sym typeface="Symbol" pitchFamily="18" charset="2"/>
              </a:rPr>
              <a:t>j+1</a:t>
            </a:r>
            <a:r>
              <a:rPr lang="en-US" dirty="0">
                <a:sym typeface="Symbol" pitchFamily="18" charset="2"/>
              </a:rPr>
              <a:t>)  for j = 1, 2, …, k-1. </a:t>
            </a:r>
            <a:br>
              <a:rPr lang="en-US" dirty="0">
                <a:sym typeface="Symbol" pitchFamily="18" charset="2"/>
              </a:rPr>
            </a:br>
            <a:r>
              <a:rPr lang="en-US" dirty="0">
                <a:sym typeface="Symbol" pitchFamily="18" charset="2"/>
              </a:rPr>
              <a:t>      Express the running time of your algorithm in terms of n and d.</a:t>
            </a:r>
          </a:p>
          <a:p>
            <a:pPr marL="396875" indent="-387350" eaLnBrk="1" hangingPunct="1">
              <a:lnSpc>
                <a:spcPct val="90000"/>
              </a:lnSpc>
              <a:spcBef>
                <a:spcPct val="20000"/>
              </a:spcBef>
              <a:buFontTx/>
              <a:buAutoNum type="arabicPeriod" startAt="59"/>
              <a:tabLst>
                <a:tab pos="396875" algn="l"/>
              </a:tabLst>
            </a:pPr>
            <a:endParaRPr lang="en-US" b="1" dirty="0"/>
          </a:p>
          <a:p>
            <a:pPr marL="396875" indent="-387350" eaLnBrk="1" hangingPunct="1">
              <a:lnSpc>
                <a:spcPct val="90000"/>
              </a:lnSpc>
              <a:spcBef>
                <a:spcPct val="20000"/>
              </a:spcBef>
              <a:buFontTx/>
              <a:buAutoNum type="arabicPeriod" startAt="59"/>
              <a:tabLst>
                <a:tab pos="396875" algn="l"/>
              </a:tabLst>
            </a:pPr>
            <a:r>
              <a:rPr lang="en-US" b="1" dirty="0"/>
              <a:t>[CLRS, Problem 24-3, p. 679] Arbitrage</a:t>
            </a:r>
            <a:br>
              <a:rPr lang="en-US" b="1" dirty="0"/>
            </a:br>
            <a:r>
              <a:rPr lang="en-US" b="1" dirty="0" err="1">
                <a:solidFill>
                  <a:srgbClr val="CC0000"/>
                </a:solidFill>
              </a:rPr>
              <a:t>Arbitrage</a:t>
            </a:r>
            <a:r>
              <a:rPr lang="en-US" dirty="0"/>
              <a:t> is the use of discrepancies in currency exchange rates to transform one unit of currency into more than one unit of the same currency. For example, suppose that 1 U.S. dollar buys 46.4 Indian rupees, 1 Indian rupee buys 2.5 Japanese yen, and 1 Japanese yen buys 0.0091 U.S. dollar. Then, by converting currencies, a trader can start with 1 U.S. dollar and buy 46.4</a:t>
            </a:r>
            <a:r>
              <a:rPr lang="en-US" dirty="0">
                <a:sym typeface="Symbol" pitchFamily="18" charset="2"/>
              </a:rPr>
              <a:t></a:t>
            </a:r>
            <a:r>
              <a:rPr lang="en-US" dirty="0"/>
              <a:t>2.5</a:t>
            </a:r>
            <a:r>
              <a:rPr lang="en-US" dirty="0">
                <a:sym typeface="Symbol" pitchFamily="18" charset="2"/>
              </a:rPr>
              <a:t></a:t>
            </a:r>
            <a:r>
              <a:rPr lang="en-US" dirty="0"/>
              <a:t>0.0091 = 1.0556 U.S. dollars, thus turning a profit of 5.56 percent. </a:t>
            </a:r>
            <a:br>
              <a:rPr lang="en-US" dirty="0"/>
            </a:br>
            <a:r>
              <a:rPr lang="en-US" dirty="0"/>
              <a:t>	Suppose that we are given n currencies </a:t>
            </a:r>
            <a:r>
              <a:rPr lang="en-US" dirty="0">
                <a:sym typeface="Symbol" pitchFamily="18" charset="2"/>
              </a:rPr>
              <a:t>c(1), c(2), …, c(n)  and an n  n table R of exchange rates, such that one unit of currency c(i) buys R[</a:t>
            </a:r>
            <a:r>
              <a:rPr lang="en-US" dirty="0" err="1">
                <a:sym typeface="Symbol" pitchFamily="18" charset="2"/>
              </a:rPr>
              <a:t>i,j</a:t>
            </a:r>
            <a:r>
              <a:rPr lang="en-US" dirty="0">
                <a:sym typeface="Symbol" pitchFamily="18" charset="2"/>
              </a:rPr>
              <a:t>] units of currency c(j).</a:t>
            </a:r>
            <a:br>
              <a:rPr lang="en-US" dirty="0">
                <a:sym typeface="Symbol" pitchFamily="18" charset="2"/>
              </a:rPr>
            </a:br>
            <a:r>
              <a:rPr lang="en-US" dirty="0">
                <a:sym typeface="Symbol" pitchFamily="18" charset="2"/>
              </a:rPr>
              <a:t/>
            </a:r>
            <a:br>
              <a:rPr lang="en-US" dirty="0">
                <a:sym typeface="Symbol" pitchFamily="18" charset="2"/>
              </a:rPr>
            </a:br>
            <a:r>
              <a:rPr lang="en-US" dirty="0">
                <a:sym typeface="Symbol" pitchFamily="18" charset="2"/>
              </a:rPr>
              <a:t>(a)  Design and analyze an efficient algorithm to determine whether or not there exists a </a:t>
            </a:r>
            <a:br>
              <a:rPr lang="en-US" dirty="0">
                <a:sym typeface="Symbol" pitchFamily="18" charset="2"/>
              </a:rPr>
            </a:br>
            <a:r>
              <a:rPr lang="en-US" dirty="0">
                <a:sym typeface="Symbol" pitchFamily="18" charset="2"/>
              </a:rPr>
              <a:t>      sequence of currencies c(i</a:t>
            </a:r>
            <a:r>
              <a:rPr lang="en-US" baseline="-25000" dirty="0">
                <a:sym typeface="Symbol" pitchFamily="18" charset="2"/>
              </a:rPr>
              <a:t>1</a:t>
            </a:r>
            <a:r>
              <a:rPr lang="en-US" dirty="0">
                <a:sym typeface="Symbol" pitchFamily="18" charset="2"/>
              </a:rPr>
              <a:t>), c(i</a:t>
            </a:r>
            <a:r>
              <a:rPr lang="en-US" baseline="-25000" dirty="0">
                <a:sym typeface="Symbol" pitchFamily="18" charset="2"/>
              </a:rPr>
              <a:t>2</a:t>
            </a:r>
            <a:r>
              <a:rPr lang="en-US" dirty="0">
                <a:sym typeface="Symbol" pitchFamily="18" charset="2"/>
              </a:rPr>
              <a:t>), …, c(</a:t>
            </a:r>
            <a:r>
              <a:rPr lang="en-US" dirty="0" err="1">
                <a:sym typeface="Symbol" pitchFamily="18" charset="2"/>
              </a:rPr>
              <a:t>i</a:t>
            </a:r>
            <a:r>
              <a:rPr lang="en-US" baseline="-25000" dirty="0" err="1">
                <a:sym typeface="Symbol" pitchFamily="18" charset="2"/>
              </a:rPr>
              <a:t>k</a:t>
            </a:r>
            <a:r>
              <a:rPr lang="en-US" dirty="0">
                <a:sym typeface="Symbol" pitchFamily="18" charset="2"/>
              </a:rPr>
              <a:t>) such that  </a:t>
            </a:r>
            <a:br>
              <a:rPr lang="en-US" dirty="0">
                <a:sym typeface="Symbol" pitchFamily="18" charset="2"/>
              </a:rPr>
            </a:br>
            <a:r>
              <a:rPr lang="en-US" dirty="0">
                <a:sym typeface="Symbol" pitchFamily="18" charset="2"/>
              </a:rPr>
              <a:t/>
            </a:r>
            <a:br>
              <a:rPr lang="en-US" dirty="0">
                <a:sym typeface="Symbol" pitchFamily="18" charset="2"/>
              </a:rPr>
            </a:br>
            <a:r>
              <a:rPr lang="en-US" dirty="0">
                <a:sym typeface="Symbol" pitchFamily="18" charset="2"/>
              </a:rPr>
              <a:t>		R[i</a:t>
            </a:r>
            <a:r>
              <a:rPr lang="en-US" baseline="-25000" dirty="0">
                <a:sym typeface="Symbol" pitchFamily="18" charset="2"/>
              </a:rPr>
              <a:t>1</a:t>
            </a:r>
            <a:r>
              <a:rPr lang="en-US" dirty="0">
                <a:sym typeface="Symbol" pitchFamily="18" charset="2"/>
              </a:rPr>
              <a:t> , i</a:t>
            </a:r>
            <a:r>
              <a:rPr lang="en-US" baseline="-25000" dirty="0">
                <a:sym typeface="Symbol" pitchFamily="18" charset="2"/>
              </a:rPr>
              <a:t>2</a:t>
            </a:r>
            <a:r>
              <a:rPr lang="en-US" dirty="0">
                <a:sym typeface="Symbol" pitchFamily="18" charset="2"/>
              </a:rPr>
              <a:t> ] </a:t>
            </a:r>
            <a:r>
              <a:rPr lang="en-US" dirty="0">
                <a:cs typeface="Times New Roman" pitchFamily="18" charset="0"/>
                <a:sym typeface="Symbol" pitchFamily="18" charset="2"/>
              </a:rPr>
              <a:t>· </a:t>
            </a:r>
            <a:r>
              <a:rPr lang="en-US" dirty="0">
                <a:sym typeface="Symbol" pitchFamily="18" charset="2"/>
              </a:rPr>
              <a:t>R[i</a:t>
            </a:r>
            <a:r>
              <a:rPr lang="en-US" baseline="-25000" dirty="0">
                <a:sym typeface="Symbol" pitchFamily="18" charset="2"/>
              </a:rPr>
              <a:t>2</a:t>
            </a:r>
            <a:r>
              <a:rPr lang="en-US" dirty="0">
                <a:sym typeface="Symbol" pitchFamily="18" charset="2"/>
              </a:rPr>
              <a:t> , i</a:t>
            </a:r>
            <a:r>
              <a:rPr lang="en-US" baseline="-25000" dirty="0">
                <a:sym typeface="Symbol" pitchFamily="18" charset="2"/>
              </a:rPr>
              <a:t>3</a:t>
            </a:r>
            <a:r>
              <a:rPr lang="en-US" dirty="0">
                <a:sym typeface="Symbol" pitchFamily="18" charset="2"/>
              </a:rPr>
              <a:t> ] </a:t>
            </a:r>
            <a:r>
              <a:rPr lang="en-US" dirty="0">
                <a:cs typeface="Times New Roman" pitchFamily="18" charset="0"/>
                <a:sym typeface="Symbol" pitchFamily="18" charset="2"/>
              </a:rPr>
              <a:t>· ·</a:t>
            </a:r>
            <a:r>
              <a:rPr lang="en-US" dirty="0">
                <a:sym typeface="Symbol" pitchFamily="18" charset="2"/>
              </a:rPr>
              <a:t> </a:t>
            </a:r>
            <a:r>
              <a:rPr lang="en-US" dirty="0">
                <a:cs typeface="Times New Roman" pitchFamily="18" charset="0"/>
                <a:sym typeface="Symbol" pitchFamily="18" charset="2"/>
              </a:rPr>
              <a:t>· </a:t>
            </a:r>
            <a:r>
              <a:rPr lang="en-US" dirty="0">
                <a:sym typeface="Symbol" pitchFamily="18" charset="2"/>
              </a:rPr>
              <a:t>R[i</a:t>
            </a:r>
            <a:r>
              <a:rPr lang="en-US" baseline="-25000" dirty="0">
                <a:sym typeface="Symbol" pitchFamily="18" charset="2"/>
              </a:rPr>
              <a:t>k-1</a:t>
            </a:r>
            <a:r>
              <a:rPr lang="en-US" dirty="0">
                <a:sym typeface="Symbol" pitchFamily="18" charset="2"/>
              </a:rPr>
              <a:t> , </a:t>
            </a:r>
            <a:r>
              <a:rPr lang="en-US" dirty="0" err="1">
                <a:sym typeface="Symbol" pitchFamily="18" charset="2"/>
              </a:rPr>
              <a:t>i</a:t>
            </a:r>
            <a:r>
              <a:rPr lang="en-US" baseline="-25000" dirty="0" err="1">
                <a:sym typeface="Symbol" pitchFamily="18" charset="2"/>
              </a:rPr>
              <a:t>k</a:t>
            </a:r>
            <a:r>
              <a:rPr lang="en-US" dirty="0">
                <a:sym typeface="Symbol" pitchFamily="18" charset="2"/>
              </a:rPr>
              <a:t> ] </a:t>
            </a:r>
            <a:r>
              <a:rPr lang="en-US" dirty="0">
                <a:cs typeface="Times New Roman" pitchFamily="18" charset="0"/>
                <a:sym typeface="Symbol" pitchFamily="18" charset="2"/>
              </a:rPr>
              <a:t>· </a:t>
            </a:r>
            <a:r>
              <a:rPr lang="en-US" dirty="0">
                <a:sym typeface="Symbol" pitchFamily="18" charset="2"/>
              </a:rPr>
              <a:t>R[</a:t>
            </a:r>
            <a:r>
              <a:rPr lang="en-US" dirty="0" err="1">
                <a:sym typeface="Symbol" pitchFamily="18" charset="2"/>
              </a:rPr>
              <a:t>i</a:t>
            </a:r>
            <a:r>
              <a:rPr lang="en-US" baseline="-25000" dirty="0" err="1">
                <a:sym typeface="Symbol" pitchFamily="18" charset="2"/>
              </a:rPr>
              <a:t>k</a:t>
            </a:r>
            <a:r>
              <a:rPr lang="en-US" dirty="0">
                <a:sym typeface="Symbol" pitchFamily="18" charset="2"/>
              </a:rPr>
              <a:t> , i</a:t>
            </a:r>
            <a:r>
              <a:rPr lang="en-US" baseline="-25000" dirty="0">
                <a:sym typeface="Symbol" pitchFamily="18" charset="2"/>
              </a:rPr>
              <a:t>1</a:t>
            </a:r>
            <a:r>
              <a:rPr lang="en-US" dirty="0">
                <a:sym typeface="Symbol" pitchFamily="18" charset="2"/>
              </a:rPr>
              <a:t> ] </a:t>
            </a:r>
            <a:r>
              <a:rPr lang="en-US" dirty="0">
                <a:cs typeface="Times New Roman" pitchFamily="18" charset="0"/>
                <a:sym typeface="Symbol" pitchFamily="18" charset="2"/>
              </a:rPr>
              <a:t> &gt; 1.</a:t>
            </a:r>
            <a:r>
              <a:rPr lang="en-US" dirty="0"/>
              <a:t/>
            </a:r>
            <a:br>
              <a:rPr lang="en-US" dirty="0"/>
            </a:br>
            <a:r>
              <a:rPr lang="en-US" dirty="0"/>
              <a:t/>
            </a:r>
            <a:br>
              <a:rPr lang="en-US" dirty="0"/>
            </a:br>
            <a:r>
              <a:rPr lang="en-US" dirty="0"/>
              <a:t>(b)  Design and analyze an efficient algorithm to print out such a sequence if one exists.</a:t>
            </a:r>
          </a:p>
        </p:txBody>
      </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193</a:t>
            </a:fld>
            <a:endParaRPr lang="en-US"/>
          </a:p>
        </p:txBody>
      </p:sp>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7634"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8010"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35"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8011"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36"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198012"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7637" name="Rectangle 5"/>
          <p:cNvSpPr>
            <a:spLocks noChangeArrowheads="1"/>
          </p:cNvSpPr>
          <p:nvPr/>
        </p:nvSpPr>
        <p:spPr bwMode="auto">
          <a:xfrm>
            <a:off x="228600" y="228600"/>
            <a:ext cx="8534400" cy="372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96875" indent="-387350" eaLnBrk="1" hangingPunct="1">
              <a:lnSpc>
                <a:spcPct val="90000"/>
              </a:lnSpc>
              <a:spcBef>
                <a:spcPct val="20000"/>
              </a:spcBef>
              <a:buFont typeface="+mj-lt"/>
              <a:buAutoNum type="arabicPeriod" startAt="61"/>
            </a:pPr>
            <a:r>
              <a:rPr lang="en-US" b="1" dirty="0"/>
              <a:t>[CLRS, Exercise 26.2-11, p. 731] Edge Connectivity</a:t>
            </a:r>
            <a:br>
              <a:rPr lang="en-US" b="1" dirty="0"/>
            </a:br>
            <a:r>
              <a:rPr lang="en-US" dirty="0"/>
              <a:t>The </a:t>
            </a:r>
            <a:r>
              <a:rPr lang="en-US" b="1" dirty="0">
                <a:solidFill>
                  <a:srgbClr val="CC0000"/>
                </a:solidFill>
              </a:rPr>
              <a:t>edge connectivity</a:t>
            </a:r>
            <a:r>
              <a:rPr lang="en-US" dirty="0"/>
              <a:t> of an undirected graph is the minimum number k of edges that must be removed to disconnect the graph. For example, the edge connectivity of a tree is 1, and the edge connectivity of a cyclic chain of vertices is 2. Show how the edge connectivity of an undirected graph G = (V, E) can be determined by running a maximum flow algorithm on at most |V| flow networks, each having O(V) vertices and O(E) edges. </a:t>
            </a:r>
          </a:p>
          <a:p>
            <a:pPr marL="396875" indent="-387350" eaLnBrk="1" hangingPunct="1">
              <a:lnSpc>
                <a:spcPct val="90000"/>
              </a:lnSpc>
              <a:spcBef>
                <a:spcPct val="20000"/>
              </a:spcBef>
              <a:buFontTx/>
              <a:buAutoNum type="arabicPeriod" startAt="61"/>
            </a:pPr>
            <a:endParaRPr lang="en-US" dirty="0"/>
          </a:p>
          <a:p>
            <a:pPr marL="396875" indent="-387350" eaLnBrk="1" hangingPunct="1">
              <a:lnSpc>
                <a:spcPct val="90000"/>
              </a:lnSpc>
              <a:spcBef>
                <a:spcPct val="20000"/>
              </a:spcBef>
              <a:buFontTx/>
              <a:buAutoNum type="arabicPeriod" startAt="61"/>
            </a:pPr>
            <a:r>
              <a:rPr lang="en-US" b="1" dirty="0"/>
              <a:t>Max Flow Example:</a:t>
            </a:r>
            <a:r>
              <a:rPr lang="en-US" dirty="0"/>
              <a:t>  Consider the flow network shown below with source s and terminal t. The labels on edges are of the form “f / c” where f is the flow and c is the capacity of the edge. This flow is feasible. </a:t>
            </a:r>
            <a:br>
              <a:rPr lang="en-US" dirty="0"/>
            </a:br>
            <a:r>
              <a:rPr lang="en-US" dirty="0"/>
              <a:t>	Start from this given feasible flow and augment it to a max-flow using augmenting iterations of Ford-Fulkerson's max-flow-min-cut algorithm. </a:t>
            </a:r>
            <a:br>
              <a:rPr lang="en-US" dirty="0"/>
            </a:br>
            <a:r>
              <a:rPr lang="en-US" dirty="0"/>
              <a:t>(In each iteration you are free to choose any augmenting path.)</a:t>
            </a:r>
            <a:br>
              <a:rPr lang="en-US" dirty="0"/>
            </a:br>
            <a:r>
              <a:rPr lang="en-US" dirty="0"/>
              <a:t>(a)  Clearly show each augmentation stage of the algorithm.</a:t>
            </a:r>
            <a:br>
              <a:rPr lang="en-US" dirty="0"/>
            </a:br>
            <a:r>
              <a:rPr lang="en-US" dirty="0"/>
              <a:t>(b)  Show the final max-flow. What is the net value of the max-flow from s to t?</a:t>
            </a:r>
            <a:br>
              <a:rPr lang="en-US" dirty="0"/>
            </a:br>
            <a:r>
              <a:rPr lang="en-US" dirty="0"/>
              <a:t>(c)  Show the minimum </a:t>
            </a:r>
            <a:r>
              <a:rPr lang="en-US" dirty="0" err="1"/>
              <a:t>st</a:t>
            </a:r>
            <a:r>
              <a:rPr lang="en-US" dirty="0"/>
              <a:t>-cut. What is the min-cut capacity?</a:t>
            </a:r>
            <a:endParaRPr lang="en-US" dirty="0">
              <a:sym typeface="Symbol" pitchFamily="18" charset="2"/>
            </a:endParaRPr>
          </a:p>
        </p:txBody>
      </p:sp>
      <p:grpSp>
        <p:nvGrpSpPr>
          <p:cNvPr id="197638" name="Group 51"/>
          <p:cNvGrpSpPr>
            <a:grpSpLocks/>
          </p:cNvGrpSpPr>
          <p:nvPr/>
        </p:nvGrpSpPr>
        <p:grpSpPr bwMode="auto">
          <a:xfrm>
            <a:off x="1600200" y="4191000"/>
            <a:ext cx="5583238" cy="2298700"/>
            <a:chOff x="960" y="2496"/>
            <a:chExt cx="3517" cy="1448"/>
          </a:xfrm>
        </p:grpSpPr>
        <p:sp>
          <p:nvSpPr>
            <p:cNvPr id="197639" name="Line 12"/>
            <p:cNvSpPr>
              <a:spLocks noChangeShapeType="1"/>
            </p:cNvSpPr>
            <p:nvPr/>
          </p:nvSpPr>
          <p:spPr bwMode="auto">
            <a:xfrm>
              <a:off x="1845" y="2640"/>
              <a:ext cx="72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7640" name="Line 13"/>
            <p:cNvSpPr>
              <a:spLocks noChangeShapeType="1"/>
            </p:cNvSpPr>
            <p:nvPr/>
          </p:nvSpPr>
          <p:spPr bwMode="auto">
            <a:xfrm>
              <a:off x="2661" y="2640"/>
              <a:ext cx="76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7641" name="Line 14"/>
            <p:cNvSpPr>
              <a:spLocks noChangeShapeType="1"/>
            </p:cNvSpPr>
            <p:nvPr/>
          </p:nvSpPr>
          <p:spPr bwMode="auto">
            <a:xfrm>
              <a:off x="1776" y="3744"/>
              <a:ext cx="76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7642" name="Freeform 15"/>
            <p:cNvSpPr>
              <a:spLocks/>
            </p:cNvSpPr>
            <p:nvPr/>
          </p:nvSpPr>
          <p:spPr bwMode="auto">
            <a:xfrm>
              <a:off x="2731" y="2711"/>
              <a:ext cx="766" cy="1023"/>
            </a:xfrm>
            <a:custGeom>
              <a:avLst/>
              <a:gdLst>
                <a:gd name="T0" fmla="*/ 766 w 766"/>
                <a:gd name="T1" fmla="*/ 1023 h 1023"/>
                <a:gd name="T2" fmla="*/ 0 w 766"/>
                <a:gd name="T3" fmla="*/ 0 h 1023"/>
                <a:gd name="T4" fmla="*/ 0 60000 65536"/>
                <a:gd name="T5" fmla="*/ 0 60000 65536"/>
              </a:gdLst>
              <a:ahLst/>
              <a:cxnLst>
                <a:cxn ang="T4">
                  <a:pos x="T0" y="T1"/>
                </a:cxn>
                <a:cxn ang="T5">
                  <a:pos x="T2" y="T3"/>
                </a:cxn>
              </a:cxnLst>
              <a:rect l="0" t="0" r="r" b="b"/>
              <a:pathLst>
                <a:path w="766" h="1023">
                  <a:moveTo>
                    <a:pt x="766" y="1023"/>
                  </a:moveTo>
                  <a:lnTo>
                    <a:pt x="0" y="0"/>
                  </a:lnTo>
                </a:path>
              </a:pathLst>
            </a:custGeom>
            <a:noFill/>
            <a:ln w="12700">
              <a:solidFill>
                <a:schemeClr val="tx1"/>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97643" name="Line 16"/>
            <p:cNvSpPr>
              <a:spLocks noChangeShapeType="1"/>
            </p:cNvSpPr>
            <p:nvPr/>
          </p:nvSpPr>
          <p:spPr bwMode="auto">
            <a:xfrm>
              <a:off x="1872" y="2736"/>
              <a:ext cx="768" cy="1008"/>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97644" name="Text Box 23"/>
            <p:cNvSpPr txBox="1">
              <a:spLocks noChangeArrowheads="1"/>
            </p:cNvSpPr>
            <p:nvPr/>
          </p:nvSpPr>
          <p:spPr bwMode="auto">
            <a:xfrm>
              <a:off x="1536" y="3072"/>
              <a:ext cx="2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5/5</a:t>
              </a:r>
            </a:p>
          </p:txBody>
        </p:sp>
        <p:sp>
          <p:nvSpPr>
            <p:cNvPr id="197645" name="Text Box 24"/>
            <p:cNvSpPr txBox="1">
              <a:spLocks noChangeArrowheads="1"/>
            </p:cNvSpPr>
            <p:nvPr/>
          </p:nvSpPr>
          <p:spPr bwMode="auto">
            <a:xfrm>
              <a:off x="2035" y="2496"/>
              <a:ext cx="2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1/4</a:t>
              </a:r>
            </a:p>
          </p:txBody>
        </p:sp>
        <p:sp>
          <p:nvSpPr>
            <p:cNvPr id="197646" name="Text Box 25"/>
            <p:cNvSpPr txBox="1">
              <a:spLocks noChangeArrowheads="1"/>
            </p:cNvSpPr>
            <p:nvPr/>
          </p:nvSpPr>
          <p:spPr bwMode="auto">
            <a:xfrm>
              <a:off x="2016" y="2880"/>
              <a:ext cx="2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2/5</a:t>
              </a:r>
            </a:p>
          </p:txBody>
        </p:sp>
        <p:sp>
          <p:nvSpPr>
            <p:cNvPr id="197647" name="Text Box 26"/>
            <p:cNvSpPr txBox="1">
              <a:spLocks noChangeArrowheads="1"/>
            </p:cNvSpPr>
            <p:nvPr/>
          </p:nvSpPr>
          <p:spPr bwMode="auto">
            <a:xfrm>
              <a:off x="2062" y="3792"/>
              <a:ext cx="2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7/8</a:t>
              </a:r>
            </a:p>
          </p:txBody>
        </p:sp>
        <p:sp>
          <p:nvSpPr>
            <p:cNvPr id="197648" name="Text Box 27"/>
            <p:cNvSpPr txBox="1">
              <a:spLocks noChangeArrowheads="1"/>
            </p:cNvSpPr>
            <p:nvPr/>
          </p:nvSpPr>
          <p:spPr bwMode="auto">
            <a:xfrm>
              <a:off x="2947" y="2496"/>
              <a:ext cx="2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5/6</a:t>
              </a:r>
            </a:p>
          </p:txBody>
        </p:sp>
        <p:sp>
          <p:nvSpPr>
            <p:cNvPr id="197649" name="Text Box 28"/>
            <p:cNvSpPr txBox="1">
              <a:spLocks noChangeArrowheads="1"/>
            </p:cNvSpPr>
            <p:nvPr/>
          </p:nvSpPr>
          <p:spPr bwMode="auto">
            <a:xfrm>
              <a:off x="2014" y="3360"/>
              <a:ext cx="2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1/4</a:t>
              </a:r>
            </a:p>
          </p:txBody>
        </p:sp>
        <p:sp>
          <p:nvSpPr>
            <p:cNvPr id="197650" name="Text Box 29"/>
            <p:cNvSpPr txBox="1">
              <a:spLocks noChangeArrowheads="1"/>
            </p:cNvSpPr>
            <p:nvPr/>
          </p:nvSpPr>
          <p:spPr bwMode="auto">
            <a:xfrm>
              <a:off x="2880" y="2832"/>
              <a:ext cx="2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2/4</a:t>
              </a:r>
            </a:p>
          </p:txBody>
        </p:sp>
        <p:sp>
          <p:nvSpPr>
            <p:cNvPr id="197651" name="Freeform 31"/>
            <p:cNvSpPr>
              <a:spLocks/>
            </p:cNvSpPr>
            <p:nvPr/>
          </p:nvSpPr>
          <p:spPr bwMode="auto">
            <a:xfrm>
              <a:off x="1803" y="2704"/>
              <a:ext cx="792" cy="1030"/>
            </a:xfrm>
            <a:custGeom>
              <a:avLst/>
              <a:gdLst>
                <a:gd name="T0" fmla="*/ 792 w 792"/>
                <a:gd name="T1" fmla="*/ 0 h 1030"/>
                <a:gd name="T2" fmla="*/ 0 w 792"/>
                <a:gd name="T3" fmla="*/ 1030 h 1030"/>
                <a:gd name="T4" fmla="*/ 0 60000 65536"/>
                <a:gd name="T5" fmla="*/ 0 60000 65536"/>
              </a:gdLst>
              <a:ahLst/>
              <a:cxnLst>
                <a:cxn ang="T4">
                  <a:pos x="T0" y="T1"/>
                </a:cxn>
                <a:cxn ang="T5">
                  <a:pos x="T2" y="T3"/>
                </a:cxn>
              </a:cxnLst>
              <a:rect l="0" t="0" r="r" b="b"/>
              <a:pathLst>
                <a:path w="792" h="1030">
                  <a:moveTo>
                    <a:pt x="792" y="0"/>
                  </a:moveTo>
                  <a:lnTo>
                    <a:pt x="0" y="1030"/>
                  </a:lnTo>
                </a:path>
              </a:pathLst>
            </a:custGeom>
            <a:noFill/>
            <a:ln w="12700">
              <a:solidFill>
                <a:schemeClr val="tx1"/>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97652" name="Text Box 32"/>
            <p:cNvSpPr txBox="1">
              <a:spLocks noChangeArrowheads="1"/>
            </p:cNvSpPr>
            <p:nvPr/>
          </p:nvSpPr>
          <p:spPr bwMode="auto">
            <a:xfrm>
              <a:off x="2400" y="2976"/>
              <a:ext cx="288" cy="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eaLnBrk="1" hangingPunct="1">
                <a:lnSpc>
                  <a:spcPct val="75000"/>
                </a:lnSpc>
                <a:spcBef>
                  <a:spcPct val="50000"/>
                </a:spcBef>
                <a:buFont typeface="Wingdings" pitchFamily="2" charset="2"/>
                <a:buNone/>
              </a:pPr>
              <a:r>
                <a:rPr lang="en-US"/>
                <a:t> 1/3</a:t>
              </a:r>
            </a:p>
          </p:txBody>
        </p:sp>
        <p:sp>
          <p:nvSpPr>
            <p:cNvPr id="197653" name="Text Box 33"/>
            <p:cNvSpPr txBox="1">
              <a:spLocks noChangeArrowheads="1"/>
            </p:cNvSpPr>
            <p:nvPr/>
          </p:nvSpPr>
          <p:spPr bwMode="auto">
            <a:xfrm>
              <a:off x="3859" y="2736"/>
              <a:ext cx="2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5/5</a:t>
              </a:r>
            </a:p>
          </p:txBody>
        </p:sp>
        <p:sp>
          <p:nvSpPr>
            <p:cNvPr id="197654" name="Freeform 34"/>
            <p:cNvSpPr>
              <a:spLocks/>
            </p:cNvSpPr>
            <p:nvPr/>
          </p:nvSpPr>
          <p:spPr bwMode="auto">
            <a:xfrm>
              <a:off x="1789" y="2677"/>
              <a:ext cx="1" cy="969"/>
            </a:xfrm>
            <a:custGeom>
              <a:avLst/>
              <a:gdLst>
                <a:gd name="T0" fmla="*/ 0 w 1"/>
                <a:gd name="T1" fmla="*/ 0 h 969"/>
                <a:gd name="T2" fmla="*/ 0 w 1"/>
                <a:gd name="T3" fmla="*/ 969 h 969"/>
                <a:gd name="T4" fmla="*/ 0 60000 65536"/>
                <a:gd name="T5" fmla="*/ 0 60000 65536"/>
              </a:gdLst>
              <a:ahLst/>
              <a:cxnLst>
                <a:cxn ang="T4">
                  <a:pos x="T0" y="T1"/>
                </a:cxn>
                <a:cxn ang="T5">
                  <a:pos x="T2" y="T3"/>
                </a:cxn>
              </a:cxnLst>
              <a:rect l="0" t="0" r="r" b="b"/>
              <a:pathLst>
                <a:path w="1" h="969">
                  <a:moveTo>
                    <a:pt x="0" y="0"/>
                  </a:moveTo>
                  <a:lnTo>
                    <a:pt x="0" y="969"/>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7655" name="Line 35"/>
            <p:cNvSpPr>
              <a:spLocks noChangeShapeType="1"/>
            </p:cNvSpPr>
            <p:nvPr/>
          </p:nvSpPr>
          <p:spPr bwMode="auto">
            <a:xfrm flipV="1">
              <a:off x="2640" y="2736"/>
              <a:ext cx="0" cy="96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7656" name="Freeform 36"/>
            <p:cNvSpPr>
              <a:spLocks/>
            </p:cNvSpPr>
            <p:nvPr/>
          </p:nvSpPr>
          <p:spPr bwMode="auto">
            <a:xfrm>
              <a:off x="3531" y="2663"/>
              <a:ext cx="1" cy="983"/>
            </a:xfrm>
            <a:custGeom>
              <a:avLst/>
              <a:gdLst>
                <a:gd name="T0" fmla="*/ 0 w 1"/>
                <a:gd name="T1" fmla="*/ 0 h 983"/>
                <a:gd name="T2" fmla="*/ 0 w 1"/>
                <a:gd name="T3" fmla="*/ 983 h 983"/>
                <a:gd name="T4" fmla="*/ 0 60000 65536"/>
                <a:gd name="T5" fmla="*/ 0 60000 65536"/>
              </a:gdLst>
              <a:ahLst/>
              <a:cxnLst>
                <a:cxn ang="T4">
                  <a:pos x="T0" y="T1"/>
                </a:cxn>
                <a:cxn ang="T5">
                  <a:pos x="T2" y="T3"/>
                </a:cxn>
              </a:cxnLst>
              <a:rect l="0" t="0" r="r" b="b"/>
              <a:pathLst>
                <a:path w="1" h="983">
                  <a:moveTo>
                    <a:pt x="0" y="0"/>
                  </a:moveTo>
                  <a:lnTo>
                    <a:pt x="0" y="983"/>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7657" name="Line 37"/>
            <p:cNvSpPr>
              <a:spLocks noChangeShapeType="1"/>
            </p:cNvSpPr>
            <p:nvPr/>
          </p:nvSpPr>
          <p:spPr bwMode="auto">
            <a:xfrm flipV="1">
              <a:off x="1056" y="2688"/>
              <a:ext cx="672" cy="52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7658" name="Line 38"/>
            <p:cNvSpPr>
              <a:spLocks noChangeShapeType="1"/>
            </p:cNvSpPr>
            <p:nvPr/>
          </p:nvSpPr>
          <p:spPr bwMode="auto">
            <a:xfrm>
              <a:off x="1056" y="3216"/>
              <a:ext cx="624" cy="48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7659" name="Freeform 39"/>
            <p:cNvSpPr>
              <a:spLocks/>
            </p:cNvSpPr>
            <p:nvPr/>
          </p:nvSpPr>
          <p:spPr bwMode="auto">
            <a:xfrm>
              <a:off x="3552" y="2640"/>
              <a:ext cx="731" cy="477"/>
            </a:xfrm>
            <a:custGeom>
              <a:avLst/>
              <a:gdLst>
                <a:gd name="T0" fmla="*/ 0 w 731"/>
                <a:gd name="T1" fmla="*/ 0 h 477"/>
                <a:gd name="T2" fmla="*/ 731 w 731"/>
                <a:gd name="T3" fmla="*/ 477 h 477"/>
                <a:gd name="T4" fmla="*/ 0 60000 65536"/>
                <a:gd name="T5" fmla="*/ 0 60000 65536"/>
              </a:gdLst>
              <a:ahLst/>
              <a:cxnLst>
                <a:cxn ang="T4">
                  <a:pos x="T0" y="T1"/>
                </a:cxn>
                <a:cxn ang="T5">
                  <a:pos x="T2" y="T3"/>
                </a:cxn>
              </a:cxnLst>
              <a:rect l="0" t="0" r="r" b="b"/>
              <a:pathLst>
                <a:path w="731" h="477">
                  <a:moveTo>
                    <a:pt x="0" y="0"/>
                  </a:moveTo>
                  <a:lnTo>
                    <a:pt x="731" y="477"/>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7660" name="Freeform 40"/>
            <p:cNvSpPr>
              <a:spLocks/>
            </p:cNvSpPr>
            <p:nvPr/>
          </p:nvSpPr>
          <p:spPr bwMode="auto">
            <a:xfrm>
              <a:off x="3552" y="3239"/>
              <a:ext cx="744" cy="505"/>
            </a:xfrm>
            <a:custGeom>
              <a:avLst/>
              <a:gdLst>
                <a:gd name="T0" fmla="*/ 0 w 744"/>
                <a:gd name="T1" fmla="*/ 505 h 505"/>
                <a:gd name="T2" fmla="*/ 744 w 744"/>
                <a:gd name="T3" fmla="*/ 0 h 505"/>
                <a:gd name="T4" fmla="*/ 0 60000 65536"/>
                <a:gd name="T5" fmla="*/ 0 60000 65536"/>
              </a:gdLst>
              <a:ahLst/>
              <a:cxnLst>
                <a:cxn ang="T4">
                  <a:pos x="T0" y="T1"/>
                </a:cxn>
                <a:cxn ang="T5">
                  <a:pos x="T2" y="T3"/>
                </a:cxn>
              </a:cxnLst>
              <a:rect l="0" t="0" r="r" b="b"/>
              <a:pathLst>
                <a:path w="744" h="505">
                  <a:moveTo>
                    <a:pt x="0" y="505"/>
                  </a:moveTo>
                  <a:lnTo>
                    <a:pt x="744"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7661" name="Freeform 41"/>
            <p:cNvSpPr>
              <a:spLocks/>
            </p:cNvSpPr>
            <p:nvPr/>
          </p:nvSpPr>
          <p:spPr bwMode="auto">
            <a:xfrm>
              <a:off x="2640" y="2717"/>
              <a:ext cx="823" cy="979"/>
            </a:xfrm>
            <a:custGeom>
              <a:avLst/>
              <a:gdLst>
                <a:gd name="T0" fmla="*/ 0 w 823"/>
                <a:gd name="T1" fmla="*/ 979 h 979"/>
                <a:gd name="T2" fmla="*/ 823 w 823"/>
                <a:gd name="T3" fmla="*/ 0 h 979"/>
                <a:gd name="T4" fmla="*/ 0 60000 65536"/>
                <a:gd name="T5" fmla="*/ 0 60000 65536"/>
              </a:gdLst>
              <a:ahLst/>
              <a:cxnLst>
                <a:cxn ang="T4">
                  <a:pos x="T0" y="T1"/>
                </a:cxn>
                <a:cxn ang="T5">
                  <a:pos x="T2" y="T3"/>
                </a:cxn>
              </a:cxnLst>
              <a:rect l="0" t="0" r="r" b="b"/>
              <a:pathLst>
                <a:path w="823" h="979">
                  <a:moveTo>
                    <a:pt x="0" y="979"/>
                  </a:moveTo>
                  <a:lnTo>
                    <a:pt x="823" y="0"/>
                  </a:lnTo>
                </a:path>
              </a:pathLst>
            </a:custGeom>
            <a:noFill/>
            <a:ln w="1270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nchor="ctr">
              <a:spAutoFit/>
            </a:bodyPr>
            <a:lstStyle/>
            <a:p>
              <a:endParaRPr lang="en-CA"/>
            </a:p>
          </p:txBody>
        </p:sp>
        <p:sp>
          <p:nvSpPr>
            <p:cNvPr id="197662" name="Line 42"/>
            <p:cNvSpPr>
              <a:spLocks noChangeShapeType="1"/>
            </p:cNvSpPr>
            <p:nvPr/>
          </p:nvSpPr>
          <p:spPr bwMode="auto">
            <a:xfrm>
              <a:off x="2640" y="3744"/>
              <a:ext cx="76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7663" name="Oval 43"/>
            <p:cNvSpPr>
              <a:spLocks noChangeArrowheads="1"/>
            </p:cNvSpPr>
            <p:nvPr/>
          </p:nvSpPr>
          <p:spPr bwMode="auto">
            <a:xfrm>
              <a:off x="960" y="3120"/>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dirty="0"/>
                <a:t>s</a:t>
              </a:r>
            </a:p>
          </p:txBody>
        </p:sp>
        <p:sp>
          <p:nvSpPr>
            <p:cNvPr id="197664" name="Oval 44"/>
            <p:cNvSpPr>
              <a:spLocks noChangeArrowheads="1"/>
            </p:cNvSpPr>
            <p:nvPr/>
          </p:nvSpPr>
          <p:spPr bwMode="auto">
            <a:xfrm>
              <a:off x="4272" y="3072"/>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a:t>t</a:t>
              </a:r>
            </a:p>
          </p:txBody>
        </p:sp>
        <p:sp>
          <p:nvSpPr>
            <p:cNvPr id="197665" name="Oval 22"/>
            <p:cNvSpPr>
              <a:spLocks noChangeArrowheads="1"/>
            </p:cNvSpPr>
            <p:nvPr/>
          </p:nvSpPr>
          <p:spPr bwMode="auto">
            <a:xfrm>
              <a:off x="1680" y="3648"/>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dirty="0"/>
                <a:t>d</a:t>
              </a:r>
            </a:p>
          </p:txBody>
        </p:sp>
        <p:sp>
          <p:nvSpPr>
            <p:cNvPr id="197666" name="Oval 21"/>
            <p:cNvSpPr>
              <a:spLocks noChangeArrowheads="1"/>
            </p:cNvSpPr>
            <p:nvPr/>
          </p:nvSpPr>
          <p:spPr bwMode="auto">
            <a:xfrm>
              <a:off x="2544" y="3648"/>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dirty="0"/>
                <a:t>e</a:t>
              </a:r>
            </a:p>
          </p:txBody>
        </p:sp>
        <p:sp>
          <p:nvSpPr>
            <p:cNvPr id="197667" name="Oval 20"/>
            <p:cNvSpPr>
              <a:spLocks noChangeArrowheads="1"/>
            </p:cNvSpPr>
            <p:nvPr/>
          </p:nvSpPr>
          <p:spPr bwMode="auto">
            <a:xfrm>
              <a:off x="3408" y="3648"/>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dirty="0"/>
                <a:t>f</a:t>
              </a:r>
            </a:p>
          </p:txBody>
        </p:sp>
        <p:sp>
          <p:nvSpPr>
            <p:cNvPr id="197668" name="Oval 19"/>
            <p:cNvSpPr>
              <a:spLocks noChangeArrowheads="1"/>
            </p:cNvSpPr>
            <p:nvPr/>
          </p:nvSpPr>
          <p:spPr bwMode="auto">
            <a:xfrm>
              <a:off x="3422" y="2540"/>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dirty="0"/>
                <a:t>c</a:t>
              </a:r>
            </a:p>
          </p:txBody>
        </p:sp>
        <p:sp>
          <p:nvSpPr>
            <p:cNvPr id="197669" name="Oval 18"/>
            <p:cNvSpPr>
              <a:spLocks noChangeArrowheads="1"/>
            </p:cNvSpPr>
            <p:nvPr/>
          </p:nvSpPr>
          <p:spPr bwMode="auto">
            <a:xfrm>
              <a:off x="2558" y="2540"/>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dirty="0"/>
                <a:t>b</a:t>
              </a:r>
            </a:p>
          </p:txBody>
        </p:sp>
        <p:sp>
          <p:nvSpPr>
            <p:cNvPr id="197670" name="Oval 17"/>
            <p:cNvSpPr>
              <a:spLocks noChangeArrowheads="1"/>
            </p:cNvSpPr>
            <p:nvPr/>
          </p:nvSpPr>
          <p:spPr bwMode="auto">
            <a:xfrm>
              <a:off x="1694" y="2540"/>
              <a:ext cx="205" cy="197"/>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tIns="10800" bIns="10800" anchor="ctr">
              <a:spAutoFit/>
            </a:bodyPr>
            <a:lstStyle/>
            <a:p>
              <a:pPr algn="ctr" eaLnBrk="1" hangingPunct="1">
                <a:lnSpc>
                  <a:spcPct val="80000"/>
                </a:lnSpc>
                <a:spcBef>
                  <a:spcPct val="50000"/>
                </a:spcBef>
                <a:buFont typeface="Wingdings" pitchFamily="2" charset="2"/>
                <a:buNone/>
              </a:pPr>
              <a:r>
                <a:rPr lang="en-US" dirty="0"/>
                <a:t>a</a:t>
              </a:r>
            </a:p>
          </p:txBody>
        </p:sp>
        <p:sp>
          <p:nvSpPr>
            <p:cNvPr id="197671" name="Text Box 45"/>
            <p:cNvSpPr txBox="1">
              <a:spLocks noChangeArrowheads="1"/>
            </p:cNvSpPr>
            <p:nvPr/>
          </p:nvSpPr>
          <p:spPr bwMode="auto">
            <a:xfrm>
              <a:off x="2928" y="3744"/>
              <a:ext cx="2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3/5</a:t>
              </a:r>
            </a:p>
          </p:txBody>
        </p:sp>
        <p:sp>
          <p:nvSpPr>
            <p:cNvPr id="197672" name="Text Box 46"/>
            <p:cNvSpPr txBox="1">
              <a:spLocks noChangeArrowheads="1"/>
            </p:cNvSpPr>
            <p:nvPr/>
          </p:nvSpPr>
          <p:spPr bwMode="auto">
            <a:xfrm>
              <a:off x="3904" y="3456"/>
              <a:ext cx="344"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2/12</a:t>
              </a:r>
            </a:p>
          </p:txBody>
        </p:sp>
        <p:sp>
          <p:nvSpPr>
            <p:cNvPr id="197673" name="Text Box 47"/>
            <p:cNvSpPr txBox="1">
              <a:spLocks noChangeArrowheads="1"/>
            </p:cNvSpPr>
            <p:nvPr/>
          </p:nvSpPr>
          <p:spPr bwMode="auto">
            <a:xfrm>
              <a:off x="1248" y="2784"/>
              <a:ext cx="2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4/9</a:t>
              </a:r>
            </a:p>
          </p:txBody>
        </p:sp>
        <p:sp>
          <p:nvSpPr>
            <p:cNvPr id="197674" name="Text Box 48"/>
            <p:cNvSpPr txBox="1">
              <a:spLocks noChangeArrowheads="1"/>
            </p:cNvSpPr>
            <p:nvPr/>
          </p:nvSpPr>
          <p:spPr bwMode="auto">
            <a:xfrm>
              <a:off x="1104" y="3456"/>
              <a:ext cx="2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3/8</a:t>
              </a:r>
            </a:p>
          </p:txBody>
        </p:sp>
        <p:sp>
          <p:nvSpPr>
            <p:cNvPr id="197675" name="Text Box 49"/>
            <p:cNvSpPr txBox="1">
              <a:spLocks noChangeArrowheads="1"/>
            </p:cNvSpPr>
            <p:nvPr/>
          </p:nvSpPr>
          <p:spPr bwMode="auto">
            <a:xfrm>
              <a:off x="2880" y="3312"/>
              <a:ext cx="2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1/7</a:t>
              </a:r>
            </a:p>
          </p:txBody>
        </p:sp>
        <p:sp>
          <p:nvSpPr>
            <p:cNvPr id="197676" name="Text Box 50"/>
            <p:cNvSpPr txBox="1">
              <a:spLocks noChangeArrowheads="1"/>
            </p:cNvSpPr>
            <p:nvPr/>
          </p:nvSpPr>
          <p:spPr bwMode="auto">
            <a:xfrm>
              <a:off x="3504" y="3120"/>
              <a:ext cx="280"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1/5</a:t>
              </a:r>
            </a:p>
          </p:txBody>
        </p:sp>
      </p:gr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194</a:t>
            </a:fld>
            <a:endParaRPr lang="en-US"/>
          </a:p>
        </p:txBody>
      </p:sp>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7634"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03808" name="Equation" r:id="rId3" imgW="114151" imgH="215619" progId="Equation.3">
                  <p:embed/>
                </p:oleObj>
              </mc:Choice>
              <mc:Fallback>
                <p:oleObj name="Equation" r:id="rId3" imgW="114151"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35"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03809" name="Equation" r:id="rId5" imgW="114151" imgH="215619" progId="Equation.3">
                  <p:embed/>
                </p:oleObj>
              </mc:Choice>
              <mc:Fallback>
                <p:oleObj name="Equation" r:id="rId5" imgW="114151"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7636"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03810" name="Equation" r:id="rId6" imgW="114151" imgH="215619" progId="Equation.3">
                  <p:embed/>
                </p:oleObj>
              </mc:Choice>
              <mc:Fallback>
                <p:oleObj name="Equation" r:id="rId6" imgW="114151"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7637" name="Rectangle 5"/>
          <p:cNvSpPr>
            <a:spLocks noChangeArrowheads="1"/>
          </p:cNvSpPr>
          <p:nvPr/>
        </p:nvSpPr>
        <p:spPr bwMode="auto">
          <a:xfrm>
            <a:off x="228600" y="228600"/>
            <a:ext cx="8610600" cy="2856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96875" lvl="1" indent="-387350" eaLnBrk="1" hangingPunct="1">
              <a:lnSpc>
                <a:spcPct val="90000"/>
              </a:lnSpc>
              <a:spcBef>
                <a:spcPct val="20000"/>
              </a:spcBef>
              <a:buFont typeface="+mj-lt"/>
              <a:buAutoNum type="arabicPeriod" startAt="63"/>
            </a:pPr>
            <a:r>
              <a:rPr lang="en-US" b="1" dirty="0" smtClean="0"/>
              <a:t>Max Flow Min Cut:</a:t>
            </a:r>
            <a:endParaRPr lang="en-US" sz="1200" b="1" dirty="0">
              <a:cs typeface="Times New Roman" pitchFamily="18" charset="0"/>
            </a:endParaRPr>
          </a:p>
          <a:p>
            <a:pPr marL="630238" lvl="2" indent="-273050" eaLnBrk="1" hangingPunct="1">
              <a:lnSpc>
                <a:spcPct val="90000"/>
              </a:lnSpc>
              <a:spcBef>
                <a:spcPct val="20000"/>
              </a:spcBef>
              <a:buFont typeface="+mj-lt"/>
              <a:buAutoNum type="alphaLcParenR"/>
            </a:pPr>
            <a:r>
              <a:rPr lang="en-CA" sz="1400" dirty="0" smtClean="0">
                <a:cs typeface="Times New Roman" pitchFamily="18" charset="0"/>
              </a:rPr>
              <a:t>Below </a:t>
            </a:r>
            <a:r>
              <a:rPr lang="en-CA" sz="1400" dirty="0">
                <a:cs typeface="Times New Roman" pitchFamily="18" charset="0"/>
              </a:rPr>
              <a:t>we have an instance of a flow network with the source s and terminal t and edge capacities shown.  Show the max flow and the min cut on the same figure. </a:t>
            </a:r>
            <a:r>
              <a:rPr lang="en-CA" sz="1400" dirty="0" smtClean="0">
                <a:cs typeface="Times New Roman" pitchFamily="18" charset="0"/>
              </a:rPr>
              <a:t/>
            </a:r>
            <a:br>
              <a:rPr lang="en-CA" sz="1400" dirty="0" smtClean="0">
                <a:cs typeface="Times New Roman" pitchFamily="18" charset="0"/>
              </a:rPr>
            </a:br>
            <a:r>
              <a:rPr lang="en-CA" sz="1400" dirty="0" smtClean="0">
                <a:cs typeface="Times New Roman" pitchFamily="18" charset="0"/>
              </a:rPr>
              <a:t>Also give the </a:t>
            </a:r>
            <a:r>
              <a:rPr lang="en-CA" sz="1400" dirty="0">
                <a:cs typeface="Times New Roman" pitchFamily="18" charset="0"/>
              </a:rPr>
              <a:t>value of that flow and the capacity of that </a:t>
            </a:r>
            <a:r>
              <a:rPr lang="en-CA" sz="1400" dirty="0" err="1" smtClean="0">
                <a:cs typeface="Times New Roman" pitchFamily="18" charset="0"/>
              </a:rPr>
              <a:t>st</a:t>
            </a:r>
            <a:r>
              <a:rPr lang="en-CA" sz="1400" dirty="0" smtClean="0">
                <a:cs typeface="Times New Roman" pitchFamily="18" charset="0"/>
              </a:rPr>
              <a:t>-cut.</a:t>
            </a:r>
            <a:br>
              <a:rPr lang="en-CA" sz="1400" dirty="0" smtClean="0">
                <a:cs typeface="Times New Roman" pitchFamily="18" charset="0"/>
              </a:rPr>
            </a:br>
            <a:endParaRPr lang="en-CA" sz="1400" b="1" dirty="0" smtClean="0">
              <a:cs typeface="Times New Roman" pitchFamily="18" charset="0"/>
            </a:endParaRPr>
          </a:p>
          <a:p>
            <a:pPr marL="630238" lvl="1" indent="-273050">
              <a:buNone/>
            </a:pPr>
            <a:r>
              <a:rPr lang="en-CA" sz="1400" b="1" dirty="0" smtClean="0">
                <a:cs typeface="Times New Roman" pitchFamily="18" charset="0"/>
              </a:rPr>
              <a:t>Now </a:t>
            </a:r>
            <a:r>
              <a:rPr lang="en-CA" sz="1400" b="1" dirty="0">
                <a:cs typeface="Times New Roman" pitchFamily="18" charset="0"/>
              </a:rPr>
              <a:t>answer </a:t>
            </a:r>
            <a:r>
              <a:rPr lang="en-CA" sz="1400" b="1" dirty="0" smtClean="0">
                <a:cs typeface="Times New Roman" pitchFamily="18" charset="0"/>
              </a:rPr>
              <a:t>parts </a:t>
            </a:r>
            <a:r>
              <a:rPr lang="en-CA" sz="1400" b="1" dirty="0">
                <a:cs typeface="Times New Roman" pitchFamily="18" charset="0"/>
              </a:rPr>
              <a:t>(b) – (d) </a:t>
            </a:r>
            <a:r>
              <a:rPr lang="en-CA" sz="1400" b="1" dirty="0" smtClean="0">
                <a:cs typeface="Times New Roman" pitchFamily="18" charset="0"/>
              </a:rPr>
              <a:t>below for </a:t>
            </a:r>
            <a:r>
              <a:rPr lang="en-CA" sz="1400" b="1" dirty="0">
                <a:cs typeface="Times New Roman" pitchFamily="18" charset="0"/>
              </a:rPr>
              <a:t>a general  Flow Network </a:t>
            </a:r>
            <a:r>
              <a:rPr lang="en-CA" sz="1400" b="1" dirty="0" smtClean="0">
                <a:cs typeface="Times New Roman" pitchFamily="18" charset="0"/>
              </a:rPr>
              <a:t>G = </a:t>
            </a:r>
            <a:r>
              <a:rPr lang="en-CA" sz="1400" b="1" dirty="0">
                <a:cs typeface="Times New Roman" pitchFamily="18" charset="0"/>
              </a:rPr>
              <a:t>(V, E, c, s, t</a:t>
            </a:r>
            <a:r>
              <a:rPr lang="en-CA" sz="1400" b="1" dirty="0" smtClean="0">
                <a:cs typeface="Times New Roman" pitchFamily="18" charset="0"/>
              </a:rPr>
              <a:t>):</a:t>
            </a:r>
            <a:br>
              <a:rPr lang="en-CA" sz="1400" b="1" dirty="0" smtClean="0">
                <a:cs typeface="Times New Roman" pitchFamily="18" charset="0"/>
              </a:rPr>
            </a:br>
            <a:endParaRPr lang="en-CA" sz="1400" dirty="0">
              <a:cs typeface="Times New Roman" pitchFamily="18" charset="0"/>
            </a:endParaRPr>
          </a:p>
          <a:p>
            <a:pPr marL="630238" lvl="1" indent="-273050">
              <a:buFont typeface="+mj-lt"/>
              <a:buAutoNum type="alphaLcParenR" startAt="2"/>
            </a:pPr>
            <a:r>
              <a:rPr lang="en-CA" sz="1400" dirty="0">
                <a:cs typeface="Times New Roman" pitchFamily="18" charset="0"/>
              </a:rPr>
              <a:t>Given a flow f for a flow network </a:t>
            </a:r>
            <a:r>
              <a:rPr lang="en-CA" sz="1400" dirty="0" smtClean="0">
                <a:cs typeface="Times New Roman" pitchFamily="18" charset="0"/>
              </a:rPr>
              <a:t>G, </a:t>
            </a:r>
            <a:r>
              <a:rPr lang="en-CA" sz="1400" dirty="0">
                <a:cs typeface="Times New Roman" pitchFamily="18" charset="0"/>
              </a:rPr>
              <a:t>how would you algorithmically determine whether f is a feasible flow for </a:t>
            </a:r>
            <a:r>
              <a:rPr lang="en-CA" sz="1400" dirty="0" smtClean="0">
                <a:cs typeface="Times New Roman" pitchFamily="18" charset="0"/>
              </a:rPr>
              <a:t>G </a:t>
            </a:r>
            <a:r>
              <a:rPr lang="en-CA" sz="1400" dirty="0">
                <a:cs typeface="Times New Roman" pitchFamily="18" charset="0"/>
              </a:rPr>
              <a:t>in O( |V| + |E| ) time?</a:t>
            </a:r>
          </a:p>
          <a:p>
            <a:pPr marL="630238" lvl="1" indent="-273050">
              <a:buFont typeface="+mj-lt"/>
              <a:buAutoNum type="alphaLcParenR" startAt="3"/>
            </a:pPr>
            <a:r>
              <a:rPr lang="en-CA" sz="1400" dirty="0">
                <a:cs typeface="Times New Roman" pitchFamily="18" charset="0"/>
              </a:rPr>
              <a:t>Given a feasible flow f for a flow network </a:t>
            </a:r>
            <a:r>
              <a:rPr lang="en-CA" sz="1400" dirty="0" smtClean="0">
                <a:cs typeface="Times New Roman" pitchFamily="18" charset="0"/>
              </a:rPr>
              <a:t>G, </a:t>
            </a:r>
            <a:r>
              <a:rPr lang="en-CA" sz="1400" dirty="0">
                <a:cs typeface="Times New Roman" pitchFamily="18" charset="0"/>
              </a:rPr>
              <a:t>how would you algorithmically determine whether f is a max flow for </a:t>
            </a:r>
            <a:r>
              <a:rPr lang="en-CA" sz="1400" dirty="0" smtClean="0">
                <a:cs typeface="Times New Roman" pitchFamily="18" charset="0"/>
              </a:rPr>
              <a:t>G </a:t>
            </a:r>
            <a:r>
              <a:rPr lang="en-CA" sz="1400" dirty="0">
                <a:cs typeface="Times New Roman" pitchFamily="18" charset="0"/>
              </a:rPr>
              <a:t>in O( |V| + |E| ) time</a:t>
            </a:r>
            <a:r>
              <a:rPr lang="en-CA" sz="1400" dirty="0" smtClean="0">
                <a:cs typeface="Times New Roman" pitchFamily="18" charset="0"/>
              </a:rPr>
              <a:t>?</a:t>
            </a:r>
            <a:endParaRPr lang="en-CA" sz="1400" dirty="0">
              <a:cs typeface="Times New Roman" pitchFamily="18" charset="0"/>
            </a:endParaRPr>
          </a:p>
          <a:p>
            <a:pPr marL="630238" lvl="1" indent="-273050">
              <a:buFont typeface="+mj-lt"/>
              <a:buAutoNum type="alphaLcParenR" startAt="3"/>
            </a:pPr>
            <a:r>
              <a:rPr lang="en-CA" sz="1400" dirty="0">
                <a:cs typeface="Times New Roman" pitchFamily="18" charset="0"/>
              </a:rPr>
              <a:t>Given a max flow f for a flow network </a:t>
            </a:r>
            <a:r>
              <a:rPr lang="en-CA" sz="1400" dirty="0" smtClean="0">
                <a:cs typeface="Times New Roman" pitchFamily="18" charset="0"/>
              </a:rPr>
              <a:t>G, </a:t>
            </a:r>
            <a:r>
              <a:rPr lang="en-CA" sz="1400" dirty="0">
                <a:cs typeface="Times New Roman" pitchFamily="18" charset="0"/>
              </a:rPr>
              <a:t>how would you algorithmically determine a min capacity </a:t>
            </a:r>
            <a:r>
              <a:rPr lang="en-CA" sz="1400" dirty="0" err="1">
                <a:cs typeface="Times New Roman" pitchFamily="18" charset="0"/>
              </a:rPr>
              <a:t>st</a:t>
            </a:r>
            <a:r>
              <a:rPr lang="en-CA" sz="1400" dirty="0">
                <a:cs typeface="Times New Roman" pitchFamily="18" charset="0"/>
              </a:rPr>
              <a:t>-cut for </a:t>
            </a:r>
            <a:r>
              <a:rPr lang="en-CA" sz="1400" dirty="0" smtClean="0">
                <a:cs typeface="Times New Roman" pitchFamily="18" charset="0"/>
              </a:rPr>
              <a:t>G </a:t>
            </a:r>
            <a:r>
              <a:rPr lang="en-CA" sz="1400" dirty="0">
                <a:cs typeface="Times New Roman" pitchFamily="18" charset="0"/>
              </a:rPr>
              <a:t>in O( |V| + |E| ) time?</a:t>
            </a:r>
          </a:p>
        </p:txBody>
      </p:sp>
      <p:grpSp>
        <p:nvGrpSpPr>
          <p:cNvPr id="45" name="Group 44"/>
          <p:cNvGrpSpPr/>
          <p:nvPr/>
        </p:nvGrpSpPr>
        <p:grpSpPr>
          <a:xfrm>
            <a:off x="1856436" y="3080582"/>
            <a:ext cx="4128497" cy="1921780"/>
            <a:chOff x="1196308" y="4541123"/>
            <a:chExt cx="4128497" cy="1921780"/>
          </a:xfrm>
        </p:grpSpPr>
        <p:sp>
          <p:nvSpPr>
            <p:cNvPr id="46" name="Oval 14"/>
            <p:cNvSpPr>
              <a:spLocks noChangeArrowheads="1"/>
            </p:cNvSpPr>
            <p:nvPr/>
          </p:nvSpPr>
          <p:spPr bwMode="auto">
            <a:xfrm>
              <a:off x="1196308" y="5386036"/>
              <a:ext cx="343077" cy="316840"/>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200" b="1" dirty="0" smtClean="0"/>
                <a:t>s</a:t>
              </a:r>
              <a:endParaRPr lang="en-US" sz="1200" b="1" dirty="0"/>
            </a:p>
          </p:txBody>
        </p:sp>
        <p:sp>
          <p:nvSpPr>
            <p:cNvPr id="47" name="Oval 14"/>
            <p:cNvSpPr>
              <a:spLocks noChangeArrowheads="1"/>
            </p:cNvSpPr>
            <p:nvPr/>
          </p:nvSpPr>
          <p:spPr bwMode="auto">
            <a:xfrm>
              <a:off x="3943727" y="4659177"/>
              <a:ext cx="379143" cy="316840"/>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200" b="1" dirty="0" smtClean="0"/>
                <a:t>b</a:t>
              </a:r>
              <a:endParaRPr lang="en-US" sz="1200" b="1" dirty="0"/>
            </a:p>
          </p:txBody>
        </p:sp>
        <p:sp>
          <p:nvSpPr>
            <p:cNvPr id="48" name="Oval 14"/>
            <p:cNvSpPr>
              <a:spLocks noChangeArrowheads="1"/>
            </p:cNvSpPr>
            <p:nvPr/>
          </p:nvSpPr>
          <p:spPr bwMode="auto">
            <a:xfrm>
              <a:off x="4992998" y="5354023"/>
              <a:ext cx="331807" cy="316840"/>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200" b="1" dirty="0" smtClean="0"/>
                <a:t>t</a:t>
              </a:r>
              <a:endParaRPr lang="en-US" sz="1200" b="1" dirty="0"/>
            </a:p>
          </p:txBody>
        </p:sp>
        <p:sp>
          <p:nvSpPr>
            <p:cNvPr id="49" name="Oval 14"/>
            <p:cNvSpPr>
              <a:spLocks noChangeArrowheads="1"/>
            </p:cNvSpPr>
            <p:nvPr/>
          </p:nvSpPr>
          <p:spPr bwMode="auto">
            <a:xfrm>
              <a:off x="2180535" y="6046370"/>
              <a:ext cx="356602" cy="316840"/>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200" b="1" dirty="0" smtClean="0"/>
                <a:t>c</a:t>
              </a:r>
              <a:endParaRPr lang="en-US" sz="1200" b="1" dirty="0"/>
            </a:p>
          </p:txBody>
        </p:sp>
        <p:sp>
          <p:nvSpPr>
            <p:cNvPr id="50" name="Oval 14"/>
            <p:cNvSpPr>
              <a:spLocks noChangeArrowheads="1"/>
            </p:cNvSpPr>
            <p:nvPr/>
          </p:nvSpPr>
          <p:spPr bwMode="auto">
            <a:xfrm>
              <a:off x="3943728" y="6046370"/>
              <a:ext cx="379143" cy="316840"/>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none" anchor="ctr">
              <a:spAutoFit/>
            </a:bodyPr>
            <a:lstStyle/>
            <a:p>
              <a:pPr algn="ctr" eaLnBrk="1" hangingPunct="1">
                <a:lnSpc>
                  <a:spcPct val="70000"/>
                </a:lnSpc>
                <a:spcBef>
                  <a:spcPct val="50000"/>
                </a:spcBef>
                <a:buNone/>
              </a:pPr>
              <a:r>
                <a:rPr lang="en-US" sz="1200" b="1" dirty="0" smtClean="0"/>
                <a:t>d</a:t>
              </a:r>
              <a:endParaRPr lang="en-US" sz="1200" b="1" dirty="0"/>
            </a:p>
          </p:txBody>
        </p:sp>
        <p:sp>
          <p:nvSpPr>
            <p:cNvPr id="51" name="Oval 14"/>
            <p:cNvSpPr>
              <a:spLocks noChangeArrowheads="1"/>
            </p:cNvSpPr>
            <p:nvPr/>
          </p:nvSpPr>
          <p:spPr bwMode="auto">
            <a:xfrm>
              <a:off x="2204235" y="4655931"/>
              <a:ext cx="309202" cy="323332"/>
            </a:xfrm>
            <a:prstGeom prst="ellipse">
              <a:avLst/>
            </a:prstGeom>
            <a:solidFill>
              <a:schemeClr val="bg1"/>
            </a:solidFill>
            <a:ln w="12700">
              <a:solidFill>
                <a:schemeClr val="tx1"/>
              </a:solidFill>
              <a:round/>
              <a:headEnd/>
              <a:tailEnd/>
            </a:ln>
            <a:effectLst>
              <a:outerShdw sx="1000" sy="1000" algn="ctr">
                <a:srgbClr val="000000"/>
              </a:outerShdw>
            </a:effectLst>
            <a:extLst/>
          </p:spPr>
          <p:txBody>
            <a:bodyPr wrap="square" anchor="ctr">
              <a:spAutoFit/>
            </a:bodyPr>
            <a:lstStyle/>
            <a:p>
              <a:pPr algn="ctr" eaLnBrk="1" hangingPunct="1">
                <a:lnSpc>
                  <a:spcPct val="70000"/>
                </a:lnSpc>
                <a:spcBef>
                  <a:spcPct val="50000"/>
                </a:spcBef>
                <a:buNone/>
              </a:pPr>
              <a:r>
                <a:rPr lang="en-US" sz="1200" b="1" dirty="0" smtClean="0"/>
                <a:t>a</a:t>
              </a:r>
              <a:endParaRPr lang="en-US" sz="1200" b="1" dirty="0"/>
            </a:p>
          </p:txBody>
        </p:sp>
        <p:cxnSp>
          <p:nvCxnSpPr>
            <p:cNvPr id="52" name="Straight Arrow Connector 51"/>
            <p:cNvCxnSpPr>
              <a:stCxn id="46" idx="7"/>
              <a:endCxn id="51" idx="2"/>
            </p:cNvCxnSpPr>
            <p:nvPr/>
          </p:nvCxnSpPr>
          <p:spPr>
            <a:xfrm flipV="1">
              <a:off x="1489143" y="4817597"/>
              <a:ext cx="715092" cy="614839"/>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46" idx="5"/>
              <a:endCxn id="49" idx="2"/>
            </p:cNvCxnSpPr>
            <p:nvPr/>
          </p:nvCxnSpPr>
          <p:spPr>
            <a:xfrm>
              <a:off x="1489143" y="5656476"/>
              <a:ext cx="691392" cy="548314"/>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51" idx="6"/>
              <a:endCxn id="47" idx="2"/>
            </p:cNvCxnSpPr>
            <p:nvPr/>
          </p:nvCxnSpPr>
          <p:spPr>
            <a:xfrm>
              <a:off x="2513437" y="4817597"/>
              <a:ext cx="143029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49" idx="6"/>
              <a:endCxn id="50" idx="2"/>
            </p:cNvCxnSpPr>
            <p:nvPr/>
          </p:nvCxnSpPr>
          <p:spPr>
            <a:xfrm>
              <a:off x="2537137" y="6204790"/>
              <a:ext cx="1406591"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51" idx="4"/>
              <a:endCxn id="49" idx="0"/>
            </p:cNvCxnSpPr>
            <p:nvPr/>
          </p:nvCxnSpPr>
          <p:spPr>
            <a:xfrm>
              <a:off x="2358836" y="4979263"/>
              <a:ext cx="0" cy="106710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47" idx="4"/>
              <a:endCxn id="50" idx="0"/>
            </p:cNvCxnSpPr>
            <p:nvPr/>
          </p:nvCxnSpPr>
          <p:spPr>
            <a:xfrm>
              <a:off x="4133299" y="4976017"/>
              <a:ext cx="1" cy="107035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50" idx="1"/>
              <a:endCxn id="51" idx="5"/>
            </p:cNvCxnSpPr>
            <p:nvPr/>
          </p:nvCxnSpPr>
          <p:spPr>
            <a:xfrm flipH="1" flipV="1">
              <a:off x="2468155" y="4931912"/>
              <a:ext cx="1531097" cy="116085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47" idx="6"/>
              <a:endCxn id="48" idx="1"/>
            </p:cNvCxnSpPr>
            <p:nvPr/>
          </p:nvCxnSpPr>
          <p:spPr>
            <a:xfrm>
              <a:off x="4322870" y="4817597"/>
              <a:ext cx="718720" cy="58282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50" idx="6"/>
              <a:endCxn id="48" idx="3"/>
            </p:cNvCxnSpPr>
            <p:nvPr/>
          </p:nvCxnSpPr>
          <p:spPr>
            <a:xfrm flipV="1">
              <a:off x="4322871" y="5624463"/>
              <a:ext cx="718719" cy="58032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49" idx="7"/>
              <a:endCxn id="47" idx="3"/>
            </p:cNvCxnSpPr>
            <p:nvPr/>
          </p:nvCxnSpPr>
          <p:spPr>
            <a:xfrm flipV="1">
              <a:off x="2484914" y="4929617"/>
              <a:ext cx="1514337" cy="116315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4146652" y="5295706"/>
              <a:ext cx="276038" cy="307777"/>
            </a:xfrm>
            <a:prstGeom prst="rect">
              <a:avLst/>
            </a:prstGeom>
            <a:noFill/>
          </p:spPr>
          <p:txBody>
            <a:bodyPr wrap="none" rtlCol="0">
              <a:spAutoFit/>
            </a:bodyPr>
            <a:lstStyle/>
            <a:p>
              <a:pPr>
                <a:buNone/>
              </a:pPr>
              <a:r>
                <a:rPr lang="en-CA" sz="1400" dirty="0" smtClean="0"/>
                <a:t>4</a:t>
              </a:r>
              <a:endParaRPr lang="en-CA" sz="1400" dirty="0"/>
            </a:p>
          </p:txBody>
        </p:sp>
        <p:sp>
          <p:nvSpPr>
            <p:cNvPr id="63" name="TextBox 62"/>
            <p:cNvSpPr txBox="1"/>
            <p:nvPr/>
          </p:nvSpPr>
          <p:spPr>
            <a:xfrm>
              <a:off x="2738518" y="5196889"/>
              <a:ext cx="276038" cy="307777"/>
            </a:xfrm>
            <a:prstGeom prst="rect">
              <a:avLst/>
            </a:prstGeom>
            <a:noFill/>
          </p:spPr>
          <p:txBody>
            <a:bodyPr wrap="none" rtlCol="0">
              <a:spAutoFit/>
            </a:bodyPr>
            <a:lstStyle/>
            <a:p>
              <a:pPr>
                <a:buNone/>
              </a:pPr>
              <a:r>
                <a:rPr lang="en-CA" sz="1400" dirty="0" smtClean="0"/>
                <a:t>6</a:t>
              </a:r>
              <a:endParaRPr lang="en-CA" sz="1400" dirty="0"/>
            </a:p>
          </p:txBody>
        </p:sp>
        <p:sp>
          <p:nvSpPr>
            <p:cNvPr id="64" name="TextBox 63"/>
            <p:cNvSpPr txBox="1"/>
            <p:nvPr/>
          </p:nvSpPr>
          <p:spPr>
            <a:xfrm>
              <a:off x="3410627" y="5037779"/>
              <a:ext cx="276038" cy="307777"/>
            </a:xfrm>
            <a:prstGeom prst="rect">
              <a:avLst/>
            </a:prstGeom>
            <a:noFill/>
          </p:spPr>
          <p:txBody>
            <a:bodyPr wrap="none" rtlCol="0">
              <a:spAutoFit/>
            </a:bodyPr>
            <a:lstStyle/>
            <a:p>
              <a:pPr>
                <a:buNone/>
              </a:pPr>
              <a:r>
                <a:rPr lang="en-CA" sz="1400" dirty="0" smtClean="0"/>
                <a:t>8</a:t>
              </a:r>
              <a:endParaRPr lang="en-CA" sz="1400" dirty="0"/>
            </a:p>
          </p:txBody>
        </p:sp>
        <p:sp>
          <p:nvSpPr>
            <p:cNvPr id="65" name="TextBox 64"/>
            <p:cNvSpPr txBox="1"/>
            <p:nvPr/>
          </p:nvSpPr>
          <p:spPr>
            <a:xfrm>
              <a:off x="3209083" y="6155126"/>
              <a:ext cx="276038" cy="307777"/>
            </a:xfrm>
            <a:prstGeom prst="rect">
              <a:avLst/>
            </a:prstGeom>
            <a:noFill/>
          </p:spPr>
          <p:txBody>
            <a:bodyPr wrap="none" rtlCol="0">
              <a:spAutoFit/>
            </a:bodyPr>
            <a:lstStyle/>
            <a:p>
              <a:pPr>
                <a:buNone/>
              </a:pPr>
              <a:r>
                <a:rPr lang="en-CA" sz="1400" dirty="0" smtClean="0"/>
                <a:t>7</a:t>
              </a:r>
              <a:endParaRPr lang="en-CA" sz="1400" dirty="0"/>
            </a:p>
          </p:txBody>
        </p:sp>
        <p:sp>
          <p:nvSpPr>
            <p:cNvPr id="66" name="TextBox 65"/>
            <p:cNvSpPr txBox="1"/>
            <p:nvPr/>
          </p:nvSpPr>
          <p:spPr>
            <a:xfrm>
              <a:off x="3189629" y="4541123"/>
              <a:ext cx="276038" cy="307777"/>
            </a:xfrm>
            <a:prstGeom prst="rect">
              <a:avLst/>
            </a:prstGeom>
            <a:noFill/>
          </p:spPr>
          <p:txBody>
            <a:bodyPr wrap="none" rtlCol="0">
              <a:spAutoFit/>
            </a:bodyPr>
            <a:lstStyle/>
            <a:p>
              <a:pPr>
                <a:buNone/>
              </a:pPr>
              <a:r>
                <a:rPr lang="en-CA" sz="1400" dirty="0" smtClean="0"/>
                <a:t>9</a:t>
              </a:r>
              <a:endParaRPr lang="en-CA" sz="1400" dirty="0"/>
            </a:p>
          </p:txBody>
        </p:sp>
        <p:sp>
          <p:nvSpPr>
            <p:cNvPr id="67" name="TextBox 66"/>
            <p:cNvSpPr txBox="1"/>
            <p:nvPr/>
          </p:nvSpPr>
          <p:spPr>
            <a:xfrm>
              <a:off x="1612960" y="5928468"/>
              <a:ext cx="276038" cy="307777"/>
            </a:xfrm>
            <a:prstGeom prst="rect">
              <a:avLst/>
            </a:prstGeom>
            <a:noFill/>
          </p:spPr>
          <p:txBody>
            <a:bodyPr wrap="none" rtlCol="0">
              <a:spAutoFit/>
            </a:bodyPr>
            <a:lstStyle/>
            <a:p>
              <a:pPr>
                <a:buNone/>
              </a:pPr>
              <a:r>
                <a:rPr lang="en-CA" sz="1400" dirty="0" smtClean="0"/>
                <a:t>9</a:t>
              </a:r>
              <a:endParaRPr lang="en-CA" sz="1400" dirty="0"/>
            </a:p>
          </p:txBody>
        </p:sp>
        <p:sp>
          <p:nvSpPr>
            <p:cNvPr id="68" name="TextBox 67"/>
            <p:cNvSpPr txBox="1"/>
            <p:nvPr/>
          </p:nvSpPr>
          <p:spPr>
            <a:xfrm>
              <a:off x="1567275" y="4882838"/>
              <a:ext cx="367408" cy="307777"/>
            </a:xfrm>
            <a:prstGeom prst="rect">
              <a:avLst/>
            </a:prstGeom>
            <a:noFill/>
          </p:spPr>
          <p:txBody>
            <a:bodyPr wrap="none" rtlCol="0">
              <a:spAutoFit/>
            </a:bodyPr>
            <a:lstStyle/>
            <a:p>
              <a:pPr>
                <a:buNone/>
              </a:pPr>
              <a:r>
                <a:rPr lang="en-CA" sz="1400" dirty="0" smtClean="0"/>
                <a:t>10</a:t>
              </a:r>
              <a:endParaRPr lang="en-CA" sz="1400" dirty="0"/>
            </a:p>
          </p:txBody>
        </p:sp>
        <p:sp>
          <p:nvSpPr>
            <p:cNvPr id="69" name="TextBox 68"/>
            <p:cNvSpPr txBox="1"/>
            <p:nvPr/>
          </p:nvSpPr>
          <p:spPr>
            <a:xfrm>
              <a:off x="4732966" y="5738660"/>
              <a:ext cx="367408" cy="307777"/>
            </a:xfrm>
            <a:prstGeom prst="rect">
              <a:avLst/>
            </a:prstGeom>
            <a:noFill/>
          </p:spPr>
          <p:txBody>
            <a:bodyPr wrap="none" rtlCol="0">
              <a:spAutoFit/>
            </a:bodyPr>
            <a:lstStyle/>
            <a:p>
              <a:pPr>
                <a:buNone/>
              </a:pPr>
              <a:r>
                <a:rPr lang="en-CA" sz="1400" dirty="0" smtClean="0"/>
                <a:t>15</a:t>
              </a:r>
              <a:endParaRPr lang="en-CA" sz="1400" dirty="0"/>
            </a:p>
          </p:txBody>
        </p:sp>
        <p:sp>
          <p:nvSpPr>
            <p:cNvPr id="70" name="TextBox 69"/>
            <p:cNvSpPr txBox="1"/>
            <p:nvPr/>
          </p:nvSpPr>
          <p:spPr>
            <a:xfrm>
              <a:off x="4723261" y="4931912"/>
              <a:ext cx="276038" cy="307777"/>
            </a:xfrm>
            <a:prstGeom prst="rect">
              <a:avLst/>
            </a:prstGeom>
            <a:noFill/>
          </p:spPr>
          <p:txBody>
            <a:bodyPr wrap="none" rtlCol="0">
              <a:spAutoFit/>
            </a:bodyPr>
            <a:lstStyle/>
            <a:p>
              <a:pPr>
                <a:buNone/>
              </a:pPr>
              <a:r>
                <a:rPr lang="en-CA" sz="1400" dirty="0" smtClean="0"/>
                <a:t>3</a:t>
              </a:r>
              <a:endParaRPr lang="en-CA" sz="1400" dirty="0"/>
            </a:p>
          </p:txBody>
        </p:sp>
        <p:sp>
          <p:nvSpPr>
            <p:cNvPr id="71" name="TextBox 70"/>
            <p:cNvSpPr txBox="1"/>
            <p:nvPr/>
          </p:nvSpPr>
          <p:spPr>
            <a:xfrm>
              <a:off x="2108911" y="5312290"/>
              <a:ext cx="276038" cy="307777"/>
            </a:xfrm>
            <a:prstGeom prst="rect">
              <a:avLst/>
            </a:prstGeom>
            <a:noFill/>
          </p:spPr>
          <p:txBody>
            <a:bodyPr wrap="none" rtlCol="0">
              <a:spAutoFit/>
            </a:bodyPr>
            <a:lstStyle/>
            <a:p>
              <a:pPr>
                <a:buNone/>
              </a:pPr>
              <a:r>
                <a:rPr lang="en-CA" sz="1400" dirty="0" smtClean="0"/>
                <a:t>5</a:t>
              </a:r>
              <a:endParaRPr lang="en-CA" sz="1400" dirty="0"/>
            </a:p>
          </p:txBody>
        </p:sp>
      </p:gr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195</a:t>
            </a:fld>
            <a:endParaRPr lang="en-US"/>
          </a:p>
        </p:txBody>
      </p:sp>
    </p:spTree>
    <p:extLst>
      <p:ext uri="{BB962C8B-B14F-4D97-AF65-F5344CB8AC3E}">
        <p14:creationId xmlns:p14="http://schemas.microsoft.com/office/powerpoint/2010/main" val="486674599"/>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5"/>
          <p:cNvSpPr>
            <a:spLocks noChangeArrowheads="1"/>
          </p:cNvSpPr>
          <p:nvPr/>
        </p:nvSpPr>
        <p:spPr bwMode="auto">
          <a:xfrm>
            <a:off x="228600" y="228600"/>
            <a:ext cx="8534400" cy="327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96875" indent="-387350" defTabSz="760413">
              <a:buFont typeface="+mj-lt"/>
              <a:buAutoNum type="arabicPeriod" startAt="64"/>
            </a:pPr>
            <a:r>
              <a:rPr lang="en-US" b="1" dirty="0"/>
              <a:t>[CLRS, Problem 26-1, p. 760] Escape Problem</a:t>
            </a:r>
            <a:br>
              <a:rPr lang="en-US" b="1" dirty="0"/>
            </a:br>
            <a:r>
              <a:rPr lang="en-US" dirty="0"/>
              <a:t>An </a:t>
            </a:r>
            <a:r>
              <a:rPr lang="en-US" dirty="0" err="1"/>
              <a:t>n</a:t>
            </a:r>
            <a:r>
              <a:rPr lang="en-US" dirty="0" err="1">
                <a:sym typeface="Symbol" pitchFamily="18" charset="2"/>
              </a:rPr>
              <a:t></a:t>
            </a:r>
            <a:r>
              <a:rPr lang="en-US" dirty="0" err="1"/>
              <a:t>n</a:t>
            </a:r>
            <a:r>
              <a:rPr lang="en-US" dirty="0"/>
              <a:t> </a:t>
            </a:r>
            <a:r>
              <a:rPr lang="en-US" b="1" dirty="0">
                <a:solidFill>
                  <a:srgbClr val="CC0000"/>
                </a:solidFill>
              </a:rPr>
              <a:t>grid</a:t>
            </a:r>
            <a:r>
              <a:rPr lang="en-US" dirty="0"/>
              <a:t> is an undirected graph consisting of n rows and n columns of vertices, as shown below. We denote the vertex in row i and column j by (</a:t>
            </a:r>
            <a:r>
              <a:rPr lang="en-US" dirty="0" err="1"/>
              <a:t>i,j</a:t>
            </a:r>
            <a:r>
              <a:rPr lang="en-US" dirty="0"/>
              <a:t>). All vertices in a grid have exactly 4 neighbors, except for the boundary vertices, which are points (</a:t>
            </a:r>
            <a:r>
              <a:rPr lang="en-US" dirty="0" err="1"/>
              <a:t>i,j</a:t>
            </a:r>
            <a:r>
              <a:rPr lang="en-US" dirty="0"/>
              <a:t>) for which i=1, i=n, j=1 or j=n.</a:t>
            </a:r>
            <a:br>
              <a:rPr lang="en-US" dirty="0"/>
            </a:br>
            <a:r>
              <a:rPr lang="en-US" dirty="0"/>
              <a:t>	Given m </a:t>
            </a:r>
            <a:r>
              <a:rPr lang="en-US" dirty="0">
                <a:sym typeface="Symbol" pitchFamily="18" charset="2"/>
              </a:rPr>
              <a:t> </a:t>
            </a:r>
            <a:r>
              <a:rPr lang="en-US" dirty="0"/>
              <a:t>n</a:t>
            </a:r>
            <a:r>
              <a:rPr lang="en-US" baseline="30000" dirty="0"/>
              <a:t>2</a:t>
            </a:r>
            <a:r>
              <a:rPr lang="en-US" dirty="0"/>
              <a:t> starting points (x</a:t>
            </a:r>
            <a:r>
              <a:rPr lang="en-US" baseline="-25000" dirty="0"/>
              <a:t>1</a:t>
            </a:r>
            <a:r>
              <a:rPr lang="en-US" dirty="0"/>
              <a:t> , y</a:t>
            </a:r>
            <a:r>
              <a:rPr lang="en-US" baseline="-25000" dirty="0"/>
              <a:t>1</a:t>
            </a:r>
            <a:r>
              <a:rPr lang="en-US" dirty="0"/>
              <a:t>), (x</a:t>
            </a:r>
            <a:r>
              <a:rPr lang="en-US" baseline="-25000" dirty="0"/>
              <a:t>2</a:t>
            </a:r>
            <a:r>
              <a:rPr lang="en-US" dirty="0"/>
              <a:t> , y</a:t>
            </a:r>
            <a:r>
              <a:rPr lang="en-US" baseline="-25000" dirty="0"/>
              <a:t>2</a:t>
            </a:r>
            <a:r>
              <a:rPr lang="en-US" dirty="0"/>
              <a:t>), …, (</a:t>
            </a:r>
            <a:r>
              <a:rPr lang="en-US" dirty="0" err="1"/>
              <a:t>x</a:t>
            </a:r>
            <a:r>
              <a:rPr lang="en-US" baseline="-25000" dirty="0" err="1"/>
              <a:t>m</a:t>
            </a:r>
            <a:r>
              <a:rPr lang="en-US" dirty="0"/>
              <a:t> , </a:t>
            </a:r>
            <a:r>
              <a:rPr lang="en-US" dirty="0" err="1"/>
              <a:t>y</a:t>
            </a:r>
            <a:r>
              <a:rPr lang="en-US" baseline="-25000" dirty="0" err="1"/>
              <a:t>m</a:t>
            </a:r>
            <a:r>
              <a:rPr lang="en-US" dirty="0"/>
              <a:t>) in the grid, the </a:t>
            </a:r>
            <a:r>
              <a:rPr lang="en-US" b="1" dirty="0">
                <a:solidFill>
                  <a:srgbClr val="CC0000"/>
                </a:solidFill>
              </a:rPr>
              <a:t>escape problem</a:t>
            </a:r>
            <a:r>
              <a:rPr lang="en-US" dirty="0"/>
              <a:t> is to determine whether or not there are m vertex-disjoint paths from the starting points to any m different points on the boundary. For example, the grid in Fig (a) below has an escape, but the one in Fig (b) does not.</a:t>
            </a:r>
            <a:br>
              <a:rPr lang="en-US" dirty="0"/>
            </a:br>
            <a:r>
              <a:rPr lang="en-US" dirty="0"/>
              <a:t>(a)  Consider a flow network in which vertices, as well as edges, have capacities. That is, the </a:t>
            </a:r>
            <a:br>
              <a:rPr lang="en-US" dirty="0"/>
            </a:br>
            <a:r>
              <a:rPr lang="en-US" dirty="0"/>
              <a:t>      total positive flow entering any given vertex is subject to a capacity constraint. Show that </a:t>
            </a:r>
            <a:br>
              <a:rPr lang="en-US" dirty="0"/>
            </a:br>
            <a:r>
              <a:rPr lang="en-US" dirty="0"/>
              <a:t>      determining the maximum flow in a network with edge and vertex capacities can be reduced   </a:t>
            </a:r>
            <a:br>
              <a:rPr lang="en-US" dirty="0"/>
            </a:br>
            <a:r>
              <a:rPr lang="en-US" dirty="0"/>
              <a:t>      (or transformed) to an ordinary max-flow problem on a flow network of comparable size.</a:t>
            </a:r>
            <a:br>
              <a:rPr lang="en-US" dirty="0"/>
            </a:br>
            <a:r>
              <a:rPr lang="en-US" dirty="0"/>
              <a:t>(b)  Describe and analyze an efficient algorithm to solve the escape problem.  </a:t>
            </a:r>
          </a:p>
        </p:txBody>
      </p:sp>
      <p:grpSp>
        <p:nvGrpSpPr>
          <p:cNvPr id="198659" name="Group 159"/>
          <p:cNvGrpSpPr>
            <a:grpSpLocks/>
          </p:cNvGrpSpPr>
          <p:nvPr/>
        </p:nvGrpSpPr>
        <p:grpSpPr bwMode="auto">
          <a:xfrm>
            <a:off x="1443038" y="3733800"/>
            <a:ext cx="5948363" cy="2755900"/>
            <a:chOff x="909" y="2352"/>
            <a:chExt cx="3747" cy="1736"/>
          </a:xfrm>
        </p:grpSpPr>
        <p:sp>
          <p:nvSpPr>
            <p:cNvPr id="198660" name="Freeform 157"/>
            <p:cNvSpPr>
              <a:spLocks/>
            </p:cNvSpPr>
            <p:nvPr/>
          </p:nvSpPr>
          <p:spPr bwMode="auto">
            <a:xfrm>
              <a:off x="1824" y="2400"/>
              <a:ext cx="288" cy="576"/>
            </a:xfrm>
            <a:custGeom>
              <a:avLst/>
              <a:gdLst>
                <a:gd name="T0" fmla="*/ 0 w 288"/>
                <a:gd name="T1" fmla="*/ 576 h 576"/>
                <a:gd name="T2" fmla="*/ 288 w 288"/>
                <a:gd name="T3" fmla="*/ 576 h 576"/>
                <a:gd name="T4" fmla="*/ 288 w 288"/>
                <a:gd name="T5" fmla="*/ 0 h 576"/>
                <a:gd name="T6" fmla="*/ 0 60000 65536"/>
                <a:gd name="T7" fmla="*/ 0 60000 65536"/>
                <a:gd name="T8" fmla="*/ 0 60000 65536"/>
              </a:gdLst>
              <a:ahLst/>
              <a:cxnLst>
                <a:cxn ang="T6">
                  <a:pos x="T0" y="T1"/>
                </a:cxn>
                <a:cxn ang="T7">
                  <a:pos x="T2" y="T3"/>
                </a:cxn>
                <a:cxn ang="T8">
                  <a:pos x="T4" y="T5"/>
                </a:cxn>
              </a:cxnLst>
              <a:rect l="0" t="0" r="r" b="b"/>
              <a:pathLst>
                <a:path w="288" h="576">
                  <a:moveTo>
                    <a:pt x="0" y="576"/>
                  </a:moveTo>
                  <a:lnTo>
                    <a:pt x="288" y="576"/>
                  </a:lnTo>
                  <a:lnTo>
                    <a:pt x="288" y="0"/>
                  </a:lnTo>
                </a:path>
              </a:pathLst>
            </a:custGeom>
            <a:noFill/>
            <a:ln w="76200" cap="flat" cmpd="sng">
              <a:solidFill>
                <a:srgbClr val="96969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61" name="Line 154"/>
            <p:cNvSpPr>
              <a:spLocks noChangeShapeType="1"/>
            </p:cNvSpPr>
            <p:nvPr/>
          </p:nvSpPr>
          <p:spPr bwMode="auto">
            <a:xfrm>
              <a:off x="1824" y="3264"/>
              <a:ext cx="0" cy="576"/>
            </a:xfrm>
            <a:prstGeom prst="line">
              <a:avLst/>
            </a:prstGeom>
            <a:noFill/>
            <a:ln w="762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62" name="Freeform 155"/>
            <p:cNvSpPr>
              <a:spLocks/>
            </p:cNvSpPr>
            <p:nvPr/>
          </p:nvSpPr>
          <p:spPr bwMode="auto">
            <a:xfrm>
              <a:off x="1248" y="3264"/>
              <a:ext cx="288" cy="576"/>
            </a:xfrm>
            <a:custGeom>
              <a:avLst/>
              <a:gdLst>
                <a:gd name="T0" fmla="*/ 0 w 288"/>
                <a:gd name="T1" fmla="*/ 0 h 576"/>
                <a:gd name="T2" fmla="*/ 288 w 288"/>
                <a:gd name="T3" fmla="*/ 0 h 576"/>
                <a:gd name="T4" fmla="*/ 288 w 288"/>
                <a:gd name="T5" fmla="*/ 576 h 576"/>
                <a:gd name="T6" fmla="*/ 0 60000 65536"/>
                <a:gd name="T7" fmla="*/ 0 60000 65536"/>
                <a:gd name="T8" fmla="*/ 0 60000 65536"/>
              </a:gdLst>
              <a:ahLst/>
              <a:cxnLst>
                <a:cxn ang="T6">
                  <a:pos x="T0" y="T1"/>
                </a:cxn>
                <a:cxn ang="T7">
                  <a:pos x="T2" y="T3"/>
                </a:cxn>
                <a:cxn ang="T8">
                  <a:pos x="T4" y="T5"/>
                </a:cxn>
              </a:cxnLst>
              <a:rect l="0" t="0" r="r" b="b"/>
              <a:pathLst>
                <a:path w="288" h="576">
                  <a:moveTo>
                    <a:pt x="0" y="0"/>
                  </a:moveTo>
                  <a:lnTo>
                    <a:pt x="288" y="0"/>
                  </a:lnTo>
                  <a:lnTo>
                    <a:pt x="288" y="576"/>
                  </a:lnTo>
                </a:path>
              </a:pathLst>
            </a:custGeom>
            <a:noFill/>
            <a:ln w="76200" cap="flat" cmpd="sng">
              <a:solidFill>
                <a:srgbClr val="96969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63" name="Freeform 153"/>
            <p:cNvSpPr>
              <a:spLocks/>
            </p:cNvSpPr>
            <p:nvPr/>
          </p:nvSpPr>
          <p:spPr bwMode="auto">
            <a:xfrm>
              <a:off x="1823" y="2392"/>
              <a:ext cx="1" cy="296"/>
            </a:xfrm>
            <a:custGeom>
              <a:avLst/>
              <a:gdLst>
                <a:gd name="T0" fmla="*/ 1 w 1"/>
                <a:gd name="T1" fmla="*/ 296 h 296"/>
                <a:gd name="T2" fmla="*/ 0 w 1"/>
                <a:gd name="T3" fmla="*/ 0 h 296"/>
                <a:gd name="T4" fmla="*/ 0 60000 65536"/>
                <a:gd name="T5" fmla="*/ 0 60000 65536"/>
              </a:gdLst>
              <a:ahLst/>
              <a:cxnLst>
                <a:cxn ang="T4">
                  <a:pos x="T0" y="T1"/>
                </a:cxn>
                <a:cxn ang="T5">
                  <a:pos x="T2" y="T3"/>
                </a:cxn>
              </a:cxnLst>
              <a:rect l="0" t="0" r="r" b="b"/>
              <a:pathLst>
                <a:path w="1" h="296">
                  <a:moveTo>
                    <a:pt x="1" y="296"/>
                  </a:moveTo>
                  <a:lnTo>
                    <a:pt x="0" y="0"/>
                  </a:lnTo>
                </a:path>
              </a:pathLst>
            </a:custGeom>
            <a:noFill/>
            <a:ln w="76200" cmpd="sng">
              <a:solidFill>
                <a:srgbClr val="969696"/>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64" name="Freeform 156"/>
            <p:cNvSpPr>
              <a:spLocks/>
            </p:cNvSpPr>
            <p:nvPr/>
          </p:nvSpPr>
          <p:spPr bwMode="auto">
            <a:xfrm>
              <a:off x="1248" y="2400"/>
              <a:ext cx="288" cy="576"/>
            </a:xfrm>
            <a:custGeom>
              <a:avLst/>
              <a:gdLst>
                <a:gd name="T0" fmla="*/ 0 w 288"/>
                <a:gd name="T1" fmla="*/ 576 h 576"/>
                <a:gd name="T2" fmla="*/ 288 w 288"/>
                <a:gd name="T3" fmla="*/ 576 h 576"/>
                <a:gd name="T4" fmla="*/ 288 w 288"/>
                <a:gd name="T5" fmla="*/ 0 h 576"/>
                <a:gd name="T6" fmla="*/ 0 60000 65536"/>
                <a:gd name="T7" fmla="*/ 0 60000 65536"/>
                <a:gd name="T8" fmla="*/ 0 60000 65536"/>
              </a:gdLst>
              <a:ahLst/>
              <a:cxnLst>
                <a:cxn ang="T6">
                  <a:pos x="T0" y="T1"/>
                </a:cxn>
                <a:cxn ang="T7">
                  <a:pos x="T2" y="T3"/>
                </a:cxn>
                <a:cxn ang="T8">
                  <a:pos x="T4" y="T5"/>
                </a:cxn>
              </a:cxnLst>
              <a:rect l="0" t="0" r="r" b="b"/>
              <a:pathLst>
                <a:path w="288" h="576">
                  <a:moveTo>
                    <a:pt x="0" y="576"/>
                  </a:moveTo>
                  <a:lnTo>
                    <a:pt x="288" y="576"/>
                  </a:lnTo>
                  <a:lnTo>
                    <a:pt x="288" y="0"/>
                  </a:lnTo>
                </a:path>
              </a:pathLst>
            </a:custGeom>
            <a:noFill/>
            <a:ln w="76200" cap="flat" cmpd="sng">
              <a:solidFill>
                <a:srgbClr val="96969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65" name="Freeform 152"/>
            <p:cNvSpPr>
              <a:spLocks/>
            </p:cNvSpPr>
            <p:nvPr/>
          </p:nvSpPr>
          <p:spPr bwMode="auto">
            <a:xfrm>
              <a:off x="1247" y="2399"/>
              <a:ext cx="1" cy="289"/>
            </a:xfrm>
            <a:custGeom>
              <a:avLst/>
              <a:gdLst>
                <a:gd name="T0" fmla="*/ 1 w 1"/>
                <a:gd name="T1" fmla="*/ 289 h 289"/>
                <a:gd name="T2" fmla="*/ 0 w 1"/>
                <a:gd name="T3" fmla="*/ 0 h 289"/>
                <a:gd name="T4" fmla="*/ 0 60000 65536"/>
                <a:gd name="T5" fmla="*/ 0 60000 65536"/>
              </a:gdLst>
              <a:ahLst/>
              <a:cxnLst>
                <a:cxn ang="T4">
                  <a:pos x="T0" y="T1"/>
                </a:cxn>
                <a:cxn ang="T5">
                  <a:pos x="T2" y="T3"/>
                </a:cxn>
              </a:cxnLst>
              <a:rect l="0" t="0" r="r" b="b"/>
              <a:pathLst>
                <a:path w="1" h="289">
                  <a:moveTo>
                    <a:pt x="1" y="289"/>
                  </a:moveTo>
                  <a:lnTo>
                    <a:pt x="0" y="0"/>
                  </a:lnTo>
                </a:path>
              </a:pathLst>
            </a:custGeom>
            <a:noFill/>
            <a:ln w="76200">
              <a:solidFill>
                <a:srgbClr val="969696"/>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66" name="Line 88"/>
            <p:cNvSpPr>
              <a:spLocks noChangeShapeType="1"/>
            </p:cNvSpPr>
            <p:nvPr/>
          </p:nvSpPr>
          <p:spPr bwMode="auto">
            <a:xfrm>
              <a:off x="960" y="2400"/>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67" name="Line 89"/>
            <p:cNvSpPr>
              <a:spLocks noChangeShapeType="1"/>
            </p:cNvSpPr>
            <p:nvPr/>
          </p:nvSpPr>
          <p:spPr bwMode="auto">
            <a:xfrm>
              <a:off x="960" y="2688"/>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68" name="Line 90"/>
            <p:cNvSpPr>
              <a:spLocks noChangeShapeType="1"/>
            </p:cNvSpPr>
            <p:nvPr/>
          </p:nvSpPr>
          <p:spPr bwMode="auto">
            <a:xfrm>
              <a:off x="960" y="2976"/>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69" name="Line 91"/>
            <p:cNvSpPr>
              <a:spLocks noChangeShapeType="1"/>
            </p:cNvSpPr>
            <p:nvPr/>
          </p:nvSpPr>
          <p:spPr bwMode="auto">
            <a:xfrm>
              <a:off x="960" y="3264"/>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70" name="Line 92"/>
            <p:cNvSpPr>
              <a:spLocks noChangeShapeType="1"/>
            </p:cNvSpPr>
            <p:nvPr/>
          </p:nvSpPr>
          <p:spPr bwMode="auto">
            <a:xfrm>
              <a:off x="960" y="3552"/>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71" name="Line 93"/>
            <p:cNvSpPr>
              <a:spLocks noChangeShapeType="1"/>
            </p:cNvSpPr>
            <p:nvPr/>
          </p:nvSpPr>
          <p:spPr bwMode="auto">
            <a:xfrm>
              <a:off x="960" y="3840"/>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72" name="Line 94"/>
            <p:cNvSpPr>
              <a:spLocks noChangeShapeType="1"/>
            </p:cNvSpPr>
            <p:nvPr/>
          </p:nvSpPr>
          <p:spPr bwMode="auto">
            <a:xfrm>
              <a:off x="960" y="2400"/>
              <a:ext cx="0" cy="14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73" name="Line 95"/>
            <p:cNvSpPr>
              <a:spLocks noChangeShapeType="1"/>
            </p:cNvSpPr>
            <p:nvPr/>
          </p:nvSpPr>
          <p:spPr bwMode="auto">
            <a:xfrm>
              <a:off x="1248" y="2400"/>
              <a:ext cx="0" cy="14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74" name="Line 96"/>
            <p:cNvSpPr>
              <a:spLocks noChangeShapeType="1"/>
            </p:cNvSpPr>
            <p:nvPr/>
          </p:nvSpPr>
          <p:spPr bwMode="auto">
            <a:xfrm>
              <a:off x="1536" y="2400"/>
              <a:ext cx="0" cy="14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75" name="Line 97"/>
            <p:cNvSpPr>
              <a:spLocks noChangeShapeType="1"/>
            </p:cNvSpPr>
            <p:nvPr/>
          </p:nvSpPr>
          <p:spPr bwMode="auto">
            <a:xfrm>
              <a:off x="1824" y="2400"/>
              <a:ext cx="0" cy="14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76" name="Line 98"/>
            <p:cNvSpPr>
              <a:spLocks noChangeShapeType="1"/>
            </p:cNvSpPr>
            <p:nvPr/>
          </p:nvSpPr>
          <p:spPr bwMode="auto">
            <a:xfrm>
              <a:off x="2112" y="2400"/>
              <a:ext cx="0" cy="14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77" name="Line 99"/>
            <p:cNvSpPr>
              <a:spLocks noChangeShapeType="1"/>
            </p:cNvSpPr>
            <p:nvPr/>
          </p:nvSpPr>
          <p:spPr bwMode="auto">
            <a:xfrm>
              <a:off x="2400" y="2400"/>
              <a:ext cx="0" cy="14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78" name="Oval 51"/>
            <p:cNvSpPr>
              <a:spLocks noChangeArrowheads="1"/>
            </p:cNvSpPr>
            <p:nvPr/>
          </p:nvSpPr>
          <p:spPr bwMode="auto">
            <a:xfrm>
              <a:off x="912" y="235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79" name="Oval 52"/>
            <p:cNvSpPr>
              <a:spLocks noChangeArrowheads="1"/>
            </p:cNvSpPr>
            <p:nvPr/>
          </p:nvSpPr>
          <p:spPr bwMode="auto">
            <a:xfrm>
              <a:off x="1200" y="235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80" name="Oval 53"/>
            <p:cNvSpPr>
              <a:spLocks noChangeArrowheads="1"/>
            </p:cNvSpPr>
            <p:nvPr/>
          </p:nvSpPr>
          <p:spPr bwMode="auto">
            <a:xfrm>
              <a:off x="1488" y="235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81" name="Oval 54"/>
            <p:cNvSpPr>
              <a:spLocks noChangeArrowheads="1"/>
            </p:cNvSpPr>
            <p:nvPr/>
          </p:nvSpPr>
          <p:spPr bwMode="auto">
            <a:xfrm>
              <a:off x="1776" y="235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82" name="Oval 55"/>
            <p:cNvSpPr>
              <a:spLocks noChangeArrowheads="1"/>
            </p:cNvSpPr>
            <p:nvPr/>
          </p:nvSpPr>
          <p:spPr bwMode="auto">
            <a:xfrm>
              <a:off x="2064" y="235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83" name="Oval 56"/>
            <p:cNvSpPr>
              <a:spLocks noChangeArrowheads="1"/>
            </p:cNvSpPr>
            <p:nvPr/>
          </p:nvSpPr>
          <p:spPr bwMode="auto">
            <a:xfrm>
              <a:off x="2352" y="235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84" name="Oval 57"/>
            <p:cNvSpPr>
              <a:spLocks noChangeArrowheads="1"/>
            </p:cNvSpPr>
            <p:nvPr/>
          </p:nvSpPr>
          <p:spPr bwMode="auto">
            <a:xfrm>
              <a:off x="912" y="2640"/>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85" name="Oval 58"/>
            <p:cNvSpPr>
              <a:spLocks noChangeArrowheads="1"/>
            </p:cNvSpPr>
            <p:nvPr/>
          </p:nvSpPr>
          <p:spPr bwMode="auto">
            <a:xfrm>
              <a:off x="1200" y="2640"/>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86" name="Oval 59"/>
            <p:cNvSpPr>
              <a:spLocks noChangeArrowheads="1"/>
            </p:cNvSpPr>
            <p:nvPr/>
          </p:nvSpPr>
          <p:spPr bwMode="auto">
            <a:xfrm>
              <a:off x="1488" y="2640"/>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87" name="Oval 60"/>
            <p:cNvSpPr>
              <a:spLocks noChangeArrowheads="1"/>
            </p:cNvSpPr>
            <p:nvPr/>
          </p:nvSpPr>
          <p:spPr bwMode="auto">
            <a:xfrm>
              <a:off x="1776" y="2640"/>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88" name="Oval 61"/>
            <p:cNvSpPr>
              <a:spLocks noChangeArrowheads="1"/>
            </p:cNvSpPr>
            <p:nvPr/>
          </p:nvSpPr>
          <p:spPr bwMode="auto">
            <a:xfrm>
              <a:off x="2064" y="2640"/>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89" name="Oval 62"/>
            <p:cNvSpPr>
              <a:spLocks noChangeArrowheads="1"/>
            </p:cNvSpPr>
            <p:nvPr/>
          </p:nvSpPr>
          <p:spPr bwMode="auto">
            <a:xfrm>
              <a:off x="2352" y="2640"/>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90" name="Oval 63"/>
            <p:cNvSpPr>
              <a:spLocks noChangeArrowheads="1"/>
            </p:cNvSpPr>
            <p:nvPr/>
          </p:nvSpPr>
          <p:spPr bwMode="auto">
            <a:xfrm>
              <a:off x="912" y="2928"/>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91" name="Oval 64"/>
            <p:cNvSpPr>
              <a:spLocks noChangeArrowheads="1"/>
            </p:cNvSpPr>
            <p:nvPr/>
          </p:nvSpPr>
          <p:spPr bwMode="auto">
            <a:xfrm>
              <a:off x="1200" y="2928"/>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92" name="Oval 65"/>
            <p:cNvSpPr>
              <a:spLocks noChangeArrowheads="1"/>
            </p:cNvSpPr>
            <p:nvPr/>
          </p:nvSpPr>
          <p:spPr bwMode="auto">
            <a:xfrm>
              <a:off x="1488" y="2928"/>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93" name="Oval 66"/>
            <p:cNvSpPr>
              <a:spLocks noChangeArrowheads="1"/>
            </p:cNvSpPr>
            <p:nvPr/>
          </p:nvSpPr>
          <p:spPr bwMode="auto">
            <a:xfrm>
              <a:off x="1776" y="2928"/>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94" name="Oval 67"/>
            <p:cNvSpPr>
              <a:spLocks noChangeArrowheads="1"/>
            </p:cNvSpPr>
            <p:nvPr/>
          </p:nvSpPr>
          <p:spPr bwMode="auto">
            <a:xfrm>
              <a:off x="2064" y="2928"/>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95" name="Oval 68"/>
            <p:cNvSpPr>
              <a:spLocks noChangeArrowheads="1"/>
            </p:cNvSpPr>
            <p:nvPr/>
          </p:nvSpPr>
          <p:spPr bwMode="auto">
            <a:xfrm>
              <a:off x="2352" y="2928"/>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96" name="Oval 69"/>
            <p:cNvSpPr>
              <a:spLocks noChangeArrowheads="1"/>
            </p:cNvSpPr>
            <p:nvPr/>
          </p:nvSpPr>
          <p:spPr bwMode="auto">
            <a:xfrm>
              <a:off x="912" y="321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97" name="Oval 70"/>
            <p:cNvSpPr>
              <a:spLocks noChangeArrowheads="1"/>
            </p:cNvSpPr>
            <p:nvPr/>
          </p:nvSpPr>
          <p:spPr bwMode="auto">
            <a:xfrm>
              <a:off x="1200" y="3216"/>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98" name="Oval 71"/>
            <p:cNvSpPr>
              <a:spLocks noChangeArrowheads="1"/>
            </p:cNvSpPr>
            <p:nvPr/>
          </p:nvSpPr>
          <p:spPr bwMode="auto">
            <a:xfrm>
              <a:off x="1488" y="321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699" name="Oval 72"/>
            <p:cNvSpPr>
              <a:spLocks noChangeArrowheads="1"/>
            </p:cNvSpPr>
            <p:nvPr/>
          </p:nvSpPr>
          <p:spPr bwMode="auto">
            <a:xfrm>
              <a:off x="1776" y="3216"/>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00" name="Oval 73"/>
            <p:cNvSpPr>
              <a:spLocks noChangeArrowheads="1"/>
            </p:cNvSpPr>
            <p:nvPr/>
          </p:nvSpPr>
          <p:spPr bwMode="auto">
            <a:xfrm>
              <a:off x="2064" y="3216"/>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01" name="Oval 74"/>
            <p:cNvSpPr>
              <a:spLocks noChangeArrowheads="1"/>
            </p:cNvSpPr>
            <p:nvPr/>
          </p:nvSpPr>
          <p:spPr bwMode="auto">
            <a:xfrm>
              <a:off x="2352" y="3216"/>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02" name="Oval 75"/>
            <p:cNvSpPr>
              <a:spLocks noChangeArrowheads="1"/>
            </p:cNvSpPr>
            <p:nvPr/>
          </p:nvSpPr>
          <p:spPr bwMode="auto">
            <a:xfrm>
              <a:off x="912" y="3504"/>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03" name="Oval 76"/>
            <p:cNvSpPr>
              <a:spLocks noChangeArrowheads="1"/>
            </p:cNvSpPr>
            <p:nvPr/>
          </p:nvSpPr>
          <p:spPr bwMode="auto">
            <a:xfrm>
              <a:off x="1200" y="3504"/>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04" name="Oval 77"/>
            <p:cNvSpPr>
              <a:spLocks noChangeArrowheads="1"/>
            </p:cNvSpPr>
            <p:nvPr/>
          </p:nvSpPr>
          <p:spPr bwMode="auto">
            <a:xfrm>
              <a:off x="1488" y="3504"/>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05" name="Oval 78"/>
            <p:cNvSpPr>
              <a:spLocks noChangeArrowheads="1"/>
            </p:cNvSpPr>
            <p:nvPr/>
          </p:nvSpPr>
          <p:spPr bwMode="auto">
            <a:xfrm>
              <a:off x="1776" y="3504"/>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06" name="Oval 79"/>
            <p:cNvSpPr>
              <a:spLocks noChangeArrowheads="1"/>
            </p:cNvSpPr>
            <p:nvPr/>
          </p:nvSpPr>
          <p:spPr bwMode="auto">
            <a:xfrm>
              <a:off x="2064" y="3504"/>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07" name="Oval 80"/>
            <p:cNvSpPr>
              <a:spLocks noChangeArrowheads="1"/>
            </p:cNvSpPr>
            <p:nvPr/>
          </p:nvSpPr>
          <p:spPr bwMode="auto">
            <a:xfrm>
              <a:off x="2352" y="3504"/>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08" name="Oval 81"/>
            <p:cNvSpPr>
              <a:spLocks noChangeArrowheads="1"/>
            </p:cNvSpPr>
            <p:nvPr/>
          </p:nvSpPr>
          <p:spPr bwMode="auto">
            <a:xfrm>
              <a:off x="912" y="379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09" name="Oval 82"/>
            <p:cNvSpPr>
              <a:spLocks noChangeArrowheads="1"/>
            </p:cNvSpPr>
            <p:nvPr/>
          </p:nvSpPr>
          <p:spPr bwMode="auto">
            <a:xfrm>
              <a:off x="1200" y="379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10" name="Oval 83"/>
            <p:cNvSpPr>
              <a:spLocks noChangeArrowheads="1"/>
            </p:cNvSpPr>
            <p:nvPr/>
          </p:nvSpPr>
          <p:spPr bwMode="auto">
            <a:xfrm>
              <a:off x="1488" y="379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11" name="Oval 84"/>
            <p:cNvSpPr>
              <a:spLocks noChangeArrowheads="1"/>
            </p:cNvSpPr>
            <p:nvPr/>
          </p:nvSpPr>
          <p:spPr bwMode="auto">
            <a:xfrm>
              <a:off x="1776" y="379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12" name="Oval 85"/>
            <p:cNvSpPr>
              <a:spLocks noChangeArrowheads="1"/>
            </p:cNvSpPr>
            <p:nvPr/>
          </p:nvSpPr>
          <p:spPr bwMode="auto">
            <a:xfrm>
              <a:off x="2064" y="379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13" name="Oval 86"/>
            <p:cNvSpPr>
              <a:spLocks noChangeArrowheads="1"/>
            </p:cNvSpPr>
            <p:nvPr/>
          </p:nvSpPr>
          <p:spPr bwMode="auto">
            <a:xfrm>
              <a:off x="2352" y="379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14" name="Line 100"/>
            <p:cNvSpPr>
              <a:spLocks noChangeShapeType="1"/>
            </p:cNvSpPr>
            <p:nvPr/>
          </p:nvSpPr>
          <p:spPr bwMode="auto">
            <a:xfrm>
              <a:off x="3168" y="2400"/>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15" name="Line 101"/>
            <p:cNvSpPr>
              <a:spLocks noChangeShapeType="1"/>
            </p:cNvSpPr>
            <p:nvPr/>
          </p:nvSpPr>
          <p:spPr bwMode="auto">
            <a:xfrm>
              <a:off x="3168" y="2688"/>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16" name="Line 102"/>
            <p:cNvSpPr>
              <a:spLocks noChangeShapeType="1"/>
            </p:cNvSpPr>
            <p:nvPr/>
          </p:nvSpPr>
          <p:spPr bwMode="auto">
            <a:xfrm>
              <a:off x="3168" y="2976"/>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17" name="Line 103"/>
            <p:cNvSpPr>
              <a:spLocks noChangeShapeType="1"/>
            </p:cNvSpPr>
            <p:nvPr/>
          </p:nvSpPr>
          <p:spPr bwMode="auto">
            <a:xfrm>
              <a:off x="3168" y="3264"/>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18" name="Line 104"/>
            <p:cNvSpPr>
              <a:spLocks noChangeShapeType="1"/>
            </p:cNvSpPr>
            <p:nvPr/>
          </p:nvSpPr>
          <p:spPr bwMode="auto">
            <a:xfrm>
              <a:off x="3168" y="3552"/>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19" name="Line 105"/>
            <p:cNvSpPr>
              <a:spLocks noChangeShapeType="1"/>
            </p:cNvSpPr>
            <p:nvPr/>
          </p:nvSpPr>
          <p:spPr bwMode="auto">
            <a:xfrm>
              <a:off x="3168" y="3840"/>
              <a:ext cx="14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20" name="Line 106"/>
            <p:cNvSpPr>
              <a:spLocks noChangeShapeType="1"/>
            </p:cNvSpPr>
            <p:nvPr/>
          </p:nvSpPr>
          <p:spPr bwMode="auto">
            <a:xfrm>
              <a:off x="3168" y="2400"/>
              <a:ext cx="0" cy="14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21" name="Line 107"/>
            <p:cNvSpPr>
              <a:spLocks noChangeShapeType="1"/>
            </p:cNvSpPr>
            <p:nvPr/>
          </p:nvSpPr>
          <p:spPr bwMode="auto">
            <a:xfrm>
              <a:off x="3456" y="2400"/>
              <a:ext cx="0" cy="14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22" name="Line 108"/>
            <p:cNvSpPr>
              <a:spLocks noChangeShapeType="1"/>
            </p:cNvSpPr>
            <p:nvPr/>
          </p:nvSpPr>
          <p:spPr bwMode="auto">
            <a:xfrm>
              <a:off x="3744" y="2400"/>
              <a:ext cx="0" cy="14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23" name="Line 109"/>
            <p:cNvSpPr>
              <a:spLocks noChangeShapeType="1"/>
            </p:cNvSpPr>
            <p:nvPr/>
          </p:nvSpPr>
          <p:spPr bwMode="auto">
            <a:xfrm>
              <a:off x="4032" y="2400"/>
              <a:ext cx="0" cy="14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24" name="Line 110"/>
            <p:cNvSpPr>
              <a:spLocks noChangeShapeType="1"/>
            </p:cNvSpPr>
            <p:nvPr/>
          </p:nvSpPr>
          <p:spPr bwMode="auto">
            <a:xfrm>
              <a:off x="4320" y="2400"/>
              <a:ext cx="0" cy="14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25" name="Line 111"/>
            <p:cNvSpPr>
              <a:spLocks noChangeShapeType="1"/>
            </p:cNvSpPr>
            <p:nvPr/>
          </p:nvSpPr>
          <p:spPr bwMode="auto">
            <a:xfrm>
              <a:off x="4608" y="2400"/>
              <a:ext cx="0" cy="14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26" name="Oval 113"/>
            <p:cNvSpPr>
              <a:spLocks noChangeArrowheads="1"/>
            </p:cNvSpPr>
            <p:nvPr/>
          </p:nvSpPr>
          <p:spPr bwMode="auto">
            <a:xfrm>
              <a:off x="3120" y="235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27" name="Oval 114"/>
            <p:cNvSpPr>
              <a:spLocks noChangeArrowheads="1"/>
            </p:cNvSpPr>
            <p:nvPr/>
          </p:nvSpPr>
          <p:spPr bwMode="auto">
            <a:xfrm>
              <a:off x="3408" y="235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28" name="Oval 115"/>
            <p:cNvSpPr>
              <a:spLocks noChangeArrowheads="1"/>
            </p:cNvSpPr>
            <p:nvPr/>
          </p:nvSpPr>
          <p:spPr bwMode="auto">
            <a:xfrm>
              <a:off x="3696" y="235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29" name="Oval 116"/>
            <p:cNvSpPr>
              <a:spLocks noChangeArrowheads="1"/>
            </p:cNvSpPr>
            <p:nvPr/>
          </p:nvSpPr>
          <p:spPr bwMode="auto">
            <a:xfrm>
              <a:off x="3984" y="235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30" name="Oval 117"/>
            <p:cNvSpPr>
              <a:spLocks noChangeArrowheads="1"/>
            </p:cNvSpPr>
            <p:nvPr/>
          </p:nvSpPr>
          <p:spPr bwMode="auto">
            <a:xfrm>
              <a:off x="4272" y="235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31" name="Oval 118"/>
            <p:cNvSpPr>
              <a:spLocks noChangeArrowheads="1"/>
            </p:cNvSpPr>
            <p:nvPr/>
          </p:nvSpPr>
          <p:spPr bwMode="auto">
            <a:xfrm>
              <a:off x="4560" y="2352"/>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32" name="Oval 119"/>
            <p:cNvSpPr>
              <a:spLocks noChangeArrowheads="1"/>
            </p:cNvSpPr>
            <p:nvPr/>
          </p:nvSpPr>
          <p:spPr bwMode="auto">
            <a:xfrm>
              <a:off x="3120"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33" name="Oval 120"/>
            <p:cNvSpPr>
              <a:spLocks noChangeArrowheads="1"/>
            </p:cNvSpPr>
            <p:nvPr/>
          </p:nvSpPr>
          <p:spPr bwMode="auto">
            <a:xfrm>
              <a:off x="3408" y="2640"/>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34" name="Oval 121"/>
            <p:cNvSpPr>
              <a:spLocks noChangeArrowheads="1"/>
            </p:cNvSpPr>
            <p:nvPr/>
          </p:nvSpPr>
          <p:spPr bwMode="auto">
            <a:xfrm>
              <a:off x="3696" y="2640"/>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35" name="Oval 122"/>
            <p:cNvSpPr>
              <a:spLocks noChangeArrowheads="1"/>
            </p:cNvSpPr>
            <p:nvPr/>
          </p:nvSpPr>
          <p:spPr bwMode="auto">
            <a:xfrm>
              <a:off x="3984" y="2640"/>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36" name="Oval 123"/>
            <p:cNvSpPr>
              <a:spLocks noChangeArrowheads="1"/>
            </p:cNvSpPr>
            <p:nvPr/>
          </p:nvSpPr>
          <p:spPr bwMode="auto">
            <a:xfrm>
              <a:off x="4272" y="2640"/>
              <a:ext cx="96" cy="9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37" name="Oval 124"/>
            <p:cNvSpPr>
              <a:spLocks noChangeArrowheads="1"/>
            </p:cNvSpPr>
            <p:nvPr/>
          </p:nvSpPr>
          <p:spPr bwMode="auto">
            <a:xfrm>
              <a:off x="4560" y="2640"/>
              <a:ext cx="96" cy="96"/>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nchor="ctr">
              <a:spAutoFit/>
            </a:bodyPr>
            <a:lstStyle/>
            <a:p>
              <a:endParaRPr lang="en-CA"/>
            </a:p>
          </p:txBody>
        </p:sp>
        <p:sp>
          <p:nvSpPr>
            <p:cNvPr id="198738" name="Oval 125"/>
            <p:cNvSpPr>
              <a:spLocks noChangeArrowheads="1"/>
            </p:cNvSpPr>
            <p:nvPr/>
          </p:nvSpPr>
          <p:spPr bwMode="auto">
            <a:xfrm>
              <a:off x="3120" y="2928"/>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39" name="Oval 126"/>
            <p:cNvSpPr>
              <a:spLocks noChangeArrowheads="1"/>
            </p:cNvSpPr>
            <p:nvPr/>
          </p:nvSpPr>
          <p:spPr bwMode="auto">
            <a:xfrm>
              <a:off x="3408" y="2928"/>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40" name="Oval 127"/>
            <p:cNvSpPr>
              <a:spLocks noChangeArrowheads="1"/>
            </p:cNvSpPr>
            <p:nvPr/>
          </p:nvSpPr>
          <p:spPr bwMode="auto">
            <a:xfrm>
              <a:off x="3696" y="2928"/>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41" name="Oval 128"/>
            <p:cNvSpPr>
              <a:spLocks noChangeArrowheads="1"/>
            </p:cNvSpPr>
            <p:nvPr/>
          </p:nvSpPr>
          <p:spPr bwMode="auto">
            <a:xfrm>
              <a:off x="3984" y="2928"/>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42" name="Oval 129"/>
            <p:cNvSpPr>
              <a:spLocks noChangeArrowheads="1"/>
            </p:cNvSpPr>
            <p:nvPr/>
          </p:nvSpPr>
          <p:spPr bwMode="auto">
            <a:xfrm>
              <a:off x="4272" y="2928"/>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43" name="Oval 130"/>
            <p:cNvSpPr>
              <a:spLocks noChangeArrowheads="1"/>
            </p:cNvSpPr>
            <p:nvPr/>
          </p:nvSpPr>
          <p:spPr bwMode="auto">
            <a:xfrm>
              <a:off x="4560" y="2928"/>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44" name="Oval 131"/>
            <p:cNvSpPr>
              <a:spLocks noChangeArrowheads="1"/>
            </p:cNvSpPr>
            <p:nvPr/>
          </p:nvSpPr>
          <p:spPr bwMode="auto">
            <a:xfrm>
              <a:off x="3120" y="321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45" name="Oval 132"/>
            <p:cNvSpPr>
              <a:spLocks noChangeArrowheads="1"/>
            </p:cNvSpPr>
            <p:nvPr/>
          </p:nvSpPr>
          <p:spPr bwMode="auto">
            <a:xfrm>
              <a:off x="3408" y="3216"/>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46" name="Oval 133"/>
            <p:cNvSpPr>
              <a:spLocks noChangeArrowheads="1"/>
            </p:cNvSpPr>
            <p:nvPr/>
          </p:nvSpPr>
          <p:spPr bwMode="auto">
            <a:xfrm>
              <a:off x="3696" y="321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47" name="Oval 134"/>
            <p:cNvSpPr>
              <a:spLocks noChangeArrowheads="1"/>
            </p:cNvSpPr>
            <p:nvPr/>
          </p:nvSpPr>
          <p:spPr bwMode="auto">
            <a:xfrm>
              <a:off x="3984" y="3216"/>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48" name="Oval 135"/>
            <p:cNvSpPr>
              <a:spLocks noChangeArrowheads="1"/>
            </p:cNvSpPr>
            <p:nvPr/>
          </p:nvSpPr>
          <p:spPr bwMode="auto">
            <a:xfrm>
              <a:off x="4272" y="321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49" name="Oval 136"/>
            <p:cNvSpPr>
              <a:spLocks noChangeArrowheads="1"/>
            </p:cNvSpPr>
            <p:nvPr/>
          </p:nvSpPr>
          <p:spPr bwMode="auto">
            <a:xfrm>
              <a:off x="4560" y="3216"/>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50" name="Oval 137"/>
            <p:cNvSpPr>
              <a:spLocks noChangeArrowheads="1"/>
            </p:cNvSpPr>
            <p:nvPr/>
          </p:nvSpPr>
          <p:spPr bwMode="auto">
            <a:xfrm>
              <a:off x="3120" y="350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51" name="Oval 138"/>
            <p:cNvSpPr>
              <a:spLocks noChangeArrowheads="1"/>
            </p:cNvSpPr>
            <p:nvPr/>
          </p:nvSpPr>
          <p:spPr bwMode="auto">
            <a:xfrm>
              <a:off x="3408" y="350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52" name="Oval 139"/>
            <p:cNvSpPr>
              <a:spLocks noChangeArrowheads="1"/>
            </p:cNvSpPr>
            <p:nvPr/>
          </p:nvSpPr>
          <p:spPr bwMode="auto">
            <a:xfrm>
              <a:off x="3696" y="350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53" name="Oval 140"/>
            <p:cNvSpPr>
              <a:spLocks noChangeArrowheads="1"/>
            </p:cNvSpPr>
            <p:nvPr/>
          </p:nvSpPr>
          <p:spPr bwMode="auto">
            <a:xfrm>
              <a:off x="3984" y="350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54" name="Oval 141"/>
            <p:cNvSpPr>
              <a:spLocks noChangeArrowheads="1"/>
            </p:cNvSpPr>
            <p:nvPr/>
          </p:nvSpPr>
          <p:spPr bwMode="auto">
            <a:xfrm>
              <a:off x="4272" y="350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55" name="Oval 142"/>
            <p:cNvSpPr>
              <a:spLocks noChangeArrowheads="1"/>
            </p:cNvSpPr>
            <p:nvPr/>
          </p:nvSpPr>
          <p:spPr bwMode="auto">
            <a:xfrm>
              <a:off x="4560" y="350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56" name="Oval 143"/>
            <p:cNvSpPr>
              <a:spLocks noChangeArrowheads="1"/>
            </p:cNvSpPr>
            <p:nvPr/>
          </p:nvSpPr>
          <p:spPr bwMode="auto">
            <a:xfrm>
              <a:off x="3120" y="379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57" name="Oval 144"/>
            <p:cNvSpPr>
              <a:spLocks noChangeArrowheads="1"/>
            </p:cNvSpPr>
            <p:nvPr/>
          </p:nvSpPr>
          <p:spPr bwMode="auto">
            <a:xfrm>
              <a:off x="3408" y="379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58" name="Oval 145"/>
            <p:cNvSpPr>
              <a:spLocks noChangeArrowheads="1"/>
            </p:cNvSpPr>
            <p:nvPr/>
          </p:nvSpPr>
          <p:spPr bwMode="auto">
            <a:xfrm>
              <a:off x="3696" y="379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59" name="Oval 146"/>
            <p:cNvSpPr>
              <a:spLocks noChangeArrowheads="1"/>
            </p:cNvSpPr>
            <p:nvPr/>
          </p:nvSpPr>
          <p:spPr bwMode="auto">
            <a:xfrm>
              <a:off x="3984" y="379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60" name="Oval 147"/>
            <p:cNvSpPr>
              <a:spLocks noChangeArrowheads="1"/>
            </p:cNvSpPr>
            <p:nvPr/>
          </p:nvSpPr>
          <p:spPr bwMode="auto">
            <a:xfrm>
              <a:off x="4272" y="379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61" name="Oval 148"/>
            <p:cNvSpPr>
              <a:spLocks noChangeArrowheads="1"/>
            </p:cNvSpPr>
            <p:nvPr/>
          </p:nvSpPr>
          <p:spPr bwMode="auto">
            <a:xfrm>
              <a:off x="4560" y="379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98762" name="Text Box 149"/>
            <p:cNvSpPr txBox="1">
              <a:spLocks noChangeArrowheads="1"/>
            </p:cNvSpPr>
            <p:nvPr/>
          </p:nvSpPr>
          <p:spPr bwMode="auto">
            <a:xfrm>
              <a:off x="3744" y="3936"/>
              <a:ext cx="266"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(b)</a:t>
              </a:r>
            </a:p>
          </p:txBody>
        </p:sp>
        <p:sp>
          <p:nvSpPr>
            <p:cNvPr id="198763" name="Text Box 150"/>
            <p:cNvSpPr txBox="1">
              <a:spLocks noChangeArrowheads="1"/>
            </p:cNvSpPr>
            <p:nvPr/>
          </p:nvSpPr>
          <p:spPr bwMode="auto">
            <a:xfrm>
              <a:off x="1536" y="3936"/>
              <a:ext cx="259"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75000"/>
                </a:lnSpc>
                <a:spcBef>
                  <a:spcPct val="50000"/>
                </a:spcBef>
                <a:buFont typeface="Wingdings" pitchFamily="2" charset="2"/>
                <a:buNone/>
              </a:pPr>
              <a:r>
                <a:rPr lang="en-US"/>
                <a:t>(a)</a:t>
              </a:r>
            </a:p>
          </p:txBody>
        </p:sp>
        <p:sp>
          <p:nvSpPr>
            <p:cNvPr id="108" name="Oval 51"/>
            <p:cNvSpPr>
              <a:spLocks noChangeArrowheads="1"/>
            </p:cNvSpPr>
            <p:nvPr/>
          </p:nvSpPr>
          <p:spPr bwMode="auto">
            <a:xfrm>
              <a:off x="909"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09" name="Oval 52"/>
            <p:cNvSpPr>
              <a:spLocks noChangeArrowheads="1"/>
            </p:cNvSpPr>
            <p:nvPr/>
          </p:nvSpPr>
          <p:spPr bwMode="auto">
            <a:xfrm>
              <a:off x="1197"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10" name="Oval 53"/>
            <p:cNvSpPr>
              <a:spLocks noChangeArrowheads="1"/>
            </p:cNvSpPr>
            <p:nvPr/>
          </p:nvSpPr>
          <p:spPr bwMode="auto">
            <a:xfrm>
              <a:off x="1485"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11" name="Oval 54"/>
            <p:cNvSpPr>
              <a:spLocks noChangeArrowheads="1"/>
            </p:cNvSpPr>
            <p:nvPr/>
          </p:nvSpPr>
          <p:spPr bwMode="auto">
            <a:xfrm>
              <a:off x="1773"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12" name="Oval 55"/>
            <p:cNvSpPr>
              <a:spLocks noChangeArrowheads="1"/>
            </p:cNvSpPr>
            <p:nvPr/>
          </p:nvSpPr>
          <p:spPr bwMode="auto">
            <a:xfrm>
              <a:off x="2061"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13" name="Oval 56"/>
            <p:cNvSpPr>
              <a:spLocks noChangeArrowheads="1"/>
            </p:cNvSpPr>
            <p:nvPr/>
          </p:nvSpPr>
          <p:spPr bwMode="auto">
            <a:xfrm>
              <a:off x="2349"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14" name="Oval 57"/>
            <p:cNvSpPr>
              <a:spLocks noChangeArrowheads="1"/>
            </p:cNvSpPr>
            <p:nvPr/>
          </p:nvSpPr>
          <p:spPr bwMode="auto">
            <a:xfrm>
              <a:off x="909"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15" name="Oval 58"/>
            <p:cNvSpPr>
              <a:spLocks noChangeArrowheads="1"/>
            </p:cNvSpPr>
            <p:nvPr/>
          </p:nvSpPr>
          <p:spPr bwMode="auto">
            <a:xfrm>
              <a:off x="1197" y="2640"/>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16" name="Oval 59"/>
            <p:cNvSpPr>
              <a:spLocks noChangeArrowheads="1"/>
            </p:cNvSpPr>
            <p:nvPr/>
          </p:nvSpPr>
          <p:spPr bwMode="auto">
            <a:xfrm>
              <a:off x="1485"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17" name="Oval 60"/>
            <p:cNvSpPr>
              <a:spLocks noChangeArrowheads="1"/>
            </p:cNvSpPr>
            <p:nvPr/>
          </p:nvSpPr>
          <p:spPr bwMode="auto">
            <a:xfrm>
              <a:off x="1773" y="2640"/>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18" name="Oval 61"/>
            <p:cNvSpPr>
              <a:spLocks noChangeArrowheads="1"/>
            </p:cNvSpPr>
            <p:nvPr/>
          </p:nvSpPr>
          <p:spPr bwMode="auto">
            <a:xfrm>
              <a:off x="2061"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19" name="Oval 62"/>
            <p:cNvSpPr>
              <a:spLocks noChangeArrowheads="1"/>
            </p:cNvSpPr>
            <p:nvPr/>
          </p:nvSpPr>
          <p:spPr bwMode="auto">
            <a:xfrm>
              <a:off x="2349" y="2640"/>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20" name="Oval 63"/>
            <p:cNvSpPr>
              <a:spLocks noChangeArrowheads="1"/>
            </p:cNvSpPr>
            <p:nvPr/>
          </p:nvSpPr>
          <p:spPr bwMode="auto">
            <a:xfrm>
              <a:off x="909" y="2928"/>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21" name="Oval 64"/>
            <p:cNvSpPr>
              <a:spLocks noChangeArrowheads="1"/>
            </p:cNvSpPr>
            <p:nvPr/>
          </p:nvSpPr>
          <p:spPr bwMode="auto">
            <a:xfrm>
              <a:off x="1197" y="2928"/>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22" name="Oval 65"/>
            <p:cNvSpPr>
              <a:spLocks noChangeArrowheads="1"/>
            </p:cNvSpPr>
            <p:nvPr/>
          </p:nvSpPr>
          <p:spPr bwMode="auto">
            <a:xfrm>
              <a:off x="1485" y="2928"/>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23" name="Oval 66"/>
            <p:cNvSpPr>
              <a:spLocks noChangeArrowheads="1"/>
            </p:cNvSpPr>
            <p:nvPr/>
          </p:nvSpPr>
          <p:spPr bwMode="auto">
            <a:xfrm>
              <a:off x="1773" y="2928"/>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24" name="Oval 67"/>
            <p:cNvSpPr>
              <a:spLocks noChangeArrowheads="1"/>
            </p:cNvSpPr>
            <p:nvPr/>
          </p:nvSpPr>
          <p:spPr bwMode="auto">
            <a:xfrm>
              <a:off x="2061" y="2928"/>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25" name="Oval 68"/>
            <p:cNvSpPr>
              <a:spLocks noChangeArrowheads="1"/>
            </p:cNvSpPr>
            <p:nvPr/>
          </p:nvSpPr>
          <p:spPr bwMode="auto">
            <a:xfrm>
              <a:off x="2349" y="2928"/>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26" name="Oval 69"/>
            <p:cNvSpPr>
              <a:spLocks noChangeArrowheads="1"/>
            </p:cNvSpPr>
            <p:nvPr/>
          </p:nvSpPr>
          <p:spPr bwMode="auto">
            <a:xfrm>
              <a:off x="909" y="321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27" name="Oval 70"/>
            <p:cNvSpPr>
              <a:spLocks noChangeArrowheads="1"/>
            </p:cNvSpPr>
            <p:nvPr/>
          </p:nvSpPr>
          <p:spPr bwMode="auto">
            <a:xfrm>
              <a:off x="1197" y="3216"/>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28" name="Oval 71"/>
            <p:cNvSpPr>
              <a:spLocks noChangeArrowheads="1"/>
            </p:cNvSpPr>
            <p:nvPr/>
          </p:nvSpPr>
          <p:spPr bwMode="auto">
            <a:xfrm>
              <a:off x="1485" y="321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29" name="Oval 72"/>
            <p:cNvSpPr>
              <a:spLocks noChangeArrowheads="1"/>
            </p:cNvSpPr>
            <p:nvPr/>
          </p:nvSpPr>
          <p:spPr bwMode="auto">
            <a:xfrm>
              <a:off x="1773" y="3216"/>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30" name="Oval 73"/>
            <p:cNvSpPr>
              <a:spLocks noChangeArrowheads="1"/>
            </p:cNvSpPr>
            <p:nvPr/>
          </p:nvSpPr>
          <p:spPr bwMode="auto">
            <a:xfrm>
              <a:off x="2061" y="3216"/>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31" name="Oval 74"/>
            <p:cNvSpPr>
              <a:spLocks noChangeArrowheads="1"/>
            </p:cNvSpPr>
            <p:nvPr/>
          </p:nvSpPr>
          <p:spPr bwMode="auto">
            <a:xfrm>
              <a:off x="2349" y="3216"/>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32" name="Oval 75"/>
            <p:cNvSpPr>
              <a:spLocks noChangeArrowheads="1"/>
            </p:cNvSpPr>
            <p:nvPr/>
          </p:nvSpPr>
          <p:spPr bwMode="auto">
            <a:xfrm>
              <a:off x="909" y="350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33" name="Oval 76"/>
            <p:cNvSpPr>
              <a:spLocks noChangeArrowheads="1"/>
            </p:cNvSpPr>
            <p:nvPr/>
          </p:nvSpPr>
          <p:spPr bwMode="auto">
            <a:xfrm>
              <a:off x="1197" y="350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34" name="Oval 77"/>
            <p:cNvSpPr>
              <a:spLocks noChangeArrowheads="1"/>
            </p:cNvSpPr>
            <p:nvPr/>
          </p:nvSpPr>
          <p:spPr bwMode="auto">
            <a:xfrm>
              <a:off x="1485" y="350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35" name="Oval 78"/>
            <p:cNvSpPr>
              <a:spLocks noChangeArrowheads="1"/>
            </p:cNvSpPr>
            <p:nvPr/>
          </p:nvSpPr>
          <p:spPr bwMode="auto">
            <a:xfrm>
              <a:off x="1773" y="350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36" name="Oval 79"/>
            <p:cNvSpPr>
              <a:spLocks noChangeArrowheads="1"/>
            </p:cNvSpPr>
            <p:nvPr/>
          </p:nvSpPr>
          <p:spPr bwMode="auto">
            <a:xfrm>
              <a:off x="2061" y="350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37" name="Oval 80"/>
            <p:cNvSpPr>
              <a:spLocks noChangeArrowheads="1"/>
            </p:cNvSpPr>
            <p:nvPr/>
          </p:nvSpPr>
          <p:spPr bwMode="auto">
            <a:xfrm>
              <a:off x="2349" y="3504"/>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38" name="Oval 81"/>
            <p:cNvSpPr>
              <a:spLocks noChangeArrowheads="1"/>
            </p:cNvSpPr>
            <p:nvPr/>
          </p:nvSpPr>
          <p:spPr bwMode="auto">
            <a:xfrm>
              <a:off x="909" y="379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39" name="Oval 82"/>
            <p:cNvSpPr>
              <a:spLocks noChangeArrowheads="1"/>
            </p:cNvSpPr>
            <p:nvPr/>
          </p:nvSpPr>
          <p:spPr bwMode="auto">
            <a:xfrm>
              <a:off x="1197" y="379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40" name="Oval 83"/>
            <p:cNvSpPr>
              <a:spLocks noChangeArrowheads="1"/>
            </p:cNvSpPr>
            <p:nvPr/>
          </p:nvSpPr>
          <p:spPr bwMode="auto">
            <a:xfrm>
              <a:off x="1485" y="379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41" name="Oval 84"/>
            <p:cNvSpPr>
              <a:spLocks noChangeArrowheads="1"/>
            </p:cNvSpPr>
            <p:nvPr/>
          </p:nvSpPr>
          <p:spPr bwMode="auto">
            <a:xfrm>
              <a:off x="1773" y="379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42" name="Oval 85"/>
            <p:cNvSpPr>
              <a:spLocks noChangeArrowheads="1"/>
            </p:cNvSpPr>
            <p:nvPr/>
          </p:nvSpPr>
          <p:spPr bwMode="auto">
            <a:xfrm>
              <a:off x="2061" y="379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43" name="Oval 86"/>
            <p:cNvSpPr>
              <a:spLocks noChangeArrowheads="1"/>
            </p:cNvSpPr>
            <p:nvPr/>
          </p:nvSpPr>
          <p:spPr bwMode="auto">
            <a:xfrm>
              <a:off x="2349" y="379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44" name="Oval 113"/>
            <p:cNvSpPr>
              <a:spLocks noChangeArrowheads="1"/>
            </p:cNvSpPr>
            <p:nvPr/>
          </p:nvSpPr>
          <p:spPr bwMode="auto">
            <a:xfrm>
              <a:off x="3117"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45" name="Oval 114"/>
            <p:cNvSpPr>
              <a:spLocks noChangeArrowheads="1"/>
            </p:cNvSpPr>
            <p:nvPr/>
          </p:nvSpPr>
          <p:spPr bwMode="auto">
            <a:xfrm>
              <a:off x="3405"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46" name="Oval 115"/>
            <p:cNvSpPr>
              <a:spLocks noChangeArrowheads="1"/>
            </p:cNvSpPr>
            <p:nvPr/>
          </p:nvSpPr>
          <p:spPr bwMode="auto">
            <a:xfrm>
              <a:off x="3693"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47" name="Oval 116"/>
            <p:cNvSpPr>
              <a:spLocks noChangeArrowheads="1"/>
            </p:cNvSpPr>
            <p:nvPr/>
          </p:nvSpPr>
          <p:spPr bwMode="auto">
            <a:xfrm>
              <a:off x="3981"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48" name="Oval 117"/>
            <p:cNvSpPr>
              <a:spLocks noChangeArrowheads="1"/>
            </p:cNvSpPr>
            <p:nvPr/>
          </p:nvSpPr>
          <p:spPr bwMode="auto">
            <a:xfrm>
              <a:off x="4269"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49" name="Oval 118"/>
            <p:cNvSpPr>
              <a:spLocks noChangeArrowheads="1"/>
            </p:cNvSpPr>
            <p:nvPr/>
          </p:nvSpPr>
          <p:spPr bwMode="auto">
            <a:xfrm>
              <a:off x="4557" y="2352"/>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50" name="Oval 121"/>
            <p:cNvSpPr>
              <a:spLocks noChangeArrowheads="1"/>
            </p:cNvSpPr>
            <p:nvPr/>
          </p:nvSpPr>
          <p:spPr bwMode="auto">
            <a:xfrm>
              <a:off x="3693"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51" name="Oval 122"/>
            <p:cNvSpPr>
              <a:spLocks noChangeArrowheads="1"/>
            </p:cNvSpPr>
            <p:nvPr/>
          </p:nvSpPr>
          <p:spPr bwMode="auto">
            <a:xfrm>
              <a:off x="3981" y="2640"/>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52" name="Oval 123"/>
            <p:cNvSpPr>
              <a:spLocks noChangeArrowheads="1"/>
            </p:cNvSpPr>
            <p:nvPr/>
          </p:nvSpPr>
          <p:spPr bwMode="auto">
            <a:xfrm>
              <a:off x="4269" y="2640"/>
              <a:ext cx="96" cy="96"/>
            </a:xfrm>
            <a:prstGeom prst="ellipse">
              <a:avLst/>
            </a:prstGeom>
            <a:solidFill>
              <a:schemeClr val="bg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153" name="Oval 124"/>
            <p:cNvSpPr>
              <a:spLocks noChangeArrowheads="1"/>
            </p:cNvSpPr>
            <p:nvPr/>
          </p:nvSpPr>
          <p:spPr bwMode="auto">
            <a:xfrm>
              <a:off x="4557" y="2640"/>
              <a:ext cx="96" cy="96"/>
            </a:xfrm>
            <a:prstGeom prst="ellipse">
              <a:avLst/>
            </a:prstGeom>
            <a:solidFill>
              <a:schemeClr val="tx1"/>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gr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196</a:t>
            </a:fld>
            <a:endParaRPr lang="en-US"/>
          </a:p>
        </p:txBody>
      </p:sp>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9682"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00019"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9683"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00020"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9684"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00021"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9685" name="Rectangle 5"/>
          <p:cNvSpPr>
            <a:spLocks noChangeArrowheads="1"/>
          </p:cNvSpPr>
          <p:nvPr/>
        </p:nvSpPr>
        <p:spPr bwMode="auto">
          <a:xfrm>
            <a:off x="228600" y="228600"/>
            <a:ext cx="85344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96875" indent="-377825" defTabSz="760413">
              <a:buFont typeface="+mj-lt"/>
              <a:buAutoNum type="arabicPeriod" startAt="65"/>
            </a:pPr>
            <a:r>
              <a:rPr lang="en-US" b="1" dirty="0"/>
              <a:t>[CLRS, Problem 26-2, p. 761] Minimum Path Cover</a:t>
            </a:r>
            <a:br>
              <a:rPr lang="en-US" b="1" dirty="0"/>
            </a:br>
            <a:r>
              <a:rPr lang="en-US" dirty="0"/>
              <a:t>A path cover of a digraph G = (V, E) is a set P of vertex-disjoint paths such that every vertex in V is included in exactly one path in P. Paths may start and end anywhere, and they may be of any length, including 0. A </a:t>
            </a:r>
            <a:r>
              <a:rPr lang="en-US" b="1" dirty="0">
                <a:solidFill>
                  <a:srgbClr val="CC0000"/>
                </a:solidFill>
              </a:rPr>
              <a:t>minimum path cover</a:t>
            </a:r>
            <a:r>
              <a:rPr lang="en-US" dirty="0"/>
              <a:t> of G is a path cover containing the fewest possible paths.</a:t>
            </a:r>
            <a:br>
              <a:rPr lang="en-US" dirty="0"/>
            </a:br>
            <a:r>
              <a:rPr lang="en-US" dirty="0"/>
              <a:t/>
            </a:r>
            <a:br>
              <a:rPr lang="en-US" dirty="0"/>
            </a:br>
            <a:r>
              <a:rPr lang="en-US" dirty="0"/>
              <a:t>(a)  Give an efficient algorithm to find a minimum path cover of a DAG G = (V, E).</a:t>
            </a:r>
            <a:br>
              <a:rPr lang="en-US" dirty="0"/>
            </a:br>
            <a:r>
              <a:rPr lang="en-US" dirty="0"/>
              <a:t>       </a:t>
            </a:r>
            <a:r>
              <a:rPr lang="en-US" dirty="0">
                <a:solidFill>
                  <a:srgbClr val="CC0000"/>
                </a:solidFill>
              </a:rPr>
              <a:t>[Hint: Construct the graph G’ = (V’, E’), where</a:t>
            </a:r>
            <a:br>
              <a:rPr lang="en-US" dirty="0">
                <a:solidFill>
                  <a:srgbClr val="CC0000"/>
                </a:solidFill>
              </a:rPr>
            </a:br>
            <a:r>
              <a:rPr lang="en-US" dirty="0">
                <a:solidFill>
                  <a:srgbClr val="CC0000"/>
                </a:solidFill>
              </a:rPr>
              <a:t>		V’ = {s, t} </a:t>
            </a:r>
            <a:r>
              <a:rPr lang="en-US" dirty="0">
                <a:solidFill>
                  <a:srgbClr val="CC0000"/>
                </a:solidFill>
                <a:sym typeface="Symbol" pitchFamily="18" charset="2"/>
              </a:rPr>
              <a:t> </a:t>
            </a:r>
            <a:r>
              <a:rPr lang="en-US" dirty="0">
                <a:solidFill>
                  <a:srgbClr val="CC0000"/>
                </a:solidFill>
              </a:rPr>
              <a:t>{</a:t>
            </a:r>
            <a:r>
              <a:rPr lang="en-US" dirty="0" err="1">
                <a:solidFill>
                  <a:srgbClr val="CC0000"/>
                </a:solidFill>
              </a:rPr>
              <a:t>x</a:t>
            </a:r>
            <a:r>
              <a:rPr lang="en-US" baseline="-25000" dirty="0" err="1">
                <a:solidFill>
                  <a:srgbClr val="CC0000"/>
                </a:solidFill>
              </a:rPr>
              <a:t>u</a:t>
            </a:r>
            <a:r>
              <a:rPr lang="en-US" dirty="0">
                <a:solidFill>
                  <a:srgbClr val="CC0000"/>
                </a:solidFill>
              </a:rPr>
              <a:t> | </a:t>
            </a:r>
            <a:r>
              <a:rPr lang="en-US" dirty="0" err="1">
                <a:solidFill>
                  <a:srgbClr val="CC0000"/>
                </a:solidFill>
              </a:rPr>
              <a:t>u</a:t>
            </a:r>
            <a:r>
              <a:rPr lang="en-US" dirty="0" err="1">
                <a:solidFill>
                  <a:srgbClr val="CC0000"/>
                </a:solidFill>
                <a:sym typeface="Symbol" pitchFamily="18" charset="2"/>
              </a:rPr>
              <a:t></a:t>
            </a:r>
            <a:r>
              <a:rPr lang="en-US" dirty="0" err="1">
                <a:solidFill>
                  <a:srgbClr val="CC0000"/>
                </a:solidFill>
              </a:rPr>
              <a:t>V</a:t>
            </a:r>
            <a:r>
              <a:rPr lang="en-US" dirty="0">
                <a:solidFill>
                  <a:srgbClr val="CC0000"/>
                </a:solidFill>
              </a:rPr>
              <a:t> } </a:t>
            </a:r>
            <a:r>
              <a:rPr lang="en-US" dirty="0">
                <a:solidFill>
                  <a:srgbClr val="CC0000"/>
                </a:solidFill>
                <a:sym typeface="Symbol" pitchFamily="18" charset="2"/>
              </a:rPr>
              <a:t> </a:t>
            </a:r>
            <a:r>
              <a:rPr lang="en-US" dirty="0">
                <a:solidFill>
                  <a:srgbClr val="CC0000"/>
                </a:solidFill>
              </a:rPr>
              <a:t>{</a:t>
            </a:r>
            <a:r>
              <a:rPr lang="en-US" dirty="0" err="1">
                <a:solidFill>
                  <a:srgbClr val="CC0000"/>
                </a:solidFill>
              </a:rPr>
              <a:t>y</a:t>
            </a:r>
            <a:r>
              <a:rPr lang="en-US" baseline="-25000" dirty="0" err="1">
                <a:solidFill>
                  <a:srgbClr val="CC0000"/>
                </a:solidFill>
              </a:rPr>
              <a:t>v</a:t>
            </a:r>
            <a:r>
              <a:rPr lang="en-US" dirty="0">
                <a:solidFill>
                  <a:srgbClr val="CC0000"/>
                </a:solidFill>
              </a:rPr>
              <a:t> | </a:t>
            </a:r>
            <a:r>
              <a:rPr lang="en-US" dirty="0" err="1">
                <a:solidFill>
                  <a:srgbClr val="CC0000"/>
                </a:solidFill>
              </a:rPr>
              <a:t>v</a:t>
            </a:r>
            <a:r>
              <a:rPr lang="en-US" dirty="0" err="1">
                <a:solidFill>
                  <a:srgbClr val="CC0000"/>
                </a:solidFill>
                <a:sym typeface="Symbol" pitchFamily="18" charset="2"/>
              </a:rPr>
              <a:t></a:t>
            </a:r>
            <a:r>
              <a:rPr lang="en-US" dirty="0" err="1">
                <a:solidFill>
                  <a:srgbClr val="CC0000"/>
                </a:solidFill>
              </a:rPr>
              <a:t>V</a:t>
            </a:r>
            <a:r>
              <a:rPr lang="en-US" dirty="0">
                <a:solidFill>
                  <a:srgbClr val="CC0000"/>
                </a:solidFill>
              </a:rPr>
              <a:t> } ,</a:t>
            </a:r>
            <a:br>
              <a:rPr lang="en-US" dirty="0">
                <a:solidFill>
                  <a:srgbClr val="CC0000"/>
                </a:solidFill>
              </a:rPr>
            </a:br>
            <a:r>
              <a:rPr lang="en-US" dirty="0">
                <a:solidFill>
                  <a:srgbClr val="CC0000"/>
                </a:solidFill>
              </a:rPr>
              <a:t>		E’ = {(s , </a:t>
            </a:r>
            <a:r>
              <a:rPr lang="en-US" dirty="0" err="1">
                <a:solidFill>
                  <a:srgbClr val="CC0000"/>
                </a:solidFill>
              </a:rPr>
              <a:t>x</a:t>
            </a:r>
            <a:r>
              <a:rPr lang="en-US" baseline="-25000" dirty="0" err="1">
                <a:solidFill>
                  <a:srgbClr val="CC0000"/>
                </a:solidFill>
              </a:rPr>
              <a:t>u</a:t>
            </a:r>
            <a:r>
              <a:rPr lang="en-US" dirty="0">
                <a:solidFill>
                  <a:srgbClr val="CC0000"/>
                </a:solidFill>
              </a:rPr>
              <a:t>) |  </a:t>
            </a:r>
            <a:r>
              <a:rPr lang="en-US" dirty="0" err="1">
                <a:solidFill>
                  <a:srgbClr val="CC0000"/>
                </a:solidFill>
              </a:rPr>
              <a:t>u</a:t>
            </a:r>
            <a:r>
              <a:rPr lang="en-US" dirty="0" err="1">
                <a:solidFill>
                  <a:srgbClr val="CC0000"/>
                </a:solidFill>
                <a:sym typeface="Symbol" pitchFamily="18" charset="2"/>
              </a:rPr>
              <a:t></a:t>
            </a:r>
            <a:r>
              <a:rPr lang="en-US" dirty="0" err="1">
                <a:solidFill>
                  <a:srgbClr val="CC0000"/>
                </a:solidFill>
              </a:rPr>
              <a:t>V</a:t>
            </a:r>
            <a:r>
              <a:rPr lang="en-US" dirty="0">
                <a:solidFill>
                  <a:srgbClr val="CC0000"/>
                </a:solidFill>
              </a:rPr>
              <a:t> } </a:t>
            </a:r>
            <a:r>
              <a:rPr lang="en-US" dirty="0">
                <a:solidFill>
                  <a:srgbClr val="CC0000"/>
                </a:solidFill>
                <a:sym typeface="Symbol" pitchFamily="18" charset="2"/>
              </a:rPr>
              <a:t> </a:t>
            </a:r>
            <a:r>
              <a:rPr lang="en-US" dirty="0">
                <a:solidFill>
                  <a:srgbClr val="CC0000"/>
                </a:solidFill>
              </a:rPr>
              <a:t>{(</a:t>
            </a:r>
            <a:r>
              <a:rPr lang="en-US" dirty="0" err="1">
                <a:solidFill>
                  <a:srgbClr val="CC0000"/>
                </a:solidFill>
              </a:rPr>
              <a:t>y</a:t>
            </a:r>
            <a:r>
              <a:rPr lang="en-US" baseline="-25000" dirty="0" err="1">
                <a:solidFill>
                  <a:srgbClr val="CC0000"/>
                </a:solidFill>
              </a:rPr>
              <a:t>v</a:t>
            </a:r>
            <a:r>
              <a:rPr lang="en-US" dirty="0">
                <a:solidFill>
                  <a:srgbClr val="CC0000"/>
                </a:solidFill>
              </a:rPr>
              <a:t> , t) |  </a:t>
            </a:r>
            <a:r>
              <a:rPr lang="en-US" dirty="0" err="1">
                <a:solidFill>
                  <a:srgbClr val="CC0000"/>
                </a:solidFill>
              </a:rPr>
              <a:t>v</a:t>
            </a:r>
            <a:r>
              <a:rPr lang="en-US" dirty="0" err="1">
                <a:solidFill>
                  <a:srgbClr val="CC0000"/>
                </a:solidFill>
                <a:sym typeface="Symbol" pitchFamily="18" charset="2"/>
              </a:rPr>
              <a:t></a:t>
            </a:r>
            <a:r>
              <a:rPr lang="en-US" dirty="0" err="1">
                <a:solidFill>
                  <a:srgbClr val="CC0000"/>
                </a:solidFill>
              </a:rPr>
              <a:t>V</a:t>
            </a:r>
            <a:r>
              <a:rPr lang="en-US" dirty="0">
                <a:solidFill>
                  <a:srgbClr val="CC0000"/>
                </a:solidFill>
              </a:rPr>
              <a:t> } </a:t>
            </a:r>
            <a:r>
              <a:rPr lang="en-US" dirty="0">
                <a:solidFill>
                  <a:srgbClr val="CC0000"/>
                </a:solidFill>
                <a:sym typeface="Symbol" pitchFamily="18" charset="2"/>
              </a:rPr>
              <a:t> </a:t>
            </a:r>
            <a:r>
              <a:rPr lang="en-US" dirty="0">
                <a:solidFill>
                  <a:srgbClr val="CC0000"/>
                </a:solidFill>
              </a:rPr>
              <a:t>{(</a:t>
            </a:r>
            <a:r>
              <a:rPr lang="en-US" dirty="0" err="1">
                <a:solidFill>
                  <a:srgbClr val="CC0000"/>
                </a:solidFill>
              </a:rPr>
              <a:t>x</a:t>
            </a:r>
            <a:r>
              <a:rPr lang="en-US" baseline="-25000" dirty="0" err="1">
                <a:solidFill>
                  <a:srgbClr val="CC0000"/>
                </a:solidFill>
              </a:rPr>
              <a:t>u</a:t>
            </a:r>
            <a:r>
              <a:rPr lang="en-US" dirty="0">
                <a:solidFill>
                  <a:srgbClr val="CC0000"/>
                </a:solidFill>
              </a:rPr>
              <a:t> , </a:t>
            </a:r>
            <a:r>
              <a:rPr lang="en-US" dirty="0" err="1">
                <a:solidFill>
                  <a:srgbClr val="CC0000"/>
                </a:solidFill>
              </a:rPr>
              <a:t>y</a:t>
            </a:r>
            <a:r>
              <a:rPr lang="en-US" baseline="-25000" dirty="0" err="1">
                <a:solidFill>
                  <a:srgbClr val="CC0000"/>
                </a:solidFill>
              </a:rPr>
              <a:t>v</a:t>
            </a:r>
            <a:r>
              <a:rPr lang="en-US" dirty="0">
                <a:solidFill>
                  <a:srgbClr val="CC0000"/>
                </a:solidFill>
              </a:rPr>
              <a:t>) |  (</a:t>
            </a:r>
            <a:r>
              <a:rPr lang="en-US" dirty="0" err="1">
                <a:solidFill>
                  <a:srgbClr val="CC0000"/>
                </a:solidFill>
              </a:rPr>
              <a:t>u,v</a:t>
            </a:r>
            <a:r>
              <a:rPr lang="en-US" dirty="0">
                <a:solidFill>
                  <a:srgbClr val="CC0000"/>
                </a:solidFill>
              </a:rPr>
              <a:t>)</a:t>
            </a:r>
            <a:r>
              <a:rPr lang="en-US" dirty="0">
                <a:solidFill>
                  <a:srgbClr val="CC0000"/>
                </a:solidFill>
                <a:sym typeface="Symbol" pitchFamily="18" charset="2"/>
              </a:rPr>
              <a:t></a:t>
            </a:r>
            <a:r>
              <a:rPr lang="en-US" dirty="0">
                <a:solidFill>
                  <a:srgbClr val="CC0000"/>
                </a:solidFill>
              </a:rPr>
              <a:t>E }</a:t>
            </a:r>
            <a:r>
              <a:rPr lang="en-US" dirty="0">
                <a:solidFill>
                  <a:srgbClr val="CC0000"/>
                </a:solidFill>
                <a:sym typeface="Symbol" pitchFamily="18" charset="2"/>
              </a:rPr>
              <a:t> ,</a:t>
            </a:r>
            <a:br>
              <a:rPr lang="en-US" dirty="0">
                <a:solidFill>
                  <a:srgbClr val="CC0000"/>
                </a:solidFill>
                <a:sym typeface="Symbol" pitchFamily="18" charset="2"/>
              </a:rPr>
            </a:br>
            <a:r>
              <a:rPr lang="en-US" dirty="0">
                <a:solidFill>
                  <a:srgbClr val="CC0000"/>
                </a:solidFill>
                <a:sym typeface="Symbol" pitchFamily="18" charset="2"/>
              </a:rPr>
              <a:t>	and run a max flow algorithm.]</a:t>
            </a:r>
            <a:br>
              <a:rPr lang="en-US" dirty="0">
                <a:solidFill>
                  <a:srgbClr val="CC0000"/>
                </a:solidFill>
                <a:sym typeface="Symbol" pitchFamily="18" charset="2"/>
              </a:rPr>
            </a:br>
            <a:r>
              <a:rPr lang="en-US" dirty="0">
                <a:sym typeface="Symbol" pitchFamily="18" charset="2"/>
              </a:rPr>
              <a:t/>
            </a:r>
            <a:br>
              <a:rPr lang="en-US" dirty="0">
                <a:sym typeface="Symbol" pitchFamily="18" charset="2"/>
              </a:rPr>
            </a:br>
            <a:r>
              <a:rPr lang="en-US" dirty="0">
                <a:sym typeface="Symbol" pitchFamily="18" charset="2"/>
              </a:rPr>
              <a:t>(b)  Does your algorithm work for digraphs that contain cycles? Explain.</a:t>
            </a:r>
            <a:endParaRPr lang="en-US" dirty="0"/>
          </a:p>
          <a:p>
            <a:pPr marL="396875" indent="-377825" defTabSz="760413">
              <a:buFontTx/>
              <a:buAutoNum type="arabicPeriod" startAt="65"/>
            </a:pPr>
            <a:endParaRPr lang="en-US" dirty="0">
              <a:sym typeface="Symbol" pitchFamily="18" charset="2"/>
            </a:endParaRPr>
          </a:p>
          <a:p>
            <a:pPr marL="396875" indent="-377825" defTabSz="760413">
              <a:buFontTx/>
              <a:buAutoNum type="arabicPeriod" startAt="65"/>
            </a:pPr>
            <a:r>
              <a:rPr lang="en-US" b="1" dirty="0"/>
              <a:t>[CLRS, Problem 26-4, p. 762] Updating Maximum Flow</a:t>
            </a:r>
            <a:br>
              <a:rPr lang="en-US" b="1" dirty="0"/>
            </a:br>
            <a:r>
              <a:rPr lang="en-US" dirty="0"/>
              <a:t>Let G = (V, E) be a flow network with source s, sink t, and integer capacities. </a:t>
            </a:r>
            <a:br>
              <a:rPr lang="en-US" dirty="0"/>
            </a:br>
            <a:r>
              <a:rPr lang="en-US" dirty="0"/>
              <a:t>Suppose that we are given a maximum flow in G.</a:t>
            </a:r>
            <a:br>
              <a:rPr lang="en-US" dirty="0"/>
            </a:br>
            <a:r>
              <a:rPr lang="en-US" dirty="0"/>
              <a:t/>
            </a:r>
            <a:br>
              <a:rPr lang="en-US" dirty="0"/>
            </a:br>
            <a:r>
              <a:rPr lang="en-US" dirty="0"/>
              <a:t>(a)  Suppose that the capacity of a single edge (</a:t>
            </a:r>
            <a:r>
              <a:rPr lang="en-US" dirty="0" err="1"/>
              <a:t>u,v</a:t>
            </a:r>
            <a:r>
              <a:rPr lang="en-US" dirty="0"/>
              <a:t>)</a:t>
            </a:r>
            <a:r>
              <a:rPr lang="en-US" dirty="0">
                <a:sym typeface="Symbol" pitchFamily="18" charset="2"/>
              </a:rPr>
              <a:t></a:t>
            </a:r>
            <a:r>
              <a:rPr lang="en-US" dirty="0"/>
              <a:t>E is increased by 1. </a:t>
            </a:r>
            <a:br>
              <a:rPr lang="en-US" dirty="0"/>
            </a:br>
            <a:r>
              <a:rPr lang="en-US" dirty="0"/>
              <a:t>      Give an O(V+E) time algorithm to update the max flow.</a:t>
            </a:r>
            <a:br>
              <a:rPr lang="en-US" dirty="0"/>
            </a:br>
            <a:r>
              <a:rPr lang="en-US" dirty="0"/>
              <a:t/>
            </a:r>
            <a:br>
              <a:rPr lang="en-US" dirty="0"/>
            </a:br>
            <a:r>
              <a:rPr lang="en-US" dirty="0"/>
              <a:t>(b)  Suppose that the capacity of a single edge (</a:t>
            </a:r>
            <a:r>
              <a:rPr lang="en-US" dirty="0" err="1"/>
              <a:t>u,v</a:t>
            </a:r>
            <a:r>
              <a:rPr lang="en-US" dirty="0"/>
              <a:t>)</a:t>
            </a:r>
            <a:r>
              <a:rPr lang="en-US" dirty="0">
                <a:sym typeface="Symbol" pitchFamily="18" charset="2"/>
              </a:rPr>
              <a:t></a:t>
            </a:r>
            <a:r>
              <a:rPr lang="en-US" dirty="0"/>
              <a:t>E is decreased by 1. </a:t>
            </a:r>
            <a:br>
              <a:rPr lang="en-US" dirty="0"/>
            </a:br>
            <a:r>
              <a:rPr lang="en-US" dirty="0"/>
              <a:t>       Give an O(V+E) time algorithm to update the max flow.</a:t>
            </a:r>
          </a:p>
        </p:txBody>
      </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197</a:t>
            </a:fld>
            <a:endParaRPr lang="en-US"/>
          </a:p>
        </p:txBody>
      </p:sp>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0706" name="Object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01043" name="Equation" r:id="rId3" imgW="114151" imgH="215619" progId="Equation.3">
                  <p:embed/>
                </p:oleObj>
              </mc:Choice>
              <mc:Fallback>
                <p:oleObj name="Equation" r:id="rId3" imgW="114151" imgH="21561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707"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01044" name="Equation" r:id="rId5" imgW="114151" imgH="215619" progId="Equation.3">
                  <p:embed/>
                </p:oleObj>
              </mc:Choice>
              <mc:Fallback>
                <p:oleObj name="Equation" r:id="rId5" imgW="114151" imgH="21561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0708" name="Object 4"/>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01045" name="Equation" r:id="rId6" imgW="114151" imgH="215619" progId="Equation.3">
                  <p:embed/>
                </p:oleObj>
              </mc:Choice>
              <mc:Fallback>
                <p:oleObj name="Equation" r:id="rId6" imgW="114151" imgH="21561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0709" name="Rectangle 5"/>
          <p:cNvSpPr>
            <a:spLocks noChangeArrowheads="1"/>
          </p:cNvSpPr>
          <p:nvPr/>
        </p:nvSpPr>
        <p:spPr bwMode="auto">
          <a:xfrm>
            <a:off x="228600" y="228600"/>
            <a:ext cx="8534400" cy="654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96875" indent="-387350" eaLnBrk="1" hangingPunct="1">
              <a:lnSpc>
                <a:spcPct val="90000"/>
              </a:lnSpc>
              <a:spcBef>
                <a:spcPct val="20000"/>
              </a:spcBef>
              <a:buFont typeface="+mj-lt"/>
              <a:buAutoNum type="arabicPeriod" startAt="67"/>
            </a:pPr>
            <a:r>
              <a:rPr lang="en-US" b="1" dirty="0"/>
              <a:t>[CLRS, Exercise 26.3-4, p. 735] Perfect Matching</a:t>
            </a:r>
            <a:br>
              <a:rPr lang="en-US" b="1" dirty="0"/>
            </a:br>
            <a:r>
              <a:rPr lang="en-US" dirty="0"/>
              <a:t>A </a:t>
            </a:r>
            <a:r>
              <a:rPr lang="en-US" b="1" dirty="0">
                <a:solidFill>
                  <a:srgbClr val="CC0000"/>
                </a:solidFill>
              </a:rPr>
              <a:t>perfect matching</a:t>
            </a:r>
            <a:r>
              <a:rPr lang="en-US" dirty="0"/>
              <a:t> is a matching in which every vertex is matched. Let G = (V, E) be an undirected bipartite graph with vertex bipartition V = L </a:t>
            </a:r>
            <a:r>
              <a:rPr lang="en-US" dirty="0">
                <a:sym typeface="Symbol" pitchFamily="18" charset="2"/>
              </a:rPr>
              <a:t> </a:t>
            </a:r>
            <a:r>
              <a:rPr lang="en-US" dirty="0"/>
              <a:t>R, where |L| = |R|. For any X </a:t>
            </a:r>
            <a:r>
              <a:rPr lang="en-US" dirty="0">
                <a:sym typeface="Symbol" pitchFamily="18" charset="2"/>
              </a:rPr>
              <a:t></a:t>
            </a:r>
            <a:r>
              <a:rPr lang="en-US" dirty="0"/>
              <a:t>V, define the neighborhood of X as</a:t>
            </a:r>
            <a:br>
              <a:rPr lang="en-US" dirty="0"/>
            </a:br>
            <a:r>
              <a:rPr lang="en-US" dirty="0"/>
              <a:t>	N(X) = { y </a:t>
            </a:r>
            <a:r>
              <a:rPr lang="en-US" dirty="0">
                <a:sym typeface="Symbol" pitchFamily="18" charset="2"/>
              </a:rPr>
              <a:t>V  |   (</a:t>
            </a:r>
            <a:r>
              <a:rPr lang="en-US" dirty="0" err="1">
                <a:sym typeface="Symbol" pitchFamily="18" charset="2"/>
              </a:rPr>
              <a:t>x,y</a:t>
            </a:r>
            <a:r>
              <a:rPr lang="en-US" dirty="0">
                <a:sym typeface="Symbol" pitchFamily="18" charset="2"/>
              </a:rPr>
              <a:t>)  E for some x  X} ,</a:t>
            </a:r>
            <a:br>
              <a:rPr lang="en-US" dirty="0">
                <a:sym typeface="Symbol" pitchFamily="18" charset="2"/>
              </a:rPr>
            </a:br>
            <a:r>
              <a:rPr lang="en-US" dirty="0">
                <a:sym typeface="Symbol" pitchFamily="18" charset="2"/>
              </a:rPr>
              <a:t>that is, the set of vertices adjacent to some member of X. Prove </a:t>
            </a:r>
            <a:r>
              <a:rPr lang="en-US" b="1" dirty="0">
                <a:solidFill>
                  <a:srgbClr val="CC0000"/>
                </a:solidFill>
                <a:sym typeface="Symbol" pitchFamily="18" charset="2"/>
              </a:rPr>
              <a:t>Hall’s Theorem</a:t>
            </a:r>
            <a:r>
              <a:rPr lang="en-US" dirty="0">
                <a:sym typeface="Symbol" pitchFamily="18" charset="2"/>
              </a:rPr>
              <a:t>: there exists a perfect matching in G if and only if |A|   |N(A)| for every subset A  L.</a:t>
            </a:r>
            <a:br>
              <a:rPr lang="en-US" dirty="0">
                <a:sym typeface="Symbol" pitchFamily="18" charset="2"/>
              </a:rPr>
            </a:br>
            <a:r>
              <a:rPr lang="en-US" dirty="0">
                <a:sym typeface="Symbol" pitchFamily="18" charset="2"/>
              </a:rPr>
              <a:t/>
            </a:r>
            <a:br>
              <a:rPr lang="en-US" dirty="0">
                <a:sym typeface="Symbol" pitchFamily="18" charset="2"/>
              </a:rPr>
            </a:br>
            <a:endParaRPr lang="en-US" dirty="0">
              <a:sym typeface="Symbol" pitchFamily="18" charset="2"/>
            </a:endParaRPr>
          </a:p>
          <a:p>
            <a:pPr marL="396875" indent="-387350" eaLnBrk="1" hangingPunct="1">
              <a:lnSpc>
                <a:spcPct val="90000"/>
              </a:lnSpc>
              <a:spcBef>
                <a:spcPct val="20000"/>
              </a:spcBef>
              <a:buFontTx/>
              <a:buAutoNum type="arabicPeriod" startAt="67"/>
            </a:pPr>
            <a:r>
              <a:rPr lang="en-US" b="1" dirty="0">
                <a:sym typeface="Symbol" pitchFamily="18" charset="2"/>
              </a:rPr>
              <a:t>A Dancing Problem:</a:t>
            </a:r>
            <a:r>
              <a:rPr lang="en-US" dirty="0">
                <a:sym typeface="Symbol" pitchFamily="18" charset="2"/>
              </a:rPr>
              <a:t> There are n boys and n girls. Each boy knows exactly k girls, and each girl knows exactly k boys, for some positive integer k. </a:t>
            </a:r>
            <a:br>
              <a:rPr lang="en-US" dirty="0">
                <a:sym typeface="Symbol" pitchFamily="18" charset="2"/>
              </a:rPr>
            </a:br>
            <a:r>
              <a:rPr lang="en-US" dirty="0">
                <a:sym typeface="Symbol" pitchFamily="18" charset="2"/>
              </a:rPr>
              <a:t>Assume “knowing” is symmetric: boy b knows girl g    g knows b.</a:t>
            </a:r>
            <a:br>
              <a:rPr lang="en-US" dirty="0">
                <a:sym typeface="Symbol" pitchFamily="18" charset="2"/>
              </a:rPr>
            </a:br>
            <a:r>
              <a:rPr lang="en-US" dirty="0">
                <a:sym typeface="Symbol" pitchFamily="18" charset="2"/>
              </a:rPr>
              <a:t>We can represent this by the bipartite acquaintance graph G, in which each boy and each girl is represented by a vertex, and there is an edge (</a:t>
            </a:r>
            <a:r>
              <a:rPr lang="en-US" dirty="0" err="1">
                <a:sym typeface="Symbol" pitchFamily="18" charset="2"/>
              </a:rPr>
              <a:t>b,g</a:t>
            </a:r>
            <a:r>
              <a:rPr lang="en-US" dirty="0">
                <a:sym typeface="Symbol" pitchFamily="18" charset="2"/>
              </a:rPr>
              <a:t>) in the graph between boy b and girl g if and only if b and g know each other. We have  </a:t>
            </a:r>
            <a:br>
              <a:rPr lang="en-US" dirty="0">
                <a:sym typeface="Symbol" pitchFamily="18" charset="2"/>
              </a:rPr>
            </a:br>
            <a:r>
              <a:rPr lang="en-US" dirty="0">
                <a:sym typeface="Symbol" pitchFamily="18" charset="2"/>
              </a:rPr>
              <a:t>				</a:t>
            </a:r>
            <a:r>
              <a:rPr lang="en-US" dirty="0">
                <a:solidFill>
                  <a:schemeClr val="hlink"/>
                </a:solidFill>
                <a:sym typeface="Symbol" pitchFamily="18" charset="2"/>
              </a:rPr>
              <a:t></a:t>
            </a:r>
            <a:r>
              <a:rPr lang="en-US" dirty="0" err="1">
                <a:solidFill>
                  <a:schemeClr val="hlink"/>
                </a:solidFill>
                <a:sym typeface="Symbol" pitchFamily="18" charset="2"/>
              </a:rPr>
              <a:t>vV</a:t>
            </a:r>
            <a:r>
              <a:rPr lang="en-US" dirty="0">
                <a:solidFill>
                  <a:schemeClr val="hlink"/>
                </a:solidFill>
                <a:sym typeface="Symbol" pitchFamily="18" charset="2"/>
              </a:rPr>
              <a:t>(G):  degree(v) = k.</a:t>
            </a:r>
            <a:r>
              <a:rPr lang="en-US" dirty="0">
                <a:sym typeface="Symbol" pitchFamily="18" charset="2"/>
              </a:rPr>
              <a:t/>
            </a:r>
            <a:br>
              <a:rPr lang="en-US" dirty="0">
                <a:sym typeface="Symbol" pitchFamily="18" charset="2"/>
              </a:rPr>
            </a:br>
            <a:r>
              <a:rPr lang="en-US" dirty="0">
                <a:sym typeface="Symbol" pitchFamily="18" charset="2"/>
              </a:rPr>
              <a:t/>
            </a:r>
            <a:br>
              <a:rPr lang="en-US" dirty="0">
                <a:sym typeface="Symbol" pitchFamily="18" charset="2"/>
              </a:rPr>
            </a:br>
            <a:r>
              <a:rPr lang="en-US" dirty="0">
                <a:sym typeface="Symbol" pitchFamily="18" charset="2"/>
              </a:rPr>
              <a:t>(a)  Show that G has a perfect matching. </a:t>
            </a:r>
            <a:br>
              <a:rPr lang="en-US" dirty="0">
                <a:sym typeface="Symbol" pitchFamily="18" charset="2"/>
              </a:rPr>
            </a:br>
            <a:r>
              <a:rPr lang="en-US" dirty="0">
                <a:sym typeface="Symbol" pitchFamily="18" charset="2"/>
              </a:rPr>
              <a:t>      </a:t>
            </a:r>
            <a:r>
              <a:rPr lang="en-US" b="1" dirty="0">
                <a:sym typeface="Symbol" pitchFamily="18" charset="2"/>
              </a:rPr>
              <a:t>Interpretation:</a:t>
            </a:r>
            <a:r>
              <a:rPr lang="en-US" dirty="0">
                <a:sym typeface="Symbol" pitchFamily="18" charset="2"/>
              </a:rPr>
              <a:t> we can pair boys and girls into n pairs for a paired dancing contest.</a:t>
            </a:r>
            <a:br>
              <a:rPr lang="en-US" dirty="0">
                <a:sym typeface="Symbol" pitchFamily="18" charset="2"/>
              </a:rPr>
            </a:br>
            <a:r>
              <a:rPr lang="en-US" dirty="0">
                <a:sym typeface="Symbol" pitchFamily="18" charset="2"/>
              </a:rPr>
              <a:t>      </a:t>
            </a:r>
            <a:r>
              <a:rPr lang="en-US" dirty="0">
                <a:solidFill>
                  <a:srgbClr val="CC0000"/>
                </a:solidFill>
                <a:sym typeface="Symbol" pitchFamily="18" charset="2"/>
              </a:rPr>
              <a:t>[Hint: use the max flow integrality theorem.]</a:t>
            </a:r>
            <a:r>
              <a:rPr lang="en-US" dirty="0">
                <a:sym typeface="Symbol" pitchFamily="18" charset="2"/>
              </a:rPr>
              <a:t/>
            </a:r>
            <a:br>
              <a:rPr lang="en-US" dirty="0">
                <a:sym typeface="Symbol" pitchFamily="18" charset="2"/>
              </a:rPr>
            </a:br>
            <a:r>
              <a:rPr lang="en-US" dirty="0">
                <a:sym typeface="Symbol" pitchFamily="18" charset="2"/>
              </a:rPr>
              <a:t/>
            </a:r>
            <a:br>
              <a:rPr lang="en-US" dirty="0">
                <a:sym typeface="Symbol" pitchFamily="18" charset="2"/>
              </a:rPr>
            </a:br>
            <a:r>
              <a:rPr lang="en-US" dirty="0">
                <a:sym typeface="Symbol" pitchFamily="18" charset="2"/>
              </a:rPr>
              <a:t>(b)  Show that E(G) is the disjoint union of exactly k perfect </a:t>
            </a:r>
            <a:r>
              <a:rPr lang="en-US" dirty="0" err="1">
                <a:sym typeface="Symbol" pitchFamily="18" charset="2"/>
              </a:rPr>
              <a:t>matchings</a:t>
            </a:r>
            <a:r>
              <a:rPr lang="en-US" dirty="0">
                <a:sym typeface="Symbol" pitchFamily="18" charset="2"/>
              </a:rPr>
              <a:t>.</a:t>
            </a:r>
            <a:br>
              <a:rPr lang="en-US" dirty="0">
                <a:sym typeface="Symbol" pitchFamily="18" charset="2"/>
              </a:rPr>
            </a:br>
            <a:r>
              <a:rPr lang="en-US" dirty="0">
                <a:sym typeface="Symbol" pitchFamily="18" charset="2"/>
              </a:rPr>
              <a:t>      </a:t>
            </a:r>
            <a:r>
              <a:rPr lang="en-US" b="1" dirty="0">
                <a:sym typeface="Symbol" pitchFamily="18" charset="2"/>
              </a:rPr>
              <a:t>Interpretation:</a:t>
            </a:r>
            <a:r>
              <a:rPr lang="en-US" dirty="0">
                <a:sym typeface="Symbol" pitchFamily="18" charset="2"/>
              </a:rPr>
              <a:t> We can have k dancing rounds, where in each round every one dances with a </a:t>
            </a:r>
            <a:r>
              <a:rPr lang="en-US" dirty="0" smtClean="0">
                <a:sym typeface="Symbol" pitchFamily="18" charset="2"/>
              </a:rPr>
              <a:t> </a:t>
            </a:r>
            <a:br>
              <a:rPr lang="en-US" dirty="0" smtClean="0">
                <a:sym typeface="Symbol" pitchFamily="18" charset="2"/>
              </a:rPr>
            </a:br>
            <a:r>
              <a:rPr lang="en-US" dirty="0" smtClean="0">
                <a:sym typeface="Symbol" pitchFamily="18" charset="2"/>
              </a:rPr>
              <a:t>      dancing </a:t>
            </a:r>
            <a:r>
              <a:rPr lang="en-US" dirty="0">
                <a:sym typeface="Symbol" pitchFamily="18" charset="2"/>
              </a:rPr>
              <a:t>partner of the opposite sex that he/she knows, and no one dances with the same </a:t>
            </a:r>
            <a:r>
              <a:rPr lang="en-US" dirty="0" smtClean="0">
                <a:sym typeface="Symbol" pitchFamily="18" charset="2"/>
              </a:rPr>
              <a:t/>
            </a:r>
            <a:br>
              <a:rPr lang="en-US" dirty="0" smtClean="0">
                <a:sym typeface="Symbol" pitchFamily="18" charset="2"/>
              </a:rPr>
            </a:br>
            <a:r>
              <a:rPr lang="en-US" dirty="0" smtClean="0">
                <a:sym typeface="Symbol" pitchFamily="18" charset="2"/>
              </a:rPr>
              <a:t>      partner </a:t>
            </a:r>
            <a:r>
              <a:rPr lang="en-US" dirty="0">
                <a:sym typeface="Symbol" pitchFamily="18" charset="2"/>
              </a:rPr>
              <a:t>in two different rounds.</a:t>
            </a:r>
            <a:br>
              <a:rPr lang="en-US" dirty="0">
                <a:sym typeface="Symbol" pitchFamily="18" charset="2"/>
              </a:rPr>
            </a:br>
            <a:r>
              <a:rPr lang="en-US" dirty="0">
                <a:sym typeface="Symbol" pitchFamily="18" charset="2"/>
              </a:rPr>
              <a:t/>
            </a:r>
            <a:br>
              <a:rPr lang="en-US" dirty="0">
                <a:sym typeface="Symbol" pitchFamily="18" charset="2"/>
              </a:rPr>
            </a:br>
            <a:r>
              <a:rPr lang="en-US" dirty="0">
                <a:sym typeface="Symbol" pitchFamily="18" charset="2"/>
              </a:rPr>
              <a:t>(c)   Suppose we change the above equality</a:t>
            </a:r>
            <a:br>
              <a:rPr lang="en-US" dirty="0">
                <a:sym typeface="Symbol" pitchFamily="18" charset="2"/>
              </a:rPr>
            </a:br>
            <a:r>
              <a:rPr lang="en-US" dirty="0">
                <a:sym typeface="Symbol" pitchFamily="18" charset="2"/>
              </a:rPr>
              <a:t>       </a:t>
            </a:r>
            <a:r>
              <a:rPr lang="en-US" dirty="0">
                <a:solidFill>
                  <a:schemeClr val="hlink"/>
                </a:solidFill>
                <a:sym typeface="Symbol" pitchFamily="18" charset="2"/>
              </a:rPr>
              <a:t>“</a:t>
            </a:r>
            <a:r>
              <a:rPr lang="en-US" dirty="0" err="1">
                <a:solidFill>
                  <a:schemeClr val="hlink"/>
                </a:solidFill>
                <a:sym typeface="Symbol" pitchFamily="18" charset="2"/>
              </a:rPr>
              <a:t>vV</a:t>
            </a:r>
            <a:r>
              <a:rPr lang="en-US" dirty="0">
                <a:solidFill>
                  <a:schemeClr val="hlink"/>
                </a:solidFill>
                <a:sym typeface="Symbol" pitchFamily="18" charset="2"/>
              </a:rPr>
              <a:t>(G):  degree(v) = k”</a:t>
            </a:r>
            <a:r>
              <a:rPr lang="en-US" dirty="0">
                <a:sym typeface="Symbol" pitchFamily="18" charset="2"/>
              </a:rPr>
              <a:t>  to  </a:t>
            </a:r>
            <a:r>
              <a:rPr lang="en-US" dirty="0">
                <a:solidFill>
                  <a:schemeClr val="hlink"/>
                </a:solidFill>
                <a:sym typeface="Symbol" pitchFamily="18" charset="2"/>
              </a:rPr>
              <a:t>“</a:t>
            </a:r>
            <a:r>
              <a:rPr lang="en-US" dirty="0" err="1">
                <a:solidFill>
                  <a:schemeClr val="hlink"/>
                </a:solidFill>
                <a:sym typeface="Symbol" pitchFamily="18" charset="2"/>
              </a:rPr>
              <a:t>vV</a:t>
            </a:r>
            <a:r>
              <a:rPr lang="en-US" dirty="0">
                <a:solidFill>
                  <a:schemeClr val="hlink"/>
                </a:solidFill>
                <a:sym typeface="Symbol" pitchFamily="18" charset="2"/>
              </a:rPr>
              <a:t>(G):  degree(v)  k”</a:t>
            </a:r>
            <a:r>
              <a:rPr lang="en-US" dirty="0">
                <a:sym typeface="Symbol" pitchFamily="18" charset="2"/>
              </a:rPr>
              <a:t>. </a:t>
            </a:r>
            <a:br>
              <a:rPr lang="en-US" dirty="0">
                <a:sym typeface="Symbol" pitchFamily="18" charset="2"/>
              </a:rPr>
            </a:br>
            <a:r>
              <a:rPr lang="en-US" dirty="0">
                <a:sym typeface="Symbol" pitchFamily="18" charset="2"/>
              </a:rPr>
              <a:t>       In the latter case, demonstrate one such graph G that has no perfect matching.</a:t>
            </a:r>
          </a:p>
        </p:txBody>
      </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198</a:t>
            </a:fld>
            <a:endParaRPr lang="en-US"/>
          </a:p>
        </p:txBody>
      </p:sp>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5"/>
          <p:cNvSpPr>
            <a:spLocks noChangeArrowheads="1"/>
          </p:cNvSpPr>
          <p:nvPr/>
        </p:nvSpPr>
        <p:spPr bwMode="auto">
          <a:xfrm>
            <a:off x="228600" y="3048000"/>
            <a:ext cx="8534400" cy="327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96875" indent="-387350" defTabSz="760413">
              <a:buFont typeface="+mj-lt"/>
              <a:buAutoNum type="arabicPeriod" startAt="69"/>
            </a:pPr>
            <a:r>
              <a:rPr lang="en-US" dirty="0"/>
              <a:t>Does the matching shown in the graph above have maximum cardinality? </a:t>
            </a:r>
            <a:br>
              <a:rPr lang="en-US" dirty="0"/>
            </a:br>
            <a:r>
              <a:rPr lang="en-US" dirty="0"/>
              <a:t>If not, augment it to a max cardinality matching.</a:t>
            </a:r>
            <a:br>
              <a:rPr lang="en-US" dirty="0"/>
            </a:br>
            <a:r>
              <a:rPr lang="en-US" dirty="0"/>
              <a:t>(a)  You may find augmenting paths by visual inspection.</a:t>
            </a:r>
            <a:br>
              <a:rPr lang="en-US" dirty="0"/>
            </a:br>
            <a:r>
              <a:rPr lang="en-US" dirty="0"/>
              <a:t>(b)  Now find augmenting paths using BFS in the auxiliary digraph </a:t>
            </a:r>
            <a:br>
              <a:rPr lang="en-US" dirty="0"/>
            </a:br>
            <a:r>
              <a:rPr lang="en-US" dirty="0"/>
              <a:t>       and blossom shrinking &amp; expansion.</a:t>
            </a:r>
            <a:br>
              <a:rPr lang="en-US" dirty="0"/>
            </a:br>
            <a:endParaRPr lang="en-US" dirty="0"/>
          </a:p>
          <a:p>
            <a:pPr marL="396875" indent="-387350" defTabSz="760413">
              <a:buFontTx/>
              <a:buAutoNum type="arabicPeriod" startAt="69"/>
            </a:pPr>
            <a:r>
              <a:rPr lang="en-US" b="1" dirty="0"/>
              <a:t>Maximum Cardinality Matching in a tree</a:t>
            </a:r>
            <a:br>
              <a:rPr lang="en-US" b="1" dirty="0"/>
            </a:br>
            <a:r>
              <a:rPr lang="en-US" dirty="0"/>
              <a:t>Design and analyze an O(n)-time algorithm that finds a maximum cardinality matching in a given tree with n nodes. Carefully prove correctness &amp; optimality.</a:t>
            </a:r>
          </a:p>
          <a:p>
            <a:pPr marL="396875" indent="-387350" defTabSz="760413">
              <a:buFontTx/>
              <a:buAutoNum type="arabicPeriod" startAt="69"/>
            </a:pPr>
            <a:endParaRPr lang="en-US" dirty="0"/>
          </a:p>
          <a:p>
            <a:pPr marL="396875" indent="-387350" defTabSz="760413">
              <a:buFontTx/>
              <a:buAutoNum type="arabicPeriod" startAt="69"/>
            </a:pPr>
            <a:r>
              <a:rPr lang="en-US" dirty="0"/>
              <a:t>A </a:t>
            </a:r>
            <a:r>
              <a:rPr lang="en-US" b="1" dirty="0">
                <a:solidFill>
                  <a:srgbClr val="CC0000"/>
                </a:solidFill>
              </a:rPr>
              <a:t>node cover</a:t>
            </a:r>
            <a:r>
              <a:rPr lang="en-US" dirty="0"/>
              <a:t> C of a graph G = (V, E) is any subset of V such that every edge in E is incident to some node in C.  Suppose G is a bipartite graph, M is a maximum cardinality matching, and C is a minimum cardinality node cover of G. Show that |M| = |C|.</a:t>
            </a:r>
          </a:p>
        </p:txBody>
      </p:sp>
      <p:grpSp>
        <p:nvGrpSpPr>
          <p:cNvPr id="201731" name="Group 94"/>
          <p:cNvGrpSpPr>
            <a:grpSpLocks/>
          </p:cNvGrpSpPr>
          <p:nvPr/>
        </p:nvGrpSpPr>
        <p:grpSpPr bwMode="auto">
          <a:xfrm>
            <a:off x="2895600" y="152400"/>
            <a:ext cx="2743200" cy="2811463"/>
            <a:chOff x="1872" y="1553"/>
            <a:chExt cx="1728" cy="1771"/>
          </a:xfrm>
        </p:grpSpPr>
        <p:sp>
          <p:nvSpPr>
            <p:cNvPr id="201732" name="Line 80"/>
            <p:cNvSpPr>
              <a:spLocks noChangeShapeType="1"/>
            </p:cNvSpPr>
            <p:nvPr/>
          </p:nvSpPr>
          <p:spPr bwMode="auto">
            <a:xfrm>
              <a:off x="2400" y="2448"/>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33" name="Line 74"/>
            <p:cNvSpPr>
              <a:spLocks noChangeShapeType="1"/>
            </p:cNvSpPr>
            <p:nvPr/>
          </p:nvSpPr>
          <p:spPr bwMode="auto">
            <a:xfrm flipH="1" flipV="1">
              <a:off x="2064" y="2784"/>
              <a:ext cx="336"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34" name="Line 77"/>
            <p:cNvSpPr>
              <a:spLocks noChangeShapeType="1"/>
            </p:cNvSpPr>
            <p:nvPr/>
          </p:nvSpPr>
          <p:spPr bwMode="auto">
            <a:xfrm>
              <a:off x="2400" y="2784"/>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35" name="Line 68"/>
            <p:cNvSpPr>
              <a:spLocks noChangeShapeType="1"/>
            </p:cNvSpPr>
            <p:nvPr/>
          </p:nvSpPr>
          <p:spPr bwMode="auto">
            <a:xfrm>
              <a:off x="2736" y="2448"/>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36" name="Line 75"/>
            <p:cNvSpPr>
              <a:spLocks noChangeShapeType="1"/>
            </p:cNvSpPr>
            <p:nvPr/>
          </p:nvSpPr>
          <p:spPr bwMode="auto">
            <a:xfrm>
              <a:off x="2400" y="2112"/>
              <a:ext cx="336"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37" name="Line 64"/>
            <p:cNvSpPr>
              <a:spLocks noChangeShapeType="1"/>
            </p:cNvSpPr>
            <p:nvPr/>
          </p:nvSpPr>
          <p:spPr bwMode="auto">
            <a:xfrm flipV="1">
              <a:off x="2400" y="1824"/>
              <a:ext cx="336"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38" name="Line 8"/>
            <p:cNvSpPr>
              <a:spLocks noChangeShapeType="1"/>
            </p:cNvSpPr>
            <p:nvPr/>
          </p:nvSpPr>
          <p:spPr bwMode="auto">
            <a:xfrm>
              <a:off x="2400" y="2112"/>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39" name="Line 10"/>
            <p:cNvSpPr>
              <a:spLocks noChangeShapeType="1"/>
            </p:cNvSpPr>
            <p:nvPr/>
          </p:nvSpPr>
          <p:spPr bwMode="auto">
            <a:xfrm flipH="1" flipV="1">
              <a:off x="2064" y="1824"/>
              <a:ext cx="336"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40" name="Line 11"/>
            <p:cNvSpPr>
              <a:spLocks noChangeShapeType="1"/>
            </p:cNvSpPr>
            <p:nvPr/>
          </p:nvSpPr>
          <p:spPr bwMode="auto">
            <a:xfrm>
              <a:off x="2400" y="1824"/>
              <a:ext cx="336"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41" name="Line 12"/>
            <p:cNvSpPr>
              <a:spLocks noChangeShapeType="1"/>
            </p:cNvSpPr>
            <p:nvPr/>
          </p:nvSpPr>
          <p:spPr bwMode="auto">
            <a:xfrm>
              <a:off x="3120" y="2448"/>
              <a:ext cx="0"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42" name="Line 13"/>
            <p:cNvSpPr>
              <a:spLocks noChangeShapeType="1"/>
            </p:cNvSpPr>
            <p:nvPr/>
          </p:nvSpPr>
          <p:spPr bwMode="auto">
            <a:xfrm>
              <a:off x="2400" y="3120"/>
              <a:ext cx="384"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43" name="Line 14"/>
            <p:cNvSpPr>
              <a:spLocks noChangeShapeType="1"/>
            </p:cNvSpPr>
            <p:nvPr/>
          </p:nvSpPr>
          <p:spPr bwMode="auto">
            <a:xfrm>
              <a:off x="2064" y="1824"/>
              <a:ext cx="3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44" name="Line 15"/>
            <p:cNvSpPr>
              <a:spLocks noChangeShapeType="1"/>
            </p:cNvSpPr>
            <p:nvPr/>
          </p:nvSpPr>
          <p:spPr bwMode="auto">
            <a:xfrm>
              <a:off x="2352" y="2112"/>
              <a:ext cx="384"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45" name="Oval 17"/>
            <p:cNvSpPr>
              <a:spLocks noChangeArrowheads="1"/>
            </p:cNvSpPr>
            <p:nvPr/>
          </p:nvSpPr>
          <p:spPr bwMode="auto">
            <a:xfrm>
              <a:off x="2352" y="3072"/>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201746" name="Oval 18"/>
            <p:cNvSpPr>
              <a:spLocks noChangeArrowheads="1"/>
            </p:cNvSpPr>
            <p:nvPr/>
          </p:nvSpPr>
          <p:spPr bwMode="auto">
            <a:xfrm>
              <a:off x="2688" y="2064"/>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201747" name="Line 19"/>
            <p:cNvSpPr>
              <a:spLocks noChangeShapeType="1"/>
            </p:cNvSpPr>
            <p:nvPr/>
          </p:nvSpPr>
          <p:spPr bwMode="auto">
            <a:xfrm>
              <a:off x="2400" y="2448"/>
              <a:ext cx="3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48" name="Line 22"/>
            <p:cNvSpPr>
              <a:spLocks noChangeShapeType="1"/>
            </p:cNvSpPr>
            <p:nvPr/>
          </p:nvSpPr>
          <p:spPr bwMode="auto">
            <a:xfrm flipV="1">
              <a:off x="2400" y="2448"/>
              <a:ext cx="336"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49" name="Line 23"/>
            <p:cNvSpPr>
              <a:spLocks noChangeShapeType="1"/>
            </p:cNvSpPr>
            <p:nvPr/>
          </p:nvSpPr>
          <p:spPr bwMode="auto">
            <a:xfrm flipV="1">
              <a:off x="2064" y="2112"/>
              <a:ext cx="336"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50" name="Line 24"/>
            <p:cNvSpPr>
              <a:spLocks noChangeShapeType="1"/>
            </p:cNvSpPr>
            <p:nvPr/>
          </p:nvSpPr>
          <p:spPr bwMode="auto">
            <a:xfrm>
              <a:off x="2064" y="2448"/>
              <a:ext cx="336"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51" name="Oval 27"/>
            <p:cNvSpPr>
              <a:spLocks noChangeArrowheads="1"/>
            </p:cNvSpPr>
            <p:nvPr/>
          </p:nvSpPr>
          <p:spPr bwMode="auto">
            <a:xfrm>
              <a:off x="2352" y="240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201752" name="Line 28"/>
            <p:cNvSpPr>
              <a:spLocks noChangeShapeType="1"/>
            </p:cNvSpPr>
            <p:nvPr/>
          </p:nvSpPr>
          <p:spPr bwMode="auto">
            <a:xfrm>
              <a:off x="2400" y="2784"/>
              <a:ext cx="3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53" name="Line 31"/>
            <p:cNvSpPr>
              <a:spLocks noChangeShapeType="1"/>
            </p:cNvSpPr>
            <p:nvPr/>
          </p:nvSpPr>
          <p:spPr bwMode="auto">
            <a:xfrm>
              <a:off x="2400" y="1824"/>
              <a:ext cx="336"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54" name="Oval 32"/>
            <p:cNvSpPr>
              <a:spLocks noChangeArrowheads="1"/>
            </p:cNvSpPr>
            <p:nvPr/>
          </p:nvSpPr>
          <p:spPr bwMode="auto">
            <a:xfrm>
              <a:off x="2352" y="1776"/>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201755" name="Oval 33"/>
            <p:cNvSpPr>
              <a:spLocks noChangeArrowheads="1"/>
            </p:cNvSpPr>
            <p:nvPr/>
          </p:nvSpPr>
          <p:spPr bwMode="auto">
            <a:xfrm>
              <a:off x="2016" y="1776"/>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bIns="10800" anchor="ctr">
              <a:spAutoFit/>
            </a:bodyPr>
            <a:lstStyle/>
            <a:p>
              <a:endParaRPr lang="en-CA"/>
            </a:p>
          </p:txBody>
        </p:sp>
        <p:sp>
          <p:nvSpPr>
            <p:cNvPr id="201756" name="Oval 34"/>
            <p:cNvSpPr>
              <a:spLocks noChangeArrowheads="1"/>
            </p:cNvSpPr>
            <p:nvPr/>
          </p:nvSpPr>
          <p:spPr bwMode="auto">
            <a:xfrm>
              <a:off x="2688" y="1776"/>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201757" name="Text Box 35" descr="Stationery"/>
            <p:cNvSpPr txBox="1">
              <a:spLocks noChangeArrowheads="1"/>
            </p:cNvSpPr>
            <p:nvPr/>
          </p:nvSpPr>
          <p:spPr bwMode="auto">
            <a:xfrm>
              <a:off x="2695" y="1553"/>
              <a:ext cx="180"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c</a:t>
              </a:r>
            </a:p>
          </p:txBody>
        </p:sp>
        <p:sp>
          <p:nvSpPr>
            <p:cNvPr id="201758" name="Line 36"/>
            <p:cNvSpPr>
              <a:spLocks noChangeShapeType="1"/>
            </p:cNvSpPr>
            <p:nvPr/>
          </p:nvSpPr>
          <p:spPr bwMode="auto">
            <a:xfrm flipH="1" flipV="1">
              <a:off x="2784" y="2784"/>
              <a:ext cx="336"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59" name="Oval 39"/>
            <p:cNvSpPr>
              <a:spLocks noChangeArrowheads="1"/>
            </p:cNvSpPr>
            <p:nvPr/>
          </p:nvSpPr>
          <p:spPr bwMode="auto">
            <a:xfrm>
              <a:off x="2688" y="240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201760" name="Text Box 44" descr="Stationery"/>
            <p:cNvSpPr txBox="1">
              <a:spLocks noChangeArrowheads="1"/>
            </p:cNvSpPr>
            <p:nvPr/>
          </p:nvSpPr>
          <p:spPr bwMode="auto">
            <a:xfrm>
              <a:off x="2356" y="1563"/>
              <a:ext cx="188"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b</a:t>
              </a:r>
            </a:p>
          </p:txBody>
        </p:sp>
        <p:sp>
          <p:nvSpPr>
            <p:cNvPr id="201761" name="Text Box 45" descr="Stationery"/>
            <p:cNvSpPr txBox="1">
              <a:spLocks noChangeArrowheads="1"/>
            </p:cNvSpPr>
            <p:nvPr/>
          </p:nvSpPr>
          <p:spPr bwMode="auto">
            <a:xfrm>
              <a:off x="1971" y="1553"/>
              <a:ext cx="180"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a</a:t>
              </a:r>
            </a:p>
          </p:txBody>
        </p:sp>
        <p:sp>
          <p:nvSpPr>
            <p:cNvPr id="201762" name="Text Box 46" descr="Stationery"/>
            <p:cNvSpPr txBox="1">
              <a:spLocks noChangeArrowheads="1"/>
            </p:cNvSpPr>
            <p:nvPr/>
          </p:nvSpPr>
          <p:spPr bwMode="auto">
            <a:xfrm>
              <a:off x="2164" y="1985"/>
              <a:ext cx="188"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d</a:t>
              </a:r>
            </a:p>
          </p:txBody>
        </p:sp>
        <p:sp>
          <p:nvSpPr>
            <p:cNvPr id="201763" name="Oval 16"/>
            <p:cNvSpPr>
              <a:spLocks noChangeArrowheads="1"/>
            </p:cNvSpPr>
            <p:nvPr/>
          </p:nvSpPr>
          <p:spPr bwMode="auto">
            <a:xfrm>
              <a:off x="2352" y="2064"/>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201764" name="Line 65"/>
            <p:cNvSpPr>
              <a:spLocks noChangeShapeType="1"/>
            </p:cNvSpPr>
            <p:nvPr/>
          </p:nvSpPr>
          <p:spPr bwMode="auto">
            <a:xfrm>
              <a:off x="2784" y="2784"/>
              <a:ext cx="3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65" name="Line 66"/>
            <p:cNvSpPr>
              <a:spLocks noChangeShapeType="1"/>
            </p:cNvSpPr>
            <p:nvPr/>
          </p:nvSpPr>
          <p:spPr bwMode="auto">
            <a:xfrm>
              <a:off x="3168" y="2784"/>
              <a:ext cx="3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66" name="Line 69"/>
            <p:cNvSpPr>
              <a:spLocks noChangeShapeType="1"/>
            </p:cNvSpPr>
            <p:nvPr/>
          </p:nvSpPr>
          <p:spPr bwMode="auto">
            <a:xfrm flipH="1">
              <a:off x="3120" y="2784"/>
              <a:ext cx="384"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67" name="Line 71"/>
            <p:cNvSpPr>
              <a:spLocks noChangeShapeType="1"/>
            </p:cNvSpPr>
            <p:nvPr/>
          </p:nvSpPr>
          <p:spPr bwMode="auto">
            <a:xfrm flipH="1">
              <a:off x="2784" y="3120"/>
              <a:ext cx="3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68" name="Line 72"/>
            <p:cNvSpPr>
              <a:spLocks noChangeShapeType="1"/>
            </p:cNvSpPr>
            <p:nvPr/>
          </p:nvSpPr>
          <p:spPr bwMode="auto">
            <a:xfrm flipH="1">
              <a:off x="2064" y="2784"/>
              <a:ext cx="3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69" name="Line 73"/>
            <p:cNvSpPr>
              <a:spLocks noChangeShapeType="1"/>
            </p:cNvSpPr>
            <p:nvPr/>
          </p:nvSpPr>
          <p:spPr bwMode="auto">
            <a:xfrm>
              <a:off x="2064" y="2448"/>
              <a:ext cx="0"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70" name="Line 76"/>
            <p:cNvSpPr>
              <a:spLocks noChangeShapeType="1"/>
            </p:cNvSpPr>
            <p:nvPr/>
          </p:nvSpPr>
          <p:spPr bwMode="auto">
            <a:xfrm flipV="1">
              <a:off x="2784" y="2448"/>
              <a:ext cx="336"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71" name="Line 78"/>
            <p:cNvSpPr>
              <a:spLocks noChangeShapeType="1"/>
            </p:cNvSpPr>
            <p:nvPr/>
          </p:nvSpPr>
          <p:spPr bwMode="auto">
            <a:xfrm>
              <a:off x="2400" y="2784"/>
              <a:ext cx="384"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endParaRPr lang="en-CA"/>
            </a:p>
          </p:txBody>
        </p:sp>
        <p:sp>
          <p:nvSpPr>
            <p:cNvPr id="201772" name="Oval 79"/>
            <p:cNvSpPr>
              <a:spLocks noChangeArrowheads="1"/>
            </p:cNvSpPr>
            <p:nvPr/>
          </p:nvSpPr>
          <p:spPr bwMode="auto">
            <a:xfrm>
              <a:off x="2016" y="2736"/>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201773" name="Oval 30"/>
            <p:cNvSpPr>
              <a:spLocks noChangeArrowheads="1"/>
            </p:cNvSpPr>
            <p:nvPr/>
          </p:nvSpPr>
          <p:spPr bwMode="auto">
            <a:xfrm>
              <a:off x="3456" y="2736"/>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201774" name="Oval 20"/>
            <p:cNvSpPr>
              <a:spLocks noChangeArrowheads="1"/>
            </p:cNvSpPr>
            <p:nvPr/>
          </p:nvSpPr>
          <p:spPr bwMode="auto">
            <a:xfrm>
              <a:off x="3072" y="240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201775" name="Oval 29"/>
            <p:cNvSpPr>
              <a:spLocks noChangeArrowheads="1"/>
            </p:cNvSpPr>
            <p:nvPr/>
          </p:nvSpPr>
          <p:spPr bwMode="auto">
            <a:xfrm>
              <a:off x="3072" y="2736"/>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201776" name="Oval 40"/>
            <p:cNvSpPr>
              <a:spLocks noChangeArrowheads="1"/>
            </p:cNvSpPr>
            <p:nvPr/>
          </p:nvSpPr>
          <p:spPr bwMode="auto">
            <a:xfrm>
              <a:off x="3072" y="3072"/>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201777" name="Oval 21"/>
            <p:cNvSpPr>
              <a:spLocks noChangeArrowheads="1"/>
            </p:cNvSpPr>
            <p:nvPr/>
          </p:nvSpPr>
          <p:spPr bwMode="auto">
            <a:xfrm>
              <a:off x="2736" y="3072"/>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201778" name="Oval 37"/>
            <p:cNvSpPr>
              <a:spLocks noChangeArrowheads="1"/>
            </p:cNvSpPr>
            <p:nvPr/>
          </p:nvSpPr>
          <p:spPr bwMode="auto">
            <a:xfrm>
              <a:off x="2736" y="2736"/>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201779" name="Oval 26"/>
            <p:cNvSpPr>
              <a:spLocks noChangeArrowheads="1"/>
            </p:cNvSpPr>
            <p:nvPr/>
          </p:nvSpPr>
          <p:spPr bwMode="auto">
            <a:xfrm>
              <a:off x="2352" y="2736"/>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201780" name="Oval 25"/>
            <p:cNvSpPr>
              <a:spLocks noChangeArrowheads="1"/>
            </p:cNvSpPr>
            <p:nvPr/>
          </p:nvSpPr>
          <p:spPr bwMode="auto">
            <a:xfrm>
              <a:off x="2016" y="2400"/>
              <a:ext cx="96" cy="96"/>
            </a:xfrm>
            <a:prstGeom prst="ellipse">
              <a:avLst/>
            </a:prstGeom>
            <a:solidFill>
              <a:schemeClr val="accent3">
                <a:lumMod val="85000"/>
              </a:schemeClr>
            </a:solidFill>
            <a:ln w="12700">
              <a:solidFill>
                <a:schemeClr val="tx1"/>
              </a:solid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p:spPr>
          <p:txBody>
            <a:bodyPr wrap="none" bIns="10800" anchor="ctr">
              <a:spAutoFit/>
            </a:bodyPr>
            <a:lstStyle/>
            <a:p>
              <a:endParaRPr lang="en-CA"/>
            </a:p>
          </p:txBody>
        </p:sp>
        <p:sp>
          <p:nvSpPr>
            <p:cNvPr id="201781" name="Text Box 81" descr="Stationery"/>
            <p:cNvSpPr txBox="1">
              <a:spLocks noChangeArrowheads="1"/>
            </p:cNvSpPr>
            <p:nvPr/>
          </p:nvSpPr>
          <p:spPr bwMode="auto">
            <a:xfrm>
              <a:off x="2739" y="1937"/>
              <a:ext cx="180"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e</a:t>
              </a:r>
            </a:p>
          </p:txBody>
        </p:sp>
        <p:sp>
          <p:nvSpPr>
            <p:cNvPr id="201782" name="Text Box 82" descr="Stationery"/>
            <p:cNvSpPr txBox="1">
              <a:spLocks noChangeArrowheads="1"/>
            </p:cNvSpPr>
            <p:nvPr/>
          </p:nvSpPr>
          <p:spPr bwMode="auto">
            <a:xfrm>
              <a:off x="1920" y="2208"/>
              <a:ext cx="164"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f</a:t>
              </a:r>
            </a:p>
          </p:txBody>
        </p:sp>
        <p:sp>
          <p:nvSpPr>
            <p:cNvPr id="201783" name="Text Box 83" descr="Stationery"/>
            <p:cNvSpPr txBox="1">
              <a:spLocks noChangeArrowheads="1"/>
            </p:cNvSpPr>
            <p:nvPr/>
          </p:nvSpPr>
          <p:spPr bwMode="auto">
            <a:xfrm>
              <a:off x="2404" y="2177"/>
              <a:ext cx="188"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g</a:t>
              </a:r>
            </a:p>
          </p:txBody>
        </p:sp>
        <p:sp>
          <p:nvSpPr>
            <p:cNvPr id="201784" name="Text Box 84" descr="Stationery"/>
            <p:cNvSpPr txBox="1">
              <a:spLocks noChangeArrowheads="1"/>
            </p:cNvSpPr>
            <p:nvPr/>
          </p:nvSpPr>
          <p:spPr bwMode="auto">
            <a:xfrm>
              <a:off x="2688" y="2177"/>
              <a:ext cx="188"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h</a:t>
              </a:r>
            </a:p>
          </p:txBody>
        </p:sp>
        <p:sp>
          <p:nvSpPr>
            <p:cNvPr id="201785" name="Text Box 85" descr="Stationery"/>
            <p:cNvSpPr txBox="1">
              <a:spLocks noChangeArrowheads="1"/>
            </p:cNvSpPr>
            <p:nvPr/>
          </p:nvSpPr>
          <p:spPr bwMode="auto">
            <a:xfrm>
              <a:off x="3087" y="2177"/>
              <a:ext cx="156"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i</a:t>
              </a:r>
            </a:p>
          </p:txBody>
        </p:sp>
        <p:sp>
          <p:nvSpPr>
            <p:cNvPr id="201786" name="Text Box 86" descr="Stationery"/>
            <p:cNvSpPr txBox="1">
              <a:spLocks noChangeArrowheads="1"/>
            </p:cNvSpPr>
            <p:nvPr/>
          </p:nvSpPr>
          <p:spPr bwMode="auto">
            <a:xfrm>
              <a:off x="1872" y="2544"/>
              <a:ext cx="156"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j</a:t>
              </a:r>
            </a:p>
          </p:txBody>
        </p:sp>
        <p:sp>
          <p:nvSpPr>
            <p:cNvPr id="201787" name="Text Box 87" descr="Stationery"/>
            <p:cNvSpPr txBox="1">
              <a:spLocks noChangeArrowheads="1"/>
            </p:cNvSpPr>
            <p:nvPr/>
          </p:nvSpPr>
          <p:spPr bwMode="auto">
            <a:xfrm>
              <a:off x="2208" y="2561"/>
              <a:ext cx="188"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k</a:t>
              </a:r>
            </a:p>
          </p:txBody>
        </p:sp>
        <p:sp>
          <p:nvSpPr>
            <p:cNvPr id="201788" name="Text Box 88" descr="Stationery"/>
            <p:cNvSpPr txBox="1">
              <a:spLocks noChangeArrowheads="1"/>
            </p:cNvSpPr>
            <p:nvPr/>
          </p:nvSpPr>
          <p:spPr bwMode="auto">
            <a:xfrm>
              <a:off x="2640" y="2544"/>
              <a:ext cx="156"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l</a:t>
              </a:r>
            </a:p>
          </p:txBody>
        </p:sp>
        <p:sp>
          <p:nvSpPr>
            <p:cNvPr id="201789" name="Text Box 89" descr="Stationery"/>
            <p:cNvSpPr txBox="1">
              <a:spLocks noChangeArrowheads="1"/>
            </p:cNvSpPr>
            <p:nvPr/>
          </p:nvSpPr>
          <p:spPr bwMode="auto">
            <a:xfrm>
              <a:off x="3120" y="2544"/>
              <a:ext cx="228"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m</a:t>
              </a:r>
            </a:p>
          </p:txBody>
        </p:sp>
        <p:sp>
          <p:nvSpPr>
            <p:cNvPr id="201790" name="Text Box 90" descr="Stationery"/>
            <p:cNvSpPr txBox="1">
              <a:spLocks noChangeArrowheads="1"/>
            </p:cNvSpPr>
            <p:nvPr/>
          </p:nvSpPr>
          <p:spPr bwMode="auto">
            <a:xfrm>
              <a:off x="3412" y="2513"/>
              <a:ext cx="188"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n</a:t>
              </a:r>
            </a:p>
          </p:txBody>
        </p:sp>
        <p:sp>
          <p:nvSpPr>
            <p:cNvPr id="201791" name="Text Box 91" descr="Stationery"/>
            <p:cNvSpPr txBox="1">
              <a:spLocks noChangeArrowheads="1"/>
            </p:cNvSpPr>
            <p:nvPr/>
          </p:nvSpPr>
          <p:spPr bwMode="auto">
            <a:xfrm>
              <a:off x="2308" y="3089"/>
              <a:ext cx="188"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o</a:t>
              </a:r>
            </a:p>
          </p:txBody>
        </p:sp>
        <p:sp>
          <p:nvSpPr>
            <p:cNvPr id="201792" name="Text Box 92" descr="Stationery"/>
            <p:cNvSpPr txBox="1">
              <a:spLocks noChangeArrowheads="1"/>
            </p:cNvSpPr>
            <p:nvPr/>
          </p:nvSpPr>
          <p:spPr bwMode="auto">
            <a:xfrm>
              <a:off x="2688" y="3089"/>
              <a:ext cx="188"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p</a:t>
              </a:r>
            </a:p>
          </p:txBody>
        </p:sp>
        <p:sp>
          <p:nvSpPr>
            <p:cNvPr id="201793" name="Text Box 93" descr="Stationery"/>
            <p:cNvSpPr txBox="1">
              <a:spLocks noChangeArrowheads="1"/>
            </p:cNvSpPr>
            <p:nvPr/>
          </p:nvSpPr>
          <p:spPr bwMode="auto">
            <a:xfrm>
              <a:off x="3024" y="3089"/>
              <a:ext cx="188" cy="235"/>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10800">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buChar char="•"/>
                <a:defRPr sz="1600">
                  <a:solidFill>
                    <a:schemeClr val="tx1"/>
                  </a:solidFill>
                  <a:latin typeface="Times New Roman" pitchFamily="18" charset="0"/>
                </a:defRPr>
              </a:lvl6pPr>
              <a:lvl7pPr marL="2971800" indent="-228600" eaLnBrk="0" fontAlgn="base" hangingPunct="0">
                <a:spcBef>
                  <a:spcPct val="0"/>
                </a:spcBef>
                <a:spcAft>
                  <a:spcPct val="0"/>
                </a:spcAft>
                <a:buChar char="•"/>
                <a:defRPr sz="1600">
                  <a:solidFill>
                    <a:schemeClr val="tx1"/>
                  </a:solidFill>
                  <a:latin typeface="Times New Roman" pitchFamily="18" charset="0"/>
                </a:defRPr>
              </a:lvl7pPr>
              <a:lvl8pPr marL="3429000" indent="-228600" eaLnBrk="0" fontAlgn="base" hangingPunct="0">
                <a:spcBef>
                  <a:spcPct val="0"/>
                </a:spcBef>
                <a:spcAft>
                  <a:spcPct val="0"/>
                </a:spcAft>
                <a:buChar char="•"/>
                <a:defRPr sz="1600">
                  <a:solidFill>
                    <a:schemeClr val="tx1"/>
                  </a:solidFill>
                  <a:latin typeface="Times New Roman" pitchFamily="18" charset="0"/>
                </a:defRPr>
              </a:lvl8pPr>
              <a:lvl9pPr marL="3886200" indent="-228600" eaLnBrk="0" fontAlgn="base" hangingPunct="0">
                <a:spcBef>
                  <a:spcPct val="0"/>
                </a:spcBef>
                <a:spcAft>
                  <a:spcPct val="0"/>
                </a:spcAft>
                <a:buChar char="•"/>
                <a:defRPr sz="1600">
                  <a:solidFill>
                    <a:schemeClr val="tx1"/>
                  </a:solidFill>
                  <a:latin typeface="Times New Roman" pitchFamily="18" charset="0"/>
                </a:defRPr>
              </a:lvl9pPr>
            </a:lstStyle>
            <a:p>
              <a:pPr algn="ctr" eaLnBrk="1" hangingPunct="1">
                <a:lnSpc>
                  <a:spcPct val="115000"/>
                </a:lnSpc>
                <a:spcBef>
                  <a:spcPct val="50000"/>
                </a:spcBef>
                <a:buFont typeface="Wingdings" pitchFamily="2" charset="2"/>
                <a:buNone/>
              </a:pPr>
              <a:r>
                <a:rPr lang="en-US" sz="1800"/>
                <a:t>q</a:t>
              </a:r>
            </a:p>
          </p:txBody>
        </p:sp>
      </p:gr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199</a:t>
            </a:fld>
            <a:endParaRPr lang="en-US"/>
          </a:p>
        </p:txBody>
      </p:sp>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ChangeArrowheads="1"/>
          </p:cNvSpPr>
          <p:nvPr/>
        </p:nvSpPr>
        <p:spPr bwMode="auto">
          <a:xfrm>
            <a:off x="152400" y="152400"/>
            <a:ext cx="8763000" cy="449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96875" indent="-396875" defTabSz="760413">
              <a:buFont typeface="+mj-lt"/>
              <a:buAutoNum type="arabicPeriod" startAt="72"/>
            </a:pPr>
            <a:r>
              <a:rPr lang="en-US" b="1" dirty="0"/>
              <a:t>Perfect Matching: Reduction from general graphs to degree 3 graphs</a:t>
            </a:r>
            <a:r>
              <a:rPr lang="en-US" dirty="0"/>
              <a:t/>
            </a:r>
            <a:br>
              <a:rPr lang="en-US" dirty="0"/>
            </a:br>
            <a:r>
              <a:rPr lang="en-US" dirty="0"/>
              <a:t>Consider the following reduction of the matching problem from general graphs to degree 3 graphs. Given a graph G with n nodes, construct a graph </a:t>
            </a:r>
            <a:r>
              <a:rPr lang="en-US" dirty="0">
                <a:cs typeface="Times New Roman" pitchFamily="18" charset="0"/>
              </a:rPr>
              <a:t>G’</a:t>
            </a:r>
            <a:r>
              <a:rPr lang="en-US" dirty="0"/>
              <a:t> as follows. For every node i of G take the smallest complete binary tree with at least n leaves and insert a node in the middle of every edge; let T</a:t>
            </a:r>
            <a:r>
              <a:rPr lang="en-US" baseline="-25000" dirty="0"/>
              <a:t>i</a:t>
            </a:r>
            <a:r>
              <a:rPr lang="en-US" dirty="0"/>
              <a:t> be the resulting tree. The graph G’ has a tree T</a:t>
            </a:r>
            <a:r>
              <a:rPr lang="en-US" baseline="-25000" dirty="0"/>
              <a:t>i</a:t>
            </a:r>
            <a:r>
              <a:rPr lang="en-US" dirty="0"/>
              <a:t> for every node i of G, and for every edge (i, j) of G, G’ has an edge connecting the </a:t>
            </a:r>
            <a:r>
              <a:rPr lang="en-US" dirty="0" err="1"/>
              <a:t>j</a:t>
            </a:r>
            <a:r>
              <a:rPr lang="en-US" baseline="30000" dirty="0" err="1"/>
              <a:t>th</a:t>
            </a:r>
            <a:r>
              <a:rPr lang="en-US" dirty="0"/>
              <a:t> leaf of T</a:t>
            </a:r>
            <a:r>
              <a:rPr lang="en-US" baseline="-25000" dirty="0"/>
              <a:t>i</a:t>
            </a:r>
            <a:r>
              <a:rPr lang="en-US" dirty="0"/>
              <a:t> to the </a:t>
            </a:r>
            <a:r>
              <a:rPr lang="en-US" dirty="0" err="1"/>
              <a:t>i</a:t>
            </a:r>
            <a:r>
              <a:rPr lang="en-US" baseline="30000" dirty="0" err="1"/>
              <a:t>th</a:t>
            </a:r>
            <a:r>
              <a:rPr lang="en-US" dirty="0"/>
              <a:t> leaf of </a:t>
            </a:r>
            <a:r>
              <a:rPr lang="en-US" dirty="0" err="1"/>
              <a:t>T</a:t>
            </a:r>
            <a:r>
              <a:rPr lang="en-US" baseline="-25000" dirty="0" err="1"/>
              <a:t>j</a:t>
            </a:r>
            <a:r>
              <a:rPr lang="en-US" dirty="0"/>
              <a:t> . </a:t>
            </a:r>
          </a:p>
          <a:p>
            <a:pPr marL="806450" lvl="1" indent="-295275" defTabSz="760413">
              <a:buFontTx/>
              <a:buAutoNum type="alphaLcParenR"/>
            </a:pPr>
            <a:r>
              <a:rPr lang="en-US" dirty="0"/>
              <a:t>Show that, for any i, T</a:t>
            </a:r>
            <a:r>
              <a:rPr lang="en-US" baseline="-25000" dirty="0"/>
              <a:t>i</a:t>
            </a:r>
            <a:r>
              <a:rPr lang="en-US" dirty="0"/>
              <a:t> minus any one of its leaf nodes contains a perfect matching.</a:t>
            </a:r>
          </a:p>
          <a:p>
            <a:pPr marL="806450" lvl="1" indent="-295275" defTabSz="760413">
              <a:buFontTx/>
              <a:buAutoNum type="alphaLcParenR"/>
            </a:pPr>
            <a:r>
              <a:rPr lang="en-US" dirty="0"/>
              <a:t>Show that G has a perfect matching if and only if G’ has a perfect matching.</a:t>
            </a:r>
          </a:p>
          <a:p>
            <a:pPr marL="806450" lvl="1" indent="-295275" defTabSz="760413">
              <a:buFontTx/>
              <a:buAutoNum type="alphaLcParenR"/>
            </a:pPr>
            <a:r>
              <a:rPr lang="en-US" dirty="0"/>
              <a:t>Verify that the above reduction takes polynomial time.</a:t>
            </a:r>
            <a:r>
              <a:rPr lang="en-US" dirty="0">
                <a:solidFill>
                  <a:srgbClr val="CC0000"/>
                </a:solidFill>
              </a:rPr>
              <a:t> </a:t>
            </a:r>
            <a:br>
              <a:rPr lang="en-US" dirty="0">
                <a:solidFill>
                  <a:srgbClr val="CC0000"/>
                </a:solidFill>
              </a:rPr>
            </a:br>
            <a:endParaRPr lang="en-US" dirty="0">
              <a:solidFill>
                <a:srgbClr val="CC0000"/>
              </a:solidFill>
            </a:endParaRPr>
          </a:p>
          <a:p>
            <a:pPr marL="396875" indent="-396875" defTabSz="760413">
              <a:buFontTx/>
              <a:buAutoNum type="arabicPeriod" startAt="72"/>
            </a:pPr>
            <a:r>
              <a:rPr lang="en-US" dirty="0"/>
              <a:t>Suppose that a given graph G = (V, E) has no isolated nodes. </a:t>
            </a:r>
            <a:br>
              <a:rPr lang="en-US" dirty="0"/>
            </a:br>
            <a:r>
              <a:rPr lang="en-US" dirty="0"/>
              <a:t>An </a:t>
            </a:r>
            <a:r>
              <a:rPr lang="en-US" b="1" dirty="0">
                <a:solidFill>
                  <a:srgbClr val="CC0000"/>
                </a:solidFill>
              </a:rPr>
              <a:t>edge cover</a:t>
            </a:r>
            <a:r>
              <a:rPr lang="en-US" dirty="0"/>
              <a:t> of G is a subset C of E such that every node in V is incident to some edge in C. </a:t>
            </a:r>
          </a:p>
          <a:p>
            <a:pPr marL="806450" lvl="1" indent="-295275" defTabSz="760413">
              <a:buFontTx/>
              <a:buAutoNum type="alphaLcParenR"/>
            </a:pPr>
            <a:r>
              <a:rPr lang="en-US" dirty="0"/>
              <a:t>Show that if C is a minimum cardinality edge cover of G and M is a maximum cardinality matching of G,  then |C| + |M| = |V|.</a:t>
            </a:r>
          </a:p>
          <a:p>
            <a:pPr marL="806450" lvl="1" indent="-295275" defTabSz="760413">
              <a:buFontTx/>
              <a:buAutoNum type="alphaLcParenR"/>
            </a:pPr>
            <a:r>
              <a:rPr lang="en-US" dirty="0"/>
              <a:t>Give an efficient algorithm to find a minimum cardinality edge cover of a graph.</a:t>
            </a:r>
          </a:p>
          <a:p>
            <a:pPr marL="396875" indent="-396875" defTabSz="760413">
              <a:buFontTx/>
              <a:buAutoNum type="arabicPeriod" startAt="72"/>
            </a:pPr>
            <a:endParaRPr lang="en-US" dirty="0"/>
          </a:p>
          <a:p>
            <a:pPr marL="396875" indent="-396875" defTabSz="760413">
              <a:buFontTx/>
              <a:buAutoNum type="arabicPeriod" startAt="72"/>
            </a:pPr>
            <a:r>
              <a:rPr lang="en-US" dirty="0"/>
              <a:t>If G = (V, E) is a graph with V = {1,2, …, n}, let us define the </a:t>
            </a:r>
            <a:r>
              <a:rPr lang="en-US" b="1" dirty="0" err="1">
                <a:solidFill>
                  <a:srgbClr val="CC0000"/>
                </a:solidFill>
              </a:rPr>
              <a:t>Tutte</a:t>
            </a:r>
            <a:r>
              <a:rPr lang="en-US" b="1" dirty="0">
                <a:solidFill>
                  <a:srgbClr val="CC0000"/>
                </a:solidFill>
              </a:rPr>
              <a:t> matrix</a:t>
            </a:r>
            <a:r>
              <a:rPr lang="en-US" dirty="0"/>
              <a:t> of G, T(G), to be the </a:t>
            </a:r>
            <a:r>
              <a:rPr lang="en-US" dirty="0" err="1"/>
              <a:t>n</a:t>
            </a:r>
            <a:r>
              <a:rPr lang="en-US" dirty="0" err="1">
                <a:sym typeface="Symbol" pitchFamily="18" charset="2"/>
              </a:rPr>
              <a:t></a:t>
            </a:r>
            <a:r>
              <a:rPr lang="en-US" dirty="0" err="1"/>
              <a:t>n</a:t>
            </a:r>
            <a:r>
              <a:rPr lang="en-US" dirty="0"/>
              <a:t> matrix defined as follows: </a:t>
            </a:r>
          </a:p>
        </p:txBody>
      </p:sp>
      <p:graphicFrame>
        <p:nvGraphicFramePr>
          <p:cNvPr id="202755" name="Object 3"/>
          <p:cNvGraphicFramePr>
            <a:graphicFrameLocks noChangeAspect="1"/>
          </p:cNvGraphicFramePr>
          <p:nvPr>
            <p:extLst>
              <p:ext uri="{D42A27DB-BD31-4B8C-83A1-F6EECF244321}">
                <p14:modId xmlns:p14="http://schemas.microsoft.com/office/powerpoint/2010/main" val="480982403"/>
              </p:ext>
            </p:extLst>
          </p:nvPr>
        </p:nvGraphicFramePr>
        <p:xfrm>
          <a:off x="2295525" y="4783138"/>
          <a:ext cx="3300413" cy="990600"/>
        </p:xfrm>
        <a:graphic>
          <a:graphicData uri="http://schemas.openxmlformats.org/presentationml/2006/ole">
            <mc:AlternateContent xmlns:mc="http://schemas.openxmlformats.org/markup-compatibility/2006">
              <mc:Choice xmlns:v="urn:schemas-microsoft-com:vml" Requires="v">
                <p:oleObj spid="_x0000_s202868" name="Equation" r:id="rId3" imgW="2145960" imgH="711000" progId="Equation.3">
                  <p:embed/>
                </p:oleObj>
              </mc:Choice>
              <mc:Fallback>
                <p:oleObj name="Equation" r:id="rId3" imgW="2145960" imgH="711000" progId="Equation.3">
                  <p:embed/>
                  <p:pic>
                    <p:nvPicPr>
                      <p:cNvPr id="0" name="Object 3"/>
                      <p:cNvPicPr>
                        <a:picLocks noChangeAspect="1" noChangeArrowheads="1"/>
                      </p:cNvPicPr>
                      <p:nvPr/>
                    </p:nvPicPr>
                    <p:blipFill>
                      <a:blip r:embed="rId4"/>
                      <a:srcRect/>
                      <a:stretch>
                        <a:fillRect/>
                      </a:stretch>
                    </p:blipFill>
                    <p:spPr bwMode="auto">
                      <a:xfrm>
                        <a:off x="2295525" y="4783138"/>
                        <a:ext cx="3300413"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2756" name="Rectangle 4"/>
          <p:cNvSpPr>
            <a:spLocks noChangeArrowheads="1"/>
          </p:cNvSpPr>
          <p:nvPr/>
        </p:nvSpPr>
        <p:spPr bwMode="auto">
          <a:xfrm>
            <a:off x="152400" y="5791200"/>
            <a:ext cx="8153400"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marL="385763" indent="-385763" eaLnBrk="1" hangingPunct="1">
              <a:lnSpc>
                <a:spcPct val="115000"/>
              </a:lnSpc>
              <a:spcBef>
                <a:spcPct val="50000"/>
              </a:spcBef>
              <a:buFont typeface="Wingdings" pitchFamily="2" charset="2"/>
              <a:buNone/>
            </a:pPr>
            <a:r>
              <a:rPr lang="en-US"/>
              <a:t>	where x</a:t>
            </a:r>
            <a:r>
              <a:rPr lang="en-US" baseline="-25000"/>
              <a:t>ij</a:t>
            </a:r>
            <a:r>
              <a:rPr lang="en-US"/>
              <a:t>’s are indeterminates (i.e., variables). </a:t>
            </a:r>
            <a:br>
              <a:rPr lang="en-US"/>
            </a:br>
            <a:r>
              <a:rPr lang="en-US"/>
              <a:t>Show that G has a complete matching (i.e., a matching with at most one unmatched node)</a:t>
            </a:r>
            <a:br>
              <a:rPr lang="en-US"/>
            </a:br>
            <a:r>
              <a:rPr lang="en-US"/>
              <a:t>if and only if  det(T(G)) </a:t>
            </a:r>
            <a:r>
              <a:rPr lang="en-US">
                <a:sym typeface="Symbol" pitchFamily="18" charset="2"/>
              </a:rPr>
              <a:t> </a:t>
            </a:r>
            <a:r>
              <a:rPr lang="en-US"/>
              <a:t>0.</a:t>
            </a:r>
          </a:p>
        </p:txBody>
      </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200</a:t>
            </a:fld>
            <a:endParaRPr lang="en-US"/>
          </a:p>
        </p:txBody>
      </p:sp>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4"/>
          <p:cNvSpPr>
            <a:spLocks noChangeArrowheads="1"/>
          </p:cNvSpPr>
          <p:nvPr/>
        </p:nvSpPr>
        <p:spPr bwMode="auto">
          <a:xfrm>
            <a:off x="152400" y="152400"/>
            <a:ext cx="8763000" cy="4281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bIns="10800">
            <a:spAutoFit/>
          </a:bodyPr>
          <a:lstStyle/>
          <a:p>
            <a:pPr marL="396875" indent="-396875" eaLnBrk="1" hangingPunct="1">
              <a:lnSpc>
                <a:spcPct val="115000"/>
              </a:lnSpc>
              <a:spcBef>
                <a:spcPct val="50000"/>
              </a:spcBef>
              <a:buFont typeface="+mj-lt"/>
              <a:buAutoNum type="arabicPeriod" startAt="75"/>
              <a:tabLst>
                <a:tab pos="396875" algn="l"/>
              </a:tabLst>
            </a:pPr>
            <a:r>
              <a:rPr lang="en-US" dirty="0"/>
              <a:t>Let J = {J</a:t>
            </a:r>
            <a:r>
              <a:rPr lang="en-US" baseline="-25000" dirty="0"/>
              <a:t>1</a:t>
            </a:r>
            <a:r>
              <a:rPr lang="en-US" dirty="0"/>
              <a:t> , J</a:t>
            </a:r>
            <a:r>
              <a:rPr lang="en-US" baseline="-25000" dirty="0"/>
              <a:t>2 </a:t>
            </a:r>
            <a:r>
              <a:rPr lang="en-US" dirty="0"/>
              <a:t>, …, </a:t>
            </a:r>
            <a:r>
              <a:rPr lang="en-US" dirty="0" err="1"/>
              <a:t>J</a:t>
            </a:r>
            <a:r>
              <a:rPr lang="en-US" baseline="-25000" dirty="0" err="1"/>
              <a:t>n</a:t>
            </a:r>
            <a:r>
              <a:rPr lang="en-US" dirty="0"/>
              <a:t>} be a set of jobs to be executed on two processors with all jobs requiring the same amount of time (say 1). Suppose that there is a directed acyclic graph P = (J, E), called the </a:t>
            </a:r>
            <a:r>
              <a:rPr lang="en-US" b="1" dirty="0">
                <a:solidFill>
                  <a:srgbClr val="CC0000"/>
                </a:solidFill>
              </a:rPr>
              <a:t>precedence graph</a:t>
            </a:r>
            <a:r>
              <a:rPr lang="en-US" dirty="0"/>
              <a:t>, such that if (J</a:t>
            </a:r>
            <a:r>
              <a:rPr lang="en-US" baseline="-25000" dirty="0"/>
              <a:t>1</a:t>
            </a:r>
            <a:r>
              <a:rPr lang="en-US" dirty="0"/>
              <a:t> , J</a:t>
            </a:r>
            <a:r>
              <a:rPr lang="en-US" baseline="-25000" dirty="0"/>
              <a:t>2</a:t>
            </a:r>
            <a:r>
              <a:rPr lang="en-US" dirty="0"/>
              <a:t>)</a:t>
            </a:r>
            <a:r>
              <a:rPr lang="en-US" dirty="0">
                <a:sym typeface="Symbol" pitchFamily="18" charset="2"/>
              </a:rPr>
              <a:t>E</a:t>
            </a:r>
            <a:r>
              <a:rPr lang="en-US" dirty="0"/>
              <a:t>, then J</a:t>
            </a:r>
            <a:r>
              <a:rPr lang="en-US" baseline="-25000" dirty="0"/>
              <a:t>1</a:t>
            </a:r>
            <a:r>
              <a:rPr lang="en-US" dirty="0"/>
              <a:t> must be executed before J</a:t>
            </a:r>
            <a:r>
              <a:rPr lang="en-US" baseline="-25000" dirty="0"/>
              <a:t>2</a:t>
            </a:r>
            <a:r>
              <a:rPr lang="en-US" dirty="0"/>
              <a:t>.</a:t>
            </a:r>
            <a:br>
              <a:rPr lang="en-US" dirty="0"/>
            </a:br>
            <a:r>
              <a:rPr lang="en-US" dirty="0"/>
              <a:t>The </a:t>
            </a:r>
            <a:r>
              <a:rPr lang="en-US" b="1" dirty="0">
                <a:solidFill>
                  <a:srgbClr val="CC0000"/>
                </a:solidFill>
              </a:rPr>
              <a:t>Two-Processor Scheduling Problem with Precedence Constraints</a:t>
            </a:r>
            <a:r>
              <a:rPr lang="en-US" dirty="0"/>
              <a:t> is: </a:t>
            </a:r>
            <a:br>
              <a:rPr lang="en-US" dirty="0"/>
            </a:br>
            <a:r>
              <a:rPr lang="en-US" dirty="0"/>
              <a:t>Given P, find an optimal schedule; that is, a function S: J </a:t>
            </a:r>
            <a:r>
              <a:rPr lang="en-US" dirty="0">
                <a:sym typeface="Symbol" pitchFamily="18" charset="2"/>
              </a:rPr>
              <a:t> </a:t>
            </a:r>
            <a:r>
              <a:rPr lang="en-US" dirty="0"/>
              <a:t>{1,2, …, T} such that</a:t>
            </a:r>
            <a:br>
              <a:rPr lang="en-US" dirty="0"/>
            </a:br>
            <a:r>
              <a:rPr lang="en-US" dirty="0"/>
              <a:t>	(i)  For all t </a:t>
            </a:r>
            <a:r>
              <a:rPr lang="en-US" dirty="0">
                <a:sym typeface="Symbol" pitchFamily="18" charset="2"/>
              </a:rPr>
              <a:t> T, |{</a:t>
            </a:r>
            <a:r>
              <a:rPr lang="en-US" dirty="0" err="1"/>
              <a:t>J</a:t>
            </a:r>
            <a:r>
              <a:rPr lang="en-US" baseline="-25000" dirty="0" err="1"/>
              <a:t>k</a:t>
            </a:r>
            <a:r>
              <a:rPr lang="en-US" dirty="0">
                <a:sym typeface="Symbol" pitchFamily="18" charset="2"/>
              </a:rPr>
              <a:t>  J : S(</a:t>
            </a:r>
            <a:r>
              <a:rPr lang="en-US" dirty="0" err="1"/>
              <a:t>J</a:t>
            </a:r>
            <a:r>
              <a:rPr lang="en-US" baseline="-25000" dirty="0" err="1"/>
              <a:t>k</a:t>
            </a:r>
            <a:r>
              <a:rPr lang="en-US" dirty="0">
                <a:sym typeface="Symbol" pitchFamily="18" charset="2"/>
              </a:rPr>
              <a:t>) = t }|  2,</a:t>
            </a:r>
            <a:br>
              <a:rPr lang="en-US" dirty="0">
                <a:sym typeface="Symbol" pitchFamily="18" charset="2"/>
              </a:rPr>
            </a:br>
            <a:r>
              <a:rPr lang="en-US" dirty="0">
                <a:sym typeface="Symbol" pitchFamily="18" charset="2"/>
              </a:rPr>
              <a:t>	(ii) if  </a:t>
            </a:r>
            <a:r>
              <a:rPr lang="en-US" dirty="0"/>
              <a:t>(J</a:t>
            </a:r>
            <a:r>
              <a:rPr lang="en-US" baseline="-25000" dirty="0"/>
              <a:t>1</a:t>
            </a:r>
            <a:r>
              <a:rPr lang="en-US" dirty="0"/>
              <a:t> , J</a:t>
            </a:r>
            <a:r>
              <a:rPr lang="en-US" baseline="-25000" dirty="0"/>
              <a:t>2</a:t>
            </a:r>
            <a:r>
              <a:rPr lang="en-US" dirty="0"/>
              <a:t>)</a:t>
            </a:r>
            <a:r>
              <a:rPr lang="en-US" dirty="0">
                <a:sym typeface="Symbol" pitchFamily="18" charset="2"/>
              </a:rPr>
              <a:t>E  then S(</a:t>
            </a:r>
            <a:r>
              <a:rPr lang="en-US" dirty="0"/>
              <a:t>J</a:t>
            </a:r>
            <a:r>
              <a:rPr lang="en-US" baseline="-25000" dirty="0"/>
              <a:t>1</a:t>
            </a:r>
            <a:r>
              <a:rPr lang="en-US" dirty="0">
                <a:sym typeface="Symbol" pitchFamily="18" charset="2"/>
              </a:rPr>
              <a:t>) &lt; S(</a:t>
            </a:r>
            <a:r>
              <a:rPr lang="en-US" dirty="0"/>
              <a:t>J</a:t>
            </a:r>
            <a:r>
              <a:rPr lang="en-US" baseline="-25000" dirty="0"/>
              <a:t>2</a:t>
            </a:r>
            <a:r>
              <a:rPr lang="en-US" dirty="0">
                <a:sym typeface="Symbol" pitchFamily="18" charset="2"/>
              </a:rPr>
              <a:t>) ,</a:t>
            </a:r>
            <a:br>
              <a:rPr lang="en-US" dirty="0">
                <a:sym typeface="Symbol" pitchFamily="18" charset="2"/>
              </a:rPr>
            </a:br>
            <a:r>
              <a:rPr lang="en-US" dirty="0">
                <a:sym typeface="Symbol" pitchFamily="18" charset="2"/>
              </a:rPr>
              <a:t>	(iii) T is as small as possible.</a:t>
            </a:r>
            <a:br>
              <a:rPr lang="en-US" dirty="0">
                <a:sym typeface="Symbol" pitchFamily="18" charset="2"/>
              </a:rPr>
            </a:br>
            <a:r>
              <a:rPr lang="en-US" dirty="0">
                <a:sym typeface="Symbol" pitchFamily="18" charset="2"/>
              </a:rPr>
              <a:t/>
            </a:r>
            <a:br>
              <a:rPr lang="en-US" dirty="0">
                <a:sym typeface="Symbol" pitchFamily="18" charset="2"/>
              </a:rPr>
            </a:br>
            <a:r>
              <a:rPr lang="en-US" dirty="0">
                <a:sym typeface="Symbol" pitchFamily="18" charset="2"/>
              </a:rPr>
              <a:t>a)  Consider the undirected graph G</a:t>
            </a:r>
            <a:r>
              <a:rPr lang="en-US" baseline="-25000" dirty="0">
                <a:sym typeface="Symbol" pitchFamily="18" charset="2"/>
              </a:rPr>
              <a:t>P</a:t>
            </a:r>
            <a:r>
              <a:rPr lang="en-US" dirty="0">
                <a:sym typeface="Symbol" pitchFamily="18" charset="2"/>
              </a:rPr>
              <a:t> = (J, E</a:t>
            </a:r>
            <a:r>
              <a:rPr lang="en-US" baseline="-25000" dirty="0">
                <a:sym typeface="Symbol" pitchFamily="18" charset="2"/>
              </a:rPr>
              <a:t>P</a:t>
            </a:r>
            <a:r>
              <a:rPr lang="en-US" dirty="0">
                <a:sym typeface="Symbol" pitchFamily="18" charset="2"/>
              </a:rPr>
              <a:t>), where </a:t>
            </a:r>
            <a:r>
              <a:rPr lang="en-US" dirty="0"/>
              <a:t>(J</a:t>
            </a:r>
            <a:r>
              <a:rPr lang="en-US" baseline="-25000" dirty="0"/>
              <a:t>1</a:t>
            </a:r>
            <a:r>
              <a:rPr lang="en-US" dirty="0"/>
              <a:t> , J</a:t>
            </a:r>
            <a:r>
              <a:rPr lang="en-US" baseline="-25000" dirty="0"/>
              <a:t>2</a:t>
            </a:r>
            <a:r>
              <a:rPr lang="en-US" dirty="0"/>
              <a:t>)</a:t>
            </a:r>
            <a:r>
              <a:rPr lang="en-US" dirty="0">
                <a:sym typeface="Symbol" pitchFamily="18" charset="2"/>
              </a:rPr>
              <a:t>E</a:t>
            </a:r>
            <a:r>
              <a:rPr lang="en-US" baseline="-25000" dirty="0">
                <a:sym typeface="Symbol" pitchFamily="18" charset="2"/>
              </a:rPr>
              <a:t>P </a:t>
            </a:r>
            <a:r>
              <a:rPr lang="en-US" dirty="0">
                <a:sym typeface="Symbol" pitchFamily="18" charset="2"/>
              </a:rPr>
              <a:t> if and only if there is no path </a:t>
            </a:r>
            <a:br>
              <a:rPr lang="en-US" dirty="0">
                <a:sym typeface="Symbol" pitchFamily="18" charset="2"/>
              </a:rPr>
            </a:br>
            <a:r>
              <a:rPr lang="en-US" dirty="0">
                <a:sym typeface="Symbol" pitchFamily="18" charset="2"/>
              </a:rPr>
              <a:t>      from </a:t>
            </a:r>
            <a:r>
              <a:rPr lang="en-US" dirty="0"/>
              <a:t>J</a:t>
            </a:r>
            <a:r>
              <a:rPr lang="en-US" baseline="-25000" dirty="0"/>
              <a:t>1</a:t>
            </a:r>
            <a:r>
              <a:rPr lang="en-US" dirty="0"/>
              <a:t> to J</a:t>
            </a:r>
            <a:r>
              <a:rPr lang="en-US" baseline="-25000" dirty="0"/>
              <a:t>2</a:t>
            </a:r>
            <a:r>
              <a:rPr lang="en-US" dirty="0"/>
              <a:t> , nor </a:t>
            </a:r>
            <a:r>
              <a:rPr lang="en-US" dirty="0">
                <a:sym typeface="Symbol" pitchFamily="18" charset="2"/>
              </a:rPr>
              <a:t>one from </a:t>
            </a:r>
            <a:r>
              <a:rPr lang="en-US" dirty="0"/>
              <a:t>J</a:t>
            </a:r>
            <a:r>
              <a:rPr lang="en-US" baseline="-25000" dirty="0"/>
              <a:t>2</a:t>
            </a:r>
            <a:r>
              <a:rPr lang="en-US" dirty="0"/>
              <a:t> to J</a:t>
            </a:r>
            <a:r>
              <a:rPr lang="en-US" baseline="-25000" dirty="0"/>
              <a:t>1</a:t>
            </a:r>
            <a:r>
              <a:rPr lang="en-US" dirty="0"/>
              <a:t> , in P.  Suppose that M is a maximum cardinality matching </a:t>
            </a:r>
            <a:br>
              <a:rPr lang="en-US" dirty="0"/>
            </a:br>
            <a:r>
              <a:rPr lang="en-US" dirty="0"/>
              <a:t>      of </a:t>
            </a:r>
            <a:r>
              <a:rPr lang="en-US" dirty="0">
                <a:sym typeface="Symbol" pitchFamily="18" charset="2"/>
              </a:rPr>
              <a:t>G</a:t>
            </a:r>
            <a:r>
              <a:rPr lang="en-US" baseline="-25000" dirty="0">
                <a:sym typeface="Symbol" pitchFamily="18" charset="2"/>
              </a:rPr>
              <a:t>P</a:t>
            </a:r>
            <a:r>
              <a:rPr lang="en-US" dirty="0"/>
              <a:t>.  Show that the smallest T achievable must obey</a:t>
            </a:r>
            <a:br>
              <a:rPr lang="en-US" dirty="0"/>
            </a:br>
            <a:r>
              <a:rPr lang="en-US" dirty="0"/>
              <a:t>			T </a:t>
            </a:r>
            <a:r>
              <a:rPr lang="en-US" dirty="0">
                <a:sym typeface="Symbol" pitchFamily="18" charset="2"/>
              </a:rPr>
              <a:t> </a:t>
            </a:r>
            <a:r>
              <a:rPr lang="en-US" dirty="0"/>
              <a:t> |J|  – |M|. </a:t>
            </a:r>
            <a:br>
              <a:rPr lang="en-US" dirty="0"/>
            </a:br>
            <a:r>
              <a:rPr lang="en-US" dirty="0"/>
              <a:t>b)  Show that there is always a schedule with  T </a:t>
            </a:r>
            <a:r>
              <a:rPr lang="en-US" dirty="0">
                <a:sym typeface="Symbol" pitchFamily="18" charset="2"/>
              </a:rPr>
              <a:t>= </a:t>
            </a:r>
            <a:r>
              <a:rPr lang="en-US" dirty="0"/>
              <a:t> |J|  – |M|.</a:t>
            </a:r>
            <a:br>
              <a:rPr lang="en-US" dirty="0"/>
            </a:br>
            <a:r>
              <a:rPr lang="en-US" dirty="0"/>
              <a:t>c)  Give an efficient algorithm for finding the optimal schedule.</a:t>
            </a:r>
          </a:p>
        </p:txBody>
      </p:sp>
      <p:sp>
        <p:nvSpPr>
          <p:cNvPr id="2" name="Slide Number Placeholder 1"/>
          <p:cNvSpPr>
            <a:spLocks noGrp="1"/>
          </p:cNvSpPr>
          <p:nvPr>
            <p:ph type="sldNum" sz="quarter" idx="12"/>
          </p:nvPr>
        </p:nvSpPr>
        <p:spPr/>
        <p:txBody>
          <a:bodyPr/>
          <a:lstStyle/>
          <a:p>
            <a:pPr>
              <a:defRPr/>
            </a:pPr>
            <a:fld id="{ED68C6A5-5F34-433B-BEF2-D75336D8F66B}" type="slidenum">
              <a:rPr lang="en-US" smtClean="0"/>
              <a:pPr>
                <a:defRPr/>
              </a:pPr>
              <a:t>201</a:t>
            </a:fld>
            <a:endParaRPr lang="en-US"/>
          </a:p>
        </p:txBody>
      </p:sp>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ctrTitle"/>
          </p:nvPr>
        </p:nvSpPr>
        <p:spPr>
          <a:xfrm>
            <a:off x="685800" y="2286000"/>
            <a:ext cx="7772400" cy="1143000"/>
          </a:xfrm>
          <a:solidFill>
            <a:srgbClr val="FFCCCC"/>
          </a:solidFill>
          <a:ln w="76200">
            <a:solidFill>
              <a:schemeClr val="tx1"/>
            </a:solid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eaLnBrk="1" hangingPunct="1"/>
            <a:r>
              <a:rPr lang="en-US" sz="6000" smtClean="0">
                <a:solidFill>
                  <a:schemeClr val="accent2"/>
                </a:solidFill>
                <a:latin typeface="Arial Rounded MT Bold" pitchFamily="34" charset="0"/>
              </a:rPr>
              <a:t>END</a:t>
            </a:r>
          </a:p>
        </p:txBody>
      </p:sp>
      <p:sp>
        <p:nvSpPr>
          <p:cNvPr id="2" name="Slide Number Placeholder 1"/>
          <p:cNvSpPr>
            <a:spLocks noGrp="1"/>
          </p:cNvSpPr>
          <p:nvPr>
            <p:ph type="sldNum" sz="quarter" idx="12"/>
          </p:nvPr>
        </p:nvSpPr>
        <p:spPr/>
        <p:txBody>
          <a:bodyPr/>
          <a:lstStyle/>
          <a:p>
            <a:pPr>
              <a:defRPr/>
            </a:pPr>
            <a:fld id="{90683EDB-7658-49F0-B96C-482436AB937A}" type="slidenum">
              <a:rPr lang="en-US" smtClean="0"/>
              <a:pPr>
                <a:defRPr/>
              </a:pPr>
              <a:t>202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6082"/>
                                        </p:tgtEl>
                                        <p:attrNameLst>
                                          <p:attrName>style.visibility</p:attrName>
                                        </p:attrNameLst>
                                      </p:cBhvr>
                                      <p:to>
                                        <p:strVal val="visible"/>
                                      </p:to>
                                    </p:set>
                                    <p:anim calcmode="lin" valueType="num">
                                      <p:cBhvr>
                                        <p:cTn id="7" dur="500" fill="hold"/>
                                        <p:tgtEl>
                                          <p:spTgt spid="46082"/>
                                        </p:tgtEl>
                                        <p:attrNameLst>
                                          <p:attrName>ppt_w</p:attrName>
                                        </p:attrNameLst>
                                      </p:cBhvr>
                                      <p:tavLst>
                                        <p:tav tm="0">
                                          <p:val>
                                            <p:fltVal val="0"/>
                                          </p:val>
                                        </p:tav>
                                        <p:tav tm="100000">
                                          <p:val>
                                            <p:strVal val="#ppt_w"/>
                                          </p:val>
                                        </p:tav>
                                      </p:tavLst>
                                    </p:anim>
                                    <p:anim calcmode="lin" valueType="num">
                                      <p:cBhvr>
                                        <p:cTn id="8" dur="500" fill="hold"/>
                                        <p:tgtEl>
                                          <p:spTgt spid="4608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animBg="1" autoUpdateAnimBg="0"/>
    </p:bldLst>
  </p:timing>
</p:sld>
</file>

<file path=ppt/theme/theme1.xml><?xml version="1.0" encoding="utf-8"?>
<a:theme xmlns:a="http://schemas.openxmlformats.org/drawingml/2006/main" name="Default Design">
  <a:themeElements>
    <a:clrScheme name="Default Design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99"/>
      </a:hlink>
      <a:folHlink>
        <a:srgbClr val="3366CC"/>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cap="flat" cmpd="sng" algn="ctr">
              <a:solidFill>
                <a:srgbClr val="000066"/>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396875" marR="0" indent="-387350" algn="l" defTabSz="914400" rtl="0" eaLnBrk="0" fontAlgn="base" latinLnBrk="0" hangingPunct="0">
          <a:lnSpc>
            <a:spcPct val="100000"/>
          </a:lnSpc>
          <a:spcBef>
            <a:spcPct val="0"/>
          </a:spcBef>
          <a:spcAft>
            <a:spcPct val="0"/>
          </a:spcAft>
          <a:buClrTx/>
          <a:buSzTx/>
          <a:buFontTx/>
          <a:buAutoNum type="arabicPeriod" startAt="51"/>
          <a:tabLst/>
          <a:defRPr kumimoji="0" lang="en-US" sz="1600" b="0" i="0" u="none" strike="noStrike" cap="none" normalizeH="0" baseline="0" smtClean="0">
            <a:ln>
              <a:noFill/>
            </a:ln>
            <a:solidFill>
              <a:schemeClr val="tx1"/>
            </a:solidFill>
            <a:effectLst/>
            <a:latin typeface="Times New Roman" pitchFamily="18" charset="0"/>
          </a:defRPr>
        </a:defPPr>
      </a:lstStyle>
    </a:spDef>
    <a:lnDef>
      <a:spPr bwMode="auto">
        <a:noFill/>
        <a:ln w="1905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99"/>
        </a:hlink>
        <a:folHlink>
          <a:srgbClr val="3366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11330</TotalTime>
  <Words>12251</Words>
  <Application>Microsoft Office PowerPoint</Application>
  <PresentationFormat>On-screen Show (4:3)</PresentationFormat>
  <Paragraphs>4423</Paragraphs>
  <Slides>202</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202</vt:i4>
      </vt:variant>
    </vt:vector>
  </HeadingPairs>
  <TitlesOfParts>
    <vt:vector size="204" baseType="lpstr">
      <vt:lpstr>Default Design</vt:lpstr>
      <vt:lpstr>Equation</vt:lpstr>
      <vt:lpstr>CSE 3101</vt:lpstr>
      <vt:lpstr>STUDY  MATERIAL:</vt:lpstr>
      <vt:lpstr>TOPICS</vt:lpstr>
      <vt:lpstr>GRAPH REPRESENTATIONS</vt:lpstr>
      <vt:lpstr>Graph</vt:lpstr>
      <vt:lpstr>Edge Weighted Graph</vt:lpstr>
      <vt:lpstr>Adjacency Matrix</vt:lpstr>
      <vt:lpstr>Weighted Adjacency Matrix</vt:lpstr>
      <vt:lpstr>(Weighted) Adjacency List Structure</vt:lpstr>
      <vt:lpstr>The Hand-Shaking Lemma</vt:lpstr>
      <vt:lpstr>Adjacency Matrix  vs  Adjacency List Structure</vt:lpstr>
      <vt:lpstr>BREADTH  FIRST  SEARCH</vt:lpstr>
      <vt:lpstr>BFS  Properties</vt:lpstr>
      <vt:lpstr>How  BFS  works</vt:lpstr>
      <vt:lpstr>How  BFS  works</vt:lpstr>
      <vt:lpstr>BFS Algorithm</vt:lpstr>
      <vt:lpstr>PowerPoint Presentation</vt:lpstr>
      <vt:lpstr>PowerPoint Presentation</vt:lpstr>
      <vt:lpstr>BFS  Running Time</vt:lpstr>
      <vt:lpstr>More BFS Properties</vt:lpstr>
      <vt:lpstr>BFS Tree = Shortest Path Tree rooted at source</vt:lpstr>
      <vt:lpstr>Graph Coloring</vt:lpstr>
      <vt:lpstr>Bipartite Graphs</vt:lpstr>
      <vt:lpstr>PowerPoint Presentation</vt:lpstr>
      <vt:lpstr>DEPTH  FIRST  SEARCH</vt:lpstr>
      <vt:lpstr>DFS  Properties</vt:lpstr>
      <vt:lpstr>DFS Algorithm</vt:lpstr>
      <vt:lpstr>PowerPoint Presentation</vt:lpstr>
      <vt:lpstr>PowerPoint Presentation</vt:lpstr>
      <vt:lpstr>DFS  Running Time</vt:lpstr>
      <vt:lpstr>The Parenthesis Theorem  (PT)</vt:lpstr>
      <vt:lpstr>The White-Path Theorem  (WPT)</vt:lpstr>
      <vt:lpstr>DFS Edge Classification of Digraphs</vt:lpstr>
      <vt:lpstr>DFS Finishing Times</vt:lpstr>
      <vt:lpstr>DFS Edge Classification of Undirected Graphs</vt:lpstr>
      <vt:lpstr>The Cycle Theorem</vt:lpstr>
      <vt:lpstr>TOPOLOGICAL  SORT</vt:lpstr>
      <vt:lpstr>Directed Acyclic Graph (DAG)</vt:lpstr>
      <vt:lpstr>Topological Sort Algorithm 1</vt:lpstr>
      <vt:lpstr>Topological Sort Algorithm 2</vt:lpstr>
      <vt:lpstr>Topological Sort Algorithm 2</vt:lpstr>
      <vt:lpstr>STRONGLY  CONNECTED  COMPONENTS</vt:lpstr>
      <vt:lpstr>Graph Connectivity</vt:lpstr>
      <vt:lpstr>Digraph Strong Connectivity</vt:lpstr>
      <vt:lpstr>Strongly Connected Components</vt:lpstr>
      <vt:lpstr>PowerPoint Presentation</vt:lpstr>
      <vt:lpstr>PowerPoint Presentation</vt:lpstr>
      <vt:lpstr>PowerPoint Presentation</vt:lpstr>
      <vt:lpstr>PowerPoint Presentation</vt:lpstr>
      <vt:lpstr>SCC Algorithm – Kosaraju-Sharir [1978]</vt:lpstr>
      <vt:lpstr>PowerPoint Presentation</vt:lpstr>
      <vt:lpstr>PowerPoint Presentation</vt:lpstr>
      <vt:lpstr>Bi-CONNECTED COMPONENTS</vt:lpstr>
      <vt:lpstr>Node Connectivity</vt:lpstr>
      <vt:lpstr>BiConnectivity</vt:lpstr>
      <vt:lpstr>Biconnected Components</vt:lpstr>
      <vt:lpstr>Example</vt:lpstr>
      <vt:lpstr>Biconnected Components &amp; Articulation Points</vt:lpstr>
      <vt:lpstr>Biconnected Components &amp; Articulation Points</vt:lpstr>
      <vt:lpstr>Biconnected Components &amp; Articulation Points</vt:lpstr>
      <vt:lpstr>Biconnected Components &amp; Articulation Points</vt:lpstr>
      <vt:lpstr>Apply  DFS</vt:lpstr>
      <vt:lpstr>Articulation Points   &amp;   DFS</vt:lpstr>
      <vt:lpstr>DFS “low” Computation</vt:lpstr>
      <vt:lpstr>Articulation Points   &amp;   DFS “low” numbers</vt:lpstr>
      <vt:lpstr>Stack up edges</vt:lpstr>
      <vt:lpstr>BiConnectivity Algorithm – Hopcroft [1972]</vt:lpstr>
      <vt:lpstr>MINIMUM  SPANNING  TREES</vt:lpstr>
      <vt:lpstr>What is an undirected tree?</vt:lpstr>
      <vt:lpstr>The  MST  Problem</vt:lpstr>
      <vt:lpstr>MST Preliminaries</vt:lpstr>
      <vt:lpstr>A CUT</vt:lpstr>
      <vt:lpstr>MST Properties</vt:lpstr>
      <vt:lpstr>A Generic Greedy Strategy</vt:lpstr>
      <vt:lpstr>Greedy   method</vt:lpstr>
      <vt:lpstr>PowerPoint Presentation</vt:lpstr>
      <vt:lpstr>PowerPoint Presentation</vt:lpstr>
      <vt:lpstr>PowerPoint Presentation</vt:lpstr>
      <vt:lpstr>PowerPoint Presentation</vt:lpstr>
      <vt:lpstr>Short   Bridge</vt:lpstr>
      <vt:lpstr>MST Construction: Two Classic Algorithms</vt:lpstr>
      <vt:lpstr>Kruskal’s   MST Algorithm</vt:lpstr>
      <vt:lpstr>PowerPoint Presentation</vt:lpstr>
      <vt:lpstr>Example</vt:lpstr>
      <vt:lpstr>Prim’s  MST Algorithm</vt:lpstr>
      <vt:lpstr>One  Prim  Step</vt:lpstr>
      <vt:lpstr>PowerPoint Presentation</vt:lpstr>
      <vt:lpstr>Example</vt:lpstr>
      <vt:lpstr>MST   Verification</vt:lpstr>
      <vt:lpstr>Bibliography:  MST </vt:lpstr>
      <vt:lpstr>Bibliography:  MST </vt:lpstr>
      <vt:lpstr>SHORTEST  PATHS</vt:lpstr>
      <vt:lpstr>The Shortest Path Problem</vt:lpstr>
      <vt:lpstr>Single-Source Shortest Paths</vt:lpstr>
      <vt:lpstr>Negative Cost Cycles</vt:lpstr>
      <vt:lpstr>Shortest Path Trees</vt:lpstr>
      <vt:lpstr>Characterizing  Shortest Path Trees</vt:lpstr>
      <vt:lpstr>The Recurrence  [Bellman 1958] </vt:lpstr>
      <vt:lpstr>Labeling Method  [Ford 1956]</vt:lpstr>
      <vt:lpstr>Labeling Method  Invariants</vt:lpstr>
      <vt:lpstr>Tentative Shortest Path Tree Invariants</vt:lpstr>
      <vt:lpstr>Termination?</vt:lpstr>
      <vt:lpstr>Labeling &amp; Scanning Method</vt:lpstr>
      <vt:lpstr>Example</vt:lpstr>
      <vt:lpstr>Efficient Scanning Orders</vt:lpstr>
      <vt:lpstr>1. G is a DAG  [Topological]</vt:lpstr>
      <vt:lpstr>Example</vt:lpstr>
      <vt:lpstr>2. w  0    [Dijkstra]</vt:lpstr>
      <vt:lpstr>2. w  0    [Dijkstra] </vt:lpstr>
      <vt:lpstr>Example</vt:lpstr>
      <vt:lpstr>Example</vt:lpstr>
      <vt:lpstr>Example</vt:lpstr>
      <vt:lpstr>PowerPoint Presentation</vt:lpstr>
      <vt:lpstr>3.  General   [Bellman-Ford]</vt:lpstr>
      <vt:lpstr>PowerPoint Presentation</vt:lpstr>
      <vt:lpstr>All-Pairs        Shortest Paths</vt:lpstr>
      <vt:lpstr>All-Pairs by Single-Source</vt:lpstr>
      <vt:lpstr>Edmonds-Karp &amp; Johnson Transformation</vt:lpstr>
      <vt:lpstr>Edmonds-Karp &amp; Johnson Transformation</vt:lpstr>
      <vt:lpstr>Floyd-Warshall [1962]</vt:lpstr>
      <vt:lpstr>Floyd-Warshall [1962]</vt:lpstr>
      <vt:lpstr>Floyd-Warshall [1962]</vt:lpstr>
      <vt:lpstr>PowerPoint Presentation</vt:lpstr>
      <vt:lpstr>The Dynamic Programming Algorithm</vt:lpstr>
      <vt:lpstr>Bibliography:  Shortest Paths</vt:lpstr>
      <vt:lpstr>MAX   FLOW</vt:lpstr>
      <vt:lpstr>Flow Network</vt:lpstr>
      <vt:lpstr>The max Flow Problem</vt:lpstr>
      <vt:lpstr>Multi-Source  Multi-Sink</vt:lpstr>
      <vt:lpstr>Applications</vt:lpstr>
      <vt:lpstr>A Heuristic:  flow composition by s-t path flows</vt:lpstr>
      <vt:lpstr>A Heuristic:  flow composition by s-t path flows</vt:lpstr>
      <vt:lpstr>Augmenting Path</vt:lpstr>
      <vt:lpstr>The Residual Graph G(f)</vt:lpstr>
      <vt:lpstr>An Augmenting Step</vt:lpstr>
      <vt:lpstr>PowerPoint Presentation</vt:lpstr>
      <vt:lpstr>Example</vt:lpstr>
      <vt:lpstr>Example</vt:lpstr>
      <vt:lpstr>st-CUT</vt:lpstr>
      <vt:lpstr>Flow across a cut</vt:lpstr>
      <vt:lpstr>Example</vt:lpstr>
      <vt:lpstr>Max-Flow  Min-Cut  Theorem</vt:lpstr>
      <vt:lpstr>Max Flow   Min Cut</vt:lpstr>
      <vt:lpstr>Example</vt:lpstr>
      <vt:lpstr>Integrality Theorem:</vt:lpstr>
      <vt:lpstr>Termination</vt:lpstr>
      <vt:lpstr>Edmonds-Karp Improvement</vt:lpstr>
      <vt:lpstr>Edmonds-Karp Improvement</vt:lpstr>
      <vt:lpstr>Edmonds-Karp Improvement</vt:lpstr>
      <vt:lpstr>Edmonds-Karp Improvement</vt:lpstr>
      <vt:lpstr>PowerPoint Presentation</vt:lpstr>
      <vt:lpstr>Example</vt:lpstr>
      <vt:lpstr>Bibliography:  Max Flow</vt:lpstr>
      <vt:lpstr>Bibliography:  Max Flow</vt:lpstr>
      <vt:lpstr>GRAPH  MATCHING</vt:lpstr>
      <vt:lpstr>Graph Matching</vt:lpstr>
      <vt:lpstr>Graph Matching Problems</vt:lpstr>
      <vt:lpstr>Some Applications</vt:lpstr>
      <vt:lpstr>Max Cardinality Bipartite Matching</vt:lpstr>
      <vt:lpstr>Augmenting Paths</vt:lpstr>
      <vt:lpstr>The Augmenting Path Theorem</vt:lpstr>
      <vt:lpstr>Generic Max-Cardinality Matching Method</vt:lpstr>
      <vt:lpstr>Matched  &amp;  Exposed  Nodes</vt:lpstr>
      <vt:lpstr>Search  for a  u-augmenting  path</vt:lpstr>
      <vt:lpstr>Augmenting Path Search  as  Digraph Search</vt:lpstr>
      <vt:lpstr>Odd Cycles  &amp;  Blossoms</vt:lpstr>
      <vt:lpstr>Discovering  a  Blossom</vt:lpstr>
      <vt:lpstr>Blossom Shrinking</vt:lpstr>
      <vt:lpstr>Blossom  Expansion</vt:lpstr>
      <vt:lpstr>Max Cardinality Matching Algorithm</vt:lpstr>
      <vt:lpstr>Bibliography:  Graph Matching</vt:lpstr>
      <vt:lpstr>Exercises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Algorithms</dc:title>
  <dc:creator>Andy Mirzaian</dc:creator>
  <cp:lastModifiedBy>andy</cp:lastModifiedBy>
  <cp:revision>1362</cp:revision>
  <dcterms:created xsi:type="dcterms:W3CDTF">1601-01-01T00:00:00Z</dcterms:created>
  <dcterms:modified xsi:type="dcterms:W3CDTF">2012-02-20T20:14:56Z</dcterms:modified>
</cp:coreProperties>
</file>